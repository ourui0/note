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47"/>
  </p:notesMasterIdLst>
  <p:handoutMasterIdLst>
    <p:handoutMasterId r:id="rId48"/>
  </p:handoutMasterIdLst>
  <p:sldIdLst>
    <p:sldId id="256" r:id="rId2"/>
    <p:sldId id="343" r:id="rId3"/>
    <p:sldId id="344" r:id="rId4"/>
    <p:sldId id="357" r:id="rId5"/>
    <p:sldId id="351" r:id="rId6"/>
    <p:sldId id="352" r:id="rId7"/>
    <p:sldId id="389" r:id="rId8"/>
    <p:sldId id="346" r:id="rId9"/>
    <p:sldId id="347" r:id="rId10"/>
    <p:sldId id="348" r:id="rId11"/>
    <p:sldId id="349" r:id="rId12"/>
    <p:sldId id="350" r:id="rId13"/>
    <p:sldId id="327" r:id="rId14"/>
    <p:sldId id="334" r:id="rId15"/>
    <p:sldId id="335" r:id="rId16"/>
    <p:sldId id="336" r:id="rId17"/>
    <p:sldId id="328" r:id="rId18"/>
    <p:sldId id="329" r:id="rId19"/>
    <p:sldId id="353" r:id="rId20"/>
    <p:sldId id="390" r:id="rId21"/>
    <p:sldId id="432" r:id="rId22"/>
    <p:sldId id="260" r:id="rId23"/>
    <p:sldId id="261" r:id="rId24"/>
    <p:sldId id="262" r:id="rId25"/>
    <p:sldId id="313" r:id="rId26"/>
    <p:sldId id="263" r:id="rId27"/>
    <p:sldId id="264" r:id="rId28"/>
    <p:sldId id="265" r:id="rId29"/>
    <p:sldId id="266" r:id="rId30"/>
    <p:sldId id="278" r:id="rId31"/>
    <p:sldId id="279" r:id="rId32"/>
    <p:sldId id="267" r:id="rId33"/>
    <p:sldId id="268" r:id="rId34"/>
    <p:sldId id="269" r:id="rId35"/>
    <p:sldId id="270" r:id="rId36"/>
    <p:sldId id="277" r:id="rId37"/>
    <p:sldId id="272" r:id="rId38"/>
    <p:sldId id="275" r:id="rId39"/>
    <p:sldId id="271" r:id="rId40"/>
    <p:sldId id="276" r:id="rId41"/>
    <p:sldId id="274" r:id="rId42"/>
    <p:sldId id="322" r:id="rId43"/>
    <p:sldId id="280" r:id="rId44"/>
    <p:sldId id="281" r:id="rId45"/>
    <p:sldId id="282" r:id="rId4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843" autoAdjust="0"/>
    <p:restoredTop sz="76479" autoAdjust="0"/>
  </p:normalViewPr>
  <p:slideViewPr>
    <p:cSldViewPr>
      <p:cViewPr varScale="1">
        <p:scale>
          <a:sx n="95" d="100"/>
          <a:sy n="95" d="100"/>
        </p:scale>
        <p:origin x="175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7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fld id="{9B826AA1-E7E8-4048-9366-C85C52BB344E}" type="datetimeFigureOut">
              <a:rPr lang="en-US"/>
              <a:pPr>
                <a:defRPr/>
              </a:pPr>
              <a:t>11/2/25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charset="0"/>
                <a:ea typeface="宋体" charset="-122"/>
              </a:defRPr>
            </a:lvl1pPr>
          </a:lstStyle>
          <a:p>
            <a:pPr>
              <a:defRPr/>
            </a:pPr>
            <a:fld id="{12742DF3-4033-4BBC-9A10-E563366FC6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C60FC00-CB8F-4268-93EC-7ABB39D2F63C}" type="datetimeFigureOut">
              <a:rPr lang="zh-CN" altLang="en-US"/>
              <a:pPr>
                <a:defRPr/>
              </a:pPr>
              <a:t>2025/11/2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62ACF634-60D1-4D3C-A44B-2EAF90B3CD3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38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27E9DA5-596E-415B-B2CF-D3D7706EBE0C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294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A9DBEED-3664-4D2E-862C-DD9C580F7F7B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2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788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2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04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33A08E-1C69-4339-AA1F-5234D50C926E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5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53DAA-169A-1712-4AA6-53797EE7B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幻灯片图像占位符 1">
            <a:extLst>
              <a:ext uri="{FF2B5EF4-FFF2-40B4-BE49-F238E27FC236}">
                <a16:creationId xmlns:a16="http://schemas.microsoft.com/office/drawing/2014/main" id="{AF01A644-AF81-6411-7446-B371C563696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4" name="备注占位符 2">
            <a:extLst>
              <a:ext uri="{FF2B5EF4-FFF2-40B4-BE49-F238E27FC236}">
                <a16:creationId xmlns:a16="http://schemas.microsoft.com/office/drawing/2014/main" id="{B0DBE438-9BB1-F16D-9726-842B0F474D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90115" name="灯片编号占位符 3">
            <a:extLst>
              <a:ext uri="{FF2B5EF4-FFF2-40B4-BE49-F238E27FC236}">
                <a16:creationId xmlns:a16="http://schemas.microsoft.com/office/drawing/2014/main" id="{81338C1A-4481-53E0-4CF7-FD0DA93F0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04E964F-E45F-4C5B-85D3-027A6A0C032E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7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7128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9011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04E964F-E45F-4C5B-85D3-027A6A0C032E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8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2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70000" lnSpcReduction="20000"/>
          </a:bodyPr>
          <a:lstStyle/>
          <a:p>
            <a:endParaRPr lang="zh-CN" altLang="en-US" dirty="0"/>
          </a:p>
        </p:txBody>
      </p:sp>
      <p:sp>
        <p:nvSpPr>
          <p:cNvPr id="9216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47144D9-45F8-4AA8-A5A2-448CB8EDE0BC}" type="slidenum">
              <a:rPr lang="zh-CN" altLang="en-US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9</a:t>
            </a:fld>
            <a:endParaRPr lang="zh-CN" altLang="en-US">
              <a:latin typeface="Tahom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821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05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4257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195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 dirty="0">
              <a:solidFill>
                <a:srgbClr val="C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676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2ACF634-60D1-4D3C-A44B-2EAF90B3CD39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87249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fld id="{5E32DF05-AEBF-C848-801F-D57C031ABEF7}" type="slidenum">
              <a:rPr lang="zh-CN" altLang="en-US" sz="1200"/>
              <a:pPr/>
              <a:t>22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50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786CD8FC-D607-934B-B1EC-922D204B59C4}" type="slidenum">
              <a:rPr lang="zh-CN" altLang="en-US">
                <a:latin typeface="Tahoma" charset="0"/>
              </a:rPr>
              <a:pPr>
                <a:spcBef>
                  <a:spcPct val="20000"/>
                </a:spcBef>
              </a:pPr>
              <a:t>24</a:t>
            </a:fld>
            <a:endParaRPr lang="en-US" altLang="zh-CN">
              <a:latin typeface="Tahoma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355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355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D8A63EFD-FE26-A84D-B6EB-78BF918775EB}" type="slidenum">
              <a:rPr lang="zh-CN" altLang="en-US">
                <a:latin typeface="Tahoma" charset="0"/>
              </a:rPr>
              <a:pPr>
                <a:spcBef>
                  <a:spcPct val="20000"/>
                </a:spcBef>
              </a:pPr>
              <a:t>25</a:t>
            </a:fld>
            <a:endParaRPr lang="zh-CN" altLang="en-US">
              <a:latin typeface="Tahoma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5602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endParaRPr lang="en-US" altLang="zh-CN" dirty="0"/>
          </a:p>
        </p:txBody>
      </p:sp>
      <p:sp>
        <p:nvSpPr>
          <p:cNvPr id="2560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A31AF035-AF59-D14C-901B-F142473FAB68}" type="slidenum">
              <a:rPr lang="zh-CN" altLang="en-US">
                <a:latin typeface="Tahoma" charset="0"/>
              </a:rPr>
              <a:pPr>
                <a:spcBef>
                  <a:spcPct val="20000"/>
                </a:spcBef>
              </a:pPr>
              <a:t>26</a:t>
            </a:fld>
            <a:endParaRPr lang="en-US" altLang="zh-CN">
              <a:latin typeface="Tahoma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8674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867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43EAC329-F5CD-2A4A-B1C4-D39C65512884}" type="slidenum">
              <a:rPr lang="zh-CN" altLang="en-US">
                <a:latin typeface="Tahoma" charset="0"/>
              </a:rPr>
              <a:pPr>
                <a:spcBef>
                  <a:spcPct val="20000"/>
                </a:spcBef>
              </a:pPr>
              <a:t>28</a:t>
            </a:fld>
            <a:endParaRPr lang="en-US" altLang="zh-CN">
              <a:latin typeface="Tahoma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0722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072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FB9CCF71-F2B8-F649-B30D-A3432936801B}" type="slidenum">
              <a:rPr lang="zh-CN" altLang="en-US">
                <a:latin typeface="Tahoma" charset="0"/>
              </a:rPr>
              <a:pPr>
                <a:spcBef>
                  <a:spcPct val="20000"/>
                </a:spcBef>
              </a:pPr>
              <a:t>29</a:t>
            </a:fld>
            <a:endParaRPr lang="en-US" altLang="zh-CN">
              <a:latin typeface="Tahoma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fld id="{A9E72331-9ED4-2E4B-9CD5-7936013A356B}" type="slidenum">
              <a:rPr lang="zh-CN" altLang="en-US" sz="1200"/>
              <a:pPr/>
              <a:t>30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81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3481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5D3FC1AD-955A-ED45-B7CE-D9C2E4697726}" type="slidenum">
              <a:rPr lang="zh-CN" altLang="en-US">
                <a:latin typeface="Tahoma" charset="0"/>
              </a:rPr>
              <a:pPr>
                <a:spcBef>
                  <a:spcPct val="20000"/>
                </a:spcBef>
              </a:pPr>
              <a:t>31</a:t>
            </a:fld>
            <a:endParaRPr lang="en-US" altLang="zh-CN">
              <a:latin typeface="Tahoma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789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3789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766DCCAB-9DE5-5647-9426-40914A2A4FDA}" type="slidenum">
              <a:rPr lang="zh-CN" altLang="en-US">
                <a:latin typeface="Tahoma" charset="0"/>
              </a:rPr>
              <a:pPr>
                <a:spcBef>
                  <a:spcPct val="20000"/>
                </a:spcBef>
              </a:pPr>
              <a:t>33</a:t>
            </a:fld>
            <a:endParaRPr lang="en-US" altLang="zh-CN">
              <a:latin typeface="Tahoma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993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9A072253-6AF4-0A48-8C4F-5E60CE574B3B}" type="slidenum">
              <a:rPr lang="zh-CN" altLang="en-US">
                <a:latin typeface="Tahoma" panose="020B0804030504040204" charset="0"/>
              </a:rPr>
              <a:t>34</a:t>
            </a:fld>
            <a:endParaRPr lang="en-US" altLang="zh-CN">
              <a:latin typeface="Tahoma" panose="020B080403050404020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93669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lnSpcReduction="10000"/>
          </a:bodyPr>
          <a:lstStyle/>
          <a:p>
            <a:endParaRPr lang="zh-CN" altLang="en-US" dirty="0"/>
          </a:p>
        </p:txBody>
      </p:sp>
      <p:sp>
        <p:nvSpPr>
          <p:cNvPr id="4301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fld id="{E02E1D60-6251-8E4C-B1FD-7FB7BC843E47}" type="slidenum">
              <a:rPr lang="zh-CN" altLang="en-US" sz="1200"/>
              <a:t>36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8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5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205C7B0A-CB51-F64E-9604-E3FA6D8AD8C7}" type="slidenum">
              <a:rPr lang="zh-CN" altLang="en-US">
                <a:latin typeface="Tahoma" panose="020B0804030504040204" charset="0"/>
              </a:rPr>
              <a:t>37</a:t>
            </a:fld>
            <a:endParaRPr lang="en-US" altLang="zh-CN">
              <a:latin typeface="Tahoma" panose="020B080403050404020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2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5120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charset="0"/>
              </a:defRPr>
            </a:lvl9pPr>
          </a:lstStyle>
          <a:p>
            <a:pPr>
              <a:spcBef>
                <a:spcPct val="20000"/>
              </a:spcBef>
            </a:pPr>
            <a:fld id="{0E008500-2B7B-774D-BACF-E45ADF7880A9}" type="slidenum">
              <a:rPr lang="zh-CN" altLang="en-US">
                <a:latin typeface="Tahoma" panose="020B0804030504040204" charset="0"/>
              </a:rPr>
              <a:t>40</a:t>
            </a:fld>
            <a:endParaRPr lang="en-US" altLang="zh-CN">
              <a:latin typeface="Tahoma" panose="020B080403050404020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2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 fontScale="47500" lnSpcReduction="20000"/>
          </a:bodyPr>
          <a:lstStyle/>
          <a:p>
            <a:endParaRPr lang="zh-CN" altLang="en-US" dirty="0"/>
          </a:p>
        </p:txBody>
      </p:sp>
      <p:sp>
        <p:nvSpPr>
          <p:cNvPr id="563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i="1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fld id="{2FD65807-261A-5F49-B89C-5EEC985F9999}" type="slidenum">
              <a:rPr lang="zh-CN" altLang="en-US" sz="1200"/>
              <a:t>44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FCF9BB5-D8D7-5D49-93FC-CF4B757E63A8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charset="0"/>
                    <a:ea typeface="宋体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charset="0"/>
                  <a:ea typeface="宋体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81C79E6E-AA8C-43CB-81EF-578FE00FE0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16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D58EE9-9E73-45F0-A7CA-90363CDC52C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489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E5781-787B-4524-97F6-D13F686BE92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15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6B6B5-C72E-4707-8D38-0078B969123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3094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232C7-CC6F-4239-8087-869718C2E8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548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3DF00C-2567-4347-BB4C-FF60FAABE3D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872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0D70A-2DCA-447D-8A44-E39195ABF64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926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102F7D-0FF9-43D9-A322-394D01B577F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729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9F9437-ED2D-4FDD-A393-0E1DE6FC040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87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A42E9C-AEC5-42B8-B28F-353EEBC5F4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28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1AAB10-D719-4480-B976-D8E14387528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483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665F2C4-38A6-42C8-8060-30E04DF4AB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52" r:id="rId1"/>
    <p:sldLayoutId id="2147484642" r:id="rId2"/>
    <p:sldLayoutId id="2147484643" r:id="rId3"/>
    <p:sldLayoutId id="2147484644" r:id="rId4"/>
    <p:sldLayoutId id="2147484645" r:id="rId5"/>
    <p:sldLayoutId id="2147484646" r:id="rId6"/>
    <p:sldLayoutId id="2147484647" r:id="rId7"/>
    <p:sldLayoutId id="2147484648" r:id="rId8"/>
    <p:sldLayoutId id="2147484649" r:id="rId9"/>
    <p:sldLayoutId id="2147484650" r:id="rId10"/>
    <p:sldLayoutId id="214748465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C++</a:t>
            </a:r>
            <a:r>
              <a:rPr lang="zh-CN" altLang="en-US"/>
              <a:t>程序设计（</a:t>
            </a:r>
            <a:r>
              <a:rPr lang="en-US" altLang="zh-CN"/>
              <a:t>part 2）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虚函数</a:t>
            </a:r>
          </a:p>
        </p:txBody>
      </p:sp>
      <p:sp>
        <p:nvSpPr>
          <p:cNvPr id="819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>
                <a:latin typeface="宋体" panose="02010600030101010101" pitchFamily="2" charset="-122"/>
              </a:rPr>
              <a:t>纯虚函数和抽象类</a:t>
            </a:r>
          </a:p>
          <a:p>
            <a:pPr lvl="1" eaLnBrk="1" hangingPunct="1"/>
            <a:r>
              <a:rPr lang="zh-CN" altLang="en-US" sz="2400">
                <a:latin typeface="宋体" panose="02010600030101010101" pitchFamily="2" charset="-122"/>
              </a:rPr>
              <a:t>纯虚函数</a:t>
            </a:r>
          </a:p>
          <a:p>
            <a:pPr lvl="2" eaLnBrk="1" hangingPunct="1"/>
            <a:r>
              <a:rPr lang="zh-CN" altLang="en-US" sz="2000">
                <a:latin typeface="宋体" panose="02010600030101010101" pitchFamily="2" charset="-122"/>
              </a:rPr>
              <a:t>声明时在函数原型后面加上 </a:t>
            </a:r>
            <a:r>
              <a:rPr lang="zh-CN" altLang="en-US" sz="2000" b="1">
                <a:solidFill>
                  <a:srgbClr val="C00000"/>
                </a:solidFill>
                <a:latin typeface="宋体" panose="02010600030101010101" pitchFamily="2" charset="-122"/>
              </a:rPr>
              <a:t>= 0</a:t>
            </a:r>
            <a:r>
              <a:rPr lang="zh-CN" altLang="en-US" sz="2000">
                <a:latin typeface="宋体" panose="02010600030101010101" pitchFamily="2" charset="-122"/>
              </a:rPr>
              <a:t>     </a:t>
            </a:r>
            <a:r>
              <a:rPr lang="en-US" altLang="zh-CN" sz="2000" i="1">
                <a:solidFill>
                  <a:schemeClr val="tx2"/>
                </a:solidFill>
              </a:rPr>
              <a:t>virtual int f()=0;</a:t>
            </a:r>
          </a:p>
          <a:p>
            <a:pPr lvl="2" eaLnBrk="1" hangingPunct="1"/>
            <a:r>
              <a:rPr lang="zh-CN" altLang="en-US" sz="2000">
                <a:solidFill>
                  <a:srgbClr val="CC0000"/>
                </a:solidFill>
                <a:latin typeface="宋体" panose="02010600030101010101" pitchFamily="2" charset="-122"/>
              </a:rPr>
              <a:t>往往</a:t>
            </a:r>
            <a:r>
              <a:rPr lang="zh-CN" altLang="en-US" sz="2000">
                <a:latin typeface="宋体" panose="02010600030101010101" pitchFamily="2" charset="-122"/>
              </a:rPr>
              <a:t>只给出函数声明，不给出实现</a:t>
            </a:r>
            <a:endParaRPr lang="en-US" altLang="zh-CN" sz="2000" i="1">
              <a:latin typeface="宋体" panose="02010600030101010101" pitchFamily="2" charset="-122"/>
            </a:endParaRPr>
          </a:p>
          <a:p>
            <a:pPr lvl="1" algn="just" eaLnBrk="1" hangingPunct="1">
              <a:buFont typeface="Wingdings" panose="05000000000000000000" pitchFamily="2" charset="2"/>
              <a:buNone/>
            </a:pPr>
            <a:endParaRPr lang="en-US" altLang="zh-CN" sz="240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zh-CN" altLang="en-US" sz="2400">
                <a:latin typeface="宋体" panose="02010600030101010101" pitchFamily="2" charset="-122"/>
              </a:rPr>
              <a:t>抽象类</a:t>
            </a:r>
          </a:p>
          <a:p>
            <a:pPr lvl="2" algn="just" eaLnBrk="1" hangingPunct="1"/>
            <a:r>
              <a:rPr lang="zh-CN" altLang="en-US" sz="2000">
                <a:latin typeface="宋体" panose="02010600030101010101" pitchFamily="2" charset="-122"/>
              </a:rPr>
              <a:t>至少包含一个纯虚函数</a:t>
            </a:r>
          </a:p>
          <a:p>
            <a:pPr lvl="2" algn="just" eaLnBrk="1" hangingPunct="1"/>
            <a:r>
              <a:rPr lang="zh-CN" altLang="en-US" sz="2000">
                <a:latin typeface="宋体" panose="02010600030101010101" pitchFamily="2" charset="-122"/>
              </a:rPr>
              <a:t>不能用于创建对象</a:t>
            </a:r>
          </a:p>
          <a:p>
            <a:pPr lvl="2" algn="just" eaLnBrk="1" hangingPunct="1"/>
            <a:r>
              <a:rPr lang="zh-CN" altLang="en-US" sz="2000">
                <a:latin typeface="宋体" panose="02010600030101010101" pitchFamily="2" charset="-122"/>
              </a:rPr>
              <a:t>为派生类提供框架，派生类提供抽象基类的所有成员函数的实现</a:t>
            </a:r>
          </a:p>
        </p:txBody>
      </p:sp>
      <p:sp>
        <p:nvSpPr>
          <p:cNvPr id="81923" name="Text Box 4"/>
          <p:cNvSpPr txBox="1">
            <a:spLocks noChangeArrowheads="1"/>
          </p:cNvSpPr>
          <p:nvPr/>
        </p:nvSpPr>
        <p:spPr bwMode="auto">
          <a:xfrm>
            <a:off x="6515100" y="3570288"/>
            <a:ext cx="2400300" cy="1687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GB" altLang="zh-CN" sz="1800" i="1">
                <a:solidFill>
                  <a:schemeClr val="tx2"/>
                </a:solidFill>
              </a:rPr>
              <a:t>class AbstractClass 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GB" altLang="en-US" sz="1800" i="1">
                <a:solidFill>
                  <a:schemeClr val="tx2"/>
                </a:solidFill>
              </a:rPr>
              <a:t>{      …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GB" altLang="zh-CN" sz="1800" i="1">
                <a:solidFill>
                  <a:schemeClr val="tx2"/>
                </a:solidFill>
              </a:rPr>
              <a:t>   public: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GB" altLang="zh-CN" sz="1800" i="1">
                <a:solidFill>
                  <a:schemeClr val="tx2"/>
                </a:solidFill>
              </a:rPr>
              <a:t>       </a:t>
            </a:r>
            <a:r>
              <a:rPr lang="en-US" altLang="zh-CN" sz="1800" i="1">
                <a:solidFill>
                  <a:schemeClr val="tx2"/>
                </a:solidFill>
              </a:rPr>
              <a:t>virtual int </a:t>
            </a:r>
            <a:r>
              <a:rPr lang="en-GB" altLang="zh-CN" sz="1800" i="1">
                <a:solidFill>
                  <a:schemeClr val="tx2"/>
                </a:solidFill>
              </a:rPr>
              <a:t>f()=0; </a:t>
            </a:r>
            <a:endParaRPr lang="en-GB" altLang="en-US" sz="1800" i="1">
              <a:solidFill>
                <a:schemeClr val="tx2"/>
              </a:solidFill>
            </a:endParaRPr>
          </a:p>
          <a:p>
            <a:pPr eaLnBrk="1" hangingPunct="1">
              <a:buClrTx/>
              <a:buSzTx/>
              <a:buFontTx/>
              <a:buNone/>
            </a:pPr>
            <a:r>
              <a:rPr lang="en-GB" altLang="en-US" sz="1800" i="1">
                <a:solidFill>
                  <a:schemeClr val="tx2"/>
                </a:solidFill>
              </a:rPr>
              <a:t>};</a:t>
            </a:r>
            <a:endParaRPr lang="zh-CN" altLang="en-US" sz="1800">
              <a:solidFill>
                <a:schemeClr val="tx2"/>
              </a:solidFill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148263" y="2205038"/>
            <a:ext cx="2738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70C0"/>
                </a:solidFill>
              </a:rPr>
              <a:t>Means “ not there”</a:t>
            </a:r>
            <a:endParaRPr lang="zh-CN" altLang="en-US" sz="2400">
              <a:solidFill>
                <a:srgbClr val="0070C0"/>
              </a:solidFill>
            </a:endParaRPr>
          </a:p>
        </p:txBody>
      </p:sp>
      <p:cxnSp>
        <p:nvCxnSpPr>
          <p:cNvPr id="7" name="直接箭头连接符 6"/>
          <p:cNvCxnSpPr>
            <a:cxnSpLocks noChangeShapeType="1"/>
          </p:cNvCxnSpPr>
          <p:nvPr/>
        </p:nvCxnSpPr>
        <p:spPr bwMode="auto">
          <a:xfrm flipH="1">
            <a:off x="5795963" y="2565400"/>
            <a:ext cx="360362" cy="503238"/>
          </a:xfrm>
          <a:prstGeom prst="straightConnector1">
            <a:avLst/>
          </a:prstGeom>
          <a:noFill/>
          <a:ln w="9525">
            <a:solidFill>
              <a:srgbClr val="0070C0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Box 7"/>
          <p:cNvSpPr txBox="1"/>
          <p:nvPr/>
        </p:nvSpPr>
        <p:spPr>
          <a:xfrm>
            <a:off x="5364163" y="5949950"/>
            <a:ext cx="2465387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2000" i="1" dirty="0">
                <a:solidFill>
                  <a:schemeClr val="accent5">
                    <a:lumMod val="25000"/>
                  </a:schemeClr>
                </a:solidFill>
              </a:rPr>
              <a:t>_</a:t>
            </a:r>
            <a:r>
              <a:rPr lang="en-US" altLang="zh-CN" sz="2000" i="1" dirty="0" err="1">
                <a:solidFill>
                  <a:schemeClr val="accent5">
                    <a:lumMod val="25000"/>
                  </a:schemeClr>
                </a:solidFill>
              </a:rPr>
              <a:t>pure_virtual_called</a:t>
            </a:r>
            <a:endParaRPr lang="zh-CN" altLang="en-US" sz="2000" i="1" dirty="0">
              <a:solidFill>
                <a:schemeClr val="accent5">
                  <a:lumMod val="25000"/>
                </a:schemeClr>
              </a:solidFill>
            </a:endParaRPr>
          </a:p>
        </p:txBody>
      </p:sp>
      <p:cxnSp>
        <p:nvCxnSpPr>
          <p:cNvPr id="10" name="直接箭头连接符 9"/>
          <p:cNvCxnSpPr/>
          <p:nvPr/>
        </p:nvCxnSpPr>
        <p:spPr bwMode="auto">
          <a:xfrm flipV="1">
            <a:off x="7019925" y="4797425"/>
            <a:ext cx="1008063" cy="12239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5">
                <a:lumMod val="25000"/>
              </a:schemeClr>
            </a:solidFill>
            <a:prstDash val="solid"/>
            <a:miter lim="800000"/>
            <a:headEnd type="none" w="med" len="med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虚函数</a:t>
            </a:r>
          </a:p>
        </p:txBody>
      </p:sp>
      <p:sp>
        <p:nvSpPr>
          <p:cNvPr id="83970" name="Oval 4"/>
          <p:cNvSpPr>
            <a:spLocks noChangeArrowheads="1"/>
          </p:cNvSpPr>
          <p:nvPr/>
        </p:nvSpPr>
        <p:spPr bwMode="auto">
          <a:xfrm>
            <a:off x="2819400" y="2049463"/>
            <a:ext cx="17526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Figure</a:t>
            </a:r>
          </a:p>
        </p:txBody>
      </p:sp>
      <p:sp>
        <p:nvSpPr>
          <p:cNvPr id="83971" name="Oval 5"/>
          <p:cNvSpPr>
            <a:spLocks noChangeArrowheads="1"/>
          </p:cNvSpPr>
          <p:nvPr/>
        </p:nvSpPr>
        <p:spPr bwMode="auto">
          <a:xfrm>
            <a:off x="1143000" y="3192463"/>
            <a:ext cx="17526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Rectangle</a:t>
            </a:r>
          </a:p>
        </p:txBody>
      </p:sp>
      <p:sp>
        <p:nvSpPr>
          <p:cNvPr id="83972" name="Oval 6"/>
          <p:cNvSpPr>
            <a:spLocks noChangeArrowheads="1"/>
          </p:cNvSpPr>
          <p:nvPr/>
        </p:nvSpPr>
        <p:spPr bwMode="auto">
          <a:xfrm>
            <a:off x="3352800" y="3192463"/>
            <a:ext cx="17526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Ellipse</a:t>
            </a:r>
          </a:p>
        </p:txBody>
      </p:sp>
      <p:sp>
        <p:nvSpPr>
          <p:cNvPr id="83973" name="Oval 7"/>
          <p:cNvSpPr>
            <a:spLocks noChangeArrowheads="1"/>
          </p:cNvSpPr>
          <p:nvPr/>
        </p:nvSpPr>
        <p:spPr bwMode="auto">
          <a:xfrm>
            <a:off x="5486400" y="3192463"/>
            <a:ext cx="17526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Line</a:t>
            </a:r>
          </a:p>
        </p:txBody>
      </p:sp>
      <p:sp>
        <p:nvSpPr>
          <p:cNvPr id="83974" name="Text Box 8"/>
          <p:cNvSpPr txBox="1">
            <a:spLocks noChangeArrowheads="1"/>
          </p:cNvSpPr>
          <p:nvPr/>
        </p:nvSpPr>
        <p:spPr bwMode="auto">
          <a:xfrm>
            <a:off x="4648200" y="2166938"/>
            <a:ext cx="233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virtual display()=0;</a:t>
            </a:r>
            <a:endParaRPr lang="en-US" altLang="zh-CN" sz="2000"/>
          </a:p>
        </p:txBody>
      </p:sp>
      <p:sp>
        <p:nvSpPr>
          <p:cNvPr id="83975" name="Text Box 9"/>
          <p:cNvSpPr txBox="1">
            <a:spLocks noChangeArrowheads="1"/>
          </p:cNvSpPr>
          <p:nvPr/>
        </p:nvSpPr>
        <p:spPr bwMode="auto">
          <a:xfrm>
            <a:off x="1447800" y="3995738"/>
            <a:ext cx="954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display</a:t>
            </a:r>
          </a:p>
        </p:txBody>
      </p:sp>
      <p:sp>
        <p:nvSpPr>
          <p:cNvPr id="83976" name="Text Box 10"/>
          <p:cNvSpPr txBox="1">
            <a:spLocks noChangeArrowheads="1"/>
          </p:cNvSpPr>
          <p:nvPr/>
        </p:nvSpPr>
        <p:spPr bwMode="auto">
          <a:xfrm>
            <a:off x="3733800" y="4030663"/>
            <a:ext cx="1063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display</a:t>
            </a:r>
          </a:p>
        </p:txBody>
      </p:sp>
      <p:sp>
        <p:nvSpPr>
          <p:cNvPr id="83977" name="Text Box 11"/>
          <p:cNvSpPr txBox="1">
            <a:spLocks noChangeArrowheads="1"/>
          </p:cNvSpPr>
          <p:nvPr/>
        </p:nvSpPr>
        <p:spPr bwMode="auto">
          <a:xfrm>
            <a:off x="5867400" y="4030663"/>
            <a:ext cx="10636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display</a:t>
            </a:r>
          </a:p>
        </p:txBody>
      </p:sp>
      <p:sp>
        <p:nvSpPr>
          <p:cNvPr id="83978" name="Line 12"/>
          <p:cNvSpPr>
            <a:spLocks noChangeShapeType="1"/>
          </p:cNvSpPr>
          <p:nvPr/>
        </p:nvSpPr>
        <p:spPr bwMode="auto">
          <a:xfrm flipH="1">
            <a:off x="2209800" y="2582863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79" name="Line 13"/>
          <p:cNvSpPr>
            <a:spLocks noChangeShapeType="1"/>
          </p:cNvSpPr>
          <p:nvPr/>
        </p:nvSpPr>
        <p:spPr bwMode="auto">
          <a:xfrm>
            <a:off x="3886200" y="2735263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0" name="Line 14"/>
          <p:cNvSpPr>
            <a:spLocks noChangeShapeType="1"/>
          </p:cNvSpPr>
          <p:nvPr/>
        </p:nvSpPr>
        <p:spPr bwMode="auto">
          <a:xfrm>
            <a:off x="4419600" y="2582863"/>
            <a:ext cx="1447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3981" name="Text Box 15"/>
          <p:cNvSpPr txBox="1">
            <a:spLocks noChangeArrowheads="1"/>
          </p:cNvSpPr>
          <p:nvPr/>
        </p:nvSpPr>
        <p:spPr bwMode="auto">
          <a:xfrm>
            <a:off x="1066800" y="4632325"/>
            <a:ext cx="6470650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chemeClr val="tx2"/>
                </a:solidFill>
              </a:rPr>
              <a:t>Figure *a[100];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chemeClr val="tx2"/>
                </a:solidFill>
              </a:rPr>
              <a:t>a[0] = new Rectangle();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chemeClr val="tx2"/>
                </a:solidFill>
              </a:rPr>
              <a:t>a[1] = new Ellipse();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chemeClr val="tx2"/>
                </a:solidFill>
              </a:rPr>
              <a:t>a[2] = new Line();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chemeClr val="tx2"/>
                </a:solidFill>
              </a:rPr>
              <a:t>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chemeClr val="tx2"/>
                </a:solidFill>
              </a:rPr>
              <a:t>for (int i=0; i&lt;num_of_figures; i++)    a[i]-&gt;display()；</a:t>
            </a:r>
            <a:endParaRPr lang="en-US" altLang="zh-CN" sz="20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16013" y="1916113"/>
            <a:ext cx="4392612" cy="2616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000">
                <a:solidFill>
                  <a:schemeClr val="accent5">
                    <a:lumMod val="25000"/>
                  </a:schemeClr>
                </a:solidFill>
              </a:rPr>
              <a:t>WinButton *pb= new   WinButton();</a:t>
            </a:r>
          </a:p>
          <a:p>
            <a:pPr eaLnBrk="1" hangingPunct="1">
              <a:defRPr/>
            </a:pPr>
            <a:r>
              <a:rPr lang="en-US" altLang="zh-CN" sz="2000">
                <a:solidFill>
                  <a:schemeClr val="accent5">
                    <a:lumMod val="25000"/>
                  </a:schemeClr>
                </a:solidFill>
              </a:rPr>
              <a:t>…… </a:t>
            </a:r>
          </a:p>
          <a:p>
            <a:pPr eaLnBrk="1" hangingPunct="1">
              <a:defRPr/>
            </a:pPr>
            <a:r>
              <a:rPr lang="en-US" altLang="zh-CN" sz="2000">
                <a:solidFill>
                  <a:schemeClr val="accent5">
                    <a:lumMod val="25000"/>
                  </a:schemeClr>
                </a:solidFill>
              </a:rPr>
              <a:t>pb-&gt;SetStyle( … );</a:t>
            </a:r>
          </a:p>
          <a:p>
            <a:pPr eaLnBrk="1" hangingPunct="1">
              <a:defRPr/>
            </a:pPr>
            <a:endParaRPr lang="en-US" altLang="zh-CN" sz="2000">
              <a:solidFill>
                <a:schemeClr val="accent5">
                  <a:lumMod val="25000"/>
                </a:schemeClr>
              </a:solidFill>
            </a:endParaRPr>
          </a:p>
          <a:p>
            <a:pPr eaLnBrk="1" hangingPunct="1">
              <a:defRPr/>
            </a:pPr>
            <a:r>
              <a:rPr lang="en-US" altLang="zh-CN" sz="2000">
                <a:solidFill>
                  <a:schemeClr val="accent5">
                    <a:lumMod val="25000"/>
                  </a:schemeClr>
                </a:solidFill>
              </a:rPr>
              <a:t>WinLabel *pl= new    WinLabel();</a:t>
            </a:r>
          </a:p>
          <a:p>
            <a:pPr eaLnBrk="1" hangingPunct="1">
              <a:defRPr/>
            </a:pPr>
            <a:r>
              <a:rPr lang="en-US" altLang="zh-CN" sz="2000">
                <a:solidFill>
                  <a:schemeClr val="accent5">
                    <a:lumMod val="25000"/>
                  </a:schemeClr>
                </a:solidFill>
              </a:rPr>
              <a:t>…… </a:t>
            </a:r>
          </a:p>
          <a:p>
            <a:pPr eaLnBrk="1" hangingPunct="1">
              <a:defRPr/>
            </a:pPr>
            <a:r>
              <a:rPr lang="en-US" altLang="zh-CN" sz="2000">
                <a:solidFill>
                  <a:schemeClr val="accent5">
                    <a:lumMod val="25000"/>
                  </a:schemeClr>
                </a:solidFill>
              </a:rPr>
              <a:t>pl-&gt;SetText( … );</a:t>
            </a:r>
            <a:endParaRPr lang="zh-CN" altLang="en-US" sz="2000">
              <a:solidFill>
                <a:schemeClr val="accent5">
                  <a:lumMod val="25000"/>
                </a:schemeClr>
              </a:solidFill>
            </a:endParaRPr>
          </a:p>
          <a:p>
            <a:pPr eaLnBrk="1" hangingPunct="1">
              <a:defRPr/>
            </a:pPr>
            <a:endParaRPr lang="zh-CN" altLang="en-US" dirty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5940425" y="404813"/>
            <a:ext cx="27447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Step1: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/>
              <a:t>提供</a:t>
            </a:r>
            <a:r>
              <a:rPr lang="en-US" altLang="zh-CN" sz="2000"/>
              <a:t>Windows GUI</a:t>
            </a:r>
            <a:r>
              <a:rPr lang="zh-CN" altLang="en-US" sz="2000"/>
              <a:t>类库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27538" y="404813"/>
            <a:ext cx="1246187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800" i="1" dirty="0" err="1">
                <a:solidFill>
                  <a:schemeClr val="accent2">
                    <a:lumMod val="50000"/>
                  </a:schemeClr>
                </a:solidFill>
              </a:rPr>
              <a:t>WinButton</a:t>
            </a:r>
            <a:endParaRPr lang="en-US" altLang="zh-CN" sz="1800" i="1" dirty="0">
              <a:solidFill>
                <a:schemeClr val="accent2">
                  <a:lumMod val="50000"/>
                </a:schemeClr>
              </a:solidFill>
            </a:endParaRPr>
          </a:p>
          <a:p>
            <a:pPr eaLnBrk="1" hangingPunct="1">
              <a:defRPr/>
            </a:pPr>
            <a:r>
              <a:rPr lang="en-US" altLang="zh-CN" sz="1800" i="1" dirty="0" err="1">
                <a:solidFill>
                  <a:schemeClr val="accent2">
                    <a:lumMod val="50000"/>
                  </a:schemeClr>
                </a:solidFill>
              </a:rPr>
              <a:t>WinLabel</a:t>
            </a:r>
            <a:endParaRPr lang="en-US" altLang="zh-CN" sz="1800" i="1" dirty="0">
              <a:solidFill>
                <a:schemeClr val="accent2">
                  <a:lumMod val="50000"/>
                </a:schemeClr>
              </a:solidFill>
            </a:endParaRPr>
          </a:p>
          <a:p>
            <a:pPr eaLnBrk="1" hangingPunct="1">
              <a:defRPr/>
            </a:pPr>
            <a:r>
              <a:rPr lang="en-US" altLang="zh-CN" sz="1800" i="1" dirty="0">
                <a:solidFill>
                  <a:schemeClr val="accent2">
                    <a:lumMod val="50000"/>
                  </a:schemeClr>
                </a:solidFill>
              </a:rPr>
              <a:t>……</a:t>
            </a:r>
            <a:endParaRPr lang="zh-CN" altLang="en-US" sz="1800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67400" y="2205038"/>
            <a:ext cx="1262063" cy="954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800" i="1" dirty="0" err="1">
                <a:solidFill>
                  <a:schemeClr val="accent2">
                    <a:lumMod val="50000"/>
                  </a:schemeClr>
                </a:solidFill>
              </a:rPr>
              <a:t>MacButton</a:t>
            </a:r>
            <a:endParaRPr lang="en-US" altLang="zh-CN" sz="1800" i="1" dirty="0">
              <a:solidFill>
                <a:schemeClr val="accent2">
                  <a:lumMod val="50000"/>
                </a:schemeClr>
              </a:solidFill>
            </a:endParaRPr>
          </a:p>
          <a:p>
            <a:pPr eaLnBrk="1" hangingPunct="1">
              <a:defRPr/>
            </a:pPr>
            <a:r>
              <a:rPr lang="en-US" altLang="zh-CN" sz="1800" i="1" dirty="0" err="1">
                <a:solidFill>
                  <a:schemeClr val="accent2">
                    <a:lumMod val="50000"/>
                  </a:schemeClr>
                </a:solidFill>
              </a:rPr>
              <a:t>MacLabel</a:t>
            </a:r>
            <a:endParaRPr lang="en-US" altLang="zh-CN" sz="1800" i="1" dirty="0">
              <a:solidFill>
                <a:schemeClr val="accent2">
                  <a:lumMod val="50000"/>
                </a:schemeClr>
              </a:solidFill>
            </a:endParaRPr>
          </a:p>
          <a:p>
            <a:pPr eaLnBrk="1" hangingPunct="1">
              <a:defRPr/>
            </a:pPr>
            <a:r>
              <a:rPr lang="en-US" altLang="zh-CN" sz="2000" i="1" dirty="0">
                <a:solidFill>
                  <a:schemeClr val="accent2">
                    <a:lumMod val="50000"/>
                  </a:schemeClr>
                </a:solidFill>
              </a:rPr>
              <a:t>……</a:t>
            </a:r>
            <a:endParaRPr lang="zh-CN" altLang="en-US" sz="2000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011863" y="1341438"/>
            <a:ext cx="2174875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Step2: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/>
              <a:t>增加对</a:t>
            </a:r>
            <a:r>
              <a:rPr lang="en-US" altLang="zh-CN" sz="2000"/>
              <a:t>Mac</a:t>
            </a:r>
            <a:r>
              <a:rPr lang="zh-CN" altLang="en-US" sz="2000"/>
              <a:t>的支持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5624513" y="3213100"/>
            <a:ext cx="35194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/>
              <a:t>Step3: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/>
              <a:t>增加对用户跨平台设计的支持</a:t>
            </a:r>
          </a:p>
        </p:txBody>
      </p:sp>
      <p:grpSp>
        <p:nvGrpSpPr>
          <p:cNvPr id="7" name="组合 36"/>
          <p:cNvGrpSpPr>
            <a:grpSpLocks/>
          </p:cNvGrpSpPr>
          <p:nvPr/>
        </p:nvGrpSpPr>
        <p:grpSpPr bwMode="auto">
          <a:xfrm>
            <a:off x="5287963" y="4149725"/>
            <a:ext cx="2755900" cy="976313"/>
            <a:chOff x="5288539" y="4149080"/>
            <a:chExt cx="2754700" cy="976174"/>
          </a:xfrm>
        </p:grpSpPr>
        <p:sp>
          <p:nvSpPr>
            <p:cNvPr id="10" name="TextBox 9"/>
            <p:cNvSpPr txBox="1"/>
            <p:nvPr/>
          </p:nvSpPr>
          <p:spPr>
            <a:xfrm>
              <a:off x="6153349" y="4149080"/>
              <a:ext cx="931457" cy="39999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dirty="0">
                  <a:solidFill>
                    <a:schemeClr val="accent2">
                      <a:lumMod val="50000"/>
                    </a:schemeClr>
                  </a:solidFill>
                </a:rPr>
                <a:t>Button</a:t>
              </a:r>
              <a:endParaRPr lang="zh-CN" altLang="en-US" sz="20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88539" y="4725261"/>
              <a:ext cx="1364656" cy="39999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dirty="0" err="1">
                  <a:solidFill>
                    <a:schemeClr val="accent2">
                      <a:lumMod val="50000"/>
                    </a:schemeClr>
                  </a:solidFill>
                </a:rPr>
                <a:t>WinButton</a:t>
              </a:r>
              <a:endParaRPr lang="zh-CN" altLang="en-US" sz="20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59542" y="4725261"/>
              <a:ext cx="1383697" cy="39999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dirty="0" err="1">
                  <a:solidFill>
                    <a:schemeClr val="accent2">
                      <a:lumMod val="50000"/>
                    </a:schemeClr>
                  </a:solidFill>
                </a:rPr>
                <a:t>MacButton</a:t>
              </a:r>
              <a:endParaRPr lang="zh-CN" altLang="en-US" sz="20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cxnSp>
          <p:nvCxnSpPr>
            <p:cNvPr id="85022" name="直接连接符 13"/>
            <p:cNvCxnSpPr>
              <a:cxnSpLocks noChangeShapeType="1"/>
            </p:cNvCxnSpPr>
            <p:nvPr/>
          </p:nvCxnSpPr>
          <p:spPr bwMode="auto">
            <a:xfrm flipH="1">
              <a:off x="6080627" y="4509120"/>
              <a:ext cx="360040" cy="2880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23" name="直接连接符 16"/>
            <p:cNvCxnSpPr>
              <a:cxnSpLocks noChangeShapeType="1"/>
            </p:cNvCxnSpPr>
            <p:nvPr/>
          </p:nvCxnSpPr>
          <p:spPr bwMode="auto">
            <a:xfrm>
              <a:off x="6800707" y="4509120"/>
              <a:ext cx="288032" cy="2880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3648075" y="1916113"/>
            <a:ext cx="636588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C00000"/>
                </a:solidFill>
              </a:rPr>
              <a:t>Mac</a:t>
            </a:r>
            <a:endParaRPr lang="zh-CN" altLang="en-US" sz="200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3492500" y="3141663"/>
            <a:ext cx="635000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C00000"/>
                </a:solidFill>
              </a:rPr>
              <a:t>Mac</a:t>
            </a:r>
            <a:endParaRPr lang="zh-CN" altLang="en-US" sz="200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6948488" y="4149725"/>
            <a:ext cx="14033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70C0"/>
                </a:solidFill>
              </a:rPr>
              <a:t>SetStyle()=0;</a:t>
            </a:r>
            <a:endParaRPr lang="zh-CN" altLang="en-US" sz="1600">
              <a:solidFill>
                <a:srgbClr val="0070C0"/>
              </a:solidFill>
            </a:endParaRPr>
          </a:p>
        </p:txBody>
      </p:sp>
      <p:grpSp>
        <p:nvGrpSpPr>
          <p:cNvPr id="9" name="组合 37"/>
          <p:cNvGrpSpPr>
            <a:grpSpLocks/>
          </p:cNvGrpSpPr>
          <p:nvPr/>
        </p:nvGrpSpPr>
        <p:grpSpPr bwMode="auto">
          <a:xfrm>
            <a:off x="323850" y="4508500"/>
            <a:ext cx="3024188" cy="976313"/>
            <a:chOff x="323528" y="4509120"/>
            <a:chExt cx="3024336" cy="976174"/>
          </a:xfrm>
        </p:grpSpPr>
        <p:sp>
          <p:nvSpPr>
            <p:cNvPr id="26" name="TextBox 25"/>
            <p:cNvSpPr txBox="1"/>
            <p:nvPr/>
          </p:nvSpPr>
          <p:spPr>
            <a:xfrm>
              <a:off x="1115730" y="4509120"/>
              <a:ext cx="1930494" cy="39999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dirty="0" err="1">
                  <a:solidFill>
                    <a:schemeClr val="accent2">
                      <a:lumMod val="50000"/>
                    </a:schemeClr>
                  </a:solidFill>
                </a:rPr>
                <a:t>AbstractFactory</a:t>
              </a:r>
              <a:endParaRPr lang="zh-CN" altLang="en-US" sz="20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23528" y="5085301"/>
              <a:ext cx="1439933" cy="39999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dirty="0" err="1">
                  <a:solidFill>
                    <a:schemeClr val="accent2">
                      <a:lumMod val="50000"/>
                    </a:schemeClr>
                  </a:solidFill>
                </a:rPr>
                <a:t>WinFactory</a:t>
              </a:r>
              <a:endParaRPr lang="zh-CN" altLang="en-US" sz="20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890468" y="5085301"/>
              <a:ext cx="1457396" cy="39999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000" dirty="0" err="1">
                  <a:solidFill>
                    <a:schemeClr val="accent2">
                      <a:lumMod val="50000"/>
                    </a:schemeClr>
                  </a:solidFill>
                </a:rPr>
                <a:t>MacFactory</a:t>
              </a:r>
              <a:endParaRPr lang="zh-CN" altLang="en-US" sz="2000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cxnSp>
          <p:nvCxnSpPr>
            <p:cNvPr id="85017" name="直接连接符 28"/>
            <p:cNvCxnSpPr>
              <a:cxnSpLocks noChangeShapeType="1"/>
            </p:cNvCxnSpPr>
            <p:nvPr/>
          </p:nvCxnSpPr>
          <p:spPr bwMode="auto">
            <a:xfrm flipH="1">
              <a:off x="1259632" y="4869160"/>
              <a:ext cx="360040" cy="2880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018" name="直接连接符 29"/>
            <p:cNvCxnSpPr>
              <a:cxnSpLocks noChangeShapeType="1"/>
            </p:cNvCxnSpPr>
            <p:nvPr/>
          </p:nvCxnSpPr>
          <p:spPr bwMode="auto">
            <a:xfrm>
              <a:off x="1979712" y="4869160"/>
              <a:ext cx="288032" cy="2880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1" name="TextBox 30"/>
          <p:cNvSpPr txBox="1"/>
          <p:nvPr/>
        </p:nvSpPr>
        <p:spPr>
          <a:xfrm>
            <a:off x="2987675" y="4581525"/>
            <a:ext cx="1924050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US" altLang="zh-CN" sz="1600" dirty="0" err="1">
                <a:solidFill>
                  <a:srgbClr val="0070C0"/>
                </a:solidFill>
              </a:rPr>
              <a:t>CreateButton</a:t>
            </a:r>
            <a:r>
              <a:rPr lang="en-US" altLang="zh-CN" sz="1600" dirty="0">
                <a:solidFill>
                  <a:srgbClr val="0070C0"/>
                </a:solidFill>
              </a:rPr>
              <a:t>() =0;</a:t>
            </a:r>
          </a:p>
          <a:p>
            <a:pPr eaLnBrk="1" hangingPunct="1">
              <a:defRPr/>
            </a:pPr>
            <a:r>
              <a:rPr lang="en-US" altLang="zh-CN" sz="1600" dirty="0" err="1">
                <a:solidFill>
                  <a:srgbClr val="0070C0"/>
                </a:solidFill>
              </a:rPr>
              <a:t>CreateLabel</a:t>
            </a:r>
            <a:r>
              <a:rPr lang="en-US" altLang="zh-CN" sz="1600" dirty="0">
                <a:solidFill>
                  <a:srgbClr val="0070C0"/>
                </a:solidFill>
              </a:rPr>
              <a:t>()=0;</a:t>
            </a:r>
            <a:endParaRPr lang="zh-CN" altLang="en-US" sz="1600" i="1" dirty="0">
              <a:solidFill>
                <a:schemeClr val="accent5">
                  <a:lumMod val="25000"/>
                </a:schemeClr>
              </a:solidFill>
            </a:endParaRP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2700338" y="5445125"/>
            <a:ext cx="24018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i="1">
                <a:solidFill>
                  <a:srgbClr val="0070C0"/>
                </a:solidFill>
              </a:rPr>
              <a:t>MacButton* CreateButton()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i="1">
                <a:solidFill>
                  <a:srgbClr val="0070C0"/>
                </a:solidFill>
              </a:rPr>
              <a:t>{  return new MacButton;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i="1">
                <a:solidFill>
                  <a:srgbClr val="0070C0"/>
                </a:solidFill>
              </a:rPr>
              <a:t>MacLabel* CreateLabel()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i="1">
                <a:solidFill>
                  <a:srgbClr val="0070C0"/>
                </a:solidFill>
              </a:rPr>
              <a:t>{  return new MacLabel; }</a:t>
            </a:r>
            <a:endParaRPr lang="zh-CN" altLang="en-US" sz="1400" i="1"/>
          </a:p>
        </p:txBody>
      </p:sp>
      <p:sp>
        <p:nvSpPr>
          <p:cNvPr id="33" name="TextBox 32"/>
          <p:cNvSpPr txBox="1">
            <a:spLocks noChangeArrowheads="1"/>
          </p:cNvSpPr>
          <p:nvPr/>
        </p:nvSpPr>
        <p:spPr bwMode="auto">
          <a:xfrm>
            <a:off x="107950" y="5445125"/>
            <a:ext cx="238918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i="1">
                <a:solidFill>
                  <a:srgbClr val="0070C0"/>
                </a:solidFill>
              </a:rPr>
              <a:t>WinButton* CreateButton()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i="1">
                <a:solidFill>
                  <a:srgbClr val="0070C0"/>
                </a:solidFill>
              </a:rPr>
              <a:t>{  return new WinButton;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i="1">
                <a:solidFill>
                  <a:srgbClr val="0070C0"/>
                </a:solidFill>
              </a:rPr>
              <a:t>WinLabel*   CreateLabel()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i="1">
                <a:solidFill>
                  <a:srgbClr val="0070C0"/>
                </a:solidFill>
              </a:rPr>
              <a:t>{ return new WinLabel; }</a:t>
            </a:r>
            <a:endParaRPr lang="zh-CN" altLang="en-US" sz="1400" i="1"/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3059113" y="1989138"/>
            <a:ext cx="2325687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fac-&gt;CreateButton();</a:t>
            </a:r>
            <a:endParaRPr lang="zh-CN" altLang="en-US" sz="1800"/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2882900" y="3141663"/>
            <a:ext cx="2193925" cy="368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fac-&gt;CreateLabel();</a:t>
            </a:r>
            <a:endParaRPr lang="zh-CN" altLang="en-US" sz="1800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1258888" y="115888"/>
            <a:ext cx="2513012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70C0"/>
                </a:solidFill>
              </a:rPr>
              <a:t>AbstractFactory* fac;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>
              <a:solidFill>
                <a:srgbClr val="0070C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70C0"/>
                </a:solidFill>
              </a:rPr>
              <a:t>case MAC: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70C0"/>
                </a:solidFill>
              </a:rPr>
              <a:t>    fac = new MacFactory;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70C0"/>
                </a:solidFill>
              </a:rPr>
              <a:t>case WIN: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70C0"/>
                </a:solidFill>
              </a:rPr>
              <a:t>    fac = new WinFactory;</a:t>
            </a:r>
          </a:p>
        </p:txBody>
      </p:sp>
      <p:sp>
        <p:nvSpPr>
          <p:cNvPr id="39" name="TextBox 38"/>
          <p:cNvSpPr txBox="1">
            <a:spLocks noChangeArrowheads="1"/>
          </p:cNvSpPr>
          <p:nvPr/>
        </p:nvSpPr>
        <p:spPr bwMode="auto">
          <a:xfrm>
            <a:off x="827088" y="1887538"/>
            <a:ext cx="835025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C00000"/>
                </a:solidFill>
              </a:rPr>
              <a:t>Mac</a:t>
            </a:r>
            <a:endParaRPr lang="zh-CN" altLang="en-US" sz="2400">
              <a:solidFill>
                <a:srgbClr val="C00000"/>
              </a:solidFill>
            </a:endParaRP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785813" y="3068638"/>
            <a:ext cx="833437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C00000"/>
                </a:solidFill>
              </a:rPr>
              <a:t>Mac</a:t>
            </a:r>
            <a:endParaRPr lang="zh-CN" altLang="en-US" sz="240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785813" y="1916113"/>
            <a:ext cx="833437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      </a:t>
            </a:r>
            <a:endParaRPr lang="zh-CN" altLang="en-US" sz="2400"/>
          </a:p>
        </p:txBody>
      </p:sp>
      <p:sp>
        <p:nvSpPr>
          <p:cNvPr id="22" name="TextBox 21"/>
          <p:cNvSpPr txBox="1">
            <a:spLocks noChangeArrowheads="1"/>
          </p:cNvSpPr>
          <p:nvPr/>
        </p:nvSpPr>
        <p:spPr bwMode="auto">
          <a:xfrm>
            <a:off x="785813" y="3111500"/>
            <a:ext cx="833437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      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/>
      <p:bldP spid="3" grpId="0" build="allAtOnce"/>
      <p:bldP spid="4" grpId="0" build="allAtOnce"/>
      <p:bldP spid="5" grpId="0" build="allAtOnce"/>
      <p:bldP spid="6" grpId="0" build="allAtOnce"/>
      <p:bldP spid="8" grpId="0" build="allAtOnce"/>
      <p:bldP spid="23" grpId="0" build="allAtOnce" animBg="1"/>
      <p:bldP spid="24" grpId="0" build="allAtOnce" animBg="1"/>
      <p:bldP spid="25" grpId="0" build="allAtOnce"/>
      <p:bldP spid="31" grpId="0" build="allAtOnce"/>
      <p:bldP spid="32" grpId="0" build="allAtOnce"/>
      <p:bldP spid="33" grpId="0" build="allAtOnce"/>
      <p:bldP spid="34" grpId="0" build="allAtOnce" animBg="1"/>
      <p:bldP spid="35" grpId="0" build="allAtOnce" animBg="1"/>
      <p:bldP spid="36" grpId="0" build="allAtOnce"/>
      <p:bldP spid="39" grpId="0" build="allAtOnce" animBg="1"/>
      <p:bldP spid="40" grpId="0" build="allAtOnce" animBg="1"/>
      <p:bldP spid="21" grpId="0" build="allAtOnce" animBg="1"/>
      <p:bldP spid="22" grpId="0" build="allAtOnce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extBox 2"/>
          <p:cNvSpPr txBox="1">
            <a:spLocks noChangeArrowheads="1"/>
          </p:cNvSpPr>
          <p:nvPr/>
        </p:nvSpPr>
        <p:spPr bwMode="auto">
          <a:xfrm>
            <a:off x="1000125" y="0"/>
            <a:ext cx="3773488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class Button; // Abstract Class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class MacButton: public Button {};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class WinButton: public Button {};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class Label; // Abstract Class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class MacLabel: public Label {};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class WinLabel: public Label {};</a:t>
            </a:r>
            <a:endParaRPr lang="zh-CN" altLang="en-US" sz="1800">
              <a:solidFill>
                <a:srgbClr val="0070C0"/>
              </a:solidFill>
            </a:endParaRPr>
          </a:p>
        </p:txBody>
      </p:sp>
      <p:sp>
        <p:nvSpPr>
          <p:cNvPr id="86018" name="TextBox 3"/>
          <p:cNvSpPr txBox="1">
            <a:spLocks noChangeArrowheads="1"/>
          </p:cNvSpPr>
          <p:nvPr/>
        </p:nvSpPr>
        <p:spPr bwMode="auto">
          <a:xfrm>
            <a:off x="285750" y="2214563"/>
            <a:ext cx="6062663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class AbstractFactory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    virtual Button* CreateButton() =0;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    virtual Label* CreateLabel() =0;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};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class MacFactory: public AbstractFactory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    MacButton* CreateButton() { return new MacButton;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    MacLabel* CreateLabel() {  return new MacLabel;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};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class WinFactory: public AbstractFactory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    WinButton* CreateButton() { return new WinButton;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    WinLabel*   CreateLabel() { return new WinLabel;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};</a:t>
            </a:r>
            <a:endParaRPr lang="zh-CN" altLang="en-US" sz="1800">
              <a:solidFill>
                <a:srgbClr val="0070C0"/>
              </a:solidFill>
            </a:endParaRPr>
          </a:p>
        </p:txBody>
      </p:sp>
      <p:sp>
        <p:nvSpPr>
          <p:cNvPr id="86019" name="TextBox 4"/>
          <p:cNvSpPr txBox="1">
            <a:spLocks noChangeArrowheads="1"/>
          </p:cNvSpPr>
          <p:nvPr/>
        </p:nvSpPr>
        <p:spPr bwMode="auto">
          <a:xfrm>
            <a:off x="4954588" y="360363"/>
            <a:ext cx="4189412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AbstractFactory* fac;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switch (style) 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case MAC: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    fac = new MacFactory;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    break;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case WIN: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    fac = new WinFactory;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    break;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Button* button = fac-&gt;CreateButton();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0070C0"/>
                </a:solidFill>
              </a:rPr>
              <a:t>Label* Label = fac-&gt;CreateLabel();</a:t>
            </a:r>
            <a:endParaRPr lang="zh-CN" altLang="en-US" sz="1800">
              <a:solidFill>
                <a:srgbClr val="0070C0"/>
              </a:solidFill>
            </a:endParaRPr>
          </a:p>
        </p:txBody>
      </p:sp>
      <p:sp>
        <p:nvSpPr>
          <p:cNvPr id="86020" name="TextBox 6"/>
          <p:cNvSpPr txBox="1">
            <a:spLocks noChangeArrowheads="1"/>
          </p:cNvSpPr>
          <p:nvPr/>
        </p:nvSpPr>
        <p:spPr bwMode="auto">
          <a:xfrm>
            <a:off x="6643688" y="4214813"/>
            <a:ext cx="22669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006600"/>
                </a:solidFill>
              </a:rPr>
              <a:t>抽象工厂模式</a:t>
            </a:r>
            <a:endParaRPr lang="en-US" altLang="zh-CN" sz="2400">
              <a:solidFill>
                <a:srgbClr val="006600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006600"/>
                </a:solidFill>
              </a:rPr>
              <a:t>Abstact Factory</a:t>
            </a:r>
            <a:endParaRPr lang="zh-CN" altLang="en-US" sz="2400">
              <a:solidFill>
                <a:srgbClr val="0066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5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628650"/>
            <a:ext cx="7219950" cy="560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3C3FD87-17E6-588A-0A18-69276712B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B9D33C82-E9FD-22A0-C8BA-133C33E61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虚函数</a:t>
            </a:r>
          </a:p>
        </p:txBody>
      </p:sp>
      <p:sp>
        <p:nvSpPr>
          <p:cNvPr id="89090" name="Rectangle 3">
            <a:extLst>
              <a:ext uri="{FF2B5EF4-FFF2-40B4-BE49-F238E27FC236}">
                <a16:creationId xmlns:a16="http://schemas.microsoft.com/office/drawing/2014/main" id="{9B51251E-872E-EE28-2DFC-D635FA3D9D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/>
              <a:t>虚析构函数</a:t>
            </a:r>
          </a:p>
        </p:txBody>
      </p:sp>
      <p:sp>
        <p:nvSpPr>
          <p:cNvPr id="189444" name="Text Box 4">
            <a:extLst>
              <a:ext uri="{FF2B5EF4-FFF2-40B4-BE49-F238E27FC236}">
                <a16:creationId xmlns:a16="http://schemas.microsoft.com/office/drawing/2014/main" id="{267CCE50-0186-3732-C031-DE5E2541F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2676525"/>
            <a:ext cx="5962650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chemeClr val="tx2"/>
                </a:solidFill>
              </a:rPr>
              <a:t>class B {…};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chemeClr val="tx2"/>
                </a:solidFill>
              </a:rPr>
              <a:t>class D: public B{…};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FF0000"/>
                </a:solidFill>
              </a:rPr>
              <a:t>B* </a:t>
            </a:r>
            <a:r>
              <a:rPr lang="en-US" altLang="zh-CN" sz="2000" i="1" dirty="0">
                <a:solidFill>
                  <a:schemeClr val="tx2"/>
                </a:solidFill>
              </a:rPr>
              <a:t>p = new D;			?:   </a:t>
            </a:r>
            <a:r>
              <a:rPr lang="en-US" altLang="zh-CN" sz="2800" i="1" dirty="0">
                <a:solidFill>
                  <a:srgbClr val="C00000"/>
                </a:solidFill>
              </a:rPr>
              <a:t>delete p;  </a:t>
            </a:r>
          </a:p>
        </p:txBody>
      </p:sp>
      <p:sp>
        <p:nvSpPr>
          <p:cNvPr id="189445" name="Text Box 5">
            <a:extLst>
              <a:ext uri="{FF2B5EF4-FFF2-40B4-BE49-F238E27FC236}">
                <a16:creationId xmlns:a16="http://schemas.microsoft.com/office/drawing/2014/main" id="{9299ACB8-794A-7D2C-5D95-9EB4157D9F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946525"/>
            <a:ext cx="676275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chemeClr val="tx2"/>
                </a:solidFill>
              </a:rPr>
              <a:t>class </a:t>
            </a:r>
            <a:r>
              <a:rPr lang="en-US" altLang="zh-CN" sz="2000" i="1" dirty="0" err="1">
                <a:solidFill>
                  <a:schemeClr val="tx2"/>
                </a:solidFill>
              </a:rPr>
              <a:t>mystring</a:t>
            </a:r>
            <a:r>
              <a:rPr lang="en-US" altLang="zh-CN" sz="2000" i="1" dirty="0">
                <a:solidFill>
                  <a:schemeClr val="tx2"/>
                </a:solidFill>
              </a:rPr>
              <a:t> {…}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chemeClr val="tx2"/>
                </a:solidFill>
              </a:rPr>
              <a:t>class B {…}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chemeClr val="tx2"/>
                </a:solidFill>
              </a:rPr>
              <a:t>class D: public B{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 err="1">
                <a:solidFill>
                  <a:schemeClr val="tx2"/>
                </a:solidFill>
              </a:rPr>
              <a:t>mystring</a:t>
            </a:r>
            <a:r>
              <a:rPr lang="en-US" altLang="zh-CN" sz="2000" i="1" dirty="0">
                <a:solidFill>
                  <a:schemeClr val="tx2"/>
                </a:solidFill>
              </a:rPr>
              <a:t> </a:t>
            </a:r>
            <a:r>
              <a:rPr lang="zh-CN" altLang="en-US" sz="2000" i="1" dirty="0">
                <a:solidFill>
                  <a:schemeClr val="tx2"/>
                </a:solidFill>
              </a:rPr>
              <a:t>*</a:t>
            </a:r>
            <a:r>
              <a:rPr lang="en-US" altLang="zh-CN" sz="2000" i="1" dirty="0">
                <a:solidFill>
                  <a:schemeClr val="tx2"/>
                </a:solidFill>
              </a:rPr>
              <a:t>name=new </a:t>
            </a:r>
            <a:r>
              <a:rPr lang="en-US" altLang="zh-CN" sz="2000" i="1" dirty="0" err="1">
                <a:solidFill>
                  <a:schemeClr val="tx2"/>
                </a:solidFill>
              </a:rPr>
              <a:t>mystring</a:t>
            </a:r>
            <a:r>
              <a:rPr lang="en-US" altLang="zh-CN" sz="2000" i="1" dirty="0">
                <a:solidFill>
                  <a:schemeClr val="tx2"/>
                </a:solidFill>
              </a:rPr>
              <a:t>; …}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FF0000"/>
                </a:solidFill>
              </a:rPr>
              <a:t>B*</a:t>
            </a:r>
            <a:r>
              <a:rPr lang="en-US" altLang="zh-CN" sz="2000" i="1" dirty="0">
                <a:solidFill>
                  <a:schemeClr val="tx2"/>
                </a:solidFill>
              </a:rPr>
              <a:t> p = new D;			</a:t>
            </a:r>
            <a:r>
              <a:rPr lang="en-US" altLang="zh-CN" sz="1600" i="1" dirty="0">
                <a:solidFill>
                  <a:schemeClr val="tx2"/>
                </a:solidFill>
              </a:rPr>
              <a:t> </a:t>
            </a:r>
            <a:r>
              <a:rPr lang="en-US" altLang="zh-CN" sz="2800" i="1" dirty="0">
                <a:solidFill>
                  <a:schemeClr val="tx2"/>
                </a:solidFill>
              </a:rPr>
              <a:t>?:   </a:t>
            </a:r>
            <a:r>
              <a:rPr lang="en-US" altLang="zh-CN" sz="2800" i="1" dirty="0">
                <a:solidFill>
                  <a:srgbClr val="C00000"/>
                </a:solidFill>
              </a:rPr>
              <a:t>delete p; </a:t>
            </a:r>
            <a:r>
              <a:rPr lang="en-US" altLang="zh-CN" sz="2000" i="1" dirty="0">
                <a:solidFill>
                  <a:schemeClr val="tx2"/>
                </a:solidFill>
              </a:rPr>
              <a:t>		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75578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4" grpId="0" autoUpdateAnimBg="0"/>
      <p:bldP spid="18944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虚函数</a:t>
            </a:r>
          </a:p>
        </p:txBody>
      </p:sp>
      <p:sp>
        <p:nvSpPr>
          <p:cNvPr id="8909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/>
              <a:t>虚析构函数</a:t>
            </a:r>
          </a:p>
        </p:txBody>
      </p:sp>
      <p:sp>
        <p:nvSpPr>
          <p:cNvPr id="189444" name="Text Box 4"/>
          <p:cNvSpPr txBox="1">
            <a:spLocks noChangeArrowheads="1"/>
          </p:cNvSpPr>
          <p:nvPr/>
        </p:nvSpPr>
        <p:spPr bwMode="auto">
          <a:xfrm>
            <a:off x="1600200" y="2676525"/>
            <a:ext cx="5962650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chemeClr val="tx2"/>
                </a:solidFill>
              </a:rPr>
              <a:t>class B {…};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chemeClr val="tx2"/>
                </a:solidFill>
              </a:rPr>
              <a:t>class D: public B{…};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FF0000"/>
                </a:solidFill>
              </a:rPr>
              <a:t>B* </a:t>
            </a:r>
            <a:r>
              <a:rPr lang="en-US" altLang="zh-CN" sz="2000" i="1" dirty="0">
                <a:solidFill>
                  <a:schemeClr val="tx2"/>
                </a:solidFill>
              </a:rPr>
              <a:t>p = new D;			?:   </a:t>
            </a:r>
            <a:r>
              <a:rPr lang="en-US" altLang="zh-CN" sz="2800" i="1" dirty="0">
                <a:solidFill>
                  <a:srgbClr val="C00000"/>
                </a:solidFill>
              </a:rPr>
              <a:t>delete p;  </a:t>
            </a:r>
          </a:p>
        </p:txBody>
      </p:sp>
      <p:sp>
        <p:nvSpPr>
          <p:cNvPr id="189445" name="Text Box 5"/>
          <p:cNvSpPr txBox="1">
            <a:spLocks noChangeArrowheads="1"/>
          </p:cNvSpPr>
          <p:nvPr/>
        </p:nvSpPr>
        <p:spPr bwMode="auto">
          <a:xfrm>
            <a:off x="1524000" y="3946525"/>
            <a:ext cx="676275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chemeClr val="tx2"/>
                </a:solidFill>
              </a:rPr>
              <a:t>class </a:t>
            </a:r>
            <a:r>
              <a:rPr lang="en-US" altLang="zh-CN" sz="2000" i="1" dirty="0" err="1">
                <a:solidFill>
                  <a:schemeClr val="tx2"/>
                </a:solidFill>
              </a:rPr>
              <a:t>mystring</a:t>
            </a:r>
            <a:r>
              <a:rPr lang="en-US" altLang="zh-CN" sz="2000" i="1" dirty="0">
                <a:solidFill>
                  <a:schemeClr val="tx2"/>
                </a:solidFill>
              </a:rPr>
              <a:t> {…}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chemeClr val="tx2"/>
                </a:solidFill>
              </a:rPr>
              <a:t>class B {…}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chemeClr val="tx2"/>
                </a:solidFill>
              </a:rPr>
              <a:t>class D: public B{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 err="1">
                <a:solidFill>
                  <a:schemeClr val="tx2"/>
                </a:solidFill>
              </a:rPr>
              <a:t>mystring</a:t>
            </a:r>
            <a:r>
              <a:rPr lang="en-US" altLang="zh-CN" sz="2000" i="1" dirty="0">
                <a:solidFill>
                  <a:schemeClr val="tx2"/>
                </a:solidFill>
              </a:rPr>
              <a:t> name; …}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FF0000"/>
                </a:solidFill>
              </a:rPr>
              <a:t>B*</a:t>
            </a:r>
            <a:r>
              <a:rPr lang="en-US" altLang="zh-CN" sz="2000" i="1" dirty="0">
                <a:solidFill>
                  <a:schemeClr val="tx2"/>
                </a:solidFill>
              </a:rPr>
              <a:t> p = new D;			</a:t>
            </a:r>
            <a:r>
              <a:rPr lang="en-US" altLang="zh-CN" sz="1600" i="1" dirty="0">
                <a:solidFill>
                  <a:schemeClr val="tx2"/>
                </a:solidFill>
              </a:rPr>
              <a:t> </a:t>
            </a:r>
            <a:r>
              <a:rPr lang="en-US" altLang="zh-CN" sz="2800" i="1" dirty="0">
                <a:solidFill>
                  <a:schemeClr val="tx2"/>
                </a:solidFill>
              </a:rPr>
              <a:t>?:   </a:t>
            </a:r>
            <a:r>
              <a:rPr lang="en-US" altLang="zh-CN" sz="2800" i="1" dirty="0">
                <a:solidFill>
                  <a:srgbClr val="C00000"/>
                </a:solidFill>
              </a:rPr>
              <a:t>delete p; </a:t>
            </a:r>
            <a:r>
              <a:rPr lang="en-US" altLang="zh-CN" sz="2000" i="1" dirty="0">
                <a:solidFill>
                  <a:schemeClr val="tx2"/>
                </a:solidFill>
              </a:rPr>
              <a:t>		               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669BE5B-77F7-3570-846B-E57D30ED9690}"/>
              </a:ext>
            </a:extLst>
          </p:cNvPr>
          <p:cNvSpPr txBox="1"/>
          <p:nvPr/>
        </p:nvSpPr>
        <p:spPr>
          <a:xfrm>
            <a:off x="1524000" y="5940395"/>
            <a:ext cx="2716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hangingPunct="1"/>
            <a:r>
              <a:rPr lang="en" altLang="zh-CN" sz="2000" i="1" dirty="0">
                <a:solidFill>
                  <a:schemeClr val="tx2"/>
                </a:solidFill>
              </a:rPr>
              <a:t>virtual ~B() = default;</a:t>
            </a:r>
            <a:endParaRPr lang="zh-CN" altLang="en-US" sz="2000" i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9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9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4" grpId="0" autoUpdateAnimBg="0"/>
      <p:bldP spid="189445" grpId="0" autoUpdateAnimBg="0"/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虚函数</a:t>
            </a:r>
          </a:p>
        </p:txBody>
      </p:sp>
      <p:sp>
        <p:nvSpPr>
          <p:cNvPr id="9113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000">
                <a:latin typeface="宋体" panose="02010600030101010101" pitchFamily="2" charset="-122"/>
              </a:rPr>
              <a:t>确定</a:t>
            </a:r>
            <a:r>
              <a:rPr lang="en-US" altLang="zh-CN" sz="2000">
                <a:latin typeface="宋体" panose="02010600030101010101" pitchFamily="2" charset="-122"/>
              </a:rPr>
              <a:t>public inheritance,</a:t>
            </a:r>
            <a:r>
              <a:rPr lang="zh-CN" altLang="en-US" sz="2000">
                <a:latin typeface="宋体" panose="02010600030101010101" pitchFamily="2" charset="-122"/>
              </a:rPr>
              <a:t>是真正意义的</a:t>
            </a:r>
            <a:r>
              <a:rPr lang="zh-CN" altLang="en-US" sz="2000">
                <a:latin typeface="Times New Roman" panose="02020603050405020304" pitchFamily="18" charset="0"/>
              </a:rPr>
              <a:t>“</a:t>
            </a:r>
            <a:r>
              <a:rPr lang="en-US" altLang="zh-CN" sz="2000">
                <a:latin typeface="宋体" panose="02010600030101010101" pitchFamily="2" charset="-122"/>
              </a:rPr>
              <a:t>is_a</a:t>
            </a:r>
            <a:r>
              <a:rPr lang="en-US" altLang="zh-CN" sz="2000">
                <a:latin typeface="Times New Roman" panose="02020603050405020304" pitchFamily="18" charset="0"/>
              </a:rPr>
              <a:t>”</a:t>
            </a:r>
            <a:r>
              <a:rPr lang="zh-CN" altLang="en-US" sz="2000">
                <a:latin typeface="宋体" panose="02010600030101010101" pitchFamily="2" charset="-122"/>
              </a:rPr>
              <a:t>关系</a:t>
            </a:r>
          </a:p>
          <a:p>
            <a:pPr eaLnBrk="1" hangingPunct="1"/>
            <a:r>
              <a:rPr lang="zh-CN" altLang="en-US" sz="2000">
                <a:latin typeface="宋体" panose="02010600030101010101" pitchFamily="2" charset="-122"/>
              </a:rPr>
              <a:t>不要定义与继承而来的非虚成员函数同名的成员函数</a:t>
            </a:r>
          </a:p>
        </p:txBody>
      </p:sp>
      <p:sp>
        <p:nvSpPr>
          <p:cNvPr id="190469" name="Text Box 5"/>
          <p:cNvSpPr txBox="1">
            <a:spLocks noChangeArrowheads="1"/>
          </p:cNvSpPr>
          <p:nvPr/>
        </p:nvSpPr>
        <p:spPr bwMode="auto">
          <a:xfrm>
            <a:off x="6429375" y="2786063"/>
            <a:ext cx="2209800" cy="35401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class B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{   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	void mf();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    …    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class D: public B {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… 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D x;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B* </a:t>
            </a:r>
            <a:r>
              <a:rPr lang="en-US" altLang="zh-CN" sz="1600" i="1" dirty="0" err="1">
                <a:solidFill>
                  <a:schemeClr val="tx2"/>
                </a:solidFill>
              </a:rPr>
              <a:t>pB</a:t>
            </a:r>
            <a:r>
              <a:rPr lang="en-US" altLang="zh-CN" sz="1600" i="1" dirty="0">
                <a:solidFill>
                  <a:schemeClr val="tx2"/>
                </a:solidFill>
              </a:rPr>
              <a:t> = &amp;x;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 err="1">
                <a:solidFill>
                  <a:schemeClr val="tx2"/>
                </a:solidFill>
              </a:rPr>
              <a:t>pB</a:t>
            </a:r>
            <a:r>
              <a:rPr lang="en-US" altLang="zh-CN" sz="1600" i="1" dirty="0">
                <a:solidFill>
                  <a:schemeClr val="tx2"/>
                </a:solidFill>
              </a:rPr>
              <a:t>-&gt;mf();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D* </a:t>
            </a:r>
            <a:r>
              <a:rPr lang="en-US" altLang="zh-CN" sz="1600" i="1" dirty="0" err="1">
                <a:solidFill>
                  <a:schemeClr val="tx2"/>
                </a:solidFill>
              </a:rPr>
              <a:t>pD</a:t>
            </a:r>
            <a:r>
              <a:rPr lang="en-US" altLang="zh-CN" sz="1600" i="1" dirty="0">
                <a:solidFill>
                  <a:schemeClr val="tx2"/>
                </a:solidFill>
              </a:rPr>
              <a:t> = &amp;x;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 err="1">
                <a:solidFill>
                  <a:schemeClr val="tx2"/>
                </a:solidFill>
              </a:rPr>
              <a:t>pD</a:t>
            </a:r>
            <a:r>
              <a:rPr lang="en-US" altLang="zh-CN" sz="1600" i="1" dirty="0">
                <a:solidFill>
                  <a:schemeClr val="tx2"/>
                </a:solidFill>
              </a:rPr>
              <a:t>-&gt;mf();</a:t>
            </a:r>
          </a:p>
        </p:txBody>
      </p:sp>
      <p:sp>
        <p:nvSpPr>
          <p:cNvPr id="190470" name="Text Box 6"/>
          <p:cNvSpPr txBox="1">
            <a:spLocks noChangeArrowheads="1"/>
          </p:cNvSpPr>
          <p:nvPr/>
        </p:nvSpPr>
        <p:spPr bwMode="auto">
          <a:xfrm>
            <a:off x="6572250" y="4000500"/>
            <a:ext cx="1666875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>
                <a:solidFill>
                  <a:srgbClr val="CC0000"/>
                </a:solidFill>
              </a:rPr>
              <a:t> </a:t>
            </a:r>
            <a:r>
              <a:rPr lang="en-US" altLang="zh-CN" sz="1600" i="1">
                <a:solidFill>
                  <a:srgbClr val="CC0000"/>
                </a:solidFill>
              </a:rPr>
              <a:t>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CC0000"/>
                </a:solidFill>
              </a:rPr>
              <a:t>         void mf();</a:t>
            </a:r>
            <a:endParaRPr lang="zh-CN" altLang="en-US" sz="1600">
              <a:solidFill>
                <a:srgbClr val="CC0000"/>
              </a:solidFill>
            </a:endParaRPr>
          </a:p>
        </p:txBody>
      </p:sp>
      <p:sp>
        <p:nvSpPr>
          <p:cNvPr id="190471" name="Text Box 7"/>
          <p:cNvSpPr txBox="1">
            <a:spLocks noChangeArrowheads="1"/>
          </p:cNvSpPr>
          <p:nvPr/>
        </p:nvSpPr>
        <p:spPr bwMode="auto">
          <a:xfrm>
            <a:off x="7637463" y="5429250"/>
            <a:ext cx="10064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i="1">
                <a:solidFill>
                  <a:srgbClr val="CC0000"/>
                </a:solidFill>
              </a:rPr>
              <a:t>//</a:t>
            </a:r>
            <a:r>
              <a:rPr lang="en-US" altLang="zh-CN" sz="1600" i="1">
                <a:solidFill>
                  <a:srgbClr val="CC0000"/>
                </a:solidFill>
              </a:rPr>
              <a:t>B:mf</a:t>
            </a:r>
          </a:p>
        </p:txBody>
      </p:sp>
      <p:sp>
        <p:nvSpPr>
          <p:cNvPr id="190472" name="Text Box 8"/>
          <p:cNvSpPr txBox="1">
            <a:spLocks noChangeArrowheads="1"/>
          </p:cNvSpPr>
          <p:nvPr/>
        </p:nvSpPr>
        <p:spPr bwMode="auto">
          <a:xfrm>
            <a:off x="7572375" y="5929313"/>
            <a:ext cx="10668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 i="1">
                <a:solidFill>
                  <a:srgbClr val="CC0000"/>
                </a:solidFill>
              </a:rPr>
              <a:t>//</a:t>
            </a:r>
            <a:r>
              <a:rPr lang="en-US" altLang="zh-CN" sz="1600" i="1">
                <a:solidFill>
                  <a:srgbClr val="CC0000"/>
                </a:solidFill>
              </a:rPr>
              <a:t>D:mf</a:t>
            </a:r>
          </a:p>
        </p:txBody>
      </p:sp>
      <p:sp>
        <p:nvSpPr>
          <p:cNvPr id="190473" name="Text Box 9"/>
          <p:cNvSpPr txBox="1">
            <a:spLocks noChangeArrowheads="1"/>
          </p:cNvSpPr>
          <p:nvPr/>
        </p:nvSpPr>
        <p:spPr bwMode="auto">
          <a:xfrm>
            <a:off x="395288" y="3030538"/>
            <a:ext cx="3233737" cy="4062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class Rectangle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{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     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	void </a:t>
            </a:r>
            <a:r>
              <a:rPr lang="en-US" altLang="zh-CN" sz="1600" i="1" dirty="0" err="1">
                <a:solidFill>
                  <a:schemeClr val="tx2"/>
                </a:solidFill>
              </a:rPr>
              <a:t>setHeight</a:t>
            </a:r>
            <a:r>
              <a:rPr lang="en-US" altLang="zh-CN" sz="1600" i="1" dirty="0">
                <a:solidFill>
                  <a:schemeClr val="tx2"/>
                </a:solidFill>
              </a:rPr>
              <a:t>(int);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	void </a:t>
            </a:r>
            <a:r>
              <a:rPr lang="en-US" altLang="zh-CN" sz="1600" i="1" dirty="0" err="1">
                <a:solidFill>
                  <a:schemeClr val="tx2"/>
                </a:solidFill>
              </a:rPr>
              <a:t>setWidth</a:t>
            </a:r>
            <a:r>
              <a:rPr lang="en-US" altLang="zh-CN" sz="1600" i="1" dirty="0">
                <a:solidFill>
                  <a:schemeClr val="tx2"/>
                </a:solidFill>
              </a:rPr>
              <a:t>(int); </a:t>
            </a:r>
            <a:br>
              <a:rPr lang="en-US" altLang="zh-CN" sz="1600" dirty="0"/>
            </a:br>
            <a:r>
              <a:rPr lang="en-US" altLang="zh-CN" sz="1600" dirty="0"/>
              <a:t>              </a:t>
            </a:r>
            <a:r>
              <a:rPr lang="en-US" altLang="zh-CN" sz="1600" i="1" dirty="0">
                <a:solidFill>
                  <a:schemeClr val="tx2"/>
                </a:solidFill>
              </a:rPr>
              <a:t>int height() const;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             int width() const;};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class Square: public Rectangle {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     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         void </a:t>
            </a:r>
            <a:r>
              <a:rPr lang="en-US" altLang="zh-CN" sz="1600" i="1" dirty="0" err="1">
                <a:solidFill>
                  <a:schemeClr val="tx2"/>
                </a:solidFill>
              </a:rPr>
              <a:t>setLength</a:t>
            </a:r>
            <a:r>
              <a:rPr lang="en-US" altLang="zh-CN" sz="1600" i="1" dirty="0">
                <a:solidFill>
                  <a:schemeClr val="tx2"/>
                </a:solidFill>
              </a:rPr>
              <a:t> (int);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>
                <a:solidFill>
                  <a:schemeClr val="tx2"/>
                </a:solidFill>
              </a:rPr>
              <a:t>… 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 dirty="0">
              <a:solidFill>
                <a:schemeClr val="tx2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69925" y="4000500"/>
            <a:ext cx="7445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C00000"/>
                </a:solidFill>
              </a:rPr>
              <a:t>virtual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669925" y="3786188"/>
            <a:ext cx="7445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C00000"/>
                </a:solidFill>
              </a:rPr>
              <a:t>virtual</a:t>
            </a:r>
            <a:endParaRPr lang="zh-CN" altLang="en-US" sz="160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00088" y="5741988"/>
            <a:ext cx="22574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C00000"/>
                </a:solidFill>
              </a:rPr>
              <a:t>private: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C00000"/>
                </a:solidFill>
              </a:rPr>
              <a:t>    void setHeight(int 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C00000"/>
                </a:solidFill>
              </a:rPr>
              <a:t>    void setWidth(int );</a:t>
            </a:r>
            <a:endParaRPr lang="zh-CN" altLang="en-US" sz="1600" i="1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7429500" y="642938"/>
            <a:ext cx="12652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006600"/>
                </a:solidFill>
              </a:rPr>
              <a:t>Penguin</a:t>
            </a:r>
            <a:endParaRPr lang="zh-CN" altLang="en-US" sz="2400" i="1">
              <a:solidFill>
                <a:srgbClr val="006600"/>
              </a:solidFill>
            </a:endParaRP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3357563" y="642938"/>
            <a:ext cx="24463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06600"/>
                </a:solidFill>
              </a:rPr>
              <a:t>class  FlyingBird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06600"/>
                </a:solidFill>
              </a:rPr>
              <a:t>class  NonFlyingBird</a:t>
            </a:r>
            <a:endParaRPr lang="zh-CN" altLang="en-US" sz="2000" i="1">
              <a:solidFill>
                <a:srgbClr val="006600"/>
              </a:solidFill>
            </a:endParaRP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357563" y="1357313"/>
            <a:ext cx="5573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00B0F0"/>
                </a:solidFill>
              </a:rPr>
              <a:t>virtual void fly() { error("Penguins can't fly!"); }</a:t>
            </a:r>
            <a:endParaRPr lang="zh-CN" altLang="en-US" sz="2000" i="1">
              <a:solidFill>
                <a:srgbClr val="00B0F0"/>
              </a:solidFill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3348038" y="3357563"/>
            <a:ext cx="2936875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/>
              <a:t>void Widen(Rectangle&amp; r, </a:t>
            </a:r>
            <a:r>
              <a:rPr lang="en-US" altLang="zh-CN" sz="1400" dirty="0" err="1"/>
              <a:t>int</a:t>
            </a:r>
            <a:r>
              <a:rPr lang="en-US" altLang="zh-CN" sz="1400" dirty="0"/>
              <a:t> w)</a:t>
            </a:r>
            <a:endParaRPr lang="zh-CN" altLang="en-US" sz="14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/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/>
              <a:t>    int </a:t>
            </a:r>
            <a:r>
              <a:rPr lang="en-US" altLang="zh-CN" sz="1400" dirty="0" err="1"/>
              <a:t>oldHeight</a:t>
            </a:r>
            <a:r>
              <a:rPr lang="en-US" altLang="zh-CN" sz="1400" dirty="0"/>
              <a:t> = </a:t>
            </a:r>
            <a:r>
              <a:rPr lang="en-US" altLang="zh-CN" sz="1400" dirty="0" err="1"/>
              <a:t>r.height</a:t>
            </a:r>
            <a:r>
              <a:rPr lang="en-US" altLang="zh-CN" sz="1400" dirty="0"/>
              <a:t>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/>
              <a:t>    </a:t>
            </a:r>
            <a:r>
              <a:rPr lang="en-US" altLang="zh-CN" sz="1400" dirty="0" err="1"/>
              <a:t>r.setWidth</a:t>
            </a:r>
            <a:r>
              <a:rPr lang="en-US" altLang="zh-CN" sz="1400" dirty="0"/>
              <a:t>(</a:t>
            </a:r>
            <a:r>
              <a:rPr lang="en-US" altLang="zh-CN" sz="1400" dirty="0" err="1"/>
              <a:t>r.width</a:t>
            </a:r>
            <a:r>
              <a:rPr lang="en-US" altLang="zh-CN" sz="1400" dirty="0"/>
              <a:t>() + w);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>
                <a:solidFill>
                  <a:srgbClr val="FF0000"/>
                </a:solidFill>
              </a:rPr>
              <a:t>    assert(</a:t>
            </a:r>
            <a:r>
              <a:rPr lang="en-US" altLang="zh-CN" sz="1400" dirty="0" err="1">
                <a:solidFill>
                  <a:srgbClr val="FF0000"/>
                </a:solidFill>
              </a:rPr>
              <a:t>r.height</a:t>
            </a:r>
            <a:r>
              <a:rPr lang="en-US" altLang="zh-CN" sz="1400" dirty="0">
                <a:solidFill>
                  <a:srgbClr val="FF0000"/>
                </a:solidFill>
              </a:rPr>
              <a:t>() == </a:t>
            </a:r>
            <a:r>
              <a:rPr lang="en-US" altLang="zh-CN" sz="1400" dirty="0" err="1">
                <a:solidFill>
                  <a:srgbClr val="FF0000"/>
                </a:solidFill>
              </a:rPr>
              <a:t>oldHeight</a:t>
            </a:r>
            <a:r>
              <a:rPr lang="en-US" altLang="zh-CN" sz="1400" dirty="0">
                <a:solidFill>
                  <a:srgbClr val="FF0000"/>
                </a:solidFill>
              </a:rPr>
              <a:t>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dirty="0"/>
              <a:t>}</a:t>
            </a:r>
            <a:endParaRPr lang="zh-CN" altLang="en-US" sz="1400" dirty="0"/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2916238" y="4746625"/>
            <a:ext cx="35004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solidFill>
                  <a:srgbClr val="0070C0"/>
                </a:solidFill>
              </a:rPr>
              <a:t>assert(s.width() == s.height());</a:t>
            </a:r>
            <a:endParaRPr lang="zh-CN" altLang="en-US" sz="1600" b="1">
              <a:solidFill>
                <a:srgbClr val="0070C0"/>
              </a:solidFill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3419475" y="5589588"/>
            <a:ext cx="1936750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/>
              <a:t>Square s(1,1);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/>
              <a:t>Rectangle *p = &amp;s;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/>
              <a:t>p-&gt;</a:t>
            </a:r>
            <a:r>
              <a:rPr lang="en-US" altLang="zh-CN" sz="1600" i="1" dirty="0" err="1"/>
              <a:t>setHeight</a:t>
            </a:r>
            <a:r>
              <a:rPr lang="en-US" altLang="zh-CN" sz="1600" i="1" dirty="0"/>
              <a:t>(10);</a:t>
            </a:r>
            <a:endParaRPr lang="zh-CN" altLang="en-US" sz="1600" i="1" dirty="0"/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684213" y="5732463"/>
            <a:ext cx="22574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C00000"/>
                </a:solidFill>
              </a:rPr>
              <a:t>private: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C00000"/>
                </a:solidFill>
              </a:rPr>
              <a:t>    void setHeight(int 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C00000"/>
                </a:solidFill>
              </a:rPr>
              <a:t>    void setWidth(int );</a:t>
            </a:r>
            <a:endParaRPr lang="zh-CN" altLang="en-US" sz="1600" i="1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684213" y="5732463"/>
            <a:ext cx="22574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6600"/>
                </a:solidFill>
              </a:rPr>
              <a:t>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6600"/>
                </a:solidFill>
              </a:rPr>
              <a:t>    void setHeight(int 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>
                <a:solidFill>
                  <a:srgbClr val="006600"/>
                </a:solidFill>
              </a:rPr>
              <a:t>    void setWidth(int );</a:t>
            </a:r>
            <a:endParaRPr lang="zh-CN" altLang="en-US" sz="1600" i="1">
              <a:solidFill>
                <a:srgbClr val="0066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0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6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1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1904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190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190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3" dur="500"/>
                                        <p:tgtEl>
                                          <p:spTgt spid="190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9" grpId="0" animBg="1" autoUpdateAnimBg="0"/>
      <p:bldP spid="190470" grpId="0" autoUpdateAnimBg="0"/>
      <p:bldP spid="190471" grpId="0" autoUpdateAnimBg="0"/>
      <p:bldP spid="190472" grpId="0" autoUpdateAnimBg="0"/>
      <p:bldP spid="9" grpId="0" build="allAtOnce"/>
      <p:bldP spid="11" grpId="0" build="allAtOnce"/>
      <p:bldP spid="11" grpId="1" build="allAtOnce"/>
      <p:bldP spid="12" grpId="0" build="allAtOnce"/>
      <p:bldP spid="13" grpId="0" build="allAtOnce"/>
      <p:bldP spid="14" grpId="0" build="allAtOnce"/>
      <p:bldP spid="15" grpId="0" build="allAtOnce"/>
      <p:bldP spid="16" grpId="0" build="allAtOnce"/>
      <p:bldP spid="17" grpId="0" build="allAtOnce"/>
      <p:bldP spid="17" grpId="1" build="allAtOnce"/>
      <p:bldP spid="18" grpId="0" build="allAtOnce"/>
      <p:bldP spid="20" grpId="0" build="allAtOnce"/>
      <p:bldP spid="20" grpId="1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虚函数</a:t>
            </a:r>
          </a:p>
        </p:txBody>
      </p:sp>
      <p:sp>
        <p:nvSpPr>
          <p:cNvPr id="931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 dirty="0"/>
              <a:t>明智地运用</a:t>
            </a:r>
            <a:r>
              <a:rPr lang="en-US" altLang="zh-CN" sz="2400" dirty="0"/>
              <a:t>private Inheritance</a:t>
            </a:r>
          </a:p>
          <a:p>
            <a:pPr lvl="1" eaLnBrk="1" hangingPunct="1"/>
            <a:r>
              <a:rPr lang="en-US" altLang="zh-CN" sz="2000" dirty="0">
                <a:solidFill>
                  <a:srgbClr val="C00000"/>
                </a:solidFill>
              </a:rPr>
              <a:t>Implemented-in-term-of</a:t>
            </a:r>
          </a:p>
          <a:p>
            <a:pPr lvl="2" eaLnBrk="1" hangingPunct="1"/>
            <a:r>
              <a:rPr lang="zh-CN" altLang="en-US" sz="1600" dirty="0"/>
              <a:t>需要使用</a:t>
            </a:r>
            <a:r>
              <a:rPr lang="en-US" altLang="zh-CN" sz="1600" dirty="0"/>
              <a:t>Base Class</a:t>
            </a:r>
            <a:r>
              <a:rPr lang="zh-CN" altLang="en-US" sz="1600" dirty="0"/>
              <a:t>中的</a:t>
            </a:r>
            <a:r>
              <a:rPr lang="en-US" altLang="zh-CN" sz="1600" dirty="0"/>
              <a:t>protected</a:t>
            </a:r>
            <a:r>
              <a:rPr lang="zh-CN" altLang="en-US" sz="1600" dirty="0"/>
              <a:t>成员，或重载</a:t>
            </a:r>
            <a:r>
              <a:rPr lang="en-US" altLang="zh-CN" sz="1600" dirty="0"/>
              <a:t>virtual function</a:t>
            </a:r>
          </a:p>
          <a:p>
            <a:pPr lvl="2" eaLnBrk="1" hangingPunct="1"/>
            <a:r>
              <a:rPr lang="zh-CN" altLang="en-US" sz="1600" dirty="0"/>
              <a:t>不希望一个</a:t>
            </a:r>
            <a:r>
              <a:rPr lang="en-US" altLang="zh-CN" sz="1600" dirty="0"/>
              <a:t>Base Class</a:t>
            </a:r>
            <a:r>
              <a:rPr lang="zh-CN" altLang="en-US" sz="1600" dirty="0"/>
              <a:t>被</a:t>
            </a:r>
            <a:r>
              <a:rPr lang="en-US" altLang="zh-CN" sz="1600" dirty="0"/>
              <a:t>client</a:t>
            </a:r>
            <a:r>
              <a:rPr lang="zh-CN" altLang="en-US" sz="1600" dirty="0"/>
              <a:t>使用</a:t>
            </a:r>
            <a:endParaRPr lang="en-US" altLang="zh-CN" sz="1600" dirty="0"/>
          </a:p>
          <a:p>
            <a:pPr lvl="1" eaLnBrk="1" hangingPunct="1"/>
            <a:r>
              <a:rPr lang="zh-CN" altLang="en-US" sz="2000" dirty="0"/>
              <a:t>在设计层面无意义，只用于</a:t>
            </a:r>
            <a:r>
              <a:rPr lang="zh-CN" altLang="en-US" sz="2000" dirty="0">
                <a:solidFill>
                  <a:srgbClr val="CC0000"/>
                </a:solidFill>
              </a:rPr>
              <a:t>实现</a:t>
            </a:r>
            <a:r>
              <a:rPr lang="zh-CN" altLang="en-US" sz="2000" dirty="0"/>
              <a:t>层面</a:t>
            </a:r>
          </a:p>
        </p:txBody>
      </p:sp>
      <p:sp>
        <p:nvSpPr>
          <p:cNvPr id="191492" name="Text Box 4"/>
          <p:cNvSpPr txBox="1">
            <a:spLocks noChangeArrowheads="1"/>
          </p:cNvSpPr>
          <p:nvPr/>
        </p:nvSpPr>
        <p:spPr bwMode="auto">
          <a:xfrm>
            <a:off x="1857375" y="3852863"/>
            <a:ext cx="4224338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/>
              <a:t>class </a:t>
            </a:r>
            <a:r>
              <a:rPr lang="en-US" altLang="zh-CN" sz="1600" i="1" dirty="0" err="1"/>
              <a:t>CHumanBeing</a:t>
            </a:r>
            <a:r>
              <a:rPr lang="en-US" altLang="zh-CN" sz="1600" i="1" dirty="0"/>
              <a:t> { … 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/>
              <a:t>class </a:t>
            </a:r>
            <a:r>
              <a:rPr lang="en-US" altLang="zh-CN" sz="1600" i="1" dirty="0" err="1"/>
              <a:t>CStudent</a:t>
            </a:r>
            <a:r>
              <a:rPr lang="en-US" altLang="zh-CN" sz="1600" i="1" dirty="0"/>
              <a:t>: private </a:t>
            </a:r>
            <a:r>
              <a:rPr lang="en-US" altLang="zh-CN" sz="1600" i="1" dirty="0" err="1"/>
              <a:t>CHumanBeing</a:t>
            </a:r>
            <a:r>
              <a:rPr lang="en-US" altLang="zh-CN" sz="1600" i="1" dirty="0"/>
              <a:t> { … 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/>
              <a:t>void eat(const </a:t>
            </a:r>
            <a:r>
              <a:rPr lang="en-US" altLang="zh-CN" sz="1600" i="1" dirty="0" err="1"/>
              <a:t>CHumanBeing</a:t>
            </a:r>
            <a:r>
              <a:rPr lang="en-US" altLang="zh-CN" sz="1600" i="1" dirty="0"/>
              <a:t>&amp; h)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/>
              <a:t>{ … 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600" i="1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 err="1"/>
              <a:t>CHumanBeing</a:t>
            </a:r>
            <a:r>
              <a:rPr lang="en-US" altLang="zh-CN" sz="1600" i="1" dirty="0"/>
              <a:t> a;  </a:t>
            </a:r>
            <a:r>
              <a:rPr lang="en-US" altLang="zh-CN" sz="1600" i="1" dirty="0" err="1"/>
              <a:t>CStudent</a:t>
            </a:r>
            <a:r>
              <a:rPr lang="en-US" altLang="zh-CN" sz="1600" i="1" dirty="0"/>
              <a:t> b;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/>
              <a:t>eat(a);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 dirty="0"/>
              <a:t>eat(b);	</a:t>
            </a:r>
            <a:endParaRPr lang="zh-CN" altLang="en-US" sz="1600" i="1" dirty="0">
              <a:solidFill>
                <a:srgbClr val="CC0000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2F4203B-1702-5640-9853-F6716E389FFF}"/>
              </a:ext>
            </a:extLst>
          </p:cNvPr>
          <p:cNvSpPr txBox="1"/>
          <p:nvPr/>
        </p:nvSpPr>
        <p:spPr>
          <a:xfrm>
            <a:off x="2627784" y="6068596"/>
            <a:ext cx="7895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i="1" dirty="0">
                <a:solidFill>
                  <a:srgbClr val="CC0000"/>
                </a:solidFill>
              </a:rPr>
              <a:t>//Error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2" grpId="0" autoUpdateAnimBg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虚函数</a:t>
            </a:r>
          </a:p>
        </p:txBody>
      </p:sp>
      <p:sp>
        <p:nvSpPr>
          <p:cNvPr id="942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32712" cy="46116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/>
              <a:t>纯虚函数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只有函数接口会被继承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/>
              <a:t>子类</a:t>
            </a:r>
            <a:r>
              <a:rPr lang="zh-CN" altLang="en-US" sz="2000">
                <a:solidFill>
                  <a:srgbClr val="CC0000"/>
                </a:solidFill>
              </a:rPr>
              <a:t>必须</a:t>
            </a:r>
            <a:r>
              <a:rPr lang="zh-CN" altLang="en-US" sz="2000"/>
              <a:t>继承函数接口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/>
              <a:t>（必须）提供实现代码</a:t>
            </a:r>
          </a:p>
          <a:p>
            <a:pPr lvl="1" eaLnBrk="1" hangingPunct="1">
              <a:lnSpc>
                <a:spcPct val="90000"/>
              </a:lnSpc>
            </a:pPr>
            <a:endParaRPr lang="zh-CN" altLang="en-US" sz="2000"/>
          </a:p>
          <a:p>
            <a:pPr eaLnBrk="1" hangingPunct="1">
              <a:lnSpc>
                <a:spcPct val="90000"/>
              </a:lnSpc>
            </a:pPr>
            <a:r>
              <a:rPr lang="zh-CN" altLang="en-US" sz="2400"/>
              <a:t>一般虚函数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函数的接口及缺省实现代码都会被继承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/>
              <a:t>子类</a:t>
            </a:r>
            <a:r>
              <a:rPr lang="zh-CN" altLang="en-US" sz="2000">
                <a:solidFill>
                  <a:srgbClr val="CC0000"/>
                </a:solidFill>
              </a:rPr>
              <a:t>必须</a:t>
            </a:r>
            <a:r>
              <a:rPr lang="zh-CN" altLang="en-US" sz="2000"/>
              <a:t>继承函数接口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>
                <a:solidFill>
                  <a:srgbClr val="CC0000"/>
                </a:solidFill>
              </a:rPr>
              <a:t>可以</a:t>
            </a:r>
            <a:r>
              <a:rPr lang="zh-CN" altLang="en-US" sz="2000"/>
              <a:t>继承缺省实现代码</a:t>
            </a:r>
          </a:p>
          <a:p>
            <a:pPr lvl="1" eaLnBrk="1" hangingPunct="1">
              <a:lnSpc>
                <a:spcPct val="90000"/>
              </a:lnSpc>
            </a:pPr>
            <a:endParaRPr lang="zh-CN" altLang="en-US" sz="2000"/>
          </a:p>
          <a:p>
            <a:pPr eaLnBrk="1" hangingPunct="1">
              <a:lnSpc>
                <a:spcPct val="90000"/>
              </a:lnSpc>
            </a:pPr>
            <a:r>
              <a:rPr lang="zh-CN" altLang="en-US" sz="2400"/>
              <a:t>非虚函数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/>
              <a:t>函数的接口和其实现代码都会被继承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000">
                <a:solidFill>
                  <a:srgbClr val="CC0000"/>
                </a:solidFill>
              </a:rPr>
              <a:t>必须</a:t>
            </a:r>
            <a:r>
              <a:rPr lang="zh-CN" altLang="en-US" sz="2000"/>
              <a:t>同时继承接口和实现代码</a:t>
            </a:r>
            <a:endParaRPr lang="zh-CN" altLang="en-US" sz="2400"/>
          </a:p>
        </p:txBody>
      </p:sp>
      <p:sp>
        <p:nvSpPr>
          <p:cNvPr id="92164" name="TextBox 3"/>
          <p:cNvSpPr txBox="1">
            <a:spLocks noChangeArrowheads="1"/>
          </p:cNvSpPr>
          <p:nvPr/>
        </p:nvSpPr>
        <p:spPr bwMode="auto">
          <a:xfrm>
            <a:off x="4714875" y="571500"/>
            <a:ext cx="3805238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70C0"/>
                </a:solidFill>
              </a:rPr>
              <a:t>class Shape {</a:t>
            </a:r>
            <a:br>
              <a:rPr lang="en-US" altLang="zh-CN" sz="1600">
                <a:solidFill>
                  <a:srgbClr val="0070C0"/>
                </a:solidFill>
              </a:rPr>
            </a:br>
            <a:r>
              <a:rPr lang="en-US" altLang="zh-CN" sz="1600">
                <a:solidFill>
                  <a:srgbClr val="0070C0"/>
                </a:solidFill>
              </a:rPr>
              <a:t>public:</a:t>
            </a:r>
            <a:br>
              <a:rPr lang="en-US" altLang="zh-CN" sz="1600">
                <a:solidFill>
                  <a:srgbClr val="0070C0"/>
                </a:solidFill>
              </a:rPr>
            </a:br>
            <a:r>
              <a:rPr lang="en-US" altLang="zh-CN" sz="1600">
                <a:solidFill>
                  <a:srgbClr val="0070C0"/>
                </a:solidFill>
              </a:rPr>
              <a:t>     virtual void draw() const = 0;</a:t>
            </a:r>
            <a:br>
              <a:rPr lang="en-US" altLang="zh-CN" sz="1600">
                <a:solidFill>
                  <a:srgbClr val="0070C0"/>
                </a:solidFill>
              </a:rPr>
            </a:br>
            <a:br>
              <a:rPr lang="en-US" altLang="zh-CN" sz="1600">
                <a:solidFill>
                  <a:srgbClr val="0070C0"/>
                </a:solidFill>
              </a:rPr>
            </a:br>
            <a:r>
              <a:rPr lang="en-US" altLang="zh-CN" sz="1600">
                <a:solidFill>
                  <a:srgbClr val="0070C0"/>
                </a:solidFill>
              </a:rPr>
              <a:t>    virtual void error(const string&amp; msg);</a:t>
            </a:r>
            <a:br>
              <a:rPr lang="en-US" altLang="zh-CN" sz="1600">
                <a:solidFill>
                  <a:srgbClr val="0070C0"/>
                </a:solidFill>
              </a:rPr>
            </a:br>
            <a:br>
              <a:rPr lang="en-US" altLang="zh-CN" sz="1600">
                <a:solidFill>
                  <a:srgbClr val="0070C0"/>
                </a:solidFill>
              </a:rPr>
            </a:br>
            <a:r>
              <a:rPr lang="en-US" altLang="zh-CN" sz="1600">
                <a:solidFill>
                  <a:srgbClr val="0070C0"/>
                </a:solidFill>
              </a:rPr>
              <a:t>    int objectID() const;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0070C0"/>
                </a:solidFill>
              </a:rPr>
              <a:t>};</a:t>
            </a:r>
            <a:endParaRPr lang="zh-CN" altLang="en-US" sz="160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2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921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4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虚函数</a:t>
            </a:r>
          </a:p>
        </p:txBody>
      </p:sp>
      <p:sp>
        <p:nvSpPr>
          <p:cNvPr id="9523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/>
              <a:t>绝对不要重新定义继承而来的缺省参数值</a:t>
            </a:r>
          </a:p>
          <a:p>
            <a:pPr lvl="1" eaLnBrk="1" hangingPunct="1"/>
            <a:r>
              <a:rPr lang="zh-CN" altLang="en-US" sz="2000"/>
              <a:t>静态绑定</a:t>
            </a:r>
          </a:p>
          <a:p>
            <a:pPr lvl="1" eaLnBrk="1" hangingPunct="1"/>
            <a:r>
              <a:rPr lang="zh-CN" altLang="en-US" sz="2000"/>
              <a:t>效率</a:t>
            </a:r>
          </a:p>
        </p:txBody>
      </p:sp>
      <p:sp>
        <p:nvSpPr>
          <p:cNvPr id="193540" name="Text Box 4"/>
          <p:cNvSpPr txBox="1">
            <a:spLocks noChangeArrowheads="1"/>
          </p:cNvSpPr>
          <p:nvPr/>
        </p:nvSpPr>
        <p:spPr bwMode="auto">
          <a:xfrm>
            <a:off x="1042988" y="3141663"/>
            <a:ext cx="3179762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class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     virtual void f(int x=0) =0;</a:t>
            </a:r>
            <a:endParaRPr lang="en-US" altLang="zh-CN" sz="1800" i="1" dirty="0">
              <a:solidFill>
                <a:schemeClr val="tx2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};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 dirty="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class B: public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     virtual void f(int x=1)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     { </a:t>
            </a:r>
            <a:r>
              <a:rPr lang="en-US" altLang="zh-CN" sz="1800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cout</a:t>
            </a:r>
            <a:r>
              <a:rPr lang="en-US" altLang="zh-CN" sz="18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 &lt;&lt; x;}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};</a:t>
            </a:r>
            <a:endParaRPr lang="zh-CN" altLang="en-US" sz="1800" i="1" dirty="0">
              <a:solidFill>
                <a:schemeClr val="tx2"/>
              </a:solidFill>
            </a:endParaRPr>
          </a:p>
        </p:txBody>
      </p:sp>
      <p:sp>
        <p:nvSpPr>
          <p:cNvPr id="193541" name="Text Box 5"/>
          <p:cNvSpPr txBox="1">
            <a:spLocks noChangeArrowheads="1"/>
          </p:cNvSpPr>
          <p:nvPr/>
        </p:nvSpPr>
        <p:spPr bwMode="auto">
          <a:xfrm>
            <a:off x="4216400" y="2971800"/>
            <a:ext cx="37465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class C: public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{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     virtual void f(int x) { </a:t>
            </a:r>
            <a:r>
              <a:rPr lang="en-US" altLang="zh-CN" sz="1800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cout</a:t>
            </a:r>
            <a:r>
              <a:rPr lang="en-US" altLang="zh-CN" sz="18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&lt;&lt; x;</a:t>
            </a:r>
            <a:r>
              <a:rPr lang="en-US" altLang="zh-CN" sz="1800" i="1" dirty="0">
                <a:solidFill>
                  <a:schemeClr val="tx2"/>
                </a:solidFill>
              </a:rPr>
              <a:t>}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};</a:t>
            </a:r>
            <a:endParaRPr lang="zh-CN" altLang="en-US" sz="1800" i="1" dirty="0">
              <a:solidFill>
                <a:schemeClr val="tx2"/>
              </a:solidFill>
            </a:endParaRPr>
          </a:p>
        </p:txBody>
      </p:sp>
      <p:sp>
        <p:nvSpPr>
          <p:cNvPr id="193543" name="Text Box 7"/>
          <p:cNvSpPr txBox="1">
            <a:spLocks noChangeArrowheads="1"/>
          </p:cNvSpPr>
          <p:nvPr/>
        </p:nvSpPr>
        <p:spPr bwMode="auto">
          <a:xfrm>
            <a:off x="4211638" y="4706938"/>
            <a:ext cx="1300162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A *</a:t>
            </a:r>
            <a:r>
              <a:rPr lang="en-US" altLang="zh-CN" sz="1800" i="1" dirty="0" err="1">
                <a:solidFill>
                  <a:schemeClr val="tx2"/>
                </a:solidFill>
              </a:rPr>
              <a:t>p_a</a:t>
            </a:r>
            <a:r>
              <a:rPr lang="en-US" altLang="zh-CN" sz="1800" i="1" dirty="0">
                <a:solidFill>
                  <a:schemeClr val="tx2"/>
                </a:solidFill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B b;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 err="1">
                <a:solidFill>
                  <a:schemeClr val="tx2"/>
                </a:solidFill>
              </a:rPr>
              <a:t>p_a</a:t>
            </a:r>
            <a:r>
              <a:rPr lang="en-US" altLang="zh-CN" sz="1800" i="1" dirty="0">
                <a:solidFill>
                  <a:schemeClr val="tx2"/>
                </a:solidFill>
              </a:rPr>
              <a:t> = &amp;b;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 err="1">
                <a:solidFill>
                  <a:schemeClr val="tx2"/>
                </a:solidFill>
              </a:rPr>
              <a:t>p_a</a:t>
            </a:r>
            <a:r>
              <a:rPr lang="en-US" altLang="zh-CN" sz="1800" i="1" dirty="0">
                <a:solidFill>
                  <a:schemeClr val="tx2"/>
                </a:solidFill>
              </a:rPr>
              <a:t>-&gt;f();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 dirty="0">
              <a:solidFill>
                <a:schemeClr val="tx2"/>
              </a:solidFill>
            </a:endParaRPr>
          </a:p>
        </p:txBody>
      </p:sp>
      <p:sp>
        <p:nvSpPr>
          <p:cNvPr id="193544" name="Text Box 8"/>
          <p:cNvSpPr txBox="1">
            <a:spLocks noChangeArrowheads="1"/>
          </p:cNvSpPr>
          <p:nvPr/>
        </p:nvSpPr>
        <p:spPr bwMode="auto">
          <a:xfrm>
            <a:off x="5807075" y="4706938"/>
            <a:ext cx="1300163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A *p_a1;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C c;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p_a1 = &amp;c;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 dirty="0">
                <a:solidFill>
                  <a:schemeClr val="tx2"/>
                </a:solidFill>
              </a:rPr>
              <a:t>p_a1-&gt;f();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 dirty="0">
              <a:solidFill>
                <a:schemeClr val="tx2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500438" y="6286500"/>
            <a:ext cx="3416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C00000"/>
                </a:solidFill>
              </a:rPr>
              <a:t>对象中只记录虚函数的入口地址</a:t>
            </a:r>
          </a:p>
        </p:txBody>
      </p:sp>
      <p:sp>
        <p:nvSpPr>
          <p:cNvPr id="9" name="Rectangle 21"/>
          <p:cNvSpPr>
            <a:spLocks noChangeArrowheads="1"/>
          </p:cNvSpPr>
          <p:nvPr/>
        </p:nvSpPr>
        <p:spPr bwMode="auto">
          <a:xfrm>
            <a:off x="6457950" y="963613"/>
            <a:ext cx="576263" cy="736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7466013" y="641350"/>
            <a:ext cx="762000" cy="484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2" name="Text Box 26"/>
          <p:cNvSpPr txBox="1">
            <a:spLocks noChangeArrowheads="1"/>
          </p:cNvSpPr>
          <p:nvPr/>
        </p:nvSpPr>
        <p:spPr bwMode="auto">
          <a:xfrm>
            <a:off x="6099175" y="963613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b</a:t>
            </a:r>
            <a:endParaRPr lang="en-US" altLang="zh-CN" sz="1800"/>
          </a:p>
        </p:txBody>
      </p:sp>
      <p:sp>
        <p:nvSpPr>
          <p:cNvPr id="13" name="Text Box 27"/>
          <p:cNvSpPr txBox="1">
            <a:spLocks noChangeArrowheads="1"/>
          </p:cNvSpPr>
          <p:nvPr/>
        </p:nvSpPr>
        <p:spPr bwMode="auto">
          <a:xfrm>
            <a:off x="6551613" y="922338"/>
            <a:ext cx="3952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…</a:t>
            </a:r>
            <a:endParaRPr lang="en-US" altLang="zh-CN" sz="2000"/>
          </a:p>
        </p:txBody>
      </p:sp>
      <p:sp>
        <p:nvSpPr>
          <p:cNvPr id="14" name="Text Box 28"/>
          <p:cNvSpPr txBox="1">
            <a:spLocks noChangeArrowheads="1"/>
          </p:cNvSpPr>
          <p:nvPr/>
        </p:nvSpPr>
        <p:spPr bwMode="auto">
          <a:xfrm>
            <a:off x="6535738" y="1249363"/>
            <a:ext cx="3952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…</a:t>
            </a:r>
          </a:p>
        </p:txBody>
      </p:sp>
      <p:sp>
        <p:nvSpPr>
          <p:cNvPr id="15" name="Text Box 29"/>
          <p:cNvSpPr txBox="1">
            <a:spLocks noChangeArrowheads="1"/>
          </p:cNvSpPr>
          <p:nvPr/>
        </p:nvSpPr>
        <p:spPr bwMode="auto">
          <a:xfrm>
            <a:off x="7542213" y="68262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B::f</a:t>
            </a:r>
          </a:p>
        </p:txBody>
      </p:sp>
      <p:sp>
        <p:nvSpPr>
          <p:cNvPr id="17" name="Text Box 31"/>
          <p:cNvSpPr txBox="1">
            <a:spLocks noChangeArrowheads="1"/>
          </p:cNvSpPr>
          <p:nvPr/>
        </p:nvSpPr>
        <p:spPr bwMode="auto">
          <a:xfrm>
            <a:off x="7456488" y="252413"/>
            <a:ext cx="1219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vtable</a:t>
            </a:r>
          </a:p>
        </p:txBody>
      </p:sp>
      <p:sp>
        <p:nvSpPr>
          <p:cNvPr id="18" name="矩形 17"/>
          <p:cNvSpPr/>
          <p:nvPr/>
        </p:nvSpPr>
        <p:spPr bwMode="auto">
          <a:xfrm>
            <a:off x="6457950" y="604838"/>
            <a:ext cx="576263" cy="35877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9" name="Line 25"/>
          <p:cNvSpPr>
            <a:spLocks noChangeShapeType="1"/>
          </p:cNvSpPr>
          <p:nvPr/>
        </p:nvSpPr>
        <p:spPr bwMode="auto">
          <a:xfrm>
            <a:off x="6780213" y="785813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TextBox 31"/>
          <p:cNvSpPr txBox="1">
            <a:spLocks noChangeArrowheads="1"/>
          </p:cNvSpPr>
          <p:nvPr/>
        </p:nvSpPr>
        <p:spPr bwMode="auto">
          <a:xfrm>
            <a:off x="5508625" y="260350"/>
            <a:ext cx="600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p_a</a:t>
            </a:r>
            <a:endParaRPr lang="zh-CN" altLang="en-US" sz="2000" i="1"/>
          </a:p>
        </p:txBody>
      </p:sp>
      <p:cxnSp>
        <p:nvCxnSpPr>
          <p:cNvPr id="21" name="直接箭头连接符 33"/>
          <p:cNvCxnSpPr>
            <a:cxnSpLocks noChangeShapeType="1"/>
          </p:cNvCxnSpPr>
          <p:nvPr/>
        </p:nvCxnSpPr>
        <p:spPr bwMode="auto">
          <a:xfrm>
            <a:off x="5954713" y="660400"/>
            <a:ext cx="503237" cy="303213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8243888" y="641350"/>
            <a:ext cx="431800" cy="484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C00000"/>
                </a:solidFill>
              </a:rPr>
              <a:t>1</a:t>
            </a:r>
            <a:endParaRPr lang="zh-CN" altLang="en-US" sz="2400" i="1">
              <a:solidFill>
                <a:srgbClr val="C00000"/>
              </a:solidFill>
            </a:endParaRPr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6889750" y="2987675"/>
            <a:ext cx="576263" cy="736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7897813" y="2665413"/>
            <a:ext cx="762000" cy="484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6530975" y="2987675"/>
            <a:ext cx="2905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c</a:t>
            </a:r>
            <a:endParaRPr lang="en-US" altLang="zh-CN" sz="1800"/>
          </a:p>
        </p:txBody>
      </p:sp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6983413" y="2946400"/>
            <a:ext cx="3952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…</a:t>
            </a:r>
            <a:endParaRPr lang="en-US" altLang="zh-CN" sz="2000"/>
          </a:p>
        </p:txBody>
      </p:sp>
      <p:sp>
        <p:nvSpPr>
          <p:cNvPr id="27" name="Text Box 28"/>
          <p:cNvSpPr txBox="1">
            <a:spLocks noChangeArrowheads="1"/>
          </p:cNvSpPr>
          <p:nvPr/>
        </p:nvSpPr>
        <p:spPr bwMode="auto">
          <a:xfrm>
            <a:off x="6967538" y="3273425"/>
            <a:ext cx="3952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…</a:t>
            </a:r>
          </a:p>
        </p:txBody>
      </p:sp>
      <p:sp>
        <p:nvSpPr>
          <p:cNvPr id="28" name="Text Box 29"/>
          <p:cNvSpPr txBox="1">
            <a:spLocks noChangeArrowheads="1"/>
          </p:cNvSpPr>
          <p:nvPr/>
        </p:nvSpPr>
        <p:spPr bwMode="auto">
          <a:xfrm>
            <a:off x="7974013" y="2706688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C::f</a:t>
            </a:r>
          </a:p>
        </p:txBody>
      </p:sp>
      <p:sp>
        <p:nvSpPr>
          <p:cNvPr id="29" name="Text Box 31"/>
          <p:cNvSpPr txBox="1">
            <a:spLocks noChangeArrowheads="1"/>
          </p:cNvSpPr>
          <p:nvPr/>
        </p:nvSpPr>
        <p:spPr bwMode="auto">
          <a:xfrm>
            <a:off x="7889875" y="2276475"/>
            <a:ext cx="1219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vtable</a:t>
            </a:r>
          </a:p>
        </p:txBody>
      </p:sp>
      <p:sp>
        <p:nvSpPr>
          <p:cNvPr id="30" name="矩形 29"/>
          <p:cNvSpPr/>
          <p:nvPr/>
        </p:nvSpPr>
        <p:spPr bwMode="auto">
          <a:xfrm>
            <a:off x="6889750" y="2628900"/>
            <a:ext cx="576263" cy="358775"/>
          </a:xfrm>
          <a:prstGeom prst="rect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31" name="Line 25"/>
          <p:cNvSpPr>
            <a:spLocks noChangeShapeType="1"/>
          </p:cNvSpPr>
          <p:nvPr/>
        </p:nvSpPr>
        <p:spPr bwMode="auto">
          <a:xfrm>
            <a:off x="7212013" y="2809875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5940425" y="2284413"/>
            <a:ext cx="739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p_a1</a:t>
            </a:r>
            <a:endParaRPr lang="zh-CN" altLang="en-US" sz="2000" i="1"/>
          </a:p>
        </p:txBody>
      </p:sp>
      <p:cxnSp>
        <p:nvCxnSpPr>
          <p:cNvPr id="33" name="直接箭头连接符 33"/>
          <p:cNvCxnSpPr>
            <a:cxnSpLocks noChangeShapeType="1"/>
          </p:cNvCxnSpPr>
          <p:nvPr/>
        </p:nvCxnSpPr>
        <p:spPr bwMode="auto">
          <a:xfrm>
            <a:off x="6386513" y="2684463"/>
            <a:ext cx="503237" cy="303212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8675688" y="2665413"/>
            <a:ext cx="433387" cy="484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>
                <a:solidFill>
                  <a:srgbClr val="C00000"/>
                </a:solidFill>
              </a:rPr>
              <a:t>0</a:t>
            </a:r>
            <a:endParaRPr lang="zh-CN" altLang="en-US" sz="2400" i="1">
              <a:solidFill>
                <a:srgbClr val="C00000"/>
              </a:solidFill>
            </a:endParaRPr>
          </a:p>
        </p:txBody>
      </p:sp>
      <p:sp>
        <p:nvSpPr>
          <p:cNvPr id="35" name="Text Box 19"/>
          <p:cNvSpPr txBox="1">
            <a:spLocks noChangeArrowheads="1"/>
          </p:cNvSpPr>
          <p:nvPr/>
        </p:nvSpPr>
        <p:spPr bwMode="auto">
          <a:xfrm>
            <a:off x="684213" y="115888"/>
            <a:ext cx="396240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C00000"/>
                </a:solidFill>
              </a:rPr>
              <a:t>(**((char *)p_a1 - 4))(p_a1)</a:t>
            </a:r>
          </a:p>
        </p:txBody>
      </p:sp>
      <p:sp>
        <p:nvSpPr>
          <p:cNvPr id="36" name="Text Box 19"/>
          <p:cNvSpPr txBox="1">
            <a:spLocks noChangeArrowheads="1"/>
          </p:cNvSpPr>
          <p:nvPr/>
        </p:nvSpPr>
        <p:spPr bwMode="auto">
          <a:xfrm>
            <a:off x="755650" y="476250"/>
            <a:ext cx="3240088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1600" i="1" dirty="0">
                <a:solidFill>
                  <a:schemeClr val="accent6">
                    <a:lumMod val="50000"/>
                  </a:schemeClr>
                </a:solidFill>
              </a:rPr>
              <a:t>char *q = *((char *)p_a1 - 4); </a:t>
            </a:r>
          </a:p>
          <a:p>
            <a:pPr eaLnBrk="1" hangingPunct="1">
              <a:defRPr/>
            </a:pPr>
            <a:r>
              <a:rPr lang="en-US" altLang="zh-CN" sz="1600" i="1" dirty="0">
                <a:solidFill>
                  <a:schemeClr val="accent6">
                    <a:lumMod val="50000"/>
                  </a:schemeClr>
                </a:solidFill>
              </a:rPr>
              <a:t>(*q)(p_a1, *q+4);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3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3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93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2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20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0" grpId="0" autoUpdateAnimBg="0"/>
      <p:bldP spid="193541" grpId="0" autoUpdateAnimBg="0"/>
      <p:bldP spid="193543" grpId="0" autoUpdateAnimBg="0"/>
      <p:bldP spid="193544" grpId="0" autoUpdateAnimBg="0"/>
      <p:bldP spid="8" grpId="0" build="allAtOnce"/>
      <p:bldP spid="9" grpId="0" animBg="1"/>
      <p:bldP spid="10" grpId="0" animBg="1"/>
      <p:bldP spid="12" grpId="0"/>
      <p:bldP spid="13" grpId="0"/>
      <p:bldP spid="14" grpId="0"/>
      <p:bldP spid="15" grpId="0"/>
      <p:bldP spid="17" grpId="0"/>
      <p:bldP spid="18" grpId="0" animBg="1"/>
      <p:bldP spid="20" grpId="0"/>
      <p:bldP spid="22" grpId="0" build="allAtOnce" animBg="1"/>
      <p:bldP spid="23" grpId="0" animBg="1"/>
      <p:bldP spid="24" grpId="0" animBg="1"/>
      <p:bldP spid="25" grpId="0"/>
      <p:bldP spid="26" grpId="0"/>
      <p:bldP spid="27" grpId="0"/>
      <p:bldP spid="28" grpId="0"/>
      <p:bldP spid="29" grpId="0"/>
      <p:bldP spid="30" grpId="0" animBg="1"/>
      <p:bldP spid="32" grpId="0"/>
      <p:bldP spid="34" grpId="0" build="allAtOnce" animBg="1"/>
      <p:bldP spid="35" grpId="0" build="allAtOnce"/>
      <p:bldP spid="36" grpId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多继承</a:t>
            </a:r>
          </a:p>
        </p:txBody>
      </p:sp>
      <p:sp>
        <p:nvSpPr>
          <p:cNvPr id="962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多继承</a:t>
            </a:r>
          </a:p>
          <a:p>
            <a:pPr lvl="1" algn="just" eaLnBrk="1" hangingPunct="1"/>
            <a:r>
              <a:rPr lang="zh-CN" altLang="en-GB" sz="2400">
                <a:latin typeface="宋体" panose="02010600030101010101" pitchFamily="2" charset="-122"/>
              </a:rPr>
              <a:t>定义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zh-CN" sz="2000" i="1"/>
              <a:t>class</a:t>
            </a:r>
            <a:r>
              <a:rPr lang="en-GB" altLang="zh-CN" sz="2000">
                <a:latin typeface="宋体" panose="02010600030101010101" pitchFamily="2" charset="-122"/>
              </a:rPr>
              <a:t> &lt;</a:t>
            </a:r>
            <a:r>
              <a:rPr lang="en-GB" altLang="en-US" sz="2000">
                <a:latin typeface="宋体" panose="02010600030101010101" pitchFamily="2" charset="-122"/>
              </a:rPr>
              <a:t>派生类名&gt;：[&lt;继承方式&gt;] &lt;基类名1&gt;，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en-US" sz="2000">
                <a:latin typeface="宋体" panose="02010600030101010101" pitchFamily="2" charset="-122"/>
              </a:rPr>
              <a:t>			   [&lt;继承方式&gt;] &lt;基类名2&gt;，</a:t>
            </a:r>
            <a:r>
              <a:rPr lang="en-GB" altLang="en-US" sz="2000">
                <a:latin typeface="Times New Roman" panose="02020603050405020304" pitchFamily="18" charset="0"/>
              </a:rPr>
              <a:t>…</a:t>
            </a:r>
            <a:endParaRPr lang="en-GB" altLang="en-US" sz="2000">
              <a:latin typeface="宋体" panose="02010600030101010101" pitchFamily="2" charset="-122"/>
            </a:endParaRP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en-US" sz="2000"/>
              <a:t>	</a:t>
            </a:r>
            <a:r>
              <a:rPr lang="en-GB" altLang="en-US" sz="2000" i="1"/>
              <a:t>{</a:t>
            </a:r>
            <a:r>
              <a:rPr lang="en-GB" altLang="en-US" sz="2000">
                <a:latin typeface="宋体" panose="02010600030101010101" pitchFamily="2" charset="-122"/>
              </a:rPr>
              <a:t> 〈成员表〉</a:t>
            </a:r>
            <a:r>
              <a:rPr lang="en-GB" altLang="en-US" sz="2000" i="1"/>
              <a:t>}</a:t>
            </a:r>
          </a:p>
          <a:p>
            <a:pPr lvl="2" algn="just" eaLnBrk="1" hangingPunct="1">
              <a:buFont typeface="Wingdings" panose="05000000000000000000" pitchFamily="2" charset="2"/>
              <a:buNone/>
            </a:pPr>
            <a:endParaRPr lang="en-GB" altLang="en-US" sz="2000"/>
          </a:p>
          <a:p>
            <a:pPr lvl="2" algn="just" eaLnBrk="1" hangingPunct="1"/>
            <a:r>
              <a:rPr lang="en-GB" altLang="en-US" sz="2000">
                <a:latin typeface="宋体" panose="02010600030101010101" pitchFamily="2" charset="-122"/>
              </a:rPr>
              <a:t>继承方式</a:t>
            </a:r>
          </a:p>
          <a:p>
            <a:pPr lvl="3" algn="just" eaLnBrk="1" hangingPunct="1"/>
            <a:r>
              <a:rPr lang="en-GB" altLang="zh-CN" sz="1800" i="1"/>
              <a:t>public</a:t>
            </a:r>
            <a:r>
              <a:rPr lang="en-GB" altLang="zh-CN" sz="1800">
                <a:latin typeface="宋体" panose="02010600030101010101" pitchFamily="2" charset="-122"/>
              </a:rPr>
              <a:t>、</a:t>
            </a:r>
            <a:r>
              <a:rPr lang="en-GB" altLang="zh-CN" sz="1800" i="1"/>
              <a:t>private </a:t>
            </a:r>
            <a:r>
              <a:rPr lang="en-GB" altLang="zh-CN" sz="1800">
                <a:latin typeface="宋体" panose="02010600030101010101" pitchFamily="2" charset="-122"/>
              </a:rPr>
              <a:t>、</a:t>
            </a:r>
            <a:r>
              <a:rPr lang="en-GB" altLang="zh-CN" sz="1800" i="1"/>
              <a:t>protected</a:t>
            </a:r>
            <a:endParaRPr lang="en-GB" altLang="zh-CN" sz="1800">
              <a:latin typeface="宋体" panose="02010600030101010101" pitchFamily="2" charset="-122"/>
            </a:endParaRPr>
          </a:p>
          <a:p>
            <a:pPr lvl="2" algn="just" eaLnBrk="1" hangingPunct="1"/>
            <a:r>
              <a:rPr lang="en-GB" altLang="en-US" sz="2000">
                <a:latin typeface="宋体" panose="02010600030101010101" pitchFamily="2" charset="-122"/>
              </a:rPr>
              <a:t>继承方式及访问控制的规定同单继承</a:t>
            </a:r>
            <a:endParaRPr lang="en-GB" altLang="en-US" sz="2000"/>
          </a:p>
          <a:p>
            <a:pPr lvl="2" eaLnBrk="1" hangingPunct="1"/>
            <a:r>
              <a:rPr lang="en-GB" altLang="en-US" sz="2000">
                <a:latin typeface="宋体" panose="02010600030101010101" pitchFamily="2" charset="-122"/>
              </a:rPr>
              <a:t>派生类拥有所有基类的所有成员</a:t>
            </a:r>
            <a:endParaRPr lang="zh-CN" altLang="en-US"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多继承</a:t>
            </a:r>
          </a:p>
        </p:txBody>
      </p:sp>
      <p:sp>
        <p:nvSpPr>
          <p:cNvPr id="97282" name="Rectangle 4"/>
          <p:cNvSpPr>
            <a:spLocks noChangeArrowheads="1"/>
          </p:cNvSpPr>
          <p:nvPr/>
        </p:nvSpPr>
        <p:spPr bwMode="auto">
          <a:xfrm>
            <a:off x="990600" y="2362200"/>
            <a:ext cx="18288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Bed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/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weight</a:t>
            </a:r>
          </a:p>
        </p:txBody>
      </p:sp>
      <p:sp>
        <p:nvSpPr>
          <p:cNvPr id="97283" name="Rectangle 5"/>
          <p:cNvSpPr>
            <a:spLocks noChangeArrowheads="1"/>
          </p:cNvSpPr>
          <p:nvPr/>
        </p:nvSpPr>
        <p:spPr bwMode="auto">
          <a:xfrm>
            <a:off x="381000" y="2743200"/>
            <a:ext cx="1447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Sleep()</a:t>
            </a:r>
          </a:p>
        </p:txBody>
      </p:sp>
      <p:sp>
        <p:nvSpPr>
          <p:cNvPr id="97284" name="Rectangle 6"/>
          <p:cNvSpPr>
            <a:spLocks noChangeArrowheads="1"/>
          </p:cNvSpPr>
          <p:nvPr/>
        </p:nvSpPr>
        <p:spPr bwMode="auto">
          <a:xfrm>
            <a:off x="381000" y="3276600"/>
            <a:ext cx="1447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SetWeight()</a:t>
            </a:r>
          </a:p>
        </p:txBody>
      </p:sp>
      <p:sp>
        <p:nvSpPr>
          <p:cNvPr id="97285" name="Rectangle 7"/>
          <p:cNvSpPr>
            <a:spLocks noChangeArrowheads="1"/>
          </p:cNvSpPr>
          <p:nvPr/>
        </p:nvSpPr>
        <p:spPr bwMode="auto">
          <a:xfrm>
            <a:off x="4267200" y="2362200"/>
            <a:ext cx="18288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Sofa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/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/>
              <a:t>weight</a:t>
            </a:r>
          </a:p>
        </p:txBody>
      </p:sp>
      <p:sp>
        <p:nvSpPr>
          <p:cNvPr id="97286" name="Rectangle 8"/>
          <p:cNvSpPr>
            <a:spLocks noChangeArrowheads="1"/>
          </p:cNvSpPr>
          <p:nvPr/>
        </p:nvSpPr>
        <p:spPr bwMode="auto">
          <a:xfrm>
            <a:off x="3657600" y="2743200"/>
            <a:ext cx="1447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WatchTV()</a:t>
            </a:r>
          </a:p>
        </p:txBody>
      </p:sp>
      <p:sp>
        <p:nvSpPr>
          <p:cNvPr id="97287" name="Rectangle 9"/>
          <p:cNvSpPr>
            <a:spLocks noChangeArrowheads="1"/>
          </p:cNvSpPr>
          <p:nvPr/>
        </p:nvSpPr>
        <p:spPr bwMode="auto">
          <a:xfrm>
            <a:off x="3657600" y="3276600"/>
            <a:ext cx="1447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SetWeight()</a:t>
            </a:r>
          </a:p>
        </p:txBody>
      </p:sp>
      <p:sp>
        <p:nvSpPr>
          <p:cNvPr id="97288" name="Rectangle 10"/>
          <p:cNvSpPr>
            <a:spLocks noChangeArrowheads="1"/>
          </p:cNvSpPr>
          <p:nvPr/>
        </p:nvSpPr>
        <p:spPr bwMode="auto">
          <a:xfrm>
            <a:off x="2590800" y="5105400"/>
            <a:ext cx="1828800" cy="1600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SleepSofa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/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2000" i="1"/>
          </a:p>
        </p:txBody>
      </p:sp>
      <p:sp>
        <p:nvSpPr>
          <p:cNvPr id="97289" name="Rectangle 12"/>
          <p:cNvSpPr>
            <a:spLocks noChangeArrowheads="1"/>
          </p:cNvSpPr>
          <p:nvPr/>
        </p:nvSpPr>
        <p:spPr bwMode="auto">
          <a:xfrm>
            <a:off x="1981200" y="6019800"/>
            <a:ext cx="1447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foldOut()</a:t>
            </a:r>
          </a:p>
        </p:txBody>
      </p:sp>
      <p:sp>
        <p:nvSpPr>
          <p:cNvPr id="97290" name="Line 13"/>
          <p:cNvSpPr>
            <a:spLocks noChangeShapeType="1"/>
          </p:cNvSpPr>
          <p:nvPr/>
        </p:nvSpPr>
        <p:spPr bwMode="auto">
          <a:xfrm>
            <a:off x="1828800" y="3962400"/>
            <a:ext cx="114300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7291" name="Line 14"/>
          <p:cNvSpPr>
            <a:spLocks noChangeShapeType="1"/>
          </p:cNvSpPr>
          <p:nvPr/>
        </p:nvSpPr>
        <p:spPr bwMode="auto">
          <a:xfrm flipH="1">
            <a:off x="3962400" y="3962400"/>
            <a:ext cx="1143000" cy="1143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多继承</a:t>
            </a:r>
          </a:p>
        </p:txBody>
      </p:sp>
      <p:sp>
        <p:nvSpPr>
          <p:cNvPr id="98306" name="Rectangle 4"/>
          <p:cNvSpPr>
            <a:spLocks noChangeArrowheads="1"/>
          </p:cNvSpPr>
          <p:nvPr/>
        </p:nvSpPr>
        <p:spPr bwMode="auto">
          <a:xfrm>
            <a:off x="1524000" y="2057400"/>
            <a:ext cx="1524000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Furniture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/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weight</a:t>
            </a:r>
          </a:p>
        </p:txBody>
      </p:sp>
      <p:sp>
        <p:nvSpPr>
          <p:cNvPr id="98307" name="Rectangle 6"/>
          <p:cNvSpPr>
            <a:spLocks noChangeArrowheads="1"/>
          </p:cNvSpPr>
          <p:nvPr/>
        </p:nvSpPr>
        <p:spPr bwMode="auto">
          <a:xfrm>
            <a:off x="914400" y="2514600"/>
            <a:ext cx="1143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SetWeight()</a:t>
            </a:r>
          </a:p>
        </p:txBody>
      </p:sp>
      <p:sp>
        <p:nvSpPr>
          <p:cNvPr id="98308" name="Rectangle 10"/>
          <p:cNvSpPr>
            <a:spLocks noChangeArrowheads="1"/>
          </p:cNvSpPr>
          <p:nvPr/>
        </p:nvSpPr>
        <p:spPr bwMode="auto">
          <a:xfrm>
            <a:off x="4419600" y="2057400"/>
            <a:ext cx="1524000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Furniture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/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weight</a:t>
            </a:r>
          </a:p>
        </p:txBody>
      </p:sp>
      <p:sp>
        <p:nvSpPr>
          <p:cNvPr id="98309" name="Rectangle 11"/>
          <p:cNvSpPr>
            <a:spLocks noChangeArrowheads="1"/>
          </p:cNvSpPr>
          <p:nvPr/>
        </p:nvSpPr>
        <p:spPr bwMode="auto">
          <a:xfrm>
            <a:off x="3810000" y="2514600"/>
            <a:ext cx="1143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SetWeight()</a:t>
            </a:r>
          </a:p>
        </p:txBody>
      </p:sp>
      <p:sp>
        <p:nvSpPr>
          <p:cNvPr id="98310" name="Rectangle 12"/>
          <p:cNvSpPr>
            <a:spLocks noChangeArrowheads="1"/>
          </p:cNvSpPr>
          <p:nvPr/>
        </p:nvSpPr>
        <p:spPr bwMode="auto">
          <a:xfrm>
            <a:off x="1524000" y="3505200"/>
            <a:ext cx="1524000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Bed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/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/>
          </a:p>
        </p:txBody>
      </p:sp>
      <p:sp>
        <p:nvSpPr>
          <p:cNvPr id="98311" name="Rectangle 13"/>
          <p:cNvSpPr>
            <a:spLocks noChangeArrowheads="1"/>
          </p:cNvSpPr>
          <p:nvPr/>
        </p:nvSpPr>
        <p:spPr bwMode="auto">
          <a:xfrm>
            <a:off x="914400" y="3962400"/>
            <a:ext cx="1143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Sleep()</a:t>
            </a:r>
          </a:p>
        </p:txBody>
      </p:sp>
      <p:sp>
        <p:nvSpPr>
          <p:cNvPr id="98312" name="Rectangle 14"/>
          <p:cNvSpPr>
            <a:spLocks noChangeArrowheads="1"/>
          </p:cNvSpPr>
          <p:nvPr/>
        </p:nvSpPr>
        <p:spPr bwMode="auto">
          <a:xfrm>
            <a:off x="4419600" y="3505200"/>
            <a:ext cx="1524000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Sofa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/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/>
          </a:p>
        </p:txBody>
      </p:sp>
      <p:sp>
        <p:nvSpPr>
          <p:cNvPr id="98313" name="Rectangle 15"/>
          <p:cNvSpPr>
            <a:spLocks noChangeArrowheads="1"/>
          </p:cNvSpPr>
          <p:nvPr/>
        </p:nvSpPr>
        <p:spPr bwMode="auto">
          <a:xfrm>
            <a:off x="3810000" y="3962400"/>
            <a:ext cx="1143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WatchTV()</a:t>
            </a:r>
          </a:p>
        </p:txBody>
      </p:sp>
      <p:sp>
        <p:nvSpPr>
          <p:cNvPr id="98314" name="Rectangle 16"/>
          <p:cNvSpPr>
            <a:spLocks noChangeArrowheads="1"/>
          </p:cNvSpPr>
          <p:nvPr/>
        </p:nvSpPr>
        <p:spPr bwMode="auto">
          <a:xfrm>
            <a:off x="2971800" y="5181600"/>
            <a:ext cx="1524000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SleepSofa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/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/>
          </a:p>
        </p:txBody>
      </p:sp>
      <p:sp>
        <p:nvSpPr>
          <p:cNvPr id="98315" name="Rectangle 17"/>
          <p:cNvSpPr>
            <a:spLocks noChangeArrowheads="1"/>
          </p:cNvSpPr>
          <p:nvPr/>
        </p:nvSpPr>
        <p:spPr bwMode="auto">
          <a:xfrm>
            <a:off x="2362200" y="5638800"/>
            <a:ext cx="1143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FoldOut()</a:t>
            </a:r>
          </a:p>
        </p:txBody>
      </p:sp>
      <p:sp>
        <p:nvSpPr>
          <p:cNvPr id="98316" name="Line 18"/>
          <p:cNvSpPr>
            <a:spLocks noChangeShapeType="1"/>
          </p:cNvSpPr>
          <p:nvPr/>
        </p:nvSpPr>
        <p:spPr bwMode="auto">
          <a:xfrm>
            <a:off x="2209800" y="3048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8317" name="Line 19"/>
          <p:cNvSpPr>
            <a:spLocks noChangeShapeType="1"/>
          </p:cNvSpPr>
          <p:nvPr/>
        </p:nvSpPr>
        <p:spPr bwMode="auto">
          <a:xfrm>
            <a:off x="2590800" y="4495800"/>
            <a:ext cx="91440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8318" name="Line 20"/>
          <p:cNvSpPr>
            <a:spLocks noChangeShapeType="1"/>
          </p:cNvSpPr>
          <p:nvPr/>
        </p:nvSpPr>
        <p:spPr bwMode="auto">
          <a:xfrm flipH="1">
            <a:off x="4038600" y="44958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8319" name="Line 21"/>
          <p:cNvSpPr>
            <a:spLocks noChangeShapeType="1"/>
          </p:cNvSpPr>
          <p:nvPr/>
        </p:nvSpPr>
        <p:spPr bwMode="auto">
          <a:xfrm>
            <a:off x="5181600" y="3048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8198" name="Text Box 22"/>
          <p:cNvSpPr txBox="1">
            <a:spLocks noChangeArrowheads="1"/>
          </p:cNvSpPr>
          <p:nvPr/>
        </p:nvSpPr>
        <p:spPr bwMode="auto">
          <a:xfrm>
            <a:off x="6689725" y="2395538"/>
            <a:ext cx="2159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Base-Class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Decomposition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8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8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19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多继承</a:t>
            </a:r>
          </a:p>
        </p:txBody>
      </p:sp>
      <p:sp>
        <p:nvSpPr>
          <p:cNvPr id="99330" name="Rectangle 4"/>
          <p:cNvSpPr>
            <a:spLocks noChangeArrowheads="1"/>
          </p:cNvSpPr>
          <p:nvPr/>
        </p:nvSpPr>
        <p:spPr bwMode="auto">
          <a:xfrm>
            <a:off x="3048000" y="1905000"/>
            <a:ext cx="1524000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Furniture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/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i="1"/>
              <a:t>weight</a:t>
            </a:r>
          </a:p>
        </p:txBody>
      </p:sp>
      <p:sp>
        <p:nvSpPr>
          <p:cNvPr id="99331" name="Rectangle 5"/>
          <p:cNvSpPr>
            <a:spLocks noChangeArrowheads="1"/>
          </p:cNvSpPr>
          <p:nvPr/>
        </p:nvSpPr>
        <p:spPr bwMode="auto">
          <a:xfrm>
            <a:off x="2438400" y="2362200"/>
            <a:ext cx="1143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SetWeight()</a:t>
            </a:r>
          </a:p>
        </p:txBody>
      </p:sp>
      <p:sp>
        <p:nvSpPr>
          <p:cNvPr id="99332" name="Rectangle 8"/>
          <p:cNvSpPr>
            <a:spLocks noChangeArrowheads="1"/>
          </p:cNvSpPr>
          <p:nvPr/>
        </p:nvSpPr>
        <p:spPr bwMode="auto">
          <a:xfrm>
            <a:off x="1828800" y="3810000"/>
            <a:ext cx="1524000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Bed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/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/>
          </a:p>
        </p:txBody>
      </p:sp>
      <p:sp>
        <p:nvSpPr>
          <p:cNvPr id="99333" name="Rectangle 9"/>
          <p:cNvSpPr>
            <a:spLocks noChangeArrowheads="1"/>
          </p:cNvSpPr>
          <p:nvPr/>
        </p:nvSpPr>
        <p:spPr bwMode="auto">
          <a:xfrm>
            <a:off x="1219200" y="4267200"/>
            <a:ext cx="1143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Sleep()</a:t>
            </a:r>
          </a:p>
        </p:txBody>
      </p:sp>
      <p:sp>
        <p:nvSpPr>
          <p:cNvPr id="99334" name="Rectangle 10"/>
          <p:cNvSpPr>
            <a:spLocks noChangeArrowheads="1"/>
          </p:cNvSpPr>
          <p:nvPr/>
        </p:nvSpPr>
        <p:spPr bwMode="auto">
          <a:xfrm>
            <a:off x="4572000" y="3810000"/>
            <a:ext cx="1524000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Sofa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/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/>
          </a:p>
        </p:txBody>
      </p:sp>
      <p:sp>
        <p:nvSpPr>
          <p:cNvPr id="99335" name="Rectangle 11"/>
          <p:cNvSpPr>
            <a:spLocks noChangeArrowheads="1"/>
          </p:cNvSpPr>
          <p:nvPr/>
        </p:nvSpPr>
        <p:spPr bwMode="auto">
          <a:xfrm>
            <a:off x="3962400" y="4267200"/>
            <a:ext cx="1143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WatchTV()</a:t>
            </a:r>
          </a:p>
        </p:txBody>
      </p:sp>
      <p:sp>
        <p:nvSpPr>
          <p:cNvPr id="99336" name="Rectangle 12"/>
          <p:cNvSpPr>
            <a:spLocks noChangeArrowheads="1"/>
          </p:cNvSpPr>
          <p:nvPr/>
        </p:nvSpPr>
        <p:spPr bwMode="auto">
          <a:xfrm>
            <a:off x="3276600" y="5486400"/>
            <a:ext cx="1524000" cy="990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/>
              <a:t>SleepSofa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/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 sz="1800" i="1"/>
          </a:p>
        </p:txBody>
      </p:sp>
      <p:sp>
        <p:nvSpPr>
          <p:cNvPr id="99337" name="Rectangle 13"/>
          <p:cNvSpPr>
            <a:spLocks noChangeArrowheads="1"/>
          </p:cNvSpPr>
          <p:nvPr/>
        </p:nvSpPr>
        <p:spPr bwMode="auto">
          <a:xfrm>
            <a:off x="2667000" y="5943600"/>
            <a:ext cx="1143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i="1"/>
              <a:t>FoldOut()</a:t>
            </a:r>
          </a:p>
        </p:txBody>
      </p:sp>
      <p:sp>
        <p:nvSpPr>
          <p:cNvPr id="99338" name="Line 15"/>
          <p:cNvSpPr>
            <a:spLocks noChangeShapeType="1"/>
          </p:cNvSpPr>
          <p:nvPr/>
        </p:nvSpPr>
        <p:spPr bwMode="auto">
          <a:xfrm>
            <a:off x="2895600" y="4800600"/>
            <a:ext cx="91440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9339" name="Line 16"/>
          <p:cNvSpPr>
            <a:spLocks noChangeShapeType="1"/>
          </p:cNvSpPr>
          <p:nvPr/>
        </p:nvSpPr>
        <p:spPr bwMode="auto">
          <a:xfrm flipH="1">
            <a:off x="4343400" y="4800600"/>
            <a:ext cx="83820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9340" name="Line 18"/>
          <p:cNvSpPr>
            <a:spLocks noChangeShapeType="1"/>
          </p:cNvSpPr>
          <p:nvPr/>
        </p:nvSpPr>
        <p:spPr bwMode="auto">
          <a:xfrm flipH="1">
            <a:off x="2743200" y="2895600"/>
            <a:ext cx="685800" cy="914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9341" name="Line 19"/>
          <p:cNvSpPr>
            <a:spLocks noChangeShapeType="1"/>
          </p:cNvSpPr>
          <p:nvPr/>
        </p:nvSpPr>
        <p:spPr bwMode="auto">
          <a:xfrm>
            <a:off x="4267200" y="2895600"/>
            <a:ext cx="685800" cy="914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9220" name="Text Box 20"/>
          <p:cNvSpPr txBox="1">
            <a:spLocks noChangeArrowheads="1"/>
          </p:cNvSpPr>
          <p:nvPr/>
        </p:nvSpPr>
        <p:spPr bwMode="auto">
          <a:xfrm>
            <a:off x="6019800" y="2319338"/>
            <a:ext cx="2670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Virtual Inheritance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9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9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22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多继承</a:t>
            </a:r>
          </a:p>
        </p:txBody>
      </p:sp>
      <p:sp>
        <p:nvSpPr>
          <p:cNvPr id="1003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2" eaLnBrk="1" hangingPunct="1"/>
            <a:r>
              <a:rPr lang="en-GB" altLang="en-US" sz="2000">
                <a:latin typeface="宋体" panose="02010600030101010101" pitchFamily="2" charset="-122"/>
              </a:rPr>
              <a:t>基类的声明次序决定：</a:t>
            </a:r>
            <a:endParaRPr lang="en-GB" altLang="en-US" sz="2000"/>
          </a:p>
          <a:p>
            <a:pPr lvl="3" algn="just" eaLnBrk="1" hangingPunct="1"/>
            <a:r>
              <a:rPr lang="en-GB" altLang="en-US">
                <a:latin typeface="宋体" panose="02010600030101010101" pitchFamily="2" charset="-122"/>
              </a:rPr>
              <a:t>对基类构造函数/析构函数的调用次序</a:t>
            </a:r>
            <a:endParaRPr lang="en-GB" altLang="en-US"/>
          </a:p>
          <a:p>
            <a:pPr lvl="3" eaLnBrk="1" hangingPunct="1"/>
            <a:r>
              <a:rPr lang="en-GB" altLang="en-US">
                <a:latin typeface="宋体" panose="02010600030101010101" pitchFamily="2" charset="-122"/>
              </a:rPr>
              <a:t>对基类数据成员的存储安排</a:t>
            </a:r>
          </a:p>
          <a:p>
            <a:pPr lvl="1" algn="just" eaLnBrk="1" hangingPunct="1">
              <a:spcBef>
                <a:spcPts val="500"/>
              </a:spcBef>
              <a:spcAft>
                <a:spcPts val="500"/>
              </a:spcAft>
            </a:pPr>
            <a:endParaRPr lang="en-GB" altLang="en-US" sz="2000" b="1">
              <a:latin typeface="宋体" panose="02010600030101010101" pitchFamily="2" charset="-122"/>
            </a:endParaRPr>
          </a:p>
          <a:p>
            <a:pPr lvl="1"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en-US" sz="2400">
                <a:latin typeface="宋体" panose="02010600030101010101" pitchFamily="2" charset="-122"/>
              </a:rPr>
              <a:t>名冲突</a:t>
            </a:r>
          </a:p>
          <a:p>
            <a:pPr lvl="2"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en-US" sz="2000">
                <a:latin typeface="宋体" panose="02010600030101010101" pitchFamily="2" charset="-122"/>
              </a:rPr>
              <a:t>&lt;基类名&gt;::&lt;基类成员名&gt;</a:t>
            </a:r>
          </a:p>
          <a:p>
            <a:pPr lvl="2" algn="just" eaLnBrk="1" hangingPunct="1">
              <a:spcBef>
                <a:spcPts val="500"/>
              </a:spcBef>
              <a:spcAft>
                <a:spcPts val="500"/>
              </a:spcAft>
            </a:pPr>
            <a:endParaRPr lang="en-US" altLang="en-US" sz="1800">
              <a:latin typeface="宋体" panose="02010600030101010101" pitchFamily="2" charset="-122"/>
            </a:endParaRPr>
          </a:p>
          <a:p>
            <a:pPr lvl="1" algn="just" eaLnBrk="1" hangingPunct="1"/>
            <a:r>
              <a:rPr lang="en-GB" altLang="en-US" sz="2400">
                <a:latin typeface="宋体" panose="02010600030101010101" pitchFamily="2" charset="-122"/>
              </a:rPr>
              <a:t>虚基类</a:t>
            </a:r>
          </a:p>
          <a:p>
            <a:pPr lvl="2" algn="just" eaLnBrk="1" hangingPunct="1"/>
            <a:r>
              <a:rPr lang="en-GB" altLang="en-US" sz="2000">
                <a:latin typeface="宋体" panose="02010600030101010101" pitchFamily="2" charset="-122"/>
              </a:rPr>
              <a:t>如果直接基类有公共的基类，则该公共基类中的成员变量在多继承的派生类中有多个副本</a:t>
            </a:r>
            <a:endParaRPr lang="zh-CN" altLang="en-US" sz="2000">
              <a:latin typeface="宋体" panose="02010600030101010101" pitchFamily="2" charset="-122"/>
            </a:endParaRPr>
          </a:p>
        </p:txBody>
      </p:sp>
      <p:sp>
        <p:nvSpPr>
          <p:cNvPr id="100355" name="Oval 4"/>
          <p:cNvSpPr>
            <a:spLocks noChangeArrowheads="1"/>
          </p:cNvSpPr>
          <p:nvPr/>
        </p:nvSpPr>
        <p:spPr bwMode="auto">
          <a:xfrm>
            <a:off x="7696200" y="4572000"/>
            <a:ext cx="685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00356" name="Line 9"/>
          <p:cNvSpPr>
            <a:spLocks noChangeShapeType="1"/>
          </p:cNvSpPr>
          <p:nvPr/>
        </p:nvSpPr>
        <p:spPr bwMode="auto">
          <a:xfrm>
            <a:off x="8229600" y="3733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57" name="Oval 13"/>
          <p:cNvSpPr>
            <a:spLocks noChangeArrowheads="1"/>
          </p:cNvSpPr>
          <p:nvPr/>
        </p:nvSpPr>
        <p:spPr bwMode="auto">
          <a:xfrm>
            <a:off x="7620000" y="3429000"/>
            <a:ext cx="685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100358" name="Oval 14"/>
          <p:cNvSpPr>
            <a:spLocks noChangeArrowheads="1"/>
          </p:cNvSpPr>
          <p:nvPr/>
        </p:nvSpPr>
        <p:spPr bwMode="auto">
          <a:xfrm>
            <a:off x="7162800" y="4038600"/>
            <a:ext cx="685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100359" name="Oval 15"/>
          <p:cNvSpPr>
            <a:spLocks noChangeArrowheads="1"/>
          </p:cNvSpPr>
          <p:nvPr/>
        </p:nvSpPr>
        <p:spPr bwMode="auto">
          <a:xfrm>
            <a:off x="8229600" y="4038600"/>
            <a:ext cx="685800" cy="381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100360" name="Line 16"/>
          <p:cNvSpPr>
            <a:spLocks noChangeShapeType="1"/>
          </p:cNvSpPr>
          <p:nvPr/>
        </p:nvSpPr>
        <p:spPr bwMode="auto">
          <a:xfrm flipH="1">
            <a:off x="7467600" y="37338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0361" name="Line 17"/>
          <p:cNvSpPr>
            <a:spLocks noChangeShapeType="1"/>
          </p:cNvSpPr>
          <p:nvPr/>
        </p:nvSpPr>
        <p:spPr bwMode="auto">
          <a:xfrm>
            <a:off x="7620000" y="4419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0362" name="Line 18"/>
          <p:cNvSpPr>
            <a:spLocks noChangeShapeType="1"/>
          </p:cNvSpPr>
          <p:nvPr/>
        </p:nvSpPr>
        <p:spPr bwMode="auto">
          <a:xfrm flipH="1">
            <a:off x="8229600" y="44196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0363" name="Text Box 19"/>
          <p:cNvSpPr txBox="1">
            <a:spLocks noChangeArrowheads="1"/>
          </p:cNvSpPr>
          <p:nvPr/>
        </p:nvSpPr>
        <p:spPr bwMode="auto">
          <a:xfrm>
            <a:off x="6081713" y="3352800"/>
            <a:ext cx="1385887" cy="180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class 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{  int x;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    …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};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class B: A;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class C: A;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class D: B, C;</a:t>
            </a:r>
            <a:endParaRPr lang="en-US" altLang="zh-CN" sz="1600" i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多继承</a:t>
            </a:r>
          </a:p>
        </p:txBody>
      </p:sp>
      <p:sp>
        <p:nvSpPr>
          <p:cNvPr id="1013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32712" cy="4535487"/>
          </a:xfrm>
        </p:spPr>
        <p:txBody>
          <a:bodyPr/>
          <a:lstStyle/>
          <a:p>
            <a:pPr lvl="2" algn="just" eaLnBrk="1" hangingPunct="1"/>
            <a:r>
              <a:rPr lang="en-GB" altLang="en-US" sz="2000" dirty="0" err="1">
                <a:latin typeface="宋体" panose="02010600030101010101" pitchFamily="2" charset="-122"/>
              </a:rPr>
              <a:t>类</a:t>
            </a:r>
            <a:r>
              <a:rPr lang="en-GB" altLang="zh-CN" sz="2000" dirty="0" err="1">
                <a:latin typeface="宋体" panose="02010600030101010101" pitchFamily="2" charset="-122"/>
              </a:rPr>
              <a:t>D</a:t>
            </a:r>
            <a:r>
              <a:rPr lang="en-GB" altLang="en-US" sz="2000" dirty="0" err="1">
                <a:latin typeface="宋体" panose="02010600030101010101" pitchFamily="2" charset="-122"/>
              </a:rPr>
              <a:t>拥有两个</a:t>
            </a:r>
            <a:r>
              <a:rPr lang="en-GB" altLang="zh-CN" sz="2000" dirty="0" err="1">
                <a:latin typeface="宋体" panose="02010600030101010101" pitchFamily="2" charset="-122"/>
              </a:rPr>
              <a:t>x</a:t>
            </a:r>
            <a:r>
              <a:rPr lang="en-GB" altLang="en-US" sz="2000" dirty="0" err="1">
                <a:latin typeface="宋体" panose="02010600030101010101" pitchFamily="2" charset="-122"/>
              </a:rPr>
              <a:t>成员：</a:t>
            </a:r>
            <a:r>
              <a:rPr lang="en-GB" altLang="zh-CN" sz="2000" dirty="0" err="1">
                <a:latin typeface="宋体" panose="02010600030101010101" pitchFamily="2" charset="-122"/>
              </a:rPr>
              <a:t>B</a:t>
            </a:r>
            <a:r>
              <a:rPr lang="en-GB" altLang="zh-CN" sz="2000" dirty="0">
                <a:latin typeface="宋体" panose="02010600030101010101" pitchFamily="2" charset="-122"/>
              </a:rPr>
              <a:t>::</a:t>
            </a:r>
            <a:r>
              <a:rPr lang="en-GB" altLang="zh-CN" sz="2000" dirty="0" err="1">
                <a:latin typeface="宋体" panose="02010600030101010101" pitchFamily="2" charset="-122"/>
              </a:rPr>
              <a:t>x</a:t>
            </a:r>
            <a:r>
              <a:rPr lang="en-GB" altLang="en-US" sz="2000" dirty="0" err="1">
                <a:latin typeface="宋体" panose="02010600030101010101" pitchFamily="2" charset="-122"/>
              </a:rPr>
              <a:t>和</a:t>
            </a:r>
            <a:r>
              <a:rPr lang="en-GB" altLang="zh-CN" sz="2000" dirty="0" err="1">
                <a:latin typeface="宋体" panose="02010600030101010101" pitchFamily="2" charset="-122"/>
              </a:rPr>
              <a:t>C</a:t>
            </a:r>
            <a:r>
              <a:rPr lang="en-GB" altLang="zh-CN" sz="2000" dirty="0">
                <a:latin typeface="宋体" panose="02010600030101010101" pitchFamily="2" charset="-122"/>
              </a:rPr>
              <a:t>::x</a:t>
            </a:r>
          </a:p>
          <a:p>
            <a:pPr lvl="2" algn="just" eaLnBrk="1" hangingPunct="1"/>
            <a:endParaRPr lang="en-GB" altLang="zh-CN" sz="2000" dirty="0">
              <a:latin typeface="宋体" panose="02010600030101010101" pitchFamily="2" charset="-122"/>
            </a:endParaRPr>
          </a:p>
          <a:p>
            <a:pPr lvl="2" algn="just" eaLnBrk="1" hangingPunct="1"/>
            <a:r>
              <a:rPr lang="en-GB" altLang="en-US" sz="2000" dirty="0" err="1">
                <a:latin typeface="宋体" panose="02010600030101010101" pitchFamily="2" charset="-122"/>
              </a:rPr>
              <a:t>虚基类</a:t>
            </a:r>
            <a:endParaRPr lang="en-GB" altLang="en-US" sz="2000" dirty="0">
              <a:latin typeface="宋体" panose="02010600030101010101" pitchFamily="2" charset="-122"/>
            </a:endParaRPr>
          </a:p>
          <a:p>
            <a:pPr lvl="3" algn="just" eaLnBrk="1" hangingPunct="1"/>
            <a:r>
              <a:rPr lang="en-GB" altLang="en-US" dirty="0" err="1">
                <a:latin typeface="宋体" panose="02010600030101010101" pitchFamily="2" charset="-122"/>
              </a:rPr>
              <a:t>合并</a:t>
            </a:r>
            <a:endParaRPr lang="en-GB" altLang="en-US" dirty="0"/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en-US" sz="2800" dirty="0"/>
              <a:t>			</a:t>
            </a:r>
            <a:r>
              <a:rPr lang="en-GB" altLang="zh-CN" sz="1800" i="1" dirty="0"/>
              <a:t>class A;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800" i="1" dirty="0"/>
              <a:t>			class B: virtual </a:t>
            </a:r>
            <a:r>
              <a:rPr lang="en-US" altLang="zh-CN" sz="1800" i="1" dirty="0"/>
              <a:t>public </a:t>
            </a:r>
            <a:r>
              <a:rPr lang="en-GB" altLang="zh-CN" sz="1800" i="1" dirty="0"/>
              <a:t>A;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800" i="1" dirty="0"/>
              <a:t>			class C: public virtual A;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800" i="1" dirty="0"/>
              <a:t>			class D: B, C;</a:t>
            </a:r>
            <a:endParaRPr lang="en-GB" altLang="zh-CN" sz="1800" dirty="0"/>
          </a:p>
          <a:p>
            <a:pPr lvl="1" algn="just" eaLnBrk="1" hangingPunct="1"/>
            <a:endParaRPr lang="en-GB" altLang="zh-CN" sz="1800" dirty="0"/>
          </a:p>
          <a:p>
            <a:pPr lvl="2" algn="just" eaLnBrk="1" hangingPunct="1"/>
            <a:r>
              <a:rPr lang="en-GB" altLang="en-US" sz="2000" dirty="0" err="1">
                <a:latin typeface="宋体" panose="02010600030101010101" pitchFamily="2" charset="-122"/>
              </a:rPr>
              <a:t>注意</a:t>
            </a:r>
            <a:endParaRPr lang="en-GB" altLang="en-US" sz="2000" dirty="0"/>
          </a:p>
          <a:p>
            <a:pPr lvl="3" algn="just" eaLnBrk="1" hangingPunct="1"/>
            <a:r>
              <a:rPr lang="en-GB" altLang="en-US" dirty="0" err="1">
                <a:solidFill>
                  <a:srgbClr val="C00000"/>
                </a:solidFill>
                <a:latin typeface="宋体" panose="02010600030101010101" pitchFamily="2" charset="-122"/>
              </a:rPr>
              <a:t>虚基类的构造函数由最新派生出的类的构造函数调用</a:t>
            </a:r>
            <a:endParaRPr lang="en-GB" altLang="en-US" dirty="0">
              <a:solidFill>
                <a:srgbClr val="C00000"/>
              </a:solidFill>
            </a:endParaRPr>
          </a:p>
          <a:p>
            <a:pPr lvl="3" algn="just" eaLnBrk="1" hangingPunct="1"/>
            <a:r>
              <a:rPr lang="en-GB" altLang="en-US" dirty="0" err="1">
                <a:solidFill>
                  <a:srgbClr val="C00000"/>
                </a:solidFill>
                <a:latin typeface="宋体" panose="02010600030101010101" pitchFamily="2" charset="-122"/>
              </a:rPr>
              <a:t>虚基类的构造函数优先非虚基类的构造函数执行</a:t>
            </a:r>
            <a:endParaRPr lang="zh-CN" altLang="en-US" dirty="0">
              <a:solidFill>
                <a:srgbClr val="C0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01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0"/>
            <a:ext cx="3895725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2" name="图片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214313"/>
            <a:ext cx="4543425" cy="618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3" name="图片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4688" y="2714625"/>
            <a:ext cx="55245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面向对象程序设计（</a:t>
            </a:r>
            <a:r>
              <a:rPr lang="en-US" altLang="zh-CN"/>
              <a:t>part 3）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多态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lvl="2" indent="-342900" algn="just" eaLnBrk="1" hangingPunct="1">
              <a:buSzPct val="60000"/>
            </a:pPr>
            <a:r>
              <a:rPr lang="zh-CN" altLang="en-US">
                <a:latin typeface="宋体" charset="-122"/>
              </a:rPr>
              <a:t>同一</a:t>
            </a:r>
            <a:r>
              <a:rPr lang="en-GB" altLang="en-US">
                <a:latin typeface="宋体" charset="-122"/>
              </a:rPr>
              <a:t>论域中一个元素可有多种解释</a:t>
            </a:r>
          </a:p>
          <a:p>
            <a:pPr marL="342900" lvl="2" indent="-342900" algn="just" eaLnBrk="1" hangingPunct="1">
              <a:buSzPct val="60000"/>
            </a:pPr>
            <a:r>
              <a:rPr lang="zh-CN" altLang="en-US">
                <a:latin typeface="宋体" charset="-122"/>
              </a:rPr>
              <a:t>提高语言灵活性</a:t>
            </a:r>
            <a:endParaRPr lang="en-US" altLang="zh-CN">
              <a:latin typeface="宋体" charset="-122"/>
            </a:endParaRPr>
          </a:p>
          <a:p>
            <a:pPr marL="342900" lvl="2" indent="-342900" algn="just" eaLnBrk="1" hangingPunct="1">
              <a:buSzPct val="60000"/>
            </a:pPr>
            <a:endParaRPr lang="en-US" altLang="zh-CN">
              <a:latin typeface="宋体" charset="-122"/>
            </a:endParaRPr>
          </a:p>
          <a:p>
            <a:pPr marL="342900" lvl="2" indent="-342900" algn="just" eaLnBrk="1" hangingPunct="1">
              <a:lnSpc>
                <a:spcPct val="90000"/>
              </a:lnSpc>
              <a:buSzPct val="60000"/>
            </a:pPr>
            <a:r>
              <a:rPr lang="en-GB" altLang="en-US">
                <a:latin typeface="宋体" charset="-122"/>
              </a:rPr>
              <a:t>程序</a:t>
            </a:r>
            <a:r>
              <a:rPr lang="zh-CN" altLang="en-US">
                <a:latin typeface="宋体" charset="-122"/>
              </a:rPr>
              <a:t>设计</a:t>
            </a:r>
            <a:r>
              <a:rPr lang="en-GB" altLang="en-US">
                <a:latin typeface="宋体" charset="-122"/>
              </a:rPr>
              <a:t>语言</a:t>
            </a:r>
            <a:endParaRPr lang="en-GB" altLang="zh-CN">
              <a:latin typeface="宋体" charset="-122"/>
            </a:endParaRPr>
          </a:p>
          <a:p>
            <a:pPr marL="800100" lvl="3" indent="-342900" algn="just" eaLnBrk="1" hangingPunct="1">
              <a:lnSpc>
                <a:spcPct val="90000"/>
              </a:lnSpc>
              <a:buSzPct val="60000"/>
            </a:pPr>
            <a:r>
              <a:rPr lang="en-GB" altLang="en-US">
                <a:latin typeface="宋体" charset="-122"/>
              </a:rPr>
              <a:t>一名多用</a:t>
            </a:r>
          </a:p>
          <a:p>
            <a:pPr marL="800100" lvl="3" indent="-342900" algn="just" eaLnBrk="1" hangingPunct="1">
              <a:lnSpc>
                <a:spcPct val="90000"/>
              </a:lnSpc>
              <a:buSzPct val="60000"/>
            </a:pPr>
            <a:r>
              <a:rPr lang="en-GB" altLang="en-US">
                <a:latin typeface="宋体" charset="-122"/>
              </a:rPr>
              <a:t>类属 		</a:t>
            </a:r>
          </a:p>
          <a:p>
            <a:pPr marL="800100" lvl="3" indent="-342900" algn="just" eaLnBrk="1" hangingPunct="1">
              <a:lnSpc>
                <a:spcPct val="90000"/>
              </a:lnSpc>
              <a:buSzPct val="60000"/>
            </a:pPr>
            <a:endParaRPr lang="en-GB" altLang="zh-CN">
              <a:latin typeface="宋体" charset="-122"/>
            </a:endParaRPr>
          </a:p>
          <a:p>
            <a:pPr marL="800100" lvl="3" indent="-342900" algn="just" eaLnBrk="1" hangingPunct="1">
              <a:lnSpc>
                <a:spcPct val="90000"/>
              </a:lnSpc>
              <a:buSzPct val="60000"/>
            </a:pPr>
            <a:r>
              <a:rPr lang="en-US" altLang="zh-CN">
                <a:latin typeface="宋体" charset="-122"/>
              </a:rPr>
              <a:t>OO </a:t>
            </a:r>
            <a:r>
              <a:rPr lang="zh-CN" altLang="en-US">
                <a:latin typeface="宋体" charset="-122"/>
              </a:rPr>
              <a:t>程序设计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3708400" y="3735388"/>
            <a:ext cx="1108075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zh-CN" altLang="en-US" sz="1800" b="1" i="0">
                <a:solidFill>
                  <a:srgbClr val="002060"/>
                </a:solidFill>
                <a:latin typeface="宋体" charset="-122"/>
              </a:rPr>
              <a:t>函数重载</a:t>
            </a:r>
            <a:endParaRPr lang="zh-CN" altLang="en-US" sz="2400" b="1" i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706813" y="4022725"/>
            <a:ext cx="12255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800" b="1" i="0">
                <a:solidFill>
                  <a:srgbClr val="002060"/>
                </a:solidFill>
              </a:rPr>
              <a:t>template</a:t>
            </a:r>
            <a:endParaRPr lang="zh-CN" altLang="en-US" sz="1800" b="1" i="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851275" y="4797425"/>
            <a:ext cx="88265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zh-CN" altLang="en-US" sz="1800" b="1" i="0">
                <a:solidFill>
                  <a:srgbClr val="002060"/>
                </a:solidFill>
              </a:rPr>
              <a:t>虚函数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/>
      <p:bldP spid="5" grpId="0" build="allAtOnce"/>
      <p:bldP spid="6" grpId="0" build="allAtOnce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操作符重载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3068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zh-CN" altLang="en-US" sz="2000">
                <a:latin typeface="宋体" charset="-122"/>
              </a:rPr>
              <a:t>函数重载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000">
                <a:latin typeface="宋体" charset="-122"/>
              </a:rPr>
              <a:t>名同，参数不同</a:t>
            </a:r>
            <a:endParaRPr lang="zh-CN" altLang="en-US" sz="2000"/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sz="2000">
                <a:latin typeface="宋体" charset="-122"/>
              </a:rPr>
              <a:t>静态绑定</a:t>
            </a:r>
            <a:endParaRPr lang="zh-CN" altLang="en-US" sz="2000"/>
          </a:p>
          <a:p>
            <a:pPr eaLnBrk="1" hangingPunct="1">
              <a:lnSpc>
                <a:spcPct val="90000"/>
              </a:lnSpc>
            </a:pPr>
            <a:endParaRPr lang="en-US" altLang="zh-CN" sz="2000">
              <a:latin typeface="宋体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000">
                <a:latin typeface="宋体" charset="-122"/>
              </a:rPr>
              <a:t>操作符重载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zh-CN" sz="2000">
                <a:latin typeface="宋体" charset="-122"/>
              </a:rPr>
              <a:t>动机</a:t>
            </a:r>
          </a:p>
          <a:p>
            <a:pPr lvl="1" eaLnBrk="1" hangingPunct="1">
              <a:lnSpc>
                <a:spcPct val="90000"/>
              </a:lnSpc>
              <a:buFont typeface="Wingdings" charset="2"/>
              <a:buNone/>
            </a:pPr>
            <a:r>
              <a:rPr lang="en-GB" altLang="zh-CN" sz="2000">
                <a:latin typeface="宋体" charset="-122"/>
              </a:rPr>
              <a:t>  </a:t>
            </a:r>
            <a:r>
              <a:rPr lang="zh-CN" altLang="en-US" sz="2000">
                <a:latin typeface="宋体" charset="-122"/>
              </a:rPr>
              <a:t>操作符语义</a:t>
            </a:r>
            <a:endParaRPr lang="en-GB" altLang="zh-CN" sz="2000">
              <a:latin typeface="宋体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sz="1800">
                <a:latin typeface="宋体" charset="-122"/>
              </a:rPr>
              <a:t>b</a:t>
            </a:r>
            <a:r>
              <a:rPr lang="en-US" altLang="en-US" sz="1800">
                <a:latin typeface="宋体" charset="-122"/>
              </a:rPr>
              <a:t>uil</a:t>
            </a:r>
            <a:r>
              <a:rPr lang="en-US" altLang="zh-CN" sz="1800">
                <a:latin typeface="宋体" charset="-122"/>
              </a:rPr>
              <a:t>t_in </a:t>
            </a:r>
            <a:r>
              <a:rPr lang="zh-CN" altLang="en-US" sz="1800">
                <a:latin typeface="宋体" charset="-122"/>
              </a:rPr>
              <a:t>类型</a:t>
            </a:r>
            <a:r>
              <a:rPr lang="en-US" altLang="zh-CN" sz="1800">
                <a:latin typeface="宋体" charset="-122"/>
              </a:rPr>
              <a:t>	</a:t>
            </a:r>
            <a:r>
              <a:rPr lang="en-US" altLang="en-US" sz="1800">
                <a:latin typeface="宋体" charset="-122"/>
              </a:rPr>
              <a:t>       </a:t>
            </a:r>
            <a:r>
              <a:rPr lang="en-US" altLang="zh-CN" sz="1800">
                <a:latin typeface="宋体" charset="-122"/>
              </a:rPr>
              <a:t>Compiler</a:t>
            </a:r>
            <a:endParaRPr lang="en-US" altLang="en-GB" sz="1800">
              <a:latin typeface="宋体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zh-CN" altLang="en-US" sz="1800">
                <a:latin typeface="宋体" charset="-122"/>
              </a:rPr>
              <a:t>自</a:t>
            </a:r>
            <a:r>
              <a:rPr lang="en-US" altLang="en-GB" sz="1800">
                <a:latin typeface="宋体" charset="-122"/>
              </a:rPr>
              <a:t>定义数据类型       </a:t>
            </a:r>
            <a:r>
              <a:rPr lang="zh-CN" altLang="en-US" sz="1800">
                <a:latin typeface="宋体" charset="-122"/>
              </a:rPr>
              <a:t>程序员</a:t>
            </a:r>
            <a:endParaRPr lang="en-GB" altLang="en-US" sz="1800">
              <a:latin typeface="宋体" charset="-122"/>
            </a:endParaRPr>
          </a:p>
          <a:p>
            <a:pPr lvl="2" eaLnBrk="1" hangingPunct="1">
              <a:lnSpc>
                <a:spcPct val="90000"/>
              </a:lnSpc>
            </a:pPr>
            <a:endParaRPr lang="en-GB" altLang="en-US" sz="2000">
              <a:latin typeface="宋体" charset="-122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GB" altLang="zh-CN" sz="2000">
                <a:latin typeface="宋体" charset="-122"/>
              </a:rPr>
              <a:t>作用</a:t>
            </a:r>
            <a:endParaRPr lang="en-GB" altLang="en-US" sz="2000">
              <a:latin typeface="宋体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GB" altLang="zh-CN" sz="2000">
                <a:latin typeface="宋体" charset="-122"/>
              </a:rPr>
              <a:t>提高</a:t>
            </a:r>
            <a:r>
              <a:rPr lang="zh-CN" altLang="en-GB" sz="2000">
                <a:latin typeface="宋体" charset="-122"/>
              </a:rPr>
              <a:t>可读性</a:t>
            </a:r>
            <a:endParaRPr lang="zh-CN" altLang="en-US" sz="2000">
              <a:latin typeface="宋体" charset="-122"/>
            </a:endParaRPr>
          </a:p>
          <a:p>
            <a:pPr lvl="2" eaLnBrk="1" hangingPunct="1">
              <a:lnSpc>
                <a:spcPct val="90000"/>
              </a:lnSpc>
            </a:pPr>
            <a:r>
              <a:rPr lang="en-GB" altLang="en-US" sz="2000">
                <a:latin typeface="宋体" charset="-122"/>
              </a:rPr>
              <a:t>提高可扩充性</a:t>
            </a:r>
            <a:endParaRPr lang="zh-CN" altLang="en-US" sz="2000">
              <a:latin typeface="宋体" charset="-122"/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4787900" y="1196975"/>
            <a:ext cx="2108200" cy="1858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2000" i="0">
                <a:latin typeface="宋体" charset="-122"/>
              </a:rPr>
              <a:t>Compiler/Linker</a:t>
            </a: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endParaRPr lang="en-US" altLang="zh-CN" sz="2400" i="0">
              <a:latin typeface="宋体" charset="-122"/>
            </a:endParaRP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zh-CN" altLang="en-US" sz="2000" i="0">
                <a:latin typeface="宋体" charset="-122"/>
              </a:rPr>
              <a:t>歧义控制</a:t>
            </a:r>
            <a:endParaRPr lang="en-US" altLang="zh-CN" sz="2000" i="0">
              <a:latin typeface="宋体" charset="-122"/>
            </a:endParaRPr>
          </a:p>
          <a:p>
            <a:pPr algn="just" eaLnBrk="1" hangingPunct="1">
              <a:lnSpc>
                <a:spcPct val="90000"/>
              </a:lnSpc>
              <a:buFont typeface="Wingdings" charset="2"/>
              <a:buChar char="Ø"/>
            </a:pPr>
            <a:r>
              <a:rPr lang="zh-CN" altLang="en-US" sz="2400" i="0">
                <a:latin typeface="宋体" charset="-122"/>
              </a:rPr>
              <a:t> </a:t>
            </a:r>
            <a:r>
              <a:rPr lang="zh-CN" altLang="en-US" sz="2000" i="0">
                <a:latin typeface="宋体" charset="-122"/>
              </a:rPr>
              <a:t>顺序</a:t>
            </a:r>
            <a:endParaRPr lang="en-US" altLang="zh-CN" sz="2000" i="0">
              <a:latin typeface="宋体" charset="-122"/>
            </a:endParaRPr>
          </a:p>
          <a:p>
            <a:pPr algn="just" eaLnBrk="1" hangingPunct="1">
              <a:lnSpc>
                <a:spcPct val="90000"/>
              </a:lnSpc>
              <a:buFont typeface="Wingdings" charset="2"/>
              <a:buChar char="Ø"/>
            </a:pPr>
            <a:r>
              <a:rPr lang="zh-CN" altLang="en-US" sz="2000" i="0">
                <a:latin typeface="宋体" charset="-122"/>
              </a:rPr>
              <a:t> 更好匹配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6156325" y="2781300"/>
            <a:ext cx="1108075" cy="67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zh-CN" altLang="en-US" sz="1800" i="0">
                <a:solidFill>
                  <a:srgbClr val="C00000"/>
                </a:solidFill>
              </a:rPr>
              <a:t>窄转换？</a:t>
            </a:r>
            <a:endParaRPr lang="en-US" altLang="zh-CN" sz="1800" i="0">
              <a:solidFill>
                <a:srgbClr val="C0000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endParaRPr lang="zh-CN" altLang="en-US" sz="2000" i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操作符重载</a:t>
            </a:r>
          </a:p>
        </p:txBody>
      </p:sp>
      <p:sp>
        <p:nvSpPr>
          <p:cNvPr id="19458" name="Text Box 4"/>
          <p:cNvSpPr txBox="1">
            <a:spLocks noChangeArrowheads="1"/>
          </p:cNvSpPr>
          <p:nvPr/>
        </p:nvSpPr>
        <p:spPr bwMode="auto">
          <a:xfrm>
            <a:off x="838200" y="1981200"/>
            <a:ext cx="518160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/>
              <a:t>class Complex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/>
              <a:t>{      double real, imag;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/>
              <a:t>  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/>
              <a:t>       Complex() { real = 0; imag = 0;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/>
              <a:t>       Complex(double r, double i) { real = r; imag = i;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/>
              <a:t>       Complex add(Complex&amp; x);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/>
              <a:t>};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/>
              <a:t>Complex   a(1,2),b(3,4), c;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/>
              <a:t>c = a.add(b);</a:t>
            </a:r>
            <a:endParaRPr lang="en-US" altLang="zh-CN" sz="1600"/>
          </a:p>
        </p:txBody>
      </p:sp>
      <p:sp>
        <p:nvSpPr>
          <p:cNvPr id="100357" name="Text Box 5"/>
          <p:cNvSpPr>
            <a:spLocks noGrp="1" noChangeArrowheads="1"/>
          </p:cNvSpPr>
          <p:nvPr>
            <p:ph type="body" idx="1"/>
          </p:nvPr>
        </p:nvSpPr>
        <p:spPr>
          <a:xfrm>
            <a:off x="4114800" y="3581400"/>
            <a:ext cx="5105400" cy="3276600"/>
          </a:xfrm>
          <a:noFill/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class Complex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{    double real, imag;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     public: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	Complex() { real = 0; imag = 0; }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	Complex(double r, double i) { real = r; imag = i; }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>
                <a:solidFill>
                  <a:schemeClr val="accent2"/>
                </a:solidFill>
              </a:rPr>
              <a:t>	</a:t>
            </a:r>
            <a:r>
              <a:rPr lang="en-GB" altLang="zh-CN" sz="1600" i="1">
                <a:solidFill>
                  <a:srgbClr val="FF0066"/>
                </a:solidFill>
              </a:rPr>
              <a:t>Complex operator + (Complex&amp; x)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>
                <a:solidFill>
                  <a:schemeClr val="accent2"/>
                </a:solidFill>
              </a:rPr>
              <a:t>	</a:t>
            </a:r>
            <a:r>
              <a:rPr lang="en-GB" altLang="zh-CN" sz="1600" i="1"/>
              <a:t>{    Complex temp;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	     temp.real = real+x.real;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	     temp.imag = imag+x.imag;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	     return temp;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	}</a:t>
            </a:r>
          </a:p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};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Complex   a(1,2),b(3,4),c;	</a:t>
            </a:r>
          </a:p>
          <a:p>
            <a:pPr algn="just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i="1"/>
              <a:t>c = a.</a:t>
            </a:r>
            <a:r>
              <a:rPr lang="en-GB" altLang="zh-CN" sz="1600" i="1">
                <a:solidFill>
                  <a:srgbClr val="FF0066"/>
                </a:solidFill>
              </a:rPr>
              <a:t>operator +</a:t>
            </a:r>
            <a:r>
              <a:rPr lang="en-GB" altLang="zh-CN" sz="1600" i="1"/>
              <a:t>(b);</a:t>
            </a:r>
            <a:endParaRPr lang="en-US" altLang="zh-CN" sz="1600"/>
          </a:p>
        </p:txBody>
      </p:sp>
      <p:sp>
        <p:nvSpPr>
          <p:cNvPr id="100359" name="Text Box 7"/>
          <p:cNvSpPr txBox="1">
            <a:spLocks noChangeArrowheads="1"/>
          </p:cNvSpPr>
          <p:nvPr/>
        </p:nvSpPr>
        <p:spPr bwMode="auto">
          <a:xfrm>
            <a:off x="914400" y="4953000"/>
            <a:ext cx="1371600" cy="1138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/>
              <a:t>c = a + b</a:t>
            </a:r>
            <a:endParaRPr lang="en-GB" altLang="zh-CN" sz="2000" b="1" i="0">
              <a:latin typeface="宋体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charset="0"/>
              <a:buChar char="•"/>
            </a:pPr>
            <a:r>
              <a:rPr lang="en-GB" altLang="en-US" sz="1600" i="0">
                <a:solidFill>
                  <a:srgbClr val="C00000"/>
                </a:solidFill>
                <a:latin typeface="宋体" charset="-122"/>
              </a:rPr>
              <a:t>易理解</a:t>
            </a:r>
          </a:p>
          <a:p>
            <a:pPr eaLnBrk="1" hangingPunct="1">
              <a:spcBef>
                <a:spcPct val="0"/>
              </a:spcBef>
              <a:buClrTx/>
              <a:buSzTx/>
              <a:buFont typeface="Arial" charset="0"/>
              <a:buChar char="•"/>
            </a:pPr>
            <a:r>
              <a:rPr lang="zh-CN" altLang="en-US" sz="1600" i="0">
                <a:solidFill>
                  <a:srgbClr val="C00000"/>
                </a:solidFill>
                <a:latin typeface="宋体" charset="-122"/>
              </a:rPr>
              <a:t>优先级</a:t>
            </a:r>
            <a:endParaRPr lang="en-US" altLang="zh-CN" sz="1600" i="0">
              <a:solidFill>
                <a:srgbClr val="C00000"/>
              </a:solidFill>
              <a:latin typeface="宋体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Arial" charset="0"/>
              <a:buChar char="•"/>
            </a:pPr>
            <a:r>
              <a:rPr lang="zh-CN" altLang="en-US" sz="1600" i="0">
                <a:solidFill>
                  <a:srgbClr val="C00000"/>
                </a:solidFill>
                <a:latin typeface="宋体" charset="-122"/>
              </a:rPr>
              <a:t>结合性</a:t>
            </a:r>
          </a:p>
        </p:txBody>
      </p:sp>
      <p:sp>
        <p:nvSpPr>
          <p:cNvPr id="100360" name="Line 8"/>
          <p:cNvSpPr>
            <a:spLocks noChangeShapeType="1"/>
          </p:cNvSpPr>
          <p:nvPr/>
        </p:nvSpPr>
        <p:spPr bwMode="auto">
          <a:xfrm flipV="1">
            <a:off x="1371600" y="4191000"/>
            <a:ext cx="304800" cy="762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00363" name="Line 11"/>
          <p:cNvSpPr>
            <a:spLocks noChangeShapeType="1"/>
          </p:cNvSpPr>
          <p:nvPr/>
        </p:nvSpPr>
        <p:spPr bwMode="auto">
          <a:xfrm>
            <a:off x="2286000" y="5181600"/>
            <a:ext cx="1905000" cy="1371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0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0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00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7" grpId="0" autoUpdateAnimBg="0"/>
      <p:bldP spid="100359" grpId="0" animBg="1" autoUpdateAnimBg="0"/>
      <p:bldP spid="100360" grpId="0" animBg="1"/>
      <p:bldP spid="10036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操作符重载</a:t>
            </a:r>
          </a:p>
        </p:txBody>
      </p:sp>
      <p:sp>
        <p:nvSpPr>
          <p:cNvPr id="2048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914400" y="1905000"/>
            <a:ext cx="7010400" cy="4876800"/>
          </a:xfrm>
          <a:noFill/>
        </p:spPr>
        <p:txBody>
          <a:bodyPr/>
          <a:lstStyle/>
          <a:p>
            <a:pPr algn="just" eaLnBrk="1" hangingPunct="1">
              <a:buFont typeface="Wingdings" charset="2"/>
              <a:buNone/>
            </a:pPr>
            <a:r>
              <a:rPr lang="en-GB" altLang="zh-CN" sz="2400" b="1" i="1">
                <a:solidFill>
                  <a:schemeClr val="accent2"/>
                </a:solidFill>
              </a:rPr>
              <a:t>	</a:t>
            </a:r>
            <a:r>
              <a:rPr lang="en-GB" altLang="zh-CN" sz="1800" i="1"/>
              <a:t>class Complex</a:t>
            </a:r>
          </a:p>
          <a:p>
            <a:pPr algn="just" eaLnBrk="1" hangingPunct="1">
              <a:buFont typeface="Wingdings" charset="2"/>
              <a:buNone/>
            </a:pPr>
            <a:r>
              <a:rPr lang="en-GB" altLang="zh-CN" sz="1800" i="1"/>
              <a:t>	{       double real, imag;</a:t>
            </a:r>
          </a:p>
          <a:p>
            <a:pPr algn="just" eaLnBrk="1" hangingPunct="1">
              <a:buFont typeface="Wingdings" charset="2"/>
              <a:buNone/>
            </a:pPr>
            <a:r>
              <a:rPr lang="en-GB" altLang="zh-CN" sz="1800" i="1"/>
              <a:t>	  public:</a:t>
            </a:r>
          </a:p>
          <a:p>
            <a:pPr algn="just" eaLnBrk="1" hangingPunct="1">
              <a:buFont typeface="Wingdings" charset="2"/>
              <a:buNone/>
            </a:pPr>
            <a:r>
              <a:rPr lang="en-GB" altLang="zh-CN" sz="1800" i="1"/>
              <a:t>		Complex() { real = 0; imag = 0; }</a:t>
            </a:r>
          </a:p>
          <a:p>
            <a:pPr algn="just" eaLnBrk="1" hangingPunct="1">
              <a:buFont typeface="Wingdings" charset="2"/>
              <a:buNone/>
            </a:pPr>
            <a:r>
              <a:rPr lang="en-GB" altLang="zh-CN" sz="1800" i="1"/>
              <a:t>		Complex(double r, double i) { real = r; imag = i; }</a:t>
            </a:r>
          </a:p>
          <a:p>
            <a:pPr lvl="2" algn="just" eaLnBrk="1" hangingPunct="1">
              <a:buFont typeface="Wingdings" charset="2"/>
              <a:buNone/>
            </a:pPr>
            <a:r>
              <a:rPr lang="en-GB" altLang="zh-CN" sz="1800" i="1">
                <a:solidFill>
                  <a:srgbClr val="FF0066"/>
                </a:solidFill>
              </a:rPr>
              <a:t>friend Complex operator + (Complex&amp; c1, Complex&amp; c2);</a:t>
            </a:r>
          </a:p>
          <a:p>
            <a:pPr algn="just" eaLnBrk="1" hangingPunct="1">
              <a:buFont typeface="Wingdings" charset="2"/>
              <a:buNone/>
            </a:pPr>
            <a:r>
              <a:rPr lang="en-GB" altLang="zh-CN" sz="1800" i="1"/>
              <a:t>	};</a:t>
            </a:r>
          </a:p>
          <a:p>
            <a:pPr algn="just" eaLnBrk="1" hangingPunct="1">
              <a:buFont typeface="Wingdings" charset="2"/>
              <a:buNone/>
            </a:pPr>
            <a:r>
              <a:rPr lang="en-GB" altLang="zh-CN" sz="1800" i="1"/>
              <a:t>	</a:t>
            </a:r>
            <a:r>
              <a:rPr lang="en-GB" altLang="zh-CN" sz="1800" i="1">
                <a:solidFill>
                  <a:srgbClr val="FF0066"/>
                </a:solidFill>
              </a:rPr>
              <a:t>Complex operator + (Complex&amp; c1, Complex&amp; c2)</a:t>
            </a:r>
          </a:p>
          <a:p>
            <a:pPr algn="just" eaLnBrk="1" hangingPunct="1">
              <a:buFont typeface="Wingdings" charset="2"/>
              <a:buNone/>
            </a:pPr>
            <a:r>
              <a:rPr lang="en-GB" altLang="zh-CN" sz="1800" i="1"/>
              <a:t>    {     Complex temp;</a:t>
            </a:r>
          </a:p>
          <a:p>
            <a:pPr algn="just" eaLnBrk="1" hangingPunct="1">
              <a:buFont typeface="Wingdings" charset="2"/>
              <a:buNone/>
            </a:pPr>
            <a:r>
              <a:rPr lang="en-GB" altLang="zh-CN" sz="1800" i="1"/>
              <a:t>	     temp.real = c1.real + c2.real;</a:t>
            </a:r>
          </a:p>
          <a:p>
            <a:pPr algn="just" eaLnBrk="1" hangingPunct="1">
              <a:buFont typeface="Wingdings" charset="2"/>
              <a:buNone/>
            </a:pPr>
            <a:r>
              <a:rPr lang="en-GB" altLang="zh-CN" sz="1800" i="1"/>
              <a:t>	     temp.imag = c1.imag + c2.imag;</a:t>
            </a:r>
          </a:p>
          <a:p>
            <a:pPr algn="just" eaLnBrk="1" hangingPunct="1">
              <a:buFont typeface="Wingdings" charset="2"/>
              <a:buNone/>
            </a:pPr>
            <a:r>
              <a:rPr lang="en-GB" altLang="zh-CN" sz="1800" i="1"/>
              <a:t>	     return temp;</a:t>
            </a:r>
          </a:p>
          <a:p>
            <a:pPr algn="just" eaLnBrk="1" hangingPunct="1">
              <a:buFont typeface="Wingdings" charset="2"/>
              <a:buNone/>
            </a:pPr>
            <a:r>
              <a:rPr lang="en-GB" altLang="zh-CN" sz="1800" i="1"/>
              <a:t>     }</a:t>
            </a:r>
          </a:p>
          <a:p>
            <a:pPr eaLnBrk="1" hangingPunct="1">
              <a:buFont typeface="Wingdings" charset="2"/>
              <a:buNone/>
            </a:pPr>
            <a:r>
              <a:rPr lang="en-GB" altLang="zh-CN" sz="1800" i="1"/>
              <a:t>	Complex a(1,2),b(3,4),c;   	</a:t>
            </a:r>
            <a:r>
              <a:rPr lang="en-GB" altLang="zh-CN" sz="1800" i="1">
                <a:solidFill>
                  <a:srgbClr val="FF0066"/>
                </a:solidFill>
              </a:rPr>
              <a:t>c = a + b;</a:t>
            </a:r>
            <a:endParaRPr lang="en-US" altLang="zh-CN" sz="1800" i="1">
              <a:solidFill>
                <a:srgbClr val="FF0066"/>
              </a:solidFill>
            </a:endParaRPr>
          </a:p>
        </p:txBody>
      </p:sp>
      <p:sp>
        <p:nvSpPr>
          <p:cNvPr id="20483" name="TextBox 4"/>
          <p:cNvSpPr txBox="1">
            <a:spLocks noChangeArrowheads="1"/>
          </p:cNvSpPr>
          <p:nvPr/>
        </p:nvSpPr>
        <p:spPr bwMode="auto">
          <a:xfrm>
            <a:off x="4929188" y="2286000"/>
            <a:ext cx="28575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2400">
                <a:solidFill>
                  <a:srgbClr val="00B050"/>
                </a:solidFill>
              </a:rPr>
              <a:t>operator + (a, b)</a:t>
            </a:r>
            <a:endParaRPr lang="zh-CN" altLang="en-US" sz="240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305425" y="4802188"/>
            <a:ext cx="3206750" cy="54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zh-CN" altLang="en-US" sz="1800" b="1">
                <a:solidFill>
                  <a:srgbClr val="0070C0"/>
                </a:solidFill>
              </a:rPr>
              <a:t>至少包含一个用户自定义类型</a:t>
            </a:r>
            <a:endParaRPr lang="en-US" altLang="zh-CN" sz="1800" b="1">
              <a:solidFill>
                <a:srgbClr val="0070C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200" b="1">
                <a:solidFill>
                  <a:srgbClr val="C00000"/>
                </a:solidFill>
              </a:rPr>
              <a:t>(new</a:t>
            </a:r>
            <a:r>
              <a:rPr lang="zh-CN" altLang="en-US" sz="1200" b="1">
                <a:solidFill>
                  <a:srgbClr val="C00000"/>
                </a:solidFill>
              </a:rPr>
              <a:t>、</a:t>
            </a:r>
            <a:r>
              <a:rPr lang="en-US" altLang="zh-CN" sz="1200" b="1">
                <a:solidFill>
                  <a:srgbClr val="C00000"/>
                </a:solidFill>
              </a:rPr>
              <a:t>delete</a:t>
            </a:r>
            <a:r>
              <a:rPr lang="zh-CN" altLang="en-US" sz="1200" b="1">
                <a:solidFill>
                  <a:srgbClr val="C00000"/>
                </a:solidFill>
              </a:rPr>
              <a:t>除外）</a:t>
            </a:r>
          </a:p>
        </p:txBody>
      </p:sp>
      <p:cxnSp>
        <p:nvCxnSpPr>
          <p:cNvPr id="7" name="直接箭头连接符 6"/>
          <p:cNvCxnSpPr>
            <a:cxnSpLocks noChangeShapeType="1"/>
          </p:cNvCxnSpPr>
          <p:nvPr/>
        </p:nvCxnSpPr>
        <p:spPr bwMode="auto">
          <a:xfrm rot="10800000">
            <a:off x="5000625" y="4643438"/>
            <a:ext cx="1714500" cy="214312"/>
          </a:xfrm>
          <a:prstGeom prst="straightConnector1">
            <a:avLst/>
          </a:prstGeom>
          <a:noFill/>
          <a:ln w="9525">
            <a:solidFill>
              <a:srgbClr val="0070C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示例</a:t>
            </a:r>
          </a:p>
        </p:txBody>
      </p:sp>
      <p:sp>
        <p:nvSpPr>
          <p:cNvPr id="22530" name="TextBox 2"/>
          <p:cNvSpPr txBox="1">
            <a:spLocks noChangeArrowheads="1"/>
          </p:cNvSpPr>
          <p:nvPr/>
        </p:nvSpPr>
        <p:spPr bwMode="auto">
          <a:xfrm>
            <a:off x="971550" y="2133600"/>
            <a:ext cx="49434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/>
              <a:t>enum Day { SUN, MON, TUE, WED, THU, FRI, SAT};</a:t>
            </a:r>
            <a:endParaRPr lang="zh-CN" altLang="en-US" sz="1600"/>
          </a:p>
        </p:txBody>
      </p:sp>
      <p:sp>
        <p:nvSpPr>
          <p:cNvPr id="22531" name="TextBox 3"/>
          <p:cNvSpPr txBox="1">
            <a:spLocks noChangeArrowheads="1"/>
          </p:cNvSpPr>
          <p:nvPr/>
        </p:nvSpPr>
        <p:spPr bwMode="auto">
          <a:xfrm>
            <a:off x="6300788" y="2278063"/>
            <a:ext cx="2447925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/>
              <a:t>void main()</a:t>
            </a: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/>
              <a:t>{      Day d=SAT;</a:t>
            </a: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/>
              <a:t>       ++d;</a:t>
            </a: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/>
              <a:t>      cout &lt;&lt; d;</a:t>
            </a: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/>
              <a:t>}</a:t>
            </a:r>
            <a:endParaRPr lang="zh-CN" altLang="en-US" sz="240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79388" y="2565400"/>
            <a:ext cx="45847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 b="1">
                <a:solidFill>
                  <a:srgbClr val="0070C0"/>
                </a:solidFill>
              </a:rPr>
              <a:t>Day&amp; operator++(Day&amp; d)</a:t>
            </a: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 b="1">
                <a:solidFill>
                  <a:srgbClr val="0070C0"/>
                </a:solidFill>
              </a:rPr>
              <a:t>{  return d= (d==SAT)? SUN: Day(d+1); }</a:t>
            </a:r>
            <a:endParaRPr lang="zh-CN" altLang="en-US" sz="2400" b="1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80975" y="3213100"/>
            <a:ext cx="6119813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 b="1">
                <a:solidFill>
                  <a:srgbClr val="0070C0"/>
                </a:solidFill>
              </a:rPr>
              <a:t>ostream&amp; operator &lt;&lt; (ostream&amp; o, Day&amp; d)</a:t>
            </a: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 b="1">
                <a:solidFill>
                  <a:srgbClr val="0070C0"/>
                </a:solidFill>
              </a:rPr>
              <a:t>{	switch (d)</a:t>
            </a: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 b="1">
                <a:solidFill>
                  <a:srgbClr val="0070C0"/>
                </a:solidFill>
              </a:rPr>
              <a:t>	{	case SUN: o &lt;&lt; "SUN" &lt;&lt; endl;break;</a:t>
            </a: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 b="1">
                <a:solidFill>
                  <a:srgbClr val="0070C0"/>
                </a:solidFill>
              </a:rPr>
              <a:t>		case MON: o &lt;&lt; "MON" &lt;&lt; endl;break;</a:t>
            </a: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 b="1">
                <a:solidFill>
                  <a:srgbClr val="0070C0"/>
                </a:solidFill>
              </a:rPr>
              <a:t>		case TUE: o &lt;&lt; "TUE" &lt;&lt; endl;break;</a:t>
            </a: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 b="1">
                <a:solidFill>
                  <a:srgbClr val="0070C0"/>
                </a:solidFill>
              </a:rPr>
              <a:t>		case WED: o &lt;&lt; "WED" &lt;&lt; endl;break;</a:t>
            </a: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 b="1">
                <a:solidFill>
                  <a:srgbClr val="0070C0"/>
                </a:solidFill>
              </a:rPr>
              <a:t>		case THU: o &lt;&lt; "THU" &lt;&lt; endl;break;</a:t>
            </a: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 b="1">
                <a:solidFill>
                  <a:srgbClr val="0070C0"/>
                </a:solidFill>
              </a:rPr>
              <a:t>		case FRI: o &lt;&lt; "FRI" &lt;&lt; endl;break;</a:t>
            </a: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 b="1">
                <a:solidFill>
                  <a:srgbClr val="0070C0"/>
                </a:solidFill>
              </a:rPr>
              <a:t>		case SAT: o &lt;&lt; "SAT" &lt;&lt; endl;break;</a:t>
            </a: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 b="1">
                <a:solidFill>
                  <a:srgbClr val="0070C0"/>
                </a:solidFill>
              </a:rPr>
              <a:t>	}</a:t>
            </a: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 b="1">
                <a:solidFill>
                  <a:srgbClr val="0070C0"/>
                </a:solidFill>
              </a:rPr>
              <a:t>	return o;</a:t>
            </a:r>
          </a:p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 b="1">
                <a:solidFill>
                  <a:srgbClr val="0070C0"/>
                </a:solidFill>
              </a:rPr>
              <a:t>}</a:t>
            </a:r>
            <a:endParaRPr lang="zh-CN" altLang="en-US" sz="2400" b="1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操作符重载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6878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GB" altLang="en-US" sz="2400">
                <a:latin typeface="宋体" charset="-122"/>
              </a:rPr>
              <a:t>可重载的操作符</a:t>
            </a:r>
            <a:endParaRPr lang="en-GB" altLang="en-US" sz="2400"/>
          </a:p>
          <a:p>
            <a:pPr lvl="1" algn="just" eaLnBrk="1" hangingPunct="1">
              <a:lnSpc>
                <a:spcPct val="90000"/>
              </a:lnSpc>
            </a:pPr>
            <a:r>
              <a:rPr lang="en-GB" altLang="en-US" sz="2000" i="1"/>
              <a:t>.   .*</a:t>
            </a:r>
            <a:r>
              <a:rPr lang="en-GB" altLang="en-US" sz="2000">
                <a:latin typeface="宋体" charset="-122"/>
              </a:rPr>
              <a:t>  </a:t>
            </a:r>
            <a:r>
              <a:rPr lang="en-GB" altLang="en-US" sz="2000" i="1"/>
              <a:t>:: </a:t>
            </a:r>
            <a:r>
              <a:rPr lang="en-GB" altLang="en-US" sz="2000">
                <a:latin typeface="宋体" charset="-122"/>
              </a:rPr>
              <a:t> </a:t>
            </a:r>
            <a:r>
              <a:rPr lang="en-GB" altLang="en-US" sz="2000" i="1"/>
              <a:t>?: </a:t>
            </a:r>
          </a:p>
          <a:p>
            <a:pPr lvl="1" algn="just" eaLnBrk="1" hangingPunct="1">
              <a:lnSpc>
                <a:spcPct val="90000"/>
              </a:lnSpc>
              <a:buFont typeface="Wingdings" charset="2"/>
              <a:buNone/>
            </a:pPr>
            <a:endParaRPr lang="en-GB" altLang="en-US" sz="2000">
              <a:latin typeface="宋体" charset="-122"/>
            </a:endParaRPr>
          </a:p>
          <a:p>
            <a:pPr algn="just" eaLnBrk="1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GB" altLang="en-US" sz="2400">
                <a:latin typeface="宋体" charset="-122"/>
              </a:rPr>
              <a:t>基本原则</a:t>
            </a:r>
            <a:endParaRPr lang="en-GB" altLang="en-US" sz="2400"/>
          </a:p>
          <a:p>
            <a:pPr lvl="1" algn="just" eaLnBrk="1" hangingPunct="1">
              <a:lnSpc>
                <a:spcPct val="90000"/>
              </a:lnSpc>
            </a:pPr>
            <a:r>
              <a:rPr lang="en-GB" altLang="zh-CN" sz="2000">
                <a:latin typeface="宋体" charset="-122"/>
              </a:rPr>
              <a:t>方式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latin typeface="宋体" charset="-122"/>
              </a:rPr>
              <a:t>类成员函数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solidFill>
                  <a:srgbClr val="C00000"/>
                </a:solidFill>
                <a:latin typeface="宋体" charset="-122"/>
              </a:rPr>
              <a:t>带有类参数</a:t>
            </a:r>
            <a:r>
              <a:rPr lang="en-GB" altLang="en-US" sz="2000">
                <a:latin typeface="宋体" charset="-122"/>
              </a:rPr>
              <a:t>的全局函数</a:t>
            </a:r>
            <a:endParaRPr lang="en-GB" altLang="en-US" sz="2000"/>
          </a:p>
          <a:p>
            <a:pPr lvl="1" eaLnBrk="1" hangingPunct="1">
              <a:lnSpc>
                <a:spcPct val="90000"/>
              </a:lnSpc>
            </a:pPr>
            <a:r>
              <a:rPr lang="en-GB" altLang="en-US" sz="2000">
                <a:latin typeface="宋体" charset="-122"/>
              </a:rPr>
              <a:t>遵循</a:t>
            </a:r>
            <a:r>
              <a:rPr lang="zh-CN" altLang="en-US" sz="2000">
                <a:latin typeface="宋体" charset="-122"/>
              </a:rPr>
              <a:t>原有</a:t>
            </a:r>
            <a:r>
              <a:rPr lang="en-GB" altLang="en-US" sz="2000">
                <a:latin typeface="宋体" charset="-122"/>
              </a:rPr>
              <a:t>语法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2000">
                <a:latin typeface="宋体" charset="-122"/>
              </a:rPr>
              <a:t>单目/双目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2000">
                <a:latin typeface="宋体" charset="-122"/>
              </a:rPr>
              <a:t>优先级</a:t>
            </a:r>
          </a:p>
          <a:p>
            <a:pPr lvl="2" eaLnBrk="1" hangingPunct="1">
              <a:lnSpc>
                <a:spcPct val="90000"/>
              </a:lnSpc>
            </a:pPr>
            <a:r>
              <a:rPr lang="en-GB" altLang="en-US" sz="2000">
                <a:latin typeface="宋体" charset="-122"/>
              </a:rPr>
              <a:t>结合性</a:t>
            </a:r>
            <a:endParaRPr lang="en-GB" altLang="en-US" sz="2000"/>
          </a:p>
        </p:txBody>
      </p:sp>
      <p:sp>
        <p:nvSpPr>
          <p:cNvPr id="102404" name="Rectangle 4"/>
          <p:cNvSpPr>
            <a:spLocks noChangeArrowheads="1"/>
          </p:cNvSpPr>
          <p:nvPr/>
        </p:nvSpPr>
        <p:spPr bwMode="auto">
          <a:xfrm>
            <a:off x="5219700" y="1981200"/>
            <a:ext cx="28194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/>
              <a:t>class A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/>
              <a:t>{    int x;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/>
              <a:t>   public: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/>
              <a:t>      A(int i):x(i){}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/>
              <a:t>      void f() { … 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/>
              <a:t>      void g() { … }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/>
              <a:t>};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600"/>
              <a:t> </a:t>
            </a:r>
            <a:r>
              <a:rPr lang="en-US" altLang="zh-CN" sz="1600"/>
              <a:t>void (A::*p_f)() 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zh-CN" sz="160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/>
              <a:t>  p_f= &amp;A::f;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600"/>
              <a:t> (a.*p_f)();</a:t>
            </a:r>
            <a:endParaRPr lang="zh-CN" altLang="en-US" sz="1600"/>
          </a:p>
        </p:txBody>
      </p:sp>
      <p:sp>
        <p:nvSpPr>
          <p:cNvPr id="102405" name="Line 5"/>
          <p:cNvSpPr>
            <a:spLocks noChangeShapeType="1"/>
          </p:cNvSpPr>
          <p:nvPr/>
        </p:nvSpPr>
        <p:spPr bwMode="auto">
          <a:xfrm flipH="1" flipV="1">
            <a:off x="2514600" y="2819400"/>
            <a:ext cx="2921000" cy="3937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 autoUpdateAnimBg="0"/>
      <p:bldP spid="10240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操作符重载</a:t>
            </a:r>
          </a:p>
        </p:txBody>
      </p:sp>
      <p:sp>
        <p:nvSpPr>
          <p:cNvPr id="266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306887"/>
          </a:xfrm>
        </p:spPr>
        <p:txBody>
          <a:bodyPr/>
          <a:lstStyle/>
          <a:p>
            <a:pPr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en-US" sz="2400">
                <a:latin typeface="宋体" charset="-122"/>
              </a:rPr>
              <a:t>双目操作符重载</a:t>
            </a:r>
          </a:p>
          <a:p>
            <a:pPr lvl="1" algn="just" eaLnBrk="1" hangingPunct="1"/>
            <a:r>
              <a:rPr lang="en-GB" altLang="en-US" sz="2400">
                <a:latin typeface="宋体" charset="-122"/>
              </a:rPr>
              <a:t>类成员函数</a:t>
            </a:r>
          </a:p>
          <a:p>
            <a:pPr lvl="2" algn="just" eaLnBrk="1" hangingPunct="1"/>
            <a:r>
              <a:rPr lang="en-GB" altLang="en-US">
                <a:latin typeface="宋体" charset="-122"/>
              </a:rPr>
              <a:t>格式</a:t>
            </a:r>
          </a:p>
          <a:p>
            <a:pPr lvl="2" algn="just" eaLnBrk="1" hangingPunct="1">
              <a:buFont typeface="Wingdings" charset="2"/>
              <a:buNone/>
            </a:pPr>
            <a:r>
              <a:rPr lang="en-GB" altLang="en-US">
                <a:latin typeface="宋体" charset="-122"/>
              </a:rPr>
              <a:t>	</a:t>
            </a:r>
            <a:r>
              <a:rPr lang="en-GB" altLang="zh-CN" sz="1800" i="1"/>
              <a:t>&lt;ret type&gt; operator </a:t>
            </a:r>
            <a:r>
              <a:rPr lang="en-GB" altLang="zh-CN" sz="1800" i="1">
                <a:solidFill>
                  <a:srgbClr val="0070C0"/>
                </a:solidFill>
              </a:rPr>
              <a:t># </a:t>
            </a:r>
            <a:r>
              <a:rPr lang="en-GB" altLang="zh-CN" sz="1800" i="1"/>
              <a:t>(&lt;arg&gt;)</a:t>
            </a:r>
            <a:endParaRPr lang="en-GB" altLang="zh-CN" sz="1800" i="1">
              <a:solidFill>
                <a:schemeClr val="accent2"/>
              </a:solidFill>
              <a:latin typeface="宋体" charset="-122"/>
            </a:endParaRPr>
          </a:p>
          <a:p>
            <a:pPr lvl="2" algn="just" eaLnBrk="1" hangingPunct="1"/>
            <a:r>
              <a:rPr lang="en-US" altLang="zh-CN" i="1"/>
              <a:t>t</a:t>
            </a:r>
            <a:r>
              <a:rPr lang="en-GB" altLang="zh-CN" i="1"/>
              <a:t>his    </a:t>
            </a:r>
            <a:r>
              <a:rPr lang="en-GB" altLang="en-US">
                <a:latin typeface="宋体" charset="-122"/>
              </a:rPr>
              <a:t>隐含</a:t>
            </a:r>
          </a:p>
          <a:p>
            <a:pPr lvl="2" algn="just" eaLnBrk="1" hangingPunct="1"/>
            <a:r>
              <a:rPr lang="zh-CN" altLang="en-GB"/>
              <a:t>使用</a:t>
            </a:r>
          </a:p>
          <a:p>
            <a:pPr lvl="2" algn="just" eaLnBrk="1" hangingPunct="1">
              <a:buFont typeface="Wingdings" charset="2"/>
              <a:buNone/>
            </a:pPr>
            <a:r>
              <a:rPr lang="en-GB" altLang="en-US" b="1" i="1">
                <a:solidFill>
                  <a:schemeClr val="accent2"/>
                </a:solidFill>
              </a:rPr>
              <a:t>     </a:t>
            </a:r>
            <a:r>
              <a:rPr lang="en-GB" altLang="en-US" sz="1800" i="1"/>
              <a:t>&lt;</a:t>
            </a:r>
            <a:r>
              <a:rPr lang="en-GB" altLang="zh-CN" sz="1800" i="1"/>
              <a:t>class name&gt;  a, b;</a:t>
            </a:r>
          </a:p>
          <a:p>
            <a:pPr lvl="2" algn="just" eaLnBrk="1" hangingPunct="1">
              <a:buFont typeface="Wingdings" charset="2"/>
              <a:buNone/>
            </a:pPr>
            <a:r>
              <a:rPr lang="en-GB" altLang="zh-CN" sz="1800" i="1"/>
              <a:t>      a # b ;</a:t>
            </a:r>
            <a:endParaRPr lang="en-GB" altLang="en-US" sz="1800" i="1"/>
          </a:p>
          <a:p>
            <a:pPr lvl="2" algn="just" eaLnBrk="1" hangingPunct="1">
              <a:buFont typeface="Wingdings" charset="2"/>
              <a:buNone/>
            </a:pPr>
            <a:r>
              <a:rPr lang="en-US" altLang="zh-CN" sz="1800" i="1"/>
              <a:t>	   </a:t>
            </a:r>
            <a:r>
              <a:rPr lang="en-GB" altLang="zh-CN" sz="1800" i="1"/>
              <a:t>a.operator#(b) ;</a:t>
            </a:r>
            <a:r>
              <a:rPr lang="en-GB" altLang="zh-CN" sz="1800" b="1">
                <a:latin typeface="宋体" charset="-122"/>
              </a:rPr>
              <a:t> </a:t>
            </a:r>
            <a:endParaRPr lang="zh-CN" altLang="en-US" sz="1800" b="1">
              <a:latin typeface="宋体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操作符重载</a:t>
            </a:r>
          </a:p>
        </p:txBody>
      </p:sp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2017713"/>
            <a:ext cx="7888288" cy="4114800"/>
          </a:xfrm>
        </p:spPr>
        <p:txBody>
          <a:bodyPr/>
          <a:lstStyle/>
          <a:p>
            <a:pPr lvl="1" algn="just" eaLnBrk="1" hangingPunct="1"/>
            <a:r>
              <a:rPr lang="en-GB" altLang="en-US" sz="2400">
                <a:latin typeface="宋体" charset="-122"/>
              </a:rPr>
              <a:t>全局函数</a:t>
            </a:r>
          </a:p>
          <a:p>
            <a:pPr lvl="2" algn="just" eaLnBrk="1" hangingPunct="1"/>
            <a:r>
              <a:rPr lang="en-US" altLang="zh-CN">
                <a:latin typeface="宋体" charset="-122"/>
              </a:rPr>
              <a:t>友元</a:t>
            </a:r>
          </a:p>
          <a:p>
            <a:pPr lvl="2" algn="just" eaLnBrk="1" hangingPunct="1">
              <a:buFont typeface="Wingdings" charset="2"/>
              <a:buNone/>
            </a:pPr>
            <a:r>
              <a:rPr lang="en-GB" altLang="zh-CN" sz="1800" i="1"/>
              <a:t>   friend &lt;ret type&gt; operator </a:t>
            </a:r>
            <a:r>
              <a:rPr lang="en-GB" altLang="zh-CN" sz="1800" i="1">
                <a:solidFill>
                  <a:srgbClr val="0070C0"/>
                </a:solidFill>
              </a:rPr>
              <a:t>#</a:t>
            </a:r>
            <a:r>
              <a:rPr lang="en-GB" altLang="zh-CN" sz="1800" i="1"/>
              <a:t> (&lt;arg1&gt;,&lt;arg2&gt;)</a:t>
            </a:r>
            <a:endParaRPr lang="en-GB" altLang="en-US" sz="1800" i="1"/>
          </a:p>
          <a:p>
            <a:pPr lvl="2" algn="just" eaLnBrk="1" hangingPunct="1"/>
            <a:r>
              <a:rPr lang="en-GB" altLang="en-US">
                <a:latin typeface="宋体" charset="-122"/>
              </a:rPr>
              <a:t>格式</a:t>
            </a:r>
            <a:r>
              <a:rPr lang="en-GB" altLang="zh-CN" sz="1800" i="1"/>
              <a:t>   </a:t>
            </a:r>
          </a:p>
          <a:p>
            <a:pPr lvl="2" algn="just" eaLnBrk="1" hangingPunct="1">
              <a:buFont typeface="Wingdings" charset="2"/>
              <a:buNone/>
            </a:pPr>
            <a:r>
              <a:rPr lang="en-GB" altLang="en-US" sz="1800" i="1"/>
              <a:t>   &lt;</a:t>
            </a:r>
            <a:r>
              <a:rPr lang="en-GB" altLang="zh-CN" sz="1800" i="1"/>
              <a:t>ret type&gt;</a:t>
            </a:r>
            <a:r>
              <a:rPr lang="en-GB" altLang="zh-CN" sz="1800" i="1">
                <a:latin typeface="宋体" charset="-122"/>
              </a:rPr>
              <a:t> </a:t>
            </a:r>
            <a:r>
              <a:rPr lang="en-GB" altLang="zh-CN" sz="1800" i="1"/>
              <a:t>operator </a:t>
            </a:r>
            <a:r>
              <a:rPr lang="en-GB" altLang="zh-CN" sz="1800" i="1">
                <a:solidFill>
                  <a:srgbClr val="0070C0"/>
                </a:solidFill>
              </a:rPr>
              <a:t># </a:t>
            </a:r>
            <a:r>
              <a:rPr lang="en-GB" altLang="zh-CN" sz="1800" i="1"/>
              <a:t>(&lt;arg1&gt;,&lt;arg2&gt;) </a:t>
            </a:r>
          </a:p>
          <a:p>
            <a:pPr lvl="2" algn="just" eaLnBrk="1" hangingPunct="1">
              <a:buFont typeface="Wingdings" charset="2"/>
              <a:buNone/>
            </a:pPr>
            <a:endParaRPr lang="en-GB" altLang="zh-CN" i="1"/>
          </a:p>
          <a:p>
            <a:pPr lvl="2" algn="just" eaLnBrk="1" hangingPunct="1"/>
            <a:r>
              <a:rPr lang="en-GB" altLang="en-US">
                <a:latin typeface="宋体" charset="-122"/>
              </a:rPr>
              <a:t>限制</a:t>
            </a:r>
          </a:p>
          <a:p>
            <a:pPr lvl="1" algn="just" eaLnBrk="1" hangingPunct="1">
              <a:buFont typeface="Wingdings" charset="2"/>
              <a:buNone/>
            </a:pPr>
            <a:r>
              <a:rPr lang="en-GB" altLang="en-US">
                <a:latin typeface="宋体" charset="-122"/>
              </a:rPr>
              <a:t> 		 </a:t>
            </a:r>
            <a:r>
              <a:rPr lang="en-GB" altLang="en-US" sz="2400" i="1"/>
              <a:t>=   ()   []</a:t>
            </a:r>
            <a:r>
              <a:rPr lang="en-GB" altLang="en-US" sz="2400">
                <a:latin typeface="宋体" charset="-122"/>
              </a:rPr>
              <a:t> </a:t>
            </a:r>
            <a:r>
              <a:rPr lang="en-GB" altLang="en-US" sz="2400" i="1">
                <a:sym typeface="Wingdings" charset="2"/>
              </a:rPr>
              <a:t> </a:t>
            </a:r>
            <a:r>
              <a:rPr lang="en-GB" altLang="en-US" sz="2400">
                <a:latin typeface="宋体" charset="-122"/>
              </a:rPr>
              <a:t>不能作为全局函数重载</a:t>
            </a:r>
            <a:endParaRPr lang="en-US" altLang="zh-CN" sz="2400">
              <a:latin typeface="宋体" charset="-122"/>
            </a:endParaRPr>
          </a:p>
          <a:p>
            <a:pPr eaLnBrk="1" hangingPunct="1"/>
            <a:endParaRPr lang="zh-CN" altLang="en-US"/>
          </a:p>
        </p:txBody>
      </p:sp>
      <p:sp>
        <p:nvSpPr>
          <p:cNvPr id="27651" name="TextBox 3"/>
          <p:cNvSpPr txBox="1">
            <a:spLocks noChangeArrowheads="1"/>
          </p:cNvSpPr>
          <p:nvPr/>
        </p:nvSpPr>
        <p:spPr bwMode="auto">
          <a:xfrm rot="-1080412">
            <a:off x="6051550" y="4522788"/>
            <a:ext cx="10922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2400">
                <a:solidFill>
                  <a:srgbClr val="C00000"/>
                </a:solidFill>
              </a:rPr>
              <a:t>Why</a:t>
            </a:r>
            <a:r>
              <a:rPr lang="zh-CN" altLang="en-US" sz="2400">
                <a:solidFill>
                  <a:srgbClr val="C00000"/>
                </a:solidFill>
              </a:rPr>
              <a:t>？</a:t>
            </a:r>
            <a:endParaRPr lang="en-US" altLang="zh-CN" sz="24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操作符重载</a:t>
            </a:r>
          </a:p>
        </p:txBody>
      </p:sp>
      <p:sp>
        <p:nvSpPr>
          <p:cNvPr id="296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algn="just" eaLnBrk="1" hangingPunct="1"/>
            <a:r>
              <a:rPr lang="en-GB" altLang="en-US">
                <a:latin typeface="宋体" charset="-122"/>
              </a:rPr>
              <a:t>全局函数</a:t>
            </a:r>
            <a:r>
              <a:rPr lang="zh-CN" altLang="en-US">
                <a:latin typeface="宋体" charset="-122"/>
              </a:rPr>
              <a:t>作为补充</a:t>
            </a:r>
          </a:p>
        </p:txBody>
      </p:sp>
      <p:sp>
        <p:nvSpPr>
          <p:cNvPr id="105476" name="Rectangle 4"/>
          <p:cNvSpPr>
            <a:spLocks noChangeArrowheads="1"/>
          </p:cNvSpPr>
          <p:nvPr/>
        </p:nvSpPr>
        <p:spPr bwMode="auto">
          <a:xfrm>
            <a:off x="4191000" y="4038600"/>
            <a:ext cx="4724400" cy="243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zh-CN" sz="1800"/>
              <a:t>class CL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zh-CN" sz="1800"/>
              <a:t>{     int count;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zh-CN" sz="1800"/>
              <a:t>  public: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zh-CN" sz="1800"/>
              <a:t>       friend CL operator +(int i, CL&amp; a);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zh-CN" sz="1800"/>
              <a:t>      friend CL operator +(CL&amp; a, int i);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zh-CN" sz="1800"/>
              <a:t>}；</a:t>
            </a:r>
          </a:p>
        </p:txBody>
      </p:sp>
      <p:sp>
        <p:nvSpPr>
          <p:cNvPr id="105477" name="Rectangle 5"/>
          <p:cNvSpPr>
            <a:spLocks noChangeArrowheads="1"/>
          </p:cNvSpPr>
          <p:nvPr/>
        </p:nvSpPr>
        <p:spPr bwMode="auto">
          <a:xfrm>
            <a:off x="1676400" y="4343400"/>
            <a:ext cx="1676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zh-CN" sz="1800"/>
              <a:t>obj + 10</a:t>
            </a:r>
          </a:p>
        </p:txBody>
      </p:sp>
      <p:sp>
        <p:nvSpPr>
          <p:cNvPr id="105478" name="Rectangle 6"/>
          <p:cNvSpPr>
            <a:spLocks noChangeArrowheads="1"/>
          </p:cNvSpPr>
          <p:nvPr/>
        </p:nvSpPr>
        <p:spPr bwMode="auto">
          <a:xfrm>
            <a:off x="2133600" y="4876800"/>
            <a:ext cx="13604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GB" altLang="zh-CN" sz="1800"/>
              <a:t>10 + obj 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6" grpId="0" autoUpdateAnimBg="0"/>
      <p:bldP spid="105477" grpId="0" autoUpdateAnimBg="0"/>
      <p:bldP spid="105478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操作符重载</a:t>
            </a:r>
          </a:p>
        </p:txBody>
      </p:sp>
      <p:sp>
        <p:nvSpPr>
          <p:cNvPr id="317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>
                <a:latin typeface="宋体" charset="-122"/>
              </a:rPr>
              <a:t>永远不要重载 &amp;&amp; 和 ||</a:t>
            </a:r>
          </a:p>
          <a:p>
            <a:pPr lvl="1" eaLnBrk="1" hangingPunct="1">
              <a:buFont typeface="Wingdings" charset="2"/>
              <a:buNone/>
            </a:pPr>
            <a:r>
              <a:rPr lang="en-US" altLang="zh-CN" sz="2000" i="1">
                <a:solidFill>
                  <a:schemeClr val="tx2"/>
                </a:solidFill>
              </a:rPr>
              <a:t>char *p;</a:t>
            </a:r>
          </a:p>
          <a:p>
            <a:pPr lvl="1" eaLnBrk="1" hangingPunct="1">
              <a:buFont typeface="Wingdings" charset="2"/>
              <a:buNone/>
            </a:pPr>
            <a:r>
              <a:rPr lang="en-US" altLang="zh-CN" sz="2000" i="1">
                <a:solidFill>
                  <a:schemeClr val="tx2"/>
                </a:solidFill>
              </a:rPr>
              <a:t>if ((p != 0) &amp;&amp; (strlen(p) &gt;10))  …</a:t>
            </a:r>
          </a:p>
          <a:p>
            <a:pPr lvl="1" eaLnBrk="1" hangingPunct="1">
              <a:buFont typeface="Wingdings" charset="2"/>
              <a:buNone/>
            </a:pPr>
            <a:endParaRPr lang="en-US" altLang="zh-CN" sz="2000" i="1">
              <a:solidFill>
                <a:schemeClr val="tx2"/>
              </a:solidFill>
            </a:endParaRPr>
          </a:p>
          <a:p>
            <a:pPr lvl="1" eaLnBrk="1" hangingPunct="1">
              <a:buFont typeface="Wingdings" charset="2"/>
              <a:buNone/>
            </a:pPr>
            <a:r>
              <a:rPr lang="en-US" altLang="zh-CN" sz="2000" i="1">
                <a:solidFill>
                  <a:schemeClr val="tx2"/>
                </a:solidFill>
              </a:rPr>
              <a:t>if  (expressin1 &amp;&amp; expression2) …</a:t>
            </a:r>
          </a:p>
          <a:p>
            <a:pPr lvl="1" eaLnBrk="1" hangingPunct="1">
              <a:buFont typeface="Wingdings" charset="2"/>
              <a:buNone/>
            </a:pPr>
            <a:r>
              <a:rPr lang="en-US" altLang="zh-CN" sz="2000" i="1">
                <a:solidFill>
                  <a:schemeClr val="tx2"/>
                </a:solidFill>
              </a:rPr>
              <a:t>if  (expression1.operator&amp;&amp;(expression2))</a:t>
            </a:r>
          </a:p>
          <a:p>
            <a:pPr lvl="1" eaLnBrk="1" hangingPunct="1">
              <a:buFont typeface="Wingdings" charset="2"/>
              <a:buNone/>
            </a:pPr>
            <a:r>
              <a:rPr lang="en-US" altLang="zh-CN" sz="2000" i="1">
                <a:solidFill>
                  <a:schemeClr val="tx2"/>
                </a:solidFill>
              </a:rPr>
              <a:t>if  (operator &amp;&amp;(expression1, expression2)</a:t>
            </a:r>
            <a:endParaRPr lang="zh-CN" altLang="en-US" sz="2000" i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操作符重载</a:t>
            </a:r>
          </a:p>
        </p:txBody>
      </p:sp>
      <p:sp>
        <p:nvSpPr>
          <p:cNvPr id="3379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68313" y="2060575"/>
            <a:ext cx="8061325" cy="4637088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2000" dirty="0">
                <a:latin typeface="Arial" charset="0"/>
              </a:rPr>
              <a:t>class Rational { 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2000" dirty="0">
                <a:latin typeface="Arial" charset="0"/>
              </a:rPr>
              <a:t>	public: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2000" dirty="0">
                <a:latin typeface="Arial" charset="0"/>
              </a:rPr>
              <a:t>		Rational(</a:t>
            </a:r>
            <a:r>
              <a:rPr lang="en-US" altLang="zh-CN" sz="2000" dirty="0" err="1">
                <a:latin typeface="Arial" charset="0"/>
              </a:rPr>
              <a:t>int,int</a:t>
            </a:r>
            <a:r>
              <a:rPr lang="en-US" altLang="zh-CN" sz="2000" dirty="0">
                <a:latin typeface="Arial" charset="0"/>
              </a:rPr>
              <a:t>);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000" dirty="0">
                <a:latin typeface="Arial" charset="0"/>
              </a:rPr>
              <a:t>             const Rational</a:t>
            </a:r>
            <a:r>
              <a:rPr lang="en-US" altLang="zh-CN" sz="2000" b="1" dirty="0">
                <a:solidFill>
                  <a:srgbClr val="C00000"/>
                </a:solidFill>
                <a:latin typeface="Arial" charset="0"/>
              </a:rPr>
              <a:t>&amp; </a:t>
            </a:r>
            <a:r>
              <a:rPr lang="en-US" altLang="zh-CN" sz="2000" dirty="0">
                <a:latin typeface="Arial" charset="0"/>
              </a:rPr>
              <a:t>operator *(const Rational&amp; r) const;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2000" dirty="0">
                <a:latin typeface="Arial" charset="0"/>
              </a:rPr>
              <a:t>	private: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2000" dirty="0">
                <a:latin typeface="Arial" charset="0"/>
              </a:rPr>
              <a:t>		int n, d;	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2000" dirty="0">
                <a:latin typeface="Arial" charset="0"/>
              </a:rPr>
              <a:t>};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2000" dirty="0">
                <a:latin typeface="Arial" charset="0"/>
              </a:rPr>
              <a:t>                </a:t>
            </a:r>
            <a:r>
              <a:rPr lang="en-US" altLang="zh-CN" sz="2000" b="1" dirty="0">
                <a:solidFill>
                  <a:srgbClr val="002060"/>
                </a:solidFill>
                <a:latin typeface="Arial" charset="0"/>
              </a:rPr>
              <a:t>operator *</a:t>
            </a:r>
            <a:r>
              <a:rPr lang="zh-CN" altLang="en-US" sz="2000" b="1" dirty="0">
                <a:solidFill>
                  <a:srgbClr val="002060"/>
                </a:solidFill>
                <a:latin typeface="Arial" charset="0"/>
              </a:rPr>
              <a:t>的函数体</a:t>
            </a:r>
            <a:endParaRPr lang="en-US" altLang="zh-CN" sz="2000" b="1" dirty="0">
              <a:solidFill>
                <a:srgbClr val="002060"/>
              </a:solidFill>
              <a:latin typeface="Arial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000" i="1" dirty="0">
                <a:solidFill>
                  <a:srgbClr val="0070C0"/>
                </a:solidFill>
                <a:latin typeface="Arial" charset="0"/>
              </a:rPr>
              <a:t>return Rational(n*</a:t>
            </a:r>
            <a:r>
              <a:rPr lang="en-US" altLang="zh-CN" sz="2000" i="1" dirty="0" err="1">
                <a:solidFill>
                  <a:srgbClr val="0070C0"/>
                </a:solidFill>
                <a:latin typeface="Arial" charset="0"/>
              </a:rPr>
              <a:t>r.n</a:t>
            </a:r>
            <a:r>
              <a:rPr lang="en-US" altLang="zh-CN" sz="2000" i="1" dirty="0">
                <a:solidFill>
                  <a:srgbClr val="0070C0"/>
                </a:solidFill>
                <a:latin typeface="Arial" charset="0"/>
              </a:rPr>
              <a:t>, d*</a:t>
            </a:r>
            <a:r>
              <a:rPr lang="en-US" altLang="zh-CN" sz="2000" i="1" dirty="0" err="1">
                <a:solidFill>
                  <a:srgbClr val="0070C0"/>
                </a:solidFill>
                <a:latin typeface="Arial" charset="0"/>
              </a:rPr>
              <a:t>r.d</a:t>
            </a:r>
            <a:r>
              <a:rPr lang="en-US" altLang="zh-CN" sz="2000" i="1" dirty="0">
                <a:solidFill>
                  <a:srgbClr val="0070C0"/>
                </a:solidFill>
                <a:latin typeface="Arial" charset="0"/>
              </a:rPr>
              <a:t>);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i="1" dirty="0">
                <a:solidFill>
                  <a:srgbClr val="0070C0"/>
                </a:solidFill>
                <a:latin typeface="Arial" charset="0"/>
              </a:rPr>
              <a:t>Rational *result  = new Rational(n*</a:t>
            </a:r>
            <a:r>
              <a:rPr lang="en-US" altLang="zh-CN" sz="2000" i="1" dirty="0" err="1">
                <a:solidFill>
                  <a:srgbClr val="0070C0"/>
                </a:solidFill>
                <a:latin typeface="Arial" charset="0"/>
              </a:rPr>
              <a:t>r.n</a:t>
            </a:r>
            <a:r>
              <a:rPr lang="en-US" altLang="zh-CN" sz="2000" i="1" dirty="0">
                <a:solidFill>
                  <a:srgbClr val="0070C0"/>
                </a:solidFill>
                <a:latin typeface="Arial" charset="0"/>
              </a:rPr>
              <a:t>, d*</a:t>
            </a:r>
            <a:r>
              <a:rPr lang="en-US" altLang="zh-CN" sz="2000" i="1" dirty="0" err="1">
                <a:solidFill>
                  <a:srgbClr val="0070C0"/>
                </a:solidFill>
                <a:latin typeface="Arial" charset="0"/>
              </a:rPr>
              <a:t>r.d</a:t>
            </a:r>
            <a:r>
              <a:rPr lang="en-US" altLang="zh-CN" sz="2000" i="1" dirty="0">
                <a:solidFill>
                  <a:srgbClr val="0070C0"/>
                </a:solidFill>
                <a:latin typeface="Arial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2000" i="1" dirty="0">
                <a:solidFill>
                  <a:srgbClr val="0070C0"/>
                </a:solidFill>
                <a:latin typeface="Arial" charset="0"/>
              </a:rPr>
              <a:t>     return *result;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000" i="1" dirty="0">
                <a:solidFill>
                  <a:srgbClr val="0070C0"/>
                </a:solidFill>
                <a:latin typeface="Arial" charset="0"/>
              </a:rPr>
              <a:t>static Rational result;</a:t>
            </a:r>
          </a:p>
          <a:p>
            <a:pPr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2000" i="1" dirty="0">
                <a:solidFill>
                  <a:srgbClr val="0070C0"/>
                </a:solidFill>
                <a:latin typeface="Arial" charset="0"/>
              </a:rPr>
              <a:t>     </a:t>
            </a:r>
            <a:r>
              <a:rPr lang="en-US" altLang="zh-CN" sz="2000" i="1" dirty="0" err="1">
                <a:solidFill>
                  <a:srgbClr val="0070C0"/>
                </a:solidFill>
                <a:latin typeface="Arial" charset="0"/>
              </a:rPr>
              <a:t>result.n</a:t>
            </a:r>
            <a:r>
              <a:rPr lang="en-US" altLang="zh-CN" sz="2000" i="1" dirty="0">
                <a:solidFill>
                  <a:srgbClr val="0070C0"/>
                </a:solidFill>
                <a:latin typeface="Arial" charset="0"/>
              </a:rPr>
              <a:t> = n*</a:t>
            </a:r>
            <a:r>
              <a:rPr lang="en-US" altLang="zh-CN" sz="2000" i="1" dirty="0" err="1">
                <a:solidFill>
                  <a:srgbClr val="0070C0"/>
                </a:solidFill>
                <a:latin typeface="Arial" charset="0"/>
              </a:rPr>
              <a:t>r.n</a:t>
            </a:r>
            <a:r>
              <a:rPr lang="en-US" altLang="zh-CN" sz="2000" i="1" dirty="0">
                <a:solidFill>
                  <a:srgbClr val="0070C0"/>
                </a:solidFill>
                <a:latin typeface="Arial" charset="0"/>
              </a:rPr>
              <a:t>;  </a:t>
            </a:r>
            <a:r>
              <a:rPr lang="en-US" altLang="zh-CN" sz="2000" i="1" dirty="0" err="1">
                <a:solidFill>
                  <a:srgbClr val="0070C0"/>
                </a:solidFill>
                <a:latin typeface="Arial" charset="0"/>
              </a:rPr>
              <a:t>result.d</a:t>
            </a:r>
            <a:r>
              <a:rPr lang="en-US" altLang="zh-CN" sz="2000" i="1" dirty="0">
                <a:solidFill>
                  <a:srgbClr val="0070C0"/>
                </a:solidFill>
                <a:latin typeface="Arial" charset="0"/>
              </a:rPr>
              <a:t> = d*</a:t>
            </a:r>
            <a:r>
              <a:rPr lang="en-US" altLang="zh-CN" sz="2000" i="1" dirty="0" err="1">
                <a:solidFill>
                  <a:srgbClr val="0070C0"/>
                </a:solidFill>
                <a:latin typeface="Arial" charset="0"/>
              </a:rPr>
              <a:t>r.d</a:t>
            </a:r>
            <a:r>
              <a:rPr lang="en-US" altLang="zh-CN" sz="2000" i="1" dirty="0">
                <a:solidFill>
                  <a:srgbClr val="0070C0"/>
                </a:solidFill>
                <a:latin typeface="Arial" charset="0"/>
              </a:rPr>
              <a:t>; return result;</a:t>
            </a:r>
          </a:p>
        </p:txBody>
      </p:sp>
      <p:sp>
        <p:nvSpPr>
          <p:cNvPr id="119813" name="Text Box 5"/>
          <p:cNvSpPr txBox="1">
            <a:spLocks noChangeArrowheads="1"/>
          </p:cNvSpPr>
          <p:nvPr/>
        </p:nvSpPr>
        <p:spPr bwMode="auto">
          <a:xfrm>
            <a:off x="6858000" y="4419600"/>
            <a:ext cx="147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0" dirty="0">
                <a:solidFill>
                  <a:srgbClr val="0070C0"/>
                </a:solidFill>
                <a:latin typeface="Times New Roman" charset="0"/>
              </a:rPr>
              <a:t>w = x*y*z</a:t>
            </a:r>
          </a:p>
        </p:txBody>
      </p:sp>
      <p:sp>
        <p:nvSpPr>
          <p:cNvPr id="119814" name="Line 6"/>
          <p:cNvSpPr>
            <a:spLocks noChangeShapeType="1"/>
          </p:cNvSpPr>
          <p:nvPr/>
        </p:nvSpPr>
        <p:spPr bwMode="auto">
          <a:xfrm flipH="1">
            <a:off x="5943600" y="4648200"/>
            <a:ext cx="914400" cy="609600"/>
          </a:xfrm>
          <a:prstGeom prst="line">
            <a:avLst/>
          </a:prstGeom>
          <a:noFill/>
          <a:ln w="9525">
            <a:solidFill>
              <a:srgbClr val="00B0F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5" name="Text Box 7"/>
          <p:cNvSpPr txBox="1">
            <a:spLocks noChangeArrowheads="1"/>
          </p:cNvSpPr>
          <p:nvPr/>
        </p:nvSpPr>
        <p:spPr bwMode="auto">
          <a:xfrm>
            <a:off x="5795963" y="5373688"/>
            <a:ext cx="2354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charset="2"/>
              <a:buNone/>
            </a:pPr>
            <a:r>
              <a:rPr lang="en-US" altLang="zh-CN" sz="2400" i="0" dirty="0">
                <a:solidFill>
                  <a:srgbClr val="0070C0"/>
                </a:solidFill>
                <a:latin typeface="Times New Roman" charset="0"/>
              </a:rPr>
              <a:t>if ((a*b) ==(c*d))</a:t>
            </a:r>
          </a:p>
        </p:txBody>
      </p:sp>
      <p:sp>
        <p:nvSpPr>
          <p:cNvPr id="119816" name="Line 8"/>
          <p:cNvSpPr>
            <a:spLocks noChangeShapeType="1"/>
          </p:cNvSpPr>
          <p:nvPr/>
        </p:nvSpPr>
        <p:spPr bwMode="auto">
          <a:xfrm flipH="1">
            <a:off x="4572000" y="5661025"/>
            <a:ext cx="1223963" cy="431800"/>
          </a:xfrm>
          <a:prstGeom prst="line">
            <a:avLst/>
          </a:prstGeom>
          <a:noFill/>
          <a:ln w="9525">
            <a:solidFill>
              <a:srgbClr val="00B0F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9817" name="Rectangle 9"/>
          <p:cNvSpPr>
            <a:spLocks noChangeArrowheads="1"/>
          </p:cNvSpPr>
          <p:nvPr/>
        </p:nvSpPr>
        <p:spPr bwMode="auto">
          <a:xfrm>
            <a:off x="5791200" y="2057400"/>
            <a:ext cx="2895600" cy="6858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i="0">
                <a:latin typeface="Times New Roman" charset="0"/>
              </a:rPr>
              <a:t>尽可能让事情有效率，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i="0">
                <a:latin typeface="Times New Roman" charset="0"/>
              </a:rPr>
              <a:t>但不是过度有效率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9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9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3" grpId="0" autoUpdateAnimBg="0"/>
      <p:bldP spid="119814" grpId="0" animBg="1"/>
      <p:bldP spid="119815" grpId="0" autoUpdateAnimBg="0"/>
      <p:bldP spid="119816" grpId="0" animBg="1"/>
      <p:bldP spid="119817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操作符重载</a:t>
            </a:r>
          </a:p>
        </p:txBody>
      </p:sp>
      <p:sp>
        <p:nvSpPr>
          <p:cNvPr id="3584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>
              <a:spcBef>
                <a:spcPts val="500"/>
              </a:spcBef>
              <a:spcAft>
                <a:spcPts val="500"/>
              </a:spcAft>
            </a:pPr>
            <a:r>
              <a:rPr lang="en-GB" altLang="en-US" sz="2400">
                <a:latin typeface="宋体" charset="-122"/>
              </a:rPr>
              <a:t>单目操作符重载</a:t>
            </a:r>
            <a:endParaRPr lang="en-GB" altLang="en-US" sz="2400"/>
          </a:p>
          <a:p>
            <a:pPr lvl="1" algn="just" eaLnBrk="1" hangingPunct="1"/>
            <a:r>
              <a:rPr lang="en-GB" altLang="en-US" sz="2400">
                <a:latin typeface="宋体" charset="-122"/>
              </a:rPr>
              <a:t>类成员函数</a:t>
            </a:r>
          </a:p>
          <a:p>
            <a:pPr lvl="2" algn="just" eaLnBrk="1" hangingPunct="1"/>
            <a:r>
              <a:rPr lang="en-US" altLang="zh-CN" sz="2000" i="1"/>
              <a:t>t</a:t>
            </a:r>
            <a:r>
              <a:rPr lang="en-GB" altLang="zh-CN" sz="2000" i="1"/>
              <a:t>his    </a:t>
            </a:r>
            <a:r>
              <a:rPr lang="en-GB" altLang="en-US" sz="2000">
                <a:latin typeface="宋体" charset="-122"/>
              </a:rPr>
              <a:t>隐含</a:t>
            </a:r>
          </a:p>
          <a:p>
            <a:pPr lvl="2" algn="just" eaLnBrk="1" hangingPunct="1"/>
            <a:r>
              <a:rPr lang="zh-CN" altLang="en-GB" sz="2000"/>
              <a:t>格式</a:t>
            </a:r>
            <a:endParaRPr lang="en-US" altLang="en-GB" sz="2000"/>
          </a:p>
          <a:p>
            <a:pPr lvl="2" algn="just" eaLnBrk="1" hangingPunct="1">
              <a:buFont typeface="Wingdings" charset="2"/>
              <a:buNone/>
            </a:pPr>
            <a:r>
              <a:rPr lang="en-GB" altLang="zh-CN" sz="2000"/>
              <a:t>	&lt;ret type&gt;</a:t>
            </a:r>
            <a:r>
              <a:rPr lang="en-GB" altLang="zh-CN" sz="2000" i="1"/>
              <a:t> operator </a:t>
            </a:r>
            <a:r>
              <a:rPr lang="en-GB" altLang="zh-CN" sz="2000" i="1">
                <a:solidFill>
                  <a:srgbClr val="0070C0"/>
                </a:solidFill>
              </a:rPr>
              <a:t>#</a:t>
            </a:r>
            <a:r>
              <a:rPr lang="en-GB" altLang="zh-CN" sz="2000" i="1"/>
              <a:t> ()</a:t>
            </a:r>
          </a:p>
          <a:p>
            <a:pPr lvl="2" algn="just" eaLnBrk="1" hangingPunct="1">
              <a:buFont typeface="Wingdings" charset="2"/>
              <a:buNone/>
            </a:pPr>
            <a:endParaRPr lang="en-GB" altLang="zh-CN" sz="2000" i="1"/>
          </a:p>
          <a:p>
            <a:pPr lvl="1" algn="just" eaLnBrk="1" hangingPunct="1"/>
            <a:r>
              <a:rPr lang="zh-CN" altLang="en-GB" sz="2400"/>
              <a:t>全局函数</a:t>
            </a:r>
          </a:p>
          <a:p>
            <a:pPr lvl="2" algn="just" eaLnBrk="1" hangingPunct="1">
              <a:buFont typeface="Wingdings" charset="2"/>
              <a:buNone/>
            </a:pPr>
            <a:r>
              <a:rPr lang="en-GB" altLang="en-US" sz="2000" i="1"/>
              <a:t>&lt;</a:t>
            </a:r>
            <a:r>
              <a:rPr lang="en-GB" altLang="zh-CN" sz="2000" i="1"/>
              <a:t>ret type&gt; operator </a:t>
            </a:r>
            <a:r>
              <a:rPr lang="en-GB" altLang="zh-CN" sz="2000" i="1">
                <a:solidFill>
                  <a:srgbClr val="0070C0"/>
                </a:solidFill>
              </a:rPr>
              <a:t>#</a:t>
            </a:r>
            <a:r>
              <a:rPr lang="en-GB" altLang="zh-CN" sz="2000" i="1"/>
              <a:t> (&lt;arg&gt;)</a:t>
            </a:r>
            <a:endParaRPr lang="zh-CN" altLang="en-GB" sz="2000" i="1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操作符重载</a:t>
            </a:r>
          </a:p>
        </p:txBody>
      </p:sp>
      <p:sp>
        <p:nvSpPr>
          <p:cNvPr id="3686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US" altLang="zh-CN" i="1">
                <a:solidFill>
                  <a:srgbClr val="0070C0"/>
                </a:solidFill>
              </a:rPr>
              <a:t>a++ </a:t>
            </a:r>
            <a:r>
              <a:rPr lang="en-US" altLang="zh-CN" i="1"/>
              <a:t>vs</a:t>
            </a:r>
            <a:r>
              <a:rPr lang="en-US" altLang="zh-CN"/>
              <a:t> </a:t>
            </a:r>
            <a:r>
              <a:rPr lang="en-US" altLang="zh-CN" i="1">
                <a:solidFill>
                  <a:srgbClr val="0070C0"/>
                </a:solidFill>
              </a:rPr>
              <a:t>++a</a:t>
            </a:r>
          </a:p>
          <a:p>
            <a:pPr lvl="2" eaLnBrk="1" hangingPunct="1"/>
            <a:r>
              <a:rPr lang="en-US" altLang="zh-CN">
                <a:solidFill>
                  <a:schemeClr val="bg2"/>
                </a:solidFill>
              </a:rPr>
              <a:t>prefix</a:t>
            </a:r>
            <a:r>
              <a:rPr lang="en-US" altLang="zh-CN"/>
              <a:t> </a:t>
            </a:r>
            <a:r>
              <a:rPr lang="en-US" altLang="zh-CN" i="1">
                <a:solidFill>
                  <a:srgbClr val="0070C0"/>
                </a:solidFill>
              </a:rPr>
              <a:t>++</a:t>
            </a:r>
            <a:r>
              <a:rPr lang="en-US" altLang="zh-CN"/>
              <a:t>  </a:t>
            </a:r>
            <a:r>
              <a:rPr lang="zh-CN" altLang="en-US"/>
              <a:t>左值</a:t>
            </a:r>
          </a:p>
        </p:txBody>
      </p:sp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4953000" y="2151063"/>
            <a:ext cx="3992563" cy="39465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class Counter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{       int value;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    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        Counter() { value = 0;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        Counter</a:t>
            </a:r>
            <a:r>
              <a:rPr lang="en-GB" altLang="zh-CN" sz="1800" dirty="0">
                <a:solidFill>
                  <a:schemeClr val="hlink"/>
                </a:solidFill>
              </a:rPr>
              <a:t>&amp;</a:t>
            </a:r>
            <a:r>
              <a:rPr lang="en-GB" altLang="zh-CN" sz="1800" dirty="0"/>
              <a:t> operator ++() // ++a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        {  value++;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           return *this;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    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       Counter operator ++(</a:t>
            </a:r>
            <a:r>
              <a:rPr lang="en-GB" altLang="zh-CN" sz="1800" dirty="0">
                <a:solidFill>
                  <a:schemeClr val="hlink"/>
                </a:solidFill>
              </a:rPr>
              <a:t>int</a:t>
            </a:r>
            <a:r>
              <a:rPr lang="en-GB" altLang="zh-CN" sz="1800" dirty="0"/>
              <a:t>) //a++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      {    Counter temp=*this;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            value++;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            return temp;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      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}</a:t>
            </a:r>
            <a:endParaRPr lang="en-US" altLang="zh-CN" sz="1800" i="0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7269163" y="4000500"/>
            <a:ext cx="1589087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400">
                <a:solidFill>
                  <a:srgbClr val="C00000"/>
                </a:solidFill>
              </a:rPr>
              <a:t>dummy argument</a:t>
            </a:r>
            <a:endParaRPr lang="zh-CN" altLang="en-US" sz="1400">
              <a:solidFill>
                <a:srgbClr val="C00000"/>
              </a:solidFill>
            </a:endParaRPr>
          </a:p>
        </p:txBody>
      </p:sp>
      <p:cxnSp>
        <p:nvCxnSpPr>
          <p:cNvPr id="7" name="直接箭头连接符 6"/>
          <p:cNvCxnSpPr>
            <a:cxnSpLocks noChangeShapeType="1"/>
          </p:cNvCxnSpPr>
          <p:nvPr/>
        </p:nvCxnSpPr>
        <p:spPr bwMode="auto">
          <a:xfrm rot="5400000">
            <a:off x="7889082" y="4255294"/>
            <a:ext cx="214312" cy="133350"/>
          </a:xfrm>
          <a:prstGeom prst="straightConnector1">
            <a:avLst/>
          </a:prstGeom>
          <a:noFill/>
          <a:ln w="9525">
            <a:solidFill>
              <a:srgbClr val="C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049713" y="3286125"/>
            <a:ext cx="1522412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>
                <a:solidFill>
                  <a:srgbClr val="0070C0"/>
                </a:solidFill>
              </a:rPr>
              <a:t>prefix operator</a:t>
            </a:r>
            <a:endParaRPr lang="zh-CN" altLang="en-US" sz="160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3954463" y="4400550"/>
            <a:ext cx="1614487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kumimoji="1" sz="3200">
                <a:solidFill>
                  <a:schemeClr val="tx1"/>
                </a:solidFill>
                <a:latin typeface="Tahoma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kumimoji="1" sz="2800">
                <a:solidFill>
                  <a:schemeClr val="tx1"/>
                </a:solidFill>
                <a:latin typeface="Tahoma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kumimoji="1" sz="2400">
                <a:solidFill>
                  <a:schemeClr val="tx1"/>
                </a:solidFill>
                <a:latin typeface="Tahoma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kumimoji="1" sz="2000">
                <a:solidFill>
                  <a:schemeClr val="tx1"/>
                </a:solidFill>
                <a:latin typeface="Tahoma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charset="2"/>
              <a:buNone/>
            </a:pPr>
            <a:r>
              <a:rPr lang="en-US" altLang="zh-CN" sz="1600">
                <a:solidFill>
                  <a:srgbClr val="0070C0"/>
                </a:solidFill>
              </a:rPr>
              <a:t>postfix operator</a:t>
            </a:r>
            <a:endParaRPr lang="zh-CN" altLang="en-US" sz="160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6" grpId="0" animBg="1" autoUpdateAnimBg="0"/>
      <p:bldP spid="5" grpId="0"/>
      <p:bldP spid="8" grpId="0" build="allAtOnce"/>
      <p:bldP spid="9" grpId="0" build="allAtOnce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389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459287"/>
          </a:xfrm>
        </p:spPr>
        <p:txBody>
          <a:bodyPr/>
          <a:lstStyle/>
          <a:p>
            <a:pPr eaLnBrk="1" hangingPunct="1"/>
            <a:r>
              <a:rPr lang="en-GB" altLang="en-US" sz="2800" b="1">
                <a:solidFill>
                  <a:schemeClr val="tx2"/>
                </a:solidFill>
                <a:latin typeface="SimSun" charset="-122"/>
              </a:rPr>
              <a:t>=</a:t>
            </a:r>
          </a:p>
          <a:p>
            <a:pPr lvl="1" algn="just" eaLnBrk="1" hangingPunct="1"/>
            <a:r>
              <a:rPr lang="en-GB" altLang="en-US" sz="2400">
                <a:latin typeface="SimSun" charset="-122"/>
              </a:rPr>
              <a:t>默认赋值操作符</a:t>
            </a:r>
            <a:r>
              <a:rPr lang="en-GB" altLang="zh-CN" sz="2400">
                <a:latin typeface="SimSun" charset="-122"/>
              </a:rPr>
              <a:t>重载</a:t>
            </a:r>
            <a:r>
              <a:rPr lang="en-GB" altLang="en-US" sz="2400">
                <a:latin typeface="SimSun" charset="-122"/>
              </a:rPr>
              <a:t>函数</a:t>
            </a:r>
          </a:p>
          <a:p>
            <a:pPr lvl="2" algn="just" eaLnBrk="1" hangingPunct="1"/>
            <a:r>
              <a:rPr lang="en-GB" altLang="en-US">
                <a:latin typeface="SimSun" charset="-122"/>
              </a:rPr>
              <a:t>逐个成员赋值(</a:t>
            </a:r>
            <a:r>
              <a:rPr lang="en-GB" altLang="zh-CN"/>
              <a:t>member-wise assignment</a:t>
            </a:r>
            <a:r>
              <a:rPr lang="en-GB" altLang="zh-CN">
                <a:latin typeface="SimSun" charset="-122"/>
              </a:rPr>
              <a:t>)</a:t>
            </a:r>
          </a:p>
          <a:p>
            <a:pPr lvl="2" algn="just" eaLnBrk="1" hangingPunct="1"/>
            <a:r>
              <a:rPr lang="en-GB" altLang="en-US">
                <a:latin typeface="SimSun" charset="-122"/>
              </a:rPr>
              <a:t>对含有对象成员的类，该定义是递归的</a:t>
            </a:r>
            <a:endParaRPr lang="en-US" altLang="zh-CN">
              <a:latin typeface="SimSun" charset="-122"/>
            </a:endParaRPr>
          </a:p>
          <a:p>
            <a:pPr lvl="2" algn="just" eaLnBrk="1" hangingPunct="1"/>
            <a:endParaRPr lang="en-US" altLang="en-GB">
              <a:latin typeface="SimSun" charset="-122"/>
            </a:endParaRPr>
          </a:p>
          <a:p>
            <a:pPr lvl="1" algn="just" eaLnBrk="1" hangingPunct="1"/>
            <a:r>
              <a:rPr lang="en-US" altLang="en-GB" sz="2400" b="1">
                <a:solidFill>
                  <a:srgbClr val="002060"/>
                </a:solidFill>
                <a:latin typeface="SimSun" charset="-122"/>
              </a:rPr>
              <a:t>赋值操作符重载不能继承</a:t>
            </a:r>
          </a:p>
          <a:p>
            <a:pPr lvl="1" algn="just" eaLnBrk="1" hangingPunct="1"/>
            <a:endParaRPr lang="en-US" altLang="zh-CN" sz="2400" b="1">
              <a:solidFill>
                <a:srgbClr val="C00000"/>
              </a:solidFill>
              <a:latin typeface="SimSun" charset="-122"/>
            </a:endParaRPr>
          </a:p>
        </p:txBody>
      </p:sp>
      <p:sp>
        <p:nvSpPr>
          <p:cNvPr id="38915" name="TextBox 3"/>
          <p:cNvSpPr txBox="1">
            <a:spLocks noChangeArrowheads="1"/>
          </p:cNvSpPr>
          <p:nvPr/>
        </p:nvSpPr>
        <p:spPr bwMode="auto">
          <a:xfrm rot="-943061">
            <a:off x="5580063" y="4221163"/>
            <a:ext cx="10922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C00000"/>
                </a:solidFill>
              </a:rPr>
              <a:t>Why</a:t>
            </a:r>
            <a:r>
              <a:rPr lang="zh-CN" altLang="en-US" sz="2400">
                <a:solidFill>
                  <a:srgbClr val="C00000"/>
                </a:solidFill>
              </a:rPr>
              <a:t>？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  <a:endParaRPr lang="en-US" altLang="zh-CN"/>
          </a:p>
        </p:txBody>
      </p:sp>
      <p:sp>
        <p:nvSpPr>
          <p:cNvPr id="4096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304800" y="1981200"/>
            <a:ext cx="4843463" cy="4724400"/>
          </a:xfrm>
          <a:noFill/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b="1" i="1">
                <a:solidFill>
                  <a:schemeClr val="accent2"/>
                </a:solidFill>
              </a:rPr>
              <a:t>   </a:t>
            </a:r>
            <a:r>
              <a:rPr lang="en-GB" altLang="zh-CN" sz="1600" i="1">
                <a:solidFill>
                  <a:schemeClr val="folHlink"/>
                </a:solidFill>
              </a:rPr>
              <a:t>class A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	{      int x,y;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	       char *p;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	   public: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	       A(int </a:t>
            </a:r>
            <a:r>
              <a:rPr lang="en-US" altLang="zh-CN" sz="1600" i="1">
                <a:solidFill>
                  <a:schemeClr val="folHlink"/>
                </a:solidFill>
              </a:rPr>
              <a:t>i</a:t>
            </a:r>
            <a:r>
              <a:rPr lang="en-GB" altLang="zh-CN" sz="1600" i="1">
                <a:solidFill>
                  <a:schemeClr val="folHlink"/>
                </a:solidFill>
              </a:rPr>
              <a:t>,</a:t>
            </a:r>
            <a:r>
              <a:rPr lang="en-US" altLang="zh-CN" sz="1600" i="1">
                <a:solidFill>
                  <a:schemeClr val="folHlink"/>
                </a:solidFill>
              </a:rPr>
              <a:t>i</a:t>
            </a:r>
            <a:r>
              <a:rPr lang="en-GB" altLang="zh-CN" sz="1600" i="1">
                <a:solidFill>
                  <a:schemeClr val="folHlink"/>
                </a:solidFill>
              </a:rPr>
              <a:t>nt j,char *s):x(i),y(j)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            { p = new char[strlen(s)+1]; strcpy(p,s);}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            virtual ~A() { delete[] p;}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            </a:t>
            </a:r>
            <a:r>
              <a:rPr lang="en-GB" altLang="zh-CN" sz="1600" i="1">
                <a:solidFill>
                  <a:srgbClr val="FF0000"/>
                </a:solidFill>
              </a:rPr>
              <a:t>A&amp; operator = (A&amp; a)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	      {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GB" altLang="zh-CN" sz="1600" i="1">
              <a:solidFill>
                <a:schemeClr val="folHlink"/>
              </a:solidFill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GB" altLang="zh-CN" sz="1600" i="1">
              <a:solidFill>
                <a:schemeClr val="folHlink"/>
              </a:solidFill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GB" altLang="zh-CN" sz="1600" i="1">
              <a:solidFill>
                <a:schemeClr val="folHlink"/>
              </a:solidFill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GB" altLang="zh-CN" sz="1600" i="1">
              <a:solidFill>
                <a:schemeClr val="folHlink"/>
              </a:solidFill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	     }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zh-CN" sz="1600" i="1">
                <a:solidFill>
                  <a:schemeClr val="folHlink"/>
                </a:solidFill>
              </a:rPr>
              <a:t>	};</a:t>
            </a:r>
            <a:endParaRPr lang="en-US" altLang="zh-CN" sz="1600" i="1">
              <a:solidFill>
                <a:schemeClr val="folHlink"/>
              </a:solidFill>
            </a:endParaRPr>
          </a:p>
        </p:txBody>
      </p:sp>
      <p:sp>
        <p:nvSpPr>
          <p:cNvPr id="109573" name="Text Box 5"/>
          <p:cNvSpPr txBox="1">
            <a:spLocks noChangeArrowheads="1"/>
          </p:cNvSpPr>
          <p:nvPr/>
        </p:nvSpPr>
        <p:spPr bwMode="auto">
          <a:xfrm>
            <a:off x="5219700" y="2060575"/>
            <a:ext cx="3733800" cy="2062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A  </a:t>
            </a:r>
            <a:r>
              <a:rPr lang="en-GB" altLang="zh-CN" sz="1600" dirty="0" err="1">
                <a:solidFill>
                  <a:schemeClr val="folHlink"/>
                </a:solidFill>
              </a:rPr>
              <a:t>a</a:t>
            </a:r>
            <a:r>
              <a:rPr lang="en-GB" altLang="zh-CN" sz="1600" dirty="0">
                <a:solidFill>
                  <a:schemeClr val="folHlink"/>
                </a:solidFill>
              </a:rPr>
              <a:t>, b;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a = b;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GB" altLang="zh-CN" sz="2400" dirty="0">
              <a:solidFill>
                <a:schemeClr val="folHlink"/>
              </a:solidFill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charset="0"/>
              </a:rPr>
              <a:t>idle pointer</a:t>
            </a: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latin typeface="Times New Roman" panose="02020603050405020304" charset="0"/>
              </a:rPr>
              <a:t>Memory leak</a:t>
            </a:r>
            <a:endParaRPr lang="en-GB" altLang="zh-CN" sz="2400" dirty="0">
              <a:latin typeface="Times New Roman" panose="0202060305040502030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 i="0" dirty="0">
              <a:latin typeface="Times New Roman" panose="02020603050405020304" charset="0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258888" y="4652963"/>
            <a:ext cx="4392612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x = </a:t>
            </a:r>
            <a:r>
              <a:rPr lang="en-GB" altLang="zh-CN" sz="1600" dirty="0" err="1">
                <a:solidFill>
                  <a:schemeClr val="folHlink"/>
                </a:solidFill>
              </a:rPr>
              <a:t>a.x</a:t>
            </a:r>
            <a:r>
              <a:rPr lang="en-GB" altLang="zh-CN" sz="1600" dirty="0">
                <a:solidFill>
                  <a:schemeClr val="folHlink"/>
                </a:solidFill>
              </a:rPr>
              <a:t>; y = </a:t>
            </a:r>
            <a:r>
              <a:rPr lang="en-GB" altLang="zh-CN" sz="1600" dirty="0" err="1">
                <a:solidFill>
                  <a:schemeClr val="folHlink"/>
                </a:solidFill>
              </a:rPr>
              <a:t>a.y</a:t>
            </a:r>
            <a:r>
              <a:rPr lang="en-GB" altLang="zh-CN" sz="1600" dirty="0">
                <a:solidFill>
                  <a:schemeClr val="folHlink"/>
                </a:solidFill>
              </a:rPr>
              <a:t>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delete []p;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p = new char[</a:t>
            </a:r>
            <a:r>
              <a:rPr lang="en-GB" altLang="zh-CN" sz="1600" dirty="0" err="1">
                <a:solidFill>
                  <a:schemeClr val="folHlink"/>
                </a:solidFill>
              </a:rPr>
              <a:t>strlen</a:t>
            </a:r>
            <a:r>
              <a:rPr lang="en-GB" altLang="zh-CN" sz="1600" dirty="0">
                <a:solidFill>
                  <a:schemeClr val="folHlink"/>
                </a:solidFill>
              </a:rPr>
              <a:t>(</a:t>
            </a:r>
            <a:r>
              <a:rPr lang="en-GB" altLang="zh-CN" sz="1600" dirty="0" err="1">
                <a:solidFill>
                  <a:schemeClr val="folHlink"/>
                </a:solidFill>
              </a:rPr>
              <a:t>a.p</a:t>
            </a:r>
            <a:r>
              <a:rPr lang="en-GB" altLang="zh-CN" sz="1600" dirty="0">
                <a:solidFill>
                  <a:schemeClr val="folHlink"/>
                </a:solidFill>
              </a:rPr>
              <a:t>)+1];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dirty="0" err="1">
                <a:solidFill>
                  <a:schemeClr val="folHlink"/>
                </a:solidFill>
              </a:rPr>
              <a:t>strcpy</a:t>
            </a:r>
            <a:r>
              <a:rPr lang="en-GB" altLang="zh-CN" sz="1600" dirty="0">
                <a:solidFill>
                  <a:schemeClr val="folHlink"/>
                </a:solidFill>
              </a:rPr>
              <a:t>(</a:t>
            </a:r>
            <a:r>
              <a:rPr lang="en-GB" altLang="zh-CN" sz="1600" dirty="0" err="1">
                <a:solidFill>
                  <a:schemeClr val="folHlink"/>
                </a:solidFill>
              </a:rPr>
              <a:t>p,a.p</a:t>
            </a:r>
            <a:r>
              <a:rPr lang="en-GB" altLang="zh-CN" sz="1600" dirty="0">
                <a:solidFill>
                  <a:schemeClr val="folHlink"/>
                </a:solidFill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return *this;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419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32712" cy="45354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400"/>
              <a:t>避免自我赋值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/>
              <a:t>Sample: class string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400"/>
              <a:t>s = s?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1800">
                <a:latin typeface="Arial" panose="020B0604020202090204" pitchFamily="34" charset="0"/>
              </a:rPr>
              <a:t>class { …  A void f(A&amp; a); … }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1800">
                <a:latin typeface="Arial" panose="020B0604020202090204" pitchFamily="34" charset="0"/>
              </a:rPr>
              <a:t>void f(A&amp;a1, A&amp; a2);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1800">
                <a:latin typeface="Arial" panose="020B0604020202090204" pitchFamily="34" charset="0"/>
              </a:rPr>
              <a:t>int f2(Derived &amp;rd, Base&amp; rb);</a:t>
            </a:r>
          </a:p>
          <a:p>
            <a:pPr lvl="2" eaLnBrk="1" hangingPunct="1">
              <a:lnSpc>
                <a:spcPct val="90000"/>
              </a:lnSpc>
            </a:pPr>
            <a:endParaRPr lang="en-US" altLang="zh-CN" sz="2000"/>
          </a:p>
          <a:p>
            <a:pPr lvl="1" eaLnBrk="1" hangingPunct="1">
              <a:lnSpc>
                <a:spcPct val="90000"/>
              </a:lnSpc>
            </a:pPr>
            <a:endParaRPr lang="en-US" altLang="zh-CN" sz="2400"/>
          </a:p>
          <a:p>
            <a:pPr lvl="1" eaLnBrk="1" hangingPunct="1">
              <a:lnSpc>
                <a:spcPct val="90000"/>
              </a:lnSpc>
            </a:pPr>
            <a:r>
              <a:rPr lang="en-US" altLang="zh-CN" sz="2400"/>
              <a:t>Object identity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/>
              <a:t>Content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/>
              <a:t>Same memory location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CN" sz="2000"/>
              <a:t>Object identifier</a:t>
            </a:r>
          </a:p>
          <a:p>
            <a:pPr lvl="1" eaLnBrk="1" hangingPunct="1">
              <a:lnSpc>
                <a:spcPct val="90000"/>
              </a:lnSpc>
            </a:pPr>
            <a:endParaRPr lang="en-US" altLang="zh-CN" sz="2400"/>
          </a:p>
          <a:p>
            <a:pPr eaLnBrk="1" hangingPunct="1">
              <a:lnSpc>
                <a:spcPct val="90000"/>
              </a:lnSpc>
            </a:pPr>
            <a:endParaRPr lang="zh-CN" altLang="en-US" sz="2800"/>
          </a:p>
        </p:txBody>
      </p:sp>
      <p:sp>
        <p:nvSpPr>
          <p:cNvPr id="116740" name="Text Box 4"/>
          <p:cNvSpPr txBox="1">
            <a:spLocks noChangeArrowheads="1"/>
          </p:cNvSpPr>
          <p:nvPr/>
        </p:nvSpPr>
        <p:spPr bwMode="auto">
          <a:xfrm>
            <a:off x="5399088" y="3817938"/>
            <a:ext cx="3673475" cy="2540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rgbClr val="FF3300"/>
                </a:solidFill>
                <a:latin typeface="Arial" panose="020B0604020202090204" pitchFamily="34" charset="0"/>
              </a:rPr>
              <a:t>class A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rgbClr val="FF3300"/>
                </a:solidFill>
                <a:latin typeface="Arial" panose="020B0604020202090204" pitchFamily="34" charset="0"/>
              </a:rPr>
              <a:t>{   public: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rgbClr val="FF3300"/>
                </a:solidFill>
                <a:latin typeface="Arial" panose="020B0604020202090204" pitchFamily="34" charset="0"/>
              </a:rPr>
              <a:t>        ObjectID  identity() const;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rgbClr val="FF3300"/>
                </a:solidFill>
                <a:latin typeface="Arial" panose="020B0604020202090204" pitchFamily="34" charset="0"/>
              </a:rPr>
              <a:t>         …..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rgbClr val="FF3300"/>
                </a:solidFill>
                <a:latin typeface="Arial" panose="020B0604020202090204" pitchFamily="34" charset="0"/>
              </a:rPr>
              <a:t>};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rgbClr val="FF3300"/>
                </a:solidFill>
                <a:latin typeface="Arial" panose="020B0604020202090204" pitchFamily="34" charset="0"/>
              </a:rPr>
              <a:t>A *p1,*p2;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rgbClr val="FF3300"/>
                </a:solidFill>
                <a:latin typeface="Arial" panose="020B0604020202090204" pitchFamily="34" charset="0"/>
              </a:rPr>
              <a:t>….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0">
                <a:solidFill>
                  <a:srgbClr val="FF3300"/>
                </a:solidFill>
                <a:latin typeface="Arial" panose="020B0604020202090204" pitchFamily="34" charset="0"/>
              </a:rPr>
              <a:t>p1-&gt; identity()== p2-&gt; identity()</a:t>
            </a:r>
          </a:p>
        </p:txBody>
      </p:sp>
      <p:sp>
        <p:nvSpPr>
          <p:cNvPr id="116741" name="Line 5"/>
          <p:cNvSpPr>
            <a:spLocks noChangeShapeType="1"/>
          </p:cNvSpPr>
          <p:nvPr/>
        </p:nvSpPr>
        <p:spPr bwMode="auto">
          <a:xfrm flipH="1">
            <a:off x="4332288" y="6103938"/>
            <a:ext cx="1066800" cy="0"/>
          </a:xfrm>
          <a:prstGeom prst="line">
            <a:avLst/>
          </a:prstGeom>
          <a:noFill/>
          <a:ln w="9525">
            <a:solidFill>
              <a:srgbClr val="9933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4403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32712" cy="44592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GB" altLang="en-US" sz="2400" b="1">
                <a:solidFill>
                  <a:schemeClr val="tx2"/>
                </a:solidFill>
                <a:latin typeface="SimSun" charset="-122"/>
              </a:rPr>
              <a:t>[]</a:t>
            </a:r>
            <a:endParaRPr lang="en-GB" altLang="en-US" sz="2400" b="1">
              <a:solidFill>
                <a:schemeClr val="tx2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 sz="2800" b="1"/>
              <a:t>	</a:t>
            </a:r>
            <a:endParaRPr lang="en-US" altLang="zh-CN" sz="2000" i="1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1498600" y="2359025"/>
            <a:ext cx="6738938" cy="375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class string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{      char *p;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  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	string(char *p1)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            {    p = new char [strlen(p1)+1];  strcpy(p,p1);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	char</a:t>
            </a:r>
            <a:r>
              <a:rPr lang="en-US" altLang="zh-CN" sz="2000">
                <a:solidFill>
                  <a:srgbClr val="FF0066"/>
                </a:solidFill>
              </a:rPr>
              <a:t>&amp;</a:t>
            </a:r>
            <a:r>
              <a:rPr lang="en-GB" altLang="zh-CN" sz="2000">
                <a:solidFill>
                  <a:srgbClr val="FF0066"/>
                </a:solidFill>
              </a:rPr>
              <a:t> </a:t>
            </a:r>
            <a:r>
              <a:rPr lang="en-GB" altLang="zh-CN" sz="2000">
                <a:solidFill>
                  <a:schemeClr val="folHlink"/>
                </a:solidFill>
              </a:rPr>
              <a:t>operator [](int i)          { return p[i];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	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	virtual ~string() { delete[] p;}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};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	…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chemeClr val="folHlink"/>
                </a:solidFill>
              </a:rPr>
              <a:t>string s(“aacd”);	    s[2] = ‘b’ ;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438400" y="4357688"/>
            <a:ext cx="57991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2000">
                <a:solidFill>
                  <a:srgbClr val="FF0066"/>
                </a:solidFill>
              </a:rPr>
              <a:t>const </a:t>
            </a:r>
            <a:r>
              <a:rPr lang="en-GB" altLang="zh-CN" sz="2000">
                <a:solidFill>
                  <a:schemeClr val="folHlink"/>
                </a:solidFill>
              </a:rPr>
              <a:t>char operator [] (int i) </a:t>
            </a:r>
            <a:r>
              <a:rPr lang="en-GB" altLang="zh-CN" sz="2000">
                <a:solidFill>
                  <a:srgbClr val="FF0066"/>
                </a:solidFill>
              </a:rPr>
              <a:t>const </a:t>
            </a:r>
            <a:r>
              <a:rPr lang="en-GB" altLang="zh-CN" sz="2000">
                <a:solidFill>
                  <a:schemeClr val="folHlink"/>
                </a:solidFill>
              </a:rPr>
              <a:t>{ return p[i]; }</a:t>
            </a:r>
            <a:endParaRPr lang="zh-CN" altLang="en-US" sz="200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476375" y="6072188"/>
            <a:ext cx="49895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chemeClr val="folHlink"/>
                </a:solidFill>
              </a:rPr>
              <a:t>const string cs(“const”);    cout &lt;&lt; cs[0]; </a:t>
            </a:r>
            <a:endParaRPr lang="zh-CN" altLang="en-US" sz="2400"/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081588" y="4011613"/>
            <a:ext cx="7858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FF0066"/>
                </a:solidFill>
              </a:rPr>
              <a:t>const</a:t>
            </a:r>
            <a:endParaRPr lang="zh-CN" altLang="en-US" sz="2000">
              <a:solidFill>
                <a:srgbClr val="FF0066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6218238" y="6021388"/>
            <a:ext cx="2170112" cy="4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</a:rPr>
              <a:t>cs[0] = 'D’;   ?</a:t>
            </a:r>
            <a:endParaRPr lang="zh-CN" altLang="en-US" sz="2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ChangeArrowheads="1"/>
          </p:cNvSpPr>
          <p:nvPr/>
        </p:nvSpPr>
        <p:spPr bwMode="auto">
          <a:xfrm>
            <a:off x="1371600" y="1219200"/>
            <a:ext cx="71628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class Array2D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{  public: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class Array1D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{    public: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	Array1D(int *p) { this-&gt;p = p;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	int&amp; operator[ ] (int index) { return p[index];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	</a:t>
            </a:r>
            <a:r>
              <a:rPr lang="en-US" altLang="zh-CN" sz="1600" b="1">
                <a:solidFill>
                  <a:srgbClr val="FF0000"/>
                </a:solidFill>
                <a:latin typeface="Arial" panose="020B0604020202090204" pitchFamily="34" charset="0"/>
              </a:rPr>
              <a:t>const</a:t>
            </a: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 int operator[ ] (int index) </a:t>
            </a:r>
            <a:r>
              <a:rPr lang="en-US" altLang="zh-CN" sz="1600" b="1">
                <a:solidFill>
                  <a:srgbClr val="FF0000"/>
                </a:solidFill>
                <a:latin typeface="Arial" panose="020B0604020202090204" pitchFamily="34" charset="0"/>
              </a:rPr>
              <a:t>const </a:t>
            </a: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{ return p[index];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     private: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	int *p;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};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Array2D(int n1, int n2) { p = new int[n1*n2]; num1 = n1; num2 = n2;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     virtual ~Array2D( ) { delete [ ] p;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Array1D operator[ ] (int index) { return p+index*num2;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</a:t>
            </a:r>
            <a:r>
              <a:rPr lang="en-US" altLang="zh-CN" sz="1600" b="1">
                <a:solidFill>
                  <a:srgbClr val="FF0000"/>
                </a:solidFill>
                <a:latin typeface="Arial" panose="020B0604020202090204" pitchFamily="34" charset="0"/>
              </a:rPr>
              <a:t>const</a:t>
            </a: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 Array1D operator[ ] (int index) </a:t>
            </a:r>
            <a:r>
              <a:rPr lang="en-US" altLang="zh-CN" sz="1600" b="1">
                <a:solidFill>
                  <a:srgbClr val="FF0000"/>
                </a:solidFill>
                <a:latin typeface="Arial" panose="020B0604020202090204" pitchFamily="34" charset="0"/>
              </a:rPr>
              <a:t>const</a:t>
            </a: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 { return p+index*num2;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 private: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int *p;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	int num1, num2;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600" b="1">
                <a:solidFill>
                  <a:schemeClr val="folHlink"/>
                </a:solidFill>
                <a:latin typeface="Arial" panose="020B0604020202090204" pitchFamily="34" charset="0"/>
              </a:rPr>
              <a:t>};</a:t>
            </a:r>
          </a:p>
        </p:txBody>
      </p:sp>
      <p:sp>
        <p:nvSpPr>
          <p:cNvPr id="48130" name="Text Box 3"/>
          <p:cNvSpPr txBox="1">
            <a:spLocks noChangeArrowheads="1"/>
          </p:cNvSpPr>
          <p:nvPr/>
        </p:nvSpPr>
        <p:spPr bwMode="auto">
          <a:xfrm>
            <a:off x="4267200" y="642938"/>
            <a:ext cx="168116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0">
                <a:solidFill>
                  <a:srgbClr val="FF3300"/>
                </a:solidFill>
              </a:rPr>
              <a:t>proxy class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0">
                <a:solidFill>
                  <a:srgbClr val="FF3300"/>
                </a:solidFill>
              </a:rPr>
              <a:t>Surrogate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0">
                <a:solidFill>
                  <a:srgbClr val="FF3300"/>
                </a:solidFill>
              </a:rPr>
              <a:t>   多维</a:t>
            </a:r>
            <a:endParaRPr lang="en-US" altLang="zh-CN" sz="2400" i="0">
              <a:solidFill>
                <a:srgbClr val="FF3300"/>
              </a:solidFill>
            </a:endParaRPr>
          </a:p>
        </p:txBody>
      </p:sp>
      <p:sp>
        <p:nvSpPr>
          <p:cNvPr id="48131" name="Line 4"/>
          <p:cNvSpPr>
            <a:spLocks noChangeShapeType="1"/>
          </p:cNvSpPr>
          <p:nvPr/>
        </p:nvSpPr>
        <p:spPr bwMode="auto">
          <a:xfrm flipH="1">
            <a:off x="3276600" y="1600200"/>
            <a:ext cx="1219200" cy="685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48132" name="TextBox 4"/>
          <p:cNvSpPr txBox="1">
            <a:spLocks noChangeArrowheads="1"/>
          </p:cNvSpPr>
          <p:nvPr/>
        </p:nvSpPr>
        <p:spPr bwMode="auto">
          <a:xfrm>
            <a:off x="214313" y="4572000"/>
            <a:ext cx="107156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00B050"/>
                </a:solidFill>
              </a:rPr>
              <a:t>int *</a:t>
            </a:r>
            <a:endParaRPr lang="zh-CN" altLang="en-US" sz="2400" b="1">
              <a:solidFill>
                <a:srgbClr val="00B050"/>
              </a:solidFill>
            </a:endParaRPr>
          </a:p>
        </p:txBody>
      </p:sp>
      <p:cxnSp>
        <p:nvCxnSpPr>
          <p:cNvPr id="48133" name="直接箭头连接符 6"/>
          <p:cNvCxnSpPr>
            <a:cxnSpLocks noChangeShapeType="1"/>
          </p:cNvCxnSpPr>
          <p:nvPr/>
        </p:nvCxnSpPr>
        <p:spPr bwMode="auto">
          <a:xfrm>
            <a:off x="1071563" y="4786313"/>
            <a:ext cx="785812" cy="142875"/>
          </a:xfrm>
          <a:prstGeom prst="straightConnector1">
            <a:avLst/>
          </a:prstGeom>
          <a:noFill/>
          <a:ln w="9525">
            <a:solidFill>
              <a:srgbClr val="006600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4915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GB" altLang="en-US" sz="2400" b="1">
                <a:solidFill>
                  <a:schemeClr val="tx2"/>
                </a:solidFill>
                <a:latin typeface="SimSun" charset="-122"/>
              </a:rPr>
              <a:t>( )</a:t>
            </a:r>
            <a:endParaRPr lang="en-GB" altLang="en-US" sz="2400" b="1">
              <a:solidFill>
                <a:schemeClr val="tx2"/>
              </a:solidFill>
            </a:endParaRPr>
          </a:p>
          <a:p>
            <a:pPr lvl="2" algn="just" eaLnBrk="1" hangingPunct="1">
              <a:buFont typeface="Wingdings" panose="05000000000000000000" pitchFamily="2" charset="2"/>
              <a:buNone/>
            </a:pPr>
            <a:r>
              <a:rPr lang="en-GB" altLang="zh-CN" i="1">
                <a:solidFill>
                  <a:schemeClr val="accent2"/>
                </a:solidFill>
              </a:rPr>
              <a:t>   </a:t>
            </a:r>
            <a:endParaRPr lang="zh-CN" altLang="en-US" sz="2000">
              <a:solidFill>
                <a:schemeClr val="folHlink"/>
              </a:solidFill>
            </a:endParaRP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-180975" y="2630488"/>
            <a:ext cx="5556250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lvl="2" eaLnBrk="1" hangingPunct="1">
              <a:lnSpc>
                <a:spcPct val="90000"/>
              </a:lnSpc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class </a:t>
            </a:r>
            <a:r>
              <a:rPr lang="en-GB" altLang="zh-CN" sz="1600" dirty="0" err="1">
                <a:solidFill>
                  <a:schemeClr val="folHlink"/>
                </a:solidFill>
              </a:rPr>
              <a:t>Func</a:t>
            </a:r>
            <a:endParaRPr lang="en-GB" altLang="zh-CN" sz="1600" dirty="0">
              <a:solidFill>
                <a:schemeClr val="folHlink"/>
              </a:solidFill>
            </a:endParaRP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	{ 	double  para;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		</a:t>
            </a:r>
            <a:r>
              <a:rPr lang="en-GB" altLang="zh-CN" sz="1600" dirty="0" err="1">
                <a:solidFill>
                  <a:schemeClr val="folHlink"/>
                </a:solidFill>
              </a:rPr>
              <a:t>int</a:t>
            </a:r>
            <a:r>
              <a:rPr lang="en-GB" altLang="zh-CN" sz="1600" dirty="0">
                <a:solidFill>
                  <a:schemeClr val="folHlink"/>
                </a:solidFill>
              </a:rPr>
              <a:t>  </a:t>
            </a:r>
            <a:r>
              <a:rPr lang="en-GB" altLang="zh-CN" sz="1600" dirty="0" err="1">
                <a:solidFill>
                  <a:schemeClr val="folHlink"/>
                </a:solidFill>
              </a:rPr>
              <a:t>lowerBound</a:t>
            </a:r>
            <a:r>
              <a:rPr lang="en-GB" altLang="zh-CN" sz="1600" dirty="0">
                <a:solidFill>
                  <a:schemeClr val="folHlink"/>
                </a:solidFill>
              </a:rPr>
              <a:t>, </a:t>
            </a:r>
            <a:r>
              <a:rPr lang="en-GB" altLang="zh-CN" sz="1600" dirty="0" err="1">
                <a:solidFill>
                  <a:schemeClr val="folHlink"/>
                </a:solidFill>
              </a:rPr>
              <a:t>upperBound</a:t>
            </a:r>
            <a:r>
              <a:rPr lang="en-GB" altLang="zh-CN" sz="1600" dirty="0">
                <a:solidFill>
                  <a:schemeClr val="folHlink"/>
                </a:solidFill>
              </a:rPr>
              <a:t>;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	  public: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		double operator () (double, </a:t>
            </a:r>
            <a:r>
              <a:rPr lang="en-GB" altLang="zh-CN" sz="1600" dirty="0" err="1">
                <a:solidFill>
                  <a:schemeClr val="folHlink"/>
                </a:solidFill>
              </a:rPr>
              <a:t>int</a:t>
            </a:r>
            <a:r>
              <a:rPr lang="en-GB" altLang="zh-CN" sz="1600" dirty="0">
                <a:solidFill>
                  <a:schemeClr val="folHlink"/>
                </a:solidFill>
              </a:rPr>
              <a:t>, </a:t>
            </a:r>
            <a:r>
              <a:rPr lang="en-GB" altLang="zh-CN" sz="1600" dirty="0" err="1">
                <a:solidFill>
                  <a:schemeClr val="folHlink"/>
                </a:solidFill>
              </a:rPr>
              <a:t>int</a:t>
            </a:r>
            <a:r>
              <a:rPr lang="en-GB" altLang="zh-CN" sz="1600" dirty="0">
                <a:solidFill>
                  <a:schemeClr val="folHlink"/>
                </a:solidFill>
              </a:rPr>
              <a:t>);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	};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	…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	</a:t>
            </a:r>
            <a:r>
              <a:rPr lang="en-GB" altLang="zh-CN" sz="1600" dirty="0" err="1">
                <a:solidFill>
                  <a:schemeClr val="folHlink"/>
                </a:solidFill>
              </a:rPr>
              <a:t>Func</a:t>
            </a:r>
            <a:r>
              <a:rPr lang="en-GB" altLang="zh-CN" sz="1600" dirty="0">
                <a:solidFill>
                  <a:schemeClr val="folHlink"/>
                </a:solidFill>
              </a:rPr>
              <a:t> f;		//</a:t>
            </a:r>
            <a:r>
              <a:rPr lang="zh-CN" altLang="en-US" sz="1600" dirty="0">
                <a:solidFill>
                  <a:schemeClr val="folHlink"/>
                </a:solidFill>
              </a:rPr>
              <a:t>函数</a:t>
            </a:r>
            <a:r>
              <a:rPr lang="zh-CN" altLang="en-GB" sz="1600" dirty="0">
                <a:solidFill>
                  <a:schemeClr val="folHlink"/>
                </a:solidFill>
              </a:rPr>
              <a:t>对象</a:t>
            </a:r>
          </a:p>
          <a:p>
            <a:pPr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zh-CN" sz="1600" dirty="0">
                <a:solidFill>
                  <a:schemeClr val="folHlink"/>
                </a:solidFill>
              </a:rPr>
              <a:t>	f(2.4, 0, 8);</a:t>
            </a:r>
            <a:endParaRPr lang="zh-CN" altLang="en-US" sz="1600" dirty="0">
              <a:solidFill>
                <a:schemeClr val="folHlink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345113" y="1916113"/>
            <a:ext cx="3511550" cy="370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class Array2D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{    int n1, n2;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 int *p;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public: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  Array2D(int l, int c):n1(l),n2(c)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 {  p = new int[n1*n2]; 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 virtual ~Array2D() { delete[] p;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 int&amp; operator()(int i, int j)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{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     return  (p+i*n2)[j];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    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>
                <a:solidFill>
                  <a:srgbClr val="006600"/>
                </a:solidFill>
              </a:rPr>
              <a:t>};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501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32712" cy="45354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GB" altLang="en-US" sz="2800">
                <a:latin typeface="SimSun" charset="-122"/>
              </a:rPr>
              <a:t>类型转换运算符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zh-CN" altLang="en-GB" sz="2400">
                <a:latin typeface="SimSun" charset="-122"/>
              </a:rPr>
              <a:t>基本数据类型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GB" altLang="en-US" sz="2400">
                <a:latin typeface="SimSun" charset="-122"/>
              </a:rPr>
              <a:t>自定义类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en-US"/>
              <a:t>	</a:t>
            </a:r>
            <a:r>
              <a:rPr lang="en-US" altLang="zh-CN" sz="1800" i="1"/>
              <a:t>class Rational {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public 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	Rational(int n1, int n2) { n = n1; d = n2; }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	operator double() { return  (double)n/d;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private: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	int  n, d;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};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800" i="1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	Rational  r(1,2);  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 i="1"/>
              <a:t> 	double x = r;  x = x + r; </a:t>
            </a:r>
            <a:endParaRPr lang="zh-CN" altLang="en-US" sz="1800"/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5643563" y="2286000"/>
            <a:ext cx="25273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B0F0"/>
                </a:solidFill>
              </a:rPr>
              <a:t>ostream f(“abc.txt”);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>
                <a:solidFill>
                  <a:srgbClr val="00B0F0"/>
                </a:solidFill>
              </a:rPr>
              <a:t>if (f) ….</a:t>
            </a:r>
            <a:endParaRPr lang="zh-CN" altLang="en-US" sz="2000">
              <a:solidFill>
                <a:srgbClr val="00B0F0"/>
              </a:solidFill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715000" y="3357563"/>
            <a:ext cx="2487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>
                <a:solidFill>
                  <a:srgbClr val="00B0F0"/>
                </a:solidFill>
              </a:rPr>
              <a:t>重载  数值型：如 </a:t>
            </a:r>
            <a:r>
              <a:rPr lang="en-US" altLang="zh-CN" sz="2000">
                <a:solidFill>
                  <a:srgbClr val="00B0F0"/>
                </a:solidFill>
              </a:rPr>
              <a:t>int</a:t>
            </a:r>
            <a:endParaRPr lang="zh-CN" altLang="en-US" sz="2000">
              <a:solidFill>
                <a:srgbClr val="00B0F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203575" y="5445125"/>
            <a:ext cx="526256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800">
                <a:solidFill>
                  <a:srgbClr val="C00000"/>
                </a:solidFill>
              </a:rPr>
              <a:t>减少混合计算中需要定义的操作符重载函数的数量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5222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GB" altLang="en-US" sz="2800" i="1">
                <a:solidFill>
                  <a:schemeClr val="tx2"/>
                </a:solidFill>
                <a:latin typeface="SimSun" charset="-122"/>
                <a:sym typeface="Wingdings" panose="05000000000000000000" pitchFamily="2" charset="2"/>
              </a:rPr>
              <a:t>  </a:t>
            </a:r>
            <a:r>
              <a:rPr lang="en-GB" altLang="en-US" sz="1800" b="1" i="1">
                <a:solidFill>
                  <a:schemeClr val="tx2"/>
                </a:solidFill>
                <a:latin typeface="SimSun" charset="-122"/>
                <a:sym typeface="Wingdings" panose="05000000000000000000" pitchFamily="2" charset="2"/>
              </a:rPr>
              <a:t>smart pointer</a:t>
            </a:r>
          </a:p>
          <a:p>
            <a:pPr lvl="1" algn="just" eaLnBrk="1" hangingPunct="1"/>
            <a:r>
              <a:rPr lang="en-GB" altLang="en-US" sz="2400" i="1">
                <a:latin typeface="SimSun" charset="-122"/>
                <a:sym typeface="Wingdings" panose="05000000000000000000" pitchFamily="2" charset="2"/>
              </a:rPr>
              <a:t></a:t>
            </a:r>
            <a:r>
              <a:rPr lang="en-GB" altLang="en-US" sz="2400">
                <a:latin typeface="SimSun" charset="-122"/>
              </a:rPr>
              <a:t>为二元运算符</a:t>
            </a:r>
          </a:p>
        </p:txBody>
      </p:sp>
      <p:sp>
        <p:nvSpPr>
          <p:cNvPr id="113671" name="Text Box 7"/>
          <p:cNvSpPr txBox="1">
            <a:spLocks noChangeArrowheads="1"/>
          </p:cNvSpPr>
          <p:nvPr/>
        </p:nvSpPr>
        <p:spPr bwMode="auto">
          <a:xfrm>
            <a:off x="638175" y="3286125"/>
            <a:ext cx="4291013" cy="357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class  CPen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{      int   m_color;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       int   m_width;	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   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        void  setColor(int  c){ m_color = c;}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        int getWidth() { return m_width; }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};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class  C</a:t>
            </a:r>
            <a:r>
              <a:rPr lang="en-US" altLang="zh-CN" sz="1600">
                <a:solidFill>
                  <a:schemeClr val="folHlink"/>
                </a:solidFill>
              </a:rPr>
              <a:t>Panel</a:t>
            </a:r>
            <a:endParaRPr lang="en-GB" altLang="zh-CN" sz="1600">
              <a:solidFill>
                <a:schemeClr val="folHlink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{    CPen  m_pen;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      int  m_bkColor;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  public: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600">
                <a:solidFill>
                  <a:schemeClr val="folHlink"/>
                </a:solidFill>
              </a:rPr>
              <a:t>     void  setBkColor(int  c) { m_bkColor =c; }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chemeClr val="folHlink"/>
                </a:solidFill>
              </a:rPr>
              <a:t>}；</a:t>
            </a:r>
            <a:endParaRPr lang="zh-CN" altLang="en-US" sz="1800">
              <a:solidFill>
                <a:schemeClr val="folHlink"/>
              </a:solidFill>
            </a:endParaRPr>
          </a:p>
        </p:txBody>
      </p:sp>
      <p:sp>
        <p:nvSpPr>
          <p:cNvPr id="113672" name="Text Box 8"/>
          <p:cNvSpPr txBox="1">
            <a:spLocks noChangeArrowheads="1"/>
          </p:cNvSpPr>
          <p:nvPr/>
        </p:nvSpPr>
        <p:spPr bwMode="auto">
          <a:xfrm>
            <a:off x="5000625" y="3500438"/>
            <a:ext cx="4143375" cy="211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zh-CN" sz="1600"/>
              <a:t>CPanel</a:t>
            </a:r>
            <a:r>
              <a:rPr lang="en-GB" altLang="zh-CN" sz="1600">
                <a:latin typeface="Times New Roman" panose="02020603050405020304" charset="0"/>
              </a:rPr>
              <a:t>  c;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GB" altLang="zh-CN" sz="1600" b="1">
                <a:latin typeface="Times New Roman" panose="02020603050405020304" charset="0"/>
              </a:rPr>
              <a:t>c-&gt;setColor(16); 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GB" altLang="zh-CN" sz="1600" b="1">
                <a:latin typeface="Times New Roman" panose="02020603050405020304" charset="0"/>
                <a:sym typeface="Wingdings" panose="05000000000000000000" pitchFamily="2" charset="2"/>
              </a:rPr>
              <a:t>                   // </a:t>
            </a:r>
            <a:r>
              <a:rPr lang="en-GB" altLang="zh-CN" sz="1600" b="1">
                <a:latin typeface="Times New Roman" panose="02020603050405020304" charset="0"/>
              </a:rPr>
              <a:t>c.operator-&gt;()-&gt;setColor(16);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GB" altLang="zh-CN" sz="1600">
                <a:latin typeface="Times New Roman" panose="02020603050405020304" charset="0"/>
              </a:rPr>
              <a:t>	 </a:t>
            </a:r>
            <a:r>
              <a:rPr lang="en-GB" altLang="en-US" sz="1600">
                <a:latin typeface="Times New Roman" panose="02020603050405020304" charset="0"/>
              </a:rPr>
              <a:t>//c</a:t>
            </a:r>
            <a:r>
              <a:rPr lang="en-GB" altLang="zh-CN" sz="1600">
                <a:latin typeface="Times New Roman" panose="02020603050405020304" charset="0"/>
              </a:rPr>
              <a:t>.m_pen.setColor(16)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GB" altLang="zh-CN" sz="1600" b="1">
                <a:latin typeface="Times New Roman" panose="02020603050405020304" charset="0"/>
              </a:rPr>
              <a:t>c-&gt;getWidth();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GB" altLang="zh-CN" sz="1600" b="1">
                <a:latin typeface="Times New Roman" panose="02020603050405020304" charset="0"/>
                <a:sym typeface="Wingdings" panose="05000000000000000000" pitchFamily="2" charset="2"/>
              </a:rPr>
              <a:t>                  // c</a:t>
            </a:r>
            <a:r>
              <a:rPr lang="en-GB" altLang="zh-CN" sz="1600" b="1">
                <a:latin typeface="Times New Roman" panose="02020603050405020304" charset="0"/>
              </a:rPr>
              <a:t>.operator-&gt;()-&gt;getWidth();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GB" altLang="zh-CN" sz="1600">
                <a:latin typeface="Times New Roman" panose="02020603050405020304" charset="0"/>
              </a:rPr>
              <a:t>	//c.m_pen.getWidth()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000625" y="5945188"/>
            <a:ext cx="19351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GB" altLang="zh-CN" sz="1600"/>
              <a:t>CPanel *p=&amp;c;</a:t>
            </a:r>
          </a:p>
          <a:p>
            <a:pPr eaLnBrk="1" hangingPunct="1">
              <a:buClrTx/>
              <a:buSzTx/>
              <a:buFontTx/>
              <a:buNone/>
            </a:pPr>
            <a:r>
              <a:rPr lang="en-GB" altLang="zh-CN" sz="1600"/>
              <a:t>p-&gt;setBkColor(10);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859463" y="2071688"/>
            <a:ext cx="2111375" cy="950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Tahoma" panose="020B0804030504040204" charset="0"/>
                <a:ea typeface="SimSun" charset="-122"/>
              </a:rPr>
              <a:t>A  </a:t>
            </a:r>
            <a:r>
              <a:rPr lang="en-US" altLang="zh-CN" sz="1800" dirty="0" err="1">
                <a:solidFill>
                  <a:schemeClr val="accent2">
                    <a:lumMod val="50000"/>
                  </a:schemeClr>
                </a:solidFill>
                <a:latin typeface="Tahoma" panose="020B0804030504040204" charset="0"/>
                <a:ea typeface="SimSun" charset="-122"/>
              </a:rPr>
              <a:t>a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Tahoma" panose="020B0804030504040204" charset="0"/>
                <a:ea typeface="SimSun" charset="-122"/>
              </a:rPr>
              <a:t>;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Tahoma" panose="020B0804030504040204" charset="0"/>
                <a:ea typeface="SimSun" charset="-122"/>
              </a:rPr>
              <a:t>a-&gt;f();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lang="en-US" altLang="zh-CN" sz="1800" dirty="0" err="1">
                <a:solidFill>
                  <a:schemeClr val="accent2">
                    <a:lumMod val="50000"/>
                  </a:schemeClr>
                </a:solidFill>
                <a:latin typeface="Tahoma" panose="020B0804030504040204" charset="0"/>
                <a:ea typeface="SimSun" charset="-122"/>
              </a:rPr>
              <a:t>a.operator</a:t>
            </a:r>
            <a:r>
              <a:rPr lang="en-US" altLang="zh-CN" sz="1800" dirty="0">
                <a:solidFill>
                  <a:schemeClr val="accent2">
                    <a:lumMod val="50000"/>
                  </a:schemeClr>
                </a:solidFill>
                <a:latin typeface="Tahoma" panose="020B0804030504040204" charset="0"/>
                <a:ea typeface="SimSun" charset="-122"/>
              </a:rPr>
              <a:t>-&gt;( f) ??</a:t>
            </a:r>
            <a:endParaRPr lang="zh-CN" altLang="en-US" sz="1800" dirty="0">
              <a:solidFill>
                <a:schemeClr val="accent2">
                  <a:lumMod val="50000"/>
                </a:schemeClr>
              </a:solidFill>
              <a:latin typeface="Tahoma" panose="020B0804030504040204" charset="0"/>
              <a:ea typeface="SimSun" charset="-122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714500" y="2928938"/>
            <a:ext cx="70469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marL="0" lvl="1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GB" altLang="en-US" sz="2000" b="1">
                <a:solidFill>
                  <a:srgbClr val="002060"/>
                </a:solidFill>
                <a:latin typeface="SimSun" charset="-122"/>
              </a:rPr>
              <a:t>重载</a:t>
            </a:r>
            <a:r>
              <a:rPr lang="en-GB" altLang="zh-CN" sz="2000" b="1">
                <a:solidFill>
                  <a:srgbClr val="002060"/>
                </a:solidFill>
                <a:latin typeface="SimSun" charset="-122"/>
              </a:rPr>
              <a:t>时</a:t>
            </a:r>
            <a:r>
              <a:rPr lang="zh-CN" altLang="en-GB" sz="2000" b="1">
                <a:solidFill>
                  <a:srgbClr val="002060"/>
                </a:solidFill>
                <a:latin typeface="SimSun" charset="-122"/>
              </a:rPr>
              <a:t>按</a:t>
            </a:r>
            <a:r>
              <a:rPr lang="en-US" altLang="en-GB" sz="2000" b="1">
                <a:solidFill>
                  <a:srgbClr val="002060"/>
                </a:solidFill>
                <a:latin typeface="SimSun" charset="-122"/>
              </a:rPr>
              <a:t>一元操作符</a:t>
            </a:r>
            <a:r>
              <a:rPr lang="en-US" altLang="zh-CN" sz="2000" b="1">
                <a:solidFill>
                  <a:srgbClr val="002060"/>
                </a:solidFill>
                <a:latin typeface="SimSun" charset="-122"/>
              </a:rPr>
              <a:t>重载</a:t>
            </a:r>
            <a:r>
              <a:rPr lang="zh-CN" altLang="en-US" sz="2000" b="1">
                <a:solidFill>
                  <a:srgbClr val="002060"/>
                </a:solidFill>
                <a:latin typeface="SimSun" charset="-122"/>
              </a:rPr>
              <a:t>描述      </a:t>
            </a:r>
            <a:r>
              <a:rPr lang="en-US" altLang="zh-CN" sz="2000" b="1">
                <a:solidFill>
                  <a:srgbClr val="002060"/>
                </a:solidFill>
                <a:latin typeface="SimSun" charset="-122"/>
              </a:rPr>
              <a:t>a.operator -&gt;()</a:t>
            </a:r>
            <a:r>
              <a:rPr lang="en-US" altLang="zh-CN" sz="2000" b="1">
                <a:solidFill>
                  <a:srgbClr val="006600"/>
                </a:solidFill>
                <a:latin typeface="SimSun" charset="-122"/>
              </a:rPr>
              <a:t>-&gt;</a:t>
            </a:r>
            <a:r>
              <a:rPr lang="en-US" altLang="zh-CN" sz="2000" b="1">
                <a:solidFill>
                  <a:srgbClr val="002060"/>
                </a:solidFill>
                <a:latin typeface="SimSun" charset="-122"/>
              </a:rPr>
              <a:t>f()</a:t>
            </a:r>
            <a:endParaRPr lang="zh-CN" altLang="en-US" sz="2000" b="1">
              <a:solidFill>
                <a:srgbClr val="00206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971550" y="5995988"/>
            <a:ext cx="3798888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GB" altLang="zh-CN" sz="1600">
                <a:solidFill>
                  <a:srgbClr val="006600"/>
                </a:solidFill>
              </a:rPr>
              <a:t>CPen* operator -&gt;() { return &amp;m_pen;}</a:t>
            </a:r>
            <a:endParaRPr lang="zh-CN" altLang="en-US" sz="1600">
              <a:solidFill>
                <a:srgbClr val="00660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971550" y="5995988"/>
            <a:ext cx="3300413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/>
              <a:t>CPen* getPen() {return &amp;m_pen;}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021263" y="3500438"/>
            <a:ext cx="329565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600" b="1">
                <a:latin typeface="Times New Roman" panose="02020603050405020304" charset="0"/>
              </a:rPr>
              <a:t>CPanel c;  c.getPen()-&gt;setColor(16);</a:t>
            </a:r>
            <a:endParaRPr lang="zh-CN" altLang="en-US" sz="1600" b="1">
              <a:latin typeface="Times New Roman" panose="02020603050405020304" charset="0"/>
            </a:endParaRPr>
          </a:p>
        </p:txBody>
      </p:sp>
      <p:cxnSp>
        <p:nvCxnSpPr>
          <p:cNvPr id="14" name="直接连接符 13"/>
          <p:cNvCxnSpPr>
            <a:cxnSpLocks noChangeShapeType="1"/>
          </p:cNvCxnSpPr>
          <p:nvPr/>
        </p:nvCxnSpPr>
        <p:spPr bwMode="auto">
          <a:xfrm>
            <a:off x="6156325" y="3284538"/>
            <a:ext cx="1584325" cy="0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6190724" y="3284538"/>
            <a:ext cx="2045753" cy="313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C00000"/>
                </a:solidFill>
              </a:rPr>
              <a:t>必须返回指针类型？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3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1" grpId="0"/>
      <p:bldP spid="113672" grpId="0" autoUpdateAnimBg="0"/>
      <p:bldP spid="6" grpId="0" build="allAtOnce"/>
      <p:bldP spid="7" grpId="0" build="allAtOnce"/>
      <p:bldP spid="8" grpId="0" build="allAtOnce"/>
      <p:bldP spid="10" grpId="0" build="p"/>
      <p:bldP spid="11" grpId="0" build="allAtOnce"/>
      <p:bldP spid="11" grpId="1" build="allAtOnce"/>
      <p:bldP spid="12" grpId="0" build="allAtOnce"/>
      <p:bldP spid="12" grpId="1" build="allAtOnce"/>
      <p:bldP spid="15" grpId="0" build="allAtOnce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Prevent memory Leak</a:t>
            </a:r>
            <a:endParaRPr lang="zh-CN" altLang="en-US"/>
          </a:p>
        </p:txBody>
      </p:sp>
      <p:sp>
        <p:nvSpPr>
          <p:cNvPr id="53250" name="TextBox 3"/>
          <p:cNvSpPr txBox="1">
            <a:spLocks noChangeArrowheads="1"/>
          </p:cNvSpPr>
          <p:nvPr/>
        </p:nvSpPr>
        <p:spPr bwMode="auto">
          <a:xfrm>
            <a:off x="277813" y="2205038"/>
            <a:ext cx="2192337" cy="298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class A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{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  public: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  void f();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  int g(double);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  void h(char);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};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2400"/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/>
          </a:p>
        </p:txBody>
      </p:sp>
      <p:sp>
        <p:nvSpPr>
          <p:cNvPr id="53251" name="TextBox 4"/>
          <p:cNvSpPr txBox="1">
            <a:spLocks noChangeArrowheads="1"/>
          </p:cNvSpPr>
          <p:nvPr/>
        </p:nvSpPr>
        <p:spPr bwMode="auto">
          <a:xfrm>
            <a:off x="2411413" y="2133600"/>
            <a:ext cx="2136775" cy="399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void test()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{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A *p = new A;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……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p-&gt;f();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……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p-&gt;g(1.1);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……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p-&gt;h(‘A’);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……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1800">
              <a:solidFill>
                <a:srgbClr val="002060"/>
              </a:solidFill>
            </a:endParaRP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1800">
              <a:solidFill>
                <a:srgbClr val="00206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}</a:t>
            </a:r>
            <a:endParaRPr lang="zh-CN" altLang="en-US" sz="1800">
              <a:solidFill>
                <a:srgbClr val="002060"/>
              </a:solidFill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843213" y="5229225"/>
            <a:ext cx="1090612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marL="0"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delete p;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787900" y="3860800"/>
            <a:ext cx="3987800" cy="247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class AWrapper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{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       A* p;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  public: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 AWrapper(A *p) { this-&gt;p = p;}</a:t>
            </a:r>
          </a:p>
          <a:p>
            <a:pPr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~AWrapper() { delete p;}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zh-CN" sz="1800">
              <a:solidFill>
                <a:srgbClr val="002060"/>
              </a:solidFill>
            </a:endParaRP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002060"/>
                </a:solidFill>
              </a:rPr>
              <a:t>};</a:t>
            </a:r>
            <a:endParaRPr lang="zh-CN" altLang="en-US" sz="240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2830513" y="2798763"/>
            <a:ext cx="2389187" cy="342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marL="0"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C00000"/>
                </a:solidFill>
              </a:rPr>
              <a:t>AWrapper  p(new A);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292725" y="5661025"/>
            <a:ext cx="3003550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marL="0" lvl="1" algn="just" eaLnBrk="1" hangingPunct="1">
              <a:lnSpc>
                <a:spcPct val="90000"/>
              </a:lnSpc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800">
                <a:solidFill>
                  <a:srgbClr val="C00000"/>
                </a:solidFill>
              </a:rPr>
              <a:t>A*operator-&gt;() { return p;}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 rot="-454879">
            <a:off x="5386388" y="2071688"/>
            <a:ext cx="1287462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b="1" i="0">
                <a:solidFill>
                  <a:srgbClr val="C00000"/>
                </a:solidFill>
              </a:rPr>
              <a:t>局限性</a:t>
            </a:r>
            <a:r>
              <a:rPr lang="en-US" altLang="zh-CN" sz="2400" b="1" i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260975" y="2565400"/>
            <a:ext cx="38830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000" b="1" i="0">
                <a:solidFill>
                  <a:srgbClr val="002060"/>
                </a:solidFill>
              </a:rPr>
              <a:t>须符合</a:t>
            </a:r>
            <a:r>
              <a:rPr lang="en-US" altLang="zh-CN" sz="2000" b="1" i="0">
                <a:solidFill>
                  <a:srgbClr val="002060"/>
                </a:solidFill>
              </a:rPr>
              <a:t>compiler</a:t>
            </a:r>
            <a:r>
              <a:rPr lang="zh-CN" altLang="en-US" sz="2000" b="1" i="0">
                <a:solidFill>
                  <a:srgbClr val="002060"/>
                </a:solidFill>
              </a:rPr>
              <a:t>控制的生命周期</a:t>
            </a:r>
            <a:endParaRPr lang="zh-CN" altLang="en-US" sz="2400"/>
          </a:p>
        </p:txBody>
      </p:sp>
      <p:sp>
        <p:nvSpPr>
          <p:cNvPr id="26635" name="TextBox 11"/>
          <p:cNvSpPr txBox="1">
            <a:spLocks noChangeArrowheads="1"/>
          </p:cNvSpPr>
          <p:nvPr/>
        </p:nvSpPr>
        <p:spPr bwMode="auto">
          <a:xfrm>
            <a:off x="5003800" y="4365625"/>
            <a:ext cx="703263" cy="4238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32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8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2000">
                <a:solidFill>
                  <a:schemeClr val="tx1"/>
                </a:solidFill>
                <a:latin typeface="Tahoma" panose="020B0804030504040204" charset="0"/>
                <a:ea typeface="SimSun" charset="-122"/>
              </a:defRPr>
            </a:lvl9pPr>
          </a:lstStyle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rgbClr val="FF0000"/>
                </a:solidFill>
              </a:rPr>
              <a:t>? T 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266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2000"/>
                                        <p:tgtEl>
                                          <p:spTgt spid="26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/>
      <p:bldP spid="6" grpId="1" build="allAtOnce"/>
      <p:bldP spid="7" grpId="0" build="allAtOnce"/>
      <p:bldP spid="8" grpId="0" build="allAtOnce" animBg="1"/>
      <p:bldP spid="9" grpId="0" build="allAtOnce"/>
      <p:bldP spid="10" grpId="0" build="allAtOnce"/>
      <p:bldP spid="11" grpId="0" build="allAtOnce"/>
      <p:bldP spid="26635" grpId="0" build="allAtOnce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en-GB" altLang="zh-CN" sz="2400" i="1"/>
              <a:t>new 、delete</a:t>
            </a:r>
          </a:p>
          <a:p>
            <a:pPr lvl="1" algn="just" eaLnBrk="1" hangingPunct="1"/>
            <a:r>
              <a:rPr lang="en-GB" altLang="zh-CN" sz="2000">
                <a:latin typeface="SimSun" charset="-122"/>
              </a:rPr>
              <a:t>频繁</a:t>
            </a:r>
            <a:r>
              <a:rPr lang="en-GB" altLang="en-US" sz="2000">
                <a:latin typeface="SimSun" charset="-122"/>
              </a:rPr>
              <a:t>调用系统的存储管理</a:t>
            </a:r>
            <a:r>
              <a:rPr lang="en-GB" altLang="zh-CN" sz="2000">
                <a:latin typeface="SimSun" charset="-122"/>
              </a:rPr>
              <a:t>，</a:t>
            </a:r>
            <a:r>
              <a:rPr lang="zh-CN" altLang="en-GB" sz="2000">
                <a:latin typeface="SimSun" charset="-122"/>
              </a:rPr>
              <a:t>影响</a:t>
            </a:r>
            <a:r>
              <a:rPr lang="en-GB" altLang="en-US" sz="2000">
                <a:latin typeface="SimSun" charset="-122"/>
              </a:rPr>
              <a:t>效率</a:t>
            </a:r>
          </a:p>
          <a:p>
            <a:pPr lvl="1" algn="just" eaLnBrk="1" hangingPunct="1"/>
            <a:endParaRPr lang="en-GB" altLang="en-US" sz="2000">
              <a:latin typeface="SimSun" charset="-122"/>
            </a:endParaRPr>
          </a:p>
          <a:p>
            <a:pPr lvl="1" algn="just" eaLnBrk="1" hangingPunct="1"/>
            <a:r>
              <a:rPr lang="en-GB" altLang="zh-CN" sz="2000">
                <a:latin typeface="SimSun" charset="-122"/>
              </a:rPr>
              <a:t>程序</a:t>
            </a:r>
            <a:r>
              <a:rPr lang="en-GB" altLang="en-US" sz="2000">
                <a:latin typeface="SimSun" charset="-122"/>
              </a:rPr>
              <a:t>自</a:t>
            </a:r>
            <a:r>
              <a:rPr lang="en-GB" altLang="zh-CN" sz="2000">
                <a:latin typeface="SimSun" charset="-122"/>
              </a:rPr>
              <a:t>身</a:t>
            </a:r>
            <a:r>
              <a:rPr lang="en-GB" altLang="en-US" sz="2000">
                <a:latin typeface="SimSun" charset="-122"/>
              </a:rPr>
              <a:t>管理内存</a:t>
            </a:r>
            <a:r>
              <a:rPr lang="en-GB" altLang="zh-CN" sz="2000">
                <a:latin typeface="SimSun" charset="-122"/>
              </a:rPr>
              <a:t>，</a:t>
            </a:r>
            <a:r>
              <a:rPr lang="en-GB" altLang="en-US" sz="2000">
                <a:latin typeface="SimSun" charset="-122"/>
              </a:rPr>
              <a:t>提高效率</a:t>
            </a:r>
          </a:p>
          <a:p>
            <a:pPr lvl="1" algn="just" eaLnBrk="1" hangingPunct="1"/>
            <a:endParaRPr lang="en-GB" altLang="zh-CN" sz="2000">
              <a:latin typeface="SimSun" charset="-122"/>
            </a:endParaRPr>
          </a:p>
          <a:p>
            <a:pPr lvl="1" algn="just" eaLnBrk="1" hangingPunct="1"/>
            <a:r>
              <a:rPr lang="en-GB" altLang="zh-CN" sz="2000">
                <a:latin typeface="SimSun" charset="-122"/>
              </a:rPr>
              <a:t>方法</a:t>
            </a:r>
          </a:p>
          <a:p>
            <a:pPr lvl="2" algn="just" eaLnBrk="1" hangingPunct="1"/>
            <a:r>
              <a:rPr lang="en-GB" altLang="en-US" sz="2000">
                <a:latin typeface="SimSun" charset="-122"/>
              </a:rPr>
              <a:t>调用系统存储分配</a:t>
            </a:r>
            <a:r>
              <a:rPr lang="en-GB" altLang="zh-CN" sz="2000">
                <a:latin typeface="SimSun" charset="-122"/>
              </a:rPr>
              <a:t>，</a:t>
            </a:r>
            <a:r>
              <a:rPr lang="en-GB" altLang="en-US" sz="2000">
                <a:latin typeface="SimSun" charset="-122"/>
              </a:rPr>
              <a:t>申请一块较大的内存</a:t>
            </a:r>
          </a:p>
          <a:p>
            <a:pPr lvl="2" algn="just" eaLnBrk="1" hangingPunct="1"/>
            <a:r>
              <a:rPr lang="en-US" altLang="zh-CN" sz="2000">
                <a:latin typeface="SimSun" charset="-122"/>
              </a:rPr>
              <a:t>针对</a:t>
            </a:r>
            <a:r>
              <a:rPr lang="en-GB" altLang="en-US" sz="2000">
                <a:latin typeface="SimSun" charset="-122"/>
              </a:rPr>
              <a:t>该内存</a:t>
            </a:r>
            <a:r>
              <a:rPr lang="en-GB" altLang="zh-CN" sz="2000">
                <a:latin typeface="SimSun" charset="-122"/>
              </a:rPr>
              <a:t>，</a:t>
            </a:r>
            <a:r>
              <a:rPr lang="en-GB" altLang="en-US" sz="2000">
                <a:latin typeface="SimSun" charset="-122"/>
              </a:rPr>
              <a:t>自己</a:t>
            </a:r>
            <a:r>
              <a:rPr lang="en-US" altLang="zh-CN" sz="2000">
                <a:latin typeface="SimSun" charset="-122"/>
              </a:rPr>
              <a:t>管理</a:t>
            </a:r>
            <a:r>
              <a:rPr lang="en-GB" altLang="en-US" sz="2000">
                <a:latin typeface="SimSun" charset="-122"/>
              </a:rPr>
              <a:t>存储分配</a:t>
            </a:r>
            <a:r>
              <a:rPr lang="en-GB" altLang="zh-CN" sz="2000">
                <a:latin typeface="SimSun" charset="-122"/>
              </a:rPr>
              <a:t>、</a:t>
            </a:r>
            <a:r>
              <a:rPr lang="en-GB" altLang="en-US" sz="2000">
                <a:latin typeface="SimSun" charset="-122"/>
              </a:rPr>
              <a:t>去配</a:t>
            </a:r>
          </a:p>
          <a:p>
            <a:pPr lvl="2" algn="just" eaLnBrk="1" hangingPunct="1"/>
            <a:r>
              <a:rPr lang="en-GB" altLang="en-US" sz="2000">
                <a:latin typeface="SimSun" charset="-122"/>
              </a:rPr>
              <a:t>通过重载 </a:t>
            </a:r>
            <a:r>
              <a:rPr lang="en-GB" altLang="zh-CN" sz="2000" i="1"/>
              <a:t>new</a:t>
            </a:r>
            <a:r>
              <a:rPr lang="en-GB" altLang="zh-CN" sz="2000" i="1">
                <a:latin typeface="SimSun" charset="-122"/>
              </a:rPr>
              <a:t> </a:t>
            </a:r>
            <a:r>
              <a:rPr lang="en-GB" altLang="en-US" sz="2000">
                <a:latin typeface="SimSun" charset="-122"/>
              </a:rPr>
              <a:t>与 </a:t>
            </a:r>
            <a:r>
              <a:rPr lang="en-GB" altLang="zh-CN" sz="2000" i="1"/>
              <a:t>delete</a:t>
            </a:r>
            <a:r>
              <a:rPr lang="en-GB" altLang="zh-CN" sz="2000" i="1">
                <a:latin typeface="SimSun" charset="-122"/>
              </a:rPr>
              <a:t> </a:t>
            </a:r>
            <a:r>
              <a:rPr lang="en-GB" altLang="en-US" sz="2000">
                <a:latin typeface="SimSun" charset="-122"/>
              </a:rPr>
              <a:t>来实现</a:t>
            </a:r>
          </a:p>
          <a:p>
            <a:pPr lvl="2" algn="just" eaLnBrk="1" hangingPunct="1"/>
            <a:r>
              <a:rPr lang="en-GB" altLang="en-US" sz="2000">
                <a:latin typeface="SimSun" charset="-122"/>
              </a:rPr>
              <a:t>重载的 </a:t>
            </a:r>
            <a:r>
              <a:rPr lang="en-GB" altLang="zh-CN" sz="2000" i="1"/>
              <a:t>new</a:t>
            </a:r>
            <a:r>
              <a:rPr lang="en-GB" altLang="zh-CN" sz="2000" i="1">
                <a:latin typeface="SimSun" charset="-122"/>
              </a:rPr>
              <a:t> </a:t>
            </a:r>
            <a:r>
              <a:rPr lang="en-GB" altLang="en-US" sz="2000">
                <a:latin typeface="SimSun" charset="-122"/>
              </a:rPr>
              <a:t>和 </a:t>
            </a:r>
            <a:r>
              <a:rPr lang="en-GB" altLang="zh-CN" sz="2000" i="1"/>
              <a:t>delete</a:t>
            </a:r>
            <a:r>
              <a:rPr lang="en-GB" altLang="zh-CN" sz="2000" i="1">
                <a:latin typeface="SimSun" charset="-122"/>
              </a:rPr>
              <a:t> </a:t>
            </a:r>
            <a:r>
              <a:rPr lang="en-GB" altLang="en-US" sz="2000">
                <a:latin typeface="SimSun" charset="-122"/>
              </a:rPr>
              <a:t>是静态成员</a:t>
            </a:r>
          </a:p>
          <a:p>
            <a:pPr lvl="2" algn="just" eaLnBrk="1" hangingPunct="1"/>
            <a:r>
              <a:rPr lang="en-GB" altLang="en-US" sz="2000">
                <a:latin typeface="SimSun" charset="-122"/>
              </a:rPr>
              <a:t>重载的 </a:t>
            </a:r>
            <a:r>
              <a:rPr lang="en-GB" altLang="zh-CN" sz="2000" i="1"/>
              <a:t>new</a:t>
            </a:r>
            <a:r>
              <a:rPr lang="en-GB" altLang="zh-CN" sz="2000" i="1">
                <a:latin typeface="SimSun" charset="-122"/>
              </a:rPr>
              <a:t> </a:t>
            </a:r>
            <a:r>
              <a:rPr lang="en-GB" altLang="en-US" sz="2000">
                <a:latin typeface="SimSun" charset="-122"/>
              </a:rPr>
              <a:t>和 </a:t>
            </a:r>
            <a:r>
              <a:rPr lang="en-GB" altLang="zh-CN" sz="2000" i="1"/>
              <a:t>delete</a:t>
            </a:r>
            <a:r>
              <a:rPr lang="en-GB" altLang="zh-CN" sz="1800" i="1">
                <a:latin typeface="SimSun" charset="-122"/>
              </a:rPr>
              <a:t> </a:t>
            </a:r>
            <a:r>
              <a:rPr lang="zh-CN" altLang="en-US" sz="2000">
                <a:latin typeface="SimSun" charset="-122"/>
              </a:rPr>
              <a:t>遵循类的访问控制，</a:t>
            </a:r>
            <a:r>
              <a:rPr lang="en-GB" altLang="en-US" sz="2000">
                <a:latin typeface="SimSun" charset="-122"/>
              </a:rPr>
              <a:t>可继承</a:t>
            </a:r>
            <a:endParaRPr lang="zh-CN" altLang="en-US" sz="1800">
              <a:latin typeface="SimSun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459287"/>
          </a:xfrm>
        </p:spPr>
        <p:txBody>
          <a:bodyPr/>
          <a:lstStyle/>
          <a:p>
            <a:pPr eaLnBrk="1" hangingPunct="1"/>
            <a:r>
              <a:rPr lang="en-GB" altLang="en-US" sz="2400">
                <a:latin typeface="SimSun" charset="-122"/>
              </a:rPr>
              <a:t>重载 </a:t>
            </a:r>
            <a:r>
              <a:rPr lang="en-GB" altLang="zh-CN" sz="2400" i="1"/>
              <a:t>new</a:t>
            </a:r>
          </a:p>
          <a:p>
            <a:pPr lvl="1" eaLnBrk="1" hangingPunct="1"/>
            <a:r>
              <a:rPr lang="en-GB" altLang="zh-CN" sz="2000" i="1"/>
              <a:t>void *operator new (size_t size,  …)</a:t>
            </a:r>
          </a:p>
          <a:p>
            <a:pPr lvl="2" eaLnBrk="1" hangingPunct="1"/>
            <a:r>
              <a:rPr lang="zh-CN" altLang="en-GB" sz="2000"/>
              <a:t>名</a:t>
            </a:r>
            <a:r>
              <a:rPr lang="zh-CN" altLang="en-GB" sz="2000" i="1"/>
              <a:t>： </a:t>
            </a:r>
            <a:r>
              <a:rPr lang="en-GB" altLang="zh-CN" sz="2000" i="1"/>
              <a:t>operator new</a:t>
            </a:r>
          </a:p>
          <a:p>
            <a:pPr lvl="2" eaLnBrk="1" hangingPunct="1"/>
            <a:r>
              <a:rPr lang="en-GB" altLang="en-US" sz="2000">
                <a:latin typeface="SimSun" charset="-122"/>
              </a:rPr>
              <a:t>返回类型</a:t>
            </a:r>
            <a:r>
              <a:rPr lang="en-GB" altLang="zh-CN" sz="2000">
                <a:latin typeface="SimSun" charset="-122"/>
              </a:rPr>
              <a:t>： </a:t>
            </a:r>
            <a:r>
              <a:rPr lang="en-GB" altLang="zh-CN" sz="2000" i="1"/>
              <a:t>void *</a:t>
            </a:r>
          </a:p>
          <a:p>
            <a:pPr lvl="2" eaLnBrk="1" hangingPunct="1"/>
            <a:r>
              <a:rPr lang="en-GB" altLang="en-US" sz="2000">
                <a:latin typeface="SimSun" charset="-122"/>
              </a:rPr>
              <a:t>第一个参数</a:t>
            </a:r>
            <a:r>
              <a:rPr lang="en-GB" altLang="zh-CN" sz="2000">
                <a:latin typeface="SimSun" charset="-122"/>
              </a:rPr>
              <a:t>：</a:t>
            </a:r>
            <a:r>
              <a:rPr lang="en-GB" altLang="zh-CN" sz="2000" i="1"/>
              <a:t>size_t（unsigned int）</a:t>
            </a:r>
          </a:p>
          <a:p>
            <a:pPr lvl="3" eaLnBrk="1" hangingPunct="1"/>
            <a:r>
              <a:rPr lang="en-GB" altLang="en-US">
                <a:latin typeface="SimSun" charset="-122"/>
              </a:rPr>
              <a:t>系统自动计算对象的大小</a:t>
            </a:r>
            <a:r>
              <a:rPr lang="en-GB" altLang="zh-CN">
                <a:latin typeface="SimSun" charset="-122"/>
              </a:rPr>
              <a:t>，</a:t>
            </a:r>
            <a:r>
              <a:rPr lang="en-GB" altLang="en-US">
                <a:latin typeface="SimSun" charset="-122"/>
              </a:rPr>
              <a:t>并传</a:t>
            </a:r>
            <a:r>
              <a:rPr lang="en-GB" altLang="zh-CN">
                <a:latin typeface="SimSun" charset="-122"/>
              </a:rPr>
              <a:t>值</a:t>
            </a:r>
            <a:r>
              <a:rPr lang="en-GB" altLang="en-US">
                <a:latin typeface="SimSun" charset="-122"/>
              </a:rPr>
              <a:t>给</a:t>
            </a:r>
            <a:r>
              <a:rPr lang="en-GB" altLang="zh-CN">
                <a:latin typeface="SimSun" charset="-122"/>
              </a:rPr>
              <a:t>size</a:t>
            </a:r>
            <a:endParaRPr lang="en-GB" altLang="zh-CN" i="1"/>
          </a:p>
          <a:p>
            <a:pPr lvl="2" eaLnBrk="1" hangingPunct="1"/>
            <a:r>
              <a:rPr lang="en-GB" altLang="en-US" sz="2000">
                <a:latin typeface="SimSun" charset="-122"/>
              </a:rPr>
              <a:t>其它参数</a:t>
            </a:r>
            <a:r>
              <a:rPr lang="en-GB" altLang="zh-CN" sz="2000">
                <a:latin typeface="SimSun" charset="-122"/>
              </a:rPr>
              <a:t>：</a:t>
            </a:r>
            <a:r>
              <a:rPr lang="en-GB" altLang="en-US" sz="2000">
                <a:latin typeface="SimSun" charset="-122"/>
              </a:rPr>
              <a:t>可有可无</a:t>
            </a:r>
          </a:p>
          <a:p>
            <a:pPr lvl="3" eaLnBrk="1" hangingPunct="1"/>
            <a:r>
              <a:rPr lang="en-GB" altLang="zh-CN" i="1"/>
              <a:t>A * p = new (</a:t>
            </a:r>
            <a:r>
              <a:rPr lang="en-GB" altLang="zh-CN" i="1">
                <a:latin typeface="Times New Roman" panose="02020603050405020304" charset="0"/>
              </a:rPr>
              <a:t>…</a:t>
            </a:r>
            <a:r>
              <a:rPr lang="en-GB" altLang="zh-CN" i="1"/>
              <a:t>) A ， </a:t>
            </a:r>
            <a:r>
              <a:rPr lang="en-GB" altLang="en-US">
                <a:latin typeface="Times New Roman" panose="02020603050405020304" charset="0"/>
              </a:rPr>
              <a:t>…</a:t>
            </a:r>
            <a:r>
              <a:rPr lang="en-GB" altLang="en-US">
                <a:latin typeface="SimSun" charset="-122"/>
              </a:rPr>
              <a:t>表示传给</a:t>
            </a:r>
            <a:r>
              <a:rPr lang="en-GB" altLang="zh-CN" i="1"/>
              <a:t>new</a:t>
            </a:r>
            <a:r>
              <a:rPr lang="en-GB" altLang="en-US">
                <a:latin typeface="SimSun" charset="-122"/>
              </a:rPr>
              <a:t>的其它实参</a:t>
            </a:r>
          </a:p>
          <a:p>
            <a:pPr lvl="2" eaLnBrk="1" hangingPunct="1"/>
            <a:endParaRPr lang="en-US" altLang="en-US" sz="2000">
              <a:latin typeface="SimSun" charset="-122"/>
            </a:endParaRPr>
          </a:p>
          <a:p>
            <a:pPr lvl="1" eaLnBrk="1" hangingPunct="1"/>
            <a:r>
              <a:rPr lang="en-GB" altLang="zh-CN" sz="2000" i="1"/>
              <a:t>new </a:t>
            </a:r>
            <a:r>
              <a:rPr lang="en-GB" altLang="en-US" sz="2000">
                <a:latin typeface="SimSun" charset="-122"/>
              </a:rPr>
              <a:t>的重载可以有多个</a:t>
            </a:r>
          </a:p>
          <a:p>
            <a:pPr lvl="1" eaLnBrk="1" hangingPunct="1"/>
            <a:r>
              <a:rPr lang="en-GB" altLang="zh-CN" sz="2000">
                <a:latin typeface="SimSun" charset="-122"/>
              </a:rPr>
              <a:t>如</a:t>
            </a:r>
            <a:r>
              <a:rPr lang="zh-CN" altLang="en-GB" sz="2000">
                <a:latin typeface="SimSun" charset="-122"/>
              </a:rPr>
              <a:t>果</a:t>
            </a:r>
            <a:r>
              <a:rPr lang="en-US" altLang="en-GB" sz="2000">
                <a:latin typeface="SimSun" charset="-122"/>
              </a:rPr>
              <a:t>重载了</a:t>
            </a:r>
            <a:r>
              <a:rPr lang="en-GB" altLang="zh-CN" sz="2000" i="1"/>
              <a:t>new</a:t>
            </a:r>
            <a:r>
              <a:rPr lang="en-GB" altLang="en-US" sz="2000">
                <a:latin typeface="SimSun" charset="-122"/>
              </a:rPr>
              <a:t>，</a:t>
            </a:r>
            <a:r>
              <a:rPr lang="en-GB" altLang="zh-CN" sz="2000">
                <a:latin typeface="SimSun" charset="-122"/>
              </a:rPr>
              <a:t>那么</a:t>
            </a:r>
            <a:r>
              <a:rPr lang="en-GB" altLang="en-US" sz="2000">
                <a:latin typeface="SimSun" charset="-122"/>
              </a:rPr>
              <a:t>通过</a:t>
            </a:r>
            <a:r>
              <a:rPr lang="en-GB" altLang="zh-CN" sz="2000" i="1"/>
              <a:t>new </a:t>
            </a:r>
            <a:r>
              <a:rPr lang="en-GB" altLang="en-US" sz="2000">
                <a:latin typeface="SimSun" charset="-122"/>
              </a:rPr>
              <a:t>动态创建该类的对象时将不再调用内置的（预定义的）</a:t>
            </a:r>
            <a:r>
              <a:rPr lang="en-GB" altLang="zh-CN" sz="2000" i="1"/>
              <a:t>new</a:t>
            </a:r>
            <a:endParaRPr lang="zh-CN" altLang="en-US" sz="2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特殊操作符重载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3"/>
            <a:ext cx="7772400" cy="4306887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GB" altLang="en-US" sz="2400">
                <a:latin typeface="SimSun" charset="-122"/>
              </a:rPr>
              <a:t>重载 </a:t>
            </a:r>
            <a:r>
              <a:rPr lang="en-GB" altLang="zh-CN" sz="2400" i="1"/>
              <a:t>delete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GB" altLang="zh-CN" sz="2000" i="1"/>
              <a:t>void operator delete(void *p, size_t size)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latin typeface="SimSun" charset="-122"/>
              </a:rPr>
              <a:t>名</a:t>
            </a:r>
            <a:r>
              <a:rPr lang="en-GB" altLang="zh-CN" sz="2000">
                <a:latin typeface="SimSun" charset="-122"/>
              </a:rPr>
              <a:t>：</a:t>
            </a:r>
            <a:r>
              <a:rPr lang="en-GB" altLang="zh-CN" sz="2000" i="1"/>
              <a:t>operator delete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latin typeface="SimSun" charset="-122"/>
              </a:rPr>
              <a:t>返回类型</a:t>
            </a:r>
            <a:r>
              <a:rPr lang="en-GB" altLang="zh-CN" sz="2000">
                <a:latin typeface="SimSun" charset="-122"/>
              </a:rPr>
              <a:t>：</a:t>
            </a:r>
            <a:r>
              <a:rPr lang="en-GB" altLang="zh-CN" sz="2000" i="1"/>
              <a:t>void</a:t>
            </a: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latin typeface="SimSun" charset="-122"/>
              </a:rPr>
              <a:t>第一个参数</a:t>
            </a:r>
            <a:r>
              <a:rPr lang="en-GB" altLang="zh-CN" sz="2000">
                <a:latin typeface="SimSun" charset="-122"/>
              </a:rPr>
              <a:t>：</a:t>
            </a:r>
            <a:r>
              <a:rPr lang="en-GB" altLang="zh-CN" sz="2000" i="1"/>
              <a:t>void *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GB" altLang="zh-CN">
                <a:latin typeface="SimSun" charset="-122"/>
              </a:rPr>
              <a:t>被</a:t>
            </a:r>
            <a:r>
              <a:rPr lang="zh-CN" altLang="en-GB">
                <a:latin typeface="SimSun" charset="-122"/>
              </a:rPr>
              <a:t>撤销</a:t>
            </a:r>
            <a:r>
              <a:rPr lang="en-US" altLang="en-GB">
                <a:latin typeface="SimSun" charset="-122"/>
              </a:rPr>
              <a:t>对象的地址</a:t>
            </a:r>
            <a:endParaRPr lang="en-GB" altLang="zh-CN" i="1">
              <a:latin typeface="SimSun" charset="-122"/>
            </a:endParaRPr>
          </a:p>
          <a:p>
            <a:pPr lvl="2" algn="just" eaLnBrk="1" hangingPunct="1">
              <a:lnSpc>
                <a:spcPct val="90000"/>
              </a:lnSpc>
            </a:pPr>
            <a:r>
              <a:rPr lang="en-GB" altLang="en-US" sz="2000">
                <a:latin typeface="SimSun" charset="-122"/>
              </a:rPr>
              <a:t>第二个参数</a:t>
            </a:r>
            <a:r>
              <a:rPr lang="en-GB" altLang="zh-CN" sz="2000">
                <a:latin typeface="SimSun" charset="-122"/>
              </a:rPr>
              <a:t>：</a:t>
            </a:r>
            <a:r>
              <a:rPr lang="en-GB" altLang="en-US" sz="2000">
                <a:latin typeface="SimSun" charset="-122"/>
              </a:rPr>
              <a:t>可有可无</a:t>
            </a:r>
            <a:r>
              <a:rPr lang="en-GB" altLang="zh-CN" sz="2000">
                <a:latin typeface="SimSun" charset="-122"/>
              </a:rPr>
              <a:t>；</a:t>
            </a:r>
            <a:r>
              <a:rPr lang="en-GB" altLang="en-US" sz="2000">
                <a:latin typeface="SimSun" charset="-122"/>
              </a:rPr>
              <a:t>如果有，则必须是</a:t>
            </a:r>
            <a:r>
              <a:rPr lang="en-GB" altLang="zh-CN" sz="2000" i="1"/>
              <a:t>size_t </a:t>
            </a:r>
            <a:r>
              <a:rPr lang="en-GB" altLang="en-US" sz="2000">
                <a:latin typeface="SimSun" charset="-122"/>
              </a:rPr>
              <a:t>类型</a:t>
            </a:r>
          </a:p>
          <a:p>
            <a:pPr lvl="3" algn="just" eaLnBrk="1" hangingPunct="1">
              <a:lnSpc>
                <a:spcPct val="90000"/>
              </a:lnSpc>
            </a:pPr>
            <a:r>
              <a:rPr lang="en-US" altLang="zh-CN">
                <a:latin typeface="SimSun" charset="-122"/>
              </a:rPr>
              <a:t>被</a:t>
            </a:r>
            <a:r>
              <a:rPr lang="en-GB" altLang="en-US">
                <a:latin typeface="SimSun" charset="-122"/>
              </a:rPr>
              <a:t>撤消对象的大小</a:t>
            </a:r>
          </a:p>
          <a:p>
            <a:pPr lvl="3" algn="just" eaLnBrk="1" hangingPunct="1">
              <a:lnSpc>
                <a:spcPct val="90000"/>
              </a:lnSpc>
            </a:pPr>
            <a:endParaRPr lang="en-GB" altLang="en-US">
              <a:latin typeface="SimSun" charset="-12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GB" altLang="zh-CN" sz="2000" i="1"/>
              <a:t>delete </a:t>
            </a:r>
            <a:r>
              <a:rPr lang="en-GB" altLang="en-US" sz="2000">
                <a:latin typeface="SimSun" charset="-122"/>
              </a:rPr>
              <a:t>的重载只能有一个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GB" altLang="zh-CN" sz="2000">
                <a:latin typeface="SimSun" charset="-122"/>
              </a:rPr>
              <a:t>如果</a:t>
            </a:r>
            <a:r>
              <a:rPr lang="en-GB" altLang="en-US" sz="2000">
                <a:latin typeface="SimSun" charset="-122"/>
              </a:rPr>
              <a:t>重载了</a:t>
            </a:r>
            <a:r>
              <a:rPr lang="en-GB" altLang="zh-CN" sz="2000" i="1"/>
              <a:t>delete</a:t>
            </a:r>
            <a:r>
              <a:rPr lang="en-GB" altLang="en-US" sz="2000">
                <a:latin typeface="SimSun" charset="-122"/>
              </a:rPr>
              <a:t>，</a:t>
            </a:r>
            <a:r>
              <a:rPr lang="en-GB" altLang="zh-CN" sz="2000">
                <a:latin typeface="SimSun" charset="-122"/>
              </a:rPr>
              <a:t>那么</a:t>
            </a:r>
            <a:r>
              <a:rPr lang="en-GB" altLang="en-US" sz="2000">
                <a:latin typeface="SimSun" charset="-122"/>
              </a:rPr>
              <a:t>通过</a:t>
            </a:r>
            <a:r>
              <a:rPr lang="en-GB" altLang="zh-CN" sz="2000" i="1"/>
              <a:t>delete </a:t>
            </a:r>
            <a:r>
              <a:rPr lang="en-GB" altLang="en-US" sz="2000">
                <a:latin typeface="SimSun" charset="-122"/>
              </a:rPr>
              <a:t>撤消对象时将不再调用内置的（预定义的）</a:t>
            </a:r>
            <a:r>
              <a:rPr lang="en-GB" altLang="zh-CN" sz="2000" i="1"/>
              <a:t>delete</a:t>
            </a:r>
            <a:endParaRPr lang="zh-CN" altLang="en-US"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11324</TotalTime>
  <Words>3992</Words>
  <Application>Microsoft Macintosh PowerPoint</Application>
  <PresentationFormat>全屏显示(4:3)</PresentationFormat>
  <Paragraphs>848</Paragraphs>
  <Slides>45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3" baseType="lpstr">
      <vt:lpstr>SimSun</vt:lpstr>
      <vt:lpstr>SimSun</vt:lpstr>
      <vt:lpstr>Arial</vt:lpstr>
      <vt:lpstr>Calibri</vt:lpstr>
      <vt:lpstr>Tahoma</vt:lpstr>
      <vt:lpstr>Times New Roman</vt:lpstr>
      <vt:lpstr>Wingdings</vt:lpstr>
      <vt:lpstr>Blends</vt:lpstr>
      <vt:lpstr>C++程序设计（part 2）</vt:lpstr>
      <vt:lpstr>虚函数</vt:lpstr>
      <vt:lpstr>虚函数</vt:lpstr>
      <vt:lpstr>PowerPoint 演示文稿</vt:lpstr>
      <vt:lpstr>PowerPoint 演示文稿</vt:lpstr>
      <vt:lpstr>PowerPoint 演示文稿</vt:lpstr>
      <vt:lpstr>虚函数</vt:lpstr>
      <vt:lpstr>虚函数</vt:lpstr>
      <vt:lpstr>虚函数</vt:lpstr>
      <vt:lpstr>虚函数</vt:lpstr>
      <vt:lpstr>虚函数</vt:lpstr>
      <vt:lpstr>虚函数</vt:lpstr>
      <vt:lpstr>多继承</vt:lpstr>
      <vt:lpstr>多继承</vt:lpstr>
      <vt:lpstr>多继承</vt:lpstr>
      <vt:lpstr>多继承</vt:lpstr>
      <vt:lpstr>多继承</vt:lpstr>
      <vt:lpstr>多继承</vt:lpstr>
      <vt:lpstr>PowerPoint 演示文稿</vt:lpstr>
      <vt:lpstr>面向对象程序设计（part 3）</vt:lpstr>
      <vt:lpstr>多态</vt:lpstr>
      <vt:lpstr>操作符重载</vt:lpstr>
      <vt:lpstr>操作符重载</vt:lpstr>
      <vt:lpstr>操作符重载</vt:lpstr>
      <vt:lpstr>示例</vt:lpstr>
      <vt:lpstr>操作符重载</vt:lpstr>
      <vt:lpstr>操作符重载</vt:lpstr>
      <vt:lpstr>操作符重载</vt:lpstr>
      <vt:lpstr>操作符重载</vt:lpstr>
      <vt:lpstr>操作符重载</vt:lpstr>
      <vt:lpstr>操作符重载</vt:lpstr>
      <vt:lpstr>操作符重载</vt:lpstr>
      <vt:lpstr>操作符重载</vt:lpstr>
      <vt:lpstr>特殊操作符重载</vt:lpstr>
      <vt:lpstr>特殊操作符重载</vt:lpstr>
      <vt:lpstr>特殊操作符重载</vt:lpstr>
      <vt:lpstr>特殊操作符重载</vt:lpstr>
      <vt:lpstr>PowerPoint 演示文稿</vt:lpstr>
      <vt:lpstr>特殊操作符重载</vt:lpstr>
      <vt:lpstr>特殊操作符重载</vt:lpstr>
      <vt:lpstr>特殊操作符重载</vt:lpstr>
      <vt:lpstr>Prevent memory Leak</vt:lpstr>
      <vt:lpstr>特殊操作符重载</vt:lpstr>
      <vt:lpstr>特殊操作符重载</vt:lpstr>
      <vt:lpstr>特殊操作符重载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面向对象程序设计</dc:title>
  <dc:creator>zt</dc:creator>
  <cp:lastModifiedBy>Admin</cp:lastModifiedBy>
  <cp:revision>526</cp:revision>
  <cp:lastPrinted>1601-01-01T00:00:00Z</cp:lastPrinted>
  <dcterms:created xsi:type="dcterms:W3CDTF">2007-03-08T08:43:17Z</dcterms:created>
  <dcterms:modified xsi:type="dcterms:W3CDTF">2025-11-02T12:55:23Z</dcterms:modified>
</cp:coreProperties>
</file>