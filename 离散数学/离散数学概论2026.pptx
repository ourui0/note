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  <p:sldMasterId id="2147483665" r:id="rId2"/>
  </p:sldMasterIdLst>
  <p:notesMasterIdLst>
    <p:notesMasterId r:id="rId13"/>
  </p:notesMasterIdLst>
  <p:sldIdLst>
    <p:sldId id="256" r:id="rId3"/>
    <p:sldId id="392" r:id="rId4"/>
    <p:sldId id="257" r:id="rId5"/>
    <p:sldId id="393" r:id="rId6"/>
    <p:sldId id="258" r:id="rId7"/>
    <p:sldId id="259" r:id="rId8"/>
    <p:sldId id="390" r:id="rId9"/>
    <p:sldId id="391" r:id="rId10"/>
    <p:sldId id="266" r:id="rId11"/>
    <p:sldId id="394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55" d="100"/>
          <a:sy n="55" d="100"/>
        </p:scale>
        <p:origin x="64" y="2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viewProps" Target="viewProp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8CEE89A-1668-4011-BEBB-378FA89562DE}" type="doc">
      <dgm:prSet loTypeId="urn:microsoft.com/office/officeart/2005/8/layout/cycle6" loCatId="cycl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zh-CN" altLang="en-US"/>
        </a:p>
      </dgm:t>
    </dgm:pt>
    <dgm:pt modelId="{D6E6E79B-FDDD-48EC-ADEB-235DD4BB8AAC}">
      <dgm:prSet phldrT="[文本]"/>
      <dgm:spPr/>
      <dgm:t>
        <a:bodyPr/>
        <a:lstStyle/>
        <a:p>
          <a:r>
            <a:rPr lang="zh-CN" altLang="en-US" dirty="0"/>
            <a:t>数论</a:t>
          </a:r>
        </a:p>
      </dgm:t>
    </dgm:pt>
    <dgm:pt modelId="{4E3B9D00-5FF9-4C19-B1A0-593FA54C95C1}" type="parTrans" cxnId="{FDBCC685-923D-4ED2-913F-6181E4BD0421}">
      <dgm:prSet/>
      <dgm:spPr/>
      <dgm:t>
        <a:bodyPr/>
        <a:lstStyle/>
        <a:p>
          <a:endParaRPr lang="zh-CN" altLang="en-US"/>
        </a:p>
      </dgm:t>
    </dgm:pt>
    <dgm:pt modelId="{E36247DC-3E09-4EF8-8D8C-9C1D1B678766}" type="sibTrans" cxnId="{FDBCC685-923D-4ED2-913F-6181E4BD0421}">
      <dgm:prSet/>
      <dgm:spPr/>
      <dgm:t>
        <a:bodyPr/>
        <a:lstStyle/>
        <a:p>
          <a:endParaRPr lang="zh-CN" altLang="en-US"/>
        </a:p>
      </dgm:t>
    </dgm:pt>
    <dgm:pt modelId="{72233433-BCF3-46F2-9EA6-01E55EE6D580}">
      <dgm:prSet phldrT="[文本]"/>
      <dgm:spPr/>
      <dgm:t>
        <a:bodyPr/>
        <a:lstStyle/>
        <a:p>
          <a:r>
            <a:rPr lang="zh-CN" altLang="en-US" dirty="0"/>
            <a:t>图论</a:t>
          </a:r>
        </a:p>
      </dgm:t>
    </dgm:pt>
    <dgm:pt modelId="{607D9D3B-0E68-409E-94B3-AAFEFFE9D691}" type="parTrans" cxnId="{1B2CADA2-5E46-4666-9CB1-9B0657517DCF}">
      <dgm:prSet/>
      <dgm:spPr/>
      <dgm:t>
        <a:bodyPr/>
        <a:lstStyle/>
        <a:p>
          <a:endParaRPr lang="zh-CN" altLang="en-US"/>
        </a:p>
      </dgm:t>
    </dgm:pt>
    <dgm:pt modelId="{699694A0-A141-4A88-9869-18FB5128BB47}" type="sibTrans" cxnId="{1B2CADA2-5E46-4666-9CB1-9B0657517DCF}">
      <dgm:prSet/>
      <dgm:spPr/>
      <dgm:t>
        <a:bodyPr/>
        <a:lstStyle/>
        <a:p>
          <a:endParaRPr lang="zh-CN" altLang="en-US"/>
        </a:p>
      </dgm:t>
    </dgm:pt>
    <dgm:pt modelId="{FDA9CB3A-B963-4635-A242-AD3345E3F2F0}">
      <dgm:prSet phldrT="[文本]"/>
      <dgm:spPr/>
      <dgm:t>
        <a:bodyPr/>
        <a:lstStyle/>
        <a:p>
          <a:r>
            <a:rPr lang="zh-CN" altLang="en-US" dirty="0"/>
            <a:t>数理逻辑</a:t>
          </a:r>
        </a:p>
      </dgm:t>
    </dgm:pt>
    <dgm:pt modelId="{C47FAA15-7B49-405B-AAB5-A7A1B8944DDA}" type="parTrans" cxnId="{80F697AB-D1AB-44B2-BCF1-7D6CB200D4BE}">
      <dgm:prSet/>
      <dgm:spPr/>
      <dgm:t>
        <a:bodyPr/>
        <a:lstStyle/>
        <a:p>
          <a:endParaRPr lang="zh-CN" altLang="en-US"/>
        </a:p>
      </dgm:t>
    </dgm:pt>
    <dgm:pt modelId="{B7F35345-7220-45BE-B394-D5B99B7751DF}" type="sibTrans" cxnId="{80F697AB-D1AB-44B2-BCF1-7D6CB200D4BE}">
      <dgm:prSet/>
      <dgm:spPr/>
      <dgm:t>
        <a:bodyPr/>
        <a:lstStyle/>
        <a:p>
          <a:endParaRPr lang="zh-CN" altLang="en-US"/>
        </a:p>
      </dgm:t>
    </dgm:pt>
    <dgm:pt modelId="{FE3C5364-1053-4EEF-9B68-A39917BF0FFB}">
      <dgm:prSet phldrT="[文本]"/>
      <dgm:spPr/>
      <dgm:t>
        <a:bodyPr/>
        <a:lstStyle/>
        <a:p>
          <a:r>
            <a:rPr lang="zh-CN" altLang="en-US" dirty="0"/>
            <a:t>概率论</a:t>
          </a:r>
        </a:p>
      </dgm:t>
    </dgm:pt>
    <dgm:pt modelId="{66F2A010-0377-4C5C-A2AB-AB2DA5557225}" type="parTrans" cxnId="{35EA8193-6DA7-4390-AED6-4BEF1171ADA6}">
      <dgm:prSet/>
      <dgm:spPr/>
      <dgm:t>
        <a:bodyPr/>
        <a:lstStyle/>
        <a:p>
          <a:endParaRPr lang="zh-CN" altLang="en-US"/>
        </a:p>
      </dgm:t>
    </dgm:pt>
    <dgm:pt modelId="{1E8C34D4-D9C1-4FAF-8E91-CC5E0D6F2E91}" type="sibTrans" cxnId="{35EA8193-6DA7-4390-AED6-4BEF1171ADA6}">
      <dgm:prSet/>
      <dgm:spPr/>
      <dgm:t>
        <a:bodyPr/>
        <a:lstStyle/>
        <a:p>
          <a:endParaRPr lang="zh-CN" altLang="en-US"/>
        </a:p>
      </dgm:t>
    </dgm:pt>
    <dgm:pt modelId="{1928FF04-178B-4241-8CD8-1F497741A7C5}">
      <dgm:prSet phldrT="[文本]"/>
      <dgm:spPr/>
      <dgm:t>
        <a:bodyPr/>
        <a:lstStyle/>
        <a:p>
          <a:r>
            <a:rPr lang="zh-CN" altLang="en-US" dirty="0"/>
            <a:t>集合论</a:t>
          </a:r>
        </a:p>
      </dgm:t>
    </dgm:pt>
    <dgm:pt modelId="{11CAE1D8-5CA5-4345-9B06-EEDD611E976F}" type="parTrans" cxnId="{31E5DB3A-ADAD-4401-A42E-96F989EEA39E}">
      <dgm:prSet/>
      <dgm:spPr/>
      <dgm:t>
        <a:bodyPr/>
        <a:lstStyle/>
        <a:p>
          <a:endParaRPr lang="zh-CN" altLang="en-US"/>
        </a:p>
      </dgm:t>
    </dgm:pt>
    <dgm:pt modelId="{FA30CBF5-934B-4772-9533-E6DE9C234584}" type="sibTrans" cxnId="{31E5DB3A-ADAD-4401-A42E-96F989EEA39E}">
      <dgm:prSet/>
      <dgm:spPr/>
      <dgm:t>
        <a:bodyPr/>
        <a:lstStyle/>
        <a:p>
          <a:endParaRPr lang="zh-CN" altLang="en-US"/>
        </a:p>
      </dgm:t>
    </dgm:pt>
    <dgm:pt modelId="{A7B8B3BD-D1BB-44D2-99E1-F3B9BC977134}">
      <dgm:prSet phldrT="[文本]"/>
      <dgm:spPr/>
      <dgm:t>
        <a:bodyPr/>
        <a:lstStyle/>
        <a:p>
          <a:r>
            <a:rPr lang="zh-CN" altLang="en-US" dirty="0"/>
            <a:t>组合数学</a:t>
          </a:r>
        </a:p>
      </dgm:t>
    </dgm:pt>
    <dgm:pt modelId="{282F1890-876C-445C-87FE-9F1B2905DA5A}" type="parTrans" cxnId="{C9C6B252-AB3E-4BCE-89A9-53883DF62AEA}">
      <dgm:prSet/>
      <dgm:spPr/>
      <dgm:t>
        <a:bodyPr/>
        <a:lstStyle/>
        <a:p>
          <a:endParaRPr lang="zh-CN" altLang="en-US"/>
        </a:p>
      </dgm:t>
    </dgm:pt>
    <dgm:pt modelId="{FA2C6841-E895-42E9-9EE4-6974C7D849EE}" type="sibTrans" cxnId="{C9C6B252-AB3E-4BCE-89A9-53883DF62AEA}">
      <dgm:prSet/>
      <dgm:spPr/>
      <dgm:t>
        <a:bodyPr/>
        <a:lstStyle/>
        <a:p>
          <a:endParaRPr lang="zh-CN" altLang="en-US"/>
        </a:p>
      </dgm:t>
    </dgm:pt>
    <dgm:pt modelId="{2D263765-7047-43E1-B328-0E65B7674907}">
      <dgm:prSet phldrT="[文本]"/>
      <dgm:spPr/>
      <dgm:t>
        <a:bodyPr/>
        <a:lstStyle/>
        <a:p>
          <a:r>
            <a:rPr lang="zh-CN" altLang="en-US" dirty="0"/>
            <a:t>计算模型</a:t>
          </a:r>
        </a:p>
      </dgm:t>
    </dgm:pt>
    <dgm:pt modelId="{B93EAA61-D1C8-4214-A36D-EF87754BE78F}" type="parTrans" cxnId="{2CE71CF8-3F1F-4350-AD33-258CC6174C91}">
      <dgm:prSet/>
      <dgm:spPr/>
      <dgm:t>
        <a:bodyPr/>
        <a:lstStyle/>
        <a:p>
          <a:endParaRPr lang="zh-CN" altLang="en-US"/>
        </a:p>
      </dgm:t>
    </dgm:pt>
    <dgm:pt modelId="{10C114EF-43AD-41DB-B695-4328D62ABCAE}" type="sibTrans" cxnId="{2CE71CF8-3F1F-4350-AD33-258CC6174C91}">
      <dgm:prSet/>
      <dgm:spPr/>
      <dgm:t>
        <a:bodyPr/>
        <a:lstStyle/>
        <a:p>
          <a:endParaRPr lang="zh-CN" altLang="en-US"/>
        </a:p>
      </dgm:t>
    </dgm:pt>
    <dgm:pt modelId="{39BD6B31-B177-4D40-B5FC-DF82DBA7753A}">
      <dgm:prSet phldrT="[文本]"/>
      <dgm:spPr/>
      <dgm:t>
        <a:bodyPr/>
        <a:lstStyle/>
        <a:p>
          <a:r>
            <a:rPr lang="zh-CN" altLang="en-US" dirty="0"/>
            <a:t>代数结构</a:t>
          </a:r>
        </a:p>
      </dgm:t>
    </dgm:pt>
    <dgm:pt modelId="{9EC4923D-515B-4A03-BB46-DF82D0ACE6DC}" type="parTrans" cxnId="{9ABB1D7F-B331-4CEA-B4BA-3455D9B8CB93}">
      <dgm:prSet/>
      <dgm:spPr/>
      <dgm:t>
        <a:bodyPr/>
        <a:lstStyle/>
        <a:p>
          <a:endParaRPr lang="zh-CN" altLang="en-US"/>
        </a:p>
      </dgm:t>
    </dgm:pt>
    <dgm:pt modelId="{359EA8D2-5D1F-4537-8921-F2B067E4B68C}" type="sibTrans" cxnId="{9ABB1D7F-B331-4CEA-B4BA-3455D9B8CB93}">
      <dgm:prSet/>
      <dgm:spPr/>
      <dgm:t>
        <a:bodyPr/>
        <a:lstStyle/>
        <a:p>
          <a:endParaRPr lang="zh-CN" altLang="en-US"/>
        </a:p>
      </dgm:t>
    </dgm:pt>
    <dgm:pt modelId="{2A17D850-15F5-47CE-AD85-3B722A14C99B}" type="pres">
      <dgm:prSet presAssocID="{E8CEE89A-1668-4011-BEBB-378FA89562DE}" presName="cycle" presStyleCnt="0">
        <dgm:presLayoutVars>
          <dgm:dir/>
          <dgm:resizeHandles val="exact"/>
        </dgm:presLayoutVars>
      </dgm:prSet>
      <dgm:spPr/>
    </dgm:pt>
    <dgm:pt modelId="{A0982231-7C53-4D6F-88B3-C9D4BB3E07DA}" type="pres">
      <dgm:prSet presAssocID="{D6E6E79B-FDDD-48EC-ADEB-235DD4BB8AAC}" presName="node" presStyleLbl="node1" presStyleIdx="0" presStyleCnt="8">
        <dgm:presLayoutVars>
          <dgm:bulletEnabled val="1"/>
        </dgm:presLayoutVars>
      </dgm:prSet>
      <dgm:spPr/>
    </dgm:pt>
    <dgm:pt modelId="{9CE62C62-7A54-48C4-80E5-4AB573CE2216}" type="pres">
      <dgm:prSet presAssocID="{D6E6E79B-FDDD-48EC-ADEB-235DD4BB8AAC}" presName="spNode" presStyleCnt="0"/>
      <dgm:spPr/>
    </dgm:pt>
    <dgm:pt modelId="{7DED8092-8638-4BA3-97DA-F003D8AD89A0}" type="pres">
      <dgm:prSet presAssocID="{E36247DC-3E09-4EF8-8D8C-9C1D1B678766}" presName="sibTrans" presStyleLbl="sibTrans1D1" presStyleIdx="0" presStyleCnt="8"/>
      <dgm:spPr/>
    </dgm:pt>
    <dgm:pt modelId="{339FF102-1F9C-402E-A0C6-D169881C18C8}" type="pres">
      <dgm:prSet presAssocID="{72233433-BCF3-46F2-9EA6-01E55EE6D580}" presName="node" presStyleLbl="node1" presStyleIdx="1" presStyleCnt="8">
        <dgm:presLayoutVars>
          <dgm:bulletEnabled val="1"/>
        </dgm:presLayoutVars>
      </dgm:prSet>
      <dgm:spPr/>
    </dgm:pt>
    <dgm:pt modelId="{3316A28B-F08D-446E-8613-DDFBAEE1E123}" type="pres">
      <dgm:prSet presAssocID="{72233433-BCF3-46F2-9EA6-01E55EE6D580}" presName="spNode" presStyleCnt="0"/>
      <dgm:spPr/>
    </dgm:pt>
    <dgm:pt modelId="{EA2664A0-5FDC-460A-9657-0821DCE25C84}" type="pres">
      <dgm:prSet presAssocID="{699694A0-A141-4A88-9869-18FB5128BB47}" presName="sibTrans" presStyleLbl="sibTrans1D1" presStyleIdx="1" presStyleCnt="8"/>
      <dgm:spPr/>
    </dgm:pt>
    <dgm:pt modelId="{414F0B86-5320-4EE4-AF65-6B8BF6ECC497}" type="pres">
      <dgm:prSet presAssocID="{FDA9CB3A-B963-4635-A242-AD3345E3F2F0}" presName="node" presStyleLbl="node1" presStyleIdx="2" presStyleCnt="8">
        <dgm:presLayoutVars>
          <dgm:bulletEnabled val="1"/>
        </dgm:presLayoutVars>
      </dgm:prSet>
      <dgm:spPr/>
    </dgm:pt>
    <dgm:pt modelId="{CF163DA6-6A77-4C4F-B93A-F5195B1B1C02}" type="pres">
      <dgm:prSet presAssocID="{FDA9CB3A-B963-4635-A242-AD3345E3F2F0}" presName="spNode" presStyleCnt="0"/>
      <dgm:spPr/>
    </dgm:pt>
    <dgm:pt modelId="{2DEDAA5C-11AE-464D-87EE-B89A125E5E2B}" type="pres">
      <dgm:prSet presAssocID="{B7F35345-7220-45BE-B394-D5B99B7751DF}" presName="sibTrans" presStyleLbl="sibTrans1D1" presStyleIdx="2" presStyleCnt="8"/>
      <dgm:spPr/>
    </dgm:pt>
    <dgm:pt modelId="{3ECBC9B7-7594-4579-A4BE-A9553E454B5C}" type="pres">
      <dgm:prSet presAssocID="{FE3C5364-1053-4EEF-9B68-A39917BF0FFB}" presName="node" presStyleLbl="node1" presStyleIdx="3" presStyleCnt="8">
        <dgm:presLayoutVars>
          <dgm:bulletEnabled val="1"/>
        </dgm:presLayoutVars>
      </dgm:prSet>
      <dgm:spPr/>
    </dgm:pt>
    <dgm:pt modelId="{30965F7F-7028-443E-9989-3988E7BF9C2E}" type="pres">
      <dgm:prSet presAssocID="{FE3C5364-1053-4EEF-9B68-A39917BF0FFB}" presName="spNode" presStyleCnt="0"/>
      <dgm:spPr/>
    </dgm:pt>
    <dgm:pt modelId="{506217E5-99EE-41E7-82A0-C93FEA954C88}" type="pres">
      <dgm:prSet presAssocID="{1E8C34D4-D9C1-4FAF-8E91-CC5E0D6F2E91}" presName="sibTrans" presStyleLbl="sibTrans1D1" presStyleIdx="3" presStyleCnt="8"/>
      <dgm:spPr/>
    </dgm:pt>
    <dgm:pt modelId="{27F8F264-0176-408E-82D5-4962BC193CD5}" type="pres">
      <dgm:prSet presAssocID="{1928FF04-178B-4241-8CD8-1F497741A7C5}" presName="node" presStyleLbl="node1" presStyleIdx="4" presStyleCnt="8">
        <dgm:presLayoutVars>
          <dgm:bulletEnabled val="1"/>
        </dgm:presLayoutVars>
      </dgm:prSet>
      <dgm:spPr/>
    </dgm:pt>
    <dgm:pt modelId="{DBE7750F-2B43-4782-BC26-4B21896FE328}" type="pres">
      <dgm:prSet presAssocID="{1928FF04-178B-4241-8CD8-1F497741A7C5}" presName="spNode" presStyleCnt="0"/>
      <dgm:spPr/>
    </dgm:pt>
    <dgm:pt modelId="{CA1D4BFB-59AE-4E05-8EF1-B67DE7A36469}" type="pres">
      <dgm:prSet presAssocID="{FA30CBF5-934B-4772-9533-E6DE9C234584}" presName="sibTrans" presStyleLbl="sibTrans1D1" presStyleIdx="4" presStyleCnt="8"/>
      <dgm:spPr/>
    </dgm:pt>
    <dgm:pt modelId="{8B08D611-2102-42A6-A398-A558717DAD73}" type="pres">
      <dgm:prSet presAssocID="{A7B8B3BD-D1BB-44D2-99E1-F3B9BC977134}" presName="node" presStyleLbl="node1" presStyleIdx="5" presStyleCnt="8">
        <dgm:presLayoutVars>
          <dgm:bulletEnabled val="1"/>
        </dgm:presLayoutVars>
      </dgm:prSet>
      <dgm:spPr/>
    </dgm:pt>
    <dgm:pt modelId="{D74EBC66-83CE-4AEF-9AA9-1C370CEA6140}" type="pres">
      <dgm:prSet presAssocID="{A7B8B3BD-D1BB-44D2-99E1-F3B9BC977134}" presName="spNode" presStyleCnt="0"/>
      <dgm:spPr/>
    </dgm:pt>
    <dgm:pt modelId="{71FEF045-DF81-47CF-B9FE-A6EA3AC32BE3}" type="pres">
      <dgm:prSet presAssocID="{FA2C6841-E895-42E9-9EE4-6974C7D849EE}" presName="sibTrans" presStyleLbl="sibTrans1D1" presStyleIdx="5" presStyleCnt="8"/>
      <dgm:spPr/>
    </dgm:pt>
    <dgm:pt modelId="{9CB9315A-2BC4-49A9-9D8C-F72139CCE334}" type="pres">
      <dgm:prSet presAssocID="{2D263765-7047-43E1-B328-0E65B7674907}" presName="node" presStyleLbl="node1" presStyleIdx="6" presStyleCnt="8">
        <dgm:presLayoutVars>
          <dgm:bulletEnabled val="1"/>
        </dgm:presLayoutVars>
      </dgm:prSet>
      <dgm:spPr/>
    </dgm:pt>
    <dgm:pt modelId="{0EDEDAB7-E1B9-4ED7-8900-87FE0756FBCF}" type="pres">
      <dgm:prSet presAssocID="{2D263765-7047-43E1-B328-0E65B7674907}" presName="spNode" presStyleCnt="0"/>
      <dgm:spPr/>
    </dgm:pt>
    <dgm:pt modelId="{01942DE5-5BAF-42BB-B611-F8CC4A1128CF}" type="pres">
      <dgm:prSet presAssocID="{10C114EF-43AD-41DB-B695-4328D62ABCAE}" presName="sibTrans" presStyleLbl="sibTrans1D1" presStyleIdx="6" presStyleCnt="8"/>
      <dgm:spPr/>
    </dgm:pt>
    <dgm:pt modelId="{745AA3E6-F3A4-4D8D-9D8F-CCD05E333258}" type="pres">
      <dgm:prSet presAssocID="{39BD6B31-B177-4D40-B5FC-DF82DBA7753A}" presName="node" presStyleLbl="node1" presStyleIdx="7" presStyleCnt="8">
        <dgm:presLayoutVars>
          <dgm:bulletEnabled val="1"/>
        </dgm:presLayoutVars>
      </dgm:prSet>
      <dgm:spPr/>
    </dgm:pt>
    <dgm:pt modelId="{2D0B4DEB-E9FD-48C0-82BE-4F29C0E62B47}" type="pres">
      <dgm:prSet presAssocID="{39BD6B31-B177-4D40-B5FC-DF82DBA7753A}" presName="spNode" presStyleCnt="0"/>
      <dgm:spPr/>
    </dgm:pt>
    <dgm:pt modelId="{A5C48882-E870-4415-806D-91002B72A05C}" type="pres">
      <dgm:prSet presAssocID="{359EA8D2-5D1F-4537-8921-F2B067E4B68C}" presName="sibTrans" presStyleLbl="sibTrans1D1" presStyleIdx="7" presStyleCnt="8"/>
      <dgm:spPr/>
    </dgm:pt>
  </dgm:ptLst>
  <dgm:cxnLst>
    <dgm:cxn modelId="{3DBEC101-9E95-46DF-AEA8-BEF3902AD992}" type="presOf" srcId="{1928FF04-178B-4241-8CD8-1F497741A7C5}" destId="{27F8F264-0176-408E-82D5-4962BC193CD5}" srcOrd="0" destOrd="0" presId="urn:microsoft.com/office/officeart/2005/8/layout/cycle6"/>
    <dgm:cxn modelId="{F2BC4D08-E647-4FDD-9A21-4A0B8D46854A}" type="presOf" srcId="{B7F35345-7220-45BE-B394-D5B99B7751DF}" destId="{2DEDAA5C-11AE-464D-87EE-B89A125E5E2B}" srcOrd="0" destOrd="0" presId="urn:microsoft.com/office/officeart/2005/8/layout/cycle6"/>
    <dgm:cxn modelId="{CEA4F80C-17A7-4453-A1D2-8F072DDD1BCE}" type="presOf" srcId="{39BD6B31-B177-4D40-B5FC-DF82DBA7753A}" destId="{745AA3E6-F3A4-4D8D-9D8F-CCD05E333258}" srcOrd="0" destOrd="0" presId="urn:microsoft.com/office/officeart/2005/8/layout/cycle6"/>
    <dgm:cxn modelId="{05053B11-F8CF-4A4C-B237-776DEC8CEA56}" type="presOf" srcId="{2D263765-7047-43E1-B328-0E65B7674907}" destId="{9CB9315A-2BC4-49A9-9D8C-F72139CCE334}" srcOrd="0" destOrd="0" presId="urn:microsoft.com/office/officeart/2005/8/layout/cycle6"/>
    <dgm:cxn modelId="{0893EE14-B84B-4298-BD90-99CB4AE9F0D7}" type="presOf" srcId="{FE3C5364-1053-4EEF-9B68-A39917BF0FFB}" destId="{3ECBC9B7-7594-4579-A4BE-A9553E454B5C}" srcOrd="0" destOrd="0" presId="urn:microsoft.com/office/officeart/2005/8/layout/cycle6"/>
    <dgm:cxn modelId="{8E94EB24-167C-4BBF-8B3D-141AC2678F43}" type="presOf" srcId="{A7B8B3BD-D1BB-44D2-99E1-F3B9BC977134}" destId="{8B08D611-2102-42A6-A398-A558717DAD73}" srcOrd="0" destOrd="0" presId="urn:microsoft.com/office/officeart/2005/8/layout/cycle6"/>
    <dgm:cxn modelId="{53654A26-A0A0-4E57-B6F1-C374C6562450}" type="presOf" srcId="{FDA9CB3A-B963-4635-A242-AD3345E3F2F0}" destId="{414F0B86-5320-4EE4-AF65-6B8BF6ECC497}" srcOrd="0" destOrd="0" presId="urn:microsoft.com/office/officeart/2005/8/layout/cycle6"/>
    <dgm:cxn modelId="{3521E236-2CF2-455B-B379-EA1681625277}" type="presOf" srcId="{359EA8D2-5D1F-4537-8921-F2B067E4B68C}" destId="{A5C48882-E870-4415-806D-91002B72A05C}" srcOrd="0" destOrd="0" presId="urn:microsoft.com/office/officeart/2005/8/layout/cycle6"/>
    <dgm:cxn modelId="{281DEF36-B058-4076-86CE-F7486AF34699}" type="presOf" srcId="{E8CEE89A-1668-4011-BEBB-378FA89562DE}" destId="{2A17D850-15F5-47CE-AD85-3B722A14C99B}" srcOrd="0" destOrd="0" presId="urn:microsoft.com/office/officeart/2005/8/layout/cycle6"/>
    <dgm:cxn modelId="{31E5DB3A-ADAD-4401-A42E-96F989EEA39E}" srcId="{E8CEE89A-1668-4011-BEBB-378FA89562DE}" destId="{1928FF04-178B-4241-8CD8-1F497741A7C5}" srcOrd="4" destOrd="0" parTransId="{11CAE1D8-5CA5-4345-9B06-EEDD611E976F}" sibTransId="{FA30CBF5-934B-4772-9533-E6DE9C234584}"/>
    <dgm:cxn modelId="{7044715C-C243-4A9E-8988-E5CD85B3E590}" type="presOf" srcId="{1E8C34D4-D9C1-4FAF-8E91-CC5E0D6F2E91}" destId="{506217E5-99EE-41E7-82A0-C93FEA954C88}" srcOrd="0" destOrd="0" presId="urn:microsoft.com/office/officeart/2005/8/layout/cycle6"/>
    <dgm:cxn modelId="{C9C6B252-AB3E-4BCE-89A9-53883DF62AEA}" srcId="{E8CEE89A-1668-4011-BEBB-378FA89562DE}" destId="{A7B8B3BD-D1BB-44D2-99E1-F3B9BC977134}" srcOrd="5" destOrd="0" parTransId="{282F1890-876C-445C-87FE-9F1B2905DA5A}" sibTransId="{FA2C6841-E895-42E9-9EE4-6974C7D849EE}"/>
    <dgm:cxn modelId="{9ABB1D7F-B331-4CEA-B4BA-3455D9B8CB93}" srcId="{E8CEE89A-1668-4011-BEBB-378FA89562DE}" destId="{39BD6B31-B177-4D40-B5FC-DF82DBA7753A}" srcOrd="7" destOrd="0" parTransId="{9EC4923D-515B-4A03-BB46-DF82D0ACE6DC}" sibTransId="{359EA8D2-5D1F-4537-8921-F2B067E4B68C}"/>
    <dgm:cxn modelId="{FDBCC685-923D-4ED2-913F-6181E4BD0421}" srcId="{E8CEE89A-1668-4011-BEBB-378FA89562DE}" destId="{D6E6E79B-FDDD-48EC-ADEB-235DD4BB8AAC}" srcOrd="0" destOrd="0" parTransId="{4E3B9D00-5FF9-4C19-B1A0-593FA54C95C1}" sibTransId="{E36247DC-3E09-4EF8-8D8C-9C1D1B678766}"/>
    <dgm:cxn modelId="{35EA8193-6DA7-4390-AED6-4BEF1171ADA6}" srcId="{E8CEE89A-1668-4011-BEBB-378FA89562DE}" destId="{FE3C5364-1053-4EEF-9B68-A39917BF0FFB}" srcOrd="3" destOrd="0" parTransId="{66F2A010-0377-4C5C-A2AB-AB2DA5557225}" sibTransId="{1E8C34D4-D9C1-4FAF-8E91-CC5E0D6F2E91}"/>
    <dgm:cxn modelId="{1B2CADA2-5E46-4666-9CB1-9B0657517DCF}" srcId="{E8CEE89A-1668-4011-BEBB-378FA89562DE}" destId="{72233433-BCF3-46F2-9EA6-01E55EE6D580}" srcOrd="1" destOrd="0" parTransId="{607D9D3B-0E68-409E-94B3-AAFEFFE9D691}" sibTransId="{699694A0-A141-4A88-9869-18FB5128BB47}"/>
    <dgm:cxn modelId="{80F697AB-D1AB-44B2-BCF1-7D6CB200D4BE}" srcId="{E8CEE89A-1668-4011-BEBB-378FA89562DE}" destId="{FDA9CB3A-B963-4635-A242-AD3345E3F2F0}" srcOrd="2" destOrd="0" parTransId="{C47FAA15-7B49-405B-AAB5-A7A1B8944DDA}" sibTransId="{B7F35345-7220-45BE-B394-D5B99B7751DF}"/>
    <dgm:cxn modelId="{C21322B7-EA29-4815-B39A-997B79E95870}" type="presOf" srcId="{FA2C6841-E895-42E9-9EE4-6974C7D849EE}" destId="{71FEF045-DF81-47CF-B9FE-A6EA3AC32BE3}" srcOrd="0" destOrd="0" presId="urn:microsoft.com/office/officeart/2005/8/layout/cycle6"/>
    <dgm:cxn modelId="{C35616C7-F517-498B-B956-1BE5BCA3F89C}" type="presOf" srcId="{72233433-BCF3-46F2-9EA6-01E55EE6D580}" destId="{339FF102-1F9C-402E-A0C6-D169881C18C8}" srcOrd="0" destOrd="0" presId="urn:microsoft.com/office/officeart/2005/8/layout/cycle6"/>
    <dgm:cxn modelId="{99E85BE7-1296-45C9-A811-8946B620EA58}" type="presOf" srcId="{E36247DC-3E09-4EF8-8D8C-9C1D1B678766}" destId="{7DED8092-8638-4BA3-97DA-F003D8AD89A0}" srcOrd="0" destOrd="0" presId="urn:microsoft.com/office/officeart/2005/8/layout/cycle6"/>
    <dgm:cxn modelId="{F0C30DE8-B437-49F1-BBC8-864F06F19CA7}" type="presOf" srcId="{10C114EF-43AD-41DB-B695-4328D62ABCAE}" destId="{01942DE5-5BAF-42BB-B611-F8CC4A1128CF}" srcOrd="0" destOrd="0" presId="urn:microsoft.com/office/officeart/2005/8/layout/cycle6"/>
    <dgm:cxn modelId="{093D33EE-679F-4CD0-A795-A870BCD80019}" type="presOf" srcId="{FA30CBF5-934B-4772-9533-E6DE9C234584}" destId="{CA1D4BFB-59AE-4E05-8EF1-B67DE7A36469}" srcOrd="0" destOrd="0" presId="urn:microsoft.com/office/officeart/2005/8/layout/cycle6"/>
    <dgm:cxn modelId="{44D4A3F0-7B39-44FB-8FEE-39CBA5E705B0}" type="presOf" srcId="{699694A0-A141-4A88-9869-18FB5128BB47}" destId="{EA2664A0-5FDC-460A-9657-0821DCE25C84}" srcOrd="0" destOrd="0" presId="urn:microsoft.com/office/officeart/2005/8/layout/cycle6"/>
    <dgm:cxn modelId="{6BDA0EF1-C386-41E1-926E-044F0CBD28FB}" type="presOf" srcId="{D6E6E79B-FDDD-48EC-ADEB-235DD4BB8AAC}" destId="{A0982231-7C53-4D6F-88B3-C9D4BB3E07DA}" srcOrd="0" destOrd="0" presId="urn:microsoft.com/office/officeart/2005/8/layout/cycle6"/>
    <dgm:cxn modelId="{2CE71CF8-3F1F-4350-AD33-258CC6174C91}" srcId="{E8CEE89A-1668-4011-BEBB-378FA89562DE}" destId="{2D263765-7047-43E1-B328-0E65B7674907}" srcOrd="6" destOrd="0" parTransId="{B93EAA61-D1C8-4214-A36D-EF87754BE78F}" sibTransId="{10C114EF-43AD-41DB-B695-4328D62ABCAE}"/>
    <dgm:cxn modelId="{930946C7-133A-4BCC-B622-CFBEBFC83346}" type="presParOf" srcId="{2A17D850-15F5-47CE-AD85-3B722A14C99B}" destId="{A0982231-7C53-4D6F-88B3-C9D4BB3E07DA}" srcOrd="0" destOrd="0" presId="urn:microsoft.com/office/officeart/2005/8/layout/cycle6"/>
    <dgm:cxn modelId="{ECD27F34-328A-424B-99D9-09CD9F973B95}" type="presParOf" srcId="{2A17D850-15F5-47CE-AD85-3B722A14C99B}" destId="{9CE62C62-7A54-48C4-80E5-4AB573CE2216}" srcOrd="1" destOrd="0" presId="urn:microsoft.com/office/officeart/2005/8/layout/cycle6"/>
    <dgm:cxn modelId="{2EC3DD86-37EE-4E97-89FB-1CBE9B8B3103}" type="presParOf" srcId="{2A17D850-15F5-47CE-AD85-3B722A14C99B}" destId="{7DED8092-8638-4BA3-97DA-F003D8AD89A0}" srcOrd="2" destOrd="0" presId="urn:microsoft.com/office/officeart/2005/8/layout/cycle6"/>
    <dgm:cxn modelId="{3BCCC869-7B6C-4F25-B4FE-E1FA86BABE25}" type="presParOf" srcId="{2A17D850-15F5-47CE-AD85-3B722A14C99B}" destId="{339FF102-1F9C-402E-A0C6-D169881C18C8}" srcOrd="3" destOrd="0" presId="urn:microsoft.com/office/officeart/2005/8/layout/cycle6"/>
    <dgm:cxn modelId="{D45CC8F5-C242-49E6-B259-A3515485AC9D}" type="presParOf" srcId="{2A17D850-15F5-47CE-AD85-3B722A14C99B}" destId="{3316A28B-F08D-446E-8613-DDFBAEE1E123}" srcOrd="4" destOrd="0" presId="urn:microsoft.com/office/officeart/2005/8/layout/cycle6"/>
    <dgm:cxn modelId="{99CFC3EA-C63F-46E4-922C-705EFBBE851E}" type="presParOf" srcId="{2A17D850-15F5-47CE-AD85-3B722A14C99B}" destId="{EA2664A0-5FDC-460A-9657-0821DCE25C84}" srcOrd="5" destOrd="0" presId="urn:microsoft.com/office/officeart/2005/8/layout/cycle6"/>
    <dgm:cxn modelId="{6F2E0DF8-E4E4-4315-9841-69FD6149B061}" type="presParOf" srcId="{2A17D850-15F5-47CE-AD85-3B722A14C99B}" destId="{414F0B86-5320-4EE4-AF65-6B8BF6ECC497}" srcOrd="6" destOrd="0" presId="urn:microsoft.com/office/officeart/2005/8/layout/cycle6"/>
    <dgm:cxn modelId="{C699CFF7-E711-49B3-A305-DE5D1F5CADC2}" type="presParOf" srcId="{2A17D850-15F5-47CE-AD85-3B722A14C99B}" destId="{CF163DA6-6A77-4C4F-B93A-F5195B1B1C02}" srcOrd="7" destOrd="0" presId="urn:microsoft.com/office/officeart/2005/8/layout/cycle6"/>
    <dgm:cxn modelId="{1502562E-62F1-4AC8-9B94-66CF1F51DFA3}" type="presParOf" srcId="{2A17D850-15F5-47CE-AD85-3B722A14C99B}" destId="{2DEDAA5C-11AE-464D-87EE-B89A125E5E2B}" srcOrd="8" destOrd="0" presId="urn:microsoft.com/office/officeart/2005/8/layout/cycle6"/>
    <dgm:cxn modelId="{D24A9246-1D5B-4827-9077-1219A590A206}" type="presParOf" srcId="{2A17D850-15F5-47CE-AD85-3B722A14C99B}" destId="{3ECBC9B7-7594-4579-A4BE-A9553E454B5C}" srcOrd="9" destOrd="0" presId="urn:microsoft.com/office/officeart/2005/8/layout/cycle6"/>
    <dgm:cxn modelId="{622825CD-7858-494A-B6E1-440AE389D5B7}" type="presParOf" srcId="{2A17D850-15F5-47CE-AD85-3B722A14C99B}" destId="{30965F7F-7028-443E-9989-3988E7BF9C2E}" srcOrd="10" destOrd="0" presId="urn:microsoft.com/office/officeart/2005/8/layout/cycle6"/>
    <dgm:cxn modelId="{127178A2-ECF0-45B1-B5A4-FE1B4BBFAC10}" type="presParOf" srcId="{2A17D850-15F5-47CE-AD85-3B722A14C99B}" destId="{506217E5-99EE-41E7-82A0-C93FEA954C88}" srcOrd="11" destOrd="0" presId="urn:microsoft.com/office/officeart/2005/8/layout/cycle6"/>
    <dgm:cxn modelId="{A782CF68-F441-4839-A456-3AEE0B4F9767}" type="presParOf" srcId="{2A17D850-15F5-47CE-AD85-3B722A14C99B}" destId="{27F8F264-0176-408E-82D5-4962BC193CD5}" srcOrd="12" destOrd="0" presId="urn:microsoft.com/office/officeart/2005/8/layout/cycle6"/>
    <dgm:cxn modelId="{E0331F76-660B-460C-A50A-1105C57CA49B}" type="presParOf" srcId="{2A17D850-15F5-47CE-AD85-3B722A14C99B}" destId="{DBE7750F-2B43-4782-BC26-4B21896FE328}" srcOrd="13" destOrd="0" presId="urn:microsoft.com/office/officeart/2005/8/layout/cycle6"/>
    <dgm:cxn modelId="{4C30E2BC-1FFC-433A-8D78-C980D30BDDD7}" type="presParOf" srcId="{2A17D850-15F5-47CE-AD85-3B722A14C99B}" destId="{CA1D4BFB-59AE-4E05-8EF1-B67DE7A36469}" srcOrd="14" destOrd="0" presId="urn:microsoft.com/office/officeart/2005/8/layout/cycle6"/>
    <dgm:cxn modelId="{A18A5B6E-E1C3-4A63-886A-0DFC52BA579E}" type="presParOf" srcId="{2A17D850-15F5-47CE-AD85-3B722A14C99B}" destId="{8B08D611-2102-42A6-A398-A558717DAD73}" srcOrd="15" destOrd="0" presId="urn:microsoft.com/office/officeart/2005/8/layout/cycle6"/>
    <dgm:cxn modelId="{9F29B21B-B27C-4973-9982-0D59BFA487E6}" type="presParOf" srcId="{2A17D850-15F5-47CE-AD85-3B722A14C99B}" destId="{D74EBC66-83CE-4AEF-9AA9-1C370CEA6140}" srcOrd="16" destOrd="0" presId="urn:microsoft.com/office/officeart/2005/8/layout/cycle6"/>
    <dgm:cxn modelId="{22B7E130-242D-4C4C-BEDC-1400B4A054A0}" type="presParOf" srcId="{2A17D850-15F5-47CE-AD85-3B722A14C99B}" destId="{71FEF045-DF81-47CF-B9FE-A6EA3AC32BE3}" srcOrd="17" destOrd="0" presId="urn:microsoft.com/office/officeart/2005/8/layout/cycle6"/>
    <dgm:cxn modelId="{E25C863F-7FEC-4C67-936F-0A4430BD9505}" type="presParOf" srcId="{2A17D850-15F5-47CE-AD85-3B722A14C99B}" destId="{9CB9315A-2BC4-49A9-9D8C-F72139CCE334}" srcOrd="18" destOrd="0" presId="urn:microsoft.com/office/officeart/2005/8/layout/cycle6"/>
    <dgm:cxn modelId="{19A8F667-D474-4949-94D2-3E905843C7E6}" type="presParOf" srcId="{2A17D850-15F5-47CE-AD85-3B722A14C99B}" destId="{0EDEDAB7-E1B9-4ED7-8900-87FE0756FBCF}" srcOrd="19" destOrd="0" presId="urn:microsoft.com/office/officeart/2005/8/layout/cycle6"/>
    <dgm:cxn modelId="{BC99EBF4-A145-427F-838E-8344C31D21D1}" type="presParOf" srcId="{2A17D850-15F5-47CE-AD85-3B722A14C99B}" destId="{01942DE5-5BAF-42BB-B611-F8CC4A1128CF}" srcOrd="20" destOrd="0" presId="urn:microsoft.com/office/officeart/2005/8/layout/cycle6"/>
    <dgm:cxn modelId="{1917680E-28F0-49FC-820A-42419896ADAD}" type="presParOf" srcId="{2A17D850-15F5-47CE-AD85-3B722A14C99B}" destId="{745AA3E6-F3A4-4D8D-9D8F-CCD05E333258}" srcOrd="21" destOrd="0" presId="urn:microsoft.com/office/officeart/2005/8/layout/cycle6"/>
    <dgm:cxn modelId="{FBA792ED-6CB5-4B6F-9F1A-4E71745E0C7E}" type="presParOf" srcId="{2A17D850-15F5-47CE-AD85-3B722A14C99B}" destId="{2D0B4DEB-E9FD-48C0-82BE-4F29C0E62B47}" srcOrd="22" destOrd="0" presId="urn:microsoft.com/office/officeart/2005/8/layout/cycle6"/>
    <dgm:cxn modelId="{12244DC0-3C3F-41D0-8424-60DFBACFC549}" type="presParOf" srcId="{2A17D850-15F5-47CE-AD85-3B722A14C99B}" destId="{A5C48882-E870-4415-806D-91002B72A05C}" srcOrd="23" destOrd="0" presId="urn:microsoft.com/office/officeart/2005/8/layout/cycle6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0982231-7C53-4D6F-88B3-C9D4BB3E07DA}">
      <dsp:nvSpPr>
        <dsp:cNvPr id="0" name=""/>
        <dsp:cNvSpPr/>
      </dsp:nvSpPr>
      <dsp:spPr>
        <a:xfrm>
          <a:off x="3435945" y="3266"/>
          <a:ext cx="1256109" cy="81647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000" kern="1200" dirty="0"/>
            <a:t>数论</a:t>
          </a:r>
        </a:p>
      </dsp:txBody>
      <dsp:txXfrm>
        <a:off x="3475802" y="43123"/>
        <a:ext cx="1176395" cy="736757"/>
      </dsp:txXfrm>
    </dsp:sp>
    <dsp:sp modelId="{7DED8092-8638-4BA3-97DA-F003D8AD89A0}">
      <dsp:nvSpPr>
        <dsp:cNvPr id="0" name=""/>
        <dsp:cNvSpPr/>
      </dsp:nvSpPr>
      <dsp:spPr>
        <a:xfrm>
          <a:off x="1231788" y="411502"/>
          <a:ext cx="5664422" cy="5664422"/>
        </a:xfrm>
        <a:custGeom>
          <a:avLst/>
          <a:gdLst/>
          <a:ahLst/>
          <a:cxnLst/>
          <a:rect l="0" t="0" r="0" b="0"/>
          <a:pathLst>
            <a:path>
              <a:moveTo>
                <a:pt x="3469302" y="72585"/>
              </a:moveTo>
              <a:arcTo wR="2832211" hR="2832211" stAng="16979979" swAng="1107914"/>
            </a:path>
          </a:pathLst>
        </a:custGeom>
        <a:noFill/>
        <a:ln w="952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39FF102-1F9C-402E-A0C6-D169881C18C8}">
      <dsp:nvSpPr>
        <dsp:cNvPr id="0" name=""/>
        <dsp:cNvSpPr/>
      </dsp:nvSpPr>
      <dsp:spPr>
        <a:xfrm>
          <a:off x="5438620" y="832802"/>
          <a:ext cx="1256109" cy="81647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000" kern="1200" dirty="0"/>
            <a:t>图论</a:t>
          </a:r>
        </a:p>
      </dsp:txBody>
      <dsp:txXfrm>
        <a:off x="5478477" y="872659"/>
        <a:ext cx="1176395" cy="736757"/>
      </dsp:txXfrm>
    </dsp:sp>
    <dsp:sp modelId="{EA2664A0-5FDC-460A-9657-0821DCE25C84}">
      <dsp:nvSpPr>
        <dsp:cNvPr id="0" name=""/>
        <dsp:cNvSpPr/>
      </dsp:nvSpPr>
      <dsp:spPr>
        <a:xfrm>
          <a:off x="1231788" y="411502"/>
          <a:ext cx="5664422" cy="5664422"/>
        </a:xfrm>
        <a:custGeom>
          <a:avLst/>
          <a:gdLst/>
          <a:ahLst/>
          <a:cxnLst/>
          <a:rect l="0" t="0" r="0" b="0"/>
          <a:pathLst>
            <a:path>
              <a:moveTo>
                <a:pt x="5180118" y="1248307"/>
              </a:moveTo>
              <a:arcTo wR="2832211" hR="2832211" stAng="19559779" swAng="1527520"/>
            </a:path>
          </a:pathLst>
        </a:custGeom>
        <a:noFill/>
        <a:ln w="952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14F0B86-5320-4EE4-AF65-6B8BF6ECC497}">
      <dsp:nvSpPr>
        <dsp:cNvPr id="0" name=""/>
        <dsp:cNvSpPr/>
      </dsp:nvSpPr>
      <dsp:spPr>
        <a:xfrm>
          <a:off x="6268156" y="2835477"/>
          <a:ext cx="1256109" cy="81647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000" kern="1200" dirty="0"/>
            <a:t>数理逻辑</a:t>
          </a:r>
        </a:p>
      </dsp:txBody>
      <dsp:txXfrm>
        <a:off x="6308013" y="2875334"/>
        <a:ext cx="1176395" cy="736757"/>
      </dsp:txXfrm>
    </dsp:sp>
    <dsp:sp modelId="{2DEDAA5C-11AE-464D-87EE-B89A125E5E2B}">
      <dsp:nvSpPr>
        <dsp:cNvPr id="0" name=""/>
        <dsp:cNvSpPr/>
      </dsp:nvSpPr>
      <dsp:spPr>
        <a:xfrm>
          <a:off x="1231788" y="411502"/>
          <a:ext cx="5664422" cy="5664422"/>
        </a:xfrm>
        <a:custGeom>
          <a:avLst/>
          <a:gdLst/>
          <a:ahLst/>
          <a:cxnLst/>
          <a:rect l="0" t="0" r="0" b="0"/>
          <a:pathLst>
            <a:path>
              <a:moveTo>
                <a:pt x="5632982" y="3253039"/>
              </a:moveTo>
              <a:arcTo wR="2832211" hR="2832211" stAng="512701" swAng="1527520"/>
            </a:path>
          </a:pathLst>
        </a:custGeom>
        <a:noFill/>
        <a:ln w="952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ECBC9B7-7594-4579-A4BE-A9553E454B5C}">
      <dsp:nvSpPr>
        <dsp:cNvPr id="0" name=""/>
        <dsp:cNvSpPr/>
      </dsp:nvSpPr>
      <dsp:spPr>
        <a:xfrm>
          <a:off x="5438620" y="4838153"/>
          <a:ext cx="1256109" cy="81647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000" kern="1200" dirty="0"/>
            <a:t>概率论</a:t>
          </a:r>
        </a:p>
      </dsp:txBody>
      <dsp:txXfrm>
        <a:off x="5478477" y="4878010"/>
        <a:ext cx="1176395" cy="736757"/>
      </dsp:txXfrm>
    </dsp:sp>
    <dsp:sp modelId="{506217E5-99EE-41E7-82A0-C93FEA954C88}">
      <dsp:nvSpPr>
        <dsp:cNvPr id="0" name=""/>
        <dsp:cNvSpPr/>
      </dsp:nvSpPr>
      <dsp:spPr>
        <a:xfrm>
          <a:off x="1231788" y="411502"/>
          <a:ext cx="5664422" cy="5664422"/>
        </a:xfrm>
        <a:custGeom>
          <a:avLst/>
          <a:gdLst/>
          <a:ahLst/>
          <a:cxnLst/>
          <a:rect l="0" t="0" r="0" b="0"/>
          <a:pathLst>
            <a:path>
              <a:moveTo>
                <a:pt x="4310556" y="5247974"/>
              </a:moveTo>
              <a:arcTo wR="2832211" hR="2832211" stAng="3512107" swAng="1107914"/>
            </a:path>
          </a:pathLst>
        </a:custGeom>
        <a:noFill/>
        <a:ln w="952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7F8F264-0176-408E-82D5-4962BC193CD5}">
      <dsp:nvSpPr>
        <dsp:cNvPr id="0" name=""/>
        <dsp:cNvSpPr/>
      </dsp:nvSpPr>
      <dsp:spPr>
        <a:xfrm>
          <a:off x="3435945" y="5667689"/>
          <a:ext cx="1256109" cy="81647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000" kern="1200" dirty="0"/>
            <a:t>集合论</a:t>
          </a:r>
        </a:p>
      </dsp:txBody>
      <dsp:txXfrm>
        <a:off x="3475802" y="5707546"/>
        <a:ext cx="1176395" cy="736757"/>
      </dsp:txXfrm>
    </dsp:sp>
    <dsp:sp modelId="{CA1D4BFB-59AE-4E05-8EF1-B67DE7A36469}">
      <dsp:nvSpPr>
        <dsp:cNvPr id="0" name=""/>
        <dsp:cNvSpPr/>
      </dsp:nvSpPr>
      <dsp:spPr>
        <a:xfrm>
          <a:off x="1231788" y="411502"/>
          <a:ext cx="5664422" cy="5664422"/>
        </a:xfrm>
        <a:custGeom>
          <a:avLst/>
          <a:gdLst/>
          <a:ahLst/>
          <a:cxnLst/>
          <a:rect l="0" t="0" r="0" b="0"/>
          <a:pathLst>
            <a:path>
              <a:moveTo>
                <a:pt x="2195119" y="5591836"/>
              </a:moveTo>
              <a:arcTo wR="2832211" hR="2832211" stAng="6179979" swAng="1107914"/>
            </a:path>
          </a:pathLst>
        </a:custGeom>
        <a:noFill/>
        <a:ln w="952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B08D611-2102-42A6-A398-A558717DAD73}">
      <dsp:nvSpPr>
        <dsp:cNvPr id="0" name=""/>
        <dsp:cNvSpPr/>
      </dsp:nvSpPr>
      <dsp:spPr>
        <a:xfrm>
          <a:off x="1433269" y="4838153"/>
          <a:ext cx="1256109" cy="81647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000" kern="1200" dirty="0"/>
            <a:t>组合数学</a:t>
          </a:r>
        </a:p>
      </dsp:txBody>
      <dsp:txXfrm>
        <a:off x="1473126" y="4878010"/>
        <a:ext cx="1176395" cy="736757"/>
      </dsp:txXfrm>
    </dsp:sp>
    <dsp:sp modelId="{71FEF045-DF81-47CF-B9FE-A6EA3AC32BE3}">
      <dsp:nvSpPr>
        <dsp:cNvPr id="0" name=""/>
        <dsp:cNvSpPr/>
      </dsp:nvSpPr>
      <dsp:spPr>
        <a:xfrm>
          <a:off x="1231788" y="411502"/>
          <a:ext cx="5664422" cy="5664422"/>
        </a:xfrm>
        <a:custGeom>
          <a:avLst/>
          <a:gdLst/>
          <a:ahLst/>
          <a:cxnLst/>
          <a:rect l="0" t="0" r="0" b="0"/>
          <a:pathLst>
            <a:path>
              <a:moveTo>
                <a:pt x="484303" y="4416114"/>
              </a:moveTo>
              <a:arcTo wR="2832211" hR="2832211" stAng="8759779" swAng="1527520"/>
            </a:path>
          </a:pathLst>
        </a:custGeom>
        <a:noFill/>
        <a:ln w="952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CB9315A-2BC4-49A9-9D8C-F72139CCE334}">
      <dsp:nvSpPr>
        <dsp:cNvPr id="0" name=""/>
        <dsp:cNvSpPr/>
      </dsp:nvSpPr>
      <dsp:spPr>
        <a:xfrm>
          <a:off x="603734" y="2835477"/>
          <a:ext cx="1256109" cy="81647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000" kern="1200" dirty="0"/>
            <a:t>计算模型</a:t>
          </a:r>
        </a:p>
      </dsp:txBody>
      <dsp:txXfrm>
        <a:off x="643591" y="2875334"/>
        <a:ext cx="1176395" cy="736757"/>
      </dsp:txXfrm>
    </dsp:sp>
    <dsp:sp modelId="{01942DE5-5BAF-42BB-B611-F8CC4A1128CF}">
      <dsp:nvSpPr>
        <dsp:cNvPr id="0" name=""/>
        <dsp:cNvSpPr/>
      </dsp:nvSpPr>
      <dsp:spPr>
        <a:xfrm>
          <a:off x="1231788" y="411502"/>
          <a:ext cx="5664422" cy="5664422"/>
        </a:xfrm>
        <a:custGeom>
          <a:avLst/>
          <a:gdLst/>
          <a:ahLst/>
          <a:cxnLst/>
          <a:rect l="0" t="0" r="0" b="0"/>
          <a:pathLst>
            <a:path>
              <a:moveTo>
                <a:pt x="31439" y="2411383"/>
              </a:moveTo>
              <a:arcTo wR="2832211" hR="2832211" stAng="11312701" swAng="1527520"/>
            </a:path>
          </a:pathLst>
        </a:custGeom>
        <a:noFill/>
        <a:ln w="952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45AA3E6-F3A4-4D8D-9D8F-CCD05E333258}">
      <dsp:nvSpPr>
        <dsp:cNvPr id="0" name=""/>
        <dsp:cNvSpPr/>
      </dsp:nvSpPr>
      <dsp:spPr>
        <a:xfrm>
          <a:off x="1433269" y="832802"/>
          <a:ext cx="1256109" cy="81647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000" kern="1200" dirty="0"/>
            <a:t>代数结构</a:t>
          </a:r>
        </a:p>
      </dsp:txBody>
      <dsp:txXfrm>
        <a:off x="1473126" y="872659"/>
        <a:ext cx="1176395" cy="736757"/>
      </dsp:txXfrm>
    </dsp:sp>
    <dsp:sp modelId="{A5C48882-E870-4415-806D-91002B72A05C}">
      <dsp:nvSpPr>
        <dsp:cNvPr id="0" name=""/>
        <dsp:cNvSpPr/>
      </dsp:nvSpPr>
      <dsp:spPr>
        <a:xfrm>
          <a:off x="1231788" y="411502"/>
          <a:ext cx="5664422" cy="5664422"/>
        </a:xfrm>
        <a:custGeom>
          <a:avLst/>
          <a:gdLst/>
          <a:ahLst/>
          <a:cxnLst/>
          <a:rect l="0" t="0" r="0" b="0"/>
          <a:pathLst>
            <a:path>
              <a:moveTo>
                <a:pt x="1353865" y="416447"/>
              </a:moveTo>
              <a:arcTo wR="2832211" hR="2832211" stAng="14312107" swAng="1107914"/>
            </a:path>
          </a:pathLst>
        </a:custGeom>
        <a:noFill/>
        <a:ln w="952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ycle6">
  <dgm:title val=""/>
  <dgm:desc val=""/>
  <dgm:catLst>
    <dgm:cat type="cycle" pri="4000"/>
    <dgm:cat type="relationship" pri="2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hoose name="Name9">
      <dgm:if name="Name10" func="var" arg="dir" op="equ" val="norm">
        <dgm:constrLst>
          <dgm:constr type="w" for="ch" forName="node" refType="w"/>
          <dgm:constr type="w" for="ch" ptType="sibTrans" refType="w" refFor="ch" refForName="node" op="equ" fact="0.3"/>
          <dgm:constr type="diam" for="ch" ptType="sibTrans" refType="diam" op="equ"/>
          <dgm:constr type="sibSp" refType="w" refFor="ch" refForName="node" op="equ" fact="0.15"/>
          <dgm:constr type="w" for="ch" forName="spNode" refType="sibSp" fact="1.6"/>
          <dgm:constr type="primFontSz" for="ch" forName="node" op="equ" val="65"/>
        </dgm:constrLst>
      </dgm:if>
      <dgm:else name="Name11">
        <dgm:constrLst>
          <dgm:constr type="w" for="ch" forName="node" refType="w"/>
          <dgm:constr type="w" for="ch" ptType="sibTrans" refType="w" refFor="ch" refForName="node" op="equ" fact="0.3"/>
          <dgm:constr type="diam" for="ch" ptType="sibTrans" refType="diam" op="equ" fact="-1"/>
          <dgm:constr type="sibSp" refType="w" refFor="ch" refForName="node" op="equ" fact="0.15"/>
          <dgm:constr type="w" for="ch" forName="spNode" refType="sibSp" fact="1.6"/>
          <dgm:constr type="primFontSz" for="ch" forName="node" op="equ" val="65"/>
        </dgm:constrLst>
      </dgm:else>
    </dgm:choose>
    <dgm:ruleLst/>
    <dgm:forEach name="Name12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/>
        </dgm:shape>
        <dgm:presOf axis="desOrSelf" ptType="node"/>
        <dgm:constrLst>
          <dgm:constr type="h" refType="w" fact="0.65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5" fact="NaN" max="NaN"/>
        </dgm:ruleLst>
      </dgm:layoutNode>
      <dgm:choose name="Name13">
        <dgm:if name="Name14" axis="par ch" ptType="doc node" func="cnt" op="gt" val="1">
          <dgm:layoutNode name="spNode">
            <dgm:alg type="sp"/>
            <dgm:shape xmlns:r="http://schemas.openxmlformats.org/officeDocument/2006/relationships" r:blip="">
              <dgm:adjLst/>
            </dgm:shape>
            <dgm:presOf/>
            <dgm:constrLst>
              <dgm:constr type="h" refType="w"/>
            </dgm:constrLst>
            <dgm:ruleLst/>
          </dgm:layoutNode>
          <dgm:forEach name="Name15" axis="followSib" ptType="sibTrans" hideLastTrans="0" cnt="1">
            <dgm:layoutNode name="sibTrans">
              <dgm:alg type="conn">
                <dgm:param type="dim" val="1D"/>
                <dgm:param type="connRout" val="curve"/>
                <dgm:param type="begPts" val="radial"/>
                <dgm:param type="endPts" val="radial"/>
                <dgm:param type="endSty" val="noArr"/>
              </dgm:alg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0.65"/>
                <dgm:constr type="connDist"/>
                <dgm:constr type="begPad" refType="connDist" fact="0.01"/>
                <dgm:constr type="endPad" refType="connDist" fact="0.01"/>
              </dgm:constrLst>
              <dgm:ruleLst/>
            </dgm:layoutNode>
          </dgm:forEach>
        </dgm:if>
        <dgm:else name="Name16"/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896E33F-CACC-4F69-A49B-FAB2AF8D12AB}" type="datetimeFigureOut">
              <a:rPr lang="zh-CN" altLang="en-US" smtClean="0"/>
              <a:t>2026/4/10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0DC3919-3267-4021-8DBB-D513004776D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983201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这种结构模型绝非</a:t>
            </a:r>
            <a:r>
              <a:rPr lang="en-US" altLang="zh-CN" dirty="0"/>
              <a:t>985,211</a:t>
            </a:r>
            <a:r>
              <a:rPr lang="zh-CN" altLang="en-US" dirty="0"/>
              <a:t>高校才能采纳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285CFE2-300F-409B-A139-C3A1C6239943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4862527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4/10/2026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4/10/2026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4/10/2026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4/10/2026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4/10/2026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4/10/2026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和描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带描述的引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4/10/2026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引言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4/10/2026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真或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4/10/2026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1884C4-C51F-4F2F-8317-C0294D9E4D1F}" type="datetimeFigureOut">
              <a:rPr lang="zh-CN" altLang="en-US" smtClean="0"/>
              <a:t>2026/4/10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0841CD-0B63-49DB-A4B4-FF3B03DFC83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5152251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1884C4-C51F-4F2F-8317-C0294D9E4D1F}" type="datetimeFigureOut">
              <a:rPr lang="zh-CN" altLang="en-US" smtClean="0"/>
              <a:t>2026/4/10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0841CD-0B63-49DB-A4B4-FF3B03DFC83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8969345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1884C4-C51F-4F2F-8317-C0294D9E4D1F}" type="datetimeFigureOut">
              <a:rPr lang="zh-CN" altLang="en-US" smtClean="0"/>
              <a:t>2026/4/10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0841CD-0B63-49DB-A4B4-FF3B03DFC83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7415918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1884C4-C51F-4F2F-8317-C0294D9E4D1F}" type="datetimeFigureOut">
              <a:rPr lang="zh-CN" altLang="en-US" smtClean="0"/>
              <a:t>2026/4/10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0841CD-0B63-49DB-A4B4-FF3B03DFC83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8049181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1884C4-C51F-4F2F-8317-C0294D9E4D1F}" type="datetimeFigureOut">
              <a:rPr lang="zh-CN" altLang="en-US" smtClean="0"/>
              <a:t>2026/4/10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0841CD-0B63-49DB-A4B4-FF3B03DFC83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5546990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1884C4-C51F-4F2F-8317-C0294D9E4D1F}" type="datetimeFigureOut">
              <a:rPr lang="zh-CN" altLang="en-US" smtClean="0"/>
              <a:t>2026/4/10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0841CD-0B63-49DB-A4B4-FF3B03DFC83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7177275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1884C4-C51F-4F2F-8317-C0294D9E4D1F}" type="datetimeFigureOut">
              <a:rPr lang="zh-CN" altLang="en-US" smtClean="0"/>
              <a:t>2026/4/10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0841CD-0B63-49DB-A4B4-FF3B03DFC83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345559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1884C4-C51F-4F2F-8317-C0294D9E4D1F}" type="datetimeFigureOut">
              <a:rPr lang="zh-CN" altLang="en-US" smtClean="0"/>
              <a:t>2026/4/10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0841CD-0B63-49DB-A4B4-FF3B03DFC83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1679076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1884C4-C51F-4F2F-8317-C0294D9E4D1F}" type="datetimeFigureOut">
              <a:rPr lang="zh-CN" altLang="en-US" smtClean="0"/>
              <a:t>2026/4/10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0841CD-0B63-49DB-A4B4-FF3B03DFC83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35321720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1884C4-C51F-4F2F-8317-C0294D9E4D1F}" type="datetimeFigureOut">
              <a:rPr lang="zh-CN" altLang="en-US" smtClean="0"/>
              <a:t>2026/4/10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0841CD-0B63-49DB-A4B4-FF3B03DFC83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08816067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1884C4-C51F-4F2F-8317-C0294D9E4D1F}" type="datetimeFigureOut">
              <a:rPr lang="zh-CN" altLang="en-US" smtClean="0"/>
              <a:t>2026/4/10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0841CD-0B63-49DB-A4B4-FF3B03DFC83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408906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4.xml"/><Relationship Id="rId3" Type="http://schemas.openxmlformats.org/officeDocument/2006/relationships/slideLayout" Target="../slideLayouts/slideLayout19.xml"/><Relationship Id="rId7" Type="http://schemas.openxmlformats.org/officeDocument/2006/relationships/slideLayout" Target="../slideLayouts/slideLayout23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8.xml"/><Relationship Id="rId1" Type="http://schemas.openxmlformats.org/officeDocument/2006/relationships/slideLayout" Target="../slideLayouts/slideLayout17.xml"/><Relationship Id="rId6" Type="http://schemas.openxmlformats.org/officeDocument/2006/relationships/slideLayout" Target="../slideLayouts/slideLayout22.xml"/><Relationship Id="rId11" Type="http://schemas.openxmlformats.org/officeDocument/2006/relationships/slideLayout" Target="../slideLayouts/slideLayout27.xml"/><Relationship Id="rId5" Type="http://schemas.openxmlformats.org/officeDocument/2006/relationships/slideLayout" Target="../slideLayouts/slideLayout21.xml"/><Relationship Id="rId10" Type="http://schemas.openxmlformats.org/officeDocument/2006/relationships/slideLayout" Target="../slideLayouts/slideLayout26.xml"/><Relationship Id="rId4" Type="http://schemas.openxmlformats.org/officeDocument/2006/relationships/slideLayout" Target="../slideLayouts/slideLayout20.xml"/><Relationship Id="rId9" Type="http://schemas.openxmlformats.org/officeDocument/2006/relationships/slideLayout" Target="../slideLayouts/slideLayout2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4/10/2026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58" r:id="rId15"/>
    <p:sldLayoutId id="2147483659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1884C4-C51F-4F2F-8317-C0294D9E4D1F}" type="datetimeFigureOut">
              <a:rPr lang="zh-CN" altLang="en-US" smtClean="0"/>
              <a:t>2026/4/10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B0841CD-0B63-49DB-A4B4-FF3B03DFC83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92516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6" r:id="rId1"/>
    <p:sldLayoutId id="2147483667" r:id="rId2"/>
    <p:sldLayoutId id="2147483668" r:id="rId3"/>
    <p:sldLayoutId id="2147483669" r:id="rId4"/>
    <p:sldLayoutId id="2147483670" r:id="rId5"/>
    <p:sldLayoutId id="2147483671" r:id="rId6"/>
    <p:sldLayoutId id="2147483672" r:id="rId7"/>
    <p:sldLayoutId id="2147483673" r:id="rId8"/>
    <p:sldLayoutId id="2147483674" r:id="rId9"/>
    <p:sldLayoutId id="2147483675" r:id="rId10"/>
    <p:sldLayoutId id="2147483676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1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C442F8D-D3EA-40AE-93A6-B2E5281F398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/>
              <a:t>离散数学概论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D409D0A8-1A9A-4A71-BB80-0734DBA4A67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164297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193A26C-77AC-431E-9F56-2E65852C8A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40156" y="0"/>
            <a:ext cx="8911687" cy="612559"/>
          </a:xfrm>
        </p:spPr>
        <p:txBody>
          <a:bodyPr>
            <a:normAutofit fontScale="90000"/>
          </a:bodyPr>
          <a:lstStyle/>
          <a:p>
            <a:r>
              <a:rPr lang="zh-CN" altLang="en-US" dirty="0"/>
              <a:t>数学是什么？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3CB3E32-46BF-4494-9303-B53F564B22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612559"/>
            <a:ext cx="12192000" cy="6245441"/>
          </a:xfrm>
        </p:spPr>
        <p:txBody>
          <a:bodyPr>
            <a:normAutofit fontScale="92500" lnSpcReduction="20000"/>
          </a:bodyPr>
          <a:lstStyle/>
          <a:p>
            <a:r>
              <a:rPr lang="zh-CN" altLang="en-US" dirty="0"/>
              <a:t>数学是一门研究数量、结构、空间和变化等抽象概念的学科，它通过逻辑推理和符号系统来揭示规律、建立模型，并解决实际或理论问题。数学不仅是科学的基础工具，也是一种独特的思维方式和语言体系。</a:t>
            </a:r>
          </a:p>
          <a:p>
            <a:r>
              <a:rPr lang="zh-CN" altLang="en-US" b="1" dirty="0"/>
              <a:t>数学的本质与特征</a:t>
            </a:r>
            <a:r>
              <a:rPr lang="zh-CN" altLang="en-US" dirty="0"/>
              <a:t>、、抽象性与普遍性、、数学通过从具体事物中剥离非本质特征，提炼出普遍规律。例如，数字“</a:t>
            </a:r>
            <a:r>
              <a:rPr lang="en-US" altLang="zh-CN" dirty="0"/>
              <a:t>2”</a:t>
            </a:r>
            <a:r>
              <a:rPr lang="zh-CN" altLang="en-US" dirty="0"/>
              <a:t>可以代表两只猫、两个苹果，甚至抽象的维度；几何中的点、线、面则是对现实形状的简化。</a:t>
            </a:r>
            <a:r>
              <a:rPr lang="zh-CN" altLang="en-US" b="1" dirty="0"/>
              <a:t>逻辑性与严谨性</a:t>
            </a:r>
            <a:r>
              <a:rPr lang="zh-CN" altLang="en-US" dirty="0"/>
              <a:t>、、数学依赖严格的公理系统（如欧几里得几何的五条公设）和逻辑推导。每个结论都需通过证明（如代数推导、几何证明）来保证其正确性。</a:t>
            </a:r>
            <a:r>
              <a:rPr lang="zh-CN" altLang="en-US" b="1" dirty="0"/>
              <a:t>创造性与美学</a:t>
            </a:r>
            <a:r>
              <a:rPr lang="zh-CN" altLang="en-US" dirty="0"/>
              <a:t>、、数学充满创造：新定理、新理论的发现往往需要直觉和想象力。例如，非欧几何打破了传统几何的直觉框架，复数的引入则扩展了数学的应用边界。数学的美体现在简洁性（如欧拉公式）、对称性（如分形）和深刻性（如质数分布规律）。</a:t>
            </a:r>
            <a:r>
              <a:rPr lang="zh-CN" altLang="en-US" b="1" dirty="0"/>
              <a:t>数学的分支与内容</a:t>
            </a:r>
            <a:r>
              <a:rPr lang="zh-CN" altLang="en-US" dirty="0"/>
              <a:t>、、基础数学 包括算术、代数、几何、三角学，研究数、方程、图形的基本性质。现代数学、、分析：微积分、微分方程，研究变化与极限（如牛顿力学中的运动描述）。代数：群论、环论、域论，研究结构与对称性（如密码学中的公钥加密）。几何与拓扑：微分几何、代数几何，研究空间与形状的变形（如广义相对论中的时空弯曲）。数论：研究整数性质，如质数分布（与密码学、计算机科学相关）。、、应用数学 统计学、运筹学、数学建模，将数学工具应用于物理、生物、经济等领域。</a:t>
            </a:r>
          </a:p>
          <a:p>
            <a:r>
              <a:rPr lang="zh-CN" altLang="en-US" b="1" dirty="0"/>
              <a:t>数学的核心方法</a:t>
            </a:r>
            <a:r>
              <a:rPr lang="zh-CN" altLang="en-US" dirty="0"/>
              <a:t>、、</a:t>
            </a:r>
            <a:r>
              <a:rPr lang="zh-CN" altLang="en-US" b="1" dirty="0"/>
              <a:t>公理化方法 </a:t>
            </a:r>
            <a:r>
              <a:rPr lang="zh-CN" altLang="en-US" dirty="0"/>
              <a:t>从少数公理出发，通过逻辑推导构建整个理论体系。例如，集合论是现代数学的基础。</a:t>
            </a:r>
            <a:r>
              <a:rPr lang="zh-CN" altLang="en-US" b="1" dirty="0"/>
              <a:t>模型化与抽象 </a:t>
            </a:r>
            <a:r>
              <a:rPr lang="zh-CN" altLang="en-US" dirty="0"/>
              <a:t>将现实问题转化为数学模型（如用微分方程模拟人口增长），再通过分析得到预测或解决方案。</a:t>
            </a:r>
            <a:r>
              <a:rPr lang="zh-CN" altLang="en-US" b="1" dirty="0"/>
              <a:t>证明与反例 </a:t>
            </a:r>
            <a:r>
              <a:rPr lang="zh-CN" altLang="en-US" dirty="0"/>
              <a:t>数学结论必须通过严密证明（如用数学归纳法），而反例则能推翻错误猜想（如反例证明某些方程无解）。</a:t>
            </a:r>
          </a:p>
          <a:p>
            <a:r>
              <a:rPr lang="zh-CN" altLang="en-US" b="1" dirty="0"/>
              <a:t>数学的哲学视角</a:t>
            </a:r>
            <a:r>
              <a:rPr lang="zh-CN" altLang="en-US" dirty="0"/>
              <a:t>、、不同学者对数学本质有不同的理解：、、柏拉图主义：认为数学对象（如质数）是独立存在的抽象实体。</a:t>
            </a:r>
            <a:r>
              <a:rPr lang="zh-CN" altLang="en-US" b="1" dirty="0"/>
              <a:t>形式主义</a:t>
            </a:r>
            <a:r>
              <a:rPr lang="zh-CN" altLang="en-US" dirty="0"/>
              <a:t>：将数学视为符号游戏，关注逻辑规则而非意义（如希尔伯特的公理系统）。</a:t>
            </a:r>
            <a:r>
              <a:rPr lang="zh-CN" altLang="en-US" b="1" dirty="0"/>
              <a:t>直觉主义</a:t>
            </a:r>
            <a:r>
              <a:rPr lang="zh-CN" altLang="en-US" dirty="0"/>
              <a:t>：强调数学是人类心智的构造，拒绝非构造性证明（如排中律的应用限制）。</a:t>
            </a:r>
          </a:p>
          <a:p>
            <a:r>
              <a:rPr lang="zh-CN" altLang="en-US" b="1" dirty="0"/>
              <a:t>数学的意义与应用</a:t>
            </a:r>
            <a:r>
              <a:rPr lang="zh-CN" altLang="en-US" dirty="0"/>
              <a:t>、、科学与工程的基石 物理学中的麦克斯韦方程、爱因斯坦场方程；工程学中的结构力学分析；计算机科学中的算法设计等，均依赖数学工具。</a:t>
            </a:r>
            <a:r>
              <a:rPr lang="zh-CN" altLang="en-US" b="1" dirty="0"/>
              <a:t>技术与社会的推动力</a:t>
            </a:r>
            <a:r>
              <a:rPr lang="zh-CN" altLang="en-US" dirty="0"/>
              <a:t>、、密码学：椭圆曲线加密保障网络安全。金融学：布莱克</a:t>
            </a:r>
            <a:r>
              <a:rPr lang="en-US" altLang="zh-CN" dirty="0"/>
              <a:t>-</a:t>
            </a:r>
            <a:r>
              <a:rPr lang="zh-CN" altLang="en-US" dirty="0"/>
              <a:t>斯科尔斯模型用于期权定价。人工智能：线性代数和概率论支撑机器学习算法。</a:t>
            </a:r>
          </a:p>
          <a:p>
            <a:r>
              <a:rPr lang="zh-CN" altLang="en-US" b="1" dirty="0"/>
              <a:t>日常生活中的数学 </a:t>
            </a:r>
            <a:r>
              <a:rPr lang="zh-CN" altLang="en-US" dirty="0"/>
              <a:t>从导航中的三角定位到购物中的优化选择，数学无处不在。数学的开放性、、数学充满未解之谜，如：黎曼猜想：关于质数分布的猜想，悬赏百万美元。</a:t>
            </a:r>
            <a:r>
              <a:rPr lang="en-US" altLang="zh-CN" b="1" dirty="0"/>
              <a:t>P vs NP</a:t>
            </a:r>
            <a:r>
              <a:rPr lang="zh-CN" altLang="en-US" b="1" dirty="0"/>
              <a:t>问题</a:t>
            </a:r>
            <a:r>
              <a:rPr lang="zh-CN" altLang="en-US" dirty="0"/>
              <a:t>：算法复杂性的核心问题。、、拓扑学中的庞加莱猜想（已解决）：揭示三维空间的结构特性。</a:t>
            </a:r>
          </a:p>
          <a:p>
            <a:r>
              <a:rPr lang="zh-CN" altLang="en-US" b="1" dirty="0"/>
              <a:t>总结</a:t>
            </a:r>
            <a:r>
              <a:rPr lang="zh-CN" altLang="en-US" dirty="0"/>
              <a:t>、、、数学不仅是解题的工具箱，更是人类探索世界规律的语言。它通过抽象、逻辑和创造，连接理论与应用，推动科学进步与技术创新。无论是理解宇宙的运行，还是设计智能系统，数学始终是贯穿其中的核心力量。</a:t>
            </a:r>
          </a:p>
        </p:txBody>
      </p:sp>
    </p:spTree>
    <p:extLst>
      <p:ext uri="{BB962C8B-B14F-4D97-AF65-F5344CB8AC3E}">
        <p14:creationId xmlns:p14="http://schemas.microsoft.com/office/powerpoint/2010/main" val="15578269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92B0EE0-D911-4CE2-BDF4-6023056B44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36277" y="75470"/>
            <a:ext cx="8911687" cy="1280890"/>
          </a:xfrm>
        </p:spPr>
        <p:txBody>
          <a:bodyPr/>
          <a:lstStyle/>
          <a:p>
            <a:r>
              <a:rPr lang="zh-CN" altLang="en-US" dirty="0"/>
              <a:t>数学是什么？</a:t>
            </a:r>
            <a:br>
              <a:rPr lang="en-US" altLang="zh-CN" dirty="0"/>
            </a:br>
            <a:r>
              <a:rPr lang="zh-CN" altLang="en-US" dirty="0"/>
              <a:t>数学有哪些门类？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8762076-F5A1-4565-918D-F9BA5A383F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8147" y="1260909"/>
            <a:ext cx="11373853" cy="5597091"/>
          </a:xfrm>
        </p:spPr>
        <p:txBody>
          <a:bodyPr>
            <a:normAutofit/>
          </a:bodyPr>
          <a:lstStyle/>
          <a:p>
            <a:pPr algn="l">
              <a:buFont typeface="+mj-lt"/>
              <a:buAutoNum type="arabicPeriod"/>
            </a:pPr>
            <a:r>
              <a:rPr lang="zh-CN" altLang="en-US" sz="2000" b="1" i="0" dirty="0">
                <a:solidFill>
                  <a:srgbClr val="1F1F1F"/>
                </a:solidFill>
                <a:effectLst/>
                <a:latin typeface="PingFangSC-Semibold"/>
              </a:rPr>
              <a:t>代数</a:t>
            </a:r>
            <a:r>
              <a:rPr lang="zh-CN" altLang="en-US" sz="2000" b="1" i="0" dirty="0">
                <a:solidFill>
                  <a:srgbClr val="1F1F1F"/>
                </a:solidFill>
                <a:effectLst/>
                <a:latin typeface="PingFangSC-Regular"/>
              </a:rPr>
              <a:t>：研究数学的基本结构，包括群、环、域等抽象代数结构。</a:t>
            </a:r>
          </a:p>
          <a:p>
            <a:pPr algn="l">
              <a:buFont typeface="+mj-lt"/>
              <a:buAutoNum type="arabicPeriod"/>
            </a:pPr>
            <a:r>
              <a:rPr lang="zh-CN" altLang="en-US" sz="2000" b="1" i="0" dirty="0">
                <a:solidFill>
                  <a:srgbClr val="1F1F1F"/>
                </a:solidFill>
                <a:effectLst/>
                <a:latin typeface="PingFangSC-Semibold"/>
              </a:rPr>
              <a:t>几何</a:t>
            </a:r>
            <a:r>
              <a:rPr lang="zh-CN" altLang="en-US" sz="2000" b="1" i="0" dirty="0">
                <a:solidFill>
                  <a:srgbClr val="1F1F1F"/>
                </a:solidFill>
                <a:effectLst/>
                <a:latin typeface="PingFangSC-Regular"/>
              </a:rPr>
              <a:t>：研究形状、空间和图形的数学分支。这包括欧几里得几何、解析几何、微分几何等。</a:t>
            </a:r>
          </a:p>
          <a:p>
            <a:pPr algn="l">
              <a:buFont typeface="+mj-lt"/>
              <a:buAutoNum type="arabicPeriod"/>
            </a:pPr>
            <a:r>
              <a:rPr lang="zh-CN" altLang="en-US" sz="2000" b="1" i="0" dirty="0">
                <a:solidFill>
                  <a:srgbClr val="1F1F1F"/>
                </a:solidFill>
                <a:effectLst/>
                <a:latin typeface="PingFangSC-Semibold"/>
              </a:rPr>
              <a:t>分析</a:t>
            </a:r>
            <a:r>
              <a:rPr lang="zh-CN" altLang="en-US" sz="2000" b="1" i="0" dirty="0">
                <a:solidFill>
                  <a:srgbClr val="1F1F1F"/>
                </a:solidFill>
                <a:effectLst/>
                <a:latin typeface="PingFangSC-Regular"/>
              </a:rPr>
              <a:t>：研究数学中的无穷和极限的理论，包括实分析、复分析、测度论等。</a:t>
            </a:r>
          </a:p>
          <a:p>
            <a:pPr algn="l">
              <a:buFont typeface="+mj-lt"/>
              <a:buAutoNum type="arabicPeriod"/>
            </a:pPr>
            <a:r>
              <a:rPr lang="zh-CN" altLang="en-US" sz="2000" b="1" i="0" dirty="0">
                <a:solidFill>
                  <a:srgbClr val="1F1F1F"/>
                </a:solidFill>
                <a:effectLst/>
                <a:latin typeface="PingFangSC-Semibold"/>
              </a:rPr>
              <a:t>概率论与数理统计</a:t>
            </a:r>
            <a:r>
              <a:rPr lang="zh-CN" altLang="en-US" sz="2000" b="1" i="0" dirty="0">
                <a:solidFill>
                  <a:srgbClr val="1F1F1F"/>
                </a:solidFill>
                <a:effectLst/>
                <a:latin typeface="PingFangSC-Regular"/>
              </a:rPr>
              <a:t>：研究随机现象的数学分支，包括概率论、统计学、随机过程等。</a:t>
            </a:r>
          </a:p>
          <a:p>
            <a:pPr algn="l">
              <a:buFont typeface="+mj-lt"/>
              <a:buAutoNum type="arabicPeriod"/>
            </a:pPr>
            <a:r>
              <a:rPr lang="zh-CN" altLang="en-US" sz="2000" b="1" i="0" dirty="0">
                <a:solidFill>
                  <a:srgbClr val="1F1F1F"/>
                </a:solidFill>
                <a:effectLst/>
                <a:latin typeface="PingFangSC-Semibold"/>
              </a:rPr>
              <a:t>微积分</a:t>
            </a:r>
            <a:r>
              <a:rPr lang="zh-CN" altLang="en-US" sz="2000" b="1" i="0" dirty="0">
                <a:solidFill>
                  <a:srgbClr val="1F1F1F"/>
                </a:solidFill>
                <a:effectLst/>
                <a:latin typeface="PingFangSC-Regular"/>
              </a:rPr>
              <a:t>：研究变化率和积分（面积）的数学分支，包括微分学和积分学。</a:t>
            </a:r>
          </a:p>
          <a:p>
            <a:pPr algn="l">
              <a:buFont typeface="+mj-lt"/>
              <a:buAutoNum type="arabicPeriod"/>
            </a:pPr>
            <a:r>
              <a:rPr lang="zh-CN" altLang="en-US" sz="2000" b="1" i="0" dirty="0">
                <a:solidFill>
                  <a:srgbClr val="1F1F1F"/>
                </a:solidFill>
                <a:effectLst/>
                <a:latin typeface="PingFangSC-Semibold"/>
              </a:rPr>
              <a:t>拓扑学</a:t>
            </a:r>
            <a:r>
              <a:rPr lang="zh-CN" altLang="en-US" sz="2000" b="1" i="0" dirty="0">
                <a:solidFill>
                  <a:srgbClr val="1F1F1F"/>
                </a:solidFill>
                <a:effectLst/>
                <a:latin typeface="PingFangSC-Regular"/>
              </a:rPr>
              <a:t>：研究空间和形状的数学分支，包括点集拓扑和代数拓扑。</a:t>
            </a:r>
          </a:p>
          <a:p>
            <a:pPr algn="l">
              <a:buFont typeface="+mj-lt"/>
              <a:buAutoNum type="arabicPeriod"/>
            </a:pPr>
            <a:r>
              <a:rPr lang="zh-CN" altLang="en-US" sz="2000" b="1" i="0" dirty="0">
                <a:solidFill>
                  <a:srgbClr val="1F1F1F"/>
                </a:solidFill>
                <a:effectLst/>
                <a:latin typeface="PingFangSC-Semibold"/>
              </a:rPr>
              <a:t>线性代数</a:t>
            </a:r>
            <a:r>
              <a:rPr lang="zh-CN" altLang="en-US" sz="2000" b="1" i="0" dirty="0">
                <a:solidFill>
                  <a:srgbClr val="1F1F1F"/>
                </a:solidFill>
                <a:effectLst/>
                <a:latin typeface="PingFangSC-Regular"/>
              </a:rPr>
              <a:t>：研究线性空间和线性变换的数学分支。</a:t>
            </a:r>
          </a:p>
          <a:p>
            <a:pPr algn="l">
              <a:buFont typeface="+mj-lt"/>
              <a:buAutoNum type="arabicPeriod"/>
            </a:pPr>
            <a:r>
              <a:rPr lang="zh-CN" altLang="en-US" sz="2000" b="1" i="0" dirty="0">
                <a:solidFill>
                  <a:srgbClr val="1F1F1F"/>
                </a:solidFill>
                <a:effectLst/>
                <a:latin typeface="PingFangSC-Semibold"/>
              </a:rPr>
              <a:t>离散数学</a:t>
            </a:r>
            <a:r>
              <a:rPr lang="zh-CN" altLang="en-US" sz="2000" b="1" i="0" dirty="0">
                <a:solidFill>
                  <a:srgbClr val="1F1F1F"/>
                </a:solidFill>
                <a:effectLst/>
                <a:latin typeface="PingFangSC-Regular"/>
              </a:rPr>
              <a:t>：研究离散对象（如集合、图、树等）的数学分支，包括组合数学、图论、离散概率论等。</a:t>
            </a:r>
          </a:p>
          <a:p>
            <a:pPr algn="l">
              <a:buFont typeface="+mj-lt"/>
              <a:buAutoNum type="arabicPeriod"/>
            </a:pPr>
            <a:r>
              <a:rPr lang="zh-CN" altLang="en-US" sz="2000" b="1" i="0" dirty="0">
                <a:solidFill>
                  <a:srgbClr val="1F1F1F"/>
                </a:solidFill>
                <a:effectLst/>
                <a:latin typeface="PingFangSC-Semibold"/>
              </a:rPr>
              <a:t>应用数学</a:t>
            </a:r>
            <a:r>
              <a:rPr lang="zh-CN" altLang="en-US" sz="2000" b="1" i="0" dirty="0">
                <a:solidFill>
                  <a:srgbClr val="1F1F1F"/>
                </a:solidFill>
                <a:effectLst/>
                <a:latin typeface="PingFangSC-Regular"/>
              </a:rPr>
              <a:t>：将数学应用于其他领域，如物理、工程、经济等。这包括数值分析、控制论、计算物理等。</a:t>
            </a:r>
          </a:p>
          <a:p>
            <a:pPr algn="l">
              <a:buFont typeface="+mj-lt"/>
              <a:buAutoNum type="arabicPeriod"/>
            </a:pPr>
            <a:r>
              <a:rPr lang="zh-CN" altLang="en-US" sz="2000" b="1" i="0" dirty="0">
                <a:solidFill>
                  <a:srgbClr val="1F1F1F"/>
                </a:solidFill>
                <a:effectLst/>
                <a:latin typeface="PingFangSC-Semibold"/>
              </a:rPr>
              <a:t>数论</a:t>
            </a:r>
            <a:r>
              <a:rPr lang="zh-CN" altLang="en-US" sz="2000" b="1" i="0" dirty="0">
                <a:solidFill>
                  <a:srgbClr val="1F1F1F"/>
                </a:solidFill>
                <a:effectLst/>
                <a:latin typeface="PingFangSC-Regular"/>
              </a:rPr>
              <a:t>：研究整数的数学分支，包括初等数论、解析数论和代数数论等。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8423727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76A87C1-24BE-42B7-A7C8-EBC0A421CF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6"/>
            <a:ext cx="10515600" cy="776072"/>
          </a:xfrm>
        </p:spPr>
        <p:txBody>
          <a:bodyPr/>
          <a:lstStyle/>
          <a:p>
            <a:r>
              <a:rPr lang="zh-CN" altLang="en-US" dirty="0"/>
              <a:t>离散数学是什么？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B9E7D06-489F-46BF-90DE-CF7490F28A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600364"/>
            <a:ext cx="12192000" cy="6239380"/>
          </a:xfrm>
        </p:spPr>
        <p:txBody>
          <a:bodyPr>
            <a:normAutofit fontScale="62500" lnSpcReduction="20000"/>
          </a:bodyPr>
          <a:lstStyle/>
          <a:p>
            <a:r>
              <a:rPr lang="zh-CN" altLang="en-US" dirty="0"/>
              <a:t>离散数学是数学的一个重要分支，专注于离散对象的研究，即由独立、分立的个体组成的结构，而不是连续变化的数量。它与连续数学（如微积分、线性代数等处理连续变化的领域）形成鲜明对比。</a:t>
            </a:r>
          </a:p>
          <a:p>
            <a:r>
              <a:rPr lang="zh-CN" altLang="en-US" dirty="0"/>
              <a:t>离散数学的主要特点</a:t>
            </a:r>
            <a:r>
              <a:rPr lang="en-US" altLang="zh-CN" dirty="0"/>
              <a:t>\\\</a:t>
            </a:r>
            <a:r>
              <a:rPr lang="zh-CN" altLang="en-US" dirty="0"/>
              <a:t>研究对象为“分立”的个体</a:t>
            </a:r>
            <a:r>
              <a:rPr lang="en-US" altLang="zh-CN" dirty="0"/>
              <a:t>\\</a:t>
            </a:r>
            <a:r>
              <a:rPr lang="zh-CN" altLang="en-US" dirty="0"/>
              <a:t>例如：整数（而非实数）、集合、图、逻辑命题等。</a:t>
            </a:r>
            <a:r>
              <a:rPr lang="en-US" altLang="zh-CN" dirty="0"/>
              <a:t>\\</a:t>
            </a:r>
            <a:r>
              <a:rPr lang="zh-CN" altLang="en-US" dirty="0"/>
              <a:t>对比：微积分研究的实数是“连续”的，可以无限细分（比如时间、温度的变化）。</a:t>
            </a:r>
          </a:p>
          <a:p>
            <a:r>
              <a:rPr lang="zh-CN" altLang="en-US" dirty="0"/>
              <a:t>解决“有限或可数”的问题</a:t>
            </a:r>
            <a:r>
              <a:rPr lang="en-US" altLang="zh-CN" dirty="0"/>
              <a:t>\\</a:t>
            </a:r>
            <a:r>
              <a:rPr lang="zh-CN" altLang="en-US" dirty="0"/>
              <a:t>例如：计数问题（排列组合）、有限状态的系统、网络结构等。</a:t>
            </a:r>
          </a:p>
          <a:p>
            <a:r>
              <a:rPr lang="zh-CN" altLang="en-US" dirty="0"/>
              <a:t>离散数学的核心内容</a:t>
            </a:r>
            <a:r>
              <a:rPr lang="en-US" altLang="zh-CN" dirty="0"/>
              <a:t>\\</a:t>
            </a:r>
            <a:r>
              <a:rPr lang="zh-CN" altLang="en-US" dirty="0"/>
              <a:t>集合论（</a:t>
            </a:r>
            <a:r>
              <a:rPr lang="en-US" altLang="zh-CN" dirty="0"/>
              <a:t>Set Theory</a:t>
            </a:r>
            <a:r>
              <a:rPr lang="zh-CN" altLang="en-US" dirty="0"/>
              <a:t>）研究集合的定义、操作（并集、交集、笛卡尔积等）和关系，是数学的基础工具。</a:t>
            </a:r>
            <a:r>
              <a:rPr lang="en-US" altLang="zh-CN" dirty="0"/>
              <a:t>\\</a:t>
            </a:r>
            <a:r>
              <a:rPr lang="zh-CN" altLang="en-US" dirty="0"/>
              <a:t>逻辑（</a:t>
            </a:r>
            <a:r>
              <a:rPr lang="en-US" altLang="zh-CN" dirty="0"/>
              <a:t>Logic</a:t>
            </a:r>
            <a:r>
              <a:rPr lang="zh-CN" altLang="en-US" dirty="0"/>
              <a:t>）分析命题和谓词的逻辑结构，用于推理和证明，是编程语言和人工智能的基础。</a:t>
            </a:r>
            <a:r>
              <a:rPr lang="en-US" altLang="zh-CN" dirty="0"/>
              <a:t>\</a:t>
            </a:r>
            <a:r>
              <a:rPr lang="zh-CN" altLang="en-US" dirty="0"/>
              <a:t>图论（</a:t>
            </a:r>
            <a:r>
              <a:rPr lang="en-US" altLang="zh-CN" dirty="0"/>
              <a:t>Graph Theory</a:t>
            </a:r>
            <a:r>
              <a:rPr lang="zh-CN" altLang="en-US" dirty="0"/>
              <a:t>）研究由节点和边组成的图结构，用于建模网络（如社交网络、电路设计）和路径优化问题（如最短路径算法）。</a:t>
            </a:r>
            <a:r>
              <a:rPr lang="en-US" altLang="zh-CN" dirty="0"/>
              <a:t>\\</a:t>
            </a:r>
            <a:r>
              <a:rPr lang="zh-CN" altLang="en-US" dirty="0"/>
              <a:t>组合数学（</a:t>
            </a:r>
            <a:r>
              <a:rPr lang="en-US" altLang="zh-CN" dirty="0"/>
              <a:t>Combinatorics</a:t>
            </a:r>
            <a:r>
              <a:rPr lang="zh-CN" altLang="en-US" dirty="0"/>
              <a:t>）涉及计数方法（如排列组合、组合优化），解决“有多少种可能”或“如何最优分配”的问题。</a:t>
            </a:r>
            <a:r>
              <a:rPr lang="en-US" altLang="zh-CN" dirty="0"/>
              <a:t>\\</a:t>
            </a:r>
            <a:r>
              <a:rPr lang="zh-CN" altLang="en-US" dirty="0"/>
              <a:t>数论（</a:t>
            </a:r>
            <a:r>
              <a:rPr lang="en-US" altLang="zh-CN" dirty="0"/>
              <a:t>Number Theory</a:t>
            </a:r>
            <a:r>
              <a:rPr lang="zh-CN" altLang="en-US" dirty="0"/>
              <a:t>）研究整数的性质（如质数、同余），是密码学的核心基础。</a:t>
            </a:r>
            <a:r>
              <a:rPr lang="en-US" altLang="zh-CN" dirty="0"/>
              <a:t>\\</a:t>
            </a:r>
            <a:r>
              <a:rPr lang="zh-CN" altLang="en-US" dirty="0"/>
              <a:t>代数结构（如布尔代数、群论）提供抽象的代数工具，用于计算机科学中的编码、错误检测等。</a:t>
            </a:r>
            <a:r>
              <a:rPr lang="en-US" altLang="zh-CN" dirty="0"/>
              <a:t>\\</a:t>
            </a:r>
            <a:r>
              <a:rPr lang="zh-CN" altLang="en-US" dirty="0"/>
              <a:t>形式语言与自动机理论描述编程语言的语法、编译原理中的语法分析，以及计算的边界（如图灵机）。</a:t>
            </a:r>
          </a:p>
          <a:p>
            <a:r>
              <a:rPr lang="zh-CN" altLang="en-US" b="1" dirty="0"/>
              <a:t>离散数学的应用</a:t>
            </a:r>
          </a:p>
          <a:p>
            <a:r>
              <a:rPr lang="zh-CN" altLang="en-US" dirty="0"/>
              <a:t>计算机科学</a:t>
            </a:r>
            <a:r>
              <a:rPr lang="en-US" altLang="zh-CN" dirty="0"/>
              <a:t>\\</a:t>
            </a:r>
            <a:r>
              <a:rPr lang="zh-CN" altLang="en-US" dirty="0"/>
              <a:t>算法设计：图论用于网络路由（如</a:t>
            </a:r>
            <a:r>
              <a:rPr lang="en-US" altLang="zh-CN" dirty="0"/>
              <a:t>Dijkstra</a:t>
            </a:r>
            <a:r>
              <a:rPr lang="zh-CN" altLang="en-US" dirty="0"/>
              <a:t>算法），组合数学用于优化算法效率。数据结构：树、图等离散结构是数据存储和检索的基础。密码学：数论用于</a:t>
            </a:r>
            <a:r>
              <a:rPr lang="en-US" altLang="zh-CN" dirty="0"/>
              <a:t>RSA</a:t>
            </a:r>
            <a:r>
              <a:rPr lang="zh-CN" altLang="en-US" dirty="0"/>
              <a:t>加密算法，确保数据安全。编程语言：逻辑和形式语言理论用于语法定义与编译器设计。工程与网络</a:t>
            </a:r>
            <a:r>
              <a:rPr lang="en-US" altLang="zh-CN" dirty="0"/>
              <a:t>\\</a:t>
            </a:r>
            <a:r>
              <a:rPr lang="zh-CN" altLang="en-US" dirty="0"/>
              <a:t>网络拓扑设计（如数据中心的连接方式）、电路设计（布尔逻辑）、任务调度优化等。人工智能</a:t>
            </a:r>
            <a:r>
              <a:rPr lang="en-US" altLang="zh-CN" dirty="0"/>
              <a:t>\\</a:t>
            </a:r>
            <a:r>
              <a:rPr lang="zh-CN" altLang="en-US" dirty="0"/>
              <a:t>逻辑推理（如专家系统）、离散优化（如机器学习中的分类问题）。经济与社会</a:t>
            </a:r>
            <a:r>
              <a:rPr lang="en-US" altLang="zh-CN" dirty="0"/>
              <a:t>\\</a:t>
            </a:r>
            <a:r>
              <a:rPr lang="zh-CN" altLang="en-US" dirty="0"/>
              <a:t>有限资源分配、游戏理论中的离散策略分析。</a:t>
            </a:r>
          </a:p>
          <a:p>
            <a:r>
              <a:rPr lang="zh-CN" altLang="en-US" b="1" dirty="0"/>
              <a:t>为什么离散数学重要？</a:t>
            </a:r>
            <a:r>
              <a:rPr lang="zh-CN" altLang="en-US" dirty="0"/>
              <a:t>计算机科学的“数学语言”：几乎所有计算机科学的核心问题（如算法复杂度、数据加密、分布式系统）都依赖离散数学。解决问题的通用框架：例如，将复杂问题抽象为图论中的最短路径、匹配问题等。培养抽象思维：通过离散结构的学习，提升建模、证明和逻辑推理能力。</a:t>
            </a:r>
          </a:p>
          <a:p>
            <a:r>
              <a:rPr lang="zh-CN" altLang="en-US" dirty="0"/>
              <a:t>简单例子</a:t>
            </a:r>
            <a:r>
              <a:rPr lang="en-US" altLang="zh-CN" dirty="0"/>
              <a:t>\\\</a:t>
            </a:r>
            <a:r>
              <a:rPr lang="zh-CN" altLang="en-US" dirty="0"/>
              <a:t>连续 </a:t>
            </a:r>
            <a:r>
              <a:rPr lang="en-US" altLang="zh-CN" dirty="0"/>
              <a:t>vs </a:t>
            </a:r>
            <a:r>
              <a:rPr lang="zh-CN" altLang="en-US" dirty="0"/>
              <a:t>离散：连续问题：计算一个球从</a:t>
            </a:r>
            <a:r>
              <a:rPr lang="en-US" altLang="zh-CN" dirty="0"/>
              <a:t>10</a:t>
            </a:r>
            <a:r>
              <a:rPr lang="zh-CN" altLang="en-US" dirty="0"/>
              <a:t>米高掉落的轨迹（微积分）。离散问题：计算从</a:t>
            </a:r>
            <a:r>
              <a:rPr lang="en-US" altLang="zh-CN" dirty="0"/>
              <a:t>10</a:t>
            </a:r>
            <a:r>
              <a:rPr lang="zh-CN" altLang="en-US" dirty="0"/>
              <a:t>个球中选</a:t>
            </a:r>
            <a:r>
              <a:rPr lang="en-US" altLang="zh-CN" dirty="0"/>
              <a:t>3</a:t>
            </a:r>
            <a:r>
              <a:rPr lang="zh-CN" altLang="en-US" dirty="0"/>
              <a:t>个的组合数（组合数学）。实际应用：社交网络（图论）中的好友推荐算法。网络安全（数论）中的密码生成。</a:t>
            </a:r>
          </a:p>
          <a:p>
            <a:r>
              <a:rPr lang="zh-CN" altLang="en-US" dirty="0"/>
              <a:t>总结</a:t>
            </a:r>
            <a:r>
              <a:rPr lang="en-US" altLang="zh-CN" dirty="0"/>
              <a:t>\\\\</a:t>
            </a:r>
            <a:r>
              <a:rPr lang="zh-CN" altLang="en-US" dirty="0"/>
              <a:t>离散数学是计算机科学和现代工程的基石，它通过研究离散的结构和关系，为解决现实中的分立问题提供理论工具。无论是设计高效的算法，还是确保网络安全，离散数学都是不可或缺的基础。</a:t>
            </a:r>
          </a:p>
        </p:txBody>
      </p:sp>
    </p:spTree>
    <p:extLst>
      <p:ext uri="{BB962C8B-B14F-4D97-AF65-F5344CB8AC3E}">
        <p14:creationId xmlns:p14="http://schemas.microsoft.com/office/powerpoint/2010/main" val="10963669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41C1818-8444-4D54-BB00-7C9D7E8C69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77425" y="24067"/>
            <a:ext cx="8911687" cy="1280890"/>
          </a:xfrm>
        </p:spPr>
        <p:txBody>
          <a:bodyPr/>
          <a:lstStyle/>
          <a:p>
            <a:r>
              <a:rPr lang="zh-CN" altLang="en-US" dirty="0"/>
              <a:t>离散数学是什么？</a:t>
            </a:r>
            <a:br>
              <a:rPr lang="en-US" altLang="zh-CN" dirty="0"/>
            </a:br>
            <a:r>
              <a:rPr lang="zh-CN" altLang="en-US" dirty="0"/>
              <a:t>离散数学有哪些门类？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8D745C8-DB06-4605-B3C6-EF9F6CAA04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3255" y="1376413"/>
            <a:ext cx="12018745" cy="5313145"/>
          </a:xfrm>
        </p:spPr>
        <p:txBody>
          <a:bodyPr>
            <a:normAutofit fontScale="92500" lnSpcReduction="10000"/>
          </a:bodyPr>
          <a:lstStyle/>
          <a:p>
            <a:r>
              <a:rPr lang="zh-CN" altLang="en-US" sz="2800" b="1" dirty="0"/>
              <a:t>集合论：</a:t>
            </a:r>
            <a:r>
              <a:rPr lang="zh-CN" altLang="en-US" sz="2800" dirty="0"/>
              <a:t>集合及运算、二元关系与函数、自然数及自然数集、集合的基数</a:t>
            </a:r>
            <a:endParaRPr lang="en-US" altLang="zh-CN" sz="2800" dirty="0"/>
          </a:p>
          <a:p>
            <a:r>
              <a:rPr lang="zh-CN" altLang="en-US" sz="2800" b="1" dirty="0"/>
              <a:t>数论：</a:t>
            </a:r>
            <a:r>
              <a:rPr lang="zh-CN" altLang="en-US" sz="2800" dirty="0"/>
              <a:t>专门研究整数的纯数学的分支</a:t>
            </a:r>
            <a:endParaRPr lang="en-US" altLang="zh-CN" sz="2800" dirty="0"/>
          </a:p>
          <a:p>
            <a:r>
              <a:rPr lang="zh-CN" altLang="en-US" sz="2800" b="1" dirty="0"/>
              <a:t>经典概率论：</a:t>
            </a:r>
            <a:r>
              <a:rPr lang="zh-CN" altLang="en-US" sz="2800" dirty="0"/>
              <a:t>研究随机现象数量规律的数学分支，是一门研究事情发生的可能性的学问。但是最初概率论的起源与赌博问题有关</a:t>
            </a:r>
            <a:endParaRPr lang="en-US" altLang="zh-CN" sz="2800" dirty="0"/>
          </a:p>
          <a:p>
            <a:r>
              <a:rPr lang="zh-CN" altLang="en-US" sz="2800" b="1" dirty="0"/>
              <a:t>图论：</a:t>
            </a:r>
            <a:r>
              <a:rPr lang="zh-CN" altLang="en-US" sz="2800" dirty="0"/>
              <a:t>图的基本概念、欧拉图与哈密顿图、树、图的矩阵表示、平面图、图着色、支配集、覆盖集、独立集与匹配、带权图及其应用</a:t>
            </a:r>
            <a:endParaRPr lang="en-US" altLang="zh-CN" sz="2800" dirty="0"/>
          </a:p>
          <a:p>
            <a:r>
              <a:rPr lang="zh-CN" altLang="en-US" sz="2800" b="1" dirty="0"/>
              <a:t>组合数学：</a:t>
            </a:r>
            <a:r>
              <a:rPr lang="zh-CN" altLang="en-US" sz="2800" dirty="0"/>
              <a:t>组合存在性定理、基本的计数公式、组合计数方法、组合计数定理</a:t>
            </a:r>
            <a:endParaRPr lang="en-US" altLang="zh-CN" sz="2800" dirty="0"/>
          </a:p>
          <a:p>
            <a:r>
              <a:rPr lang="zh-CN" altLang="en-US" sz="2800" b="1" dirty="0"/>
              <a:t>数理逻辑：</a:t>
            </a:r>
            <a:r>
              <a:rPr lang="zh-CN" altLang="en-US" sz="2800" dirty="0"/>
              <a:t>命题逻辑、一阶谓词演算、消解原理</a:t>
            </a:r>
            <a:endParaRPr lang="en-US" altLang="zh-CN" sz="2800" dirty="0"/>
          </a:p>
          <a:p>
            <a:r>
              <a:rPr lang="zh-CN" altLang="en-US" sz="2800" b="1" dirty="0"/>
              <a:t>代数结构：</a:t>
            </a:r>
            <a:r>
              <a:rPr lang="zh-CN" altLang="en-US" sz="2800" dirty="0"/>
              <a:t>代数系统的基本概念、半群与独异点、群、环与域、格与布尔代数</a:t>
            </a:r>
            <a:endParaRPr lang="en-US" altLang="zh-CN" sz="2800" dirty="0"/>
          </a:p>
          <a:p>
            <a:r>
              <a:rPr lang="zh-CN" altLang="en-US" sz="2800" b="1" dirty="0"/>
              <a:t>计算模型：</a:t>
            </a:r>
            <a:r>
              <a:rPr lang="zh-CN" altLang="en-US" sz="2800" dirty="0"/>
              <a:t>计算机能够执行许多任务</a:t>
            </a:r>
            <a:r>
              <a:rPr lang="en-US" altLang="zh-CN" sz="2800" dirty="0"/>
              <a:t>. </a:t>
            </a:r>
            <a:r>
              <a:rPr lang="zh-CN" altLang="en-US" sz="2800" dirty="0"/>
              <a:t>提出一个任务后就存在两个问题：第一，它能否由计算机来完成？若能算就会问第二个问题，怎么执行这个任务？计算模型就是用来帮助回答这两个问题的，包括：文法、有限状态机和图灵机模型</a:t>
            </a:r>
          </a:p>
        </p:txBody>
      </p:sp>
    </p:spTree>
    <p:extLst>
      <p:ext uri="{BB962C8B-B14F-4D97-AF65-F5344CB8AC3E}">
        <p14:creationId xmlns:p14="http://schemas.microsoft.com/office/powerpoint/2010/main" val="18964575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B5E30D4-BA96-4AA6-B2C7-62FD00D767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80048" y="3142649"/>
            <a:ext cx="3451608" cy="1280890"/>
          </a:xfrm>
        </p:spPr>
        <p:txBody>
          <a:bodyPr/>
          <a:lstStyle/>
          <a:p>
            <a:r>
              <a:rPr lang="zh-CN" altLang="en-US" dirty="0"/>
              <a:t>离散数学八大块</a:t>
            </a:r>
          </a:p>
        </p:txBody>
      </p:sp>
      <p:pic>
        <p:nvPicPr>
          <p:cNvPr id="4" name="内容占位符 3">
            <a:extLst>
              <a:ext uri="{FF2B5EF4-FFF2-40B4-BE49-F238E27FC236}">
                <a16:creationId xmlns:a16="http://schemas.microsoft.com/office/drawing/2014/main" id="{C9529239-6024-4CBA-96D4-CA8846A9BBF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87141" y="1232035"/>
            <a:ext cx="4100362" cy="5082138"/>
          </a:xfrm>
          <a:prstGeom prst="rect">
            <a:avLst/>
          </a:prstGeom>
        </p:spPr>
      </p:pic>
      <p:graphicFrame>
        <p:nvGraphicFramePr>
          <p:cNvPr id="7" name="图示 6">
            <a:extLst>
              <a:ext uri="{FF2B5EF4-FFF2-40B4-BE49-F238E27FC236}">
                <a16:creationId xmlns:a16="http://schemas.microsoft.com/office/drawing/2014/main" id="{85ED3632-8782-4AB9-A607-3187981928A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771317447"/>
              </p:ext>
            </p:extLst>
          </p:nvPr>
        </p:nvGraphicFramePr>
        <p:xfrm>
          <a:off x="4325877" y="298383"/>
          <a:ext cx="8128000" cy="648742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4598399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Graphic spid="7" grpId="0">
        <p:bldAsOne/>
      </p:bldGraphic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离散数学的核心价值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522489"/>
            <a:ext cx="10515600" cy="5170919"/>
          </a:xfrm>
        </p:spPr>
        <p:txBody>
          <a:bodyPr>
            <a:normAutofit fontScale="92500" lnSpcReduction="20000"/>
          </a:bodyPr>
          <a:lstStyle/>
          <a:p>
            <a:r>
              <a:rPr lang="zh-CN" altLang="en-US" dirty="0"/>
              <a:t>数理逻辑：</a:t>
            </a:r>
            <a:endParaRPr lang="en-US" altLang="zh-CN" dirty="0"/>
          </a:p>
          <a:p>
            <a:pPr lvl="1"/>
            <a:r>
              <a:rPr lang="zh-CN" altLang="en-US" dirty="0"/>
              <a:t>模糊问题的形式化能力的基础</a:t>
            </a:r>
            <a:endParaRPr lang="en-US" altLang="zh-CN" dirty="0"/>
          </a:p>
          <a:p>
            <a:pPr lvl="1"/>
            <a:r>
              <a:rPr lang="zh-CN" altLang="en-US" dirty="0"/>
              <a:t>数学证明的逻辑基础</a:t>
            </a:r>
            <a:endParaRPr lang="en-US" altLang="zh-CN" dirty="0"/>
          </a:p>
          <a:p>
            <a:pPr lvl="2"/>
            <a:r>
              <a:rPr lang="zh-CN" altLang="en-US" dirty="0"/>
              <a:t>数学证明大量应用于问题求解之中</a:t>
            </a:r>
            <a:endParaRPr lang="en-US" altLang="zh-CN" dirty="0"/>
          </a:p>
          <a:p>
            <a:r>
              <a:rPr lang="zh-CN" altLang="en-US" dirty="0"/>
              <a:t>集合论：</a:t>
            </a:r>
            <a:endParaRPr lang="en-US" altLang="zh-CN" dirty="0"/>
          </a:p>
          <a:p>
            <a:pPr lvl="1"/>
            <a:r>
              <a:rPr lang="zh-CN" altLang="en-US" dirty="0"/>
              <a:t>动态集合数据类型的基本数学模型</a:t>
            </a:r>
            <a:endParaRPr lang="en-US" altLang="zh-CN" dirty="0"/>
          </a:p>
          <a:p>
            <a:pPr lvl="1"/>
            <a:r>
              <a:rPr lang="zh-CN" altLang="en-US" dirty="0"/>
              <a:t>几乎所有离散数学模型的基础</a:t>
            </a:r>
            <a:endParaRPr lang="en-US" altLang="zh-CN" dirty="0"/>
          </a:p>
          <a:p>
            <a:pPr lvl="2"/>
            <a:r>
              <a:rPr lang="zh-CN" altLang="en-US" dirty="0"/>
              <a:t>某种意义上，离散数学结构名字的来源</a:t>
            </a:r>
            <a:endParaRPr lang="en-US" altLang="zh-CN" dirty="0"/>
          </a:p>
          <a:p>
            <a:r>
              <a:rPr lang="zh-CN" altLang="en-US" dirty="0"/>
              <a:t>图论：</a:t>
            </a:r>
            <a:endParaRPr lang="en-US" altLang="zh-CN" dirty="0"/>
          </a:p>
          <a:p>
            <a:pPr lvl="1"/>
            <a:r>
              <a:rPr lang="zh-CN" altLang="en-US" dirty="0"/>
              <a:t>表达离散成分及其</a:t>
            </a:r>
            <a:r>
              <a:rPr lang="en-US" altLang="zh-CN" dirty="0"/>
              <a:t>(</a:t>
            </a:r>
            <a:r>
              <a:rPr lang="zh-CN" altLang="en-US" dirty="0"/>
              <a:t>逻辑</a:t>
            </a:r>
            <a:r>
              <a:rPr lang="en-US" altLang="zh-CN" dirty="0"/>
              <a:t>)</a:t>
            </a:r>
            <a:r>
              <a:rPr lang="zh-CN" altLang="en-US" dirty="0"/>
              <a:t>关联的强大的数学模型</a:t>
            </a:r>
            <a:endParaRPr lang="en-US" altLang="zh-CN" dirty="0"/>
          </a:p>
          <a:p>
            <a:pPr lvl="1"/>
            <a:r>
              <a:rPr lang="zh-CN" altLang="en-US" dirty="0"/>
              <a:t>问题求解中最常见的数学模型</a:t>
            </a:r>
            <a:endParaRPr lang="en-US" altLang="zh-CN" dirty="0"/>
          </a:p>
          <a:p>
            <a:pPr lvl="2"/>
            <a:r>
              <a:rPr lang="zh-CN" altLang="en-US" dirty="0"/>
              <a:t>算法设计中最常面对的数学模型</a:t>
            </a:r>
            <a:endParaRPr lang="en-US" altLang="zh-CN" dirty="0"/>
          </a:p>
          <a:p>
            <a:r>
              <a:rPr lang="zh-CN" altLang="en-US" dirty="0"/>
              <a:t>近世代数：</a:t>
            </a:r>
            <a:endParaRPr lang="en-US" altLang="zh-CN" dirty="0"/>
          </a:p>
          <a:p>
            <a:pPr lvl="1"/>
            <a:r>
              <a:rPr lang="zh-CN" altLang="en-US" dirty="0"/>
              <a:t>从运算到结构到系统，从系统（结构）的观点探究数学模型的特性和行为</a:t>
            </a:r>
            <a:endParaRPr lang="en-US" altLang="zh-CN" dirty="0"/>
          </a:p>
          <a:p>
            <a:pPr lvl="1"/>
            <a:r>
              <a:rPr lang="zh-CN" altLang="en-US" dirty="0"/>
              <a:t>在计算机科学中几乎无处不在：</a:t>
            </a:r>
            <a:r>
              <a:rPr lang="en-US" altLang="zh-CN" dirty="0"/>
              <a:t>ADT</a:t>
            </a:r>
            <a:r>
              <a:rPr lang="zh-CN" altLang="en-US" dirty="0"/>
              <a:t>，自动机，编码，密码学，</a:t>
            </a:r>
            <a:r>
              <a:rPr lang="en-US" altLang="zh-CN" dirty="0"/>
              <a:t>……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7620000" y="2686103"/>
            <a:ext cx="3901439" cy="107721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数学的美，也是离散数学承载的潜移默化</a:t>
            </a:r>
          </a:p>
        </p:txBody>
      </p:sp>
    </p:spTree>
    <p:extLst>
      <p:ext uri="{BB962C8B-B14F-4D97-AF65-F5344CB8AC3E}">
        <p14:creationId xmlns:p14="http://schemas.microsoft.com/office/powerpoint/2010/main" val="3775969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8DD60D3-310F-4871-8C30-5420A9BC02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为什么要学习离散数学？</a:t>
            </a:r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930D3BA4-F5BA-4127-9DDA-06632E4FDCA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83394" y="1915427"/>
            <a:ext cx="10761044" cy="4466121"/>
          </a:xfrm>
        </p:spPr>
      </p:pic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7DCB160B-8006-455F-9E0D-D8B6134B7029}"/>
              </a:ext>
            </a:extLst>
          </p:cNvPr>
          <p:cNvCxnSpPr/>
          <p:nvPr/>
        </p:nvCxnSpPr>
        <p:spPr>
          <a:xfrm>
            <a:off x="7883091" y="2223436"/>
            <a:ext cx="3470709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3EA69A84-3005-41AF-A141-F8F0BEB7C816}"/>
              </a:ext>
            </a:extLst>
          </p:cNvPr>
          <p:cNvCxnSpPr>
            <a:cxnSpLocks/>
          </p:cNvCxnSpPr>
          <p:nvPr/>
        </p:nvCxnSpPr>
        <p:spPr>
          <a:xfrm>
            <a:off x="1856072" y="3088105"/>
            <a:ext cx="9415111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3FDFE1B3-C00F-4673-824C-2A123CE1021F}"/>
              </a:ext>
            </a:extLst>
          </p:cNvPr>
          <p:cNvCxnSpPr>
            <a:cxnSpLocks/>
          </p:cNvCxnSpPr>
          <p:nvPr/>
        </p:nvCxnSpPr>
        <p:spPr>
          <a:xfrm>
            <a:off x="7416266" y="4289659"/>
            <a:ext cx="3787540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2" name="直接连接符 11">
            <a:extLst>
              <a:ext uri="{FF2B5EF4-FFF2-40B4-BE49-F238E27FC236}">
                <a16:creationId xmlns:a16="http://schemas.microsoft.com/office/drawing/2014/main" id="{95D2E693-C101-4488-A697-45FE650C7029}"/>
              </a:ext>
            </a:extLst>
          </p:cNvPr>
          <p:cNvCxnSpPr>
            <a:cxnSpLocks/>
          </p:cNvCxnSpPr>
          <p:nvPr/>
        </p:nvCxnSpPr>
        <p:spPr>
          <a:xfrm flipV="1">
            <a:off x="1288182" y="5082139"/>
            <a:ext cx="9983001" cy="75398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523283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27575"/>
            <a:ext cx="10515600" cy="908229"/>
          </a:xfrm>
        </p:spPr>
        <p:txBody>
          <a:bodyPr/>
          <a:lstStyle/>
          <a:p>
            <a:r>
              <a:rPr lang="zh-CN" altLang="en-US" dirty="0"/>
              <a:t>如何学习离散数学？</a:t>
            </a:r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 rot="3464704">
            <a:off x="4025124" y="2572090"/>
            <a:ext cx="1851898" cy="1851898"/>
          </a:xfrm>
          <a:prstGeom prst="rect">
            <a:avLst/>
          </a:prstGeom>
        </p:spPr>
      </p:pic>
      <p:grpSp>
        <p:nvGrpSpPr>
          <p:cNvPr id="53" name="组合 52"/>
          <p:cNvGrpSpPr/>
          <p:nvPr/>
        </p:nvGrpSpPr>
        <p:grpSpPr>
          <a:xfrm>
            <a:off x="4188139" y="2842044"/>
            <a:ext cx="1587283" cy="1256159"/>
            <a:chOff x="5092915" y="3614469"/>
            <a:chExt cx="1587283" cy="1256159"/>
          </a:xfrm>
        </p:grpSpPr>
        <p:sp>
          <p:nvSpPr>
            <p:cNvPr id="5" name="文本框 4"/>
            <p:cNvSpPr txBox="1"/>
            <p:nvPr/>
          </p:nvSpPr>
          <p:spPr>
            <a:xfrm>
              <a:off x="6143702" y="3614469"/>
              <a:ext cx="536496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  <a:cs typeface="+mn-cs"/>
                </a:rPr>
                <a:t>解题能力</a:t>
              </a:r>
            </a:p>
          </p:txBody>
        </p:sp>
        <p:sp>
          <p:nvSpPr>
            <p:cNvPr id="6" name="文本框 5"/>
            <p:cNvSpPr txBox="1"/>
            <p:nvPr/>
          </p:nvSpPr>
          <p:spPr>
            <a:xfrm>
              <a:off x="5092915" y="3670299"/>
              <a:ext cx="536496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  <a:cs typeface="+mn-cs"/>
                </a:rPr>
                <a:t>学习能力</a:t>
              </a:r>
            </a:p>
          </p:txBody>
        </p:sp>
      </p:grpSp>
      <p:grpSp>
        <p:nvGrpSpPr>
          <p:cNvPr id="56" name="组合 55"/>
          <p:cNvGrpSpPr/>
          <p:nvPr/>
        </p:nvGrpSpPr>
        <p:grpSpPr>
          <a:xfrm>
            <a:off x="2564050" y="1309580"/>
            <a:ext cx="4774050" cy="4483895"/>
            <a:chOff x="3468826" y="1396205"/>
            <a:chExt cx="4774050" cy="4483895"/>
          </a:xfrm>
        </p:grpSpPr>
        <p:sp>
          <p:nvSpPr>
            <p:cNvPr id="8" name="流程图: 联系 7"/>
            <p:cNvSpPr/>
            <p:nvPr/>
          </p:nvSpPr>
          <p:spPr>
            <a:xfrm>
              <a:off x="3468826" y="1396205"/>
              <a:ext cx="4774050" cy="4483895"/>
            </a:xfrm>
            <a:prstGeom prst="flowChartConnector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cxnSp>
          <p:nvCxnSpPr>
            <p:cNvPr id="14" name="直接连接符 13"/>
            <p:cNvCxnSpPr/>
            <p:nvPr/>
          </p:nvCxnSpPr>
          <p:spPr>
            <a:xfrm flipV="1">
              <a:off x="6680198" y="2907602"/>
              <a:ext cx="1435102" cy="393329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直接连接符 15"/>
            <p:cNvCxnSpPr>
              <a:stCxn id="4" idx="3"/>
            </p:cNvCxnSpPr>
            <p:nvPr/>
          </p:nvCxnSpPr>
          <p:spPr>
            <a:xfrm>
              <a:off x="5445240" y="4281097"/>
              <a:ext cx="546084" cy="1296478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直接连接符 19"/>
            <p:cNvCxnSpPr/>
            <p:nvPr/>
          </p:nvCxnSpPr>
          <p:spPr>
            <a:xfrm flipH="1">
              <a:off x="4314143" y="4276288"/>
              <a:ext cx="965433" cy="1030636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直接连接符 22"/>
            <p:cNvCxnSpPr>
              <a:endCxn id="8" idx="0"/>
            </p:cNvCxnSpPr>
            <p:nvPr/>
          </p:nvCxnSpPr>
          <p:spPr>
            <a:xfrm flipV="1">
              <a:off x="5855851" y="1396205"/>
              <a:ext cx="0" cy="1283495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接连接符 17"/>
            <p:cNvCxnSpPr/>
            <p:nvPr/>
          </p:nvCxnSpPr>
          <p:spPr>
            <a:xfrm flipH="1" flipV="1">
              <a:off x="3468826" y="3211077"/>
              <a:ext cx="1462961" cy="213517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9" name="文本框 38"/>
          <p:cNvSpPr txBox="1"/>
          <p:nvPr/>
        </p:nvSpPr>
        <p:spPr>
          <a:xfrm>
            <a:off x="5188095" y="1897647"/>
            <a:ext cx="156539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自学材料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(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教材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)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0" name="文本框 39"/>
          <p:cNvSpPr txBox="1"/>
          <p:nvPr/>
        </p:nvSpPr>
        <p:spPr>
          <a:xfrm>
            <a:off x="3368744" y="1915183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课程讲义</a:t>
            </a:r>
          </a:p>
        </p:txBody>
      </p:sp>
      <p:sp>
        <p:nvSpPr>
          <p:cNvPr id="41" name="文本框 40"/>
          <p:cNvSpPr txBox="1"/>
          <p:nvPr/>
        </p:nvSpPr>
        <p:spPr>
          <a:xfrm>
            <a:off x="4219097" y="4758634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课外作业</a:t>
            </a:r>
          </a:p>
        </p:txBody>
      </p:sp>
      <p:sp>
        <p:nvSpPr>
          <p:cNvPr id="42" name="文本框 41"/>
          <p:cNvSpPr txBox="1"/>
          <p:nvPr/>
        </p:nvSpPr>
        <p:spPr>
          <a:xfrm>
            <a:off x="5835429" y="3870709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编程训练</a:t>
            </a:r>
          </a:p>
        </p:txBody>
      </p:sp>
      <p:sp>
        <p:nvSpPr>
          <p:cNvPr id="43" name="文本框 42"/>
          <p:cNvSpPr txBox="1"/>
          <p:nvPr/>
        </p:nvSpPr>
        <p:spPr>
          <a:xfrm>
            <a:off x="2806805" y="3779255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研讨内容</a:t>
            </a:r>
          </a:p>
        </p:txBody>
      </p:sp>
      <p:sp>
        <p:nvSpPr>
          <p:cNvPr id="44" name="右箭头 43"/>
          <p:cNvSpPr/>
          <p:nvPr/>
        </p:nvSpPr>
        <p:spPr>
          <a:xfrm rot="19386746">
            <a:off x="6517472" y="1667878"/>
            <a:ext cx="787233" cy="3048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5" name="文本框 44"/>
          <p:cNvSpPr txBox="1"/>
          <p:nvPr/>
        </p:nvSpPr>
        <p:spPr>
          <a:xfrm>
            <a:off x="7310115" y="1218120"/>
            <a:ext cx="2339102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经典教材摘选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同学课前自学</a:t>
            </a:r>
          </a:p>
        </p:txBody>
      </p:sp>
      <p:sp>
        <p:nvSpPr>
          <p:cNvPr id="46" name="右箭头 45"/>
          <p:cNvSpPr/>
          <p:nvPr/>
        </p:nvSpPr>
        <p:spPr>
          <a:xfrm rot="12440637">
            <a:off x="2524967" y="1691373"/>
            <a:ext cx="889000" cy="3048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7" name="文本框 46"/>
          <p:cNvSpPr txBox="1"/>
          <p:nvPr/>
        </p:nvSpPr>
        <p:spPr>
          <a:xfrm>
            <a:off x="363400" y="1154708"/>
            <a:ext cx="2031325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以解题为目的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以深度为优先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以启发为手段</a:t>
            </a:r>
          </a:p>
        </p:txBody>
      </p:sp>
      <p:sp>
        <p:nvSpPr>
          <p:cNvPr id="48" name="右箭头 47"/>
          <p:cNvSpPr/>
          <p:nvPr/>
        </p:nvSpPr>
        <p:spPr>
          <a:xfrm rot="8617994">
            <a:off x="2310935" y="4355692"/>
            <a:ext cx="889000" cy="3048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9" name="文本框 48"/>
          <p:cNvSpPr txBox="1"/>
          <p:nvPr/>
        </p:nvSpPr>
        <p:spPr>
          <a:xfrm>
            <a:off x="911299" y="4332374"/>
            <a:ext cx="141577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教师选题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同学讲解</a:t>
            </a:r>
          </a:p>
        </p:txBody>
      </p:sp>
      <p:grpSp>
        <p:nvGrpSpPr>
          <p:cNvPr id="52" name="组合 51"/>
          <p:cNvGrpSpPr/>
          <p:nvPr/>
        </p:nvGrpSpPr>
        <p:grpSpPr>
          <a:xfrm>
            <a:off x="3673847" y="5275224"/>
            <a:ext cx="2646878" cy="1506944"/>
            <a:chOff x="8768068" y="4194681"/>
            <a:chExt cx="2646878" cy="1506944"/>
          </a:xfrm>
        </p:grpSpPr>
        <p:sp>
          <p:nvSpPr>
            <p:cNvPr id="50" name="下箭头 49"/>
            <p:cNvSpPr/>
            <p:nvPr/>
          </p:nvSpPr>
          <p:spPr>
            <a:xfrm>
              <a:off x="9714873" y="4194681"/>
              <a:ext cx="342900" cy="753527"/>
            </a:xfrm>
            <a:prstGeom prst="down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1" name="文本框 50"/>
            <p:cNvSpPr txBox="1"/>
            <p:nvPr/>
          </p:nvSpPr>
          <p:spPr>
            <a:xfrm>
              <a:off x="8768068" y="4870628"/>
              <a:ext cx="2646878" cy="8309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  <a:cs typeface="+mn-cs"/>
                </a:rPr>
                <a:t>教材中的习题为主</a:t>
              </a:r>
              <a:endPara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  <a:cs typeface="+mn-cs"/>
                </a:rPr>
                <a:t>覆盖全部学习内容</a:t>
              </a:r>
            </a:p>
          </p:txBody>
        </p:sp>
      </p:grpSp>
      <p:sp>
        <p:nvSpPr>
          <p:cNvPr id="54" name="右箭头 53"/>
          <p:cNvSpPr/>
          <p:nvPr/>
        </p:nvSpPr>
        <p:spPr>
          <a:xfrm rot="1957370">
            <a:off x="6875512" y="4429078"/>
            <a:ext cx="787233" cy="3048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5" name="文本框 54"/>
          <p:cNvSpPr txBox="1"/>
          <p:nvPr/>
        </p:nvSpPr>
        <p:spPr>
          <a:xfrm>
            <a:off x="7839047" y="4372009"/>
            <a:ext cx="145091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围绕内容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选编题目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CDDA2F7D-E476-470A-8194-C4FF829BF617}"/>
              </a:ext>
            </a:extLst>
          </p:cNvPr>
          <p:cNvSpPr txBox="1"/>
          <p:nvPr/>
        </p:nvSpPr>
        <p:spPr>
          <a:xfrm>
            <a:off x="9972269" y="935804"/>
            <a:ext cx="2093142" cy="5509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/>
              <a:t>听</a:t>
            </a:r>
            <a:r>
              <a:rPr lang="en-US" altLang="zh-CN" sz="3200" dirty="0"/>
              <a:t>10</a:t>
            </a:r>
            <a:r>
              <a:rPr lang="zh-CN" altLang="en-US" sz="3200" dirty="0"/>
              <a:t>遍不如亲自看</a:t>
            </a:r>
            <a:r>
              <a:rPr lang="en-US" altLang="zh-CN" sz="3200" dirty="0"/>
              <a:t>1</a:t>
            </a:r>
            <a:r>
              <a:rPr lang="zh-CN" altLang="en-US" sz="3200" dirty="0"/>
              <a:t>遍</a:t>
            </a:r>
            <a:endParaRPr lang="en-US" altLang="zh-CN" sz="3200" dirty="0"/>
          </a:p>
          <a:p>
            <a:endParaRPr lang="en-US" altLang="zh-CN" sz="3200" dirty="0"/>
          </a:p>
          <a:p>
            <a:r>
              <a:rPr lang="zh-CN" altLang="en-US" sz="3200" dirty="0"/>
              <a:t>看</a:t>
            </a:r>
            <a:r>
              <a:rPr lang="en-US" altLang="zh-CN" sz="3200" dirty="0"/>
              <a:t>10</a:t>
            </a:r>
            <a:r>
              <a:rPr lang="zh-CN" altLang="en-US" sz="3200" dirty="0"/>
              <a:t>遍不如亲自讲</a:t>
            </a:r>
            <a:r>
              <a:rPr lang="en-US" altLang="zh-CN" sz="3200" dirty="0"/>
              <a:t>1</a:t>
            </a:r>
            <a:r>
              <a:rPr lang="zh-CN" altLang="en-US" sz="3200" dirty="0"/>
              <a:t>遍</a:t>
            </a:r>
            <a:endParaRPr lang="en-US" altLang="zh-CN" sz="3200" dirty="0"/>
          </a:p>
          <a:p>
            <a:endParaRPr lang="en-US" altLang="zh-CN" sz="3200" dirty="0"/>
          </a:p>
          <a:p>
            <a:r>
              <a:rPr lang="zh-CN" altLang="en-US" sz="3200" dirty="0"/>
              <a:t>讲</a:t>
            </a:r>
            <a:r>
              <a:rPr lang="en-US" altLang="zh-CN" sz="3200" dirty="0"/>
              <a:t>10</a:t>
            </a:r>
            <a:r>
              <a:rPr lang="zh-CN" altLang="en-US" sz="3200" dirty="0"/>
              <a:t>遍不如亲自做</a:t>
            </a:r>
            <a:r>
              <a:rPr lang="en-US" altLang="zh-CN" sz="3200" dirty="0"/>
              <a:t>1</a:t>
            </a:r>
            <a:r>
              <a:rPr lang="zh-CN" altLang="en-US" sz="3200" dirty="0"/>
              <a:t>遍</a:t>
            </a:r>
          </a:p>
        </p:txBody>
      </p:sp>
    </p:spTree>
    <p:extLst>
      <p:ext uri="{BB962C8B-B14F-4D97-AF65-F5344CB8AC3E}">
        <p14:creationId xmlns:p14="http://schemas.microsoft.com/office/powerpoint/2010/main" val="11370888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/>
      <p:bldP spid="40" grpId="0"/>
      <p:bldP spid="41" grpId="0"/>
      <p:bldP spid="42" grpId="0"/>
      <p:bldP spid="43" grpId="0"/>
      <p:bldP spid="44" grpId="0" animBg="1"/>
      <p:bldP spid="45" grpId="0"/>
      <p:bldP spid="46" grpId="0" animBg="1"/>
      <p:bldP spid="47" grpId="0"/>
      <p:bldP spid="48" grpId="0" animBg="1"/>
      <p:bldP spid="49" grpId="0"/>
      <p:bldP spid="54" grpId="0" animBg="1"/>
      <p:bldP spid="55" grpId="0"/>
      <p:bldP spid="3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F9C5B15-7081-4358-86BC-B9CDA9C848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北京大学团队：屈婉玲，曹永知等编著</a:t>
            </a:r>
          </a:p>
        </p:txBody>
      </p:sp>
      <p:pic>
        <p:nvPicPr>
          <p:cNvPr id="4" name="内容占位符 3">
            <a:extLst>
              <a:ext uri="{FF2B5EF4-FFF2-40B4-BE49-F238E27FC236}">
                <a16:creationId xmlns:a16="http://schemas.microsoft.com/office/drawing/2014/main" id="{F7398CE0-6674-437B-B3F6-970100E9378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291235" y="1825625"/>
            <a:ext cx="3609530" cy="456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208341"/>
      </p:ext>
    </p:extLst>
  </p:cSld>
  <p:clrMapOvr>
    <a:masterClrMapping/>
  </p:clrMapOvr>
</p:sld>
</file>

<file path=ppt/theme/theme1.xml><?xml version="1.0" encoding="utf-8"?>
<a:theme xmlns:a="http://schemas.openxmlformats.org/drawingml/2006/main" name="丝状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1996</TotalTime>
  <Words>2080</Words>
  <Application>Microsoft Office PowerPoint</Application>
  <PresentationFormat>宽屏</PresentationFormat>
  <Paragraphs>93</Paragraphs>
  <Slides>10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10</vt:i4>
      </vt:variant>
    </vt:vector>
  </HeadingPairs>
  <TitlesOfParts>
    <vt:vector size="20" baseType="lpstr">
      <vt:lpstr>PingFangSC-Regular</vt:lpstr>
      <vt:lpstr>PingFangSC-Semibold</vt:lpstr>
      <vt:lpstr>等线</vt:lpstr>
      <vt:lpstr>Arial</vt:lpstr>
      <vt:lpstr>Calibri</vt:lpstr>
      <vt:lpstr>Calibri Light</vt:lpstr>
      <vt:lpstr>Century Gothic</vt:lpstr>
      <vt:lpstr>Wingdings 3</vt:lpstr>
      <vt:lpstr>丝状</vt:lpstr>
      <vt:lpstr>Office 主题</vt:lpstr>
      <vt:lpstr>离散数学概论</vt:lpstr>
      <vt:lpstr>数学是什么？</vt:lpstr>
      <vt:lpstr>数学是什么？ 数学有哪些门类？</vt:lpstr>
      <vt:lpstr>离散数学是什么？</vt:lpstr>
      <vt:lpstr>离散数学是什么？ 离散数学有哪些门类？</vt:lpstr>
      <vt:lpstr>离散数学八大块</vt:lpstr>
      <vt:lpstr>离散数学的核心价值</vt:lpstr>
      <vt:lpstr>为什么要学习离散数学？</vt:lpstr>
      <vt:lpstr>如何学习离散数学？</vt:lpstr>
      <vt:lpstr>北京大学团队：屈婉玲，曹永知等编著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离散数学概论</dc:title>
  <dc:creator>聂长海</dc:creator>
  <cp:lastModifiedBy>聂长海</cp:lastModifiedBy>
  <cp:revision>22</cp:revision>
  <dcterms:created xsi:type="dcterms:W3CDTF">2024-01-03T07:29:11Z</dcterms:created>
  <dcterms:modified xsi:type="dcterms:W3CDTF">2026-04-10T01:03:13Z</dcterms:modified>
</cp:coreProperties>
</file>