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03" r:id="rId3"/>
  </p:sldIdLst>
  <p:sldSz cx="12192000" cy="6858000"/>
  <p:notesSz cx="6858000" cy="9144000"/>
  <p:embeddedFontLst>
    <p:embeddedFont>
      <p:font typeface="楷体" panose="02010609060101010101" charset="-122"/>
      <p:regular r:id="rId10"/>
    </p:embeddedFont>
    <p:embeddedFont>
      <p:font typeface="华文细黑" panose="02010600040101010101" charset="-122"/>
      <p:regular r:id="rId11"/>
    </p:embeddedFont>
    <p:embeddedFont>
      <p:font typeface="华文楷体" panose="02010600040101010101" charset="-122"/>
      <p:regular r:id="rId12"/>
    </p:embeddedFont>
    <p:embeddedFont>
      <p:font typeface="Calibri" panose="020F0502020204030204" charset="0"/>
      <p:regular r:id="rId13"/>
      <p:bold r:id="rId14"/>
      <p:italic r:id="rId15"/>
      <p:boldItalic r:id="rId16"/>
    </p:embeddedFont>
    <p:embeddedFont>
      <p:font typeface="微软雅黑" panose="020B0503020204020204" charset="-122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4.xml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15" Type="http://schemas.openxmlformats.org/officeDocument/2006/relationships/font" Target="fonts/font6.fntdata"/><Relationship Id="rId14" Type="http://schemas.openxmlformats.org/officeDocument/2006/relationships/font" Target="fonts/font5.fntdata"/><Relationship Id="rId13" Type="http://schemas.openxmlformats.org/officeDocument/2006/relationships/font" Target="fonts/font4.fntdata"/><Relationship Id="rId12" Type="http://schemas.openxmlformats.org/officeDocument/2006/relationships/font" Target="fonts/font3.fntdata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ch02_关系数据库@数据管理基础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DB2602-</a:t>
            </a:r>
            <a:r>
              <a:rPr lang="zh-CN" altLang="en-US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关系代数的应用（</a:t>
            </a:r>
            <a:r>
              <a:rPr lang="zh-CN" altLang="en-US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数据管理基础</a:t>
            </a:r>
            <a:r>
              <a:rPr lang="en-US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01</a:t>
            </a:r>
            <a:r>
              <a:rPr lang="zh-CN" altLang="en-US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班</a:t>
            </a:r>
            <a:r>
              <a:rPr lang="zh-CN" altLang="en-US" sz="2400" b="1">
                <a:latin typeface="华文细黑" panose="02010600040101010101" charset="-122"/>
                <a:ea typeface="华文细黑" panose="02010600040101010101" charset="-122"/>
                <a:cs typeface="华文细黑" panose="02010600040101010101" charset="-122"/>
                <a:sym typeface="+mn-ea"/>
              </a:rPr>
              <a:t>）</a:t>
            </a:r>
            <a:endParaRPr lang="zh-CN" altLang="en-US" sz="240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23545" y="1117600"/>
            <a:ext cx="11343005" cy="706755"/>
          </a:xfrm>
        </p:spPr>
        <p:txBody>
          <a:bodyPr>
            <a:spAutoFit/>
          </a:bodyPr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1F2DA8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设有</a:t>
            </a:r>
            <a:r>
              <a:rPr lang="zh-CN" altLang="en-US" sz="2000">
                <a:solidFill>
                  <a:srgbClr val="1F2DA8"/>
                </a:solidFill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一个如下表所示的学生选课数据库，其中：</a:t>
            </a:r>
            <a:r>
              <a:rPr lang="zh-CN" altLang="en-US" sz="200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带下划线属性是</a:t>
            </a:r>
            <a:r>
              <a:rPr lang="zh-CN" altLang="en-US" sz="200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码；</a:t>
            </a:r>
            <a:r>
              <a:rPr sz="2000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同一门课同一个学生只能有一条选课记录</a:t>
            </a:r>
            <a:r>
              <a:rPr lang="zh-CN" sz="2000" dirty="0">
                <a:solidFill>
                  <a:srgbClr val="1F2DA8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+mn-ea"/>
              </a:rPr>
              <a:t>；成绩采用百分</a:t>
            </a:r>
            <a:r>
              <a:rPr lang="zh-CN" altLang="en-US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制，课程成绩大于或等于</a:t>
            </a:r>
            <a:r>
              <a:rPr lang="en-US" altLang="zh-CN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60</a:t>
            </a:r>
            <a:r>
              <a:rPr lang="zh-CN" altLang="en-US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分为</a:t>
            </a:r>
            <a:r>
              <a:rPr lang="en-US" altLang="zh-CN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通过</a:t>
            </a:r>
            <a:r>
              <a:rPr lang="en-US" altLang="zh-CN" sz="2000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sz="2000">
                <a:solidFill>
                  <a:srgbClr val="1F2DA8"/>
                </a:solidFill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。</a:t>
            </a:r>
            <a:endParaRPr lang="zh-CN" altLang="en-US" sz="2000" dirty="0">
              <a:solidFill>
                <a:srgbClr val="1F2DA8"/>
              </a:solidFill>
              <a:cs typeface="Times New Roman" panose="02020603050405020304" pitchFamily="2" charset="0"/>
              <a:sym typeface="+mn-ea"/>
            </a:endParaRPr>
          </a:p>
        </p:txBody>
      </p:sp>
      <p:sp>
        <p:nvSpPr>
          <p:cNvPr id="2050" name="矩形 3074"/>
          <p:cNvSpPr>
            <a:spLocks noGrp="1"/>
          </p:cNvSpPr>
          <p:nvPr/>
        </p:nvSpPr>
        <p:spPr>
          <a:xfrm>
            <a:off x="424180" y="3890645"/>
            <a:ext cx="11342370" cy="23228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None/>
            </a:pPr>
            <a:r>
              <a:rPr lang="zh-CN" altLang="en-US" sz="2000" b="1">
                <a:solidFill>
                  <a:srgbClr val="1F2DA8"/>
                </a:solidFill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请用关系代数写出下述查询</a:t>
            </a:r>
            <a:r>
              <a:rPr lang="zh-CN" altLang="en-US" sz="2000" b="1" dirty="0">
                <a:solidFill>
                  <a:srgbClr val="1F2DA8"/>
                </a:solidFill>
                <a:cs typeface="Times New Roman" panose="02020603050405020304" pitchFamily="2" charset="0"/>
                <a:sym typeface="+mn-ea"/>
              </a:rPr>
              <a:t>。</a:t>
            </a:r>
            <a:endParaRPr lang="zh-CN" altLang="en-US" sz="2000" b="1">
              <a:solidFill>
                <a:srgbClr val="1F2DA8"/>
              </a:solidFill>
              <a:latin typeface="Times New Roman" panose="02020603050405020304" pitchFamily="2" charset="0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满足下述条件的学生的学号和姓名：选修了课程名为</a:t>
            </a:r>
            <a:r>
              <a:rPr lang="en-US" altLang="zh-CN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“</a:t>
            </a: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数据管理基础</a:t>
            </a:r>
            <a:r>
              <a:rPr lang="en-US" altLang="zh-CN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”</a:t>
            </a: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的课程；</a:t>
            </a:r>
            <a:endParaRPr lang="zh-CN" altLang="en-US" sz="2000" b="1">
              <a:solidFill>
                <a:srgbClr val="1F2DA8"/>
              </a:solidFill>
              <a:latin typeface="Times New Roman" panose="02020603050405020304" pitchFamily="2" charset="0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满足下述条件的教师的姓名和工作院系：没有讲授过自己工作院系之外的其他院系开设的课程；</a:t>
            </a:r>
            <a:endParaRPr lang="zh-CN" altLang="en-US" sz="2000" b="1">
              <a:solidFill>
                <a:srgbClr val="1F2DA8"/>
              </a:solidFill>
              <a:latin typeface="Times New Roman" panose="02020603050405020304" pitchFamily="2" charset="0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满足下述条件的学生的学号和姓名：选修通过了</a:t>
            </a:r>
            <a:r>
              <a:rPr lang="en-US" altLang="zh-CN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‘</a:t>
            </a: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智软</a:t>
            </a:r>
            <a:r>
              <a:rPr lang="en-US" altLang="zh-CN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’</a:t>
            </a: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学院开设的所有课程；</a:t>
            </a:r>
            <a:endParaRPr lang="zh-CN" altLang="en-US" sz="2000" b="1">
              <a:solidFill>
                <a:srgbClr val="1F2DA8"/>
              </a:solidFill>
              <a:latin typeface="Times New Roman" panose="02020603050405020304" pitchFamily="2" charset="0"/>
              <a:ea typeface="华文楷体" panose="02010600040101010101" charset="-122"/>
              <a:cs typeface="Times New Roman" panose="02020603050405020304" pitchFamily="2" charset="0"/>
              <a:sym typeface="+mn-ea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满足下述条件的学生的学号和姓名：选修通过了</a:t>
            </a:r>
            <a:r>
              <a:rPr lang="zh-CN" altLang="en-US" sz="2000" b="1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自己就读院系</a:t>
            </a:r>
            <a:r>
              <a:rPr lang="zh-CN" altLang="en-US" sz="2000" b="1">
                <a:solidFill>
                  <a:srgbClr val="1F2DA8"/>
                </a:solidFill>
                <a:latin typeface="Times New Roman" panose="02020603050405020304" pitchFamily="2" charset="0"/>
                <a:ea typeface="华文楷体" panose="02010600040101010101" charset="-122"/>
                <a:cs typeface="Times New Roman" panose="02020603050405020304" pitchFamily="2" charset="0"/>
                <a:sym typeface="+mn-ea"/>
              </a:rPr>
              <a:t>开设的所有课程；</a:t>
            </a:r>
            <a:endParaRPr lang="zh-CN" altLang="en-US" sz="2000" b="1">
              <a:solidFill>
                <a:srgbClr val="1F2DA8"/>
              </a:solidFill>
              <a:latin typeface="Times New Roman" panose="02020603050405020304" pitchFamily="2" charset="0"/>
              <a:ea typeface="华文楷体" panose="02010600040101010101" charset="-122"/>
              <a:cs typeface="Times New Roman" panose="02020603050405020304" pitchFamily="2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ct val="85000"/>
              <a:buFont typeface="+mj-lt"/>
              <a:buAutoNum type="arabicPeriod"/>
            </a:pPr>
            <a:r>
              <a:rPr lang="zh-CN" sz="2000" b="1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查询每一门课程的历史最高成绩和最低成绩，结果返回课程号、课程历史最高成绩和最低成绩。</a:t>
            </a:r>
            <a:endParaRPr lang="zh-CN" sz="2000" b="1" dirty="0">
              <a:solidFill>
                <a:srgbClr val="1F2D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424180" y="1868805"/>
          <a:ext cx="11343005" cy="173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010"/>
                <a:gridCol w="5423535"/>
                <a:gridCol w="4696460"/>
              </a:tblGrid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关系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属性集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关系模式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学生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学号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学生姓名, 就读院系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年级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  S ( </a:t>
                      </a:r>
                      <a:r>
                        <a:rPr lang="en-US" altLang="zh-CN" sz="2000" b="1" u="sng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sno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s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name, 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dept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grade )</a:t>
                      </a:r>
                      <a:endParaRPr lang="en-US" altLang="zh-CN" sz="2000" b="1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楷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课程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课程号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课程名, 开课院系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课程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学分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  C ( </a:t>
                      </a:r>
                      <a:r>
                        <a:rPr lang="en-US" altLang="zh-CN" sz="2000" b="1" u="sng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cno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c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name, 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dept, credit )</a:t>
                      </a:r>
                      <a:endParaRPr lang="en-US" altLang="zh-CN" sz="2000" b="1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楷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教师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教师编号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教师姓名, 工作院系</a:t>
                      </a:r>
                      <a:endParaRPr lang="zh-CN" altLang="en-US" sz="2000" b="1" u="sng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  T ( </a:t>
                      </a:r>
                      <a:r>
                        <a:rPr lang="en-US" altLang="zh-CN" sz="2000" b="1" u="sng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tno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tname, dept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 )</a:t>
                      </a:r>
                      <a:endParaRPr lang="en-US" altLang="zh-CN" sz="2000" b="1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楷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46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</a:rPr>
                        <a:t>选课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1206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ea"/>
                      </a:pPr>
                      <a:r>
                        <a:rPr lang="zh-CN" altLang="en-US" sz="2000" b="1" u="sng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学号, 课程号, 授课教师编号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成绩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, </a:t>
                      </a:r>
                      <a:r>
                        <a:rPr lang="zh-CN" altLang="en-US" sz="2000" b="1">
                          <a:solidFill>
                            <a:srgbClr val="1F2DA8"/>
                          </a:solidFill>
                          <a:latin typeface="Times New Roman" panose="02020603050405020304" pitchFamily="2" charset="0"/>
                          <a:ea typeface="楷体" panose="02010609060101010101" charset="-122"/>
                          <a:cs typeface="Times New Roman" panose="02020603050405020304" pitchFamily="2" charset="0"/>
                          <a:sym typeface="+mn-ea"/>
                        </a:rPr>
                        <a:t>授课年份</a:t>
                      </a:r>
                      <a:endParaRPr lang="zh-CN" altLang="en-US" sz="2000" b="1">
                        <a:solidFill>
                          <a:srgbClr val="1F2DA8"/>
                        </a:solidFill>
                        <a:latin typeface="Times New Roman" panose="02020603050405020304" pitchFamily="2" charset="0"/>
                        <a:ea typeface="楷体" panose="02010609060101010101" charset="-122"/>
                        <a:cs typeface="Times New Roman" panose="02020603050405020304" pitchFamily="2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12065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ea"/>
                      </a:pP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  L ( </a:t>
                      </a:r>
                      <a:r>
                        <a:rPr lang="en-US" altLang="zh-CN" sz="2000" b="1" u="sng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sno, cno, tno</a:t>
                      </a:r>
                      <a:r>
                        <a:rPr lang="en-US" altLang="zh-CN" sz="2000" b="1">
                          <a:solidFill>
                            <a:srgbClr val="1F2DA8"/>
                          </a:solidFill>
                          <a:latin typeface="Arial" panose="020B0604020202020204" pitchFamily="34" charset="0"/>
                          <a:ea typeface="楷体" panose="02010609060101010101" charset="-122"/>
                          <a:cs typeface="Arial" panose="020B0604020202020204" pitchFamily="34" charset="0"/>
                          <a:sym typeface="+mn-ea"/>
                        </a:rPr>
                        <a:t>, score, year )</a:t>
                      </a:r>
                      <a:endParaRPr lang="en-US" altLang="zh-CN" sz="2000" b="1">
                        <a:solidFill>
                          <a:srgbClr val="1F2DA8"/>
                        </a:solidFill>
                        <a:latin typeface="Arial" panose="020B0604020202020204" pitchFamily="34" charset="0"/>
                        <a:ea typeface="楷体" panose="02010609060101010101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36195" marR="36195" marT="36195" marB="36195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内容占位符 5"/>
          <p:cNvSpPr>
            <a:spLocks noGrp="1"/>
          </p:cNvSpPr>
          <p:nvPr/>
        </p:nvSpPr>
        <p:spPr>
          <a:xfrm>
            <a:off x="0" y="605790"/>
            <a:ext cx="12192000" cy="3987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q"/>
              <a:defRPr sz="30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Ø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●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Arial" panose="020B0604020202020204" pitchFamily="34" charset="0"/>
              <a:buChar char="‒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85000"/>
              <a:buFont typeface="Wingdings" panose="05000000000000000000" charset="0"/>
              <a:buChar char=""/>
              <a:defRPr sz="2800" b="1" kern="120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（作业提交：</a:t>
            </a:r>
            <a:r>
              <a:rPr lang="en-US" altLang="zh-CN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PDF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文件，文件名为</a:t>
            </a:r>
            <a:r>
              <a:rPr lang="en-US" altLang="zh-CN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‘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学号</a:t>
            </a:r>
            <a:r>
              <a:rPr lang="en-US" altLang="zh-CN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+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姓名</a:t>
            </a:r>
            <a:r>
              <a:rPr lang="en-US" altLang="zh-CN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’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；提交截止时间：</a:t>
            </a:r>
            <a:r>
              <a:rPr lang="en-US" altLang="zh-CN" sz="2000">
                <a:solidFill>
                  <a:srgbClr val="FF0000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2026.04.03</a:t>
            </a:r>
            <a:r>
              <a:rPr lang="zh-CN" altLang="en-US" sz="2000">
                <a:solidFill>
                  <a:schemeClr val="tx1"/>
                </a:solidFill>
                <a:latin typeface="Calibri" panose="020F0502020204030204" charset="0"/>
                <a:ea typeface="华文细黑" panose="02010600040101010101" charset="-122"/>
                <a:cs typeface="Calibri" panose="020F0502020204030204" charset="0"/>
                <a:sym typeface="+mn-ea"/>
              </a:rPr>
              <a:t>）</a:t>
            </a:r>
            <a:endParaRPr lang="zh-CN" altLang="en-US" sz="2000">
              <a:solidFill>
                <a:schemeClr val="tx1"/>
              </a:solidFill>
              <a:latin typeface="Calibri" panose="020F0502020204030204" charset="0"/>
              <a:ea typeface="华文细黑" panose="02010600040101010101" charset="-122"/>
              <a:cs typeface="Calibri" panose="020F05020202040302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33844d74-3458-448c-96c3-14357e997617}"/>
  <p:tag name="TABLE_ENDDRAG_ORIGIN_RECT" val="893*86"/>
  <p:tag name="TABLE_ENDDRAG_RECT" val="33*134*893*86"/>
</p:tagLst>
</file>

<file path=ppt/tags/tag4.xml><?xml version="1.0" encoding="utf-8"?>
<p:tagLst xmlns:p="http://schemas.openxmlformats.org/presentationml/2006/main">
  <p:tag name="commondata" val="eyJoZGlkIjoiNTI5YzE2YjhjOTAyMGY4ZmQ1YzBlZjA5NzU0NTU1NmQifQ=="/>
  <p:tag name="resource_record_key" val="{&quot;70&quot;:[33145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WPS 演示</Application>
  <PresentationFormat>宽屏</PresentationFormat>
  <Paragraphs>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楷体</vt:lpstr>
      <vt:lpstr>Wingdings</vt:lpstr>
      <vt:lpstr>华文细黑</vt:lpstr>
      <vt:lpstr>华文楷体</vt:lpstr>
      <vt:lpstr>Times New Roman</vt:lpstr>
      <vt:lpstr>Calibri</vt:lpstr>
      <vt:lpstr>微软雅黑</vt:lpstr>
      <vt:lpstr>Arial Unicode MS</vt:lpstr>
      <vt:lpstr>WPS</vt:lpstr>
      <vt:lpstr>DB2602-关系代数的应用（数据管理基础01班）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百老汇</cp:lastModifiedBy>
  <cp:revision>198</cp:revision>
  <dcterms:created xsi:type="dcterms:W3CDTF">2023-08-09T12:44:00Z</dcterms:created>
  <dcterms:modified xsi:type="dcterms:W3CDTF">2026-03-24T14:38:54Z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26E1AE1D51DE49E0B36338DF7E0637FA_13</vt:lpwstr>
  </property>
  <property fmtid="{D5CDD505-2E9C-101B-9397-08002B2CF9AE}" pid="3" name="KSOProductBuildVer">
    <vt:lpwstr>2052-12.1.0.25222</vt:lpwstr>
  </property>
</Properties>
</file>