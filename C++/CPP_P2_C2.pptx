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4653" r:id="rId2"/>
  </p:sldMasterIdLst>
  <p:notesMasterIdLst>
    <p:notesMasterId r:id="rId48"/>
  </p:notesMasterIdLst>
  <p:handoutMasterIdLst>
    <p:handoutMasterId r:id="rId49"/>
  </p:handoutMasterIdLst>
  <p:sldIdLst>
    <p:sldId id="256" r:id="rId3"/>
    <p:sldId id="259" r:id="rId4"/>
    <p:sldId id="275" r:id="rId5"/>
    <p:sldId id="284" r:id="rId6"/>
    <p:sldId id="287" r:id="rId7"/>
    <p:sldId id="291" r:id="rId8"/>
    <p:sldId id="294" r:id="rId9"/>
    <p:sldId id="355" r:id="rId10"/>
    <p:sldId id="375" r:id="rId11"/>
    <p:sldId id="376" r:id="rId12"/>
    <p:sldId id="377" r:id="rId13"/>
    <p:sldId id="380" r:id="rId14"/>
    <p:sldId id="381" r:id="rId15"/>
    <p:sldId id="360" r:id="rId16"/>
    <p:sldId id="262" r:id="rId17"/>
    <p:sldId id="295" r:id="rId18"/>
    <p:sldId id="296" r:id="rId19"/>
    <p:sldId id="263" r:id="rId20"/>
    <p:sldId id="264" r:id="rId21"/>
    <p:sldId id="297" r:id="rId22"/>
    <p:sldId id="265" r:id="rId23"/>
    <p:sldId id="298" r:id="rId24"/>
    <p:sldId id="268" r:id="rId25"/>
    <p:sldId id="269" r:id="rId26"/>
    <p:sldId id="299" r:id="rId27"/>
    <p:sldId id="300" r:id="rId28"/>
    <p:sldId id="382" r:id="rId29"/>
    <p:sldId id="386" r:id="rId30"/>
    <p:sldId id="384" r:id="rId31"/>
    <p:sldId id="385" r:id="rId32"/>
    <p:sldId id="387" r:id="rId33"/>
    <p:sldId id="303" r:id="rId34"/>
    <p:sldId id="304" r:id="rId35"/>
    <p:sldId id="305" r:id="rId36"/>
    <p:sldId id="306" r:id="rId37"/>
    <p:sldId id="307" r:id="rId38"/>
    <p:sldId id="330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31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44" autoAdjust="0"/>
    <p:restoredTop sz="68707" autoAdjust="0"/>
  </p:normalViewPr>
  <p:slideViewPr>
    <p:cSldViewPr>
      <p:cViewPr varScale="1">
        <p:scale>
          <a:sx n="85" d="100"/>
          <a:sy n="85" d="100"/>
        </p:scale>
        <p:origin x="227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9B826AA1-E7E8-4048-9366-C85C52BB344E}" type="datetimeFigureOut">
              <a:rPr lang="en-US"/>
              <a:pPr>
                <a:defRPr/>
              </a:pPr>
              <a:t>10/11/25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12742DF3-4033-4BBC-9A10-E563366FC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60FC00-CB8F-4268-93EC-7ABB39D2F63C}" type="datetimeFigureOut">
              <a:rPr lang="zh-CN" altLang="en-US"/>
              <a:pPr>
                <a:defRPr/>
              </a:pPr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ACF634-60D1-4D3C-A44B-2EAF90B3CD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7E9DA5-596E-415B-B2CF-D3D7706EBE0C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endParaRPr lang="zh-CN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6BAF92-66FD-4BEE-933B-72D1534B0F24}" type="slidenum">
              <a:rPr lang="zh-CN" altLang="en-US" sz="1200" smtClean="0"/>
              <a:pPr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4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854E5D-41C4-4F4A-ABB0-77EDFDD1DAF2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/>
          <a:p>
            <a:endParaRPr lang="zh-CN" altLang="en-US" dirty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DBE31E-0DF0-45CD-A2C5-462207B6AB44}" type="slidenum">
              <a:rPr lang="zh-CN" altLang="en-US" sz="1200" smtClean="0"/>
              <a:pPr/>
              <a:t>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CB7F33-5CCF-4E41-A402-0D45A8B66F06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552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80EE27-3742-4235-A396-311600EDB858}" type="slidenum">
              <a:rPr lang="zh-CN" altLang="en-US" sz="1200" smtClean="0"/>
              <a:pPr/>
              <a:t>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395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796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061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71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71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0000" lnSpcReduction="20000"/>
          </a:bodyPr>
          <a:lstStyle/>
          <a:p>
            <a:endParaRPr lang="en-US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80EE27-3742-4235-A396-311600EDB858}" type="slidenum">
              <a:rPr lang="zh-CN" altLang="en-US" sz="1200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022617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1827EB-F764-4565-9579-EE488F6D2C03}" type="slidenum">
              <a:rPr lang="en-US" altLang="zh-CN" sz="1200" smtClean="0"/>
              <a:pPr/>
              <a:t>15</a:t>
            </a:fld>
            <a:endParaRPr lang="en-US" altLang="zh-CN" sz="120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695393-E428-4EC2-8BAF-5453BB1F191A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4CA018-CE80-4521-9312-0E17053D63B1}" type="slidenum">
              <a:rPr lang="en-US" altLang="zh-CN" sz="1200" smtClean="0"/>
              <a:pPr/>
              <a:t>18</a:t>
            </a:fld>
            <a:endParaRPr lang="en-US" altLang="zh-CN" sz="120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6118B2-1B50-43D9-B74E-287D3B6AEAD0}" type="slidenum">
              <a:rPr lang="en-US" altLang="zh-CN" sz="1200" smtClean="0"/>
              <a:pPr/>
              <a:t>19</a:t>
            </a:fld>
            <a:endParaRPr lang="en-US" altLang="zh-CN" sz="1200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4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1059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148682-31A4-4747-B569-E8BE617932D8}" type="slidenum">
              <a:rPr lang="zh-CN" altLang="en-US" sz="1200" smtClean="0"/>
              <a:pPr/>
              <a:t>20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294CE5-49A0-431F-A3DA-5A926CE79C5C}" type="slidenum">
              <a:rPr lang="en-US" altLang="zh-CN" sz="1200" smtClean="0"/>
              <a:pPr/>
              <a:t>21</a:t>
            </a:fld>
            <a:endParaRPr lang="en-US" altLang="zh-CN" sz="120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6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0000" lnSpcReduction="20000"/>
          </a:bodyPr>
          <a:lstStyle/>
          <a:p>
            <a:endParaRPr kumimoji="1" lang="zh-CN" altLang="en-US" dirty="0"/>
          </a:p>
        </p:txBody>
      </p:sp>
      <p:sp>
        <p:nvSpPr>
          <p:cNvPr id="11366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B9B5FE8-08B1-4306-A457-5EB5AAEDE676}" type="slidenum">
              <a:rPr lang="zh-CN" altLang="en-US" sz="1200" smtClean="0"/>
              <a:pPr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47BF38-6BD9-425A-825B-BBED692952E7}" type="slidenum">
              <a:rPr lang="en-US" altLang="zh-CN" sz="1200" smtClean="0"/>
              <a:pPr/>
              <a:t>23</a:t>
            </a:fld>
            <a:endParaRPr lang="en-US" altLang="zh-CN" sz="1200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C37D02-03E1-4BF7-AC82-C47A59485A03}" type="slidenum">
              <a:rPr lang="en-US" altLang="zh-CN" sz="1200" smtClean="0"/>
              <a:pPr/>
              <a:t>24</a:t>
            </a:fld>
            <a:endParaRPr lang="en-US" altLang="zh-CN" sz="120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FC9731-6D3D-42A9-AB39-F0F4D4BB2E8E}" type="slidenum">
              <a:rPr lang="zh-CN" altLang="en-US" sz="1200" smtClean="0"/>
              <a:pPr/>
              <a:t>25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70AE28-72DB-4620-8BEA-B4D7EA981104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26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92D5-DB43-EF93-4A41-2047E2BE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>
            <a:extLst>
              <a:ext uri="{FF2B5EF4-FFF2-40B4-BE49-F238E27FC236}">
                <a16:creationId xmlns:a16="http://schemas.microsoft.com/office/drawing/2014/main" id="{16ADD460-1414-08F6-EF2A-537043444C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6" name="备注占位符 2">
            <a:extLst>
              <a:ext uri="{FF2B5EF4-FFF2-40B4-BE49-F238E27FC236}">
                <a16:creationId xmlns:a16="http://schemas.microsoft.com/office/drawing/2014/main" id="{EF6DC05D-9DC2-7777-EEA0-28ED133DBB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7" name="灯片编号占位符 3">
            <a:extLst>
              <a:ext uri="{FF2B5EF4-FFF2-40B4-BE49-F238E27FC236}">
                <a16:creationId xmlns:a16="http://schemas.microsoft.com/office/drawing/2014/main" id="{8B965BD2-80DE-5166-D3E2-349A774C2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70AE28-72DB-4620-8BEA-B4D7EA981104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27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869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2812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822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818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86BB-A8F2-049A-4235-0142BB53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000D34-40F1-1971-6630-5FA6548B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DD0075-27C8-479D-9E7F-6ECE3E98E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3E411-AD9F-BAAD-4F7A-16FD4F986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975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8634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6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/>
          <a:p>
            <a:endParaRPr kumimoji="1" lang="zh-CN" altLang="en-US" dirty="0"/>
          </a:p>
        </p:txBody>
      </p:sp>
      <p:sp>
        <p:nvSpPr>
          <p:cNvPr id="11878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E654B4-73F4-4581-96EA-B53BD797BB43}" type="slidenum">
              <a:rPr lang="zh-CN" altLang="en-US" sz="1200" smtClean="0"/>
              <a:pPr/>
              <a:t>33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5E2CC7-CB89-4BB6-B8AF-FA24DD7E0207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37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814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316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1211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0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19811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4B25BF-A078-4115-8C2C-FAC660BCE81E}" type="slidenum">
              <a:rPr lang="zh-CN" altLang="en-US" sz="1200" smtClean="0"/>
              <a:pPr/>
              <a:t>43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4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55000" lnSpcReduction="20000"/>
          </a:bodyPr>
          <a:lstStyle/>
          <a:p>
            <a:endParaRPr lang="en-US" altLang="zh-CN" dirty="0"/>
          </a:p>
        </p:txBody>
      </p:sp>
      <p:sp>
        <p:nvSpPr>
          <p:cNvPr id="12083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52E737-4EAE-4C95-943C-CE2F547B5557}" type="slidenum">
              <a:rPr lang="zh-CN" altLang="en-US" sz="1200" smtClean="0"/>
              <a:pPr/>
              <a:t>44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60E3AC-035D-4F00-88EA-46B5E4948660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45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79E6E-AA8C-43CB-81EF-578FE00FE0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58EE9-9E73-45F0-A7CA-90363CDC52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E5781-787B-4524-97F6-D13F686BE9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15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6B6B5-C72E-4707-8D38-0078B96912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9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232C7-CC6F-4239-8087-869718C2E8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4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DF00C-2567-4347-BB4C-FF60FAABE3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7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0D70A-2DCA-447D-8A44-E39195ABF6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2F7D-0FF9-43D9-A322-394D01B577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7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9437-ED2D-4FDD-A393-0E1DE6FC04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42E9C-AEC5-42B8-B28F-353EEBC5F4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2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AAB10-D719-4480-B976-D8E1438752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483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655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753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720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71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008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21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77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4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64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665F2C4-38A6-42C8-8060-30E04DF4A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>
                <a:ea typeface="宋体" pitchFamily="2" charset="-122"/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2025/10/11</a:t>
            </a:fld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宋体" pitchFamily="2" charset="-122"/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8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  <p:sldLayoutId id="2147484663" r:id="rId10"/>
    <p:sldLayoutId id="2147484664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程序设计（</a:t>
            </a:r>
            <a:r>
              <a:rPr lang="en-US" altLang="zh-CN"/>
              <a:t>part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620713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zh-CN"/>
              <a:t>OOP</a:t>
            </a: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GB" altLang="en-US" dirty="0">
                <a:latin typeface="+mj-lt"/>
              </a:rPr>
              <a:t>OO Solution</a:t>
            </a:r>
            <a:endParaRPr lang="zh-CN" altLang="en-US" dirty="0">
              <a:latin typeface="+mj-lt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627313" y="2789238"/>
            <a:ext cx="2211387" cy="3602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altLang="en-US" sz="1200" i="1" dirty="0"/>
              <a:t>#</a:t>
            </a:r>
            <a:r>
              <a:rPr lang="en-GB" altLang="zh-CN" sz="1200" i="1" dirty="0"/>
              <a:t>include &lt;</a:t>
            </a:r>
            <a:r>
              <a:rPr lang="en-GB" altLang="zh-CN" sz="1200" i="1" dirty="0" err="1"/>
              <a:t>iostream.h</a:t>
            </a:r>
            <a:r>
              <a:rPr lang="en-GB" altLang="zh-CN" sz="1200" i="1" dirty="0"/>
              <a:t>&gt;</a:t>
            </a:r>
          </a:p>
          <a:p>
            <a:pPr>
              <a:defRPr/>
            </a:pPr>
            <a:r>
              <a:rPr lang="en-GB" altLang="zh-CN" sz="1200" i="1" dirty="0"/>
              <a:t>#define   STACK_SIZE 100</a:t>
            </a:r>
          </a:p>
          <a:p>
            <a:pPr>
              <a:defRPr/>
            </a:pPr>
            <a:r>
              <a:rPr lang="en-GB" altLang="zh-CN" sz="1200" i="1" dirty="0"/>
              <a:t>class Stack</a:t>
            </a:r>
          </a:p>
          <a:p>
            <a:pPr>
              <a:defRPr/>
            </a:pPr>
            <a:r>
              <a:rPr lang="en-GB" altLang="zh-CN" sz="1200" i="1" dirty="0"/>
              <a:t>{   </a:t>
            </a:r>
            <a:r>
              <a:rPr lang="en-GB" altLang="zh-CN" sz="1200" b="1" i="1" dirty="0">
                <a:solidFill>
                  <a:srgbClr val="006600"/>
                </a:solidFill>
              </a:rPr>
              <a:t>private:</a:t>
            </a:r>
            <a:r>
              <a:rPr lang="en-GB" altLang="zh-CN" sz="1200" i="1" dirty="0"/>
              <a:t> </a:t>
            </a:r>
          </a:p>
          <a:p>
            <a:pPr>
              <a:defRPr/>
            </a:pPr>
            <a:r>
              <a:rPr lang="en-GB" altLang="zh-CN" sz="1200" i="1" dirty="0"/>
              <a:t>  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  top;</a:t>
            </a:r>
          </a:p>
          <a:p>
            <a:pPr>
              <a:defRPr/>
            </a:pPr>
            <a:r>
              <a:rPr lang="en-GB" altLang="zh-CN" sz="1200" i="1" dirty="0"/>
              <a:t> 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  buffer[STACK_SIZE];</a:t>
            </a:r>
          </a:p>
          <a:p>
            <a:pPr>
              <a:defRPr/>
            </a:pPr>
            <a:r>
              <a:rPr lang="en-GB" altLang="zh-CN" sz="1200" b="1" i="1" dirty="0"/>
              <a:t>    </a:t>
            </a:r>
            <a:r>
              <a:rPr lang="en-GB" altLang="zh-CN" sz="1200" b="1" i="1" dirty="0">
                <a:solidFill>
                  <a:schemeClr val="accent5">
                    <a:lumMod val="50000"/>
                  </a:schemeClr>
                </a:solidFill>
              </a:rPr>
              <a:t>public</a:t>
            </a:r>
            <a:r>
              <a:rPr lang="en-GB" altLang="zh-CN" sz="1200" b="1" i="1" dirty="0">
                <a:solidFill>
                  <a:srgbClr val="006600"/>
                </a:solidFill>
              </a:rPr>
              <a:t>:</a:t>
            </a:r>
          </a:p>
          <a:p>
            <a:pPr>
              <a:defRPr/>
            </a:pPr>
            <a:r>
              <a:rPr lang="en-GB" altLang="zh-CN" sz="1200" i="1" dirty="0"/>
              <a:t>         Stack()  { </a:t>
            </a:r>
            <a:r>
              <a:rPr lang="en-GB" altLang="zh-CN" sz="1200" b="1" i="1" dirty="0">
                <a:solidFill>
                  <a:srgbClr val="006600"/>
                </a:solidFill>
              </a:rPr>
              <a:t>top = -1; </a:t>
            </a:r>
            <a:r>
              <a:rPr lang="en-GB" altLang="zh-CN" sz="1200" i="1" dirty="0"/>
              <a:t>}</a:t>
            </a:r>
          </a:p>
          <a:p>
            <a:pPr>
              <a:defRPr/>
            </a:pPr>
            <a:r>
              <a:rPr lang="en-GB" altLang="zh-CN" sz="1200" i="1" dirty="0"/>
              <a:t>         </a:t>
            </a:r>
            <a:r>
              <a:rPr lang="en-GB" altLang="zh-CN" sz="1200" i="1" dirty="0" err="1"/>
              <a:t>bool</a:t>
            </a:r>
            <a:r>
              <a:rPr lang="en-GB" altLang="zh-CN" sz="1200" i="1" dirty="0"/>
              <a:t> push(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</a:t>
            </a:r>
            <a:r>
              <a:rPr lang="en-GB" altLang="zh-CN" sz="1200" i="1" dirty="0" err="1"/>
              <a:t>i</a:t>
            </a:r>
            <a:r>
              <a:rPr lang="en-GB" altLang="zh-CN" sz="1200" i="1" dirty="0"/>
              <a:t>);</a:t>
            </a:r>
          </a:p>
          <a:p>
            <a:pPr>
              <a:defRPr/>
            </a:pPr>
            <a:r>
              <a:rPr lang="en-GB" altLang="zh-CN" sz="1200" i="1" dirty="0"/>
              <a:t>         </a:t>
            </a:r>
            <a:r>
              <a:rPr lang="en-GB" altLang="zh-CN" sz="1200" i="1" dirty="0" err="1"/>
              <a:t>bool</a:t>
            </a:r>
            <a:r>
              <a:rPr lang="en-GB" altLang="zh-CN" sz="1200" i="1" dirty="0"/>
              <a:t> pop(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&amp; </a:t>
            </a:r>
            <a:r>
              <a:rPr lang="en-GB" altLang="zh-CN" sz="1200" i="1" dirty="0" err="1"/>
              <a:t>i</a:t>
            </a:r>
            <a:r>
              <a:rPr lang="en-GB" altLang="zh-CN" sz="1200" i="1" dirty="0"/>
              <a:t>);</a:t>
            </a:r>
          </a:p>
          <a:p>
            <a:pPr>
              <a:defRPr/>
            </a:pPr>
            <a:r>
              <a:rPr lang="en-GB" altLang="zh-CN" sz="1200" i="1" dirty="0"/>
              <a:t>};</a:t>
            </a:r>
            <a:endParaRPr lang="en-US" altLang="zh-CN" sz="1200" i="1" dirty="0"/>
          </a:p>
          <a:p>
            <a:pPr>
              <a:defRPr/>
            </a:pPr>
            <a:r>
              <a:rPr lang="en-US" altLang="zh-CN" sz="1200" i="1" dirty="0"/>
              <a:t>void main()</a:t>
            </a:r>
          </a:p>
          <a:p>
            <a:pPr>
              <a:defRPr/>
            </a:pPr>
            <a:r>
              <a:rPr lang="en-US" altLang="zh-CN" sz="1200" i="1" dirty="0"/>
              <a:t>{    </a:t>
            </a:r>
            <a:r>
              <a:rPr lang="en-GB" altLang="zh-CN" sz="1200" i="1" dirty="0"/>
              <a:t>Stack st1,st2;</a:t>
            </a:r>
          </a:p>
          <a:p>
            <a:pPr>
              <a:defRPr/>
            </a:pPr>
            <a:r>
              <a:rPr lang="en-GB" altLang="zh-CN" sz="1200" i="1" dirty="0"/>
              <a:t>     </a:t>
            </a:r>
            <a:r>
              <a:rPr lang="en-GB" altLang="zh-CN" sz="1200" i="1" dirty="0" err="1"/>
              <a:t>int</a:t>
            </a:r>
            <a:r>
              <a:rPr lang="en-GB" altLang="zh-CN" sz="1200" i="1" dirty="0"/>
              <a:t> x;</a:t>
            </a:r>
          </a:p>
          <a:p>
            <a:pPr>
              <a:defRPr/>
            </a:pPr>
            <a:r>
              <a:rPr lang="en-GB" altLang="zh-CN" sz="1200" i="1" dirty="0"/>
              <a:t>     st1.push(12); </a:t>
            </a:r>
          </a:p>
          <a:p>
            <a:pPr>
              <a:defRPr/>
            </a:pPr>
            <a:r>
              <a:rPr lang="en-GB" altLang="zh-CN" sz="1200" i="1" dirty="0"/>
              <a:t>     st1.pop(x);</a:t>
            </a:r>
          </a:p>
          <a:p>
            <a:pPr>
              <a:defRPr/>
            </a:pPr>
            <a:endParaRPr lang="en-GB" altLang="zh-CN" sz="1200" i="1" dirty="0"/>
          </a:p>
          <a:p>
            <a:pPr>
              <a:defRPr/>
            </a:pPr>
            <a:r>
              <a:rPr lang="en-GB" altLang="zh-CN" sz="1200" b="1" i="1" dirty="0">
                <a:solidFill>
                  <a:schemeClr val="bg1">
                    <a:lumMod val="50000"/>
                  </a:schemeClr>
                </a:solidFill>
              </a:rPr>
              <a:t>     </a:t>
            </a:r>
          </a:p>
          <a:p>
            <a:pPr>
              <a:defRPr/>
            </a:pPr>
            <a:r>
              <a:rPr lang="en-US" altLang="zh-CN" sz="1200" i="1" dirty="0"/>
              <a:t>}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4841875" y="2820988"/>
            <a:ext cx="4267200" cy="1570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bool Stack::push(int i);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  if  (          top == STACK_SIZE-1)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{   cout &lt;&lt; “Stack is overflow.\n”;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false;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{           top++;           buffer[         top] = i;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  <a:endParaRPr lang="en-US" altLang="zh-CN" sz="1200" i="1"/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4841875" y="4379913"/>
            <a:ext cx="4267200" cy="1754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bool Stack::pop(int&amp; i)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 if  (           top == -1)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{    cout &lt;&lt; “Stack is empty.\n”;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 return   false;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else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{    i =            buffer[          top];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       top--;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     return   true;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  <a:endParaRPr lang="en-US" altLang="zh-CN" sz="120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85788" y="2420938"/>
            <a:ext cx="2114550" cy="2678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200" i="1"/>
              <a:t>#</a:t>
            </a:r>
            <a:r>
              <a:rPr lang="en-GB" altLang="zh-CN" sz="1200" i="1"/>
              <a:t>include &lt;iostream.h&gt;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#define   STACK_SIZE 100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struct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int   top;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int   buffer[STACK_SIZE];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{   Stack   st1, st2;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st1.top = -1;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st2.top = -1;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int  x;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push(&amp;st1, 12);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     pop(&amp;st1, x);</a:t>
            </a:r>
            <a:r>
              <a:rPr lang="en-GB" altLang="zh-CN" sz="1200" b="1" i="1">
                <a:solidFill>
                  <a:srgbClr val="CC0000"/>
                </a:solidFill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200" i="1"/>
              <a:t>}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76600" y="5805488"/>
            <a:ext cx="360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C00000"/>
                </a:solidFill>
              </a:rPr>
              <a:t>X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51400" y="2760663"/>
            <a:ext cx="2951163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>
                <a:solidFill>
                  <a:srgbClr val="006600"/>
                </a:solidFill>
              </a:rPr>
              <a:t>bool  push(Stack * const </a:t>
            </a:r>
            <a:r>
              <a:rPr lang="en-GB" altLang="zh-CN" sz="1400" i="1">
                <a:solidFill>
                  <a:srgbClr val="C00000"/>
                </a:solidFill>
              </a:rPr>
              <a:t>this</a:t>
            </a:r>
            <a:r>
              <a:rPr lang="en-GB" altLang="zh-CN" sz="1400" i="1">
                <a:solidFill>
                  <a:srgbClr val="006600"/>
                </a:solidFill>
              </a:rPr>
              <a:t>, int i)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859338" y="4292600"/>
            <a:ext cx="2990850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400" i="1"/>
              <a:t>bool pop(Stack * const </a:t>
            </a:r>
            <a:r>
              <a:rPr lang="en-GB" altLang="zh-CN" sz="1400" i="1">
                <a:solidFill>
                  <a:srgbClr val="C00000"/>
                </a:solidFill>
              </a:rPr>
              <a:t>this</a:t>
            </a:r>
            <a:r>
              <a:rPr lang="en-GB" altLang="zh-CN" sz="1400" i="1"/>
              <a:t>,  int &amp;i)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419725" y="3008313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292725" y="3727450"/>
            <a:ext cx="5937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53175" y="3727450"/>
            <a:ext cx="5953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216775" y="3716338"/>
            <a:ext cx="5953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416550" y="4592638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651500" y="5311775"/>
            <a:ext cx="5953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640513" y="5311775"/>
            <a:ext cx="5953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273675" y="5445125"/>
            <a:ext cx="5937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rgbClr val="C00000"/>
                </a:solidFill>
              </a:rPr>
              <a:t>this-&gt;</a:t>
            </a:r>
            <a:endParaRPr lang="zh-CN" altLang="en-US" sz="1200" i="1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43213" y="5876925"/>
            <a:ext cx="1620837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200" b="1" i="1" dirty="0">
                <a:solidFill>
                  <a:schemeClr val="bg1">
                    <a:lumMod val="50000"/>
                  </a:schemeClr>
                </a:solidFill>
              </a:rPr>
              <a:t>st1.buffer[2] = -1;</a:t>
            </a:r>
            <a:endParaRPr lang="zh-CN" altLang="en-US" sz="1200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 rot="-526711">
            <a:off x="5776913" y="5711825"/>
            <a:ext cx="2354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</a:rPr>
              <a:t>Encapsulation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 rot="-594335">
            <a:off x="6397625" y="6084888"/>
            <a:ext cx="2554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>
                <a:solidFill>
                  <a:srgbClr val="006600"/>
                </a:solidFill>
              </a:rPr>
              <a:t>Information Hidding</a:t>
            </a:r>
            <a:endParaRPr lang="zh-CN" altLang="en-US" sz="1800" b="1" i="1">
              <a:solidFill>
                <a:srgbClr val="006600"/>
              </a:solidFill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555875" y="260350"/>
            <a:ext cx="38735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push(Stack &amp;s,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if  (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== STACK_SIZE-1)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printf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(“Stack is overflow.\n”);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false;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else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{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++;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s.buffer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 =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true;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2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5438775" y="882650"/>
            <a:ext cx="38862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pop(Stack &amp;s,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&amp;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if  (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== -1)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printf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(“Stack is empty.\n”);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return false; 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else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s.buffer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];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s.top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--;         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return true;  }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2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07950" y="5084763"/>
            <a:ext cx="3429000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struct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Stack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top;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buffer[STACK_SIZE];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main()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   Stack   st1, st2;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st1.top = -1;  st2.top = -1;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</a:t>
            </a:r>
            <a:r>
              <a:rPr lang="en-GB" altLang="zh-CN" sz="12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x;      push(st1,12);       pop(st1,x);</a:t>
            </a:r>
          </a:p>
          <a:p>
            <a:pPr>
              <a:defRPr/>
            </a:pPr>
            <a:r>
              <a:rPr lang="en-GB" altLang="zh-CN" sz="1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 rot="-557952">
            <a:off x="4097338" y="5030788"/>
            <a:ext cx="1155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Cfront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79388" y="2349500"/>
            <a:ext cx="3671887" cy="181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class   TDate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{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 void SetDate(int y, int m, int d);</a:t>
            </a:r>
            <a:endParaRPr lang="en-GB" altLang="zh-CN" sz="1600" b="1" i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 int IsLeapYear();</a:t>
            </a:r>
            <a:endParaRPr lang="en-GB" altLang="zh-CN" sz="1600" b="1" i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private: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  int  year, month, day;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};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79388" y="4341813"/>
            <a:ext cx="5486400" cy="1814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void </a:t>
            </a:r>
            <a:r>
              <a:rPr lang="en-US" altLang="zh-CN" sz="1600" b="1" i="1">
                <a:solidFill>
                  <a:srgbClr val="C00000"/>
                </a:solidFill>
                <a:latin typeface="Times New Roman" panose="02020603050405020304" pitchFamily="18" charset="0"/>
              </a:rPr>
              <a:t>TDate::</a:t>
            </a:r>
            <a:r>
              <a:rPr lang="en-US" altLang="zh-CN" sz="1600" b="1" i="1">
                <a:latin typeface="Times New Roman" panose="02020603050405020304" pitchFamily="18" charset="0"/>
              </a:rPr>
              <a:t>SetDate(int y,  int m,  int 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b="1" i="1">
                <a:latin typeface="Times New Roman" panose="02020603050405020304" pitchFamily="18" charset="0"/>
              </a:rPr>
              <a:t>{    </a:t>
            </a:r>
            <a:r>
              <a:rPr lang="en-US" altLang="zh-CN" sz="1600" b="1" i="1">
                <a:latin typeface="Times New Roman" panose="02020603050405020304" pitchFamily="18" charset="0"/>
              </a:rPr>
              <a:t>year = 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month = m;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     day = d;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i="1">
                <a:latin typeface="Times New Roman" panose="02020603050405020304" pitchFamily="18" charset="0"/>
              </a:rPr>
              <a:t>int </a:t>
            </a:r>
            <a:r>
              <a:rPr lang="en-US" altLang="zh-CN" sz="1600" b="1" i="1">
                <a:solidFill>
                  <a:srgbClr val="C00000"/>
                </a:solidFill>
                <a:latin typeface="Times New Roman" panose="02020603050405020304" pitchFamily="18" charset="0"/>
              </a:rPr>
              <a:t>TDate:: </a:t>
            </a:r>
            <a:r>
              <a:rPr lang="en-US" altLang="zh-CN" sz="1600" b="1" i="1">
                <a:latin typeface="Times New Roman" panose="02020603050405020304" pitchFamily="18" charset="0"/>
              </a:rPr>
              <a:t>IsLeapYear()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Times New Roman" panose="02020603050405020304" pitchFamily="18" charset="0"/>
              </a:rPr>
              <a:t>{ return (year%4 == 0 &amp;&amp; year%100 != 0) || (year%400==0); }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987675" y="2060575"/>
            <a:ext cx="519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a.h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4572000" y="4076700"/>
            <a:ext cx="741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</a:rPr>
              <a:t>a.cpp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67175" y="1052513"/>
            <a:ext cx="4398963" cy="2800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class  TDate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{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void SetDate(int y, int m, int 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{    year = y;  month = m; day = d;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int  IsLeapYear()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     { return (year%4 == 0 &amp;&amp; year%100 != 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                || (year%400==0);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private: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       int  year, month, day;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rgbClr val="002060"/>
                </a:solidFill>
                <a:latin typeface="Times New Roman" panose="02020603050405020304" pitchFamily="18" charset="0"/>
              </a:rPr>
              <a:t>};</a:t>
            </a:r>
            <a:endParaRPr lang="zh-CN" altLang="en-US" sz="1600" b="1" i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451725" y="1341438"/>
            <a:ext cx="82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inline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795963" y="4005263"/>
            <a:ext cx="2879725" cy="2800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g;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int 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{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g.SetDate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(2000,1,1);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t.SetDate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(2015,11,17);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*p = new 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p-&gt;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SetDate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(2015,11,17);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 rot="-739854">
            <a:off x="3392488" y="3746500"/>
            <a:ext cx="1004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C00000"/>
                </a:solidFill>
              </a:rPr>
              <a:t>ADT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500438"/>
            <a:ext cx="210661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altLang="zh-CN" sz="1800" i="1" dirty="0">
                <a:solidFill>
                  <a:schemeClr val="accent6">
                    <a:lumMod val="50000"/>
                  </a:schemeClr>
                </a:solidFill>
              </a:rPr>
              <a:t>  year=2000, … </a:t>
            </a:r>
            <a:endParaRPr lang="zh-CN" altLang="en-US" sz="18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219700" y="3471863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X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6636" name="TextBox 16"/>
          <p:cNvSpPr txBox="1">
            <a:spLocks noChangeArrowheads="1"/>
          </p:cNvSpPr>
          <p:nvPr/>
        </p:nvSpPr>
        <p:spPr bwMode="auto">
          <a:xfrm>
            <a:off x="1979613" y="908050"/>
            <a:ext cx="1416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成员变量</a:t>
            </a:r>
            <a:endParaRPr lang="en-US" altLang="zh-CN" sz="2400" b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成员函数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 rot="-583114">
            <a:off x="7123113" y="4162425"/>
            <a:ext cx="1050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Value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构造函数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2017713"/>
            <a:ext cx="7954963" cy="4114800"/>
          </a:xfrm>
        </p:spPr>
        <p:txBody>
          <a:bodyPr/>
          <a:lstStyle/>
          <a:p>
            <a:pPr algn="just" eaLnBrk="1" hangingPunct="1"/>
            <a:r>
              <a:rPr lang="en-GB" altLang="en-US" sz="2400" dirty="0" err="1">
                <a:latin typeface="宋体" panose="02010600030101010101" pitchFamily="2" charset="-122"/>
              </a:rPr>
              <a:t>对象的初始化</a:t>
            </a:r>
            <a:endParaRPr lang="en-GB" altLang="en-US" sz="2400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描述</a:t>
            </a:r>
            <a:endParaRPr lang="en-GB" altLang="en-US" sz="2400" dirty="0"/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与类同名、无返回类型</a:t>
            </a:r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自动调用</a:t>
            </a:r>
            <a:r>
              <a:rPr lang="en-GB" altLang="zh-CN" sz="1800" dirty="0" err="1">
                <a:latin typeface="宋体" panose="02010600030101010101" pitchFamily="2" charset="-122"/>
              </a:rPr>
              <a:t>，</a:t>
            </a:r>
            <a:r>
              <a:rPr lang="en-GB" altLang="en-US" sz="1800" dirty="0" err="1">
                <a:latin typeface="宋体" panose="02010600030101010101" pitchFamily="2" charset="-122"/>
              </a:rPr>
              <a:t>不可直接调用</a:t>
            </a:r>
            <a:endParaRPr lang="en-GB" altLang="en-US" sz="1800" dirty="0"/>
          </a:p>
          <a:p>
            <a:pPr lvl="1" algn="just" eaLnBrk="1" hangingPunct="1"/>
            <a:r>
              <a:rPr lang="en-GB" altLang="en-US" sz="1800" dirty="0" err="1">
                <a:latin typeface="宋体" panose="02010600030101010101" pitchFamily="2" charset="-122"/>
              </a:rPr>
              <a:t>可重载</a:t>
            </a:r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endParaRPr lang="en-GB" altLang="en-US" sz="18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18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默认构造函数</a:t>
            </a:r>
            <a:r>
              <a:rPr lang="en-GB" altLang="en-US" sz="1800" dirty="0">
                <a:latin typeface="宋体" panose="02010600030101010101" pitchFamily="2" charset="-122"/>
              </a:rPr>
              <a:t>    </a:t>
            </a:r>
            <a:r>
              <a:rPr lang="zh-CN" altLang="en-US" sz="1800" i="1" dirty="0">
                <a:latin typeface="宋体" panose="02010600030101010101" pitchFamily="2" charset="-122"/>
              </a:rPr>
              <a:t>无</a:t>
            </a:r>
            <a:r>
              <a:rPr lang="en-GB" altLang="en-US" sz="1800" i="1" dirty="0" err="1">
                <a:latin typeface="宋体" panose="02010600030101010101" pitchFamily="2" charset="-122"/>
              </a:rPr>
              <a:t>参数</a:t>
            </a:r>
            <a:endParaRPr lang="en-GB" altLang="en-US" sz="1800" i="1" dirty="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en-US" sz="1800" b="1" dirty="0" err="1">
                <a:solidFill>
                  <a:srgbClr val="002060"/>
                </a:solidFill>
                <a:latin typeface="宋体" panose="02010600030101010101" pitchFamily="2" charset="-122"/>
              </a:rPr>
              <a:t>当类中未提供构造函数时，编译系统</a:t>
            </a:r>
            <a:r>
              <a:rPr lang="zh-CN" altLang="en-US" sz="1800" b="1" dirty="0">
                <a:solidFill>
                  <a:srgbClr val="002060"/>
                </a:solidFill>
                <a:latin typeface="宋体" panose="02010600030101010101" pitchFamily="2" charset="-122"/>
              </a:rPr>
              <a:t>提供</a:t>
            </a:r>
            <a:endParaRPr lang="en-US" altLang="zh-CN" sz="1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800" b="1" dirty="0">
                <a:solidFill>
                  <a:srgbClr val="002060"/>
                </a:solidFill>
                <a:latin typeface="宋体" panose="02010600030101010101" pitchFamily="2" charset="-122"/>
              </a:rPr>
              <a:t>一旦自定义构造函数，不再提供默认构造函数</a:t>
            </a:r>
            <a:endParaRPr lang="en-US" altLang="zh-CN" sz="1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zh-CN" sz="2000" i="1" dirty="0"/>
              <a:t>public</a:t>
            </a:r>
            <a:endParaRPr lang="en-GB" altLang="zh-CN" sz="2000" dirty="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1600" dirty="0">
                <a:latin typeface="宋体" panose="02010600030101010101" pitchFamily="2" charset="-122"/>
              </a:rPr>
              <a:t>可定义为</a:t>
            </a:r>
            <a:r>
              <a:rPr lang="en-US" altLang="zh-CN" sz="1800" b="1" i="1" dirty="0">
                <a:latin typeface="宋体" panose="02010600030101010101" pitchFamily="2" charset="-122"/>
              </a:rPr>
              <a:t>private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en-US" sz="1600" dirty="0">
                <a:latin typeface="宋体" panose="02010600030101010101" pitchFamily="2" charset="-122"/>
              </a:rPr>
              <a:t>   </a:t>
            </a:r>
            <a:r>
              <a:rPr lang="zh-CN" altLang="en-US" sz="1600" dirty="0">
                <a:latin typeface="宋体" panose="02010600030101010101" pitchFamily="2" charset="-122"/>
              </a:rPr>
              <a:t>接管</a:t>
            </a:r>
            <a:r>
              <a:rPr lang="en-GB" altLang="en-US" sz="1600" dirty="0" err="1">
                <a:latin typeface="宋体" panose="02010600030101010101" pitchFamily="2" charset="-122"/>
              </a:rPr>
              <a:t>对象</a:t>
            </a:r>
            <a:r>
              <a:rPr lang="zh-CN" altLang="en-US" sz="1600" dirty="0">
                <a:latin typeface="宋体" panose="02010600030101010101" pitchFamily="2" charset="-122"/>
              </a:rPr>
              <a:t>创建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 rot="463639">
            <a:off x="4670425" y="4148138"/>
            <a:ext cx="109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Why？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92BFC9A-87E7-E939-7914-6DCB27FF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695" y="4573039"/>
            <a:ext cx="160011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=default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=delete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委托构造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C():C(1){}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析构函数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47000" cy="4554537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400">
                <a:latin typeface="宋体" panose="02010600030101010101" pitchFamily="2" charset="-122"/>
              </a:rPr>
              <a:t>析构函数</a:t>
            </a:r>
            <a:endParaRPr lang="zh-CN" altLang="en-US" sz="2400"/>
          </a:p>
          <a:p>
            <a:pPr lvl="1" algn="just" eaLnBrk="1" hangingPunct="1"/>
            <a:r>
              <a:rPr lang="en-GB" altLang="en-US" sz="2000" i="1">
                <a:latin typeface="宋体" panose="02010600030101010101" pitchFamily="2" charset="-122"/>
              </a:rPr>
              <a:t>~</a:t>
            </a:r>
            <a:r>
              <a:rPr lang="en-GB" altLang="zh-CN" sz="2000">
                <a:latin typeface="宋体" panose="02010600030101010101" pitchFamily="2" charset="-122"/>
              </a:rPr>
              <a:t>&lt;</a:t>
            </a:r>
            <a:r>
              <a:rPr lang="en-GB" altLang="en-US" sz="2000">
                <a:latin typeface="宋体" panose="02010600030101010101" pitchFamily="2" charset="-122"/>
              </a:rPr>
              <a:t>类名&gt;() </a:t>
            </a:r>
          </a:p>
          <a:p>
            <a:pPr lvl="1" algn="just" eaLnBrk="1" hangingPunct="1"/>
            <a:r>
              <a:rPr lang="en-GB" altLang="en-US" sz="2000">
                <a:latin typeface="宋体" panose="02010600030101010101" pitchFamily="2" charset="-122"/>
              </a:rPr>
              <a:t>对象消亡时,系统自动调用</a:t>
            </a:r>
          </a:p>
          <a:p>
            <a:pPr lvl="1" algn="just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US" altLang="zh-CN" sz="2000" i="1">
                <a:latin typeface="宋体" panose="02010600030101010101" pitchFamily="2" charset="-122"/>
              </a:rPr>
              <a:t>public</a:t>
            </a:r>
          </a:p>
          <a:p>
            <a:pPr lvl="2" algn="just" eaLnBrk="1" hangingPunct="1"/>
            <a:r>
              <a:rPr lang="zh-CN" altLang="en-US" sz="1800">
                <a:latin typeface="宋体" panose="02010600030101010101" pitchFamily="2" charset="-122"/>
              </a:rPr>
              <a:t>可定义为</a:t>
            </a:r>
            <a:r>
              <a:rPr lang="en-US" altLang="zh-CN" sz="1800" i="1">
                <a:latin typeface="宋体" panose="02010600030101010101" pitchFamily="2" charset="-122"/>
              </a:rPr>
              <a:t>private</a:t>
            </a:r>
            <a:endParaRPr lang="en-GB" altLang="en-US" sz="1800" i="1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19700" y="1989138"/>
            <a:ext cx="1541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Java: finalize()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219700" y="2420938"/>
            <a:ext cx="3430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2060"/>
                </a:solidFill>
              </a:rPr>
              <a:t>RAII  vs  GC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Resource Acquisition Is Initialization</a:t>
            </a:r>
            <a:endParaRPr lang="zh-CN" altLang="en-US" sz="160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859338" y="476250"/>
            <a:ext cx="24606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C00000"/>
                </a:solidFill>
              </a:rPr>
              <a:t>效率障碍</a:t>
            </a: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C00000"/>
                </a:solidFill>
              </a:rPr>
              <a:t>存在不能用</a:t>
            </a:r>
            <a:r>
              <a:rPr lang="en-US" altLang="zh-CN" sz="1600" b="1" i="1">
                <a:solidFill>
                  <a:srgbClr val="C00000"/>
                </a:solidFill>
              </a:rPr>
              <a:t>GC</a:t>
            </a:r>
            <a:r>
              <a:rPr lang="zh-CN" altLang="en-US" sz="1600" b="1" i="1">
                <a:solidFill>
                  <a:srgbClr val="C00000"/>
                </a:solidFill>
              </a:rPr>
              <a:t>的场合</a:t>
            </a: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>
                <a:solidFill>
                  <a:srgbClr val="006600"/>
                </a:solidFill>
              </a:rPr>
              <a:t>需要时，程序员自行实现</a:t>
            </a:r>
            <a:endParaRPr lang="en-US" altLang="zh-CN" sz="1600" b="1" i="1">
              <a:solidFill>
                <a:srgbClr val="0066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00563" y="188913"/>
            <a:ext cx="619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2060"/>
                </a:solidFill>
              </a:rPr>
              <a:t>GC</a:t>
            </a:r>
            <a:endParaRPr lang="zh-CN" altLang="en-US" sz="2400" b="1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79388" y="4005263"/>
            <a:ext cx="1471612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 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private</a:t>
            </a:r>
            <a:r>
              <a:rPr lang="zh-CN" altLang="en-US" sz="1800" i="1" dirty="0">
                <a:solidFill>
                  <a:srgbClr val="002060"/>
                </a:solidFill>
              </a:rPr>
              <a:t>：</a:t>
            </a:r>
            <a:endParaRPr lang="en-US" altLang="zh-CN" sz="1800" i="1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         ~A();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2060"/>
                </a:solidFill>
              </a:rPr>
              <a:t>};</a:t>
            </a:r>
            <a:endParaRPr lang="zh-CN" altLang="en-US" sz="1800" i="1" dirty="0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713" y="5229225"/>
            <a:ext cx="1235075" cy="1477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A   </a:t>
            </a:r>
            <a:r>
              <a:rPr lang="en-US" altLang="zh-CN" sz="1800" b="1" i="1" dirty="0" err="1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pPr eaLnBrk="1" hangingPunct="1">
              <a:defRPr/>
            </a:pPr>
            <a:endParaRPr lang="en-US" altLang="zh-CN" sz="18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zh-CN" sz="1800" i="1" dirty="0" err="1">
                <a:solidFill>
                  <a:srgbClr val="002060"/>
                </a:solidFill>
              </a:rPr>
              <a:t>int</a:t>
            </a:r>
            <a:r>
              <a:rPr lang="en-US" altLang="zh-CN" sz="1800" i="1" dirty="0">
                <a:solidFill>
                  <a:srgbClr val="002060"/>
                </a:solidFill>
              </a:rPr>
              <a:t> main()</a:t>
            </a:r>
          </a:p>
          <a:p>
            <a:pPr eaLnBrk="1" hangingPunct="1">
              <a:defRPr/>
            </a:pPr>
            <a:r>
              <a:rPr lang="en-US" altLang="zh-CN" sz="1800" i="1" dirty="0">
                <a:solidFill>
                  <a:srgbClr val="002060"/>
                </a:solidFill>
              </a:rPr>
              <a:t>{    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A  </a:t>
            </a:r>
            <a:r>
              <a:rPr lang="en-US" altLang="zh-CN" sz="1800" b="1" i="1" dirty="0" err="1">
                <a:solidFill>
                  <a:schemeClr val="accent6">
                    <a:lumMod val="50000"/>
                  </a:schemeClr>
                </a:solidFill>
              </a:rPr>
              <a:t>aa</a:t>
            </a:r>
            <a:r>
              <a:rPr lang="en-US" altLang="zh-CN" sz="1800" b="1" i="1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pPr eaLnBrk="1" hangingPunct="1">
              <a:defRPr/>
            </a:pPr>
            <a:r>
              <a:rPr lang="en-US" altLang="zh-CN" sz="1800" i="1" dirty="0">
                <a:solidFill>
                  <a:srgbClr val="002060"/>
                </a:solidFill>
              </a:rPr>
              <a:t>};</a:t>
            </a:r>
            <a:endParaRPr lang="zh-CN" altLang="en-US" sz="1800" i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393747">
            <a:off x="3503613" y="5989638"/>
            <a:ext cx="32623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</a:rPr>
              <a:t>强制自主控制对象存储分配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563938" y="3284538"/>
            <a:ext cx="29543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2060"/>
                </a:solidFill>
              </a:rPr>
              <a:t>释放对象持有的非内存资源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84213" y="4797425"/>
            <a:ext cx="33512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70C0"/>
                </a:solidFill>
              </a:rPr>
              <a:t>void destroy() {delete this;}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692275" y="5229225"/>
            <a:ext cx="393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X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051050" y="6021388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X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67175" y="4581525"/>
            <a:ext cx="18288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b="1" i="1" dirty="0">
                <a:solidFill>
                  <a:schemeClr val="accent5">
                    <a:lumMod val="25000"/>
                  </a:schemeClr>
                </a:solidFill>
              </a:rPr>
              <a:t>A *p = new A;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960813" y="4941888"/>
            <a:ext cx="395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X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67175" y="5445125"/>
            <a:ext cx="1725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70C0"/>
                </a:solidFill>
              </a:rPr>
              <a:t>p-&gt;destroy();</a:t>
            </a:r>
            <a:endParaRPr lang="zh-CN" altLang="en-US" sz="2000" i="1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7175" y="4973638"/>
            <a:ext cx="13176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b="1" i="1" dirty="0">
                <a:solidFill>
                  <a:schemeClr val="accent6">
                    <a:lumMod val="50000"/>
                  </a:schemeClr>
                </a:solidFill>
              </a:rPr>
              <a:t>delete p;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011863" y="3860800"/>
            <a:ext cx="2663825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006600"/>
                </a:solidFill>
              </a:rPr>
              <a:t>Better Solution</a:t>
            </a:r>
            <a:r>
              <a:rPr lang="zh-CN" altLang="en-US" sz="1800" i="1">
                <a:solidFill>
                  <a:srgbClr val="006600"/>
                </a:solidFill>
              </a:rPr>
              <a:t>：</a:t>
            </a:r>
            <a:endParaRPr lang="en-US" altLang="zh-CN" sz="18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static void free(A *p)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       { delete p;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006600"/>
                </a:solidFill>
              </a:rPr>
              <a:t>A::free(p);</a:t>
            </a:r>
            <a:endParaRPr lang="zh-CN" altLang="en-US" sz="1800" i="1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拷贝构造函数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1266825"/>
          </a:xfrm>
        </p:spPr>
        <p:txBody>
          <a:bodyPr/>
          <a:lstStyle/>
          <a:p>
            <a:pPr eaLnBrk="1" hangingPunct="1"/>
            <a:r>
              <a:rPr lang="en-GB" altLang="en-US" sz="2000"/>
              <a:t>Copy Constructor</a:t>
            </a:r>
            <a:endParaRPr lang="zh-CN" altLang="en-US" sz="2000"/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创建对象时，用一同类的对象对其初始化</a:t>
            </a:r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自动调用</a:t>
            </a:r>
          </a:p>
          <a:p>
            <a:pPr lvl="1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>
                <a:solidFill>
                  <a:schemeClr val="accent2"/>
                </a:solidFill>
              </a:rPr>
              <a:t>   </a:t>
            </a:r>
            <a:endParaRPr lang="zh-CN" altLang="en-US" sz="18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68313" y="3284538"/>
            <a:ext cx="12255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b=a;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835150" y="3284538"/>
            <a:ext cx="13335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f(A a)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{   ....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f(b);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92500" y="3213100"/>
            <a:ext cx="17637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A  f()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{   A a;  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    return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f();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795963" y="3357563"/>
            <a:ext cx="25669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A(</a:t>
            </a:r>
            <a:r>
              <a:rPr lang="en-US" altLang="zh-CN" sz="2400" i="1">
                <a:solidFill>
                  <a:srgbClr val="006600"/>
                </a:solidFill>
              </a:rPr>
              <a:t>const</a:t>
            </a:r>
            <a:r>
              <a:rPr lang="en-US" altLang="zh-CN" sz="2400"/>
              <a:t> A&amp; a);</a:t>
            </a:r>
            <a:endParaRPr lang="zh-CN" altLang="en-US" sz="24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547813" y="5581650"/>
            <a:ext cx="53165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默认拷贝构造函数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/>
              <a:t>逐个成员初始化</a:t>
            </a:r>
            <a:r>
              <a:rPr lang="en-US" altLang="zh-CN" sz="2000"/>
              <a:t>(member-wise initialization)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/>
              <a:t>对于对象成员，该定义是递归的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E2F0F61-BD11-67FD-BD0F-2DFB0D4A117E}"/>
              </a:ext>
            </a:extLst>
          </p:cNvPr>
          <p:cNvSpPr txBox="1">
            <a:spLocks noChangeArrowheads="1"/>
          </p:cNvSpPr>
          <p:nvPr/>
        </p:nvSpPr>
        <p:spPr bwMode="auto">
          <a:xfrm rot="20532951">
            <a:off x="7768001" y="3322596"/>
            <a:ext cx="1237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=delete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拷贝构造函数</a:t>
            </a: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3000" y="2414588"/>
            <a:ext cx="3733800" cy="35861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class string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{   char *p;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	string(char *str)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{  p = new char[strlen(str)+1];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   strcpy(p, str);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    ~string() { delete[] p;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string  s1(</a:t>
            </a:r>
            <a:r>
              <a:rPr lang="en-GB" altLang="zh-CN" sz="1600" i="1">
                <a:latin typeface="Times New Roman" panose="02020603050405020304" pitchFamily="18" charset="0"/>
              </a:rPr>
              <a:t>“</a:t>
            </a:r>
            <a:r>
              <a:rPr lang="en-GB" altLang="zh-CN" sz="1600" i="1"/>
              <a:t>abcd</a:t>
            </a:r>
            <a:r>
              <a:rPr lang="en-GB" altLang="zh-CN" sz="1600" i="1">
                <a:latin typeface="Times New Roman" panose="02020603050405020304" pitchFamily="18" charset="0"/>
              </a:rPr>
              <a:t>”</a:t>
            </a:r>
            <a:r>
              <a:rPr lang="en-GB" altLang="zh-CN" sz="1600" i="1"/>
              <a:t>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/>
              <a:t>string  s2=s1;</a:t>
            </a:r>
            <a:endParaRPr lang="en-US" altLang="zh-CN" sz="160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638800" y="2962275"/>
            <a:ext cx="533400" cy="223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8919" name="Rectangle 8"/>
          <p:cNvSpPr>
            <a:spLocks noChangeArrowheads="1"/>
          </p:cNvSpPr>
          <p:nvPr/>
        </p:nvSpPr>
        <p:spPr bwMode="auto">
          <a:xfrm>
            <a:off x="8229600" y="2890838"/>
            <a:ext cx="533400" cy="2238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6858000" y="3643313"/>
            <a:ext cx="668338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6000750" y="3105150"/>
            <a:ext cx="85725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 flipH="1">
            <a:off x="7543800" y="3033713"/>
            <a:ext cx="814388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/>
          <p:cNvSpPr txBox="1">
            <a:spLocks noChangeArrowheads="1"/>
          </p:cNvSpPr>
          <p:nvPr/>
        </p:nvSpPr>
        <p:spPr bwMode="auto">
          <a:xfrm>
            <a:off x="5667375" y="2928938"/>
            <a:ext cx="261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8926" name="Text Box 15"/>
          <p:cNvSpPr txBox="1">
            <a:spLocks noChangeArrowheads="1"/>
          </p:cNvSpPr>
          <p:nvPr/>
        </p:nvSpPr>
        <p:spPr bwMode="auto">
          <a:xfrm>
            <a:off x="8382000" y="2867025"/>
            <a:ext cx="261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8927" name="Text Box 16"/>
          <p:cNvSpPr txBox="1">
            <a:spLocks noChangeArrowheads="1"/>
          </p:cNvSpPr>
          <p:nvPr/>
        </p:nvSpPr>
        <p:spPr bwMode="auto">
          <a:xfrm>
            <a:off x="5643563" y="2533650"/>
            <a:ext cx="395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en-US" altLang="zh-CN" sz="1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928" name="Text Box 17"/>
          <p:cNvSpPr txBox="1">
            <a:spLocks noChangeArrowheads="1"/>
          </p:cNvSpPr>
          <p:nvPr/>
        </p:nvSpPr>
        <p:spPr bwMode="auto">
          <a:xfrm>
            <a:off x="8286750" y="2500313"/>
            <a:ext cx="39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en-US" altLang="zh-CN" sz="1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4162" name="Text Box 18"/>
          <p:cNvSpPr txBox="1">
            <a:spLocks noChangeArrowheads="1"/>
          </p:cNvSpPr>
          <p:nvPr/>
        </p:nvSpPr>
        <p:spPr bwMode="auto">
          <a:xfrm>
            <a:off x="5334000" y="4572000"/>
            <a:ext cx="3309938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string::string(const string&amp; 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{   p = new char[strlen(s.p)+1];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    strcpy(p,  s.p);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>
                <a:latin typeface="Times New Roman" panose="02020603050405020304" pitchFamily="18" charset="0"/>
              </a:rPr>
              <a:t>}		    </a:t>
            </a:r>
            <a:r>
              <a:rPr lang="en-GB" altLang="zh-CN" sz="1800" b="1" i="1">
                <a:solidFill>
                  <a:srgbClr val="C00000"/>
                </a:solidFill>
                <a:latin typeface="Times New Roman" panose="02020603050405020304" pitchFamily="18" charset="0"/>
              </a:rPr>
              <a:t>deep copy</a:t>
            </a:r>
            <a:endParaRPr lang="zh-CN" altLang="en-US" sz="1800" b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500813" y="252888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CC0000"/>
                </a:solidFill>
              </a:rPr>
              <a:t>悬挂指针</a:t>
            </a:r>
          </a:p>
        </p:txBody>
      </p:sp>
      <p:sp>
        <p:nvSpPr>
          <p:cNvPr id="40974" name="TextBox 18"/>
          <p:cNvSpPr txBox="1">
            <a:spLocks noChangeArrowheads="1"/>
          </p:cNvSpPr>
          <p:nvPr/>
        </p:nvSpPr>
        <p:spPr bwMode="auto">
          <a:xfrm>
            <a:off x="5000625" y="642938"/>
            <a:ext cx="3816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00000"/>
                </a:solidFill>
              </a:rPr>
              <a:t>何时需要</a:t>
            </a:r>
            <a:r>
              <a:rPr lang="en-US" altLang="zh-CN" sz="2400">
                <a:solidFill>
                  <a:srgbClr val="C00000"/>
                </a:solidFill>
              </a:rPr>
              <a:t>copy constructor?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8151813" y="3676650"/>
            <a:ext cx="668337" cy="400050"/>
          </a:xfrm>
          <a:prstGeom prst="rect">
            <a:avLst/>
          </a:prstGeom>
          <a:noFill/>
          <a:ln w="34925">
            <a:solidFill>
              <a:srgbClr val="00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>
            <a:off x="8459788" y="3141663"/>
            <a:ext cx="0" cy="574675"/>
          </a:xfrm>
          <a:prstGeom prst="line">
            <a:avLst/>
          </a:prstGeom>
          <a:noFill/>
          <a:ln w="34925">
            <a:solidFill>
              <a:srgbClr val="0066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1" name="直接箭头连接符 20"/>
          <p:cNvCxnSpPr>
            <a:cxnSpLocks noChangeShapeType="1"/>
            <a:stCxn id="38924" idx="0"/>
            <a:endCxn id="38924" idx="1"/>
          </p:cNvCxnSpPr>
          <p:nvPr/>
        </p:nvCxnSpPr>
        <p:spPr bwMode="auto">
          <a:xfrm flipH="1">
            <a:off x="7543800" y="3033713"/>
            <a:ext cx="814388" cy="609600"/>
          </a:xfrm>
          <a:prstGeom prst="straightConnector1">
            <a:avLst/>
          </a:prstGeom>
          <a:noFill/>
          <a:ln w="47625">
            <a:solidFill>
              <a:schemeClr val="bg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8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/>
      <p:bldP spid="38926" grpId="0"/>
      <p:bldP spid="38927" grpId="0" build="allAtOnce"/>
      <p:bldP spid="38928" grpId="0"/>
      <p:bldP spid="134162" grpId="0" animBg="1" autoUpdateAnimBg="0"/>
      <p:bldP spid="18" grpId="0" build="allAtOnce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</a:p>
        </p:txBody>
      </p:sp>
      <p:sp>
        <p:nvSpPr>
          <p:cNvPr id="41986" name="TextBox 2"/>
          <p:cNvSpPr txBox="1">
            <a:spLocks noChangeArrowheads="1"/>
          </p:cNvSpPr>
          <p:nvPr/>
        </p:nvSpPr>
        <p:spPr bwMode="auto">
          <a:xfrm>
            <a:off x="1042988" y="1963738"/>
            <a:ext cx="305435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{      int x,y;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A() { x = y = 0;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void inc() { x++; y++;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class B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{      int z;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A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B() { z = 0;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B(const B&amp; b) { z = b.z;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       void inc() { z++; a.inc();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 b1;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b1.inc();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2060"/>
                </a:solidFill>
              </a:rPr>
              <a:t>B b2(b1);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95513" y="5661025"/>
            <a:ext cx="2465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//b1.z=b1.a.x=b1.a.y =0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178050" y="5876925"/>
            <a:ext cx="24018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//b1.a.x=b1.a.y=b1.z=1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124075" y="6115050"/>
            <a:ext cx="32623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//b2.z=1</a:t>
            </a:r>
            <a:r>
              <a:rPr lang="zh-CN" altLang="en-US" sz="1600" i="1">
                <a:solidFill>
                  <a:srgbClr val="006600"/>
                </a:solidFill>
              </a:rPr>
              <a:t>，</a:t>
            </a:r>
            <a:r>
              <a:rPr lang="en-US" altLang="zh-CN" sz="1600" b="1" i="1">
                <a:solidFill>
                  <a:srgbClr val="0070C0"/>
                </a:solidFill>
              </a:rPr>
              <a:t>b2.a.x=0</a:t>
            </a:r>
            <a:r>
              <a:rPr lang="zh-CN" altLang="en-US" sz="1600" b="1" i="1">
                <a:solidFill>
                  <a:srgbClr val="0070C0"/>
                </a:solidFill>
              </a:rPr>
              <a:t>，</a:t>
            </a:r>
            <a:r>
              <a:rPr lang="en-US" altLang="zh-CN" sz="1600" b="1" i="1">
                <a:solidFill>
                  <a:srgbClr val="0070C0"/>
                </a:solidFill>
              </a:rPr>
              <a:t>b2.a.y=0</a:t>
            </a:r>
            <a:endParaRPr lang="zh-CN" altLang="en-US" sz="1600" b="1" i="1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822575" y="4652963"/>
            <a:ext cx="1965325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C0000"/>
                </a:solidFill>
              </a:rPr>
              <a:t>: a(b.a) </a:t>
            </a:r>
            <a:r>
              <a:rPr lang="en-US" altLang="zh-CN" sz="1600" i="1">
                <a:solidFill>
                  <a:srgbClr val="002060"/>
                </a:solidFill>
              </a:rPr>
              <a:t>{ z = b.z; }</a:t>
            </a:r>
            <a:endParaRPr lang="zh-CN" altLang="en-US" sz="1600" i="1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435600" y="188913"/>
            <a:ext cx="338455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包含成员对象的类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</a:rPr>
              <a:t>默认拷贝构造函数</a:t>
            </a:r>
            <a:endParaRPr lang="en-US" altLang="zh-CN" sz="2400" b="1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调用成员对象的</a:t>
            </a: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拷贝构造函数</a:t>
            </a:r>
            <a:endParaRPr lang="en-US" altLang="zh-CN" sz="2400" b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</a:rPr>
              <a:t>自定义拷贝构造函数</a:t>
            </a:r>
            <a:r>
              <a:rPr lang="zh-CN" altLang="en-US" sz="2400">
                <a:latin typeface="宋体" panose="02010600030101010101" pitchFamily="2" charset="-122"/>
              </a:rPr>
              <a:t>调用成员对象的</a:t>
            </a:r>
            <a:r>
              <a:rPr lang="zh-CN" altLang="en-US" sz="2400" b="1">
                <a:solidFill>
                  <a:srgbClr val="002060"/>
                </a:solidFill>
                <a:latin typeface="宋体" panose="02010600030101010101" pitchFamily="2" charset="-122"/>
              </a:rPr>
              <a:t>默认构造函数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 rot="-540948">
            <a:off x="6726238" y="5407025"/>
            <a:ext cx="215265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2060"/>
                </a:solidFill>
              </a:rPr>
              <a:t>移动构造函数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move constructor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A(A&amp;&amp;)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805269">
            <a:off x="6372225" y="3586163"/>
            <a:ext cx="2357438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string generate()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{    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     return string("test");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2060"/>
                </a:solidFill>
              </a:rPr>
              <a:t>string S=generate();</a:t>
            </a:r>
            <a:endParaRPr lang="zh-CN" altLang="en-US" sz="160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  <p:bldP spid="7" grpId="0" build="allAtOnce" animBg="1"/>
      <p:bldP spid="8" grpId="0" build="allAtOnce"/>
      <p:bldP spid="9" grpId="0" build="allAtOnce"/>
      <p:bldP spid="11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1" y="1992418"/>
            <a:ext cx="7416817" cy="2922910"/>
          </a:xfrm>
        </p:spPr>
        <p:txBody>
          <a:bodyPr/>
          <a:lstStyle/>
          <a:p>
            <a:r>
              <a:rPr lang="en" altLang="zh-CN" b="1" dirty="0"/>
              <a:t>L </a:t>
            </a:r>
            <a:r>
              <a:rPr lang="zh-CN" altLang="en-US" b="1" dirty="0"/>
              <a:t>值（</a:t>
            </a:r>
            <a:r>
              <a:rPr lang="en" altLang="zh-CN" b="1" dirty="0"/>
              <a:t>l-values</a:t>
            </a:r>
            <a:r>
              <a:rPr lang="zh-CN" altLang="en" b="1" dirty="0"/>
              <a:t>）</a:t>
            </a:r>
            <a:r>
              <a:rPr lang="zh-CN" altLang="en" dirty="0"/>
              <a:t>：</a:t>
            </a:r>
            <a:r>
              <a:rPr lang="zh-CN" altLang="en-US" dirty="0"/>
              <a:t>可由正在运行的程序</a:t>
            </a:r>
            <a:r>
              <a:rPr lang="zh-CN" altLang="en-US" b="1" dirty="0"/>
              <a:t>通过代码访问其存储地址</a:t>
            </a:r>
            <a:r>
              <a:rPr lang="zh-CN" altLang="en-US" dirty="0"/>
              <a:t>的对象。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2203649" y="3691091"/>
            <a:ext cx="1736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 = </a:t>
            </a:r>
            <a:r>
              <a:rPr lang="en-US" altLang="zh-CN" sz="2800" u="sng" dirty="0"/>
              <a:t>1 + 2</a:t>
            </a:r>
            <a:endParaRPr lang="zh-CN" altLang="en-US" sz="2800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1915617" y="4449575"/>
            <a:ext cx="85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l-value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23729" y="4449575"/>
            <a:ext cx="87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r-value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17430" y="3433912"/>
            <a:ext cx="1513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A{};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A </a:t>
            </a:r>
            <a:r>
              <a:rPr lang="en-US" altLang="zh-CN" dirty="0" err="1"/>
              <a:t>a</a:t>
            </a:r>
            <a:r>
              <a:rPr lang="en-US" altLang="zh-CN" dirty="0"/>
              <a:t> = </a:t>
            </a:r>
            <a:r>
              <a:rPr lang="en-US" altLang="zh-CN" u="sng" dirty="0"/>
              <a:t>A()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96136" y="4915328"/>
            <a:ext cx="87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r-value</a:t>
            </a:r>
            <a:endParaRPr lang="zh-CN" altLang="en-US" dirty="0"/>
          </a:p>
        </p:txBody>
      </p:sp>
      <p:cxnSp>
        <p:nvCxnSpPr>
          <p:cNvPr id="11" name="直接箭头连接符 10"/>
          <p:cNvCxnSpPr>
            <a:stCxn id="5" idx="0"/>
          </p:cNvCxnSpPr>
          <p:nvPr/>
        </p:nvCxnSpPr>
        <p:spPr bwMode="auto">
          <a:xfrm flipH="1" flipV="1">
            <a:off x="2341759" y="4214311"/>
            <a:ext cx="1" cy="2352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</p:cNvCxnSpPr>
          <p:nvPr/>
        </p:nvCxnSpPr>
        <p:spPr bwMode="auto">
          <a:xfrm flipH="1" flipV="1">
            <a:off x="3363689" y="4214311"/>
            <a:ext cx="1" cy="2352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0"/>
          </p:cNvCxnSpPr>
          <p:nvPr/>
        </p:nvCxnSpPr>
        <p:spPr bwMode="auto">
          <a:xfrm flipV="1">
            <a:off x="6236097" y="4331944"/>
            <a:ext cx="1" cy="58338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292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932275"/>
            <a:ext cx="7211144" cy="2922910"/>
          </a:xfrm>
        </p:spPr>
        <p:txBody>
          <a:bodyPr/>
          <a:lstStyle/>
          <a:p>
            <a:r>
              <a:rPr lang="zh-CN" altLang="en-US" dirty="0"/>
              <a:t>在 </a:t>
            </a:r>
            <a:r>
              <a:rPr lang="en" altLang="zh-CN" dirty="0"/>
              <a:t>C++ </a:t>
            </a:r>
            <a:r>
              <a:rPr lang="zh-CN" altLang="en-US" dirty="0"/>
              <a:t>中，</a:t>
            </a:r>
            <a:r>
              <a:rPr lang="zh-CN" altLang="en-US" b="1" dirty="0"/>
              <a:t>非常量引用</a:t>
            </a:r>
            <a:r>
              <a:rPr lang="zh-CN" altLang="en-US" dirty="0"/>
              <a:t>可以绑定到左值，</a:t>
            </a:r>
            <a:r>
              <a:rPr lang="zh-CN" altLang="en-US" b="1" dirty="0"/>
              <a:t>常量引用</a:t>
            </a:r>
            <a:r>
              <a:rPr lang="zh-CN" altLang="en-US" dirty="0"/>
              <a:t>可以绑定到左值或右值。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664" y="4639160"/>
            <a:ext cx="156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A{};</a:t>
            </a:r>
          </a:p>
          <a:p>
            <a:r>
              <a:rPr lang="en-US" altLang="zh-CN" dirty="0"/>
              <a:t>A </a:t>
            </a:r>
            <a:r>
              <a:rPr lang="en-US" altLang="zh-CN" dirty="0" err="1"/>
              <a:t>getA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    return A();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3928" y="4482986"/>
            <a:ext cx="33089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 1;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&amp;</a:t>
            </a:r>
            <a:r>
              <a:rPr lang="en-US" altLang="zh-CN" dirty="0" err="1"/>
              <a:t>ra</a:t>
            </a:r>
            <a:r>
              <a:rPr lang="en-US" altLang="zh-CN" dirty="0"/>
              <a:t> = a; //OK</a:t>
            </a:r>
          </a:p>
          <a:p>
            <a:r>
              <a:rPr lang="en-US" altLang="zh-CN" dirty="0"/>
              <a:t>    const A &amp;ca = </a:t>
            </a:r>
            <a:r>
              <a:rPr lang="en-US" altLang="zh-CN" dirty="0" err="1"/>
              <a:t>getA</a:t>
            </a:r>
            <a:r>
              <a:rPr lang="en-US" altLang="zh-CN" dirty="0"/>
              <a:t>();//OK</a:t>
            </a:r>
          </a:p>
          <a:p>
            <a:r>
              <a:rPr lang="en-US" altLang="zh-CN" dirty="0"/>
              <a:t>    A &amp;</a:t>
            </a:r>
            <a:r>
              <a:rPr lang="en-US" altLang="zh-CN" dirty="0" err="1"/>
              <a:t>aa</a:t>
            </a:r>
            <a:r>
              <a:rPr lang="en-US" altLang="zh-CN" dirty="0"/>
              <a:t> = </a:t>
            </a:r>
            <a:r>
              <a:rPr lang="en-US" altLang="zh-CN" dirty="0" err="1"/>
              <a:t>getA</a:t>
            </a:r>
            <a:r>
              <a:rPr lang="en-US" altLang="zh-CN" dirty="0"/>
              <a:t>();//</a:t>
            </a:r>
            <a:r>
              <a:rPr lang="en-US" altLang="zh-CN" dirty="0">
                <a:solidFill>
                  <a:srgbClr val="FF0000"/>
                </a:solidFill>
              </a:rPr>
              <a:t>ERROR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1858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zh-CN" altLang="en-US" b="1" dirty="0"/>
              <a:t>右值引用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881208"/>
            <a:ext cx="7211144" cy="2922910"/>
          </a:xfrm>
        </p:spPr>
        <p:txBody>
          <a:bodyPr/>
          <a:lstStyle/>
          <a:p>
            <a:r>
              <a:rPr lang="zh-CN" altLang="en-US" dirty="0"/>
              <a:t>右值引用可以绑定到右值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632" y="3435965"/>
            <a:ext cx="237321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A{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void </a:t>
            </a:r>
            <a:r>
              <a:rPr lang="en-US" altLang="zh-CN" dirty="0" err="1"/>
              <a:t>setVal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v) 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val</a:t>
            </a:r>
            <a:r>
              <a:rPr lang="en-US" altLang="zh-CN" dirty="0"/>
              <a:t> = v;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A </a:t>
            </a:r>
            <a:r>
              <a:rPr lang="en-US" altLang="zh-CN" dirty="0" err="1"/>
              <a:t>getA</a:t>
            </a:r>
            <a:r>
              <a:rPr lang="en-US" altLang="zh-CN" dirty="0"/>
              <a:t>(){</a:t>
            </a:r>
          </a:p>
          <a:p>
            <a:r>
              <a:rPr lang="en-US" altLang="zh-CN" dirty="0"/>
              <a:t>    return A();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7498" y="3574464"/>
            <a:ext cx="33883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 1;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&amp;</a:t>
            </a:r>
            <a:r>
              <a:rPr lang="en-US" altLang="zh-CN" dirty="0" err="1"/>
              <a:t>ra</a:t>
            </a:r>
            <a:r>
              <a:rPr lang="en-US" altLang="zh-CN" dirty="0"/>
              <a:t> = a; //OK</a:t>
            </a:r>
          </a:p>
          <a:p>
            <a:r>
              <a:rPr lang="en-US" altLang="zh-CN" dirty="0"/>
              <a:t>    const A &amp;</a:t>
            </a:r>
            <a:r>
              <a:rPr lang="en-US" altLang="zh-CN" dirty="0" err="1"/>
              <a:t>cra</a:t>
            </a:r>
            <a:r>
              <a:rPr lang="en-US" altLang="zh-CN" dirty="0"/>
              <a:t> = </a:t>
            </a:r>
            <a:r>
              <a:rPr lang="en-US" altLang="zh-CN" dirty="0" err="1"/>
              <a:t>getA</a:t>
            </a:r>
            <a:r>
              <a:rPr lang="en-US" altLang="zh-CN" dirty="0"/>
              <a:t>();//OK</a:t>
            </a:r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A &amp;&amp;</a:t>
            </a:r>
            <a:r>
              <a:rPr lang="en-US" altLang="zh-CN" dirty="0" err="1">
                <a:solidFill>
                  <a:srgbClr val="FF0000"/>
                </a:solidFill>
              </a:rPr>
              <a:t>aa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getA</a:t>
            </a:r>
            <a:r>
              <a:rPr lang="en-US" altLang="zh-CN" dirty="0">
                <a:solidFill>
                  <a:srgbClr val="FF0000"/>
                </a:solidFill>
              </a:rPr>
              <a:t>();//OK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aa.setVal</a:t>
            </a:r>
            <a:r>
              <a:rPr lang="en-US" altLang="zh-CN" dirty="0">
                <a:solidFill>
                  <a:srgbClr val="FF0000"/>
                </a:solidFill>
              </a:rPr>
              <a:t>(2);//OK</a:t>
            </a:r>
          </a:p>
          <a:p>
            <a:r>
              <a:rPr lang="en-US" altLang="zh-CN" dirty="0"/>
              <a:t>    //…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43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49" y="0"/>
            <a:ext cx="4248472" cy="656120"/>
          </a:xfrm>
        </p:spPr>
        <p:txBody>
          <a:bodyPr/>
          <a:lstStyle/>
          <a:p>
            <a:r>
              <a:rPr lang="en-US" altLang="zh-CN" dirty="0"/>
              <a:t>Move constructor.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560" y="83892"/>
            <a:ext cx="40324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size;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():size(0),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(NULL){}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//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array here…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i = 0; i &lt; size; i++) {	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~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delete[]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3008" y="973903"/>
            <a:ext cx="46190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aw(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other.get_size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//Do some change to aw.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return aw;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312988" y="980727"/>
            <a:ext cx="36004" cy="540060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3920" y="4509120"/>
            <a:ext cx="39240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8224" y="2780928"/>
            <a:ext cx="201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1040" y="3707740"/>
            <a:ext cx="41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myArr2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040" y="3707740"/>
            <a:ext cx="447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&amp;&amp;myArr2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4048" y="4869160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2502" y="3707740"/>
            <a:ext cx="41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2240" y="4149080"/>
            <a:ext cx="1951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copy 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move constructor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16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1" grpId="0"/>
      <p:bldP spid="11" grpId="1"/>
      <p:bldP spid="12" grpId="0"/>
      <p:bldP spid="12" grpId="1"/>
      <p:bldP spid="13" grpId="0"/>
      <p:bldP spid="14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49" y="0"/>
            <a:ext cx="4248472" cy="656120"/>
          </a:xfrm>
        </p:spPr>
        <p:txBody>
          <a:bodyPr/>
          <a:lstStyle/>
          <a:p>
            <a:r>
              <a:rPr lang="en-US" altLang="zh-CN" dirty="0"/>
              <a:t>Move assignment.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560" y="15664"/>
            <a:ext cx="40324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&amp;operator=(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if (this == &amp;other)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    return *this;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if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 {			delete[]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		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memcpy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size * 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sizeof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return *this;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&amp;operator=(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ArrayWrapper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&amp;&amp;other)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return *this;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008" y="973903"/>
            <a:ext cx="23803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463988" y="980727"/>
            <a:ext cx="36004" cy="540060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73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移动构造函数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 rot="-540948">
            <a:off x="5137112" y="2550502"/>
            <a:ext cx="21659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002060"/>
                </a:solidFill>
              </a:rPr>
              <a:t>prvalue</a:t>
            </a:r>
            <a:endParaRPr lang="en-US" altLang="zh-CN" sz="1800" dirty="0">
              <a:solidFill>
                <a:srgbClr val="0066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53989" y="1844824"/>
            <a:ext cx="356739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string generate()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{    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     return string("test");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string S=generate();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9B96D8C-7ACC-6E41-BBCC-79A0B405D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809" y="4350122"/>
            <a:ext cx="356739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int x=5;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int &amp; y=x;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const int &amp; z=5;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4EFC45-28F9-DC4E-A03A-B0616D86EBC3}"/>
              </a:ext>
            </a:extLst>
          </p:cNvPr>
          <p:cNvSpPr/>
          <p:nvPr/>
        </p:nvSpPr>
        <p:spPr>
          <a:xfrm>
            <a:off x="4355976" y="4303955"/>
            <a:ext cx="5760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string::string (String &amp;&amp;s):p(</a:t>
            </a:r>
            <a:r>
              <a:rPr lang="en-US" altLang="zh-CN" sz="2000" dirty="0" err="1">
                <a:solidFill>
                  <a:srgbClr val="002060"/>
                </a:solidFill>
              </a:rPr>
              <a:t>s.p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 err="1">
                <a:solidFill>
                  <a:srgbClr val="002060"/>
                </a:solidFill>
              </a:rPr>
              <a:t>s.p</a:t>
            </a:r>
            <a:r>
              <a:rPr lang="en-US" altLang="zh-CN" sz="2000" dirty="0">
                <a:solidFill>
                  <a:srgbClr val="002060"/>
                </a:solidFill>
              </a:rPr>
              <a:t>=</a:t>
            </a:r>
            <a:r>
              <a:rPr lang="en-US" altLang="zh-CN" sz="2000" dirty="0" err="1">
                <a:solidFill>
                  <a:srgbClr val="002060"/>
                </a:solidFill>
              </a:rPr>
              <a:t>nullptr</a:t>
            </a:r>
            <a:r>
              <a:rPr lang="en-US" altLang="zh-CN" sz="2000" dirty="0">
                <a:solidFill>
                  <a:srgbClr val="002060"/>
                </a:solidFill>
              </a:rPr>
              <a:t>; }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DC9648F5-CF73-B6DF-9EC1-8AEA75B2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8" y="5719728"/>
            <a:ext cx="6918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70C0"/>
                </a:solidFill>
              </a:rPr>
              <a:t>void process (int &amp;&amp; r){}   void handle (int &amp;&amp; 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 {process (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);}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4CD21BAF-BBBC-E873-D328-5F0C2123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163" y="5658023"/>
            <a:ext cx="393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X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744E74FE-6437-B84F-2BC9-77A8CE615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003" y="5719727"/>
            <a:ext cx="19364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70C0"/>
                </a:solidFill>
              </a:rPr>
              <a:t>std::move(</a:t>
            </a:r>
            <a:r>
              <a:rPr lang="en-US" altLang="zh-CN" sz="1600" i="1" dirty="0" err="1">
                <a:solidFill>
                  <a:srgbClr val="0070C0"/>
                </a:solidFill>
              </a:rPr>
              <a:t>rvalue</a:t>
            </a:r>
            <a:r>
              <a:rPr lang="en-US" altLang="zh-CN" sz="1600" i="1" dirty="0">
                <a:solidFill>
                  <a:srgbClr val="0070C0"/>
                </a:solidFill>
              </a:rPr>
              <a:t>);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1CD3130-D60C-D1E8-16A8-C492167135E1}"/>
              </a:ext>
            </a:extLst>
          </p:cNvPr>
          <p:cNvSpPr txBox="1">
            <a:spLocks noChangeArrowheads="1"/>
          </p:cNvSpPr>
          <p:nvPr/>
        </p:nvSpPr>
        <p:spPr bwMode="auto">
          <a:xfrm rot="-540948">
            <a:off x="5137113" y="3196685"/>
            <a:ext cx="21659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002060"/>
                </a:solidFill>
              </a:rPr>
              <a:t>xvalue</a:t>
            </a:r>
            <a:endParaRPr lang="en-US" altLang="zh-CN" sz="1800" dirty="0">
              <a:solidFill>
                <a:srgbClr val="0066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4FD43D-8460-3BDC-018F-1A94A1FBDBD2}"/>
              </a:ext>
            </a:extLst>
          </p:cNvPr>
          <p:cNvSpPr txBox="1"/>
          <p:nvPr/>
        </p:nvSpPr>
        <p:spPr>
          <a:xfrm>
            <a:off x="3841015" y="5053759"/>
            <a:ext cx="5199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const string&amp; name = generate(); // ok  </a:t>
            </a:r>
            <a:br>
              <a:rPr lang="en-US" altLang="en-US" sz="1800" dirty="0"/>
            </a:br>
            <a:r>
              <a:rPr lang="en-US" altLang="en-US" sz="1800" dirty="0"/>
              <a:t>string&amp;&amp; name = generate(); // also ok 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50022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" grpId="0"/>
      <p:bldP spid="3" grpId="0" build="allAtOnce"/>
      <p:bldP spid="4" grpId="0" build="allAtOnce"/>
      <p:bldP spid="5" grpId="0" build="allAtOnce"/>
      <p:bldP spid="6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动态内存</a:t>
            </a:r>
          </a:p>
        </p:txBody>
      </p:sp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Types of memory from Operating System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Stack – local variables and pass-by-value parameters are allocated here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Heap – dynamic memory is allocated here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C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malloc() – memory allocation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free() – free memory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C++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new – create space for a new object (allocate)</a:t>
            </a:r>
          </a:p>
          <a:p>
            <a:pPr lvl="1">
              <a:lnSpc>
                <a:spcPct val="90000"/>
              </a:lnSpc>
            </a:pPr>
            <a:r>
              <a:rPr lang="en-US" altLang="zh-CN" sz="2400"/>
              <a:t>delete – delete this object (free)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动态对象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宋体" panose="02010600030101010101" pitchFamily="2" charset="-122"/>
              </a:rPr>
              <a:t>动态对象</a:t>
            </a:r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在</a:t>
            </a:r>
            <a:r>
              <a:rPr lang="en-US" altLang="zh-CN" sz="2000" i="1"/>
              <a:t>h</a:t>
            </a:r>
            <a:r>
              <a:rPr lang="en-GB" altLang="zh-CN" sz="2000" i="1"/>
              <a:t>eap </a:t>
            </a:r>
            <a:r>
              <a:rPr lang="en-GB" altLang="en-US" sz="2000">
                <a:latin typeface="宋体" panose="02010600030101010101" pitchFamily="2" charset="-122"/>
              </a:rPr>
              <a:t>中创建</a:t>
            </a:r>
          </a:p>
          <a:p>
            <a:pPr lvl="1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1" eaLnBrk="1" hangingPunct="1"/>
            <a:r>
              <a:rPr lang="en-GB" altLang="zh-CN" sz="2000" i="1">
                <a:solidFill>
                  <a:srgbClr val="006600"/>
                </a:solidFill>
              </a:rPr>
              <a:t>new </a:t>
            </a:r>
            <a:r>
              <a:rPr lang="en-GB" altLang="en-US" sz="2000">
                <a:latin typeface="宋体" panose="02010600030101010101" pitchFamily="2" charset="-122"/>
              </a:rPr>
              <a:t>/</a:t>
            </a:r>
            <a:r>
              <a:rPr lang="en-GB" altLang="zh-CN" sz="2000" i="1">
                <a:solidFill>
                  <a:srgbClr val="006600"/>
                </a:solidFill>
              </a:rPr>
              <a:t>delete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38916" name="TextBox 3"/>
          <p:cNvSpPr txBox="1">
            <a:spLocks noChangeArrowheads="1"/>
          </p:cNvSpPr>
          <p:nvPr/>
        </p:nvSpPr>
        <p:spPr bwMode="auto">
          <a:xfrm>
            <a:off x="1835150" y="4365625"/>
            <a:ext cx="4960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C0000"/>
                </a:solidFill>
              </a:rPr>
              <a:t>为什么要引入</a:t>
            </a:r>
            <a:r>
              <a:rPr lang="en-US" altLang="zh-CN" sz="2400">
                <a:solidFill>
                  <a:srgbClr val="CC0000"/>
                </a:solidFill>
              </a:rPr>
              <a:t>new</a:t>
            </a:r>
            <a:r>
              <a:rPr lang="zh-CN" altLang="en-US" sz="2400">
                <a:solidFill>
                  <a:srgbClr val="CC0000"/>
                </a:solidFill>
              </a:rPr>
              <a:t>、</a:t>
            </a:r>
            <a:r>
              <a:rPr lang="en-US" altLang="zh-CN" sz="2400">
                <a:solidFill>
                  <a:srgbClr val="CC0000"/>
                </a:solidFill>
              </a:rPr>
              <a:t>delete</a:t>
            </a:r>
            <a:r>
              <a:rPr lang="zh-CN" altLang="en-US" sz="2400">
                <a:solidFill>
                  <a:srgbClr val="CC0000"/>
                </a:solidFill>
              </a:rPr>
              <a:t>操作符？</a:t>
            </a:r>
            <a:endParaRPr lang="en-US" altLang="zh-CN" sz="2400">
              <a:solidFill>
                <a:srgbClr val="CC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916113" y="4722813"/>
            <a:ext cx="3205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</a:rPr>
              <a:t>constructor/destructor</a:t>
            </a:r>
            <a:endParaRPr lang="zh-CN" altLang="en-US" sz="24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allAtOnce"/>
      <p:bldP spid="5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动态对象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A *p,*q;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p = new A;     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zh-CN" sz="1600" i="1"/>
              <a:t> </a:t>
            </a:r>
            <a:r>
              <a:rPr lang="zh-CN" altLang="en-GB" sz="1600" i="1"/>
              <a:t>在</a:t>
            </a:r>
            <a:r>
              <a:rPr lang="en-US" altLang="en-GB" sz="1600" i="1"/>
              <a:t>程序的heap中申请一块大小为</a:t>
            </a:r>
            <a:r>
              <a:rPr lang="en-GB" altLang="zh-CN" sz="1600" i="1"/>
              <a:t>sizeof(A)</a:t>
            </a:r>
            <a:r>
              <a:rPr lang="en-GB" altLang="en-US" sz="1600" i="1"/>
              <a:t>的</a:t>
            </a:r>
            <a:r>
              <a:rPr lang="zh-CN" altLang="en-US" sz="1800" i="1"/>
              <a:t>内存</a:t>
            </a:r>
            <a:endParaRPr lang="en-GB" altLang="en-US" sz="1800" i="1"/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i="1"/>
              <a:t>调用</a:t>
            </a:r>
            <a:r>
              <a:rPr lang="en-GB" altLang="zh-CN" sz="1600" i="1"/>
              <a:t>A</a:t>
            </a:r>
            <a:r>
              <a:rPr lang="en-GB" altLang="en-US" sz="1600" i="1"/>
              <a:t>的默认构造函数对该空间上的对象初始化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i="1"/>
              <a:t>返回创建的对象的地址并赋值给</a:t>
            </a:r>
            <a:r>
              <a:rPr lang="en-GB" altLang="zh-CN" sz="1600" i="1"/>
              <a:t>p</a:t>
            </a:r>
          </a:p>
          <a:p>
            <a:pPr lvl="3" eaLnBrk="1" hangingPunct="1">
              <a:lnSpc>
                <a:spcPct val="90000"/>
              </a:lnSpc>
            </a:pPr>
            <a:endParaRPr lang="en-GB" altLang="zh-CN" sz="1600" i="1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q = new A(1);   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GB" sz="1600" i="1">
                <a:latin typeface="Times New Roman" panose="02020603050405020304" pitchFamily="18" charset="0"/>
              </a:rPr>
              <a:t>……</a:t>
            </a:r>
            <a:r>
              <a:rPr lang="zh-CN" altLang="en-GB" sz="1600" i="1"/>
              <a:t>	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i="1"/>
              <a:t>调用</a:t>
            </a:r>
            <a:r>
              <a:rPr lang="en-GB" altLang="zh-CN" sz="1600" i="1"/>
              <a:t>A</a:t>
            </a:r>
            <a:r>
              <a:rPr lang="en-GB" altLang="en-US" sz="1600" i="1"/>
              <a:t>的另一个构造函数 </a:t>
            </a:r>
            <a:r>
              <a:rPr lang="en-GB" altLang="zh-CN" sz="1600" i="1"/>
              <a:t>A::A(int)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GB" sz="1600" i="1">
                <a:latin typeface="Times New Roman" panose="02020603050405020304" pitchFamily="18" charset="0"/>
              </a:rPr>
              <a:t>……</a:t>
            </a:r>
            <a:endParaRPr lang="zh-CN" altLang="en-GB" sz="1600" i="1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800" i="1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delete  p; 	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i="1"/>
              <a:t>调用</a:t>
            </a:r>
            <a:r>
              <a:rPr lang="en-GB" altLang="zh-CN" sz="1600" i="1"/>
              <a:t>p</a:t>
            </a:r>
            <a:r>
              <a:rPr lang="en-GB" altLang="en-US" sz="1600" i="1"/>
              <a:t>所指向的对象的析构函数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i="1"/>
              <a:t>释放对象空间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delete q;	</a:t>
            </a:r>
            <a:endParaRPr lang="zh-CN" altLang="en-US" sz="1800" i="1"/>
          </a:p>
        </p:txBody>
      </p:sp>
      <p:sp>
        <p:nvSpPr>
          <p:cNvPr id="46083" name="TextBox 3"/>
          <p:cNvSpPr txBox="1">
            <a:spLocks noChangeArrowheads="1"/>
          </p:cNvSpPr>
          <p:nvPr/>
        </p:nvSpPr>
        <p:spPr bwMode="auto">
          <a:xfrm>
            <a:off x="4356100" y="260350"/>
            <a:ext cx="30702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class A</a:t>
            </a:r>
          </a:p>
          <a:p>
            <a:pPr lvl="2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  <a:latin typeface="Arial Unicode MS" pitchFamily="34" charset="-128"/>
                <a:ea typeface="Arial Unicode MS" pitchFamily="34" charset="-128"/>
              </a:rPr>
              <a:t>{ </a:t>
            </a: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 </a:t>
            </a:r>
            <a:r>
              <a:rPr lang="en-GB" altLang="zh-CN" sz="1800" b="1" i="1">
                <a:solidFill>
                  <a:srgbClr val="002060"/>
                </a:solidFill>
                <a:latin typeface="Times New Roman" panose="02020603050405020304" pitchFamily="18" charset="0"/>
              </a:rPr>
              <a:t>…</a:t>
            </a:r>
            <a:endParaRPr lang="en-GB" altLang="zh-CN" sz="1800" b="1" i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</a:rPr>
              <a:t>	</a:t>
            </a: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   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	          A();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	          A(int);</a:t>
            </a:r>
          </a:p>
          <a:p>
            <a:pPr lvl="2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b="1" i="1">
                <a:solidFill>
                  <a:srgbClr val="002060"/>
                </a:solidFill>
              </a:rPr>
              <a:t> }</a:t>
            </a:r>
            <a:r>
              <a:rPr lang="en-GB" altLang="zh-CN" sz="1800" b="1" i="1">
                <a:solidFill>
                  <a:srgbClr val="002060"/>
                </a:solidFill>
                <a:latin typeface="宋体" panose="02010600030101010101" pitchFamily="2" charset="-122"/>
              </a:rPr>
              <a:t>;</a:t>
            </a:r>
            <a:endParaRPr lang="zh-CN" altLang="en-US" sz="1800" b="1" i="1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创建对象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new </a:t>
            </a:r>
          </a:p>
          <a:p>
            <a:pPr lvl="1"/>
            <a:r>
              <a:rPr lang="en-US" altLang="zh-CN"/>
              <a:t>Works with primitives</a:t>
            </a:r>
          </a:p>
          <a:p>
            <a:pPr lvl="1"/>
            <a:r>
              <a:rPr lang="en-US" altLang="zh-CN"/>
              <a:t>Works with class-types</a:t>
            </a:r>
          </a:p>
          <a:p>
            <a:r>
              <a:rPr lang="en-US" altLang="zh-CN"/>
              <a:t>Syntax:</a:t>
            </a:r>
          </a:p>
          <a:p>
            <a:pPr lvl="1"/>
            <a:r>
              <a:rPr lang="en-US" altLang="zh-CN" sz="2400" b="1">
                <a:latin typeface="Courier New" panose="02070309020205020404" pitchFamily="49" charset="0"/>
              </a:rPr>
              <a:t>type* ptrName = new type;</a:t>
            </a:r>
          </a:p>
          <a:p>
            <a:pPr lvl="1"/>
            <a:r>
              <a:rPr lang="en-US" altLang="zh-CN" sz="2400" b="1">
                <a:latin typeface="Courier New" panose="02070309020205020404" pitchFamily="49" charset="0"/>
              </a:rPr>
              <a:t>type* ptrName = new type( params );</a:t>
            </a:r>
          </a:p>
        </p:txBody>
      </p:sp>
      <p:sp>
        <p:nvSpPr>
          <p:cNvPr id="106499" name="Line 4"/>
          <p:cNvSpPr>
            <a:spLocks noChangeShapeType="1"/>
          </p:cNvSpPr>
          <p:nvPr/>
        </p:nvSpPr>
        <p:spPr bwMode="auto">
          <a:xfrm flipH="1">
            <a:off x="6156194" y="2819400"/>
            <a:ext cx="1159006" cy="140168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0" name="Text Box 5"/>
          <p:cNvSpPr txBox="1">
            <a:spLocks noChangeArrowheads="1"/>
          </p:cNvSpPr>
          <p:nvPr/>
        </p:nvSpPr>
        <p:spPr bwMode="auto">
          <a:xfrm>
            <a:off x="6712974" y="2419797"/>
            <a:ext cx="2178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</a:rPr>
              <a:t>Constructor!</a:t>
            </a:r>
          </a:p>
        </p:txBody>
      </p:sp>
      <p:sp>
        <p:nvSpPr>
          <p:cNvPr id="106501" name="Line 6"/>
          <p:cNvSpPr>
            <a:spLocks noChangeShapeType="1"/>
          </p:cNvSpPr>
          <p:nvPr/>
        </p:nvSpPr>
        <p:spPr bwMode="auto">
          <a:xfrm flipH="1">
            <a:off x="7315200" y="2819400"/>
            <a:ext cx="0" cy="176172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New Examples</a:t>
            </a:r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49438"/>
            <a:ext cx="8229600" cy="3733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int* intPtr = new int;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Car* carPtr = new Car(“Nissan”, “Pulsar”);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Customer* custPtr = new Customer;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200400" y="2590800"/>
            <a:ext cx="762000" cy="533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048000" y="2224088"/>
            <a:ext cx="1524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int*: intPtr</a:t>
            </a: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3581400" y="28956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4876800" y="2590800"/>
            <a:ext cx="7620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4876800" y="2286000"/>
            <a:ext cx="990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int: </a:t>
            </a:r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3200400" y="4191000"/>
            <a:ext cx="762000" cy="533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2895600" y="3810000"/>
            <a:ext cx="1676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Car*: carPtr</a:t>
            </a:r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 flipV="1">
            <a:off x="3581400" y="4343400"/>
            <a:ext cx="12954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4876800" y="3886200"/>
            <a:ext cx="990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Car:</a:t>
            </a:r>
          </a:p>
        </p:txBody>
      </p: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4876800" y="41910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/>
              <a:t>Nissan</a:t>
            </a: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4724400" y="5715000"/>
            <a:ext cx="762000" cy="533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3810000" y="5334000"/>
            <a:ext cx="2590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Customer*: custPtr</a:t>
            </a:r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 flipV="1">
            <a:off x="5105400" y="5105400"/>
            <a:ext cx="1905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7010400" y="4724400"/>
            <a:ext cx="1524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Customer: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4876800" y="44958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/>
              <a:t>Pulsar</a:t>
            </a:r>
          </a:p>
        </p:txBody>
      </p:sp>
      <p:sp>
        <p:nvSpPr>
          <p:cNvPr id="16414" name="Rectangle 30"/>
          <p:cNvSpPr>
            <a:spLocks noChangeArrowheads="1"/>
          </p:cNvSpPr>
          <p:nvPr/>
        </p:nvSpPr>
        <p:spPr bwMode="auto">
          <a:xfrm>
            <a:off x="7010400" y="50292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7010400" y="53340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08564" name="Text Box 32"/>
          <p:cNvSpPr txBox="1">
            <a:spLocks noChangeArrowheads="1"/>
          </p:cNvSpPr>
          <p:nvPr/>
        </p:nvSpPr>
        <p:spPr bwMode="auto">
          <a:xfrm>
            <a:off x="6629400" y="762000"/>
            <a:ext cx="2209800" cy="3170238"/>
          </a:xfrm>
          <a:prstGeom prst="rect">
            <a:avLst/>
          </a:prstGeom>
          <a:noFill/>
          <a:ln w="19050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hlink"/>
                </a:solidFill>
              </a:rPr>
              <a:t>Notice:</a:t>
            </a:r>
          </a:p>
          <a:p>
            <a:pPr algn="ctr">
              <a:spcBef>
                <a:spcPct val="50000"/>
              </a:spcBef>
            </a:pPr>
            <a:r>
              <a:rPr lang="en-US" altLang="zh-CN" sz="1800">
                <a:solidFill>
                  <a:schemeClr val="hlink"/>
                </a:solidFill>
              </a:rPr>
              <a:t>These are unnamed objects!  The only way we can get to them is through the pointer!</a:t>
            </a:r>
          </a:p>
          <a:p>
            <a:pPr algn="ctr">
              <a:spcBef>
                <a:spcPct val="50000"/>
              </a:spcBef>
            </a:pPr>
            <a:r>
              <a:rPr lang="en-US" altLang="zh-CN" sz="1800">
                <a:solidFill>
                  <a:schemeClr val="hlink"/>
                </a:solidFill>
              </a:rPr>
              <a:t>Pointers are the same size no matter how big the data is!</a:t>
            </a:r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7010400" y="56388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6418" name="Rectangle 34"/>
          <p:cNvSpPr>
            <a:spLocks noChangeArrowheads="1"/>
          </p:cNvSpPr>
          <p:nvPr/>
        </p:nvSpPr>
        <p:spPr bwMode="auto">
          <a:xfrm>
            <a:off x="7010400" y="59436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6419" name="Rectangle 35"/>
          <p:cNvSpPr>
            <a:spLocks noChangeArrowheads="1"/>
          </p:cNvSpPr>
          <p:nvPr/>
        </p:nvSpPr>
        <p:spPr bwMode="auto">
          <a:xfrm>
            <a:off x="7010400" y="6248400"/>
            <a:ext cx="14478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/>
      <p:bldP spid="16397" grpId="0" animBg="1"/>
      <p:bldP spid="16398" grpId="0"/>
      <p:bldP spid="16400" grpId="0" animBg="1"/>
      <p:bldP spid="16401" grpId="0"/>
      <p:bldP spid="16404" grpId="0"/>
      <p:bldP spid="16405" grpId="0" animBg="1"/>
      <p:bldP spid="16406" grpId="0" animBg="1"/>
      <p:bldP spid="16407" grpId="0"/>
      <p:bldP spid="16410" grpId="0"/>
      <p:bldP spid="16413" grpId="0" animBg="1"/>
      <p:bldP spid="16414" grpId="0" animBg="1"/>
      <p:bldP spid="16415" grpId="0" animBg="1"/>
      <p:bldP spid="16417" grpId="0" animBg="1"/>
      <p:bldP spid="16418" grpId="0" animBg="1"/>
      <p:bldP spid="164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动态对象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zh-CN" sz="1800" i="1"/>
              <a:t>p = (A *) malloc (sizeof(A))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    free(p)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    malloc  </a:t>
            </a:r>
            <a:r>
              <a:rPr lang="en-GB" altLang="en-US" sz="2000">
                <a:latin typeface="宋体" panose="02010600030101010101" pitchFamily="2" charset="-122"/>
              </a:rPr>
              <a:t>不调用构造函数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    free     </a:t>
            </a:r>
            <a:r>
              <a:rPr lang="en-GB" altLang="en-US" sz="2000">
                <a:latin typeface="宋体" panose="02010600030101010101" pitchFamily="2" charset="-122"/>
              </a:rPr>
              <a:t>不调</a:t>
            </a:r>
            <a:r>
              <a:rPr lang="zh-CN" altLang="en-US" sz="2000">
                <a:latin typeface="宋体" panose="02010600030101010101" pitchFamily="2" charset="-122"/>
              </a:rPr>
              <a:t>用</a:t>
            </a:r>
            <a:r>
              <a:rPr lang="en-GB" altLang="en-US" sz="2000">
                <a:latin typeface="宋体" panose="02010600030101010101" pitchFamily="2" charset="-122"/>
              </a:rPr>
              <a:t>析构函数</a:t>
            </a:r>
            <a:endParaRPr lang="en-GB" altLang="zh-CN" sz="2000" i="1"/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8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sz="24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000" i="1"/>
              <a:t>n</a:t>
            </a:r>
            <a:r>
              <a:rPr lang="en-GB" altLang="zh-CN" sz="2000" i="1"/>
              <a:t>ew </a:t>
            </a:r>
            <a:r>
              <a:rPr lang="en-GB" altLang="en-US" sz="2000">
                <a:latin typeface="宋体" panose="02010600030101010101" pitchFamily="2" charset="-122"/>
              </a:rPr>
              <a:t>可重载</a:t>
            </a:r>
            <a:endParaRPr lang="zh-CN" alt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对象删除</a:t>
            </a:r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800"/>
              <a:t>delete</a:t>
            </a:r>
          </a:p>
          <a:p>
            <a:pPr lvl="1">
              <a:lnSpc>
                <a:spcPct val="80000"/>
              </a:lnSpc>
            </a:pPr>
            <a:r>
              <a:rPr lang="en-US" altLang="zh-CN" sz="1600"/>
              <a:t>Called on the pointer to an object</a:t>
            </a:r>
          </a:p>
          <a:p>
            <a:pPr lvl="1">
              <a:lnSpc>
                <a:spcPct val="80000"/>
              </a:lnSpc>
            </a:pPr>
            <a:r>
              <a:rPr lang="en-US" altLang="zh-CN" sz="1600"/>
              <a:t>Works with primitives &amp; class-types</a:t>
            </a:r>
          </a:p>
          <a:p>
            <a:pPr>
              <a:lnSpc>
                <a:spcPct val="80000"/>
              </a:lnSpc>
            </a:pPr>
            <a:r>
              <a:rPr lang="en-US" altLang="zh-CN" sz="1800"/>
              <a:t>Syntax:</a:t>
            </a:r>
          </a:p>
          <a:p>
            <a:pPr lvl="1">
              <a:lnSpc>
                <a:spcPct val="80000"/>
              </a:lnSpc>
            </a:pPr>
            <a:r>
              <a:rPr lang="en-US" altLang="zh-CN" sz="1600"/>
              <a:t>delete ptrName;</a:t>
            </a:r>
          </a:p>
          <a:p>
            <a:pPr>
              <a:lnSpc>
                <a:spcPct val="80000"/>
              </a:lnSpc>
            </a:pPr>
            <a:r>
              <a:rPr lang="en-US" altLang="zh-CN" sz="180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delete intPtr;</a:t>
            </a: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intPtr = NULL;</a:t>
            </a:r>
          </a:p>
          <a:p>
            <a:pPr lvl="1">
              <a:lnSpc>
                <a:spcPct val="80000"/>
              </a:lnSpc>
            </a:pPr>
            <a:endParaRPr lang="en-US" altLang="zh-CN" sz="1600" b="1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delete carPtr;</a:t>
            </a: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carPtr = NULL;</a:t>
            </a:r>
          </a:p>
          <a:p>
            <a:pPr lvl="1">
              <a:lnSpc>
                <a:spcPct val="80000"/>
              </a:lnSpc>
            </a:pPr>
            <a:endParaRPr lang="en-US" altLang="zh-CN" sz="1600" b="1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delete custPtr;</a:t>
            </a:r>
          </a:p>
          <a:p>
            <a:pPr lvl="1">
              <a:lnSpc>
                <a:spcPct val="80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custPtr = NULL;</a:t>
            </a:r>
          </a:p>
        </p:txBody>
      </p:sp>
      <p:sp>
        <p:nvSpPr>
          <p:cNvPr id="111619" name="Line 4"/>
          <p:cNvSpPr>
            <a:spLocks noChangeShapeType="1"/>
          </p:cNvSpPr>
          <p:nvPr/>
        </p:nvSpPr>
        <p:spPr bwMode="auto">
          <a:xfrm flipH="1">
            <a:off x="3124200" y="2895600"/>
            <a:ext cx="914400" cy="76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auto">
          <a:xfrm>
            <a:off x="4054475" y="2781300"/>
            <a:ext cx="2514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hlink"/>
                </a:solidFill>
              </a:rPr>
              <a:t>Set to NULL so that you can use it later – protect yourself from accidentally using that object!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动态对象数组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lvl="1" algn="just" eaLnBrk="1" hangingPunct="1"/>
            <a:r>
              <a:rPr lang="en-GB" altLang="en-US" sz="2400">
                <a:latin typeface="宋体" panose="02010600030101010101" pitchFamily="2" charset="-122"/>
              </a:rPr>
              <a:t>动态对象数组的创建与撤消</a:t>
            </a:r>
            <a:endParaRPr lang="en-GB" altLang="en-US" sz="24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en-US"/>
              <a:t>		</a:t>
            </a:r>
            <a:r>
              <a:rPr lang="en-GB" altLang="zh-CN" sz="1800" i="1"/>
              <a:t>A *p;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p = new A[100];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delete  []p;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en-US" sz="18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2400">
                <a:latin typeface="宋体" panose="02010600030101010101" pitchFamily="2" charset="-122"/>
              </a:rPr>
              <a:t>注意</a:t>
            </a:r>
          </a:p>
          <a:p>
            <a:pPr lvl="2" algn="just" eaLnBrk="1" hangingPunct="1"/>
            <a:r>
              <a:rPr lang="en-GB" altLang="en-US" sz="2000">
                <a:solidFill>
                  <a:srgbClr val="C00000"/>
                </a:solidFill>
                <a:latin typeface="宋体" panose="02010600030101010101" pitchFamily="2" charset="-122"/>
              </a:rPr>
              <a:t>不能显式初始化，相应的类必须有默认构造函数</a:t>
            </a:r>
          </a:p>
          <a:p>
            <a:pPr lvl="2" algn="just" eaLnBrk="1" hangingPunct="1"/>
            <a:r>
              <a:rPr lang="en-GB" altLang="zh-CN" sz="2000">
                <a:latin typeface="Times New Roman" panose="02020603050405020304" pitchFamily="18" charset="0"/>
              </a:rPr>
              <a:t>delete</a:t>
            </a:r>
            <a:r>
              <a:rPr lang="en-GB" altLang="en-US" sz="2000">
                <a:latin typeface="宋体" panose="02010600030101010101" pitchFamily="2" charset="-122"/>
              </a:rPr>
              <a:t>中的[]不能省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2D</a:t>
            </a:r>
            <a:r>
              <a:rPr lang="zh-CN" altLang="en-US"/>
              <a:t>数组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600" dirty="0"/>
          </a:p>
          <a:p>
            <a:pPr>
              <a:lnSpc>
                <a:spcPct val="80000"/>
              </a:lnSpc>
              <a:defRPr/>
            </a:pPr>
            <a:endParaRPr lang="en-US" sz="1600" dirty="0"/>
          </a:p>
          <a:p>
            <a:pPr>
              <a:lnSpc>
                <a:spcPct val="80000"/>
              </a:lnSpc>
              <a:defRPr/>
            </a:pPr>
            <a:r>
              <a:rPr lang="en-US" sz="1600" dirty="0"/>
              <a:t>Algorithm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400" dirty="0"/>
              <a:t>Allocate the number of rows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400" dirty="0"/>
              <a:t>For each row</a:t>
            </a:r>
          </a:p>
          <a:p>
            <a:pPr lvl="2">
              <a:lnSpc>
                <a:spcPct val="80000"/>
              </a:lnSpc>
              <a:defRPr/>
            </a:pPr>
            <a:r>
              <a:rPr lang="en-US" sz="1200" dirty="0"/>
              <a:t>Allocate the columns</a:t>
            </a:r>
          </a:p>
          <a:p>
            <a:pPr>
              <a:lnSpc>
                <a:spcPct val="80000"/>
              </a:lnSpc>
              <a:defRPr/>
            </a:pPr>
            <a:r>
              <a:rPr lang="en-US" sz="1600" dirty="0"/>
              <a:t>Example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 err="1">
                <a:latin typeface="Courier New" panose="02070309020205020404" pitchFamily="49" charset="0"/>
              </a:rPr>
              <a:t>const</a:t>
            </a:r>
            <a:r>
              <a:rPr lang="en-US" sz="1400" b="1" dirty="0"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ROWS = 3;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 err="1">
                <a:latin typeface="Courier New" panose="02070309020205020404" pitchFamily="49" charset="0"/>
              </a:rPr>
              <a:t>const</a:t>
            </a:r>
            <a:r>
              <a:rPr lang="en-US" sz="1400" b="1" dirty="0"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COLUMNS = 4;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char **chArray2;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400" b="1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// allocate the rows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chArray2 = new char* [ ROWS ];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1400" b="1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// allocate the (pointer) elements for each row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for 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row = 0; row &lt; ROWS; row++ )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	chArray2[ row ] = new char[ COLUMNS ];</a:t>
            </a:r>
            <a:r>
              <a:rPr lang="en-US" sz="1400" dirty="0"/>
              <a:t> </a:t>
            </a:r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5943600" y="2667000"/>
            <a:ext cx="609600" cy="685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5943600" y="3352800"/>
            <a:ext cx="609600" cy="685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5943600" y="4038600"/>
            <a:ext cx="609600" cy="6858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543800" y="27432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8001000" y="27432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8458200" y="27432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5029200" y="1981200"/>
            <a:ext cx="609600" cy="533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4419600" y="1676400"/>
            <a:ext cx="198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/>
              <a:t>char**: chArray2</a:t>
            </a:r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 flipV="1">
            <a:off x="6248400" y="2971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7086600" y="27432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7543800" y="34290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8001000" y="34290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8458200" y="34290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7086600" y="34290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7543800" y="41148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8001000" y="41148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8458200" y="41148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7086600" y="4114800"/>
            <a:ext cx="457200" cy="533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 flipV="1">
            <a:off x="6248400" y="36576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 flipV="1">
            <a:off x="6248400" y="43434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>
            <a:off x="5334000" y="22098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4" grpId="0" animBg="1"/>
      <p:bldP spid="21525" grpId="0" animBg="1"/>
      <p:bldP spid="21526" grpId="0" animBg="1"/>
      <p:bldP spid="21508" grpId="0" animBg="1"/>
      <p:bldP spid="21509" grpId="0" animBg="1"/>
      <p:bldP spid="21510" grpId="0" animBg="1"/>
      <p:bldP spid="21512" grpId="0" animBg="1"/>
      <p:bldP spid="21513" grpId="0"/>
      <p:bldP spid="21515" grpId="0" animBg="1"/>
      <p:bldP spid="21516" grpId="0" animBg="1"/>
      <p:bldP spid="21517" grpId="0" animBg="1"/>
      <p:bldP spid="21518" grpId="0" animBg="1"/>
      <p:bldP spid="21519" grpId="0" animBg="1"/>
      <p:bldP spid="21520" grpId="0" animBg="1"/>
      <p:bldP spid="21521" grpId="0" animBg="1"/>
      <p:bldP spid="21522" grpId="0" animBg="1"/>
      <p:bldP spid="215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2D</a:t>
            </a:r>
            <a:r>
              <a:rPr lang="zh-CN" altLang="en-US"/>
              <a:t>数组</a:t>
            </a:r>
          </a:p>
        </p:txBody>
      </p:sp>
      <p:sp>
        <p:nvSpPr>
          <p:cNvPr id="11673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800"/>
              <a:t>Delete?</a:t>
            </a:r>
          </a:p>
          <a:p>
            <a:pPr lvl="1">
              <a:lnSpc>
                <a:spcPct val="80000"/>
              </a:lnSpc>
            </a:pPr>
            <a:r>
              <a:rPr lang="en-US" altLang="zh-CN" sz="1600"/>
              <a:t>Reverse the creation algorithm</a:t>
            </a:r>
          </a:p>
          <a:p>
            <a:pPr lvl="2">
              <a:lnSpc>
                <a:spcPct val="80000"/>
              </a:lnSpc>
            </a:pPr>
            <a:r>
              <a:rPr lang="en-US" altLang="zh-CN" sz="1400"/>
              <a:t>For each row</a:t>
            </a:r>
          </a:p>
          <a:p>
            <a:pPr lvl="3">
              <a:lnSpc>
                <a:spcPct val="80000"/>
              </a:lnSpc>
            </a:pPr>
            <a:r>
              <a:rPr lang="en-US" altLang="zh-CN" sz="1200"/>
              <a:t>Delete the columns</a:t>
            </a:r>
          </a:p>
          <a:p>
            <a:pPr lvl="2">
              <a:lnSpc>
                <a:spcPct val="80000"/>
              </a:lnSpc>
            </a:pPr>
            <a:r>
              <a:rPr lang="en-US" altLang="zh-CN" sz="1400"/>
              <a:t>Delete the rows</a:t>
            </a:r>
          </a:p>
          <a:p>
            <a:pPr>
              <a:lnSpc>
                <a:spcPct val="80000"/>
              </a:lnSpc>
            </a:pPr>
            <a:r>
              <a:rPr lang="en-US" altLang="zh-CN" sz="1800"/>
              <a:t>Example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for (int row = 0; row &lt; ROWS; row++)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	delete [ ] chArray2[ row ];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	chArray2[ row ] = NULL;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}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delete [ ] chArray2;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chArray2 = NULL; </a:t>
            </a:r>
          </a:p>
          <a:p>
            <a:pPr>
              <a:lnSpc>
                <a:spcPct val="80000"/>
              </a:lnSpc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Const </a:t>
            </a:r>
            <a:r>
              <a:rPr lang="zh-CN" altLang="en-US"/>
              <a:t>成员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zh-CN" sz="2800" i="1"/>
              <a:t>const</a:t>
            </a:r>
            <a:r>
              <a:rPr lang="en-GB" altLang="zh-CN" sz="2800">
                <a:latin typeface="宋体" panose="02010600030101010101" pitchFamily="2" charset="-122"/>
              </a:rPr>
              <a:t> </a:t>
            </a:r>
            <a:r>
              <a:rPr lang="en-GB" altLang="en-US" sz="2800">
                <a:latin typeface="宋体" panose="02010600030101010101" pitchFamily="2" charset="-122"/>
              </a:rPr>
              <a:t>成员</a:t>
            </a:r>
            <a:endParaRPr lang="en-GB" altLang="en-US" sz="2800"/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400" i="1"/>
              <a:t>const </a:t>
            </a:r>
            <a:r>
              <a:rPr lang="en-GB" altLang="en-US" sz="2400">
                <a:latin typeface="宋体" panose="02010600030101010101" pitchFamily="2" charset="-122"/>
              </a:rPr>
              <a:t>成员变量</a:t>
            </a:r>
          </a:p>
          <a:p>
            <a:pPr lvl="2" algn="just" eaLnBrk="1" hangingPunct="1">
              <a:lnSpc>
                <a:spcPct val="90000"/>
              </a:lnSpc>
            </a:pPr>
            <a:endParaRPr lang="en-GB" altLang="en-US" sz="2000"/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class A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{   const int x; }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2000" i="1"/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初始化放在构造函数的成员初始化表中进行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class A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{	        const  int x;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      public: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A(int c): </a:t>
            </a:r>
            <a:r>
              <a:rPr lang="en-US" altLang="zh-CN" sz="1800" i="1"/>
              <a:t>x(c) {  }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}</a:t>
            </a:r>
            <a:endParaRPr lang="zh-CN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Const </a:t>
            </a:r>
            <a:r>
              <a:rPr lang="zh-CN" altLang="en-US"/>
              <a:t>成员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989138"/>
            <a:ext cx="7808912" cy="403225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zh-CN" sz="2400" i="1"/>
              <a:t>const</a:t>
            </a:r>
            <a:r>
              <a:rPr lang="en-GB" altLang="zh-CN" sz="2400">
                <a:latin typeface="宋体" panose="02010600030101010101" pitchFamily="2" charset="-122"/>
              </a:rPr>
              <a:t> </a:t>
            </a:r>
            <a:r>
              <a:rPr lang="en-GB" altLang="en-US" sz="2400">
                <a:latin typeface="宋体" panose="02010600030101010101" pitchFamily="2" charset="-122"/>
              </a:rPr>
              <a:t>成员函数</a:t>
            </a:r>
            <a:endParaRPr lang="en-GB" altLang="en-US" sz="2400"/>
          </a:p>
        </p:txBody>
      </p:sp>
      <p:sp>
        <p:nvSpPr>
          <p:cNvPr id="51203" name="TextBox 3"/>
          <p:cNvSpPr txBox="1">
            <a:spLocks noChangeArrowheads="1"/>
          </p:cNvSpPr>
          <p:nvPr/>
        </p:nvSpPr>
        <p:spPr bwMode="auto">
          <a:xfrm>
            <a:off x="827088" y="2492375"/>
            <a:ext cx="3324225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class A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{    int </a:t>
            </a:r>
            <a:r>
              <a:rPr lang="en-GB" altLang="zh-CN" sz="2000" i="1" dirty="0" err="1">
                <a:solidFill>
                  <a:srgbClr val="002060"/>
                </a:solidFill>
              </a:rPr>
              <a:t>x,y</a:t>
            </a:r>
            <a:r>
              <a:rPr lang="en-GB" altLang="zh-CN" sz="2000" i="1" dirty="0">
                <a:solidFill>
                  <a:srgbClr val="002060"/>
                </a:solidFill>
              </a:rPr>
              <a:t>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public:</a:t>
            </a: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 </a:t>
            </a:r>
            <a:r>
              <a:rPr lang="en-US" altLang="zh-CN" sz="1800" i="1" dirty="0">
                <a:solidFill>
                  <a:srgbClr val="002060"/>
                </a:solidFill>
              </a:rPr>
              <a:t>A(int x1, int y1);</a:t>
            </a:r>
            <a:endParaRPr lang="en-GB" altLang="zh-CN" sz="1800" i="1" dirty="0">
              <a:solidFill>
                <a:srgbClr val="002060"/>
              </a:solidFill>
            </a:endParaRP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void f();</a:t>
            </a: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void show();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};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27600" y="2565400"/>
            <a:ext cx="1876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const A a(0,0);</a:t>
            </a:r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927600" y="3141663"/>
            <a:ext cx="1268413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a.f();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a.show();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19250" y="4533900"/>
            <a:ext cx="25304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void A::f()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{  x = 1; y = 1; }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i="1">
              <a:solidFill>
                <a:srgbClr val="002060"/>
              </a:solidFill>
            </a:endParaRP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void A::show()</a:t>
            </a:r>
            <a:r>
              <a:rPr lang="zh-CN" altLang="en-US" sz="2000" i="1">
                <a:solidFill>
                  <a:srgbClr val="002060"/>
                </a:solidFill>
              </a:rPr>
              <a:t> </a:t>
            </a:r>
            <a:r>
              <a:rPr lang="en-US" altLang="zh-CN" sz="2000" i="1">
                <a:solidFill>
                  <a:srgbClr val="002060"/>
                </a:solidFill>
              </a:rPr>
              <a:t>const</a:t>
            </a:r>
            <a:endParaRPr lang="en-GB" altLang="zh-CN" sz="2000" i="1">
              <a:solidFill>
                <a:srgbClr val="002060"/>
              </a:solidFill>
            </a:endParaRP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{  cout &lt;&lt;x &lt;&lt; y;}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492500" y="3749675"/>
            <a:ext cx="10080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C00000"/>
                </a:solidFill>
              </a:rPr>
              <a:t>const </a:t>
            </a:r>
            <a:r>
              <a:rPr lang="en-GB" altLang="zh-CN" sz="2000" i="1">
                <a:solidFill>
                  <a:srgbClr val="002060"/>
                </a:solidFill>
              </a:rPr>
              <a:t>;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076825" y="3068638"/>
            <a:ext cx="361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X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227763" y="3429000"/>
            <a:ext cx="409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B050"/>
                </a:solidFill>
              </a:rPr>
              <a:t>√</a:t>
            </a:r>
            <a:endParaRPr lang="zh-CN" altLang="en-US" sz="240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984312">
            <a:off x="3746500" y="4170363"/>
            <a:ext cx="1751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compiler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27538" y="836613"/>
            <a:ext cx="3743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void f( A * const this);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void show(</a:t>
            </a:r>
            <a:r>
              <a:rPr lang="en-US" altLang="zh-CN" sz="2000">
                <a:solidFill>
                  <a:srgbClr val="C00000"/>
                </a:solidFill>
              </a:rPr>
              <a:t>const</a:t>
            </a:r>
            <a:r>
              <a:rPr lang="en-US" altLang="zh-CN" sz="2000"/>
              <a:t> A* const this);</a:t>
            </a:r>
            <a:endParaRPr lang="zh-CN" altLang="en-US" sz="20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435600" y="4365625"/>
            <a:ext cx="3414713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int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int &amp; indirect_int;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A():indirect_int(*new int){ 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~A() { delete &amp;indirect_int;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void f(</a:t>
            </a:r>
            <a:r>
              <a:rPr lang="en-US" altLang="zh-CN" sz="1600"/>
              <a:t>) const { indirect_int++;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};</a:t>
            </a:r>
            <a:endParaRPr lang="zh-CN" alt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250825" y="3429000"/>
            <a:ext cx="1281113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mutable</a:t>
            </a:r>
            <a:endParaRPr lang="zh-CN" altLang="en-US" i="1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allAtOnce"/>
      <p:bldP spid="5" grpId="0" build="allAtOnce"/>
      <p:bldP spid="6" grpId="0" build="allAtOnce"/>
      <p:bldP spid="7" grpId="0" build="allAtOnce"/>
      <p:bldP spid="8" grpId="0" build="allAtOnce" animBg="1"/>
      <p:bldP spid="9" grpId="0" build="allAtOnce"/>
      <p:bldP spid="10" grpId="0" build="allAtOnce"/>
      <p:bldP spid="11" grpId="0" build="allAtOnce"/>
      <p:bldP spid="13" grpId="0" build="allAtOnce"/>
      <p:bldP spid="15" grpId="0" build="allAtOnce" animBg="1"/>
      <p:bldP spid="16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218A-F5EB-8E7E-B21A-AD0EB5CC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FBFD9CCC-C169-F2D7-9C28-8767844E4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Const </a:t>
            </a:r>
            <a:r>
              <a:rPr lang="zh-CN" altLang="en-US"/>
              <a:t>成员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77263E-93B1-62D9-08EC-71674E31D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2536" y="2289556"/>
            <a:ext cx="454970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struct Fib {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……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i="1" dirty="0">
                <a:solidFill>
                  <a:srgbClr val="002060"/>
                </a:solidFill>
              </a:rPr>
              <a:t>  </a:t>
            </a:r>
            <a:r>
              <a:rPr lang="en-GB" altLang="zh-CN" sz="2000" i="1" dirty="0">
                <a:solidFill>
                  <a:srgbClr val="002060"/>
                </a:solidFill>
              </a:rPr>
              <a:t>Fib(int n) : n_(n) {}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int value() </a:t>
            </a:r>
            <a:r>
              <a:rPr lang="en-GB" altLang="zh-CN" sz="2000" i="1" dirty="0" err="1">
                <a:solidFill>
                  <a:srgbClr val="002060"/>
                </a:solidFill>
              </a:rPr>
              <a:t>const</a:t>
            </a:r>
            <a:r>
              <a:rPr lang="en-GB" altLang="zh-CN" sz="2000" i="1" dirty="0">
                <a:solidFill>
                  <a:srgbClr val="002060"/>
                </a:solidFill>
              </a:rPr>
              <a:t> { 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i="1" dirty="0">
                <a:solidFill>
                  <a:srgbClr val="002060"/>
                </a:solidFill>
              </a:rPr>
              <a:t>    </a:t>
            </a:r>
            <a:r>
              <a:rPr lang="en-GB" altLang="zh-CN" sz="2000" i="1" dirty="0">
                <a:solidFill>
                  <a:srgbClr val="002060"/>
                </a:solidFill>
              </a:rPr>
              <a:t>if (!cached) {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i="1" dirty="0">
                <a:solidFill>
                  <a:srgbClr val="002060"/>
                </a:solidFill>
              </a:rPr>
              <a:t>          </a:t>
            </a:r>
            <a:r>
              <a:rPr lang="en-GB" altLang="zh-CN" sz="2000" i="1" dirty="0">
                <a:solidFill>
                  <a:srgbClr val="002060"/>
                </a:solidFill>
              </a:rPr>
              <a:t>cache  = fib(n);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    cached = true;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  }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  return cache;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 }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int n_;                            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mutable bool cached = false;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mutable int  cache  = 0;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i="1" dirty="0">
                <a:solidFill>
                  <a:srgbClr val="002060"/>
                </a:solidFill>
              </a:rPr>
              <a:t>}</a:t>
            </a:r>
            <a:endParaRPr lang="en-GB" altLang="zh-CN" sz="2000" i="1" dirty="0">
              <a:solidFill>
                <a:srgbClr val="002060"/>
              </a:solidFill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CD46CF51-C8F1-1A20-7D6C-6DF3EF0C5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2420888"/>
            <a:ext cx="309634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" altLang="zh-CN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const 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成员函数承诺不改变对象的可观察状态</a:t>
            </a:r>
            <a:endParaRPr lang="en-US" altLang="zh-CN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想在 </a:t>
            </a:r>
            <a:r>
              <a:rPr lang="en" altLang="zh-CN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const 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查询中做缓存</a:t>
            </a:r>
            <a:endParaRPr lang="en-US" altLang="zh-CN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这只是内部实现细节，对外不可观察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4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DB06-1F2A-9306-A8C1-A6E0E742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F91AC-04F8-AF4D-A9AF-3A3CA27F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en-US" altLang="zh-CN" b="1" dirty="0"/>
              <a:t>Constant Expressions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A552D20-38C7-2985-1C28-D6A1194F2569}"/>
              </a:ext>
            </a:extLst>
          </p:cNvPr>
          <p:cNvSpPr txBox="1"/>
          <p:nvPr/>
        </p:nvSpPr>
        <p:spPr>
          <a:xfrm>
            <a:off x="652736" y="2132856"/>
            <a:ext cx="7458000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宋体" panose="02010600030101010101" pitchFamily="2" charset="-122"/>
                <a:ea typeface="+mn-ea"/>
              </a:rPr>
              <a:t>在编译期即可计算出结果的表达式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把计算前移到编译期 → 更快；错误更早暴露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" altLang="zh-CN" sz="2000" dirty="0" err="1">
                <a:latin typeface="宋体" panose="02010600030101010101" pitchFamily="2" charset="-122"/>
                <a:ea typeface="+mn-ea"/>
              </a:rPr>
              <a:t>constexpr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可在编译期求值（也可运行期）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" altLang="zh-CN" sz="2000" dirty="0" err="1">
                <a:latin typeface="宋体" panose="02010600030101010101" pitchFamily="2" charset="-122"/>
                <a:ea typeface="+mn-ea"/>
              </a:rPr>
              <a:t>consteval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（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C++20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）：</a:t>
            </a:r>
            <a:r>
              <a:rPr lang="zh-CN" altLang="en-US" sz="2000" dirty="0"/>
              <a:t>只能出现在</a:t>
            </a:r>
            <a:r>
              <a:rPr lang="zh-CN" altLang="en-US" sz="2000" b="1" dirty="0"/>
              <a:t>函数声明</a:t>
            </a:r>
            <a:r>
              <a:rPr lang="zh-CN" altLang="en-US" sz="2000" dirty="0"/>
              <a:t>上，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必须在编译期求值，调用点不是常量表达式就报错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适用：数组大小、非类型模板实参、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switch 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的 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case 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标签、查表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位运算等</a:t>
            </a:r>
          </a:p>
        </p:txBody>
      </p:sp>
    </p:spTree>
    <p:extLst>
      <p:ext uri="{BB962C8B-B14F-4D97-AF65-F5344CB8AC3E}">
        <p14:creationId xmlns:p14="http://schemas.microsoft.com/office/powerpoint/2010/main" val="756573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836712"/>
            <a:ext cx="8136904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/>
              <a:t>enum</a:t>
            </a:r>
            <a:r>
              <a:rPr lang="en-US" altLang="zh-CN" sz="1800" dirty="0"/>
              <a:t> Flags { GOOD=0, FAIL=1, BAD=2, EOF=3</a:t>
            </a:r>
            <a:r>
              <a:rPr lang="zh-CN" altLang="en-US" sz="1800" dirty="0"/>
              <a:t> </a:t>
            </a:r>
            <a:r>
              <a:rPr lang="en-US" altLang="zh-CN" sz="1800" dirty="0"/>
              <a:t>};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18864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Example 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9684" y="1412776"/>
            <a:ext cx="679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operator| (Flags f1, Flags f2)  { return Flags(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(f1)|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(f2));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412776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9991" y="3432048"/>
            <a:ext cx="343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//error. return value is not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0647" y="3432048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//OK now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9672" y="4437112"/>
            <a:ext cx="37357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void f(Flags x)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switch (x)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bad_c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 /* ... */break;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eof_c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be_c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default: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8104" y="4869160"/>
            <a:ext cx="2441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bad_c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eof_c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be_c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2344812"/>
            <a:ext cx="38754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void f(Flags x)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switch (x)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BAD: /* ... */break;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EOF: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case BAD|EOF: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default: /* ... */ 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42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8" grpId="1"/>
      <p:bldP spid="9" grpId="0"/>
      <p:bldP spid="9" grpId="1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091" y="671784"/>
            <a:ext cx="8136904" cy="1677096"/>
          </a:xfrm>
        </p:spPr>
        <p:txBody>
          <a:bodyPr/>
          <a:lstStyle/>
          <a:p>
            <a:pPr marL="0" indent="0">
              <a:buNone/>
            </a:pPr>
            <a:r>
              <a:rPr lang="fr-FR" altLang="zh-CN" sz="1800" dirty="0"/>
              <a:t>struct Point {</a:t>
            </a:r>
          </a:p>
          <a:p>
            <a:pPr marL="0" indent="0">
              <a:buNone/>
            </a:pPr>
            <a:r>
              <a:rPr lang="fr-FR" altLang="zh-CN" sz="1800" dirty="0"/>
              <a:t>    int x,y;</a:t>
            </a:r>
          </a:p>
          <a:p>
            <a:pPr marL="0" indent="0">
              <a:buNone/>
            </a:pPr>
            <a:r>
              <a:rPr lang="fr-FR" altLang="zh-CN" sz="1800" dirty="0"/>
              <a:t>    constexpr Point(int xx, int yy) : x(xx), y(yy) { }</a:t>
            </a:r>
          </a:p>
          <a:p>
            <a:pPr marL="0" indent="0">
              <a:buNone/>
            </a:pPr>
            <a:r>
              <a:rPr lang="fr-FR" altLang="zh-CN" sz="1800" dirty="0"/>
              <a:t>};</a:t>
            </a:r>
            <a:endParaRPr lang="zh-CN" alt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2420888"/>
            <a:ext cx="63926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Point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origo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(0,0);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z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origo.x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Point a[] = {Point(0,0), Point(1,1), Point(2,2)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constexpr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x = a[1].x; // x becomes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8864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Example 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552" y="5013176"/>
            <a:ext cx="807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All evaluation can be done at compile time. Hence runtime efficiency is raised.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400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7D5E88-1322-E207-BFAD-724BE307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935458-0FC8-507C-3F2F-040FBF904B00}"/>
              </a:ext>
            </a:extLst>
          </p:cNvPr>
          <p:cNvSpPr txBox="1"/>
          <p:nvPr/>
        </p:nvSpPr>
        <p:spPr>
          <a:xfrm>
            <a:off x="395536" y="18864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Example 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2A566B28-CDA5-44D7-ED5F-C0E10C50A7CA}"/>
              </a:ext>
            </a:extLst>
          </p:cNvPr>
          <p:cNvSpPr txBox="1"/>
          <p:nvPr/>
        </p:nvSpPr>
        <p:spPr>
          <a:xfrm>
            <a:off x="611560" y="1124744"/>
            <a:ext cx="6875600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/>
            <a:r>
              <a:rPr dirty="0" err="1"/>
              <a:t>constexpr</a:t>
            </a:r>
            <a:r>
              <a:rPr dirty="0"/>
              <a:t> int </a:t>
            </a:r>
            <a:r>
              <a:rPr dirty="0" err="1"/>
              <a:t>sqr</a:t>
            </a:r>
            <a:r>
              <a:rPr dirty="0"/>
              <a:t>(int x) { return x * x; }</a:t>
            </a:r>
            <a:br>
              <a:rPr dirty="0"/>
            </a:br>
            <a:r>
              <a:rPr dirty="0" err="1"/>
              <a:t>constexpr</a:t>
            </a:r>
            <a:r>
              <a:rPr dirty="0"/>
              <a:t> int A = </a:t>
            </a:r>
            <a:r>
              <a:rPr dirty="0" err="1"/>
              <a:t>sqr</a:t>
            </a:r>
            <a:r>
              <a:rPr dirty="0"/>
              <a:t>(10);</a:t>
            </a:r>
            <a:br>
              <a:rPr dirty="0"/>
            </a:br>
            <a:r>
              <a:rPr dirty="0"/>
              <a:t>int y = 3; int B = </a:t>
            </a:r>
            <a:r>
              <a:rPr dirty="0" err="1"/>
              <a:t>sqr</a:t>
            </a:r>
            <a:r>
              <a:rPr dirty="0"/>
              <a:t>(y);</a:t>
            </a:r>
            <a:br>
              <a:rPr dirty="0"/>
            </a:br>
            <a:br>
              <a:rPr dirty="0"/>
            </a:br>
            <a:r>
              <a:rPr dirty="0" err="1"/>
              <a:t>consteval</a:t>
            </a:r>
            <a:r>
              <a:rPr dirty="0"/>
              <a:t> int pow2(int n) { return 1 &lt;&lt; n; }</a:t>
            </a:r>
            <a:br>
              <a:rPr dirty="0"/>
            </a:br>
            <a:r>
              <a:rPr dirty="0" err="1"/>
              <a:t>constexpr</a:t>
            </a:r>
            <a:r>
              <a:rPr dirty="0"/>
              <a:t> int M = pow2(8);   // ✅</a:t>
            </a:r>
            <a:br>
              <a:rPr dirty="0"/>
            </a:br>
            <a:r>
              <a:rPr dirty="0"/>
              <a:t>// int r = pow2(y);         // ❌ y </a:t>
            </a:r>
            <a:r>
              <a:rPr dirty="0" err="1"/>
              <a:t>非常量表达式</a:t>
            </a:r>
            <a:br>
              <a:rPr dirty="0"/>
            </a:br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966CEA-9C7C-CAE2-8430-4C3F01BB6758}"/>
              </a:ext>
            </a:extLst>
          </p:cNvPr>
          <p:cNvSpPr txBox="1"/>
          <p:nvPr/>
        </p:nvSpPr>
        <p:spPr>
          <a:xfrm rot="21097098">
            <a:off x="1679530" y="441533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 = pow2(8);</a:t>
            </a:r>
            <a:r>
              <a:rPr lang="zh-CN" alt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zh-CN" altLang="en-US" sz="3600" b="1" kern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en" altLang="zh-CN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384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30687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静态成员</a:t>
            </a: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000" dirty="0" err="1">
                <a:latin typeface="宋体" panose="02010600030101010101" pitchFamily="2" charset="-122"/>
              </a:rPr>
              <a:t>类刻划了一组具有相同属性的对象</a:t>
            </a:r>
            <a:endParaRPr lang="en-GB" altLang="en-US" sz="2000" dirty="0">
              <a:latin typeface="宋体" panose="02010600030101010101" pitchFamily="2" charset="-122"/>
            </a:endParaRP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000" dirty="0" err="1">
                <a:latin typeface="宋体" panose="02010600030101010101" pitchFamily="2" charset="-122"/>
              </a:rPr>
              <a:t>对象是类的实例</a:t>
            </a:r>
            <a:endParaRPr lang="en-GB" altLang="en-US" sz="2000" dirty="0">
              <a:latin typeface="宋体" panose="02010600030101010101" pitchFamily="2" charset="-122"/>
            </a:endParaRP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endParaRPr lang="en-GB" altLang="en-US" sz="2000" dirty="0"/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endParaRPr lang="en-GB" altLang="en-US" sz="2000" dirty="0"/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endParaRPr lang="en-GB" altLang="en-US" sz="2000" dirty="0"/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000" dirty="0" err="1">
                <a:latin typeface="宋体" panose="02010600030101010101" pitchFamily="2" charset="-122"/>
              </a:rPr>
              <a:t>问题：同一个类的不同对象如何共享变量</a:t>
            </a:r>
            <a:r>
              <a:rPr lang="en-GB" altLang="en-US" sz="2000" dirty="0">
                <a:latin typeface="宋体" panose="02010600030101010101" pitchFamily="2" charset="-122"/>
              </a:rPr>
              <a:t>？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000" dirty="0" err="1">
                <a:latin typeface="宋体" panose="02010600030101010101" pitchFamily="2" charset="-122"/>
              </a:rPr>
              <a:t>如果把这些共享变量定义为全局变量，则缺乏数据保护</a:t>
            </a:r>
            <a:endParaRPr lang="en-GB" altLang="en-US" sz="2000" dirty="0">
              <a:latin typeface="宋体" panose="02010600030101010101" pitchFamily="2" charset="-122"/>
            </a:endParaRP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 dirty="0">
                <a:latin typeface="宋体" panose="02010600030101010101" pitchFamily="2" charset="-122"/>
              </a:rPr>
              <a:t>名污染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宋体" panose="02010600030101010101" pitchFamily="2" charset="-122"/>
              </a:rPr>
              <a:t>静态成员变量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/>
              <a:t>	</a:t>
            </a:r>
            <a:r>
              <a:rPr lang="en-US" altLang="zh-CN" sz="1800" i="1"/>
              <a:t>class A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{    int   x,y;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     static int shared;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        .....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};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</a:t>
            </a:r>
            <a:r>
              <a:rPr lang="en-US" altLang="zh-CN" sz="1800" i="1">
                <a:solidFill>
                  <a:srgbClr val="C00000"/>
                </a:solidFill>
              </a:rPr>
              <a:t>int A::shared=0;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    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A a, b;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i="1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类对象所共享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唯一拷贝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遵循类访问控制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78A21-EA0D-4734-0E02-4ACAE46F297B}"/>
              </a:ext>
            </a:extLst>
          </p:cNvPr>
          <p:cNvSpPr txBox="1"/>
          <p:nvPr/>
        </p:nvSpPr>
        <p:spPr>
          <a:xfrm>
            <a:off x="4141631" y="3015360"/>
            <a:ext cx="476675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2" indent="-2286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" altLang="zh-CN" sz="1800" i="1" dirty="0">
                <a:latin typeface="+mn-lt"/>
                <a:ea typeface="+mn-ea"/>
              </a:rPr>
              <a:t>inline static int shared</a:t>
            </a:r>
            <a:r>
              <a:rPr lang="en-US" altLang="zh-CN" sz="1800" i="1" dirty="0">
                <a:latin typeface="+mn-lt"/>
                <a:ea typeface="+mn-ea"/>
              </a:rPr>
              <a:t>=0; (C++17)</a:t>
            </a:r>
            <a:r>
              <a:rPr lang="en" altLang="zh-CN" sz="1800" i="1" dirty="0">
                <a:latin typeface="+mn-lt"/>
                <a:ea typeface="+mn-ea"/>
              </a:rPr>
              <a:t> </a:t>
            </a:r>
            <a:endParaRPr lang="zh-CN" altLang="en-US" sz="1800" i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zh-CN" altLang="en-US" sz="2400">
                <a:latin typeface="宋体" panose="02010600030101010101" pitchFamily="2" charset="-122"/>
              </a:rPr>
              <a:t>静态成员函数</a:t>
            </a:r>
            <a:endParaRPr lang="zh-CN" altLang="en-US" sz="24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1800" i="1"/>
              <a:t>class A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{    static int shared;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int x;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public: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static void f() { …shared…}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void q() { …x…shared…}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};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sz="2000" i="1"/>
          </a:p>
          <a:p>
            <a:pPr lvl="2" algn="just" eaLnBrk="1" hangingPunct="1"/>
            <a:r>
              <a:rPr lang="en-GB" altLang="en-US" sz="2000" b="1">
                <a:solidFill>
                  <a:srgbClr val="C00000"/>
                </a:solidFill>
                <a:latin typeface="宋体" panose="02010600030101010101" pitchFamily="2" charset="-122"/>
              </a:rPr>
              <a:t>只能存取静态成员变量，调用静态成员函数</a:t>
            </a:r>
          </a:p>
          <a:p>
            <a:pPr lvl="2" algn="just" eaLnBrk="1" hangingPunct="1"/>
            <a:r>
              <a:rPr lang="zh-CN" altLang="en-US" sz="2000">
                <a:latin typeface="宋体" panose="02010600030101010101" pitchFamily="2" charset="-122"/>
              </a:rPr>
              <a:t>遵循类访问控制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30687"/>
          </a:xfrm>
        </p:spPr>
        <p:txBody>
          <a:bodyPr/>
          <a:lstStyle/>
          <a:p>
            <a:pPr lvl="1" algn="just" eaLnBrk="1" hangingPunct="1"/>
            <a:r>
              <a:rPr lang="en-GB" altLang="en-US" sz="2400">
                <a:latin typeface="宋体" panose="02010600030101010101" pitchFamily="2" charset="-122"/>
              </a:rPr>
              <a:t>静态成员的使用</a:t>
            </a:r>
            <a:endParaRPr lang="en-GB" altLang="en-US" sz="2400"/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通过对象使用</a:t>
            </a:r>
            <a:endParaRPr lang="en-GB" altLang="en-US" sz="20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/>
              <a:t>	</a:t>
            </a:r>
            <a:r>
              <a:rPr lang="en-GB" altLang="zh-CN" sz="1800" i="1"/>
              <a:t>A a;  a.f();</a:t>
            </a:r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通过类使用</a:t>
            </a:r>
            <a:endParaRPr lang="en-GB" altLang="en-US" sz="20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/>
              <a:t>	</a:t>
            </a:r>
            <a:r>
              <a:rPr lang="en-GB" altLang="zh-CN" sz="1800" i="1"/>
              <a:t>A::f();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zh-CN" sz="18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zh-CN" sz="2400">
                <a:latin typeface="宋体" panose="02010600030101010101" pitchFamily="2" charset="-122"/>
              </a:rPr>
              <a:t>C++</a:t>
            </a:r>
            <a:r>
              <a:rPr lang="zh-CN" altLang="en-US" sz="2400">
                <a:latin typeface="宋体" panose="02010600030101010101" pitchFamily="2" charset="-122"/>
              </a:rPr>
              <a:t>支持观点  “</a:t>
            </a:r>
            <a:r>
              <a:rPr lang="en-GB" altLang="en-US" sz="2400">
                <a:latin typeface="宋体" panose="02010600030101010101" pitchFamily="2" charset="-122"/>
              </a:rPr>
              <a:t>类也是对象</a:t>
            </a:r>
            <a:r>
              <a:rPr lang="zh-CN" altLang="en-US" sz="2400">
                <a:latin typeface="宋体" panose="02010600030101010101" pitchFamily="2" charset="-122"/>
              </a:rPr>
              <a:t>”</a:t>
            </a:r>
            <a:endParaRPr lang="en-GB" altLang="en-US" sz="240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zh-CN" sz="2000"/>
              <a:t>Smalltalk</a:t>
            </a:r>
            <a:endParaRPr lang="en-GB" altLang="en-US" sz="20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116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{      static int obj_count;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</a:t>
            </a:r>
            <a:r>
              <a:rPr lang="en-GB" altLang="zh-CN" sz="1800" i="1">
                <a:latin typeface="Times New Roman" panose="02020603050405020304" pitchFamily="18" charset="0"/>
              </a:rPr>
              <a:t>…</a:t>
            </a:r>
            <a:endParaRPr lang="en-GB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A()  {   obj_count++;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~A()  {   obj_count--;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static int get_num_of_obj() ；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         </a:t>
            </a:r>
            <a:r>
              <a:rPr lang="en-GB" altLang="zh-CN" sz="1800" i="1">
                <a:latin typeface="Times New Roman" panose="02020603050405020304" pitchFamily="18" charset="0"/>
              </a:rPr>
              <a:t>…</a:t>
            </a:r>
            <a:endParaRPr lang="en-GB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/>
              <a:t>	int  A::obj_count=0;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b="1" i="1">
                <a:solidFill>
                  <a:schemeClr val="accent2"/>
                </a:solidFill>
              </a:rPr>
              <a:t>	</a:t>
            </a:r>
            <a:r>
              <a:rPr lang="en-GB" altLang="zh-CN" sz="1800" i="1"/>
              <a:t>int  </a:t>
            </a:r>
            <a:r>
              <a:rPr lang="en-US" altLang="zh-CN" sz="1800" i="1"/>
              <a:t>A::</a:t>
            </a:r>
            <a:r>
              <a:rPr lang="en-GB" altLang="zh-CN" sz="1800" i="1"/>
              <a:t>get_num_of_obj() { return obj_count; 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示例</a:t>
            </a:r>
          </a:p>
        </p:txBody>
      </p:sp>
      <p:sp>
        <p:nvSpPr>
          <p:cNvPr id="583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class  singleton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{	protected: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 singleton(){}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 singleton(const singleton &amp;);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public: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static singleton * instance()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{   return  m_instance == NULL?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		m_instance = new singleton: m_instance;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static void destroy()  { delete m_instance; m_instance = NULL;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private: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		static singleton * m_instance;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0000FF"/>
                </a:solidFill>
              </a:rPr>
              <a:t>singleton * singleton ::m_instance= NULL;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357813" y="1071563"/>
            <a:ext cx="1408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singleton</a:t>
            </a:r>
            <a:endParaRPr lang="zh-CN" altLang="en-US" sz="24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429250" y="2143125"/>
            <a:ext cx="326243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Resource Control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原则：谁创建，谁归还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panose="02010600030101010101" pitchFamily="2" charset="-122"/>
              </a:rPr>
              <a:t>友元</a:t>
            </a: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类外部不能访问该类的</a:t>
            </a:r>
            <a:r>
              <a:rPr lang="en-US" altLang="zh-CN" sz="2000" i="1"/>
              <a:t>private</a:t>
            </a:r>
            <a:r>
              <a:rPr lang="zh-CN" altLang="en-US" sz="2000"/>
              <a:t>成员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通过该类的</a:t>
            </a:r>
            <a:r>
              <a:rPr lang="en-US" altLang="zh-CN" sz="2000" i="1"/>
              <a:t>public</a:t>
            </a:r>
            <a:r>
              <a:rPr lang="zh-CN" altLang="en-US" sz="2000"/>
              <a:t>方法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会降低对</a:t>
            </a:r>
            <a:r>
              <a:rPr lang="en-US" altLang="zh-CN" sz="2000" i="1"/>
              <a:t>private</a:t>
            </a:r>
            <a:r>
              <a:rPr lang="zh-CN" altLang="en-US" sz="2000"/>
              <a:t>成员的访问效率，缺乏灵活性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/>
          </a:p>
          <a:p>
            <a:pPr lvl="2" eaLnBrk="1" hangingPunct="1"/>
            <a:r>
              <a:rPr lang="zh-CN" altLang="en-US" sz="2000"/>
              <a:t>例：矩阵类(</a:t>
            </a:r>
            <a:r>
              <a:rPr lang="en-US" altLang="zh-CN" sz="2000"/>
              <a:t>Matrix)、</a:t>
            </a:r>
            <a:r>
              <a:rPr lang="zh-CN" altLang="en-US" sz="2000"/>
              <a:t>向量类(</a:t>
            </a:r>
            <a:r>
              <a:rPr lang="en-US" altLang="zh-CN" sz="2000"/>
              <a:t>Vector)</a:t>
            </a:r>
            <a:r>
              <a:rPr lang="zh-CN" altLang="en-US" sz="2000"/>
              <a:t>和全局函数(</a:t>
            </a:r>
            <a:r>
              <a:rPr lang="en-US" altLang="zh-CN" sz="2000"/>
              <a:t>multiply)，</a:t>
            </a:r>
            <a:r>
              <a:rPr lang="zh-CN" altLang="en-US" sz="2000"/>
              <a:t>全局函数实现矩阵和向量相乘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1442" name="Text Box 4"/>
          <p:cNvSpPr txBox="1">
            <a:spLocks noChangeArrowheads="1"/>
          </p:cNvSpPr>
          <p:nvPr/>
        </p:nvSpPr>
        <p:spPr bwMode="auto">
          <a:xfrm>
            <a:off x="4038600" y="1104900"/>
            <a:ext cx="438785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int &amp;element(int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, int j)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{  return *(</a:t>
            </a:r>
            <a:r>
              <a:rPr lang="en-US" altLang="zh-CN" sz="1800" i="1" dirty="0" err="1"/>
              <a:t>p_data+i</a:t>
            </a:r>
            <a:r>
              <a:rPr lang="en-US" altLang="zh-CN" sz="1800" i="1" dirty="0"/>
              <a:t>*</a:t>
            </a:r>
            <a:r>
              <a:rPr lang="en-US" altLang="zh-CN" sz="1800" i="1" dirty="0" err="1"/>
              <a:t>col+j</a:t>
            </a:r>
            <a:r>
              <a:rPr lang="en-US" altLang="zh-CN" sz="1800" i="1" dirty="0"/>
              <a:t>);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void dimension(int &amp;l, int &amp;c)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{   l = </a:t>
            </a:r>
            <a:r>
              <a:rPr lang="en-US" altLang="zh-CN" sz="1800" i="1" dirty="0" err="1"/>
              <a:t>lin</a:t>
            </a:r>
            <a:r>
              <a:rPr lang="en-US" altLang="zh-CN" sz="1800" i="1" dirty="0"/>
              <a:t>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c = 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void display()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{   int *p=</a:t>
            </a:r>
            <a:r>
              <a:rPr lang="en-US" altLang="zh-CN" sz="1800" i="1" dirty="0" err="1"/>
              <a:t>p_data</a:t>
            </a:r>
            <a:r>
              <a:rPr lang="en-US" altLang="zh-CN" sz="1800" i="1" dirty="0"/>
              <a:t>; 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for (int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=0;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&lt;</a:t>
            </a:r>
            <a:r>
              <a:rPr lang="en-US" altLang="zh-CN" sz="1800" i="1" dirty="0" err="1"/>
              <a:t>lin</a:t>
            </a:r>
            <a:r>
              <a:rPr lang="en-US" altLang="zh-CN" sz="1800" i="1" dirty="0"/>
              <a:t>;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{   for (int j=0; j&lt;col; </a:t>
            </a:r>
            <a:r>
              <a:rPr lang="en-US" altLang="zh-CN" sz="1800" i="1" dirty="0" err="1"/>
              <a:t>j++</a:t>
            </a:r>
            <a:r>
              <a:rPr lang="en-US" altLang="zh-CN" sz="1800" i="1" dirty="0"/>
              <a:t>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{  </a:t>
            </a:r>
            <a:r>
              <a:rPr lang="en-US" altLang="zh-CN" sz="1800" i="1" dirty="0" err="1"/>
              <a:t>cout</a:t>
            </a:r>
            <a:r>
              <a:rPr lang="en-US" altLang="zh-CN" sz="1800" i="1" dirty="0"/>
              <a:t> &lt;&lt; *p &lt;&lt; ' ';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   p++;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</a:t>
            </a:r>
            <a:r>
              <a:rPr lang="en-US" altLang="zh-CN" sz="1800" i="1" dirty="0" err="1"/>
              <a:t>cout</a:t>
            </a:r>
            <a:r>
              <a:rPr lang="en-US" altLang="zh-CN" sz="1800" i="1" dirty="0"/>
              <a:t> &lt;&lt; </a:t>
            </a:r>
            <a:r>
              <a:rPr lang="en-US" altLang="zh-CN" sz="1800" i="1" dirty="0" err="1"/>
              <a:t>endl</a:t>
            </a:r>
            <a:r>
              <a:rPr lang="en-US" altLang="zh-CN" sz="1800" i="1" dirty="0"/>
              <a:t>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/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-304800" y="2362200"/>
            <a:ext cx="502920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Matrix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   int  *p_data;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int   lin,col;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public: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Matrix(int l, int c) 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  lin = 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col = c;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p_data = new int[lin*col];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~Matrix()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delete []p_data;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2466" name="Text Box 4"/>
          <p:cNvSpPr txBox="1">
            <a:spLocks noChangeArrowheads="1"/>
          </p:cNvSpPr>
          <p:nvPr/>
        </p:nvSpPr>
        <p:spPr bwMode="auto">
          <a:xfrm>
            <a:off x="-381000" y="2341563"/>
            <a:ext cx="4089400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Vector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 int  *p_data;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int   num;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public: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Vector(int n)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num = n;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p_data = new int[num];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~Vector()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{  delete []p_data;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62467" name="Text Box 5"/>
          <p:cNvSpPr txBox="1">
            <a:spLocks noChangeArrowheads="1"/>
          </p:cNvSpPr>
          <p:nvPr/>
        </p:nvSpPr>
        <p:spPr bwMode="auto">
          <a:xfrm>
            <a:off x="3505200" y="2051050"/>
            <a:ext cx="4579938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int &amp;element(int i)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return p_data[i];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void dimension(int &amp;n)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{ n = num;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void display()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{  int *p=p_data;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for (int i=0; i&lt;num; i++,p++)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cout &lt;&lt; *p &lt;&lt; ' ';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cout &lt;&lt; endl;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3490" name="Text Box 4"/>
          <p:cNvSpPr txBox="1">
            <a:spLocks noChangeArrowheads="1"/>
          </p:cNvSpPr>
          <p:nvPr/>
        </p:nvSpPr>
        <p:spPr bwMode="auto">
          <a:xfrm>
            <a:off x="990600" y="1860550"/>
            <a:ext cx="5821363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void   multiply(Matrix &amp;m, Vector &amp;v, Vector &amp;r)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   int  lin,  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m.dimension(lin,col);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for (int i=0; i&lt;lin; i++)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{   </a:t>
            </a:r>
            <a:r>
              <a:rPr lang="en-US" altLang="zh-CN" sz="1600" i="1" u="sng">
                <a:solidFill>
                  <a:schemeClr val="hlink"/>
                </a:solidFill>
              </a:rPr>
              <a:t>r.element(i)</a:t>
            </a:r>
            <a:r>
              <a:rPr lang="en-US" altLang="zh-CN" sz="1600" i="1"/>
              <a:t> = 0;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  for (int j=0; j&lt;col; j++)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      </a:t>
            </a:r>
            <a:r>
              <a:rPr lang="en-US" altLang="zh-CN" sz="1600" i="1" u="sng">
                <a:solidFill>
                  <a:schemeClr val="hlink"/>
                </a:solidFill>
              </a:rPr>
              <a:t>r.element(i)</a:t>
            </a:r>
            <a:r>
              <a:rPr lang="en-US" altLang="zh-CN" sz="1600" i="1"/>
              <a:t> += </a:t>
            </a:r>
            <a:r>
              <a:rPr lang="en-US" altLang="zh-CN" sz="1600" i="1" u="sng">
                <a:solidFill>
                  <a:schemeClr val="hlink"/>
                </a:solidFill>
              </a:rPr>
              <a:t>m.element(i,j)</a:t>
            </a:r>
            <a:r>
              <a:rPr lang="en-US" altLang="zh-CN" sz="1600" i="1" u="sng"/>
              <a:t>*</a:t>
            </a:r>
            <a:r>
              <a:rPr lang="en-US" altLang="zh-CN" sz="1600" i="1" u="sng">
                <a:solidFill>
                  <a:schemeClr val="hlink"/>
                </a:solidFill>
              </a:rPr>
              <a:t>v.element(j)</a:t>
            </a:r>
            <a:r>
              <a:rPr lang="en-US" altLang="zh-CN" sz="1600" i="1" u="sng"/>
              <a:t>;</a:t>
            </a:r>
            <a:endParaRPr lang="en-US" altLang="zh-CN" sz="16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void main()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    Matrix m(10,5);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Vector v(5);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Vector r(10);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......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multiply(m,v,r);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m.display();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v.display();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r.display();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分类</a:t>
            </a:r>
            <a:endParaRPr lang="en-US" altLang="zh-CN" sz="2400"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友元函数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友元类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友元类成员函数</a:t>
            </a:r>
          </a:p>
          <a:p>
            <a:pPr lvl="2" algn="just" eaLnBrk="1" hangingPunct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作用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提高程序设计灵活性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数据保护和对数据的存取效率之间的一个折中方案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void func() 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B;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{  …….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void f();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};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     {   	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 </a:t>
            </a:r>
            <a:r>
              <a:rPr lang="en-GB" altLang="zh-CN" sz="1800" i="1"/>
              <a:t>void func(); 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 </a:t>
            </a:r>
            <a:r>
              <a:rPr lang="en-GB" altLang="zh-CN" sz="1800" i="1"/>
              <a:t>class B; 	 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友元类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</a:t>
            </a:r>
            <a:r>
              <a:rPr lang="en-GB" altLang="zh-CN" sz="1800" i="1"/>
              <a:t> void C::f();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友元类成员函数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i="1"/>
              <a:t>	};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class Matrix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{    ......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		     friend void multiply(Matrix &amp;m, Vector &amp;v, Vector &amp;r);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};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class Vector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{    ......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	            friend void multiply(Matrix &amp;m, Vector &amp;v, Vector &amp;r);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};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1800" i="1" dirty="0"/>
          </a:p>
          <a:p>
            <a:pPr lvl="1" eaLnBrk="1" hangingPunct="1"/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友元不具有传递性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能编译吗？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原则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避免将</a:t>
            </a:r>
            <a:r>
              <a:rPr lang="en-US" altLang="zh-CN" sz="2400"/>
              <a:t>data member</a:t>
            </a:r>
            <a:r>
              <a:rPr lang="zh-CN" altLang="en-US" sz="2400"/>
              <a:t>放在公开接口中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努力让接口完满 (</a:t>
            </a:r>
            <a:r>
              <a:rPr lang="en-US" altLang="zh-CN" sz="2400"/>
              <a:t>complete) </a:t>
            </a:r>
            <a:r>
              <a:rPr lang="zh-CN" altLang="en-US" sz="2400"/>
              <a:t>且最小化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3571875" y="2362200"/>
            <a:ext cx="534352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class AccessLevels {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public: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get</a:t>
            </a:r>
            <a:r>
              <a:rPr lang="en-US" altLang="zh-CN" sz="1600" b="1" i="1">
                <a:solidFill>
                  <a:srgbClr val="FF0000"/>
                </a:solidFill>
              </a:rPr>
              <a:t>ReadOnly </a:t>
            </a:r>
            <a:r>
              <a:rPr lang="en-US" altLang="zh-CN" sz="1600" i="1"/>
              <a:t>const { return readOnly;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void set</a:t>
            </a:r>
            <a:r>
              <a:rPr lang="en-US" altLang="zh-CN" sz="1600" b="1" i="1">
                <a:solidFill>
                  <a:srgbClr val="006600"/>
                </a:solidFill>
              </a:rPr>
              <a:t>ReadWrite</a:t>
            </a:r>
            <a:r>
              <a:rPr lang="en-US" altLang="zh-CN" sz="1600" i="1">
                <a:solidFill>
                  <a:srgbClr val="FF0000"/>
                </a:solidFill>
              </a:rPr>
              <a:t>(</a:t>
            </a:r>
            <a:r>
              <a:rPr lang="en-US" altLang="zh-CN" sz="1600" i="1"/>
              <a:t>int value) { readWrite = value;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get</a:t>
            </a:r>
            <a:r>
              <a:rPr lang="en-US" altLang="zh-CN" sz="1600" b="1" i="1">
                <a:solidFill>
                  <a:srgbClr val="006600"/>
                </a:solidFill>
              </a:rPr>
              <a:t>ReadWrite</a:t>
            </a:r>
            <a:r>
              <a:rPr lang="en-US" altLang="zh-CN" sz="1600" i="1"/>
              <a:t>() { return readWrite;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void set</a:t>
            </a:r>
            <a:r>
              <a:rPr lang="en-US" altLang="zh-CN" sz="1600" b="1" i="1">
                <a:solidFill>
                  <a:srgbClr val="FF0000"/>
                </a:solidFill>
              </a:rPr>
              <a:t>WriteOnly</a:t>
            </a:r>
            <a:r>
              <a:rPr lang="en-US" altLang="zh-CN" sz="1600" i="1"/>
              <a:t>(int value) { writeOnly = value;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private: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noAccess;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readOnly;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readWrite;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writeOnly;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};</a:t>
            </a:r>
            <a:endParaRPr lang="zh-CN" altLang="en-US" sz="1600" i="1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31813" y="2803525"/>
          <a:ext cx="2552700" cy="1463675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3675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            Get</a:t>
                      </a:r>
                      <a:r>
                        <a:rPr lang="en-US" altLang="zh-CN" sz="1800" baseline="0" dirty="0"/>
                        <a:t>          Set</a:t>
                      </a:r>
                    </a:p>
                    <a:p>
                      <a:r>
                        <a:rPr lang="en-US" altLang="zh-CN" sz="1800" baseline="0" dirty="0"/>
                        <a:t>R             </a:t>
                      </a:r>
                      <a:r>
                        <a:rPr lang="en-US" altLang="zh-CN" sz="1800" b="1" baseline="0" dirty="0">
                          <a:solidFill>
                            <a:srgbClr val="006600"/>
                          </a:solidFill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W                 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RW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r>
                        <a:rPr lang="en-US" altLang="zh-CN" sz="1800" baseline="0" dirty="0"/>
                        <a:t>  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NONE</a:t>
                      </a:r>
                      <a:endParaRPr lang="zh-CN" altLang="en-US" sz="1800" dirty="0"/>
                    </a:p>
                  </a:txBody>
                  <a:tcPr marL="91455" marR="91455" marT="45740" marB="4574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 rot="-491613">
            <a:off x="5507038" y="908050"/>
            <a:ext cx="264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b="1">
                <a:solidFill>
                  <a:srgbClr val="002060"/>
                </a:solidFill>
              </a:rPr>
              <a:t>Law of Demeter</a:t>
            </a:r>
            <a:endParaRPr lang="zh-CN" altLang="en-US" sz="24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autoUpdateAnimBg="0"/>
      <p:bldP spid="6" grpId="0" build="allAtOnce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C++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11244</TotalTime>
  <Words>4492</Words>
  <Application>Microsoft Macintosh PowerPoint</Application>
  <PresentationFormat>全屏显示(4:3)</PresentationFormat>
  <Paragraphs>941</Paragraphs>
  <Slides>45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宋体</vt:lpstr>
      <vt:lpstr>Microsoft YaHei</vt:lpstr>
      <vt:lpstr>Arial Unicode MS</vt:lpstr>
      <vt:lpstr>Calibri</vt:lpstr>
      <vt:lpstr>Courier New</vt:lpstr>
      <vt:lpstr>Tahoma</vt:lpstr>
      <vt:lpstr>Times New Roman</vt:lpstr>
      <vt:lpstr>Wingdings</vt:lpstr>
      <vt:lpstr>Blends</vt:lpstr>
      <vt:lpstr>ThemC++</vt:lpstr>
      <vt:lpstr>C++程序设计（part 2）</vt:lpstr>
      <vt:lpstr>OOP</vt:lpstr>
      <vt:lpstr>类</vt:lpstr>
      <vt:lpstr>构造函数</vt:lpstr>
      <vt:lpstr>析构函数</vt:lpstr>
      <vt:lpstr>拷贝构造函数</vt:lpstr>
      <vt:lpstr>拷贝构造函数</vt:lpstr>
      <vt:lpstr>拷贝构造函数</vt:lpstr>
      <vt:lpstr>右值引用</vt:lpstr>
      <vt:lpstr>右值引用</vt:lpstr>
      <vt:lpstr>右值引用</vt:lpstr>
      <vt:lpstr>PowerPoint 演示文稿</vt:lpstr>
      <vt:lpstr>PowerPoint 演示文稿</vt:lpstr>
      <vt:lpstr>移动构造函数</vt:lpstr>
      <vt:lpstr>动态内存</vt:lpstr>
      <vt:lpstr>动态对象</vt:lpstr>
      <vt:lpstr>动态对象</vt:lpstr>
      <vt:lpstr>创建对象</vt:lpstr>
      <vt:lpstr>New Examples</vt:lpstr>
      <vt:lpstr>动态对象</vt:lpstr>
      <vt:lpstr>对象删除</vt:lpstr>
      <vt:lpstr>动态对象数组</vt:lpstr>
      <vt:lpstr>动态2D数组</vt:lpstr>
      <vt:lpstr>动态2D数组</vt:lpstr>
      <vt:lpstr>Const 成员</vt:lpstr>
      <vt:lpstr>Const 成员</vt:lpstr>
      <vt:lpstr>Const 成员</vt:lpstr>
      <vt:lpstr>Constant Expressions</vt:lpstr>
      <vt:lpstr>PowerPoint 演示文稿</vt:lpstr>
      <vt:lpstr>PowerPoint 演示文稿</vt:lpstr>
      <vt:lpstr>PowerPoint 演示文稿</vt:lpstr>
      <vt:lpstr>静态成员</vt:lpstr>
      <vt:lpstr>静态成员</vt:lpstr>
      <vt:lpstr>静态成员</vt:lpstr>
      <vt:lpstr>静态成员</vt:lpstr>
      <vt:lpstr>静态成员</vt:lpstr>
      <vt:lpstr>示例</vt:lpstr>
      <vt:lpstr>友元</vt:lpstr>
      <vt:lpstr>友元</vt:lpstr>
      <vt:lpstr>友元</vt:lpstr>
      <vt:lpstr>友元</vt:lpstr>
      <vt:lpstr>友元</vt:lpstr>
      <vt:lpstr>友元</vt:lpstr>
      <vt:lpstr>友元</vt:lpstr>
      <vt:lpstr>原则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</dc:title>
  <dc:creator>zt</dc:creator>
  <cp:lastModifiedBy>Pan Minxue</cp:lastModifiedBy>
  <cp:revision>523</cp:revision>
  <cp:lastPrinted>1601-01-01T00:00:00Z</cp:lastPrinted>
  <dcterms:created xsi:type="dcterms:W3CDTF">2007-03-08T08:43:17Z</dcterms:created>
  <dcterms:modified xsi:type="dcterms:W3CDTF">2025-10-11T05:07:03Z</dcterms:modified>
</cp:coreProperties>
</file>