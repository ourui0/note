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83" r:id="rId2"/>
    <p:sldId id="284" r:id="rId3"/>
    <p:sldId id="285" r:id="rId4"/>
    <p:sldId id="286" r:id="rId5"/>
    <p:sldId id="287" r:id="rId6"/>
    <p:sldId id="288" r:id="rId7"/>
    <p:sldId id="450" r:id="rId8"/>
    <p:sldId id="451" r:id="rId9"/>
    <p:sldId id="289" r:id="rId10"/>
    <p:sldId id="449" r:id="rId11"/>
    <p:sldId id="290" r:id="rId12"/>
    <p:sldId id="291" r:id="rId13"/>
    <p:sldId id="292" r:id="rId14"/>
    <p:sldId id="293" r:id="rId15"/>
    <p:sldId id="294" r:id="rId16"/>
    <p:sldId id="452" r:id="rId17"/>
    <p:sldId id="454" r:id="rId18"/>
    <p:sldId id="312" r:id="rId19"/>
    <p:sldId id="455" r:id="rId20"/>
    <p:sldId id="456" r:id="rId21"/>
    <p:sldId id="457" r:id="rId22"/>
    <p:sldId id="295" r:id="rId23"/>
    <p:sldId id="296" r:id="rId24"/>
    <p:sldId id="297" r:id="rId25"/>
    <p:sldId id="298" r:id="rId26"/>
    <p:sldId id="301" r:id="rId27"/>
    <p:sldId id="302" r:id="rId28"/>
    <p:sldId id="303" r:id="rId29"/>
    <p:sldId id="304" r:id="rId30"/>
    <p:sldId id="430" r:id="rId31"/>
    <p:sldId id="323" r:id="rId32"/>
    <p:sldId id="324" r:id="rId33"/>
    <p:sldId id="325" r:id="rId34"/>
    <p:sldId id="326" r:id="rId35"/>
    <p:sldId id="327" r:id="rId36"/>
    <p:sldId id="328" r:id="rId37"/>
    <p:sldId id="305" r:id="rId38"/>
    <p:sldId id="306" r:id="rId39"/>
    <p:sldId id="387" r:id="rId40"/>
    <p:sldId id="307" r:id="rId41"/>
    <p:sldId id="308" r:id="rId42"/>
    <p:sldId id="309" r:id="rId43"/>
    <p:sldId id="310" r:id="rId44"/>
    <p:sldId id="311" r:id="rId45"/>
    <p:sldId id="315" r:id="rId4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5pPr>
    <a:lvl6pPr marL="2286000" algn="l" defTabSz="914400" rtl="0" eaLnBrk="1" latinLnBrk="0" hangingPunct="1"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6pPr>
    <a:lvl7pPr marL="2743200" algn="l" defTabSz="914400" rtl="0" eaLnBrk="1" latinLnBrk="0" hangingPunct="1"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7pPr>
    <a:lvl8pPr marL="3200400" algn="l" defTabSz="914400" rtl="0" eaLnBrk="1" latinLnBrk="0" hangingPunct="1"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8pPr>
    <a:lvl9pPr marL="3657600" algn="l" defTabSz="914400" rtl="0" eaLnBrk="1" latinLnBrk="0" hangingPunct="1"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9" autoAdjust="0"/>
    <p:restoredTop sz="71497" autoAdjust="0"/>
  </p:normalViewPr>
  <p:slideViewPr>
    <p:cSldViewPr>
      <p:cViewPr varScale="1">
        <p:scale>
          <a:sx n="89" d="100"/>
          <a:sy n="89" d="100"/>
        </p:scale>
        <p:origin x="266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fld id="{B83C7A7A-3292-D544-804C-6E56607111E4}" type="datetimeFigureOut">
              <a:rPr lang="en-US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fld id="{64439808-3126-8948-820E-4BCC393D38B0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fld id="{C1A8B457-C542-A34B-9599-D9286F6596AD}" type="datetimeFigureOut">
              <a:rPr lang="zh-CN" altLang="en-US"/>
              <a:t>2025/11/23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fld id="{AFCF9BB5-D8D7-5D49-93FC-CF4B757E63A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6349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DE1F5C23-6786-0248-8D3F-6EEB93EE0084}" type="slidenum">
              <a:rPr lang="zh-CN" altLang="en-US" sz="1200"/>
              <a:t>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4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9A432655-B670-E346-A5EF-9485BB61F69F}" type="slidenum">
              <a:rPr lang="zh-CN" altLang="en-US" sz="1200"/>
              <a:t>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AF5AB-1D77-9D1B-3CA8-3636978D1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>
            <a:extLst>
              <a:ext uri="{FF2B5EF4-FFF2-40B4-BE49-F238E27FC236}">
                <a16:creationId xmlns:a16="http://schemas.microsoft.com/office/drawing/2014/main" id="{E35B1FAE-123B-36F6-4A99-BCA49A81F8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>
            <a:extLst>
              <a:ext uri="{FF2B5EF4-FFF2-40B4-BE49-F238E27FC236}">
                <a16:creationId xmlns:a16="http://schemas.microsoft.com/office/drawing/2014/main" id="{6038056F-5441-1598-DBBA-F364926EB5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65539" name="Slide Number Placeholder 3">
            <a:extLst>
              <a:ext uri="{FF2B5EF4-FFF2-40B4-BE49-F238E27FC236}">
                <a16:creationId xmlns:a16="http://schemas.microsoft.com/office/drawing/2014/main" id="{EC20AECB-05D1-E794-3159-400FB1B18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9A432655-B670-E346-A5EF-9485BB61F69F}" type="slidenum">
              <a:rPr lang="zh-CN" altLang="en-US" sz="1200"/>
              <a:t>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344985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F8D1-5506-B99A-0C33-9D6EBB782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526ECF-D390-649F-2076-DCE321F11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E4B128-A564-26A0-1CB6-00A9AB845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F9F7AA-5812-7B23-ACC9-02AC31009F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3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3037C-012D-AAE1-B83F-BBBD29FC0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C61058-C989-D474-8FBF-ABECA4D2A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9B26A1-F2AB-46AD-EF2A-54BB5B328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6F2301-8941-1797-F0F5-7C60BF677F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545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963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91CB64D1-5F1D-CF4C-BBAE-2D0ECAAB8A91}" type="slidenum">
              <a:rPr lang="zh-CN" altLang="en-US">
                <a:latin typeface="Tahoma" panose="020B0804030504040204" charset="0"/>
              </a:rPr>
              <a:t>12</a:t>
            </a:fld>
            <a:endParaRPr lang="en-US" altLang="zh-CN">
              <a:latin typeface="Tahoma" panose="020B080403050404020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463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737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E65DC357-5647-CD4F-AF16-E0E5766CB546}" type="slidenum">
              <a:rPr lang="zh-CN" altLang="en-US" sz="1200"/>
              <a:t>15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F09C-E20A-189A-E1FD-E4C59061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幻灯片图像占位符 1">
            <a:extLst>
              <a:ext uri="{FF2B5EF4-FFF2-40B4-BE49-F238E27FC236}">
                <a16:creationId xmlns:a16="http://schemas.microsoft.com/office/drawing/2014/main" id="{F5A766BA-CE4F-64B4-7CC8-47858E9551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8" name="备注占位符 2">
            <a:extLst>
              <a:ext uri="{FF2B5EF4-FFF2-40B4-BE49-F238E27FC236}">
                <a16:creationId xmlns:a16="http://schemas.microsoft.com/office/drawing/2014/main" id="{08A459BA-4C3F-2844-3E72-5554FCB232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75779" name="灯片编号占位符 3">
            <a:extLst>
              <a:ext uri="{FF2B5EF4-FFF2-40B4-BE49-F238E27FC236}">
                <a16:creationId xmlns:a16="http://schemas.microsoft.com/office/drawing/2014/main" id="{E496DDD0-7AE9-D255-51A3-630EA86D1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EB330FCE-8E77-0C4A-90BD-945811C4AA74}" type="slidenum">
              <a:rPr lang="zh-CN" altLang="en-US">
                <a:latin typeface="Tahoma" panose="020B0804030504040204" charset="0"/>
              </a:rPr>
              <a:t>16</a:t>
            </a:fld>
            <a:endParaRPr lang="en-US" altLang="zh-CN">
              <a:latin typeface="Tahoma" panose="020B08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662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62BCF-4FE2-8A9F-CC10-F30119A6E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幻灯片图像占位符 1">
            <a:extLst>
              <a:ext uri="{FF2B5EF4-FFF2-40B4-BE49-F238E27FC236}">
                <a16:creationId xmlns:a16="http://schemas.microsoft.com/office/drawing/2014/main" id="{7616B053-0E76-6B3D-8F4A-C14A089599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8" name="备注占位符 2">
            <a:extLst>
              <a:ext uri="{FF2B5EF4-FFF2-40B4-BE49-F238E27FC236}">
                <a16:creationId xmlns:a16="http://schemas.microsoft.com/office/drawing/2014/main" id="{8701D176-CAF0-8A9C-A31E-46F7A14F0B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75779" name="灯片编号占位符 3">
            <a:extLst>
              <a:ext uri="{FF2B5EF4-FFF2-40B4-BE49-F238E27FC236}">
                <a16:creationId xmlns:a16="http://schemas.microsoft.com/office/drawing/2014/main" id="{B5ACF72A-8AA6-01F4-CFB5-C81A97157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EB330FCE-8E77-0C4A-90BD-945811C4AA74}" type="slidenum">
              <a:rPr lang="zh-CN" altLang="en-US">
                <a:latin typeface="Tahoma" panose="020B0804030504040204" charset="0"/>
              </a:rPr>
              <a:t>17</a:t>
            </a:fld>
            <a:endParaRPr lang="en-US" altLang="zh-CN">
              <a:latin typeface="Tahoma" panose="020B08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794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7577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EB330FCE-8E77-0C4A-90BD-945811C4AA74}" type="slidenum">
              <a:rPr lang="zh-CN" altLang="en-US">
                <a:latin typeface="Tahoma" panose="020B0804030504040204" charset="0"/>
              </a:rPr>
              <a:t>18</a:t>
            </a:fld>
            <a:endParaRPr lang="en-US" altLang="zh-CN">
              <a:latin typeface="Tahoma" panose="020B080403050404020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845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9A35B-F2D6-A4C4-012C-343B40F92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幻灯片图像占位符 1">
            <a:extLst>
              <a:ext uri="{FF2B5EF4-FFF2-40B4-BE49-F238E27FC236}">
                <a16:creationId xmlns:a16="http://schemas.microsoft.com/office/drawing/2014/main" id="{513DA5CA-8BC6-9048-0EE0-9AB1C49BBF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8" name="备注占位符 2">
            <a:extLst>
              <a:ext uri="{FF2B5EF4-FFF2-40B4-BE49-F238E27FC236}">
                <a16:creationId xmlns:a16="http://schemas.microsoft.com/office/drawing/2014/main" id="{B75AA7D4-4435-6033-C9E3-1DE78CF629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75779" name="灯片编号占位符 3">
            <a:extLst>
              <a:ext uri="{FF2B5EF4-FFF2-40B4-BE49-F238E27FC236}">
                <a16:creationId xmlns:a16="http://schemas.microsoft.com/office/drawing/2014/main" id="{E2466A8F-7D9C-42AC-C0ED-5817E4111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EB330FCE-8E77-0C4A-90BD-945811C4AA74}" type="slidenum">
              <a:rPr lang="zh-CN" altLang="en-US">
                <a:latin typeface="Tahoma" panose="020B0804030504040204" charset="0"/>
              </a:rPr>
              <a:t>20</a:t>
            </a:fld>
            <a:endParaRPr lang="en-US" altLang="zh-CN">
              <a:latin typeface="Tahoma" panose="020B08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3451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E636-FA59-2E4F-1E83-8DC75CBB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幻灯片图像占位符 1">
            <a:extLst>
              <a:ext uri="{FF2B5EF4-FFF2-40B4-BE49-F238E27FC236}">
                <a16:creationId xmlns:a16="http://schemas.microsoft.com/office/drawing/2014/main" id="{B91B9E30-9924-32A8-0D26-012A59E02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8" name="备注占位符 2">
            <a:extLst>
              <a:ext uri="{FF2B5EF4-FFF2-40B4-BE49-F238E27FC236}">
                <a16:creationId xmlns:a16="http://schemas.microsoft.com/office/drawing/2014/main" id="{D55A47A9-678F-F524-D6EA-CFC8C23DCA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75779" name="灯片编号占位符 3">
            <a:extLst>
              <a:ext uri="{FF2B5EF4-FFF2-40B4-BE49-F238E27FC236}">
                <a16:creationId xmlns:a16="http://schemas.microsoft.com/office/drawing/2014/main" id="{B867CA3F-2270-69EB-2447-C31DE85DF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EB330FCE-8E77-0C4A-90BD-945811C4AA74}" type="slidenum">
              <a:rPr lang="zh-CN" altLang="en-US">
                <a:latin typeface="Tahoma" panose="020B0804030504040204" charset="0"/>
              </a:rPr>
              <a:t>21</a:t>
            </a:fld>
            <a:endParaRPr lang="en-US" altLang="zh-CN">
              <a:latin typeface="Tahoma" panose="020B08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0997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6838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endParaRPr lang="en-US" altLang="en-US" dirty="0"/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6FDF7FDE-AB8A-6B4C-A8B3-E201E797EB5D}" type="slidenum">
              <a:rPr lang="zh-CN" altLang="en-US" sz="1200"/>
              <a:t>23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8804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8634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116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8539CF17-2B6B-A443-B645-39F63575DF31}" type="slidenum">
              <a:rPr lang="zh-CN" altLang="en-US" sz="1200"/>
              <a:t>26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99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9A89E8EE-4907-8541-BBAD-84180FE5776A}" type="slidenum">
              <a:rPr lang="zh-CN" altLang="en-US">
                <a:latin typeface="Tahoma" panose="020B0804030504040204" charset="0"/>
              </a:rPr>
              <a:t>27</a:t>
            </a:fld>
            <a:endParaRPr lang="zh-CN" altLang="en-US">
              <a:latin typeface="Tahoma" panose="020B080403050404020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8704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15ECCC45-0C4C-B245-A499-E6A1DBA67116}" type="slidenum">
              <a:rPr lang="zh-CN" altLang="en-US" sz="1200"/>
              <a:t>28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9113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F3F5FA66-DA4C-914A-9DAC-C628414C5C21}" type="slidenum">
              <a:rPr lang="zh-CN" altLang="en-US">
                <a:latin typeface="Tahoma" panose="020B0804030504040204" charset="0"/>
              </a:rPr>
              <a:t>29</a:t>
            </a:fld>
            <a:endParaRPr lang="en-US" altLang="zh-CN">
              <a:latin typeface="Tahoma" panose="020B080403050404020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6326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8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ECB6C441-B707-0045-894B-893FD920D9AA}" type="slidenum">
              <a:rPr lang="zh-CN" altLang="en-US">
                <a:latin typeface="Tahoma" panose="020B0804030504040204" charset="0"/>
              </a:rPr>
              <a:t>31</a:t>
            </a:fld>
            <a:endParaRPr lang="en-US" altLang="zh-CN">
              <a:latin typeface="Tahoma" panose="020B080403050404020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93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1A76833C-4A92-3B46-B841-E68FC3525190}" type="slidenum">
              <a:rPr lang="zh-CN" altLang="en-US" sz="1200"/>
              <a:t>36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13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5DE05F87-6B37-AE4E-A7C4-8405275B6C89}" type="slidenum">
              <a:rPr lang="zh-CN" altLang="en-US" sz="1200"/>
              <a:t>37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8234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0358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075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5CEB95CF-2F3D-394F-8956-C8D0F03F0F05}" type="slidenum">
              <a:rPr lang="zh-CN" altLang="en-US" sz="1200"/>
              <a:t>43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4695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243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1pPr>
                <a:lvl2pPr marL="742950" indent="-28575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5pPr>
                <a:lvl6pPr marL="25146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6pPr>
                <a:lvl7pPr marL="29718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7pPr>
                <a:lvl8pPr marL="34290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8pPr>
                <a:lvl9pPr marL="38862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1pPr>
                <a:lvl2pPr marL="742950" indent="-28575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5pPr>
                <a:lvl6pPr marL="25146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6pPr>
                <a:lvl7pPr marL="29718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7pPr>
                <a:lvl8pPr marL="34290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8pPr>
                <a:lvl9pPr marL="38862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1pPr>
                <a:lvl2pPr marL="742950" indent="-28575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5pPr>
                <a:lvl6pPr marL="25146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6pPr>
                <a:lvl7pPr marL="29718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7pPr>
                <a:lvl8pPr marL="34290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8pPr>
                <a:lvl9pPr marL="38862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1pPr>
                <a:lvl2pPr marL="742950" indent="-28575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5pPr>
                <a:lvl6pPr marL="25146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6pPr>
                <a:lvl7pPr marL="29718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7pPr>
                <a:lvl8pPr marL="34290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8pPr>
                <a:lvl9pPr marL="38862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1pPr>
              <a:lvl2pPr marL="742950" indent="-28575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2pPr>
              <a:lvl3pPr marL="11430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3pPr>
              <a:lvl4pPr marL="16002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4pPr>
              <a:lvl5pPr marL="20574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5pPr>
              <a:lvl6pPr marL="25146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6pPr>
              <a:lvl7pPr marL="29718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7pPr>
              <a:lvl8pPr marL="34290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8pPr>
              <a:lvl9pPr marL="38862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1pPr>
              <a:lvl2pPr marL="742950" indent="-28575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2pPr>
              <a:lvl3pPr marL="11430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3pPr>
              <a:lvl4pPr marL="16002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4pPr>
              <a:lvl5pPr marL="20574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5pPr>
              <a:lvl6pPr marL="25146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6pPr>
              <a:lvl7pPr marL="29718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7pPr>
              <a:lvl8pPr marL="34290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8pPr>
              <a:lvl9pPr marL="38862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1pPr>
              <a:lvl2pPr marL="742950" indent="-28575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2pPr>
              <a:lvl3pPr marL="11430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3pPr>
              <a:lvl4pPr marL="16002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4pPr>
              <a:lvl5pPr marL="20574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5pPr>
              <a:lvl6pPr marL="25146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6pPr>
              <a:lvl7pPr marL="29718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7pPr>
              <a:lvl8pPr marL="34290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8pPr>
              <a:lvl9pPr marL="38862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81C95258-68AE-FD4B-8236-D26A719CC2B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077DC-756B-0A43-97C2-56D92CAACD7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7C545-38E5-B44B-8458-472EBF1759C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D1799-CFEA-814B-AEE5-EDD2A7ABDD3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61200-847C-0945-9F3B-06BFD00CD2F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142A79-2DDC-464C-A5BF-32215B1B0DE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75EA9-DE5E-824F-9FDC-2277BE9AE05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DC920-875B-224A-B639-4B7966933C6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187C00-67C4-DA4A-987E-9EDE806600F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ACC722-8DA1-444C-9958-A494FFE8DBB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C6D5B-8B3E-554D-8ABF-CBC24004F9D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i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i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i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i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i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i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i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 i="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 i="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 i="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fld id="{D5654C3A-3D29-6D46-98ED-EC5CD6C91F91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	</a:t>
            </a:r>
            <a:r>
              <a:rPr lang="en-US" altLang="zh-CN"/>
              <a:t>template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/>
              <a:t>模板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/>
              <a:t>源代码复用机制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>
                <a:latin typeface="SimSun" charset="-122"/>
              </a:rPr>
              <a:t>参数化模块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/>
              <a:t>对程序模块（如：类、函数）加上</a:t>
            </a:r>
            <a:r>
              <a:rPr lang="en-GB" altLang="en-US" sz="2000" b="1">
                <a:solidFill>
                  <a:srgbClr val="C00000"/>
                </a:solidFill>
                <a:latin typeface="SimSun" charset="-122"/>
              </a:rPr>
              <a:t>类型参数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对不同类型的数据实施相同的操作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>
                <a:latin typeface="SimSun" charset="-122"/>
              </a:rPr>
              <a:t>多态的一种形式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>
              <a:latin typeface="SimSun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/>
              <a:t>C++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类属函数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类属类</a:t>
            </a:r>
            <a:endParaRPr lang="en-GB" alt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	</a:t>
            </a:r>
            <a:r>
              <a:rPr lang="en-US" altLang="zh-CN"/>
              <a:t>template function</a:t>
            </a:r>
            <a:endParaRPr lang="zh-CN" alt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sz="2800">
                <a:latin typeface="SimSun" charset="-122"/>
              </a:rPr>
              <a:t>类属函数		</a:t>
            </a:r>
            <a:r>
              <a:rPr lang="en-GB" altLang="en-US" sz="2400"/>
              <a:t>template function</a:t>
            </a:r>
          </a:p>
          <a:p>
            <a:pPr lvl="1" eaLnBrk="1" hangingPunct="1"/>
            <a:r>
              <a:rPr lang="en-GB" altLang="zh-CN" sz="2400">
                <a:latin typeface="SimSun" charset="-122"/>
              </a:rPr>
              <a:t>同一</a:t>
            </a:r>
            <a:r>
              <a:rPr lang="en-GB" altLang="en-US" sz="2400">
                <a:latin typeface="SimSun" charset="-122"/>
              </a:rPr>
              <a:t>函数对不同类型的数据完成相同的操作</a:t>
            </a:r>
          </a:p>
          <a:p>
            <a:pPr lvl="1" eaLnBrk="1" hangingPunct="1"/>
            <a:endParaRPr lang="zh-CN" altLang="en-US" sz="2400">
              <a:latin typeface="SimSun" charset="-122"/>
            </a:endParaRPr>
          </a:p>
          <a:p>
            <a:pPr lvl="1" algn="just" eaLnBrk="1" hangingPunct="1"/>
            <a:r>
              <a:rPr lang="en-GB" altLang="en-US" sz="2400">
                <a:latin typeface="SimSun" charset="-122"/>
              </a:rPr>
              <a:t>宏实现</a:t>
            </a:r>
          </a:p>
          <a:p>
            <a:pPr lvl="2" algn="just" eaLnBrk="1" hangingPunct="1"/>
            <a:r>
              <a:rPr lang="en-GB" altLang="en-US" sz="2000" i="1"/>
              <a:t>#</a:t>
            </a:r>
            <a:r>
              <a:rPr lang="en-GB" altLang="zh-CN" sz="2000" i="1"/>
              <a:t>define  max(a,b)   ((a)&gt;(b)?(a):(b))</a:t>
            </a:r>
          </a:p>
          <a:p>
            <a:pPr lvl="2" algn="just" eaLnBrk="1" hangingPunct="1"/>
            <a:r>
              <a:rPr lang="zh-CN" altLang="en-GB" sz="2000">
                <a:latin typeface="SimSun" charset="-122"/>
              </a:rPr>
              <a:t>缺陷</a:t>
            </a:r>
          </a:p>
          <a:p>
            <a:pPr lvl="3" algn="just" eaLnBrk="1" hangingPunct="1"/>
            <a:r>
              <a:rPr lang="en-US" altLang="en-GB">
                <a:latin typeface="SimSun" charset="-122"/>
              </a:rPr>
              <a:t>只能实现简单的功能</a:t>
            </a:r>
          </a:p>
          <a:p>
            <a:pPr lvl="3" algn="just" eaLnBrk="1" hangingPunct="1"/>
            <a:r>
              <a:rPr lang="en-US" altLang="zh-CN">
                <a:latin typeface="SimSun" charset="-122"/>
              </a:rPr>
              <a:t>没有</a:t>
            </a:r>
            <a:r>
              <a:rPr lang="en-US" altLang="en-GB">
                <a:latin typeface="SimSun" charset="-122"/>
              </a:rPr>
              <a:t>类型检查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	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 eaLnBrk="1" hangingPunct="1"/>
            <a:r>
              <a:rPr lang="en-GB" altLang="en-US" sz="2400">
                <a:latin typeface="SimSun" charset="-122"/>
              </a:rPr>
              <a:t>函数重载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 sz="2000" i="1"/>
              <a:t>int max(int,int);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 sz="2000" i="1"/>
              <a:t>double max(double,double);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 sz="2000" i="1"/>
              <a:t>A max(A,A);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endParaRPr lang="en-GB" altLang="zh-CN" sz="2000" i="1"/>
          </a:p>
          <a:p>
            <a:pPr lvl="2" algn="just" eaLnBrk="1" hangingPunct="1"/>
            <a:r>
              <a:rPr lang="zh-CN" altLang="en-GB" sz="2000">
                <a:latin typeface="SimSun" charset="-122"/>
              </a:rPr>
              <a:t>缺陷</a:t>
            </a:r>
          </a:p>
          <a:p>
            <a:pPr lvl="3" algn="just" eaLnBrk="1" hangingPunct="1"/>
            <a:r>
              <a:rPr lang="en-US" altLang="en-GB">
                <a:latin typeface="SimSun" charset="-122"/>
              </a:rPr>
              <a:t>需要定义的重载函数太多</a:t>
            </a:r>
          </a:p>
          <a:p>
            <a:pPr lvl="3" algn="just" eaLnBrk="1" hangingPunct="1"/>
            <a:r>
              <a:rPr lang="en-US" altLang="en-GB">
                <a:latin typeface="SimSun" charset="-122"/>
              </a:rPr>
              <a:t>定义不全</a:t>
            </a:r>
            <a:endParaRPr lang="zh-CN" altLang="en-US">
              <a:latin typeface="SimSun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	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 eaLnBrk="1" hangingPunct="1"/>
            <a:r>
              <a:rPr lang="en-GB" altLang="zh-CN" sz="2400">
                <a:latin typeface="SimSun" charset="-122"/>
              </a:rPr>
              <a:t>函数</a:t>
            </a:r>
            <a:r>
              <a:rPr lang="en-GB" altLang="en-US" sz="2400">
                <a:latin typeface="SimSun" charset="-122"/>
              </a:rPr>
              <a:t>指针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GB" altLang="en-US">
                <a:latin typeface="SimSun" charset="-122"/>
              </a:rPr>
              <a:t> </a:t>
            </a:r>
            <a:r>
              <a:rPr lang="en-GB" altLang="zh-CN">
                <a:latin typeface="SimSun" charset="-122"/>
              </a:rPr>
              <a:t> </a:t>
            </a:r>
            <a:r>
              <a:rPr lang="en-GB" altLang="zh-CN" sz="2000" i="1"/>
              <a:t>void sort(void * , unsigned int, unsigned int,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GB" altLang="zh-CN" sz="2000" i="1"/>
              <a:t>			int  (* cmp) (void *, void *)</a:t>
            </a:r>
            <a:r>
              <a:rPr lang="en-GB" altLang="en-US" sz="2000" i="1"/>
              <a:t> )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en-GB" altLang="en-US" sz="2000" i="1"/>
          </a:p>
          <a:p>
            <a:pPr lvl="2" algn="just" eaLnBrk="1" hangingPunct="1"/>
            <a:r>
              <a:rPr lang="en-GB" altLang="zh-CN" sz="2000"/>
              <a:t>缺陷</a:t>
            </a:r>
          </a:p>
          <a:p>
            <a:pPr lvl="3" algn="just" eaLnBrk="1" hangingPunct="1"/>
            <a:r>
              <a:rPr lang="en-GB" altLang="en-US">
                <a:latin typeface="SimSun" charset="-122"/>
              </a:rPr>
              <a:t>需要定义额外参数</a:t>
            </a:r>
          </a:p>
          <a:p>
            <a:pPr lvl="3" algn="just" eaLnBrk="1" hangingPunct="1"/>
            <a:r>
              <a:rPr lang="en-GB" altLang="en-US">
                <a:latin typeface="SimSun" charset="-122"/>
              </a:rPr>
              <a:t>大量指针运算</a:t>
            </a:r>
          </a:p>
          <a:p>
            <a:pPr lvl="3" algn="just" eaLnBrk="1" hangingPunct="1"/>
            <a:r>
              <a:rPr lang="en-GB" altLang="en-US">
                <a:latin typeface="SimSun" charset="-122"/>
              </a:rPr>
              <a:t>实现起来</a:t>
            </a:r>
            <a:r>
              <a:rPr lang="en-GB" altLang="zh-CN">
                <a:latin typeface="SimSun" charset="-122"/>
              </a:rPr>
              <a:t>复杂</a:t>
            </a:r>
          </a:p>
          <a:p>
            <a:pPr lvl="3" algn="just" eaLnBrk="1" hangingPunct="1"/>
            <a:r>
              <a:rPr lang="en-GB" altLang="en-US">
                <a:latin typeface="SimSun" charset="-122"/>
              </a:rPr>
              <a:t>可读性差</a:t>
            </a:r>
            <a:endParaRPr lang="zh-CN" altLang="en-US">
              <a:latin typeface="SimSun" charset="-122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786313" y="5214938"/>
            <a:ext cx="3932237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i="0"/>
              <a:t>＝</a:t>
            </a:r>
            <a:r>
              <a:rPr lang="en-US" altLang="zh-CN" sz="2400" i="0"/>
              <a:t>》template </a:t>
            </a:r>
            <a:r>
              <a:rPr lang="zh-CN" altLang="en-US" sz="2400" i="0"/>
              <a:t>引入的目标：</a:t>
            </a:r>
            <a:endParaRPr lang="en-US" altLang="zh-CN" sz="2400" i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i="0">
                <a:solidFill>
                  <a:srgbClr val="C00000"/>
                </a:solidFill>
              </a:rPr>
              <a:t>完全</a:t>
            </a:r>
            <a:endParaRPr lang="en-US" altLang="zh-CN" sz="2000" b="1" i="0">
              <a:solidFill>
                <a:srgbClr val="C000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i="0">
                <a:solidFill>
                  <a:srgbClr val="C00000"/>
                </a:solidFill>
              </a:rPr>
              <a:t>清晰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	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32712" cy="4459287"/>
          </a:xfrm>
        </p:spPr>
        <p:txBody>
          <a:bodyPr/>
          <a:lstStyle/>
          <a:p>
            <a:pPr lvl="1" algn="just" eaLnBrk="1" hangingPunct="1"/>
            <a:r>
              <a:rPr lang="en-GB" altLang="en-US" sz="2400">
                <a:latin typeface="SimSun" charset="-122"/>
              </a:rPr>
              <a:t>函数模板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endParaRPr lang="en-GB" altLang="zh-CN" i="1">
              <a:latin typeface="SimSun" charset="-122"/>
            </a:endParaRPr>
          </a:p>
        </p:txBody>
      </p:sp>
      <p:sp>
        <p:nvSpPr>
          <p:cNvPr id="62467" name="Text Box 4"/>
          <p:cNvSpPr txBox="1">
            <a:spLocks noChangeArrowheads="1"/>
          </p:cNvSpPr>
          <p:nvPr/>
        </p:nvSpPr>
        <p:spPr bwMode="auto">
          <a:xfrm>
            <a:off x="2117725" y="2760663"/>
            <a:ext cx="5426075" cy="375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lnSpc>
                <a:spcPct val="90000"/>
              </a:lnSpc>
              <a:buSzPct val="50000"/>
              <a:buFont typeface="Wingdings" panose="05000000000000000000" pitchFamily="2" charset="2"/>
              <a:buNone/>
            </a:pPr>
            <a:r>
              <a:rPr lang="en-GB" altLang="zh-CN" sz="2000"/>
              <a:t>void sort(int A[], unsigned int num)</a:t>
            </a:r>
          </a:p>
          <a:p>
            <a:pPr eaLnBrk="1" hangingPunct="1">
              <a:lnSpc>
                <a:spcPct val="90000"/>
              </a:lnSpc>
              <a:buSzPct val="50000"/>
              <a:buFont typeface="Wingdings" panose="05000000000000000000" pitchFamily="2" charset="2"/>
              <a:buNone/>
            </a:pPr>
            <a:r>
              <a:rPr lang="en-GB" altLang="zh-CN" sz="2000"/>
              <a:t>{    for (int i=1; i&lt;num; i++)</a:t>
            </a:r>
          </a:p>
          <a:p>
            <a:pPr eaLnBrk="1" hangingPunct="1">
              <a:lnSpc>
                <a:spcPct val="90000"/>
              </a:lnSpc>
              <a:buSzPct val="50000"/>
              <a:buFont typeface="Wingdings" panose="05000000000000000000" pitchFamily="2" charset="2"/>
              <a:buNone/>
            </a:pPr>
            <a:r>
              <a:rPr lang="en-GB" altLang="zh-CN" sz="2000"/>
              <a:t>	for (int j=0; j&lt;</a:t>
            </a:r>
            <a:r>
              <a:rPr lang="en-US" altLang="zh-CN" sz="2000"/>
              <a:t>num-</a:t>
            </a:r>
            <a:r>
              <a:rPr lang="en-GB" altLang="zh-CN" sz="2000"/>
              <a:t>i; j++)</a:t>
            </a:r>
          </a:p>
          <a:p>
            <a:pPr eaLnBrk="1" hangingPunct="1">
              <a:lnSpc>
                <a:spcPct val="90000"/>
              </a:lnSpc>
              <a:buSzPct val="50000"/>
              <a:buFont typeface="Wingdings" panose="05000000000000000000" pitchFamily="2" charset="2"/>
              <a:buNone/>
            </a:pPr>
            <a:r>
              <a:rPr lang="en-GB" altLang="zh-CN" sz="2000"/>
              <a:t>     	{</a:t>
            </a:r>
          </a:p>
          <a:p>
            <a:pPr eaLnBrk="1" hangingPunct="1">
              <a:lnSpc>
                <a:spcPct val="90000"/>
              </a:lnSpc>
              <a:buSzPct val="50000"/>
              <a:buFont typeface="Wingdings" panose="05000000000000000000" pitchFamily="2" charset="2"/>
              <a:buNone/>
            </a:pPr>
            <a:r>
              <a:rPr lang="en-GB" altLang="zh-CN" sz="2000"/>
              <a:t>                if  (A[j] &gt; A[j+1]) </a:t>
            </a:r>
          </a:p>
          <a:p>
            <a:pPr eaLnBrk="1" hangingPunct="1">
              <a:lnSpc>
                <a:spcPct val="90000"/>
              </a:lnSpc>
              <a:buSzPct val="50000"/>
              <a:buFont typeface="Wingdings" panose="05000000000000000000" pitchFamily="2" charset="2"/>
              <a:buNone/>
            </a:pPr>
            <a:r>
              <a:rPr lang="en-GB" altLang="zh-CN" sz="2000"/>
              <a:t>    	    {      int  t = A[j];</a:t>
            </a:r>
          </a:p>
          <a:p>
            <a:pPr eaLnBrk="1" hangingPunct="1">
              <a:lnSpc>
                <a:spcPct val="90000"/>
              </a:lnSpc>
              <a:buSzPct val="50000"/>
              <a:buFont typeface="Wingdings" panose="05000000000000000000" pitchFamily="2" charset="2"/>
              <a:buNone/>
            </a:pPr>
            <a:r>
              <a:rPr lang="en-GB" altLang="zh-CN" sz="2000"/>
              <a:t>		A[j] = A[j+1];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n-GB" altLang="zh-CN" sz="2000"/>
              <a:t>		A[j+1] = t;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/>
              <a:t>     }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GB" sz="2000"/>
              <a:t>}</a:t>
            </a:r>
          </a:p>
          <a:p>
            <a:pPr eaLnBrk="1" hangingPunct="1">
              <a:lnSpc>
                <a:spcPct val="90000"/>
              </a:lnSpc>
              <a:buSzPct val="50000"/>
              <a:buFont typeface="Wingdings" panose="05000000000000000000" pitchFamily="2" charset="2"/>
              <a:buNone/>
            </a:pPr>
            <a:r>
              <a:rPr lang="zh-CN" altLang="en-GB" sz="2000"/>
              <a:t>}</a:t>
            </a:r>
            <a:endParaRPr lang="zh-CN" altLang="en-US" sz="2000" i="0"/>
          </a:p>
        </p:txBody>
      </p:sp>
      <p:sp>
        <p:nvSpPr>
          <p:cNvPr id="128006" name="Text Box 6"/>
          <p:cNvSpPr txBox="1">
            <a:spLocks noChangeArrowheads="1"/>
          </p:cNvSpPr>
          <p:nvPr/>
        </p:nvSpPr>
        <p:spPr bwMode="auto">
          <a:xfrm>
            <a:off x="3286125" y="2746375"/>
            <a:ext cx="331788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chemeClr val="hlink"/>
                </a:solidFill>
              </a:rPr>
              <a:t>T</a:t>
            </a:r>
          </a:p>
        </p:txBody>
      </p:sp>
      <p:sp>
        <p:nvSpPr>
          <p:cNvPr id="128008" name="Text Box 8"/>
          <p:cNvSpPr txBox="1">
            <a:spLocks noChangeArrowheads="1"/>
          </p:cNvSpPr>
          <p:nvPr/>
        </p:nvSpPr>
        <p:spPr bwMode="auto">
          <a:xfrm>
            <a:off x="4025900" y="4460875"/>
            <a:ext cx="331788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chemeClr val="hlink"/>
                </a:solidFill>
              </a:rPr>
              <a:t>T</a:t>
            </a:r>
          </a:p>
        </p:txBody>
      </p:sp>
      <p:sp>
        <p:nvSpPr>
          <p:cNvPr id="128009" name="Text Box 9"/>
          <p:cNvSpPr txBox="1">
            <a:spLocks noChangeArrowheads="1"/>
          </p:cNvSpPr>
          <p:nvPr/>
        </p:nvSpPr>
        <p:spPr bwMode="auto">
          <a:xfrm>
            <a:off x="2195513" y="2444750"/>
            <a:ext cx="29733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chemeClr val="hlink"/>
                </a:solidFill>
              </a:rPr>
              <a:t>template &lt;typename</a:t>
            </a:r>
            <a:r>
              <a:rPr lang="zh-CN" altLang="en-US" sz="2000" i="0">
                <a:solidFill>
                  <a:schemeClr val="hlink"/>
                </a:solidFill>
              </a:rPr>
              <a:t> </a:t>
            </a:r>
            <a:r>
              <a:rPr lang="en-US" altLang="zh-CN" sz="2000" i="0">
                <a:solidFill>
                  <a:schemeClr val="hlink"/>
                </a:solidFill>
              </a:rPr>
              <a:t>T&gt;</a:t>
            </a:r>
          </a:p>
        </p:txBody>
      </p:sp>
      <p:sp>
        <p:nvSpPr>
          <p:cNvPr id="128010" name="Text Box 10"/>
          <p:cNvSpPr txBox="1">
            <a:spLocks noChangeArrowheads="1"/>
          </p:cNvSpPr>
          <p:nvPr/>
        </p:nvSpPr>
        <p:spPr bwMode="auto">
          <a:xfrm>
            <a:off x="212725" y="3587750"/>
            <a:ext cx="1852613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>
                <a:solidFill>
                  <a:schemeClr val="tx2"/>
                </a:solidFill>
              </a:rPr>
              <a:t>int a[100];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>
                <a:solidFill>
                  <a:schemeClr val="tx2"/>
                </a:solidFill>
              </a:rPr>
              <a:t>sort(a,100);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200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>
                <a:solidFill>
                  <a:schemeClr val="tx2"/>
                </a:solidFill>
              </a:rPr>
              <a:t>double b[200];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>
                <a:solidFill>
                  <a:schemeClr val="tx2"/>
                </a:solidFill>
              </a:rPr>
              <a:t>sort(b,200);</a:t>
            </a:r>
          </a:p>
        </p:txBody>
      </p:sp>
      <p:sp>
        <p:nvSpPr>
          <p:cNvPr id="128011" name="Text Box 11"/>
          <p:cNvSpPr txBox="1">
            <a:spLocks noChangeArrowheads="1"/>
          </p:cNvSpPr>
          <p:nvPr/>
        </p:nvSpPr>
        <p:spPr bwMode="auto">
          <a:xfrm>
            <a:off x="4859338" y="5661025"/>
            <a:ext cx="16922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2"/>
                </a:solidFill>
              </a:rPr>
              <a:t>class C { …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2"/>
                </a:solidFill>
              </a:rPr>
              <a:t>C a[300];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2"/>
                </a:solidFill>
              </a:rPr>
              <a:t>sort(a,300);</a:t>
            </a:r>
            <a:endParaRPr lang="zh-CN" altLang="en-US" sz="2400" i="0"/>
          </a:p>
        </p:txBody>
      </p:sp>
      <p:sp>
        <p:nvSpPr>
          <p:cNvPr id="128012" name="Text Box 12"/>
          <p:cNvSpPr txBox="1">
            <a:spLocks noChangeArrowheads="1"/>
          </p:cNvSpPr>
          <p:nvPr/>
        </p:nvSpPr>
        <p:spPr bwMode="auto">
          <a:xfrm>
            <a:off x="6553200" y="5410200"/>
            <a:ext cx="25034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000" i="0">
                <a:solidFill>
                  <a:srgbClr val="FF0066"/>
                </a:solidFill>
              </a:rPr>
              <a:t> </a:t>
            </a:r>
            <a:r>
              <a:rPr lang="zh-CN" altLang="en-US" sz="2000" b="1" i="0">
                <a:solidFill>
                  <a:srgbClr val="FF0066"/>
                </a:solidFill>
              </a:rPr>
              <a:t>必须重载</a:t>
            </a:r>
            <a:r>
              <a:rPr lang="zh-CN" altLang="en-US" sz="2000" b="1" i="0">
                <a:solidFill>
                  <a:srgbClr val="FF0066"/>
                </a:solidFill>
                <a:latin typeface="SimSun" charset="-122"/>
              </a:rPr>
              <a:t>操作符</a:t>
            </a:r>
            <a:r>
              <a:rPr lang="zh-CN" altLang="en-US" sz="2000" i="0">
                <a:solidFill>
                  <a:srgbClr val="FF0066"/>
                </a:solidFill>
                <a:latin typeface="SimSun" charset="-122"/>
              </a:rPr>
              <a:t> </a:t>
            </a:r>
            <a:r>
              <a:rPr lang="en-US" altLang="zh-CN" sz="2000" b="1" i="0">
                <a:solidFill>
                  <a:srgbClr val="FF0066"/>
                </a:solidFill>
              </a:rPr>
              <a:t>&gt;</a:t>
            </a:r>
            <a:endParaRPr lang="zh-CN" altLang="en-US" sz="2000" b="1" i="0">
              <a:solidFill>
                <a:srgbClr val="FF0066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zh-CN" altLang="en-US" sz="2000" b="1" i="0">
              <a:solidFill>
                <a:srgbClr val="0066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2000" i="0">
                <a:solidFill>
                  <a:srgbClr val="006600"/>
                </a:solidFill>
              </a:rPr>
              <a:t> =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000" i="0">
                <a:solidFill>
                  <a:srgbClr val="006600"/>
                </a:solidFill>
              </a:rPr>
              <a:t> copy constructor</a:t>
            </a:r>
            <a:endParaRPr lang="zh-CN" altLang="en-US" sz="2000" b="1" i="0">
              <a:solidFill>
                <a:srgbClr val="00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8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8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6" grpId="0" animBg="1" autoUpdateAnimBg="0"/>
      <p:bldP spid="128008" grpId="0" animBg="1" autoUpdateAnimBg="0"/>
      <p:bldP spid="128009" grpId="0" autoUpdateAnimBg="0"/>
      <p:bldP spid="128010" grpId="0" autoUpdateAnimBg="0"/>
      <p:bldP spid="128011" grpId="0" autoUpdateAnimBg="0"/>
      <p:bldP spid="12801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	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GB" altLang="en-US" sz="2400" dirty="0" err="1">
                <a:latin typeface="SimSun" charset="-122"/>
              </a:rPr>
              <a:t>函数模板定义了一类重载的函数</a:t>
            </a:r>
            <a:endParaRPr lang="en-GB" altLang="en-US" sz="2400" dirty="0">
              <a:latin typeface="SimSun" charset="-122"/>
            </a:endParaRPr>
          </a:p>
          <a:p>
            <a:pPr lvl="1" eaLnBrk="1" hangingPunct="1"/>
            <a:endParaRPr lang="en-GB" altLang="en-US" sz="2400" dirty="0">
              <a:latin typeface="SimSun" charset="-122"/>
            </a:endParaRPr>
          </a:p>
          <a:p>
            <a:pPr lvl="1" eaLnBrk="1" hangingPunct="1"/>
            <a:r>
              <a:rPr lang="en-GB" altLang="en-US" sz="2400" dirty="0" err="1">
                <a:latin typeface="SimSun" charset="-122"/>
              </a:rPr>
              <a:t>编译系统自动实例化函数模板</a:t>
            </a:r>
            <a:endParaRPr lang="en-GB" altLang="en-US" sz="2400" dirty="0">
              <a:latin typeface="SimSun" charset="-122"/>
            </a:endParaRPr>
          </a:p>
          <a:p>
            <a:pPr lvl="1" eaLnBrk="1" hangingPunct="1"/>
            <a:endParaRPr lang="en-US" altLang="en-US" sz="2400" dirty="0">
              <a:latin typeface="SimSun" charset="-122"/>
            </a:endParaRPr>
          </a:p>
          <a:p>
            <a:pPr lvl="1" eaLnBrk="1" hangingPunct="1"/>
            <a:r>
              <a:rPr lang="en-US" altLang="zh-CN" sz="2400" dirty="0" err="1">
                <a:latin typeface="SimSun" charset="-122"/>
              </a:rPr>
              <a:t>函数</a:t>
            </a:r>
            <a:r>
              <a:rPr lang="zh-CN" altLang="en-US" sz="2400" dirty="0">
                <a:latin typeface="SimSun" charset="-122"/>
              </a:rPr>
              <a:t>模板的参数</a:t>
            </a:r>
          </a:p>
          <a:p>
            <a:pPr lvl="2" eaLnBrk="1" hangingPunct="1"/>
            <a:r>
              <a:rPr lang="en-GB" altLang="en-US" sz="2000" dirty="0" err="1">
                <a:latin typeface="SimSun" charset="-122"/>
              </a:rPr>
              <a:t>可有多个</a:t>
            </a:r>
            <a:r>
              <a:rPr lang="en-GB" altLang="zh-CN" sz="2000" dirty="0" err="1">
                <a:latin typeface="SimSun" charset="-122"/>
              </a:rPr>
              <a:t>类型</a:t>
            </a:r>
            <a:r>
              <a:rPr lang="zh-CN" altLang="en-GB" sz="2000" dirty="0">
                <a:latin typeface="SimSun" charset="-122"/>
              </a:rPr>
              <a:t>参数</a:t>
            </a:r>
            <a:r>
              <a:rPr lang="en-US" altLang="en-GB" sz="2000" dirty="0">
                <a:latin typeface="SimSun" charset="-122"/>
              </a:rPr>
              <a:t>，</a:t>
            </a:r>
            <a:r>
              <a:rPr lang="en-US" altLang="en-GB" sz="2000" dirty="0" err="1">
                <a:latin typeface="SimSun" charset="-122"/>
              </a:rPr>
              <a:t>用逗号</a:t>
            </a:r>
            <a:r>
              <a:rPr lang="en-GB" altLang="zh-CN" sz="2000" dirty="0" err="1">
                <a:latin typeface="SimSun" charset="-122"/>
              </a:rPr>
              <a:t>分隔</a:t>
            </a:r>
            <a:endParaRPr lang="en-GB" altLang="zh-CN" sz="2000" dirty="0">
              <a:latin typeface="SimSun" charset="-122"/>
            </a:endParaRPr>
          </a:p>
          <a:p>
            <a:pPr lvl="2" eaLnBrk="1" hangingPunct="1"/>
            <a:endParaRPr lang="en-US" altLang="en-GB" sz="2000" dirty="0">
              <a:latin typeface="SimSun" charset="-122"/>
            </a:endParaRPr>
          </a:p>
          <a:p>
            <a:pPr lvl="2" algn="just" eaLnBrk="1" hangingPunct="1"/>
            <a:r>
              <a:rPr lang="en-GB" altLang="en-US" sz="2000" dirty="0" err="1">
                <a:latin typeface="SimSun" charset="-122"/>
              </a:rPr>
              <a:t>可带普通参数</a:t>
            </a:r>
            <a:endParaRPr lang="en-GB" altLang="en-US" sz="2000" dirty="0">
              <a:latin typeface="SimSun" charset="-122"/>
            </a:endParaRPr>
          </a:p>
          <a:p>
            <a:pPr lvl="3" algn="just" eaLnBrk="1" hangingPunct="1"/>
            <a:r>
              <a:rPr lang="zh-CN" altLang="en-GB" dirty="0">
                <a:latin typeface="SimSun" charset="-122"/>
              </a:rPr>
              <a:t>必须列在</a:t>
            </a:r>
            <a:r>
              <a:rPr lang="en-US" altLang="en-GB" dirty="0" err="1">
                <a:latin typeface="SimSun" charset="-122"/>
              </a:rPr>
              <a:t>类型参数</a:t>
            </a:r>
            <a:r>
              <a:rPr lang="en-US" altLang="zh-CN" dirty="0" err="1">
                <a:latin typeface="SimSun" charset="-122"/>
              </a:rPr>
              <a:t>之后</a:t>
            </a:r>
            <a:endParaRPr lang="en-US" altLang="zh-CN" dirty="0">
              <a:latin typeface="SimSun" charset="-122"/>
            </a:endParaRPr>
          </a:p>
          <a:p>
            <a:pPr lvl="3" algn="just" eaLnBrk="1" hangingPunct="1"/>
            <a:r>
              <a:rPr lang="en-US" altLang="en-GB" dirty="0" err="1">
                <a:latin typeface="SimSun" charset="-122"/>
              </a:rPr>
              <a:t>调用时需</a:t>
            </a:r>
            <a:r>
              <a:rPr lang="zh-CN" altLang="en-US" dirty="0"/>
              <a:t>显式模板实参指定</a:t>
            </a:r>
            <a:r>
              <a:rPr lang="en-GB" altLang="zh-CN" sz="1600" i="1" dirty="0">
                <a:latin typeface="SimSun" charset="-122"/>
              </a:rPr>
              <a:t>	</a:t>
            </a:r>
            <a:endParaRPr lang="zh-CN" altLang="en-US" sz="1600" i="1" dirty="0">
              <a:latin typeface="SimSun" charset="-122"/>
            </a:endParaRPr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5905500" y="3321050"/>
            <a:ext cx="32385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lnSpc>
                <a:spcPct val="90000"/>
              </a:lnSpc>
              <a:buSzPct val="50000"/>
              <a:buFont typeface="Wingdings" panose="05000000000000000000" pitchFamily="2" charset="2"/>
              <a:buNone/>
            </a:pPr>
            <a:r>
              <a:rPr lang="en-GB" altLang="zh-CN" sz="1800">
                <a:solidFill>
                  <a:schemeClr val="tx2"/>
                </a:solidFill>
              </a:rPr>
              <a:t>template &lt;class T1, class T2&gt;</a:t>
            </a:r>
          </a:p>
          <a:p>
            <a:pPr eaLnBrk="1" hangingPunct="1">
              <a:lnSpc>
                <a:spcPct val="90000"/>
              </a:lnSpc>
              <a:buSzPct val="50000"/>
              <a:buFont typeface="Wingdings" panose="05000000000000000000" pitchFamily="2" charset="2"/>
              <a:buNone/>
            </a:pPr>
            <a:r>
              <a:rPr lang="en-GB" altLang="zh-CN" sz="1800">
                <a:solidFill>
                  <a:schemeClr val="tx2"/>
                </a:solidFill>
              </a:rPr>
              <a:t>void   f(T1 a, T2 b）</a:t>
            </a:r>
          </a:p>
          <a:p>
            <a:pPr eaLnBrk="1" hangingPunct="1">
              <a:lnSpc>
                <a:spcPct val="90000"/>
              </a:lnSpc>
              <a:buSzPct val="50000"/>
              <a:buFont typeface="Wingdings" panose="05000000000000000000" pitchFamily="2" charset="2"/>
              <a:buNone/>
            </a:pPr>
            <a:r>
              <a:rPr lang="en-GB" altLang="zh-CN" sz="1800">
                <a:solidFill>
                  <a:schemeClr val="tx2"/>
                </a:solidFill>
              </a:rPr>
              <a:t>{ </a:t>
            </a:r>
            <a:r>
              <a:rPr lang="en-US" altLang="zh-CN" sz="1800">
                <a:solidFill>
                  <a:schemeClr val="tx2"/>
                </a:solidFill>
              </a:rPr>
              <a:t>...… </a:t>
            </a:r>
            <a:r>
              <a:rPr lang="en-GB" altLang="zh-CN" sz="1800">
                <a:solidFill>
                  <a:schemeClr val="tx2"/>
                </a:solidFill>
              </a:rPr>
              <a:t>}</a:t>
            </a:r>
            <a:endParaRPr lang="zh-CN" altLang="en-US" sz="1800" i="0">
              <a:solidFill>
                <a:schemeClr val="tx2"/>
              </a:solidFill>
            </a:endParaRPr>
          </a:p>
        </p:txBody>
      </p:sp>
      <p:sp>
        <p:nvSpPr>
          <p:cNvPr id="129029" name="Line 5"/>
          <p:cNvSpPr>
            <a:spLocks noChangeShapeType="1"/>
          </p:cNvSpPr>
          <p:nvPr/>
        </p:nvSpPr>
        <p:spPr bwMode="auto">
          <a:xfrm flipH="1">
            <a:off x="5257800" y="38100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9030" name="Text Box 6"/>
          <p:cNvSpPr txBox="1">
            <a:spLocks noChangeArrowheads="1"/>
          </p:cNvSpPr>
          <p:nvPr/>
        </p:nvSpPr>
        <p:spPr bwMode="auto">
          <a:xfrm>
            <a:off x="5943600" y="5181600"/>
            <a:ext cx="3005138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dirty="0">
                <a:solidFill>
                  <a:schemeClr val="tx2"/>
                </a:solidFill>
              </a:rPr>
              <a:t>template &lt;class T, int size&gt;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dirty="0">
                <a:solidFill>
                  <a:schemeClr val="tx2"/>
                </a:solidFill>
              </a:rPr>
              <a:t>void f(T a)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dirty="0">
                <a:solidFill>
                  <a:schemeClr val="tx2"/>
                </a:solidFill>
              </a:rPr>
              <a:t>{  T temp[size];   </a:t>
            </a:r>
            <a:r>
              <a:rPr lang="en-US" altLang="zh-CN" sz="1800" dirty="0">
                <a:solidFill>
                  <a:schemeClr val="tx2"/>
                </a:solidFill>
              </a:rPr>
              <a:t>......</a:t>
            </a:r>
            <a:r>
              <a:rPr lang="en-GB" altLang="zh-CN" sz="1800" dirty="0">
                <a:solidFill>
                  <a:schemeClr val="tx2"/>
                </a:solidFill>
              </a:rPr>
              <a:t>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dirty="0">
                <a:solidFill>
                  <a:schemeClr val="tx2"/>
                </a:solidFill>
              </a:rPr>
              <a:t> ……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dirty="0">
                <a:solidFill>
                  <a:schemeClr val="tx2"/>
                </a:solidFill>
              </a:rPr>
              <a:t>f&lt;int,10&gt;(1);</a:t>
            </a:r>
            <a:endParaRPr lang="zh-CN" altLang="en-US" sz="1800" i="0" dirty="0">
              <a:solidFill>
                <a:schemeClr val="tx2"/>
              </a:solidFill>
            </a:endParaRPr>
          </a:p>
        </p:txBody>
      </p:sp>
      <p:sp>
        <p:nvSpPr>
          <p:cNvPr id="129031" name="Line 7"/>
          <p:cNvSpPr>
            <a:spLocks noChangeShapeType="1"/>
          </p:cNvSpPr>
          <p:nvPr/>
        </p:nvSpPr>
        <p:spPr bwMode="auto">
          <a:xfrm flipH="1" flipV="1">
            <a:off x="5334000" y="57912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8" grpId="0" autoUpdateAnimBg="0"/>
      <p:bldP spid="129029" grpId="0" animBg="1"/>
      <p:bldP spid="129030" grpId="0" autoUpdateAnimBg="0"/>
      <p:bldP spid="1290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8AA48-A492-6BA2-420E-6BB038698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16925E32-4A21-63E1-8076-B8A98B03D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	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420FE3CE-4A6E-677E-D1B8-30A66D8D4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424" y="1844824"/>
            <a:ext cx="794206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void process(</a:t>
            </a:r>
            <a:r>
              <a:rPr lang="en-GB" altLang="zh-CN" sz="2000" dirty="0" err="1">
                <a:solidFill>
                  <a:schemeClr val="tx2"/>
                </a:solidFill>
              </a:rPr>
              <a:t>const</a:t>
            </a:r>
            <a:r>
              <a:rPr lang="en-GB" altLang="zh-CN" sz="2000" dirty="0">
                <a:solidFill>
                  <a:schemeClr val="tx2"/>
                </a:solidFill>
              </a:rPr>
              <a:t> std::string&amp; s)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    std::</a:t>
            </a:r>
            <a:r>
              <a:rPr lang="en-GB" altLang="zh-CN" sz="2000" dirty="0" err="1">
                <a:solidFill>
                  <a:schemeClr val="tx2"/>
                </a:solidFill>
              </a:rPr>
              <a:t>cout</a:t>
            </a:r>
            <a:r>
              <a:rPr lang="en-GB" altLang="zh-CN" sz="2000" dirty="0">
                <a:solidFill>
                  <a:schemeClr val="tx2"/>
                </a:solidFill>
              </a:rPr>
              <a:t> &lt;&lt; "</a:t>
            </a:r>
            <a:r>
              <a:rPr lang="zh-CN" altLang="en-US" sz="2000" dirty="0">
                <a:solidFill>
                  <a:schemeClr val="tx2"/>
                </a:solidFill>
              </a:rPr>
              <a:t>处理左值：由于</a:t>
            </a:r>
            <a:r>
              <a:rPr lang="en-US" altLang="zh-CN" sz="2000" dirty="0">
                <a:solidFill>
                  <a:schemeClr val="tx2"/>
                </a:solidFill>
              </a:rPr>
              <a:t>copy</a:t>
            </a:r>
            <a:r>
              <a:rPr lang="zh-CN" altLang="en-US" sz="2000" dirty="0">
                <a:solidFill>
                  <a:schemeClr val="tx2"/>
                </a:solidFill>
              </a:rPr>
              <a:t>，比较慢</a:t>
            </a:r>
            <a:r>
              <a:rPr lang="en-US" altLang="zh-CN" sz="2000" dirty="0">
                <a:solidFill>
                  <a:schemeClr val="tx2"/>
                </a:solidFill>
              </a:rPr>
              <a:t>" &lt;&lt; </a:t>
            </a:r>
            <a:r>
              <a:rPr lang="en-GB" altLang="zh-CN" sz="2000" dirty="0">
                <a:solidFill>
                  <a:schemeClr val="tx2"/>
                </a:solidFill>
              </a:rPr>
              <a:t>std::</a:t>
            </a:r>
            <a:r>
              <a:rPr lang="en-GB" altLang="zh-CN" sz="2000" dirty="0" err="1">
                <a:solidFill>
                  <a:schemeClr val="tx2"/>
                </a:solidFill>
              </a:rPr>
              <a:t>endl</a:t>
            </a:r>
            <a:r>
              <a:rPr lang="en-GB" altLang="zh-CN" sz="2000" dirty="0">
                <a:solidFill>
                  <a:schemeClr val="tx2"/>
                </a:solidFill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void process(std::string&amp;&amp; s)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    std::</a:t>
            </a:r>
            <a:r>
              <a:rPr lang="en-GB" altLang="zh-CN" sz="2000" dirty="0" err="1">
                <a:solidFill>
                  <a:schemeClr val="tx2"/>
                </a:solidFill>
              </a:rPr>
              <a:t>cout</a:t>
            </a:r>
            <a:r>
              <a:rPr lang="en-GB" altLang="zh-CN" sz="2000" dirty="0">
                <a:solidFill>
                  <a:schemeClr val="tx2"/>
                </a:solidFill>
              </a:rPr>
              <a:t> &lt;&lt; "</a:t>
            </a:r>
            <a:r>
              <a:rPr lang="zh-CN" altLang="en-US" sz="2000" dirty="0">
                <a:solidFill>
                  <a:schemeClr val="tx2"/>
                </a:solidFill>
              </a:rPr>
              <a:t>处理右值：直接</a:t>
            </a:r>
            <a:r>
              <a:rPr lang="en-GB" altLang="zh-CN" sz="2000" dirty="0">
                <a:solidFill>
                  <a:schemeClr val="tx2"/>
                </a:solidFill>
              </a:rPr>
              <a:t>Move</a:t>
            </a:r>
            <a:r>
              <a:rPr lang="zh-CN" altLang="en-GB" sz="2000" dirty="0">
                <a:solidFill>
                  <a:schemeClr val="tx2"/>
                </a:solidFill>
              </a:rPr>
              <a:t>，</a:t>
            </a:r>
            <a:r>
              <a:rPr lang="zh-CN" altLang="en-US" sz="2000" dirty="0">
                <a:solidFill>
                  <a:schemeClr val="tx2"/>
                </a:solidFill>
              </a:rPr>
              <a:t>非常快</a:t>
            </a:r>
            <a:r>
              <a:rPr lang="en-US" altLang="zh-CN" sz="2000" dirty="0">
                <a:solidFill>
                  <a:schemeClr val="tx2"/>
                </a:solidFill>
              </a:rPr>
              <a:t>" &lt;&lt; </a:t>
            </a:r>
            <a:r>
              <a:rPr lang="en-GB" altLang="zh-CN" sz="2000" dirty="0">
                <a:solidFill>
                  <a:schemeClr val="tx2"/>
                </a:solidFill>
              </a:rPr>
              <a:t>std::</a:t>
            </a:r>
            <a:r>
              <a:rPr lang="en-GB" altLang="zh-CN" sz="2000" dirty="0" err="1">
                <a:solidFill>
                  <a:schemeClr val="tx2"/>
                </a:solidFill>
              </a:rPr>
              <a:t>endl</a:t>
            </a:r>
            <a:r>
              <a:rPr lang="en-GB" altLang="zh-CN" sz="2000" dirty="0">
                <a:solidFill>
                  <a:schemeClr val="tx2"/>
                </a:solidFill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}</a:t>
            </a:r>
            <a:endParaRPr lang="zh-CN" altLang="en-US" sz="2000" i="0" dirty="0">
              <a:solidFill>
                <a:schemeClr val="tx2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C33EFB-4C06-BD7B-294E-25B29DBEAAFE}"/>
              </a:ext>
            </a:extLst>
          </p:cNvPr>
          <p:cNvSpPr txBox="1"/>
          <p:nvPr/>
        </p:nvSpPr>
        <p:spPr>
          <a:xfrm>
            <a:off x="1065584" y="4077072"/>
            <a:ext cx="52346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</a:rPr>
              <a:t>std::string a = "hello";</a:t>
            </a:r>
          </a:p>
          <a:p>
            <a:r>
              <a:rPr lang="zh-CN" altLang="en-US" sz="2000" dirty="0">
                <a:solidFill>
                  <a:schemeClr val="tx2"/>
                </a:solidFill>
              </a:rPr>
              <a:t>process(a);            </a:t>
            </a:r>
          </a:p>
          <a:p>
            <a:r>
              <a:rPr lang="zh-CN" altLang="en-US" sz="2000" dirty="0">
                <a:solidFill>
                  <a:schemeClr val="tx2"/>
                </a:solidFill>
              </a:rPr>
              <a:t>process(std::move(a));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468E1E-1330-1D05-AC57-94A0987B32D6}"/>
              </a:ext>
            </a:extLst>
          </p:cNvPr>
          <p:cNvSpPr txBox="1"/>
          <p:nvPr/>
        </p:nvSpPr>
        <p:spPr>
          <a:xfrm>
            <a:off x="1055885" y="4080946"/>
            <a:ext cx="52346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</a:rPr>
              <a:t>template &lt;typename T&gt;</a:t>
            </a:r>
          </a:p>
          <a:p>
            <a:r>
              <a:rPr lang="zh-CN" altLang="en-US" sz="2000" dirty="0">
                <a:solidFill>
                  <a:schemeClr val="tx2"/>
                </a:solidFill>
              </a:rPr>
              <a:t>void </a:t>
            </a:r>
            <a:r>
              <a:rPr lang="en-US" altLang="zh-CN" sz="2000" dirty="0">
                <a:solidFill>
                  <a:schemeClr val="tx2"/>
                </a:solidFill>
              </a:rPr>
              <a:t>transfer</a:t>
            </a:r>
            <a:r>
              <a:rPr lang="zh-CN" altLang="en-US" sz="2000" dirty="0">
                <a:solidFill>
                  <a:schemeClr val="tx2"/>
                </a:solidFill>
              </a:rPr>
              <a:t>(T&amp;&amp; arg) {</a:t>
            </a:r>
          </a:p>
          <a:p>
            <a:r>
              <a:rPr lang="zh-CN" altLang="en-US" sz="2000" dirty="0">
                <a:solidFill>
                  <a:schemeClr val="tx2"/>
                </a:solidFill>
              </a:rPr>
              <a:t>    std::cout &lt;&lt; "收到参数..." &lt;&lt; std::endl;</a:t>
            </a:r>
          </a:p>
          <a:p>
            <a:r>
              <a:rPr lang="en-US" altLang="zh-CN" sz="2000" dirty="0">
                <a:solidFill>
                  <a:schemeClr val="tx2"/>
                </a:solidFill>
              </a:rPr>
              <a:t>    </a:t>
            </a:r>
            <a:r>
              <a:rPr lang="zh-CN" altLang="en-US" sz="2000" dirty="0">
                <a:solidFill>
                  <a:schemeClr val="tx2"/>
                </a:solidFill>
              </a:rPr>
              <a:t>process(arg); </a:t>
            </a:r>
          </a:p>
          <a:p>
            <a:r>
              <a:rPr lang="zh-CN" altLang="en-US" sz="2000" dirty="0">
                <a:solidFill>
                  <a:schemeClr val="tx2"/>
                </a:solidFill>
              </a:rPr>
              <a:t>}</a:t>
            </a:r>
            <a:endParaRPr lang="en-US" altLang="zh-CN" sz="2000" dirty="0">
              <a:solidFill>
                <a:schemeClr val="tx2"/>
              </a:solidFill>
            </a:endParaRPr>
          </a:p>
          <a:p>
            <a:r>
              <a:rPr lang="en" altLang="zh-CN" sz="2000" dirty="0">
                <a:solidFill>
                  <a:schemeClr val="tx2"/>
                </a:solidFill>
              </a:rPr>
              <a:t>int main() { </a:t>
            </a:r>
          </a:p>
          <a:p>
            <a:r>
              <a:rPr lang="zh-CN" altLang="en-US" sz="2000" dirty="0">
                <a:solidFill>
                  <a:schemeClr val="tx2"/>
                </a:solidFill>
              </a:rPr>
              <a:t>    </a:t>
            </a:r>
            <a:r>
              <a:rPr lang="en" altLang="zh-CN" sz="2000" dirty="0">
                <a:solidFill>
                  <a:schemeClr val="tx2"/>
                </a:solidFill>
              </a:rPr>
              <a:t>transfer(std::string("world")); </a:t>
            </a:r>
          </a:p>
          <a:p>
            <a:r>
              <a:rPr lang="en" altLang="zh-CN" sz="2000" dirty="0">
                <a:solidFill>
                  <a:schemeClr val="tx2"/>
                </a:solidFill>
              </a:rPr>
              <a:t>}</a:t>
            </a:r>
            <a:endParaRPr lang="zh-CN" altLang="en-US" sz="2000" dirty="0">
              <a:solidFill>
                <a:schemeClr val="tx2"/>
              </a:solidFill>
            </a:endParaRPr>
          </a:p>
          <a:p>
            <a:endParaRPr lang="zh-CN" altLang="en-US" sz="2000" dirty="0">
              <a:solidFill>
                <a:schemeClr val="tx2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9664D6-FE22-BA35-7DA0-072214089553}"/>
              </a:ext>
            </a:extLst>
          </p:cNvPr>
          <p:cNvSpPr txBox="1"/>
          <p:nvPr/>
        </p:nvSpPr>
        <p:spPr>
          <a:xfrm>
            <a:off x="2987824" y="4986997"/>
            <a:ext cx="1839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FF0000"/>
                </a:solidFill>
              </a:rPr>
              <a:t>copy or move?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86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2804A-F035-EAB4-8FF4-03970C971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4B905C58-23A9-8808-4F4A-C02F60E30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	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5F7FC5C-8779-A56B-FE8D-CC4FC749F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1575" y="1916832"/>
            <a:ext cx="7772400" cy="4114800"/>
          </a:xfrm>
        </p:spPr>
        <p:txBody>
          <a:bodyPr/>
          <a:lstStyle/>
          <a:p>
            <a:pPr lvl="1" eaLnBrk="1" hangingPunct="1"/>
            <a:r>
              <a:rPr lang="zh-CN" altLang="en-US" sz="2400" dirty="0">
                <a:latin typeface="SimSun" charset="-122"/>
              </a:rPr>
              <a:t>万能引用、完美转发</a:t>
            </a:r>
            <a:endParaRPr lang="en-US" altLang="zh-CN" sz="2400" dirty="0">
              <a:latin typeface="SimSun" charset="-122"/>
            </a:endParaRPr>
          </a:p>
          <a:p>
            <a:pPr lvl="2" eaLnBrk="1" hangingPunct="1"/>
            <a:r>
              <a:rPr lang="en-US" altLang="zh-CN" sz="2000" dirty="0">
                <a:latin typeface="SimSun" charset="-122"/>
              </a:rPr>
              <a:t>std::forward&lt;T&gt;()</a:t>
            </a:r>
          </a:p>
          <a:p>
            <a:pPr lvl="2" eaLnBrk="1" hangingPunct="1"/>
            <a:r>
              <a:rPr lang="zh-CN" altLang="en-US" sz="2000" dirty="0">
                <a:latin typeface="SimSun" charset="-122"/>
              </a:rPr>
              <a:t>如果</a:t>
            </a:r>
            <a:r>
              <a:rPr lang="en-US" altLang="zh-CN" sz="2000" dirty="0">
                <a:latin typeface="SimSun" charset="-122"/>
              </a:rPr>
              <a:t>T</a:t>
            </a:r>
            <a:r>
              <a:rPr lang="zh-CN" altLang="en-US" sz="2000" dirty="0">
                <a:latin typeface="SimSun" charset="-122"/>
              </a:rPr>
              <a:t>推导出来是左值，就转发左值</a:t>
            </a:r>
          </a:p>
          <a:p>
            <a:pPr lvl="2" eaLnBrk="1" hangingPunct="1"/>
            <a:r>
              <a:rPr lang="zh-CN" altLang="en-US" sz="2000" dirty="0">
                <a:latin typeface="SimSun" charset="-122"/>
              </a:rPr>
              <a:t>如果</a:t>
            </a:r>
            <a:r>
              <a:rPr lang="en-US" altLang="zh-CN" sz="2000" dirty="0">
                <a:latin typeface="SimSun" charset="-122"/>
              </a:rPr>
              <a:t>T</a:t>
            </a:r>
            <a:r>
              <a:rPr lang="zh-CN" altLang="en-US" sz="2000" dirty="0">
                <a:latin typeface="SimSun" charset="-122"/>
              </a:rPr>
              <a:t>推导出来是右值，就转发右值</a:t>
            </a:r>
            <a:endParaRPr lang="en-US" altLang="zh-CN" sz="2000" dirty="0">
              <a:latin typeface="SimSun" charset="-122"/>
            </a:endParaRPr>
          </a:p>
          <a:p>
            <a:pPr lvl="2" eaLnBrk="1" hangingPunct="1"/>
            <a:endParaRPr lang="zh-CN" altLang="en-US" sz="2000" dirty="0">
              <a:latin typeface="SimSun" charset="-122"/>
            </a:endParaRPr>
          </a:p>
          <a:p>
            <a:pPr eaLnBrk="1" hangingPunct="1"/>
            <a:endParaRPr lang="zh-CN" altLang="en-US" sz="2400" dirty="0"/>
          </a:p>
        </p:txBody>
      </p:sp>
      <p:sp>
        <p:nvSpPr>
          <p:cNvPr id="130052" name="Text Box 4">
            <a:extLst>
              <a:ext uri="{FF2B5EF4-FFF2-40B4-BE49-F238E27FC236}">
                <a16:creationId xmlns:a16="http://schemas.microsoft.com/office/drawing/2014/main" id="{AEDB16BB-8AE0-BAC8-3E4E-2C1BF39A9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3429000"/>
            <a:ext cx="828092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template &lt;</a:t>
            </a:r>
            <a:r>
              <a:rPr lang="en-GB" altLang="zh-CN" sz="2000" dirty="0" err="1">
                <a:solidFill>
                  <a:schemeClr val="tx2"/>
                </a:solidFill>
              </a:rPr>
              <a:t>typename</a:t>
            </a:r>
            <a:r>
              <a:rPr lang="en-GB" altLang="zh-CN" sz="2000" dirty="0">
                <a:solidFill>
                  <a:schemeClr val="tx2"/>
                </a:solidFill>
              </a:rPr>
              <a:t> T&gt;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void </a:t>
            </a:r>
            <a:r>
              <a:rPr lang="en-GB" altLang="zh-CN" sz="2000" dirty="0" err="1">
                <a:solidFill>
                  <a:schemeClr val="tx2"/>
                </a:solidFill>
              </a:rPr>
              <a:t>perfectTransfer</a:t>
            </a:r>
            <a:r>
              <a:rPr lang="en-GB" altLang="zh-CN" sz="2000" dirty="0">
                <a:solidFill>
                  <a:schemeClr val="tx2"/>
                </a:solidFill>
              </a:rPr>
              <a:t>(T&amp;&amp; </a:t>
            </a:r>
            <a:r>
              <a:rPr lang="en-GB" altLang="zh-CN" sz="2000" dirty="0" err="1">
                <a:solidFill>
                  <a:schemeClr val="tx2"/>
                </a:solidFill>
              </a:rPr>
              <a:t>arg</a:t>
            </a:r>
            <a:r>
              <a:rPr lang="en-GB" altLang="zh-CN" sz="2000" dirty="0">
                <a:solidFill>
                  <a:schemeClr val="tx2"/>
                </a:solidFill>
              </a:rPr>
              <a:t>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</a:rPr>
              <a:t>    </a:t>
            </a:r>
            <a:r>
              <a:rPr lang="en-GB" altLang="zh-CN" sz="2000" dirty="0">
                <a:solidFill>
                  <a:schemeClr val="tx2"/>
                </a:solidFill>
              </a:rPr>
              <a:t>process(std::forward&lt;T&gt;(</a:t>
            </a:r>
            <a:r>
              <a:rPr lang="en-GB" altLang="zh-CN" sz="2000" dirty="0" err="1">
                <a:solidFill>
                  <a:schemeClr val="tx2"/>
                </a:solidFill>
              </a:rPr>
              <a:t>arg</a:t>
            </a:r>
            <a:r>
              <a:rPr lang="en-GB" altLang="zh-CN" sz="2000" dirty="0">
                <a:solidFill>
                  <a:schemeClr val="tx2"/>
                </a:solidFill>
              </a:rPr>
              <a:t>));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20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int main()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    std::string s = "hello";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   </a:t>
            </a:r>
            <a:r>
              <a:rPr lang="en-GB" altLang="zh-CN" sz="2000" dirty="0" err="1">
                <a:solidFill>
                  <a:schemeClr val="tx2"/>
                </a:solidFill>
              </a:rPr>
              <a:t>perfectTransfer</a:t>
            </a:r>
            <a:r>
              <a:rPr lang="en-GB" altLang="zh-CN" sz="2000" dirty="0">
                <a:solidFill>
                  <a:schemeClr val="tx2"/>
                </a:solidFill>
              </a:rPr>
              <a:t>(s);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   </a:t>
            </a:r>
            <a:r>
              <a:rPr lang="en-GB" altLang="zh-CN" sz="2000" dirty="0" err="1">
                <a:solidFill>
                  <a:schemeClr val="tx2"/>
                </a:solidFill>
              </a:rPr>
              <a:t>perfectTransfer</a:t>
            </a:r>
            <a:r>
              <a:rPr lang="en-GB" altLang="zh-CN" sz="2000" dirty="0">
                <a:solidFill>
                  <a:schemeClr val="tx2"/>
                </a:solidFill>
              </a:rPr>
              <a:t>(std::string("world"));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}</a:t>
            </a:r>
            <a:endParaRPr lang="zh-CN" altLang="en-US" sz="2000" i="0" dirty="0">
              <a:solidFill>
                <a:schemeClr val="tx2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1DC97B-9FE5-BBC3-2E1F-60DECB1AFB82}"/>
              </a:ext>
            </a:extLst>
          </p:cNvPr>
          <p:cNvSpPr txBox="1"/>
          <p:nvPr/>
        </p:nvSpPr>
        <p:spPr>
          <a:xfrm rot="20656236">
            <a:off x="4938056" y="541925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引用折叠</a:t>
            </a:r>
          </a:p>
        </p:txBody>
      </p:sp>
    </p:spTree>
    <p:extLst>
      <p:ext uri="{BB962C8B-B14F-4D97-AF65-F5344CB8AC3E}">
        <p14:creationId xmlns:p14="http://schemas.microsoft.com/office/powerpoint/2010/main" val="111622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	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GB" altLang="en-US" sz="2400">
                <a:latin typeface="SimSun" charset="-122"/>
              </a:rPr>
              <a:t>函数模板与函数重载</a:t>
            </a:r>
            <a:r>
              <a:rPr lang="en-GB" altLang="zh-CN" sz="2400">
                <a:latin typeface="SimSun" charset="-122"/>
              </a:rPr>
              <a:t>配合</a:t>
            </a:r>
            <a:r>
              <a:rPr lang="zh-CN" altLang="en-GB" sz="2400">
                <a:latin typeface="SimSun" charset="-122"/>
              </a:rPr>
              <a:t>使用</a:t>
            </a:r>
            <a:endParaRPr lang="zh-CN" altLang="en-US" sz="2400">
              <a:latin typeface="SimSun" charset="-122"/>
            </a:endParaRPr>
          </a:p>
          <a:p>
            <a:pPr eaLnBrk="1" hangingPunct="1"/>
            <a:endParaRPr lang="zh-CN" altLang="en-US" sz="2400"/>
          </a:p>
        </p:txBody>
      </p:sp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1814513" y="2590800"/>
            <a:ext cx="2452687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template &lt;class T&gt;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T max(T a, T b)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{ return a&gt;</a:t>
            </a:r>
            <a:r>
              <a:rPr lang="en-GB" altLang="zh-CN" sz="2000" dirty="0" err="1">
                <a:solidFill>
                  <a:schemeClr val="tx2"/>
                </a:solidFill>
              </a:rPr>
              <a:t>b?a:b</a:t>
            </a:r>
            <a:r>
              <a:rPr lang="en-GB" altLang="zh-CN" sz="2000" dirty="0">
                <a:solidFill>
                  <a:schemeClr val="tx2"/>
                </a:solidFill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20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int  x, y, z;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double l, m, n;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z = max(</a:t>
            </a:r>
            <a:r>
              <a:rPr lang="en-GB" altLang="zh-CN" sz="2000" dirty="0" err="1">
                <a:solidFill>
                  <a:schemeClr val="tx2"/>
                </a:solidFill>
              </a:rPr>
              <a:t>x,y</a:t>
            </a:r>
            <a:r>
              <a:rPr lang="en-GB" altLang="zh-CN" sz="2000" dirty="0">
                <a:solidFill>
                  <a:schemeClr val="tx2"/>
                </a:solidFill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l = max(</a:t>
            </a:r>
            <a:r>
              <a:rPr lang="en-GB" altLang="zh-CN" sz="2000" dirty="0" err="1">
                <a:solidFill>
                  <a:schemeClr val="tx2"/>
                </a:solidFill>
              </a:rPr>
              <a:t>m,n</a:t>
            </a:r>
            <a:r>
              <a:rPr lang="en-GB" altLang="zh-CN" sz="2000" dirty="0">
                <a:solidFill>
                  <a:schemeClr val="tx2"/>
                </a:solidFill>
              </a:rPr>
              <a:t>);</a:t>
            </a:r>
            <a:endParaRPr lang="zh-CN" altLang="en-US" sz="2000" i="0" dirty="0">
              <a:solidFill>
                <a:schemeClr val="tx2"/>
              </a:solidFill>
            </a:endParaRPr>
          </a:p>
        </p:txBody>
      </p:sp>
      <p:sp>
        <p:nvSpPr>
          <p:cNvPr id="130053" name="Text Box 5"/>
          <p:cNvSpPr txBox="1">
            <a:spLocks noChangeArrowheads="1"/>
          </p:cNvSpPr>
          <p:nvPr/>
        </p:nvSpPr>
        <p:spPr bwMode="auto">
          <a:xfrm>
            <a:off x="4730750" y="5105400"/>
            <a:ext cx="3879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400" i="0">
                <a:latin typeface="SimSun" charset="-122"/>
              </a:rPr>
              <a:t>问题：</a:t>
            </a:r>
            <a:r>
              <a:rPr lang="en-GB" altLang="zh-CN" sz="2000"/>
              <a:t>max(x,m) </a:t>
            </a:r>
            <a:r>
              <a:rPr lang="en-GB" altLang="en-US" sz="2400" i="0">
                <a:latin typeface="SimSun" charset="-122"/>
              </a:rPr>
              <a:t>如何处理？</a:t>
            </a:r>
            <a:endParaRPr lang="zh-CN" altLang="en-US" sz="2400" i="0">
              <a:latin typeface="SimSun" charset="-122"/>
            </a:endParaRPr>
          </a:p>
        </p:txBody>
      </p:sp>
      <p:sp>
        <p:nvSpPr>
          <p:cNvPr id="130054" name="Text Box 6"/>
          <p:cNvSpPr txBox="1">
            <a:spLocks noChangeArrowheads="1"/>
          </p:cNvSpPr>
          <p:nvPr/>
        </p:nvSpPr>
        <p:spPr bwMode="auto">
          <a:xfrm>
            <a:off x="4800600" y="2879725"/>
            <a:ext cx="36083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 i="0"/>
              <a:t>定义一个</a:t>
            </a:r>
            <a:r>
              <a:rPr lang="en-GB" altLang="zh-CN" sz="2000" i="0"/>
              <a:t>max</a:t>
            </a:r>
            <a:r>
              <a:rPr lang="en-GB" altLang="en-US" sz="2000" i="0"/>
              <a:t>的重载函数：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n-US" sz="200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>
                <a:solidFill>
                  <a:schemeClr val="tx2"/>
                </a:solidFill>
              </a:rPr>
              <a:t>double max(int a, double b)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>
                <a:solidFill>
                  <a:schemeClr val="tx2"/>
                </a:solidFill>
              </a:rPr>
              <a:t>{  return a&gt;b? a : b; }</a:t>
            </a:r>
            <a:endParaRPr lang="zh-CN" altLang="en-US" sz="2000" i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2" grpId="0" autoUpdateAnimBg="0"/>
      <p:bldP spid="130053" grpId="0" autoUpdateAnimBg="0"/>
      <p:bldP spid="13005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E4E56-E595-FCEC-7745-30819DBF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971E8A43-274D-29D7-04B4-6BE01149E2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	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2B2C5B0A-8BDC-FEFC-EC7D-81DBF7091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400" dirty="0"/>
              <a:t>显示具体化（全特化）</a:t>
            </a:r>
          </a:p>
        </p:txBody>
      </p:sp>
      <p:sp>
        <p:nvSpPr>
          <p:cNvPr id="130052" name="Text Box 4">
            <a:extLst>
              <a:ext uri="{FF2B5EF4-FFF2-40B4-BE49-F238E27FC236}">
                <a16:creationId xmlns:a16="http://schemas.microsoft.com/office/drawing/2014/main" id="{4B1BB089-E284-EB66-86B4-7C5F0B4C8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2590800"/>
            <a:ext cx="7772400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</a:rPr>
              <a:t>// </a:t>
            </a:r>
            <a:r>
              <a:rPr lang="zh-CN" altLang="en-US" sz="1600" dirty="0">
                <a:solidFill>
                  <a:schemeClr val="tx2"/>
                </a:solidFill>
              </a:rPr>
              <a:t>通用模板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template &lt;</a:t>
            </a:r>
            <a:r>
              <a:rPr lang="en-GB" altLang="zh-CN" sz="1600" dirty="0" err="1">
                <a:solidFill>
                  <a:schemeClr val="tx2"/>
                </a:solidFill>
              </a:rPr>
              <a:t>typename</a:t>
            </a:r>
            <a:r>
              <a:rPr lang="en-GB" altLang="zh-CN" sz="1600" dirty="0">
                <a:solidFill>
                  <a:schemeClr val="tx2"/>
                </a:solidFill>
              </a:rPr>
              <a:t> T&gt;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bool </a:t>
            </a:r>
            <a:r>
              <a:rPr lang="en-GB" altLang="zh-CN" sz="1600" dirty="0" err="1">
                <a:solidFill>
                  <a:schemeClr val="tx2"/>
                </a:solidFill>
              </a:rPr>
              <a:t>isEqual</a:t>
            </a:r>
            <a:r>
              <a:rPr lang="en-GB" altLang="zh-CN" sz="1600" dirty="0">
                <a:solidFill>
                  <a:schemeClr val="tx2"/>
                </a:solidFill>
              </a:rPr>
              <a:t>(T a, T b)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    return a == b;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16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int main()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    // Case 1: </a:t>
            </a:r>
            <a:r>
              <a:rPr lang="zh-CN" altLang="en-US" sz="1600" dirty="0">
                <a:solidFill>
                  <a:schemeClr val="tx2"/>
                </a:solidFill>
              </a:rPr>
              <a:t>整数</a:t>
            </a:r>
            <a:endParaRPr lang="en-US" altLang="zh-CN" sz="16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chemeClr val="tx2"/>
                </a:solidFill>
              </a:rPr>
              <a:t>    </a:t>
            </a:r>
            <a:r>
              <a:rPr lang="en-GB" altLang="zh-CN" sz="1600" dirty="0">
                <a:solidFill>
                  <a:schemeClr val="tx2"/>
                </a:solidFill>
              </a:rPr>
              <a:t>int </a:t>
            </a:r>
            <a:r>
              <a:rPr lang="en-GB" altLang="zh-CN" sz="1600" dirty="0" err="1">
                <a:solidFill>
                  <a:schemeClr val="tx2"/>
                </a:solidFill>
              </a:rPr>
              <a:t>i</a:t>
            </a:r>
            <a:r>
              <a:rPr lang="en-GB" altLang="zh-CN" sz="1600" dirty="0">
                <a:solidFill>
                  <a:schemeClr val="tx2"/>
                </a:solidFill>
              </a:rPr>
              <a:t> = 10, j = 10;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    </a:t>
            </a:r>
            <a:r>
              <a:rPr lang="en-GB" altLang="zh-CN" sz="1600" dirty="0" err="1">
                <a:solidFill>
                  <a:schemeClr val="tx2"/>
                </a:solidFill>
              </a:rPr>
              <a:t>isEqual</a:t>
            </a:r>
            <a:r>
              <a:rPr lang="en-GB" altLang="zh-CN" sz="1600" dirty="0">
                <a:solidFill>
                  <a:schemeClr val="tx2"/>
                </a:solidFill>
              </a:rPr>
              <a:t>(</a:t>
            </a:r>
            <a:r>
              <a:rPr lang="en-GB" altLang="zh-CN" sz="1600" dirty="0" err="1">
                <a:solidFill>
                  <a:schemeClr val="tx2"/>
                </a:solidFill>
              </a:rPr>
              <a:t>i</a:t>
            </a:r>
            <a:r>
              <a:rPr lang="en-GB" altLang="zh-CN" sz="1600" dirty="0">
                <a:solidFill>
                  <a:schemeClr val="tx2"/>
                </a:solidFill>
              </a:rPr>
              <a:t>, j); // true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16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    // Case 2: C</a:t>
            </a:r>
            <a:r>
              <a:rPr lang="zh-CN" altLang="en-US" sz="1600" dirty="0">
                <a:solidFill>
                  <a:schemeClr val="tx2"/>
                </a:solidFill>
              </a:rPr>
              <a:t>风格字符串</a:t>
            </a:r>
            <a:endParaRPr lang="en-US" altLang="zh-CN" sz="16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chemeClr val="tx2"/>
                </a:solidFill>
              </a:rPr>
              <a:t>    </a:t>
            </a:r>
            <a:r>
              <a:rPr lang="en-GB" altLang="zh-CN" sz="1600" dirty="0" err="1">
                <a:solidFill>
                  <a:schemeClr val="tx2"/>
                </a:solidFill>
              </a:rPr>
              <a:t>const</a:t>
            </a:r>
            <a:r>
              <a:rPr lang="en-GB" altLang="zh-CN" sz="1600" dirty="0">
                <a:solidFill>
                  <a:schemeClr val="tx2"/>
                </a:solidFill>
              </a:rPr>
              <a:t> char* p1 = "hello";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    </a:t>
            </a:r>
            <a:r>
              <a:rPr lang="en-GB" altLang="zh-CN" sz="1600" dirty="0" err="1">
                <a:solidFill>
                  <a:schemeClr val="tx2"/>
                </a:solidFill>
              </a:rPr>
              <a:t>const</a:t>
            </a:r>
            <a:r>
              <a:rPr lang="en-GB" altLang="zh-CN" sz="1600" dirty="0">
                <a:solidFill>
                  <a:schemeClr val="tx2"/>
                </a:solidFill>
              </a:rPr>
              <a:t> char* p2 = "hello";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chemeClr val="tx2"/>
                </a:solidFill>
              </a:rPr>
              <a:t>    </a:t>
            </a:r>
            <a:r>
              <a:rPr lang="en-GB" altLang="zh-CN" sz="1600" dirty="0" err="1">
                <a:solidFill>
                  <a:schemeClr val="tx2"/>
                </a:solidFill>
              </a:rPr>
              <a:t>isEqual</a:t>
            </a:r>
            <a:r>
              <a:rPr lang="en-GB" altLang="zh-CN" sz="1600" dirty="0">
                <a:solidFill>
                  <a:schemeClr val="tx2"/>
                </a:solidFill>
              </a:rPr>
              <a:t>(p1, p2); </a:t>
            </a:r>
            <a:r>
              <a:rPr lang="zh-CN" altLang="en-US" sz="1600" dirty="0">
                <a:solidFill>
                  <a:schemeClr val="tx2"/>
                </a:solidFill>
              </a:rPr>
              <a:t> </a:t>
            </a:r>
            <a:r>
              <a:rPr lang="zh-CN" altLang="en-US" sz="1600" dirty="0">
                <a:solidFill>
                  <a:srgbClr val="FF0000"/>
                </a:solidFill>
              </a:rPr>
              <a:t>？？</a:t>
            </a:r>
            <a:endParaRPr lang="en-GB" altLang="zh-CN" sz="16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}</a:t>
            </a:r>
            <a:endParaRPr lang="zh-CN" altLang="en-US" sz="1600" i="0" dirty="0">
              <a:solidFill>
                <a:schemeClr val="tx2"/>
              </a:solidFill>
            </a:endParaRPr>
          </a:p>
        </p:txBody>
      </p:sp>
      <p:sp>
        <p:nvSpPr>
          <p:cNvPr id="130054" name="Text Box 6">
            <a:extLst>
              <a:ext uri="{FF2B5EF4-FFF2-40B4-BE49-F238E27FC236}">
                <a16:creationId xmlns:a16="http://schemas.microsoft.com/office/drawing/2014/main" id="{7F31C4EF-E08F-32A4-D416-81CCF08EE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2084110"/>
            <a:ext cx="3347765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marL="457200" indent="-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000" b="1" i="0" dirty="0" err="1"/>
              <a:t>给出显式具体化</a:t>
            </a:r>
            <a:endParaRPr lang="en-GB" altLang="en-US" sz="2000" b="1" i="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n-US" sz="20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template &lt;&gt; bool </a:t>
            </a:r>
            <a:r>
              <a:rPr lang="en-GB" altLang="zh-CN" sz="2000" dirty="0" err="1">
                <a:solidFill>
                  <a:schemeClr val="tx2"/>
                </a:solidFill>
              </a:rPr>
              <a:t>isEqual</a:t>
            </a:r>
            <a:r>
              <a:rPr lang="en-GB" altLang="zh-CN" sz="2000" dirty="0">
                <a:solidFill>
                  <a:schemeClr val="tx2"/>
                </a:solidFill>
              </a:rPr>
              <a:t>&lt;</a:t>
            </a:r>
            <a:r>
              <a:rPr lang="en-GB" altLang="zh-CN" sz="2000" dirty="0" err="1">
                <a:solidFill>
                  <a:schemeClr val="tx2"/>
                </a:solidFill>
              </a:rPr>
              <a:t>const</a:t>
            </a:r>
            <a:r>
              <a:rPr lang="en-GB" altLang="zh-CN" sz="2000" dirty="0">
                <a:solidFill>
                  <a:schemeClr val="tx2"/>
                </a:solidFill>
              </a:rPr>
              <a:t> char*&gt;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GB" altLang="zh-CN" sz="2000" dirty="0">
                <a:solidFill>
                  <a:schemeClr val="tx2"/>
                </a:solidFill>
              </a:rPr>
              <a:t>(</a:t>
            </a:r>
            <a:r>
              <a:rPr lang="en-GB" altLang="zh-CN" sz="2000" dirty="0" err="1">
                <a:solidFill>
                  <a:schemeClr val="tx2"/>
                </a:solidFill>
              </a:rPr>
              <a:t>const</a:t>
            </a:r>
            <a:r>
              <a:rPr lang="en-GB" altLang="zh-CN" sz="2000" dirty="0">
                <a:solidFill>
                  <a:schemeClr val="tx2"/>
                </a:solidFill>
              </a:rPr>
              <a:t> char* a, </a:t>
            </a:r>
            <a:r>
              <a:rPr lang="en-GB" altLang="zh-CN" sz="2000" dirty="0" err="1">
                <a:solidFill>
                  <a:schemeClr val="tx2"/>
                </a:solidFill>
              </a:rPr>
              <a:t>const</a:t>
            </a:r>
            <a:r>
              <a:rPr lang="en-GB" altLang="zh-CN" sz="2000" dirty="0">
                <a:solidFill>
                  <a:schemeClr val="tx2"/>
                </a:solidFill>
              </a:rPr>
              <a:t> char* b)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std::</a:t>
            </a:r>
            <a:r>
              <a:rPr lang="en-GB" altLang="zh-CN" sz="2000" dirty="0" err="1">
                <a:solidFill>
                  <a:schemeClr val="tx2"/>
                </a:solidFill>
              </a:rPr>
              <a:t>strcmp</a:t>
            </a:r>
            <a:r>
              <a:rPr lang="en-GB" altLang="zh-CN" sz="2000" dirty="0">
                <a:solidFill>
                  <a:schemeClr val="tx2"/>
                </a:solidFill>
              </a:rPr>
              <a:t>(a, b) == 0;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2000" i="0" dirty="0">
              <a:solidFill>
                <a:schemeClr val="tx2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9D758FB-360A-FFF2-93E1-FAD8707EB1F8}"/>
              </a:ext>
            </a:extLst>
          </p:cNvPr>
          <p:cNvSpPr txBox="1"/>
          <p:nvPr/>
        </p:nvSpPr>
        <p:spPr>
          <a:xfrm>
            <a:off x="4139952" y="476672"/>
            <a:ext cx="29386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必须先有通用模板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zh-CN" altLang="en-US" sz="2000" b="1" dirty="0">
                <a:solidFill>
                  <a:srgbClr val="FF0000"/>
                </a:solidFill>
              </a:rPr>
              <a:t>函数特化 </a:t>
            </a:r>
            <a:r>
              <a:rPr lang="en" altLang="zh-CN" sz="2000" b="1" dirty="0">
                <a:solidFill>
                  <a:srgbClr val="FF0000"/>
                </a:solidFill>
              </a:rPr>
              <a:t>vs </a:t>
            </a:r>
            <a:r>
              <a:rPr lang="zh-CN" altLang="en-US" sz="2000" b="1" dirty="0">
                <a:solidFill>
                  <a:srgbClr val="FF0000"/>
                </a:solidFill>
              </a:rPr>
              <a:t>函数重载？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35808F-95C0-137A-F65F-A2AD97C2FE80}"/>
              </a:ext>
            </a:extLst>
          </p:cNvPr>
          <p:cNvSpPr txBox="1"/>
          <p:nvPr/>
        </p:nvSpPr>
        <p:spPr>
          <a:xfrm>
            <a:off x="5508104" y="5277862"/>
            <a:ext cx="30243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 i="0" dirty="0"/>
              <a:t>进行性能</a:t>
            </a:r>
            <a:r>
              <a:rPr lang="en-US" altLang="zh-CN" sz="2000" b="1" i="0" dirty="0"/>
              <a:t>/</a:t>
            </a:r>
            <a:r>
              <a:rPr lang="zh-CN" altLang="en-US" sz="2000" b="1" i="0" dirty="0"/>
              <a:t>空间优化</a:t>
            </a:r>
            <a:endParaRPr lang="en-US" altLang="zh-CN" sz="2000" b="1" i="0" dirty="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" altLang="zh-CN" sz="2000" dirty="0">
                <a:solidFill>
                  <a:schemeClr val="tx2"/>
                </a:solidFill>
              </a:rPr>
              <a:t>std::vector&lt;bool&gt;</a:t>
            </a:r>
            <a:endParaRPr lang="zh-CN" alt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7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4" grpId="1"/>
      <p:bldP spid="2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	</a:t>
            </a:r>
            <a:r>
              <a:rPr lang="en-US" altLang="zh-CN"/>
              <a:t>template class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sz="2800">
                <a:latin typeface="SimSun" charset="-122"/>
              </a:rPr>
              <a:t>类属类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GB" altLang="en-US" sz="2400">
                <a:latin typeface="SimSun" charset="-122"/>
              </a:rPr>
              <a:t>类定义带有类型参数</a:t>
            </a:r>
            <a:endParaRPr lang="zh-CN" altLang="en-US" sz="2400">
              <a:latin typeface="SimSun" charset="-122"/>
            </a:endParaRPr>
          </a:p>
          <a:p>
            <a:pPr eaLnBrk="1" hangingPunct="1"/>
            <a:endParaRPr lang="zh-CN" altLang="en-US"/>
          </a:p>
        </p:txBody>
      </p:sp>
      <p:sp>
        <p:nvSpPr>
          <p:cNvPr id="131076" name="Text Box 4"/>
          <p:cNvSpPr txBox="1">
            <a:spLocks noChangeArrowheads="1"/>
          </p:cNvSpPr>
          <p:nvPr/>
        </p:nvSpPr>
        <p:spPr bwMode="auto">
          <a:xfrm>
            <a:off x="5181600" y="2417763"/>
            <a:ext cx="3646488" cy="421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rgbClr val="FF0066"/>
                </a:solidFill>
              </a:rPr>
              <a:t>template &lt;class T&gt;</a:t>
            </a:r>
            <a:endParaRPr lang="en-GB" altLang="zh-CN" sz="180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class Stack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{</a:t>
            </a:r>
            <a:r>
              <a:rPr lang="en-GB" altLang="zh-CN" sz="1800">
                <a:solidFill>
                  <a:schemeClr val="accent2"/>
                </a:solidFill>
              </a:rPr>
              <a:t>    </a:t>
            </a:r>
            <a:r>
              <a:rPr lang="en-GB" altLang="zh-CN" sz="1800">
                <a:solidFill>
                  <a:srgbClr val="FF0066"/>
                </a:solidFill>
              </a:rPr>
              <a:t>T</a:t>
            </a:r>
            <a:r>
              <a:rPr lang="en-GB" altLang="zh-CN" sz="1800">
                <a:solidFill>
                  <a:schemeClr val="accent2"/>
                </a:solidFill>
              </a:rPr>
              <a:t> </a:t>
            </a:r>
            <a:r>
              <a:rPr lang="en-GB" altLang="zh-CN" sz="1800"/>
              <a:t>buffer[100];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     void push(</a:t>
            </a:r>
            <a:r>
              <a:rPr lang="en-GB" altLang="zh-CN" sz="1800">
                <a:solidFill>
                  <a:srgbClr val="FF0066"/>
                </a:solidFill>
              </a:rPr>
              <a:t>T</a:t>
            </a:r>
            <a:r>
              <a:rPr lang="en-GB" altLang="zh-CN" sz="1800">
                <a:solidFill>
                  <a:schemeClr val="accent2"/>
                </a:solidFill>
              </a:rPr>
              <a:t> </a:t>
            </a:r>
            <a:r>
              <a:rPr lang="en-GB" altLang="zh-CN" sz="1800"/>
              <a:t>x);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accent2"/>
                </a:solidFill>
              </a:rPr>
              <a:t>     </a:t>
            </a:r>
            <a:r>
              <a:rPr lang="en-GB" altLang="zh-CN" sz="1800">
                <a:solidFill>
                  <a:srgbClr val="FF0066"/>
                </a:solidFill>
              </a:rPr>
              <a:t>T</a:t>
            </a:r>
            <a:r>
              <a:rPr lang="en-GB" altLang="zh-CN" sz="1800">
                <a:solidFill>
                  <a:schemeClr val="accent2"/>
                </a:solidFill>
              </a:rPr>
              <a:t> </a:t>
            </a:r>
            <a:r>
              <a:rPr lang="en-GB" altLang="zh-CN" sz="1800"/>
              <a:t>pop();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};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rgbClr val="FF0066"/>
                </a:solidFill>
              </a:rPr>
              <a:t>template &lt;class T&gt;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void Stack</a:t>
            </a:r>
            <a:r>
              <a:rPr lang="en-GB" altLang="zh-CN" sz="1800">
                <a:solidFill>
                  <a:schemeClr val="accent2"/>
                </a:solidFill>
              </a:rPr>
              <a:t> </a:t>
            </a:r>
            <a:r>
              <a:rPr lang="en-GB" altLang="zh-CN" sz="1800">
                <a:solidFill>
                  <a:srgbClr val="FF0066"/>
                </a:solidFill>
              </a:rPr>
              <a:t>&lt;T&gt;</a:t>
            </a:r>
            <a:r>
              <a:rPr lang="en-GB" altLang="zh-CN" sz="1800"/>
              <a:t>::push(T x) { …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180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rgbClr val="FF0066"/>
                </a:solidFill>
              </a:rPr>
              <a:t>template &lt;class T&gt;</a:t>
            </a:r>
            <a:endParaRPr lang="en-GB" altLang="zh-CN" sz="180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rgbClr val="FF0066"/>
                </a:solidFill>
              </a:rPr>
              <a:t>T</a:t>
            </a:r>
            <a:r>
              <a:rPr lang="en-GB" altLang="zh-CN" sz="1800">
                <a:solidFill>
                  <a:schemeClr val="accent2"/>
                </a:solidFill>
              </a:rPr>
              <a:t> </a:t>
            </a:r>
            <a:r>
              <a:rPr lang="en-GB" altLang="zh-CN" sz="1800"/>
              <a:t>Stack</a:t>
            </a:r>
            <a:r>
              <a:rPr lang="en-GB" altLang="zh-CN" sz="1800">
                <a:solidFill>
                  <a:schemeClr val="accent2"/>
                </a:solidFill>
              </a:rPr>
              <a:t> </a:t>
            </a:r>
            <a:r>
              <a:rPr lang="en-GB" altLang="zh-CN" sz="1800">
                <a:solidFill>
                  <a:srgbClr val="FF0066"/>
                </a:solidFill>
              </a:rPr>
              <a:t>&lt;T&gt;</a:t>
            </a:r>
            <a:r>
              <a:rPr lang="en-GB" altLang="zh-CN" sz="1800"/>
              <a:t>::pop() { …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……</a:t>
            </a:r>
            <a:endParaRPr lang="en-US" altLang="zh-CN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Stack</a:t>
            </a:r>
            <a:r>
              <a:rPr lang="en-GB" altLang="zh-CN" sz="1800">
                <a:solidFill>
                  <a:schemeClr val="accent2"/>
                </a:solidFill>
              </a:rPr>
              <a:t> </a:t>
            </a:r>
            <a:r>
              <a:rPr lang="en-GB" altLang="zh-CN" sz="1800">
                <a:solidFill>
                  <a:srgbClr val="FF0066"/>
                </a:solidFill>
              </a:rPr>
              <a:t>&lt;int&gt;</a:t>
            </a:r>
            <a:r>
              <a:rPr lang="en-GB" altLang="zh-CN" sz="1800">
                <a:solidFill>
                  <a:schemeClr val="accent2"/>
                </a:solidFill>
              </a:rPr>
              <a:t> </a:t>
            </a:r>
            <a:r>
              <a:rPr lang="en-GB" altLang="zh-CN" sz="1800"/>
              <a:t>st1;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Stack</a:t>
            </a:r>
            <a:r>
              <a:rPr lang="en-GB" altLang="zh-CN" sz="1800">
                <a:solidFill>
                  <a:schemeClr val="accent2"/>
                </a:solidFill>
              </a:rPr>
              <a:t> </a:t>
            </a:r>
            <a:r>
              <a:rPr lang="en-GB" altLang="zh-CN" sz="1800">
                <a:solidFill>
                  <a:srgbClr val="FF0066"/>
                </a:solidFill>
              </a:rPr>
              <a:t>&lt;double&gt;</a:t>
            </a:r>
            <a:r>
              <a:rPr lang="en-GB" altLang="zh-CN" sz="1800">
                <a:solidFill>
                  <a:schemeClr val="accent2"/>
                </a:solidFill>
              </a:rPr>
              <a:t> </a:t>
            </a:r>
            <a:r>
              <a:rPr lang="en-GB" altLang="zh-CN" sz="1800"/>
              <a:t>st2;</a:t>
            </a:r>
            <a:endParaRPr lang="en-US" altLang="zh-CN" sz="1800"/>
          </a:p>
        </p:txBody>
      </p:sp>
      <p:sp>
        <p:nvSpPr>
          <p:cNvPr id="131077" name="Text Box 5"/>
          <p:cNvSpPr txBox="1">
            <a:spLocks noChangeArrowheads="1"/>
          </p:cNvSpPr>
          <p:nvPr/>
        </p:nvSpPr>
        <p:spPr bwMode="auto">
          <a:xfrm>
            <a:off x="1638300" y="3352800"/>
            <a:ext cx="3238500" cy="311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class Stack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{    int buffer[100];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     void push(int  x);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     int pop();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};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void Stack::push(int  x) { …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int  Stack::pop() { …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……</a:t>
            </a:r>
            <a:endParaRPr lang="en-US" altLang="zh-CN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Stack  st1;</a:t>
            </a:r>
            <a:endParaRPr lang="en-US" altLang="zh-CN" sz="1800" i="0"/>
          </a:p>
        </p:txBody>
      </p:sp>
      <p:sp>
        <p:nvSpPr>
          <p:cNvPr id="131078" name="Text Box 6"/>
          <p:cNvSpPr txBox="1">
            <a:spLocks noChangeArrowheads="1"/>
          </p:cNvSpPr>
          <p:nvPr/>
        </p:nvSpPr>
        <p:spPr bwMode="auto">
          <a:xfrm>
            <a:off x="7588250" y="5867400"/>
            <a:ext cx="12874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显式模板实参指定</a:t>
            </a:r>
            <a:endParaRPr lang="zh-CN" altLang="en-US" sz="1800" i="0" dirty="0"/>
          </a:p>
        </p:txBody>
      </p:sp>
      <p:sp>
        <p:nvSpPr>
          <p:cNvPr id="131079" name="Line 7"/>
          <p:cNvSpPr>
            <a:spLocks noChangeShapeType="1"/>
          </p:cNvSpPr>
          <p:nvPr/>
        </p:nvSpPr>
        <p:spPr bwMode="auto">
          <a:xfrm flipH="1">
            <a:off x="7162800" y="60960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6" grpId="0" autoUpdateAnimBg="0"/>
      <p:bldP spid="131077" grpId="0" autoUpdateAnimBg="0"/>
      <p:bldP spid="131078" grpId="0" autoUpdateAnimBg="0"/>
      <p:bldP spid="13107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		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4661" y="1988840"/>
            <a:ext cx="7961312" cy="4383087"/>
          </a:xfrm>
        </p:spPr>
        <p:txBody>
          <a:bodyPr/>
          <a:lstStyle/>
          <a:p>
            <a:pPr lvl="1" algn="just" eaLnBrk="1" hangingPunct="1">
              <a:lnSpc>
                <a:spcPct val="90000"/>
              </a:lnSpc>
            </a:pPr>
            <a:r>
              <a:rPr lang="en-GB" altLang="en-US" sz="2400" dirty="0" err="1">
                <a:latin typeface="SimSun" charset="-122"/>
              </a:rPr>
              <a:t>定义了若干个类</a:t>
            </a:r>
            <a:endParaRPr lang="en-GB" altLang="en-US" sz="2400" dirty="0">
              <a:latin typeface="SimSun" charset="-12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 dirty="0"/>
              <a:t>显式模板实参指定（</a:t>
            </a:r>
            <a:r>
              <a:rPr lang="en" altLang="zh-CN" sz="2400" dirty="0"/>
              <a:t>C++17</a:t>
            </a:r>
            <a:r>
              <a:rPr lang="zh-CN" altLang="en-US" sz="2400" dirty="0"/>
              <a:t>引入了类模板参数推导）</a:t>
            </a:r>
            <a:endParaRPr lang="en-GB" altLang="en-US" sz="2400" dirty="0">
              <a:latin typeface="SimSun" charset="-12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GB" altLang="zh-CN" sz="2400" dirty="0" err="1">
                <a:latin typeface="SimSun" charset="-122"/>
              </a:rPr>
              <a:t>可</a:t>
            </a:r>
            <a:r>
              <a:rPr lang="zh-CN" altLang="en-GB" sz="2400" dirty="0">
                <a:latin typeface="SimSun" charset="-122"/>
              </a:rPr>
              <a:t>带有多个</a:t>
            </a:r>
            <a:r>
              <a:rPr lang="en-US" altLang="en-GB" sz="2400" dirty="0" err="1">
                <a:latin typeface="SimSun" charset="-122"/>
              </a:rPr>
              <a:t>参数</a:t>
            </a:r>
            <a:endParaRPr lang="en-US" altLang="en-GB" sz="2400" dirty="0">
              <a:latin typeface="SimSun" charset="-12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zh-CN" sz="2000" dirty="0" err="1">
                <a:latin typeface="SimSun" charset="-122"/>
              </a:rPr>
              <a:t>可</a:t>
            </a:r>
            <a:r>
              <a:rPr lang="zh-CN" altLang="en-US" sz="2000" dirty="0">
                <a:latin typeface="SimSun" charset="-122"/>
              </a:rPr>
              <a:t>带有</a:t>
            </a:r>
            <a:r>
              <a:rPr lang="en-GB" altLang="en-US" sz="2000" dirty="0" err="1">
                <a:latin typeface="SimSun" charset="-122"/>
              </a:rPr>
              <a:t>普通参数</a:t>
            </a:r>
            <a:endParaRPr lang="en-GB" altLang="en-US" sz="2000" dirty="0">
              <a:latin typeface="SimSun" charset="-122"/>
            </a:endParaRPr>
          </a:p>
          <a:p>
            <a:pPr lvl="3" algn="just" eaLnBrk="1" hangingPunct="1">
              <a:lnSpc>
                <a:spcPct val="90000"/>
              </a:lnSpc>
            </a:pPr>
            <a:r>
              <a:rPr lang="en-GB" altLang="en-US" dirty="0" err="1">
                <a:latin typeface="SimSun" charset="-122"/>
              </a:rPr>
              <a:t>逗号分隔</a:t>
            </a:r>
            <a:endParaRPr lang="en-GB" altLang="en-US" dirty="0">
              <a:latin typeface="SimSun" charset="-122"/>
            </a:endParaRPr>
          </a:p>
          <a:p>
            <a:pPr lvl="3" algn="just" eaLnBrk="1" hangingPunct="1">
              <a:lnSpc>
                <a:spcPct val="90000"/>
              </a:lnSpc>
            </a:pPr>
            <a:r>
              <a:rPr lang="en-GB" altLang="en-US" dirty="0" err="1">
                <a:latin typeface="SimSun" charset="-122"/>
              </a:rPr>
              <a:t>须放在类型参数</a:t>
            </a:r>
            <a:r>
              <a:rPr lang="en-US" altLang="zh-CN" dirty="0" err="1">
                <a:latin typeface="SimSun" charset="-122"/>
              </a:rPr>
              <a:t>之</a:t>
            </a:r>
            <a:r>
              <a:rPr lang="en-GB" altLang="en-US" dirty="0" err="1">
                <a:latin typeface="SimSun" charset="-122"/>
              </a:rPr>
              <a:t>后</a:t>
            </a:r>
            <a:endParaRPr lang="en-GB" altLang="en-US" dirty="0">
              <a:latin typeface="SimSun" charset="-122"/>
            </a:endParaRPr>
          </a:p>
          <a:p>
            <a:pPr lvl="1" algn="just" eaLnBrk="1" hangingPunct="1">
              <a:lnSpc>
                <a:spcPct val="90000"/>
              </a:lnSpc>
            </a:pPr>
            <a:endParaRPr lang="en-GB" altLang="en-US" sz="2400" dirty="0">
              <a:latin typeface="SimSun" charset="-122"/>
            </a:endParaRPr>
          </a:p>
          <a:p>
            <a:pPr lvl="1" algn="just" eaLnBrk="1" hangingPunct="1">
              <a:lnSpc>
                <a:spcPct val="90000"/>
              </a:lnSpc>
            </a:pPr>
            <a:endParaRPr lang="en-GB" altLang="en-US" sz="2400" dirty="0">
              <a:latin typeface="SimSun" charset="-122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028403" y="5373216"/>
            <a:ext cx="6167438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lvl="1" algn="just" eaLnBrk="1" hangingPunct="1">
              <a:lnSpc>
                <a:spcPct val="90000"/>
              </a:lnSpc>
            </a:pPr>
            <a:r>
              <a:rPr lang="en-GB" altLang="en-US" sz="2400" i="0">
                <a:latin typeface="SimSun" charset="-122"/>
              </a:rPr>
              <a:t>类模板中的静态成员属于实例化后的类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119BD42-6392-8ADC-7BF9-96F6DFBE5648}"/>
              </a:ext>
            </a:extLst>
          </p:cNvPr>
          <p:cNvSpPr txBox="1"/>
          <p:nvPr/>
        </p:nvSpPr>
        <p:spPr>
          <a:xfrm rot="21355369">
            <a:off x="5300591" y="1674634"/>
            <a:ext cx="3032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000" dirty="0"/>
              <a:t>std::vector v = {1, 2, 3}</a:t>
            </a:r>
            <a:r>
              <a:rPr lang="en-US" altLang="zh-CN" sz="2000" dirty="0"/>
              <a:t>;</a:t>
            </a:r>
            <a:endParaRPr kumimoji="1"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</a:t>
            </a:r>
            <a:r>
              <a:rPr lang="zh-CN" altLang="en-US" sz="3200"/>
              <a:t>－例</a:t>
            </a:r>
          </a:p>
        </p:txBody>
      </p:sp>
      <p:sp>
        <p:nvSpPr>
          <p:cNvPr id="7065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90600" y="1905000"/>
            <a:ext cx="5715000" cy="4724400"/>
          </a:xfrm>
          <a:noFill/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sz="2400" b="1" i="1" dirty="0">
                <a:solidFill>
                  <a:schemeClr val="accent2"/>
                </a:solidFill>
              </a:rPr>
              <a:t>	</a:t>
            </a:r>
            <a:r>
              <a:rPr lang="en-GB" altLang="zh-CN" sz="1800" i="1" dirty="0"/>
              <a:t>template &lt;class T</a:t>
            </a:r>
            <a:r>
              <a:rPr lang="en-US" altLang="zh-CN" sz="1800" i="1" dirty="0"/>
              <a:t>, </a:t>
            </a:r>
            <a:r>
              <a:rPr lang="en-US" altLang="zh-CN" sz="1800" i="1" dirty="0">
                <a:solidFill>
                  <a:schemeClr val="hlink"/>
                </a:solidFill>
              </a:rPr>
              <a:t>int size</a:t>
            </a:r>
            <a:r>
              <a:rPr lang="en-GB" altLang="zh-CN" sz="1800" i="1" dirty="0"/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 dirty="0"/>
              <a:t>	class Stack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 dirty="0"/>
              <a:t>	{     T buffer[size];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 dirty="0"/>
              <a:t>	  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 dirty="0"/>
              <a:t>	      void push(T x);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 dirty="0"/>
              <a:t>	      T pop();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 dirty="0"/>
              <a:t>	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 dirty="0"/>
              <a:t>	template &lt;class T, int size&gt;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 dirty="0"/>
              <a:t>     void Stack &lt;T, size&gt;::push(T x) { … 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zh-CN" sz="1800" i="1" dirty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 dirty="0"/>
              <a:t>	template &lt;class T, int size&gt;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 dirty="0"/>
              <a:t>	T Stack &lt;T, size&gt;::pop() { …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 dirty="0"/>
              <a:t>		……</a:t>
            </a:r>
            <a:endParaRPr lang="en-US" altLang="zh-CN" sz="1800" i="1" dirty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 dirty="0"/>
              <a:t>	Stack &lt;int, </a:t>
            </a:r>
            <a:r>
              <a:rPr lang="en-GB" altLang="zh-CN" sz="1800" i="1" dirty="0">
                <a:solidFill>
                  <a:schemeClr val="hlink"/>
                </a:solidFill>
              </a:rPr>
              <a:t>100</a:t>
            </a:r>
            <a:r>
              <a:rPr lang="en-GB" altLang="zh-CN" sz="1800" i="1" dirty="0"/>
              <a:t>&gt;         st1;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 i="1" dirty="0"/>
              <a:t>	Stack &lt;double, </a:t>
            </a:r>
            <a:r>
              <a:rPr lang="en-GB" altLang="zh-CN" sz="1800" i="1" dirty="0">
                <a:solidFill>
                  <a:schemeClr val="hlink"/>
                </a:solidFill>
              </a:rPr>
              <a:t>200</a:t>
            </a:r>
            <a:r>
              <a:rPr lang="en-GB" altLang="zh-CN" sz="1800" i="1" dirty="0"/>
              <a:t>&gt;   st2;</a:t>
            </a:r>
            <a:endParaRPr lang="en-US" altLang="zh-CN" sz="1800" i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81925" cy="4435475"/>
          </a:xfrm>
        </p:spPr>
        <p:txBody>
          <a:bodyPr/>
          <a:lstStyle/>
          <a:p>
            <a:pPr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en-US" sz="2400" dirty="0" err="1">
                <a:latin typeface="SimSun" charset="-122"/>
              </a:rPr>
              <a:t>模板是一种</a:t>
            </a:r>
            <a:r>
              <a:rPr lang="zh-CN" altLang="en-US" sz="2400" dirty="0">
                <a:solidFill>
                  <a:srgbClr val="C00000"/>
                </a:solidFill>
                <a:latin typeface="SimSun" charset="-122"/>
              </a:rPr>
              <a:t>源</a:t>
            </a:r>
            <a:r>
              <a:rPr lang="en-GB" altLang="en-US" sz="2400" dirty="0" err="1">
                <a:solidFill>
                  <a:srgbClr val="C00000"/>
                </a:solidFill>
                <a:latin typeface="SimSun" charset="-122"/>
              </a:rPr>
              <a:t>代码复用</a:t>
            </a:r>
            <a:r>
              <a:rPr lang="en-GB" altLang="en-US" sz="2400" dirty="0" err="1">
                <a:latin typeface="SimSun" charset="-122"/>
              </a:rPr>
              <a:t>机制</a:t>
            </a:r>
            <a:endParaRPr lang="en-GB" altLang="en-US" sz="2400" dirty="0"/>
          </a:p>
          <a:p>
            <a:pPr lvl="2" algn="just" eaLnBrk="1" hangingPunct="1"/>
            <a:r>
              <a:rPr lang="en-GB" altLang="en-US" sz="2000" dirty="0" err="1">
                <a:latin typeface="SimSun" charset="-122"/>
              </a:rPr>
              <a:t>实例化</a:t>
            </a:r>
            <a:r>
              <a:rPr lang="en-GB" altLang="zh-CN" sz="2000" dirty="0" err="1">
                <a:latin typeface="SimSun" charset="-122"/>
              </a:rPr>
              <a:t>：</a:t>
            </a:r>
            <a:r>
              <a:rPr lang="en-GB" altLang="en-US" sz="2000" dirty="0" err="1">
                <a:latin typeface="SimSun" charset="-122"/>
              </a:rPr>
              <a:t>生成具体的函数</a:t>
            </a:r>
            <a:r>
              <a:rPr lang="en-US" altLang="en-US" sz="2000" dirty="0">
                <a:latin typeface="SimSun" charset="-122"/>
              </a:rPr>
              <a:t>/</a:t>
            </a:r>
            <a:r>
              <a:rPr lang="en-GB" altLang="en-US" sz="2000" dirty="0" err="1">
                <a:latin typeface="SimSun" charset="-122"/>
              </a:rPr>
              <a:t>类</a:t>
            </a:r>
            <a:endParaRPr lang="en-GB" altLang="en-US" sz="2000" dirty="0">
              <a:latin typeface="SimSun" charset="-122"/>
            </a:endParaRPr>
          </a:p>
          <a:p>
            <a:pPr lvl="2" algn="just" eaLnBrk="1" hangingPunct="1"/>
            <a:r>
              <a:rPr lang="en-GB" altLang="en-US" sz="2000" dirty="0" err="1">
                <a:latin typeface="SimSun" charset="-122"/>
              </a:rPr>
              <a:t>函数模板的实例化</a:t>
            </a:r>
            <a:endParaRPr lang="en-GB" altLang="en-US" sz="2000" dirty="0">
              <a:latin typeface="SimSun" charset="-122"/>
            </a:endParaRPr>
          </a:p>
          <a:p>
            <a:pPr lvl="3" algn="just" eaLnBrk="1" hangingPunct="1"/>
            <a:r>
              <a:rPr lang="en-GB" altLang="en-US" dirty="0" err="1">
                <a:latin typeface="SimSun" charset="-122"/>
              </a:rPr>
              <a:t>隐式实现</a:t>
            </a:r>
            <a:endParaRPr lang="en-GB" altLang="en-US" dirty="0">
              <a:latin typeface="SimSun" charset="-122"/>
            </a:endParaRPr>
          </a:p>
          <a:p>
            <a:pPr lvl="3" algn="just" eaLnBrk="1" hangingPunct="1"/>
            <a:r>
              <a:rPr lang="en-GB" altLang="en-US" dirty="0" err="1">
                <a:latin typeface="SimSun" charset="-122"/>
              </a:rPr>
              <a:t>根据具体模板函数调用</a:t>
            </a:r>
            <a:endParaRPr lang="en-GB" altLang="en-US" dirty="0">
              <a:latin typeface="SimSun" charset="-122"/>
            </a:endParaRPr>
          </a:p>
          <a:p>
            <a:pPr lvl="2" algn="just" eaLnBrk="1" hangingPunct="1"/>
            <a:r>
              <a:rPr lang="en-GB" altLang="en-US" sz="2000" dirty="0" err="1">
                <a:latin typeface="SimSun" charset="-122"/>
              </a:rPr>
              <a:t>类模板的实例化</a:t>
            </a:r>
            <a:endParaRPr lang="en-GB" altLang="en-US" sz="2000" dirty="0">
              <a:latin typeface="SimSun" charset="-122"/>
            </a:endParaRPr>
          </a:p>
          <a:p>
            <a:pPr lvl="3" algn="just" eaLnBrk="1" hangingPunct="1"/>
            <a:r>
              <a:rPr lang="en-GB" altLang="en-US" dirty="0" err="1">
                <a:latin typeface="SimSun" charset="-122"/>
              </a:rPr>
              <a:t>创建对象时显式指定</a:t>
            </a:r>
            <a:endParaRPr lang="en-GB" altLang="en-US" dirty="0">
              <a:latin typeface="SimSun" charset="-122"/>
            </a:endParaRPr>
          </a:p>
          <a:p>
            <a:pPr lvl="3" algn="just" eaLnBrk="1" hangingPunct="1"/>
            <a:endParaRPr lang="en-GB" altLang="en-US" b="1" dirty="0">
              <a:solidFill>
                <a:srgbClr val="C00000"/>
              </a:solidFill>
              <a:latin typeface="SimSun" charset="-122"/>
            </a:endParaRPr>
          </a:p>
          <a:p>
            <a:pPr lvl="1" algn="just" eaLnBrk="1" hangingPunct="1"/>
            <a:r>
              <a:rPr lang="en-GB" altLang="en-US" sz="2000" dirty="0" err="1">
                <a:latin typeface="SimSun" charset="-122"/>
              </a:rPr>
              <a:t>是否实例化模板的某个实例由使用点来决定</a:t>
            </a:r>
            <a:r>
              <a:rPr lang="en-GB" altLang="zh-CN" sz="2000" dirty="0" err="1">
                <a:latin typeface="SimSun" charset="-122"/>
              </a:rPr>
              <a:t>；</a:t>
            </a:r>
            <a:r>
              <a:rPr lang="en-GB" altLang="en-US" sz="2000" dirty="0" err="1">
                <a:latin typeface="SimSun" charset="-122"/>
              </a:rPr>
              <a:t>如果未使用到一个模板的某个实例，则编译系统不会生成相应实例的代码</a:t>
            </a:r>
            <a:endParaRPr lang="zh-CN" altLang="en-US" sz="2000" dirty="0">
              <a:latin typeface="SimSun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模板</a:t>
            </a:r>
          </a:p>
        </p:txBody>
      </p:sp>
      <p:sp>
        <p:nvSpPr>
          <p:cNvPr id="727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2017713"/>
            <a:ext cx="7964488" cy="4114800"/>
          </a:xfrm>
        </p:spPr>
        <p:txBody>
          <a:bodyPr/>
          <a:lstStyle/>
          <a:p>
            <a:pPr lvl="2" eaLnBrk="1" hangingPunct="1"/>
            <a:r>
              <a:rPr lang="en-GB" altLang="en-US" sz="1800">
                <a:latin typeface="SimSun" charset="-122"/>
              </a:rPr>
              <a:t>如果在模块</a:t>
            </a:r>
            <a:r>
              <a:rPr lang="en-GB" altLang="zh-CN" sz="1800">
                <a:latin typeface="SimSun" charset="-122"/>
              </a:rPr>
              <a:t>A</a:t>
            </a:r>
            <a:r>
              <a:rPr lang="en-GB" altLang="en-US" sz="1800">
                <a:latin typeface="SimSun" charset="-122"/>
              </a:rPr>
              <a:t>中要使用模块</a:t>
            </a:r>
            <a:r>
              <a:rPr lang="en-GB" altLang="zh-CN" sz="1800">
                <a:latin typeface="SimSun" charset="-122"/>
              </a:rPr>
              <a:t>B</a:t>
            </a:r>
            <a:r>
              <a:rPr lang="en-GB" altLang="en-US" sz="1800">
                <a:latin typeface="SimSun" charset="-122"/>
              </a:rPr>
              <a:t>中定义的</a:t>
            </a:r>
            <a:r>
              <a:rPr lang="zh-CN" altLang="en-US" sz="1800">
                <a:latin typeface="SimSun" charset="-122"/>
              </a:rPr>
              <a:t>某</a:t>
            </a:r>
            <a:r>
              <a:rPr lang="en-GB" altLang="en-US" sz="1800">
                <a:latin typeface="SimSun" charset="-122"/>
              </a:rPr>
              <a:t>模板的实例，而在模块</a:t>
            </a:r>
            <a:r>
              <a:rPr lang="en-GB" altLang="zh-CN" sz="1800">
                <a:latin typeface="SimSun" charset="-122"/>
              </a:rPr>
              <a:t>B</a:t>
            </a:r>
            <a:r>
              <a:rPr lang="en-GB" altLang="en-US" sz="1800">
                <a:latin typeface="SimSun" charset="-122"/>
              </a:rPr>
              <a:t>中未使用这个实例，则模块</a:t>
            </a:r>
            <a:r>
              <a:rPr lang="en-GB" altLang="zh-CN" sz="1800">
                <a:latin typeface="SimSun" charset="-122"/>
              </a:rPr>
              <a:t>A</a:t>
            </a:r>
            <a:r>
              <a:rPr lang="en-GB" altLang="en-US" sz="1800">
                <a:latin typeface="SimSun" charset="-122"/>
              </a:rPr>
              <a:t>无法使用这个实例</a:t>
            </a:r>
            <a:endParaRPr lang="zh-CN" altLang="en-US" sz="1800">
              <a:latin typeface="SimSun" charset="-122"/>
            </a:endParaRPr>
          </a:p>
        </p:txBody>
      </p:sp>
      <p:sp>
        <p:nvSpPr>
          <p:cNvPr id="72707" name="Text Box 4"/>
          <p:cNvSpPr txBox="1">
            <a:spLocks noChangeArrowheads="1"/>
          </p:cNvSpPr>
          <p:nvPr/>
        </p:nvSpPr>
        <p:spPr bwMode="auto">
          <a:xfrm>
            <a:off x="457200" y="3200400"/>
            <a:ext cx="2009775" cy="3524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#include "file1.h"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template &lt;class T&gt;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void S&lt;T&gt;::f() { …}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16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template &lt;class T&gt;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T max(T x, T y)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{ return x&gt;</a:t>
            </a:r>
            <a:r>
              <a:rPr lang="en-GB" altLang="zh-CN" sz="1600" dirty="0" err="1">
                <a:solidFill>
                  <a:schemeClr val="tx2"/>
                </a:solidFill>
              </a:rPr>
              <a:t>y?x:y</a:t>
            </a:r>
            <a:r>
              <a:rPr lang="en-GB" altLang="zh-CN" sz="1600" dirty="0">
                <a:solidFill>
                  <a:schemeClr val="tx2"/>
                </a:solidFill>
              </a:rPr>
              <a:t>;}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16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void 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{  int </a:t>
            </a:r>
            <a:r>
              <a:rPr lang="en-GB" altLang="zh-CN" sz="1600" dirty="0" err="1">
                <a:solidFill>
                  <a:schemeClr val="tx2"/>
                </a:solidFill>
              </a:rPr>
              <a:t>a,b</a:t>
            </a:r>
            <a:r>
              <a:rPr lang="en-GB" altLang="zh-CN" sz="1600" dirty="0">
                <a:solidFill>
                  <a:schemeClr val="tx2"/>
                </a:solidFill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   max(</a:t>
            </a:r>
            <a:r>
              <a:rPr lang="en-GB" altLang="zh-CN" sz="1600" dirty="0" err="1">
                <a:solidFill>
                  <a:schemeClr val="tx2"/>
                </a:solidFill>
              </a:rPr>
              <a:t>a,b</a:t>
            </a:r>
            <a:r>
              <a:rPr lang="en-GB" altLang="zh-CN" sz="1600" dirty="0">
                <a:solidFill>
                  <a:schemeClr val="tx2"/>
                </a:solidFill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   S&lt;int&gt; x;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   </a:t>
            </a:r>
            <a:r>
              <a:rPr lang="en-GB" altLang="zh-CN" sz="1600" dirty="0" err="1">
                <a:solidFill>
                  <a:schemeClr val="tx2"/>
                </a:solidFill>
              </a:rPr>
              <a:t>x.f</a:t>
            </a:r>
            <a:r>
              <a:rPr lang="en-GB" altLang="zh-CN" sz="1600" dirty="0">
                <a:solidFill>
                  <a:schemeClr val="tx2"/>
                </a:solidFill>
              </a:rPr>
              <a:t>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tx2"/>
                </a:solidFill>
              </a:rPr>
              <a:t>}</a:t>
            </a:r>
            <a:endParaRPr lang="en-US" altLang="zh-CN" sz="1600" i="0" dirty="0">
              <a:solidFill>
                <a:schemeClr val="tx2"/>
              </a:solidFill>
            </a:endParaRPr>
          </a:p>
        </p:txBody>
      </p:sp>
      <p:sp>
        <p:nvSpPr>
          <p:cNvPr id="72708" name="Text Box 5"/>
          <p:cNvSpPr txBox="1">
            <a:spLocks noChangeArrowheads="1"/>
          </p:cNvSpPr>
          <p:nvPr/>
        </p:nvSpPr>
        <p:spPr bwMode="auto">
          <a:xfrm>
            <a:off x="2895600" y="4038600"/>
            <a:ext cx="21336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 sz="1600">
                <a:solidFill>
                  <a:schemeClr val="tx2"/>
                </a:solidFill>
              </a:rPr>
              <a:t>template &lt;class T&gt;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 sz="1600">
                <a:solidFill>
                  <a:schemeClr val="tx2"/>
                </a:solidFill>
              </a:rPr>
              <a:t>class 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 sz="1600">
                <a:solidFill>
                  <a:schemeClr val="tx2"/>
                </a:solidFill>
              </a:rPr>
              <a:t>{    T a;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 sz="1600">
                <a:solidFill>
                  <a:schemeClr val="tx2"/>
                </a:solidFill>
              </a:rPr>
              <a:t>  public: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 sz="1600">
                <a:solidFill>
                  <a:schemeClr val="tx2"/>
                </a:solidFill>
              </a:rPr>
              <a:t>     void f();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 sz="1600">
                <a:solidFill>
                  <a:schemeClr val="tx2"/>
                </a:solidFill>
              </a:rPr>
              <a:t>};</a:t>
            </a:r>
            <a:endParaRPr lang="en-US" altLang="zh-CN" sz="1600">
              <a:solidFill>
                <a:schemeClr val="tx2"/>
              </a:solidFill>
            </a:endParaRPr>
          </a:p>
        </p:txBody>
      </p:sp>
      <p:sp>
        <p:nvSpPr>
          <p:cNvPr id="135174" name="Text Box 6"/>
          <p:cNvSpPr txBox="1">
            <a:spLocks noChangeArrowheads="1"/>
          </p:cNvSpPr>
          <p:nvPr/>
        </p:nvSpPr>
        <p:spPr bwMode="auto">
          <a:xfrm>
            <a:off x="5480050" y="3962400"/>
            <a:ext cx="3359150" cy="1812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tx2"/>
                </a:solidFill>
              </a:rPr>
              <a:t>#include "file1.h"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tx2"/>
                </a:solidFill>
              </a:rPr>
              <a:t>extern double max(double,double);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tx2"/>
                </a:solidFill>
              </a:rPr>
              <a:t>void sub()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tx2"/>
                </a:solidFill>
              </a:rPr>
              <a:t>{    max(1.1,2.2);</a:t>
            </a:r>
            <a:r>
              <a:rPr lang="en-GB" altLang="zh-CN" sz="1600"/>
              <a:t>    </a:t>
            </a:r>
            <a:endParaRPr lang="en-GB" altLang="zh-CN" sz="1600">
              <a:solidFill>
                <a:srgbClr val="FF0066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/>
              <a:t>     </a:t>
            </a:r>
            <a:r>
              <a:rPr lang="en-GB" altLang="zh-CN" sz="1600">
                <a:solidFill>
                  <a:schemeClr val="tx2"/>
                </a:solidFill>
              </a:rPr>
              <a:t>S&lt;float&gt;  x;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tx2"/>
                </a:solidFill>
              </a:rPr>
              <a:t>     x.f();</a:t>
            </a:r>
            <a:r>
              <a:rPr lang="en-GB" altLang="zh-CN" sz="1600"/>
              <a:t>      	</a:t>
            </a:r>
            <a:endParaRPr lang="en-GB" altLang="zh-CN" sz="1600">
              <a:solidFill>
                <a:srgbClr val="FF0066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tx2"/>
                </a:solidFill>
              </a:rPr>
              <a:t>}</a:t>
            </a:r>
            <a:endParaRPr lang="en-US" altLang="zh-CN" sz="1600" i="0">
              <a:solidFill>
                <a:schemeClr val="tx2"/>
              </a:solidFill>
            </a:endParaRPr>
          </a:p>
        </p:txBody>
      </p:sp>
      <p:sp>
        <p:nvSpPr>
          <p:cNvPr id="72710" name="Text Box 7"/>
          <p:cNvSpPr txBox="1">
            <a:spLocks noChangeArrowheads="1"/>
          </p:cNvSpPr>
          <p:nvPr/>
        </p:nvSpPr>
        <p:spPr bwMode="auto">
          <a:xfrm>
            <a:off x="1935163" y="5881688"/>
            <a:ext cx="1036637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file1.cpp</a:t>
            </a:r>
            <a:endParaRPr lang="en-US" altLang="zh-CN" sz="1800" i="0"/>
          </a:p>
        </p:txBody>
      </p:sp>
      <p:sp>
        <p:nvSpPr>
          <p:cNvPr id="72711" name="Text Box 8"/>
          <p:cNvSpPr txBox="1">
            <a:spLocks noChangeArrowheads="1"/>
          </p:cNvSpPr>
          <p:nvPr/>
        </p:nvSpPr>
        <p:spPr bwMode="auto">
          <a:xfrm>
            <a:off x="4038600" y="5576888"/>
            <a:ext cx="804863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file1.h</a:t>
            </a:r>
            <a:endParaRPr lang="en-US" altLang="zh-CN" sz="1800" i="0"/>
          </a:p>
        </p:txBody>
      </p:sp>
      <p:sp>
        <p:nvSpPr>
          <p:cNvPr id="135177" name="Text Box 9"/>
          <p:cNvSpPr txBox="1">
            <a:spLocks noChangeArrowheads="1"/>
          </p:cNvSpPr>
          <p:nvPr/>
        </p:nvSpPr>
        <p:spPr bwMode="auto">
          <a:xfrm>
            <a:off x="7537450" y="5562600"/>
            <a:ext cx="1036638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file2.cpp</a:t>
            </a:r>
            <a:endParaRPr lang="en-US" altLang="zh-CN" sz="1800" i="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419475" y="1052513"/>
            <a:ext cx="51641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i="0">
                <a:solidFill>
                  <a:srgbClr val="0070C0"/>
                </a:solidFill>
              </a:rPr>
              <a:t>C++</a:t>
            </a:r>
            <a:r>
              <a:rPr lang="zh-CN" altLang="en-US" sz="2000" b="1" i="0">
                <a:solidFill>
                  <a:srgbClr val="0070C0"/>
                </a:solidFill>
              </a:rPr>
              <a:t>中模板的完整定义通常出现在头文件中</a:t>
            </a:r>
          </a:p>
        </p:txBody>
      </p:sp>
      <p:sp>
        <p:nvSpPr>
          <p:cNvPr id="43020" name="Text Box 12"/>
          <p:cNvSpPr txBox="1">
            <a:spLocks noChangeArrowheads="1"/>
          </p:cNvSpPr>
          <p:nvPr/>
        </p:nvSpPr>
        <p:spPr bwMode="auto">
          <a:xfrm>
            <a:off x="5283995" y="3962400"/>
            <a:ext cx="3763962" cy="19319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rgbClr val="006600"/>
                </a:solidFill>
              </a:rPr>
              <a:t>#include "file1.h"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rgbClr val="006600"/>
                </a:solidFill>
              </a:rPr>
              <a:t>extern </a:t>
            </a:r>
            <a:r>
              <a:rPr lang="en-US" altLang="zh-CN" sz="1600" dirty="0">
                <a:solidFill>
                  <a:srgbClr val="006600"/>
                </a:solidFill>
              </a:rPr>
              <a:t>double</a:t>
            </a:r>
            <a:r>
              <a:rPr lang="zh-CN" altLang="en-US" sz="1600" dirty="0">
                <a:solidFill>
                  <a:srgbClr val="006600"/>
                </a:solidFill>
              </a:rPr>
              <a:t> </a:t>
            </a:r>
            <a:r>
              <a:rPr lang="en-GB" altLang="zh-CN" sz="1600" dirty="0">
                <a:solidFill>
                  <a:srgbClr val="006600"/>
                </a:solidFill>
              </a:rPr>
              <a:t>max(</a:t>
            </a:r>
            <a:r>
              <a:rPr lang="en-US" altLang="zh-CN" sz="1600" dirty="0">
                <a:solidFill>
                  <a:srgbClr val="006600"/>
                </a:solidFill>
              </a:rPr>
              <a:t>double</a:t>
            </a:r>
            <a:r>
              <a:rPr lang="en-GB" altLang="zh-CN" sz="1600" dirty="0">
                <a:solidFill>
                  <a:srgbClr val="006600"/>
                </a:solidFill>
              </a:rPr>
              <a:t>, double);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rgbClr val="006600"/>
                </a:solidFill>
              </a:rPr>
              <a:t>void sub()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rgbClr val="006600"/>
                </a:solidFill>
              </a:rPr>
              <a:t>{  max(1.1, 2.2); 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rgbClr val="006600"/>
                </a:solidFill>
              </a:rPr>
              <a:t>    S&lt;float&gt;  x;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rgbClr val="006600"/>
                </a:solidFill>
              </a:rPr>
              <a:t>    </a:t>
            </a:r>
            <a:r>
              <a:rPr lang="en-GB" altLang="zh-CN" sz="1600" dirty="0" err="1">
                <a:solidFill>
                  <a:srgbClr val="006600"/>
                </a:solidFill>
              </a:rPr>
              <a:t>x.f</a:t>
            </a:r>
            <a:r>
              <a:rPr lang="en-GB" altLang="zh-CN" sz="1600" dirty="0">
                <a:solidFill>
                  <a:srgbClr val="006600"/>
                </a:solidFill>
              </a:rPr>
              <a:t>();      	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rgbClr val="006600"/>
                </a:solidFill>
              </a:rPr>
              <a:t>}                       </a:t>
            </a:r>
            <a:r>
              <a:rPr lang="en-GB" altLang="zh-CN" sz="1600" dirty="0"/>
              <a:t>file</a:t>
            </a:r>
            <a:r>
              <a:rPr lang="en-US" altLang="zh-CN" sz="1600" dirty="0"/>
              <a:t>2</a:t>
            </a:r>
            <a:r>
              <a:rPr lang="en-GB" altLang="zh-CN" sz="1600" dirty="0"/>
              <a:t>.</a:t>
            </a:r>
            <a:r>
              <a:rPr lang="en-GB" altLang="zh-CN" sz="1600" dirty="0" err="1"/>
              <a:t>cpp</a:t>
            </a:r>
            <a:endParaRPr lang="en-US" altLang="zh-CN" sz="1600" dirty="0"/>
          </a:p>
        </p:txBody>
      </p: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7596188" y="4724400"/>
            <a:ext cx="784225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>
                <a:solidFill>
                  <a:srgbClr val="FF0066"/>
                </a:solidFill>
              </a:rPr>
              <a:t>//Error</a:t>
            </a:r>
            <a:endParaRPr lang="zh-CN" altLang="en-US" sz="1600">
              <a:solidFill>
                <a:srgbClr val="FF0066"/>
              </a:solidFill>
            </a:endParaRPr>
          </a:p>
        </p:txBody>
      </p:sp>
      <p:sp>
        <p:nvSpPr>
          <p:cNvPr id="43022" name="Text Box 14"/>
          <p:cNvSpPr txBox="1">
            <a:spLocks noChangeArrowheads="1"/>
          </p:cNvSpPr>
          <p:nvPr/>
        </p:nvSpPr>
        <p:spPr bwMode="auto">
          <a:xfrm>
            <a:off x="7524750" y="5203825"/>
            <a:ext cx="784225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>
                <a:solidFill>
                  <a:srgbClr val="FF0066"/>
                </a:solidFill>
              </a:rPr>
              <a:t>//Error</a:t>
            </a:r>
            <a:endParaRPr lang="zh-CN" altLang="en-US" sz="1600">
              <a:solidFill>
                <a:srgbClr val="FF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3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3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4" grpId="0" animBg="1" autoUpdateAnimBg="0"/>
      <p:bldP spid="135177" grpId="0" animBg="1" autoUpdateAnimBg="0"/>
      <p:bldP spid="10" grpId="0" build="allAtOnce"/>
      <p:bldP spid="43020" grpId="0" animBg="1"/>
      <p:bldP spid="43021" grpId="0"/>
      <p:bldP spid="43021" grpId="1"/>
      <p:bldP spid="43022" grpId="0"/>
      <p:bldP spid="4302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D6BF6-5A29-34EF-0DC8-728A3009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1">
            <a:extLst>
              <a:ext uri="{FF2B5EF4-FFF2-40B4-BE49-F238E27FC236}">
                <a16:creationId xmlns:a16="http://schemas.microsoft.com/office/drawing/2014/main" id="{336D8154-A9AB-E652-12E6-67C6A0E3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模板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69EB59-AEDD-D30C-925D-FD0B07E589D0}"/>
              </a:ext>
            </a:extLst>
          </p:cNvPr>
          <p:cNvSpPr txBox="1"/>
          <p:nvPr/>
        </p:nvSpPr>
        <p:spPr>
          <a:xfrm>
            <a:off x="1331640" y="1787947"/>
            <a:ext cx="811864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#include &lt;string&gt;</a:t>
            </a:r>
          </a:p>
          <a:p>
            <a:r>
              <a:rPr lang="zh-CN" altLang="en-US" sz="2000" dirty="0"/>
              <a:t>#include &lt;type_traits&gt;</a:t>
            </a:r>
          </a:p>
          <a:p>
            <a:endParaRPr lang="zh-CN" altLang="en-US" sz="2000" dirty="0"/>
          </a:p>
          <a:p>
            <a:r>
              <a:rPr lang="zh-CN" altLang="en-US" sz="2000" dirty="0"/>
              <a:t>template &lt;typename T&gt; std::string autoToString(T val) {</a:t>
            </a:r>
          </a:p>
          <a:p>
            <a:r>
              <a:rPr lang="zh-CN" altLang="en-US" sz="2000" dirty="0"/>
              <a:t>    if (std::is_same_v&lt;T, std::string&gt;) {</a:t>
            </a:r>
            <a:r>
              <a:rPr lang="en-US" altLang="zh-CN" sz="2000" dirty="0"/>
              <a:t>//T</a:t>
            </a:r>
            <a:r>
              <a:rPr lang="zh-CN" altLang="en-US" sz="2000" dirty="0"/>
              <a:t>为</a:t>
            </a:r>
            <a:r>
              <a:rPr lang="en-US" altLang="zh-CN" sz="2000" dirty="0"/>
              <a:t>string</a:t>
            </a:r>
            <a:r>
              <a:rPr lang="zh-CN" altLang="en-US" sz="2000" dirty="0"/>
              <a:t>类型</a:t>
            </a:r>
          </a:p>
          <a:p>
            <a:r>
              <a:rPr lang="zh-CN" altLang="en-US" sz="2000" dirty="0"/>
              <a:t>        return val; </a:t>
            </a:r>
          </a:p>
          <a:p>
            <a:r>
              <a:rPr lang="zh-CN" altLang="en-US" sz="2000" dirty="0"/>
              <a:t>    } else {</a:t>
            </a:r>
            <a:r>
              <a:rPr lang="en-US" altLang="zh-CN" sz="2000" dirty="0"/>
              <a:t>//T</a:t>
            </a:r>
            <a:r>
              <a:rPr lang="zh-CN" altLang="en-US" sz="2000" dirty="0"/>
              <a:t>为数字类型</a:t>
            </a:r>
          </a:p>
          <a:p>
            <a:r>
              <a:rPr lang="zh-CN" altLang="en-US" sz="2000" dirty="0"/>
              <a:t>        return std::to_string(val); </a:t>
            </a:r>
          </a:p>
          <a:p>
            <a:r>
              <a:rPr lang="zh-CN" altLang="en-US" sz="2000" dirty="0"/>
              <a:t>    }</a:t>
            </a:r>
          </a:p>
          <a:p>
            <a:r>
              <a:rPr lang="zh-CN" altLang="en-US" sz="2000" dirty="0"/>
              <a:t>}</a:t>
            </a:r>
          </a:p>
          <a:p>
            <a:endParaRPr lang="zh-CN" altLang="en-US" sz="2000" dirty="0"/>
          </a:p>
          <a:p>
            <a:r>
              <a:rPr lang="zh-CN" altLang="en-US" sz="2000" dirty="0"/>
              <a:t>int main() {</a:t>
            </a:r>
          </a:p>
          <a:p>
            <a:r>
              <a:rPr lang="zh-CN" altLang="en-US" sz="2000" dirty="0"/>
              <a:t>    std::string s = "hello";</a:t>
            </a:r>
          </a:p>
          <a:p>
            <a:r>
              <a:rPr lang="zh-CN" altLang="en-US" sz="2000" dirty="0"/>
              <a:t>    autoToString(s);   </a:t>
            </a:r>
            <a:r>
              <a:rPr lang="zh-CN" altLang="en-US" sz="2800" dirty="0">
                <a:solidFill>
                  <a:srgbClr val="FF0000"/>
                </a:solidFill>
              </a:rPr>
              <a:t>？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1809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37377-0FC8-5527-4162-9F690D423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1">
            <a:extLst>
              <a:ext uri="{FF2B5EF4-FFF2-40B4-BE49-F238E27FC236}">
                <a16:creationId xmlns:a16="http://schemas.microsoft.com/office/drawing/2014/main" id="{C278E6E2-6804-2BB5-D742-7F83F4A89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/>
              <a:t>if </a:t>
            </a:r>
            <a:r>
              <a:rPr lang="en" altLang="zh-CN" dirty="0" err="1"/>
              <a:t>constexpr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EE4B68-781C-422D-A01C-0F8CBB185F95}"/>
              </a:ext>
            </a:extLst>
          </p:cNvPr>
          <p:cNvSpPr txBox="1"/>
          <p:nvPr/>
        </p:nvSpPr>
        <p:spPr>
          <a:xfrm>
            <a:off x="2051720" y="4221178"/>
            <a:ext cx="54726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800" dirty="0">
                <a:solidFill>
                  <a:schemeClr val="tx2"/>
                </a:solidFill>
              </a:rPr>
              <a:t>template &lt;</a:t>
            </a:r>
            <a:r>
              <a:rPr lang="en" altLang="zh-CN" sz="1800" dirty="0" err="1">
                <a:solidFill>
                  <a:schemeClr val="tx2"/>
                </a:solidFill>
              </a:rPr>
              <a:t>typename</a:t>
            </a:r>
            <a:r>
              <a:rPr lang="en" altLang="zh-CN" sz="1800" dirty="0">
                <a:solidFill>
                  <a:schemeClr val="tx2"/>
                </a:solidFill>
              </a:rPr>
              <a:t> T&gt;</a:t>
            </a:r>
          </a:p>
          <a:p>
            <a:r>
              <a:rPr lang="en" altLang="zh-CN" sz="1800" dirty="0">
                <a:solidFill>
                  <a:schemeClr val="tx2"/>
                </a:solidFill>
              </a:rPr>
              <a:t>std::string </a:t>
            </a:r>
            <a:r>
              <a:rPr lang="en" altLang="zh-CN" sz="1800" dirty="0" err="1">
                <a:solidFill>
                  <a:schemeClr val="tx2"/>
                </a:solidFill>
              </a:rPr>
              <a:t>autoToString</a:t>
            </a:r>
            <a:r>
              <a:rPr lang="en" altLang="zh-CN" sz="1800" dirty="0">
                <a:solidFill>
                  <a:schemeClr val="tx2"/>
                </a:solidFill>
              </a:rPr>
              <a:t>(T </a:t>
            </a:r>
            <a:r>
              <a:rPr lang="en" altLang="zh-CN" sz="1800" dirty="0" err="1">
                <a:solidFill>
                  <a:schemeClr val="tx2"/>
                </a:solidFill>
              </a:rPr>
              <a:t>val</a:t>
            </a:r>
            <a:r>
              <a:rPr lang="en" altLang="zh-CN" sz="1800" dirty="0">
                <a:solidFill>
                  <a:schemeClr val="tx2"/>
                </a:solidFill>
              </a:rPr>
              <a:t>) {</a:t>
            </a:r>
          </a:p>
          <a:p>
            <a:r>
              <a:rPr lang="en" altLang="zh-CN" sz="1800" dirty="0">
                <a:solidFill>
                  <a:schemeClr val="tx2"/>
                </a:solidFill>
              </a:rPr>
              <a:t>if </a:t>
            </a:r>
            <a:r>
              <a:rPr lang="en" altLang="zh-CN" sz="1800" dirty="0" err="1">
                <a:solidFill>
                  <a:schemeClr val="tx2"/>
                </a:solidFill>
              </a:rPr>
              <a:t>constexpr</a:t>
            </a:r>
            <a:r>
              <a:rPr lang="en" altLang="zh-CN" sz="1800" dirty="0">
                <a:solidFill>
                  <a:schemeClr val="tx2"/>
                </a:solidFill>
              </a:rPr>
              <a:t> (std::</a:t>
            </a:r>
            <a:r>
              <a:rPr lang="en" altLang="zh-CN" sz="1800" dirty="0" err="1">
                <a:solidFill>
                  <a:schemeClr val="tx2"/>
                </a:solidFill>
              </a:rPr>
              <a:t>is_same_v</a:t>
            </a:r>
            <a:r>
              <a:rPr lang="en" altLang="zh-CN" sz="1800" dirty="0">
                <a:solidFill>
                  <a:schemeClr val="tx2"/>
                </a:solidFill>
              </a:rPr>
              <a:t>&lt;T, std::string&gt;) {</a:t>
            </a:r>
          </a:p>
          <a:p>
            <a:r>
              <a:rPr lang="en" altLang="zh-CN" sz="1800" dirty="0">
                <a:solidFill>
                  <a:schemeClr val="tx2"/>
                </a:solidFill>
              </a:rPr>
              <a:t>        return </a:t>
            </a:r>
            <a:r>
              <a:rPr lang="en" altLang="zh-CN" sz="1800" dirty="0" err="1">
                <a:solidFill>
                  <a:schemeClr val="tx2"/>
                </a:solidFill>
              </a:rPr>
              <a:t>val</a:t>
            </a:r>
            <a:r>
              <a:rPr lang="en" altLang="zh-CN" sz="1800" dirty="0">
                <a:solidFill>
                  <a:schemeClr val="tx2"/>
                </a:solidFill>
              </a:rPr>
              <a:t>;</a:t>
            </a:r>
          </a:p>
          <a:p>
            <a:r>
              <a:rPr lang="en" altLang="zh-CN" sz="1800" dirty="0">
                <a:solidFill>
                  <a:schemeClr val="tx2"/>
                </a:solidFill>
              </a:rPr>
              <a:t>    } else {</a:t>
            </a:r>
          </a:p>
          <a:p>
            <a:r>
              <a:rPr lang="en" altLang="zh-CN" sz="1800" dirty="0">
                <a:solidFill>
                  <a:schemeClr val="tx2"/>
                </a:solidFill>
              </a:rPr>
              <a:t>        return std::</a:t>
            </a:r>
            <a:r>
              <a:rPr lang="en" altLang="zh-CN" sz="1800" dirty="0" err="1">
                <a:solidFill>
                  <a:schemeClr val="tx2"/>
                </a:solidFill>
              </a:rPr>
              <a:t>to_string</a:t>
            </a:r>
            <a:r>
              <a:rPr lang="en" altLang="zh-CN" sz="1800" dirty="0">
                <a:solidFill>
                  <a:schemeClr val="tx2"/>
                </a:solidFill>
              </a:rPr>
              <a:t>(</a:t>
            </a:r>
            <a:r>
              <a:rPr lang="en" altLang="zh-CN" sz="1800" dirty="0" err="1">
                <a:solidFill>
                  <a:schemeClr val="tx2"/>
                </a:solidFill>
              </a:rPr>
              <a:t>val</a:t>
            </a:r>
            <a:r>
              <a:rPr lang="en" altLang="zh-CN" sz="1800" dirty="0">
                <a:solidFill>
                  <a:schemeClr val="tx2"/>
                </a:solidFill>
              </a:rPr>
              <a:t>);</a:t>
            </a:r>
          </a:p>
          <a:p>
            <a:r>
              <a:rPr lang="en" altLang="zh-CN" sz="1800" dirty="0">
                <a:solidFill>
                  <a:schemeClr val="tx2"/>
                </a:solidFill>
              </a:rPr>
              <a:t>    }</a:t>
            </a:r>
          </a:p>
          <a:p>
            <a:r>
              <a:rPr lang="en" altLang="zh-CN" sz="1800" dirty="0">
                <a:solidFill>
                  <a:schemeClr val="tx2"/>
                </a:solidFill>
              </a:rPr>
              <a:t>}</a:t>
            </a:r>
            <a:endParaRPr lang="zh-CN" altLang="en-US" sz="1800" dirty="0">
              <a:solidFill>
                <a:schemeClr val="tx2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CFD79FF-C824-1904-8734-6ABCE4633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1916832"/>
            <a:ext cx="7781925" cy="2304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en-US" sz="2400" i="0" kern="0" dirty="0">
                <a:latin typeface="SimSun" charset="-122"/>
              </a:rPr>
              <a:t>T=string</a:t>
            </a:r>
            <a:endParaRPr lang="en-US" altLang="zh-CN" sz="2400" i="0" kern="0" dirty="0">
              <a:latin typeface="SimSun" charset="-122"/>
            </a:endParaRPr>
          </a:p>
          <a:p>
            <a:pPr lvl="1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zh-CN" altLang="en-US" sz="2000" i="0" kern="0" dirty="0">
                <a:latin typeface="SimSun" charset="-122"/>
              </a:rPr>
              <a:t>编译器直接删除</a:t>
            </a:r>
            <a:r>
              <a:rPr lang="en-GB" altLang="en-US" sz="2000" i="0" kern="0" dirty="0">
                <a:latin typeface="SimSun" charset="-122"/>
              </a:rPr>
              <a:t>else</a:t>
            </a:r>
            <a:r>
              <a:rPr lang="zh-CN" altLang="en-US" sz="2000" i="0" kern="0" dirty="0">
                <a:latin typeface="SimSun" charset="-122"/>
              </a:rPr>
              <a:t>代码块。代码变成了 </a:t>
            </a:r>
            <a:r>
              <a:rPr lang="en-GB" altLang="en-US" sz="2000" i="0" kern="0" dirty="0">
                <a:latin typeface="SimSun" charset="-122"/>
              </a:rPr>
              <a:t>return </a:t>
            </a:r>
            <a:r>
              <a:rPr lang="en-GB" altLang="en-US" sz="2000" i="0" kern="0" dirty="0" err="1">
                <a:latin typeface="SimSun" charset="-122"/>
              </a:rPr>
              <a:t>val</a:t>
            </a:r>
            <a:r>
              <a:rPr lang="en-GB" altLang="en-US" sz="2000" i="0" kern="0" dirty="0">
                <a:latin typeface="SimSun" charset="-122"/>
              </a:rPr>
              <a:t>;</a:t>
            </a:r>
            <a:endParaRPr lang="en-GB" altLang="en-US" sz="2400" i="0" kern="0" dirty="0">
              <a:latin typeface="SimSun" charset="-122"/>
            </a:endParaRPr>
          </a:p>
          <a:p>
            <a:pPr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en-US" sz="2400" i="0" kern="0" dirty="0">
                <a:latin typeface="SimSun" charset="-122"/>
              </a:rPr>
              <a:t>T=int</a:t>
            </a:r>
          </a:p>
          <a:p>
            <a:pPr lvl="1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zh-CN" altLang="en-US" sz="2000" i="0" kern="0" dirty="0">
                <a:latin typeface="SimSun" charset="-122"/>
              </a:rPr>
              <a:t>编译器直接删除 </a:t>
            </a:r>
            <a:r>
              <a:rPr lang="en-GB" altLang="en-US" sz="2000" i="0" kern="0" dirty="0">
                <a:latin typeface="SimSun" charset="-122"/>
              </a:rPr>
              <a:t>if </a:t>
            </a:r>
            <a:r>
              <a:rPr lang="zh-CN" altLang="en-US" sz="2000" i="0" kern="0" dirty="0">
                <a:latin typeface="SimSun" charset="-122"/>
              </a:rPr>
              <a:t>代码块。代码变成了 </a:t>
            </a:r>
            <a:endParaRPr lang="en-US" altLang="zh-CN" sz="2000" i="0" kern="0" dirty="0">
              <a:latin typeface="SimSun" charset="-122"/>
            </a:endParaRPr>
          </a:p>
          <a:p>
            <a:pPr marL="457200" lvl="1" indent="0" algn="just" eaLnBrk="1" hangingPunct="1">
              <a:spcBef>
                <a:spcPts val="500"/>
              </a:spcBef>
              <a:spcAft>
                <a:spcPts val="500"/>
              </a:spcAft>
              <a:buNone/>
            </a:pPr>
            <a:r>
              <a:rPr lang="en-GB" altLang="en-US" sz="2000" i="0" kern="0" dirty="0">
                <a:latin typeface="SimSun" charset="-122"/>
              </a:rPr>
              <a:t>return std::</a:t>
            </a:r>
            <a:r>
              <a:rPr lang="en-GB" altLang="en-US" sz="2000" i="0" kern="0" dirty="0" err="1">
                <a:latin typeface="SimSun" charset="-122"/>
              </a:rPr>
              <a:t>to_string</a:t>
            </a:r>
            <a:r>
              <a:rPr lang="en-GB" altLang="en-US" sz="2000" i="0" kern="0" dirty="0">
                <a:latin typeface="SimSun" charset="-122"/>
              </a:rPr>
              <a:t>(</a:t>
            </a:r>
            <a:r>
              <a:rPr lang="en-GB" altLang="en-US" sz="2000" i="0" kern="0" dirty="0" err="1">
                <a:latin typeface="SimSun" charset="-122"/>
              </a:rPr>
              <a:t>val</a:t>
            </a:r>
            <a:r>
              <a:rPr lang="en-GB" altLang="en-US" sz="2000" i="0" kern="0" dirty="0">
                <a:latin typeface="SimSun" charset="-122"/>
              </a:rPr>
              <a:t>);</a:t>
            </a:r>
            <a:endParaRPr lang="en-GB" altLang="en-US" sz="1600" i="0" kern="0" dirty="0">
              <a:latin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007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Template </a:t>
            </a:r>
            <a:r>
              <a:rPr lang="en-US" altLang="zh-CN" dirty="0" err="1"/>
              <a:t>MetaProgramming</a:t>
            </a:r>
            <a:endParaRPr lang="zh-CN" altLang="en-US" dirty="0"/>
          </a:p>
        </p:txBody>
      </p:sp>
      <p:sp>
        <p:nvSpPr>
          <p:cNvPr id="74754" name="TextBox 3"/>
          <p:cNvSpPr txBox="1">
            <a:spLocks noChangeArrowheads="1"/>
          </p:cNvSpPr>
          <p:nvPr/>
        </p:nvSpPr>
        <p:spPr bwMode="auto">
          <a:xfrm>
            <a:off x="1357313" y="1857375"/>
            <a:ext cx="5594350" cy="455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template&lt;int  N&gt;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class Fib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{ 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    </a:t>
            </a:r>
            <a:r>
              <a:rPr lang="en-US" altLang="zh-CN" sz="1400" b="1" dirty="0" err="1">
                <a:solidFill>
                  <a:srgbClr val="0070C0"/>
                </a:solidFill>
              </a:rPr>
              <a:t>enum</a:t>
            </a:r>
            <a:r>
              <a:rPr lang="en-US" altLang="zh-CN" sz="1400" b="1" dirty="0">
                <a:solidFill>
                  <a:srgbClr val="0070C0"/>
                </a:solidFill>
              </a:rPr>
              <a:t> { value = Fib&lt;N - 1&gt;::value + Fib&lt;N - 2&gt;::value 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400" b="1" dirty="0">
              <a:solidFill>
                <a:srgbClr val="0070C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400" b="1" dirty="0">
              <a:solidFill>
                <a:srgbClr val="0066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400" b="1" dirty="0">
              <a:solidFill>
                <a:srgbClr val="0066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400" b="1" dirty="0">
              <a:solidFill>
                <a:srgbClr val="0066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400" b="1" dirty="0">
              <a:solidFill>
                <a:srgbClr val="0066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400" b="1" dirty="0">
              <a:solidFill>
                <a:srgbClr val="0066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400" b="1" dirty="0">
              <a:solidFill>
                <a:srgbClr val="0066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400" b="1" dirty="0">
              <a:solidFill>
                <a:srgbClr val="0066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400" b="1" dirty="0">
              <a:solidFill>
                <a:srgbClr val="0066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400" b="1" dirty="0">
              <a:solidFill>
                <a:srgbClr val="0066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400" b="1" dirty="0">
              <a:solidFill>
                <a:srgbClr val="0066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6600"/>
                </a:solidFill>
              </a:rPr>
              <a:t>int main()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6600"/>
                </a:solidFill>
              </a:rPr>
              <a:t>{   std::</a:t>
            </a:r>
            <a:r>
              <a:rPr lang="en-US" altLang="zh-CN" sz="1400" b="1" dirty="0" err="1">
                <a:solidFill>
                  <a:srgbClr val="006600"/>
                </a:solidFill>
              </a:rPr>
              <a:t>cout</a:t>
            </a:r>
            <a:r>
              <a:rPr lang="en-US" altLang="zh-CN" sz="1400" b="1" dirty="0">
                <a:solidFill>
                  <a:srgbClr val="006600"/>
                </a:solidFill>
              </a:rPr>
              <a:t> &lt;&lt; Fib&lt;8&gt;::value &lt;&lt; std::</a:t>
            </a:r>
            <a:r>
              <a:rPr lang="en-US" altLang="zh-CN" sz="1400" b="1" dirty="0" err="1">
                <a:solidFill>
                  <a:srgbClr val="006600"/>
                </a:solidFill>
              </a:rPr>
              <a:t>endl</a:t>
            </a:r>
            <a:r>
              <a:rPr lang="en-US" altLang="zh-CN" sz="1400" b="1" dirty="0">
                <a:solidFill>
                  <a:srgbClr val="006600"/>
                </a:solidFill>
              </a:rPr>
              <a:t>;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6600"/>
                </a:solidFill>
              </a:rPr>
              <a:t>}</a:t>
            </a:r>
            <a:endParaRPr lang="zh-CN" altLang="en-US" sz="1400" b="1" dirty="0">
              <a:solidFill>
                <a:srgbClr val="006600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57313" y="3143250"/>
            <a:ext cx="2211387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template&lt;&gt; 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class Fib&lt;0&gt;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{ 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    </a:t>
            </a:r>
            <a:r>
              <a:rPr lang="en-US" altLang="zh-CN" sz="1400" b="1" dirty="0" err="1">
                <a:solidFill>
                  <a:srgbClr val="0070C0"/>
                </a:solidFill>
              </a:rPr>
              <a:t>enum</a:t>
            </a:r>
            <a:r>
              <a:rPr lang="en-US" altLang="zh-CN" sz="1400" b="1" dirty="0">
                <a:solidFill>
                  <a:srgbClr val="0070C0"/>
                </a:solidFill>
              </a:rPr>
              <a:t> { value = 1 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template&lt;&gt;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 class Fib&lt;1&gt;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{ 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    </a:t>
            </a:r>
            <a:r>
              <a:rPr lang="en-US" altLang="zh-CN" sz="1400" b="1" dirty="0" err="1">
                <a:solidFill>
                  <a:srgbClr val="0070C0"/>
                </a:solidFill>
              </a:rPr>
              <a:t>enum</a:t>
            </a:r>
            <a:r>
              <a:rPr lang="en-US" altLang="zh-CN" sz="1400" b="1" dirty="0">
                <a:solidFill>
                  <a:srgbClr val="0070C0"/>
                </a:solidFill>
              </a:rPr>
              <a:t> { value = 1 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};</a:t>
            </a:r>
            <a:endParaRPr lang="zh-CN" altLang="en-US" sz="2400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420245" y="5879554"/>
            <a:ext cx="28241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C00000"/>
                </a:solidFill>
              </a:rPr>
              <a:t>// calculated at compile time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C33AAAA5-612B-7010-3215-E565E05B5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7456" y="3024869"/>
            <a:ext cx="3776996" cy="2656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template&lt;int N&gt;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1400" b="1" dirty="0" err="1">
                <a:solidFill>
                  <a:srgbClr val="0070C0"/>
                </a:solidFill>
              </a:rPr>
              <a:t>constexpr</a:t>
            </a:r>
            <a:r>
              <a:rPr lang="en-US" altLang="zh-CN" sz="1400" b="1" dirty="0">
                <a:solidFill>
                  <a:srgbClr val="0070C0"/>
                </a:solidFill>
              </a:rPr>
              <a:t> int Fib() {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    if </a:t>
            </a:r>
            <a:r>
              <a:rPr lang="en-US" altLang="zh-CN" sz="1400" b="1" dirty="0" err="1">
                <a:solidFill>
                  <a:srgbClr val="0070C0"/>
                </a:solidFill>
              </a:rPr>
              <a:t>constexpr</a:t>
            </a:r>
            <a:r>
              <a:rPr lang="en-US" altLang="zh-CN" sz="1400" b="1" dirty="0">
                <a:solidFill>
                  <a:srgbClr val="0070C0"/>
                </a:solidFill>
              </a:rPr>
              <a:t> (N &lt;= 1) {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        return N;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    } else {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       return Fib&lt;N-1&gt;() + Fib&lt;N-2&gt;();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    }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1400" b="1" dirty="0">
                <a:solidFill>
                  <a:srgbClr val="0070C0"/>
                </a:solidFill>
              </a:rPr>
              <a:t>}</a:t>
            </a:r>
            <a:endParaRPr lang="en-US" altLang="zh-CN" sz="1400" b="1" dirty="0">
              <a:solidFill>
                <a:srgbClr val="0066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6600"/>
                </a:solidFill>
              </a:rPr>
              <a:t>int main()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6600"/>
                </a:solidFill>
              </a:rPr>
              <a:t>{   std::</a:t>
            </a:r>
            <a:r>
              <a:rPr lang="en-US" altLang="zh-CN" sz="1400" b="1" dirty="0" err="1">
                <a:solidFill>
                  <a:srgbClr val="006600"/>
                </a:solidFill>
              </a:rPr>
              <a:t>cout</a:t>
            </a:r>
            <a:r>
              <a:rPr lang="en-US" altLang="zh-CN" sz="1400" b="1" dirty="0">
                <a:solidFill>
                  <a:srgbClr val="006600"/>
                </a:solidFill>
              </a:rPr>
              <a:t> &lt;&lt; Fib&lt;8&gt;()&lt;&lt; std::</a:t>
            </a:r>
            <a:r>
              <a:rPr lang="en-US" altLang="zh-CN" sz="1400" b="1" dirty="0" err="1">
                <a:solidFill>
                  <a:srgbClr val="006600"/>
                </a:solidFill>
              </a:rPr>
              <a:t>endl</a:t>
            </a:r>
            <a:r>
              <a:rPr lang="en-US" altLang="zh-CN" sz="1400" b="1" dirty="0">
                <a:solidFill>
                  <a:srgbClr val="006600"/>
                </a:solidFill>
              </a:rPr>
              <a:t>;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06600"/>
                </a:solidFill>
              </a:rPr>
              <a:t>}</a:t>
            </a:r>
            <a:endParaRPr lang="zh-CN" altLang="en-US" sz="1400" b="1" dirty="0">
              <a:solidFill>
                <a:srgbClr val="00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A5233A-328D-C93A-1819-88992A959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编译期类型推导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DC86A9-EBDD-B1A2-69FF-36096F214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575" y="1760538"/>
            <a:ext cx="7772400" cy="4114800"/>
          </a:xfrm>
        </p:spPr>
        <p:txBody>
          <a:bodyPr/>
          <a:lstStyle/>
          <a:p>
            <a:r>
              <a:rPr lang="en" altLang="zh-CN" dirty="0"/>
              <a:t>C++11 </a:t>
            </a:r>
            <a:r>
              <a:rPr lang="zh-CN" altLang="en-US" dirty="0"/>
              <a:t>的</a:t>
            </a:r>
            <a:r>
              <a:rPr lang="en" altLang="zh-CN" dirty="0"/>
              <a:t>auto</a:t>
            </a:r>
          </a:p>
          <a:p>
            <a:pPr lvl="1"/>
            <a:r>
              <a:rPr lang="zh-CN" altLang="en-US" sz="2400" dirty="0"/>
              <a:t>是一个占位符</a:t>
            </a:r>
            <a:endParaRPr lang="en-US" altLang="zh-CN" sz="2400" dirty="0"/>
          </a:p>
          <a:p>
            <a:pPr lvl="1"/>
            <a:r>
              <a:rPr lang="zh-CN" altLang="en-US" sz="2400" dirty="0"/>
              <a:t>根据</a:t>
            </a:r>
            <a:r>
              <a:rPr lang="en-US" altLang="zh-CN" sz="2400" dirty="0"/>
              <a:t>=</a:t>
            </a:r>
            <a:r>
              <a:rPr lang="zh-CN" altLang="en-US" sz="2400" dirty="0"/>
              <a:t>右边的值自动把</a:t>
            </a:r>
            <a:r>
              <a:rPr lang="en" altLang="zh-CN" sz="2400" dirty="0"/>
              <a:t>auto</a:t>
            </a:r>
            <a:r>
              <a:rPr lang="zh-CN" altLang="en-US" sz="2400" dirty="0"/>
              <a:t>替换成正确的类型</a:t>
            </a:r>
            <a:endParaRPr lang="en-US" altLang="zh-CN" sz="2400" dirty="0"/>
          </a:p>
          <a:p>
            <a:pPr lvl="1"/>
            <a:r>
              <a:rPr kumimoji="1" lang="en" altLang="zh-CN" sz="2400" dirty="0"/>
              <a:t>auto</a:t>
            </a:r>
            <a:r>
              <a:rPr kumimoji="1" lang="zh-CN" altLang="en-US" sz="2400" dirty="0"/>
              <a:t>变量必须初始化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012DC6-4BCE-65E2-4980-D9748BC9DB47}"/>
              </a:ext>
            </a:extLst>
          </p:cNvPr>
          <p:cNvSpPr txBox="1"/>
          <p:nvPr/>
        </p:nvSpPr>
        <p:spPr>
          <a:xfrm>
            <a:off x="2051720" y="3718679"/>
            <a:ext cx="66247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chemeClr val="tx2"/>
                </a:solidFill>
              </a:rPr>
              <a:t>i</a:t>
            </a:r>
            <a:r>
              <a:rPr lang="zh-CN" altLang="en-US" sz="1800" dirty="0">
                <a:solidFill>
                  <a:schemeClr val="tx2"/>
                </a:solidFill>
              </a:rPr>
              <a:t>nt main() {</a:t>
            </a:r>
          </a:p>
          <a:p>
            <a:r>
              <a:rPr lang="zh-CN" altLang="en-US" sz="1800" dirty="0">
                <a:solidFill>
                  <a:schemeClr val="tx2"/>
                </a:solidFill>
              </a:rPr>
              <a:t>    // 传统写法：必须写出类型</a:t>
            </a:r>
          </a:p>
          <a:p>
            <a:r>
              <a:rPr lang="zh-CN" altLang="en-US" sz="1800" dirty="0">
                <a:solidFill>
                  <a:schemeClr val="tx2"/>
                </a:solidFill>
              </a:rPr>
              <a:t>    int a = 10;</a:t>
            </a:r>
            <a:endParaRPr lang="en-US" altLang="zh-CN" sz="1800" dirty="0">
              <a:solidFill>
                <a:schemeClr val="tx2"/>
              </a:solidFill>
            </a:endParaRPr>
          </a:p>
          <a:p>
            <a:r>
              <a:rPr lang="zh-CN" altLang="en-US" sz="1800" dirty="0">
                <a:solidFill>
                  <a:schemeClr val="tx2"/>
                </a:solidFill>
              </a:rPr>
              <a:t>    const char* s = "Hello";</a:t>
            </a:r>
          </a:p>
          <a:p>
            <a:r>
              <a:rPr lang="zh-CN" altLang="en-US" sz="1800" dirty="0">
                <a:solidFill>
                  <a:schemeClr val="tx2"/>
                </a:solidFill>
              </a:rPr>
              <a:t>    // auto写法：编译器自动推导</a:t>
            </a:r>
          </a:p>
          <a:p>
            <a:r>
              <a:rPr lang="zh-CN" altLang="en-US" sz="1800" dirty="0">
                <a:solidFill>
                  <a:schemeClr val="tx2"/>
                </a:solidFill>
              </a:rPr>
              <a:t>    auto a_auto = 10;       // 推导为 int</a:t>
            </a:r>
          </a:p>
          <a:p>
            <a:r>
              <a:rPr lang="zh-CN" altLang="en-US" sz="1800" dirty="0">
                <a:solidFill>
                  <a:schemeClr val="tx2"/>
                </a:solidFill>
              </a:rPr>
              <a:t>    auto s_auto = "Hello";  // 推导为 const char*</a:t>
            </a:r>
            <a:endParaRPr lang="en-US" altLang="zh-CN" sz="1800" dirty="0">
              <a:solidFill>
                <a:schemeClr val="tx2"/>
              </a:solidFill>
            </a:endParaRPr>
          </a:p>
          <a:p>
            <a:r>
              <a:rPr lang="zh-CN" altLang="en-US" sz="1800" dirty="0">
                <a:solidFill>
                  <a:schemeClr val="tx2"/>
                </a:solidFill>
              </a:rPr>
              <a:t>   </a:t>
            </a:r>
            <a:r>
              <a:rPr lang="en-US" altLang="zh-CN" sz="1800" dirty="0">
                <a:solidFill>
                  <a:schemeClr val="tx2"/>
                </a:solidFill>
              </a:rPr>
              <a:t>//</a:t>
            </a:r>
            <a:r>
              <a:rPr lang="zh-CN" altLang="en-US" sz="1800" dirty="0">
                <a:solidFill>
                  <a:schemeClr val="tx2"/>
                </a:solidFill>
              </a:rPr>
              <a:t>错误写法</a:t>
            </a:r>
            <a:endParaRPr lang="en-US" altLang="zh-CN" sz="1800" dirty="0">
              <a:solidFill>
                <a:schemeClr val="tx2"/>
              </a:solidFill>
            </a:endParaRPr>
          </a:p>
          <a:p>
            <a:r>
              <a:rPr lang="zh-CN" altLang="en-US" sz="1800" dirty="0">
                <a:solidFill>
                  <a:schemeClr val="tx2"/>
                </a:solidFill>
              </a:rPr>
              <a:t>    auto b_auto;     // 无法推导</a:t>
            </a:r>
          </a:p>
          <a:p>
            <a:r>
              <a:rPr lang="zh-CN" altLang="en-US" sz="1800" dirty="0">
                <a:solidFill>
                  <a:schemeClr val="tx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3847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39C8E-483F-BC93-D0A3-D0828701C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1">
            <a:extLst>
              <a:ext uri="{FF2B5EF4-FFF2-40B4-BE49-F238E27FC236}">
                <a16:creationId xmlns:a16="http://schemas.microsoft.com/office/drawing/2014/main" id="{B38E599D-708A-A807-DAA9-2EA487EA3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auto</a:t>
            </a:r>
            <a:r>
              <a:rPr lang="zh-CN" altLang="en-US" dirty="0"/>
              <a:t> </a:t>
            </a:r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6CF55E-1130-CF27-1CD6-82BA5D76724C}"/>
              </a:ext>
            </a:extLst>
          </p:cNvPr>
          <p:cNvSpPr txBox="1"/>
          <p:nvPr/>
        </p:nvSpPr>
        <p:spPr>
          <a:xfrm>
            <a:off x="1331640" y="1556792"/>
            <a:ext cx="811864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" altLang="zh-CN" sz="2000" dirty="0"/>
          </a:p>
          <a:p>
            <a:r>
              <a:rPr lang="en" altLang="zh-CN" sz="2000" dirty="0"/>
              <a:t>int main() {</a:t>
            </a:r>
          </a:p>
          <a:p>
            <a:r>
              <a:rPr lang="en" altLang="zh-CN" sz="2000" dirty="0"/>
              <a:t>    std::map&lt;std::string, int&gt; scores;</a:t>
            </a:r>
          </a:p>
          <a:p>
            <a:r>
              <a:rPr lang="en" altLang="zh-CN" sz="2000" dirty="0"/>
              <a:t>    scores["Alice"] = 95;</a:t>
            </a:r>
          </a:p>
          <a:p>
            <a:r>
              <a:rPr lang="en" altLang="zh-CN" sz="2000" dirty="0"/>
              <a:t>    scores["Bob"] = 88;</a:t>
            </a:r>
          </a:p>
          <a:p>
            <a:endParaRPr lang="en" altLang="zh-CN" sz="2000" dirty="0"/>
          </a:p>
          <a:p>
            <a:r>
              <a:rPr lang="zh-CN" altLang="en-US" sz="2000" dirty="0"/>
              <a:t>    </a:t>
            </a:r>
            <a:r>
              <a:rPr lang="en-US" altLang="zh-CN" sz="2000" dirty="0"/>
              <a:t>// </a:t>
            </a:r>
            <a:r>
              <a:rPr lang="zh-CN" altLang="en-US" sz="2000" dirty="0"/>
              <a:t>完整写出 </a:t>
            </a:r>
            <a:r>
              <a:rPr lang="en" altLang="zh-CN" sz="2000" dirty="0"/>
              <a:t>std::map&lt;std::string, int&gt;::iterator</a:t>
            </a:r>
          </a:p>
          <a:p>
            <a:r>
              <a:rPr lang="en" altLang="zh-CN" sz="2000" dirty="0"/>
              <a:t>    for (std::map&lt;std::string, int&gt;::iterator it = </a:t>
            </a:r>
            <a:r>
              <a:rPr lang="en" altLang="zh-CN" sz="2000" dirty="0" err="1"/>
              <a:t>scores.begin</a:t>
            </a:r>
            <a:r>
              <a:rPr lang="en" altLang="zh-CN" sz="2000" dirty="0"/>
              <a:t>(); it != </a:t>
            </a:r>
            <a:r>
              <a:rPr lang="zh-CN" altLang="en-US" sz="2000" dirty="0"/>
              <a:t>      </a:t>
            </a:r>
            <a:r>
              <a:rPr lang="en" altLang="zh-CN" sz="2000" dirty="0" err="1"/>
              <a:t>scores.end</a:t>
            </a:r>
            <a:r>
              <a:rPr lang="en" altLang="zh-CN" sz="2000" dirty="0"/>
              <a:t>(); ++it) {</a:t>
            </a:r>
          </a:p>
          <a:p>
            <a:r>
              <a:rPr lang="en" altLang="zh-CN" sz="2000" dirty="0"/>
              <a:t>        std::</a:t>
            </a:r>
            <a:r>
              <a:rPr lang="en" altLang="zh-CN" sz="2000" dirty="0" err="1"/>
              <a:t>cout</a:t>
            </a:r>
            <a:r>
              <a:rPr lang="en" altLang="zh-CN" sz="2000" dirty="0"/>
              <a:t> &lt;&lt; it-&gt;first &lt;&lt; ": " &lt;&lt; it-&gt;second &lt;&lt; std::</a:t>
            </a:r>
            <a:r>
              <a:rPr lang="en" altLang="zh-CN" sz="2000" dirty="0" err="1"/>
              <a:t>endl</a:t>
            </a:r>
            <a:r>
              <a:rPr lang="en" altLang="zh-CN" sz="2000" dirty="0"/>
              <a:t>;</a:t>
            </a:r>
          </a:p>
          <a:p>
            <a:r>
              <a:rPr lang="en" altLang="zh-CN" sz="2000" dirty="0"/>
              <a:t>    }</a:t>
            </a:r>
          </a:p>
          <a:p>
            <a:endParaRPr lang="en" altLang="zh-CN" sz="2000" dirty="0"/>
          </a:p>
          <a:p>
            <a:r>
              <a:rPr lang="en-US" altLang="zh-CN" sz="2000" dirty="0"/>
              <a:t>// </a:t>
            </a:r>
            <a:r>
              <a:rPr lang="zh-CN" altLang="en-US" sz="2000" dirty="0"/>
              <a:t>编译器知道 </a:t>
            </a:r>
            <a:r>
              <a:rPr lang="en" altLang="zh-CN" sz="2000" dirty="0"/>
              <a:t>begin() </a:t>
            </a:r>
            <a:r>
              <a:rPr lang="zh-CN" altLang="en-US" sz="2000" dirty="0"/>
              <a:t>返回的是迭代器，所以直接用 </a:t>
            </a:r>
            <a:r>
              <a:rPr lang="en" altLang="zh-CN" sz="2000" dirty="0"/>
              <a:t>auto</a:t>
            </a:r>
          </a:p>
          <a:p>
            <a:r>
              <a:rPr lang="en" altLang="zh-CN" sz="2000" dirty="0"/>
              <a:t>    for (auto it = </a:t>
            </a:r>
            <a:r>
              <a:rPr lang="en" altLang="zh-CN" sz="2000" dirty="0" err="1"/>
              <a:t>scores.begin</a:t>
            </a:r>
            <a:r>
              <a:rPr lang="en" altLang="zh-CN" sz="2000" dirty="0"/>
              <a:t>(); it != </a:t>
            </a:r>
            <a:r>
              <a:rPr lang="en" altLang="zh-CN" sz="2000" dirty="0" err="1"/>
              <a:t>scores.end</a:t>
            </a:r>
            <a:r>
              <a:rPr lang="en" altLang="zh-CN" sz="2000" dirty="0"/>
              <a:t>(); ++it) {</a:t>
            </a:r>
          </a:p>
          <a:p>
            <a:r>
              <a:rPr lang="en" altLang="zh-CN" sz="2000" dirty="0"/>
              <a:t>        std::</a:t>
            </a:r>
            <a:r>
              <a:rPr lang="en" altLang="zh-CN" sz="2000" dirty="0" err="1"/>
              <a:t>cout</a:t>
            </a:r>
            <a:r>
              <a:rPr lang="en" altLang="zh-CN" sz="2000" dirty="0"/>
              <a:t> &lt;&lt; it-&gt;first &lt;&lt; ": " &lt;&lt; it-&gt;second &lt;&lt; std::</a:t>
            </a:r>
            <a:r>
              <a:rPr lang="en" altLang="zh-CN" sz="2000" dirty="0" err="1"/>
              <a:t>endl</a:t>
            </a:r>
            <a:r>
              <a:rPr lang="en" altLang="zh-CN" sz="2000" dirty="0"/>
              <a:t>;</a:t>
            </a:r>
          </a:p>
          <a:p>
            <a:r>
              <a:rPr lang="en" altLang="zh-CN" sz="2000" dirty="0"/>
              <a:t>    }</a:t>
            </a:r>
          </a:p>
          <a:p>
            <a:r>
              <a:rPr lang="en" altLang="zh-CN" sz="2000" dirty="0"/>
              <a:t>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22256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06F92-BD14-A076-E3E4-D4DB7722B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1">
            <a:extLst>
              <a:ext uri="{FF2B5EF4-FFF2-40B4-BE49-F238E27FC236}">
                <a16:creationId xmlns:a16="http://schemas.microsoft.com/office/drawing/2014/main" id="{F390AE76-BD85-0079-4E09-39ED3502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auto</a:t>
            </a:r>
            <a:r>
              <a:rPr lang="zh-CN" altLang="en-US" dirty="0"/>
              <a:t> </a:t>
            </a:r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8A267F-43DD-0C54-1691-9F4842F3F0FC}"/>
              </a:ext>
            </a:extLst>
          </p:cNvPr>
          <p:cNvSpPr txBox="1"/>
          <p:nvPr/>
        </p:nvSpPr>
        <p:spPr>
          <a:xfrm>
            <a:off x="1150938" y="1841242"/>
            <a:ext cx="811864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000" dirty="0"/>
              <a:t>int main() {</a:t>
            </a:r>
          </a:p>
          <a:p>
            <a:endParaRPr lang="en" altLang="zh-CN" sz="2000" dirty="0"/>
          </a:p>
          <a:p>
            <a:r>
              <a:rPr lang="en" altLang="zh-CN" sz="2000" dirty="0"/>
              <a:t>    std::vector&lt;int&gt; </a:t>
            </a:r>
            <a:r>
              <a:rPr lang="en" altLang="zh-CN" sz="2000" dirty="0" err="1"/>
              <a:t>vec</a:t>
            </a:r>
            <a:r>
              <a:rPr lang="en" altLang="zh-CN" sz="2000" dirty="0"/>
              <a:t> = {1, 2, 3, 4, 5};</a:t>
            </a:r>
          </a:p>
          <a:p>
            <a:endParaRPr lang="en" altLang="zh-CN" sz="2000" dirty="0"/>
          </a:p>
          <a:p>
            <a:r>
              <a:rPr lang="zh-CN" altLang="en-US" sz="2000" dirty="0"/>
              <a:t>    </a:t>
            </a:r>
            <a:r>
              <a:rPr lang="en" altLang="zh-CN" sz="2000" dirty="0"/>
              <a:t>for (auto v : </a:t>
            </a:r>
            <a:r>
              <a:rPr lang="en" altLang="zh-CN" sz="2000" dirty="0" err="1"/>
              <a:t>vec</a:t>
            </a:r>
            <a:r>
              <a:rPr lang="en" altLang="zh-CN" sz="2000" dirty="0"/>
              <a:t>) { </a:t>
            </a:r>
          </a:p>
          <a:p>
            <a:r>
              <a:rPr lang="en" altLang="zh-CN" sz="2000" dirty="0"/>
              <a:t>        v = v * 2; // </a:t>
            </a:r>
            <a:r>
              <a:rPr lang="zh-CN" altLang="en-US" sz="2000" dirty="0"/>
              <a:t>无效修改</a:t>
            </a:r>
          </a:p>
          <a:p>
            <a:r>
              <a:rPr lang="zh-CN" altLang="en-US" sz="2000" dirty="0"/>
              <a:t>    </a:t>
            </a:r>
            <a:r>
              <a:rPr lang="en-US" altLang="zh-CN" sz="2000" dirty="0"/>
              <a:t>}</a:t>
            </a:r>
          </a:p>
          <a:p>
            <a:endParaRPr lang="en-US" altLang="zh-CN" sz="2000" dirty="0"/>
          </a:p>
          <a:p>
            <a:r>
              <a:rPr lang="zh-CN" altLang="en-US" sz="2000" dirty="0"/>
              <a:t>    </a:t>
            </a:r>
            <a:r>
              <a:rPr lang="en" altLang="zh-CN" sz="2000" dirty="0"/>
              <a:t>for (auto&amp; v : </a:t>
            </a:r>
            <a:r>
              <a:rPr lang="en" altLang="zh-CN" sz="2000" dirty="0" err="1"/>
              <a:t>vec</a:t>
            </a:r>
            <a:r>
              <a:rPr lang="en" altLang="zh-CN" sz="2000" dirty="0"/>
              <a:t>) {</a:t>
            </a:r>
          </a:p>
          <a:p>
            <a:r>
              <a:rPr lang="en" altLang="zh-CN" sz="2000" dirty="0"/>
              <a:t>        v = v * 2; // </a:t>
            </a:r>
            <a:r>
              <a:rPr lang="en" altLang="zh-CN" sz="2000" dirty="0" err="1"/>
              <a:t>vec</a:t>
            </a:r>
            <a:r>
              <a:rPr lang="en" altLang="zh-CN" sz="2000" dirty="0"/>
              <a:t> </a:t>
            </a:r>
            <a:r>
              <a:rPr lang="zh-CN" altLang="en-US" sz="2000" dirty="0"/>
              <a:t>内容变为 </a:t>
            </a:r>
            <a:r>
              <a:rPr lang="en-US" altLang="zh-CN" sz="2000" dirty="0"/>
              <a:t>{2, 4, 6, 8, 10}</a:t>
            </a:r>
          </a:p>
          <a:p>
            <a:r>
              <a:rPr lang="en-US" altLang="zh-CN" sz="2000" dirty="0"/>
              <a:t>    }</a:t>
            </a:r>
          </a:p>
          <a:p>
            <a:endParaRPr lang="zh-CN" altLang="en-US" sz="2000" dirty="0"/>
          </a:p>
          <a:p>
            <a:r>
              <a:rPr lang="zh-CN" altLang="en-US" sz="2000" dirty="0"/>
              <a:t>    </a:t>
            </a:r>
            <a:r>
              <a:rPr lang="en" altLang="zh-CN" sz="2000" dirty="0"/>
              <a:t>for (const auto&amp; v : </a:t>
            </a:r>
            <a:r>
              <a:rPr lang="en" altLang="zh-CN" sz="2000" dirty="0" err="1"/>
              <a:t>vec</a:t>
            </a:r>
            <a:r>
              <a:rPr lang="en" altLang="zh-CN" sz="2000" dirty="0"/>
              <a:t>) {</a:t>
            </a:r>
          </a:p>
          <a:p>
            <a:r>
              <a:rPr lang="en" altLang="zh-CN" sz="2000" dirty="0"/>
              <a:t>        std::</a:t>
            </a:r>
            <a:r>
              <a:rPr lang="en" altLang="zh-CN" sz="2000" dirty="0" err="1"/>
              <a:t>cout</a:t>
            </a:r>
            <a:r>
              <a:rPr lang="en" altLang="zh-CN" sz="2000" dirty="0"/>
              <a:t> &lt;&lt; v &lt;&lt; " ";</a:t>
            </a:r>
          </a:p>
          <a:p>
            <a:r>
              <a:rPr lang="en" altLang="zh-CN" sz="2000" dirty="0"/>
              <a:t>    }</a:t>
            </a:r>
          </a:p>
          <a:p>
            <a:r>
              <a:rPr lang="en" altLang="zh-CN" sz="2000" dirty="0"/>
              <a:t>}</a:t>
            </a: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66CACF-46CA-5614-18A1-6E38D3F49D44}"/>
              </a:ext>
            </a:extLst>
          </p:cNvPr>
          <p:cNvSpPr txBox="1"/>
          <p:nvPr/>
        </p:nvSpPr>
        <p:spPr>
          <a:xfrm>
            <a:off x="4596556" y="1098818"/>
            <a:ext cx="50328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默认情况下</a:t>
            </a:r>
            <a:r>
              <a:rPr lang="en" altLang="zh-CN" sz="2000" b="1" dirty="0">
                <a:solidFill>
                  <a:srgbClr val="C00000"/>
                </a:solidFill>
              </a:rPr>
              <a:t>auto</a:t>
            </a:r>
            <a:r>
              <a:rPr lang="zh-CN" altLang="en-US" sz="2000" b="1" dirty="0">
                <a:solidFill>
                  <a:srgbClr val="C00000"/>
                </a:solidFill>
              </a:rPr>
              <a:t>推导出的类型是值拷贝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zh-CN" altLang="en-US" sz="2000" b="1" dirty="0">
                <a:solidFill>
                  <a:srgbClr val="C00000"/>
                </a:solidFill>
              </a:rPr>
              <a:t>丢弃引用和</a:t>
            </a:r>
            <a:r>
              <a:rPr lang="en" altLang="zh-CN" sz="2000" b="1" dirty="0">
                <a:solidFill>
                  <a:srgbClr val="C00000"/>
                </a:solidFill>
              </a:rPr>
              <a:t>const</a:t>
            </a:r>
            <a:r>
              <a:rPr lang="zh-CN" altLang="en-US" sz="2000" b="1" dirty="0">
                <a:solidFill>
                  <a:srgbClr val="C00000"/>
                </a:solidFill>
              </a:rPr>
              <a:t>限定符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zh-CN" altLang="en-US" sz="2000" b="1" dirty="0">
                <a:solidFill>
                  <a:srgbClr val="C00000"/>
                </a:solidFill>
              </a:rPr>
              <a:t>不会忽略底层</a:t>
            </a:r>
            <a:r>
              <a:rPr lang="en" altLang="zh-CN" sz="2000" b="1" dirty="0">
                <a:solidFill>
                  <a:srgbClr val="C00000"/>
                </a:solidFill>
              </a:rPr>
              <a:t>const</a:t>
            </a:r>
            <a:r>
              <a:rPr lang="zh-CN" altLang="en" sz="2000" b="1" dirty="0">
                <a:solidFill>
                  <a:srgbClr val="C00000"/>
                </a:solidFill>
              </a:rPr>
              <a:t>（</a:t>
            </a:r>
            <a:r>
              <a:rPr lang="zh-CN" altLang="en-US" sz="2000" b="1" dirty="0">
                <a:solidFill>
                  <a:srgbClr val="C00000"/>
                </a:solidFill>
              </a:rPr>
              <a:t>指针指向的内容）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--&gt;</a:t>
            </a:r>
            <a:r>
              <a:rPr lang="zh-CN" altLang="en-US" sz="2000" dirty="0">
                <a:solidFill>
                  <a:schemeClr val="tx2"/>
                </a:solidFill>
              </a:rPr>
              <a:t>const char* s = "Hello";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55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异常处理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32712" cy="4535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zh-CN" sz="2800">
                <a:latin typeface="SimSun" charset="-122"/>
              </a:rPr>
              <a:t>错误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>
                <a:latin typeface="SimSun" charset="-122"/>
              </a:rPr>
              <a:t>语法错误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编译</a:t>
            </a:r>
            <a:r>
              <a:rPr lang="en-GB" altLang="zh-CN" sz="2000">
                <a:latin typeface="SimSun" charset="-122"/>
              </a:rPr>
              <a:t>系统</a:t>
            </a:r>
            <a:endParaRPr lang="en-GB" altLang="en-US" sz="2000">
              <a:latin typeface="SimSun" charset="-12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GB" altLang="en-US" sz="2400">
                <a:latin typeface="SimSun" charset="-122"/>
              </a:rPr>
              <a:t>逻辑错误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测试</a:t>
            </a:r>
          </a:p>
          <a:p>
            <a:pPr lvl="1" algn="just" eaLnBrk="1" hangingPunct="1">
              <a:lnSpc>
                <a:spcPct val="90000"/>
              </a:lnSpc>
            </a:pPr>
            <a:endParaRPr lang="en-GB" altLang="en-US" sz="1800">
              <a:latin typeface="SimSun" charset="-122"/>
            </a:endParaRPr>
          </a:p>
          <a:p>
            <a:pPr lvl="1" algn="just" eaLnBrk="1" hangingPunct="1">
              <a:lnSpc>
                <a:spcPct val="90000"/>
              </a:lnSpc>
            </a:pPr>
            <a:endParaRPr lang="en-GB" altLang="en-US" sz="1800">
              <a:latin typeface="SimSun" charset="-122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GB" altLang="zh-CN" sz="2800">
                <a:latin typeface="SimSun" charset="-122"/>
              </a:rPr>
              <a:t>异常 	</a:t>
            </a:r>
            <a:r>
              <a:rPr lang="en-GB" altLang="zh-CN" sz="2800" i="1">
                <a:latin typeface="SimSun" charset="-122"/>
              </a:rPr>
              <a:t>E</a:t>
            </a:r>
            <a:r>
              <a:rPr lang="en-US" altLang="zh-CN" sz="2800" i="1">
                <a:latin typeface="SimSun" charset="-122"/>
              </a:rPr>
              <a:t>xception</a:t>
            </a:r>
            <a:endParaRPr lang="en-GB" altLang="en-US" sz="2800">
              <a:latin typeface="SimSun" charset="-12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GB" altLang="en-US" sz="2400">
                <a:latin typeface="SimSun" charset="-122"/>
              </a:rPr>
              <a:t>运行环境造成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内存不足、文件</a:t>
            </a:r>
            <a:r>
              <a:rPr lang="en-GB" altLang="zh-CN" sz="2000">
                <a:latin typeface="SimSun" charset="-122"/>
              </a:rPr>
              <a:t>操作</a:t>
            </a:r>
            <a:r>
              <a:rPr lang="zh-CN" altLang="en-GB" sz="2000">
                <a:latin typeface="SimSun" charset="-122"/>
              </a:rPr>
              <a:t>失败等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400">
                <a:latin typeface="SimSun" charset="-122"/>
              </a:rPr>
              <a:t>异常处理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1158875" y="579438"/>
            <a:ext cx="7793038" cy="1143000"/>
          </a:xfrm>
        </p:spPr>
        <p:txBody>
          <a:bodyPr/>
          <a:lstStyle/>
          <a:p>
            <a:pPr eaLnBrk="1" hangingPunct="1"/>
            <a:r>
              <a:rPr lang="zh-CN" altLang="en-US"/>
              <a:t>异常处理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535487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GB" altLang="zh-CN">
                <a:latin typeface="SimSun" charset="-122"/>
              </a:rPr>
              <a:t>特征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>
                <a:latin typeface="SimSun" charset="-122"/>
              </a:rPr>
              <a:t>可以预</a:t>
            </a:r>
            <a:r>
              <a:rPr lang="zh-CN" altLang="en-US">
                <a:latin typeface="SimSun" charset="-122"/>
              </a:rPr>
              <a:t>见</a:t>
            </a:r>
            <a:endParaRPr lang="en-GB" altLang="en-US">
              <a:latin typeface="SimSun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>
                <a:latin typeface="SimSun" charset="-122"/>
              </a:rPr>
              <a:t>无法避免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>
              <a:latin typeface="SimSun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latin typeface="SimSun" charset="-122"/>
              </a:rPr>
              <a:t>作用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GB">
                <a:latin typeface="SimSun" charset="-122"/>
              </a:rPr>
              <a:t>提高</a:t>
            </a:r>
            <a:r>
              <a:rPr lang="en-US" altLang="en-GB">
                <a:latin typeface="SimSun" charset="-122"/>
              </a:rPr>
              <a:t>程序鲁棒性</a:t>
            </a:r>
            <a:r>
              <a:rPr lang="zh-CN" altLang="en-US">
                <a:latin typeface="SimSun" charset="-122"/>
              </a:rPr>
              <a:t>（</a:t>
            </a:r>
            <a:r>
              <a:rPr lang="en-GB" altLang="zh-CN" i="1"/>
              <a:t>Robustness</a:t>
            </a:r>
            <a:r>
              <a:rPr lang="en-GB" altLang="zh-CN">
                <a:latin typeface="SimSun" charset="-122"/>
              </a:rPr>
              <a:t>）</a:t>
            </a:r>
          </a:p>
          <a:p>
            <a:pPr lvl="2" eaLnBrk="1" hangingPunct="1">
              <a:lnSpc>
                <a:spcPct val="90000"/>
              </a:lnSpc>
            </a:pPr>
            <a:endParaRPr lang="en-GB" altLang="zh-CN">
              <a:latin typeface="SimSun" charset="-122"/>
            </a:endParaRPr>
          </a:p>
          <a:p>
            <a:pPr lvl="2" eaLnBrk="1" hangingPunct="1">
              <a:lnSpc>
                <a:spcPct val="90000"/>
              </a:lnSpc>
            </a:pPr>
            <a:endParaRPr lang="en-GB" altLang="zh-CN">
              <a:latin typeface="SimSun" charset="-122"/>
            </a:endParaRPr>
          </a:p>
        </p:txBody>
      </p:sp>
      <p:sp>
        <p:nvSpPr>
          <p:cNvPr id="78851" name="Text Box 4"/>
          <p:cNvSpPr txBox="1">
            <a:spLocks noChangeArrowheads="1"/>
          </p:cNvSpPr>
          <p:nvPr/>
        </p:nvSpPr>
        <p:spPr bwMode="auto">
          <a:xfrm>
            <a:off x="4500563" y="1206500"/>
            <a:ext cx="2378075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void f(char *str)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{     ifstream  file(str);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      if  (file.fail())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     { … </a:t>
            </a:r>
            <a:r>
              <a:rPr lang="en-GB" altLang="zh-CN" sz="1800">
                <a:solidFill>
                  <a:srgbClr val="006600"/>
                </a:solidFill>
              </a:rPr>
              <a:t>//</a:t>
            </a:r>
            <a:r>
              <a:rPr lang="en-GB" altLang="en-US" sz="1800">
                <a:solidFill>
                  <a:srgbClr val="006600"/>
                </a:solidFill>
              </a:rPr>
              <a:t>异常处理</a:t>
            </a:r>
            <a:r>
              <a:rPr lang="en-US" altLang="en-US" sz="1800">
                <a:solidFill>
                  <a:schemeClr val="tx2"/>
                </a:solidFill>
              </a:rPr>
              <a:t>  </a:t>
            </a:r>
            <a:r>
              <a:rPr lang="en-GB" altLang="en-US" sz="1800">
                <a:solidFill>
                  <a:schemeClr val="tx2"/>
                </a:solidFill>
              </a:rPr>
              <a:t>}</a:t>
            </a:r>
            <a:endParaRPr lang="en-US" altLang="en-US" sz="1800">
              <a:solidFill>
                <a:schemeClr val="tx2"/>
              </a:solidFill>
            </a:endParaRPr>
          </a:p>
          <a:p>
            <a:pPr algn="just" eaLnBrk="1" hangingPunct="1"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     </a:t>
            </a:r>
            <a:r>
              <a:rPr lang="en-GB" altLang="zh-CN" sz="1800">
                <a:solidFill>
                  <a:schemeClr val="tx2"/>
                </a:solidFill>
              </a:rPr>
              <a:t>int x;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     file &gt;&gt; x;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       …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}</a:t>
            </a:r>
            <a:r>
              <a:rPr lang="en-GB" altLang="zh-CN" sz="1800" i="0">
                <a:solidFill>
                  <a:schemeClr val="tx2"/>
                </a:solidFill>
              </a:rPr>
              <a:t> </a:t>
            </a: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11188" y="5084763"/>
            <a:ext cx="83407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i="0">
                <a:solidFill>
                  <a:srgbClr val="002060"/>
                </a:solidFill>
                <a:latin typeface="SimSun" charset="-122"/>
              </a:rPr>
              <a:t>思考：发现异常之处与处理异常之处不一致，怎么处理？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异常处理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 eaLnBrk="1" hangingPunct="1"/>
            <a:r>
              <a:rPr lang="zh-CN" altLang="en-GB">
                <a:latin typeface="SimSun" charset="-122"/>
              </a:rPr>
              <a:t>常见处理方法</a:t>
            </a:r>
          </a:p>
          <a:p>
            <a:pPr lvl="2" algn="just" eaLnBrk="1" hangingPunct="1"/>
            <a:r>
              <a:rPr lang="zh-CN" altLang="en-GB">
                <a:latin typeface="SimSun" charset="-122"/>
              </a:rPr>
              <a:t>函数参数</a:t>
            </a:r>
          </a:p>
          <a:p>
            <a:pPr lvl="3" algn="just" eaLnBrk="1" hangingPunct="1"/>
            <a:r>
              <a:rPr lang="zh-CN" altLang="en-GB">
                <a:latin typeface="SimSun" charset="-122"/>
              </a:rPr>
              <a:t>返回值</a:t>
            </a:r>
          </a:p>
          <a:p>
            <a:pPr lvl="3" algn="just" eaLnBrk="1" hangingPunct="1"/>
            <a:r>
              <a:rPr lang="zh-CN" altLang="en-GB">
                <a:latin typeface="SimSun" charset="-122"/>
              </a:rPr>
              <a:t>引用参数</a:t>
            </a:r>
          </a:p>
          <a:p>
            <a:pPr lvl="2" algn="just" eaLnBrk="1" hangingPunct="1"/>
            <a:r>
              <a:rPr lang="zh-CN" altLang="en-GB">
                <a:latin typeface="SimSun" charset="-122"/>
              </a:rPr>
              <a:t>逐层返回</a:t>
            </a:r>
          </a:p>
          <a:p>
            <a:pPr lvl="1" algn="just" eaLnBrk="1" hangingPunct="1"/>
            <a:endParaRPr lang="zh-CN" altLang="en-GB">
              <a:latin typeface="SimSun" charset="-122"/>
            </a:endParaRPr>
          </a:p>
          <a:p>
            <a:pPr lvl="1" algn="just" eaLnBrk="1" hangingPunct="1"/>
            <a:r>
              <a:rPr lang="zh-CN" altLang="en-GB">
                <a:latin typeface="SimSun" charset="-122"/>
              </a:rPr>
              <a:t>缺陷</a:t>
            </a:r>
          </a:p>
          <a:p>
            <a:pPr lvl="2" algn="just" eaLnBrk="1" hangingPunct="1"/>
            <a:r>
              <a:rPr lang="en-GB" altLang="en-US">
                <a:latin typeface="SimSun" charset="-122"/>
              </a:rPr>
              <a:t>程序结构不清楚</a:t>
            </a:r>
          </a:p>
          <a:p>
            <a:pPr lvl="2" algn="just" eaLnBrk="1" hangingPunct="1"/>
            <a:endParaRPr lang="en-GB" altLang="en-US" sz="280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 rot="-202858">
            <a:off x="4437063" y="3368675"/>
            <a:ext cx="287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70C0"/>
                </a:solidFill>
              </a:rPr>
              <a:t>构造函数执行出现异常</a:t>
            </a:r>
            <a:r>
              <a:rPr lang="en-US" altLang="zh-CN" sz="2000">
                <a:solidFill>
                  <a:srgbClr val="0070C0"/>
                </a:solidFill>
              </a:rPr>
              <a:t>?</a:t>
            </a:r>
            <a:endParaRPr lang="zh-CN" altLang="en-US" sz="200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异常处理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3830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GB" altLang="zh-CN" sz="2800">
                <a:latin typeface="SimSun" charset="-122"/>
              </a:rPr>
              <a:t>C++</a:t>
            </a:r>
            <a:r>
              <a:rPr lang="en-GB" altLang="en-US" sz="2800">
                <a:latin typeface="SimSun" charset="-122"/>
              </a:rPr>
              <a:t>异常处理机制</a:t>
            </a:r>
          </a:p>
          <a:p>
            <a:pPr lvl="1" algn="just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en-US" sz="2400">
                <a:latin typeface="SimSun" charset="-122"/>
              </a:rPr>
              <a:t>一种专门、清晰描述异常处理过程的机制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>
              <a:latin typeface="SimSun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>
                <a:latin typeface="SimSun" charset="-122"/>
              </a:rPr>
              <a:t>处理机制</a:t>
            </a:r>
            <a:endParaRPr lang="en-GB" altLang="en-US" sz="2800">
              <a:latin typeface="SimSun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i="1">
                <a:solidFill>
                  <a:schemeClr val="tx2"/>
                </a:solidFill>
              </a:rPr>
              <a:t>try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zh-CN" sz="2000">
                <a:latin typeface="SimSun" charset="-122"/>
              </a:rPr>
              <a:t>监控</a:t>
            </a:r>
            <a:endParaRPr lang="zh-CN" altLang="en-GB" sz="2000">
              <a:latin typeface="SimSun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GB" sz="2400" i="1">
                <a:solidFill>
                  <a:schemeClr val="tx2"/>
                </a:solidFill>
              </a:rPr>
              <a:t>throw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抛掷异常对象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400" i="1">
                <a:solidFill>
                  <a:schemeClr val="tx2"/>
                </a:solidFill>
              </a:rPr>
              <a:t>catch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捕获并处理</a:t>
            </a:r>
            <a:endParaRPr lang="zh-CN" altLang="en-US" sz="2000">
              <a:latin typeface="SimSun" charset="-122"/>
            </a:endParaRPr>
          </a:p>
        </p:txBody>
      </p:sp>
      <p:sp>
        <p:nvSpPr>
          <p:cNvPr id="81923" name="Text Box 4"/>
          <p:cNvSpPr txBox="1">
            <a:spLocks noChangeArrowheads="1"/>
          </p:cNvSpPr>
          <p:nvPr/>
        </p:nvSpPr>
        <p:spPr bwMode="auto">
          <a:xfrm>
            <a:off x="4327525" y="3505200"/>
            <a:ext cx="2073275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try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{  &lt;</a:t>
            </a:r>
            <a:r>
              <a:rPr lang="en-GB" altLang="en-US" sz="1800">
                <a:solidFill>
                  <a:schemeClr val="tx2"/>
                </a:solidFill>
              </a:rPr>
              <a:t>语句序列&gt; }</a:t>
            </a:r>
            <a:endParaRPr lang="zh-CN" altLang="en-US" sz="2400"/>
          </a:p>
        </p:txBody>
      </p:sp>
      <p:sp>
        <p:nvSpPr>
          <p:cNvPr id="81924" name="Text Box 5"/>
          <p:cNvSpPr txBox="1">
            <a:spLocks noChangeArrowheads="1"/>
          </p:cNvSpPr>
          <p:nvPr/>
        </p:nvSpPr>
        <p:spPr bwMode="auto">
          <a:xfrm>
            <a:off x="4267200" y="4765675"/>
            <a:ext cx="19256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800">
                <a:solidFill>
                  <a:schemeClr val="tx2"/>
                </a:solidFill>
              </a:rPr>
              <a:t>throw  &lt;</a:t>
            </a:r>
            <a:r>
              <a:rPr lang="en-GB" altLang="en-US" sz="1800">
                <a:solidFill>
                  <a:srgbClr val="C00000"/>
                </a:solidFill>
              </a:rPr>
              <a:t>表达式</a:t>
            </a:r>
            <a:r>
              <a:rPr lang="en-GB" altLang="en-US" sz="1800">
                <a:solidFill>
                  <a:schemeClr val="tx2"/>
                </a:solidFill>
              </a:rPr>
              <a:t>&gt;</a:t>
            </a: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81925" name="Text Box 6"/>
          <p:cNvSpPr txBox="1">
            <a:spLocks noChangeArrowheads="1"/>
          </p:cNvSpPr>
          <p:nvPr/>
        </p:nvSpPr>
        <p:spPr bwMode="auto">
          <a:xfrm>
            <a:off x="4211638" y="5445125"/>
            <a:ext cx="3005137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catch  (&lt;</a:t>
            </a:r>
            <a:r>
              <a:rPr lang="en-GB" altLang="en-US" sz="1800">
                <a:solidFill>
                  <a:srgbClr val="C00000"/>
                </a:solidFill>
              </a:rPr>
              <a:t>类型</a:t>
            </a:r>
            <a:r>
              <a:rPr lang="en-GB" altLang="en-US" sz="1800">
                <a:solidFill>
                  <a:schemeClr val="tx2"/>
                </a:solidFill>
              </a:rPr>
              <a:t>&gt;  [&lt;变量&gt;] )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en-US" sz="1800">
                <a:solidFill>
                  <a:schemeClr val="tx2"/>
                </a:solidFill>
              </a:rPr>
              <a:t>{   </a:t>
            </a:r>
            <a:r>
              <a:rPr lang="zh-CN" altLang="en-US" sz="1800">
                <a:solidFill>
                  <a:schemeClr val="tx2"/>
                </a:solidFill>
              </a:rPr>
              <a:t>&lt;语句序列&gt;  </a:t>
            </a:r>
            <a:r>
              <a:rPr lang="en-GB" altLang="en-US" sz="1800">
                <a:solidFill>
                  <a:schemeClr val="tx2"/>
                </a:solidFill>
              </a:rPr>
              <a:t>}</a:t>
            </a:r>
            <a:endParaRPr lang="en-US" altLang="en-US" sz="18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异常处理</a:t>
            </a:r>
          </a:p>
        </p:txBody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altLang="zh-CN" sz="2000" i="1">
                <a:solidFill>
                  <a:schemeClr val="tx2"/>
                </a:solidFill>
              </a:rPr>
              <a:t>catch</a:t>
            </a:r>
          </a:p>
          <a:p>
            <a:pPr lvl="2" eaLnBrk="1" hangingPunct="1"/>
            <a:r>
              <a:rPr lang="zh-CN" altLang="en-US" sz="2000"/>
              <a:t>类型：异常类型，匹配规则同函数重载</a:t>
            </a:r>
          </a:p>
          <a:p>
            <a:pPr lvl="2" eaLnBrk="1" hangingPunct="1"/>
            <a:r>
              <a:rPr lang="zh-CN" altLang="en-US" sz="2000"/>
              <a:t>变量：存储异常对象，可省</a:t>
            </a:r>
          </a:p>
          <a:p>
            <a:pPr lvl="2" eaLnBrk="1" hangingPunct="1"/>
            <a:endParaRPr lang="zh-CN" altLang="en-US" sz="2000"/>
          </a:p>
          <a:p>
            <a:pPr lvl="1" eaLnBrk="1" hangingPunct="1"/>
            <a:r>
              <a:rPr lang="en-GB" altLang="en-US" sz="2000">
                <a:latin typeface="SimSun" charset="-122"/>
              </a:rPr>
              <a:t>一个</a:t>
            </a:r>
            <a:r>
              <a:rPr lang="en-GB" altLang="zh-CN" sz="2000" i="1">
                <a:solidFill>
                  <a:schemeClr val="tx2"/>
                </a:solidFill>
              </a:rPr>
              <a:t>try </a:t>
            </a:r>
            <a:r>
              <a:rPr lang="en-GB" altLang="en-US" sz="2000">
                <a:latin typeface="SimSun" charset="-122"/>
              </a:rPr>
              <a:t>语句块的后面可以跟多个</a:t>
            </a:r>
            <a:r>
              <a:rPr lang="en-GB" altLang="zh-CN" sz="2000" i="1">
                <a:solidFill>
                  <a:schemeClr val="tx2"/>
                </a:solidFill>
              </a:rPr>
              <a:t>catch</a:t>
            </a:r>
            <a:r>
              <a:rPr lang="en-GB" altLang="zh-CN" sz="2000" i="1">
                <a:solidFill>
                  <a:schemeClr val="accent2"/>
                </a:solidFill>
                <a:latin typeface="SimSun" charset="-122"/>
              </a:rPr>
              <a:t> </a:t>
            </a:r>
            <a:r>
              <a:rPr lang="en-GB" altLang="en-US" sz="2000">
                <a:latin typeface="SimSun" charset="-122"/>
              </a:rPr>
              <a:t>语句块, 用于捕获不同类型的异常进行处理</a:t>
            </a:r>
            <a:endParaRPr lang="zh-CN" altLang="en-US" sz="2000">
              <a:latin typeface="SimSun" charset="-122"/>
            </a:endParaRPr>
          </a:p>
        </p:txBody>
      </p:sp>
      <p:sp>
        <p:nvSpPr>
          <p:cNvPr id="142341" name="Text Box 5"/>
          <p:cNvSpPr txBox="1">
            <a:spLocks noChangeArrowheads="1"/>
          </p:cNvSpPr>
          <p:nvPr/>
        </p:nvSpPr>
        <p:spPr bwMode="auto">
          <a:xfrm>
            <a:off x="1052513" y="4281488"/>
            <a:ext cx="1936750" cy="256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void  f()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{  ......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     throw 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   ......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    throw 1.0;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   ......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     throw "abcd";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   .......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}</a:t>
            </a:r>
            <a:endParaRPr lang="zh-CN" altLang="en-US" sz="2400" i="0">
              <a:latin typeface="Times New Roman" panose="02020603050405020304" charset="0"/>
            </a:endParaRPr>
          </a:p>
        </p:txBody>
      </p: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3635375" y="4281488"/>
            <a:ext cx="3851275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   try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   {    f();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   catch ( int )           //</a:t>
            </a:r>
            <a:r>
              <a:rPr lang="zh-CN" altLang="en-US" sz="1800">
                <a:solidFill>
                  <a:schemeClr val="tx2"/>
                </a:solidFill>
              </a:rPr>
              <a:t>处理</a:t>
            </a:r>
            <a:r>
              <a:rPr lang="en-US" altLang="zh-CN" sz="1800">
                <a:solidFill>
                  <a:schemeClr val="tx2"/>
                </a:solidFill>
              </a:rPr>
              <a:t>throw 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   { …</a:t>
            </a:r>
            <a:r>
              <a:rPr lang="zh-CN" altLang="en-US" sz="1800">
                <a:solidFill>
                  <a:schemeClr val="tx2"/>
                </a:solidFill>
              </a:rPr>
              <a:t>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2"/>
                </a:solidFill>
              </a:rPr>
              <a:t>  </a:t>
            </a:r>
            <a:r>
              <a:rPr lang="en-US" altLang="zh-CN" sz="1800">
                <a:solidFill>
                  <a:schemeClr val="tx2"/>
                </a:solidFill>
              </a:rPr>
              <a:t>catch ( double )     //throw 1.0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  { … </a:t>
            </a:r>
            <a:r>
              <a:rPr lang="zh-CN" altLang="en-US" sz="1800">
                <a:solidFill>
                  <a:schemeClr val="tx2"/>
                </a:solidFill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tx2"/>
                </a:solidFill>
              </a:rPr>
              <a:t>  </a:t>
            </a:r>
            <a:r>
              <a:rPr lang="en-US" altLang="zh-CN" sz="1800">
                <a:solidFill>
                  <a:schemeClr val="tx2"/>
                </a:solidFill>
              </a:rPr>
              <a:t>catch (char * )     //throw "abcd"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tx2"/>
                </a:solidFill>
              </a:rPr>
              <a:t>  { …</a:t>
            </a:r>
            <a:r>
              <a:rPr lang="zh-CN" altLang="en-US" sz="1800">
                <a:solidFill>
                  <a:schemeClr val="tx2"/>
                </a:solidFill>
              </a:rPr>
              <a:t> }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1" grpId="0" autoUpdateAnimBg="0"/>
      <p:bldP spid="14234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异常处理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en-US" sz="2800">
                <a:latin typeface="SimSun" charset="-122"/>
              </a:rPr>
              <a:t>异常处理的嵌套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GB" altLang="zh-CN" sz="2400" i="1">
                <a:latin typeface="SimSun" charset="-122"/>
              </a:rPr>
              <a:t>f</a:t>
            </a:r>
            <a:r>
              <a:rPr lang="en-GB" altLang="zh-CN" sz="2400" i="1">
                <a:latin typeface="SimSun" charset="-122"/>
                <a:sym typeface="Wingdings" panose="05000000000000000000" pitchFamily="2" charset="2"/>
              </a:rPr>
              <a:t></a:t>
            </a:r>
            <a:r>
              <a:rPr lang="en-GB" altLang="zh-CN" sz="2400" i="1">
                <a:latin typeface="SimSun" charset="-122"/>
              </a:rPr>
              <a:t>g</a:t>
            </a:r>
            <a:r>
              <a:rPr lang="en-GB" altLang="zh-CN" sz="2400" i="1">
                <a:latin typeface="SimSun" charset="-122"/>
                <a:sym typeface="Wingdings" panose="05000000000000000000" pitchFamily="2" charset="2"/>
              </a:rPr>
              <a:t></a:t>
            </a:r>
            <a:r>
              <a:rPr lang="en-GB" altLang="zh-CN" sz="2400" i="1">
                <a:latin typeface="SimSun" charset="-122"/>
              </a:rPr>
              <a:t>h</a:t>
            </a:r>
            <a:r>
              <a:rPr lang="en-GB" altLang="zh-CN" sz="2400">
                <a:latin typeface="SimSun" charset="-122"/>
              </a:rPr>
              <a:t> </a:t>
            </a:r>
            <a:r>
              <a:rPr lang="zh-CN" altLang="zh-CN" sz="2400">
                <a:latin typeface="SimSun" charset="-122"/>
              </a:rPr>
              <a:t>调用关系</a:t>
            </a:r>
            <a:endParaRPr lang="zh-CN" altLang="en-GB" sz="2400">
              <a:latin typeface="SimSun" charset="-122"/>
            </a:endParaRPr>
          </a:p>
          <a:p>
            <a:pPr eaLnBrk="1" hangingPunct="1"/>
            <a:endParaRPr lang="zh-CN" altLang="en-US">
              <a:latin typeface="SimSun" charset="-122"/>
            </a:endParaRPr>
          </a:p>
        </p:txBody>
      </p:sp>
      <p:sp>
        <p:nvSpPr>
          <p:cNvPr id="143364" name="Text Box 4"/>
          <p:cNvSpPr txBox="1">
            <a:spLocks noChangeArrowheads="1"/>
          </p:cNvSpPr>
          <p:nvPr/>
        </p:nvSpPr>
        <p:spPr bwMode="auto">
          <a:xfrm>
            <a:off x="4724400" y="3203575"/>
            <a:ext cx="3581400" cy="1749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h()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{    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  throw 1;   //</a:t>
            </a:r>
            <a:r>
              <a:rPr lang="en-GB" altLang="en-US" sz="1800">
                <a:solidFill>
                  <a:schemeClr val="tx2"/>
                </a:solidFill>
              </a:rPr>
              <a:t>由</a:t>
            </a:r>
            <a:r>
              <a:rPr lang="en-GB" altLang="zh-CN" sz="1800">
                <a:solidFill>
                  <a:schemeClr val="tx2"/>
                </a:solidFill>
              </a:rPr>
              <a:t>g</a:t>
            </a:r>
            <a:r>
              <a:rPr lang="en-GB" altLang="en-US" sz="1800">
                <a:solidFill>
                  <a:schemeClr val="tx2"/>
                </a:solidFill>
              </a:rPr>
              <a:t>捕获并处理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chemeClr val="tx2"/>
                </a:solidFill>
              </a:rPr>
              <a:t>     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chemeClr val="tx2"/>
                </a:solidFill>
              </a:rPr>
              <a:t>  </a:t>
            </a:r>
            <a:r>
              <a:rPr lang="en-GB" altLang="zh-CN" sz="1800">
                <a:solidFill>
                  <a:schemeClr val="tx2"/>
                </a:solidFill>
              </a:rPr>
              <a:t>throw “abcd”; //</a:t>
            </a:r>
            <a:r>
              <a:rPr lang="en-GB" altLang="en-US" sz="1800">
                <a:solidFill>
                  <a:schemeClr val="tx2"/>
                </a:solidFill>
              </a:rPr>
              <a:t>由  </a:t>
            </a:r>
            <a:r>
              <a:rPr lang="en-GB" altLang="zh-CN" sz="1800">
                <a:solidFill>
                  <a:schemeClr val="tx2"/>
                </a:solidFill>
              </a:rPr>
              <a:t>f</a:t>
            </a:r>
            <a:r>
              <a:rPr lang="en-GB" altLang="en-US" sz="1800">
                <a:solidFill>
                  <a:schemeClr val="tx2"/>
                </a:solidFill>
              </a:rPr>
              <a:t>捕获并处理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chemeClr val="tx2"/>
                </a:solidFill>
              </a:rPr>
              <a:t>}</a:t>
            </a:r>
            <a:endParaRPr lang="zh-CN" altLang="en-US" sz="1800" i="0">
              <a:solidFill>
                <a:schemeClr val="tx2"/>
              </a:solidFill>
            </a:endParaRPr>
          </a:p>
        </p:txBody>
      </p:sp>
      <p:sp>
        <p:nvSpPr>
          <p:cNvPr id="143365" name="Text Box 5"/>
          <p:cNvSpPr txBox="1">
            <a:spLocks noChangeArrowheads="1"/>
          </p:cNvSpPr>
          <p:nvPr/>
        </p:nvSpPr>
        <p:spPr bwMode="auto">
          <a:xfrm>
            <a:off x="2590800" y="3203575"/>
            <a:ext cx="1676400" cy="17494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g()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{    try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    {    h();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    catch (int)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    { …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}</a:t>
            </a:r>
            <a:endParaRPr lang="zh-CN" altLang="en-US" sz="1800" i="0">
              <a:solidFill>
                <a:schemeClr val="tx2"/>
              </a:solidFill>
            </a:endParaRPr>
          </a:p>
        </p:txBody>
      </p:sp>
      <p:sp>
        <p:nvSpPr>
          <p:cNvPr id="143366" name="Text Box 6"/>
          <p:cNvSpPr txBox="1">
            <a:spLocks noChangeArrowheads="1"/>
          </p:cNvSpPr>
          <p:nvPr/>
        </p:nvSpPr>
        <p:spPr bwMode="auto">
          <a:xfrm>
            <a:off x="304800" y="3124200"/>
            <a:ext cx="2039938" cy="2298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f()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{     try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     {     g();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     catch (int)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     { …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    catch (char *)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    { …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>
                <a:solidFill>
                  <a:schemeClr val="tx2"/>
                </a:solidFill>
              </a:rPr>
              <a:t>}</a:t>
            </a: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143367" name="Text Box 7"/>
          <p:cNvSpPr txBox="1">
            <a:spLocks noChangeArrowheads="1"/>
          </p:cNvSpPr>
          <p:nvPr/>
        </p:nvSpPr>
        <p:spPr bwMode="auto">
          <a:xfrm>
            <a:off x="1524000" y="5775325"/>
            <a:ext cx="7086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i="0">
                <a:latin typeface="SimSun" charset="-122"/>
              </a:rPr>
              <a:t>如</a:t>
            </a:r>
            <a:r>
              <a:rPr lang="zh-CN" altLang="en-US" sz="2400" i="0">
                <a:latin typeface="SimSun" charset="-122"/>
              </a:rPr>
              <a:t>所</a:t>
            </a:r>
            <a:r>
              <a:rPr lang="en-GB" altLang="en-US" sz="2400" i="0">
                <a:latin typeface="SimSun" charset="-122"/>
              </a:rPr>
              <a:t>抛掷的异常对象在调用链上</a:t>
            </a:r>
            <a:r>
              <a:rPr lang="zh-CN" altLang="en-US" sz="2400" i="0">
                <a:latin typeface="SimSun" charset="-122"/>
              </a:rPr>
              <a:t>未被</a:t>
            </a:r>
            <a:r>
              <a:rPr lang="en-GB" altLang="en-US" sz="2400" i="0">
                <a:latin typeface="SimSun" charset="-122"/>
              </a:rPr>
              <a:t>捕获，则</a:t>
            </a:r>
            <a:r>
              <a:rPr lang="zh-CN" altLang="en-US" sz="2400" i="0">
                <a:latin typeface="SimSun" charset="-122"/>
              </a:rPr>
              <a:t>由</a:t>
            </a:r>
            <a:r>
              <a:rPr lang="en-GB" altLang="en-US" sz="2400" i="0">
                <a:latin typeface="SimSun" charset="-122"/>
              </a:rPr>
              <a:t>系统的</a:t>
            </a:r>
            <a:r>
              <a:rPr lang="en-GB" altLang="zh-CN" sz="2400">
                <a:solidFill>
                  <a:schemeClr val="tx2"/>
                </a:solidFill>
              </a:rPr>
              <a:t>abort</a:t>
            </a:r>
            <a:r>
              <a:rPr lang="en-GB" altLang="en-US" sz="2400" i="0">
                <a:latin typeface="SimSun" charset="-122"/>
              </a:rPr>
              <a:t>处理</a:t>
            </a:r>
            <a:endParaRPr lang="zh-CN" altLang="en-US" sz="2400" i="0">
              <a:latin typeface="SimSun" charset="-122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 rot="-645612">
            <a:off x="5607050" y="1973263"/>
            <a:ext cx="141605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</a:rPr>
              <a:t>多层传播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4" grpId="0" animBg="1" autoUpdateAnimBg="0"/>
      <p:bldP spid="143365" grpId="0" animBg="1" autoUpdateAnimBg="0"/>
      <p:bldP spid="143366" grpId="0" animBg="1" autoUpdateAnimBg="0"/>
      <p:bldP spid="143367" grpId="0" autoUpdateAnimBg="0"/>
      <p:bldP spid="8" grpId="0" build="allAtOnce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异常处理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定义异常类</a:t>
            </a:r>
          </a:p>
          <a:p>
            <a:pPr lvl="1" eaLnBrk="1" hangingPunct="1"/>
            <a:r>
              <a:rPr lang="zh-CN" altLang="en-US" dirty="0">
                <a:latin typeface="SimSun" charset="-122"/>
              </a:rPr>
              <a:t>注意</a:t>
            </a:r>
            <a:r>
              <a:rPr lang="en-US" altLang="zh-CN" i="1" dirty="0">
                <a:solidFill>
                  <a:schemeClr val="tx2"/>
                </a:solidFill>
              </a:rPr>
              <a:t>catch </a:t>
            </a:r>
            <a:r>
              <a:rPr lang="zh-CN" altLang="en-US" dirty="0">
                <a:latin typeface="SimSun" charset="-122"/>
              </a:rPr>
              <a:t>块排列顺序</a:t>
            </a:r>
          </a:p>
        </p:txBody>
      </p:sp>
      <p:sp>
        <p:nvSpPr>
          <p:cNvPr id="86019" name="Text Box 4"/>
          <p:cNvSpPr txBox="1">
            <a:spLocks noChangeArrowheads="1"/>
          </p:cNvSpPr>
          <p:nvPr/>
        </p:nvSpPr>
        <p:spPr bwMode="auto">
          <a:xfrm>
            <a:off x="4695017" y="4356687"/>
            <a:ext cx="4082272" cy="2363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lang="en-US" altLang="zh-CN" sz="1800" dirty="0" err="1">
                <a:solidFill>
                  <a:schemeClr val="tx2"/>
                </a:solidFill>
              </a:rPr>
              <a:t>int</a:t>
            </a:r>
            <a:r>
              <a:rPr lang="en-US" altLang="zh-CN" sz="1800" dirty="0">
                <a:solidFill>
                  <a:schemeClr val="tx2"/>
                </a:solidFill>
              </a:rPr>
              <a:t>  f()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</a:rPr>
              <a:t>{     try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</a:rPr>
              <a:t>      {   </a:t>
            </a:r>
            <a:r>
              <a:rPr lang="en-US" altLang="zh-CN" sz="1800" dirty="0" err="1">
                <a:solidFill>
                  <a:schemeClr val="tx2"/>
                </a:solidFill>
              </a:rPr>
              <a:t>WrongFormat</a:t>
            </a:r>
            <a:r>
              <a:rPr lang="en-US" altLang="zh-CN" sz="1800" dirty="0">
                <a:solidFill>
                  <a:schemeClr val="tx2"/>
                </a:solidFill>
              </a:rPr>
              <a:t> </a:t>
            </a:r>
            <a:r>
              <a:rPr lang="en-US" altLang="zh-CN" sz="1800" dirty="0" err="1">
                <a:solidFill>
                  <a:schemeClr val="tx2"/>
                </a:solidFill>
              </a:rPr>
              <a:t>wf</a:t>
            </a:r>
            <a:r>
              <a:rPr lang="en-US" altLang="zh-CN" sz="1800" dirty="0">
                <a:solidFill>
                  <a:schemeClr val="tx2"/>
                </a:solidFill>
              </a:rPr>
              <a:t>; throw </a:t>
            </a:r>
            <a:r>
              <a:rPr lang="en-US" altLang="zh-CN" sz="1800" dirty="0" err="1">
                <a:solidFill>
                  <a:schemeClr val="tx2"/>
                </a:solidFill>
              </a:rPr>
              <a:t>wf</a:t>
            </a:r>
            <a:r>
              <a:rPr lang="en-US" altLang="zh-CN" sz="1800" dirty="0">
                <a:solidFill>
                  <a:schemeClr val="tx2"/>
                </a:solidFill>
              </a:rPr>
              <a:t>;	}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</a:rPr>
              <a:t>      </a:t>
            </a:r>
          </a:p>
          <a:p>
            <a:pPr algn="just" eaLnBrk="1" hangingPunct="1">
              <a:buClrTx/>
              <a:buSzTx/>
              <a:buFontTx/>
              <a:buNone/>
            </a:pPr>
            <a:endParaRPr lang="en-US" altLang="zh-CN" sz="1800" dirty="0">
              <a:solidFill>
                <a:schemeClr val="tx2"/>
              </a:solidFill>
            </a:endParaRPr>
          </a:p>
          <a:p>
            <a:pPr algn="just" eaLnBrk="1" hangingPunct="1">
              <a:buClrTx/>
              <a:buSzTx/>
              <a:buFontTx/>
              <a:buNone/>
            </a:pPr>
            <a:endParaRPr lang="en-US" altLang="zh-CN" sz="1800" dirty="0">
              <a:solidFill>
                <a:schemeClr val="tx2"/>
              </a:solidFill>
            </a:endParaRPr>
          </a:p>
          <a:p>
            <a:pPr algn="just" eaLnBrk="1" hangingPunct="1"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</a:rPr>
              <a:t>}</a:t>
            </a:r>
            <a:endParaRPr lang="zh-CN" altLang="en-US" sz="1800" dirty="0">
              <a:solidFill>
                <a:schemeClr val="tx2"/>
              </a:solidFill>
            </a:endParaRPr>
          </a:p>
        </p:txBody>
      </p:sp>
      <p:sp>
        <p:nvSpPr>
          <p:cNvPr id="86020" name="Text Box 5"/>
          <p:cNvSpPr txBox="1">
            <a:spLocks noChangeArrowheads="1"/>
          </p:cNvSpPr>
          <p:nvPr/>
        </p:nvSpPr>
        <p:spPr bwMode="auto">
          <a:xfrm>
            <a:off x="530225" y="3429000"/>
            <a:ext cx="4346575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</a:rPr>
              <a:t>class </a:t>
            </a:r>
            <a:r>
              <a:rPr lang="en-US" altLang="zh-CN" sz="1800" dirty="0" err="1">
                <a:solidFill>
                  <a:schemeClr val="tx2"/>
                </a:solidFill>
              </a:rPr>
              <a:t>FileErrors</a:t>
            </a:r>
            <a:r>
              <a:rPr lang="en-US" altLang="zh-CN" sz="1800" dirty="0">
                <a:solidFill>
                  <a:schemeClr val="tx2"/>
                </a:solidFill>
              </a:rPr>
              <a:t>{  };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</a:rPr>
              <a:t>class </a:t>
            </a:r>
            <a:r>
              <a:rPr lang="en-US" altLang="zh-CN" sz="1800" dirty="0" err="1">
                <a:solidFill>
                  <a:schemeClr val="tx2"/>
                </a:solidFill>
              </a:rPr>
              <a:t>NonExist</a:t>
            </a:r>
            <a:r>
              <a:rPr lang="en-US" altLang="zh-CN" sz="1800" dirty="0">
                <a:solidFill>
                  <a:schemeClr val="tx2"/>
                </a:solidFill>
              </a:rPr>
              <a:t>: public </a:t>
            </a:r>
            <a:r>
              <a:rPr lang="en-US" altLang="zh-CN" sz="1800" dirty="0" err="1">
                <a:solidFill>
                  <a:schemeClr val="tx2"/>
                </a:solidFill>
              </a:rPr>
              <a:t>FileErrors</a:t>
            </a:r>
            <a:r>
              <a:rPr lang="en-US" altLang="zh-CN" sz="1800" dirty="0">
                <a:solidFill>
                  <a:schemeClr val="tx2"/>
                </a:solidFill>
              </a:rPr>
              <a:t> {  };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</a:rPr>
              <a:t>class </a:t>
            </a:r>
            <a:r>
              <a:rPr lang="en-US" altLang="zh-CN" sz="1800" dirty="0" err="1">
                <a:solidFill>
                  <a:schemeClr val="tx2"/>
                </a:solidFill>
              </a:rPr>
              <a:t>WrongFormat</a:t>
            </a:r>
            <a:r>
              <a:rPr lang="en-US" altLang="zh-CN" sz="1800" dirty="0">
                <a:solidFill>
                  <a:schemeClr val="tx2"/>
                </a:solidFill>
              </a:rPr>
              <a:t>: public </a:t>
            </a:r>
            <a:r>
              <a:rPr lang="en-US" altLang="zh-CN" sz="1800" dirty="0" err="1">
                <a:solidFill>
                  <a:schemeClr val="tx2"/>
                </a:solidFill>
              </a:rPr>
              <a:t>FileErrors</a:t>
            </a:r>
            <a:r>
              <a:rPr lang="en-US" altLang="zh-CN" sz="1800" dirty="0">
                <a:solidFill>
                  <a:schemeClr val="tx2"/>
                </a:solidFill>
              </a:rPr>
              <a:t>{  };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tx2"/>
                </a:solidFill>
              </a:rPr>
              <a:t>class </a:t>
            </a:r>
            <a:r>
              <a:rPr lang="en-US" altLang="zh-CN" sz="1800" dirty="0" err="1">
                <a:solidFill>
                  <a:schemeClr val="tx2"/>
                </a:solidFill>
              </a:rPr>
              <a:t>DiskSeekError</a:t>
            </a:r>
            <a:r>
              <a:rPr lang="en-US" altLang="zh-CN" sz="1800" dirty="0">
                <a:solidFill>
                  <a:schemeClr val="tx2"/>
                </a:solidFill>
              </a:rPr>
              <a:t>: public </a:t>
            </a:r>
            <a:r>
              <a:rPr lang="en-US" altLang="zh-CN" sz="1800" dirty="0" err="1">
                <a:solidFill>
                  <a:schemeClr val="tx2"/>
                </a:solidFill>
              </a:rPr>
              <a:t>FileErrors</a:t>
            </a:r>
            <a:r>
              <a:rPr lang="en-US" altLang="zh-CN" sz="1800" dirty="0">
                <a:solidFill>
                  <a:schemeClr val="tx2"/>
                </a:solidFill>
              </a:rPr>
              <a:t>{  };</a:t>
            </a:r>
            <a:endParaRPr lang="zh-CN" altLang="en-US" sz="2400" dirty="0"/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5343525" y="5594350"/>
            <a:ext cx="34337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chemeClr val="tx2"/>
                </a:solidFill>
              </a:rPr>
              <a:t>catch (NonExist&amp;)  { …….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chemeClr val="tx2"/>
                </a:solidFill>
              </a:rPr>
              <a:t>catch (DiskSeekError&amp;) { … … }</a:t>
            </a:r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5386388" y="5300663"/>
            <a:ext cx="34337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chemeClr val="tx2"/>
                </a:solidFill>
              </a:rPr>
              <a:t>catch (NonExist&amp;)  { …….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chemeClr val="tx2"/>
                </a:solidFill>
              </a:rPr>
              <a:t>catch (DiskSeekError&amp;) { … … }</a:t>
            </a:r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5407025" y="5949950"/>
            <a:ext cx="28987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6600"/>
                </a:solidFill>
              </a:rPr>
              <a:t>catch (FileErrors&amp;) { …… }</a:t>
            </a:r>
            <a:endParaRPr lang="zh-CN" altLang="en-US" sz="1800">
              <a:solidFill>
                <a:srgbClr val="006600"/>
              </a:solidFill>
            </a:endParaRPr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5407025" y="5300663"/>
            <a:ext cx="29686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catch (</a:t>
            </a:r>
            <a:r>
              <a:rPr lang="en-US" altLang="zh-CN" sz="1800" dirty="0" err="1">
                <a:solidFill>
                  <a:srgbClr val="006600"/>
                </a:solidFill>
              </a:rPr>
              <a:t>FileErrors</a:t>
            </a:r>
            <a:r>
              <a:rPr lang="en-US" altLang="zh-CN" sz="1800" dirty="0">
                <a:solidFill>
                  <a:srgbClr val="006600"/>
                </a:solidFill>
              </a:rPr>
              <a:t> &amp;) { …… }</a:t>
            </a:r>
            <a:endParaRPr lang="zh-CN" altLang="en-US" sz="1800" dirty="0">
              <a:solidFill>
                <a:srgbClr val="0066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 rot="-351436">
            <a:off x="4581525" y="3217863"/>
            <a:ext cx="4357688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marL="0"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</a:rPr>
              <a:t>Catch exceptions by reference </a:t>
            </a:r>
            <a:endParaRPr lang="zh-CN" altLang="en-US" sz="2400">
              <a:solidFill>
                <a:srgbClr val="C00000"/>
              </a:solidFill>
              <a:latin typeface="SimSun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 rot="-412259">
            <a:off x="2287588" y="4994275"/>
            <a:ext cx="133985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rgbClr val="C00000"/>
                </a:solidFill>
              </a:rPr>
              <a:t>尝试多继承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1" grpId="0"/>
      <p:bldP spid="52232" grpId="0"/>
      <p:bldP spid="52232" grpId="1"/>
      <p:bldP spid="52233" grpId="0"/>
      <p:bldP spid="52233" grpId="1"/>
      <p:bldP spid="52234" grpId="0"/>
      <p:bldP spid="10" grpId="0" build="allAtOnce"/>
      <p:bldP spid="11" grpId="0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异常处理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62597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SimSun" charset="-122"/>
              </a:rPr>
              <a:t>特例</a:t>
            </a:r>
          </a:p>
          <a:p>
            <a:pPr lvl="1" eaLnBrk="1" hangingPunct="1"/>
            <a:r>
              <a:rPr lang="zh-CN" altLang="en-US" sz="2400" dirty="0">
                <a:latin typeface="SimSun" charset="-122"/>
              </a:rPr>
              <a:t>无参数</a:t>
            </a:r>
            <a:r>
              <a:rPr lang="en-US" altLang="zh-CN" sz="2400" i="1" dirty="0">
                <a:solidFill>
                  <a:schemeClr val="tx2"/>
                </a:solidFill>
              </a:rPr>
              <a:t>throw</a:t>
            </a:r>
            <a:endParaRPr lang="en-US" altLang="zh-CN" sz="2400" dirty="0">
              <a:latin typeface="SimSun" charset="-122"/>
            </a:endParaRPr>
          </a:p>
          <a:p>
            <a:pPr lvl="2" eaLnBrk="1" hangingPunct="1"/>
            <a:r>
              <a:rPr lang="zh-CN" altLang="en-US" dirty="0">
                <a:latin typeface="SimSun" charset="-122"/>
              </a:rPr>
              <a:t>将捕获到的异常对象重新抛掷出去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000" i="1" dirty="0">
                <a:solidFill>
                  <a:schemeClr val="tx2"/>
                </a:solidFill>
              </a:rPr>
              <a:t>    catch (int)      {    throw;  }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zh-CN" dirty="0">
              <a:latin typeface="SimSun" charset="-122"/>
            </a:endParaRPr>
          </a:p>
          <a:p>
            <a:pPr lvl="1" eaLnBrk="1" hangingPunct="1"/>
            <a:r>
              <a:rPr lang="en-US" altLang="zh-CN" sz="2400" i="1" dirty="0">
                <a:solidFill>
                  <a:schemeClr val="tx2"/>
                </a:solidFill>
              </a:rPr>
              <a:t>catch(…)</a:t>
            </a:r>
            <a:r>
              <a:rPr lang="en-US" altLang="zh-CN" dirty="0">
                <a:latin typeface="SimSun" charset="-122"/>
              </a:rPr>
              <a:t>  </a:t>
            </a:r>
          </a:p>
          <a:p>
            <a:pPr lvl="2" eaLnBrk="1" hangingPunct="1"/>
            <a:r>
              <a:rPr lang="zh-CN" altLang="zh-CN" dirty="0">
                <a:latin typeface="SimSun" charset="-122"/>
              </a:rPr>
              <a:t>默认异常处理</a:t>
            </a:r>
            <a:endParaRPr lang="en-US" altLang="zh-CN" dirty="0">
              <a:latin typeface="SimSun" charset="-122"/>
            </a:endParaRPr>
          </a:p>
          <a:p>
            <a:pPr lvl="2" eaLnBrk="1" hangingPunct="1"/>
            <a:endParaRPr lang="en-US" altLang="zh-CN" dirty="0">
              <a:latin typeface="SimSun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651500" y="4508500"/>
            <a:ext cx="2794000" cy="166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template&lt;class T, class E&gt;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inline void Assert(T exp, E e)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{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if (DEBUG)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    if (!exp) throw e;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}</a:t>
            </a:r>
            <a:endParaRPr lang="zh-CN" altLang="en-US" sz="1600">
              <a:solidFill>
                <a:srgbClr val="00660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724525" y="4076700"/>
            <a:ext cx="2749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C00000"/>
                </a:solidFill>
              </a:rPr>
              <a:t>对程序验证特征的支持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84213" y="5157788"/>
            <a:ext cx="4554537" cy="104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实现</a:t>
            </a:r>
            <a:endParaRPr lang="en-US" altLang="zh-CN" sz="200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i="0">
                <a:solidFill>
                  <a:srgbClr val="002060"/>
                </a:solidFill>
              </a:rPr>
              <a:t>不影响对象布局</a:t>
            </a:r>
            <a:endParaRPr lang="en-US" altLang="zh-CN" sz="2000" b="1" i="0">
              <a:solidFill>
                <a:srgbClr val="00206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i="0">
                <a:solidFill>
                  <a:srgbClr val="002060"/>
                </a:solidFill>
              </a:rPr>
              <a:t>程序状态</a:t>
            </a:r>
            <a:r>
              <a:rPr lang="en-US" altLang="zh-CN" sz="2000" b="1" i="0">
                <a:solidFill>
                  <a:srgbClr val="002060"/>
                </a:solidFill>
              </a:rPr>
              <a:t> </a:t>
            </a:r>
            <a:r>
              <a:rPr lang="en-US" altLang="zh-CN" sz="2000" b="1" i="0">
                <a:solidFill>
                  <a:srgbClr val="002060"/>
                </a:solidFill>
                <a:sym typeface="Wingdings" panose="05000000000000000000" pitchFamily="2" charset="2"/>
              </a:rPr>
              <a:t>&lt;-&gt;  </a:t>
            </a:r>
            <a:r>
              <a:rPr lang="zh-CN" altLang="en-US" sz="2000" b="1" i="0">
                <a:solidFill>
                  <a:srgbClr val="002060"/>
                </a:solidFill>
                <a:sym typeface="Wingdings" panose="05000000000000000000" pitchFamily="2" charset="2"/>
              </a:rPr>
              <a:t>析构函数、异常处理器</a:t>
            </a:r>
            <a:endParaRPr lang="zh-CN" altLang="en-US" sz="2000" b="1" i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 rot="-476767">
            <a:off x="4649788" y="1978025"/>
            <a:ext cx="40322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745D00"/>
                </a:solidFill>
              </a:rPr>
              <a:t>如何应对多出口引发的处理碎片？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build="allAtOnce"/>
      <p:bldP spid="8" grpId="0" build="allAtOnce"/>
      <p:bldP spid="12" grpId="0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400"/>
              <a:t>Know what functions C++ silently writes and calls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1298" y="1767929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latin typeface="Arial" panose="020B0604020202090204" pitchFamily="34" charset="0"/>
              </a:rPr>
              <a:t>class Empty { }; </a:t>
            </a:r>
          </a:p>
          <a:p>
            <a:pPr eaLnBrk="1" hangingPunct="1"/>
            <a:r>
              <a:rPr lang="en-US" altLang="zh-CN" sz="2800" dirty="0">
                <a:latin typeface="Arial" panose="020B0604020202090204" pitchFamily="34" charset="0"/>
              </a:rPr>
              <a:t>class Empty {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" panose="020B0604020202090204" pitchFamily="34" charset="0"/>
              </a:rPr>
              <a:t>Empty();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" panose="020B0604020202090204" pitchFamily="34" charset="0"/>
              </a:rPr>
              <a:t>Empty(const Empty&amp;);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" panose="020B0604020202090204" pitchFamily="34" charset="0"/>
              </a:rPr>
              <a:t>Empty(Empty&amp;&amp;)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" panose="020B0604020202090204" pitchFamily="34" charset="0"/>
              </a:rPr>
              <a:t>~Empty();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" panose="020B0604020202090204" pitchFamily="34" charset="0"/>
              </a:rPr>
              <a:t>Empty&amp; operator=(const Empty&amp;);</a:t>
            </a:r>
          </a:p>
          <a:p>
            <a:pPr lvl="1" eaLnBrk="1" hangingPunct="1">
              <a:buNone/>
            </a:pPr>
            <a:r>
              <a:rPr lang="en-US" altLang="zh-CN" sz="2400" dirty="0">
                <a:latin typeface="Arial" panose="020B0604020202090204" pitchFamily="34" charset="0"/>
              </a:rPr>
              <a:t>Empty&amp; operator=(Empty&amp;&amp;);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" panose="020B0604020202090204" pitchFamily="34" charset="0"/>
              </a:rPr>
              <a:t>Empty *operator &amp;();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" panose="020B0604020202090204" pitchFamily="34" charset="0"/>
              </a:rPr>
              <a:t>const Empty* operator &amp;() const;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" panose="020B060402020209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4754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 bldLvl="2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400"/>
              <a:t>Use destructors to prevent resource leaks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 eaLnBrk="1" hangingPunct="1"/>
            <a:endParaRPr lang="en-US" altLang="zh-CN" sz="2000"/>
          </a:p>
          <a:p>
            <a:pPr eaLnBrk="1" hangingPunct="1"/>
            <a:r>
              <a:rPr lang="en-US" altLang="zh-CN" sz="2800"/>
              <a:t>Question -----resource leaks</a:t>
            </a:r>
          </a:p>
          <a:p>
            <a:pPr lvl="1" eaLnBrk="1" hangingPunct="1"/>
            <a:r>
              <a:rPr lang="en-US" altLang="zh-CN" sz="2400"/>
              <a:t>【</a:t>
            </a:r>
            <a:r>
              <a:rPr lang="zh-CN" altLang="en-US" sz="2400"/>
              <a:t>小动物收养保护中心</a:t>
            </a:r>
            <a:r>
              <a:rPr lang="en-US" altLang="zh-CN" sz="2400"/>
              <a:t>】</a:t>
            </a:r>
          </a:p>
          <a:p>
            <a:pPr lvl="2" eaLnBrk="1" hangingPunct="1"/>
            <a:r>
              <a:rPr lang="zh-CN" altLang="en-US" sz="2000"/>
              <a:t>收养中心每天产生一个文件，包含当天的收养个案信息</a:t>
            </a:r>
          </a:p>
          <a:p>
            <a:pPr lvl="2" eaLnBrk="1" hangingPunct="1"/>
            <a:r>
              <a:rPr lang="zh-CN" altLang="en-US" sz="2000"/>
              <a:t>读取这个文件，为每个个案做适当的处理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bldLvl="2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400"/>
              <a:t>Use destructors to prevent resource leaks</a:t>
            </a:r>
          </a:p>
        </p:txBody>
      </p:sp>
      <p:sp>
        <p:nvSpPr>
          <p:cNvPr id="21508" name="Oval 4"/>
          <p:cNvSpPr>
            <a:spLocks noChangeArrowheads="1"/>
          </p:cNvSpPr>
          <p:nvPr/>
        </p:nvSpPr>
        <p:spPr bwMode="auto">
          <a:xfrm>
            <a:off x="1524000" y="2362200"/>
            <a:ext cx="19050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charset="0"/>
              </a:rPr>
              <a:t>ALA</a:t>
            </a:r>
          </a:p>
        </p:txBody>
      </p:sp>
      <p:sp>
        <p:nvSpPr>
          <p:cNvPr id="21509" name="Oval 5"/>
          <p:cNvSpPr>
            <a:spLocks noChangeArrowheads="1"/>
          </p:cNvSpPr>
          <p:nvPr/>
        </p:nvSpPr>
        <p:spPr bwMode="auto">
          <a:xfrm>
            <a:off x="381000" y="3962400"/>
            <a:ext cx="17526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charset="0"/>
              </a:rPr>
              <a:t>Puppy</a:t>
            </a:r>
          </a:p>
        </p:txBody>
      </p:sp>
      <p:sp>
        <p:nvSpPr>
          <p:cNvPr id="21510" name="Oval 6"/>
          <p:cNvSpPr>
            <a:spLocks noChangeArrowheads="1"/>
          </p:cNvSpPr>
          <p:nvPr/>
        </p:nvSpPr>
        <p:spPr bwMode="auto">
          <a:xfrm>
            <a:off x="2819400" y="3962400"/>
            <a:ext cx="17526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charset="0"/>
              </a:rPr>
              <a:t>Kitten</a:t>
            </a: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 flipH="1" flipV="1">
            <a:off x="2743200" y="3200400"/>
            <a:ext cx="762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 flipV="1">
            <a:off x="1371600" y="31242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3505200" y="2209800"/>
            <a:ext cx="3040063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Times New Roman" panose="02020603050405020304" charset="0"/>
              </a:rPr>
              <a:t>Adorable Little Animal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b="1">
                <a:latin typeface="Arial" panose="020B0604020202090204" pitchFamily="34" charset="0"/>
              </a:rPr>
              <a:t>（</a:t>
            </a:r>
            <a:r>
              <a:rPr lang="en-US" altLang="zh-CN" sz="1800" b="1">
                <a:latin typeface="Arial" panose="020B0604020202090204" pitchFamily="34" charset="0"/>
              </a:rPr>
              <a:t>Abstract Base Class</a:t>
            </a:r>
            <a:r>
              <a:rPr lang="zh-CN" altLang="en-US" sz="1800" b="1">
                <a:latin typeface="Arial" panose="020B0604020202090204" pitchFamily="34" charset="0"/>
              </a:rPr>
              <a:t>）</a:t>
            </a: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4784725" y="3236913"/>
            <a:ext cx="440690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class ALA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{ 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       virtual void processAdoption() = 0;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		……..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};</a:t>
            </a:r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228600" y="5105400"/>
            <a:ext cx="40195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class Puppy: public ALA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{ 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       virtual void processAdoption();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		……..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};</a:t>
            </a: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4819650" y="5087938"/>
            <a:ext cx="401955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class Kitten: public ALA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{ 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       virtual void processAdoption();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		……..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latin typeface="Arial" panose="020B0604020202090204" pitchFamily="34" charset="0"/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 autoUpdateAnimBg="0"/>
      <p:bldP spid="21509" grpId="0" animBg="1" autoUpdateAnimBg="0"/>
      <p:bldP spid="21510" grpId="0" animBg="1" autoUpdateAnimBg="0"/>
      <p:bldP spid="21512" grpId="0" animBg="1"/>
      <p:bldP spid="21513" grpId="0" animBg="1"/>
      <p:bldP spid="21514" grpId="0" autoUpdateAnimBg="0"/>
      <p:bldP spid="21515" grpId="0" autoUpdateAnimBg="0"/>
      <p:bldP spid="21516" grpId="0" autoUpdateAnimBg="0"/>
      <p:bldP spid="21517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400"/>
              <a:t>Use destructors to prevent resource leaks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zh-CN" sz="2400"/>
              <a:t>void processAdoptions(istream&amp; dataSource)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{  while (dataSource)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{   ALA *pa = readALA(dataSource);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</a:t>
            </a:r>
            <a:r>
              <a:rPr lang="en-US" altLang="zh-CN" sz="2400" b="1" i="1">
                <a:solidFill>
                  <a:srgbClr val="FF3300"/>
                </a:solidFill>
              </a:rPr>
              <a:t>try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{   pa-&gt;processAdoption();}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</a:t>
            </a:r>
            <a:r>
              <a:rPr lang="en-US" altLang="zh-CN" sz="2400" b="1" i="1">
                <a:solidFill>
                  <a:srgbClr val="FF3300"/>
                </a:solidFill>
              </a:rPr>
              <a:t>catch (</a:t>
            </a:r>
            <a:r>
              <a:rPr lang="en-US" altLang="zh-CN" sz="2400" b="1" i="1">
                <a:solidFill>
                  <a:srgbClr val="FF3300"/>
                </a:solidFill>
                <a:latin typeface="Times New Roman" panose="02020603050405020304" charset="0"/>
              </a:rPr>
              <a:t>…</a:t>
            </a:r>
            <a:r>
              <a:rPr lang="en-US" altLang="zh-CN" sz="2400" b="1" i="1">
                <a:solidFill>
                  <a:srgbClr val="FF3300"/>
                </a:solidFill>
              </a:rPr>
              <a:t>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i="1">
                <a:solidFill>
                  <a:srgbClr val="FF3300"/>
                </a:solidFill>
              </a:rPr>
              <a:t>              {   delete pa;   throw; }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delete pa;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}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}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6019800" y="5000625"/>
            <a:ext cx="2693988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zh-CN" altLang="en-US" sz="2400">
                <a:latin typeface="Times New Roman" panose="02020603050405020304" charset="0"/>
              </a:rPr>
              <a:t>结构破碎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zh-CN" altLang="en-US" sz="2400">
                <a:latin typeface="Times New Roman" panose="02020603050405020304" charset="0"/>
              </a:rPr>
              <a:t>被迫重复“清理码”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>
              <a:latin typeface="Times New Roman" panose="02020603050405020304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charset="0"/>
              </a:rPr>
              <a:t>集中处理？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  <p:bldP spid="23556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400"/>
              <a:t>Use destructors to prevent resource leaks</a:t>
            </a:r>
          </a:p>
        </p:txBody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/>
              <a:t>Solution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Smart pointers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>
                <a:latin typeface="Arial" panose="020B0604020202090204" pitchFamily="34" charset="0"/>
              </a:rPr>
              <a:t>Template &lt;class T&gt;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class auto_ptr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{  public: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      auto_ptr(T *p=0):ptr(p) {}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    ~auto_ptr() { delete ptr; }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      T* operator-&gt;()  const { return ptr;}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	        T&amp; operator *()  const { return *ptr; }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  private: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      T*  ptr;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};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400"/>
              <a:t>Use destructors to prevent resource leaks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724400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void processAdoptions(istream&amp; dataSource)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  while (dataSource)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{   auto_ptr&lt;ALA&gt;   pa(readALA(dataSource));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   pa-&gt;processAdoption();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}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}</a:t>
            </a:r>
          </a:p>
          <a:p>
            <a:pPr lvl="1" eaLnBrk="1" hangingPunct="1"/>
            <a:r>
              <a:rPr lang="en-US" altLang="zh-CN" sz="2000"/>
              <a:t>【GUI</a:t>
            </a:r>
            <a:r>
              <a:rPr lang="zh-CN" altLang="en-US" sz="2000"/>
              <a:t>应用软件中的某个显示信息的函数</a:t>
            </a:r>
            <a:r>
              <a:rPr lang="en-US" altLang="zh-CN" sz="2000"/>
              <a:t>】</a:t>
            </a:r>
          </a:p>
          <a:p>
            <a:pPr lvl="2" eaLnBrk="1" hangingPunct="1"/>
            <a:r>
              <a:rPr lang="en-US" altLang="zh-CN" sz="2000">
                <a:latin typeface="Arial" panose="020B0604020202090204" pitchFamily="34" charset="0"/>
              </a:rPr>
              <a:t>void displayInfo(const Information&amp; info)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{     WINDOW_HANDLE  w(createWindow());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      </a:t>
            </a:r>
            <a:r>
              <a:rPr lang="en-US" altLang="zh-CN" sz="2000" i="1">
                <a:solidFill>
                  <a:schemeClr val="accent1"/>
                </a:solidFill>
                <a:latin typeface="Arial" panose="020B0604020202090204" pitchFamily="34" charset="0"/>
              </a:rPr>
              <a:t>display info in window corresponding to w;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      destroyWindows(w);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bldLvl="2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400"/>
              <a:t>Use destructors to prevent resource leaks</a:t>
            </a:r>
          </a:p>
        </p:txBody>
      </p:sp>
      <p:sp>
        <p:nvSpPr>
          <p:cNvPr id="983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8610600" cy="3657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class WindowHandle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{ public: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	WindowHandle(WINDOW_HANDLE handler) : w(handler) {}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	~WindowHandle() { destroyWindow(w);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operator WINDOW_HANDLE() { return w;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private: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	 WINDOW_HANDLE  w;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WindowHandle(const WindowHandle&amp;);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WindowHandle &amp; operator = (const WindowHandle&amp;);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};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3505200" y="5257800"/>
            <a:ext cx="5426075" cy="1441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void displayInfo(const Information&amp; info)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{     WindowHandle  w(createWindow())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  </a:t>
            </a:r>
            <a:r>
              <a:rPr lang="en-US" altLang="zh-CN" sz="2000">
                <a:solidFill>
                  <a:schemeClr val="accent1"/>
                </a:solidFill>
                <a:latin typeface="Arial" panose="020B0604020202090204" pitchFamily="34" charset="0"/>
              </a:rPr>
              <a:t>display info in window corresponding to w;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}</a:t>
            </a:r>
            <a:endParaRPr lang="en-US" altLang="zh-CN" sz="2400"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I/O </a:t>
            </a:r>
            <a:r>
              <a:rPr lang="zh-CN" altLang="en-US"/>
              <a:t>处理</a:t>
            </a:r>
          </a:p>
        </p:txBody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>
                <a:latin typeface="SimSun" charset="-122"/>
              </a:rPr>
              <a:t>基于函数库的</a:t>
            </a:r>
            <a:r>
              <a:rPr lang="en-US" altLang="zh-CN" sz="2400">
                <a:latin typeface="SimSun" charset="-122"/>
              </a:rPr>
              <a:t>I/O</a:t>
            </a:r>
          </a:p>
          <a:p>
            <a:pPr eaLnBrk="1" hangingPunct="1"/>
            <a:r>
              <a:rPr lang="zh-CN" altLang="en-US" sz="2400">
                <a:latin typeface="SimSun" charset="-122"/>
              </a:rPr>
              <a:t>基于类库的</a:t>
            </a:r>
            <a:r>
              <a:rPr lang="en-US" altLang="zh-CN" sz="2400">
                <a:latin typeface="SimSun" charset="-122"/>
              </a:rPr>
              <a:t>I/O</a:t>
            </a:r>
          </a:p>
          <a:p>
            <a:pPr eaLnBrk="1" hangingPunct="1"/>
            <a:endParaRPr lang="zh-CN" altLang="en-US" sz="2400">
              <a:latin typeface="SimSun" charset="-122"/>
            </a:endParaRPr>
          </a:p>
        </p:txBody>
      </p:sp>
      <p:sp>
        <p:nvSpPr>
          <p:cNvPr id="100355" name="Text Box 4"/>
          <p:cNvSpPr txBox="1">
            <a:spLocks noChangeArrowheads="1"/>
          </p:cNvSpPr>
          <p:nvPr/>
        </p:nvSpPr>
        <p:spPr bwMode="auto">
          <a:xfrm>
            <a:off x="1757363" y="2971800"/>
            <a:ext cx="493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0"/>
              <a:t>ios</a:t>
            </a:r>
            <a:endParaRPr lang="en-US" altLang="zh-CN" sz="2000" i="0"/>
          </a:p>
        </p:txBody>
      </p:sp>
      <p:sp>
        <p:nvSpPr>
          <p:cNvPr id="100356" name="Text Box 5"/>
          <p:cNvSpPr txBox="1">
            <a:spLocks noChangeArrowheads="1"/>
          </p:cNvSpPr>
          <p:nvPr/>
        </p:nvSpPr>
        <p:spPr bwMode="auto">
          <a:xfrm>
            <a:off x="2290763" y="3332163"/>
            <a:ext cx="1012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0"/>
              <a:t>istream</a:t>
            </a:r>
            <a:endParaRPr lang="en-US" altLang="zh-CN" sz="2000" i="0"/>
          </a:p>
        </p:txBody>
      </p:sp>
      <p:sp>
        <p:nvSpPr>
          <p:cNvPr id="100357" name="Text Box 6"/>
          <p:cNvSpPr txBox="1">
            <a:spLocks noChangeArrowheads="1"/>
          </p:cNvSpPr>
          <p:nvPr/>
        </p:nvSpPr>
        <p:spPr bwMode="auto">
          <a:xfrm>
            <a:off x="3128963" y="3713163"/>
            <a:ext cx="1093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0"/>
              <a:t>ifstream</a:t>
            </a:r>
            <a:endParaRPr lang="en-US" altLang="zh-CN" sz="2000" i="0"/>
          </a:p>
        </p:txBody>
      </p:sp>
      <p:sp>
        <p:nvSpPr>
          <p:cNvPr id="100358" name="Text Box 7"/>
          <p:cNvSpPr txBox="1">
            <a:spLocks noChangeArrowheads="1"/>
          </p:cNvSpPr>
          <p:nvPr/>
        </p:nvSpPr>
        <p:spPr bwMode="auto">
          <a:xfrm>
            <a:off x="3144838" y="4225925"/>
            <a:ext cx="13033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0"/>
              <a:t>istrstream</a:t>
            </a:r>
            <a:endParaRPr lang="en-US" altLang="zh-CN" sz="2000" i="0"/>
          </a:p>
        </p:txBody>
      </p:sp>
      <p:sp>
        <p:nvSpPr>
          <p:cNvPr id="100359" name="Text Box 8"/>
          <p:cNvSpPr txBox="1">
            <a:spLocks noChangeArrowheads="1"/>
          </p:cNvSpPr>
          <p:nvPr/>
        </p:nvSpPr>
        <p:spPr bwMode="auto">
          <a:xfrm>
            <a:off x="2306638" y="4932363"/>
            <a:ext cx="109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0"/>
              <a:t>ostream</a:t>
            </a:r>
            <a:endParaRPr lang="en-US" altLang="zh-CN" sz="2000" i="0"/>
          </a:p>
        </p:txBody>
      </p:sp>
      <p:sp>
        <p:nvSpPr>
          <p:cNvPr id="100360" name="Text Box 9"/>
          <p:cNvSpPr txBox="1">
            <a:spLocks noChangeArrowheads="1"/>
          </p:cNvSpPr>
          <p:nvPr/>
        </p:nvSpPr>
        <p:spPr bwMode="auto">
          <a:xfrm>
            <a:off x="3205163" y="5334000"/>
            <a:ext cx="1173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0"/>
              <a:t>ofstream</a:t>
            </a:r>
            <a:endParaRPr lang="en-US" altLang="zh-CN" sz="2000" i="0"/>
          </a:p>
        </p:txBody>
      </p:sp>
      <p:sp>
        <p:nvSpPr>
          <p:cNvPr id="100361" name="Text Box 10"/>
          <p:cNvSpPr txBox="1">
            <a:spLocks noChangeArrowheads="1"/>
          </p:cNvSpPr>
          <p:nvPr/>
        </p:nvSpPr>
        <p:spPr bwMode="auto">
          <a:xfrm>
            <a:off x="3221038" y="5846763"/>
            <a:ext cx="1382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0"/>
              <a:t>ostrstream</a:t>
            </a:r>
            <a:endParaRPr lang="en-US" altLang="zh-CN" sz="2000" i="0"/>
          </a:p>
        </p:txBody>
      </p:sp>
      <p:sp>
        <p:nvSpPr>
          <p:cNvPr id="100362" name="Line 11"/>
          <p:cNvSpPr>
            <a:spLocks noChangeShapeType="1"/>
          </p:cNvSpPr>
          <p:nvPr/>
        </p:nvSpPr>
        <p:spPr bwMode="auto">
          <a:xfrm>
            <a:off x="2001838" y="334645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63" name="Line 12"/>
          <p:cNvSpPr>
            <a:spLocks noChangeShapeType="1"/>
          </p:cNvSpPr>
          <p:nvPr/>
        </p:nvSpPr>
        <p:spPr bwMode="auto">
          <a:xfrm>
            <a:off x="2001838" y="51752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64" name="Line 13"/>
          <p:cNvSpPr>
            <a:spLocks noChangeShapeType="1"/>
          </p:cNvSpPr>
          <p:nvPr/>
        </p:nvSpPr>
        <p:spPr bwMode="auto">
          <a:xfrm>
            <a:off x="2001838" y="35544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65" name="Line 14"/>
          <p:cNvSpPr>
            <a:spLocks noChangeShapeType="1"/>
          </p:cNvSpPr>
          <p:nvPr/>
        </p:nvSpPr>
        <p:spPr bwMode="auto">
          <a:xfrm>
            <a:off x="2763838" y="372745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66" name="Line 15"/>
          <p:cNvSpPr>
            <a:spLocks noChangeShapeType="1"/>
          </p:cNvSpPr>
          <p:nvPr/>
        </p:nvSpPr>
        <p:spPr bwMode="auto">
          <a:xfrm>
            <a:off x="2763838" y="39354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67" name="Line 16"/>
          <p:cNvSpPr>
            <a:spLocks noChangeShapeType="1"/>
          </p:cNvSpPr>
          <p:nvPr/>
        </p:nvSpPr>
        <p:spPr bwMode="auto">
          <a:xfrm>
            <a:off x="2763838" y="44688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68" name="Line 17"/>
          <p:cNvSpPr>
            <a:spLocks noChangeShapeType="1"/>
          </p:cNvSpPr>
          <p:nvPr/>
        </p:nvSpPr>
        <p:spPr bwMode="auto">
          <a:xfrm>
            <a:off x="2840038" y="532765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69" name="Line 18"/>
          <p:cNvSpPr>
            <a:spLocks noChangeShapeType="1"/>
          </p:cNvSpPr>
          <p:nvPr/>
        </p:nvSpPr>
        <p:spPr bwMode="auto">
          <a:xfrm>
            <a:off x="2840038" y="555625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70" name="Line 19"/>
          <p:cNvSpPr>
            <a:spLocks noChangeShapeType="1"/>
          </p:cNvSpPr>
          <p:nvPr/>
        </p:nvSpPr>
        <p:spPr bwMode="auto">
          <a:xfrm>
            <a:off x="2840038" y="608965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71" name="Line 20"/>
          <p:cNvSpPr>
            <a:spLocks noChangeShapeType="1"/>
          </p:cNvSpPr>
          <p:nvPr/>
        </p:nvSpPr>
        <p:spPr bwMode="auto">
          <a:xfrm>
            <a:off x="2840038" y="555625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72" name="Text Box 21"/>
          <p:cNvSpPr txBox="1">
            <a:spLocks noChangeArrowheads="1"/>
          </p:cNvSpPr>
          <p:nvPr/>
        </p:nvSpPr>
        <p:spPr bwMode="auto">
          <a:xfrm>
            <a:off x="6421438" y="5465763"/>
            <a:ext cx="1150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0"/>
              <a:t>iostream</a:t>
            </a:r>
            <a:endParaRPr lang="en-US" altLang="zh-CN" sz="2000" i="0"/>
          </a:p>
        </p:txBody>
      </p:sp>
      <p:sp>
        <p:nvSpPr>
          <p:cNvPr id="100373" name="Line 22"/>
          <p:cNvSpPr>
            <a:spLocks noChangeShapeType="1"/>
          </p:cNvSpPr>
          <p:nvPr/>
        </p:nvSpPr>
        <p:spPr bwMode="auto">
          <a:xfrm>
            <a:off x="2763838" y="487045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74" name="Line 23"/>
          <p:cNvSpPr>
            <a:spLocks noChangeShapeType="1"/>
          </p:cNvSpPr>
          <p:nvPr/>
        </p:nvSpPr>
        <p:spPr bwMode="auto">
          <a:xfrm>
            <a:off x="2840038" y="647065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75" name="Line 24"/>
          <p:cNvSpPr>
            <a:spLocks noChangeShapeType="1"/>
          </p:cNvSpPr>
          <p:nvPr/>
        </p:nvSpPr>
        <p:spPr bwMode="auto">
          <a:xfrm>
            <a:off x="5811838" y="487045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76" name="Line 25"/>
          <p:cNvSpPr>
            <a:spLocks noChangeShapeType="1"/>
          </p:cNvSpPr>
          <p:nvPr/>
        </p:nvSpPr>
        <p:spPr bwMode="auto">
          <a:xfrm flipV="1">
            <a:off x="5811838" y="5784850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77" name="Text Box 26"/>
          <p:cNvSpPr txBox="1">
            <a:spLocks noChangeArrowheads="1"/>
          </p:cNvSpPr>
          <p:nvPr/>
        </p:nvSpPr>
        <p:spPr bwMode="auto">
          <a:xfrm>
            <a:off x="7243763" y="5943600"/>
            <a:ext cx="1035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0"/>
              <a:t>fstream</a:t>
            </a:r>
            <a:endParaRPr lang="en-US" altLang="zh-CN" sz="2000" i="0"/>
          </a:p>
        </p:txBody>
      </p:sp>
      <p:sp>
        <p:nvSpPr>
          <p:cNvPr id="100378" name="Text Box 27"/>
          <p:cNvSpPr txBox="1">
            <a:spLocks noChangeArrowheads="1"/>
          </p:cNvSpPr>
          <p:nvPr/>
        </p:nvSpPr>
        <p:spPr bwMode="auto">
          <a:xfrm>
            <a:off x="7289800" y="6384925"/>
            <a:ext cx="124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i="0"/>
              <a:t>strstream</a:t>
            </a:r>
            <a:endParaRPr lang="en-US" altLang="zh-CN" sz="2000" i="0"/>
          </a:p>
        </p:txBody>
      </p:sp>
      <p:sp>
        <p:nvSpPr>
          <p:cNvPr id="100379" name="Line 29"/>
          <p:cNvSpPr>
            <a:spLocks noChangeShapeType="1"/>
          </p:cNvSpPr>
          <p:nvPr/>
        </p:nvSpPr>
        <p:spPr bwMode="auto">
          <a:xfrm>
            <a:off x="6954838" y="61658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80" name="Line 30"/>
          <p:cNvSpPr>
            <a:spLocks noChangeShapeType="1"/>
          </p:cNvSpPr>
          <p:nvPr/>
        </p:nvSpPr>
        <p:spPr bwMode="auto">
          <a:xfrm>
            <a:off x="6954838" y="66278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0381" name="Line 31"/>
          <p:cNvSpPr>
            <a:spLocks noChangeShapeType="1"/>
          </p:cNvSpPr>
          <p:nvPr/>
        </p:nvSpPr>
        <p:spPr bwMode="auto">
          <a:xfrm>
            <a:off x="6934200" y="5867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I/O </a:t>
            </a:r>
            <a:r>
              <a:rPr lang="zh-CN" altLang="en-US" dirty="0"/>
              <a:t>处理</a:t>
            </a:r>
          </a:p>
        </p:txBody>
      </p:sp>
      <p:sp>
        <p:nvSpPr>
          <p:cNvPr id="1024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 eaLnBrk="1" hangingPunct="1"/>
            <a:r>
              <a:rPr lang="en-GB" altLang="zh-CN">
                <a:latin typeface="SimSun" charset="-122"/>
              </a:rPr>
              <a:t>I/O</a:t>
            </a:r>
            <a:r>
              <a:rPr lang="en-GB" altLang="en-US">
                <a:latin typeface="SimSun" charset="-122"/>
              </a:rPr>
              <a:t>流库</a:t>
            </a:r>
            <a:r>
              <a:rPr lang="zh-CN" altLang="en-US">
                <a:latin typeface="SimSun" charset="-122"/>
              </a:rPr>
              <a:t>的</a:t>
            </a:r>
            <a:r>
              <a:rPr lang="en-US" altLang="en-GB">
                <a:latin typeface="SimSun" charset="-122"/>
              </a:rPr>
              <a:t>三类输入/输出操作</a:t>
            </a:r>
            <a:endParaRPr lang="en-US" altLang="en-GB"/>
          </a:p>
          <a:p>
            <a:pPr lvl="2" algn="just" eaLnBrk="1" hangingPunct="1"/>
            <a:r>
              <a:rPr lang="en-GB" altLang="en-US">
                <a:latin typeface="SimSun" charset="-122"/>
              </a:rPr>
              <a:t>控制台</a:t>
            </a:r>
            <a:r>
              <a:rPr lang="en-GB" altLang="zh-CN">
                <a:latin typeface="SimSun" charset="-122"/>
              </a:rPr>
              <a:t>I/O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>
                <a:latin typeface="SimSun" charset="-122"/>
              </a:rPr>
              <a:t>	</a:t>
            </a:r>
            <a:r>
              <a:rPr lang="zh-CN" altLang="en-GB">
                <a:latin typeface="SimSun" charset="-122"/>
              </a:rPr>
              <a:t>标准</a:t>
            </a:r>
            <a:r>
              <a:rPr lang="en-GB" altLang="zh-CN">
                <a:latin typeface="SimSun" charset="-122"/>
              </a:rPr>
              <a:t>I/O</a:t>
            </a:r>
            <a:r>
              <a:rPr lang="zh-CN" altLang="en-GB">
                <a:latin typeface="SimSun" charset="-122"/>
              </a:rPr>
              <a:t>设备</a:t>
            </a:r>
          </a:p>
          <a:p>
            <a:pPr lvl="3" algn="just" eaLnBrk="1" hangingPunct="1"/>
            <a:r>
              <a:rPr lang="en-GB" altLang="zh-CN" i="1">
                <a:solidFill>
                  <a:schemeClr val="tx2"/>
                </a:solidFill>
              </a:rPr>
              <a:t>cin、cout、cerr、clog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endParaRPr lang="en-US" altLang="en-GB"/>
          </a:p>
          <a:p>
            <a:pPr lvl="2" algn="just" eaLnBrk="1" hangingPunct="1"/>
            <a:r>
              <a:rPr lang="en-GB" altLang="en-US">
                <a:latin typeface="SimSun" charset="-122"/>
              </a:rPr>
              <a:t>文件</a:t>
            </a:r>
            <a:r>
              <a:rPr lang="en-GB" altLang="zh-CN">
                <a:latin typeface="SimSun" charset="-122"/>
              </a:rPr>
              <a:t>I/O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>
                <a:latin typeface="SimSun" charset="-122"/>
              </a:rPr>
              <a:t>	</a:t>
            </a:r>
            <a:endParaRPr lang="en-GB" altLang="en-US"/>
          </a:p>
          <a:p>
            <a:pPr lvl="2" algn="just" eaLnBrk="1" hangingPunct="1"/>
            <a:r>
              <a:rPr lang="en-GB" altLang="en-US">
                <a:latin typeface="SimSun" charset="-122"/>
              </a:rPr>
              <a:t>字符串</a:t>
            </a:r>
            <a:r>
              <a:rPr lang="en-GB" altLang="zh-CN">
                <a:latin typeface="SimSun" charset="-122"/>
              </a:rPr>
              <a:t>I/O		</a:t>
            </a:r>
            <a:endParaRPr lang="zh-CN" altLang="en-US" b="1">
              <a:latin typeface="SimSun" charset="-122"/>
            </a:endParaRP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重定向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017712"/>
            <a:ext cx="8559552" cy="465164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</a:pPr>
            <a:r>
              <a:rPr lang="en-US" sz="1600" i="1" dirty="0" err="1">
                <a:solidFill>
                  <a:schemeClr val="tx2"/>
                </a:solidFill>
              </a:rPr>
              <a:t>ifstream</a:t>
            </a:r>
            <a:r>
              <a:rPr lang="en-US" sz="1600" i="1" dirty="0">
                <a:solidFill>
                  <a:schemeClr val="tx2"/>
                </a:solidFill>
              </a:rPr>
              <a:t> in(“</a:t>
            </a:r>
            <a:r>
              <a:rPr lang="en-US" sz="1600" i="1" dirty="0" err="1">
                <a:solidFill>
                  <a:schemeClr val="tx2"/>
                </a:solidFill>
              </a:rPr>
              <a:t>in.txt</a:t>
            </a:r>
            <a:r>
              <a:rPr lang="en-US" sz="1600" i="1" dirty="0">
                <a:solidFill>
                  <a:schemeClr val="tx2"/>
                </a:solidFill>
              </a:rPr>
              <a:t>”);</a:t>
            </a:r>
            <a:br>
              <a:rPr lang="en-US" sz="1600" i="1" dirty="0">
                <a:solidFill>
                  <a:schemeClr val="tx2"/>
                </a:solidFill>
              </a:rPr>
            </a:br>
            <a:r>
              <a:rPr lang="en-US" sz="1600" i="1" dirty="0" err="1">
                <a:solidFill>
                  <a:schemeClr val="tx2"/>
                </a:solidFill>
              </a:rPr>
              <a:t>streambuf</a:t>
            </a:r>
            <a:r>
              <a:rPr lang="en-US" sz="1600" i="1" dirty="0">
                <a:solidFill>
                  <a:schemeClr val="tx2"/>
                </a:solidFill>
              </a:rPr>
              <a:t> *</a:t>
            </a:r>
            <a:r>
              <a:rPr lang="en-US" sz="1600" i="1" dirty="0" err="1">
                <a:solidFill>
                  <a:schemeClr val="tx2"/>
                </a:solidFill>
              </a:rPr>
              <a:t>cinbuf</a:t>
            </a:r>
            <a:r>
              <a:rPr lang="en-US" sz="1600" i="1" dirty="0">
                <a:solidFill>
                  <a:schemeClr val="tx2"/>
                </a:solidFill>
              </a:rPr>
              <a:t> = </a:t>
            </a:r>
            <a:r>
              <a:rPr lang="en-US" sz="1600" i="1" dirty="0" err="1">
                <a:solidFill>
                  <a:schemeClr val="tx2"/>
                </a:solidFill>
              </a:rPr>
              <a:t>cin.rdbuf</a:t>
            </a:r>
            <a:r>
              <a:rPr lang="en-US" sz="1600" i="1" dirty="0">
                <a:solidFill>
                  <a:schemeClr val="tx2"/>
                </a:solidFill>
              </a:rPr>
              <a:t>(); //save old </a:t>
            </a:r>
            <a:r>
              <a:rPr lang="en-US" sz="1600" i="1" dirty="0" err="1">
                <a:solidFill>
                  <a:schemeClr val="tx2"/>
                </a:solidFill>
              </a:rPr>
              <a:t>buf</a:t>
            </a:r>
            <a:r>
              <a:rPr lang="en-US" sz="1600" i="1" dirty="0">
                <a:solidFill>
                  <a:schemeClr val="tx2"/>
                </a:solidFill>
              </a:rPr>
              <a:t> </a:t>
            </a:r>
            <a:br>
              <a:rPr lang="en-US" sz="1600" i="1" dirty="0">
                <a:solidFill>
                  <a:schemeClr val="tx2"/>
                </a:solidFill>
              </a:rPr>
            </a:br>
            <a:r>
              <a:rPr lang="en-US" sz="1600" i="1" dirty="0" err="1">
                <a:solidFill>
                  <a:schemeClr val="tx2"/>
                </a:solidFill>
              </a:rPr>
              <a:t>cin.rdbuf</a:t>
            </a:r>
            <a:r>
              <a:rPr lang="en-US" sz="1600" i="1" dirty="0">
                <a:solidFill>
                  <a:schemeClr val="tx2"/>
                </a:solidFill>
              </a:rPr>
              <a:t>(</a:t>
            </a:r>
            <a:r>
              <a:rPr lang="en-US" sz="1600" i="1" dirty="0" err="1">
                <a:solidFill>
                  <a:schemeClr val="tx2"/>
                </a:solidFill>
              </a:rPr>
              <a:t>in.rdbuf</a:t>
            </a:r>
            <a:r>
              <a:rPr lang="en-US" sz="1600" i="1" dirty="0">
                <a:solidFill>
                  <a:schemeClr val="tx2"/>
                </a:solidFill>
              </a:rPr>
              <a:t>()); //redirect</a:t>
            </a:r>
            <a:r>
              <a:rPr lang="zh-CN" altLang="en-US" sz="1600" i="1" dirty="0">
                <a:solidFill>
                  <a:schemeClr val="tx2"/>
                </a:solidFill>
              </a:rPr>
              <a:t> </a:t>
            </a:r>
            <a:r>
              <a:rPr lang="en-US" sz="1600" i="1" dirty="0" err="1">
                <a:solidFill>
                  <a:schemeClr val="tx2"/>
                </a:solidFill>
              </a:rPr>
              <a:t>cin</a:t>
            </a:r>
            <a:r>
              <a:rPr lang="en-US" sz="1600" i="1" dirty="0">
                <a:solidFill>
                  <a:schemeClr val="tx2"/>
                </a:solidFill>
              </a:rPr>
              <a:t> to </a:t>
            </a:r>
            <a:r>
              <a:rPr lang="en-US" sz="1600" i="1" dirty="0" err="1">
                <a:solidFill>
                  <a:schemeClr val="tx2"/>
                </a:solidFill>
              </a:rPr>
              <a:t>in.txt</a:t>
            </a:r>
            <a:r>
              <a:rPr lang="en-US" sz="1600" i="1" dirty="0">
                <a:solidFill>
                  <a:schemeClr val="tx2"/>
                </a:solidFill>
              </a:rPr>
              <a:t>! </a:t>
            </a:r>
            <a:br>
              <a:rPr lang="en-US" sz="1600" i="1" dirty="0">
                <a:solidFill>
                  <a:schemeClr val="tx2"/>
                </a:solidFill>
              </a:rPr>
            </a:br>
            <a:r>
              <a:rPr lang="en-US" sz="1600" i="1" dirty="0" err="1">
                <a:solidFill>
                  <a:schemeClr val="tx2"/>
                </a:solidFill>
              </a:rPr>
              <a:t>ofstream</a:t>
            </a:r>
            <a:r>
              <a:rPr lang="en-US" sz="1600" i="1" dirty="0">
                <a:solidFill>
                  <a:schemeClr val="tx2"/>
                </a:solidFill>
              </a:rPr>
              <a:t> out("</a:t>
            </a:r>
            <a:r>
              <a:rPr lang="en-US" sz="1600" i="1" dirty="0" err="1">
                <a:solidFill>
                  <a:schemeClr val="tx2"/>
                </a:solidFill>
              </a:rPr>
              <a:t>out.txt</a:t>
            </a:r>
            <a:r>
              <a:rPr lang="en-US" sz="1600" i="1" dirty="0">
                <a:solidFill>
                  <a:schemeClr val="tx2"/>
                </a:solidFill>
              </a:rPr>
              <a:t>"); </a:t>
            </a:r>
            <a:br>
              <a:rPr lang="en-US" sz="1600" i="1" dirty="0">
                <a:solidFill>
                  <a:schemeClr val="tx2"/>
                </a:solidFill>
              </a:rPr>
            </a:br>
            <a:r>
              <a:rPr lang="en-US" sz="1600" i="1" dirty="0" err="1">
                <a:solidFill>
                  <a:schemeClr val="tx2"/>
                </a:solidFill>
              </a:rPr>
              <a:t>streambuf</a:t>
            </a:r>
            <a:r>
              <a:rPr lang="en-US" sz="1600" i="1" dirty="0">
                <a:solidFill>
                  <a:schemeClr val="tx2"/>
                </a:solidFill>
              </a:rPr>
              <a:t> *</a:t>
            </a:r>
            <a:r>
              <a:rPr lang="en-US" sz="1600" i="1" dirty="0" err="1">
                <a:solidFill>
                  <a:schemeClr val="tx2"/>
                </a:solidFill>
              </a:rPr>
              <a:t>coutbuf</a:t>
            </a:r>
            <a:r>
              <a:rPr lang="en-US" sz="1600" i="1" dirty="0">
                <a:solidFill>
                  <a:schemeClr val="tx2"/>
                </a:solidFill>
              </a:rPr>
              <a:t> = </a:t>
            </a:r>
            <a:r>
              <a:rPr lang="en-US" sz="1600" i="1" dirty="0" err="1">
                <a:solidFill>
                  <a:schemeClr val="tx2"/>
                </a:solidFill>
              </a:rPr>
              <a:t>cout.rdbuf</a:t>
            </a:r>
            <a:r>
              <a:rPr lang="en-US" sz="1600" i="1" dirty="0">
                <a:solidFill>
                  <a:schemeClr val="tx2"/>
                </a:solidFill>
              </a:rPr>
              <a:t>(); //save old </a:t>
            </a:r>
            <a:r>
              <a:rPr lang="en-US" sz="1600" i="1" dirty="0" err="1">
                <a:solidFill>
                  <a:schemeClr val="tx2"/>
                </a:solidFill>
              </a:rPr>
              <a:t>buf</a:t>
            </a:r>
            <a:r>
              <a:rPr lang="en-US" sz="1600" i="1" dirty="0">
                <a:solidFill>
                  <a:schemeClr val="tx2"/>
                </a:solidFill>
              </a:rPr>
              <a:t> </a:t>
            </a:r>
            <a:br>
              <a:rPr lang="en-US" sz="1600" i="1" dirty="0">
                <a:solidFill>
                  <a:schemeClr val="tx2"/>
                </a:solidFill>
              </a:rPr>
            </a:br>
            <a:r>
              <a:rPr lang="en-US" sz="1600" i="1" dirty="0" err="1">
                <a:solidFill>
                  <a:schemeClr val="tx2"/>
                </a:solidFill>
              </a:rPr>
              <a:t>cout.rdbuf</a:t>
            </a:r>
            <a:r>
              <a:rPr lang="en-US" sz="1600" i="1" dirty="0">
                <a:solidFill>
                  <a:schemeClr val="tx2"/>
                </a:solidFill>
              </a:rPr>
              <a:t>(</a:t>
            </a:r>
            <a:r>
              <a:rPr lang="en-US" sz="1600" i="1" dirty="0" err="1">
                <a:solidFill>
                  <a:schemeClr val="tx2"/>
                </a:solidFill>
              </a:rPr>
              <a:t>out.rdbuf</a:t>
            </a:r>
            <a:r>
              <a:rPr lang="en-US" sz="1600" i="1" dirty="0">
                <a:solidFill>
                  <a:schemeClr val="tx2"/>
                </a:solidFill>
              </a:rPr>
              <a:t>()); //redirect </a:t>
            </a:r>
            <a:r>
              <a:rPr lang="en-US" sz="1600" i="1" dirty="0" err="1">
                <a:solidFill>
                  <a:schemeClr val="tx2"/>
                </a:solidFill>
              </a:rPr>
              <a:t>cout</a:t>
            </a:r>
            <a:r>
              <a:rPr lang="en-US" sz="1600" i="1" dirty="0">
                <a:solidFill>
                  <a:schemeClr val="tx2"/>
                </a:solidFill>
              </a:rPr>
              <a:t> to </a:t>
            </a:r>
            <a:r>
              <a:rPr lang="en-US" sz="1600" i="1" dirty="0" err="1">
                <a:solidFill>
                  <a:schemeClr val="tx2"/>
                </a:solidFill>
              </a:rPr>
              <a:t>out.txt</a:t>
            </a:r>
            <a:r>
              <a:rPr lang="en-US" sz="1600" i="1" dirty="0">
                <a:solidFill>
                  <a:schemeClr val="tx2"/>
                </a:solidFill>
              </a:rPr>
              <a:t>! </a:t>
            </a:r>
            <a:br>
              <a:rPr lang="en-US" sz="1600" i="1" dirty="0">
                <a:solidFill>
                  <a:schemeClr val="tx2"/>
                </a:solidFill>
              </a:rPr>
            </a:br>
            <a:r>
              <a:rPr lang="en-US" sz="1600" i="1" dirty="0">
                <a:solidFill>
                  <a:schemeClr val="tx2"/>
                </a:solidFill>
              </a:rPr>
              <a:t>string word; </a:t>
            </a:r>
            <a:r>
              <a:rPr lang="en-US" sz="1600" i="1" dirty="0" err="1">
                <a:solidFill>
                  <a:schemeClr val="tx2"/>
                </a:solidFill>
              </a:rPr>
              <a:t>cin</a:t>
            </a:r>
            <a:r>
              <a:rPr lang="en-US" sz="1600" i="1" dirty="0">
                <a:solidFill>
                  <a:schemeClr val="tx2"/>
                </a:solidFill>
              </a:rPr>
              <a:t> &gt;&gt; word; //input from the file </a:t>
            </a:r>
            <a:r>
              <a:rPr lang="en-US" sz="1600" i="1" dirty="0" err="1">
                <a:solidFill>
                  <a:schemeClr val="tx2"/>
                </a:solidFill>
              </a:rPr>
              <a:t>in.txt</a:t>
            </a:r>
            <a:r>
              <a:rPr lang="en-US" sz="1600" i="1" dirty="0">
                <a:solidFill>
                  <a:schemeClr val="tx2"/>
                </a:solidFill>
              </a:rPr>
              <a:t> </a:t>
            </a:r>
            <a:br>
              <a:rPr lang="en-US" sz="1600" i="1" dirty="0">
                <a:solidFill>
                  <a:schemeClr val="tx2"/>
                </a:solidFill>
              </a:rPr>
            </a:br>
            <a:r>
              <a:rPr lang="en-US" sz="1600" i="1" dirty="0" err="1">
                <a:solidFill>
                  <a:schemeClr val="tx2"/>
                </a:solidFill>
              </a:rPr>
              <a:t>cout</a:t>
            </a:r>
            <a:r>
              <a:rPr lang="en-US" sz="1600" i="1" dirty="0">
                <a:solidFill>
                  <a:schemeClr val="tx2"/>
                </a:solidFill>
              </a:rPr>
              <a:t> &lt;&lt; word &lt;&lt; " "; //output to the file </a:t>
            </a:r>
            <a:r>
              <a:rPr lang="en-US" sz="1600" i="1" dirty="0" err="1">
                <a:solidFill>
                  <a:schemeClr val="tx2"/>
                </a:solidFill>
              </a:rPr>
              <a:t>out.txt</a:t>
            </a:r>
            <a:r>
              <a:rPr lang="en-US" sz="1600" i="1" dirty="0">
                <a:solidFill>
                  <a:schemeClr val="tx2"/>
                </a:solidFill>
              </a:rPr>
              <a:t> </a:t>
            </a:r>
            <a:br>
              <a:rPr lang="en-US" sz="1600" i="1" dirty="0">
                <a:solidFill>
                  <a:schemeClr val="tx2"/>
                </a:solidFill>
              </a:rPr>
            </a:br>
            <a:r>
              <a:rPr lang="en-US" sz="1600" i="1" dirty="0" err="1">
                <a:solidFill>
                  <a:schemeClr val="tx2"/>
                </a:solidFill>
              </a:rPr>
              <a:t>cin.rdbuf</a:t>
            </a:r>
            <a:r>
              <a:rPr lang="en-US" sz="1600" i="1" dirty="0">
                <a:solidFill>
                  <a:schemeClr val="tx2"/>
                </a:solidFill>
              </a:rPr>
              <a:t>(</a:t>
            </a:r>
            <a:r>
              <a:rPr lang="en-US" sz="1600" i="1" dirty="0" err="1">
                <a:solidFill>
                  <a:schemeClr val="tx2"/>
                </a:solidFill>
              </a:rPr>
              <a:t>cinbuf</a:t>
            </a:r>
            <a:r>
              <a:rPr lang="en-US" sz="1600" i="1" dirty="0">
                <a:solidFill>
                  <a:schemeClr val="tx2"/>
                </a:solidFill>
              </a:rPr>
              <a:t>); //reset to standard input again </a:t>
            </a:r>
            <a:br>
              <a:rPr lang="en-US" sz="1600" i="1" dirty="0">
                <a:solidFill>
                  <a:schemeClr val="tx2"/>
                </a:solidFill>
              </a:rPr>
            </a:br>
            <a:r>
              <a:rPr lang="en-US" sz="1600" i="1" dirty="0" err="1">
                <a:solidFill>
                  <a:schemeClr val="tx2"/>
                </a:solidFill>
              </a:rPr>
              <a:t>cout.rdbuf</a:t>
            </a:r>
            <a:r>
              <a:rPr lang="en-US" sz="1600" i="1" dirty="0">
                <a:solidFill>
                  <a:schemeClr val="tx2"/>
                </a:solidFill>
              </a:rPr>
              <a:t>(</a:t>
            </a:r>
            <a:r>
              <a:rPr lang="en-US" sz="1600" i="1" dirty="0" err="1">
                <a:solidFill>
                  <a:schemeClr val="tx2"/>
                </a:solidFill>
              </a:rPr>
              <a:t>coutbuf</a:t>
            </a:r>
            <a:r>
              <a:rPr lang="en-US" sz="1600" i="1" dirty="0">
                <a:solidFill>
                  <a:schemeClr val="tx2"/>
                </a:solidFill>
              </a:rPr>
              <a:t>); //reset to standard output again</a:t>
            </a:r>
            <a:br>
              <a:rPr lang="en-US" sz="1600" i="1" dirty="0">
                <a:solidFill>
                  <a:schemeClr val="tx2"/>
                </a:solidFill>
              </a:rPr>
            </a:br>
            <a:r>
              <a:rPr lang="en-US" sz="1600" i="1" dirty="0" err="1">
                <a:solidFill>
                  <a:schemeClr val="tx2"/>
                </a:solidFill>
              </a:rPr>
              <a:t>cin</a:t>
            </a:r>
            <a:r>
              <a:rPr lang="en-US" sz="1600" i="1" dirty="0">
                <a:solidFill>
                  <a:schemeClr val="tx2"/>
                </a:solidFill>
              </a:rPr>
              <a:t> &gt;&gt; word; //input from the standard input</a:t>
            </a:r>
            <a:br>
              <a:rPr lang="en-US" sz="1600" i="1" dirty="0">
                <a:solidFill>
                  <a:schemeClr val="tx2"/>
                </a:solidFill>
              </a:rPr>
            </a:br>
            <a:r>
              <a:rPr lang="en-US" sz="1600" i="1" dirty="0" err="1">
                <a:solidFill>
                  <a:schemeClr val="tx2"/>
                </a:solidFill>
              </a:rPr>
              <a:t>cout</a:t>
            </a:r>
            <a:r>
              <a:rPr lang="en-US" sz="1600" i="1" dirty="0">
                <a:solidFill>
                  <a:schemeClr val="tx2"/>
                </a:solidFill>
              </a:rPr>
              <a:t> &lt;&lt; word; //output to the standard input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I/O </a:t>
            </a:r>
            <a:r>
              <a:rPr lang="zh-CN" altLang="en-US"/>
              <a:t>处理</a:t>
            </a:r>
          </a:p>
        </p:txBody>
      </p:sp>
      <p:sp>
        <p:nvSpPr>
          <p:cNvPr id="1034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 eaLnBrk="1" hangingPunct="1"/>
            <a:r>
              <a:rPr lang="en-GB" altLang="en-US">
                <a:latin typeface="SimSun" charset="-122"/>
              </a:rPr>
              <a:t>操作符</a:t>
            </a:r>
            <a:r>
              <a:rPr lang="en-GB" altLang="en-US" sz="2400" i="1">
                <a:solidFill>
                  <a:schemeClr val="tx2"/>
                </a:solidFill>
              </a:rPr>
              <a:t>&lt;&lt;</a:t>
            </a:r>
            <a:r>
              <a:rPr lang="en-GB" altLang="en-US">
                <a:latin typeface="SimSun" charset="-122"/>
              </a:rPr>
              <a:t>和</a:t>
            </a:r>
            <a:r>
              <a:rPr lang="en-GB" altLang="en-US" sz="2400" i="1">
                <a:solidFill>
                  <a:schemeClr val="tx2"/>
                </a:solidFill>
              </a:rPr>
              <a:t>&gt;&gt;</a:t>
            </a:r>
            <a:r>
              <a:rPr lang="en-GB" altLang="en-US">
                <a:latin typeface="SimSun" charset="-122"/>
              </a:rPr>
              <a:t>重载</a:t>
            </a:r>
          </a:p>
          <a:p>
            <a:pPr lvl="2" algn="just" eaLnBrk="1" hangingPunct="1"/>
            <a:r>
              <a:rPr lang="en-GB" altLang="en-US">
                <a:latin typeface="SimSun" charset="-122"/>
              </a:rPr>
              <a:t>对自定义类</a:t>
            </a:r>
            <a:r>
              <a:rPr lang="en-GB" altLang="zh-CN">
                <a:latin typeface="SimSun" charset="-122"/>
              </a:rPr>
              <a:t>的</a:t>
            </a:r>
            <a:r>
              <a:rPr lang="en-GB" altLang="en-US">
                <a:latin typeface="SimSun" charset="-122"/>
              </a:rPr>
              <a:t>对象</a:t>
            </a:r>
            <a:r>
              <a:rPr lang="en-US" altLang="zh-CN">
                <a:latin typeface="SimSun" charset="-122"/>
              </a:rPr>
              <a:t>的</a:t>
            </a:r>
            <a:r>
              <a:rPr lang="en-GB" altLang="en-US">
                <a:latin typeface="SimSun" charset="-122"/>
              </a:rPr>
              <a:t>I/O</a:t>
            </a:r>
          </a:p>
          <a:p>
            <a:pPr lvl="2" algn="just" eaLnBrk="1" hangingPunct="1"/>
            <a:r>
              <a:rPr lang="en-GB" altLang="en-US">
                <a:latin typeface="SimSun" charset="-122"/>
              </a:rPr>
              <a:t>全局(友元)函数重载</a:t>
            </a:r>
            <a:endParaRPr lang="zh-CN" altLang="en-US">
              <a:latin typeface="SimSun" charset="-122"/>
            </a:endParaRPr>
          </a:p>
        </p:txBody>
      </p:sp>
      <p:sp>
        <p:nvSpPr>
          <p:cNvPr id="148484" name="Text Box 4"/>
          <p:cNvSpPr txBox="1">
            <a:spLocks noChangeArrowheads="1"/>
          </p:cNvSpPr>
          <p:nvPr/>
        </p:nvSpPr>
        <p:spPr bwMode="auto">
          <a:xfrm>
            <a:off x="202770" y="3479800"/>
            <a:ext cx="5472973" cy="2634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class   CPoint2D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{     double   x,  y;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  public: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      friend </a:t>
            </a:r>
            <a:r>
              <a:rPr lang="en-GB" altLang="zh-CN" sz="1400" b="1" dirty="0" err="1">
                <a:solidFill>
                  <a:schemeClr val="tx2"/>
                </a:solidFill>
              </a:rPr>
              <a:t>ostream</a:t>
            </a:r>
            <a:r>
              <a:rPr lang="en-GB" altLang="zh-CN" sz="1400" b="1" dirty="0">
                <a:solidFill>
                  <a:schemeClr val="tx2"/>
                </a:solidFill>
              </a:rPr>
              <a:t>&amp; operator &lt;&lt; (</a:t>
            </a:r>
            <a:r>
              <a:rPr lang="en-GB" altLang="zh-CN" sz="1400" b="1" dirty="0" err="1">
                <a:solidFill>
                  <a:schemeClr val="tx2"/>
                </a:solidFill>
              </a:rPr>
              <a:t>ostream</a:t>
            </a:r>
            <a:r>
              <a:rPr lang="en-GB" altLang="zh-CN" sz="1400" b="1" dirty="0">
                <a:solidFill>
                  <a:schemeClr val="tx2"/>
                </a:solidFill>
              </a:rPr>
              <a:t>&amp;, CPoint2D &amp;);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};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 err="1">
                <a:solidFill>
                  <a:schemeClr val="tx2"/>
                </a:solidFill>
              </a:rPr>
              <a:t>ostream</a:t>
            </a:r>
            <a:r>
              <a:rPr lang="en-GB" altLang="zh-CN" sz="1400" b="1" dirty="0">
                <a:solidFill>
                  <a:schemeClr val="tx2"/>
                </a:solidFill>
              </a:rPr>
              <a:t>&amp; operator &lt;&lt; (</a:t>
            </a:r>
            <a:r>
              <a:rPr lang="en-GB" altLang="zh-CN" sz="1400" b="1" dirty="0" err="1">
                <a:solidFill>
                  <a:schemeClr val="tx2"/>
                </a:solidFill>
              </a:rPr>
              <a:t>ostream</a:t>
            </a:r>
            <a:r>
              <a:rPr lang="en-GB" altLang="zh-CN" sz="1400" b="1" dirty="0">
                <a:solidFill>
                  <a:schemeClr val="tx2"/>
                </a:solidFill>
              </a:rPr>
              <a:t>&amp; out,  CPoint2D&amp; a)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{ 	out &lt;&lt; </a:t>
            </a:r>
            <a:r>
              <a:rPr lang="en-GB" altLang="zh-CN" sz="1400" b="1" dirty="0" err="1">
                <a:solidFill>
                  <a:schemeClr val="tx2"/>
                </a:solidFill>
              </a:rPr>
              <a:t>a.x</a:t>
            </a:r>
            <a:r>
              <a:rPr lang="en-GB" altLang="zh-CN" sz="1400" b="1" dirty="0">
                <a:solidFill>
                  <a:schemeClr val="tx2"/>
                </a:solidFill>
              </a:rPr>
              <a:t> &lt;&lt; “,” &lt;&lt; </a:t>
            </a:r>
            <a:r>
              <a:rPr lang="en-GB" altLang="zh-CN" sz="1400" b="1" dirty="0" err="1">
                <a:solidFill>
                  <a:schemeClr val="tx2"/>
                </a:solidFill>
              </a:rPr>
              <a:t>a.y</a:t>
            </a:r>
            <a:r>
              <a:rPr lang="en-GB" altLang="zh-CN" sz="1400" b="1" dirty="0">
                <a:solidFill>
                  <a:schemeClr val="tx2"/>
                </a:solidFill>
              </a:rPr>
              <a:t> &lt;&lt; </a:t>
            </a:r>
            <a:r>
              <a:rPr lang="en-GB" altLang="zh-CN" sz="1400" b="1" dirty="0" err="1">
                <a:solidFill>
                  <a:schemeClr val="tx2"/>
                </a:solidFill>
              </a:rPr>
              <a:t>endl</a:t>
            </a:r>
            <a:r>
              <a:rPr lang="en-GB" altLang="zh-CN" sz="1400" b="1" dirty="0">
                <a:solidFill>
                  <a:schemeClr val="tx2"/>
                </a:solidFill>
              </a:rPr>
              <a:t>;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	return out;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}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…   	CPoint2D   a;	</a:t>
            </a:r>
            <a:r>
              <a:rPr lang="en-GB" altLang="zh-CN" sz="1400" b="1" dirty="0" err="1">
                <a:solidFill>
                  <a:schemeClr val="tx2"/>
                </a:solidFill>
              </a:rPr>
              <a:t>cout</a:t>
            </a:r>
            <a:r>
              <a:rPr lang="en-GB" altLang="zh-CN" sz="1400" b="1" dirty="0">
                <a:solidFill>
                  <a:schemeClr val="tx2"/>
                </a:solidFill>
              </a:rPr>
              <a:t> &lt;&lt; a;</a:t>
            </a:r>
            <a:endParaRPr lang="zh-CN" altLang="en-US" sz="1400" b="1" dirty="0">
              <a:solidFill>
                <a:schemeClr val="tx2"/>
              </a:solidFill>
            </a:endParaRPr>
          </a:p>
        </p:txBody>
      </p:sp>
      <p:sp>
        <p:nvSpPr>
          <p:cNvPr id="148485" name="Text Box 5"/>
          <p:cNvSpPr txBox="1">
            <a:spLocks noChangeArrowheads="1"/>
          </p:cNvSpPr>
          <p:nvPr/>
        </p:nvSpPr>
        <p:spPr bwMode="auto">
          <a:xfrm>
            <a:off x="5791200" y="3074988"/>
            <a:ext cx="3109913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class CPoint3D:  public CPoint2D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 {   double z;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      …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  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};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…...</a:t>
            </a:r>
          </a:p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chemeClr val="tx2"/>
                </a:solidFill>
              </a:rPr>
              <a:t> CPoint3D  b;    </a:t>
            </a:r>
            <a:r>
              <a:rPr lang="en-GB" altLang="zh-CN" sz="1400" b="1" dirty="0" err="1">
                <a:solidFill>
                  <a:schemeClr val="tx2"/>
                </a:solidFill>
              </a:rPr>
              <a:t>cout</a:t>
            </a:r>
            <a:r>
              <a:rPr lang="en-GB" altLang="zh-CN" sz="1400" b="1" dirty="0">
                <a:solidFill>
                  <a:schemeClr val="tx2"/>
                </a:solidFill>
              </a:rPr>
              <a:t>  &lt;&lt;  b;</a:t>
            </a:r>
            <a:r>
              <a:rPr lang="en-GB" altLang="zh-CN" sz="2000" b="1" dirty="0">
                <a:solidFill>
                  <a:schemeClr val="accent2"/>
                </a:solidFill>
                <a:latin typeface="Times New Roman" panose="02020603050405020304" charset="0"/>
              </a:rPr>
              <a:t>       </a:t>
            </a:r>
            <a:endParaRPr lang="zh-CN" altLang="en-US" sz="2000" b="1" dirty="0">
              <a:solidFill>
                <a:schemeClr val="accent2"/>
              </a:solidFill>
              <a:latin typeface="Times New Roman" panose="02020603050405020304" charset="0"/>
            </a:endParaRPr>
          </a:p>
        </p:txBody>
      </p:sp>
      <p:sp>
        <p:nvSpPr>
          <p:cNvPr id="148486" name="Text Box 6"/>
          <p:cNvSpPr txBox="1">
            <a:spLocks noChangeArrowheads="1"/>
          </p:cNvSpPr>
          <p:nvPr/>
        </p:nvSpPr>
        <p:spPr bwMode="auto">
          <a:xfrm>
            <a:off x="5703888" y="5334000"/>
            <a:ext cx="3182937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sz="1800" i="0">
                <a:latin typeface="SimSun" charset="-122"/>
              </a:rPr>
              <a:t>只显示</a:t>
            </a:r>
            <a:r>
              <a:rPr lang="en-GB" altLang="zh-CN" sz="1800"/>
              <a:t>b.x</a:t>
            </a:r>
            <a:r>
              <a:rPr lang="en-GB" altLang="en-US" sz="1800" i="0">
                <a:latin typeface="SimSun" charset="-122"/>
              </a:rPr>
              <a:t>和</a:t>
            </a:r>
            <a:r>
              <a:rPr lang="en-GB" altLang="zh-CN" sz="1800"/>
              <a:t>b.y</a:t>
            </a:r>
            <a:r>
              <a:rPr lang="en-GB" altLang="zh-CN" sz="1800" i="0">
                <a:latin typeface="SimSun" charset="-122"/>
              </a:rPr>
              <a:t>，</a:t>
            </a:r>
            <a:r>
              <a:rPr lang="en-GB" altLang="en-US" sz="1800" i="0">
                <a:latin typeface="SimSun" charset="-122"/>
              </a:rPr>
              <a:t>而没显示</a:t>
            </a:r>
            <a:r>
              <a:rPr lang="en-GB" altLang="zh-CN" sz="1800"/>
              <a:t>b.z</a:t>
            </a:r>
          </a:p>
        </p:txBody>
      </p:sp>
      <p:sp>
        <p:nvSpPr>
          <p:cNvPr id="148488" name="Text Box 8"/>
          <p:cNvSpPr txBox="1">
            <a:spLocks noChangeArrowheads="1"/>
          </p:cNvSpPr>
          <p:nvPr/>
        </p:nvSpPr>
        <p:spPr bwMode="auto">
          <a:xfrm>
            <a:off x="3937989" y="6042025"/>
            <a:ext cx="5179623" cy="82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lang="en-GB" altLang="zh-CN" sz="1400" b="1" dirty="0" err="1">
                <a:solidFill>
                  <a:srgbClr val="006600"/>
                </a:solidFill>
              </a:rPr>
              <a:t>ostream</a:t>
            </a:r>
            <a:r>
              <a:rPr lang="en-GB" altLang="zh-CN" sz="1400" b="1" dirty="0">
                <a:solidFill>
                  <a:srgbClr val="006600"/>
                </a:solidFill>
              </a:rPr>
              <a:t>&amp;   operator &lt;&lt; (</a:t>
            </a:r>
            <a:r>
              <a:rPr lang="en-GB" altLang="zh-CN" sz="1400" b="1" dirty="0" err="1">
                <a:solidFill>
                  <a:srgbClr val="006600"/>
                </a:solidFill>
              </a:rPr>
              <a:t>ostream</a:t>
            </a:r>
            <a:r>
              <a:rPr lang="en-GB" altLang="zh-CN" sz="1400" b="1" dirty="0">
                <a:solidFill>
                  <a:srgbClr val="006600"/>
                </a:solidFill>
              </a:rPr>
              <a:t>&amp; out,  CPoint3D &amp; b)</a:t>
            </a:r>
          </a:p>
          <a:p>
            <a:pPr algn="just" eaLnBrk="1" hangingPunct="1">
              <a:buClrTx/>
              <a:buSzTx/>
              <a:buNone/>
            </a:pPr>
            <a:r>
              <a:rPr lang="en-GB" altLang="zh-CN" sz="1400" b="1" dirty="0">
                <a:solidFill>
                  <a:srgbClr val="006600"/>
                </a:solidFill>
              </a:rPr>
              <a:t>{  out &lt;&lt; </a:t>
            </a:r>
            <a:r>
              <a:rPr lang="en-GB" altLang="zh-CN" sz="1400" b="1" dirty="0" err="1">
                <a:solidFill>
                  <a:srgbClr val="006600"/>
                </a:solidFill>
              </a:rPr>
              <a:t>b.x</a:t>
            </a:r>
            <a:r>
              <a:rPr lang="en-GB" altLang="zh-CN" sz="1400" b="1" dirty="0">
                <a:solidFill>
                  <a:srgbClr val="006600"/>
                </a:solidFill>
              </a:rPr>
              <a:t> &lt;&lt; “,” &lt;&lt; </a:t>
            </a:r>
            <a:r>
              <a:rPr lang="en-GB" altLang="zh-CN" sz="1400" b="1" dirty="0" err="1">
                <a:solidFill>
                  <a:srgbClr val="006600"/>
                </a:solidFill>
              </a:rPr>
              <a:t>b.y</a:t>
            </a:r>
            <a:r>
              <a:rPr lang="en-GB" altLang="zh-CN" sz="1400" b="1" dirty="0">
                <a:solidFill>
                  <a:srgbClr val="006600"/>
                </a:solidFill>
              </a:rPr>
              <a:t> &lt;&lt;“,”  &lt;&lt; </a:t>
            </a:r>
            <a:r>
              <a:rPr lang="en-GB" altLang="zh-CN" sz="1400" b="1" dirty="0" err="1">
                <a:solidFill>
                  <a:srgbClr val="006600"/>
                </a:solidFill>
              </a:rPr>
              <a:t>b.z</a:t>
            </a:r>
            <a:r>
              <a:rPr lang="en-GB" altLang="zh-CN" sz="1400" b="1" dirty="0">
                <a:solidFill>
                  <a:srgbClr val="006600"/>
                </a:solidFill>
              </a:rPr>
              <a:t> &lt;&lt; </a:t>
            </a:r>
            <a:r>
              <a:rPr lang="en-GB" altLang="zh-CN" sz="1400" b="1" dirty="0" err="1">
                <a:solidFill>
                  <a:srgbClr val="006600"/>
                </a:solidFill>
              </a:rPr>
              <a:t>endl</a:t>
            </a:r>
            <a:r>
              <a:rPr lang="en-GB" altLang="zh-CN" sz="1400" b="1" dirty="0">
                <a:solidFill>
                  <a:srgbClr val="006600"/>
                </a:solidFill>
              </a:rPr>
              <a:t>;</a:t>
            </a:r>
          </a:p>
          <a:p>
            <a:pPr lvl="2" algn="just" eaLnBrk="1" hangingPunct="1">
              <a:buClrTx/>
              <a:buSzTx/>
              <a:buFontTx/>
              <a:buNone/>
            </a:pPr>
            <a:r>
              <a:rPr lang="en-GB" altLang="zh-CN" sz="1400" b="1" dirty="0">
                <a:solidFill>
                  <a:srgbClr val="006600"/>
                </a:solidFill>
              </a:rPr>
              <a:t>		return out;     }</a:t>
            </a:r>
            <a:endParaRPr lang="zh-CN" altLang="en-US" sz="1400" b="1" dirty="0">
              <a:solidFill>
                <a:srgbClr val="006600"/>
              </a:solidFill>
            </a:endParaRPr>
          </a:p>
        </p:txBody>
      </p:sp>
      <p:sp>
        <p:nvSpPr>
          <p:cNvPr id="148489" name="Line 9"/>
          <p:cNvSpPr>
            <a:spLocks noChangeShapeType="1"/>
          </p:cNvSpPr>
          <p:nvPr/>
        </p:nvSpPr>
        <p:spPr bwMode="auto">
          <a:xfrm flipV="1">
            <a:off x="7239000" y="49530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490" name="Text Box 10"/>
          <p:cNvSpPr txBox="1">
            <a:spLocks noChangeArrowheads="1"/>
          </p:cNvSpPr>
          <p:nvPr/>
        </p:nvSpPr>
        <p:spPr bwMode="auto">
          <a:xfrm>
            <a:off x="3733800" y="3833813"/>
            <a:ext cx="5368925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400" b="1" dirty="0">
                <a:solidFill>
                  <a:srgbClr val="006600"/>
                </a:solidFill>
              </a:rPr>
              <a:t>friend   </a:t>
            </a:r>
            <a:r>
              <a:rPr lang="en-GB" altLang="zh-CN" sz="1400" b="1" dirty="0" err="1">
                <a:solidFill>
                  <a:srgbClr val="006600"/>
                </a:solidFill>
              </a:rPr>
              <a:t>ostream</a:t>
            </a:r>
            <a:r>
              <a:rPr lang="en-GB" altLang="zh-CN" sz="1400" b="1" dirty="0">
                <a:solidFill>
                  <a:srgbClr val="006600"/>
                </a:solidFill>
              </a:rPr>
              <a:t>&amp;   operator &lt;&lt; (</a:t>
            </a:r>
            <a:r>
              <a:rPr lang="en-GB" altLang="zh-CN" sz="1400" b="1" dirty="0" err="1">
                <a:solidFill>
                  <a:srgbClr val="006600"/>
                </a:solidFill>
              </a:rPr>
              <a:t>ostream</a:t>
            </a:r>
            <a:r>
              <a:rPr lang="en-GB" altLang="zh-CN" sz="1400" b="1" dirty="0">
                <a:solidFill>
                  <a:srgbClr val="006600"/>
                </a:solidFill>
              </a:rPr>
              <a:t> &amp;, CPoint3D &amp;);</a:t>
            </a:r>
            <a:endParaRPr lang="zh-CN" altLang="en-US" sz="1400" b="1" dirty="0">
              <a:solidFill>
                <a:srgbClr val="0066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071938" y="1000125"/>
            <a:ext cx="4840287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</a:rPr>
              <a:t>Virtualizing non-member functions</a:t>
            </a:r>
            <a:endParaRPr lang="zh-CN" altLang="en-US" sz="240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4" grpId="0" autoUpdateAnimBg="0"/>
      <p:bldP spid="148485" grpId="0" autoUpdateAnimBg="0"/>
      <p:bldP spid="148486" grpId="0" autoUpdateAnimBg="0"/>
      <p:bldP spid="148488" grpId="0" autoUpdateAnimBg="0"/>
      <p:bldP spid="148489" grpId="0" animBg="1"/>
      <p:bldP spid="148490" grpId="0" autoUpdateAnimBg="0"/>
      <p:bldP spid="10" grpId="0" build="allAtOnce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I/O </a:t>
            </a:r>
            <a:r>
              <a:rPr lang="zh-CN" altLang="en-US"/>
              <a:t>处理</a:t>
            </a:r>
          </a:p>
        </p:txBody>
      </p:sp>
      <p:sp>
        <p:nvSpPr>
          <p:cNvPr id="10445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0" y="1905000"/>
            <a:ext cx="5943600" cy="5029200"/>
          </a:xfrm>
          <a:noFill/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class CPoint2D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{       double  x,  y;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	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         …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	  virtual void display(</a:t>
            </a:r>
            <a:r>
              <a:rPr lang="en-GB" altLang="zh-CN" sz="1600" i="1" dirty="0" err="1">
                <a:solidFill>
                  <a:schemeClr val="tx2"/>
                </a:solidFill>
              </a:rPr>
              <a:t>ostream</a:t>
            </a:r>
            <a:r>
              <a:rPr lang="en-GB" altLang="zh-CN" sz="1600" i="1" dirty="0">
                <a:solidFill>
                  <a:schemeClr val="tx2"/>
                </a:solidFill>
              </a:rPr>
              <a:t>&amp; out)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	  {   out &lt;&lt; x &lt;&lt; ‘,’ &lt;&lt; y &lt;&lt; </a:t>
            </a:r>
            <a:r>
              <a:rPr lang="en-GB" altLang="zh-CN" sz="1600" i="1" dirty="0" err="1">
                <a:solidFill>
                  <a:schemeClr val="tx2"/>
                </a:solidFill>
              </a:rPr>
              <a:t>endl</a:t>
            </a:r>
            <a:r>
              <a:rPr lang="en-GB" altLang="zh-CN" sz="1600" i="1" dirty="0">
                <a:solidFill>
                  <a:schemeClr val="tx2"/>
                </a:solidFill>
              </a:rPr>
              <a:t>; 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zh-CN" sz="1600" i="1" dirty="0">
              <a:solidFill>
                <a:schemeClr val="tx2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 err="1">
                <a:solidFill>
                  <a:schemeClr val="tx2"/>
                </a:solidFill>
              </a:rPr>
              <a:t>ostream</a:t>
            </a:r>
            <a:r>
              <a:rPr lang="en-GB" altLang="zh-CN" sz="1600" i="1" dirty="0">
                <a:solidFill>
                  <a:schemeClr val="tx2"/>
                </a:solidFill>
              </a:rPr>
              <a:t>&amp; operator &lt;&lt; (</a:t>
            </a:r>
            <a:r>
              <a:rPr lang="en-GB" altLang="zh-CN" sz="1600" i="1" dirty="0" err="1">
                <a:solidFill>
                  <a:schemeClr val="tx2"/>
                </a:solidFill>
              </a:rPr>
              <a:t>ostream</a:t>
            </a:r>
            <a:r>
              <a:rPr lang="en-GB" altLang="zh-CN" sz="1600" i="1" dirty="0">
                <a:solidFill>
                  <a:schemeClr val="tx2"/>
                </a:solidFill>
              </a:rPr>
              <a:t>&amp; out,  CPoint2D &amp;a)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{ 	</a:t>
            </a:r>
            <a:r>
              <a:rPr lang="en-GB" altLang="zh-CN" sz="1600" i="1" dirty="0" err="1">
                <a:solidFill>
                  <a:schemeClr val="tx2"/>
                </a:solidFill>
              </a:rPr>
              <a:t>a.display</a:t>
            </a:r>
            <a:r>
              <a:rPr lang="en-GB" altLang="zh-CN" sz="1600" i="1" dirty="0">
                <a:solidFill>
                  <a:schemeClr val="tx2"/>
                </a:solidFill>
              </a:rPr>
              <a:t>(out); 	return out;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zh-CN" sz="1600" i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class CPoint3D: public CPoint2D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{      double  z;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    public: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       …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        void display(</a:t>
            </a:r>
            <a:r>
              <a:rPr lang="en-GB" altLang="zh-CN" sz="1600" i="1" dirty="0" err="1">
                <a:solidFill>
                  <a:schemeClr val="tx2"/>
                </a:solidFill>
              </a:rPr>
              <a:t>ostream</a:t>
            </a:r>
            <a:r>
              <a:rPr lang="en-GB" altLang="zh-CN" sz="1600" i="1" dirty="0">
                <a:solidFill>
                  <a:schemeClr val="tx2"/>
                </a:solidFill>
              </a:rPr>
              <a:t>&amp; out)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       {    CPoint2D::display();   out &lt;&lt; ‘,’&lt;&lt; z &lt;&lt; </a:t>
            </a:r>
            <a:r>
              <a:rPr lang="en-GB" altLang="zh-CN" sz="1600" i="1" dirty="0" err="1">
                <a:solidFill>
                  <a:schemeClr val="tx2"/>
                </a:solidFill>
              </a:rPr>
              <a:t>endl</a:t>
            </a:r>
            <a:r>
              <a:rPr lang="en-GB" altLang="zh-CN" sz="1600" i="1" dirty="0">
                <a:solidFill>
                  <a:schemeClr val="tx2"/>
                </a:solidFill>
              </a:rPr>
              <a:t>;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i="1" dirty="0">
                <a:solidFill>
                  <a:schemeClr val="tx2"/>
                </a:solidFill>
              </a:rPr>
              <a:t>};</a:t>
            </a:r>
            <a:endParaRPr lang="en-US" altLang="zh-CN" sz="1600" i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Virtualizing constructors</a:t>
            </a:r>
            <a:endParaRPr lang="zh-CN" altLang="en-US"/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19600"/>
          </a:xfrm>
          <a:noFill/>
        </p:spPr>
        <p:txBody>
          <a:bodyPr/>
          <a:lstStyle/>
          <a:p>
            <a:pPr eaLnBrk="1" hangingPunct="1"/>
            <a:r>
              <a:rPr lang="en-US" altLang="zh-CN"/>
              <a:t>Virtual constructor</a:t>
            </a:r>
          </a:p>
          <a:p>
            <a:pPr lvl="1" eaLnBrk="1" hangingPunct="1"/>
            <a:r>
              <a:rPr lang="en-US" altLang="zh-CN"/>
              <a:t>Virtual function</a:t>
            </a:r>
          </a:p>
          <a:p>
            <a:pPr lvl="1" eaLnBrk="1" hangingPunct="1"/>
            <a:r>
              <a:rPr lang="en-US" altLang="zh-CN"/>
              <a:t>Constructor</a:t>
            </a:r>
          </a:p>
          <a:p>
            <a:pPr lvl="1" eaLnBrk="1" hangingPunct="1"/>
            <a:endParaRPr lang="en-US" altLang="zh-CN"/>
          </a:p>
          <a:p>
            <a:pPr eaLnBrk="1" hangingPunct="1"/>
            <a:r>
              <a:rPr lang="en-US" altLang="zh-CN"/>
              <a:t>Question</a:t>
            </a:r>
          </a:p>
          <a:p>
            <a:pPr lvl="1" eaLnBrk="1" hangingPunct="1"/>
            <a:r>
              <a:rPr lang="en-US" altLang="zh-CN"/>
              <a:t>【</a:t>
            </a:r>
            <a:r>
              <a:rPr lang="zh-CN" altLang="en-US"/>
              <a:t>报纸】</a:t>
            </a:r>
          </a:p>
          <a:p>
            <a:pPr lvl="2" eaLnBrk="1" hangingPunct="1"/>
            <a:r>
              <a:rPr lang="zh-CN" altLang="en-US"/>
              <a:t>文字、图形</a:t>
            </a:r>
          </a:p>
        </p:txBody>
      </p:sp>
      <p:sp>
        <p:nvSpPr>
          <p:cNvPr id="150534" name="Oval 6"/>
          <p:cNvSpPr>
            <a:spLocks noChangeArrowheads="1"/>
          </p:cNvSpPr>
          <p:nvPr/>
        </p:nvSpPr>
        <p:spPr bwMode="auto">
          <a:xfrm>
            <a:off x="6019800" y="5181600"/>
            <a:ext cx="10668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0">
                <a:latin typeface="Arial" panose="020B0604020202090204" pitchFamily="34" charset="0"/>
              </a:rPr>
              <a:t>TextBlock</a:t>
            </a:r>
          </a:p>
        </p:txBody>
      </p:sp>
      <p:sp>
        <p:nvSpPr>
          <p:cNvPr id="150535" name="Oval 7"/>
          <p:cNvSpPr>
            <a:spLocks noChangeArrowheads="1"/>
          </p:cNvSpPr>
          <p:nvPr/>
        </p:nvSpPr>
        <p:spPr bwMode="auto">
          <a:xfrm>
            <a:off x="7772400" y="5181600"/>
            <a:ext cx="10668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0">
                <a:latin typeface="Arial" panose="020B0604020202090204" pitchFamily="34" charset="0"/>
              </a:rPr>
              <a:t>Graphic</a:t>
            </a:r>
          </a:p>
        </p:txBody>
      </p:sp>
      <p:sp>
        <p:nvSpPr>
          <p:cNvPr id="150536" name="Oval 8"/>
          <p:cNvSpPr>
            <a:spLocks noChangeArrowheads="1"/>
          </p:cNvSpPr>
          <p:nvPr/>
        </p:nvSpPr>
        <p:spPr bwMode="auto">
          <a:xfrm>
            <a:off x="3505200" y="3048000"/>
            <a:ext cx="1828800" cy="2514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i="0">
              <a:latin typeface="Times New Roman" panose="02020603050405020304" charset="0"/>
            </a:endParaRPr>
          </a:p>
        </p:txBody>
      </p:sp>
      <p:sp>
        <p:nvSpPr>
          <p:cNvPr id="150537" name="Oval 9"/>
          <p:cNvSpPr>
            <a:spLocks noChangeArrowheads="1"/>
          </p:cNvSpPr>
          <p:nvPr/>
        </p:nvSpPr>
        <p:spPr bwMode="auto">
          <a:xfrm>
            <a:off x="3733800" y="4267200"/>
            <a:ext cx="1295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solidFill>
                  <a:srgbClr val="FF3300"/>
                </a:solidFill>
                <a:latin typeface="Times New Roman" panose="02020603050405020304" charset="0"/>
              </a:rPr>
              <a:t>List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latin typeface="Times New Roman" panose="02020603050405020304" charset="0"/>
              </a:rPr>
              <a:t>Objects</a:t>
            </a:r>
          </a:p>
        </p:txBody>
      </p:sp>
      <p:sp>
        <p:nvSpPr>
          <p:cNvPr id="150538" name="Text Box 10"/>
          <p:cNvSpPr txBox="1">
            <a:spLocks noChangeArrowheads="1"/>
          </p:cNvSpPr>
          <p:nvPr/>
        </p:nvSpPr>
        <p:spPr bwMode="auto">
          <a:xfrm>
            <a:off x="3657600" y="3505200"/>
            <a:ext cx="1604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latin typeface="Times New Roman" panose="02020603050405020304" charset="0"/>
              </a:rPr>
              <a:t>NewsLetter</a:t>
            </a:r>
          </a:p>
        </p:txBody>
      </p:sp>
      <p:sp>
        <p:nvSpPr>
          <p:cNvPr id="150539" name="Oval 11"/>
          <p:cNvSpPr>
            <a:spLocks noChangeArrowheads="1"/>
          </p:cNvSpPr>
          <p:nvPr/>
        </p:nvSpPr>
        <p:spPr bwMode="auto">
          <a:xfrm>
            <a:off x="6248400" y="38862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latin typeface="Times New Roman" panose="02020603050405020304" charset="0"/>
              </a:rPr>
              <a:t>NLComponent</a:t>
            </a:r>
          </a:p>
        </p:txBody>
      </p:sp>
      <p:sp>
        <p:nvSpPr>
          <p:cNvPr id="150540" name="Line 12"/>
          <p:cNvSpPr>
            <a:spLocks noChangeShapeType="1"/>
          </p:cNvSpPr>
          <p:nvPr/>
        </p:nvSpPr>
        <p:spPr bwMode="auto">
          <a:xfrm flipV="1">
            <a:off x="6629400" y="47244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41" name="Line 13"/>
          <p:cNvSpPr>
            <a:spLocks noChangeShapeType="1"/>
          </p:cNvSpPr>
          <p:nvPr/>
        </p:nvSpPr>
        <p:spPr bwMode="auto">
          <a:xfrm flipH="1" flipV="1">
            <a:off x="7620000" y="4724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50542" name="AutoShape 14"/>
          <p:cNvCxnSpPr>
            <a:cxnSpLocks noChangeShapeType="1"/>
            <a:stCxn id="150537" idx="5"/>
            <a:endCxn id="150539" idx="0"/>
          </p:cNvCxnSpPr>
          <p:nvPr/>
        </p:nvCxnSpPr>
        <p:spPr bwMode="auto">
          <a:xfrm rot="5400000" flipH="1" flipV="1">
            <a:off x="5477669" y="3248819"/>
            <a:ext cx="1162050" cy="2436812"/>
          </a:xfrm>
          <a:prstGeom prst="curvedConnector5">
            <a:avLst>
              <a:gd name="adj1" fmla="val -31148"/>
              <a:gd name="adj2" fmla="val 32769"/>
              <a:gd name="adj3" fmla="val 119671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0543" name="Text Box 15"/>
          <p:cNvSpPr txBox="1">
            <a:spLocks noChangeArrowheads="1"/>
          </p:cNvSpPr>
          <p:nvPr/>
        </p:nvSpPr>
        <p:spPr bwMode="auto">
          <a:xfrm>
            <a:off x="5562600" y="3429000"/>
            <a:ext cx="1165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latin typeface="Times New Roman" panose="02020603050405020304" charset="0"/>
              </a:rPr>
              <a:t>pointers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0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0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0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0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0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0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0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0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0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0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0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0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0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0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3" grpId="0" build="p" autoUpdateAnimBg="0"/>
      <p:bldP spid="150534" grpId="0" animBg="1" autoUpdateAnimBg="0"/>
      <p:bldP spid="150535" grpId="0" animBg="1" autoUpdateAnimBg="0"/>
      <p:bldP spid="150536" grpId="0" animBg="1" autoUpdateAnimBg="0"/>
      <p:bldP spid="150537" grpId="0" animBg="1" autoUpdateAnimBg="0"/>
      <p:bldP spid="150538" grpId="0" autoUpdateAnimBg="0"/>
      <p:bldP spid="150539" grpId="0" animBg="1" autoUpdateAnimBg="0"/>
      <p:bldP spid="150540" grpId="0" animBg="1"/>
      <p:bldP spid="150541" grpId="0" animBg="1"/>
      <p:bldP spid="150543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Virtualizing constructors</a:t>
            </a:r>
            <a:endParaRPr lang="zh-CN" altLang="en-US"/>
          </a:p>
        </p:txBody>
      </p:sp>
      <p:sp>
        <p:nvSpPr>
          <p:cNvPr id="10649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2000250"/>
            <a:ext cx="8382000" cy="3367088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Arial" panose="020B0604020202090204" pitchFamily="34" charset="0"/>
              </a:rPr>
              <a:t>class NLComponent {…};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Arial" panose="020B0604020202090204" pitchFamily="34" charset="0"/>
              </a:rPr>
              <a:t>class TextBlock : public NLComponent {…};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Arial" panose="020B0604020202090204" pitchFamily="34" charset="0"/>
              </a:rPr>
              <a:t>class Graphic :    public NLComponent {…};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Arial" panose="020B0604020202090204" pitchFamily="34" charset="0"/>
              </a:rPr>
              <a:t>class NewsLetter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Arial" panose="020B0604020202090204" pitchFamily="34" charset="0"/>
              </a:rPr>
              <a:t>{   public: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Arial" panose="020B0604020202090204" pitchFamily="34" charset="0"/>
              </a:rPr>
              <a:t>           NewsLetter(istream&amp; str)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Arial" panose="020B0604020202090204" pitchFamily="34" charset="0"/>
              </a:rPr>
              <a:t>	      {   while (str)   components.push_back(readComponent(str)); 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Arial" panose="020B0604020202090204" pitchFamily="34" charset="0"/>
              </a:rPr>
              <a:t>	      static NLComponent * readComponent(istream&amp; str);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Arial" panose="020B0604020202090204" pitchFamily="34" charset="0"/>
              </a:rPr>
              <a:t>     private: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Arial" panose="020B0604020202090204" pitchFamily="34" charset="0"/>
              </a:rPr>
              <a:t>	       list&lt;NLComponent *&gt; components;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Arial" panose="020B0604020202090204" pitchFamily="34" charset="0"/>
              </a:rPr>
              <a:t>}</a:t>
            </a:r>
          </a:p>
        </p:txBody>
      </p:sp>
      <p:sp>
        <p:nvSpPr>
          <p:cNvPr id="151557" name="Text Box 5"/>
          <p:cNvSpPr txBox="1">
            <a:spLocks noChangeArrowheads="1"/>
          </p:cNvSpPr>
          <p:nvPr/>
        </p:nvSpPr>
        <p:spPr bwMode="auto">
          <a:xfrm>
            <a:off x="2428875" y="5092700"/>
            <a:ext cx="6526213" cy="156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>
                <a:solidFill>
                  <a:srgbClr val="FF3300"/>
                </a:solidFill>
                <a:latin typeface="Arial" panose="020B0604020202090204" pitchFamily="34" charset="0"/>
              </a:rPr>
              <a:t>NewsLetter(const NewsLetter&amp; rhs)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0">
                <a:solidFill>
                  <a:srgbClr val="006600"/>
                </a:solidFill>
                <a:latin typeface="Arial" panose="020B0604020202090204" pitchFamily="34" charset="0"/>
              </a:rPr>
              <a:t>{  for (list&lt;NLComponent *&gt;::iterator it=rhs.component.begin();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0">
                <a:solidFill>
                  <a:srgbClr val="006600"/>
                </a:solidFill>
                <a:latin typeface="Arial" panose="020B0604020202090204" pitchFamily="34" charset="0"/>
              </a:rPr>
              <a:t>			it != rhs.component.end(); ++it 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0">
                <a:solidFill>
                  <a:srgbClr val="006600"/>
                </a:solidFill>
                <a:latin typeface="Arial" panose="020B0604020202090204" pitchFamily="34" charset="0"/>
              </a:rPr>
              <a:t>               component.push_back(  </a:t>
            </a:r>
            <a:r>
              <a:rPr lang="en-US" altLang="zh-CN" sz="1800" i="0">
                <a:solidFill>
                  <a:srgbClr val="C00000"/>
                </a:solidFill>
                <a:latin typeface="Arial" panose="020B0604020202090204" pitchFamily="34" charset="0"/>
              </a:rPr>
              <a:t>???</a:t>
            </a:r>
            <a:r>
              <a:rPr lang="en-US" altLang="zh-CN" sz="1800" i="0">
                <a:solidFill>
                  <a:srgbClr val="006600"/>
                </a:solidFill>
                <a:latin typeface="Arial" panose="020B0604020202090204" pitchFamily="34" charset="0"/>
              </a:rPr>
              <a:t> 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>
                <a:solidFill>
                  <a:srgbClr val="006600"/>
                </a:solidFill>
                <a:latin typeface="Arial" panose="020B0604020202090204" pitchFamily="34" charset="0"/>
              </a:rPr>
              <a:t>}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160963" y="6445250"/>
            <a:ext cx="2911475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0">
                <a:solidFill>
                  <a:srgbClr val="006600"/>
                </a:solidFill>
                <a:latin typeface="Arial" panose="020B0604020202090204" pitchFamily="34" charset="0"/>
              </a:rPr>
              <a:t>new</a:t>
            </a:r>
            <a:r>
              <a:rPr lang="en-US" altLang="zh-CN" sz="1800" i="0">
                <a:solidFill>
                  <a:srgbClr val="FF3300"/>
                </a:solidFill>
                <a:latin typeface="Arial" panose="020B0604020202090204" pitchFamily="34" charset="0"/>
              </a:rPr>
              <a:t>   TextBlock? Graphic?</a:t>
            </a:r>
            <a:endParaRPr lang="zh-CN" altLang="en-US" sz="1800" i="0">
              <a:solidFill>
                <a:srgbClr val="FF3300"/>
              </a:solidFill>
              <a:latin typeface="Arial" panose="020B0604020202090204" pitchFamily="34" charset="0"/>
            </a:endParaRPr>
          </a:p>
        </p:txBody>
      </p:sp>
      <p:cxnSp>
        <p:nvCxnSpPr>
          <p:cNvPr id="9" name="直接箭头连接符 8"/>
          <p:cNvCxnSpPr>
            <a:cxnSpLocks noChangeShapeType="1"/>
          </p:cNvCxnSpPr>
          <p:nvPr/>
        </p:nvCxnSpPr>
        <p:spPr bwMode="auto">
          <a:xfrm rot="10800000">
            <a:off x="6215063" y="6286500"/>
            <a:ext cx="642937" cy="285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7" grpId="0" autoUpdateAnimBg="0"/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Virtualizing constructors</a:t>
            </a:r>
            <a:endParaRPr lang="zh-CN" altLang="en-US" dirty="0"/>
          </a:p>
        </p:txBody>
      </p:sp>
      <p:sp>
        <p:nvSpPr>
          <p:cNvPr id="10854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2133600"/>
            <a:ext cx="8610600" cy="44958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000">
                <a:latin typeface="Arial" panose="020B0604020202090204" pitchFamily="34" charset="0"/>
              </a:rPr>
              <a:t>virtual NLComponent * clone() const = 0;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>
              <a:latin typeface="Arial" panose="020B060402020209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>
                <a:latin typeface="Arial" panose="020B0604020202090204" pitchFamily="34" charset="0"/>
              </a:rPr>
              <a:t>virtual TextBlock * clone() const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{  return new TextBlock(*this);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>
              <a:latin typeface="Arial" panose="020B060402020209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>
                <a:latin typeface="Arial" panose="020B0604020202090204" pitchFamily="34" charset="0"/>
              </a:rPr>
              <a:t>virtual Graphic  * clone() const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{  return new Graphic (*this);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>
              <a:latin typeface="Arial" panose="020B060402020209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>
                <a:latin typeface="Arial" panose="020B0604020202090204" pitchFamily="34" charset="0"/>
              </a:rPr>
              <a:t>NewsLetter::NewsLetter( const NewsLetter&amp; rhs)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{	for ( list&lt;NLComponent *&gt;::iterator it=rhs.component.begin();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			it != rhs.component.end(); ++it 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          component.push_back(</a:t>
            </a:r>
            <a:r>
              <a:rPr lang="en-US" altLang="zh-CN" sz="2000">
                <a:solidFill>
                  <a:srgbClr val="C00000"/>
                </a:solidFill>
                <a:latin typeface="Arial" panose="020B0604020202090204" pitchFamily="34" charset="0"/>
              </a:rPr>
              <a:t>(*it)-&gt;clone()</a:t>
            </a:r>
            <a:r>
              <a:rPr lang="en-US" altLang="zh-CN" sz="2000">
                <a:latin typeface="Arial" panose="020B0604020202090204" pitchFamily="34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90204" pitchFamily="34" charset="0"/>
              </a:rPr>
              <a:t>      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/>
              <a:t>Never treat arrays </a:t>
            </a:r>
            <a:r>
              <a:rPr lang="en-US" altLang="zh-CN" sz="2400" dirty="0" err="1"/>
              <a:t>polymorphically</a:t>
            </a:r>
            <a:endParaRPr lang="en-US" altLang="zh-CN" sz="2400" dirty="0"/>
          </a:p>
        </p:txBody>
      </p:sp>
      <p:sp>
        <p:nvSpPr>
          <p:cNvPr id="1095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/>
              <a:t>Question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Arial" panose="020B0604020202090204" pitchFamily="34" charset="0"/>
              </a:rPr>
              <a:t>class BST { … };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Arial" panose="020B0604020202090204" pitchFamily="34" charset="0"/>
              </a:rPr>
              <a:t>class BalancedBST: public BST { … };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>
              <a:latin typeface="Arial" panose="020B0604020202090204" pitchFamily="34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Arial" panose="020B0604020202090204" pitchFamily="34" charset="0"/>
              </a:rPr>
              <a:t>void printBSTArray(ostream&amp; s, const BST array[], int numElements)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Arial" panose="020B0604020202090204" pitchFamily="34" charset="0"/>
              </a:rPr>
              <a:t>{  for (int i=0; i &lt; numElements; i++)  s &lt;&lt; array[i]; }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>
              <a:latin typeface="Arial" panose="020B0604020202090204" pitchFamily="34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Arial" panose="020B0604020202090204" pitchFamily="34" charset="0"/>
              </a:rPr>
              <a:t>BalancedBST bBSTArray[10];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Arial" panose="020B0604020202090204" pitchFamily="34" charset="0"/>
              </a:rPr>
              <a:t>…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Arial" panose="020B0604020202090204" pitchFamily="34" charset="0"/>
              </a:rPr>
              <a:t>printBSTArray(cout, bBSTArray, 10);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69" grpId="0"/>
    </p:bld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just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804030504040204" charset="0"/>
            <a:ea typeface="SimSun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just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804030504040204" charset="0"/>
            <a:ea typeface="SimSun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1326</TotalTime>
  <Words>4032</Words>
  <Application>Microsoft Macintosh PowerPoint</Application>
  <PresentationFormat>全屏显示(4:3)</PresentationFormat>
  <Paragraphs>801</Paragraphs>
  <Slides>45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2" baseType="lpstr">
      <vt:lpstr>SimSun</vt:lpstr>
      <vt:lpstr>Arial</vt:lpstr>
      <vt:lpstr>Calibri</vt:lpstr>
      <vt:lpstr>Tahoma</vt:lpstr>
      <vt:lpstr>Times New Roman</vt:lpstr>
      <vt:lpstr>Wingdings</vt:lpstr>
      <vt:lpstr>Blends</vt:lpstr>
      <vt:lpstr>模板 template</vt:lpstr>
      <vt:lpstr>模板 template function</vt:lpstr>
      <vt:lpstr>模板 </vt:lpstr>
      <vt:lpstr>模板 </vt:lpstr>
      <vt:lpstr>模板 </vt:lpstr>
      <vt:lpstr>模板 </vt:lpstr>
      <vt:lpstr>模板 </vt:lpstr>
      <vt:lpstr>模板 </vt:lpstr>
      <vt:lpstr>模板 </vt:lpstr>
      <vt:lpstr>模板 </vt:lpstr>
      <vt:lpstr>模板 template class</vt:lpstr>
      <vt:lpstr>模板  </vt:lpstr>
      <vt:lpstr>模板－例</vt:lpstr>
      <vt:lpstr>模板</vt:lpstr>
      <vt:lpstr>模板</vt:lpstr>
      <vt:lpstr>模板</vt:lpstr>
      <vt:lpstr>if constexpr</vt:lpstr>
      <vt:lpstr>Template MetaProgramming</vt:lpstr>
      <vt:lpstr>编译期类型推导</vt:lpstr>
      <vt:lpstr>auto example</vt:lpstr>
      <vt:lpstr>auto example</vt:lpstr>
      <vt:lpstr>异常处理</vt:lpstr>
      <vt:lpstr>异常处理</vt:lpstr>
      <vt:lpstr>异常处理</vt:lpstr>
      <vt:lpstr>异常处理</vt:lpstr>
      <vt:lpstr>异常处理</vt:lpstr>
      <vt:lpstr>异常处理</vt:lpstr>
      <vt:lpstr>异常处理</vt:lpstr>
      <vt:lpstr>异常处理</vt:lpstr>
      <vt:lpstr>Know what functions C++ silently writes and calls</vt:lpstr>
      <vt:lpstr>Use destructors to prevent resource leaks</vt:lpstr>
      <vt:lpstr>Use destructors to prevent resource leaks</vt:lpstr>
      <vt:lpstr>Use destructors to prevent resource leaks</vt:lpstr>
      <vt:lpstr>Use destructors to prevent resource leaks</vt:lpstr>
      <vt:lpstr>Use destructors to prevent resource leaks</vt:lpstr>
      <vt:lpstr>Use destructors to prevent resource leaks</vt:lpstr>
      <vt:lpstr>I/O 处理</vt:lpstr>
      <vt:lpstr>I/O 处理</vt:lpstr>
      <vt:lpstr>重定向</vt:lpstr>
      <vt:lpstr>I/O 处理</vt:lpstr>
      <vt:lpstr>I/O 处理</vt:lpstr>
      <vt:lpstr>Virtualizing constructors</vt:lpstr>
      <vt:lpstr>Virtualizing constructors</vt:lpstr>
      <vt:lpstr>Virtualizing constructors</vt:lpstr>
      <vt:lpstr>Never treat arrays polymorphically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面向对象程序设计（part 3）</dc:title>
  <dc:creator>zt</dc:creator>
  <cp:lastModifiedBy>Admin</cp:lastModifiedBy>
  <cp:revision>355</cp:revision>
  <cp:lastPrinted>2019-12-17T01:29:23Z</cp:lastPrinted>
  <dcterms:created xsi:type="dcterms:W3CDTF">2019-12-17T01:29:23Z</dcterms:created>
  <dcterms:modified xsi:type="dcterms:W3CDTF">2025-11-23T15:26:09Z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1033-1.7.0.2743</vt:lpwstr>
  </property>
</Properties>
</file>