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charts/chart1.xml" ContentType="application/vnd.openxmlformats-officedocument.drawingml.chart+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2.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3.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4.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1.xml" ContentType="application/vnd.openxmlformats-officedocument.themeOverr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heme/themeOverride2.xml" ContentType="application/vnd.openxmlformats-officedocument.themeOverride+xml"/>
  <Override PartName="/ppt/notesSlides/notesSlide15.xml" ContentType="application/vnd.openxmlformats-officedocument.presentationml.notesSlide+xml"/>
  <Override PartName="/ppt/theme/themeOverride3.xml" ContentType="application/vnd.openxmlformats-officedocument.themeOverride+xml"/>
  <Override PartName="/ppt/notesSlides/notesSlide16.xml" ContentType="application/vnd.openxmlformats-officedocument.presentationml.notesSlide+xml"/>
  <Override PartName="/ppt/theme/themeOverride4.xml" ContentType="application/vnd.openxmlformats-officedocument.themeOverride+xml"/>
  <Override PartName="/ppt/notesSlides/notesSlide17.xml" ContentType="application/vnd.openxmlformats-officedocument.presentationml.notesSlide+xml"/>
  <Override PartName="/ppt/theme/themeOverride5.xml" ContentType="application/vnd.openxmlformats-officedocument.themeOverride+xml"/>
  <Override PartName="/ppt/notesSlides/notesSlide18.xml" ContentType="application/vnd.openxmlformats-officedocument.presentationml.notesSlide+xml"/>
  <Override PartName="/ppt/theme/themeOverride6.xml" ContentType="application/vnd.openxmlformats-officedocument.themeOverride+xml"/>
  <Override PartName="/ppt/notesSlides/notesSlide19.xml" ContentType="application/vnd.openxmlformats-officedocument.presentationml.notesSlide+xml"/>
  <Override PartName="/ppt/theme/themeOverride7.xml" ContentType="application/vnd.openxmlformats-officedocument.themeOverride+xml"/>
  <Override PartName="/ppt/notesSlides/notesSlide20.xml" ContentType="application/vnd.openxmlformats-officedocument.presentationml.notesSlide+xml"/>
  <Override PartName="/ppt/theme/themeOverride8.xml" ContentType="application/vnd.openxmlformats-officedocument.themeOverride+xml"/>
  <Override PartName="/ppt/notesSlides/notesSlide21.xml" ContentType="application/vnd.openxmlformats-officedocument.presentationml.notesSlide+xml"/>
  <Override PartName="/ppt/theme/themeOverride9.xml" ContentType="application/vnd.openxmlformats-officedocument.themeOverr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heme/themeOverride10.xml" ContentType="application/vnd.openxmlformats-officedocument.themeOverride+xml"/>
  <Override PartName="/ppt/notesSlides/notesSlide24.xml" ContentType="application/vnd.openxmlformats-officedocument.presentationml.notesSlide+xml"/>
  <Override PartName="/ppt/theme/themeOverride1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0"/>
  </p:notesMasterIdLst>
  <p:sldIdLst>
    <p:sldId id="418" r:id="rId2"/>
    <p:sldId id="419" r:id="rId3"/>
    <p:sldId id="420" r:id="rId4"/>
    <p:sldId id="421" r:id="rId5"/>
    <p:sldId id="422" r:id="rId6"/>
    <p:sldId id="423" r:id="rId7"/>
    <p:sldId id="424" r:id="rId8"/>
    <p:sldId id="425" r:id="rId9"/>
    <p:sldId id="426" r:id="rId10"/>
    <p:sldId id="427" r:id="rId11"/>
    <p:sldId id="428" r:id="rId12"/>
    <p:sldId id="429" r:id="rId13"/>
    <p:sldId id="430" r:id="rId14"/>
    <p:sldId id="431" r:id="rId15"/>
    <p:sldId id="432" r:id="rId16"/>
    <p:sldId id="433" r:id="rId17"/>
    <p:sldId id="434" r:id="rId18"/>
    <p:sldId id="440" r:id="rId19"/>
    <p:sldId id="436" r:id="rId20"/>
    <p:sldId id="437" r:id="rId21"/>
    <p:sldId id="405" r:id="rId22"/>
    <p:sldId id="406" r:id="rId23"/>
    <p:sldId id="407" r:id="rId24"/>
    <p:sldId id="408" r:id="rId25"/>
    <p:sldId id="409" r:id="rId26"/>
    <p:sldId id="410" r:id="rId27"/>
    <p:sldId id="411" r:id="rId28"/>
    <p:sldId id="412" r:id="rId29"/>
    <p:sldId id="297" r:id="rId30"/>
    <p:sldId id="413" r:id="rId31"/>
    <p:sldId id="415" r:id="rId32"/>
    <p:sldId id="298" r:id="rId33"/>
    <p:sldId id="389" r:id="rId34"/>
    <p:sldId id="299" r:id="rId35"/>
    <p:sldId id="416" r:id="rId36"/>
    <p:sldId id="417" r:id="rId37"/>
    <p:sldId id="390" r:id="rId38"/>
    <p:sldId id="300" r:id="rId39"/>
    <p:sldId id="392" r:id="rId40"/>
    <p:sldId id="393" r:id="rId41"/>
    <p:sldId id="334" r:id="rId42"/>
    <p:sldId id="394" r:id="rId43"/>
    <p:sldId id="395" r:id="rId44"/>
    <p:sldId id="396" r:id="rId45"/>
    <p:sldId id="302" r:id="rId46"/>
    <p:sldId id="303" r:id="rId47"/>
    <p:sldId id="329" r:id="rId48"/>
    <p:sldId id="330" r:id="rId49"/>
    <p:sldId id="331" r:id="rId50"/>
    <p:sldId id="277" r:id="rId51"/>
    <p:sldId id="443" r:id="rId52"/>
    <p:sldId id="438" r:id="rId53"/>
    <p:sldId id="439" r:id="rId54"/>
    <p:sldId id="399" r:id="rId55"/>
    <p:sldId id="444" r:id="rId56"/>
    <p:sldId id="400" r:id="rId57"/>
    <p:sldId id="403" r:id="rId58"/>
    <p:sldId id="404" r:id="rId59"/>
    <p:sldId id="259" r:id="rId60"/>
    <p:sldId id="279" r:id="rId61"/>
    <p:sldId id="401" r:id="rId62"/>
    <p:sldId id="304" r:id="rId63"/>
    <p:sldId id="335" r:id="rId64"/>
    <p:sldId id="441" r:id="rId65"/>
    <p:sldId id="305" r:id="rId66"/>
    <p:sldId id="323" r:id="rId67"/>
    <p:sldId id="282" r:id="rId68"/>
    <p:sldId id="445" r:id="rId69"/>
    <p:sldId id="447" r:id="rId70"/>
    <p:sldId id="448" r:id="rId71"/>
    <p:sldId id="283" r:id="rId72"/>
    <p:sldId id="284" r:id="rId73"/>
    <p:sldId id="307" r:id="rId74"/>
    <p:sldId id="336" r:id="rId75"/>
    <p:sldId id="293" r:id="rId76"/>
    <p:sldId id="442" r:id="rId77"/>
    <p:sldId id="286" r:id="rId78"/>
    <p:sldId id="308" r:id="rId79"/>
    <p:sldId id="287" r:id="rId80"/>
    <p:sldId id="309" r:id="rId81"/>
    <p:sldId id="332" r:id="rId82"/>
    <p:sldId id="454" r:id="rId83"/>
    <p:sldId id="455" r:id="rId84"/>
    <p:sldId id="456" r:id="rId85"/>
    <p:sldId id="457" r:id="rId86"/>
    <p:sldId id="458" r:id="rId87"/>
    <p:sldId id="459" r:id="rId88"/>
    <p:sldId id="460" r:id="rId89"/>
    <p:sldId id="461" r:id="rId90"/>
    <p:sldId id="462" r:id="rId91"/>
    <p:sldId id="463" r:id="rId92"/>
    <p:sldId id="464" r:id="rId93"/>
    <p:sldId id="333" r:id="rId94"/>
    <p:sldId id="449" r:id="rId95"/>
    <p:sldId id="450" r:id="rId96"/>
    <p:sldId id="451" r:id="rId97"/>
    <p:sldId id="452" r:id="rId98"/>
    <p:sldId id="453" r:id="rId99"/>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341">
          <p15:clr>
            <a:srgbClr val="A4A3A4"/>
          </p15:clr>
        </p15:guide>
        <p15:guide id="2" pos="442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en Jiandong" initials="WJ" lastIdx="7" clrIdx="0">
    <p:extLst>
      <p:ext uri="{19B8F6BF-5375-455C-9EA6-DF929625EA0E}">
        <p15:presenceInfo xmlns:p15="http://schemas.microsoft.com/office/powerpoint/2012/main" userId="ed9cccc11e655a6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1528"/>
    <a:srgbClr val="F3C97F"/>
    <a:srgbClr val="009999"/>
    <a:srgbClr val="9DA2AD"/>
    <a:srgbClr val="C3C9D7"/>
    <a:srgbClr val="3333CC"/>
    <a:srgbClr val="000099"/>
    <a:srgbClr val="FFFF00"/>
    <a:srgbClr val="00FF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71" autoAdjust="0"/>
    <p:restoredTop sz="94660"/>
  </p:normalViewPr>
  <p:slideViewPr>
    <p:cSldViewPr>
      <p:cViewPr varScale="1">
        <p:scale>
          <a:sx n="85" d="100"/>
          <a:sy n="85" d="100"/>
        </p:scale>
        <p:origin x="933" y="45"/>
      </p:cViewPr>
      <p:guideLst>
        <p:guide orient="horz" pos="2341"/>
        <p:guide pos="4422"/>
      </p:guideLst>
    </p:cSldViewPr>
  </p:slideViewPr>
  <p:notesTextViewPr>
    <p:cViewPr>
      <p:scale>
        <a:sx n="1" d="1"/>
        <a:sy n="1" d="1"/>
      </p:scale>
      <p:origin x="0" y="0"/>
    </p:cViewPr>
  </p:notesTextViewPr>
  <p:sorterViewPr>
    <p:cViewPr>
      <p:scale>
        <a:sx n="100" d="100"/>
        <a:sy n="100" d="100"/>
      </p:scale>
      <p:origin x="0" y="-2234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8902602205906428E-2"/>
          <c:y val="0.13240061007599171"/>
          <c:w val="0.87682722266203073"/>
          <c:h val="0.6349954414712915"/>
        </c:manualLayout>
      </c:layout>
      <c:lineChart>
        <c:grouping val="stacked"/>
        <c:varyColors val="0"/>
        <c:ser>
          <c:idx val="0"/>
          <c:order val="0"/>
          <c:tx>
            <c:strRef>
              <c:f>Sheet1!$B$1</c:f>
              <c:strCache>
                <c:ptCount val="1"/>
                <c:pt idx="0">
                  <c:v>价格（元/千克）</c:v>
                </c:pt>
              </c:strCache>
            </c:strRef>
          </c:tx>
          <c:marker>
            <c:symbol val="diamond"/>
            <c:size val="6"/>
          </c:marker>
          <c:cat>
            <c:numRef>
              <c:f>Sheet1!$A$2:$A$7</c:f>
              <c:numCache>
                <c:formatCode>General</c:formatCode>
                <c:ptCount val="6"/>
                <c:pt idx="0">
                  <c:v>2</c:v>
                </c:pt>
                <c:pt idx="1">
                  <c:v>5</c:v>
                </c:pt>
                <c:pt idx="2">
                  <c:v>8</c:v>
                </c:pt>
                <c:pt idx="3">
                  <c:v>11</c:v>
                </c:pt>
                <c:pt idx="4">
                  <c:v>14</c:v>
                </c:pt>
                <c:pt idx="5">
                  <c:v>17</c:v>
                </c:pt>
              </c:numCache>
            </c:numRef>
          </c:cat>
          <c:val>
            <c:numRef>
              <c:f>Sheet1!$B$2:$B$7</c:f>
              <c:numCache>
                <c:formatCode>General</c:formatCode>
                <c:ptCount val="6"/>
                <c:pt idx="0">
                  <c:v>14</c:v>
                </c:pt>
                <c:pt idx="1">
                  <c:v>12</c:v>
                </c:pt>
                <c:pt idx="2">
                  <c:v>10</c:v>
                </c:pt>
                <c:pt idx="3">
                  <c:v>8</c:v>
                </c:pt>
                <c:pt idx="4">
                  <c:v>6</c:v>
                </c:pt>
                <c:pt idx="5">
                  <c:v>4</c:v>
                </c:pt>
              </c:numCache>
            </c:numRef>
          </c:val>
          <c:smooth val="0"/>
          <c:extLst>
            <c:ext xmlns:c16="http://schemas.microsoft.com/office/drawing/2014/chart" uri="{C3380CC4-5D6E-409C-BE32-E72D297353CC}">
              <c16:uniqueId val="{00000000-1E1E-45A9-AF21-DB7EFACD6B9B}"/>
            </c:ext>
          </c:extLst>
        </c:ser>
        <c:dLbls>
          <c:showLegendKey val="0"/>
          <c:showVal val="0"/>
          <c:showCatName val="0"/>
          <c:showSerName val="0"/>
          <c:showPercent val="0"/>
          <c:showBubbleSize val="0"/>
        </c:dLbls>
        <c:marker val="1"/>
        <c:smooth val="0"/>
        <c:axId val="172792480"/>
        <c:axId val="1"/>
      </c:lineChart>
      <c:catAx>
        <c:axId val="172792480"/>
        <c:scaling>
          <c:orientation val="minMax"/>
        </c:scaling>
        <c:delete val="0"/>
        <c:axPos val="b"/>
        <c:numFmt formatCode="General" sourceLinked="1"/>
        <c:majorTickMark val="in"/>
        <c:minorTickMark val="none"/>
        <c:tickLblPos val="nextTo"/>
        <c:spPr>
          <a:ln>
            <a:tailEnd type="stealth" w="med" len="lg"/>
          </a:ln>
        </c:spPr>
        <c:crossAx val="1"/>
        <c:crossesAt val="0"/>
        <c:auto val="1"/>
        <c:lblAlgn val="ctr"/>
        <c:lblOffset val="100"/>
        <c:noMultiLvlLbl val="0"/>
      </c:catAx>
      <c:valAx>
        <c:axId val="1"/>
        <c:scaling>
          <c:orientation val="minMax"/>
        </c:scaling>
        <c:delete val="0"/>
        <c:axPos val="l"/>
        <c:numFmt formatCode="General" sourceLinked="1"/>
        <c:majorTickMark val="in"/>
        <c:minorTickMark val="none"/>
        <c:tickLblPos val="nextTo"/>
        <c:spPr>
          <a:ln>
            <a:tailEnd type="stealth" w="med" len="lg"/>
          </a:ln>
        </c:spPr>
        <c:crossAx val="172792480"/>
        <c:crosses val="autoZero"/>
        <c:crossBetween val="between"/>
        <c:majorUnit val="2"/>
      </c:valAx>
      <c:spPr>
        <a:ln w="38100" cap="rnd"/>
      </c:spPr>
    </c:plotArea>
    <c:plotVisOnly val="1"/>
    <c:dispBlanksAs val="zero"/>
    <c:showDLblsOverMax val="0"/>
  </c:chart>
  <c:txPr>
    <a:bodyPr/>
    <a:lstStyle/>
    <a:p>
      <a:pPr>
        <a:defRPr sz="1799"/>
      </a:pPr>
      <a:endParaRPr lang="zh-CN"/>
    </a:p>
  </c:txPr>
  <c:externalData r:id="rId1">
    <c:autoUpdate val="0"/>
  </c:externalData>
</c:chartSpace>
</file>

<file path=ppt/drawings/_rels/vmlDrawing1.vml.rels><?xml version="1.0" encoding="UTF-8" standalone="yes"?>
<Relationships xmlns="http://schemas.openxmlformats.org/package/2006/relationships"><Relationship Id="rId3" Type="http://schemas.openxmlformats.org/officeDocument/2006/relationships/image" Target="../media/image18.wmf"/><Relationship Id="rId7" Type="http://schemas.openxmlformats.org/officeDocument/2006/relationships/image" Target="../media/image22.wmf"/><Relationship Id="rId2" Type="http://schemas.openxmlformats.org/officeDocument/2006/relationships/image" Target="../media/image17.wmf"/><Relationship Id="rId1" Type="http://schemas.openxmlformats.org/officeDocument/2006/relationships/image" Target="../media/image16.wmf"/><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image" Target="../media/image25.wmf"/><Relationship Id="rId7" Type="http://schemas.openxmlformats.org/officeDocument/2006/relationships/image" Target="../media/image29.wmf"/><Relationship Id="rId2" Type="http://schemas.openxmlformats.org/officeDocument/2006/relationships/image" Target="../media/image24.wmf"/><Relationship Id="rId1" Type="http://schemas.openxmlformats.org/officeDocument/2006/relationships/image" Target="../media/image23.wmf"/><Relationship Id="rId6" Type="http://schemas.openxmlformats.org/officeDocument/2006/relationships/image" Target="../media/image28.wmf"/><Relationship Id="rId5" Type="http://schemas.openxmlformats.org/officeDocument/2006/relationships/image" Target="../media/image27.wmf"/><Relationship Id="rId4" Type="http://schemas.openxmlformats.org/officeDocument/2006/relationships/image" Target="../media/image26.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image" Target="../media/image43.wmf"/><Relationship Id="rId3" Type="http://schemas.openxmlformats.org/officeDocument/2006/relationships/image" Target="../media/image33.wmf"/><Relationship Id="rId7" Type="http://schemas.openxmlformats.org/officeDocument/2006/relationships/image" Target="../media/image37.wmf"/><Relationship Id="rId12" Type="http://schemas.openxmlformats.org/officeDocument/2006/relationships/image" Target="../media/image42.wmf"/><Relationship Id="rId2" Type="http://schemas.openxmlformats.org/officeDocument/2006/relationships/image" Target="../media/image32.wmf"/><Relationship Id="rId1" Type="http://schemas.openxmlformats.org/officeDocument/2006/relationships/image" Target="../media/image31.wmf"/><Relationship Id="rId6" Type="http://schemas.openxmlformats.org/officeDocument/2006/relationships/image" Target="../media/image36.wmf"/><Relationship Id="rId11" Type="http://schemas.openxmlformats.org/officeDocument/2006/relationships/image" Target="../media/image41.wmf"/><Relationship Id="rId5" Type="http://schemas.openxmlformats.org/officeDocument/2006/relationships/image" Target="../media/image35.wmf"/><Relationship Id="rId15" Type="http://schemas.openxmlformats.org/officeDocument/2006/relationships/image" Target="../media/image45.wmf"/><Relationship Id="rId10" Type="http://schemas.openxmlformats.org/officeDocument/2006/relationships/image" Target="../media/image40.wmf"/><Relationship Id="rId4" Type="http://schemas.openxmlformats.org/officeDocument/2006/relationships/image" Target="../media/image34.wmf"/><Relationship Id="rId9" Type="http://schemas.openxmlformats.org/officeDocument/2006/relationships/image" Target="../media/image39.wmf"/><Relationship Id="rId14" Type="http://schemas.openxmlformats.org/officeDocument/2006/relationships/image" Target="../media/image44.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54.wmf"/><Relationship Id="rId13" Type="http://schemas.openxmlformats.org/officeDocument/2006/relationships/image" Target="../media/image59.wmf"/><Relationship Id="rId3" Type="http://schemas.openxmlformats.org/officeDocument/2006/relationships/image" Target="../media/image49.wmf"/><Relationship Id="rId7" Type="http://schemas.openxmlformats.org/officeDocument/2006/relationships/image" Target="../media/image53.wmf"/><Relationship Id="rId12" Type="http://schemas.openxmlformats.org/officeDocument/2006/relationships/image" Target="../media/image58.wmf"/><Relationship Id="rId2" Type="http://schemas.openxmlformats.org/officeDocument/2006/relationships/image" Target="../media/image48.wmf"/><Relationship Id="rId1" Type="http://schemas.openxmlformats.org/officeDocument/2006/relationships/image" Target="../media/image47.wmf"/><Relationship Id="rId6" Type="http://schemas.openxmlformats.org/officeDocument/2006/relationships/image" Target="../media/image52.wmf"/><Relationship Id="rId11" Type="http://schemas.openxmlformats.org/officeDocument/2006/relationships/image" Target="../media/image57.wmf"/><Relationship Id="rId5" Type="http://schemas.openxmlformats.org/officeDocument/2006/relationships/image" Target="../media/image51.wmf"/><Relationship Id="rId10" Type="http://schemas.openxmlformats.org/officeDocument/2006/relationships/image" Target="../media/image56.wmf"/><Relationship Id="rId4" Type="http://schemas.openxmlformats.org/officeDocument/2006/relationships/image" Target="../media/image50.wmf"/><Relationship Id="rId9" Type="http://schemas.openxmlformats.org/officeDocument/2006/relationships/image" Target="../media/image55.wmf"/><Relationship Id="rId14" Type="http://schemas.openxmlformats.org/officeDocument/2006/relationships/image" Target="../media/image60.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68.wmf"/><Relationship Id="rId3" Type="http://schemas.openxmlformats.org/officeDocument/2006/relationships/image" Target="../media/image63.wmf"/><Relationship Id="rId7" Type="http://schemas.openxmlformats.org/officeDocument/2006/relationships/image" Target="../media/image67.wmf"/><Relationship Id="rId2" Type="http://schemas.openxmlformats.org/officeDocument/2006/relationships/image" Target="../media/image62.wmf"/><Relationship Id="rId1" Type="http://schemas.openxmlformats.org/officeDocument/2006/relationships/image" Target="../media/image61.wmf"/><Relationship Id="rId6" Type="http://schemas.openxmlformats.org/officeDocument/2006/relationships/image" Target="../media/image66.wmf"/><Relationship Id="rId11" Type="http://schemas.openxmlformats.org/officeDocument/2006/relationships/image" Target="../media/image71.wmf"/><Relationship Id="rId5" Type="http://schemas.openxmlformats.org/officeDocument/2006/relationships/image" Target="../media/image65.wmf"/><Relationship Id="rId10" Type="http://schemas.openxmlformats.org/officeDocument/2006/relationships/image" Target="../media/image70.wmf"/><Relationship Id="rId4" Type="http://schemas.openxmlformats.org/officeDocument/2006/relationships/image" Target="../media/image64.wmf"/><Relationship Id="rId9" Type="http://schemas.openxmlformats.org/officeDocument/2006/relationships/image" Target="../media/image69.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 Id="rId6" Type="http://schemas.openxmlformats.org/officeDocument/2006/relationships/image" Target="../media/image77.wmf"/><Relationship Id="rId5" Type="http://schemas.openxmlformats.org/officeDocument/2006/relationships/image" Target="../media/image76.wmf"/><Relationship Id="rId4" Type="http://schemas.openxmlformats.org/officeDocument/2006/relationships/image" Target="../media/image75.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85.wmf"/><Relationship Id="rId13" Type="http://schemas.openxmlformats.org/officeDocument/2006/relationships/image" Target="../media/image90.wmf"/><Relationship Id="rId3" Type="http://schemas.openxmlformats.org/officeDocument/2006/relationships/image" Target="../media/image80.wmf"/><Relationship Id="rId7" Type="http://schemas.openxmlformats.org/officeDocument/2006/relationships/image" Target="../media/image84.wmf"/><Relationship Id="rId12" Type="http://schemas.openxmlformats.org/officeDocument/2006/relationships/image" Target="../media/image89.wmf"/><Relationship Id="rId2" Type="http://schemas.openxmlformats.org/officeDocument/2006/relationships/image" Target="../media/image79.wmf"/><Relationship Id="rId1" Type="http://schemas.openxmlformats.org/officeDocument/2006/relationships/image" Target="../media/image78.wmf"/><Relationship Id="rId6" Type="http://schemas.openxmlformats.org/officeDocument/2006/relationships/image" Target="../media/image83.wmf"/><Relationship Id="rId11" Type="http://schemas.openxmlformats.org/officeDocument/2006/relationships/image" Target="../media/image88.wmf"/><Relationship Id="rId5" Type="http://schemas.openxmlformats.org/officeDocument/2006/relationships/image" Target="../media/image82.wmf"/><Relationship Id="rId15" Type="http://schemas.openxmlformats.org/officeDocument/2006/relationships/image" Target="../media/image92.wmf"/><Relationship Id="rId10" Type="http://schemas.openxmlformats.org/officeDocument/2006/relationships/image" Target="../media/image87.wmf"/><Relationship Id="rId4" Type="http://schemas.openxmlformats.org/officeDocument/2006/relationships/image" Target="../media/image81.wmf"/><Relationship Id="rId9" Type="http://schemas.openxmlformats.org/officeDocument/2006/relationships/image" Target="../media/image86.wmf"/><Relationship Id="rId14" Type="http://schemas.openxmlformats.org/officeDocument/2006/relationships/image" Target="../media/image91.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94.wmf"/><Relationship Id="rId1" Type="http://schemas.openxmlformats.org/officeDocument/2006/relationships/image" Target="../media/image93.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102.wmf"/><Relationship Id="rId13" Type="http://schemas.openxmlformats.org/officeDocument/2006/relationships/image" Target="../media/image93.wmf"/><Relationship Id="rId3" Type="http://schemas.openxmlformats.org/officeDocument/2006/relationships/image" Target="../media/image97.wmf"/><Relationship Id="rId7" Type="http://schemas.openxmlformats.org/officeDocument/2006/relationships/image" Target="../media/image101.wmf"/><Relationship Id="rId12" Type="http://schemas.openxmlformats.org/officeDocument/2006/relationships/image" Target="../media/image106.wmf"/><Relationship Id="rId2" Type="http://schemas.openxmlformats.org/officeDocument/2006/relationships/image" Target="../media/image96.wmf"/><Relationship Id="rId1" Type="http://schemas.openxmlformats.org/officeDocument/2006/relationships/image" Target="../media/image95.wmf"/><Relationship Id="rId6" Type="http://schemas.openxmlformats.org/officeDocument/2006/relationships/image" Target="../media/image100.wmf"/><Relationship Id="rId11" Type="http://schemas.openxmlformats.org/officeDocument/2006/relationships/image" Target="../media/image105.wmf"/><Relationship Id="rId5" Type="http://schemas.openxmlformats.org/officeDocument/2006/relationships/image" Target="../media/image99.wmf"/><Relationship Id="rId10" Type="http://schemas.openxmlformats.org/officeDocument/2006/relationships/image" Target="../media/image104.wmf"/><Relationship Id="rId4" Type="http://schemas.openxmlformats.org/officeDocument/2006/relationships/image" Target="../media/image98.wmf"/><Relationship Id="rId9" Type="http://schemas.openxmlformats.org/officeDocument/2006/relationships/image" Target="../media/image103.wmf"/><Relationship Id="rId14" Type="http://schemas.openxmlformats.org/officeDocument/2006/relationships/image" Target="../media/image94.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114.wmf"/><Relationship Id="rId13" Type="http://schemas.openxmlformats.org/officeDocument/2006/relationships/image" Target="../media/image119.wmf"/><Relationship Id="rId3" Type="http://schemas.openxmlformats.org/officeDocument/2006/relationships/image" Target="../media/image109.wmf"/><Relationship Id="rId7" Type="http://schemas.openxmlformats.org/officeDocument/2006/relationships/image" Target="../media/image113.wmf"/><Relationship Id="rId12" Type="http://schemas.openxmlformats.org/officeDocument/2006/relationships/image" Target="../media/image118.wmf"/><Relationship Id="rId2" Type="http://schemas.openxmlformats.org/officeDocument/2006/relationships/image" Target="../media/image108.wmf"/><Relationship Id="rId1" Type="http://schemas.openxmlformats.org/officeDocument/2006/relationships/image" Target="../media/image107.wmf"/><Relationship Id="rId6" Type="http://schemas.openxmlformats.org/officeDocument/2006/relationships/image" Target="../media/image112.wmf"/><Relationship Id="rId11" Type="http://schemas.openxmlformats.org/officeDocument/2006/relationships/image" Target="../media/image117.wmf"/><Relationship Id="rId5" Type="http://schemas.openxmlformats.org/officeDocument/2006/relationships/image" Target="../media/image111.wmf"/><Relationship Id="rId10" Type="http://schemas.openxmlformats.org/officeDocument/2006/relationships/image" Target="../media/image116.wmf"/><Relationship Id="rId4" Type="http://schemas.openxmlformats.org/officeDocument/2006/relationships/image" Target="../media/image110.wmf"/><Relationship Id="rId9" Type="http://schemas.openxmlformats.org/officeDocument/2006/relationships/image" Target="../media/image115.wmf"/><Relationship Id="rId14" Type="http://schemas.openxmlformats.org/officeDocument/2006/relationships/image" Target="../media/image120.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114.wmf"/><Relationship Id="rId3" Type="http://schemas.openxmlformats.org/officeDocument/2006/relationships/image" Target="../media/image109.wmf"/><Relationship Id="rId7" Type="http://schemas.openxmlformats.org/officeDocument/2006/relationships/image" Target="../media/image113.wmf"/><Relationship Id="rId2" Type="http://schemas.openxmlformats.org/officeDocument/2006/relationships/image" Target="../media/image108.wmf"/><Relationship Id="rId1" Type="http://schemas.openxmlformats.org/officeDocument/2006/relationships/image" Target="../media/image107.wmf"/><Relationship Id="rId6" Type="http://schemas.openxmlformats.org/officeDocument/2006/relationships/image" Target="../media/image112.wmf"/><Relationship Id="rId11" Type="http://schemas.openxmlformats.org/officeDocument/2006/relationships/image" Target="../media/image120.wmf"/><Relationship Id="rId5" Type="http://schemas.openxmlformats.org/officeDocument/2006/relationships/image" Target="../media/image111.wmf"/><Relationship Id="rId10" Type="http://schemas.openxmlformats.org/officeDocument/2006/relationships/image" Target="../media/image119.wmf"/><Relationship Id="rId4" Type="http://schemas.openxmlformats.org/officeDocument/2006/relationships/image" Target="../media/image110.wmf"/><Relationship Id="rId9" Type="http://schemas.openxmlformats.org/officeDocument/2006/relationships/image" Target="../media/image118.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114.wmf"/><Relationship Id="rId3" Type="http://schemas.openxmlformats.org/officeDocument/2006/relationships/image" Target="../media/image109.wmf"/><Relationship Id="rId7" Type="http://schemas.openxmlformats.org/officeDocument/2006/relationships/image" Target="../media/image113.wmf"/><Relationship Id="rId2" Type="http://schemas.openxmlformats.org/officeDocument/2006/relationships/image" Target="../media/image108.wmf"/><Relationship Id="rId1" Type="http://schemas.openxmlformats.org/officeDocument/2006/relationships/image" Target="../media/image107.wmf"/><Relationship Id="rId6" Type="http://schemas.openxmlformats.org/officeDocument/2006/relationships/image" Target="../media/image112.wmf"/><Relationship Id="rId11" Type="http://schemas.openxmlformats.org/officeDocument/2006/relationships/image" Target="../media/image117.wmf"/><Relationship Id="rId5" Type="http://schemas.openxmlformats.org/officeDocument/2006/relationships/image" Target="../media/image111.wmf"/><Relationship Id="rId10" Type="http://schemas.openxmlformats.org/officeDocument/2006/relationships/image" Target="../media/image116.wmf"/><Relationship Id="rId4" Type="http://schemas.openxmlformats.org/officeDocument/2006/relationships/image" Target="../media/image110.wmf"/><Relationship Id="rId9" Type="http://schemas.openxmlformats.org/officeDocument/2006/relationships/image" Target="../media/image115.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128.wmf"/><Relationship Id="rId3" Type="http://schemas.openxmlformats.org/officeDocument/2006/relationships/image" Target="../media/image123.wmf"/><Relationship Id="rId7" Type="http://schemas.openxmlformats.org/officeDocument/2006/relationships/image" Target="../media/image127.wmf"/><Relationship Id="rId12" Type="http://schemas.openxmlformats.org/officeDocument/2006/relationships/image" Target="../media/image132.wmf"/><Relationship Id="rId2" Type="http://schemas.openxmlformats.org/officeDocument/2006/relationships/image" Target="../media/image122.wmf"/><Relationship Id="rId1" Type="http://schemas.openxmlformats.org/officeDocument/2006/relationships/image" Target="../media/image121.wmf"/><Relationship Id="rId6" Type="http://schemas.openxmlformats.org/officeDocument/2006/relationships/image" Target="../media/image126.wmf"/><Relationship Id="rId11" Type="http://schemas.openxmlformats.org/officeDocument/2006/relationships/image" Target="../media/image131.wmf"/><Relationship Id="rId5" Type="http://schemas.openxmlformats.org/officeDocument/2006/relationships/image" Target="../media/image125.wmf"/><Relationship Id="rId10" Type="http://schemas.openxmlformats.org/officeDocument/2006/relationships/image" Target="../media/image130.wmf"/><Relationship Id="rId4" Type="http://schemas.openxmlformats.org/officeDocument/2006/relationships/image" Target="../media/image124.wmf"/><Relationship Id="rId9" Type="http://schemas.openxmlformats.org/officeDocument/2006/relationships/image" Target="../media/image129.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28.wmf"/><Relationship Id="rId3" Type="http://schemas.openxmlformats.org/officeDocument/2006/relationships/image" Target="../media/image135.wmf"/><Relationship Id="rId7" Type="http://schemas.openxmlformats.org/officeDocument/2006/relationships/image" Target="../media/image127.wmf"/><Relationship Id="rId12" Type="http://schemas.openxmlformats.org/officeDocument/2006/relationships/image" Target="../media/image132.wmf"/><Relationship Id="rId2" Type="http://schemas.openxmlformats.org/officeDocument/2006/relationships/image" Target="../media/image134.wmf"/><Relationship Id="rId1" Type="http://schemas.openxmlformats.org/officeDocument/2006/relationships/image" Target="../media/image133.wmf"/><Relationship Id="rId6" Type="http://schemas.openxmlformats.org/officeDocument/2006/relationships/image" Target="../media/image126.wmf"/><Relationship Id="rId11" Type="http://schemas.openxmlformats.org/officeDocument/2006/relationships/image" Target="../media/image131.wmf"/><Relationship Id="rId5" Type="http://schemas.openxmlformats.org/officeDocument/2006/relationships/image" Target="../media/image125.wmf"/><Relationship Id="rId10" Type="http://schemas.openxmlformats.org/officeDocument/2006/relationships/image" Target="../media/image130.wmf"/><Relationship Id="rId4" Type="http://schemas.openxmlformats.org/officeDocument/2006/relationships/image" Target="../media/image136.wmf"/><Relationship Id="rId9" Type="http://schemas.openxmlformats.org/officeDocument/2006/relationships/image" Target="../media/image129.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136.wmf"/><Relationship Id="rId13" Type="http://schemas.openxmlformats.org/officeDocument/2006/relationships/image" Target="../media/image129.wmf"/><Relationship Id="rId3" Type="http://schemas.openxmlformats.org/officeDocument/2006/relationships/image" Target="../media/image121.wmf"/><Relationship Id="rId7" Type="http://schemas.openxmlformats.org/officeDocument/2006/relationships/image" Target="../media/image135.wmf"/><Relationship Id="rId12" Type="http://schemas.openxmlformats.org/officeDocument/2006/relationships/image" Target="../media/image128.wmf"/><Relationship Id="rId2" Type="http://schemas.openxmlformats.org/officeDocument/2006/relationships/image" Target="../media/image124.wmf"/><Relationship Id="rId16" Type="http://schemas.openxmlformats.org/officeDocument/2006/relationships/image" Target="../media/image132.wmf"/><Relationship Id="rId1" Type="http://schemas.openxmlformats.org/officeDocument/2006/relationships/image" Target="../media/image123.wmf"/><Relationship Id="rId6" Type="http://schemas.openxmlformats.org/officeDocument/2006/relationships/image" Target="../media/image134.wmf"/><Relationship Id="rId11" Type="http://schemas.openxmlformats.org/officeDocument/2006/relationships/image" Target="../media/image127.wmf"/><Relationship Id="rId5" Type="http://schemas.openxmlformats.org/officeDocument/2006/relationships/image" Target="../media/image133.wmf"/><Relationship Id="rId15" Type="http://schemas.openxmlformats.org/officeDocument/2006/relationships/image" Target="../media/image131.wmf"/><Relationship Id="rId10" Type="http://schemas.openxmlformats.org/officeDocument/2006/relationships/image" Target="../media/image126.wmf"/><Relationship Id="rId4" Type="http://schemas.openxmlformats.org/officeDocument/2006/relationships/image" Target="../media/image122.wmf"/><Relationship Id="rId9" Type="http://schemas.openxmlformats.org/officeDocument/2006/relationships/image" Target="../media/image125.wmf"/><Relationship Id="rId14" Type="http://schemas.openxmlformats.org/officeDocument/2006/relationships/image" Target="../media/image130.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44.wmf"/><Relationship Id="rId13" Type="http://schemas.openxmlformats.org/officeDocument/2006/relationships/image" Target="../media/image149.wmf"/><Relationship Id="rId3" Type="http://schemas.openxmlformats.org/officeDocument/2006/relationships/image" Target="../media/image139.wmf"/><Relationship Id="rId7" Type="http://schemas.openxmlformats.org/officeDocument/2006/relationships/image" Target="../media/image143.wmf"/><Relationship Id="rId12" Type="http://schemas.openxmlformats.org/officeDocument/2006/relationships/image" Target="../media/image148.wmf"/><Relationship Id="rId2" Type="http://schemas.openxmlformats.org/officeDocument/2006/relationships/image" Target="../media/image138.wmf"/><Relationship Id="rId16" Type="http://schemas.openxmlformats.org/officeDocument/2006/relationships/image" Target="../media/image152.wmf"/><Relationship Id="rId1" Type="http://schemas.openxmlformats.org/officeDocument/2006/relationships/image" Target="../media/image137.wmf"/><Relationship Id="rId6" Type="http://schemas.openxmlformats.org/officeDocument/2006/relationships/image" Target="../media/image142.wmf"/><Relationship Id="rId11" Type="http://schemas.openxmlformats.org/officeDocument/2006/relationships/image" Target="../media/image147.wmf"/><Relationship Id="rId5" Type="http://schemas.openxmlformats.org/officeDocument/2006/relationships/image" Target="../media/image141.wmf"/><Relationship Id="rId15" Type="http://schemas.openxmlformats.org/officeDocument/2006/relationships/image" Target="../media/image151.wmf"/><Relationship Id="rId10" Type="http://schemas.openxmlformats.org/officeDocument/2006/relationships/image" Target="../media/image146.wmf"/><Relationship Id="rId4" Type="http://schemas.openxmlformats.org/officeDocument/2006/relationships/image" Target="../media/image140.wmf"/><Relationship Id="rId9" Type="http://schemas.openxmlformats.org/officeDocument/2006/relationships/image" Target="../media/image145.wmf"/><Relationship Id="rId14" Type="http://schemas.openxmlformats.org/officeDocument/2006/relationships/image" Target="../media/image150.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60.wmf"/><Relationship Id="rId13" Type="http://schemas.openxmlformats.org/officeDocument/2006/relationships/image" Target="../media/image165.wmf"/><Relationship Id="rId3" Type="http://schemas.openxmlformats.org/officeDocument/2006/relationships/image" Target="../media/image155.wmf"/><Relationship Id="rId7" Type="http://schemas.openxmlformats.org/officeDocument/2006/relationships/image" Target="../media/image159.wmf"/><Relationship Id="rId12" Type="http://schemas.openxmlformats.org/officeDocument/2006/relationships/image" Target="../media/image164.wmf"/><Relationship Id="rId2" Type="http://schemas.openxmlformats.org/officeDocument/2006/relationships/image" Target="../media/image154.wmf"/><Relationship Id="rId1" Type="http://schemas.openxmlformats.org/officeDocument/2006/relationships/image" Target="../media/image153.wmf"/><Relationship Id="rId6" Type="http://schemas.openxmlformats.org/officeDocument/2006/relationships/image" Target="../media/image158.wmf"/><Relationship Id="rId11" Type="http://schemas.openxmlformats.org/officeDocument/2006/relationships/image" Target="../media/image163.wmf"/><Relationship Id="rId5" Type="http://schemas.openxmlformats.org/officeDocument/2006/relationships/image" Target="../media/image157.wmf"/><Relationship Id="rId10" Type="http://schemas.openxmlformats.org/officeDocument/2006/relationships/image" Target="../media/image162.wmf"/><Relationship Id="rId4" Type="http://schemas.openxmlformats.org/officeDocument/2006/relationships/image" Target="../media/image156.wmf"/><Relationship Id="rId9" Type="http://schemas.openxmlformats.org/officeDocument/2006/relationships/image" Target="../media/image161.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61.wmf"/><Relationship Id="rId13" Type="http://schemas.openxmlformats.org/officeDocument/2006/relationships/image" Target="../media/image165.wmf"/><Relationship Id="rId3" Type="http://schemas.openxmlformats.org/officeDocument/2006/relationships/image" Target="../media/image156.wmf"/><Relationship Id="rId7" Type="http://schemas.openxmlformats.org/officeDocument/2006/relationships/image" Target="../media/image160.wmf"/><Relationship Id="rId12" Type="http://schemas.openxmlformats.org/officeDocument/2006/relationships/image" Target="../media/image153.wmf"/><Relationship Id="rId2" Type="http://schemas.openxmlformats.org/officeDocument/2006/relationships/image" Target="../media/image155.wmf"/><Relationship Id="rId1" Type="http://schemas.openxmlformats.org/officeDocument/2006/relationships/image" Target="../media/image154.wmf"/><Relationship Id="rId6" Type="http://schemas.openxmlformats.org/officeDocument/2006/relationships/image" Target="../media/image159.wmf"/><Relationship Id="rId11" Type="http://schemas.openxmlformats.org/officeDocument/2006/relationships/image" Target="../media/image164.wmf"/><Relationship Id="rId5" Type="http://schemas.openxmlformats.org/officeDocument/2006/relationships/image" Target="../media/image158.wmf"/><Relationship Id="rId10" Type="http://schemas.openxmlformats.org/officeDocument/2006/relationships/image" Target="../media/image163.wmf"/><Relationship Id="rId4" Type="http://schemas.openxmlformats.org/officeDocument/2006/relationships/image" Target="../media/image157.wmf"/><Relationship Id="rId9" Type="http://schemas.openxmlformats.org/officeDocument/2006/relationships/image" Target="../media/image162.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61.wmf"/><Relationship Id="rId13" Type="http://schemas.openxmlformats.org/officeDocument/2006/relationships/image" Target="../media/image165.wmf"/><Relationship Id="rId3" Type="http://schemas.openxmlformats.org/officeDocument/2006/relationships/image" Target="../media/image156.wmf"/><Relationship Id="rId7" Type="http://schemas.openxmlformats.org/officeDocument/2006/relationships/image" Target="../media/image160.wmf"/><Relationship Id="rId12" Type="http://schemas.openxmlformats.org/officeDocument/2006/relationships/image" Target="../media/image153.wmf"/><Relationship Id="rId2" Type="http://schemas.openxmlformats.org/officeDocument/2006/relationships/image" Target="../media/image155.wmf"/><Relationship Id="rId1" Type="http://schemas.openxmlformats.org/officeDocument/2006/relationships/image" Target="../media/image154.wmf"/><Relationship Id="rId6" Type="http://schemas.openxmlformats.org/officeDocument/2006/relationships/image" Target="../media/image159.wmf"/><Relationship Id="rId11" Type="http://schemas.openxmlformats.org/officeDocument/2006/relationships/image" Target="../media/image164.wmf"/><Relationship Id="rId5" Type="http://schemas.openxmlformats.org/officeDocument/2006/relationships/image" Target="../media/image158.wmf"/><Relationship Id="rId10" Type="http://schemas.openxmlformats.org/officeDocument/2006/relationships/image" Target="../media/image163.wmf"/><Relationship Id="rId4" Type="http://schemas.openxmlformats.org/officeDocument/2006/relationships/image" Target="../media/image157.wmf"/><Relationship Id="rId9" Type="http://schemas.openxmlformats.org/officeDocument/2006/relationships/image" Target="../media/image162.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57.wmf"/><Relationship Id="rId13" Type="http://schemas.openxmlformats.org/officeDocument/2006/relationships/image" Target="../media/image165.wmf"/><Relationship Id="rId3" Type="http://schemas.openxmlformats.org/officeDocument/2006/relationships/image" Target="../media/image163.wmf"/><Relationship Id="rId7" Type="http://schemas.openxmlformats.org/officeDocument/2006/relationships/image" Target="../media/image156.wmf"/><Relationship Id="rId12" Type="http://schemas.openxmlformats.org/officeDocument/2006/relationships/image" Target="../media/image161.wmf"/><Relationship Id="rId2" Type="http://schemas.openxmlformats.org/officeDocument/2006/relationships/image" Target="../media/image162.wmf"/><Relationship Id="rId1" Type="http://schemas.openxmlformats.org/officeDocument/2006/relationships/image" Target="../media/image153.wmf"/><Relationship Id="rId6" Type="http://schemas.openxmlformats.org/officeDocument/2006/relationships/image" Target="../media/image155.wmf"/><Relationship Id="rId11" Type="http://schemas.openxmlformats.org/officeDocument/2006/relationships/image" Target="../media/image160.wmf"/><Relationship Id="rId5" Type="http://schemas.openxmlformats.org/officeDocument/2006/relationships/image" Target="../media/image154.wmf"/><Relationship Id="rId10" Type="http://schemas.openxmlformats.org/officeDocument/2006/relationships/image" Target="../media/image159.wmf"/><Relationship Id="rId4" Type="http://schemas.openxmlformats.org/officeDocument/2006/relationships/image" Target="../media/image164.wmf"/><Relationship Id="rId9" Type="http://schemas.openxmlformats.org/officeDocument/2006/relationships/image" Target="../media/image158.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77.wmf"/><Relationship Id="rId3" Type="http://schemas.openxmlformats.org/officeDocument/2006/relationships/image" Target="../media/image172.wmf"/><Relationship Id="rId7" Type="http://schemas.openxmlformats.org/officeDocument/2006/relationships/image" Target="../media/image176.wmf"/><Relationship Id="rId2" Type="http://schemas.openxmlformats.org/officeDocument/2006/relationships/image" Target="../media/image171.wmf"/><Relationship Id="rId1" Type="http://schemas.openxmlformats.org/officeDocument/2006/relationships/image" Target="../media/image170.wmf"/><Relationship Id="rId6" Type="http://schemas.openxmlformats.org/officeDocument/2006/relationships/image" Target="../media/image175.wmf"/><Relationship Id="rId5" Type="http://schemas.openxmlformats.org/officeDocument/2006/relationships/image" Target="../media/image174.wmf"/><Relationship Id="rId4" Type="http://schemas.openxmlformats.org/officeDocument/2006/relationships/image" Target="../media/image173.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73.wmf"/><Relationship Id="rId3" Type="http://schemas.openxmlformats.org/officeDocument/2006/relationships/image" Target="../media/image174.wmf"/><Relationship Id="rId7" Type="http://schemas.openxmlformats.org/officeDocument/2006/relationships/image" Target="../media/image171.wmf"/><Relationship Id="rId2" Type="http://schemas.openxmlformats.org/officeDocument/2006/relationships/image" Target="../media/image172.wmf"/><Relationship Id="rId1" Type="http://schemas.openxmlformats.org/officeDocument/2006/relationships/image" Target="../media/image170.wmf"/><Relationship Id="rId6" Type="http://schemas.openxmlformats.org/officeDocument/2006/relationships/image" Target="../media/image178.wmf"/><Relationship Id="rId5" Type="http://schemas.openxmlformats.org/officeDocument/2006/relationships/image" Target="../media/image176.wmf"/><Relationship Id="rId4" Type="http://schemas.openxmlformats.org/officeDocument/2006/relationships/image" Target="../media/image175.wmf"/><Relationship Id="rId9" Type="http://schemas.openxmlformats.org/officeDocument/2006/relationships/image" Target="../media/image179.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96.wmf"/><Relationship Id="rId2" Type="http://schemas.openxmlformats.org/officeDocument/2006/relationships/image" Target="../media/image195.wmf"/><Relationship Id="rId1" Type="http://schemas.openxmlformats.org/officeDocument/2006/relationships/image" Target="../media/image194.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99.wmf"/><Relationship Id="rId3" Type="http://schemas.openxmlformats.org/officeDocument/2006/relationships/image" Target="../media/image172.wmf"/><Relationship Id="rId7" Type="http://schemas.openxmlformats.org/officeDocument/2006/relationships/image" Target="../media/image198.wmf"/><Relationship Id="rId2" Type="http://schemas.openxmlformats.org/officeDocument/2006/relationships/image" Target="../media/image171.wmf"/><Relationship Id="rId1" Type="http://schemas.openxmlformats.org/officeDocument/2006/relationships/image" Target="../media/image170.wmf"/><Relationship Id="rId6" Type="http://schemas.openxmlformats.org/officeDocument/2006/relationships/image" Target="../media/image175.wmf"/><Relationship Id="rId5" Type="http://schemas.openxmlformats.org/officeDocument/2006/relationships/image" Target="../media/image174.wmf"/><Relationship Id="rId10" Type="http://schemas.openxmlformats.org/officeDocument/2006/relationships/image" Target="../media/image201.wmf"/><Relationship Id="rId4" Type="http://schemas.openxmlformats.org/officeDocument/2006/relationships/image" Target="../media/image173.wmf"/><Relationship Id="rId9" Type="http://schemas.openxmlformats.org/officeDocument/2006/relationships/image" Target="../media/image200.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204.wmf"/><Relationship Id="rId3" Type="http://schemas.openxmlformats.org/officeDocument/2006/relationships/image" Target="../media/image174.wmf"/><Relationship Id="rId7" Type="http://schemas.openxmlformats.org/officeDocument/2006/relationships/image" Target="../media/image173.wmf"/><Relationship Id="rId12" Type="http://schemas.openxmlformats.org/officeDocument/2006/relationships/image" Target="../media/image208.wmf"/><Relationship Id="rId2" Type="http://schemas.openxmlformats.org/officeDocument/2006/relationships/image" Target="../media/image172.wmf"/><Relationship Id="rId1" Type="http://schemas.openxmlformats.org/officeDocument/2006/relationships/image" Target="../media/image170.wmf"/><Relationship Id="rId6" Type="http://schemas.openxmlformats.org/officeDocument/2006/relationships/image" Target="../media/image203.wmf"/><Relationship Id="rId11" Type="http://schemas.openxmlformats.org/officeDocument/2006/relationships/image" Target="../media/image207.wmf"/><Relationship Id="rId5" Type="http://schemas.openxmlformats.org/officeDocument/2006/relationships/image" Target="../media/image202.wmf"/><Relationship Id="rId10" Type="http://schemas.openxmlformats.org/officeDocument/2006/relationships/image" Target="../media/image206.wmf"/><Relationship Id="rId4" Type="http://schemas.openxmlformats.org/officeDocument/2006/relationships/image" Target="../media/image175.wmf"/><Relationship Id="rId9" Type="http://schemas.openxmlformats.org/officeDocument/2006/relationships/image" Target="../media/image205.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216.wmf"/><Relationship Id="rId13" Type="http://schemas.openxmlformats.org/officeDocument/2006/relationships/image" Target="../media/image221.wmf"/><Relationship Id="rId3" Type="http://schemas.openxmlformats.org/officeDocument/2006/relationships/image" Target="../media/image211.wmf"/><Relationship Id="rId7" Type="http://schemas.openxmlformats.org/officeDocument/2006/relationships/image" Target="../media/image215.wmf"/><Relationship Id="rId12" Type="http://schemas.openxmlformats.org/officeDocument/2006/relationships/image" Target="../media/image220.wmf"/><Relationship Id="rId2" Type="http://schemas.openxmlformats.org/officeDocument/2006/relationships/image" Target="../media/image210.wmf"/><Relationship Id="rId1" Type="http://schemas.openxmlformats.org/officeDocument/2006/relationships/image" Target="../media/image209.wmf"/><Relationship Id="rId6" Type="http://schemas.openxmlformats.org/officeDocument/2006/relationships/image" Target="../media/image214.wmf"/><Relationship Id="rId11" Type="http://schemas.openxmlformats.org/officeDocument/2006/relationships/image" Target="../media/image219.wmf"/><Relationship Id="rId5" Type="http://schemas.openxmlformats.org/officeDocument/2006/relationships/image" Target="../media/image213.wmf"/><Relationship Id="rId15" Type="http://schemas.openxmlformats.org/officeDocument/2006/relationships/image" Target="../media/image223.wmf"/><Relationship Id="rId10" Type="http://schemas.openxmlformats.org/officeDocument/2006/relationships/image" Target="../media/image218.wmf"/><Relationship Id="rId4" Type="http://schemas.openxmlformats.org/officeDocument/2006/relationships/image" Target="../media/image212.wmf"/><Relationship Id="rId9" Type="http://schemas.openxmlformats.org/officeDocument/2006/relationships/image" Target="../media/image217.wmf"/><Relationship Id="rId14" Type="http://schemas.openxmlformats.org/officeDocument/2006/relationships/image" Target="../media/image222.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217.wmf"/><Relationship Id="rId13" Type="http://schemas.openxmlformats.org/officeDocument/2006/relationships/image" Target="../media/image228.wmf"/><Relationship Id="rId3" Type="http://schemas.openxmlformats.org/officeDocument/2006/relationships/image" Target="../media/image218.wmf"/><Relationship Id="rId7" Type="http://schemas.openxmlformats.org/officeDocument/2006/relationships/image" Target="../media/image216.wmf"/><Relationship Id="rId12" Type="http://schemas.openxmlformats.org/officeDocument/2006/relationships/image" Target="../media/image227.wmf"/><Relationship Id="rId2" Type="http://schemas.openxmlformats.org/officeDocument/2006/relationships/image" Target="../media/image225.wmf"/><Relationship Id="rId1" Type="http://schemas.openxmlformats.org/officeDocument/2006/relationships/image" Target="../media/image224.wmf"/><Relationship Id="rId6" Type="http://schemas.openxmlformats.org/officeDocument/2006/relationships/image" Target="../media/image215.wmf"/><Relationship Id="rId11" Type="http://schemas.openxmlformats.org/officeDocument/2006/relationships/image" Target="../media/image226.wmf"/><Relationship Id="rId5" Type="http://schemas.openxmlformats.org/officeDocument/2006/relationships/image" Target="../media/image214.wmf"/><Relationship Id="rId10" Type="http://schemas.openxmlformats.org/officeDocument/2006/relationships/image" Target="../media/image221.wmf"/><Relationship Id="rId4" Type="http://schemas.openxmlformats.org/officeDocument/2006/relationships/image" Target="../media/image220.wmf"/><Relationship Id="rId9" Type="http://schemas.openxmlformats.org/officeDocument/2006/relationships/image" Target="../media/image219.wmf"/><Relationship Id="rId14" Type="http://schemas.openxmlformats.org/officeDocument/2006/relationships/image" Target="../media/image229.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221.wmf"/><Relationship Id="rId13" Type="http://schemas.openxmlformats.org/officeDocument/2006/relationships/image" Target="../media/image235.wmf"/><Relationship Id="rId3" Type="http://schemas.openxmlformats.org/officeDocument/2006/relationships/image" Target="../media/image215.wmf"/><Relationship Id="rId7" Type="http://schemas.openxmlformats.org/officeDocument/2006/relationships/image" Target="../media/image220.wmf"/><Relationship Id="rId12" Type="http://schemas.openxmlformats.org/officeDocument/2006/relationships/image" Target="../media/image234.wmf"/><Relationship Id="rId2" Type="http://schemas.openxmlformats.org/officeDocument/2006/relationships/image" Target="../media/image214.wmf"/><Relationship Id="rId16" Type="http://schemas.openxmlformats.org/officeDocument/2006/relationships/image" Target="../media/image238.wmf"/><Relationship Id="rId1" Type="http://schemas.openxmlformats.org/officeDocument/2006/relationships/image" Target="../media/image219.wmf"/><Relationship Id="rId6" Type="http://schemas.openxmlformats.org/officeDocument/2006/relationships/image" Target="../media/image230.wmf"/><Relationship Id="rId11" Type="http://schemas.openxmlformats.org/officeDocument/2006/relationships/image" Target="../media/image233.wmf"/><Relationship Id="rId5" Type="http://schemas.openxmlformats.org/officeDocument/2006/relationships/image" Target="../media/image217.wmf"/><Relationship Id="rId15" Type="http://schemas.openxmlformats.org/officeDocument/2006/relationships/image" Target="../media/image237.wmf"/><Relationship Id="rId10" Type="http://schemas.openxmlformats.org/officeDocument/2006/relationships/image" Target="../media/image232.wmf"/><Relationship Id="rId4" Type="http://schemas.openxmlformats.org/officeDocument/2006/relationships/image" Target="../media/image216.wmf"/><Relationship Id="rId9" Type="http://schemas.openxmlformats.org/officeDocument/2006/relationships/image" Target="../media/image231.wmf"/><Relationship Id="rId14" Type="http://schemas.openxmlformats.org/officeDocument/2006/relationships/image" Target="../media/image236.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221.wmf"/><Relationship Id="rId13" Type="http://schemas.openxmlformats.org/officeDocument/2006/relationships/image" Target="../media/image232.wmf"/><Relationship Id="rId18" Type="http://schemas.openxmlformats.org/officeDocument/2006/relationships/image" Target="../media/image241.wmf"/><Relationship Id="rId3" Type="http://schemas.openxmlformats.org/officeDocument/2006/relationships/image" Target="../media/image216.wmf"/><Relationship Id="rId7" Type="http://schemas.openxmlformats.org/officeDocument/2006/relationships/image" Target="../media/image220.wmf"/><Relationship Id="rId12" Type="http://schemas.openxmlformats.org/officeDocument/2006/relationships/image" Target="../media/image231.wmf"/><Relationship Id="rId17" Type="http://schemas.openxmlformats.org/officeDocument/2006/relationships/image" Target="../media/image240.wmf"/><Relationship Id="rId2" Type="http://schemas.openxmlformats.org/officeDocument/2006/relationships/image" Target="../media/image215.wmf"/><Relationship Id="rId16" Type="http://schemas.openxmlformats.org/officeDocument/2006/relationships/image" Target="../media/image236.wmf"/><Relationship Id="rId1" Type="http://schemas.openxmlformats.org/officeDocument/2006/relationships/image" Target="../media/image214.wmf"/><Relationship Id="rId6" Type="http://schemas.openxmlformats.org/officeDocument/2006/relationships/image" Target="../media/image219.wmf"/><Relationship Id="rId11" Type="http://schemas.openxmlformats.org/officeDocument/2006/relationships/image" Target="../media/image233.wmf"/><Relationship Id="rId5" Type="http://schemas.openxmlformats.org/officeDocument/2006/relationships/image" Target="../media/image230.wmf"/><Relationship Id="rId15" Type="http://schemas.openxmlformats.org/officeDocument/2006/relationships/image" Target="../media/image235.wmf"/><Relationship Id="rId10" Type="http://schemas.openxmlformats.org/officeDocument/2006/relationships/image" Target="../media/image238.wmf"/><Relationship Id="rId4" Type="http://schemas.openxmlformats.org/officeDocument/2006/relationships/image" Target="../media/image217.wmf"/><Relationship Id="rId9" Type="http://schemas.openxmlformats.org/officeDocument/2006/relationships/image" Target="../media/image239.wmf"/><Relationship Id="rId14" Type="http://schemas.openxmlformats.org/officeDocument/2006/relationships/image" Target="../media/image234.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242.wmf"/><Relationship Id="rId13" Type="http://schemas.openxmlformats.org/officeDocument/2006/relationships/image" Target="../media/image247.wmf"/><Relationship Id="rId3" Type="http://schemas.openxmlformats.org/officeDocument/2006/relationships/image" Target="../media/image214.wmf"/><Relationship Id="rId7" Type="http://schemas.openxmlformats.org/officeDocument/2006/relationships/image" Target="../media/image219.wmf"/><Relationship Id="rId12" Type="http://schemas.openxmlformats.org/officeDocument/2006/relationships/image" Target="../media/image246.wmf"/><Relationship Id="rId2" Type="http://schemas.openxmlformats.org/officeDocument/2006/relationships/image" Target="../media/image230.wmf"/><Relationship Id="rId1" Type="http://schemas.openxmlformats.org/officeDocument/2006/relationships/image" Target="../media/image237.wmf"/><Relationship Id="rId6" Type="http://schemas.openxmlformats.org/officeDocument/2006/relationships/image" Target="../media/image217.wmf"/><Relationship Id="rId11" Type="http://schemas.openxmlformats.org/officeDocument/2006/relationships/image" Target="../media/image245.wmf"/><Relationship Id="rId5" Type="http://schemas.openxmlformats.org/officeDocument/2006/relationships/image" Target="../media/image216.wmf"/><Relationship Id="rId10" Type="http://schemas.openxmlformats.org/officeDocument/2006/relationships/image" Target="../media/image244.wmf"/><Relationship Id="rId4" Type="http://schemas.openxmlformats.org/officeDocument/2006/relationships/image" Target="../media/image215.wmf"/><Relationship Id="rId9" Type="http://schemas.openxmlformats.org/officeDocument/2006/relationships/image" Target="../media/image24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07B234-A608-44B7-A536-43614340C853}" type="datetimeFigureOut">
              <a:rPr lang="zh-CN" altLang="en-US" smtClean="0"/>
              <a:t>2024/2/28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2367FD-EC38-45E2-8AE4-9D9F51FD9F46}" type="slidenum">
              <a:rPr lang="zh-CN" altLang="en-US" smtClean="0"/>
              <a:t>‹#›</a:t>
            </a:fld>
            <a:endParaRPr lang="zh-CN" altLang="en-US"/>
          </a:p>
        </p:txBody>
      </p:sp>
    </p:spTree>
    <p:extLst>
      <p:ext uri="{BB962C8B-B14F-4D97-AF65-F5344CB8AC3E}">
        <p14:creationId xmlns:p14="http://schemas.microsoft.com/office/powerpoint/2010/main" val="2590549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69.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82.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84.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86.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87.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89.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90.xml"/><Relationship Id="rId2" Type="http://schemas.openxmlformats.org/officeDocument/2006/relationships/notesMaster" Target="../notesMasters/notesMaster1.xml"/><Relationship Id="rId1" Type="http://schemas.openxmlformats.org/officeDocument/2006/relationships/themeOverride" Target="../theme/themeOverride7.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91.xml"/><Relationship Id="rId2" Type="http://schemas.openxmlformats.org/officeDocument/2006/relationships/notesMaster" Target="../notesMasters/notesMaster1.xml"/><Relationship Id="rId1" Type="http://schemas.openxmlformats.org/officeDocument/2006/relationships/themeOverride" Target="../theme/themeOverride8.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92.xml"/><Relationship Id="rId2" Type="http://schemas.openxmlformats.org/officeDocument/2006/relationships/notesMaster" Target="../notesMasters/notesMaster1.xml"/><Relationship Id="rId1" Type="http://schemas.openxmlformats.org/officeDocument/2006/relationships/themeOverride" Target="../theme/themeOverride9.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96.xml"/><Relationship Id="rId2" Type="http://schemas.openxmlformats.org/officeDocument/2006/relationships/notesMaster" Target="../notesMasters/notesMaster1.xml"/><Relationship Id="rId1" Type="http://schemas.openxmlformats.org/officeDocument/2006/relationships/themeOverride" Target="../theme/themeOverride10.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98.xml"/><Relationship Id="rId2" Type="http://schemas.openxmlformats.org/officeDocument/2006/relationships/notesMaster" Target="../notesMasters/notesMaster1.xml"/><Relationship Id="rId1" Type="http://schemas.openxmlformats.org/officeDocument/2006/relationships/themeOverride" Target="../theme/themeOverr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2367FD-EC38-45E2-8AE4-9D9F51FD9F46}" type="slidenum">
              <a:rPr lang="zh-CN" altLang="en-US" smtClean="0"/>
              <a:t>1</a:t>
            </a:fld>
            <a:endParaRPr lang="zh-CN" altLang="en-US"/>
          </a:p>
        </p:txBody>
      </p:sp>
    </p:spTree>
    <p:extLst>
      <p:ext uri="{BB962C8B-B14F-4D97-AF65-F5344CB8AC3E}">
        <p14:creationId xmlns:p14="http://schemas.microsoft.com/office/powerpoint/2010/main" val="2121587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2367FD-EC38-45E2-8AE4-9D9F51FD9F46}" type="slidenum">
              <a:rPr lang="zh-CN" altLang="en-US" smtClean="0"/>
              <a:t>28</a:t>
            </a:fld>
            <a:endParaRPr lang="zh-CN" altLang="en-US"/>
          </a:p>
        </p:txBody>
      </p:sp>
    </p:spTree>
    <p:extLst>
      <p:ext uri="{BB962C8B-B14F-4D97-AF65-F5344CB8AC3E}">
        <p14:creationId xmlns:p14="http://schemas.microsoft.com/office/powerpoint/2010/main" val="20899928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2367FD-EC38-45E2-8AE4-9D9F51FD9F46}" type="slidenum">
              <a:rPr lang="zh-CN" altLang="en-US" smtClean="0"/>
              <a:t>33</a:t>
            </a:fld>
            <a:endParaRPr lang="zh-CN" altLang="en-US"/>
          </a:p>
        </p:txBody>
      </p:sp>
    </p:spTree>
    <p:extLst>
      <p:ext uri="{BB962C8B-B14F-4D97-AF65-F5344CB8AC3E}">
        <p14:creationId xmlns:p14="http://schemas.microsoft.com/office/powerpoint/2010/main" val="30714380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2367FD-EC38-45E2-8AE4-9D9F51FD9F46}" type="slidenum">
              <a:rPr lang="zh-CN" altLang="en-US" smtClean="0"/>
              <a:t>40</a:t>
            </a:fld>
            <a:endParaRPr lang="zh-CN" altLang="en-US"/>
          </a:p>
        </p:txBody>
      </p:sp>
    </p:spTree>
    <p:extLst>
      <p:ext uri="{BB962C8B-B14F-4D97-AF65-F5344CB8AC3E}">
        <p14:creationId xmlns:p14="http://schemas.microsoft.com/office/powerpoint/2010/main" val="21916091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2367FD-EC38-45E2-8AE4-9D9F51FD9F46}" type="slidenum">
              <a:rPr lang="zh-CN" altLang="en-US" smtClean="0"/>
              <a:t>42</a:t>
            </a:fld>
            <a:endParaRPr lang="zh-CN" altLang="en-US"/>
          </a:p>
        </p:txBody>
      </p:sp>
    </p:spTree>
    <p:extLst>
      <p:ext uri="{BB962C8B-B14F-4D97-AF65-F5344CB8AC3E}">
        <p14:creationId xmlns:p14="http://schemas.microsoft.com/office/powerpoint/2010/main" val="2160315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2367FD-EC38-45E2-8AE4-9D9F51FD9F46}" type="slidenum">
              <a:rPr lang="zh-CN" altLang="en-US" smtClean="0"/>
              <a:t>43</a:t>
            </a:fld>
            <a:endParaRPr lang="zh-CN" altLang="en-US"/>
          </a:p>
        </p:txBody>
      </p:sp>
    </p:spTree>
    <p:extLst>
      <p:ext uri="{BB962C8B-B14F-4D97-AF65-F5344CB8AC3E}">
        <p14:creationId xmlns:p14="http://schemas.microsoft.com/office/powerpoint/2010/main" val="2390439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2367FD-EC38-45E2-8AE4-9D9F51FD9F46}" type="slidenum">
              <a:rPr lang="zh-CN" altLang="en-US" smtClean="0"/>
              <a:t>45</a:t>
            </a:fld>
            <a:endParaRPr lang="zh-CN" altLang="en-US"/>
          </a:p>
        </p:txBody>
      </p:sp>
    </p:spTree>
    <p:extLst>
      <p:ext uri="{BB962C8B-B14F-4D97-AF65-F5344CB8AC3E}">
        <p14:creationId xmlns:p14="http://schemas.microsoft.com/office/powerpoint/2010/main" val="4180432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2367FD-EC38-45E2-8AE4-9D9F51FD9F46}" type="slidenum">
              <a:rPr lang="zh-CN" altLang="en-US" smtClean="0"/>
              <a:t>57</a:t>
            </a:fld>
            <a:endParaRPr lang="zh-CN" altLang="en-US"/>
          </a:p>
        </p:txBody>
      </p:sp>
    </p:spTree>
    <p:extLst>
      <p:ext uri="{BB962C8B-B14F-4D97-AF65-F5344CB8AC3E}">
        <p14:creationId xmlns:p14="http://schemas.microsoft.com/office/powerpoint/2010/main" val="4002084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2367FD-EC38-45E2-8AE4-9D9F51FD9F46}" type="slidenum">
              <a:rPr lang="zh-CN" altLang="en-US" smtClean="0"/>
              <a:t>65</a:t>
            </a:fld>
            <a:endParaRPr lang="zh-CN" altLang="en-US"/>
          </a:p>
        </p:txBody>
      </p:sp>
    </p:spTree>
    <p:extLst>
      <p:ext uri="{BB962C8B-B14F-4D97-AF65-F5344CB8AC3E}">
        <p14:creationId xmlns:p14="http://schemas.microsoft.com/office/powerpoint/2010/main" val="1675273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2367FD-EC38-45E2-8AE4-9D9F51FD9F46}" type="slidenum">
              <a:rPr lang="zh-CN" altLang="en-US" smtClean="0"/>
              <a:t>66</a:t>
            </a:fld>
            <a:endParaRPr lang="zh-CN" altLang="en-US"/>
          </a:p>
        </p:txBody>
      </p:sp>
    </p:spTree>
    <p:extLst>
      <p:ext uri="{BB962C8B-B14F-4D97-AF65-F5344CB8AC3E}">
        <p14:creationId xmlns:p14="http://schemas.microsoft.com/office/powerpoint/2010/main" val="39310648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2367FD-EC38-45E2-8AE4-9D9F51FD9F46}" type="slidenum">
              <a:rPr lang="zh-CN" altLang="en-US" smtClean="0"/>
              <a:t>67</a:t>
            </a:fld>
            <a:endParaRPr lang="zh-CN" altLang="en-US"/>
          </a:p>
        </p:txBody>
      </p:sp>
    </p:spTree>
    <p:extLst>
      <p:ext uri="{BB962C8B-B14F-4D97-AF65-F5344CB8AC3E}">
        <p14:creationId xmlns:p14="http://schemas.microsoft.com/office/powerpoint/2010/main" val="448596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56DB115D-E899-4497-9939-D5855D7C85D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D3D72ECB-6670-4A2A-BB57-CED530432306}" type="slidenum">
              <a:rPr lang="en-US" altLang="zh-CN">
                <a:latin typeface="Times New Roman" panose="02020603050405020304" pitchFamily="18" charset="0"/>
              </a:rPr>
              <a:pPr algn="r" eaLnBrk="1" hangingPunct="1">
                <a:spcBef>
                  <a:spcPct val="0"/>
                </a:spcBef>
              </a:pPr>
              <a:t>69</a:t>
            </a:fld>
            <a:endParaRPr lang="en-US" altLang="zh-CN">
              <a:latin typeface="Times New Roman" panose="02020603050405020304" pitchFamily="18" charset="0"/>
            </a:endParaRPr>
          </a:p>
        </p:txBody>
      </p:sp>
      <p:sp>
        <p:nvSpPr>
          <p:cNvPr id="78851" name="Rectangle 2">
            <a:extLst>
              <a:ext uri="{FF2B5EF4-FFF2-40B4-BE49-F238E27FC236}">
                <a16:creationId xmlns:a16="http://schemas.microsoft.com/office/drawing/2014/main" id="{50203CC8-E146-4637-BC82-7A63993E181E}"/>
              </a:ext>
            </a:extLst>
          </p:cNvPr>
          <p:cNvSpPr>
            <a:spLocks noGrp="1" noRot="1" noChangeAspect="1" noChangeArrowheads="1" noTextEdit="1"/>
          </p:cNvSpPr>
          <p:nvPr>
            <p:ph type="sldImg"/>
          </p:nvPr>
        </p:nvSpPr>
        <p:spPr>
          <a:xfrm>
            <a:off x="1143000" y="534988"/>
            <a:ext cx="4572000" cy="3429000"/>
          </a:xfrm>
          <a:ln/>
        </p:spPr>
      </p:sp>
      <p:sp>
        <p:nvSpPr>
          <p:cNvPr id="78852" name="Rectangle 3">
            <a:extLst>
              <a:ext uri="{FF2B5EF4-FFF2-40B4-BE49-F238E27FC236}">
                <a16:creationId xmlns:a16="http://schemas.microsoft.com/office/drawing/2014/main" id="{69DC0FEE-35D1-42FE-8196-942BCCB66245}"/>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latin typeface="Arial" panose="020B0604020202020204" pitchFamily="34" charset="0"/>
              </a:rPr>
              <a:t>By the time all elements have appeared on the screen, the slide will look kind of busy.  I think this is okay, because the elements appear on the screen one by one, so students have time to absorb each one before the next one appears.  </a:t>
            </a:r>
          </a:p>
          <a:p>
            <a:pPr eaLnBrk="1" hangingPunct="1"/>
            <a:endParaRPr lang="en-US" altLang="zh-CN" dirty="0">
              <a:latin typeface="Arial" panose="020B0604020202020204" pitchFamily="34" charset="0"/>
            </a:endParaRPr>
          </a:p>
          <a:p>
            <a:pPr eaLnBrk="1" hangingPunct="1"/>
            <a:r>
              <a:rPr lang="en-US" altLang="zh-CN" dirty="0">
                <a:latin typeface="Arial" panose="020B0604020202020204" pitchFamily="34" charset="0"/>
              </a:rPr>
              <a:t>However, if you’d rather strip the slide down a bit, here’s a suggestion:  in “Normal” view (which one uses to edit slides), you can delete the boxes that represent the initial and new values of drug-related crime, and the accompanying captions.  Then, when presenting this slide in class, simply point out (with your mouse cursor, a laser pointer, or even your arms and hands) the areas that represent the initial and new values of drug-related crime.  </a:t>
            </a:r>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2367FD-EC38-45E2-8AE4-9D9F51FD9F46}" type="slidenum">
              <a:rPr lang="zh-CN" altLang="en-US" smtClean="0"/>
              <a:t>79</a:t>
            </a:fld>
            <a:endParaRPr lang="zh-CN" altLang="en-US"/>
          </a:p>
        </p:txBody>
      </p:sp>
    </p:spTree>
    <p:extLst>
      <p:ext uri="{BB962C8B-B14F-4D97-AF65-F5344CB8AC3E}">
        <p14:creationId xmlns:p14="http://schemas.microsoft.com/office/powerpoint/2010/main" val="42264195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5360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80052F33-89CF-466F-A806-32F44217493E}" type="slidenum">
              <a:rPr lang="en-US" altLang="zh-CN"/>
              <a:pPr algn="r" eaLnBrk="1" hangingPunct="1">
                <a:spcBef>
                  <a:spcPct val="0"/>
                </a:spcBef>
              </a:pPr>
              <a:t>82</a:t>
            </a:fld>
            <a:endParaRPr lang="en-US" altLang="zh-CN"/>
          </a:p>
        </p:txBody>
      </p:sp>
      <p:sp>
        <p:nvSpPr>
          <p:cNvPr id="153603" name="Rectangle 2"/>
          <p:cNvSpPr>
            <a:spLocks noGrp="1" noRot="1" noChangeAspect="1" noChangeArrowheads="1" noTextEdit="1"/>
          </p:cNvSpPr>
          <p:nvPr>
            <p:ph type="sldImg"/>
          </p:nvPr>
        </p:nvSpPr>
        <p:spPr>
          <a:xfrm>
            <a:off x="1143000" y="534988"/>
            <a:ext cx="4572000" cy="3429000"/>
          </a:xfrm>
          <a:ln/>
        </p:spPr>
      </p:sp>
      <p:sp>
        <p:nvSpPr>
          <p:cNvPr id="153604" name="Rectangle 3"/>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The slides in this section have been revised from the previous edition.  They now better explain why a tax on buyers shifts D down by the amount of the tax, and why a tax on sellers shifts S up by the amount of the tax.    </a:t>
            </a:r>
          </a:p>
          <a:p>
            <a:endParaRPr lang="en-US" altLang="zh-CN">
              <a:latin typeface="Arial" panose="020B0604020202020204" pitchFamily="34" charset="0"/>
            </a:endParaRPr>
          </a:p>
        </p:txBody>
      </p:sp>
    </p:spTree>
    <p:extLst>
      <p:ext uri="{BB962C8B-B14F-4D97-AF65-F5344CB8AC3E}">
        <p14:creationId xmlns:p14="http://schemas.microsoft.com/office/powerpoint/2010/main" val="3557911348"/>
      </p:ext>
    </p:extLst>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5667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9983CE57-C07F-4A5D-889F-5DC398C7EAC7}" type="slidenum">
              <a:rPr lang="en-US" altLang="zh-CN"/>
              <a:pPr algn="r" eaLnBrk="1" hangingPunct="1">
                <a:spcBef>
                  <a:spcPct val="0"/>
                </a:spcBef>
              </a:pPr>
              <a:t>84</a:t>
            </a:fld>
            <a:endParaRPr lang="en-US" altLang="zh-CN"/>
          </a:p>
        </p:txBody>
      </p:sp>
      <p:sp>
        <p:nvSpPr>
          <p:cNvPr id="156675" name="Rectangle 2"/>
          <p:cNvSpPr>
            <a:spLocks noGrp="1" noRot="1" noChangeAspect="1" noChangeArrowheads="1" noTextEdit="1"/>
          </p:cNvSpPr>
          <p:nvPr>
            <p:ph type="sldImg"/>
          </p:nvPr>
        </p:nvSpPr>
        <p:spPr>
          <a:xfrm>
            <a:off x="1143000" y="534988"/>
            <a:ext cx="4572000" cy="3429000"/>
          </a:xfrm>
          <a:ln/>
        </p:spPr>
      </p:sp>
      <p:sp>
        <p:nvSpPr>
          <p:cNvPr id="156676" name="Rectangle 3"/>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NOTE:  On this and subsequent slides, “P</a:t>
            </a:r>
            <a:r>
              <a:rPr lang="en-US" altLang="zh-CN" baseline="-25000">
                <a:latin typeface="Arial" panose="020B0604020202020204" pitchFamily="34" charset="0"/>
              </a:rPr>
              <a:t>B</a:t>
            </a:r>
            <a:r>
              <a:rPr lang="en-US" altLang="zh-CN">
                <a:latin typeface="Arial" panose="020B0604020202020204" pitchFamily="34" charset="0"/>
              </a:rPr>
              <a:t>” denotes the price buyers pay and “P</a:t>
            </a:r>
            <a:r>
              <a:rPr lang="en-US" altLang="zh-CN" baseline="-25000">
                <a:latin typeface="Arial" panose="020B0604020202020204" pitchFamily="34" charset="0"/>
              </a:rPr>
              <a:t>S</a:t>
            </a:r>
            <a:r>
              <a:rPr lang="en-US" altLang="zh-CN">
                <a:latin typeface="Arial" panose="020B0604020202020204" pitchFamily="34" charset="0"/>
              </a:rPr>
              <a:t>” denotes the price sellers receive.  (The Chapter 8 PowerPoint uses the same notation for the welfare analysis of taxes.) </a:t>
            </a:r>
          </a:p>
          <a:p>
            <a:endParaRPr lang="en-US" altLang="zh-CN">
              <a:latin typeface="Arial" panose="020B0604020202020204" pitchFamily="34" charset="0"/>
            </a:endParaRPr>
          </a:p>
          <a:p>
            <a:r>
              <a:rPr lang="en-US" altLang="zh-CN">
                <a:latin typeface="Arial" panose="020B0604020202020204" pitchFamily="34" charset="0"/>
              </a:rPr>
              <a:t>The government makes buyers pay a $1.50 on each pizza they purchase.  The new demand curve (in red, labeled D</a:t>
            </a:r>
            <a:r>
              <a:rPr lang="en-US" altLang="zh-CN" baseline="-25000">
                <a:latin typeface="Arial" panose="020B0604020202020204" pitchFamily="34" charset="0"/>
              </a:rPr>
              <a:t>2</a:t>
            </a:r>
            <a:r>
              <a:rPr lang="en-US" altLang="zh-CN">
                <a:latin typeface="Arial" panose="020B0604020202020204" pitchFamily="34" charset="0"/>
              </a:rPr>
              <a:t>) reflects buyers’ demand as a function of the after-tax price.  The original demand curve (D</a:t>
            </a:r>
            <a:r>
              <a:rPr lang="en-US" altLang="zh-CN" baseline="-25000">
                <a:latin typeface="Arial" panose="020B0604020202020204" pitchFamily="34" charset="0"/>
              </a:rPr>
              <a:t>1</a:t>
            </a:r>
            <a:r>
              <a:rPr lang="en-US" altLang="zh-CN">
                <a:latin typeface="Arial" panose="020B0604020202020204" pitchFamily="34" charset="0"/>
              </a:rPr>
              <a:t>) still reflects buyers’ demand as a function of the total price – inclusive of the tax. </a:t>
            </a:r>
          </a:p>
          <a:p>
            <a:endParaRPr lang="en-US" altLang="zh-CN">
              <a:latin typeface="Arial" panose="020B0604020202020204" pitchFamily="34" charset="0"/>
            </a:endParaRPr>
          </a:p>
          <a:p>
            <a:r>
              <a:rPr lang="en-US" altLang="zh-CN">
                <a:latin typeface="Arial" panose="020B0604020202020204" pitchFamily="34" charset="0"/>
              </a:rPr>
              <a:t>Thus, buyers’ demand hasn’t really changed:  at each quantity, the height of the original (blue) D curve is still the maximum that buyers will pay for that quantity, while the height of the new (red) D curve is the maximum that buyers will pay sellers for that quantity, given that buyers also must pay the tax.  At any Q, the vertical distance between the blue and red D curves equals the tax.  </a:t>
            </a:r>
          </a:p>
          <a:p>
            <a:endParaRPr lang="en-US" altLang="zh-CN">
              <a:latin typeface="Arial" panose="020B0604020202020204" pitchFamily="34" charset="0"/>
            </a:endParaRPr>
          </a:p>
          <a:p>
            <a:r>
              <a:rPr lang="en-US" altLang="zh-CN">
                <a:latin typeface="Arial" panose="020B0604020202020204" pitchFamily="34" charset="0"/>
              </a:rPr>
              <a:t>(If this were a percentage tax rather than a per-unit tax, the new D curve would not be parallel to the old one, it would be flatter:  a tax of a given percentage would be a larger dollar amount at high prices than at low prices, so the downward shift would be greater in absolute terms when P is high than when it is low.  This is the type of complexity we avoid by working with per-unit taxes.) </a:t>
            </a:r>
          </a:p>
        </p:txBody>
      </p:sp>
    </p:spTree>
    <p:extLst>
      <p:ext uri="{BB962C8B-B14F-4D97-AF65-F5344CB8AC3E}">
        <p14:creationId xmlns:p14="http://schemas.microsoft.com/office/powerpoint/2010/main" val="1704041330"/>
      </p:ext>
    </p:extLst>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5974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55D48EEB-4E85-4C59-BE2E-43C4673D049C}" type="slidenum">
              <a:rPr lang="en-US" altLang="zh-CN"/>
              <a:pPr algn="r" eaLnBrk="1" hangingPunct="1">
                <a:spcBef>
                  <a:spcPct val="0"/>
                </a:spcBef>
              </a:pPr>
              <a:t>86</a:t>
            </a:fld>
            <a:endParaRPr lang="en-US" altLang="zh-CN"/>
          </a:p>
        </p:txBody>
      </p:sp>
      <p:sp>
        <p:nvSpPr>
          <p:cNvPr id="159747" name="Rectangle 2"/>
          <p:cNvSpPr>
            <a:spLocks noGrp="1" noRot="1" noChangeAspect="1" noChangeArrowheads="1" noTextEdit="1"/>
          </p:cNvSpPr>
          <p:nvPr>
            <p:ph type="sldImg"/>
          </p:nvPr>
        </p:nvSpPr>
        <p:spPr>
          <a:xfrm>
            <a:off x="1143000" y="534988"/>
            <a:ext cx="4572000" cy="3429000"/>
          </a:xfrm>
          <a:ln/>
        </p:spPr>
      </p:sp>
      <p:sp>
        <p:nvSpPr>
          <p:cNvPr id="159748" name="Rectangle 3"/>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“Market participants” simply means buyers and sellers. </a:t>
            </a:r>
          </a:p>
        </p:txBody>
      </p:sp>
    </p:spTree>
    <p:extLst>
      <p:ext uri="{BB962C8B-B14F-4D97-AF65-F5344CB8AC3E}">
        <p14:creationId xmlns:p14="http://schemas.microsoft.com/office/powerpoint/2010/main" val="489414110"/>
      </p:ext>
    </p:extLst>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179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DE17398B-8867-4B92-9B60-FB4D0B7A2D84}" type="slidenum">
              <a:rPr lang="en-US" altLang="zh-CN"/>
              <a:pPr algn="r" eaLnBrk="1" hangingPunct="1">
                <a:spcBef>
                  <a:spcPct val="0"/>
                </a:spcBef>
              </a:pPr>
              <a:t>87</a:t>
            </a:fld>
            <a:endParaRPr lang="en-US" altLang="zh-CN"/>
          </a:p>
        </p:txBody>
      </p:sp>
      <p:sp>
        <p:nvSpPr>
          <p:cNvPr id="161795" name="Rectangle 2"/>
          <p:cNvSpPr>
            <a:spLocks noGrp="1" noRot="1" noChangeAspect="1" noChangeArrowheads="1" noTextEdit="1"/>
          </p:cNvSpPr>
          <p:nvPr>
            <p:ph type="sldImg"/>
          </p:nvPr>
        </p:nvSpPr>
        <p:spPr>
          <a:xfrm>
            <a:off x="1143000" y="534988"/>
            <a:ext cx="4572000" cy="3429000"/>
          </a:xfrm>
          <a:ln/>
        </p:spPr>
      </p:sp>
      <p:sp>
        <p:nvSpPr>
          <p:cNvPr id="161796" name="Rectangle 3"/>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The government makes sellers pay a $1.50 on each pizza they sell.  The new, red supply curve reflects sellers’ supply as a function of the after-tax price.  </a:t>
            </a:r>
          </a:p>
        </p:txBody>
      </p:sp>
    </p:spTree>
    <p:extLst>
      <p:ext uri="{BB962C8B-B14F-4D97-AF65-F5344CB8AC3E}">
        <p14:creationId xmlns:p14="http://schemas.microsoft.com/office/powerpoint/2010/main" val="3114845831"/>
      </p:ext>
    </p:extLst>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486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D92E0326-7F68-4A15-B276-8C698605E69F}" type="slidenum">
              <a:rPr lang="en-US" altLang="zh-CN"/>
              <a:pPr algn="r" eaLnBrk="1" hangingPunct="1">
                <a:spcBef>
                  <a:spcPct val="0"/>
                </a:spcBef>
              </a:pPr>
              <a:t>89</a:t>
            </a:fld>
            <a:endParaRPr lang="en-US" altLang="zh-CN"/>
          </a:p>
        </p:txBody>
      </p:sp>
      <p:sp>
        <p:nvSpPr>
          <p:cNvPr id="164867" name="Rectangle 2"/>
          <p:cNvSpPr>
            <a:spLocks noGrp="1" noRot="1" noChangeAspect="1" noChangeArrowheads="1" noTextEdit="1"/>
          </p:cNvSpPr>
          <p:nvPr>
            <p:ph type="sldImg"/>
          </p:nvPr>
        </p:nvSpPr>
        <p:spPr>
          <a:xfrm>
            <a:off x="1143000" y="534988"/>
            <a:ext cx="4572000" cy="3429000"/>
          </a:xfrm>
          <a:ln/>
        </p:spPr>
      </p:sp>
      <p:sp>
        <p:nvSpPr>
          <p:cNvPr id="164868" name="Rectangle 3"/>
          <p:cNvSpPr>
            <a:spLocks noGrp="1" noChangeArrowheads="1"/>
          </p:cNvSpPr>
          <p:nvPr>
            <p:ph type="body" idx="1"/>
          </p:nvPr>
        </p:nvSpPr>
        <p:spPr>
          <a:xfrm>
            <a:off x="685800" y="4171950"/>
            <a:ext cx="5486400" cy="4419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000">
                <a:latin typeface="Arial" panose="020B0604020202020204" pitchFamily="34" charset="0"/>
              </a:rPr>
              <a:t>Whether the government makes buyers or sellers pay the tax, all of the effects are the same:</a:t>
            </a:r>
          </a:p>
          <a:p>
            <a:r>
              <a:rPr lang="en-US" altLang="zh-CN" sz="1000">
                <a:latin typeface="Arial" panose="020B0604020202020204" pitchFamily="34" charset="0"/>
              </a:rPr>
              <a:t>   - the price buyers pay rises (in this case to $11)</a:t>
            </a:r>
          </a:p>
          <a:p>
            <a:r>
              <a:rPr lang="en-US" altLang="zh-CN" sz="1000">
                <a:latin typeface="Arial" panose="020B0604020202020204" pitchFamily="34" charset="0"/>
              </a:rPr>
              <a:t>   - the price sellers receive falls (to $9.50)</a:t>
            </a:r>
          </a:p>
          <a:p>
            <a:r>
              <a:rPr lang="en-US" altLang="zh-CN" sz="1000">
                <a:latin typeface="Arial" panose="020B0604020202020204" pitchFamily="34" charset="0"/>
              </a:rPr>
              <a:t>   - the equilibrium quantity falls (to 450)</a:t>
            </a:r>
          </a:p>
          <a:p>
            <a:r>
              <a:rPr lang="en-US" altLang="zh-CN" sz="1000">
                <a:latin typeface="Arial" panose="020B0604020202020204" pitchFamily="34" charset="0"/>
              </a:rPr>
              <a:t>   - the incidence of the tax is the same (here, buyers pay $1 of the tax, while sellers pay $.50 of the tax on each unit)</a:t>
            </a:r>
          </a:p>
          <a:p>
            <a:endParaRPr lang="en-US" altLang="zh-CN" sz="1000">
              <a:latin typeface="Arial" panose="020B0604020202020204" pitchFamily="34" charset="0"/>
            </a:endParaRPr>
          </a:p>
          <a:p>
            <a:r>
              <a:rPr lang="en-US" altLang="zh-CN" sz="1000">
                <a:latin typeface="Arial" panose="020B0604020202020204" pitchFamily="34" charset="0"/>
              </a:rPr>
              <a:t>This should make sense if students think it through:  A tax on buyers means buyers will have to pay more, which causes their demand to fall.  The fall in demand hurts sellers, forcing them to reduce their price.  Similarly, a tax on sellers is like a cost increase, and sellers pass along a portion of that increase to buyers in the form of higher prices.  </a:t>
            </a:r>
          </a:p>
          <a:p>
            <a:endParaRPr lang="en-US" altLang="zh-CN" sz="1000">
              <a:latin typeface="Arial" panose="020B0604020202020204" pitchFamily="34" charset="0"/>
            </a:endParaRPr>
          </a:p>
          <a:p>
            <a:r>
              <a:rPr lang="en-US" altLang="zh-CN" sz="1000">
                <a:latin typeface="Arial" panose="020B0604020202020204" pitchFamily="34" charset="0"/>
              </a:rPr>
              <a:t>The equivalence of taxes on buyers and taxes on sellers means that we can ignore whether the tax is imposed on buyers or sellers.  All that matters is the size of the tax.  </a:t>
            </a:r>
          </a:p>
          <a:p>
            <a:endParaRPr lang="en-US" altLang="zh-CN" sz="1000">
              <a:latin typeface="Arial" panose="020B0604020202020204" pitchFamily="34" charset="0"/>
            </a:endParaRPr>
          </a:p>
          <a:p>
            <a:r>
              <a:rPr lang="en-US" altLang="zh-CN" sz="1000">
                <a:latin typeface="Arial" panose="020B0604020202020204" pitchFamily="34" charset="0"/>
              </a:rPr>
              <a:t>So, in future problems, we can think of the tax as a wedge between the price buyers pay and the price sellers receive.  On a supply-demand diagram, this wedge is a vertical line segment (shown in green on this graph).  You can think of taking a toothpick the size of the tax and wedging it between the S and D curves.  The quantity at which the toothpick fits just snuggly is the new equilibrium quantity.  Students will have a chance to practice this in a moment with an exercise.  </a:t>
            </a:r>
          </a:p>
          <a:p>
            <a:endParaRPr lang="en-US" altLang="zh-CN" sz="1000">
              <a:latin typeface="Arial" panose="020B0604020202020204" pitchFamily="34" charset="0"/>
            </a:endParaRPr>
          </a:p>
          <a:p>
            <a:r>
              <a:rPr lang="en-US" altLang="zh-CN" sz="1000">
                <a:latin typeface="Arial" panose="020B0604020202020204" pitchFamily="34" charset="0"/>
              </a:rPr>
              <a:t>One last remark:  Someone once said “if you want less of something, tax it.”  A tax on any good or service causes a fall in its quantity.  This is because people respond to incentives:  </a:t>
            </a:r>
            <a:br>
              <a:rPr lang="en-US" altLang="zh-CN" sz="1000">
                <a:latin typeface="Arial" panose="020B0604020202020204" pitchFamily="34" charset="0"/>
              </a:rPr>
            </a:br>
            <a:r>
              <a:rPr lang="en-US" altLang="zh-CN" sz="1000">
                <a:latin typeface="Arial" panose="020B0604020202020204" pitchFamily="34" charset="0"/>
              </a:rPr>
              <a:t>the tax gives buyers an incentive to buy less and gives sellers an incentive to produce less. </a:t>
            </a:r>
          </a:p>
        </p:txBody>
      </p:sp>
    </p:spTree>
    <p:extLst>
      <p:ext uri="{BB962C8B-B14F-4D97-AF65-F5344CB8AC3E}">
        <p14:creationId xmlns:p14="http://schemas.microsoft.com/office/powerpoint/2010/main" val="3418190265"/>
      </p:ext>
    </p:extLst>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691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2DEE9D90-1455-46CC-8118-253610F79843}" type="slidenum">
              <a:rPr lang="en-US" altLang="zh-CN"/>
              <a:pPr algn="r" eaLnBrk="1" hangingPunct="1">
                <a:spcBef>
                  <a:spcPct val="0"/>
                </a:spcBef>
              </a:pPr>
              <a:t>90</a:t>
            </a:fld>
            <a:endParaRPr lang="en-US" altLang="zh-CN"/>
          </a:p>
        </p:txBody>
      </p:sp>
      <p:sp>
        <p:nvSpPr>
          <p:cNvPr id="166915" name="Rectangle 2"/>
          <p:cNvSpPr>
            <a:spLocks noGrp="1" noRot="1" noChangeAspect="1" noChangeArrowheads="1" noTextEdit="1"/>
          </p:cNvSpPr>
          <p:nvPr>
            <p:ph type="sldImg"/>
          </p:nvPr>
        </p:nvSpPr>
        <p:spPr>
          <a:xfrm>
            <a:off x="1143000" y="534988"/>
            <a:ext cx="4572000" cy="3429000"/>
          </a:xfrm>
          <a:ln/>
        </p:spPr>
      </p:sp>
      <p:sp>
        <p:nvSpPr>
          <p:cNvPr id="166916" name="Rectangle 3"/>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We have just seen that tax incidence is not affected by whether the government makes buyers or sellers pay the tax.  So what, then, does determine tax incidence?  Turns out it’s elasticity – specifically, the price elasticities of supply and demand. </a:t>
            </a:r>
          </a:p>
          <a:p>
            <a:endParaRPr lang="en-US" altLang="zh-CN">
              <a:latin typeface="Arial" panose="020B0604020202020204" pitchFamily="34" charset="0"/>
            </a:endParaRPr>
          </a:p>
          <a:p>
            <a:r>
              <a:rPr lang="en-US" altLang="zh-CN">
                <a:latin typeface="Arial" panose="020B0604020202020204" pitchFamily="34" charset="0"/>
              </a:rPr>
              <a:t>There are two cases:  1) supply is more price-elastic than demand (this slide), and 2) demand is more price-elastic than supply (next slide).  </a:t>
            </a:r>
          </a:p>
          <a:p>
            <a:endParaRPr lang="en-US" altLang="zh-CN">
              <a:latin typeface="Arial" panose="020B0604020202020204" pitchFamily="34" charset="0"/>
            </a:endParaRPr>
          </a:p>
          <a:p>
            <a:r>
              <a:rPr lang="en-US" altLang="zh-CN">
                <a:latin typeface="Arial" panose="020B0604020202020204" pitchFamily="34" charset="0"/>
              </a:rPr>
              <a:t>When supply is more price-elastic than demand, sellers are relatively more responsive to changes in price, and the supply curve is less steep than the demand curve.  Buyers have relatively fewer alternatives, so they have to “eat” most of the price increase caused by the imposition of the tax.  </a:t>
            </a:r>
          </a:p>
          <a:p>
            <a:endParaRPr lang="en-US" altLang="zh-CN">
              <a:latin typeface="Arial" panose="020B0604020202020204" pitchFamily="34" charset="0"/>
            </a:endParaRPr>
          </a:p>
          <a:p>
            <a:r>
              <a:rPr lang="en-US" altLang="zh-CN">
                <a:latin typeface="Arial" panose="020B0604020202020204" pitchFamily="34" charset="0"/>
              </a:rPr>
              <a:t>As the textbook puts it, sellers can more easily leave the market in response to the tax than can buyers.  Thus, buyers are stuck bearing most of the burden of the tax.  </a:t>
            </a:r>
          </a:p>
          <a:p>
            <a:r>
              <a:rPr lang="en-US" altLang="zh-CN">
                <a:latin typeface="Arial" panose="020B0604020202020204" pitchFamily="34" charset="0"/>
              </a:rPr>
              <a:t>  </a:t>
            </a:r>
          </a:p>
        </p:txBody>
      </p:sp>
    </p:spTree>
    <p:extLst>
      <p:ext uri="{BB962C8B-B14F-4D97-AF65-F5344CB8AC3E}">
        <p14:creationId xmlns:p14="http://schemas.microsoft.com/office/powerpoint/2010/main" val="3078225658"/>
      </p:ext>
    </p:extLst>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6896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22BD0AF4-6869-4C6B-A6EB-D761279C532D}" type="slidenum">
              <a:rPr lang="en-US" altLang="zh-CN"/>
              <a:pPr algn="r" eaLnBrk="1" hangingPunct="1">
                <a:spcBef>
                  <a:spcPct val="0"/>
                </a:spcBef>
              </a:pPr>
              <a:t>91</a:t>
            </a:fld>
            <a:endParaRPr lang="en-US" altLang="zh-CN"/>
          </a:p>
        </p:txBody>
      </p:sp>
      <p:sp>
        <p:nvSpPr>
          <p:cNvPr id="168963" name="Rectangle 2"/>
          <p:cNvSpPr>
            <a:spLocks noGrp="1" noRot="1" noChangeAspect="1" noChangeArrowheads="1" noTextEdit="1"/>
          </p:cNvSpPr>
          <p:nvPr>
            <p:ph type="sldImg"/>
          </p:nvPr>
        </p:nvSpPr>
        <p:spPr>
          <a:xfrm>
            <a:off x="1143000" y="534988"/>
            <a:ext cx="4572000" cy="3429000"/>
          </a:xfrm>
          <a:ln/>
        </p:spPr>
      </p:sp>
      <p:sp>
        <p:nvSpPr>
          <p:cNvPr id="168964" name="Rectangle 3"/>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The size of the tax is the same in this diagram as in the one on the preceding slide. </a:t>
            </a:r>
          </a:p>
          <a:p>
            <a:endParaRPr lang="en-US" altLang="zh-CN">
              <a:latin typeface="Arial" panose="020B0604020202020204" pitchFamily="34" charset="0"/>
            </a:endParaRPr>
          </a:p>
          <a:p>
            <a:r>
              <a:rPr lang="en-US" altLang="zh-CN">
                <a:latin typeface="Arial" panose="020B0604020202020204" pitchFamily="34" charset="0"/>
              </a:rPr>
              <a:t>When demand is more price-elastic than supply, buyers are relatively more price-sensitive, and the demand curve is less steep than the supply curve.  Buyers have relatively more alternatives, so they can avoid most of the tax.  Sellers are less flexible, so they have to “eat” a greater share of the price increase caused by the tax.  </a:t>
            </a:r>
          </a:p>
          <a:p>
            <a:endParaRPr lang="en-US" altLang="zh-CN">
              <a:latin typeface="Arial" panose="020B0604020202020204" pitchFamily="34" charset="0"/>
            </a:endParaRPr>
          </a:p>
          <a:p>
            <a:r>
              <a:rPr lang="en-US" altLang="zh-CN">
                <a:latin typeface="Arial" panose="020B0604020202020204" pitchFamily="34" charset="0"/>
              </a:rPr>
              <a:t>From the textbook:  </a:t>
            </a:r>
          </a:p>
          <a:p>
            <a:r>
              <a:rPr lang="en-US" altLang="zh-CN">
                <a:latin typeface="Arial" panose="020B0604020202020204" pitchFamily="34" charset="0"/>
              </a:rPr>
              <a:t>Buyers can more easily leave the market than sellers in response to the tax.  Thus, sellers end up with most of the burden of the tax.</a:t>
            </a:r>
          </a:p>
          <a:p>
            <a:endParaRPr lang="en-US" altLang="zh-CN">
              <a:latin typeface="Arial" panose="020B0604020202020204" pitchFamily="34" charset="0"/>
            </a:endParaRPr>
          </a:p>
        </p:txBody>
      </p:sp>
    </p:spTree>
    <p:extLst>
      <p:ext uri="{BB962C8B-B14F-4D97-AF65-F5344CB8AC3E}">
        <p14:creationId xmlns:p14="http://schemas.microsoft.com/office/powerpoint/2010/main" val="3147377813"/>
      </p:ext>
    </p:extLst>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7101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09FD8949-7B58-4457-9DCA-548455651526}" type="slidenum">
              <a:rPr lang="en-US" altLang="zh-CN"/>
              <a:pPr algn="r" eaLnBrk="1" hangingPunct="1">
                <a:spcBef>
                  <a:spcPct val="0"/>
                </a:spcBef>
              </a:pPr>
              <a:t>92</a:t>
            </a:fld>
            <a:endParaRPr lang="en-US" altLang="zh-CN"/>
          </a:p>
        </p:txBody>
      </p:sp>
      <p:sp>
        <p:nvSpPr>
          <p:cNvPr id="171011" name="Rectangle 2"/>
          <p:cNvSpPr>
            <a:spLocks noGrp="1" noRot="1" noChangeAspect="1" noChangeArrowheads="1" noTextEdit="1"/>
          </p:cNvSpPr>
          <p:nvPr>
            <p:ph type="sldImg"/>
          </p:nvPr>
        </p:nvSpPr>
        <p:spPr>
          <a:xfrm>
            <a:off x="1143000" y="534988"/>
            <a:ext cx="4572000" cy="3429000"/>
          </a:xfrm>
          <a:ln/>
        </p:spPr>
      </p:sp>
      <p:sp>
        <p:nvSpPr>
          <p:cNvPr id="171012" name="Rectangle 3"/>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This case study shows students an interesting real-world example of the material they just learned.  </a:t>
            </a:r>
          </a:p>
          <a:p>
            <a:endParaRPr lang="en-US" altLang="zh-CN">
              <a:latin typeface="Arial" panose="020B0604020202020204" pitchFamily="34" charset="0"/>
            </a:endParaRPr>
          </a:p>
          <a:p>
            <a:r>
              <a:rPr lang="en-US" altLang="zh-CN">
                <a:latin typeface="Arial" panose="020B0604020202020204" pitchFamily="34" charset="0"/>
              </a:rPr>
              <a:t>If you’re pressed for time, it is probably safe to skip it and let students read it on their own.  It does not introduce any new concepts, and most students do not find it difficult to read. </a:t>
            </a:r>
          </a:p>
        </p:txBody>
      </p:sp>
    </p:spTree>
    <p:extLst>
      <p:ext uri="{BB962C8B-B14F-4D97-AF65-F5344CB8AC3E}">
        <p14:creationId xmlns:p14="http://schemas.microsoft.com/office/powerpoint/2010/main" val="1432598565"/>
      </p:ext>
    </p:extLst>
  </p:cSld>
  <p:clrMapOvr>
    <a:overrideClrMapping bg1="lt1" tx1="dk1" bg2="lt2" tx2="dk2" accent1="accent1" accent2="accent2" accent3="accent3" accent4="accent4" accent5="accent5" accent6="accent6" hlink="hlink" folHlink="folHlink"/>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2367FD-EC38-45E2-8AE4-9D9F51FD9F46}" type="slidenum">
              <a:rPr lang="zh-CN" altLang="en-US" smtClean="0"/>
              <a:t>93</a:t>
            </a:fld>
            <a:endParaRPr lang="zh-CN" altLang="en-US"/>
          </a:p>
        </p:txBody>
      </p:sp>
    </p:spTree>
    <p:extLst>
      <p:ext uri="{BB962C8B-B14F-4D97-AF65-F5344CB8AC3E}">
        <p14:creationId xmlns:p14="http://schemas.microsoft.com/office/powerpoint/2010/main" val="42241004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6963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C2E00F20-F5D1-4314-A1AD-65A6405050A6}" type="slidenum">
              <a:rPr lang="en-US" altLang="zh-CN">
                <a:latin typeface="Times New Roman" panose="02020603050405020304" pitchFamily="18" charset="0"/>
              </a:rPr>
              <a:pPr algn="r" eaLnBrk="1" hangingPunct="1">
                <a:spcBef>
                  <a:spcPct val="0"/>
                </a:spcBef>
              </a:pPr>
              <a:t>96</a:t>
            </a:fld>
            <a:endParaRPr lang="en-US" altLang="zh-CN">
              <a:latin typeface="Times New Roman" panose="02020603050405020304" pitchFamily="18"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Arial" panose="020B0604020202020204" pitchFamily="34" charset="0"/>
              </a:rPr>
              <a:t>In the “Normal” view (edit mode), the labels over the graph look cluttered, like they’re on top of each other.  This is not a mistake – in “Slide Show” mode (presentation mode), all will be fine – try it!  </a:t>
            </a:r>
          </a:p>
          <a:p>
            <a:pPr eaLnBrk="1" hangingPunct="1"/>
            <a:endParaRPr lang="en-US" altLang="zh-CN">
              <a:latin typeface="Arial" panose="020B0604020202020204" pitchFamily="34" charset="0"/>
            </a:endParaRPr>
          </a:p>
          <a:p>
            <a:pPr eaLnBrk="1" hangingPunct="1"/>
            <a:r>
              <a:rPr lang="en-US" altLang="zh-CN">
                <a:latin typeface="Arial" panose="020B0604020202020204" pitchFamily="34" charset="0"/>
              </a:rPr>
              <a:t>Point out to students that the area (outlined in blue) representing lost revenue due to lower Q is larger than the area (outlined in yellow) representing increased revenue due to higher P.  Hence, the net effect is a fall in revenue. </a:t>
            </a:r>
          </a:p>
        </p:txBody>
      </p:sp>
    </p:spTree>
    <p:extLst>
      <p:ext uri="{BB962C8B-B14F-4D97-AF65-F5344CB8AC3E}">
        <p14:creationId xmlns:p14="http://schemas.microsoft.com/office/powerpoint/2010/main" val="595032179"/>
      </p:ext>
    </p:extLst>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270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0B4D1525-5D97-45E5-BF05-795EF2382C25}" type="slidenum">
              <a:rPr lang="en-US" altLang="zh-CN">
                <a:latin typeface="Times New Roman" panose="02020603050405020304" pitchFamily="18" charset="0"/>
              </a:rPr>
              <a:pPr algn="r" eaLnBrk="1" hangingPunct="1">
                <a:spcBef>
                  <a:spcPct val="0"/>
                </a:spcBef>
              </a:pPr>
              <a:t>98</a:t>
            </a:fld>
            <a:endParaRPr lang="en-US" altLang="zh-CN">
              <a:latin typeface="Times New Roman" panose="02020603050405020304"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Arial" panose="020B0604020202020204" pitchFamily="34" charset="0"/>
              </a:rPr>
              <a:t>Again, the slide appears cluttered in “Normal” view (edit mode), but everything is fine when displayed in “Slide Show” mode (presentation mode).  </a:t>
            </a:r>
          </a:p>
          <a:p>
            <a:pPr eaLnBrk="1" hangingPunct="1"/>
            <a:endParaRPr lang="en-US" altLang="zh-CN">
              <a:latin typeface="Arial" panose="020B0604020202020204" pitchFamily="34" charset="0"/>
            </a:endParaRPr>
          </a:p>
          <a:p>
            <a:pPr eaLnBrk="1" hangingPunct="1"/>
            <a:r>
              <a:rPr lang="en-US" altLang="zh-CN">
                <a:latin typeface="Arial" panose="020B0604020202020204" pitchFamily="34" charset="0"/>
              </a:rPr>
              <a:t>Point out to students that the area representing lost revenue due to lower Q is smaller than the area representing increased revenue due to higher P.  Hence, the net effect is an increase in revenue.</a:t>
            </a:r>
          </a:p>
          <a:p>
            <a:pPr eaLnBrk="1" hangingPunct="1"/>
            <a:endParaRPr lang="en-US" altLang="zh-CN">
              <a:latin typeface="Arial" panose="020B0604020202020204" pitchFamily="34" charset="0"/>
            </a:endParaRPr>
          </a:p>
          <a:p>
            <a:pPr eaLnBrk="1" hangingPunct="1"/>
            <a:r>
              <a:rPr lang="en-US" altLang="zh-CN">
                <a:latin typeface="Arial" panose="020B0604020202020204" pitchFamily="34" charset="0"/>
              </a:rPr>
              <a:t>The knife-edge case, not shown here but perhaps worth mentioning in class, is unit-elastic demand.  In that case, an increase in price leaves revenue unchanged:  the increase in revenue from higher P exactly offsets the lost revenue due to lower Q.  </a:t>
            </a:r>
          </a:p>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2503785465"/>
      </p:ext>
    </p:extLst>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3579AF1A-20F8-4294-9C90-828A534E493A}" type="slidenum">
              <a:rPr lang="en-US" altLang="zh-CN"/>
              <a:pPr>
                <a:defRPr/>
              </a:pPr>
              <a:t>‹#›</a:t>
            </a:fld>
            <a:endParaRPr lang="en-US" altLang="zh-CN"/>
          </a:p>
        </p:txBody>
      </p:sp>
    </p:spTree>
    <p:extLst>
      <p:ext uri="{BB962C8B-B14F-4D97-AF65-F5344CB8AC3E}">
        <p14:creationId xmlns:p14="http://schemas.microsoft.com/office/powerpoint/2010/main" val="159303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8FFA078-0650-4E60-B7C7-6857E0985CC1}" type="slidenum">
              <a:rPr lang="en-US" altLang="zh-CN"/>
              <a:pPr>
                <a:defRPr/>
              </a:pPr>
              <a:t>‹#›</a:t>
            </a:fld>
            <a:endParaRPr lang="en-US" altLang="zh-CN"/>
          </a:p>
        </p:txBody>
      </p:sp>
    </p:spTree>
    <p:extLst>
      <p:ext uri="{BB962C8B-B14F-4D97-AF65-F5344CB8AC3E}">
        <p14:creationId xmlns:p14="http://schemas.microsoft.com/office/powerpoint/2010/main" val="2106296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41A7948-C25B-4836-9E7A-C71F1C0AD9A8}" type="slidenum">
              <a:rPr lang="en-US" altLang="zh-CN"/>
              <a:pPr>
                <a:defRPr/>
              </a:pPr>
              <a:t>‹#›</a:t>
            </a:fld>
            <a:endParaRPr lang="en-US" altLang="zh-CN"/>
          </a:p>
        </p:txBody>
      </p:sp>
    </p:spTree>
    <p:extLst>
      <p:ext uri="{BB962C8B-B14F-4D97-AF65-F5344CB8AC3E}">
        <p14:creationId xmlns:p14="http://schemas.microsoft.com/office/powerpoint/2010/main" val="3796476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CFA879F-FB53-43B7-A39E-35ED145E9ECC}" type="slidenum">
              <a:rPr lang="en-US" altLang="zh-CN"/>
              <a:pPr>
                <a:defRPr/>
              </a:pPr>
              <a:t>‹#›</a:t>
            </a:fld>
            <a:endParaRPr lang="en-US" altLang="zh-CN"/>
          </a:p>
        </p:txBody>
      </p:sp>
    </p:spTree>
    <p:extLst>
      <p:ext uri="{BB962C8B-B14F-4D97-AF65-F5344CB8AC3E}">
        <p14:creationId xmlns:p14="http://schemas.microsoft.com/office/powerpoint/2010/main" val="2397367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6FC54CE5-27DD-4D36-956A-4A078CB2DF79}" type="slidenum">
              <a:rPr lang="en-US" altLang="zh-CN"/>
              <a:pPr>
                <a:defRPr/>
              </a:pPr>
              <a:t>‹#›</a:t>
            </a:fld>
            <a:endParaRPr lang="en-US" altLang="zh-CN"/>
          </a:p>
        </p:txBody>
      </p:sp>
    </p:spTree>
    <p:extLst>
      <p:ext uri="{BB962C8B-B14F-4D97-AF65-F5344CB8AC3E}">
        <p14:creationId xmlns:p14="http://schemas.microsoft.com/office/powerpoint/2010/main" val="2769235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E9634ADE-7272-48BA-8312-DCAD114F9D49}" type="slidenum">
              <a:rPr lang="en-US" altLang="zh-CN"/>
              <a:pPr>
                <a:defRPr/>
              </a:pPr>
              <a:t>‹#›</a:t>
            </a:fld>
            <a:endParaRPr lang="en-US" altLang="zh-CN"/>
          </a:p>
        </p:txBody>
      </p:sp>
    </p:spTree>
    <p:extLst>
      <p:ext uri="{BB962C8B-B14F-4D97-AF65-F5344CB8AC3E}">
        <p14:creationId xmlns:p14="http://schemas.microsoft.com/office/powerpoint/2010/main" val="3013077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882D3C59-4FF3-4DFA-B0A7-4FE174B5BC0D}" type="slidenum">
              <a:rPr lang="en-US" altLang="zh-CN"/>
              <a:pPr>
                <a:defRPr/>
              </a:pPr>
              <a:t>‹#›</a:t>
            </a:fld>
            <a:endParaRPr lang="en-US" altLang="zh-CN"/>
          </a:p>
        </p:txBody>
      </p:sp>
    </p:spTree>
    <p:extLst>
      <p:ext uri="{BB962C8B-B14F-4D97-AF65-F5344CB8AC3E}">
        <p14:creationId xmlns:p14="http://schemas.microsoft.com/office/powerpoint/2010/main" val="3065270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AD73E0A4-7446-4CCE-94DA-A84E8A72CBE3}" type="slidenum">
              <a:rPr lang="en-US" altLang="zh-CN"/>
              <a:pPr>
                <a:defRPr/>
              </a:pPr>
              <a:t>‹#›</a:t>
            </a:fld>
            <a:endParaRPr lang="en-US" altLang="zh-CN"/>
          </a:p>
        </p:txBody>
      </p:sp>
    </p:spTree>
    <p:extLst>
      <p:ext uri="{BB962C8B-B14F-4D97-AF65-F5344CB8AC3E}">
        <p14:creationId xmlns:p14="http://schemas.microsoft.com/office/powerpoint/2010/main" val="2763939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115DE386-3890-4113-AF3B-B5E740477472}" type="slidenum">
              <a:rPr lang="en-US" altLang="zh-CN"/>
              <a:pPr>
                <a:defRPr/>
              </a:pPr>
              <a:t>‹#›</a:t>
            </a:fld>
            <a:endParaRPr lang="en-US" altLang="zh-CN"/>
          </a:p>
        </p:txBody>
      </p:sp>
    </p:spTree>
    <p:extLst>
      <p:ext uri="{BB962C8B-B14F-4D97-AF65-F5344CB8AC3E}">
        <p14:creationId xmlns:p14="http://schemas.microsoft.com/office/powerpoint/2010/main" val="1676762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66B8186-31BB-413B-B683-B56F21227E53}" type="slidenum">
              <a:rPr lang="en-US" altLang="zh-CN"/>
              <a:pPr>
                <a:defRPr/>
              </a:pPr>
              <a:t>‹#›</a:t>
            </a:fld>
            <a:endParaRPr lang="en-US" altLang="zh-CN"/>
          </a:p>
        </p:txBody>
      </p:sp>
    </p:spTree>
    <p:extLst>
      <p:ext uri="{BB962C8B-B14F-4D97-AF65-F5344CB8AC3E}">
        <p14:creationId xmlns:p14="http://schemas.microsoft.com/office/powerpoint/2010/main" val="1868583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8925" y="333375"/>
            <a:ext cx="2058988" cy="57927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333375"/>
            <a:ext cx="6029325" cy="579278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3D3BD33-9002-453E-9ED9-E6B4A13E712E}" type="slidenum">
              <a:rPr lang="en-US" altLang="zh-CN"/>
              <a:pPr>
                <a:defRPr/>
              </a:pPr>
              <a:t>‹#›</a:t>
            </a:fld>
            <a:endParaRPr lang="en-US" altLang="zh-CN"/>
          </a:p>
        </p:txBody>
      </p:sp>
    </p:spTree>
    <p:extLst>
      <p:ext uri="{BB962C8B-B14F-4D97-AF65-F5344CB8AC3E}">
        <p14:creationId xmlns:p14="http://schemas.microsoft.com/office/powerpoint/2010/main" val="21219856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68313" y="3333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27" name="Rectangle 3"/>
          <p:cNvSpPr>
            <a:spLocks noGrp="1" noChangeArrowheads="1"/>
          </p:cNvSpPr>
          <p:nvPr>
            <p:ph type="body" idx="1"/>
          </p:nvPr>
        </p:nvSpPr>
        <p:spPr bwMode="auto">
          <a:xfrm>
            <a:off x="457200" y="1341438"/>
            <a:ext cx="8229600"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buFont typeface="Arial" panose="020B0604020202020204" pitchFamily="34" charset="0"/>
              <a:buNone/>
              <a:defRPr sz="1400" smtClean="0"/>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eaLnBrk="1" hangingPunct="1">
              <a:buFont typeface="Arial" panose="020B0604020202020204" pitchFamily="34" charset="0"/>
              <a:buNone/>
              <a:defRPr sz="1400" smtClean="0"/>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400" smtClean="0"/>
            </a:lvl1pPr>
          </a:lstStyle>
          <a:p>
            <a:pPr>
              <a:defRPr/>
            </a:pPr>
            <a:fld id="{22B9E11B-6297-4242-8E4C-79BB72D8DB3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7" r:id="rId10"/>
    <p:sldLayoutId id="2147484008" r:id="rId11"/>
  </p:sldLayoutIdLst>
  <p:txStyles>
    <p:titleStyle>
      <a:lvl1pPr algn="l" rtl="0" eaLnBrk="0" fontAlgn="base" hangingPunct="0">
        <a:spcBef>
          <a:spcPct val="0"/>
        </a:spcBef>
        <a:spcAft>
          <a:spcPct val="0"/>
        </a:spcAft>
        <a:defRPr sz="3600" kern="12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5pPr>
      <a:lvl6pPr marL="4572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6pPr>
      <a:lvl7pPr marL="9144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7pPr>
      <a:lvl8pPr marL="13716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8pPr>
      <a:lvl9pPr marL="18288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slideLayout" Target="../slideLayouts/slideLayout1.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20.wmf"/><Relationship Id="rId18" Type="http://schemas.openxmlformats.org/officeDocument/2006/relationships/image" Target="../media/image14.png"/><Relationship Id="rId3" Type="http://schemas.openxmlformats.org/officeDocument/2006/relationships/oleObject" Target="../embeddings/oleObject1.bin"/><Relationship Id="rId7" Type="http://schemas.openxmlformats.org/officeDocument/2006/relationships/image" Target="../media/image17.wmf"/><Relationship Id="rId12" Type="http://schemas.openxmlformats.org/officeDocument/2006/relationships/oleObject" Target="../embeddings/oleObject5.bin"/><Relationship Id="rId17" Type="http://schemas.openxmlformats.org/officeDocument/2006/relationships/image" Target="../media/image22.wmf"/><Relationship Id="rId2" Type="http://schemas.openxmlformats.org/officeDocument/2006/relationships/slideLayout" Target="../slideLayouts/slideLayout1.xml"/><Relationship Id="rId16" Type="http://schemas.openxmlformats.org/officeDocument/2006/relationships/oleObject" Target="../embeddings/oleObject7.bin"/><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19.wmf"/><Relationship Id="rId5" Type="http://schemas.openxmlformats.org/officeDocument/2006/relationships/chart" Target="../charts/chart1.xml"/><Relationship Id="rId15" Type="http://schemas.openxmlformats.org/officeDocument/2006/relationships/image" Target="../media/image21.wmf"/><Relationship Id="rId10" Type="http://schemas.openxmlformats.org/officeDocument/2006/relationships/oleObject" Target="../embeddings/oleObject4.bin"/><Relationship Id="rId4" Type="http://schemas.openxmlformats.org/officeDocument/2006/relationships/image" Target="../media/image16.wmf"/><Relationship Id="rId9" Type="http://schemas.openxmlformats.org/officeDocument/2006/relationships/image" Target="../media/image18.wmf"/><Relationship Id="rId14"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tags" Target="../tags/tag17.xml"/><Relationship Id="rId7" Type="http://schemas.openxmlformats.org/officeDocument/2006/relationships/slideLayout" Target="../slideLayouts/slideLayout1.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s>
</file>

<file path=ppt/slides/_rels/slide12.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slideLayout" Target="../slideLayouts/slideLayout1.xml"/><Relationship Id="rId4" Type="http://schemas.openxmlformats.org/officeDocument/2006/relationships/tags" Target="../tags/tag24.xml"/></Relationships>
</file>

<file path=ppt/slides/_rels/slide13.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slideLayout" Target="../slideLayouts/slideLayout1.xml"/><Relationship Id="rId4" Type="http://schemas.openxmlformats.org/officeDocument/2006/relationships/tags" Target="../tags/tag28.xml"/></Relationships>
</file>

<file path=ppt/slides/_rels/slide14.xml.rels><?xml version="1.0" encoding="UTF-8" standalone="yes"?>
<Relationships xmlns="http://schemas.openxmlformats.org/package/2006/relationships"><Relationship Id="rId8" Type="http://schemas.openxmlformats.org/officeDocument/2006/relationships/image" Target="../media/image25.wmf"/><Relationship Id="rId13" Type="http://schemas.openxmlformats.org/officeDocument/2006/relationships/oleObject" Target="../embeddings/oleObject13.bin"/><Relationship Id="rId18" Type="http://schemas.openxmlformats.org/officeDocument/2006/relationships/oleObject" Target="../embeddings/oleObject17.bin"/><Relationship Id="rId3" Type="http://schemas.openxmlformats.org/officeDocument/2006/relationships/oleObject" Target="../embeddings/oleObject8.bin"/><Relationship Id="rId21" Type="http://schemas.openxmlformats.org/officeDocument/2006/relationships/oleObject" Target="../embeddings/oleObject19.bin"/><Relationship Id="rId7" Type="http://schemas.openxmlformats.org/officeDocument/2006/relationships/oleObject" Target="../embeddings/oleObject10.bin"/><Relationship Id="rId12" Type="http://schemas.openxmlformats.org/officeDocument/2006/relationships/image" Target="../media/image27.wmf"/><Relationship Id="rId17" Type="http://schemas.openxmlformats.org/officeDocument/2006/relationships/oleObject" Target="../embeddings/oleObject16.bin"/><Relationship Id="rId2" Type="http://schemas.openxmlformats.org/officeDocument/2006/relationships/slideLayout" Target="../slideLayouts/slideLayout1.xml"/><Relationship Id="rId16" Type="http://schemas.openxmlformats.org/officeDocument/2006/relationships/oleObject" Target="../embeddings/oleObject15.bin"/><Relationship Id="rId20" Type="http://schemas.openxmlformats.org/officeDocument/2006/relationships/oleObject" Target="../embeddings/oleObject18.bin"/><Relationship Id="rId1" Type="http://schemas.openxmlformats.org/officeDocument/2006/relationships/vmlDrawing" Target="../drawings/vmlDrawing2.vml"/><Relationship Id="rId6" Type="http://schemas.openxmlformats.org/officeDocument/2006/relationships/image" Target="../media/image24.wmf"/><Relationship Id="rId11" Type="http://schemas.openxmlformats.org/officeDocument/2006/relationships/oleObject" Target="../embeddings/oleObject12.bin"/><Relationship Id="rId24" Type="http://schemas.openxmlformats.org/officeDocument/2006/relationships/oleObject" Target="../embeddings/oleObject21.bin"/><Relationship Id="rId5" Type="http://schemas.openxmlformats.org/officeDocument/2006/relationships/oleObject" Target="../embeddings/oleObject9.bin"/><Relationship Id="rId15" Type="http://schemas.openxmlformats.org/officeDocument/2006/relationships/image" Target="../media/image28.wmf"/><Relationship Id="rId23" Type="http://schemas.openxmlformats.org/officeDocument/2006/relationships/oleObject" Target="../embeddings/oleObject20.bin"/><Relationship Id="rId10" Type="http://schemas.openxmlformats.org/officeDocument/2006/relationships/image" Target="../media/image26.wmf"/><Relationship Id="rId19" Type="http://schemas.openxmlformats.org/officeDocument/2006/relationships/image" Target="../media/image29.wmf"/><Relationship Id="rId4" Type="http://schemas.openxmlformats.org/officeDocument/2006/relationships/image" Target="../media/image23.wmf"/><Relationship Id="rId9" Type="http://schemas.openxmlformats.org/officeDocument/2006/relationships/oleObject" Target="../embeddings/oleObject11.bin"/><Relationship Id="rId14" Type="http://schemas.openxmlformats.org/officeDocument/2006/relationships/oleObject" Target="../embeddings/oleObject14.bin"/><Relationship Id="rId22" Type="http://schemas.openxmlformats.org/officeDocument/2006/relationships/image" Target="../media/image30.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slide" Target="slide1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3" Type="http://schemas.openxmlformats.org/officeDocument/2006/relationships/oleObject" Target="../embeddings/oleObject27.bin"/><Relationship Id="rId18" Type="http://schemas.openxmlformats.org/officeDocument/2006/relationships/image" Target="../media/image38.wmf"/><Relationship Id="rId26" Type="http://schemas.openxmlformats.org/officeDocument/2006/relationships/image" Target="../media/image42.wmf"/><Relationship Id="rId3" Type="http://schemas.openxmlformats.org/officeDocument/2006/relationships/oleObject" Target="../embeddings/oleObject22.bin"/><Relationship Id="rId21" Type="http://schemas.openxmlformats.org/officeDocument/2006/relationships/oleObject" Target="../embeddings/oleObject31.bin"/><Relationship Id="rId7" Type="http://schemas.openxmlformats.org/officeDocument/2006/relationships/oleObject" Target="../embeddings/oleObject24.bin"/><Relationship Id="rId12" Type="http://schemas.openxmlformats.org/officeDocument/2006/relationships/image" Target="../media/image35.wmf"/><Relationship Id="rId17" Type="http://schemas.openxmlformats.org/officeDocument/2006/relationships/oleObject" Target="../embeddings/oleObject29.bin"/><Relationship Id="rId25" Type="http://schemas.openxmlformats.org/officeDocument/2006/relationships/oleObject" Target="../embeddings/oleObject33.bin"/><Relationship Id="rId33" Type="http://schemas.openxmlformats.org/officeDocument/2006/relationships/slide" Target="slide16.xml"/><Relationship Id="rId2" Type="http://schemas.openxmlformats.org/officeDocument/2006/relationships/slideLayout" Target="../slideLayouts/slideLayout1.xml"/><Relationship Id="rId16" Type="http://schemas.openxmlformats.org/officeDocument/2006/relationships/image" Target="../media/image37.wmf"/><Relationship Id="rId20" Type="http://schemas.openxmlformats.org/officeDocument/2006/relationships/image" Target="../media/image39.wmf"/><Relationship Id="rId29" Type="http://schemas.openxmlformats.org/officeDocument/2006/relationships/oleObject" Target="../embeddings/oleObject35.bin"/><Relationship Id="rId1" Type="http://schemas.openxmlformats.org/officeDocument/2006/relationships/vmlDrawing" Target="../drawings/vmlDrawing3.vml"/><Relationship Id="rId6" Type="http://schemas.openxmlformats.org/officeDocument/2006/relationships/image" Target="../media/image32.wmf"/><Relationship Id="rId11" Type="http://schemas.openxmlformats.org/officeDocument/2006/relationships/oleObject" Target="../embeddings/oleObject26.bin"/><Relationship Id="rId24" Type="http://schemas.openxmlformats.org/officeDocument/2006/relationships/image" Target="../media/image41.wmf"/><Relationship Id="rId32" Type="http://schemas.openxmlformats.org/officeDocument/2006/relationships/image" Target="../media/image45.wmf"/><Relationship Id="rId5" Type="http://schemas.openxmlformats.org/officeDocument/2006/relationships/oleObject" Target="../embeddings/oleObject23.bin"/><Relationship Id="rId15" Type="http://schemas.openxmlformats.org/officeDocument/2006/relationships/oleObject" Target="../embeddings/oleObject28.bin"/><Relationship Id="rId23" Type="http://schemas.openxmlformats.org/officeDocument/2006/relationships/oleObject" Target="../embeddings/oleObject32.bin"/><Relationship Id="rId28" Type="http://schemas.openxmlformats.org/officeDocument/2006/relationships/image" Target="../media/image43.wmf"/><Relationship Id="rId10" Type="http://schemas.openxmlformats.org/officeDocument/2006/relationships/image" Target="../media/image34.wmf"/><Relationship Id="rId19" Type="http://schemas.openxmlformats.org/officeDocument/2006/relationships/oleObject" Target="../embeddings/oleObject30.bin"/><Relationship Id="rId31" Type="http://schemas.openxmlformats.org/officeDocument/2006/relationships/oleObject" Target="../embeddings/oleObject36.bin"/><Relationship Id="rId4" Type="http://schemas.openxmlformats.org/officeDocument/2006/relationships/image" Target="../media/image31.wmf"/><Relationship Id="rId9" Type="http://schemas.openxmlformats.org/officeDocument/2006/relationships/oleObject" Target="../embeddings/oleObject25.bin"/><Relationship Id="rId14" Type="http://schemas.openxmlformats.org/officeDocument/2006/relationships/image" Target="../media/image36.wmf"/><Relationship Id="rId22" Type="http://schemas.openxmlformats.org/officeDocument/2006/relationships/image" Target="../media/image40.wmf"/><Relationship Id="rId27" Type="http://schemas.openxmlformats.org/officeDocument/2006/relationships/oleObject" Target="../embeddings/oleObject34.bin"/><Relationship Id="rId30" Type="http://schemas.openxmlformats.org/officeDocument/2006/relationships/image" Target="../media/image44.wmf"/><Relationship Id="rId8" Type="http://schemas.openxmlformats.org/officeDocument/2006/relationships/image" Target="../media/image33.wmf"/></Relationships>
</file>

<file path=ppt/slides/_rels/slide1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3" Type="http://schemas.openxmlformats.org/officeDocument/2006/relationships/oleObject" Target="../embeddings/oleObject42.bin"/><Relationship Id="rId18" Type="http://schemas.openxmlformats.org/officeDocument/2006/relationships/oleObject" Target="../embeddings/oleObject45.bin"/><Relationship Id="rId26" Type="http://schemas.openxmlformats.org/officeDocument/2006/relationships/oleObject" Target="../embeddings/oleObject50.bin"/><Relationship Id="rId3" Type="http://schemas.openxmlformats.org/officeDocument/2006/relationships/oleObject" Target="../embeddings/oleObject37.bin"/><Relationship Id="rId21" Type="http://schemas.openxmlformats.org/officeDocument/2006/relationships/oleObject" Target="../embeddings/oleObject47.bin"/><Relationship Id="rId34" Type="http://schemas.openxmlformats.org/officeDocument/2006/relationships/oleObject" Target="../embeddings/oleObject55.bin"/><Relationship Id="rId7" Type="http://schemas.openxmlformats.org/officeDocument/2006/relationships/oleObject" Target="../embeddings/oleObject39.bin"/><Relationship Id="rId12" Type="http://schemas.openxmlformats.org/officeDocument/2006/relationships/image" Target="../media/image51.wmf"/><Relationship Id="rId17" Type="http://schemas.openxmlformats.org/officeDocument/2006/relationships/oleObject" Target="../embeddings/oleObject44.bin"/><Relationship Id="rId25" Type="http://schemas.openxmlformats.org/officeDocument/2006/relationships/oleObject" Target="../embeddings/oleObject49.bin"/><Relationship Id="rId33" Type="http://schemas.openxmlformats.org/officeDocument/2006/relationships/image" Target="../media/image59.wmf"/><Relationship Id="rId2" Type="http://schemas.openxmlformats.org/officeDocument/2006/relationships/slideLayout" Target="../slideLayouts/slideLayout1.xml"/><Relationship Id="rId16" Type="http://schemas.openxmlformats.org/officeDocument/2006/relationships/image" Target="../media/image53.wmf"/><Relationship Id="rId20" Type="http://schemas.openxmlformats.org/officeDocument/2006/relationships/image" Target="../media/image54.wmf"/><Relationship Id="rId29" Type="http://schemas.openxmlformats.org/officeDocument/2006/relationships/oleObject" Target="../embeddings/oleObject52.bin"/><Relationship Id="rId1" Type="http://schemas.openxmlformats.org/officeDocument/2006/relationships/vmlDrawing" Target="../drawings/vmlDrawing4.vml"/><Relationship Id="rId6" Type="http://schemas.openxmlformats.org/officeDocument/2006/relationships/image" Target="../media/image48.wmf"/><Relationship Id="rId11" Type="http://schemas.openxmlformats.org/officeDocument/2006/relationships/oleObject" Target="../embeddings/oleObject41.bin"/><Relationship Id="rId24" Type="http://schemas.openxmlformats.org/officeDocument/2006/relationships/image" Target="../media/image56.wmf"/><Relationship Id="rId32" Type="http://schemas.openxmlformats.org/officeDocument/2006/relationships/oleObject" Target="../embeddings/oleObject54.bin"/><Relationship Id="rId5" Type="http://schemas.openxmlformats.org/officeDocument/2006/relationships/oleObject" Target="../embeddings/oleObject38.bin"/><Relationship Id="rId15" Type="http://schemas.openxmlformats.org/officeDocument/2006/relationships/oleObject" Target="../embeddings/oleObject43.bin"/><Relationship Id="rId23" Type="http://schemas.openxmlformats.org/officeDocument/2006/relationships/oleObject" Target="../embeddings/oleObject48.bin"/><Relationship Id="rId28" Type="http://schemas.openxmlformats.org/officeDocument/2006/relationships/image" Target="../media/image57.wmf"/><Relationship Id="rId10" Type="http://schemas.openxmlformats.org/officeDocument/2006/relationships/image" Target="../media/image50.wmf"/><Relationship Id="rId19" Type="http://schemas.openxmlformats.org/officeDocument/2006/relationships/oleObject" Target="../embeddings/oleObject46.bin"/><Relationship Id="rId31" Type="http://schemas.openxmlformats.org/officeDocument/2006/relationships/image" Target="../media/image58.wmf"/><Relationship Id="rId4" Type="http://schemas.openxmlformats.org/officeDocument/2006/relationships/image" Target="../media/image47.wmf"/><Relationship Id="rId9" Type="http://schemas.openxmlformats.org/officeDocument/2006/relationships/oleObject" Target="../embeddings/oleObject40.bin"/><Relationship Id="rId14" Type="http://schemas.openxmlformats.org/officeDocument/2006/relationships/image" Target="../media/image52.wmf"/><Relationship Id="rId22" Type="http://schemas.openxmlformats.org/officeDocument/2006/relationships/image" Target="../media/image55.wmf"/><Relationship Id="rId27" Type="http://schemas.openxmlformats.org/officeDocument/2006/relationships/oleObject" Target="../embeddings/oleObject51.bin"/><Relationship Id="rId30" Type="http://schemas.openxmlformats.org/officeDocument/2006/relationships/oleObject" Target="../embeddings/oleObject53.bin"/><Relationship Id="rId35" Type="http://schemas.openxmlformats.org/officeDocument/2006/relationships/image" Target="../media/image60.wmf"/><Relationship Id="rId8" Type="http://schemas.openxmlformats.org/officeDocument/2006/relationships/image" Target="../media/image49.wmf"/></Relationships>
</file>

<file path=ppt/slides/_rels/slide21.xml.rels><?xml version="1.0" encoding="UTF-8" standalone="yes"?>
<Relationships xmlns="http://schemas.openxmlformats.org/package/2006/relationships"><Relationship Id="rId8" Type="http://schemas.openxmlformats.org/officeDocument/2006/relationships/tags" Target="../tags/tag36.xml"/><Relationship Id="rId13" Type="http://schemas.openxmlformats.org/officeDocument/2006/relationships/tags" Target="../tags/tag41.xml"/><Relationship Id="rId3" Type="http://schemas.openxmlformats.org/officeDocument/2006/relationships/tags" Target="../tags/tag31.xml"/><Relationship Id="rId7" Type="http://schemas.openxmlformats.org/officeDocument/2006/relationships/tags" Target="../tags/tag35.xml"/><Relationship Id="rId12" Type="http://schemas.openxmlformats.org/officeDocument/2006/relationships/tags" Target="../tags/tag40.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tags" Target="../tags/tag39.xml"/><Relationship Id="rId5" Type="http://schemas.openxmlformats.org/officeDocument/2006/relationships/tags" Target="../tags/tag33.xml"/><Relationship Id="rId15" Type="http://schemas.openxmlformats.org/officeDocument/2006/relationships/slideLayout" Target="../slideLayouts/slideLayout1.xml"/><Relationship Id="rId10" Type="http://schemas.openxmlformats.org/officeDocument/2006/relationships/tags" Target="../tags/tag38.xml"/><Relationship Id="rId4" Type="http://schemas.openxmlformats.org/officeDocument/2006/relationships/tags" Target="../tags/tag32.xml"/><Relationship Id="rId9" Type="http://schemas.openxmlformats.org/officeDocument/2006/relationships/tags" Target="../tags/tag37.xml"/><Relationship Id="rId14" Type="http://schemas.openxmlformats.org/officeDocument/2006/relationships/tags" Target="../tags/tag4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63.wmf"/><Relationship Id="rId13" Type="http://schemas.openxmlformats.org/officeDocument/2006/relationships/oleObject" Target="../embeddings/oleObject61.bin"/><Relationship Id="rId18" Type="http://schemas.openxmlformats.org/officeDocument/2006/relationships/image" Target="../media/image68.wmf"/><Relationship Id="rId3" Type="http://schemas.openxmlformats.org/officeDocument/2006/relationships/oleObject" Target="../embeddings/oleObject56.bin"/><Relationship Id="rId21" Type="http://schemas.openxmlformats.org/officeDocument/2006/relationships/oleObject" Target="../embeddings/oleObject65.bin"/><Relationship Id="rId7" Type="http://schemas.openxmlformats.org/officeDocument/2006/relationships/oleObject" Target="../embeddings/oleObject58.bin"/><Relationship Id="rId12" Type="http://schemas.openxmlformats.org/officeDocument/2006/relationships/image" Target="../media/image65.wmf"/><Relationship Id="rId17" Type="http://schemas.openxmlformats.org/officeDocument/2006/relationships/oleObject" Target="../embeddings/oleObject63.bin"/><Relationship Id="rId25" Type="http://schemas.openxmlformats.org/officeDocument/2006/relationships/image" Target="../media/image14.png"/><Relationship Id="rId2" Type="http://schemas.openxmlformats.org/officeDocument/2006/relationships/slideLayout" Target="../slideLayouts/slideLayout1.xml"/><Relationship Id="rId16" Type="http://schemas.openxmlformats.org/officeDocument/2006/relationships/image" Target="../media/image67.wmf"/><Relationship Id="rId20" Type="http://schemas.openxmlformats.org/officeDocument/2006/relationships/image" Target="../media/image69.wmf"/><Relationship Id="rId1" Type="http://schemas.openxmlformats.org/officeDocument/2006/relationships/vmlDrawing" Target="../drawings/vmlDrawing5.vml"/><Relationship Id="rId6" Type="http://schemas.openxmlformats.org/officeDocument/2006/relationships/image" Target="../media/image62.wmf"/><Relationship Id="rId11" Type="http://schemas.openxmlformats.org/officeDocument/2006/relationships/oleObject" Target="../embeddings/oleObject60.bin"/><Relationship Id="rId24" Type="http://schemas.openxmlformats.org/officeDocument/2006/relationships/image" Target="../media/image71.wmf"/><Relationship Id="rId5" Type="http://schemas.openxmlformats.org/officeDocument/2006/relationships/oleObject" Target="../embeddings/oleObject57.bin"/><Relationship Id="rId15" Type="http://schemas.openxmlformats.org/officeDocument/2006/relationships/oleObject" Target="../embeddings/oleObject62.bin"/><Relationship Id="rId23" Type="http://schemas.openxmlformats.org/officeDocument/2006/relationships/oleObject" Target="../embeddings/oleObject66.bin"/><Relationship Id="rId10" Type="http://schemas.openxmlformats.org/officeDocument/2006/relationships/image" Target="../media/image64.wmf"/><Relationship Id="rId19" Type="http://schemas.openxmlformats.org/officeDocument/2006/relationships/oleObject" Target="../embeddings/oleObject64.bin"/><Relationship Id="rId4" Type="http://schemas.openxmlformats.org/officeDocument/2006/relationships/image" Target="../media/image61.wmf"/><Relationship Id="rId9" Type="http://schemas.openxmlformats.org/officeDocument/2006/relationships/oleObject" Target="../embeddings/oleObject59.bin"/><Relationship Id="rId14" Type="http://schemas.openxmlformats.org/officeDocument/2006/relationships/image" Target="../media/image66.wmf"/><Relationship Id="rId22" Type="http://schemas.openxmlformats.org/officeDocument/2006/relationships/image" Target="../media/image70.wmf"/></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slide" Target="slide29.xml"/></Relationships>
</file>

<file path=ppt/slides/_rels/slide29.xml.rels><?xml version="1.0" encoding="UTF-8" standalone="yes"?>
<Relationships xmlns="http://schemas.openxmlformats.org/package/2006/relationships"><Relationship Id="rId8" Type="http://schemas.openxmlformats.org/officeDocument/2006/relationships/image" Target="../media/image74.wmf"/><Relationship Id="rId13" Type="http://schemas.openxmlformats.org/officeDocument/2006/relationships/oleObject" Target="../embeddings/oleObject72.bin"/><Relationship Id="rId18" Type="http://schemas.openxmlformats.org/officeDocument/2006/relationships/oleObject" Target="../embeddings/oleObject76.bin"/><Relationship Id="rId3" Type="http://schemas.openxmlformats.org/officeDocument/2006/relationships/oleObject" Target="../embeddings/oleObject67.bin"/><Relationship Id="rId7" Type="http://schemas.openxmlformats.org/officeDocument/2006/relationships/oleObject" Target="../embeddings/oleObject69.bin"/><Relationship Id="rId12" Type="http://schemas.openxmlformats.org/officeDocument/2006/relationships/image" Target="../media/image76.wmf"/><Relationship Id="rId17" Type="http://schemas.openxmlformats.org/officeDocument/2006/relationships/oleObject" Target="../embeddings/oleObject75.bin"/><Relationship Id="rId2" Type="http://schemas.openxmlformats.org/officeDocument/2006/relationships/slideLayout" Target="../slideLayouts/slideLayout7.xml"/><Relationship Id="rId16" Type="http://schemas.openxmlformats.org/officeDocument/2006/relationships/image" Target="../media/image77.wmf"/><Relationship Id="rId1" Type="http://schemas.openxmlformats.org/officeDocument/2006/relationships/vmlDrawing" Target="../drawings/vmlDrawing6.vml"/><Relationship Id="rId6" Type="http://schemas.openxmlformats.org/officeDocument/2006/relationships/image" Target="../media/image73.wmf"/><Relationship Id="rId11" Type="http://schemas.openxmlformats.org/officeDocument/2006/relationships/oleObject" Target="../embeddings/oleObject71.bin"/><Relationship Id="rId5" Type="http://schemas.openxmlformats.org/officeDocument/2006/relationships/oleObject" Target="../embeddings/oleObject68.bin"/><Relationship Id="rId15" Type="http://schemas.openxmlformats.org/officeDocument/2006/relationships/oleObject" Target="../embeddings/oleObject74.bin"/><Relationship Id="rId10" Type="http://schemas.openxmlformats.org/officeDocument/2006/relationships/image" Target="../media/image75.wmf"/><Relationship Id="rId4" Type="http://schemas.openxmlformats.org/officeDocument/2006/relationships/image" Target="../media/image72.wmf"/><Relationship Id="rId9" Type="http://schemas.openxmlformats.org/officeDocument/2006/relationships/oleObject" Target="../embeddings/oleObject70.bin"/><Relationship Id="rId14" Type="http://schemas.openxmlformats.org/officeDocument/2006/relationships/oleObject" Target="../embeddings/oleObject73.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slide" Target="slide32.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openxmlformats.org/officeDocument/2006/relationships/image" Target="../media/image80.wmf"/><Relationship Id="rId13" Type="http://schemas.openxmlformats.org/officeDocument/2006/relationships/oleObject" Target="../embeddings/oleObject82.bin"/><Relationship Id="rId18" Type="http://schemas.openxmlformats.org/officeDocument/2006/relationships/image" Target="../media/image85.wmf"/><Relationship Id="rId26" Type="http://schemas.openxmlformats.org/officeDocument/2006/relationships/image" Target="../media/image89.wmf"/><Relationship Id="rId3" Type="http://schemas.openxmlformats.org/officeDocument/2006/relationships/oleObject" Target="../embeddings/oleObject77.bin"/><Relationship Id="rId21" Type="http://schemas.openxmlformats.org/officeDocument/2006/relationships/oleObject" Target="../embeddings/oleObject86.bin"/><Relationship Id="rId7" Type="http://schemas.openxmlformats.org/officeDocument/2006/relationships/oleObject" Target="../embeddings/oleObject79.bin"/><Relationship Id="rId12" Type="http://schemas.openxmlformats.org/officeDocument/2006/relationships/image" Target="../media/image82.wmf"/><Relationship Id="rId17" Type="http://schemas.openxmlformats.org/officeDocument/2006/relationships/oleObject" Target="../embeddings/oleObject84.bin"/><Relationship Id="rId25" Type="http://schemas.openxmlformats.org/officeDocument/2006/relationships/oleObject" Target="../embeddings/oleObject88.bin"/><Relationship Id="rId2" Type="http://schemas.openxmlformats.org/officeDocument/2006/relationships/slideLayout" Target="../slideLayouts/slideLayout7.xml"/><Relationship Id="rId16" Type="http://schemas.openxmlformats.org/officeDocument/2006/relationships/image" Target="../media/image84.wmf"/><Relationship Id="rId20" Type="http://schemas.openxmlformats.org/officeDocument/2006/relationships/image" Target="../media/image86.wmf"/><Relationship Id="rId29" Type="http://schemas.openxmlformats.org/officeDocument/2006/relationships/oleObject" Target="../embeddings/oleObject90.bin"/><Relationship Id="rId1" Type="http://schemas.openxmlformats.org/officeDocument/2006/relationships/vmlDrawing" Target="../drawings/vmlDrawing7.vml"/><Relationship Id="rId6" Type="http://schemas.openxmlformats.org/officeDocument/2006/relationships/image" Target="../media/image79.wmf"/><Relationship Id="rId11" Type="http://schemas.openxmlformats.org/officeDocument/2006/relationships/oleObject" Target="../embeddings/oleObject81.bin"/><Relationship Id="rId24" Type="http://schemas.openxmlformats.org/officeDocument/2006/relationships/image" Target="../media/image88.wmf"/><Relationship Id="rId32" Type="http://schemas.openxmlformats.org/officeDocument/2006/relationships/image" Target="../media/image92.wmf"/><Relationship Id="rId5" Type="http://schemas.openxmlformats.org/officeDocument/2006/relationships/oleObject" Target="../embeddings/oleObject78.bin"/><Relationship Id="rId15" Type="http://schemas.openxmlformats.org/officeDocument/2006/relationships/oleObject" Target="../embeddings/oleObject83.bin"/><Relationship Id="rId23" Type="http://schemas.openxmlformats.org/officeDocument/2006/relationships/oleObject" Target="../embeddings/oleObject87.bin"/><Relationship Id="rId28" Type="http://schemas.openxmlformats.org/officeDocument/2006/relationships/image" Target="../media/image90.wmf"/><Relationship Id="rId10" Type="http://schemas.openxmlformats.org/officeDocument/2006/relationships/image" Target="../media/image81.wmf"/><Relationship Id="rId19" Type="http://schemas.openxmlformats.org/officeDocument/2006/relationships/oleObject" Target="../embeddings/oleObject85.bin"/><Relationship Id="rId31" Type="http://schemas.openxmlformats.org/officeDocument/2006/relationships/oleObject" Target="../embeddings/oleObject91.bin"/><Relationship Id="rId4" Type="http://schemas.openxmlformats.org/officeDocument/2006/relationships/image" Target="../media/image78.wmf"/><Relationship Id="rId9" Type="http://schemas.openxmlformats.org/officeDocument/2006/relationships/oleObject" Target="../embeddings/oleObject80.bin"/><Relationship Id="rId14" Type="http://schemas.openxmlformats.org/officeDocument/2006/relationships/image" Target="../media/image83.wmf"/><Relationship Id="rId22" Type="http://schemas.openxmlformats.org/officeDocument/2006/relationships/image" Target="../media/image87.wmf"/><Relationship Id="rId27" Type="http://schemas.openxmlformats.org/officeDocument/2006/relationships/oleObject" Target="../embeddings/oleObject89.bin"/><Relationship Id="rId30" Type="http://schemas.openxmlformats.org/officeDocument/2006/relationships/image" Target="../media/image91.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92.bin"/><Relationship Id="rId3" Type="http://schemas.openxmlformats.org/officeDocument/2006/relationships/tags" Target="../tags/tag44.xml"/><Relationship Id="rId7" Type="http://schemas.openxmlformats.org/officeDocument/2006/relationships/notesSlide" Target="../notesSlides/notesSlide3.xml"/><Relationship Id="rId2" Type="http://schemas.openxmlformats.org/officeDocument/2006/relationships/tags" Target="../tags/tag43.xml"/><Relationship Id="rId1" Type="http://schemas.openxmlformats.org/officeDocument/2006/relationships/vmlDrawing" Target="../drawings/vmlDrawing8.vml"/><Relationship Id="rId6" Type="http://schemas.openxmlformats.org/officeDocument/2006/relationships/slideLayout" Target="../slideLayouts/slideLayout7.xml"/><Relationship Id="rId11" Type="http://schemas.openxmlformats.org/officeDocument/2006/relationships/image" Target="../media/image94.wmf"/><Relationship Id="rId5" Type="http://schemas.openxmlformats.org/officeDocument/2006/relationships/tags" Target="../tags/tag46.xml"/><Relationship Id="rId10" Type="http://schemas.openxmlformats.org/officeDocument/2006/relationships/oleObject" Target="../embeddings/oleObject93.bin"/><Relationship Id="rId4" Type="http://schemas.openxmlformats.org/officeDocument/2006/relationships/tags" Target="../tags/tag45.xml"/><Relationship Id="rId9" Type="http://schemas.openxmlformats.org/officeDocument/2006/relationships/image" Target="../media/image93.wmf"/></Relationships>
</file>

<file path=ppt/slides/_rels/slide34.xml.rels><?xml version="1.0" encoding="UTF-8" standalone="yes"?>
<Relationships xmlns="http://schemas.openxmlformats.org/package/2006/relationships"><Relationship Id="rId13" Type="http://schemas.openxmlformats.org/officeDocument/2006/relationships/oleObject" Target="../embeddings/oleObject99.bin"/><Relationship Id="rId18" Type="http://schemas.openxmlformats.org/officeDocument/2006/relationships/image" Target="../media/image101.wmf"/><Relationship Id="rId26" Type="http://schemas.openxmlformats.org/officeDocument/2006/relationships/image" Target="../media/image104.wmf"/><Relationship Id="rId3" Type="http://schemas.openxmlformats.org/officeDocument/2006/relationships/oleObject" Target="../embeddings/oleObject94.bin"/><Relationship Id="rId21" Type="http://schemas.openxmlformats.org/officeDocument/2006/relationships/oleObject" Target="../embeddings/oleObject104.bin"/><Relationship Id="rId34" Type="http://schemas.openxmlformats.org/officeDocument/2006/relationships/image" Target="../media/image94.wmf"/><Relationship Id="rId7" Type="http://schemas.openxmlformats.org/officeDocument/2006/relationships/oleObject" Target="../embeddings/oleObject96.bin"/><Relationship Id="rId12" Type="http://schemas.openxmlformats.org/officeDocument/2006/relationships/image" Target="../media/image99.wmf"/><Relationship Id="rId17" Type="http://schemas.openxmlformats.org/officeDocument/2006/relationships/oleObject" Target="../embeddings/oleObject102.bin"/><Relationship Id="rId25" Type="http://schemas.openxmlformats.org/officeDocument/2006/relationships/oleObject" Target="../embeddings/oleObject107.bin"/><Relationship Id="rId33" Type="http://schemas.openxmlformats.org/officeDocument/2006/relationships/oleObject" Target="../embeddings/oleObject111.bin"/><Relationship Id="rId2" Type="http://schemas.openxmlformats.org/officeDocument/2006/relationships/slideLayout" Target="../slideLayouts/slideLayout7.xml"/><Relationship Id="rId16" Type="http://schemas.openxmlformats.org/officeDocument/2006/relationships/oleObject" Target="../embeddings/oleObject101.bin"/><Relationship Id="rId20" Type="http://schemas.openxmlformats.org/officeDocument/2006/relationships/image" Target="../media/image102.wmf"/><Relationship Id="rId29" Type="http://schemas.openxmlformats.org/officeDocument/2006/relationships/oleObject" Target="../embeddings/oleObject109.bin"/><Relationship Id="rId1" Type="http://schemas.openxmlformats.org/officeDocument/2006/relationships/vmlDrawing" Target="../drawings/vmlDrawing9.vml"/><Relationship Id="rId6" Type="http://schemas.openxmlformats.org/officeDocument/2006/relationships/image" Target="../media/image96.wmf"/><Relationship Id="rId11" Type="http://schemas.openxmlformats.org/officeDocument/2006/relationships/oleObject" Target="../embeddings/oleObject98.bin"/><Relationship Id="rId24" Type="http://schemas.openxmlformats.org/officeDocument/2006/relationships/oleObject" Target="../embeddings/oleObject106.bin"/><Relationship Id="rId32" Type="http://schemas.openxmlformats.org/officeDocument/2006/relationships/image" Target="../media/image93.wmf"/><Relationship Id="rId5" Type="http://schemas.openxmlformats.org/officeDocument/2006/relationships/oleObject" Target="../embeddings/oleObject95.bin"/><Relationship Id="rId15" Type="http://schemas.openxmlformats.org/officeDocument/2006/relationships/oleObject" Target="../embeddings/oleObject100.bin"/><Relationship Id="rId23" Type="http://schemas.openxmlformats.org/officeDocument/2006/relationships/oleObject" Target="../embeddings/oleObject105.bin"/><Relationship Id="rId28" Type="http://schemas.openxmlformats.org/officeDocument/2006/relationships/image" Target="../media/image105.wmf"/><Relationship Id="rId10" Type="http://schemas.openxmlformats.org/officeDocument/2006/relationships/image" Target="../media/image98.wmf"/><Relationship Id="rId19" Type="http://schemas.openxmlformats.org/officeDocument/2006/relationships/oleObject" Target="../embeddings/oleObject103.bin"/><Relationship Id="rId31" Type="http://schemas.openxmlformats.org/officeDocument/2006/relationships/oleObject" Target="../embeddings/oleObject110.bin"/><Relationship Id="rId4" Type="http://schemas.openxmlformats.org/officeDocument/2006/relationships/image" Target="../media/image95.wmf"/><Relationship Id="rId9" Type="http://schemas.openxmlformats.org/officeDocument/2006/relationships/oleObject" Target="../embeddings/oleObject97.bin"/><Relationship Id="rId14" Type="http://schemas.openxmlformats.org/officeDocument/2006/relationships/image" Target="../media/image100.wmf"/><Relationship Id="rId22" Type="http://schemas.openxmlformats.org/officeDocument/2006/relationships/image" Target="../media/image103.wmf"/><Relationship Id="rId27" Type="http://schemas.openxmlformats.org/officeDocument/2006/relationships/oleObject" Target="../embeddings/oleObject108.bin"/><Relationship Id="rId30" Type="http://schemas.openxmlformats.org/officeDocument/2006/relationships/image" Target="../media/image106.wmf"/><Relationship Id="rId8" Type="http://schemas.openxmlformats.org/officeDocument/2006/relationships/image" Target="../media/image97.wmf"/></Relationships>
</file>

<file path=ppt/slides/_rels/slide35.xml.rels><?xml version="1.0" encoding="UTF-8" standalone="yes"?>
<Relationships xmlns="http://schemas.openxmlformats.org/package/2006/relationships"><Relationship Id="rId8" Type="http://schemas.openxmlformats.org/officeDocument/2006/relationships/tags" Target="../tags/tag54.xml"/><Relationship Id="rId3" Type="http://schemas.openxmlformats.org/officeDocument/2006/relationships/tags" Target="../tags/tag49.xml"/><Relationship Id="rId7" Type="http://schemas.openxmlformats.org/officeDocument/2006/relationships/tags" Target="../tags/tag53.xml"/><Relationship Id="rId12" Type="http://schemas.openxmlformats.org/officeDocument/2006/relationships/slideLayout" Target="../slideLayouts/slideLayout1.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11" Type="http://schemas.openxmlformats.org/officeDocument/2006/relationships/tags" Target="../tags/tag57.xml"/><Relationship Id="rId5" Type="http://schemas.openxmlformats.org/officeDocument/2006/relationships/tags" Target="../tags/tag51.xml"/><Relationship Id="rId10" Type="http://schemas.openxmlformats.org/officeDocument/2006/relationships/tags" Target="../tags/tag56.xml"/><Relationship Id="rId4" Type="http://schemas.openxmlformats.org/officeDocument/2006/relationships/tags" Target="../tags/tag50.xml"/><Relationship Id="rId9" Type="http://schemas.openxmlformats.org/officeDocument/2006/relationships/tags" Target="../tags/tag5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image" Target="../media/image109.wmf"/><Relationship Id="rId13" Type="http://schemas.openxmlformats.org/officeDocument/2006/relationships/oleObject" Target="../embeddings/oleObject117.bin"/><Relationship Id="rId18" Type="http://schemas.openxmlformats.org/officeDocument/2006/relationships/image" Target="../media/image114.wmf"/><Relationship Id="rId26" Type="http://schemas.openxmlformats.org/officeDocument/2006/relationships/image" Target="../media/image118.wmf"/><Relationship Id="rId3" Type="http://schemas.openxmlformats.org/officeDocument/2006/relationships/oleObject" Target="../embeddings/oleObject112.bin"/><Relationship Id="rId21" Type="http://schemas.openxmlformats.org/officeDocument/2006/relationships/oleObject" Target="../embeddings/oleObject121.bin"/><Relationship Id="rId7" Type="http://schemas.openxmlformats.org/officeDocument/2006/relationships/oleObject" Target="../embeddings/oleObject114.bin"/><Relationship Id="rId12" Type="http://schemas.openxmlformats.org/officeDocument/2006/relationships/image" Target="../media/image111.wmf"/><Relationship Id="rId17" Type="http://schemas.openxmlformats.org/officeDocument/2006/relationships/oleObject" Target="../embeddings/oleObject119.bin"/><Relationship Id="rId25" Type="http://schemas.openxmlformats.org/officeDocument/2006/relationships/oleObject" Target="../embeddings/oleObject123.bin"/><Relationship Id="rId2" Type="http://schemas.openxmlformats.org/officeDocument/2006/relationships/slideLayout" Target="../slideLayouts/slideLayout7.xml"/><Relationship Id="rId16" Type="http://schemas.openxmlformats.org/officeDocument/2006/relationships/image" Target="../media/image113.wmf"/><Relationship Id="rId20" Type="http://schemas.openxmlformats.org/officeDocument/2006/relationships/image" Target="../media/image115.wmf"/><Relationship Id="rId29" Type="http://schemas.openxmlformats.org/officeDocument/2006/relationships/oleObject" Target="../embeddings/oleObject125.bin"/><Relationship Id="rId1" Type="http://schemas.openxmlformats.org/officeDocument/2006/relationships/vmlDrawing" Target="../drawings/vmlDrawing10.vml"/><Relationship Id="rId6" Type="http://schemas.openxmlformats.org/officeDocument/2006/relationships/image" Target="../media/image108.wmf"/><Relationship Id="rId11" Type="http://schemas.openxmlformats.org/officeDocument/2006/relationships/oleObject" Target="../embeddings/oleObject116.bin"/><Relationship Id="rId24" Type="http://schemas.openxmlformats.org/officeDocument/2006/relationships/image" Target="../media/image117.wmf"/><Relationship Id="rId5" Type="http://schemas.openxmlformats.org/officeDocument/2006/relationships/oleObject" Target="../embeddings/oleObject113.bin"/><Relationship Id="rId15" Type="http://schemas.openxmlformats.org/officeDocument/2006/relationships/oleObject" Target="../embeddings/oleObject118.bin"/><Relationship Id="rId23" Type="http://schemas.openxmlformats.org/officeDocument/2006/relationships/oleObject" Target="../embeddings/oleObject122.bin"/><Relationship Id="rId28" Type="http://schemas.openxmlformats.org/officeDocument/2006/relationships/image" Target="../media/image119.wmf"/><Relationship Id="rId10" Type="http://schemas.openxmlformats.org/officeDocument/2006/relationships/image" Target="../media/image110.wmf"/><Relationship Id="rId19" Type="http://schemas.openxmlformats.org/officeDocument/2006/relationships/oleObject" Target="../embeddings/oleObject120.bin"/><Relationship Id="rId4" Type="http://schemas.openxmlformats.org/officeDocument/2006/relationships/image" Target="../media/image107.wmf"/><Relationship Id="rId9" Type="http://schemas.openxmlformats.org/officeDocument/2006/relationships/oleObject" Target="../embeddings/oleObject115.bin"/><Relationship Id="rId14" Type="http://schemas.openxmlformats.org/officeDocument/2006/relationships/image" Target="../media/image112.wmf"/><Relationship Id="rId22" Type="http://schemas.openxmlformats.org/officeDocument/2006/relationships/image" Target="../media/image116.wmf"/><Relationship Id="rId27" Type="http://schemas.openxmlformats.org/officeDocument/2006/relationships/oleObject" Target="../embeddings/oleObject124.bin"/><Relationship Id="rId30" Type="http://schemas.openxmlformats.org/officeDocument/2006/relationships/image" Target="../media/image120.wmf"/></Relationships>
</file>

<file path=ppt/slides/_rels/slide39.xml.rels><?xml version="1.0" encoding="UTF-8" standalone="yes"?>
<Relationships xmlns="http://schemas.openxmlformats.org/package/2006/relationships"><Relationship Id="rId8" Type="http://schemas.openxmlformats.org/officeDocument/2006/relationships/image" Target="../media/image109.wmf"/><Relationship Id="rId13" Type="http://schemas.openxmlformats.org/officeDocument/2006/relationships/oleObject" Target="../embeddings/oleObject117.bin"/><Relationship Id="rId18" Type="http://schemas.openxmlformats.org/officeDocument/2006/relationships/image" Target="../media/image114.wmf"/><Relationship Id="rId3" Type="http://schemas.openxmlformats.org/officeDocument/2006/relationships/oleObject" Target="../embeddings/oleObject112.bin"/><Relationship Id="rId21" Type="http://schemas.openxmlformats.org/officeDocument/2006/relationships/oleObject" Target="../embeddings/oleObject126.bin"/><Relationship Id="rId7" Type="http://schemas.openxmlformats.org/officeDocument/2006/relationships/oleObject" Target="../embeddings/oleObject114.bin"/><Relationship Id="rId12" Type="http://schemas.openxmlformats.org/officeDocument/2006/relationships/image" Target="../media/image111.wmf"/><Relationship Id="rId17" Type="http://schemas.openxmlformats.org/officeDocument/2006/relationships/oleObject" Target="../embeddings/oleObject119.bin"/><Relationship Id="rId2" Type="http://schemas.openxmlformats.org/officeDocument/2006/relationships/slideLayout" Target="../slideLayouts/slideLayout7.xml"/><Relationship Id="rId16" Type="http://schemas.openxmlformats.org/officeDocument/2006/relationships/image" Target="../media/image113.wmf"/><Relationship Id="rId20" Type="http://schemas.openxmlformats.org/officeDocument/2006/relationships/image" Target="../media/image118.wmf"/><Relationship Id="rId1" Type="http://schemas.openxmlformats.org/officeDocument/2006/relationships/vmlDrawing" Target="../drawings/vmlDrawing11.vml"/><Relationship Id="rId6" Type="http://schemas.openxmlformats.org/officeDocument/2006/relationships/image" Target="../media/image108.wmf"/><Relationship Id="rId11" Type="http://schemas.openxmlformats.org/officeDocument/2006/relationships/oleObject" Target="../embeddings/oleObject116.bin"/><Relationship Id="rId24" Type="http://schemas.openxmlformats.org/officeDocument/2006/relationships/image" Target="../media/image120.wmf"/><Relationship Id="rId5" Type="http://schemas.openxmlformats.org/officeDocument/2006/relationships/oleObject" Target="../embeddings/oleObject113.bin"/><Relationship Id="rId15" Type="http://schemas.openxmlformats.org/officeDocument/2006/relationships/oleObject" Target="../embeddings/oleObject118.bin"/><Relationship Id="rId23" Type="http://schemas.openxmlformats.org/officeDocument/2006/relationships/oleObject" Target="../embeddings/oleObject127.bin"/><Relationship Id="rId10" Type="http://schemas.openxmlformats.org/officeDocument/2006/relationships/image" Target="../media/image110.wmf"/><Relationship Id="rId19" Type="http://schemas.openxmlformats.org/officeDocument/2006/relationships/oleObject" Target="../embeddings/oleObject123.bin"/><Relationship Id="rId4" Type="http://schemas.openxmlformats.org/officeDocument/2006/relationships/image" Target="../media/image107.wmf"/><Relationship Id="rId9" Type="http://schemas.openxmlformats.org/officeDocument/2006/relationships/oleObject" Target="../embeddings/oleObject115.bin"/><Relationship Id="rId14" Type="http://schemas.openxmlformats.org/officeDocument/2006/relationships/image" Target="../media/image112.wmf"/><Relationship Id="rId22" Type="http://schemas.openxmlformats.org/officeDocument/2006/relationships/image" Target="../media/image119.wmf"/></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14.bin"/><Relationship Id="rId13" Type="http://schemas.openxmlformats.org/officeDocument/2006/relationships/image" Target="../media/image111.wmf"/><Relationship Id="rId18" Type="http://schemas.openxmlformats.org/officeDocument/2006/relationships/oleObject" Target="../embeddings/oleObject119.bin"/><Relationship Id="rId3" Type="http://schemas.openxmlformats.org/officeDocument/2006/relationships/notesSlide" Target="../notesSlides/notesSlide4.xml"/><Relationship Id="rId21" Type="http://schemas.openxmlformats.org/officeDocument/2006/relationships/image" Target="../media/image115.wmf"/><Relationship Id="rId7" Type="http://schemas.openxmlformats.org/officeDocument/2006/relationships/image" Target="../media/image108.wmf"/><Relationship Id="rId12" Type="http://schemas.openxmlformats.org/officeDocument/2006/relationships/oleObject" Target="../embeddings/oleObject116.bin"/><Relationship Id="rId17" Type="http://schemas.openxmlformats.org/officeDocument/2006/relationships/image" Target="../media/image113.wmf"/><Relationship Id="rId25" Type="http://schemas.openxmlformats.org/officeDocument/2006/relationships/image" Target="../media/image117.wmf"/><Relationship Id="rId2" Type="http://schemas.openxmlformats.org/officeDocument/2006/relationships/slideLayout" Target="../slideLayouts/slideLayout7.xml"/><Relationship Id="rId16" Type="http://schemas.openxmlformats.org/officeDocument/2006/relationships/oleObject" Target="../embeddings/oleObject118.bin"/><Relationship Id="rId20" Type="http://schemas.openxmlformats.org/officeDocument/2006/relationships/oleObject" Target="../embeddings/oleObject120.bin"/><Relationship Id="rId1" Type="http://schemas.openxmlformats.org/officeDocument/2006/relationships/vmlDrawing" Target="../drawings/vmlDrawing12.vml"/><Relationship Id="rId6" Type="http://schemas.openxmlformats.org/officeDocument/2006/relationships/oleObject" Target="../embeddings/oleObject113.bin"/><Relationship Id="rId11" Type="http://schemas.openxmlformats.org/officeDocument/2006/relationships/image" Target="../media/image110.wmf"/><Relationship Id="rId24" Type="http://schemas.openxmlformats.org/officeDocument/2006/relationships/oleObject" Target="../embeddings/oleObject128.bin"/><Relationship Id="rId5" Type="http://schemas.openxmlformats.org/officeDocument/2006/relationships/image" Target="../media/image107.wmf"/><Relationship Id="rId15" Type="http://schemas.openxmlformats.org/officeDocument/2006/relationships/image" Target="../media/image112.wmf"/><Relationship Id="rId23" Type="http://schemas.openxmlformats.org/officeDocument/2006/relationships/image" Target="../media/image116.wmf"/><Relationship Id="rId10" Type="http://schemas.openxmlformats.org/officeDocument/2006/relationships/oleObject" Target="../embeddings/oleObject115.bin"/><Relationship Id="rId19" Type="http://schemas.openxmlformats.org/officeDocument/2006/relationships/image" Target="../media/image114.wmf"/><Relationship Id="rId4" Type="http://schemas.openxmlformats.org/officeDocument/2006/relationships/oleObject" Target="../embeddings/oleObject112.bin"/><Relationship Id="rId9" Type="http://schemas.openxmlformats.org/officeDocument/2006/relationships/image" Target="../media/image109.wmf"/><Relationship Id="rId14" Type="http://schemas.openxmlformats.org/officeDocument/2006/relationships/oleObject" Target="../embeddings/oleObject117.bin"/><Relationship Id="rId22" Type="http://schemas.openxmlformats.org/officeDocument/2006/relationships/oleObject" Target="../embeddings/oleObject121.bin"/></Relationships>
</file>

<file path=ppt/slides/_rels/slide4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13.png"/><Relationship Id="rId5" Type="http://schemas.openxmlformats.org/officeDocument/2006/relationships/slideLayout" Target="../slideLayouts/slideLayout7.xml"/><Relationship Id="rId4" Type="http://schemas.openxmlformats.org/officeDocument/2006/relationships/tags" Target="../tags/tag61.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131.bin"/><Relationship Id="rId13" Type="http://schemas.openxmlformats.org/officeDocument/2006/relationships/image" Target="../media/image125.wmf"/><Relationship Id="rId18" Type="http://schemas.openxmlformats.org/officeDocument/2006/relationships/oleObject" Target="../embeddings/oleObject136.bin"/><Relationship Id="rId26" Type="http://schemas.openxmlformats.org/officeDocument/2006/relationships/oleObject" Target="../embeddings/oleObject140.bin"/><Relationship Id="rId3" Type="http://schemas.openxmlformats.org/officeDocument/2006/relationships/notesSlide" Target="../notesSlides/notesSlide5.xml"/><Relationship Id="rId21" Type="http://schemas.openxmlformats.org/officeDocument/2006/relationships/image" Target="../media/image129.wmf"/><Relationship Id="rId7" Type="http://schemas.openxmlformats.org/officeDocument/2006/relationships/image" Target="../media/image122.wmf"/><Relationship Id="rId12" Type="http://schemas.openxmlformats.org/officeDocument/2006/relationships/oleObject" Target="../embeddings/oleObject133.bin"/><Relationship Id="rId17" Type="http://schemas.openxmlformats.org/officeDocument/2006/relationships/image" Target="../media/image127.wmf"/><Relationship Id="rId25" Type="http://schemas.openxmlformats.org/officeDocument/2006/relationships/image" Target="../media/image131.wmf"/><Relationship Id="rId2" Type="http://schemas.openxmlformats.org/officeDocument/2006/relationships/slideLayout" Target="../slideLayouts/slideLayout7.xml"/><Relationship Id="rId16" Type="http://schemas.openxmlformats.org/officeDocument/2006/relationships/oleObject" Target="../embeddings/oleObject135.bin"/><Relationship Id="rId20" Type="http://schemas.openxmlformats.org/officeDocument/2006/relationships/oleObject" Target="../embeddings/oleObject137.bin"/><Relationship Id="rId1" Type="http://schemas.openxmlformats.org/officeDocument/2006/relationships/vmlDrawing" Target="../drawings/vmlDrawing13.vml"/><Relationship Id="rId6" Type="http://schemas.openxmlformats.org/officeDocument/2006/relationships/oleObject" Target="../embeddings/oleObject130.bin"/><Relationship Id="rId11" Type="http://schemas.openxmlformats.org/officeDocument/2006/relationships/image" Target="../media/image124.wmf"/><Relationship Id="rId24" Type="http://schemas.openxmlformats.org/officeDocument/2006/relationships/oleObject" Target="../embeddings/oleObject139.bin"/><Relationship Id="rId5" Type="http://schemas.openxmlformats.org/officeDocument/2006/relationships/image" Target="../media/image121.wmf"/><Relationship Id="rId15" Type="http://schemas.openxmlformats.org/officeDocument/2006/relationships/image" Target="../media/image126.wmf"/><Relationship Id="rId23" Type="http://schemas.openxmlformats.org/officeDocument/2006/relationships/image" Target="../media/image130.wmf"/><Relationship Id="rId10" Type="http://schemas.openxmlformats.org/officeDocument/2006/relationships/oleObject" Target="../embeddings/oleObject132.bin"/><Relationship Id="rId19" Type="http://schemas.openxmlformats.org/officeDocument/2006/relationships/image" Target="../media/image128.wmf"/><Relationship Id="rId4" Type="http://schemas.openxmlformats.org/officeDocument/2006/relationships/oleObject" Target="../embeddings/oleObject129.bin"/><Relationship Id="rId9" Type="http://schemas.openxmlformats.org/officeDocument/2006/relationships/image" Target="../media/image123.wmf"/><Relationship Id="rId14" Type="http://schemas.openxmlformats.org/officeDocument/2006/relationships/oleObject" Target="../embeddings/oleObject134.bin"/><Relationship Id="rId22" Type="http://schemas.openxmlformats.org/officeDocument/2006/relationships/oleObject" Target="../embeddings/oleObject138.bin"/><Relationship Id="rId27" Type="http://schemas.openxmlformats.org/officeDocument/2006/relationships/image" Target="../media/image132.wmf"/></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143.bin"/><Relationship Id="rId13" Type="http://schemas.openxmlformats.org/officeDocument/2006/relationships/image" Target="../media/image125.wmf"/><Relationship Id="rId18" Type="http://schemas.openxmlformats.org/officeDocument/2006/relationships/oleObject" Target="../embeddings/oleObject136.bin"/><Relationship Id="rId26" Type="http://schemas.openxmlformats.org/officeDocument/2006/relationships/oleObject" Target="../embeddings/oleObject140.bin"/><Relationship Id="rId3" Type="http://schemas.openxmlformats.org/officeDocument/2006/relationships/notesSlide" Target="../notesSlides/notesSlide6.xml"/><Relationship Id="rId21" Type="http://schemas.openxmlformats.org/officeDocument/2006/relationships/image" Target="../media/image129.wmf"/><Relationship Id="rId7" Type="http://schemas.openxmlformats.org/officeDocument/2006/relationships/image" Target="../media/image134.wmf"/><Relationship Id="rId12" Type="http://schemas.openxmlformats.org/officeDocument/2006/relationships/oleObject" Target="../embeddings/oleObject145.bin"/><Relationship Id="rId17" Type="http://schemas.openxmlformats.org/officeDocument/2006/relationships/image" Target="../media/image127.wmf"/><Relationship Id="rId25" Type="http://schemas.openxmlformats.org/officeDocument/2006/relationships/image" Target="../media/image131.wmf"/><Relationship Id="rId2" Type="http://schemas.openxmlformats.org/officeDocument/2006/relationships/slideLayout" Target="../slideLayouts/slideLayout7.xml"/><Relationship Id="rId16" Type="http://schemas.openxmlformats.org/officeDocument/2006/relationships/oleObject" Target="../embeddings/oleObject135.bin"/><Relationship Id="rId20" Type="http://schemas.openxmlformats.org/officeDocument/2006/relationships/oleObject" Target="../embeddings/oleObject137.bin"/><Relationship Id="rId1" Type="http://schemas.openxmlformats.org/officeDocument/2006/relationships/vmlDrawing" Target="../drawings/vmlDrawing14.vml"/><Relationship Id="rId6" Type="http://schemas.openxmlformats.org/officeDocument/2006/relationships/oleObject" Target="../embeddings/oleObject142.bin"/><Relationship Id="rId11" Type="http://schemas.openxmlformats.org/officeDocument/2006/relationships/image" Target="../media/image136.wmf"/><Relationship Id="rId24" Type="http://schemas.openxmlformats.org/officeDocument/2006/relationships/oleObject" Target="../embeddings/oleObject139.bin"/><Relationship Id="rId5" Type="http://schemas.openxmlformats.org/officeDocument/2006/relationships/image" Target="../media/image133.wmf"/><Relationship Id="rId15" Type="http://schemas.openxmlformats.org/officeDocument/2006/relationships/image" Target="../media/image126.wmf"/><Relationship Id="rId23" Type="http://schemas.openxmlformats.org/officeDocument/2006/relationships/image" Target="../media/image130.wmf"/><Relationship Id="rId10" Type="http://schemas.openxmlformats.org/officeDocument/2006/relationships/oleObject" Target="../embeddings/oleObject144.bin"/><Relationship Id="rId19" Type="http://schemas.openxmlformats.org/officeDocument/2006/relationships/image" Target="../media/image128.wmf"/><Relationship Id="rId4" Type="http://schemas.openxmlformats.org/officeDocument/2006/relationships/oleObject" Target="../embeddings/oleObject141.bin"/><Relationship Id="rId9" Type="http://schemas.openxmlformats.org/officeDocument/2006/relationships/image" Target="../media/image135.wmf"/><Relationship Id="rId14" Type="http://schemas.openxmlformats.org/officeDocument/2006/relationships/oleObject" Target="../embeddings/oleObject134.bin"/><Relationship Id="rId22" Type="http://schemas.openxmlformats.org/officeDocument/2006/relationships/oleObject" Target="../embeddings/oleObject138.bin"/><Relationship Id="rId27" Type="http://schemas.openxmlformats.org/officeDocument/2006/relationships/image" Target="../media/image132.wmf"/></Relationships>
</file>

<file path=ppt/slides/_rels/slide44.xml.rels><?xml version="1.0" encoding="UTF-8" standalone="yes"?>
<Relationships xmlns="http://schemas.openxmlformats.org/package/2006/relationships"><Relationship Id="rId13" Type="http://schemas.openxmlformats.org/officeDocument/2006/relationships/oleObject" Target="../embeddings/oleObject142.bin"/><Relationship Id="rId18" Type="http://schemas.openxmlformats.org/officeDocument/2006/relationships/image" Target="../media/image136.wmf"/><Relationship Id="rId26" Type="http://schemas.openxmlformats.org/officeDocument/2006/relationships/image" Target="../media/image128.wmf"/><Relationship Id="rId3" Type="http://schemas.openxmlformats.org/officeDocument/2006/relationships/oleObject" Target="../embeddings/oleObject131.bin"/><Relationship Id="rId21" Type="http://schemas.openxmlformats.org/officeDocument/2006/relationships/oleObject" Target="../embeddings/oleObject134.bin"/><Relationship Id="rId34" Type="http://schemas.openxmlformats.org/officeDocument/2006/relationships/image" Target="../media/image132.wmf"/><Relationship Id="rId7" Type="http://schemas.openxmlformats.org/officeDocument/2006/relationships/oleObject" Target="../embeddings/oleObject129.bin"/><Relationship Id="rId12" Type="http://schemas.openxmlformats.org/officeDocument/2006/relationships/image" Target="../media/image133.wmf"/><Relationship Id="rId17" Type="http://schemas.openxmlformats.org/officeDocument/2006/relationships/oleObject" Target="../embeddings/oleObject144.bin"/><Relationship Id="rId25" Type="http://schemas.openxmlformats.org/officeDocument/2006/relationships/oleObject" Target="../embeddings/oleObject136.bin"/><Relationship Id="rId33" Type="http://schemas.openxmlformats.org/officeDocument/2006/relationships/oleObject" Target="../embeddings/oleObject147.bin"/><Relationship Id="rId2" Type="http://schemas.openxmlformats.org/officeDocument/2006/relationships/slideLayout" Target="../slideLayouts/slideLayout7.xml"/><Relationship Id="rId16" Type="http://schemas.openxmlformats.org/officeDocument/2006/relationships/image" Target="../media/image135.wmf"/><Relationship Id="rId20" Type="http://schemas.openxmlformats.org/officeDocument/2006/relationships/image" Target="../media/image125.wmf"/><Relationship Id="rId29" Type="http://schemas.openxmlformats.org/officeDocument/2006/relationships/oleObject" Target="../embeddings/oleObject138.bin"/><Relationship Id="rId1" Type="http://schemas.openxmlformats.org/officeDocument/2006/relationships/vmlDrawing" Target="../drawings/vmlDrawing15.vml"/><Relationship Id="rId6" Type="http://schemas.openxmlformats.org/officeDocument/2006/relationships/image" Target="../media/image124.wmf"/><Relationship Id="rId11" Type="http://schemas.openxmlformats.org/officeDocument/2006/relationships/oleObject" Target="../embeddings/oleObject141.bin"/><Relationship Id="rId24" Type="http://schemas.openxmlformats.org/officeDocument/2006/relationships/image" Target="../media/image127.wmf"/><Relationship Id="rId32" Type="http://schemas.openxmlformats.org/officeDocument/2006/relationships/image" Target="../media/image131.wmf"/><Relationship Id="rId5" Type="http://schemas.openxmlformats.org/officeDocument/2006/relationships/oleObject" Target="../embeddings/oleObject146.bin"/><Relationship Id="rId15" Type="http://schemas.openxmlformats.org/officeDocument/2006/relationships/oleObject" Target="../embeddings/oleObject143.bin"/><Relationship Id="rId23" Type="http://schemas.openxmlformats.org/officeDocument/2006/relationships/oleObject" Target="../embeddings/oleObject135.bin"/><Relationship Id="rId28" Type="http://schemas.openxmlformats.org/officeDocument/2006/relationships/image" Target="../media/image129.wmf"/><Relationship Id="rId10" Type="http://schemas.openxmlformats.org/officeDocument/2006/relationships/image" Target="../media/image122.wmf"/><Relationship Id="rId19" Type="http://schemas.openxmlformats.org/officeDocument/2006/relationships/oleObject" Target="../embeddings/oleObject145.bin"/><Relationship Id="rId31" Type="http://schemas.openxmlformats.org/officeDocument/2006/relationships/oleObject" Target="../embeddings/oleObject139.bin"/><Relationship Id="rId4" Type="http://schemas.openxmlformats.org/officeDocument/2006/relationships/image" Target="../media/image123.wmf"/><Relationship Id="rId9" Type="http://schemas.openxmlformats.org/officeDocument/2006/relationships/oleObject" Target="../embeddings/oleObject130.bin"/><Relationship Id="rId14" Type="http://schemas.openxmlformats.org/officeDocument/2006/relationships/image" Target="../media/image134.wmf"/><Relationship Id="rId22" Type="http://schemas.openxmlformats.org/officeDocument/2006/relationships/image" Target="../media/image126.wmf"/><Relationship Id="rId27" Type="http://schemas.openxmlformats.org/officeDocument/2006/relationships/oleObject" Target="../embeddings/oleObject137.bin"/><Relationship Id="rId30" Type="http://schemas.openxmlformats.org/officeDocument/2006/relationships/image" Target="../media/image130.wmf"/><Relationship Id="rId8" Type="http://schemas.openxmlformats.org/officeDocument/2006/relationships/image" Target="../media/image121.wmf"/></Relationships>
</file>

<file path=ppt/slides/_rels/slide45.xml.rels><?xml version="1.0" encoding="UTF-8" standalone="yes"?>
<Relationships xmlns="http://schemas.openxmlformats.org/package/2006/relationships"><Relationship Id="rId13" Type="http://schemas.openxmlformats.org/officeDocument/2006/relationships/image" Target="../media/image141.wmf"/><Relationship Id="rId18" Type="http://schemas.openxmlformats.org/officeDocument/2006/relationships/oleObject" Target="../embeddings/oleObject155.bin"/><Relationship Id="rId26" Type="http://schemas.openxmlformats.org/officeDocument/2006/relationships/oleObject" Target="../embeddings/oleObject159.bin"/><Relationship Id="rId3" Type="http://schemas.openxmlformats.org/officeDocument/2006/relationships/notesSlide" Target="../notesSlides/notesSlide7.xml"/><Relationship Id="rId21" Type="http://schemas.openxmlformats.org/officeDocument/2006/relationships/image" Target="../media/image145.wmf"/><Relationship Id="rId34" Type="http://schemas.openxmlformats.org/officeDocument/2006/relationships/oleObject" Target="../embeddings/oleObject163.bin"/><Relationship Id="rId7" Type="http://schemas.openxmlformats.org/officeDocument/2006/relationships/image" Target="../media/image138.wmf"/><Relationship Id="rId12" Type="http://schemas.openxmlformats.org/officeDocument/2006/relationships/oleObject" Target="../embeddings/oleObject152.bin"/><Relationship Id="rId17" Type="http://schemas.openxmlformats.org/officeDocument/2006/relationships/image" Target="../media/image143.wmf"/><Relationship Id="rId25" Type="http://schemas.openxmlformats.org/officeDocument/2006/relationships/image" Target="../media/image147.wmf"/><Relationship Id="rId33" Type="http://schemas.openxmlformats.org/officeDocument/2006/relationships/image" Target="../media/image151.wmf"/><Relationship Id="rId2" Type="http://schemas.openxmlformats.org/officeDocument/2006/relationships/slideLayout" Target="../slideLayouts/slideLayout7.xml"/><Relationship Id="rId16" Type="http://schemas.openxmlformats.org/officeDocument/2006/relationships/oleObject" Target="../embeddings/oleObject154.bin"/><Relationship Id="rId20" Type="http://schemas.openxmlformats.org/officeDocument/2006/relationships/oleObject" Target="../embeddings/oleObject156.bin"/><Relationship Id="rId29" Type="http://schemas.openxmlformats.org/officeDocument/2006/relationships/image" Target="../media/image149.wmf"/><Relationship Id="rId1" Type="http://schemas.openxmlformats.org/officeDocument/2006/relationships/vmlDrawing" Target="../drawings/vmlDrawing16.vml"/><Relationship Id="rId6" Type="http://schemas.openxmlformats.org/officeDocument/2006/relationships/oleObject" Target="../embeddings/oleObject149.bin"/><Relationship Id="rId11" Type="http://schemas.openxmlformats.org/officeDocument/2006/relationships/image" Target="../media/image140.wmf"/><Relationship Id="rId24" Type="http://schemas.openxmlformats.org/officeDocument/2006/relationships/oleObject" Target="../embeddings/oleObject158.bin"/><Relationship Id="rId32" Type="http://schemas.openxmlformats.org/officeDocument/2006/relationships/oleObject" Target="../embeddings/oleObject162.bin"/><Relationship Id="rId5" Type="http://schemas.openxmlformats.org/officeDocument/2006/relationships/image" Target="../media/image137.wmf"/><Relationship Id="rId15" Type="http://schemas.openxmlformats.org/officeDocument/2006/relationships/image" Target="../media/image142.wmf"/><Relationship Id="rId23" Type="http://schemas.openxmlformats.org/officeDocument/2006/relationships/image" Target="../media/image146.wmf"/><Relationship Id="rId28" Type="http://schemas.openxmlformats.org/officeDocument/2006/relationships/oleObject" Target="../embeddings/oleObject160.bin"/><Relationship Id="rId10" Type="http://schemas.openxmlformats.org/officeDocument/2006/relationships/oleObject" Target="../embeddings/oleObject151.bin"/><Relationship Id="rId19" Type="http://schemas.openxmlformats.org/officeDocument/2006/relationships/image" Target="../media/image144.wmf"/><Relationship Id="rId31" Type="http://schemas.openxmlformats.org/officeDocument/2006/relationships/image" Target="../media/image150.wmf"/><Relationship Id="rId4" Type="http://schemas.openxmlformats.org/officeDocument/2006/relationships/oleObject" Target="../embeddings/oleObject148.bin"/><Relationship Id="rId9" Type="http://schemas.openxmlformats.org/officeDocument/2006/relationships/image" Target="../media/image139.wmf"/><Relationship Id="rId14" Type="http://schemas.openxmlformats.org/officeDocument/2006/relationships/oleObject" Target="../embeddings/oleObject153.bin"/><Relationship Id="rId22" Type="http://schemas.openxmlformats.org/officeDocument/2006/relationships/oleObject" Target="../embeddings/oleObject157.bin"/><Relationship Id="rId27" Type="http://schemas.openxmlformats.org/officeDocument/2006/relationships/image" Target="../media/image148.wmf"/><Relationship Id="rId30" Type="http://schemas.openxmlformats.org/officeDocument/2006/relationships/oleObject" Target="../embeddings/oleObject161.bin"/><Relationship Id="rId35" Type="http://schemas.openxmlformats.org/officeDocument/2006/relationships/image" Target="../media/image152.wmf"/><Relationship Id="rId8" Type="http://schemas.openxmlformats.org/officeDocument/2006/relationships/oleObject" Target="../embeddings/oleObject150.bin"/></Relationships>
</file>

<file path=ppt/slides/_rels/slide46.xml.rels><?xml version="1.0" encoding="UTF-8" standalone="yes"?>
<Relationships xmlns="http://schemas.openxmlformats.org/package/2006/relationships"><Relationship Id="rId8" Type="http://schemas.openxmlformats.org/officeDocument/2006/relationships/image" Target="../media/image155.wmf"/><Relationship Id="rId13" Type="http://schemas.openxmlformats.org/officeDocument/2006/relationships/oleObject" Target="../embeddings/oleObject169.bin"/><Relationship Id="rId18" Type="http://schemas.openxmlformats.org/officeDocument/2006/relationships/image" Target="../media/image160.wmf"/><Relationship Id="rId26" Type="http://schemas.openxmlformats.org/officeDocument/2006/relationships/image" Target="../media/image164.wmf"/><Relationship Id="rId3" Type="http://schemas.openxmlformats.org/officeDocument/2006/relationships/oleObject" Target="../embeddings/oleObject164.bin"/><Relationship Id="rId21" Type="http://schemas.openxmlformats.org/officeDocument/2006/relationships/oleObject" Target="../embeddings/oleObject173.bin"/><Relationship Id="rId7" Type="http://schemas.openxmlformats.org/officeDocument/2006/relationships/oleObject" Target="../embeddings/oleObject166.bin"/><Relationship Id="rId12" Type="http://schemas.openxmlformats.org/officeDocument/2006/relationships/image" Target="../media/image157.wmf"/><Relationship Id="rId17" Type="http://schemas.openxmlformats.org/officeDocument/2006/relationships/oleObject" Target="../embeddings/oleObject171.bin"/><Relationship Id="rId25" Type="http://schemas.openxmlformats.org/officeDocument/2006/relationships/oleObject" Target="../embeddings/oleObject175.bin"/><Relationship Id="rId2" Type="http://schemas.openxmlformats.org/officeDocument/2006/relationships/slideLayout" Target="../slideLayouts/slideLayout7.xml"/><Relationship Id="rId16" Type="http://schemas.openxmlformats.org/officeDocument/2006/relationships/image" Target="../media/image159.wmf"/><Relationship Id="rId20" Type="http://schemas.openxmlformats.org/officeDocument/2006/relationships/image" Target="../media/image161.wmf"/><Relationship Id="rId1" Type="http://schemas.openxmlformats.org/officeDocument/2006/relationships/vmlDrawing" Target="../drawings/vmlDrawing17.vml"/><Relationship Id="rId6" Type="http://schemas.openxmlformats.org/officeDocument/2006/relationships/image" Target="../media/image154.wmf"/><Relationship Id="rId11" Type="http://schemas.openxmlformats.org/officeDocument/2006/relationships/oleObject" Target="../embeddings/oleObject168.bin"/><Relationship Id="rId24" Type="http://schemas.openxmlformats.org/officeDocument/2006/relationships/image" Target="../media/image163.wmf"/><Relationship Id="rId5" Type="http://schemas.openxmlformats.org/officeDocument/2006/relationships/oleObject" Target="../embeddings/oleObject165.bin"/><Relationship Id="rId15" Type="http://schemas.openxmlformats.org/officeDocument/2006/relationships/oleObject" Target="../embeddings/oleObject170.bin"/><Relationship Id="rId23" Type="http://schemas.openxmlformats.org/officeDocument/2006/relationships/oleObject" Target="../embeddings/oleObject174.bin"/><Relationship Id="rId28" Type="http://schemas.openxmlformats.org/officeDocument/2006/relationships/image" Target="../media/image165.wmf"/><Relationship Id="rId10" Type="http://schemas.openxmlformats.org/officeDocument/2006/relationships/image" Target="../media/image156.wmf"/><Relationship Id="rId19" Type="http://schemas.openxmlformats.org/officeDocument/2006/relationships/oleObject" Target="../embeddings/oleObject172.bin"/><Relationship Id="rId4" Type="http://schemas.openxmlformats.org/officeDocument/2006/relationships/image" Target="../media/image153.wmf"/><Relationship Id="rId9" Type="http://schemas.openxmlformats.org/officeDocument/2006/relationships/oleObject" Target="../embeddings/oleObject167.bin"/><Relationship Id="rId14" Type="http://schemas.openxmlformats.org/officeDocument/2006/relationships/image" Target="../media/image158.wmf"/><Relationship Id="rId22" Type="http://schemas.openxmlformats.org/officeDocument/2006/relationships/image" Target="../media/image162.wmf"/><Relationship Id="rId27" Type="http://schemas.openxmlformats.org/officeDocument/2006/relationships/oleObject" Target="../embeddings/oleObject176.bin"/></Relationships>
</file>

<file path=ppt/slides/_rels/slide47.xml.rels><?xml version="1.0" encoding="UTF-8" standalone="yes"?>
<Relationships xmlns="http://schemas.openxmlformats.org/package/2006/relationships"><Relationship Id="rId8" Type="http://schemas.openxmlformats.org/officeDocument/2006/relationships/image" Target="../media/image156.wmf"/><Relationship Id="rId13" Type="http://schemas.openxmlformats.org/officeDocument/2006/relationships/oleObject" Target="../embeddings/oleObject182.bin"/><Relationship Id="rId18" Type="http://schemas.openxmlformats.org/officeDocument/2006/relationships/image" Target="../media/image161.wmf"/><Relationship Id="rId26" Type="http://schemas.openxmlformats.org/officeDocument/2006/relationships/image" Target="../media/image153.wmf"/><Relationship Id="rId3" Type="http://schemas.openxmlformats.org/officeDocument/2006/relationships/oleObject" Target="../embeddings/oleObject177.bin"/><Relationship Id="rId21" Type="http://schemas.openxmlformats.org/officeDocument/2006/relationships/oleObject" Target="../embeddings/oleObject186.bin"/><Relationship Id="rId7" Type="http://schemas.openxmlformats.org/officeDocument/2006/relationships/oleObject" Target="../embeddings/oleObject179.bin"/><Relationship Id="rId12" Type="http://schemas.openxmlformats.org/officeDocument/2006/relationships/image" Target="../media/image158.wmf"/><Relationship Id="rId17" Type="http://schemas.openxmlformats.org/officeDocument/2006/relationships/oleObject" Target="../embeddings/oleObject184.bin"/><Relationship Id="rId25" Type="http://schemas.openxmlformats.org/officeDocument/2006/relationships/oleObject" Target="../embeddings/oleObject188.bin"/><Relationship Id="rId2" Type="http://schemas.openxmlformats.org/officeDocument/2006/relationships/slideLayout" Target="../slideLayouts/slideLayout7.xml"/><Relationship Id="rId16" Type="http://schemas.openxmlformats.org/officeDocument/2006/relationships/image" Target="../media/image160.wmf"/><Relationship Id="rId20" Type="http://schemas.openxmlformats.org/officeDocument/2006/relationships/image" Target="../media/image162.wmf"/><Relationship Id="rId1" Type="http://schemas.openxmlformats.org/officeDocument/2006/relationships/vmlDrawing" Target="../drawings/vmlDrawing18.vml"/><Relationship Id="rId6" Type="http://schemas.openxmlformats.org/officeDocument/2006/relationships/image" Target="../media/image155.wmf"/><Relationship Id="rId11" Type="http://schemas.openxmlformats.org/officeDocument/2006/relationships/oleObject" Target="../embeddings/oleObject181.bin"/><Relationship Id="rId24" Type="http://schemas.openxmlformats.org/officeDocument/2006/relationships/image" Target="../media/image164.wmf"/><Relationship Id="rId5" Type="http://schemas.openxmlformats.org/officeDocument/2006/relationships/oleObject" Target="../embeddings/oleObject178.bin"/><Relationship Id="rId15" Type="http://schemas.openxmlformats.org/officeDocument/2006/relationships/oleObject" Target="../embeddings/oleObject183.bin"/><Relationship Id="rId23" Type="http://schemas.openxmlformats.org/officeDocument/2006/relationships/oleObject" Target="../embeddings/oleObject187.bin"/><Relationship Id="rId28" Type="http://schemas.openxmlformats.org/officeDocument/2006/relationships/image" Target="../media/image165.wmf"/><Relationship Id="rId10" Type="http://schemas.openxmlformats.org/officeDocument/2006/relationships/image" Target="../media/image157.wmf"/><Relationship Id="rId19" Type="http://schemas.openxmlformats.org/officeDocument/2006/relationships/oleObject" Target="../embeddings/oleObject185.bin"/><Relationship Id="rId4" Type="http://schemas.openxmlformats.org/officeDocument/2006/relationships/image" Target="../media/image154.wmf"/><Relationship Id="rId9" Type="http://schemas.openxmlformats.org/officeDocument/2006/relationships/oleObject" Target="../embeddings/oleObject180.bin"/><Relationship Id="rId14" Type="http://schemas.openxmlformats.org/officeDocument/2006/relationships/image" Target="../media/image159.wmf"/><Relationship Id="rId22" Type="http://schemas.openxmlformats.org/officeDocument/2006/relationships/image" Target="../media/image163.wmf"/><Relationship Id="rId27" Type="http://schemas.openxmlformats.org/officeDocument/2006/relationships/oleObject" Target="../embeddings/oleObject189.bin"/></Relationships>
</file>

<file path=ppt/slides/_rels/slide48.xml.rels><?xml version="1.0" encoding="UTF-8" standalone="yes"?>
<Relationships xmlns="http://schemas.openxmlformats.org/package/2006/relationships"><Relationship Id="rId8" Type="http://schemas.openxmlformats.org/officeDocument/2006/relationships/image" Target="../media/image156.wmf"/><Relationship Id="rId13" Type="http://schemas.openxmlformats.org/officeDocument/2006/relationships/oleObject" Target="../embeddings/oleObject195.bin"/><Relationship Id="rId18" Type="http://schemas.openxmlformats.org/officeDocument/2006/relationships/image" Target="../media/image161.wmf"/><Relationship Id="rId26" Type="http://schemas.openxmlformats.org/officeDocument/2006/relationships/image" Target="../media/image153.wmf"/><Relationship Id="rId3" Type="http://schemas.openxmlformats.org/officeDocument/2006/relationships/oleObject" Target="../embeddings/oleObject190.bin"/><Relationship Id="rId21" Type="http://schemas.openxmlformats.org/officeDocument/2006/relationships/oleObject" Target="../embeddings/oleObject199.bin"/><Relationship Id="rId7" Type="http://schemas.openxmlformats.org/officeDocument/2006/relationships/oleObject" Target="../embeddings/oleObject192.bin"/><Relationship Id="rId12" Type="http://schemas.openxmlformats.org/officeDocument/2006/relationships/image" Target="../media/image158.wmf"/><Relationship Id="rId17" Type="http://schemas.openxmlformats.org/officeDocument/2006/relationships/oleObject" Target="../embeddings/oleObject197.bin"/><Relationship Id="rId25" Type="http://schemas.openxmlformats.org/officeDocument/2006/relationships/oleObject" Target="../embeddings/oleObject201.bin"/><Relationship Id="rId2" Type="http://schemas.openxmlformats.org/officeDocument/2006/relationships/slideLayout" Target="../slideLayouts/slideLayout7.xml"/><Relationship Id="rId16" Type="http://schemas.openxmlformats.org/officeDocument/2006/relationships/image" Target="../media/image160.wmf"/><Relationship Id="rId20" Type="http://schemas.openxmlformats.org/officeDocument/2006/relationships/image" Target="../media/image162.wmf"/><Relationship Id="rId1" Type="http://schemas.openxmlformats.org/officeDocument/2006/relationships/vmlDrawing" Target="../drawings/vmlDrawing19.vml"/><Relationship Id="rId6" Type="http://schemas.openxmlformats.org/officeDocument/2006/relationships/image" Target="../media/image155.wmf"/><Relationship Id="rId11" Type="http://schemas.openxmlformats.org/officeDocument/2006/relationships/oleObject" Target="../embeddings/oleObject194.bin"/><Relationship Id="rId24" Type="http://schemas.openxmlformats.org/officeDocument/2006/relationships/image" Target="../media/image164.wmf"/><Relationship Id="rId5" Type="http://schemas.openxmlformats.org/officeDocument/2006/relationships/oleObject" Target="../embeddings/oleObject191.bin"/><Relationship Id="rId15" Type="http://schemas.openxmlformats.org/officeDocument/2006/relationships/oleObject" Target="../embeddings/oleObject196.bin"/><Relationship Id="rId23" Type="http://schemas.openxmlformats.org/officeDocument/2006/relationships/oleObject" Target="../embeddings/oleObject200.bin"/><Relationship Id="rId28" Type="http://schemas.openxmlformats.org/officeDocument/2006/relationships/image" Target="../media/image165.wmf"/><Relationship Id="rId10" Type="http://schemas.openxmlformats.org/officeDocument/2006/relationships/image" Target="../media/image157.wmf"/><Relationship Id="rId19" Type="http://schemas.openxmlformats.org/officeDocument/2006/relationships/oleObject" Target="../embeddings/oleObject198.bin"/><Relationship Id="rId4" Type="http://schemas.openxmlformats.org/officeDocument/2006/relationships/image" Target="../media/image154.wmf"/><Relationship Id="rId9" Type="http://schemas.openxmlformats.org/officeDocument/2006/relationships/oleObject" Target="../embeddings/oleObject193.bin"/><Relationship Id="rId14" Type="http://schemas.openxmlformats.org/officeDocument/2006/relationships/image" Target="../media/image159.wmf"/><Relationship Id="rId22" Type="http://schemas.openxmlformats.org/officeDocument/2006/relationships/image" Target="../media/image163.wmf"/><Relationship Id="rId27" Type="http://schemas.openxmlformats.org/officeDocument/2006/relationships/oleObject" Target="../embeddings/oleObject202.bin"/></Relationships>
</file>

<file path=ppt/slides/_rels/slide49.xml.rels><?xml version="1.0" encoding="UTF-8" standalone="yes"?>
<Relationships xmlns="http://schemas.openxmlformats.org/package/2006/relationships"><Relationship Id="rId8" Type="http://schemas.openxmlformats.org/officeDocument/2006/relationships/image" Target="../media/image163.wmf"/><Relationship Id="rId13" Type="http://schemas.openxmlformats.org/officeDocument/2006/relationships/oleObject" Target="../embeddings/oleObject208.bin"/><Relationship Id="rId18" Type="http://schemas.openxmlformats.org/officeDocument/2006/relationships/image" Target="../media/image157.wmf"/><Relationship Id="rId26" Type="http://schemas.openxmlformats.org/officeDocument/2006/relationships/image" Target="../media/image161.wmf"/><Relationship Id="rId3" Type="http://schemas.openxmlformats.org/officeDocument/2006/relationships/oleObject" Target="../embeddings/oleObject203.bin"/><Relationship Id="rId21" Type="http://schemas.openxmlformats.org/officeDocument/2006/relationships/oleObject" Target="../embeddings/oleObject212.bin"/><Relationship Id="rId7" Type="http://schemas.openxmlformats.org/officeDocument/2006/relationships/oleObject" Target="../embeddings/oleObject205.bin"/><Relationship Id="rId12" Type="http://schemas.openxmlformats.org/officeDocument/2006/relationships/image" Target="../media/image154.wmf"/><Relationship Id="rId17" Type="http://schemas.openxmlformats.org/officeDocument/2006/relationships/oleObject" Target="../embeddings/oleObject210.bin"/><Relationship Id="rId25" Type="http://schemas.openxmlformats.org/officeDocument/2006/relationships/oleObject" Target="../embeddings/oleObject214.bin"/><Relationship Id="rId2" Type="http://schemas.openxmlformats.org/officeDocument/2006/relationships/slideLayout" Target="../slideLayouts/slideLayout7.xml"/><Relationship Id="rId16" Type="http://schemas.openxmlformats.org/officeDocument/2006/relationships/image" Target="../media/image156.wmf"/><Relationship Id="rId20" Type="http://schemas.openxmlformats.org/officeDocument/2006/relationships/image" Target="../media/image158.wmf"/><Relationship Id="rId1" Type="http://schemas.openxmlformats.org/officeDocument/2006/relationships/vmlDrawing" Target="../drawings/vmlDrawing20.vml"/><Relationship Id="rId6" Type="http://schemas.openxmlformats.org/officeDocument/2006/relationships/image" Target="../media/image162.wmf"/><Relationship Id="rId11" Type="http://schemas.openxmlformats.org/officeDocument/2006/relationships/oleObject" Target="../embeddings/oleObject207.bin"/><Relationship Id="rId24" Type="http://schemas.openxmlformats.org/officeDocument/2006/relationships/image" Target="../media/image160.wmf"/><Relationship Id="rId5" Type="http://schemas.openxmlformats.org/officeDocument/2006/relationships/oleObject" Target="../embeddings/oleObject204.bin"/><Relationship Id="rId15" Type="http://schemas.openxmlformats.org/officeDocument/2006/relationships/oleObject" Target="../embeddings/oleObject209.bin"/><Relationship Id="rId23" Type="http://schemas.openxmlformats.org/officeDocument/2006/relationships/oleObject" Target="../embeddings/oleObject213.bin"/><Relationship Id="rId28" Type="http://schemas.openxmlformats.org/officeDocument/2006/relationships/image" Target="../media/image165.wmf"/><Relationship Id="rId10" Type="http://schemas.openxmlformats.org/officeDocument/2006/relationships/image" Target="../media/image164.wmf"/><Relationship Id="rId19" Type="http://schemas.openxmlformats.org/officeDocument/2006/relationships/oleObject" Target="../embeddings/oleObject211.bin"/><Relationship Id="rId4" Type="http://schemas.openxmlformats.org/officeDocument/2006/relationships/image" Target="../media/image153.wmf"/><Relationship Id="rId9" Type="http://schemas.openxmlformats.org/officeDocument/2006/relationships/oleObject" Target="../embeddings/oleObject206.bin"/><Relationship Id="rId14" Type="http://schemas.openxmlformats.org/officeDocument/2006/relationships/image" Target="../media/image155.wmf"/><Relationship Id="rId22" Type="http://schemas.openxmlformats.org/officeDocument/2006/relationships/image" Target="../media/image159.wmf"/><Relationship Id="rId27" Type="http://schemas.openxmlformats.org/officeDocument/2006/relationships/oleObject" Target="../embeddings/oleObject215.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69.png"/><Relationship Id="rId5" Type="http://schemas.openxmlformats.org/officeDocument/2006/relationships/image" Target="../media/image168.png"/><Relationship Id="rId4" Type="http://schemas.openxmlformats.org/officeDocument/2006/relationships/image" Target="../media/image16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71.png"/><Relationship Id="rId7" Type="http://schemas.openxmlformats.org/officeDocument/2006/relationships/image" Target="../media/image12.png"/><Relationship Id="rId2" Type="http://schemas.openxmlformats.org/officeDocument/2006/relationships/image" Target="../media/image170.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73.png"/><Relationship Id="rId4" Type="http://schemas.openxmlformats.org/officeDocument/2006/relationships/image" Target="../media/image172.png"/></Relationships>
</file>

<file path=ppt/slides/_rels/slide57.xml.rels><?xml version="1.0" encoding="UTF-8" standalone="yes"?>
<Relationships xmlns="http://schemas.openxmlformats.org/package/2006/relationships"><Relationship Id="rId3" Type="http://schemas.openxmlformats.org/officeDocument/2006/relationships/image" Target="../media/image174.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76.png"/><Relationship Id="rId4" Type="http://schemas.openxmlformats.org/officeDocument/2006/relationships/image" Target="../media/image175.png"/></Relationships>
</file>

<file path=ppt/slides/_rels/slide58.xml.rels><?xml version="1.0" encoding="UTF-8" standalone="yes"?>
<Relationships xmlns="http://schemas.openxmlformats.org/package/2006/relationships"><Relationship Id="rId8" Type="http://schemas.openxmlformats.org/officeDocument/2006/relationships/image" Target="../media/image183.png"/><Relationship Id="rId13" Type="http://schemas.openxmlformats.org/officeDocument/2006/relationships/image" Target="../media/image188.png"/><Relationship Id="rId3" Type="http://schemas.openxmlformats.org/officeDocument/2006/relationships/image" Target="../media/image178.png"/><Relationship Id="rId7" Type="http://schemas.openxmlformats.org/officeDocument/2006/relationships/image" Target="../media/image182.png"/><Relationship Id="rId12" Type="http://schemas.openxmlformats.org/officeDocument/2006/relationships/image" Target="../media/image187.png"/><Relationship Id="rId17" Type="http://schemas.openxmlformats.org/officeDocument/2006/relationships/image" Target="../media/image192.png"/><Relationship Id="rId2" Type="http://schemas.openxmlformats.org/officeDocument/2006/relationships/image" Target="../media/image177.png"/><Relationship Id="rId16" Type="http://schemas.openxmlformats.org/officeDocument/2006/relationships/image" Target="../media/image191.png"/><Relationship Id="rId1" Type="http://schemas.openxmlformats.org/officeDocument/2006/relationships/slideLayout" Target="../slideLayouts/slideLayout7.xml"/><Relationship Id="rId6" Type="http://schemas.openxmlformats.org/officeDocument/2006/relationships/image" Target="../media/image181.png"/><Relationship Id="rId11" Type="http://schemas.openxmlformats.org/officeDocument/2006/relationships/image" Target="../media/image186.png"/><Relationship Id="rId5" Type="http://schemas.openxmlformats.org/officeDocument/2006/relationships/image" Target="../media/image180.png"/><Relationship Id="rId15" Type="http://schemas.openxmlformats.org/officeDocument/2006/relationships/image" Target="../media/image190.png"/><Relationship Id="rId10" Type="http://schemas.openxmlformats.org/officeDocument/2006/relationships/image" Target="../media/image185.png"/><Relationship Id="rId4" Type="http://schemas.openxmlformats.org/officeDocument/2006/relationships/image" Target="../media/image179.png"/><Relationship Id="rId9" Type="http://schemas.openxmlformats.org/officeDocument/2006/relationships/image" Target="../media/image184.png"/><Relationship Id="rId14" Type="http://schemas.openxmlformats.org/officeDocument/2006/relationships/image" Target="../media/image189.png"/></Relationships>
</file>

<file path=ppt/slides/_rels/slide59.xml.rels><?xml version="1.0" encoding="UTF-8" standalone="yes"?>
<Relationships xmlns="http://schemas.openxmlformats.org/package/2006/relationships"><Relationship Id="rId8" Type="http://schemas.openxmlformats.org/officeDocument/2006/relationships/tags" Target="../tags/tag69.xml"/><Relationship Id="rId3" Type="http://schemas.openxmlformats.org/officeDocument/2006/relationships/tags" Target="../tags/tag64.xml"/><Relationship Id="rId7" Type="http://schemas.openxmlformats.org/officeDocument/2006/relationships/tags" Target="../tags/tag68.xml"/><Relationship Id="rId12" Type="http://schemas.openxmlformats.org/officeDocument/2006/relationships/slideLayout" Target="../slideLayouts/slideLayout1.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tags" Target="../tags/tag72.xml"/><Relationship Id="rId5" Type="http://schemas.openxmlformats.org/officeDocument/2006/relationships/tags" Target="../tags/tag66.xml"/><Relationship Id="rId10" Type="http://schemas.openxmlformats.org/officeDocument/2006/relationships/tags" Target="../tags/tag71.xml"/><Relationship Id="rId4" Type="http://schemas.openxmlformats.org/officeDocument/2006/relationships/tags" Target="../tags/tag65.xml"/><Relationship Id="rId9" Type="http://schemas.openxmlformats.org/officeDocument/2006/relationships/tags" Target="../tags/tag70.xml"/></Relationships>
</file>

<file path=ppt/slides/_rels/slide60.xml.rels><?xml version="1.0" encoding="UTF-8" standalone="yes"?>
<Relationships xmlns="http://schemas.openxmlformats.org/package/2006/relationships"><Relationship Id="rId2" Type="http://schemas.openxmlformats.org/officeDocument/2006/relationships/image" Target="../media/image177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780.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8" Type="http://schemas.openxmlformats.org/officeDocument/2006/relationships/image" Target="../media/image172.wmf"/><Relationship Id="rId13" Type="http://schemas.openxmlformats.org/officeDocument/2006/relationships/oleObject" Target="../embeddings/oleObject221.bin"/><Relationship Id="rId18" Type="http://schemas.openxmlformats.org/officeDocument/2006/relationships/oleObject" Target="../embeddings/oleObject224.bin"/><Relationship Id="rId3" Type="http://schemas.openxmlformats.org/officeDocument/2006/relationships/oleObject" Target="../embeddings/oleObject216.bin"/><Relationship Id="rId21" Type="http://schemas.openxmlformats.org/officeDocument/2006/relationships/oleObject" Target="../embeddings/oleObject227.bin"/><Relationship Id="rId7" Type="http://schemas.openxmlformats.org/officeDocument/2006/relationships/oleObject" Target="../embeddings/oleObject218.bin"/><Relationship Id="rId12" Type="http://schemas.openxmlformats.org/officeDocument/2006/relationships/image" Target="../media/image174.wmf"/><Relationship Id="rId17" Type="http://schemas.openxmlformats.org/officeDocument/2006/relationships/oleObject" Target="../embeddings/oleObject223.bin"/><Relationship Id="rId25" Type="http://schemas.openxmlformats.org/officeDocument/2006/relationships/image" Target="../media/image177.wmf"/><Relationship Id="rId2" Type="http://schemas.openxmlformats.org/officeDocument/2006/relationships/slideLayout" Target="../slideLayouts/slideLayout7.xml"/><Relationship Id="rId16" Type="http://schemas.openxmlformats.org/officeDocument/2006/relationships/image" Target="../media/image176.wmf"/><Relationship Id="rId20" Type="http://schemas.openxmlformats.org/officeDocument/2006/relationships/oleObject" Target="../embeddings/oleObject226.bin"/><Relationship Id="rId1" Type="http://schemas.openxmlformats.org/officeDocument/2006/relationships/vmlDrawing" Target="../drawings/vmlDrawing21.vml"/><Relationship Id="rId6" Type="http://schemas.openxmlformats.org/officeDocument/2006/relationships/image" Target="../media/image171.wmf"/><Relationship Id="rId11" Type="http://schemas.openxmlformats.org/officeDocument/2006/relationships/oleObject" Target="../embeddings/oleObject220.bin"/><Relationship Id="rId24" Type="http://schemas.openxmlformats.org/officeDocument/2006/relationships/oleObject" Target="../embeddings/oleObject230.bin"/><Relationship Id="rId5" Type="http://schemas.openxmlformats.org/officeDocument/2006/relationships/oleObject" Target="../embeddings/oleObject217.bin"/><Relationship Id="rId15" Type="http://schemas.openxmlformats.org/officeDocument/2006/relationships/oleObject" Target="../embeddings/oleObject222.bin"/><Relationship Id="rId23" Type="http://schemas.openxmlformats.org/officeDocument/2006/relationships/oleObject" Target="../embeddings/oleObject229.bin"/><Relationship Id="rId10" Type="http://schemas.openxmlformats.org/officeDocument/2006/relationships/image" Target="../media/image173.wmf"/><Relationship Id="rId19" Type="http://schemas.openxmlformats.org/officeDocument/2006/relationships/oleObject" Target="../embeddings/oleObject225.bin"/><Relationship Id="rId4" Type="http://schemas.openxmlformats.org/officeDocument/2006/relationships/image" Target="../media/image170.wmf"/><Relationship Id="rId9" Type="http://schemas.openxmlformats.org/officeDocument/2006/relationships/oleObject" Target="../embeddings/oleObject219.bin"/><Relationship Id="rId14" Type="http://schemas.openxmlformats.org/officeDocument/2006/relationships/image" Target="../media/image175.wmf"/><Relationship Id="rId22" Type="http://schemas.openxmlformats.org/officeDocument/2006/relationships/oleObject" Target="../embeddings/oleObject228.bin"/></Relationships>
</file>

<file path=ppt/slides/_rels/slide63.xml.rels><?xml version="1.0" encoding="UTF-8" standalone="yes"?>
<Relationships xmlns="http://schemas.openxmlformats.org/package/2006/relationships"><Relationship Id="rId13" Type="http://schemas.openxmlformats.org/officeDocument/2006/relationships/oleObject" Target="../embeddings/oleObject236.bin"/><Relationship Id="rId18" Type="http://schemas.openxmlformats.org/officeDocument/2006/relationships/oleObject" Target="../embeddings/oleObject239.bin"/><Relationship Id="rId26" Type="http://schemas.openxmlformats.org/officeDocument/2006/relationships/oleObject" Target="../embeddings/oleObject246.bin"/><Relationship Id="rId3" Type="http://schemas.openxmlformats.org/officeDocument/2006/relationships/oleObject" Target="../embeddings/oleObject231.bin"/><Relationship Id="rId21" Type="http://schemas.openxmlformats.org/officeDocument/2006/relationships/oleObject" Target="../embeddings/oleObject241.bin"/><Relationship Id="rId7" Type="http://schemas.openxmlformats.org/officeDocument/2006/relationships/oleObject" Target="../embeddings/oleObject233.bin"/><Relationship Id="rId12" Type="http://schemas.openxmlformats.org/officeDocument/2006/relationships/image" Target="../media/image176.wmf"/><Relationship Id="rId17" Type="http://schemas.openxmlformats.org/officeDocument/2006/relationships/image" Target="../media/image171.wmf"/><Relationship Id="rId25" Type="http://schemas.openxmlformats.org/officeDocument/2006/relationships/oleObject" Target="../embeddings/oleObject245.bin"/><Relationship Id="rId33" Type="http://schemas.openxmlformats.org/officeDocument/2006/relationships/image" Target="../media/image193.png"/><Relationship Id="rId2" Type="http://schemas.openxmlformats.org/officeDocument/2006/relationships/slideLayout" Target="../slideLayouts/slideLayout7.xml"/><Relationship Id="rId16" Type="http://schemas.openxmlformats.org/officeDocument/2006/relationships/oleObject" Target="../embeddings/oleObject238.bin"/><Relationship Id="rId20" Type="http://schemas.openxmlformats.org/officeDocument/2006/relationships/image" Target="../media/image173.wmf"/><Relationship Id="rId29" Type="http://schemas.openxmlformats.org/officeDocument/2006/relationships/oleObject" Target="../embeddings/oleObject249.bin"/><Relationship Id="rId1" Type="http://schemas.openxmlformats.org/officeDocument/2006/relationships/vmlDrawing" Target="../drawings/vmlDrawing22.vml"/><Relationship Id="rId6" Type="http://schemas.openxmlformats.org/officeDocument/2006/relationships/image" Target="../media/image172.wmf"/><Relationship Id="rId11" Type="http://schemas.openxmlformats.org/officeDocument/2006/relationships/oleObject" Target="../embeddings/oleObject235.bin"/><Relationship Id="rId24" Type="http://schemas.openxmlformats.org/officeDocument/2006/relationships/oleObject" Target="../embeddings/oleObject244.bin"/><Relationship Id="rId32" Type="http://schemas.openxmlformats.org/officeDocument/2006/relationships/image" Target="../media/image179.wmf"/><Relationship Id="rId5" Type="http://schemas.openxmlformats.org/officeDocument/2006/relationships/oleObject" Target="../embeddings/oleObject232.bin"/><Relationship Id="rId15" Type="http://schemas.openxmlformats.org/officeDocument/2006/relationships/oleObject" Target="../embeddings/oleObject237.bin"/><Relationship Id="rId23" Type="http://schemas.openxmlformats.org/officeDocument/2006/relationships/oleObject" Target="../embeddings/oleObject243.bin"/><Relationship Id="rId28" Type="http://schemas.openxmlformats.org/officeDocument/2006/relationships/oleObject" Target="../embeddings/oleObject248.bin"/><Relationship Id="rId10" Type="http://schemas.openxmlformats.org/officeDocument/2006/relationships/image" Target="../media/image175.wmf"/><Relationship Id="rId19" Type="http://schemas.openxmlformats.org/officeDocument/2006/relationships/oleObject" Target="../embeddings/oleObject240.bin"/><Relationship Id="rId31" Type="http://schemas.openxmlformats.org/officeDocument/2006/relationships/oleObject" Target="../embeddings/oleObject251.bin"/><Relationship Id="rId4" Type="http://schemas.openxmlformats.org/officeDocument/2006/relationships/image" Target="../media/image170.wmf"/><Relationship Id="rId9" Type="http://schemas.openxmlformats.org/officeDocument/2006/relationships/oleObject" Target="../embeddings/oleObject234.bin"/><Relationship Id="rId14" Type="http://schemas.openxmlformats.org/officeDocument/2006/relationships/image" Target="../media/image178.wmf"/><Relationship Id="rId22" Type="http://schemas.openxmlformats.org/officeDocument/2006/relationships/oleObject" Target="../embeddings/oleObject242.bin"/><Relationship Id="rId27" Type="http://schemas.openxmlformats.org/officeDocument/2006/relationships/oleObject" Target="../embeddings/oleObject247.bin"/><Relationship Id="rId30" Type="http://schemas.openxmlformats.org/officeDocument/2006/relationships/oleObject" Target="../embeddings/oleObject250.bin"/><Relationship Id="rId8" Type="http://schemas.openxmlformats.org/officeDocument/2006/relationships/image" Target="../media/image174.w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90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910.png"/></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254.bin"/><Relationship Id="rId3" Type="http://schemas.openxmlformats.org/officeDocument/2006/relationships/notesSlide" Target="../notesSlides/notesSlide10.xml"/><Relationship Id="rId7" Type="http://schemas.openxmlformats.org/officeDocument/2006/relationships/image" Target="../media/image195.w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253.bin"/><Relationship Id="rId5" Type="http://schemas.openxmlformats.org/officeDocument/2006/relationships/image" Target="../media/image194.wmf"/><Relationship Id="rId4" Type="http://schemas.openxmlformats.org/officeDocument/2006/relationships/oleObject" Target="../embeddings/oleObject252.bin"/><Relationship Id="rId9" Type="http://schemas.openxmlformats.org/officeDocument/2006/relationships/image" Target="../media/image196.wmf"/></Relationships>
</file>

<file path=ppt/slides/_rels/slide67.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image" Target="../media/image197.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8" Type="http://schemas.openxmlformats.org/officeDocument/2006/relationships/image" Target="../media/image172.wmf"/><Relationship Id="rId13" Type="http://schemas.openxmlformats.org/officeDocument/2006/relationships/oleObject" Target="../embeddings/oleObject260.bin"/><Relationship Id="rId18" Type="http://schemas.openxmlformats.org/officeDocument/2006/relationships/oleObject" Target="../embeddings/oleObject263.bin"/><Relationship Id="rId26" Type="http://schemas.openxmlformats.org/officeDocument/2006/relationships/oleObject" Target="../embeddings/oleObject269.bin"/><Relationship Id="rId3" Type="http://schemas.openxmlformats.org/officeDocument/2006/relationships/oleObject" Target="../embeddings/oleObject255.bin"/><Relationship Id="rId21" Type="http://schemas.openxmlformats.org/officeDocument/2006/relationships/oleObject" Target="../embeddings/oleObject265.bin"/><Relationship Id="rId7" Type="http://schemas.openxmlformats.org/officeDocument/2006/relationships/oleObject" Target="../embeddings/oleObject257.bin"/><Relationship Id="rId12" Type="http://schemas.openxmlformats.org/officeDocument/2006/relationships/image" Target="../media/image174.wmf"/><Relationship Id="rId17" Type="http://schemas.openxmlformats.org/officeDocument/2006/relationships/oleObject" Target="../embeddings/oleObject262.bin"/><Relationship Id="rId25" Type="http://schemas.openxmlformats.org/officeDocument/2006/relationships/image" Target="../media/image200.wmf"/><Relationship Id="rId2" Type="http://schemas.openxmlformats.org/officeDocument/2006/relationships/slideLayout" Target="../slideLayouts/slideLayout7.xml"/><Relationship Id="rId16" Type="http://schemas.openxmlformats.org/officeDocument/2006/relationships/image" Target="../media/image198.wmf"/><Relationship Id="rId20" Type="http://schemas.openxmlformats.org/officeDocument/2006/relationships/oleObject" Target="../embeddings/oleObject264.bin"/><Relationship Id="rId1" Type="http://schemas.openxmlformats.org/officeDocument/2006/relationships/vmlDrawing" Target="../drawings/vmlDrawing24.vml"/><Relationship Id="rId6" Type="http://schemas.openxmlformats.org/officeDocument/2006/relationships/image" Target="../media/image171.wmf"/><Relationship Id="rId11" Type="http://schemas.openxmlformats.org/officeDocument/2006/relationships/oleObject" Target="../embeddings/oleObject259.bin"/><Relationship Id="rId24" Type="http://schemas.openxmlformats.org/officeDocument/2006/relationships/oleObject" Target="../embeddings/oleObject268.bin"/><Relationship Id="rId5" Type="http://schemas.openxmlformats.org/officeDocument/2006/relationships/oleObject" Target="../embeddings/oleObject256.bin"/><Relationship Id="rId15" Type="http://schemas.openxmlformats.org/officeDocument/2006/relationships/oleObject" Target="../embeddings/oleObject261.bin"/><Relationship Id="rId23" Type="http://schemas.openxmlformats.org/officeDocument/2006/relationships/oleObject" Target="../embeddings/oleObject267.bin"/><Relationship Id="rId10" Type="http://schemas.openxmlformats.org/officeDocument/2006/relationships/image" Target="../media/image173.wmf"/><Relationship Id="rId19" Type="http://schemas.openxmlformats.org/officeDocument/2006/relationships/image" Target="../media/image199.wmf"/><Relationship Id="rId4" Type="http://schemas.openxmlformats.org/officeDocument/2006/relationships/image" Target="../media/image170.wmf"/><Relationship Id="rId9" Type="http://schemas.openxmlformats.org/officeDocument/2006/relationships/oleObject" Target="../embeddings/oleObject258.bin"/><Relationship Id="rId14" Type="http://schemas.openxmlformats.org/officeDocument/2006/relationships/image" Target="../media/image175.wmf"/><Relationship Id="rId22" Type="http://schemas.openxmlformats.org/officeDocument/2006/relationships/oleObject" Target="../embeddings/oleObject266.bin"/><Relationship Id="rId27" Type="http://schemas.openxmlformats.org/officeDocument/2006/relationships/image" Target="../media/image201.wmf"/></Relationships>
</file>

<file path=ppt/slides/_rels/slide74.xml.rels><?xml version="1.0" encoding="UTF-8" standalone="yes"?>
<Relationships xmlns="http://schemas.openxmlformats.org/package/2006/relationships"><Relationship Id="rId13" Type="http://schemas.openxmlformats.org/officeDocument/2006/relationships/oleObject" Target="../embeddings/oleObject275.bin"/><Relationship Id="rId18" Type="http://schemas.openxmlformats.org/officeDocument/2006/relationships/image" Target="../media/image173.wmf"/><Relationship Id="rId26" Type="http://schemas.openxmlformats.org/officeDocument/2006/relationships/image" Target="../media/image206.wmf"/><Relationship Id="rId3" Type="http://schemas.openxmlformats.org/officeDocument/2006/relationships/oleObject" Target="../embeddings/oleObject270.bin"/><Relationship Id="rId21" Type="http://schemas.openxmlformats.org/officeDocument/2006/relationships/oleObject" Target="../embeddings/oleObject281.bin"/><Relationship Id="rId34" Type="http://schemas.openxmlformats.org/officeDocument/2006/relationships/oleObject" Target="../embeddings/oleObject290.bin"/><Relationship Id="rId7" Type="http://schemas.openxmlformats.org/officeDocument/2006/relationships/oleObject" Target="../embeddings/oleObject272.bin"/><Relationship Id="rId12" Type="http://schemas.openxmlformats.org/officeDocument/2006/relationships/image" Target="../media/image202.wmf"/><Relationship Id="rId17" Type="http://schemas.openxmlformats.org/officeDocument/2006/relationships/oleObject" Target="../embeddings/oleObject278.bin"/><Relationship Id="rId25" Type="http://schemas.openxmlformats.org/officeDocument/2006/relationships/oleObject" Target="../embeddings/oleObject283.bin"/><Relationship Id="rId33" Type="http://schemas.openxmlformats.org/officeDocument/2006/relationships/oleObject" Target="../embeddings/oleObject289.bin"/><Relationship Id="rId2" Type="http://schemas.openxmlformats.org/officeDocument/2006/relationships/slideLayout" Target="../slideLayouts/slideLayout7.xml"/><Relationship Id="rId16" Type="http://schemas.openxmlformats.org/officeDocument/2006/relationships/oleObject" Target="../embeddings/oleObject277.bin"/><Relationship Id="rId20" Type="http://schemas.openxmlformats.org/officeDocument/2006/relationships/oleObject" Target="../embeddings/oleObject280.bin"/><Relationship Id="rId29" Type="http://schemas.openxmlformats.org/officeDocument/2006/relationships/image" Target="../media/image207.wmf"/><Relationship Id="rId1" Type="http://schemas.openxmlformats.org/officeDocument/2006/relationships/vmlDrawing" Target="../drawings/vmlDrawing25.vml"/><Relationship Id="rId6" Type="http://schemas.openxmlformats.org/officeDocument/2006/relationships/image" Target="../media/image172.wmf"/><Relationship Id="rId11" Type="http://schemas.openxmlformats.org/officeDocument/2006/relationships/oleObject" Target="../embeddings/oleObject274.bin"/><Relationship Id="rId24" Type="http://schemas.openxmlformats.org/officeDocument/2006/relationships/image" Target="../media/image205.wmf"/><Relationship Id="rId32" Type="http://schemas.openxmlformats.org/officeDocument/2006/relationships/oleObject" Target="../embeddings/oleObject288.bin"/><Relationship Id="rId5" Type="http://schemas.openxmlformats.org/officeDocument/2006/relationships/oleObject" Target="../embeddings/oleObject271.bin"/><Relationship Id="rId15" Type="http://schemas.openxmlformats.org/officeDocument/2006/relationships/image" Target="../media/image203.wmf"/><Relationship Id="rId23" Type="http://schemas.openxmlformats.org/officeDocument/2006/relationships/oleObject" Target="../embeddings/oleObject282.bin"/><Relationship Id="rId28" Type="http://schemas.openxmlformats.org/officeDocument/2006/relationships/oleObject" Target="../embeddings/oleObject285.bin"/><Relationship Id="rId10" Type="http://schemas.openxmlformats.org/officeDocument/2006/relationships/image" Target="../media/image175.wmf"/><Relationship Id="rId19" Type="http://schemas.openxmlformats.org/officeDocument/2006/relationships/oleObject" Target="../embeddings/oleObject279.bin"/><Relationship Id="rId31" Type="http://schemas.openxmlformats.org/officeDocument/2006/relationships/oleObject" Target="../embeddings/oleObject287.bin"/><Relationship Id="rId4" Type="http://schemas.openxmlformats.org/officeDocument/2006/relationships/image" Target="../media/image170.wmf"/><Relationship Id="rId9" Type="http://schemas.openxmlformats.org/officeDocument/2006/relationships/oleObject" Target="../embeddings/oleObject273.bin"/><Relationship Id="rId14" Type="http://schemas.openxmlformats.org/officeDocument/2006/relationships/oleObject" Target="../embeddings/oleObject276.bin"/><Relationship Id="rId22" Type="http://schemas.openxmlformats.org/officeDocument/2006/relationships/image" Target="../media/image204.wmf"/><Relationship Id="rId27" Type="http://schemas.openxmlformats.org/officeDocument/2006/relationships/oleObject" Target="../embeddings/oleObject284.bin"/><Relationship Id="rId30" Type="http://schemas.openxmlformats.org/officeDocument/2006/relationships/oleObject" Target="../embeddings/oleObject286.bin"/><Relationship Id="rId35" Type="http://schemas.openxmlformats.org/officeDocument/2006/relationships/image" Target="../media/image208.wmf"/><Relationship Id="rId8" Type="http://schemas.openxmlformats.org/officeDocument/2006/relationships/image" Target="../media/image174.wmf"/></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4.xml"/><Relationship Id="rId1" Type="http://schemas.openxmlformats.org/officeDocument/2006/relationships/tags" Target="../tags/tag73.xml"/></Relationships>
</file>

<file path=ppt/slides/_rels/slide76.xml.rels><?xml version="1.0" encoding="UTF-8" standalone="yes"?>
<Relationships xmlns="http://schemas.openxmlformats.org/package/2006/relationships"><Relationship Id="rId8" Type="http://schemas.openxmlformats.org/officeDocument/2006/relationships/tags" Target="../tags/tag82.xml"/><Relationship Id="rId3" Type="http://schemas.openxmlformats.org/officeDocument/2006/relationships/tags" Target="../tags/tag77.xml"/><Relationship Id="rId7" Type="http://schemas.openxmlformats.org/officeDocument/2006/relationships/tags" Target="../tags/tag81.xml"/><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9"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8" Type="http://schemas.openxmlformats.org/officeDocument/2006/relationships/image" Target="../media/image211.wmf"/><Relationship Id="rId13" Type="http://schemas.openxmlformats.org/officeDocument/2006/relationships/oleObject" Target="../embeddings/oleObject296.bin"/><Relationship Id="rId18" Type="http://schemas.openxmlformats.org/officeDocument/2006/relationships/image" Target="../media/image216.wmf"/><Relationship Id="rId26" Type="http://schemas.openxmlformats.org/officeDocument/2006/relationships/image" Target="../media/image220.wmf"/><Relationship Id="rId3" Type="http://schemas.openxmlformats.org/officeDocument/2006/relationships/oleObject" Target="../embeddings/oleObject291.bin"/><Relationship Id="rId21" Type="http://schemas.openxmlformats.org/officeDocument/2006/relationships/oleObject" Target="../embeddings/oleObject300.bin"/><Relationship Id="rId7" Type="http://schemas.openxmlformats.org/officeDocument/2006/relationships/oleObject" Target="../embeddings/oleObject293.bin"/><Relationship Id="rId12" Type="http://schemas.openxmlformats.org/officeDocument/2006/relationships/image" Target="../media/image213.wmf"/><Relationship Id="rId17" Type="http://schemas.openxmlformats.org/officeDocument/2006/relationships/oleObject" Target="../embeddings/oleObject298.bin"/><Relationship Id="rId25" Type="http://schemas.openxmlformats.org/officeDocument/2006/relationships/oleObject" Target="../embeddings/oleObject302.bin"/><Relationship Id="rId2" Type="http://schemas.openxmlformats.org/officeDocument/2006/relationships/slideLayout" Target="../slideLayouts/slideLayout7.xml"/><Relationship Id="rId16" Type="http://schemas.openxmlformats.org/officeDocument/2006/relationships/image" Target="../media/image215.wmf"/><Relationship Id="rId20" Type="http://schemas.openxmlformats.org/officeDocument/2006/relationships/image" Target="../media/image217.wmf"/><Relationship Id="rId29" Type="http://schemas.openxmlformats.org/officeDocument/2006/relationships/oleObject" Target="../embeddings/oleObject304.bin"/><Relationship Id="rId1" Type="http://schemas.openxmlformats.org/officeDocument/2006/relationships/vmlDrawing" Target="../drawings/vmlDrawing26.vml"/><Relationship Id="rId6" Type="http://schemas.openxmlformats.org/officeDocument/2006/relationships/image" Target="../media/image210.wmf"/><Relationship Id="rId11" Type="http://schemas.openxmlformats.org/officeDocument/2006/relationships/oleObject" Target="../embeddings/oleObject295.bin"/><Relationship Id="rId24" Type="http://schemas.openxmlformats.org/officeDocument/2006/relationships/image" Target="../media/image219.wmf"/><Relationship Id="rId32" Type="http://schemas.openxmlformats.org/officeDocument/2006/relationships/image" Target="../media/image223.wmf"/><Relationship Id="rId5" Type="http://schemas.openxmlformats.org/officeDocument/2006/relationships/oleObject" Target="../embeddings/oleObject292.bin"/><Relationship Id="rId15" Type="http://schemas.openxmlformats.org/officeDocument/2006/relationships/oleObject" Target="../embeddings/oleObject297.bin"/><Relationship Id="rId23" Type="http://schemas.openxmlformats.org/officeDocument/2006/relationships/oleObject" Target="../embeddings/oleObject301.bin"/><Relationship Id="rId28" Type="http://schemas.openxmlformats.org/officeDocument/2006/relationships/image" Target="../media/image221.wmf"/><Relationship Id="rId10" Type="http://schemas.openxmlformats.org/officeDocument/2006/relationships/image" Target="../media/image212.wmf"/><Relationship Id="rId19" Type="http://schemas.openxmlformats.org/officeDocument/2006/relationships/oleObject" Target="../embeddings/oleObject299.bin"/><Relationship Id="rId31" Type="http://schemas.openxmlformats.org/officeDocument/2006/relationships/oleObject" Target="../embeddings/oleObject305.bin"/><Relationship Id="rId4" Type="http://schemas.openxmlformats.org/officeDocument/2006/relationships/image" Target="../media/image209.wmf"/><Relationship Id="rId9" Type="http://schemas.openxmlformats.org/officeDocument/2006/relationships/oleObject" Target="../embeddings/oleObject294.bin"/><Relationship Id="rId14" Type="http://schemas.openxmlformats.org/officeDocument/2006/relationships/image" Target="../media/image214.wmf"/><Relationship Id="rId22" Type="http://schemas.openxmlformats.org/officeDocument/2006/relationships/image" Target="../media/image218.wmf"/><Relationship Id="rId27" Type="http://schemas.openxmlformats.org/officeDocument/2006/relationships/oleObject" Target="../embeddings/oleObject303.bin"/><Relationship Id="rId30" Type="http://schemas.openxmlformats.org/officeDocument/2006/relationships/image" Target="../media/image222.wmf"/></Relationships>
</file>

<file path=ppt/slides/_rels/slide78.xml.rels><?xml version="1.0" encoding="UTF-8" standalone="yes"?>
<Relationships xmlns="http://schemas.openxmlformats.org/package/2006/relationships"><Relationship Id="rId8" Type="http://schemas.openxmlformats.org/officeDocument/2006/relationships/image" Target="../media/image218.wmf"/><Relationship Id="rId13" Type="http://schemas.openxmlformats.org/officeDocument/2006/relationships/oleObject" Target="../embeddings/oleObject311.bin"/><Relationship Id="rId18" Type="http://schemas.openxmlformats.org/officeDocument/2006/relationships/image" Target="../media/image217.wmf"/><Relationship Id="rId26" Type="http://schemas.openxmlformats.org/officeDocument/2006/relationships/image" Target="../media/image227.wmf"/><Relationship Id="rId3" Type="http://schemas.openxmlformats.org/officeDocument/2006/relationships/oleObject" Target="../embeddings/oleObject306.bin"/><Relationship Id="rId21" Type="http://schemas.openxmlformats.org/officeDocument/2006/relationships/oleObject" Target="../embeddings/oleObject315.bin"/><Relationship Id="rId7" Type="http://schemas.openxmlformats.org/officeDocument/2006/relationships/oleObject" Target="../embeddings/oleObject308.bin"/><Relationship Id="rId12" Type="http://schemas.openxmlformats.org/officeDocument/2006/relationships/image" Target="../media/image214.wmf"/><Relationship Id="rId17" Type="http://schemas.openxmlformats.org/officeDocument/2006/relationships/oleObject" Target="../embeddings/oleObject313.bin"/><Relationship Id="rId25" Type="http://schemas.openxmlformats.org/officeDocument/2006/relationships/oleObject" Target="../embeddings/oleObject317.bin"/><Relationship Id="rId2" Type="http://schemas.openxmlformats.org/officeDocument/2006/relationships/slideLayout" Target="../slideLayouts/slideLayout7.xml"/><Relationship Id="rId16" Type="http://schemas.openxmlformats.org/officeDocument/2006/relationships/image" Target="../media/image216.wmf"/><Relationship Id="rId20" Type="http://schemas.openxmlformats.org/officeDocument/2006/relationships/image" Target="../media/image219.wmf"/><Relationship Id="rId29" Type="http://schemas.openxmlformats.org/officeDocument/2006/relationships/oleObject" Target="../embeddings/oleObject319.bin"/><Relationship Id="rId1" Type="http://schemas.openxmlformats.org/officeDocument/2006/relationships/vmlDrawing" Target="../drawings/vmlDrawing27.vml"/><Relationship Id="rId6" Type="http://schemas.openxmlformats.org/officeDocument/2006/relationships/image" Target="../media/image225.wmf"/><Relationship Id="rId11" Type="http://schemas.openxmlformats.org/officeDocument/2006/relationships/oleObject" Target="../embeddings/oleObject310.bin"/><Relationship Id="rId24" Type="http://schemas.openxmlformats.org/officeDocument/2006/relationships/image" Target="../media/image226.wmf"/><Relationship Id="rId5" Type="http://schemas.openxmlformats.org/officeDocument/2006/relationships/oleObject" Target="../embeddings/oleObject307.bin"/><Relationship Id="rId15" Type="http://schemas.openxmlformats.org/officeDocument/2006/relationships/oleObject" Target="../embeddings/oleObject312.bin"/><Relationship Id="rId23" Type="http://schemas.openxmlformats.org/officeDocument/2006/relationships/oleObject" Target="../embeddings/oleObject316.bin"/><Relationship Id="rId28" Type="http://schemas.openxmlformats.org/officeDocument/2006/relationships/image" Target="../media/image228.wmf"/><Relationship Id="rId10" Type="http://schemas.openxmlformats.org/officeDocument/2006/relationships/image" Target="../media/image220.wmf"/><Relationship Id="rId19" Type="http://schemas.openxmlformats.org/officeDocument/2006/relationships/oleObject" Target="../embeddings/oleObject314.bin"/><Relationship Id="rId4" Type="http://schemas.openxmlformats.org/officeDocument/2006/relationships/image" Target="../media/image224.wmf"/><Relationship Id="rId9" Type="http://schemas.openxmlformats.org/officeDocument/2006/relationships/oleObject" Target="../embeddings/oleObject309.bin"/><Relationship Id="rId14" Type="http://schemas.openxmlformats.org/officeDocument/2006/relationships/image" Target="../media/image215.wmf"/><Relationship Id="rId22" Type="http://schemas.openxmlformats.org/officeDocument/2006/relationships/image" Target="../media/image221.wmf"/><Relationship Id="rId27" Type="http://schemas.openxmlformats.org/officeDocument/2006/relationships/oleObject" Target="../embeddings/oleObject318.bin"/><Relationship Id="rId30" Type="http://schemas.openxmlformats.org/officeDocument/2006/relationships/image" Target="../media/image229.wmf"/></Relationships>
</file>

<file path=ppt/slides/_rels/slide79.xml.rels><?xml version="1.0" encoding="UTF-8" standalone="yes"?>
<Relationships xmlns="http://schemas.openxmlformats.org/package/2006/relationships"><Relationship Id="rId13" Type="http://schemas.openxmlformats.org/officeDocument/2006/relationships/image" Target="../media/image217.wmf"/><Relationship Id="rId18" Type="http://schemas.openxmlformats.org/officeDocument/2006/relationships/oleObject" Target="../embeddings/oleObject327.bin"/><Relationship Id="rId26" Type="http://schemas.openxmlformats.org/officeDocument/2006/relationships/oleObject" Target="../embeddings/oleObject331.bin"/><Relationship Id="rId3" Type="http://schemas.openxmlformats.org/officeDocument/2006/relationships/notesSlide" Target="../notesSlides/notesSlide13.xml"/><Relationship Id="rId21" Type="http://schemas.openxmlformats.org/officeDocument/2006/relationships/image" Target="../media/image231.wmf"/><Relationship Id="rId34" Type="http://schemas.openxmlformats.org/officeDocument/2006/relationships/oleObject" Target="../embeddings/oleObject335.bin"/><Relationship Id="rId7" Type="http://schemas.openxmlformats.org/officeDocument/2006/relationships/image" Target="../media/image214.wmf"/><Relationship Id="rId12" Type="http://schemas.openxmlformats.org/officeDocument/2006/relationships/oleObject" Target="../embeddings/oleObject324.bin"/><Relationship Id="rId17" Type="http://schemas.openxmlformats.org/officeDocument/2006/relationships/image" Target="../media/image220.wmf"/><Relationship Id="rId25" Type="http://schemas.openxmlformats.org/officeDocument/2006/relationships/image" Target="../media/image233.wmf"/><Relationship Id="rId33" Type="http://schemas.openxmlformats.org/officeDocument/2006/relationships/image" Target="../media/image237.wmf"/><Relationship Id="rId2" Type="http://schemas.openxmlformats.org/officeDocument/2006/relationships/slideLayout" Target="../slideLayouts/slideLayout7.xml"/><Relationship Id="rId16" Type="http://schemas.openxmlformats.org/officeDocument/2006/relationships/oleObject" Target="../embeddings/oleObject326.bin"/><Relationship Id="rId20" Type="http://schemas.openxmlformats.org/officeDocument/2006/relationships/oleObject" Target="../embeddings/oleObject328.bin"/><Relationship Id="rId29" Type="http://schemas.openxmlformats.org/officeDocument/2006/relationships/image" Target="../media/image235.wmf"/><Relationship Id="rId1" Type="http://schemas.openxmlformats.org/officeDocument/2006/relationships/vmlDrawing" Target="../drawings/vmlDrawing28.vml"/><Relationship Id="rId6" Type="http://schemas.openxmlformats.org/officeDocument/2006/relationships/oleObject" Target="../embeddings/oleObject321.bin"/><Relationship Id="rId11" Type="http://schemas.openxmlformats.org/officeDocument/2006/relationships/image" Target="../media/image216.wmf"/><Relationship Id="rId24" Type="http://schemas.openxmlformats.org/officeDocument/2006/relationships/oleObject" Target="../embeddings/oleObject330.bin"/><Relationship Id="rId32" Type="http://schemas.openxmlformats.org/officeDocument/2006/relationships/oleObject" Target="../embeddings/oleObject334.bin"/><Relationship Id="rId5" Type="http://schemas.openxmlformats.org/officeDocument/2006/relationships/image" Target="../media/image219.wmf"/><Relationship Id="rId15" Type="http://schemas.openxmlformats.org/officeDocument/2006/relationships/image" Target="../media/image230.wmf"/><Relationship Id="rId23" Type="http://schemas.openxmlformats.org/officeDocument/2006/relationships/image" Target="../media/image232.wmf"/><Relationship Id="rId28" Type="http://schemas.openxmlformats.org/officeDocument/2006/relationships/oleObject" Target="../embeddings/oleObject332.bin"/><Relationship Id="rId10" Type="http://schemas.openxmlformats.org/officeDocument/2006/relationships/oleObject" Target="../embeddings/oleObject323.bin"/><Relationship Id="rId19" Type="http://schemas.openxmlformats.org/officeDocument/2006/relationships/image" Target="../media/image221.wmf"/><Relationship Id="rId31" Type="http://schemas.openxmlformats.org/officeDocument/2006/relationships/image" Target="../media/image236.wmf"/><Relationship Id="rId4" Type="http://schemas.openxmlformats.org/officeDocument/2006/relationships/oleObject" Target="../embeddings/oleObject320.bin"/><Relationship Id="rId9" Type="http://schemas.openxmlformats.org/officeDocument/2006/relationships/image" Target="../media/image215.wmf"/><Relationship Id="rId14" Type="http://schemas.openxmlformats.org/officeDocument/2006/relationships/oleObject" Target="../embeddings/oleObject325.bin"/><Relationship Id="rId22" Type="http://schemas.openxmlformats.org/officeDocument/2006/relationships/oleObject" Target="../embeddings/oleObject329.bin"/><Relationship Id="rId27" Type="http://schemas.openxmlformats.org/officeDocument/2006/relationships/image" Target="../media/image234.wmf"/><Relationship Id="rId30" Type="http://schemas.openxmlformats.org/officeDocument/2006/relationships/oleObject" Target="../embeddings/oleObject333.bin"/><Relationship Id="rId35" Type="http://schemas.openxmlformats.org/officeDocument/2006/relationships/image" Target="../media/image238.wmf"/><Relationship Id="rId8" Type="http://schemas.openxmlformats.org/officeDocument/2006/relationships/oleObject" Target="../embeddings/oleObject322.bin"/></Relationships>
</file>

<file path=ppt/slides/_rels/slide80.xml.rels><?xml version="1.0" encoding="UTF-8" standalone="yes"?>
<Relationships xmlns="http://schemas.openxmlformats.org/package/2006/relationships"><Relationship Id="rId13" Type="http://schemas.openxmlformats.org/officeDocument/2006/relationships/oleObject" Target="../embeddings/oleObject341.bin"/><Relationship Id="rId18" Type="http://schemas.openxmlformats.org/officeDocument/2006/relationships/image" Target="../media/image221.wmf"/><Relationship Id="rId26" Type="http://schemas.openxmlformats.org/officeDocument/2006/relationships/image" Target="../media/image231.wmf"/><Relationship Id="rId21" Type="http://schemas.openxmlformats.org/officeDocument/2006/relationships/oleObject" Target="../embeddings/oleObject345.bin"/><Relationship Id="rId34" Type="http://schemas.openxmlformats.org/officeDocument/2006/relationships/image" Target="../media/image236.wmf"/><Relationship Id="rId7" Type="http://schemas.openxmlformats.org/officeDocument/2006/relationships/oleObject" Target="../embeddings/oleObject338.bin"/><Relationship Id="rId12" Type="http://schemas.openxmlformats.org/officeDocument/2006/relationships/image" Target="../media/image230.wmf"/><Relationship Id="rId17" Type="http://schemas.openxmlformats.org/officeDocument/2006/relationships/oleObject" Target="../embeddings/oleObject343.bin"/><Relationship Id="rId25" Type="http://schemas.openxmlformats.org/officeDocument/2006/relationships/oleObject" Target="../embeddings/oleObject347.bin"/><Relationship Id="rId33" Type="http://schemas.openxmlformats.org/officeDocument/2006/relationships/oleObject" Target="../embeddings/oleObject351.bin"/><Relationship Id="rId38" Type="http://schemas.openxmlformats.org/officeDocument/2006/relationships/image" Target="../media/image241.wmf"/><Relationship Id="rId2" Type="http://schemas.openxmlformats.org/officeDocument/2006/relationships/slideLayout" Target="../slideLayouts/slideLayout7.xml"/><Relationship Id="rId16" Type="http://schemas.openxmlformats.org/officeDocument/2006/relationships/image" Target="../media/image220.wmf"/><Relationship Id="rId20" Type="http://schemas.openxmlformats.org/officeDocument/2006/relationships/image" Target="../media/image239.wmf"/><Relationship Id="rId29" Type="http://schemas.openxmlformats.org/officeDocument/2006/relationships/oleObject" Target="../embeddings/oleObject349.bin"/><Relationship Id="rId1" Type="http://schemas.openxmlformats.org/officeDocument/2006/relationships/vmlDrawing" Target="../drawings/vmlDrawing29.vml"/><Relationship Id="rId6" Type="http://schemas.openxmlformats.org/officeDocument/2006/relationships/image" Target="../media/image215.wmf"/><Relationship Id="rId11" Type="http://schemas.openxmlformats.org/officeDocument/2006/relationships/oleObject" Target="../embeddings/oleObject340.bin"/><Relationship Id="rId24" Type="http://schemas.openxmlformats.org/officeDocument/2006/relationships/image" Target="../media/image233.wmf"/><Relationship Id="rId32" Type="http://schemas.openxmlformats.org/officeDocument/2006/relationships/image" Target="../media/image235.wmf"/><Relationship Id="rId37" Type="http://schemas.openxmlformats.org/officeDocument/2006/relationships/oleObject" Target="../embeddings/oleObject353.bin"/><Relationship Id="rId5" Type="http://schemas.openxmlformats.org/officeDocument/2006/relationships/oleObject" Target="../embeddings/oleObject337.bin"/><Relationship Id="rId15" Type="http://schemas.openxmlformats.org/officeDocument/2006/relationships/oleObject" Target="../embeddings/oleObject342.bin"/><Relationship Id="rId23" Type="http://schemas.openxmlformats.org/officeDocument/2006/relationships/oleObject" Target="../embeddings/oleObject346.bin"/><Relationship Id="rId28" Type="http://schemas.openxmlformats.org/officeDocument/2006/relationships/image" Target="../media/image232.wmf"/><Relationship Id="rId36" Type="http://schemas.openxmlformats.org/officeDocument/2006/relationships/image" Target="../media/image240.wmf"/><Relationship Id="rId10" Type="http://schemas.openxmlformats.org/officeDocument/2006/relationships/image" Target="../media/image217.wmf"/><Relationship Id="rId19" Type="http://schemas.openxmlformats.org/officeDocument/2006/relationships/oleObject" Target="../embeddings/oleObject344.bin"/><Relationship Id="rId31" Type="http://schemas.openxmlformats.org/officeDocument/2006/relationships/oleObject" Target="../embeddings/oleObject350.bin"/><Relationship Id="rId4" Type="http://schemas.openxmlformats.org/officeDocument/2006/relationships/image" Target="../media/image214.wmf"/><Relationship Id="rId9" Type="http://schemas.openxmlformats.org/officeDocument/2006/relationships/oleObject" Target="../embeddings/oleObject339.bin"/><Relationship Id="rId14" Type="http://schemas.openxmlformats.org/officeDocument/2006/relationships/image" Target="../media/image219.wmf"/><Relationship Id="rId22" Type="http://schemas.openxmlformats.org/officeDocument/2006/relationships/image" Target="../media/image238.wmf"/><Relationship Id="rId27" Type="http://schemas.openxmlformats.org/officeDocument/2006/relationships/oleObject" Target="../embeddings/oleObject348.bin"/><Relationship Id="rId30" Type="http://schemas.openxmlformats.org/officeDocument/2006/relationships/image" Target="../media/image234.wmf"/><Relationship Id="rId35" Type="http://schemas.openxmlformats.org/officeDocument/2006/relationships/oleObject" Target="../embeddings/oleObject352.bin"/><Relationship Id="rId8" Type="http://schemas.openxmlformats.org/officeDocument/2006/relationships/image" Target="../media/image216.wmf"/><Relationship Id="rId3" Type="http://schemas.openxmlformats.org/officeDocument/2006/relationships/oleObject" Target="../embeddings/oleObject336.bin"/></Relationships>
</file>

<file path=ppt/slides/_rels/slide81.xml.rels><?xml version="1.0" encoding="UTF-8" standalone="yes"?>
<Relationships xmlns="http://schemas.openxmlformats.org/package/2006/relationships"><Relationship Id="rId8" Type="http://schemas.openxmlformats.org/officeDocument/2006/relationships/image" Target="../media/image214.wmf"/><Relationship Id="rId13" Type="http://schemas.openxmlformats.org/officeDocument/2006/relationships/oleObject" Target="../embeddings/oleObject359.bin"/><Relationship Id="rId18" Type="http://schemas.openxmlformats.org/officeDocument/2006/relationships/image" Target="../media/image242.wmf"/><Relationship Id="rId26" Type="http://schemas.openxmlformats.org/officeDocument/2006/relationships/image" Target="../media/image246.wmf"/><Relationship Id="rId3" Type="http://schemas.openxmlformats.org/officeDocument/2006/relationships/oleObject" Target="../embeddings/oleObject354.bin"/><Relationship Id="rId21" Type="http://schemas.openxmlformats.org/officeDocument/2006/relationships/oleObject" Target="../embeddings/oleObject363.bin"/><Relationship Id="rId7" Type="http://schemas.openxmlformats.org/officeDocument/2006/relationships/oleObject" Target="../embeddings/oleObject356.bin"/><Relationship Id="rId12" Type="http://schemas.openxmlformats.org/officeDocument/2006/relationships/image" Target="../media/image216.wmf"/><Relationship Id="rId17" Type="http://schemas.openxmlformats.org/officeDocument/2006/relationships/oleObject" Target="../embeddings/oleObject361.bin"/><Relationship Id="rId25" Type="http://schemas.openxmlformats.org/officeDocument/2006/relationships/oleObject" Target="../embeddings/oleObject365.bin"/><Relationship Id="rId2" Type="http://schemas.openxmlformats.org/officeDocument/2006/relationships/slideLayout" Target="../slideLayouts/slideLayout7.xml"/><Relationship Id="rId16" Type="http://schemas.openxmlformats.org/officeDocument/2006/relationships/image" Target="../media/image219.wmf"/><Relationship Id="rId20" Type="http://schemas.openxmlformats.org/officeDocument/2006/relationships/image" Target="../media/image243.wmf"/><Relationship Id="rId1" Type="http://schemas.openxmlformats.org/officeDocument/2006/relationships/vmlDrawing" Target="../drawings/vmlDrawing30.vml"/><Relationship Id="rId6" Type="http://schemas.openxmlformats.org/officeDocument/2006/relationships/image" Target="../media/image230.wmf"/><Relationship Id="rId11" Type="http://schemas.openxmlformats.org/officeDocument/2006/relationships/oleObject" Target="../embeddings/oleObject358.bin"/><Relationship Id="rId24" Type="http://schemas.openxmlformats.org/officeDocument/2006/relationships/image" Target="../media/image245.wmf"/><Relationship Id="rId5" Type="http://schemas.openxmlformats.org/officeDocument/2006/relationships/oleObject" Target="../embeddings/oleObject355.bin"/><Relationship Id="rId15" Type="http://schemas.openxmlformats.org/officeDocument/2006/relationships/oleObject" Target="../embeddings/oleObject360.bin"/><Relationship Id="rId23" Type="http://schemas.openxmlformats.org/officeDocument/2006/relationships/oleObject" Target="../embeddings/oleObject364.bin"/><Relationship Id="rId28" Type="http://schemas.openxmlformats.org/officeDocument/2006/relationships/image" Target="../media/image247.wmf"/><Relationship Id="rId10" Type="http://schemas.openxmlformats.org/officeDocument/2006/relationships/image" Target="../media/image215.wmf"/><Relationship Id="rId19" Type="http://schemas.openxmlformats.org/officeDocument/2006/relationships/oleObject" Target="../embeddings/oleObject362.bin"/><Relationship Id="rId4" Type="http://schemas.openxmlformats.org/officeDocument/2006/relationships/image" Target="../media/image237.wmf"/><Relationship Id="rId9" Type="http://schemas.openxmlformats.org/officeDocument/2006/relationships/oleObject" Target="../embeddings/oleObject357.bin"/><Relationship Id="rId14" Type="http://schemas.openxmlformats.org/officeDocument/2006/relationships/image" Target="../media/image217.wmf"/><Relationship Id="rId22" Type="http://schemas.openxmlformats.org/officeDocument/2006/relationships/image" Target="../media/image244.wmf"/><Relationship Id="rId27" Type="http://schemas.openxmlformats.org/officeDocument/2006/relationships/oleObject" Target="../embeddings/oleObject366.bin"/></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249.png"/><Relationship Id="rId4" Type="http://schemas.openxmlformats.org/officeDocument/2006/relationships/image" Target="../media/image248.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249.png"/><Relationship Id="rId4" Type="http://schemas.openxmlformats.org/officeDocument/2006/relationships/image" Target="../media/image24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lum/>
          </a:blip>
          <a:srcRect/>
          <a:stretch>
            <a:fillRect/>
          </a:stretch>
        </a:blip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CFC0D153-8023-45E2-8D80-CAE97C4C4C5F}"/>
              </a:ext>
            </a:extLst>
          </p:cNvPr>
          <p:cNvSpPr/>
          <p:nvPr/>
        </p:nvSpPr>
        <p:spPr>
          <a:xfrm>
            <a:off x="1248013" y="2683617"/>
            <a:ext cx="6647974" cy="646331"/>
          </a:xfrm>
          <a:prstGeom prst="rect">
            <a:avLst/>
          </a:prstGeom>
        </p:spPr>
        <p:txBody>
          <a:bodyPr wrap="none">
            <a:spAutoFit/>
          </a:bodyPr>
          <a:lstStyle/>
          <a:p>
            <a:r>
              <a:rPr lang="zh-CN" altLang="en-US" sz="3600" dirty="0">
                <a:latin typeface="微软雅黑" panose="020B0503020204020204" pitchFamily="34" charset="-122"/>
                <a:ea typeface="微软雅黑" panose="020B0503020204020204" pitchFamily="34" charset="-122"/>
                <a:cs typeface="+mj-cs"/>
              </a:rPr>
              <a:t>第一章 </a:t>
            </a:r>
            <a:r>
              <a:rPr lang="en-US" altLang="zh-CN" sz="3600" dirty="0">
                <a:latin typeface="微软雅黑" panose="020B0503020204020204" pitchFamily="34" charset="-122"/>
                <a:ea typeface="微软雅黑" panose="020B0503020204020204" pitchFamily="34" charset="-122"/>
                <a:cs typeface="+mj-cs"/>
              </a:rPr>
              <a:t>	</a:t>
            </a:r>
            <a:r>
              <a:rPr lang="zh-CN" altLang="en-US" sz="3600" dirty="0">
                <a:latin typeface="微软雅黑" panose="020B0503020204020204" pitchFamily="34" charset="-122"/>
                <a:ea typeface="微软雅黑" panose="020B0503020204020204" pitchFamily="34" charset="-122"/>
                <a:cs typeface="+mj-cs"/>
              </a:rPr>
              <a:t>需求、供给和均衡价格</a:t>
            </a:r>
          </a:p>
        </p:txBody>
      </p:sp>
    </p:spTree>
    <p:extLst>
      <p:ext uri="{BB962C8B-B14F-4D97-AF65-F5344CB8AC3E}">
        <p14:creationId xmlns:p14="http://schemas.microsoft.com/office/powerpoint/2010/main" val="4147106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a:extLst>
              <a:ext uri="{FF2B5EF4-FFF2-40B4-BE49-F238E27FC236}">
                <a16:creationId xmlns:a16="http://schemas.microsoft.com/office/drawing/2014/main" id="{38EAD662-5A80-4D0F-AE31-32F386065015}"/>
              </a:ext>
            </a:extLst>
          </p:cNvPr>
          <p:cNvSpPr/>
          <p:nvPr/>
        </p:nvSpPr>
        <p:spPr>
          <a:xfrm>
            <a:off x="575303" y="1954816"/>
            <a:ext cx="1916831" cy="1471418"/>
          </a:xfrm>
          <a:prstGeom prst="rect">
            <a:avLst/>
          </a:prstGeom>
          <a:noFill/>
          <a:ln w="28575">
            <a:solidFill>
              <a:srgbClr val="85B3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C16EDE48-C093-4F3C-BE83-57BF8A0F0778}"/>
              </a:ext>
            </a:extLst>
          </p:cNvPr>
          <p:cNvSpPr txBox="1"/>
          <p:nvPr/>
        </p:nvSpPr>
        <p:spPr>
          <a:xfrm>
            <a:off x="539552" y="1954816"/>
            <a:ext cx="1988332" cy="1354495"/>
          </a:xfrm>
          <a:prstGeom prst="rect">
            <a:avLst/>
          </a:prstGeom>
          <a:noFill/>
        </p:spPr>
        <p:txBody>
          <a:bodyPr wrap="square" tIns="0" bIns="3510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nSpc>
                <a:spcPct val="120000"/>
              </a:lnSpc>
              <a:spcBef>
                <a:spcPts val="0"/>
              </a:spcBef>
              <a:spcAft>
                <a:spcPts val="0"/>
              </a:spcAft>
              <a:buSzPct val="100000"/>
            </a:pPr>
            <a:r>
              <a:rPr lang="zh-CN" altLang="en-US" sz="1600" spc="150" dirty="0">
                <a:solidFill>
                  <a:schemeClr val="tx1"/>
                </a:solidFill>
                <a:latin typeface="微软雅黑" panose="020B0503020204020204" pitchFamily="34" charset="-122"/>
                <a:ea typeface="微软雅黑" panose="020B0503020204020204" pitchFamily="34" charset="-122"/>
              </a:rPr>
              <a:t>考虑手机价格的变动。是什么因素引起手机价格持续降低; 或者考虑彩电价格的变化</a:t>
            </a:r>
          </a:p>
        </p:txBody>
      </p:sp>
      <p:sp>
        <p:nvSpPr>
          <p:cNvPr id="6" name="KSO_Shape">
            <a:extLst>
              <a:ext uri="{FF2B5EF4-FFF2-40B4-BE49-F238E27FC236}">
                <a16:creationId xmlns:a16="http://schemas.microsoft.com/office/drawing/2014/main" id="{2F5C60CB-FED6-4148-BEEC-09BA573585EC}"/>
              </a:ext>
            </a:extLst>
          </p:cNvPr>
          <p:cNvSpPr/>
          <p:nvPr/>
        </p:nvSpPr>
        <p:spPr>
          <a:xfrm>
            <a:off x="713309" y="5340314"/>
            <a:ext cx="7674787" cy="708025"/>
          </a:xfrm>
          <a:prstGeom prst="roundRect">
            <a:avLst>
              <a:gd name="adj" fmla="val 50000"/>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solidFill>
                <a:srgbClr val="FFFFFF"/>
              </a:solidFill>
              <a:latin typeface="微软雅黑" panose="020B0503020204020204" pitchFamily="34" charset="-122"/>
            </a:endParaRPr>
          </a:p>
        </p:txBody>
      </p:sp>
      <p:sp>
        <p:nvSpPr>
          <p:cNvPr id="12" name="文本框 12">
            <a:extLst>
              <a:ext uri="{FF2B5EF4-FFF2-40B4-BE49-F238E27FC236}">
                <a16:creationId xmlns:a16="http://schemas.microsoft.com/office/drawing/2014/main" id="{0FB00B28-8C94-49F9-80F0-59DC96C3D9FF}"/>
              </a:ext>
            </a:extLst>
          </p:cNvPr>
          <p:cNvSpPr txBox="1"/>
          <p:nvPr/>
        </p:nvSpPr>
        <p:spPr>
          <a:xfrm>
            <a:off x="2579939" y="1954816"/>
            <a:ext cx="1988332" cy="451954"/>
          </a:xfrm>
          <a:prstGeom prst="rect">
            <a:avLst/>
          </a:prstGeom>
          <a:noFill/>
        </p:spPr>
        <p:txBody>
          <a:bodyPr wrap="square" tIns="0" bIns="3510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nSpc>
                <a:spcPct val="120000"/>
              </a:lnSpc>
              <a:spcBef>
                <a:spcPts val="0"/>
              </a:spcBef>
              <a:spcAft>
                <a:spcPts val="0"/>
              </a:spcAft>
              <a:buSzPct val="100000"/>
            </a:pPr>
            <a:r>
              <a:rPr lang="zh-CN" altLang="en-US" sz="1600" spc="150" dirty="0">
                <a:latin typeface="微软雅黑" panose="020B0503020204020204" pitchFamily="34" charset="-122"/>
                <a:ea typeface="微软雅黑" panose="020B0503020204020204" pitchFamily="34" charset="-122"/>
              </a:rPr>
              <a:t>梵高的画何以价值千万</a:t>
            </a:r>
          </a:p>
        </p:txBody>
      </p:sp>
      <p:sp>
        <p:nvSpPr>
          <p:cNvPr id="13" name="文本框 14">
            <a:extLst>
              <a:ext uri="{FF2B5EF4-FFF2-40B4-BE49-F238E27FC236}">
                <a16:creationId xmlns:a16="http://schemas.microsoft.com/office/drawing/2014/main" id="{10BADF6D-73C4-4D22-892D-011FFCCB4453}"/>
              </a:ext>
            </a:extLst>
          </p:cNvPr>
          <p:cNvSpPr txBox="1"/>
          <p:nvPr/>
        </p:nvSpPr>
        <p:spPr>
          <a:xfrm>
            <a:off x="4637122" y="1954816"/>
            <a:ext cx="1988332" cy="451954"/>
          </a:xfrm>
          <a:prstGeom prst="rect">
            <a:avLst/>
          </a:prstGeom>
          <a:noFill/>
        </p:spPr>
        <p:txBody>
          <a:bodyPr wrap="square" tIns="0" bIns="35100">
            <a:noAutofit/>
          </a:bodyPr>
          <a:lstStyle>
            <a:defPPr>
              <a:defRPr lang="zh-CN"/>
            </a:defPPr>
            <a:lvl1pPr marL="0" lvl="0" indent="0" defTabSz="914400" eaLnBrk="1" latinLnBrk="0" hangingPunct="1">
              <a:lnSpc>
                <a:spcPct val="120000"/>
              </a:lnSpc>
              <a:spcBef>
                <a:spcPts val="0"/>
              </a:spcBef>
              <a:spcAft>
                <a:spcPts val="0"/>
              </a:spcAft>
              <a:buSzPct val="100000"/>
              <a:defRPr sz="1600" spc="150">
                <a:latin typeface="微软雅黑" panose="020B0503020204020204" pitchFamily="34" charset="-122"/>
                <a:ea typeface="微软雅黑" panose="020B0503020204020204" pitchFamily="34" charset="-122"/>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r>
              <a:rPr lang="zh-CN" altLang="en-US" dirty="0"/>
              <a:t>为什么钻石不如水有用，但是远比水昂贵？</a:t>
            </a:r>
          </a:p>
        </p:txBody>
      </p:sp>
      <p:sp>
        <p:nvSpPr>
          <p:cNvPr id="14" name="文本框 16">
            <a:extLst>
              <a:ext uri="{FF2B5EF4-FFF2-40B4-BE49-F238E27FC236}">
                <a16:creationId xmlns:a16="http://schemas.microsoft.com/office/drawing/2014/main" id="{85D1BD18-7F47-421D-958B-C11BB831A381}"/>
              </a:ext>
            </a:extLst>
          </p:cNvPr>
          <p:cNvSpPr txBox="1"/>
          <p:nvPr/>
        </p:nvSpPr>
        <p:spPr>
          <a:xfrm>
            <a:off x="6688124" y="1954816"/>
            <a:ext cx="1988332" cy="451954"/>
          </a:xfrm>
          <a:prstGeom prst="rect">
            <a:avLst/>
          </a:prstGeom>
          <a:noFill/>
        </p:spPr>
        <p:txBody>
          <a:bodyPr wrap="square" tIns="0" bIns="35100">
            <a:noAutofit/>
          </a:bodyPr>
          <a:lstStyle>
            <a:defPPr>
              <a:defRPr lang="zh-CN"/>
            </a:defPPr>
            <a:lvl1pPr marL="0" lvl="0" indent="0" defTabSz="914400" eaLnBrk="1" latinLnBrk="0" hangingPunct="1">
              <a:lnSpc>
                <a:spcPct val="120000"/>
              </a:lnSpc>
              <a:spcBef>
                <a:spcPts val="0"/>
              </a:spcBef>
              <a:spcAft>
                <a:spcPts val="0"/>
              </a:spcAft>
              <a:buSzPct val="100000"/>
              <a:defRPr sz="1600" spc="150">
                <a:latin typeface="微软雅黑" panose="020B0503020204020204" pitchFamily="34" charset="-122"/>
                <a:ea typeface="微软雅黑" panose="020B0503020204020204" pitchFamily="34" charset="-122"/>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r>
              <a:rPr lang="zh-CN" altLang="en-US" dirty="0"/>
              <a:t>更进一步，价值的真实含义是什么？</a:t>
            </a:r>
          </a:p>
        </p:txBody>
      </p:sp>
      <p:grpSp>
        <p:nvGrpSpPr>
          <p:cNvPr id="35" name="组合 34">
            <a:extLst>
              <a:ext uri="{FF2B5EF4-FFF2-40B4-BE49-F238E27FC236}">
                <a16:creationId xmlns:a16="http://schemas.microsoft.com/office/drawing/2014/main" id="{EDE3BEE3-0A8E-4DFB-8F03-2D764F0F0C95}"/>
              </a:ext>
            </a:extLst>
          </p:cNvPr>
          <p:cNvGrpSpPr/>
          <p:nvPr/>
        </p:nvGrpSpPr>
        <p:grpSpPr>
          <a:xfrm>
            <a:off x="959943" y="607460"/>
            <a:ext cx="1147550" cy="1147550"/>
            <a:chOff x="959943" y="607460"/>
            <a:chExt cx="1147550" cy="1147550"/>
          </a:xfrm>
        </p:grpSpPr>
        <p:sp>
          <p:nvSpPr>
            <p:cNvPr id="10" name="椭圆 9">
              <a:extLst>
                <a:ext uri="{FF2B5EF4-FFF2-40B4-BE49-F238E27FC236}">
                  <a16:creationId xmlns:a16="http://schemas.microsoft.com/office/drawing/2014/main" id="{4C5BD66D-27B1-46AA-A0DE-02B87DE231BE}"/>
                </a:ext>
              </a:extLst>
            </p:cNvPr>
            <p:cNvSpPr/>
            <p:nvPr/>
          </p:nvSpPr>
          <p:spPr>
            <a:xfrm>
              <a:off x="959943" y="607460"/>
              <a:ext cx="1147550" cy="1147550"/>
            </a:xfrm>
            <a:prstGeom prst="ellipse">
              <a:avLst/>
            </a:prstGeom>
            <a:solidFill>
              <a:srgbClr val="1F74AD">
                <a:alpha val="53000"/>
              </a:srgbClr>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lnSpc>
                  <a:spcPct val="130000"/>
                </a:lnSpc>
              </a:pPr>
              <a:endParaRPr sz="100">
                <a:latin typeface="微软雅黑" panose="020B0503020204020204" pitchFamily="34" charset="-122"/>
                <a:ea typeface="微软雅黑" panose="020B0503020204020204" pitchFamily="34" charset="-122"/>
              </a:endParaRPr>
            </a:p>
          </p:txBody>
        </p:sp>
        <p:sp>
          <p:nvSpPr>
            <p:cNvPr id="15" name="KSO_Shape">
              <a:extLst>
                <a:ext uri="{FF2B5EF4-FFF2-40B4-BE49-F238E27FC236}">
                  <a16:creationId xmlns:a16="http://schemas.microsoft.com/office/drawing/2014/main" id="{3A211A9F-39FE-4DA8-8BE8-836C1A515442}"/>
                </a:ext>
              </a:extLst>
            </p:cNvPr>
            <p:cNvSpPr>
              <a:spLocks/>
            </p:cNvSpPr>
            <p:nvPr/>
          </p:nvSpPr>
          <p:spPr bwMode="auto">
            <a:xfrm>
              <a:off x="1484094" y="917907"/>
              <a:ext cx="486937" cy="486937"/>
            </a:xfrm>
            <a:custGeom>
              <a:avLst/>
              <a:gdLst>
                <a:gd name="T0" fmla="*/ 1372823 w 5484"/>
                <a:gd name="T1" fmla="*/ 154929 h 5484"/>
                <a:gd name="T2" fmla="*/ 1427013 w 5484"/>
                <a:gd name="T3" fmla="*/ 95181 h 5484"/>
                <a:gd name="T4" fmla="*/ 1405476 w 5484"/>
                <a:gd name="T5" fmla="*/ 23274 h 5484"/>
                <a:gd name="T6" fmla="*/ 1333222 w 5484"/>
                <a:gd name="T7" fmla="*/ 1389 h 5484"/>
                <a:gd name="T8" fmla="*/ 1273126 w 5484"/>
                <a:gd name="T9" fmla="*/ 55580 h 5484"/>
                <a:gd name="T10" fmla="*/ 629789 w 5484"/>
                <a:gd name="T11" fmla="*/ 105949 h 5484"/>
                <a:gd name="T12" fmla="*/ 625274 w 5484"/>
                <a:gd name="T13" fmla="*/ 40990 h 5484"/>
                <a:gd name="T14" fmla="*/ 555451 w 5484"/>
                <a:gd name="T15" fmla="*/ 0 h 5484"/>
                <a:gd name="T16" fmla="*/ 489450 w 5484"/>
                <a:gd name="T17" fmla="*/ 34737 h 5484"/>
                <a:gd name="T18" fmla="*/ 482503 w 5484"/>
                <a:gd name="T19" fmla="*/ 110118 h 5484"/>
                <a:gd name="T20" fmla="*/ 547114 w 5484"/>
                <a:gd name="T21" fmla="*/ 158055 h 5484"/>
                <a:gd name="T22" fmla="*/ 134434 w 5484"/>
                <a:gd name="T23" fmla="*/ 477987 h 5484"/>
                <a:gd name="T24" fmla="*/ 57664 w 5484"/>
                <a:gd name="T25" fmla="*/ 512377 h 5484"/>
                <a:gd name="T26" fmla="*/ 9726 w 5484"/>
                <a:gd name="T27" fmla="*/ 579768 h 5484"/>
                <a:gd name="T28" fmla="*/ 695 w 5484"/>
                <a:gd name="T29" fmla="*/ 1762229 h 5484"/>
                <a:gd name="T30" fmla="*/ 31264 w 5484"/>
                <a:gd name="T31" fmla="*/ 1840736 h 5484"/>
                <a:gd name="T32" fmla="*/ 96917 w 5484"/>
                <a:gd name="T33" fmla="*/ 1892147 h 5484"/>
                <a:gd name="T34" fmla="*/ 1754240 w 5484"/>
                <a:gd name="T35" fmla="*/ 1904305 h 5484"/>
                <a:gd name="T36" fmla="*/ 1834830 w 5484"/>
                <a:gd name="T37" fmla="*/ 1877557 h 5484"/>
                <a:gd name="T38" fmla="*/ 1889368 w 5484"/>
                <a:gd name="T39" fmla="*/ 1814683 h 5484"/>
                <a:gd name="T40" fmla="*/ 1905000 w 5484"/>
                <a:gd name="T41" fmla="*/ 634653 h 5484"/>
                <a:gd name="T42" fmla="*/ 1881726 w 5484"/>
                <a:gd name="T43" fmla="*/ 552325 h 5484"/>
                <a:gd name="T44" fmla="*/ 1821630 w 5484"/>
                <a:gd name="T45" fmla="*/ 495008 h 5484"/>
                <a:gd name="T46" fmla="*/ 1428403 w 5484"/>
                <a:gd name="T47" fmla="*/ 1587153 h 5484"/>
                <a:gd name="T48" fmla="*/ 1409297 w 5484"/>
                <a:gd name="T49" fmla="*/ 1662533 h 5484"/>
                <a:gd name="T50" fmla="*/ 1351980 w 5484"/>
                <a:gd name="T51" fmla="*/ 1722976 h 5484"/>
                <a:gd name="T52" fmla="*/ 1269653 w 5484"/>
                <a:gd name="T53" fmla="*/ 1745903 h 5484"/>
                <a:gd name="T54" fmla="*/ 248720 w 5484"/>
                <a:gd name="T55" fmla="*/ 1730271 h 5484"/>
                <a:gd name="T56" fmla="*/ 185845 w 5484"/>
                <a:gd name="T57" fmla="*/ 1675733 h 5484"/>
                <a:gd name="T58" fmla="*/ 159097 w 5484"/>
                <a:gd name="T59" fmla="*/ 1595490 h 5484"/>
                <a:gd name="T60" fmla="*/ 170908 w 5484"/>
                <a:gd name="T61" fmla="*/ 731570 h 5484"/>
                <a:gd name="T62" fmla="*/ 222319 w 5484"/>
                <a:gd name="T63" fmla="*/ 666264 h 5484"/>
                <a:gd name="T64" fmla="*/ 301173 w 5484"/>
                <a:gd name="T65" fmla="*/ 635695 h 5484"/>
                <a:gd name="T66" fmla="*/ 1324538 w 5484"/>
                <a:gd name="T67" fmla="*/ 644379 h 5484"/>
                <a:gd name="T68" fmla="*/ 1392276 w 5484"/>
                <a:gd name="T69" fmla="*/ 692317 h 5484"/>
                <a:gd name="T70" fmla="*/ 1426666 w 5484"/>
                <a:gd name="T71" fmla="*/ 769086 h 5484"/>
                <a:gd name="T72" fmla="*/ 1627101 w 5484"/>
                <a:gd name="T73" fmla="*/ 1343991 h 5484"/>
                <a:gd name="T74" fmla="*/ 1554152 w 5484"/>
                <a:gd name="T75" fmla="*/ 1302306 h 5484"/>
                <a:gd name="T76" fmla="*/ 1513162 w 5484"/>
                <a:gd name="T77" fmla="*/ 1230052 h 5484"/>
                <a:gd name="T78" fmla="*/ 1513162 w 5484"/>
                <a:gd name="T79" fmla="*/ 1150851 h 5484"/>
                <a:gd name="T80" fmla="*/ 1554152 w 5484"/>
                <a:gd name="T81" fmla="*/ 1078249 h 5484"/>
                <a:gd name="T82" fmla="*/ 1627101 w 5484"/>
                <a:gd name="T83" fmla="*/ 1036565 h 5484"/>
                <a:gd name="T84" fmla="*/ 1706302 w 5484"/>
                <a:gd name="T85" fmla="*/ 1036565 h 5484"/>
                <a:gd name="T86" fmla="*/ 1778903 w 5484"/>
                <a:gd name="T87" fmla="*/ 1078249 h 5484"/>
                <a:gd name="T88" fmla="*/ 1820241 w 5484"/>
                <a:gd name="T89" fmla="*/ 1150851 h 5484"/>
                <a:gd name="T90" fmla="*/ 1820241 w 5484"/>
                <a:gd name="T91" fmla="*/ 1230052 h 5484"/>
                <a:gd name="T92" fmla="*/ 1778903 w 5484"/>
                <a:gd name="T93" fmla="*/ 1302306 h 5484"/>
                <a:gd name="T94" fmla="*/ 1706302 w 5484"/>
                <a:gd name="T95" fmla="*/ 1343991 h 5484"/>
                <a:gd name="T96" fmla="*/ 1634743 w 5484"/>
                <a:gd name="T97" fmla="*/ 949026 h 5484"/>
                <a:gd name="T98" fmla="*/ 1559710 w 5484"/>
                <a:gd name="T99" fmla="*/ 910815 h 5484"/>
                <a:gd name="T100" fmla="*/ 1514899 w 5484"/>
                <a:gd name="T101" fmla="*/ 840646 h 5484"/>
                <a:gd name="T102" fmla="*/ 1511078 w 5484"/>
                <a:gd name="T103" fmla="*/ 761792 h 5484"/>
                <a:gd name="T104" fmla="*/ 1548941 w 5484"/>
                <a:gd name="T105" fmla="*/ 686759 h 5484"/>
                <a:gd name="T106" fmla="*/ 1619458 w 5484"/>
                <a:gd name="T107" fmla="*/ 641947 h 5484"/>
                <a:gd name="T108" fmla="*/ 1698660 w 5484"/>
                <a:gd name="T109" fmla="*/ 638126 h 5484"/>
                <a:gd name="T110" fmla="*/ 1773693 w 5484"/>
                <a:gd name="T111" fmla="*/ 675990 h 5484"/>
                <a:gd name="T112" fmla="*/ 1818504 w 5484"/>
                <a:gd name="T113" fmla="*/ 746507 h 5484"/>
                <a:gd name="T114" fmla="*/ 1821978 w 5484"/>
                <a:gd name="T115" fmla="*/ 825361 h 5484"/>
                <a:gd name="T116" fmla="*/ 1784114 w 5484"/>
                <a:gd name="T117" fmla="*/ 900046 h 5484"/>
                <a:gd name="T118" fmla="*/ 1713944 w 5484"/>
                <a:gd name="T119" fmla="*/ 944858 h 548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484" h="5484">
                  <a:moveTo>
                    <a:pt x="5026" y="1370"/>
                  </a:moveTo>
                  <a:lnTo>
                    <a:pt x="3081" y="1370"/>
                  </a:lnTo>
                  <a:lnTo>
                    <a:pt x="3849" y="449"/>
                  </a:lnTo>
                  <a:lnTo>
                    <a:pt x="3866" y="454"/>
                  </a:lnTo>
                  <a:lnTo>
                    <a:pt x="3875" y="455"/>
                  </a:lnTo>
                  <a:lnTo>
                    <a:pt x="3884" y="456"/>
                  </a:lnTo>
                  <a:lnTo>
                    <a:pt x="3907" y="455"/>
                  </a:lnTo>
                  <a:lnTo>
                    <a:pt x="3930" y="451"/>
                  </a:lnTo>
                  <a:lnTo>
                    <a:pt x="3952" y="446"/>
                  </a:lnTo>
                  <a:lnTo>
                    <a:pt x="3973" y="438"/>
                  </a:lnTo>
                  <a:lnTo>
                    <a:pt x="3993" y="428"/>
                  </a:lnTo>
                  <a:lnTo>
                    <a:pt x="4012" y="417"/>
                  </a:lnTo>
                  <a:lnTo>
                    <a:pt x="4029" y="404"/>
                  </a:lnTo>
                  <a:lnTo>
                    <a:pt x="4046" y="389"/>
                  </a:lnTo>
                  <a:lnTo>
                    <a:pt x="4061" y="373"/>
                  </a:lnTo>
                  <a:lnTo>
                    <a:pt x="4073" y="356"/>
                  </a:lnTo>
                  <a:lnTo>
                    <a:pt x="4085" y="336"/>
                  </a:lnTo>
                  <a:lnTo>
                    <a:pt x="4094" y="317"/>
                  </a:lnTo>
                  <a:lnTo>
                    <a:pt x="4102" y="296"/>
                  </a:lnTo>
                  <a:lnTo>
                    <a:pt x="4108" y="274"/>
                  </a:lnTo>
                  <a:lnTo>
                    <a:pt x="4111" y="251"/>
                  </a:lnTo>
                  <a:lnTo>
                    <a:pt x="4112" y="228"/>
                  </a:lnTo>
                  <a:lnTo>
                    <a:pt x="4111" y="204"/>
                  </a:lnTo>
                  <a:lnTo>
                    <a:pt x="4108" y="182"/>
                  </a:lnTo>
                  <a:lnTo>
                    <a:pt x="4102" y="160"/>
                  </a:lnTo>
                  <a:lnTo>
                    <a:pt x="4094" y="139"/>
                  </a:lnTo>
                  <a:lnTo>
                    <a:pt x="4085" y="118"/>
                  </a:lnTo>
                  <a:lnTo>
                    <a:pt x="4073" y="100"/>
                  </a:lnTo>
                  <a:lnTo>
                    <a:pt x="4061" y="83"/>
                  </a:lnTo>
                  <a:lnTo>
                    <a:pt x="4046" y="67"/>
                  </a:lnTo>
                  <a:lnTo>
                    <a:pt x="4029" y="52"/>
                  </a:lnTo>
                  <a:lnTo>
                    <a:pt x="4012" y="38"/>
                  </a:lnTo>
                  <a:lnTo>
                    <a:pt x="3993" y="27"/>
                  </a:lnTo>
                  <a:lnTo>
                    <a:pt x="3973" y="17"/>
                  </a:lnTo>
                  <a:lnTo>
                    <a:pt x="3952" y="10"/>
                  </a:lnTo>
                  <a:lnTo>
                    <a:pt x="3930" y="4"/>
                  </a:lnTo>
                  <a:lnTo>
                    <a:pt x="3907" y="1"/>
                  </a:lnTo>
                  <a:lnTo>
                    <a:pt x="3884" y="0"/>
                  </a:lnTo>
                  <a:lnTo>
                    <a:pt x="3860" y="1"/>
                  </a:lnTo>
                  <a:lnTo>
                    <a:pt x="3838" y="4"/>
                  </a:lnTo>
                  <a:lnTo>
                    <a:pt x="3816" y="10"/>
                  </a:lnTo>
                  <a:lnTo>
                    <a:pt x="3796" y="17"/>
                  </a:lnTo>
                  <a:lnTo>
                    <a:pt x="3775" y="27"/>
                  </a:lnTo>
                  <a:lnTo>
                    <a:pt x="3756" y="38"/>
                  </a:lnTo>
                  <a:lnTo>
                    <a:pt x="3739" y="52"/>
                  </a:lnTo>
                  <a:lnTo>
                    <a:pt x="3722" y="67"/>
                  </a:lnTo>
                  <a:lnTo>
                    <a:pt x="3708" y="83"/>
                  </a:lnTo>
                  <a:lnTo>
                    <a:pt x="3694" y="100"/>
                  </a:lnTo>
                  <a:lnTo>
                    <a:pt x="3683" y="118"/>
                  </a:lnTo>
                  <a:lnTo>
                    <a:pt x="3673" y="139"/>
                  </a:lnTo>
                  <a:lnTo>
                    <a:pt x="3665" y="160"/>
                  </a:lnTo>
                  <a:lnTo>
                    <a:pt x="3660" y="182"/>
                  </a:lnTo>
                  <a:lnTo>
                    <a:pt x="3656" y="204"/>
                  </a:lnTo>
                  <a:lnTo>
                    <a:pt x="3655" y="228"/>
                  </a:lnTo>
                  <a:lnTo>
                    <a:pt x="3656" y="247"/>
                  </a:lnTo>
                  <a:lnTo>
                    <a:pt x="3660" y="267"/>
                  </a:lnTo>
                  <a:lnTo>
                    <a:pt x="3664" y="287"/>
                  </a:lnTo>
                  <a:lnTo>
                    <a:pt x="3671" y="305"/>
                  </a:lnTo>
                  <a:lnTo>
                    <a:pt x="2783" y="1370"/>
                  </a:lnTo>
                  <a:lnTo>
                    <a:pt x="2700" y="1370"/>
                  </a:lnTo>
                  <a:lnTo>
                    <a:pt x="1813" y="305"/>
                  </a:lnTo>
                  <a:lnTo>
                    <a:pt x="1818" y="287"/>
                  </a:lnTo>
                  <a:lnTo>
                    <a:pt x="1823" y="267"/>
                  </a:lnTo>
                  <a:lnTo>
                    <a:pt x="1826" y="247"/>
                  </a:lnTo>
                  <a:lnTo>
                    <a:pt x="1828" y="228"/>
                  </a:lnTo>
                  <a:lnTo>
                    <a:pt x="1826" y="204"/>
                  </a:lnTo>
                  <a:lnTo>
                    <a:pt x="1823" y="182"/>
                  </a:lnTo>
                  <a:lnTo>
                    <a:pt x="1817" y="160"/>
                  </a:lnTo>
                  <a:lnTo>
                    <a:pt x="1809" y="139"/>
                  </a:lnTo>
                  <a:lnTo>
                    <a:pt x="1800" y="118"/>
                  </a:lnTo>
                  <a:lnTo>
                    <a:pt x="1788" y="100"/>
                  </a:lnTo>
                  <a:lnTo>
                    <a:pt x="1776" y="83"/>
                  </a:lnTo>
                  <a:lnTo>
                    <a:pt x="1761" y="67"/>
                  </a:lnTo>
                  <a:lnTo>
                    <a:pt x="1745" y="52"/>
                  </a:lnTo>
                  <a:lnTo>
                    <a:pt x="1727" y="38"/>
                  </a:lnTo>
                  <a:lnTo>
                    <a:pt x="1708" y="27"/>
                  </a:lnTo>
                  <a:lnTo>
                    <a:pt x="1688" y="17"/>
                  </a:lnTo>
                  <a:lnTo>
                    <a:pt x="1667" y="10"/>
                  </a:lnTo>
                  <a:lnTo>
                    <a:pt x="1646" y="4"/>
                  </a:lnTo>
                  <a:lnTo>
                    <a:pt x="1622" y="1"/>
                  </a:lnTo>
                  <a:lnTo>
                    <a:pt x="1599" y="0"/>
                  </a:lnTo>
                  <a:lnTo>
                    <a:pt x="1575" y="1"/>
                  </a:lnTo>
                  <a:lnTo>
                    <a:pt x="1553" y="4"/>
                  </a:lnTo>
                  <a:lnTo>
                    <a:pt x="1531" y="10"/>
                  </a:lnTo>
                  <a:lnTo>
                    <a:pt x="1510" y="17"/>
                  </a:lnTo>
                  <a:lnTo>
                    <a:pt x="1490" y="27"/>
                  </a:lnTo>
                  <a:lnTo>
                    <a:pt x="1472" y="38"/>
                  </a:lnTo>
                  <a:lnTo>
                    <a:pt x="1454" y="52"/>
                  </a:lnTo>
                  <a:lnTo>
                    <a:pt x="1437" y="67"/>
                  </a:lnTo>
                  <a:lnTo>
                    <a:pt x="1423" y="83"/>
                  </a:lnTo>
                  <a:lnTo>
                    <a:pt x="1409" y="100"/>
                  </a:lnTo>
                  <a:lnTo>
                    <a:pt x="1398" y="118"/>
                  </a:lnTo>
                  <a:lnTo>
                    <a:pt x="1389" y="139"/>
                  </a:lnTo>
                  <a:lnTo>
                    <a:pt x="1381" y="160"/>
                  </a:lnTo>
                  <a:lnTo>
                    <a:pt x="1375" y="182"/>
                  </a:lnTo>
                  <a:lnTo>
                    <a:pt x="1371" y="204"/>
                  </a:lnTo>
                  <a:lnTo>
                    <a:pt x="1370" y="228"/>
                  </a:lnTo>
                  <a:lnTo>
                    <a:pt x="1371" y="251"/>
                  </a:lnTo>
                  <a:lnTo>
                    <a:pt x="1375" y="274"/>
                  </a:lnTo>
                  <a:lnTo>
                    <a:pt x="1381" y="296"/>
                  </a:lnTo>
                  <a:lnTo>
                    <a:pt x="1389" y="317"/>
                  </a:lnTo>
                  <a:lnTo>
                    <a:pt x="1398" y="336"/>
                  </a:lnTo>
                  <a:lnTo>
                    <a:pt x="1409" y="356"/>
                  </a:lnTo>
                  <a:lnTo>
                    <a:pt x="1423" y="373"/>
                  </a:lnTo>
                  <a:lnTo>
                    <a:pt x="1437" y="389"/>
                  </a:lnTo>
                  <a:lnTo>
                    <a:pt x="1454" y="404"/>
                  </a:lnTo>
                  <a:lnTo>
                    <a:pt x="1472" y="417"/>
                  </a:lnTo>
                  <a:lnTo>
                    <a:pt x="1490" y="428"/>
                  </a:lnTo>
                  <a:lnTo>
                    <a:pt x="1510" y="438"/>
                  </a:lnTo>
                  <a:lnTo>
                    <a:pt x="1531" y="446"/>
                  </a:lnTo>
                  <a:lnTo>
                    <a:pt x="1553" y="451"/>
                  </a:lnTo>
                  <a:lnTo>
                    <a:pt x="1575" y="455"/>
                  </a:lnTo>
                  <a:lnTo>
                    <a:pt x="1599" y="456"/>
                  </a:lnTo>
                  <a:lnTo>
                    <a:pt x="1609" y="455"/>
                  </a:lnTo>
                  <a:lnTo>
                    <a:pt x="1617" y="454"/>
                  </a:lnTo>
                  <a:lnTo>
                    <a:pt x="1634" y="449"/>
                  </a:lnTo>
                  <a:lnTo>
                    <a:pt x="2403" y="1370"/>
                  </a:lnTo>
                  <a:lnTo>
                    <a:pt x="456" y="1370"/>
                  </a:lnTo>
                  <a:lnTo>
                    <a:pt x="433" y="1371"/>
                  </a:lnTo>
                  <a:lnTo>
                    <a:pt x="410" y="1372"/>
                  </a:lnTo>
                  <a:lnTo>
                    <a:pt x="387" y="1376"/>
                  </a:lnTo>
                  <a:lnTo>
                    <a:pt x="364" y="1379"/>
                  </a:lnTo>
                  <a:lnTo>
                    <a:pt x="342" y="1385"/>
                  </a:lnTo>
                  <a:lnTo>
                    <a:pt x="320" y="1391"/>
                  </a:lnTo>
                  <a:lnTo>
                    <a:pt x="300" y="1397"/>
                  </a:lnTo>
                  <a:lnTo>
                    <a:pt x="279" y="1406"/>
                  </a:lnTo>
                  <a:lnTo>
                    <a:pt x="258" y="1415"/>
                  </a:lnTo>
                  <a:lnTo>
                    <a:pt x="239" y="1425"/>
                  </a:lnTo>
                  <a:lnTo>
                    <a:pt x="220" y="1437"/>
                  </a:lnTo>
                  <a:lnTo>
                    <a:pt x="201" y="1448"/>
                  </a:lnTo>
                  <a:lnTo>
                    <a:pt x="183" y="1461"/>
                  </a:lnTo>
                  <a:lnTo>
                    <a:pt x="166" y="1475"/>
                  </a:lnTo>
                  <a:lnTo>
                    <a:pt x="150" y="1489"/>
                  </a:lnTo>
                  <a:lnTo>
                    <a:pt x="134" y="1504"/>
                  </a:lnTo>
                  <a:lnTo>
                    <a:pt x="119" y="1520"/>
                  </a:lnTo>
                  <a:lnTo>
                    <a:pt x="104" y="1537"/>
                  </a:lnTo>
                  <a:lnTo>
                    <a:pt x="90" y="1554"/>
                  </a:lnTo>
                  <a:lnTo>
                    <a:pt x="77" y="1571"/>
                  </a:lnTo>
                  <a:lnTo>
                    <a:pt x="66" y="1590"/>
                  </a:lnTo>
                  <a:lnTo>
                    <a:pt x="54" y="1610"/>
                  </a:lnTo>
                  <a:lnTo>
                    <a:pt x="45" y="1629"/>
                  </a:lnTo>
                  <a:lnTo>
                    <a:pt x="36" y="1649"/>
                  </a:lnTo>
                  <a:lnTo>
                    <a:pt x="28" y="1669"/>
                  </a:lnTo>
                  <a:lnTo>
                    <a:pt x="20" y="1691"/>
                  </a:lnTo>
                  <a:lnTo>
                    <a:pt x="14" y="1713"/>
                  </a:lnTo>
                  <a:lnTo>
                    <a:pt x="9" y="1735"/>
                  </a:lnTo>
                  <a:lnTo>
                    <a:pt x="5" y="1757"/>
                  </a:lnTo>
                  <a:lnTo>
                    <a:pt x="2" y="1780"/>
                  </a:lnTo>
                  <a:lnTo>
                    <a:pt x="0" y="1803"/>
                  </a:lnTo>
                  <a:lnTo>
                    <a:pt x="0" y="1827"/>
                  </a:lnTo>
                  <a:lnTo>
                    <a:pt x="0" y="5026"/>
                  </a:lnTo>
                  <a:lnTo>
                    <a:pt x="0" y="5049"/>
                  </a:lnTo>
                  <a:lnTo>
                    <a:pt x="2" y="5073"/>
                  </a:lnTo>
                  <a:lnTo>
                    <a:pt x="5" y="5095"/>
                  </a:lnTo>
                  <a:lnTo>
                    <a:pt x="9" y="5118"/>
                  </a:lnTo>
                  <a:lnTo>
                    <a:pt x="14" y="5140"/>
                  </a:lnTo>
                  <a:lnTo>
                    <a:pt x="20" y="5162"/>
                  </a:lnTo>
                  <a:lnTo>
                    <a:pt x="28" y="5183"/>
                  </a:lnTo>
                  <a:lnTo>
                    <a:pt x="36" y="5204"/>
                  </a:lnTo>
                  <a:lnTo>
                    <a:pt x="45" y="5224"/>
                  </a:lnTo>
                  <a:lnTo>
                    <a:pt x="54" y="5244"/>
                  </a:lnTo>
                  <a:lnTo>
                    <a:pt x="66" y="5263"/>
                  </a:lnTo>
                  <a:lnTo>
                    <a:pt x="77" y="5282"/>
                  </a:lnTo>
                  <a:lnTo>
                    <a:pt x="90" y="5299"/>
                  </a:lnTo>
                  <a:lnTo>
                    <a:pt x="104" y="5316"/>
                  </a:lnTo>
                  <a:lnTo>
                    <a:pt x="119" y="5334"/>
                  </a:lnTo>
                  <a:lnTo>
                    <a:pt x="134" y="5349"/>
                  </a:lnTo>
                  <a:lnTo>
                    <a:pt x="150" y="5365"/>
                  </a:lnTo>
                  <a:lnTo>
                    <a:pt x="166" y="5379"/>
                  </a:lnTo>
                  <a:lnTo>
                    <a:pt x="183" y="5393"/>
                  </a:lnTo>
                  <a:lnTo>
                    <a:pt x="201" y="5405"/>
                  </a:lnTo>
                  <a:lnTo>
                    <a:pt x="220" y="5417"/>
                  </a:lnTo>
                  <a:lnTo>
                    <a:pt x="239" y="5428"/>
                  </a:lnTo>
                  <a:lnTo>
                    <a:pt x="258" y="5437"/>
                  </a:lnTo>
                  <a:lnTo>
                    <a:pt x="279" y="5447"/>
                  </a:lnTo>
                  <a:lnTo>
                    <a:pt x="300" y="5456"/>
                  </a:lnTo>
                  <a:lnTo>
                    <a:pt x="320" y="5463"/>
                  </a:lnTo>
                  <a:lnTo>
                    <a:pt x="342" y="5469"/>
                  </a:lnTo>
                  <a:lnTo>
                    <a:pt x="364" y="5474"/>
                  </a:lnTo>
                  <a:lnTo>
                    <a:pt x="387" y="5478"/>
                  </a:lnTo>
                  <a:lnTo>
                    <a:pt x="410" y="5481"/>
                  </a:lnTo>
                  <a:lnTo>
                    <a:pt x="433" y="5482"/>
                  </a:lnTo>
                  <a:lnTo>
                    <a:pt x="456" y="5484"/>
                  </a:lnTo>
                  <a:lnTo>
                    <a:pt x="5026" y="5484"/>
                  </a:lnTo>
                  <a:lnTo>
                    <a:pt x="5050" y="5482"/>
                  </a:lnTo>
                  <a:lnTo>
                    <a:pt x="5073" y="5481"/>
                  </a:lnTo>
                  <a:lnTo>
                    <a:pt x="5096" y="5478"/>
                  </a:lnTo>
                  <a:lnTo>
                    <a:pt x="5118" y="5474"/>
                  </a:lnTo>
                  <a:lnTo>
                    <a:pt x="5140" y="5469"/>
                  </a:lnTo>
                  <a:lnTo>
                    <a:pt x="5162" y="5463"/>
                  </a:lnTo>
                  <a:lnTo>
                    <a:pt x="5184" y="5456"/>
                  </a:lnTo>
                  <a:lnTo>
                    <a:pt x="5205" y="5447"/>
                  </a:lnTo>
                  <a:lnTo>
                    <a:pt x="5224" y="5437"/>
                  </a:lnTo>
                  <a:lnTo>
                    <a:pt x="5244" y="5428"/>
                  </a:lnTo>
                  <a:lnTo>
                    <a:pt x="5263" y="5417"/>
                  </a:lnTo>
                  <a:lnTo>
                    <a:pt x="5282" y="5405"/>
                  </a:lnTo>
                  <a:lnTo>
                    <a:pt x="5299" y="5393"/>
                  </a:lnTo>
                  <a:lnTo>
                    <a:pt x="5316" y="5379"/>
                  </a:lnTo>
                  <a:lnTo>
                    <a:pt x="5334" y="5365"/>
                  </a:lnTo>
                  <a:lnTo>
                    <a:pt x="5350" y="5349"/>
                  </a:lnTo>
                  <a:lnTo>
                    <a:pt x="5365" y="5334"/>
                  </a:lnTo>
                  <a:lnTo>
                    <a:pt x="5379" y="5316"/>
                  </a:lnTo>
                  <a:lnTo>
                    <a:pt x="5393" y="5299"/>
                  </a:lnTo>
                  <a:lnTo>
                    <a:pt x="5405" y="5282"/>
                  </a:lnTo>
                  <a:lnTo>
                    <a:pt x="5417" y="5263"/>
                  </a:lnTo>
                  <a:lnTo>
                    <a:pt x="5428" y="5244"/>
                  </a:lnTo>
                  <a:lnTo>
                    <a:pt x="5439" y="5224"/>
                  </a:lnTo>
                  <a:lnTo>
                    <a:pt x="5448" y="5204"/>
                  </a:lnTo>
                  <a:lnTo>
                    <a:pt x="5456" y="5183"/>
                  </a:lnTo>
                  <a:lnTo>
                    <a:pt x="5463" y="5162"/>
                  </a:lnTo>
                  <a:lnTo>
                    <a:pt x="5469" y="5140"/>
                  </a:lnTo>
                  <a:lnTo>
                    <a:pt x="5474" y="5118"/>
                  </a:lnTo>
                  <a:lnTo>
                    <a:pt x="5478" y="5095"/>
                  </a:lnTo>
                  <a:lnTo>
                    <a:pt x="5481" y="5073"/>
                  </a:lnTo>
                  <a:lnTo>
                    <a:pt x="5482" y="5049"/>
                  </a:lnTo>
                  <a:lnTo>
                    <a:pt x="5484" y="5026"/>
                  </a:lnTo>
                  <a:lnTo>
                    <a:pt x="5484" y="1827"/>
                  </a:lnTo>
                  <a:lnTo>
                    <a:pt x="5482" y="1803"/>
                  </a:lnTo>
                  <a:lnTo>
                    <a:pt x="5481" y="1780"/>
                  </a:lnTo>
                  <a:lnTo>
                    <a:pt x="5478" y="1757"/>
                  </a:lnTo>
                  <a:lnTo>
                    <a:pt x="5474" y="1735"/>
                  </a:lnTo>
                  <a:lnTo>
                    <a:pt x="5469" y="1713"/>
                  </a:lnTo>
                  <a:lnTo>
                    <a:pt x="5463" y="1691"/>
                  </a:lnTo>
                  <a:lnTo>
                    <a:pt x="5456" y="1669"/>
                  </a:lnTo>
                  <a:lnTo>
                    <a:pt x="5448" y="1649"/>
                  </a:lnTo>
                  <a:lnTo>
                    <a:pt x="5439" y="1629"/>
                  </a:lnTo>
                  <a:lnTo>
                    <a:pt x="5428" y="1610"/>
                  </a:lnTo>
                  <a:lnTo>
                    <a:pt x="5417" y="1590"/>
                  </a:lnTo>
                  <a:lnTo>
                    <a:pt x="5405" y="1571"/>
                  </a:lnTo>
                  <a:lnTo>
                    <a:pt x="5393" y="1554"/>
                  </a:lnTo>
                  <a:lnTo>
                    <a:pt x="5379" y="1537"/>
                  </a:lnTo>
                  <a:lnTo>
                    <a:pt x="5365" y="1520"/>
                  </a:lnTo>
                  <a:lnTo>
                    <a:pt x="5350" y="1504"/>
                  </a:lnTo>
                  <a:lnTo>
                    <a:pt x="5334" y="1489"/>
                  </a:lnTo>
                  <a:lnTo>
                    <a:pt x="5316" y="1475"/>
                  </a:lnTo>
                  <a:lnTo>
                    <a:pt x="5299" y="1461"/>
                  </a:lnTo>
                  <a:lnTo>
                    <a:pt x="5282" y="1448"/>
                  </a:lnTo>
                  <a:lnTo>
                    <a:pt x="5263" y="1437"/>
                  </a:lnTo>
                  <a:lnTo>
                    <a:pt x="5244" y="1425"/>
                  </a:lnTo>
                  <a:lnTo>
                    <a:pt x="5224" y="1415"/>
                  </a:lnTo>
                  <a:lnTo>
                    <a:pt x="5205" y="1406"/>
                  </a:lnTo>
                  <a:lnTo>
                    <a:pt x="5184" y="1397"/>
                  </a:lnTo>
                  <a:lnTo>
                    <a:pt x="5162" y="1391"/>
                  </a:lnTo>
                  <a:lnTo>
                    <a:pt x="5140" y="1385"/>
                  </a:lnTo>
                  <a:lnTo>
                    <a:pt x="5118" y="1379"/>
                  </a:lnTo>
                  <a:lnTo>
                    <a:pt x="5096" y="1376"/>
                  </a:lnTo>
                  <a:lnTo>
                    <a:pt x="5073" y="1372"/>
                  </a:lnTo>
                  <a:lnTo>
                    <a:pt x="5050" y="1371"/>
                  </a:lnTo>
                  <a:lnTo>
                    <a:pt x="5026" y="1370"/>
                  </a:lnTo>
                  <a:close/>
                  <a:moveTo>
                    <a:pt x="4112" y="4569"/>
                  </a:moveTo>
                  <a:lnTo>
                    <a:pt x="4112" y="4569"/>
                  </a:lnTo>
                  <a:lnTo>
                    <a:pt x="4111" y="4593"/>
                  </a:lnTo>
                  <a:lnTo>
                    <a:pt x="4110" y="4616"/>
                  </a:lnTo>
                  <a:lnTo>
                    <a:pt x="4107" y="4639"/>
                  </a:lnTo>
                  <a:lnTo>
                    <a:pt x="4103" y="4661"/>
                  </a:lnTo>
                  <a:lnTo>
                    <a:pt x="4097" y="4683"/>
                  </a:lnTo>
                  <a:lnTo>
                    <a:pt x="4092" y="4705"/>
                  </a:lnTo>
                  <a:lnTo>
                    <a:pt x="4085" y="4727"/>
                  </a:lnTo>
                  <a:lnTo>
                    <a:pt x="4077" y="4747"/>
                  </a:lnTo>
                  <a:lnTo>
                    <a:pt x="4067" y="4767"/>
                  </a:lnTo>
                  <a:lnTo>
                    <a:pt x="4057" y="4786"/>
                  </a:lnTo>
                  <a:lnTo>
                    <a:pt x="4047" y="4806"/>
                  </a:lnTo>
                  <a:lnTo>
                    <a:pt x="4034" y="4824"/>
                  </a:lnTo>
                  <a:lnTo>
                    <a:pt x="4021" y="4843"/>
                  </a:lnTo>
                  <a:lnTo>
                    <a:pt x="4008" y="4860"/>
                  </a:lnTo>
                  <a:lnTo>
                    <a:pt x="3994" y="4876"/>
                  </a:lnTo>
                  <a:lnTo>
                    <a:pt x="3979" y="4892"/>
                  </a:lnTo>
                  <a:lnTo>
                    <a:pt x="3963" y="4907"/>
                  </a:lnTo>
                  <a:lnTo>
                    <a:pt x="3946" y="4921"/>
                  </a:lnTo>
                  <a:lnTo>
                    <a:pt x="3929" y="4935"/>
                  </a:lnTo>
                  <a:lnTo>
                    <a:pt x="3911" y="4948"/>
                  </a:lnTo>
                  <a:lnTo>
                    <a:pt x="3892" y="4960"/>
                  </a:lnTo>
                  <a:lnTo>
                    <a:pt x="3873" y="4971"/>
                  </a:lnTo>
                  <a:lnTo>
                    <a:pt x="3853" y="4981"/>
                  </a:lnTo>
                  <a:lnTo>
                    <a:pt x="3834" y="4990"/>
                  </a:lnTo>
                  <a:lnTo>
                    <a:pt x="3813" y="4998"/>
                  </a:lnTo>
                  <a:lnTo>
                    <a:pt x="3791" y="5005"/>
                  </a:lnTo>
                  <a:lnTo>
                    <a:pt x="3769" y="5011"/>
                  </a:lnTo>
                  <a:lnTo>
                    <a:pt x="3747" y="5017"/>
                  </a:lnTo>
                  <a:lnTo>
                    <a:pt x="3725" y="5020"/>
                  </a:lnTo>
                  <a:lnTo>
                    <a:pt x="3702" y="5024"/>
                  </a:lnTo>
                  <a:lnTo>
                    <a:pt x="3679" y="5025"/>
                  </a:lnTo>
                  <a:lnTo>
                    <a:pt x="3655" y="5026"/>
                  </a:lnTo>
                  <a:lnTo>
                    <a:pt x="914" y="5026"/>
                  </a:lnTo>
                  <a:lnTo>
                    <a:pt x="890" y="5025"/>
                  </a:lnTo>
                  <a:lnTo>
                    <a:pt x="867" y="5024"/>
                  </a:lnTo>
                  <a:lnTo>
                    <a:pt x="844" y="5020"/>
                  </a:lnTo>
                  <a:lnTo>
                    <a:pt x="822" y="5017"/>
                  </a:lnTo>
                  <a:lnTo>
                    <a:pt x="800" y="5011"/>
                  </a:lnTo>
                  <a:lnTo>
                    <a:pt x="778" y="5005"/>
                  </a:lnTo>
                  <a:lnTo>
                    <a:pt x="756" y="4998"/>
                  </a:lnTo>
                  <a:lnTo>
                    <a:pt x="735" y="4990"/>
                  </a:lnTo>
                  <a:lnTo>
                    <a:pt x="716" y="4981"/>
                  </a:lnTo>
                  <a:lnTo>
                    <a:pt x="696" y="4971"/>
                  </a:lnTo>
                  <a:lnTo>
                    <a:pt x="677" y="4960"/>
                  </a:lnTo>
                  <a:lnTo>
                    <a:pt x="658" y="4948"/>
                  </a:lnTo>
                  <a:lnTo>
                    <a:pt x="640" y="4935"/>
                  </a:lnTo>
                  <a:lnTo>
                    <a:pt x="624" y="4921"/>
                  </a:lnTo>
                  <a:lnTo>
                    <a:pt x="606" y="4907"/>
                  </a:lnTo>
                  <a:lnTo>
                    <a:pt x="590" y="4892"/>
                  </a:lnTo>
                  <a:lnTo>
                    <a:pt x="575" y="4876"/>
                  </a:lnTo>
                  <a:lnTo>
                    <a:pt x="561" y="4860"/>
                  </a:lnTo>
                  <a:lnTo>
                    <a:pt x="547" y="4843"/>
                  </a:lnTo>
                  <a:lnTo>
                    <a:pt x="535" y="4824"/>
                  </a:lnTo>
                  <a:lnTo>
                    <a:pt x="523" y="4806"/>
                  </a:lnTo>
                  <a:lnTo>
                    <a:pt x="512" y="4786"/>
                  </a:lnTo>
                  <a:lnTo>
                    <a:pt x="501" y="4767"/>
                  </a:lnTo>
                  <a:lnTo>
                    <a:pt x="492" y="4747"/>
                  </a:lnTo>
                  <a:lnTo>
                    <a:pt x="484" y="4727"/>
                  </a:lnTo>
                  <a:lnTo>
                    <a:pt x="477" y="4705"/>
                  </a:lnTo>
                  <a:lnTo>
                    <a:pt x="471" y="4683"/>
                  </a:lnTo>
                  <a:lnTo>
                    <a:pt x="466" y="4661"/>
                  </a:lnTo>
                  <a:lnTo>
                    <a:pt x="462" y="4639"/>
                  </a:lnTo>
                  <a:lnTo>
                    <a:pt x="459" y="4616"/>
                  </a:lnTo>
                  <a:lnTo>
                    <a:pt x="458" y="4593"/>
                  </a:lnTo>
                  <a:lnTo>
                    <a:pt x="456" y="4569"/>
                  </a:lnTo>
                  <a:lnTo>
                    <a:pt x="456" y="2284"/>
                  </a:lnTo>
                  <a:lnTo>
                    <a:pt x="458" y="2261"/>
                  </a:lnTo>
                  <a:lnTo>
                    <a:pt x="459" y="2238"/>
                  </a:lnTo>
                  <a:lnTo>
                    <a:pt x="462" y="2214"/>
                  </a:lnTo>
                  <a:lnTo>
                    <a:pt x="466" y="2193"/>
                  </a:lnTo>
                  <a:lnTo>
                    <a:pt x="471" y="2170"/>
                  </a:lnTo>
                  <a:lnTo>
                    <a:pt x="477" y="2148"/>
                  </a:lnTo>
                  <a:lnTo>
                    <a:pt x="484" y="2127"/>
                  </a:lnTo>
                  <a:lnTo>
                    <a:pt x="492" y="2106"/>
                  </a:lnTo>
                  <a:lnTo>
                    <a:pt x="501" y="2085"/>
                  </a:lnTo>
                  <a:lnTo>
                    <a:pt x="512" y="2066"/>
                  </a:lnTo>
                  <a:lnTo>
                    <a:pt x="523" y="2047"/>
                  </a:lnTo>
                  <a:lnTo>
                    <a:pt x="535" y="2029"/>
                  </a:lnTo>
                  <a:lnTo>
                    <a:pt x="547" y="2011"/>
                  </a:lnTo>
                  <a:lnTo>
                    <a:pt x="561" y="1993"/>
                  </a:lnTo>
                  <a:lnTo>
                    <a:pt x="575" y="1977"/>
                  </a:lnTo>
                  <a:lnTo>
                    <a:pt x="590" y="1961"/>
                  </a:lnTo>
                  <a:lnTo>
                    <a:pt x="606" y="1946"/>
                  </a:lnTo>
                  <a:lnTo>
                    <a:pt x="624" y="1931"/>
                  </a:lnTo>
                  <a:lnTo>
                    <a:pt x="640" y="1918"/>
                  </a:lnTo>
                  <a:lnTo>
                    <a:pt x="658" y="1906"/>
                  </a:lnTo>
                  <a:lnTo>
                    <a:pt x="677" y="1893"/>
                  </a:lnTo>
                  <a:lnTo>
                    <a:pt x="696" y="1883"/>
                  </a:lnTo>
                  <a:lnTo>
                    <a:pt x="716" y="1872"/>
                  </a:lnTo>
                  <a:lnTo>
                    <a:pt x="735" y="1863"/>
                  </a:lnTo>
                  <a:lnTo>
                    <a:pt x="756" y="1855"/>
                  </a:lnTo>
                  <a:lnTo>
                    <a:pt x="778" y="1848"/>
                  </a:lnTo>
                  <a:lnTo>
                    <a:pt x="800" y="1841"/>
                  </a:lnTo>
                  <a:lnTo>
                    <a:pt x="822" y="1837"/>
                  </a:lnTo>
                  <a:lnTo>
                    <a:pt x="844" y="1832"/>
                  </a:lnTo>
                  <a:lnTo>
                    <a:pt x="867" y="1830"/>
                  </a:lnTo>
                  <a:lnTo>
                    <a:pt x="890" y="1827"/>
                  </a:lnTo>
                  <a:lnTo>
                    <a:pt x="914" y="1827"/>
                  </a:lnTo>
                  <a:lnTo>
                    <a:pt x="3655" y="1827"/>
                  </a:lnTo>
                  <a:lnTo>
                    <a:pt x="3679" y="1827"/>
                  </a:lnTo>
                  <a:lnTo>
                    <a:pt x="3702" y="1830"/>
                  </a:lnTo>
                  <a:lnTo>
                    <a:pt x="3725" y="1832"/>
                  </a:lnTo>
                  <a:lnTo>
                    <a:pt x="3747" y="1837"/>
                  </a:lnTo>
                  <a:lnTo>
                    <a:pt x="3769" y="1841"/>
                  </a:lnTo>
                  <a:lnTo>
                    <a:pt x="3791" y="1848"/>
                  </a:lnTo>
                  <a:lnTo>
                    <a:pt x="3813" y="1855"/>
                  </a:lnTo>
                  <a:lnTo>
                    <a:pt x="3834" y="1863"/>
                  </a:lnTo>
                  <a:lnTo>
                    <a:pt x="3853" y="1872"/>
                  </a:lnTo>
                  <a:lnTo>
                    <a:pt x="3873" y="1883"/>
                  </a:lnTo>
                  <a:lnTo>
                    <a:pt x="3892" y="1893"/>
                  </a:lnTo>
                  <a:lnTo>
                    <a:pt x="3911" y="1906"/>
                  </a:lnTo>
                  <a:lnTo>
                    <a:pt x="3929" y="1918"/>
                  </a:lnTo>
                  <a:lnTo>
                    <a:pt x="3946" y="1931"/>
                  </a:lnTo>
                  <a:lnTo>
                    <a:pt x="3963" y="1946"/>
                  </a:lnTo>
                  <a:lnTo>
                    <a:pt x="3979" y="1961"/>
                  </a:lnTo>
                  <a:lnTo>
                    <a:pt x="3994" y="1977"/>
                  </a:lnTo>
                  <a:lnTo>
                    <a:pt x="4008" y="1993"/>
                  </a:lnTo>
                  <a:lnTo>
                    <a:pt x="4021" y="2011"/>
                  </a:lnTo>
                  <a:lnTo>
                    <a:pt x="4034" y="2029"/>
                  </a:lnTo>
                  <a:lnTo>
                    <a:pt x="4047" y="2047"/>
                  </a:lnTo>
                  <a:lnTo>
                    <a:pt x="4057" y="2066"/>
                  </a:lnTo>
                  <a:lnTo>
                    <a:pt x="4067" y="2085"/>
                  </a:lnTo>
                  <a:lnTo>
                    <a:pt x="4077" y="2106"/>
                  </a:lnTo>
                  <a:lnTo>
                    <a:pt x="4085" y="2127"/>
                  </a:lnTo>
                  <a:lnTo>
                    <a:pt x="4092" y="2148"/>
                  </a:lnTo>
                  <a:lnTo>
                    <a:pt x="4097" y="2170"/>
                  </a:lnTo>
                  <a:lnTo>
                    <a:pt x="4103" y="2193"/>
                  </a:lnTo>
                  <a:lnTo>
                    <a:pt x="4107" y="2214"/>
                  </a:lnTo>
                  <a:lnTo>
                    <a:pt x="4110" y="2238"/>
                  </a:lnTo>
                  <a:lnTo>
                    <a:pt x="4111" y="2261"/>
                  </a:lnTo>
                  <a:lnTo>
                    <a:pt x="4112" y="2284"/>
                  </a:lnTo>
                  <a:lnTo>
                    <a:pt x="4112" y="4569"/>
                  </a:lnTo>
                  <a:close/>
                  <a:moveTo>
                    <a:pt x="4798" y="3884"/>
                  </a:moveTo>
                  <a:lnTo>
                    <a:pt x="4798" y="3884"/>
                  </a:lnTo>
                  <a:lnTo>
                    <a:pt x="4774" y="3883"/>
                  </a:lnTo>
                  <a:lnTo>
                    <a:pt x="4751" y="3881"/>
                  </a:lnTo>
                  <a:lnTo>
                    <a:pt x="4728" y="3878"/>
                  </a:lnTo>
                  <a:lnTo>
                    <a:pt x="4706" y="3874"/>
                  </a:lnTo>
                  <a:lnTo>
                    <a:pt x="4684" y="3869"/>
                  </a:lnTo>
                  <a:lnTo>
                    <a:pt x="4662" y="3863"/>
                  </a:lnTo>
                  <a:lnTo>
                    <a:pt x="4641" y="3855"/>
                  </a:lnTo>
                  <a:lnTo>
                    <a:pt x="4619" y="3847"/>
                  </a:lnTo>
                  <a:lnTo>
                    <a:pt x="4600" y="3838"/>
                  </a:lnTo>
                  <a:lnTo>
                    <a:pt x="4580" y="3829"/>
                  </a:lnTo>
                  <a:lnTo>
                    <a:pt x="4561" y="3817"/>
                  </a:lnTo>
                  <a:lnTo>
                    <a:pt x="4542" y="3806"/>
                  </a:lnTo>
                  <a:lnTo>
                    <a:pt x="4525" y="3793"/>
                  </a:lnTo>
                  <a:lnTo>
                    <a:pt x="4508" y="3779"/>
                  </a:lnTo>
                  <a:lnTo>
                    <a:pt x="4490" y="3764"/>
                  </a:lnTo>
                  <a:lnTo>
                    <a:pt x="4474" y="3749"/>
                  </a:lnTo>
                  <a:lnTo>
                    <a:pt x="4459" y="3734"/>
                  </a:lnTo>
                  <a:lnTo>
                    <a:pt x="4445" y="3717"/>
                  </a:lnTo>
                  <a:lnTo>
                    <a:pt x="4432" y="3700"/>
                  </a:lnTo>
                  <a:lnTo>
                    <a:pt x="4419" y="3683"/>
                  </a:lnTo>
                  <a:lnTo>
                    <a:pt x="4407" y="3664"/>
                  </a:lnTo>
                  <a:lnTo>
                    <a:pt x="4396" y="3644"/>
                  </a:lnTo>
                  <a:lnTo>
                    <a:pt x="4385" y="3625"/>
                  </a:lnTo>
                  <a:lnTo>
                    <a:pt x="4376" y="3604"/>
                  </a:lnTo>
                  <a:lnTo>
                    <a:pt x="4368" y="3583"/>
                  </a:lnTo>
                  <a:lnTo>
                    <a:pt x="4361" y="3563"/>
                  </a:lnTo>
                  <a:lnTo>
                    <a:pt x="4356" y="3541"/>
                  </a:lnTo>
                  <a:lnTo>
                    <a:pt x="4350" y="3519"/>
                  </a:lnTo>
                  <a:lnTo>
                    <a:pt x="4346" y="3496"/>
                  </a:lnTo>
                  <a:lnTo>
                    <a:pt x="4343" y="3473"/>
                  </a:lnTo>
                  <a:lnTo>
                    <a:pt x="4342" y="3450"/>
                  </a:lnTo>
                  <a:lnTo>
                    <a:pt x="4341" y="3427"/>
                  </a:lnTo>
                  <a:lnTo>
                    <a:pt x="4342" y="3403"/>
                  </a:lnTo>
                  <a:lnTo>
                    <a:pt x="4343" y="3379"/>
                  </a:lnTo>
                  <a:lnTo>
                    <a:pt x="4346" y="3358"/>
                  </a:lnTo>
                  <a:lnTo>
                    <a:pt x="4350" y="3335"/>
                  </a:lnTo>
                  <a:lnTo>
                    <a:pt x="4356" y="3313"/>
                  </a:lnTo>
                  <a:lnTo>
                    <a:pt x="4361" y="3291"/>
                  </a:lnTo>
                  <a:lnTo>
                    <a:pt x="4368" y="3270"/>
                  </a:lnTo>
                  <a:lnTo>
                    <a:pt x="4376" y="3249"/>
                  </a:lnTo>
                  <a:lnTo>
                    <a:pt x="4385" y="3229"/>
                  </a:lnTo>
                  <a:lnTo>
                    <a:pt x="4396" y="3209"/>
                  </a:lnTo>
                  <a:lnTo>
                    <a:pt x="4407" y="3189"/>
                  </a:lnTo>
                  <a:lnTo>
                    <a:pt x="4419" y="3171"/>
                  </a:lnTo>
                  <a:lnTo>
                    <a:pt x="4432" y="3154"/>
                  </a:lnTo>
                  <a:lnTo>
                    <a:pt x="4445" y="3136"/>
                  </a:lnTo>
                  <a:lnTo>
                    <a:pt x="4459" y="3119"/>
                  </a:lnTo>
                  <a:lnTo>
                    <a:pt x="4474" y="3104"/>
                  </a:lnTo>
                  <a:lnTo>
                    <a:pt x="4490" y="3088"/>
                  </a:lnTo>
                  <a:lnTo>
                    <a:pt x="4508" y="3074"/>
                  </a:lnTo>
                  <a:lnTo>
                    <a:pt x="4525" y="3060"/>
                  </a:lnTo>
                  <a:lnTo>
                    <a:pt x="4542" y="3048"/>
                  </a:lnTo>
                  <a:lnTo>
                    <a:pt x="4561" y="3036"/>
                  </a:lnTo>
                  <a:lnTo>
                    <a:pt x="4580" y="3025"/>
                  </a:lnTo>
                  <a:lnTo>
                    <a:pt x="4600" y="3014"/>
                  </a:lnTo>
                  <a:lnTo>
                    <a:pt x="4619" y="3005"/>
                  </a:lnTo>
                  <a:lnTo>
                    <a:pt x="4641" y="2997"/>
                  </a:lnTo>
                  <a:lnTo>
                    <a:pt x="4662" y="2990"/>
                  </a:lnTo>
                  <a:lnTo>
                    <a:pt x="4684" y="2984"/>
                  </a:lnTo>
                  <a:lnTo>
                    <a:pt x="4706" y="2978"/>
                  </a:lnTo>
                  <a:lnTo>
                    <a:pt x="4728" y="2975"/>
                  </a:lnTo>
                  <a:lnTo>
                    <a:pt x="4751" y="2972"/>
                  </a:lnTo>
                  <a:lnTo>
                    <a:pt x="4774" y="2970"/>
                  </a:lnTo>
                  <a:lnTo>
                    <a:pt x="4798" y="2969"/>
                  </a:lnTo>
                  <a:lnTo>
                    <a:pt x="4821" y="2970"/>
                  </a:lnTo>
                  <a:lnTo>
                    <a:pt x="4844" y="2972"/>
                  </a:lnTo>
                  <a:lnTo>
                    <a:pt x="4867" y="2975"/>
                  </a:lnTo>
                  <a:lnTo>
                    <a:pt x="4890" y="2978"/>
                  </a:lnTo>
                  <a:lnTo>
                    <a:pt x="4912" y="2984"/>
                  </a:lnTo>
                  <a:lnTo>
                    <a:pt x="4934" y="2990"/>
                  </a:lnTo>
                  <a:lnTo>
                    <a:pt x="4955" y="2997"/>
                  </a:lnTo>
                  <a:lnTo>
                    <a:pt x="4975" y="3005"/>
                  </a:lnTo>
                  <a:lnTo>
                    <a:pt x="4996" y="3014"/>
                  </a:lnTo>
                  <a:lnTo>
                    <a:pt x="5016" y="3025"/>
                  </a:lnTo>
                  <a:lnTo>
                    <a:pt x="5035" y="3036"/>
                  </a:lnTo>
                  <a:lnTo>
                    <a:pt x="5054" y="3048"/>
                  </a:lnTo>
                  <a:lnTo>
                    <a:pt x="5071" y="3060"/>
                  </a:lnTo>
                  <a:lnTo>
                    <a:pt x="5088" y="3074"/>
                  </a:lnTo>
                  <a:lnTo>
                    <a:pt x="5106" y="3088"/>
                  </a:lnTo>
                  <a:lnTo>
                    <a:pt x="5121" y="3104"/>
                  </a:lnTo>
                  <a:lnTo>
                    <a:pt x="5136" y="3119"/>
                  </a:lnTo>
                  <a:lnTo>
                    <a:pt x="5151" y="3136"/>
                  </a:lnTo>
                  <a:lnTo>
                    <a:pt x="5164" y="3154"/>
                  </a:lnTo>
                  <a:lnTo>
                    <a:pt x="5177" y="3171"/>
                  </a:lnTo>
                  <a:lnTo>
                    <a:pt x="5189" y="3189"/>
                  </a:lnTo>
                  <a:lnTo>
                    <a:pt x="5200" y="3209"/>
                  </a:lnTo>
                  <a:lnTo>
                    <a:pt x="5209" y="3229"/>
                  </a:lnTo>
                  <a:lnTo>
                    <a:pt x="5219" y="3249"/>
                  </a:lnTo>
                  <a:lnTo>
                    <a:pt x="5227" y="3270"/>
                  </a:lnTo>
                  <a:lnTo>
                    <a:pt x="5235" y="3291"/>
                  </a:lnTo>
                  <a:lnTo>
                    <a:pt x="5240" y="3313"/>
                  </a:lnTo>
                  <a:lnTo>
                    <a:pt x="5245" y="3335"/>
                  </a:lnTo>
                  <a:lnTo>
                    <a:pt x="5250" y="3358"/>
                  </a:lnTo>
                  <a:lnTo>
                    <a:pt x="5252" y="3379"/>
                  </a:lnTo>
                  <a:lnTo>
                    <a:pt x="5254" y="3403"/>
                  </a:lnTo>
                  <a:lnTo>
                    <a:pt x="5254" y="3427"/>
                  </a:lnTo>
                  <a:lnTo>
                    <a:pt x="5254" y="3450"/>
                  </a:lnTo>
                  <a:lnTo>
                    <a:pt x="5252" y="3473"/>
                  </a:lnTo>
                  <a:lnTo>
                    <a:pt x="5250" y="3496"/>
                  </a:lnTo>
                  <a:lnTo>
                    <a:pt x="5245" y="3519"/>
                  </a:lnTo>
                  <a:lnTo>
                    <a:pt x="5240" y="3541"/>
                  </a:lnTo>
                  <a:lnTo>
                    <a:pt x="5235" y="3563"/>
                  </a:lnTo>
                  <a:lnTo>
                    <a:pt x="5227" y="3583"/>
                  </a:lnTo>
                  <a:lnTo>
                    <a:pt x="5219" y="3604"/>
                  </a:lnTo>
                  <a:lnTo>
                    <a:pt x="5209" y="3625"/>
                  </a:lnTo>
                  <a:lnTo>
                    <a:pt x="5200" y="3644"/>
                  </a:lnTo>
                  <a:lnTo>
                    <a:pt x="5189" y="3664"/>
                  </a:lnTo>
                  <a:lnTo>
                    <a:pt x="5177" y="3683"/>
                  </a:lnTo>
                  <a:lnTo>
                    <a:pt x="5164" y="3700"/>
                  </a:lnTo>
                  <a:lnTo>
                    <a:pt x="5151" y="3717"/>
                  </a:lnTo>
                  <a:lnTo>
                    <a:pt x="5136" y="3734"/>
                  </a:lnTo>
                  <a:lnTo>
                    <a:pt x="5121" y="3749"/>
                  </a:lnTo>
                  <a:lnTo>
                    <a:pt x="5106" y="3764"/>
                  </a:lnTo>
                  <a:lnTo>
                    <a:pt x="5088" y="3779"/>
                  </a:lnTo>
                  <a:lnTo>
                    <a:pt x="5071" y="3793"/>
                  </a:lnTo>
                  <a:lnTo>
                    <a:pt x="5054" y="3806"/>
                  </a:lnTo>
                  <a:lnTo>
                    <a:pt x="5035" y="3817"/>
                  </a:lnTo>
                  <a:lnTo>
                    <a:pt x="5016" y="3829"/>
                  </a:lnTo>
                  <a:lnTo>
                    <a:pt x="4996" y="3838"/>
                  </a:lnTo>
                  <a:lnTo>
                    <a:pt x="4975" y="3847"/>
                  </a:lnTo>
                  <a:lnTo>
                    <a:pt x="4955" y="3855"/>
                  </a:lnTo>
                  <a:lnTo>
                    <a:pt x="4934" y="3863"/>
                  </a:lnTo>
                  <a:lnTo>
                    <a:pt x="4912" y="3869"/>
                  </a:lnTo>
                  <a:lnTo>
                    <a:pt x="4890" y="3874"/>
                  </a:lnTo>
                  <a:lnTo>
                    <a:pt x="4867" y="3878"/>
                  </a:lnTo>
                  <a:lnTo>
                    <a:pt x="4844" y="3881"/>
                  </a:lnTo>
                  <a:lnTo>
                    <a:pt x="4821" y="3883"/>
                  </a:lnTo>
                  <a:lnTo>
                    <a:pt x="4798" y="3884"/>
                  </a:lnTo>
                  <a:close/>
                  <a:moveTo>
                    <a:pt x="4798" y="2741"/>
                  </a:moveTo>
                  <a:lnTo>
                    <a:pt x="4798" y="2741"/>
                  </a:lnTo>
                  <a:lnTo>
                    <a:pt x="4774" y="2741"/>
                  </a:lnTo>
                  <a:lnTo>
                    <a:pt x="4751" y="2739"/>
                  </a:lnTo>
                  <a:lnTo>
                    <a:pt x="4728" y="2736"/>
                  </a:lnTo>
                  <a:lnTo>
                    <a:pt x="4706" y="2732"/>
                  </a:lnTo>
                  <a:lnTo>
                    <a:pt x="4684" y="2727"/>
                  </a:lnTo>
                  <a:lnTo>
                    <a:pt x="4662" y="2720"/>
                  </a:lnTo>
                  <a:lnTo>
                    <a:pt x="4641" y="2713"/>
                  </a:lnTo>
                  <a:lnTo>
                    <a:pt x="4619" y="2705"/>
                  </a:lnTo>
                  <a:lnTo>
                    <a:pt x="4600" y="2696"/>
                  </a:lnTo>
                  <a:lnTo>
                    <a:pt x="4580" y="2686"/>
                  </a:lnTo>
                  <a:lnTo>
                    <a:pt x="4561" y="2675"/>
                  </a:lnTo>
                  <a:lnTo>
                    <a:pt x="4542" y="2663"/>
                  </a:lnTo>
                  <a:lnTo>
                    <a:pt x="4525" y="2650"/>
                  </a:lnTo>
                  <a:lnTo>
                    <a:pt x="4508" y="2637"/>
                  </a:lnTo>
                  <a:lnTo>
                    <a:pt x="4490" y="2622"/>
                  </a:lnTo>
                  <a:lnTo>
                    <a:pt x="4474" y="2607"/>
                  </a:lnTo>
                  <a:lnTo>
                    <a:pt x="4459" y="2591"/>
                  </a:lnTo>
                  <a:lnTo>
                    <a:pt x="4445" y="2575"/>
                  </a:lnTo>
                  <a:lnTo>
                    <a:pt x="4432" y="2558"/>
                  </a:lnTo>
                  <a:lnTo>
                    <a:pt x="4419" y="2539"/>
                  </a:lnTo>
                  <a:lnTo>
                    <a:pt x="4407" y="2521"/>
                  </a:lnTo>
                  <a:lnTo>
                    <a:pt x="4396" y="2503"/>
                  </a:lnTo>
                  <a:lnTo>
                    <a:pt x="4385" y="2482"/>
                  </a:lnTo>
                  <a:lnTo>
                    <a:pt x="4376" y="2462"/>
                  </a:lnTo>
                  <a:lnTo>
                    <a:pt x="4368" y="2441"/>
                  </a:lnTo>
                  <a:lnTo>
                    <a:pt x="4361" y="2420"/>
                  </a:lnTo>
                  <a:lnTo>
                    <a:pt x="4356" y="2399"/>
                  </a:lnTo>
                  <a:lnTo>
                    <a:pt x="4350" y="2376"/>
                  </a:lnTo>
                  <a:lnTo>
                    <a:pt x="4346" y="2354"/>
                  </a:lnTo>
                  <a:lnTo>
                    <a:pt x="4343" y="2331"/>
                  </a:lnTo>
                  <a:lnTo>
                    <a:pt x="4342" y="2308"/>
                  </a:lnTo>
                  <a:lnTo>
                    <a:pt x="4341" y="2285"/>
                  </a:lnTo>
                  <a:lnTo>
                    <a:pt x="4342" y="2261"/>
                  </a:lnTo>
                  <a:lnTo>
                    <a:pt x="4343" y="2238"/>
                  </a:lnTo>
                  <a:lnTo>
                    <a:pt x="4346" y="2214"/>
                  </a:lnTo>
                  <a:lnTo>
                    <a:pt x="4350" y="2193"/>
                  </a:lnTo>
                  <a:lnTo>
                    <a:pt x="4356" y="2170"/>
                  </a:lnTo>
                  <a:lnTo>
                    <a:pt x="4361" y="2149"/>
                  </a:lnTo>
                  <a:lnTo>
                    <a:pt x="4368" y="2127"/>
                  </a:lnTo>
                  <a:lnTo>
                    <a:pt x="4376" y="2106"/>
                  </a:lnTo>
                  <a:lnTo>
                    <a:pt x="4385" y="2087"/>
                  </a:lnTo>
                  <a:lnTo>
                    <a:pt x="4396" y="2067"/>
                  </a:lnTo>
                  <a:lnTo>
                    <a:pt x="4407" y="2047"/>
                  </a:lnTo>
                  <a:lnTo>
                    <a:pt x="4419" y="2029"/>
                  </a:lnTo>
                  <a:lnTo>
                    <a:pt x="4432" y="2011"/>
                  </a:lnTo>
                  <a:lnTo>
                    <a:pt x="4445" y="1993"/>
                  </a:lnTo>
                  <a:lnTo>
                    <a:pt x="4459" y="1977"/>
                  </a:lnTo>
                  <a:lnTo>
                    <a:pt x="4474" y="1961"/>
                  </a:lnTo>
                  <a:lnTo>
                    <a:pt x="4490" y="1946"/>
                  </a:lnTo>
                  <a:lnTo>
                    <a:pt x="4508" y="1932"/>
                  </a:lnTo>
                  <a:lnTo>
                    <a:pt x="4525" y="1918"/>
                  </a:lnTo>
                  <a:lnTo>
                    <a:pt x="4542" y="1906"/>
                  </a:lnTo>
                  <a:lnTo>
                    <a:pt x="4561" y="1893"/>
                  </a:lnTo>
                  <a:lnTo>
                    <a:pt x="4580" y="1883"/>
                  </a:lnTo>
                  <a:lnTo>
                    <a:pt x="4600" y="1872"/>
                  </a:lnTo>
                  <a:lnTo>
                    <a:pt x="4619" y="1863"/>
                  </a:lnTo>
                  <a:lnTo>
                    <a:pt x="4641" y="1855"/>
                  </a:lnTo>
                  <a:lnTo>
                    <a:pt x="4662" y="1848"/>
                  </a:lnTo>
                  <a:lnTo>
                    <a:pt x="4684" y="1841"/>
                  </a:lnTo>
                  <a:lnTo>
                    <a:pt x="4706" y="1837"/>
                  </a:lnTo>
                  <a:lnTo>
                    <a:pt x="4728" y="1833"/>
                  </a:lnTo>
                  <a:lnTo>
                    <a:pt x="4751" y="1830"/>
                  </a:lnTo>
                  <a:lnTo>
                    <a:pt x="4774" y="1827"/>
                  </a:lnTo>
                  <a:lnTo>
                    <a:pt x="4798" y="1827"/>
                  </a:lnTo>
                  <a:lnTo>
                    <a:pt x="4821" y="1827"/>
                  </a:lnTo>
                  <a:lnTo>
                    <a:pt x="4844" y="1830"/>
                  </a:lnTo>
                  <a:lnTo>
                    <a:pt x="4867" y="1833"/>
                  </a:lnTo>
                  <a:lnTo>
                    <a:pt x="4890" y="1837"/>
                  </a:lnTo>
                  <a:lnTo>
                    <a:pt x="4912" y="1841"/>
                  </a:lnTo>
                  <a:lnTo>
                    <a:pt x="4934" y="1848"/>
                  </a:lnTo>
                  <a:lnTo>
                    <a:pt x="4955" y="1855"/>
                  </a:lnTo>
                  <a:lnTo>
                    <a:pt x="4975" y="1863"/>
                  </a:lnTo>
                  <a:lnTo>
                    <a:pt x="4996" y="1872"/>
                  </a:lnTo>
                  <a:lnTo>
                    <a:pt x="5016" y="1883"/>
                  </a:lnTo>
                  <a:lnTo>
                    <a:pt x="5035" y="1893"/>
                  </a:lnTo>
                  <a:lnTo>
                    <a:pt x="5054" y="1906"/>
                  </a:lnTo>
                  <a:lnTo>
                    <a:pt x="5071" y="1918"/>
                  </a:lnTo>
                  <a:lnTo>
                    <a:pt x="5088" y="1932"/>
                  </a:lnTo>
                  <a:lnTo>
                    <a:pt x="5106" y="1946"/>
                  </a:lnTo>
                  <a:lnTo>
                    <a:pt x="5121" y="1961"/>
                  </a:lnTo>
                  <a:lnTo>
                    <a:pt x="5136" y="1977"/>
                  </a:lnTo>
                  <a:lnTo>
                    <a:pt x="5151" y="1993"/>
                  </a:lnTo>
                  <a:lnTo>
                    <a:pt x="5164" y="2011"/>
                  </a:lnTo>
                  <a:lnTo>
                    <a:pt x="5177" y="2029"/>
                  </a:lnTo>
                  <a:lnTo>
                    <a:pt x="5189" y="2047"/>
                  </a:lnTo>
                  <a:lnTo>
                    <a:pt x="5200" y="2067"/>
                  </a:lnTo>
                  <a:lnTo>
                    <a:pt x="5209" y="2087"/>
                  </a:lnTo>
                  <a:lnTo>
                    <a:pt x="5219" y="2106"/>
                  </a:lnTo>
                  <a:lnTo>
                    <a:pt x="5227" y="2127"/>
                  </a:lnTo>
                  <a:lnTo>
                    <a:pt x="5235" y="2149"/>
                  </a:lnTo>
                  <a:lnTo>
                    <a:pt x="5240" y="2170"/>
                  </a:lnTo>
                  <a:lnTo>
                    <a:pt x="5245" y="2193"/>
                  </a:lnTo>
                  <a:lnTo>
                    <a:pt x="5250" y="2214"/>
                  </a:lnTo>
                  <a:lnTo>
                    <a:pt x="5252" y="2238"/>
                  </a:lnTo>
                  <a:lnTo>
                    <a:pt x="5254" y="2261"/>
                  </a:lnTo>
                  <a:lnTo>
                    <a:pt x="5254" y="2285"/>
                  </a:lnTo>
                  <a:lnTo>
                    <a:pt x="5254" y="2308"/>
                  </a:lnTo>
                  <a:lnTo>
                    <a:pt x="5252" y="2331"/>
                  </a:lnTo>
                  <a:lnTo>
                    <a:pt x="5250" y="2354"/>
                  </a:lnTo>
                  <a:lnTo>
                    <a:pt x="5245" y="2376"/>
                  </a:lnTo>
                  <a:lnTo>
                    <a:pt x="5240" y="2399"/>
                  </a:lnTo>
                  <a:lnTo>
                    <a:pt x="5235" y="2420"/>
                  </a:lnTo>
                  <a:lnTo>
                    <a:pt x="5227" y="2441"/>
                  </a:lnTo>
                  <a:lnTo>
                    <a:pt x="5219" y="2462"/>
                  </a:lnTo>
                  <a:lnTo>
                    <a:pt x="5209" y="2482"/>
                  </a:lnTo>
                  <a:lnTo>
                    <a:pt x="5200" y="2503"/>
                  </a:lnTo>
                  <a:lnTo>
                    <a:pt x="5189" y="2521"/>
                  </a:lnTo>
                  <a:lnTo>
                    <a:pt x="5177" y="2539"/>
                  </a:lnTo>
                  <a:lnTo>
                    <a:pt x="5164" y="2558"/>
                  </a:lnTo>
                  <a:lnTo>
                    <a:pt x="5151" y="2575"/>
                  </a:lnTo>
                  <a:lnTo>
                    <a:pt x="5136" y="2591"/>
                  </a:lnTo>
                  <a:lnTo>
                    <a:pt x="5121" y="2607"/>
                  </a:lnTo>
                  <a:lnTo>
                    <a:pt x="5106" y="2622"/>
                  </a:lnTo>
                  <a:lnTo>
                    <a:pt x="5088" y="2637"/>
                  </a:lnTo>
                  <a:lnTo>
                    <a:pt x="5071" y="2650"/>
                  </a:lnTo>
                  <a:lnTo>
                    <a:pt x="5054" y="2663"/>
                  </a:lnTo>
                  <a:lnTo>
                    <a:pt x="5035" y="2675"/>
                  </a:lnTo>
                  <a:lnTo>
                    <a:pt x="5016" y="2686"/>
                  </a:lnTo>
                  <a:lnTo>
                    <a:pt x="4996" y="2696"/>
                  </a:lnTo>
                  <a:lnTo>
                    <a:pt x="4975" y="2705"/>
                  </a:lnTo>
                  <a:lnTo>
                    <a:pt x="4955" y="2713"/>
                  </a:lnTo>
                  <a:lnTo>
                    <a:pt x="4934" y="2720"/>
                  </a:lnTo>
                  <a:lnTo>
                    <a:pt x="4912" y="2727"/>
                  </a:lnTo>
                  <a:lnTo>
                    <a:pt x="4890" y="2732"/>
                  </a:lnTo>
                  <a:lnTo>
                    <a:pt x="4867" y="2736"/>
                  </a:lnTo>
                  <a:lnTo>
                    <a:pt x="4844" y="2739"/>
                  </a:lnTo>
                  <a:lnTo>
                    <a:pt x="4821" y="2741"/>
                  </a:lnTo>
                  <a:lnTo>
                    <a:pt x="4798" y="2741"/>
                  </a:lnTo>
                  <a:close/>
                </a:path>
              </a:pathLst>
            </a:custGeom>
            <a:solidFill>
              <a:schemeClr val="bg1"/>
            </a:solidFill>
            <a:ln>
              <a:noFill/>
            </a:ln>
          </p:spPr>
          <p:txBody>
            <a:bodyPr tIns="468000" rIns="432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dirty="0">
                <a:solidFill>
                  <a:srgbClr val="FFFFFF"/>
                </a:solidFill>
              </a:endParaRPr>
            </a:p>
          </p:txBody>
        </p:sp>
        <p:sp>
          <p:nvSpPr>
            <p:cNvPr id="16" name="KSO_Shape">
              <a:extLst>
                <a:ext uri="{FF2B5EF4-FFF2-40B4-BE49-F238E27FC236}">
                  <a16:creationId xmlns:a16="http://schemas.microsoft.com/office/drawing/2014/main" id="{7FE575B3-C4C9-4BD0-9F3D-4B785A1C5EF2}"/>
                </a:ext>
              </a:extLst>
            </p:cNvPr>
            <p:cNvSpPr>
              <a:spLocks/>
            </p:cNvSpPr>
            <p:nvPr/>
          </p:nvSpPr>
          <p:spPr bwMode="auto">
            <a:xfrm>
              <a:off x="1165849" y="954944"/>
              <a:ext cx="259700" cy="486937"/>
            </a:xfrm>
            <a:custGeom>
              <a:avLst/>
              <a:gdLst>
                <a:gd name="T0" fmla="*/ 134485 w 2938"/>
                <a:gd name="T1" fmla="*/ 2420 h 5511"/>
                <a:gd name="T2" fmla="*/ 89887 w 2938"/>
                <a:gd name="T3" fmla="*/ 15901 h 5511"/>
                <a:gd name="T4" fmla="*/ 51858 w 2938"/>
                <a:gd name="T5" fmla="*/ 41481 h 5511"/>
                <a:gd name="T6" fmla="*/ 22817 w 2938"/>
                <a:gd name="T7" fmla="*/ 77085 h 5511"/>
                <a:gd name="T8" fmla="*/ 4840 w 2938"/>
                <a:gd name="T9" fmla="*/ 119257 h 5511"/>
                <a:gd name="T10" fmla="*/ 0 w 2938"/>
                <a:gd name="T11" fmla="*/ 1746336 h 5511"/>
                <a:gd name="T12" fmla="*/ 4840 w 2938"/>
                <a:gd name="T13" fmla="*/ 1786089 h 5511"/>
                <a:gd name="T14" fmla="*/ 22817 w 2938"/>
                <a:gd name="T15" fmla="*/ 1828606 h 5511"/>
                <a:gd name="T16" fmla="*/ 51858 w 2938"/>
                <a:gd name="T17" fmla="*/ 1863865 h 5511"/>
                <a:gd name="T18" fmla="*/ 89887 w 2938"/>
                <a:gd name="T19" fmla="*/ 1889445 h 5511"/>
                <a:gd name="T20" fmla="*/ 134485 w 2938"/>
                <a:gd name="T21" fmla="*/ 1903272 h 5511"/>
                <a:gd name="T22" fmla="*/ 864989 w 2938"/>
                <a:gd name="T23" fmla="*/ 1905000 h 5511"/>
                <a:gd name="T24" fmla="*/ 911316 w 2938"/>
                <a:gd name="T25" fmla="*/ 1895667 h 5511"/>
                <a:gd name="T26" fmla="*/ 952111 w 2938"/>
                <a:gd name="T27" fmla="*/ 1873544 h 5511"/>
                <a:gd name="T28" fmla="*/ 984263 w 2938"/>
                <a:gd name="T29" fmla="*/ 1841396 h 5511"/>
                <a:gd name="T30" fmla="*/ 1006043 w 2938"/>
                <a:gd name="T31" fmla="*/ 1800953 h 5511"/>
                <a:gd name="T32" fmla="*/ 1015377 w 2938"/>
                <a:gd name="T33" fmla="*/ 1754633 h 5511"/>
                <a:gd name="T34" fmla="*/ 1013994 w 2938"/>
                <a:gd name="T35" fmla="*/ 134812 h 5511"/>
                <a:gd name="T36" fmla="*/ 999820 w 2938"/>
                <a:gd name="T37" fmla="*/ 90220 h 5511"/>
                <a:gd name="T38" fmla="*/ 974237 w 2938"/>
                <a:gd name="T39" fmla="*/ 52542 h 5511"/>
                <a:gd name="T40" fmla="*/ 938973 w 2938"/>
                <a:gd name="T41" fmla="*/ 23160 h 5511"/>
                <a:gd name="T42" fmla="*/ 896450 w 2938"/>
                <a:gd name="T43" fmla="*/ 5531 h 5511"/>
                <a:gd name="T44" fmla="*/ 412789 w 2938"/>
                <a:gd name="T45" fmla="*/ 127553 h 5511"/>
                <a:gd name="T46" fmla="*/ 615380 w 2938"/>
                <a:gd name="T47" fmla="*/ 129973 h 5511"/>
                <a:gd name="T48" fmla="*/ 629209 w 2938"/>
                <a:gd name="T49" fmla="*/ 141034 h 5511"/>
                <a:gd name="T50" fmla="*/ 635086 w 2938"/>
                <a:gd name="T51" fmla="*/ 159009 h 5511"/>
                <a:gd name="T52" fmla="*/ 630938 w 2938"/>
                <a:gd name="T53" fmla="*/ 174219 h 5511"/>
                <a:gd name="T54" fmla="*/ 618146 w 2938"/>
                <a:gd name="T55" fmla="*/ 187009 h 5511"/>
                <a:gd name="T56" fmla="*/ 412789 w 2938"/>
                <a:gd name="T57" fmla="*/ 190811 h 5511"/>
                <a:gd name="T58" fmla="*/ 397577 w 2938"/>
                <a:gd name="T59" fmla="*/ 187009 h 5511"/>
                <a:gd name="T60" fmla="*/ 384440 w 2938"/>
                <a:gd name="T61" fmla="*/ 174219 h 5511"/>
                <a:gd name="T62" fmla="*/ 380637 w 2938"/>
                <a:gd name="T63" fmla="*/ 159009 h 5511"/>
                <a:gd name="T64" fmla="*/ 386168 w 2938"/>
                <a:gd name="T65" fmla="*/ 141034 h 5511"/>
                <a:gd name="T66" fmla="*/ 400343 w 2938"/>
                <a:gd name="T67" fmla="*/ 129973 h 5511"/>
                <a:gd name="T68" fmla="*/ 507516 w 2938"/>
                <a:gd name="T69" fmla="*/ 1841742 h 5511"/>
                <a:gd name="T70" fmla="*/ 479513 w 2938"/>
                <a:gd name="T71" fmla="*/ 1837594 h 5511"/>
                <a:gd name="T72" fmla="*/ 454275 w 2938"/>
                <a:gd name="T73" fmla="*/ 1825495 h 5511"/>
                <a:gd name="T74" fmla="*/ 434223 w 2938"/>
                <a:gd name="T75" fmla="*/ 1806829 h 5511"/>
                <a:gd name="T76" fmla="*/ 420049 w 2938"/>
                <a:gd name="T77" fmla="*/ 1783323 h 5511"/>
                <a:gd name="T78" fmla="*/ 413134 w 2938"/>
                <a:gd name="T79" fmla="*/ 1756015 h 5511"/>
                <a:gd name="T80" fmla="*/ 413826 w 2938"/>
                <a:gd name="T81" fmla="*/ 1731818 h 5511"/>
                <a:gd name="T82" fmla="*/ 422123 w 2938"/>
                <a:gd name="T83" fmla="*/ 1704856 h 5511"/>
                <a:gd name="T84" fmla="*/ 437335 w 2938"/>
                <a:gd name="T85" fmla="*/ 1682387 h 5511"/>
                <a:gd name="T86" fmla="*/ 458078 w 2938"/>
                <a:gd name="T87" fmla="*/ 1665103 h 5511"/>
                <a:gd name="T88" fmla="*/ 483661 w 2938"/>
                <a:gd name="T89" fmla="*/ 1654042 h 5511"/>
                <a:gd name="T90" fmla="*/ 507516 w 2938"/>
                <a:gd name="T91" fmla="*/ 1651277 h 5511"/>
                <a:gd name="T92" fmla="*/ 536210 w 2938"/>
                <a:gd name="T93" fmla="*/ 1655425 h 5511"/>
                <a:gd name="T94" fmla="*/ 561102 w 2938"/>
                <a:gd name="T95" fmla="*/ 1667523 h 5511"/>
                <a:gd name="T96" fmla="*/ 581154 w 2938"/>
                <a:gd name="T97" fmla="*/ 1685498 h 5511"/>
                <a:gd name="T98" fmla="*/ 595674 w 2938"/>
                <a:gd name="T99" fmla="*/ 1709349 h 5511"/>
                <a:gd name="T100" fmla="*/ 602589 w 2938"/>
                <a:gd name="T101" fmla="*/ 1737003 h 5511"/>
                <a:gd name="T102" fmla="*/ 601897 w 2938"/>
                <a:gd name="T103" fmla="*/ 1761200 h 5511"/>
                <a:gd name="T104" fmla="*/ 593600 w 2938"/>
                <a:gd name="T105" fmla="*/ 1787817 h 5511"/>
                <a:gd name="T106" fmla="*/ 578388 w 2938"/>
                <a:gd name="T107" fmla="*/ 1810631 h 5511"/>
                <a:gd name="T108" fmla="*/ 556954 w 2938"/>
                <a:gd name="T109" fmla="*/ 1827915 h 5511"/>
                <a:gd name="T110" fmla="*/ 531370 w 2938"/>
                <a:gd name="T111" fmla="*/ 1838631 h 5511"/>
                <a:gd name="T112" fmla="*/ 952456 w 2938"/>
                <a:gd name="T113" fmla="*/ 1587673 h 551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938" h="5511">
                  <a:moveTo>
                    <a:pt x="2479" y="0"/>
                  </a:moveTo>
                  <a:lnTo>
                    <a:pt x="458" y="0"/>
                  </a:lnTo>
                  <a:lnTo>
                    <a:pt x="435" y="1"/>
                  </a:lnTo>
                  <a:lnTo>
                    <a:pt x="412" y="3"/>
                  </a:lnTo>
                  <a:lnTo>
                    <a:pt x="389" y="7"/>
                  </a:lnTo>
                  <a:lnTo>
                    <a:pt x="366" y="11"/>
                  </a:lnTo>
                  <a:lnTo>
                    <a:pt x="345" y="16"/>
                  </a:lnTo>
                  <a:lnTo>
                    <a:pt x="322" y="22"/>
                  </a:lnTo>
                  <a:lnTo>
                    <a:pt x="301" y="29"/>
                  </a:lnTo>
                  <a:lnTo>
                    <a:pt x="281" y="37"/>
                  </a:lnTo>
                  <a:lnTo>
                    <a:pt x="260" y="46"/>
                  </a:lnTo>
                  <a:lnTo>
                    <a:pt x="240" y="56"/>
                  </a:lnTo>
                  <a:lnTo>
                    <a:pt x="221" y="67"/>
                  </a:lnTo>
                  <a:lnTo>
                    <a:pt x="203" y="80"/>
                  </a:lnTo>
                  <a:lnTo>
                    <a:pt x="184" y="93"/>
                  </a:lnTo>
                  <a:lnTo>
                    <a:pt x="167" y="106"/>
                  </a:lnTo>
                  <a:lnTo>
                    <a:pt x="150" y="120"/>
                  </a:lnTo>
                  <a:lnTo>
                    <a:pt x="135" y="135"/>
                  </a:lnTo>
                  <a:lnTo>
                    <a:pt x="119" y="152"/>
                  </a:lnTo>
                  <a:lnTo>
                    <a:pt x="104" y="169"/>
                  </a:lnTo>
                  <a:lnTo>
                    <a:pt x="91" y="186"/>
                  </a:lnTo>
                  <a:lnTo>
                    <a:pt x="78" y="203"/>
                  </a:lnTo>
                  <a:lnTo>
                    <a:pt x="66" y="223"/>
                  </a:lnTo>
                  <a:lnTo>
                    <a:pt x="55" y="242"/>
                  </a:lnTo>
                  <a:lnTo>
                    <a:pt x="45" y="261"/>
                  </a:lnTo>
                  <a:lnTo>
                    <a:pt x="35" y="281"/>
                  </a:lnTo>
                  <a:lnTo>
                    <a:pt x="27" y="303"/>
                  </a:lnTo>
                  <a:lnTo>
                    <a:pt x="20" y="324"/>
                  </a:lnTo>
                  <a:lnTo>
                    <a:pt x="14" y="345"/>
                  </a:lnTo>
                  <a:lnTo>
                    <a:pt x="9" y="368"/>
                  </a:lnTo>
                  <a:lnTo>
                    <a:pt x="5" y="390"/>
                  </a:lnTo>
                  <a:lnTo>
                    <a:pt x="2" y="413"/>
                  </a:lnTo>
                  <a:lnTo>
                    <a:pt x="0" y="437"/>
                  </a:lnTo>
                  <a:lnTo>
                    <a:pt x="0" y="460"/>
                  </a:lnTo>
                  <a:lnTo>
                    <a:pt x="0" y="5052"/>
                  </a:lnTo>
                  <a:lnTo>
                    <a:pt x="0" y="5076"/>
                  </a:lnTo>
                  <a:lnTo>
                    <a:pt x="2" y="5099"/>
                  </a:lnTo>
                  <a:lnTo>
                    <a:pt x="5" y="5122"/>
                  </a:lnTo>
                  <a:lnTo>
                    <a:pt x="9" y="5144"/>
                  </a:lnTo>
                  <a:lnTo>
                    <a:pt x="14" y="5167"/>
                  </a:lnTo>
                  <a:lnTo>
                    <a:pt x="20" y="5189"/>
                  </a:lnTo>
                  <a:lnTo>
                    <a:pt x="27" y="5210"/>
                  </a:lnTo>
                  <a:lnTo>
                    <a:pt x="35" y="5230"/>
                  </a:lnTo>
                  <a:lnTo>
                    <a:pt x="45" y="5251"/>
                  </a:lnTo>
                  <a:lnTo>
                    <a:pt x="55" y="5271"/>
                  </a:lnTo>
                  <a:lnTo>
                    <a:pt x="66" y="5290"/>
                  </a:lnTo>
                  <a:lnTo>
                    <a:pt x="78" y="5309"/>
                  </a:lnTo>
                  <a:lnTo>
                    <a:pt x="91" y="5327"/>
                  </a:lnTo>
                  <a:lnTo>
                    <a:pt x="104" y="5344"/>
                  </a:lnTo>
                  <a:lnTo>
                    <a:pt x="119" y="5360"/>
                  </a:lnTo>
                  <a:lnTo>
                    <a:pt x="135" y="5377"/>
                  </a:lnTo>
                  <a:lnTo>
                    <a:pt x="150" y="5392"/>
                  </a:lnTo>
                  <a:lnTo>
                    <a:pt x="167" y="5406"/>
                  </a:lnTo>
                  <a:lnTo>
                    <a:pt x="184" y="5420"/>
                  </a:lnTo>
                  <a:lnTo>
                    <a:pt x="203" y="5433"/>
                  </a:lnTo>
                  <a:lnTo>
                    <a:pt x="221" y="5445"/>
                  </a:lnTo>
                  <a:lnTo>
                    <a:pt x="240" y="5456"/>
                  </a:lnTo>
                  <a:lnTo>
                    <a:pt x="260" y="5466"/>
                  </a:lnTo>
                  <a:lnTo>
                    <a:pt x="281" y="5475"/>
                  </a:lnTo>
                  <a:lnTo>
                    <a:pt x="301" y="5484"/>
                  </a:lnTo>
                  <a:lnTo>
                    <a:pt x="322" y="5491"/>
                  </a:lnTo>
                  <a:lnTo>
                    <a:pt x="345" y="5497"/>
                  </a:lnTo>
                  <a:lnTo>
                    <a:pt x="366" y="5502"/>
                  </a:lnTo>
                  <a:lnTo>
                    <a:pt x="389" y="5506"/>
                  </a:lnTo>
                  <a:lnTo>
                    <a:pt x="412" y="5509"/>
                  </a:lnTo>
                  <a:lnTo>
                    <a:pt x="435" y="5511"/>
                  </a:lnTo>
                  <a:lnTo>
                    <a:pt x="458" y="5511"/>
                  </a:lnTo>
                  <a:lnTo>
                    <a:pt x="2479" y="5511"/>
                  </a:lnTo>
                  <a:lnTo>
                    <a:pt x="2502" y="5511"/>
                  </a:lnTo>
                  <a:lnTo>
                    <a:pt x="2525" y="5509"/>
                  </a:lnTo>
                  <a:lnTo>
                    <a:pt x="2549" y="5506"/>
                  </a:lnTo>
                  <a:lnTo>
                    <a:pt x="2571" y="5502"/>
                  </a:lnTo>
                  <a:lnTo>
                    <a:pt x="2593" y="5497"/>
                  </a:lnTo>
                  <a:lnTo>
                    <a:pt x="2615" y="5491"/>
                  </a:lnTo>
                  <a:lnTo>
                    <a:pt x="2636" y="5484"/>
                  </a:lnTo>
                  <a:lnTo>
                    <a:pt x="2657" y="5475"/>
                  </a:lnTo>
                  <a:lnTo>
                    <a:pt x="2677" y="5466"/>
                  </a:lnTo>
                  <a:lnTo>
                    <a:pt x="2698" y="5456"/>
                  </a:lnTo>
                  <a:lnTo>
                    <a:pt x="2716" y="5445"/>
                  </a:lnTo>
                  <a:lnTo>
                    <a:pt x="2735" y="5433"/>
                  </a:lnTo>
                  <a:lnTo>
                    <a:pt x="2754" y="5420"/>
                  </a:lnTo>
                  <a:lnTo>
                    <a:pt x="2771" y="5406"/>
                  </a:lnTo>
                  <a:lnTo>
                    <a:pt x="2787" y="5392"/>
                  </a:lnTo>
                  <a:lnTo>
                    <a:pt x="2803" y="5377"/>
                  </a:lnTo>
                  <a:lnTo>
                    <a:pt x="2818" y="5360"/>
                  </a:lnTo>
                  <a:lnTo>
                    <a:pt x="2833" y="5344"/>
                  </a:lnTo>
                  <a:lnTo>
                    <a:pt x="2847" y="5327"/>
                  </a:lnTo>
                  <a:lnTo>
                    <a:pt x="2859" y="5309"/>
                  </a:lnTo>
                  <a:lnTo>
                    <a:pt x="2871" y="5290"/>
                  </a:lnTo>
                  <a:lnTo>
                    <a:pt x="2882" y="5271"/>
                  </a:lnTo>
                  <a:lnTo>
                    <a:pt x="2892" y="5251"/>
                  </a:lnTo>
                  <a:lnTo>
                    <a:pt x="2902" y="5230"/>
                  </a:lnTo>
                  <a:lnTo>
                    <a:pt x="2910" y="5210"/>
                  </a:lnTo>
                  <a:lnTo>
                    <a:pt x="2918" y="5189"/>
                  </a:lnTo>
                  <a:lnTo>
                    <a:pt x="2924" y="5167"/>
                  </a:lnTo>
                  <a:lnTo>
                    <a:pt x="2929" y="5144"/>
                  </a:lnTo>
                  <a:lnTo>
                    <a:pt x="2933" y="5122"/>
                  </a:lnTo>
                  <a:lnTo>
                    <a:pt x="2936" y="5099"/>
                  </a:lnTo>
                  <a:lnTo>
                    <a:pt x="2937" y="5076"/>
                  </a:lnTo>
                  <a:lnTo>
                    <a:pt x="2938" y="5052"/>
                  </a:lnTo>
                  <a:lnTo>
                    <a:pt x="2938" y="460"/>
                  </a:lnTo>
                  <a:lnTo>
                    <a:pt x="2937" y="437"/>
                  </a:lnTo>
                  <a:lnTo>
                    <a:pt x="2936" y="413"/>
                  </a:lnTo>
                  <a:lnTo>
                    <a:pt x="2933" y="390"/>
                  </a:lnTo>
                  <a:lnTo>
                    <a:pt x="2929" y="368"/>
                  </a:lnTo>
                  <a:lnTo>
                    <a:pt x="2924" y="345"/>
                  </a:lnTo>
                  <a:lnTo>
                    <a:pt x="2918" y="324"/>
                  </a:lnTo>
                  <a:lnTo>
                    <a:pt x="2910" y="303"/>
                  </a:lnTo>
                  <a:lnTo>
                    <a:pt x="2902" y="281"/>
                  </a:lnTo>
                  <a:lnTo>
                    <a:pt x="2892" y="261"/>
                  </a:lnTo>
                  <a:lnTo>
                    <a:pt x="2882" y="242"/>
                  </a:lnTo>
                  <a:lnTo>
                    <a:pt x="2871" y="223"/>
                  </a:lnTo>
                  <a:lnTo>
                    <a:pt x="2859" y="203"/>
                  </a:lnTo>
                  <a:lnTo>
                    <a:pt x="2847" y="186"/>
                  </a:lnTo>
                  <a:lnTo>
                    <a:pt x="2833" y="169"/>
                  </a:lnTo>
                  <a:lnTo>
                    <a:pt x="2818" y="152"/>
                  </a:lnTo>
                  <a:lnTo>
                    <a:pt x="2803" y="135"/>
                  </a:lnTo>
                  <a:lnTo>
                    <a:pt x="2787" y="120"/>
                  </a:lnTo>
                  <a:lnTo>
                    <a:pt x="2771" y="106"/>
                  </a:lnTo>
                  <a:lnTo>
                    <a:pt x="2754" y="93"/>
                  </a:lnTo>
                  <a:lnTo>
                    <a:pt x="2735" y="80"/>
                  </a:lnTo>
                  <a:lnTo>
                    <a:pt x="2716" y="67"/>
                  </a:lnTo>
                  <a:lnTo>
                    <a:pt x="2698" y="56"/>
                  </a:lnTo>
                  <a:lnTo>
                    <a:pt x="2677" y="46"/>
                  </a:lnTo>
                  <a:lnTo>
                    <a:pt x="2657" y="37"/>
                  </a:lnTo>
                  <a:lnTo>
                    <a:pt x="2636" y="29"/>
                  </a:lnTo>
                  <a:lnTo>
                    <a:pt x="2615" y="22"/>
                  </a:lnTo>
                  <a:lnTo>
                    <a:pt x="2593" y="16"/>
                  </a:lnTo>
                  <a:lnTo>
                    <a:pt x="2571" y="11"/>
                  </a:lnTo>
                  <a:lnTo>
                    <a:pt x="2549" y="7"/>
                  </a:lnTo>
                  <a:lnTo>
                    <a:pt x="2525" y="3"/>
                  </a:lnTo>
                  <a:lnTo>
                    <a:pt x="2502" y="1"/>
                  </a:lnTo>
                  <a:lnTo>
                    <a:pt x="2479" y="0"/>
                  </a:lnTo>
                  <a:close/>
                  <a:moveTo>
                    <a:pt x="1194" y="369"/>
                  </a:moveTo>
                  <a:lnTo>
                    <a:pt x="1744" y="369"/>
                  </a:lnTo>
                  <a:lnTo>
                    <a:pt x="1753" y="369"/>
                  </a:lnTo>
                  <a:lnTo>
                    <a:pt x="1763" y="370"/>
                  </a:lnTo>
                  <a:lnTo>
                    <a:pt x="1772" y="373"/>
                  </a:lnTo>
                  <a:lnTo>
                    <a:pt x="1780" y="376"/>
                  </a:lnTo>
                  <a:lnTo>
                    <a:pt x="1788" y="379"/>
                  </a:lnTo>
                  <a:lnTo>
                    <a:pt x="1796" y="384"/>
                  </a:lnTo>
                  <a:lnTo>
                    <a:pt x="1803" y="389"/>
                  </a:lnTo>
                  <a:lnTo>
                    <a:pt x="1809" y="395"/>
                  </a:lnTo>
                  <a:lnTo>
                    <a:pt x="1815" y="401"/>
                  </a:lnTo>
                  <a:lnTo>
                    <a:pt x="1820" y="408"/>
                  </a:lnTo>
                  <a:lnTo>
                    <a:pt x="1825" y="416"/>
                  </a:lnTo>
                  <a:lnTo>
                    <a:pt x="1828" y="424"/>
                  </a:lnTo>
                  <a:lnTo>
                    <a:pt x="1833" y="433"/>
                  </a:lnTo>
                  <a:lnTo>
                    <a:pt x="1835" y="442"/>
                  </a:lnTo>
                  <a:lnTo>
                    <a:pt x="1836" y="451"/>
                  </a:lnTo>
                  <a:lnTo>
                    <a:pt x="1837" y="460"/>
                  </a:lnTo>
                  <a:lnTo>
                    <a:pt x="1836" y="469"/>
                  </a:lnTo>
                  <a:lnTo>
                    <a:pt x="1835" y="478"/>
                  </a:lnTo>
                  <a:lnTo>
                    <a:pt x="1833" y="487"/>
                  </a:lnTo>
                  <a:lnTo>
                    <a:pt x="1828" y="495"/>
                  </a:lnTo>
                  <a:lnTo>
                    <a:pt x="1825" y="504"/>
                  </a:lnTo>
                  <a:lnTo>
                    <a:pt x="1820" y="512"/>
                  </a:lnTo>
                  <a:lnTo>
                    <a:pt x="1815" y="519"/>
                  </a:lnTo>
                  <a:lnTo>
                    <a:pt x="1809" y="525"/>
                  </a:lnTo>
                  <a:lnTo>
                    <a:pt x="1803" y="531"/>
                  </a:lnTo>
                  <a:lnTo>
                    <a:pt x="1796" y="536"/>
                  </a:lnTo>
                  <a:lnTo>
                    <a:pt x="1788" y="541"/>
                  </a:lnTo>
                  <a:lnTo>
                    <a:pt x="1780" y="545"/>
                  </a:lnTo>
                  <a:lnTo>
                    <a:pt x="1772" y="548"/>
                  </a:lnTo>
                  <a:lnTo>
                    <a:pt x="1763" y="550"/>
                  </a:lnTo>
                  <a:lnTo>
                    <a:pt x="1753" y="551"/>
                  </a:lnTo>
                  <a:lnTo>
                    <a:pt x="1744" y="552"/>
                  </a:lnTo>
                  <a:lnTo>
                    <a:pt x="1194" y="552"/>
                  </a:lnTo>
                  <a:lnTo>
                    <a:pt x="1184" y="551"/>
                  </a:lnTo>
                  <a:lnTo>
                    <a:pt x="1175" y="550"/>
                  </a:lnTo>
                  <a:lnTo>
                    <a:pt x="1166" y="548"/>
                  </a:lnTo>
                  <a:lnTo>
                    <a:pt x="1158" y="545"/>
                  </a:lnTo>
                  <a:lnTo>
                    <a:pt x="1150" y="541"/>
                  </a:lnTo>
                  <a:lnTo>
                    <a:pt x="1142" y="536"/>
                  </a:lnTo>
                  <a:lnTo>
                    <a:pt x="1135" y="531"/>
                  </a:lnTo>
                  <a:lnTo>
                    <a:pt x="1129" y="525"/>
                  </a:lnTo>
                  <a:lnTo>
                    <a:pt x="1123" y="519"/>
                  </a:lnTo>
                  <a:lnTo>
                    <a:pt x="1117" y="512"/>
                  </a:lnTo>
                  <a:lnTo>
                    <a:pt x="1112" y="504"/>
                  </a:lnTo>
                  <a:lnTo>
                    <a:pt x="1108" y="495"/>
                  </a:lnTo>
                  <a:lnTo>
                    <a:pt x="1105" y="487"/>
                  </a:lnTo>
                  <a:lnTo>
                    <a:pt x="1103" y="478"/>
                  </a:lnTo>
                  <a:lnTo>
                    <a:pt x="1102" y="469"/>
                  </a:lnTo>
                  <a:lnTo>
                    <a:pt x="1101" y="460"/>
                  </a:lnTo>
                  <a:lnTo>
                    <a:pt x="1102" y="451"/>
                  </a:lnTo>
                  <a:lnTo>
                    <a:pt x="1103" y="442"/>
                  </a:lnTo>
                  <a:lnTo>
                    <a:pt x="1105" y="433"/>
                  </a:lnTo>
                  <a:lnTo>
                    <a:pt x="1108" y="424"/>
                  </a:lnTo>
                  <a:lnTo>
                    <a:pt x="1112" y="416"/>
                  </a:lnTo>
                  <a:lnTo>
                    <a:pt x="1117" y="408"/>
                  </a:lnTo>
                  <a:lnTo>
                    <a:pt x="1123" y="401"/>
                  </a:lnTo>
                  <a:lnTo>
                    <a:pt x="1129" y="395"/>
                  </a:lnTo>
                  <a:lnTo>
                    <a:pt x="1135" y="389"/>
                  </a:lnTo>
                  <a:lnTo>
                    <a:pt x="1142" y="384"/>
                  </a:lnTo>
                  <a:lnTo>
                    <a:pt x="1150" y="379"/>
                  </a:lnTo>
                  <a:lnTo>
                    <a:pt x="1158" y="376"/>
                  </a:lnTo>
                  <a:lnTo>
                    <a:pt x="1166" y="373"/>
                  </a:lnTo>
                  <a:lnTo>
                    <a:pt x="1175" y="370"/>
                  </a:lnTo>
                  <a:lnTo>
                    <a:pt x="1184" y="369"/>
                  </a:lnTo>
                  <a:lnTo>
                    <a:pt x="1194" y="369"/>
                  </a:lnTo>
                  <a:close/>
                  <a:moveTo>
                    <a:pt x="1468" y="5328"/>
                  </a:moveTo>
                  <a:lnTo>
                    <a:pt x="1468" y="5328"/>
                  </a:lnTo>
                  <a:lnTo>
                    <a:pt x="1454" y="5328"/>
                  </a:lnTo>
                  <a:lnTo>
                    <a:pt x="1441" y="5327"/>
                  </a:lnTo>
                  <a:lnTo>
                    <a:pt x="1427" y="5325"/>
                  </a:lnTo>
                  <a:lnTo>
                    <a:pt x="1414" y="5322"/>
                  </a:lnTo>
                  <a:lnTo>
                    <a:pt x="1399" y="5319"/>
                  </a:lnTo>
                  <a:lnTo>
                    <a:pt x="1387" y="5316"/>
                  </a:lnTo>
                  <a:lnTo>
                    <a:pt x="1374" y="5312"/>
                  </a:lnTo>
                  <a:lnTo>
                    <a:pt x="1362" y="5307"/>
                  </a:lnTo>
                  <a:lnTo>
                    <a:pt x="1350" y="5300"/>
                  </a:lnTo>
                  <a:lnTo>
                    <a:pt x="1338" y="5294"/>
                  </a:lnTo>
                  <a:lnTo>
                    <a:pt x="1325" y="5288"/>
                  </a:lnTo>
                  <a:lnTo>
                    <a:pt x="1314" y="5281"/>
                  </a:lnTo>
                  <a:lnTo>
                    <a:pt x="1304" y="5273"/>
                  </a:lnTo>
                  <a:lnTo>
                    <a:pt x="1294" y="5265"/>
                  </a:lnTo>
                  <a:lnTo>
                    <a:pt x="1284" y="5257"/>
                  </a:lnTo>
                  <a:lnTo>
                    <a:pt x="1274" y="5248"/>
                  </a:lnTo>
                  <a:lnTo>
                    <a:pt x="1265" y="5238"/>
                  </a:lnTo>
                  <a:lnTo>
                    <a:pt x="1256" y="5227"/>
                  </a:lnTo>
                  <a:lnTo>
                    <a:pt x="1248" y="5217"/>
                  </a:lnTo>
                  <a:lnTo>
                    <a:pt x="1240" y="5206"/>
                  </a:lnTo>
                  <a:lnTo>
                    <a:pt x="1233" y="5195"/>
                  </a:lnTo>
                  <a:lnTo>
                    <a:pt x="1227" y="5184"/>
                  </a:lnTo>
                  <a:lnTo>
                    <a:pt x="1221" y="5172"/>
                  </a:lnTo>
                  <a:lnTo>
                    <a:pt x="1215" y="5159"/>
                  </a:lnTo>
                  <a:lnTo>
                    <a:pt x="1210" y="5147"/>
                  </a:lnTo>
                  <a:lnTo>
                    <a:pt x="1206" y="5134"/>
                  </a:lnTo>
                  <a:lnTo>
                    <a:pt x="1202" y="5121"/>
                  </a:lnTo>
                  <a:lnTo>
                    <a:pt x="1199" y="5108"/>
                  </a:lnTo>
                  <a:lnTo>
                    <a:pt x="1197" y="5095"/>
                  </a:lnTo>
                  <a:lnTo>
                    <a:pt x="1195" y="5080"/>
                  </a:lnTo>
                  <a:lnTo>
                    <a:pt x="1194" y="5066"/>
                  </a:lnTo>
                  <a:lnTo>
                    <a:pt x="1194" y="5052"/>
                  </a:lnTo>
                  <a:lnTo>
                    <a:pt x="1194" y="5038"/>
                  </a:lnTo>
                  <a:lnTo>
                    <a:pt x="1195" y="5025"/>
                  </a:lnTo>
                  <a:lnTo>
                    <a:pt x="1197" y="5010"/>
                  </a:lnTo>
                  <a:lnTo>
                    <a:pt x="1199" y="4997"/>
                  </a:lnTo>
                  <a:lnTo>
                    <a:pt x="1202" y="4983"/>
                  </a:lnTo>
                  <a:lnTo>
                    <a:pt x="1206" y="4970"/>
                  </a:lnTo>
                  <a:lnTo>
                    <a:pt x="1210" y="4958"/>
                  </a:lnTo>
                  <a:lnTo>
                    <a:pt x="1215" y="4945"/>
                  </a:lnTo>
                  <a:lnTo>
                    <a:pt x="1221" y="4932"/>
                  </a:lnTo>
                  <a:lnTo>
                    <a:pt x="1227" y="4921"/>
                  </a:lnTo>
                  <a:lnTo>
                    <a:pt x="1233" y="4909"/>
                  </a:lnTo>
                  <a:lnTo>
                    <a:pt x="1240" y="4898"/>
                  </a:lnTo>
                  <a:lnTo>
                    <a:pt x="1248" y="4888"/>
                  </a:lnTo>
                  <a:lnTo>
                    <a:pt x="1256" y="4876"/>
                  </a:lnTo>
                  <a:lnTo>
                    <a:pt x="1265" y="4867"/>
                  </a:lnTo>
                  <a:lnTo>
                    <a:pt x="1274" y="4857"/>
                  </a:lnTo>
                  <a:lnTo>
                    <a:pt x="1284" y="4848"/>
                  </a:lnTo>
                  <a:lnTo>
                    <a:pt x="1294" y="4840"/>
                  </a:lnTo>
                  <a:lnTo>
                    <a:pt x="1304" y="4832"/>
                  </a:lnTo>
                  <a:lnTo>
                    <a:pt x="1314" y="4824"/>
                  </a:lnTo>
                  <a:lnTo>
                    <a:pt x="1325" y="4817"/>
                  </a:lnTo>
                  <a:lnTo>
                    <a:pt x="1338" y="4810"/>
                  </a:lnTo>
                  <a:lnTo>
                    <a:pt x="1350" y="4803"/>
                  </a:lnTo>
                  <a:lnTo>
                    <a:pt x="1362" y="4798"/>
                  </a:lnTo>
                  <a:lnTo>
                    <a:pt x="1374" y="4793"/>
                  </a:lnTo>
                  <a:lnTo>
                    <a:pt x="1387" y="4789"/>
                  </a:lnTo>
                  <a:lnTo>
                    <a:pt x="1399" y="4785"/>
                  </a:lnTo>
                  <a:lnTo>
                    <a:pt x="1414" y="4782"/>
                  </a:lnTo>
                  <a:lnTo>
                    <a:pt x="1427" y="4780"/>
                  </a:lnTo>
                  <a:lnTo>
                    <a:pt x="1441" y="4778"/>
                  </a:lnTo>
                  <a:lnTo>
                    <a:pt x="1454" y="4777"/>
                  </a:lnTo>
                  <a:lnTo>
                    <a:pt x="1468" y="4777"/>
                  </a:lnTo>
                  <a:lnTo>
                    <a:pt x="1483" y="4777"/>
                  </a:lnTo>
                  <a:lnTo>
                    <a:pt x="1497" y="4778"/>
                  </a:lnTo>
                  <a:lnTo>
                    <a:pt x="1511" y="4780"/>
                  </a:lnTo>
                  <a:lnTo>
                    <a:pt x="1524" y="4782"/>
                  </a:lnTo>
                  <a:lnTo>
                    <a:pt x="1537" y="4785"/>
                  </a:lnTo>
                  <a:lnTo>
                    <a:pt x="1551" y="4789"/>
                  </a:lnTo>
                  <a:lnTo>
                    <a:pt x="1564" y="4793"/>
                  </a:lnTo>
                  <a:lnTo>
                    <a:pt x="1576" y="4798"/>
                  </a:lnTo>
                  <a:lnTo>
                    <a:pt x="1588" y="4803"/>
                  </a:lnTo>
                  <a:lnTo>
                    <a:pt x="1600" y="4810"/>
                  </a:lnTo>
                  <a:lnTo>
                    <a:pt x="1611" y="4817"/>
                  </a:lnTo>
                  <a:lnTo>
                    <a:pt x="1623" y="4824"/>
                  </a:lnTo>
                  <a:lnTo>
                    <a:pt x="1634" y="4832"/>
                  </a:lnTo>
                  <a:lnTo>
                    <a:pt x="1644" y="4840"/>
                  </a:lnTo>
                  <a:lnTo>
                    <a:pt x="1654" y="4848"/>
                  </a:lnTo>
                  <a:lnTo>
                    <a:pt x="1664" y="4857"/>
                  </a:lnTo>
                  <a:lnTo>
                    <a:pt x="1673" y="4867"/>
                  </a:lnTo>
                  <a:lnTo>
                    <a:pt x="1681" y="4876"/>
                  </a:lnTo>
                  <a:lnTo>
                    <a:pt x="1690" y="4888"/>
                  </a:lnTo>
                  <a:lnTo>
                    <a:pt x="1698" y="4898"/>
                  </a:lnTo>
                  <a:lnTo>
                    <a:pt x="1705" y="4909"/>
                  </a:lnTo>
                  <a:lnTo>
                    <a:pt x="1711" y="4921"/>
                  </a:lnTo>
                  <a:lnTo>
                    <a:pt x="1717" y="4932"/>
                  </a:lnTo>
                  <a:lnTo>
                    <a:pt x="1723" y="4945"/>
                  </a:lnTo>
                  <a:lnTo>
                    <a:pt x="1728" y="4958"/>
                  </a:lnTo>
                  <a:lnTo>
                    <a:pt x="1732" y="4970"/>
                  </a:lnTo>
                  <a:lnTo>
                    <a:pt x="1736" y="4983"/>
                  </a:lnTo>
                  <a:lnTo>
                    <a:pt x="1739" y="4997"/>
                  </a:lnTo>
                  <a:lnTo>
                    <a:pt x="1741" y="5010"/>
                  </a:lnTo>
                  <a:lnTo>
                    <a:pt x="1743" y="5025"/>
                  </a:lnTo>
                  <a:lnTo>
                    <a:pt x="1744" y="5038"/>
                  </a:lnTo>
                  <a:lnTo>
                    <a:pt x="1744" y="5052"/>
                  </a:lnTo>
                  <a:lnTo>
                    <a:pt x="1744" y="5066"/>
                  </a:lnTo>
                  <a:lnTo>
                    <a:pt x="1743" y="5080"/>
                  </a:lnTo>
                  <a:lnTo>
                    <a:pt x="1741" y="5095"/>
                  </a:lnTo>
                  <a:lnTo>
                    <a:pt x="1739" y="5108"/>
                  </a:lnTo>
                  <a:lnTo>
                    <a:pt x="1736" y="5121"/>
                  </a:lnTo>
                  <a:lnTo>
                    <a:pt x="1732" y="5134"/>
                  </a:lnTo>
                  <a:lnTo>
                    <a:pt x="1728" y="5147"/>
                  </a:lnTo>
                  <a:lnTo>
                    <a:pt x="1723" y="5159"/>
                  </a:lnTo>
                  <a:lnTo>
                    <a:pt x="1717" y="5172"/>
                  </a:lnTo>
                  <a:lnTo>
                    <a:pt x="1711" y="5184"/>
                  </a:lnTo>
                  <a:lnTo>
                    <a:pt x="1705" y="5195"/>
                  </a:lnTo>
                  <a:lnTo>
                    <a:pt x="1698" y="5206"/>
                  </a:lnTo>
                  <a:lnTo>
                    <a:pt x="1690" y="5217"/>
                  </a:lnTo>
                  <a:lnTo>
                    <a:pt x="1681" y="5227"/>
                  </a:lnTo>
                  <a:lnTo>
                    <a:pt x="1673" y="5238"/>
                  </a:lnTo>
                  <a:lnTo>
                    <a:pt x="1664" y="5248"/>
                  </a:lnTo>
                  <a:lnTo>
                    <a:pt x="1654" y="5257"/>
                  </a:lnTo>
                  <a:lnTo>
                    <a:pt x="1644" y="5265"/>
                  </a:lnTo>
                  <a:lnTo>
                    <a:pt x="1634" y="5273"/>
                  </a:lnTo>
                  <a:lnTo>
                    <a:pt x="1623" y="5281"/>
                  </a:lnTo>
                  <a:lnTo>
                    <a:pt x="1611" y="5288"/>
                  </a:lnTo>
                  <a:lnTo>
                    <a:pt x="1600" y="5294"/>
                  </a:lnTo>
                  <a:lnTo>
                    <a:pt x="1588" y="5300"/>
                  </a:lnTo>
                  <a:lnTo>
                    <a:pt x="1576" y="5307"/>
                  </a:lnTo>
                  <a:lnTo>
                    <a:pt x="1564" y="5312"/>
                  </a:lnTo>
                  <a:lnTo>
                    <a:pt x="1551" y="5316"/>
                  </a:lnTo>
                  <a:lnTo>
                    <a:pt x="1537" y="5319"/>
                  </a:lnTo>
                  <a:lnTo>
                    <a:pt x="1524" y="5322"/>
                  </a:lnTo>
                  <a:lnTo>
                    <a:pt x="1511" y="5325"/>
                  </a:lnTo>
                  <a:lnTo>
                    <a:pt x="1497" y="5327"/>
                  </a:lnTo>
                  <a:lnTo>
                    <a:pt x="1483" y="5328"/>
                  </a:lnTo>
                  <a:lnTo>
                    <a:pt x="1468" y="5328"/>
                  </a:lnTo>
                  <a:close/>
                  <a:moveTo>
                    <a:pt x="2755" y="4593"/>
                  </a:moveTo>
                  <a:lnTo>
                    <a:pt x="183" y="4593"/>
                  </a:lnTo>
                  <a:lnTo>
                    <a:pt x="183" y="919"/>
                  </a:lnTo>
                  <a:lnTo>
                    <a:pt x="2755" y="919"/>
                  </a:lnTo>
                  <a:lnTo>
                    <a:pt x="2755" y="4593"/>
                  </a:lnTo>
                  <a:close/>
                </a:path>
              </a:pathLst>
            </a:custGeom>
            <a:solidFill>
              <a:sysClr val="window" lastClr="FFFFFF"/>
            </a:solidFill>
            <a:ln>
              <a:noFill/>
            </a:ln>
          </p:spPr>
          <p:txBody>
            <a:bodyPr anchor="ctr"/>
            <a:lstStyle/>
            <a:p>
              <a:pPr algn="ctr" eaLnBrk="1" hangingPunct="1">
                <a:lnSpc>
                  <a:spcPct val="130000"/>
                </a:lnSpc>
              </a:pPr>
              <a:endParaRPr lang="zh-CN" altLang="en-US" sz="100" dirty="0">
                <a:latin typeface="微软雅黑" panose="020B0503020204020204" pitchFamily="34" charset="-122"/>
                <a:ea typeface="微软雅黑" panose="020B0503020204020204" pitchFamily="34" charset="-122"/>
              </a:endParaRPr>
            </a:p>
          </p:txBody>
        </p:sp>
      </p:grpSp>
      <p:grpSp>
        <p:nvGrpSpPr>
          <p:cNvPr id="36" name="组合 35">
            <a:extLst>
              <a:ext uri="{FF2B5EF4-FFF2-40B4-BE49-F238E27FC236}">
                <a16:creationId xmlns:a16="http://schemas.microsoft.com/office/drawing/2014/main" id="{99D1FAA1-5447-4971-9758-F8DFDB8FEE29}"/>
              </a:ext>
            </a:extLst>
          </p:cNvPr>
          <p:cNvGrpSpPr/>
          <p:nvPr/>
        </p:nvGrpSpPr>
        <p:grpSpPr>
          <a:xfrm>
            <a:off x="2914877" y="560650"/>
            <a:ext cx="1318456" cy="1318456"/>
            <a:chOff x="2914877" y="560650"/>
            <a:chExt cx="1318456" cy="1318456"/>
          </a:xfrm>
        </p:grpSpPr>
        <p:sp>
          <p:nvSpPr>
            <p:cNvPr id="7" name="椭圆 6">
              <a:extLst>
                <a:ext uri="{FF2B5EF4-FFF2-40B4-BE49-F238E27FC236}">
                  <a16:creationId xmlns:a16="http://schemas.microsoft.com/office/drawing/2014/main" id="{5CFC877E-FF42-4F72-8D73-4311ED07F948}"/>
                </a:ext>
              </a:extLst>
            </p:cNvPr>
            <p:cNvSpPr/>
            <p:nvPr/>
          </p:nvSpPr>
          <p:spPr>
            <a:xfrm>
              <a:off x="3000330" y="607460"/>
              <a:ext cx="1147550" cy="1147550"/>
            </a:xfrm>
            <a:prstGeom prst="ellipse">
              <a:avLst/>
            </a:prstGeom>
            <a:solidFill>
              <a:srgbClr val="84CDD1"/>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lnSpc>
                  <a:spcPct val="130000"/>
                </a:lnSpc>
              </a:pPr>
              <a:endParaRPr sz="100">
                <a:latin typeface="微软雅黑" panose="020B0503020204020204" pitchFamily="34" charset="-122"/>
                <a:ea typeface="微软雅黑" panose="020B0503020204020204" pitchFamily="34" charset="-122"/>
              </a:endParaRPr>
            </a:p>
          </p:txBody>
        </p:sp>
        <p:pic>
          <p:nvPicPr>
            <p:cNvPr id="17" name="图片 16">
              <a:extLst>
                <a:ext uri="{FF2B5EF4-FFF2-40B4-BE49-F238E27FC236}">
                  <a16:creationId xmlns:a16="http://schemas.microsoft.com/office/drawing/2014/main" id="{3BD74D08-3483-4688-A38A-14CF6F2EC0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14877" y="560650"/>
              <a:ext cx="1318456" cy="1318456"/>
            </a:xfrm>
            <a:prstGeom prst="rect">
              <a:avLst/>
            </a:prstGeom>
          </p:spPr>
        </p:pic>
      </p:grpSp>
      <p:grpSp>
        <p:nvGrpSpPr>
          <p:cNvPr id="38" name="组合 37">
            <a:extLst>
              <a:ext uri="{FF2B5EF4-FFF2-40B4-BE49-F238E27FC236}">
                <a16:creationId xmlns:a16="http://schemas.microsoft.com/office/drawing/2014/main" id="{81A50AAF-9096-4309-83BF-0E76F7000EE5}"/>
              </a:ext>
            </a:extLst>
          </p:cNvPr>
          <p:cNvGrpSpPr/>
          <p:nvPr/>
        </p:nvGrpSpPr>
        <p:grpSpPr>
          <a:xfrm>
            <a:off x="7108515" y="607460"/>
            <a:ext cx="1147550" cy="1147550"/>
            <a:chOff x="7108515" y="607460"/>
            <a:chExt cx="1147550" cy="1147550"/>
          </a:xfrm>
        </p:grpSpPr>
        <p:sp>
          <p:nvSpPr>
            <p:cNvPr id="9" name="椭圆 8">
              <a:extLst>
                <a:ext uri="{FF2B5EF4-FFF2-40B4-BE49-F238E27FC236}">
                  <a16:creationId xmlns:a16="http://schemas.microsoft.com/office/drawing/2014/main" id="{8578A29F-BCFB-4472-9FFB-C473624E9CC5}"/>
                </a:ext>
              </a:extLst>
            </p:cNvPr>
            <p:cNvSpPr/>
            <p:nvPr/>
          </p:nvSpPr>
          <p:spPr>
            <a:xfrm>
              <a:off x="7108515" y="607460"/>
              <a:ext cx="1147550" cy="1147550"/>
            </a:xfrm>
            <a:prstGeom prst="ellipse">
              <a:avLst/>
            </a:prstGeom>
            <a:solidFill>
              <a:srgbClr val="84CDD1"/>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lnSpc>
                  <a:spcPct val="130000"/>
                </a:lnSpc>
              </a:pPr>
              <a:endParaRPr sz="100">
                <a:latin typeface="微软雅黑" panose="020B0503020204020204" pitchFamily="34" charset="-122"/>
                <a:ea typeface="微软雅黑" panose="020B0503020204020204" pitchFamily="34" charset="-122"/>
              </a:endParaRPr>
            </a:p>
          </p:txBody>
        </p:sp>
        <p:pic>
          <p:nvPicPr>
            <p:cNvPr id="18" name="图片 17">
              <a:extLst>
                <a:ext uri="{FF2B5EF4-FFF2-40B4-BE49-F238E27FC236}">
                  <a16:creationId xmlns:a16="http://schemas.microsoft.com/office/drawing/2014/main" id="{5A14A5E3-49A9-44BE-BC5C-75632EEEFE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65821" y="744907"/>
              <a:ext cx="832939" cy="832939"/>
            </a:xfrm>
            <a:prstGeom prst="rect">
              <a:avLst/>
            </a:prstGeom>
          </p:spPr>
        </p:pic>
      </p:grpSp>
      <p:grpSp>
        <p:nvGrpSpPr>
          <p:cNvPr id="37" name="组合 36">
            <a:extLst>
              <a:ext uri="{FF2B5EF4-FFF2-40B4-BE49-F238E27FC236}">
                <a16:creationId xmlns:a16="http://schemas.microsoft.com/office/drawing/2014/main" id="{04308F9D-1641-4AA2-AE96-5F5ABD1D03B6}"/>
              </a:ext>
            </a:extLst>
          </p:cNvPr>
          <p:cNvGrpSpPr/>
          <p:nvPr/>
        </p:nvGrpSpPr>
        <p:grpSpPr>
          <a:xfrm>
            <a:off x="5057513" y="607460"/>
            <a:ext cx="1147550" cy="1147550"/>
            <a:chOff x="5057513" y="607460"/>
            <a:chExt cx="1147550" cy="1147550"/>
          </a:xfrm>
        </p:grpSpPr>
        <p:sp>
          <p:nvSpPr>
            <p:cNvPr id="8" name="椭圆 7">
              <a:extLst>
                <a:ext uri="{FF2B5EF4-FFF2-40B4-BE49-F238E27FC236}">
                  <a16:creationId xmlns:a16="http://schemas.microsoft.com/office/drawing/2014/main" id="{E1DE4716-010F-4BC6-BB79-7B480BA3F0BE}"/>
                </a:ext>
              </a:extLst>
            </p:cNvPr>
            <p:cNvSpPr/>
            <p:nvPr/>
          </p:nvSpPr>
          <p:spPr>
            <a:xfrm>
              <a:off x="5057513" y="607460"/>
              <a:ext cx="1147550" cy="1147550"/>
            </a:xfrm>
            <a:prstGeom prst="ellipse">
              <a:avLst/>
            </a:prstGeom>
            <a:solidFill>
              <a:srgbClr val="86B4D4"/>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defPPr>
                <a:defRPr lang="zh-CN">
                  <a:solidFill>
                    <a:sysClr val="window" lastClr="FFFFFF"/>
                  </a:solidFill>
                </a:defRPr>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lnSpc>
                  <a:spcPct val="130000"/>
                </a:lnSpc>
              </a:pPr>
              <a:endParaRPr sz="100">
                <a:latin typeface="微软雅黑" panose="020B0503020204020204" pitchFamily="34" charset="-122"/>
                <a:ea typeface="微软雅黑" panose="020B0503020204020204" pitchFamily="34" charset="-122"/>
              </a:endParaRPr>
            </a:p>
          </p:txBody>
        </p:sp>
        <p:pic>
          <p:nvPicPr>
            <p:cNvPr id="19" name="图片 18">
              <a:extLst>
                <a:ext uri="{FF2B5EF4-FFF2-40B4-BE49-F238E27FC236}">
                  <a16:creationId xmlns:a16="http://schemas.microsoft.com/office/drawing/2014/main" id="{0DBE19D4-790C-49DE-A409-7550EF2855F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28690" y="994481"/>
              <a:ext cx="605197" cy="519483"/>
            </a:xfrm>
            <a:prstGeom prst="rect">
              <a:avLst/>
            </a:prstGeom>
          </p:spPr>
        </p:pic>
      </p:grpSp>
      <p:pic>
        <p:nvPicPr>
          <p:cNvPr id="20" name="图片 19">
            <a:extLst>
              <a:ext uri="{FF2B5EF4-FFF2-40B4-BE49-F238E27FC236}">
                <a16:creationId xmlns:a16="http://schemas.microsoft.com/office/drawing/2014/main" id="{88613684-5B77-4B04-8780-A899A674A06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14134" y="3664835"/>
            <a:ext cx="634093" cy="947652"/>
          </a:xfrm>
          <a:prstGeom prst="rect">
            <a:avLst/>
          </a:prstGeom>
        </p:spPr>
      </p:pic>
      <p:pic>
        <p:nvPicPr>
          <p:cNvPr id="21" name="图片 20">
            <a:extLst>
              <a:ext uri="{FF2B5EF4-FFF2-40B4-BE49-F238E27FC236}">
                <a16:creationId xmlns:a16="http://schemas.microsoft.com/office/drawing/2014/main" id="{71EAF9BA-5B8A-46E0-9906-64B7A113A6D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3528" y="3634447"/>
            <a:ext cx="1008428" cy="1008428"/>
          </a:xfrm>
          <a:prstGeom prst="rect">
            <a:avLst/>
          </a:prstGeom>
        </p:spPr>
      </p:pic>
      <p:pic>
        <p:nvPicPr>
          <p:cNvPr id="22" name="图片 21">
            <a:extLst>
              <a:ext uri="{FF2B5EF4-FFF2-40B4-BE49-F238E27FC236}">
                <a16:creationId xmlns:a16="http://schemas.microsoft.com/office/drawing/2014/main" id="{04F18331-803F-453D-A030-28857EB1820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878304" y="3309310"/>
            <a:ext cx="1599669" cy="1599669"/>
          </a:xfrm>
          <a:prstGeom prst="rect">
            <a:avLst/>
          </a:prstGeom>
        </p:spPr>
      </p:pic>
      <p:pic>
        <p:nvPicPr>
          <p:cNvPr id="23" name="图片 22">
            <a:extLst>
              <a:ext uri="{FF2B5EF4-FFF2-40B4-BE49-F238E27FC236}">
                <a16:creationId xmlns:a16="http://schemas.microsoft.com/office/drawing/2014/main" id="{258BC635-3527-4B81-A922-5E5E6E749DF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81223" y="3309311"/>
            <a:ext cx="1599669" cy="1599669"/>
          </a:xfrm>
          <a:prstGeom prst="rect">
            <a:avLst/>
          </a:prstGeom>
        </p:spPr>
      </p:pic>
      <p:sp>
        <p:nvSpPr>
          <p:cNvPr id="24" name="左中括号 23">
            <a:extLst>
              <a:ext uri="{FF2B5EF4-FFF2-40B4-BE49-F238E27FC236}">
                <a16:creationId xmlns:a16="http://schemas.microsoft.com/office/drawing/2014/main" id="{C3EEB82A-59E3-4C46-A688-D87C10298CBE}"/>
              </a:ext>
            </a:extLst>
          </p:cNvPr>
          <p:cNvSpPr/>
          <p:nvPr/>
        </p:nvSpPr>
        <p:spPr bwMode="auto">
          <a:xfrm rot="16200000">
            <a:off x="4656271" y="790717"/>
            <a:ext cx="192354" cy="7704000"/>
          </a:xfrm>
          <a:prstGeom prst="leftBracket">
            <a:avLst/>
          </a:prstGeom>
          <a:noFill/>
          <a:ln w="38100">
            <a:solidFill>
              <a:schemeClr val="tx1">
                <a:lumMod val="50000"/>
                <a:lumOff val="50000"/>
              </a:schemeClr>
            </a:solidFill>
          </a:ln>
          <a:effectLst/>
        </p:spPr>
        <p:txBody>
          <a:bodyPr rot="0" spcFirstLastPara="0" vertOverflow="overflow" horzOverflow="overflow" vert="horz" wrap="square" lIns="90170" tIns="46990" rIns="90170" bIns="46990" numCol="1" spcCol="0" rtlCol="0" fromWordArt="0" anchor="ctr" anchorCtr="0" forceAA="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dirty="0">
              <a:ln>
                <a:noFill/>
              </a:ln>
              <a:solidFill>
                <a:schemeClr val="tx1"/>
              </a:solidFill>
              <a:effectLst/>
              <a:latin typeface="微软雅黑" panose="020B0503020204020204" pitchFamily="34" charset="-122"/>
              <a:ea typeface="宋体" panose="02010600030101010101" pitchFamily="2" charset="-122"/>
            </a:endParaRPr>
          </a:p>
        </p:txBody>
      </p:sp>
      <p:sp>
        <p:nvSpPr>
          <p:cNvPr id="25" name="矩形 24">
            <a:extLst>
              <a:ext uri="{FF2B5EF4-FFF2-40B4-BE49-F238E27FC236}">
                <a16:creationId xmlns:a16="http://schemas.microsoft.com/office/drawing/2014/main" id="{EC207F71-50B5-4663-88EB-64064A7B92F4}"/>
              </a:ext>
            </a:extLst>
          </p:cNvPr>
          <p:cNvSpPr/>
          <p:nvPr/>
        </p:nvSpPr>
        <p:spPr>
          <a:xfrm>
            <a:off x="3289393" y="4738894"/>
            <a:ext cx="1638590" cy="418191"/>
          </a:xfrm>
          <a:prstGeom prst="rect">
            <a:avLst/>
          </a:prstGeom>
        </p:spPr>
        <p:txBody>
          <a:bodyPr wrap="none">
            <a:spAutoFit/>
          </a:bodyPr>
          <a:lstStyle/>
          <a:p>
            <a:pPr>
              <a:lnSpc>
                <a:spcPct val="150000"/>
              </a:lnSpc>
              <a:defRPr/>
            </a:pPr>
            <a:r>
              <a:rPr lang="zh-CN" altLang="en-US" sz="1600" spc="150" dirty="0">
                <a:latin typeface="微软雅黑" panose="020B0503020204020204" pitchFamily="34" charset="-122"/>
                <a:ea typeface="微软雅黑" panose="020B0503020204020204" pitchFamily="34" charset="-122"/>
              </a:rPr>
              <a:t>需求面</a:t>
            </a:r>
            <a:r>
              <a:rPr lang="en-US" altLang="zh-CN" sz="1600" spc="150" dirty="0">
                <a:latin typeface="微软雅黑" panose="020B0503020204020204" pitchFamily="34" charset="-122"/>
                <a:ea typeface="微软雅黑" panose="020B0503020204020204" pitchFamily="34" charset="-122"/>
              </a:rPr>
              <a:t>/</a:t>
            </a:r>
            <a:r>
              <a:rPr lang="zh-CN" altLang="en-US" sz="1600" spc="150" dirty="0">
                <a:latin typeface="微软雅黑" panose="020B0503020204020204" pitchFamily="34" charset="-122"/>
                <a:ea typeface="微软雅黑" panose="020B0503020204020204" pitchFamily="34" charset="-122"/>
              </a:rPr>
              <a:t>供给面</a:t>
            </a:r>
            <a:endParaRPr lang="en-US" altLang="zh-CN" sz="1600" spc="150" dirty="0">
              <a:latin typeface="微软雅黑" panose="020B0503020204020204" pitchFamily="34" charset="-122"/>
              <a:ea typeface="微软雅黑" panose="020B0503020204020204" pitchFamily="34" charset="-122"/>
            </a:endParaRPr>
          </a:p>
        </p:txBody>
      </p:sp>
      <p:sp>
        <p:nvSpPr>
          <p:cNvPr id="26" name="矩形 25">
            <a:extLst>
              <a:ext uri="{FF2B5EF4-FFF2-40B4-BE49-F238E27FC236}">
                <a16:creationId xmlns:a16="http://schemas.microsoft.com/office/drawing/2014/main" id="{5A917DA4-1F76-48DB-B207-822961EDD798}"/>
              </a:ext>
            </a:extLst>
          </p:cNvPr>
          <p:cNvSpPr/>
          <p:nvPr/>
        </p:nvSpPr>
        <p:spPr>
          <a:xfrm>
            <a:off x="1574355" y="5509660"/>
            <a:ext cx="5952694" cy="369332"/>
          </a:xfrm>
          <a:prstGeom prst="rect">
            <a:avLst/>
          </a:prstGeom>
        </p:spPr>
        <p:txBody>
          <a:bodyPr wrap="square">
            <a:spAutoFit/>
          </a:bodyPr>
          <a:lstStyle/>
          <a:p>
            <a:pPr lvl="0">
              <a:defRPr/>
            </a:pPr>
            <a:r>
              <a:rPr lang="zh-CN" altLang="en-US" spc="150" dirty="0">
                <a:latin typeface="微软雅黑" panose="020B0503020204020204" pitchFamily="34" charset="-122"/>
                <a:ea typeface="微软雅黑" panose="020B0503020204020204" pitchFamily="34" charset="-122"/>
              </a:rPr>
              <a:t>本章讨论需求和供给受什么影响，又如何影响价格</a:t>
            </a:r>
            <a:r>
              <a:rPr lang="en-US" altLang="zh-CN" spc="150" dirty="0">
                <a:latin typeface="微软雅黑" panose="020B0503020204020204" pitchFamily="34" charset="-122"/>
                <a:ea typeface="微软雅黑" panose="020B0503020204020204" pitchFamily="34" charset="-122"/>
              </a:rPr>
              <a:t>?</a:t>
            </a:r>
          </a:p>
        </p:txBody>
      </p:sp>
      <p:sp>
        <p:nvSpPr>
          <p:cNvPr id="27" name="矩形 26">
            <a:extLst>
              <a:ext uri="{FF2B5EF4-FFF2-40B4-BE49-F238E27FC236}">
                <a16:creationId xmlns:a16="http://schemas.microsoft.com/office/drawing/2014/main" id="{73E8C4FA-B6DC-47F9-889D-18339952D5C8}"/>
              </a:ext>
            </a:extLst>
          </p:cNvPr>
          <p:cNvSpPr/>
          <p:nvPr/>
        </p:nvSpPr>
        <p:spPr>
          <a:xfrm>
            <a:off x="1054324" y="3969384"/>
            <a:ext cx="633507" cy="338554"/>
          </a:xfrm>
          <a:prstGeom prst="rect">
            <a:avLst/>
          </a:prstGeom>
        </p:spPr>
        <p:txBody>
          <a:bodyPr wrap="none">
            <a:spAutoFit/>
          </a:bodyPr>
          <a:lstStyle/>
          <a:p>
            <a:r>
              <a:rPr lang="zh-CN" altLang="en-US" sz="1600" spc="150" dirty="0">
                <a:latin typeface="微软雅黑" panose="020B0503020204020204" pitchFamily="34" charset="-122"/>
                <a:ea typeface="微软雅黑" panose="020B0503020204020204" pitchFamily="34" charset="-122"/>
              </a:rPr>
              <a:t>牙刷</a:t>
            </a:r>
          </a:p>
        </p:txBody>
      </p:sp>
      <p:sp>
        <p:nvSpPr>
          <p:cNvPr id="28" name="矩形 27">
            <a:extLst>
              <a:ext uri="{FF2B5EF4-FFF2-40B4-BE49-F238E27FC236}">
                <a16:creationId xmlns:a16="http://schemas.microsoft.com/office/drawing/2014/main" id="{63334243-F4CE-4BB6-8E3A-8CF06CC7A5DE}"/>
              </a:ext>
            </a:extLst>
          </p:cNvPr>
          <p:cNvSpPr/>
          <p:nvPr/>
        </p:nvSpPr>
        <p:spPr>
          <a:xfrm>
            <a:off x="2718227" y="3986370"/>
            <a:ext cx="633507" cy="338554"/>
          </a:xfrm>
          <a:prstGeom prst="rect">
            <a:avLst/>
          </a:prstGeom>
        </p:spPr>
        <p:txBody>
          <a:bodyPr wrap="none">
            <a:spAutoFit/>
          </a:bodyPr>
          <a:lstStyle/>
          <a:p>
            <a:r>
              <a:rPr lang="zh-CN" altLang="en-US" sz="1600" spc="150" dirty="0">
                <a:latin typeface="微软雅黑" panose="020B0503020204020204" pitchFamily="34" charset="-122"/>
                <a:ea typeface="微软雅黑" panose="020B0503020204020204" pitchFamily="34" charset="-122"/>
              </a:rPr>
              <a:t>牙膏</a:t>
            </a:r>
          </a:p>
        </p:txBody>
      </p:sp>
      <p:sp>
        <p:nvSpPr>
          <p:cNvPr id="29" name="矩形 28">
            <a:extLst>
              <a:ext uri="{FF2B5EF4-FFF2-40B4-BE49-F238E27FC236}">
                <a16:creationId xmlns:a16="http://schemas.microsoft.com/office/drawing/2014/main" id="{D0E259EE-054F-457A-8169-12F5428C07D1}"/>
              </a:ext>
            </a:extLst>
          </p:cNvPr>
          <p:cNvSpPr/>
          <p:nvPr/>
        </p:nvSpPr>
        <p:spPr>
          <a:xfrm>
            <a:off x="5377884" y="3992318"/>
            <a:ext cx="633507" cy="338554"/>
          </a:xfrm>
          <a:prstGeom prst="rect">
            <a:avLst/>
          </a:prstGeom>
        </p:spPr>
        <p:txBody>
          <a:bodyPr wrap="none">
            <a:spAutoFit/>
          </a:bodyPr>
          <a:lstStyle/>
          <a:p>
            <a:r>
              <a:rPr lang="zh-CN" altLang="en-US" sz="1600" spc="150" dirty="0">
                <a:latin typeface="微软雅黑" panose="020B0503020204020204" pitchFamily="34" charset="-122"/>
                <a:ea typeface="微软雅黑" panose="020B0503020204020204" pitchFamily="34" charset="-122"/>
              </a:rPr>
              <a:t>汽车</a:t>
            </a:r>
          </a:p>
        </p:txBody>
      </p:sp>
      <p:sp>
        <p:nvSpPr>
          <p:cNvPr id="30" name="矩形 29">
            <a:extLst>
              <a:ext uri="{FF2B5EF4-FFF2-40B4-BE49-F238E27FC236}">
                <a16:creationId xmlns:a16="http://schemas.microsoft.com/office/drawing/2014/main" id="{094FF9E4-31D5-4750-9D65-7D5C119DF931}"/>
              </a:ext>
            </a:extLst>
          </p:cNvPr>
          <p:cNvSpPr/>
          <p:nvPr/>
        </p:nvSpPr>
        <p:spPr>
          <a:xfrm>
            <a:off x="8337644" y="3975699"/>
            <a:ext cx="633507" cy="338554"/>
          </a:xfrm>
          <a:prstGeom prst="rect">
            <a:avLst/>
          </a:prstGeom>
        </p:spPr>
        <p:txBody>
          <a:bodyPr wrap="none">
            <a:spAutoFit/>
          </a:bodyPr>
          <a:lstStyle/>
          <a:p>
            <a:r>
              <a:rPr lang="zh-CN" altLang="en-US" sz="1600" spc="150" dirty="0">
                <a:latin typeface="微软雅黑" panose="020B0503020204020204" pitchFamily="34" charset="-122"/>
                <a:ea typeface="微软雅黑" panose="020B0503020204020204" pitchFamily="34" charset="-122"/>
              </a:rPr>
              <a:t>游艇</a:t>
            </a:r>
          </a:p>
        </p:txBody>
      </p:sp>
      <p:sp>
        <p:nvSpPr>
          <p:cNvPr id="32" name="矩形 31">
            <a:extLst>
              <a:ext uri="{FF2B5EF4-FFF2-40B4-BE49-F238E27FC236}">
                <a16:creationId xmlns:a16="http://schemas.microsoft.com/office/drawing/2014/main" id="{E6BA1D67-5612-4500-A203-6085B9862F3A}"/>
              </a:ext>
            </a:extLst>
          </p:cNvPr>
          <p:cNvSpPr/>
          <p:nvPr/>
        </p:nvSpPr>
        <p:spPr>
          <a:xfrm>
            <a:off x="2615690" y="1954816"/>
            <a:ext cx="1916831" cy="1471418"/>
          </a:xfrm>
          <a:prstGeom prst="rect">
            <a:avLst/>
          </a:prstGeom>
          <a:noFill/>
          <a:ln w="28575">
            <a:solidFill>
              <a:srgbClr val="84CD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74CF9001-8564-4077-9A1A-8875F3389F8A}"/>
              </a:ext>
            </a:extLst>
          </p:cNvPr>
          <p:cNvSpPr/>
          <p:nvPr/>
        </p:nvSpPr>
        <p:spPr>
          <a:xfrm>
            <a:off x="4672873" y="1960748"/>
            <a:ext cx="1916831" cy="1471418"/>
          </a:xfrm>
          <a:prstGeom prst="rect">
            <a:avLst/>
          </a:prstGeom>
          <a:noFill/>
          <a:ln w="28575">
            <a:solidFill>
              <a:srgbClr val="86B4D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FE5F5B68-C04D-4483-8803-1582B951E9EF}"/>
              </a:ext>
            </a:extLst>
          </p:cNvPr>
          <p:cNvSpPr/>
          <p:nvPr/>
        </p:nvSpPr>
        <p:spPr>
          <a:xfrm>
            <a:off x="6723875" y="1938239"/>
            <a:ext cx="1916831" cy="1471418"/>
          </a:xfrm>
          <a:prstGeom prst="rect">
            <a:avLst/>
          </a:prstGeom>
          <a:noFill/>
          <a:ln w="28575">
            <a:solidFill>
              <a:srgbClr val="84CD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94946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Effect transition="in" filter="fade">
                                      <p:cBhvr>
                                        <p:cTn id="9" dur="500"/>
                                        <p:tgtEl>
                                          <p:spTgt spid="35"/>
                                        </p:tgtEl>
                                      </p:cBhvr>
                                    </p:animEffect>
                                  </p:childTnLst>
                                </p:cTn>
                              </p:par>
                            </p:childTnLst>
                          </p:cTn>
                        </p:par>
                        <p:par>
                          <p:cTn id="10" fill="hold">
                            <p:stCondLst>
                              <p:cond delay="500"/>
                            </p:stCondLst>
                            <p:childTnLst>
                              <p:par>
                                <p:cTn id="11" presetID="22" presetClass="entr" presetSubtype="4" fill="hold" grpId="0"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wipe(down)">
                                      <p:cBhvr>
                                        <p:cTn id="13" dur="500"/>
                                        <p:tgtEl>
                                          <p:spTgt spid="31"/>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6"/>
                                        </p:tgtEl>
                                        <p:attrNameLst>
                                          <p:attrName>style.visibility</p:attrName>
                                        </p:attrNameLst>
                                      </p:cBhvr>
                                      <p:to>
                                        <p:strVal val="visible"/>
                                      </p:to>
                                    </p:set>
                                    <p:anim calcmode="lin" valueType="num">
                                      <p:cBhvr>
                                        <p:cTn id="21" dur="500" fill="hold"/>
                                        <p:tgtEl>
                                          <p:spTgt spid="36"/>
                                        </p:tgtEl>
                                        <p:attrNameLst>
                                          <p:attrName>ppt_w</p:attrName>
                                        </p:attrNameLst>
                                      </p:cBhvr>
                                      <p:tavLst>
                                        <p:tav tm="0">
                                          <p:val>
                                            <p:fltVal val="0"/>
                                          </p:val>
                                        </p:tav>
                                        <p:tav tm="100000">
                                          <p:val>
                                            <p:strVal val="#ppt_w"/>
                                          </p:val>
                                        </p:tav>
                                      </p:tavLst>
                                    </p:anim>
                                    <p:anim calcmode="lin" valueType="num">
                                      <p:cBhvr>
                                        <p:cTn id="22" dur="500" fill="hold"/>
                                        <p:tgtEl>
                                          <p:spTgt spid="36"/>
                                        </p:tgtEl>
                                        <p:attrNameLst>
                                          <p:attrName>ppt_h</p:attrName>
                                        </p:attrNameLst>
                                      </p:cBhvr>
                                      <p:tavLst>
                                        <p:tav tm="0">
                                          <p:val>
                                            <p:fltVal val="0"/>
                                          </p:val>
                                        </p:tav>
                                        <p:tav tm="100000">
                                          <p:val>
                                            <p:strVal val="#ppt_h"/>
                                          </p:val>
                                        </p:tav>
                                      </p:tavLst>
                                    </p:anim>
                                    <p:animEffect transition="in" filter="fade">
                                      <p:cBhvr>
                                        <p:cTn id="23" dur="500"/>
                                        <p:tgtEl>
                                          <p:spTgt spid="36"/>
                                        </p:tgtEl>
                                      </p:cBhvr>
                                    </p:animEffect>
                                  </p:childTnLst>
                                </p:cTn>
                              </p:par>
                            </p:childTnLst>
                          </p:cTn>
                        </p:par>
                        <p:par>
                          <p:cTn id="24" fill="hold">
                            <p:stCondLst>
                              <p:cond delay="500"/>
                            </p:stCondLst>
                            <p:childTnLst>
                              <p:par>
                                <p:cTn id="25" presetID="22" presetClass="entr" presetSubtype="4" fill="hold" grpId="0" nodeType="after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down)">
                                      <p:cBhvr>
                                        <p:cTn id="27" dur="500"/>
                                        <p:tgtEl>
                                          <p:spTgt spid="32"/>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down)">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37"/>
                                        </p:tgtEl>
                                        <p:attrNameLst>
                                          <p:attrName>style.visibility</p:attrName>
                                        </p:attrNameLst>
                                      </p:cBhvr>
                                      <p:to>
                                        <p:strVal val="visible"/>
                                      </p:to>
                                    </p:set>
                                    <p:anim calcmode="lin" valueType="num">
                                      <p:cBhvr>
                                        <p:cTn id="35" dur="500" fill="hold"/>
                                        <p:tgtEl>
                                          <p:spTgt spid="37"/>
                                        </p:tgtEl>
                                        <p:attrNameLst>
                                          <p:attrName>ppt_w</p:attrName>
                                        </p:attrNameLst>
                                      </p:cBhvr>
                                      <p:tavLst>
                                        <p:tav tm="0">
                                          <p:val>
                                            <p:fltVal val="0"/>
                                          </p:val>
                                        </p:tav>
                                        <p:tav tm="100000">
                                          <p:val>
                                            <p:strVal val="#ppt_w"/>
                                          </p:val>
                                        </p:tav>
                                      </p:tavLst>
                                    </p:anim>
                                    <p:anim calcmode="lin" valueType="num">
                                      <p:cBhvr>
                                        <p:cTn id="36" dur="500" fill="hold"/>
                                        <p:tgtEl>
                                          <p:spTgt spid="37"/>
                                        </p:tgtEl>
                                        <p:attrNameLst>
                                          <p:attrName>ppt_h</p:attrName>
                                        </p:attrNameLst>
                                      </p:cBhvr>
                                      <p:tavLst>
                                        <p:tav tm="0">
                                          <p:val>
                                            <p:fltVal val="0"/>
                                          </p:val>
                                        </p:tav>
                                        <p:tav tm="100000">
                                          <p:val>
                                            <p:strVal val="#ppt_h"/>
                                          </p:val>
                                        </p:tav>
                                      </p:tavLst>
                                    </p:anim>
                                    <p:animEffect transition="in" filter="fade">
                                      <p:cBhvr>
                                        <p:cTn id="37" dur="500"/>
                                        <p:tgtEl>
                                          <p:spTgt spid="37"/>
                                        </p:tgtEl>
                                      </p:cBhvr>
                                    </p:animEffect>
                                  </p:childTnLst>
                                </p:cTn>
                              </p:par>
                            </p:childTnLst>
                          </p:cTn>
                        </p:par>
                        <p:par>
                          <p:cTn id="38" fill="hold">
                            <p:stCondLst>
                              <p:cond delay="500"/>
                            </p:stCondLst>
                            <p:childTnLst>
                              <p:par>
                                <p:cTn id="39" presetID="22" presetClass="entr" presetSubtype="4" fill="hold" grpId="0" nodeType="after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down)">
                                      <p:cBhvr>
                                        <p:cTn id="41" dur="500"/>
                                        <p:tgtEl>
                                          <p:spTgt spid="13"/>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wipe(down)">
                                      <p:cBhvr>
                                        <p:cTn id="44" dur="500"/>
                                        <p:tgtEl>
                                          <p:spTgt spid="33"/>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38"/>
                                        </p:tgtEl>
                                        <p:attrNameLst>
                                          <p:attrName>style.visibility</p:attrName>
                                        </p:attrNameLst>
                                      </p:cBhvr>
                                      <p:to>
                                        <p:strVal val="visible"/>
                                      </p:to>
                                    </p:set>
                                    <p:anim calcmode="lin" valueType="num">
                                      <p:cBhvr>
                                        <p:cTn id="49" dur="500" fill="hold"/>
                                        <p:tgtEl>
                                          <p:spTgt spid="38"/>
                                        </p:tgtEl>
                                        <p:attrNameLst>
                                          <p:attrName>ppt_w</p:attrName>
                                        </p:attrNameLst>
                                      </p:cBhvr>
                                      <p:tavLst>
                                        <p:tav tm="0">
                                          <p:val>
                                            <p:fltVal val="0"/>
                                          </p:val>
                                        </p:tav>
                                        <p:tav tm="100000">
                                          <p:val>
                                            <p:strVal val="#ppt_w"/>
                                          </p:val>
                                        </p:tav>
                                      </p:tavLst>
                                    </p:anim>
                                    <p:anim calcmode="lin" valueType="num">
                                      <p:cBhvr>
                                        <p:cTn id="50" dur="500" fill="hold"/>
                                        <p:tgtEl>
                                          <p:spTgt spid="38"/>
                                        </p:tgtEl>
                                        <p:attrNameLst>
                                          <p:attrName>ppt_h</p:attrName>
                                        </p:attrNameLst>
                                      </p:cBhvr>
                                      <p:tavLst>
                                        <p:tav tm="0">
                                          <p:val>
                                            <p:fltVal val="0"/>
                                          </p:val>
                                        </p:tav>
                                        <p:tav tm="100000">
                                          <p:val>
                                            <p:strVal val="#ppt_h"/>
                                          </p:val>
                                        </p:tav>
                                      </p:tavLst>
                                    </p:anim>
                                    <p:animEffect transition="in" filter="fade">
                                      <p:cBhvr>
                                        <p:cTn id="51" dur="500"/>
                                        <p:tgtEl>
                                          <p:spTgt spid="38"/>
                                        </p:tgtEl>
                                      </p:cBhvr>
                                    </p:animEffect>
                                  </p:childTnLst>
                                </p:cTn>
                              </p:par>
                            </p:childTnLst>
                          </p:cTn>
                        </p:par>
                        <p:par>
                          <p:cTn id="52" fill="hold">
                            <p:stCondLst>
                              <p:cond delay="500"/>
                            </p:stCondLst>
                            <p:childTnLst>
                              <p:par>
                                <p:cTn id="53" presetID="22" presetClass="entr" presetSubtype="4" fill="hold" grpId="0" nodeType="after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wipe(down)">
                                      <p:cBhvr>
                                        <p:cTn id="55" dur="500"/>
                                        <p:tgtEl>
                                          <p:spTgt spid="14"/>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wipe(down)">
                                      <p:cBhvr>
                                        <p:cTn id="58" dur="500"/>
                                        <p:tgtEl>
                                          <p:spTgt spid="34"/>
                                        </p:tgtEl>
                                      </p:cBhvr>
                                    </p:animEffect>
                                  </p:childTnLst>
                                </p:cTn>
                              </p:par>
                            </p:childTnLst>
                          </p:cTn>
                        </p:par>
                      </p:childTnLst>
                    </p:cTn>
                  </p:par>
                  <p:par>
                    <p:cTn id="59" fill="hold">
                      <p:stCondLst>
                        <p:cond delay="indefinite"/>
                      </p:stCondLst>
                      <p:childTnLst>
                        <p:par>
                          <p:cTn id="60" fill="hold">
                            <p:stCondLst>
                              <p:cond delay="0"/>
                            </p:stCondLst>
                            <p:childTnLst>
                              <p:par>
                                <p:cTn id="61" presetID="6" presetClass="entr" presetSubtype="16" fill="hold"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circle(in)">
                                      <p:cBhvr>
                                        <p:cTn id="63" dur="2000"/>
                                        <p:tgtEl>
                                          <p:spTgt spid="21"/>
                                        </p:tgtEl>
                                      </p:cBhvr>
                                    </p:animEffect>
                                  </p:childTnLst>
                                </p:cTn>
                              </p:par>
                              <p:par>
                                <p:cTn id="64" presetID="6" presetClass="entr" presetSubtype="16"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circle(in)">
                                      <p:cBhvr>
                                        <p:cTn id="66" dur="2000"/>
                                        <p:tgtEl>
                                          <p:spTgt spid="27"/>
                                        </p:tgtEl>
                                      </p:cBhvr>
                                    </p:animEffect>
                                  </p:childTnLst>
                                </p:cTn>
                              </p:par>
                            </p:childTnLst>
                          </p:cTn>
                        </p:par>
                      </p:childTnLst>
                    </p:cTn>
                  </p:par>
                  <p:par>
                    <p:cTn id="67" fill="hold">
                      <p:stCondLst>
                        <p:cond delay="indefinite"/>
                      </p:stCondLst>
                      <p:childTnLst>
                        <p:par>
                          <p:cTn id="68" fill="hold">
                            <p:stCondLst>
                              <p:cond delay="0"/>
                            </p:stCondLst>
                            <p:childTnLst>
                              <p:par>
                                <p:cTn id="69" presetID="6" presetClass="entr" presetSubtype="16" fill="hold" grpId="0" nodeType="click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circle(in)">
                                      <p:cBhvr>
                                        <p:cTn id="71" dur="2000"/>
                                        <p:tgtEl>
                                          <p:spTgt spid="28"/>
                                        </p:tgtEl>
                                      </p:cBhvr>
                                    </p:animEffect>
                                  </p:childTnLst>
                                </p:cTn>
                              </p:par>
                              <p:par>
                                <p:cTn id="72" presetID="6" presetClass="entr" presetSubtype="16" fill="hold" nodeType="with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circle(in)">
                                      <p:cBhvr>
                                        <p:cTn id="74" dur="2000"/>
                                        <p:tgtEl>
                                          <p:spTgt spid="20"/>
                                        </p:tgtEl>
                                      </p:cBhvr>
                                    </p:animEffect>
                                  </p:childTnLst>
                                </p:cTn>
                              </p:par>
                            </p:childTnLst>
                          </p:cTn>
                        </p:par>
                      </p:childTnLst>
                    </p:cTn>
                  </p:par>
                  <p:par>
                    <p:cTn id="75" fill="hold">
                      <p:stCondLst>
                        <p:cond delay="indefinite"/>
                      </p:stCondLst>
                      <p:childTnLst>
                        <p:par>
                          <p:cTn id="76" fill="hold">
                            <p:stCondLst>
                              <p:cond delay="0"/>
                            </p:stCondLst>
                            <p:childTnLst>
                              <p:par>
                                <p:cTn id="77" presetID="6" presetClass="entr" presetSubtype="16" fill="hold" nodeType="click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circle(in)">
                                      <p:cBhvr>
                                        <p:cTn id="79" dur="2000"/>
                                        <p:tgtEl>
                                          <p:spTgt spid="22"/>
                                        </p:tgtEl>
                                      </p:cBhvr>
                                    </p:animEffect>
                                  </p:childTnLst>
                                </p:cTn>
                              </p:par>
                              <p:par>
                                <p:cTn id="80" presetID="6" presetClass="entr" presetSubtype="16"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circle(in)">
                                      <p:cBhvr>
                                        <p:cTn id="82" dur="2000"/>
                                        <p:tgtEl>
                                          <p:spTgt spid="29"/>
                                        </p:tgtEl>
                                      </p:cBhvr>
                                    </p:animEffect>
                                  </p:childTnLst>
                                </p:cTn>
                              </p:par>
                            </p:childTnLst>
                          </p:cTn>
                        </p:par>
                      </p:childTnLst>
                    </p:cTn>
                  </p:par>
                  <p:par>
                    <p:cTn id="83" fill="hold">
                      <p:stCondLst>
                        <p:cond delay="indefinite"/>
                      </p:stCondLst>
                      <p:childTnLst>
                        <p:par>
                          <p:cTn id="84" fill="hold">
                            <p:stCondLst>
                              <p:cond delay="0"/>
                            </p:stCondLst>
                            <p:childTnLst>
                              <p:par>
                                <p:cTn id="85" presetID="6" presetClass="entr" presetSubtype="16" fill="hold" nodeType="clickEffect">
                                  <p:stCondLst>
                                    <p:cond delay="0"/>
                                  </p:stCondLst>
                                  <p:childTnLst>
                                    <p:set>
                                      <p:cBhvr>
                                        <p:cTn id="86" dur="1" fill="hold">
                                          <p:stCondLst>
                                            <p:cond delay="0"/>
                                          </p:stCondLst>
                                        </p:cTn>
                                        <p:tgtEl>
                                          <p:spTgt spid="23"/>
                                        </p:tgtEl>
                                        <p:attrNameLst>
                                          <p:attrName>style.visibility</p:attrName>
                                        </p:attrNameLst>
                                      </p:cBhvr>
                                      <p:to>
                                        <p:strVal val="visible"/>
                                      </p:to>
                                    </p:set>
                                    <p:animEffect transition="in" filter="circle(in)">
                                      <p:cBhvr>
                                        <p:cTn id="87" dur="2000"/>
                                        <p:tgtEl>
                                          <p:spTgt spid="23"/>
                                        </p:tgtEl>
                                      </p:cBhvr>
                                    </p:animEffect>
                                  </p:childTnLst>
                                </p:cTn>
                              </p:par>
                              <p:par>
                                <p:cTn id="88" presetID="6" presetClass="entr" presetSubtype="16"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circle(in)">
                                      <p:cBhvr>
                                        <p:cTn id="90" dur="2000"/>
                                        <p:tgtEl>
                                          <p:spTgt spid="30"/>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24"/>
                                        </p:tgtEl>
                                        <p:attrNameLst>
                                          <p:attrName>style.visibility</p:attrName>
                                        </p:attrNameLst>
                                      </p:cBhvr>
                                      <p:to>
                                        <p:strVal val="visible"/>
                                      </p:to>
                                    </p:set>
                                    <p:animEffect transition="in" filter="wipe(left)">
                                      <p:cBhvr>
                                        <p:cTn id="95" dur="500"/>
                                        <p:tgtEl>
                                          <p:spTgt spid="24"/>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wipe(left)">
                                      <p:cBhvr>
                                        <p:cTn id="100" dur="500"/>
                                        <p:tgtEl>
                                          <p:spTgt spid="25"/>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6"/>
                                        </p:tgtEl>
                                        <p:attrNameLst>
                                          <p:attrName>style.visibility</p:attrName>
                                        </p:attrNameLst>
                                      </p:cBhvr>
                                      <p:to>
                                        <p:strVal val="visible"/>
                                      </p:to>
                                    </p:set>
                                    <p:animEffect transition="in" filter="wipe(left)">
                                      <p:cBhvr>
                                        <p:cTn id="105" dur="500"/>
                                        <p:tgtEl>
                                          <p:spTgt spid="6"/>
                                        </p:tgtEl>
                                      </p:cBhvr>
                                    </p:animEffect>
                                  </p:childTnLst>
                                </p:cTn>
                              </p:par>
                              <p:par>
                                <p:cTn id="106" presetID="22" presetClass="entr" presetSubtype="8" fill="hold" grpId="0" nodeType="withEffect">
                                  <p:stCondLst>
                                    <p:cond delay="0"/>
                                  </p:stCondLst>
                                  <p:childTnLst>
                                    <p:set>
                                      <p:cBhvr>
                                        <p:cTn id="107" dur="1" fill="hold">
                                          <p:stCondLst>
                                            <p:cond delay="0"/>
                                          </p:stCondLst>
                                        </p:cTn>
                                        <p:tgtEl>
                                          <p:spTgt spid="26"/>
                                        </p:tgtEl>
                                        <p:attrNameLst>
                                          <p:attrName>style.visibility</p:attrName>
                                        </p:attrNameLst>
                                      </p:cBhvr>
                                      <p:to>
                                        <p:strVal val="visible"/>
                                      </p:to>
                                    </p:set>
                                    <p:animEffect transition="in" filter="wipe(left)">
                                      <p:cBhvr>
                                        <p:cTn id="10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11" grpId="0"/>
      <p:bldP spid="6" grpId="0" animBg="1"/>
      <p:bldP spid="12" grpId="0"/>
      <p:bldP spid="13" grpId="0"/>
      <p:bldP spid="14" grpId="0"/>
      <p:bldP spid="24" grpId="0" animBg="1"/>
      <p:bldP spid="25" grpId="0"/>
      <p:bldP spid="26" grpId="0"/>
      <p:bldP spid="27" grpId="0"/>
      <p:bldP spid="28" grpId="0"/>
      <p:bldP spid="29" grpId="0"/>
      <p:bldP spid="30" grpId="0"/>
      <p:bldP spid="32" grpId="0" animBg="1"/>
      <p:bldP spid="33" grpId="0" animBg="1"/>
      <p:bldP spid="3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平行四边形 1">
            <a:extLst>
              <a:ext uri="{FF2B5EF4-FFF2-40B4-BE49-F238E27FC236}">
                <a16:creationId xmlns:a16="http://schemas.microsoft.com/office/drawing/2014/main" id="{86F1DC63-CB2F-459E-B0E0-E14F93622BE5}"/>
              </a:ext>
            </a:extLst>
          </p:cNvPr>
          <p:cNvSpPr/>
          <p:nvPr/>
        </p:nvSpPr>
        <p:spPr>
          <a:xfrm rot="16200000">
            <a:off x="2641317" y="2185629"/>
            <a:ext cx="2103957" cy="518653"/>
          </a:xfrm>
          <a:prstGeom prst="parallelogram">
            <a:avLst>
              <a:gd name="adj" fmla="val 156667"/>
            </a:avLst>
          </a:prstGeom>
          <a:solidFill>
            <a:srgbClr val="AFD9E6"/>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 name="直角三角形 2">
            <a:extLst>
              <a:ext uri="{FF2B5EF4-FFF2-40B4-BE49-F238E27FC236}">
                <a16:creationId xmlns:a16="http://schemas.microsoft.com/office/drawing/2014/main" id="{6B0F1CDE-5B9D-48FC-8E24-7B17CE22CD96}"/>
              </a:ext>
            </a:extLst>
          </p:cNvPr>
          <p:cNvSpPr/>
          <p:nvPr/>
        </p:nvSpPr>
        <p:spPr>
          <a:xfrm>
            <a:off x="2653549" y="1216833"/>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 name="矩形 3">
            <a:extLst>
              <a:ext uri="{FF2B5EF4-FFF2-40B4-BE49-F238E27FC236}">
                <a16:creationId xmlns:a16="http://schemas.microsoft.com/office/drawing/2014/main" id="{29D4621B-7639-47DA-B16C-EC41E72F8F64}"/>
              </a:ext>
            </a:extLst>
          </p:cNvPr>
          <p:cNvSpPr/>
          <p:nvPr/>
        </p:nvSpPr>
        <p:spPr>
          <a:xfrm>
            <a:off x="2051720" y="1392977"/>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 name="任意多边形 42">
            <a:extLst>
              <a:ext uri="{FF2B5EF4-FFF2-40B4-BE49-F238E27FC236}">
                <a16:creationId xmlns:a16="http://schemas.microsoft.com/office/drawing/2014/main" id="{D15E878E-A5CB-456F-B538-CB5BD387BB4F}"/>
              </a:ext>
            </a:extLst>
          </p:cNvPr>
          <p:cNvSpPr/>
          <p:nvPr/>
        </p:nvSpPr>
        <p:spPr>
          <a:xfrm>
            <a:off x="2164257" y="1216833"/>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6" name="平行四边形 5">
            <a:extLst>
              <a:ext uri="{FF2B5EF4-FFF2-40B4-BE49-F238E27FC236}">
                <a16:creationId xmlns:a16="http://schemas.microsoft.com/office/drawing/2014/main" id="{4B2478EE-47E8-42AE-A3F7-79920093293C}"/>
              </a:ext>
            </a:extLst>
          </p:cNvPr>
          <p:cNvSpPr/>
          <p:nvPr/>
        </p:nvSpPr>
        <p:spPr>
          <a:xfrm rot="16200000">
            <a:off x="4542221" y="2185629"/>
            <a:ext cx="2103957" cy="518653"/>
          </a:xfrm>
          <a:prstGeom prst="parallelogram">
            <a:avLst>
              <a:gd name="adj" fmla="val 156667"/>
            </a:avLst>
          </a:prstGeom>
          <a:solidFill>
            <a:srgbClr val="3B9DBB">
              <a:lumMod val="40000"/>
              <a:lumOff val="60000"/>
            </a:srgbClr>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7" name="直角三角形 6">
            <a:extLst>
              <a:ext uri="{FF2B5EF4-FFF2-40B4-BE49-F238E27FC236}">
                <a16:creationId xmlns:a16="http://schemas.microsoft.com/office/drawing/2014/main" id="{63FD15F2-20EB-4398-9A93-79D58E63A579}"/>
              </a:ext>
            </a:extLst>
          </p:cNvPr>
          <p:cNvSpPr/>
          <p:nvPr/>
        </p:nvSpPr>
        <p:spPr>
          <a:xfrm>
            <a:off x="4560921" y="1216833"/>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8" name="矩形 7">
            <a:extLst>
              <a:ext uri="{FF2B5EF4-FFF2-40B4-BE49-F238E27FC236}">
                <a16:creationId xmlns:a16="http://schemas.microsoft.com/office/drawing/2014/main" id="{DE181C83-B592-44B6-BA5C-47F7309748C2}"/>
              </a:ext>
            </a:extLst>
          </p:cNvPr>
          <p:cNvSpPr/>
          <p:nvPr/>
        </p:nvSpPr>
        <p:spPr>
          <a:xfrm>
            <a:off x="3959092" y="1392977"/>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9" name="任意多边形 47">
            <a:extLst>
              <a:ext uri="{FF2B5EF4-FFF2-40B4-BE49-F238E27FC236}">
                <a16:creationId xmlns:a16="http://schemas.microsoft.com/office/drawing/2014/main" id="{9F82F987-B480-402E-8016-1CFD72EB4C0F}"/>
              </a:ext>
            </a:extLst>
          </p:cNvPr>
          <p:cNvSpPr/>
          <p:nvPr/>
        </p:nvSpPr>
        <p:spPr>
          <a:xfrm>
            <a:off x="4071629" y="1216833"/>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0" name="直角三角形 9">
            <a:extLst>
              <a:ext uri="{FF2B5EF4-FFF2-40B4-BE49-F238E27FC236}">
                <a16:creationId xmlns:a16="http://schemas.microsoft.com/office/drawing/2014/main" id="{F7536217-FD7D-4482-A71D-A6335D83FDD7}"/>
              </a:ext>
            </a:extLst>
          </p:cNvPr>
          <p:cNvSpPr/>
          <p:nvPr/>
        </p:nvSpPr>
        <p:spPr>
          <a:xfrm>
            <a:off x="6455355" y="1216833"/>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1" name="矩形 10">
            <a:extLst>
              <a:ext uri="{FF2B5EF4-FFF2-40B4-BE49-F238E27FC236}">
                <a16:creationId xmlns:a16="http://schemas.microsoft.com/office/drawing/2014/main" id="{4A4DC721-CBFD-4846-A4CB-F9D633FEE025}"/>
              </a:ext>
            </a:extLst>
          </p:cNvPr>
          <p:cNvSpPr/>
          <p:nvPr/>
        </p:nvSpPr>
        <p:spPr>
          <a:xfrm>
            <a:off x="5853526" y="1392977"/>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2" name="任意多边形 52">
            <a:extLst>
              <a:ext uri="{FF2B5EF4-FFF2-40B4-BE49-F238E27FC236}">
                <a16:creationId xmlns:a16="http://schemas.microsoft.com/office/drawing/2014/main" id="{E555E2C3-462B-448B-B9E4-91FF00E99C12}"/>
              </a:ext>
            </a:extLst>
          </p:cNvPr>
          <p:cNvSpPr/>
          <p:nvPr/>
        </p:nvSpPr>
        <p:spPr>
          <a:xfrm>
            <a:off x="5966063" y="1216833"/>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3" name="文本框 32">
            <a:extLst>
              <a:ext uri="{FF2B5EF4-FFF2-40B4-BE49-F238E27FC236}">
                <a16:creationId xmlns:a16="http://schemas.microsoft.com/office/drawing/2014/main" id="{F33D56E3-2885-47AA-9F5F-B8481E44F3B7}"/>
              </a:ext>
            </a:extLst>
          </p:cNvPr>
          <p:cNvSpPr txBox="1"/>
          <p:nvPr/>
        </p:nvSpPr>
        <p:spPr>
          <a:xfrm>
            <a:off x="2132680" y="1196752"/>
            <a:ext cx="1227671"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第一节</a:t>
            </a:r>
          </a:p>
        </p:txBody>
      </p:sp>
      <p:sp>
        <p:nvSpPr>
          <p:cNvPr id="14" name="文本框 33">
            <a:extLst>
              <a:ext uri="{FF2B5EF4-FFF2-40B4-BE49-F238E27FC236}">
                <a16:creationId xmlns:a16="http://schemas.microsoft.com/office/drawing/2014/main" id="{C749D56D-E7B7-423A-AA90-478147768720}"/>
              </a:ext>
            </a:extLst>
          </p:cNvPr>
          <p:cNvSpPr txBox="1"/>
          <p:nvPr/>
        </p:nvSpPr>
        <p:spPr>
          <a:xfrm>
            <a:off x="4071630" y="1196752"/>
            <a:ext cx="1164515"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第二节</a:t>
            </a:r>
          </a:p>
        </p:txBody>
      </p:sp>
      <p:sp>
        <p:nvSpPr>
          <p:cNvPr id="15" name="文本框 34">
            <a:extLst>
              <a:ext uri="{FF2B5EF4-FFF2-40B4-BE49-F238E27FC236}">
                <a16:creationId xmlns:a16="http://schemas.microsoft.com/office/drawing/2014/main" id="{017493A6-3E27-41AA-BA90-8414F87F75FF}"/>
              </a:ext>
            </a:extLst>
          </p:cNvPr>
          <p:cNvSpPr txBox="1"/>
          <p:nvPr/>
        </p:nvSpPr>
        <p:spPr>
          <a:xfrm>
            <a:off x="5924843" y="1196752"/>
            <a:ext cx="1246956"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第三节</a:t>
            </a:r>
          </a:p>
        </p:txBody>
      </p:sp>
      <p:sp>
        <p:nvSpPr>
          <p:cNvPr id="16" name="文本框 1">
            <a:extLst>
              <a:ext uri="{FF2B5EF4-FFF2-40B4-BE49-F238E27FC236}">
                <a16:creationId xmlns:a16="http://schemas.microsoft.com/office/drawing/2014/main" id="{D58D668A-7FC8-42DD-A372-640E8BCE6583}"/>
              </a:ext>
            </a:extLst>
          </p:cNvPr>
          <p:cNvSpPr txBox="1"/>
          <p:nvPr/>
        </p:nvSpPr>
        <p:spPr>
          <a:xfrm>
            <a:off x="2051720" y="1764842"/>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spc="150" dirty="0">
                <a:latin typeface="微软雅黑" panose="020B0503020204020204" pitchFamily="34" charset="-122"/>
                <a:ea typeface="微软雅黑" panose="020B0503020204020204" pitchFamily="34" charset="-122"/>
              </a:rPr>
              <a:t>需求</a:t>
            </a:r>
          </a:p>
        </p:txBody>
      </p:sp>
      <p:sp>
        <p:nvSpPr>
          <p:cNvPr id="17" name="文本框 44">
            <a:extLst>
              <a:ext uri="{FF2B5EF4-FFF2-40B4-BE49-F238E27FC236}">
                <a16:creationId xmlns:a16="http://schemas.microsoft.com/office/drawing/2014/main" id="{6AF3D053-C2BA-4DE9-B50B-04DAF4075925}"/>
              </a:ext>
            </a:extLst>
          </p:cNvPr>
          <p:cNvSpPr txBox="1"/>
          <p:nvPr/>
        </p:nvSpPr>
        <p:spPr>
          <a:xfrm>
            <a:off x="3959092" y="1764842"/>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spc="150" dirty="0">
                <a:latin typeface="微软雅黑" panose="020B0503020204020204" pitchFamily="34" charset="-122"/>
                <a:ea typeface="微软雅黑" panose="020B0503020204020204" pitchFamily="34" charset="-122"/>
              </a:rPr>
              <a:t>供给</a:t>
            </a:r>
          </a:p>
        </p:txBody>
      </p:sp>
      <p:sp>
        <p:nvSpPr>
          <p:cNvPr id="18" name="文本框 48">
            <a:extLst>
              <a:ext uri="{FF2B5EF4-FFF2-40B4-BE49-F238E27FC236}">
                <a16:creationId xmlns:a16="http://schemas.microsoft.com/office/drawing/2014/main" id="{9AE0FE04-A5D0-48CD-88B1-F28DCE68671D}"/>
              </a:ext>
            </a:extLst>
          </p:cNvPr>
          <p:cNvSpPr txBox="1"/>
          <p:nvPr/>
        </p:nvSpPr>
        <p:spPr>
          <a:xfrm>
            <a:off x="5853526" y="1764842"/>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spc="150" dirty="0">
                <a:latin typeface="微软雅黑" panose="020B0503020204020204" pitchFamily="34" charset="-122"/>
                <a:ea typeface="微软雅黑" panose="020B0503020204020204" pitchFamily="34" charset="-122"/>
              </a:rPr>
              <a:t>市场</a:t>
            </a:r>
            <a:endParaRPr lang="en-US" altLang="zh-CN" sz="2400" spc="150" dirty="0">
              <a:latin typeface="微软雅黑" panose="020B0503020204020204" pitchFamily="34" charset="-122"/>
              <a:ea typeface="微软雅黑" panose="020B0503020204020204" pitchFamily="34" charset="-122"/>
            </a:endParaRPr>
          </a:p>
          <a:p>
            <a:pPr algn="ctr">
              <a:lnSpc>
                <a:spcPct val="120000"/>
              </a:lnSpc>
            </a:pPr>
            <a:r>
              <a:rPr lang="zh-CN" altLang="en-US" sz="2400" spc="150" dirty="0">
                <a:latin typeface="微软雅黑" panose="020B0503020204020204" pitchFamily="34" charset="-122"/>
                <a:ea typeface="微软雅黑" panose="020B0503020204020204" pitchFamily="34" charset="-122"/>
              </a:rPr>
              <a:t>均衡</a:t>
            </a:r>
          </a:p>
        </p:txBody>
      </p:sp>
      <p:sp>
        <p:nvSpPr>
          <p:cNvPr id="19" name="平行四边形 18">
            <a:extLst>
              <a:ext uri="{FF2B5EF4-FFF2-40B4-BE49-F238E27FC236}">
                <a16:creationId xmlns:a16="http://schemas.microsoft.com/office/drawing/2014/main" id="{19AF637F-02DB-4D09-BD02-F5EF37EFEC30}"/>
              </a:ext>
            </a:extLst>
          </p:cNvPr>
          <p:cNvSpPr/>
          <p:nvPr/>
        </p:nvSpPr>
        <p:spPr>
          <a:xfrm rot="16200000">
            <a:off x="2641317" y="4641875"/>
            <a:ext cx="2103957" cy="518653"/>
          </a:xfrm>
          <a:prstGeom prst="parallelogram">
            <a:avLst>
              <a:gd name="adj" fmla="val 156667"/>
            </a:avLst>
          </a:prstGeom>
          <a:solidFill>
            <a:srgbClr val="3B9DBB">
              <a:lumMod val="40000"/>
              <a:lumOff val="60000"/>
            </a:srgbClr>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0" name="直角三角形 19">
            <a:extLst>
              <a:ext uri="{FF2B5EF4-FFF2-40B4-BE49-F238E27FC236}">
                <a16:creationId xmlns:a16="http://schemas.microsoft.com/office/drawing/2014/main" id="{747DBFF2-7D2F-4306-89CD-B35495FFB255}"/>
              </a:ext>
            </a:extLst>
          </p:cNvPr>
          <p:cNvSpPr/>
          <p:nvPr/>
        </p:nvSpPr>
        <p:spPr>
          <a:xfrm>
            <a:off x="2653549" y="3673079"/>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1" name="矩形 20">
            <a:extLst>
              <a:ext uri="{FF2B5EF4-FFF2-40B4-BE49-F238E27FC236}">
                <a16:creationId xmlns:a16="http://schemas.microsoft.com/office/drawing/2014/main" id="{979887FE-8715-4168-8D68-BE32EFD5CA09}"/>
              </a:ext>
            </a:extLst>
          </p:cNvPr>
          <p:cNvSpPr/>
          <p:nvPr/>
        </p:nvSpPr>
        <p:spPr>
          <a:xfrm>
            <a:off x="2051720" y="3849223"/>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2" name="任意多边形 30">
            <a:extLst>
              <a:ext uri="{FF2B5EF4-FFF2-40B4-BE49-F238E27FC236}">
                <a16:creationId xmlns:a16="http://schemas.microsoft.com/office/drawing/2014/main" id="{974FD1F3-AE2F-4A58-A485-7CF905BD2443}"/>
              </a:ext>
            </a:extLst>
          </p:cNvPr>
          <p:cNvSpPr/>
          <p:nvPr/>
        </p:nvSpPr>
        <p:spPr>
          <a:xfrm>
            <a:off x="2142239" y="3673079"/>
            <a:ext cx="1208552"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3" name="平行四边形 22">
            <a:extLst>
              <a:ext uri="{FF2B5EF4-FFF2-40B4-BE49-F238E27FC236}">
                <a16:creationId xmlns:a16="http://schemas.microsoft.com/office/drawing/2014/main" id="{64FF09FA-DCDF-4FCC-BBEB-63F4F4B97A41}"/>
              </a:ext>
            </a:extLst>
          </p:cNvPr>
          <p:cNvSpPr/>
          <p:nvPr/>
        </p:nvSpPr>
        <p:spPr>
          <a:xfrm rot="16200000">
            <a:off x="4542221" y="4641875"/>
            <a:ext cx="2103957" cy="518653"/>
          </a:xfrm>
          <a:prstGeom prst="parallelogram">
            <a:avLst>
              <a:gd name="adj" fmla="val 156667"/>
            </a:avLst>
          </a:prstGeom>
          <a:solidFill>
            <a:srgbClr val="3B9DBB">
              <a:lumMod val="40000"/>
              <a:lumOff val="60000"/>
            </a:srgbClr>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4" name="直角三角形 23">
            <a:extLst>
              <a:ext uri="{FF2B5EF4-FFF2-40B4-BE49-F238E27FC236}">
                <a16:creationId xmlns:a16="http://schemas.microsoft.com/office/drawing/2014/main" id="{F0F8F43B-CAC3-49C8-8712-2B4DD9528475}"/>
              </a:ext>
            </a:extLst>
          </p:cNvPr>
          <p:cNvSpPr/>
          <p:nvPr/>
        </p:nvSpPr>
        <p:spPr>
          <a:xfrm>
            <a:off x="4554452" y="3673079"/>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5" name="矩形 24">
            <a:extLst>
              <a:ext uri="{FF2B5EF4-FFF2-40B4-BE49-F238E27FC236}">
                <a16:creationId xmlns:a16="http://schemas.microsoft.com/office/drawing/2014/main" id="{18C2DD5B-358B-41DC-9F28-44249ACDAAC8}"/>
              </a:ext>
            </a:extLst>
          </p:cNvPr>
          <p:cNvSpPr/>
          <p:nvPr/>
        </p:nvSpPr>
        <p:spPr>
          <a:xfrm>
            <a:off x="3952623" y="3849223"/>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6" name="任意多边形 27">
            <a:extLst>
              <a:ext uri="{FF2B5EF4-FFF2-40B4-BE49-F238E27FC236}">
                <a16:creationId xmlns:a16="http://schemas.microsoft.com/office/drawing/2014/main" id="{51D12C3E-F1F5-4D38-A014-B8DF1BE90578}"/>
              </a:ext>
            </a:extLst>
          </p:cNvPr>
          <p:cNvSpPr/>
          <p:nvPr/>
        </p:nvSpPr>
        <p:spPr>
          <a:xfrm>
            <a:off x="4065160" y="3673079"/>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7" name="直角三角形 26">
            <a:extLst>
              <a:ext uri="{FF2B5EF4-FFF2-40B4-BE49-F238E27FC236}">
                <a16:creationId xmlns:a16="http://schemas.microsoft.com/office/drawing/2014/main" id="{4FE6D17F-2BFE-43C6-8A3A-CD738B2E3A7F}"/>
              </a:ext>
            </a:extLst>
          </p:cNvPr>
          <p:cNvSpPr/>
          <p:nvPr/>
        </p:nvSpPr>
        <p:spPr>
          <a:xfrm>
            <a:off x="6455355" y="3673079"/>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8" name="矩形 27">
            <a:extLst>
              <a:ext uri="{FF2B5EF4-FFF2-40B4-BE49-F238E27FC236}">
                <a16:creationId xmlns:a16="http://schemas.microsoft.com/office/drawing/2014/main" id="{29CD9A00-D4AC-46AD-A6F1-C7B6C7304A92}"/>
              </a:ext>
            </a:extLst>
          </p:cNvPr>
          <p:cNvSpPr/>
          <p:nvPr/>
        </p:nvSpPr>
        <p:spPr>
          <a:xfrm>
            <a:off x="5853526" y="3849223"/>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9" name="任意多边形 24">
            <a:extLst>
              <a:ext uri="{FF2B5EF4-FFF2-40B4-BE49-F238E27FC236}">
                <a16:creationId xmlns:a16="http://schemas.microsoft.com/office/drawing/2014/main" id="{0D07B7FA-424A-4263-A206-A8F17BBE9160}"/>
              </a:ext>
            </a:extLst>
          </p:cNvPr>
          <p:cNvSpPr/>
          <p:nvPr/>
        </p:nvSpPr>
        <p:spPr>
          <a:xfrm>
            <a:off x="5966139" y="3673079"/>
            <a:ext cx="1164364"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0" name="文本框 35">
            <a:extLst>
              <a:ext uri="{FF2B5EF4-FFF2-40B4-BE49-F238E27FC236}">
                <a16:creationId xmlns:a16="http://schemas.microsoft.com/office/drawing/2014/main" id="{E5018863-4328-48DB-88F2-A8293A5BEEFA}"/>
              </a:ext>
            </a:extLst>
          </p:cNvPr>
          <p:cNvSpPr txBox="1"/>
          <p:nvPr/>
        </p:nvSpPr>
        <p:spPr>
          <a:xfrm>
            <a:off x="2164257" y="3645024"/>
            <a:ext cx="1164516"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第四节</a:t>
            </a:r>
          </a:p>
        </p:txBody>
      </p:sp>
      <p:sp>
        <p:nvSpPr>
          <p:cNvPr id="31" name="文本框 36">
            <a:extLst>
              <a:ext uri="{FF2B5EF4-FFF2-40B4-BE49-F238E27FC236}">
                <a16:creationId xmlns:a16="http://schemas.microsoft.com/office/drawing/2014/main" id="{64762B03-5E0A-4FF5-84DA-3A801C9D5AB7}"/>
              </a:ext>
            </a:extLst>
          </p:cNvPr>
          <p:cNvSpPr txBox="1"/>
          <p:nvPr/>
        </p:nvSpPr>
        <p:spPr>
          <a:xfrm>
            <a:off x="4052405" y="3645024"/>
            <a:ext cx="1190026"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第五节</a:t>
            </a:r>
          </a:p>
        </p:txBody>
      </p:sp>
      <p:sp>
        <p:nvSpPr>
          <p:cNvPr id="32" name="文本框 37">
            <a:extLst>
              <a:ext uri="{FF2B5EF4-FFF2-40B4-BE49-F238E27FC236}">
                <a16:creationId xmlns:a16="http://schemas.microsoft.com/office/drawing/2014/main" id="{B96BF525-8F76-48F6-BC29-BBFE35C0CB6F}"/>
              </a:ext>
            </a:extLst>
          </p:cNvPr>
          <p:cNvSpPr txBox="1"/>
          <p:nvPr/>
        </p:nvSpPr>
        <p:spPr>
          <a:xfrm>
            <a:off x="5966139" y="3645024"/>
            <a:ext cx="1164364"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第六节</a:t>
            </a:r>
          </a:p>
        </p:txBody>
      </p:sp>
      <p:sp>
        <p:nvSpPr>
          <p:cNvPr id="33" name="文本框 49">
            <a:extLst>
              <a:ext uri="{FF2B5EF4-FFF2-40B4-BE49-F238E27FC236}">
                <a16:creationId xmlns:a16="http://schemas.microsoft.com/office/drawing/2014/main" id="{7D4F0D52-3445-4413-BD2D-D491610B3455}"/>
              </a:ext>
            </a:extLst>
          </p:cNvPr>
          <p:cNvSpPr txBox="1"/>
          <p:nvPr/>
        </p:nvSpPr>
        <p:spPr>
          <a:xfrm>
            <a:off x="2051720" y="4221088"/>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spc="150" dirty="0">
                <a:latin typeface="微软雅黑" panose="020B0503020204020204" pitchFamily="34" charset="-122"/>
                <a:ea typeface="微软雅黑" panose="020B0503020204020204" pitchFamily="34" charset="-122"/>
              </a:rPr>
              <a:t>弹性</a:t>
            </a:r>
          </a:p>
        </p:txBody>
      </p:sp>
      <p:sp>
        <p:nvSpPr>
          <p:cNvPr id="34" name="文本框 53">
            <a:extLst>
              <a:ext uri="{FF2B5EF4-FFF2-40B4-BE49-F238E27FC236}">
                <a16:creationId xmlns:a16="http://schemas.microsoft.com/office/drawing/2014/main" id="{3206073B-0493-41FB-85B2-DBB55C8A9ADC}"/>
              </a:ext>
            </a:extLst>
          </p:cNvPr>
          <p:cNvSpPr txBox="1"/>
          <p:nvPr/>
        </p:nvSpPr>
        <p:spPr>
          <a:xfrm>
            <a:off x="3952623" y="4221088"/>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spc="150" dirty="0">
                <a:latin typeface="微软雅黑" panose="020B0503020204020204" pitchFamily="34" charset="-122"/>
                <a:ea typeface="微软雅黑" panose="020B0503020204020204" pitchFamily="34" charset="-122"/>
              </a:rPr>
              <a:t>供求分</a:t>
            </a:r>
            <a:endParaRPr lang="en-US" altLang="zh-CN" sz="2400" spc="150" dirty="0">
              <a:latin typeface="微软雅黑" panose="020B0503020204020204" pitchFamily="34" charset="-122"/>
              <a:ea typeface="微软雅黑" panose="020B0503020204020204" pitchFamily="34" charset="-122"/>
            </a:endParaRPr>
          </a:p>
          <a:p>
            <a:pPr algn="ctr">
              <a:lnSpc>
                <a:spcPct val="120000"/>
              </a:lnSpc>
            </a:pPr>
            <a:r>
              <a:rPr lang="zh-CN" altLang="en-US" sz="2400" spc="150" dirty="0">
                <a:latin typeface="微软雅黑" panose="020B0503020204020204" pitchFamily="34" charset="-122"/>
                <a:ea typeface="微软雅黑" panose="020B0503020204020204" pitchFamily="34" charset="-122"/>
              </a:rPr>
              <a:t>析的应用</a:t>
            </a:r>
            <a:endParaRPr lang="en-US" altLang="zh-CN" sz="2400" spc="150" dirty="0">
              <a:latin typeface="微软雅黑" panose="020B0503020204020204" pitchFamily="34" charset="-122"/>
              <a:ea typeface="微软雅黑" panose="020B0503020204020204" pitchFamily="34" charset="-122"/>
            </a:endParaRPr>
          </a:p>
        </p:txBody>
      </p:sp>
      <p:sp>
        <p:nvSpPr>
          <p:cNvPr id="35" name="文本框 54">
            <a:extLst>
              <a:ext uri="{FF2B5EF4-FFF2-40B4-BE49-F238E27FC236}">
                <a16:creationId xmlns:a16="http://schemas.microsoft.com/office/drawing/2014/main" id="{855210AE-515C-45A3-A433-799FF648F335}"/>
              </a:ext>
            </a:extLst>
          </p:cNvPr>
          <p:cNvSpPr txBox="1"/>
          <p:nvPr/>
        </p:nvSpPr>
        <p:spPr>
          <a:xfrm>
            <a:off x="5853526" y="4221088"/>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spc="150" dirty="0">
                <a:latin typeface="微软雅黑" panose="020B0503020204020204" pitchFamily="34" charset="-122"/>
                <a:ea typeface="微软雅黑" panose="020B0503020204020204" pitchFamily="34" charset="-122"/>
              </a:rPr>
              <a:t>本章</a:t>
            </a:r>
            <a:endParaRPr lang="en-US" altLang="zh-CN" sz="2400" spc="150" dirty="0">
              <a:latin typeface="微软雅黑" panose="020B0503020204020204" pitchFamily="34" charset="-122"/>
              <a:ea typeface="微软雅黑" panose="020B0503020204020204" pitchFamily="34" charset="-122"/>
            </a:endParaRPr>
          </a:p>
          <a:p>
            <a:pPr algn="ctr">
              <a:lnSpc>
                <a:spcPct val="120000"/>
              </a:lnSpc>
            </a:pPr>
            <a:r>
              <a:rPr lang="zh-CN" altLang="en-US" sz="2400" spc="150" dirty="0">
                <a:latin typeface="微软雅黑" panose="020B0503020204020204" pitchFamily="34" charset="-122"/>
                <a:ea typeface="微软雅黑" panose="020B0503020204020204" pitchFamily="34" charset="-122"/>
              </a:rPr>
              <a:t>评析</a:t>
            </a:r>
          </a:p>
        </p:txBody>
      </p:sp>
      <p:sp>
        <p:nvSpPr>
          <p:cNvPr id="36" name="矩形 35">
            <a:extLst>
              <a:ext uri="{FF2B5EF4-FFF2-40B4-BE49-F238E27FC236}">
                <a16:creationId xmlns:a16="http://schemas.microsoft.com/office/drawing/2014/main" id="{50D68365-AF7C-4C18-A707-CED561E81FF5}"/>
              </a:ext>
            </a:extLst>
          </p:cNvPr>
          <p:cNvSpPr/>
          <p:nvPr/>
        </p:nvSpPr>
        <p:spPr>
          <a:xfrm>
            <a:off x="1248013" y="451158"/>
            <a:ext cx="6647974" cy="646331"/>
          </a:xfrm>
          <a:prstGeom prst="rect">
            <a:avLst/>
          </a:prstGeom>
        </p:spPr>
        <p:txBody>
          <a:bodyPr wrap="none">
            <a:spAutoFit/>
          </a:bodyPr>
          <a:lstStyle/>
          <a:p>
            <a:r>
              <a:rPr lang="zh-CN" altLang="en-US" sz="3600" b="1" dirty="0">
                <a:latin typeface="微软雅黑" panose="020B0503020204020204" pitchFamily="34" charset="-122"/>
                <a:ea typeface="微软雅黑" panose="020B0503020204020204" pitchFamily="34" charset="-122"/>
                <a:cs typeface="+mj-cs"/>
              </a:rPr>
              <a:t>第一章</a:t>
            </a:r>
            <a:r>
              <a:rPr lang="en-US" altLang="zh-CN" sz="3600" b="1" dirty="0">
                <a:latin typeface="微软雅黑" panose="020B0503020204020204" pitchFamily="34" charset="-122"/>
                <a:ea typeface="微软雅黑" panose="020B0503020204020204" pitchFamily="34" charset="-122"/>
                <a:cs typeface="+mj-cs"/>
              </a:rPr>
              <a:t>	</a:t>
            </a:r>
            <a:r>
              <a:rPr lang="zh-CN" altLang="en-US" sz="3600" b="1" dirty="0">
                <a:latin typeface="微软雅黑" panose="020B0503020204020204" pitchFamily="34" charset="-122"/>
                <a:ea typeface="微软雅黑" panose="020B0503020204020204" pitchFamily="34" charset="-122"/>
                <a:cs typeface="+mj-cs"/>
              </a:rPr>
              <a:t>需求、供给和均衡价格</a:t>
            </a:r>
          </a:p>
        </p:txBody>
      </p:sp>
    </p:spTree>
    <p:extLst>
      <p:ext uri="{BB962C8B-B14F-4D97-AF65-F5344CB8AC3E}">
        <p14:creationId xmlns:p14="http://schemas.microsoft.com/office/powerpoint/2010/main" val="3649656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randombar(horizontal)">
                                      <p:cBhvr>
                                        <p:cTn id="12" dur="500"/>
                                        <p:tgtEl>
                                          <p:spTgt spid="2"/>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randombar(horizontal)">
                                      <p:cBhvr>
                                        <p:cTn id="15" dur="500"/>
                                        <p:tgtEl>
                                          <p:spTgt spid="3"/>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randombar(horizontal)">
                                      <p:cBhvr>
                                        <p:cTn id="18" dur="500"/>
                                        <p:tgtEl>
                                          <p:spTgt spid="4"/>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randombar(horizontal)">
                                      <p:cBhvr>
                                        <p:cTn id="21" dur="500"/>
                                        <p:tgtEl>
                                          <p:spTgt spid="5"/>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randombar(horizontal)">
                                      <p:cBhvr>
                                        <p:cTn id="24" dur="500"/>
                                        <p:tgtEl>
                                          <p:spTgt spid="6"/>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randombar(horizontal)">
                                      <p:cBhvr>
                                        <p:cTn id="27" dur="500"/>
                                        <p:tgtEl>
                                          <p:spTgt spid="7"/>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randombar(horizontal)">
                                      <p:cBhvr>
                                        <p:cTn id="30" dur="500"/>
                                        <p:tgtEl>
                                          <p:spTgt spid="8"/>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randombar(horizontal)">
                                      <p:cBhvr>
                                        <p:cTn id="33" dur="500"/>
                                        <p:tgtEl>
                                          <p:spTgt spid="9"/>
                                        </p:tgtEl>
                                      </p:cBhvr>
                                    </p:animEffect>
                                  </p:childTnLst>
                                </p:cTn>
                              </p:par>
                              <p:par>
                                <p:cTn id="34" presetID="14" presetClass="entr" presetSubtype="1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randombar(horizontal)">
                                      <p:cBhvr>
                                        <p:cTn id="36" dur="500"/>
                                        <p:tgtEl>
                                          <p:spTgt spid="10"/>
                                        </p:tgtEl>
                                      </p:cBhvr>
                                    </p:animEffect>
                                  </p:childTnLst>
                                </p:cTn>
                              </p:par>
                              <p:par>
                                <p:cTn id="37" presetID="14" presetClass="entr" presetSubtype="1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randombar(horizontal)">
                                      <p:cBhvr>
                                        <p:cTn id="39" dur="500"/>
                                        <p:tgtEl>
                                          <p:spTgt spid="11"/>
                                        </p:tgtEl>
                                      </p:cBhvr>
                                    </p:animEffect>
                                  </p:childTnLst>
                                </p:cTn>
                              </p:par>
                              <p:par>
                                <p:cTn id="40" presetID="14" presetClass="entr" presetSubtype="1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randombar(horizontal)">
                                      <p:cBhvr>
                                        <p:cTn id="42" dur="500"/>
                                        <p:tgtEl>
                                          <p:spTgt spid="12"/>
                                        </p:tgtEl>
                                      </p:cBhvr>
                                    </p:animEffect>
                                  </p:childTnLst>
                                </p:cTn>
                              </p:par>
                              <p:par>
                                <p:cTn id="43" presetID="14" presetClass="entr" presetSubtype="1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randombar(horizontal)">
                                      <p:cBhvr>
                                        <p:cTn id="45" dur="500"/>
                                        <p:tgtEl>
                                          <p:spTgt spid="13"/>
                                        </p:tgtEl>
                                      </p:cBhvr>
                                    </p:animEffect>
                                  </p:childTnLst>
                                </p:cTn>
                              </p:par>
                              <p:par>
                                <p:cTn id="46" presetID="14" presetClass="entr" presetSubtype="1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randombar(horizontal)">
                                      <p:cBhvr>
                                        <p:cTn id="48" dur="500"/>
                                        <p:tgtEl>
                                          <p:spTgt spid="14"/>
                                        </p:tgtEl>
                                      </p:cBhvr>
                                    </p:animEffect>
                                  </p:childTnLst>
                                </p:cTn>
                              </p:par>
                              <p:par>
                                <p:cTn id="49" presetID="14" presetClass="entr" presetSubtype="10"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randombar(horizontal)">
                                      <p:cBhvr>
                                        <p:cTn id="51" dur="500"/>
                                        <p:tgtEl>
                                          <p:spTgt spid="15"/>
                                        </p:tgtEl>
                                      </p:cBhvr>
                                    </p:animEffect>
                                  </p:childTnLst>
                                </p:cTn>
                              </p:par>
                              <p:par>
                                <p:cTn id="52" presetID="14" presetClass="entr" presetSubtype="10"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randombar(horizontal)">
                                      <p:cBhvr>
                                        <p:cTn id="54" dur="500"/>
                                        <p:tgtEl>
                                          <p:spTgt spid="16"/>
                                        </p:tgtEl>
                                      </p:cBhvr>
                                    </p:animEffect>
                                  </p:childTnLst>
                                </p:cTn>
                              </p:par>
                              <p:par>
                                <p:cTn id="55" presetID="14" presetClass="entr" presetSubtype="10"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randombar(horizontal)">
                                      <p:cBhvr>
                                        <p:cTn id="57" dur="500"/>
                                        <p:tgtEl>
                                          <p:spTgt spid="17"/>
                                        </p:tgtEl>
                                      </p:cBhvr>
                                    </p:animEffect>
                                  </p:childTnLst>
                                </p:cTn>
                              </p:par>
                              <p:par>
                                <p:cTn id="58" presetID="14" presetClass="entr" presetSubtype="10"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randombar(horizontal)">
                                      <p:cBhvr>
                                        <p:cTn id="60" dur="500"/>
                                        <p:tgtEl>
                                          <p:spTgt spid="18"/>
                                        </p:tgtEl>
                                      </p:cBhvr>
                                    </p:animEffect>
                                  </p:childTnLst>
                                </p:cTn>
                              </p:par>
                              <p:par>
                                <p:cTn id="61" presetID="14" presetClass="entr" presetSubtype="10"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randombar(horizontal)">
                                      <p:cBhvr>
                                        <p:cTn id="63" dur="500"/>
                                        <p:tgtEl>
                                          <p:spTgt spid="19"/>
                                        </p:tgtEl>
                                      </p:cBhvr>
                                    </p:animEffect>
                                  </p:childTnLst>
                                </p:cTn>
                              </p:par>
                              <p:par>
                                <p:cTn id="64" presetID="14" presetClass="entr" presetSubtype="10" fill="hold" grpId="0" nodeType="with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randombar(horizontal)">
                                      <p:cBhvr>
                                        <p:cTn id="66" dur="500"/>
                                        <p:tgtEl>
                                          <p:spTgt spid="20"/>
                                        </p:tgtEl>
                                      </p:cBhvr>
                                    </p:animEffect>
                                  </p:childTnLst>
                                </p:cTn>
                              </p:par>
                              <p:par>
                                <p:cTn id="67" presetID="14" presetClass="entr" presetSubtype="1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randombar(horizontal)">
                                      <p:cBhvr>
                                        <p:cTn id="69" dur="500"/>
                                        <p:tgtEl>
                                          <p:spTgt spid="21"/>
                                        </p:tgtEl>
                                      </p:cBhvr>
                                    </p:animEffect>
                                  </p:childTnLst>
                                </p:cTn>
                              </p:par>
                              <p:par>
                                <p:cTn id="70" presetID="14" presetClass="entr" presetSubtype="10" fill="hold" grpId="0" nodeType="with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randombar(horizontal)">
                                      <p:cBhvr>
                                        <p:cTn id="72" dur="500"/>
                                        <p:tgtEl>
                                          <p:spTgt spid="22"/>
                                        </p:tgtEl>
                                      </p:cBhvr>
                                    </p:animEffect>
                                  </p:childTnLst>
                                </p:cTn>
                              </p:par>
                              <p:par>
                                <p:cTn id="73" presetID="14" presetClass="entr" presetSubtype="10"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randombar(horizontal)">
                                      <p:cBhvr>
                                        <p:cTn id="75" dur="500"/>
                                        <p:tgtEl>
                                          <p:spTgt spid="23"/>
                                        </p:tgtEl>
                                      </p:cBhvr>
                                    </p:animEffect>
                                  </p:childTnLst>
                                </p:cTn>
                              </p:par>
                              <p:par>
                                <p:cTn id="76" presetID="14" presetClass="entr" presetSubtype="10" fill="hold" grpId="0" nodeType="with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randombar(horizontal)">
                                      <p:cBhvr>
                                        <p:cTn id="78" dur="500"/>
                                        <p:tgtEl>
                                          <p:spTgt spid="24"/>
                                        </p:tgtEl>
                                      </p:cBhvr>
                                    </p:animEffect>
                                  </p:childTnLst>
                                </p:cTn>
                              </p:par>
                              <p:par>
                                <p:cTn id="79" presetID="14" presetClass="entr" presetSubtype="10" fill="hold" grpId="0" nodeType="with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randombar(horizontal)">
                                      <p:cBhvr>
                                        <p:cTn id="81" dur="500"/>
                                        <p:tgtEl>
                                          <p:spTgt spid="25"/>
                                        </p:tgtEl>
                                      </p:cBhvr>
                                    </p:animEffect>
                                  </p:childTnLst>
                                </p:cTn>
                              </p:par>
                              <p:par>
                                <p:cTn id="82" presetID="14" presetClass="entr" presetSubtype="10" fill="hold" grpId="0" nodeType="with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randombar(horizontal)">
                                      <p:cBhvr>
                                        <p:cTn id="84" dur="500"/>
                                        <p:tgtEl>
                                          <p:spTgt spid="26"/>
                                        </p:tgtEl>
                                      </p:cBhvr>
                                    </p:animEffect>
                                  </p:childTnLst>
                                </p:cTn>
                              </p:par>
                              <p:par>
                                <p:cTn id="85" presetID="14" presetClass="entr" presetSubtype="10"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randombar(horizontal)">
                                      <p:cBhvr>
                                        <p:cTn id="87" dur="500"/>
                                        <p:tgtEl>
                                          <p:spTgt spid="27"/>
                                        </p:tgtEl>
                                      </p:cBhvr>
                                    </p:animEffect>
                                  </p:childTnLst>
                                </p:cTn>
                              </p:par>
                              <p:par>
                                <p:cTn id="88" presetID="14" presetClass="entr" presetSubtype="10" fill="hold" grpId="0" nodeType="withEffect">
                                  <p:stCondLst>
                                    <p:cond delay="0"/>
                                  </p:stCondLst>
                                  <p:childTnLst>
                                    <p:set>
                                      <p:cBhvr>
                                        <p:cTn id="89" dur="1" fill="hold">
                                          <p:stCondLst>
                                            <p:cond delay="0"/>
                                          </p:stCondLst>
                                        </p:cTn>
                                        <p:tgtEl>
                                          <p:spTgt spid="28"/>
                                        </p:tgtEl>
                                        <p:attrNameLst>
                                          <p:attrName>style.visibility</p:attrName>
                                        </p:attrNameLst>
                                      </p:cBhvr>
                                      <p:to>
                                        <p:strVal val="visible"/>
                                      </p:to>
                                    </p:set>
                                    <p:animEffect transition="in" filter="randombar(horizontal)">
                                      <p:cBhvr>
                                        <p:cTn id="90" dur="500"/>
                                        <p:tgtEl>
                                          <p:spTgt spid="28"/>
                                        </p:tgtEl>
                                      </p:cBhvr>
                                    </p:animEffect>
                                  </p:childTnLst>
                                </p:cTn>
                              </p:par>
                              <p:par>
                                <p:cTn id="91" presetID="14" presetClass="entr" presetSubtype="10" fill="hold" grpId="0" nodeType="with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randombar(horizontal)">
                                      <p:cBhvr>
                                        <p:cTn id="93" dur="500"/>
                                        <p:tgtEl>
                                          <p:spTgt spid="29"/>
                                        </p:tgtEl>
                                      </p:cBhvr>
                                    </p:animEffect>
                                  </p:childTnLst>
                                </p:cTn>
                              </p:par>
                              <p:par>
                                <p:cTn id="94" presetID="14" presetClass="entr" presetSubtype="10" fill="hold" grpId="0" nodeType="with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randombar(horizontal)">
                                      <p:cBhvr>
                                        <p:cTn id="96" dur="500"/>
                                        <p:tgtEl>
                                          <p:spTgt spid="30"/>
                                        </p:tgtEl>
                                      </p:cBhvr>
                                    </p:animEffect>
                                  </p:childTnLst>
                                </p:cTn>
                              </p:par>
                              <p:par>
                                <p:cTn id="97" presetID="14" presetClass="entr" presetSubtype="10"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randombar(horizontal)">
                                      <p:cBhvr>
                                        <p:cTn id="99" dur="500"/>
                                        <p:tgtEl>
                                          <p:spTgt spid="31"/>
                                        </p:tgtEl>
                                      </p:cBhvr>
                                    </p:animEffect>
                                  </p:childTnLst>
                                </p:cTn>
                              </p:par>
                              <p:par>
                                <p:cTn id="100" presetID="14" presetClass="entr" presetSubtype="10" fill="hold" grpId="0" nodeType="with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randombar(horizontal)">
                                      <p:cBhvr>
                                        <p:cTn id="102" dur="500"/>
                                        <p:tgtEl>
                                          <p:spTgt spid="32"/>
                                        </p:tgtEl>
                                      </p:cBhvr>
                                    </p:animEffect>
                                  </p:childTnLst>
                                </p:cTn>
                              </p:par>
                              <p:par>
                                <p:cTn id="103" presetID="14" presetClass="entr" presetSubtype="10" fill="hold" grpId="0" nodeType="withEffect">
                                  <p:stCondLst>
                                    <p:cond delay="0"/>
                                  </p:stCondLst>
                                  <p:childTnLst>
                                    <p:set>
                                      <p:cBhvr>
                                        <p:cTn id="104" dur="1" fill="hold">
                                          <p:stCondLst>
                                            <p:cond delay="0"/>
                                          </p:stCondLst>
                                        </p:cTn>
                                        <p:tgtEl>
                                          <p:spTgt spid="33"/>
                                        </p:tgtEl>
                                        <p:attrNameLst>
                                          <p:attrName>style.visibility</p:attrName>
                                        </p:attrNameLst>
                                      </p:cBhvr>
                                      <p:to>
                                        <p:strVal val="visible"/>
                                      </p:to>
                                    </p:set>
                                    <p:animEffect transition="in" filter="randombar(horizontal)">
                                      <p:cBhvr>
                                        <p:cTn id="105" dur="500"/>
                                        <p:tgtEl>
                                          <p:spTgt spid="33"/>
                                        </p:tgtEl>
                                      </p:cBhvr>
                                    </p:animEffect>
                                  </p:childTnLst>
                                </p:cTn>
                              </p:par>
                              <p:par>
                                <p:cTn id="106" presetID="14" presetClass="entr" presetSubtype="10" fill="hold" grpId="0" nodeType="withEffect">
                                  <p:stCondLst>
                                    <p:cond delay="0"/>
                                  </p:stCondLst>
                                  <p:childTnLst>
                                    <p:set>
                                      <p:cBhvr>
                                        <p:cTn id="107" dur="1" fill="hold">
                                          <p:stCondLst>
                                            <p:cond delay="0"/>
                                          </p:stCondLst>
                                        </p:cTn>
                                        <p:tgtEl>
                                          <p:spTgt spid="34"/>
                                        </p:tgtEl>
                                        <p:attrNameLst>
                                          <p:attrName>style.visibility</p:attrName>
                                        </p:attrNameLst>
                                      </p:cBhvr>
                                      <p:to>
                                        <p:strVal val="visible"/>
                                      </p:to>
                                    </p:set>
                                    <p:animEffect transition="in" filter="randombar(horizontal)">
                                      <p:cBhvr>
                                        <p:cTn id="108" dur="500"/>
                                        <p:tgtEl>
                                          <p:spTgt spid="34"/>
                                        </p:tgtEl>
                                      </p:cBhvr>
                                    </p:animEffect>
                                  </p:childTnLst>
                                </p:cTn>
                              </p:par>
                              <p:par>
                                <p:cTn id="109" presetID="14" presetClass="entr" presetSubtype="10" fill="hold" grpId="0" nodeType="withEffect">
                                  <p:stCondLst>
                                    <p:cond delay="0"/>
                                  </p:stCondLst>
                                  <p:childTnLst>
                                    <p:set>
                                      <p:cBhvr>
                                        <p:cTn id="110" dur="1" fill="hold">
                                          <p:stCondLst>
                                            <p:cond delay="0"/>
                                          </p:stCondLst>
                                        </p:cTn>
                                        <p:tgtEl>
                                          <p:spTgt spid="35"/>
                                        </p:tgtEl>
                                        <p:attrNameLst>
                                          <p:attrName>style.visibility</p:attrName>
                                        </p:attrNameLst>
                                      </p:cBhvr>
                                      <p:to>
                                        <p:strVal val="visible"/>
                                      </p:to>
                                    </p:set>
                                    <p:animEffect transition="in" filter="randombar(horizontal)">
                                      <p:cBhvr>
                                        <p:cTn id="111"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p:bldP spid="14" grpId="0"/>
      <p:bldP spid="15" grpId="0"/>
      <p:bldP spid="16" grpId="0"/>
      <p:bldP spid="17" grpId="0"/>
      <p:bldP spid="18" grpId="0"/>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p:bldP spid="31" grpId="0"/>
      <p:bldP spid="32" grpId="0"/>
      <p:bldP spid="33" grpId="0"/>
      <p:bldP spid="34" grpId="0"/>
      <p:bldP spid="35" grpId="0"/>
      <p:bldP spid="3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D27843F-C8C8-4131-BFDC-E49DAECFC098}"/>
              </a:ext>
            </a:extLst>
          </p:cNvPr>
          <p:cNvSpPr/>
          <p:nvPr/>
        </p:nvSpPr>
        <p:spPr>
          <a:xfrm>
            <a:off x="3189250" y="451158"/>
            <a:ext cx="2765501" cy="646331"/>
          </a:xfrm>
          <a:prstGeom prst="rect">
            <a:avLst/>
          </a:prstGeom>
        </p:spPr>
        <p:txBody>
          <a:bodyPr wrap="none">
            <a:spAutoFit/>
          </a:bodyPr>
          <a:lstStyle/>
          <a:p>
            <a:r>
              <a:rPr lang="zh-CN" altLang="zh-CN" sz="3600" b="1" dirty="0">
                <a:latin typeface="微软雅黑" panose="020B0503020204020204" pitchFamily="34" charset="-122"/>
                <a:ea typeface="微软雅黑" panose="020B0503020204020204" pitchFamily="34" charset="-122"/>
                <a:cs typeface="+mj-cs"/>
              </a:rPr>
              <a:t>第一节  需求</a:t>
            </a:r>
            <a:endParaRPr lang="zh-CN" altLang="en-US" sz="3600" b="1" dirty="0">
              <a:latin typeface="微软雅黑" panose="020B0503020204020204" pitchFamily="34" charset="-122"/>
              <a:ea typeface="微软雅黑" panose="020B0503020204020204" pitchFamily="34" charset="-122"/>
              <a:cs typeface="+mj-cs"/>
            </a:endParaRPr>
          </a:p>
        </p:txBody>
      </p:sp>
      <p:sp>
        <p:nvSpPr>
          <p:cNvPr id="3" name="MH_Other_1">
            <a:extLst>
              <a:ext uri="{FF2B5EF4-FFF2-40B4-BE49-F238E27FC236}">
                <a16:creationId xmlns:a16="http://schemas.microsoft.com/office/drawing/2014/main" id="{E49827CC-25A7-41B2-867D-685134B4A529}"/>
              </a:ext>
            </a:extLst>
          </p:cNvPr>
          <p:cNvSpPr>
            <a:spLocks/>
          </p:cNvSpPr>
          <p:nvPr>
            <p:custDataLst>
              <p:tags r:id="rId1"/>
            </p:custDataLst>
          </p:nvPr>
        </p:nvSpPr>
        <p:spPr bwMode="gray">
          <a:xfrm>
            <a:off x="1831951" y="1906468"/>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2"/>
            </p:custDataLst>
          </p:nvPr>
        </p:nvSpPr>
        <p:spPr bwMode="gray">
          <a:xfrm>
            <a:off x="1763688" y="1604843"/>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5" name="MH_Other_2">
            <a:extLst>
              <a:ext uri="{FF2B5EF4-FFF2-40B4-BE49-F238E27FC236}">
                <a16:creationId xmlns:a16="http://schemas.microsoft.com/office/drawing/2014/main" id="{DB311A0E-78D0-4766-B201-6B5608EF753D}"/>
              </a:ext>
            </a:extLst>
          </p:cNvPr>
          <p:cNvSpPr>
            <a:spLocks/>
          </p:cNvSpPr>
          <p:nvPr>
            <p:custDataLst>
              <p:tags r:id="rId3"/>
            </p:custDataLst>
          </p:nvPr>
        </p:nvSpPr>
        <p:spPr bwMode="gray">
          <a:xfrm>
            <a:off x="1831951" y="2790705"/>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6" name="MH_SubTitle_2">
            <a:extLst>
              <a:ext uri="{FF2B5EF4-FFF2-40B4-BE49-F238E27FC236}">
                <a16:creationId xmlns:a16="http://schemas.microsoft.com/office/drawing/2014/main" id="{324FEB12-6B52-4D2F-B5C9-D9A603800236}"/>
              </a:ext>
            </a:extLst>
          </p:cNvPr>
          <p:cNvSpPr>
            <a:spLocks noChangeArrowheads="1"/>
          </p:cNvSpPr>
          <p:nvPr>
            <p:custDataLst>
              <p:tags r:id="rId4"/>
            </p:custDataLst>
          </p:nvPr>
        </p:nvSpPr>
        <p:spPr bwMode="gray">
          <a:xfrm>
            <a:off x="1763688" y="2489080"/>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7" name="MH_Other_3">
            <a:extLst>
              <a:ext uri="{FF2B5EF4-FFF2-40B4-BE49-F238E27FC236}">
                <a16:creationId xmlns:a16="http://schemas.microsoft.com/office/drawing/2014/main" id="{9F9167DD-6270-4A4E-9E47-20FB88C3F048}"/>
              </a:ext>
            </a:extLst>
          </p:cNvPr>
          <p:cNvSpPr>
            <a:spLocks/>
          </p:cNvSpPr>
          <p:nvPr>
            <p:custDataLst>
              <p:tags r:id="rId5"/>
            </p:custDataLst>
          </p:nvPr>
        </p:nvSpPr>
        <p:spPr bwMode="gray">
          <a:xfrm>
            <a:off x="1831951" y="3674943"/>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8" name="MH_SubTitle_3">
            <a:extLst>
              <a:ext uri="{FF2B5EF4-FFF2-40B4-BE49-F238E27FC236}">
                <a16:creationId xmlns:a16="http://schemas.microsoft.com/office/drawing/2014/main" id="{3FEC77B5-DB98-453D-BDBC-6598DEA48C49}"/>
              </a:ext>
            </a:extLst>
          </p:cNvPr>
          <p:cNvSpPr>
            <a:spLocks noChangeArrowheads="1"/>
          </p:cNvSpPr>
          <p:nvPr>
            <p:custDataLst>
              <p:tags r:id="rId6"/>
            </p:custDataLst>
          </p:nvPr>
        </p:nvSpPr>
        <p:spPr bwMode="gray">
          <a:xfrm>
            <a:off x="1763688" y="3373318"/>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9" name="MH_Other_4">
            <a:extLst>
              <a:ext uri="{FF2B5EF4-FFF2-40B4-BE49-F238E27FC236}">
                <a16:creationId xmlns:a16="http://schemas.microsoft.com/office/drawing/2014/main" id="{49EAC476-10C1-4DAF-AEAB-4D58FAA0C0DE}"/>
              </a:ext>
            </a:extLst>
          </p:cNvPr>
          <p:cNvSpPr>
            <a:spLocks/>
          </p:cNvSpPr>
          <p:nvPr>
            <p:custDataLst>
              <p:tags r:id="rId7"/>
            </p:custDataLst>
          </p:nvPr>
        </p:nvSpPr>
        <p:spPr bwMode="gray">
          <a:xfrm>
            <a:off x="1831951" y="4559180"/>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0" name="MH_SubTitle_4">
            <a:extLst>
              <a:ext uri="{FF2B5EF4-FFF2-40B4-BE49-F238E27FC236}">
                <a16:creationId xmlns:a16="http://schemas.microsoft.com/office/drawing/2014/main" id="{906C2589-D3EE-4ADE-A5EC-65B915A21062}"/>
              </a:ext>
            </a:extLst>
          </p:cNvPr>
          <p:cNvSpPr>
            <a:spLocks noChangeArrowheads="1"/>
          </p:cNvSpPr>
          <p:nvPr>
            <p:custDataLst>
              <p:tags r:id="rId8"/>
            </p:custDataLst>
          </p:nvPr>
        </p:nvSpPr>
        <p:spPr bwMode="gray">
          <a:xfrm>
            <a:off x="1763688" y="4259143"/>
            <a:ext cx="1158875" cy="354012"/>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四</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1" name="MH_Other_5">
            <a:extLst>
              <a:ext uri="{FF2B5EF4-FFF2-40B4-BE49-F238E27FC236}">
                <a16:creationId xmlns:a16="http://schemas.microsoft.com/office/drawing/2014/main" id="{25D06B7F-7DCD-4D03-A450-0AAC55A41525}"/>
              </a:ext>
            </a:extLst>
          </p:cNvPr>
          <p:cNvCxnSpPr>
            <a:stCxn id="4" idx="2"/>
            <a:endCxn id="6" idx="0"/>
          </p:cNvCxnSpPr>
          <p:nvPr>
            <p:custDataLst>
              <p:tags r:id="rId9"/>
            </p:custDataLst>
          </p:nvPr>
        </p:nvCxnSpPr>
        <p:spPr>
          <a:xfrm>
            <a:off x="2343126" y="1960443"/>
            <a:ext cx="0" cy="52863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2" name="MH_Other_6">
            <a:extLst>
              <a:ext uri="{FF2B5EF4-FFF2-40B4-BE49-F238E27FC236}">
                <a16:creationId xmlns:a16="http://schemas.microsoft.com/office/drawing/2014/main" id="{B30D78AD-B3DA-44A6-A5F6-F28D02655A40}"/>
              </a:ext>
            </a:extLst>
          </p:cNvPr>
          <p:cNvCxnSpPr>
            <a:stCxn id="6" idx="2"/>
            <a:endCxn id="8" idx="0"/>
          </p:cNvCxnSpPr>
          <p:nvPr>
            <p:custDataLst>
              <p:tags r:id="rId10"/>
            </p:custDataLst>
          </p:nvPr>
        </p:nvCxnSpPr>
        <p:spPr>
          <a:xfrm>
            <a:off x="2343126" y="2844680"/>
            <a:ext cx="0" cy="528638"/>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3" name="MH_Other_7">
            <a:extLst>
              <a:ext uri="{FF2B5EF4-FFF2-40B4-BE49-F238E27FC236}">
                <a16:creationId xmlns:a16="http://schemas.microsoft.com/office/drawing/2014/main" id="{DF653FE5-3B26-45B8-A03B-DDBD47BE3AA3}"/>
              </a:ext>
            </a:extLst>
          </p:cNvPr>
          <p:cNvCxnSpPr>
            <a:stCxn id="8" idx="2"/>
            <a:endCxn id="10" idx="0"/>
          </p:cNvCxnSpPr>
          <p:nvPr>
            <p:custDataLst>
              <p:tags r:id="rId11"/>
            </p:custDataLst>
          </p:nvPr>
        </p:nvCxnSpPr>
        <p:spPr>
          <a:xfrm>
            <a:off x="2343126" y="3728918"/>
            <a:ext cx="0" cy="530225"/>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4" name="MH_Other_8">
            <a:extLst>
              <a:ext uri="{FF2B5EF4-FFF2-40B4-BE49-F238E27FC236}">
                <a16:creationId xmlns:a16="http://schemas.microsoft.com/office/drawing/2014/main" id="{77A701BE-7972-41BF-905D-AEBB5D217CA4}"/>
              </a:ext>
            </a:extLst>
          </p:cNvPr>
          <p:cNvSpPr>
            <a:spLocks/>
          </p:cNvSpPr>
          <p:nvPr>
            <p:custDataLst>
              <p:tags r:id="rId12"/>
            </p:custDataLst>
          </p:nvPr>
        </p:nvSpPr>
        <p:spPr bwMode="gray">
          <a:xfrm>
            <a:off x="1831951" y="5416430"/>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5" name="MH_SubTitle_5">
            <a:extLst>
              <a:ext uri="{FF2B5EF4-FFF2-40B4-BE49-F238E27FC236}">
                <a16:creationId xmlns:a16="http://schemas.microsoft.com/office/drawing/2014/main" id="{75368CAB-27CD-4703-8972-304F98A68B85}"/>
              </a:ext>
            </a:extLst>
          </p:cNvPr>
          <p:cNvSpPr>
            <a:spLocks noChangeArrowheads="1"/>
          </p:cNvSpPr>
          <p:nvPr>
            <p:custDataLst>
              <p:tags r:id="rId13"/>
            </p:custDataLst>
          </p:nvPr>
        </p:nvSpPr>
        <p:spPr bwMode="gray">
          <a:xfrm>
            <a:off x="1763688" y="5114805"/>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五</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6" name="MH_Other_9">
            <a:extLst>
              <a:ext uri="{FF2B5EF4-FFF2-40B4-BE49-F238E27FC236}">
                <a16:creationId xmlns:a16="http://schemas.microsoft.com/office/drawing/2014/main" id="{F0DEA2FD-8402-4B14-A5DB-4DADFF8B4F5E}"/>
              </a:ext>
            </a:extLst>
          </p:cNvPr>
          <p:cNvCxnSpPr>
            <a:endCxn id="15" idx="0"/>
          </p:cNvCxnSpPr>
          <p:nvPr>
            <p:custDataLst>
              <p:tags r:id="rId14"/>
            </p:custDataLst>
          </p:nvPr>
        </p:nvCxnSpPr>
        <p:spPr>
          <a:xfrm>
            <a:off x="2343126" y="4586168"/>
            <a:ext cx="0" cy="52863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7" name="矩形 16">
            <a:extLst>
              <a:ext uri="{FF2B5EF4-FFF2-40B4-BE49-F238E27FC236}">
                <a16:creationId xmlns:a16="http://schemas.microsoft.com/office/drawing/2014/main" id="{66A93A4A-F736-4CF5-82B6-87D5F4B7E4E5}"/>
              </a:ext>
            </a:extLst>
          </p:cNvPr>
          <p:cNvSpPr/>
          <p:nvPr/>
        </p:nvSpPr>
        <p:spPr>
          <a:xfrm>
            <a:off x="3128963" y="1564570"/>
            <a:ext cx="1819729"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需求的概念</a:t>
            </a:r>
          </a:p>
        </p:txBody>
      </p:sp>
      <p:sp>
        <p:nvSpPr>
          <p:cNvPr id="18" name="矩形 17">
            <a:extLst>
              <a:ext uri="{FF2B5EF4-FFF2-40B4-BE49-F238E27FC236}">
                <a16:creationId xmlns:a16="http://schemas.microsoft.com/office/drawing/2014/main" id="{6BA99CA7-A4CC-4245-BA58-DB89FA49F037}"/>
              </a:ext>
            </a:extLst>
          </p:cNvPr>
          <p:cNvSpPr/>
          <p:nvPr/>
        </p:nvSpPr>
        <p:spPr>
          <a:xfrm>
            <a:off x="3125168" y="2461790"/>
            <a:ext cx="1492716"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需求规律</a:t>
            </a:r>
          </a:p>
        </p:txBody>
      </p:sp>
      <p:sp>
        <p:nvSpPr>
          <p:cNvPr id="19" name="矩形 18">
            <a:extLst>
              <a:ext uri="{FF2B5EF4-FFF2-40B4-BE49-F238E27FC236}">
                <a16:creationId xmlns:a16="http://schemas.microsoft.com/office/drawing/2014/main" id="{018105B0-EC74-4F50-9B33-7F18FF6C04E7}"/>
              </a:ext>
            </a:extLst>
          </p:cNvPr>
          <p:cNvSpPr/>
          <p:nvPr/>
        </p:nvSpPr>
        <p:spPr>
          <a:xfrm>
            <a:off x="3125168" y="3359010"/>
            <a:ext cx="3454792"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影响需求量的其他因素</a:t>
            </a:r>
          </a:p>
        </p:txBody>
      </p:sp>
      <p:sp>
        <p:nvSpPr>
          <p:cNvPr id="20" name="矩形 19">
            <a:extLst>
              <a:ext uri="{FF2B5EF4-FFF2-40B4-BE49-F238E27FC236}">
                <a16:creationId xmlns:a16="http://schemas.microsoft.com/office/drawing/2014/main" id="{E52AEF20-C2D6-4C68-8E54-0EF930AB28A2}"/>
              </a:ext>
            </a:extLst>
          </p:cNvPr>
          <p:cNvSpPr/>
          <p:nvPr/>
        </p:nvSpPr>
        <p:spPr>
          <a:xfrm>
            <a:off x="3125168" y="4205316"/>
            <a:ext cx="4108817" cy="461665"/>
          </a:xfrm>
          <a:prstGeom prst="rect">
            <a:avLst/>
          </a:prstGeom>
        </p:spPr>
        <p:txBody>
          <a:bodyPr wrap="none">
            <a:spAutoFit/>
          </a:bodyPr>
          <a:lstStyle/>
          <a:p>
            <a:pPr>
              <a:buFontTx/>
              <a:buNone/>
            </a:pPr>
            <a:r>
              <a:rPr lang="zh-CN" altLang="en-US" sz="2400" spc="150" dirty="0">
                <a:latin typeface="微软雅黑" panose="020B0503020204020204" pitchFamily="34" charset="-122"/>
                <a:ea typeface="微软雅黑" panose="020B0503020204020204" pitchFamily="34" charset="-122"/>
              </a:rPr>
              <a:t>需求量的变动和需求的变动</a:t>
            </a:r>
          </a:p>
        </p:txBody>
      </p:sp>
      <p:sp>
        <p:nvSpPr>
          <p:cNvPr id="21" name="矩形 20">
            <a:extLst>
              <a:ext uri="{FF2B5EF4-FFF2-40B4-BE49-F238E27FC236}">
                <a16:creationId xmlns:a16="http://schemas.microsoft.com/office/drawing/2014/main" id="{CA3460CE-2B2D-4AE6-AFC4-443A013EDC9B}"/>
              </a:ext>
            </a:extLst>
          </p:cNvPr>
          <p:cNvSpPr/>
          <p:nvPr/>
        </p:nvSpPr>
        <p:spPr>
          <a:xfrm>
            <a:off x="3125168" y="5114685"/>
            <a:ext cx="4762842" cy="461665"/>
          </a:xfrm>
          <a:prstGeom prst="rect">
            <a:avLst/>
          </a:prstGeom>
        </p:spPr>
        <p:txBody>
          <a:bodyPr wrap="none">
            <a:spAutoFit/>
          </a:bodyPr>
          <a:lstStyle/>
          <a:p>
            <a:pPr>
              <a:buFontTx/>
              <a:buNone/>
            </a:pPr>
            <a:r>
              <a:rPr lang="zh-CN" altLang="en-US" sz="2400" spc="150" dirty="0">
                <a:latin typeface="微软雅黑" panose="020B0503020204020204" pitchFamily="34" charset="-122"/>
                <a:ea typeface="微软雅黑" panose="020B0503020204020204" pitchFamily="34" charset="-122"/>
              </a:rPr>
              <a:t>从单个消费者的需求到市场需求</a:t>
            </a:r>
            <a:endParaRPr lang="en-US" altLang="zh-CN" sz="2400" spc="15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05795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8" dur="500"/>
                                        <p:tgtEl>
                                          <p:spTgt spid="17"/>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up)">
                                      <p:cBhvr>
                                        <p:cTn id="30" dur="500"/>
                                        <p:tgtEl>
                                          <p:spTgt spid="6"/>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left)">
                                      <p:cBhvr>
                                        <p:cTn id="33" dur="500"/>
                                        <p:tgtEl>
                                          <p:spTgt spid="18"/>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up)">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up)">
                                      <p:cBhvr>
                                        <p:cTn id="42" dur="500"/>
                                        <p:tgtEl>
                                          <p:spTgt spid="7"/>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up)">
                                      <p:cBhvr>
                                        <p:cTn id="45" dur="500"/>
                                        <p:tgtEl>
                                          <p:spTgt spid="8"/>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500"/>
                                        <p:tgtEl>
                                          <p:spTgt spid="19"/>
                                        </p:tgtEl>
                                      </p:cBhvr>
                                    </p:animEffect>
                                  </p:childTnLst>
                                </p:cTn>
                              </p:par>
                            </p:childTnLst>
                          </p:cTn>
                        </p:par>
                        <p:par>
                          <p:cTn id="49" fill="hold">
                            <p:stCondLst>
                              <p:cond delay="500"/>
                            </p:stCondLst>
                            <p:childTnLst>
                              <p:par>
                                <p:cTn id="50" presetID="22" presetClass="entr" presetSubtype="1" fill="hold" nodeType="after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up)">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up)">
                                      <p:cBhvr>
                                        <p:cTn id="57" dur="500"/>
                                        <p:tgtEl>
                                          <p:spTgt spid="9"/>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wipe(up)">
                                      <p:cBhvr>
                                        <p:cTn id="60" dur="500"/>
                                        <p:tgtEl>
                                          <p:spTgt spid="10"/>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wipe(left)">
                                      <p:cBhvr>
                                        <p:cTn id="63" dur="500"/>
                                        <p:tgtEl>
                                          <p:spTgt spid="20"/>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wipe(up)">
                                      <p:cBhvr>
                                        <p:cTn id="68" dur="500"/>
                                        <p:tgtEl>
                                          <p:spTgt spid="16"/>
                                        </p:tgtEl>
                                      </p:cBhvr>
                                    </p:animEffect>
                                  </p:childTnLst>
                                </p:cTn>
                              </p:par>
                              <p:par>
                                <p:cTn id="69" presetID="22" presetClass="entr" presetSubtype="1"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wipe(up)">
                                      <p:cBhvr>
                                        <p:cTn id="71" dur="500"/>
                                        <p:tgtEl>
                                          <p:spTgt spid="14"/>
                                        </p:tgtEl>
                                      </p:cBhvr>
                                    </p:animEffect>
                                  </p:childTnLst>
                                </p:cTn>
                              </p:par>
                              <p:par>
                                <p:cTn id="72" presetID="22" presetClass="entr" presetSubtype="1" fill="hold" grpId="0" nodeType="with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wipe(up)">
                                      <p:cBhvr>
                                        <p:cTn id="74" dur="500"/>
                                        <p:tgtEl>
                                          <p:spTgt spid="15"/>
                                        </p:tgtEl>
                                      </p:cBhvr>
                                    </p:animEffect>
                                  </p:childTnLst>
                                </p:cTn>
                              </p:par>
                            </p:childTnLst>
                          </p:cTn>
                        </p:par>
                        <p:par>
                          <p:cTn id="75" fill="hold">
                            <p:stCondLst>
                              <p:cond delay="500"/>
                            </p:stCondLst>
                            <p:childTnLst>
                              <p:par>
                                <p:cTn id="76" presetID="22" presetClass="entr" presetSubtype="8"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wipe(left)">
                                      <p:cBhvr>
                                        <p:cTn id="7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P spid="8" grpId="0" animBg="1"/>
      <p:bldP spid="9" grpId="0" animBg="1"/>
      <p:bldP spid="10" grpId="0" animBg="1"/>
      <p:bldP spid="14" grpId="0" animBg="1"/>
      <p:bldP spid="15" grpId="0" animBg="1"/>
      <p:bldP spid="17" grpId="0"/>
      <p:bldP spid="18" grpId="0"/>
      <p:bldP spid="19" grpId="0"/>
      <p:bldP spid="20"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26CC98E5-B2B8-4C3B-B94F-E7BEACD62A0A}"/>
              </a:ext>
            </a:extLst>
          </p:cNvPr>
          <p:cNvGrpSpPr/>
          <p:nvPr/>
        </p:nvGrpSpPr>
        <p:grpSpPr>
          <a:xfrm>
            <a:off x="467544" y="1268760"/>
            <a:ext cx="8192278" cy="1306490"/>
            <a:chOff x="467544" y="1268760"/>
            <a:chExt cx="8192278" cy="1306490"/>
          </a:xfrm>
        </p:grpSpPr>
        <p:sp>
          <p:nvSpPr>
            <p:cNvPr id="23" name="矩形 22">
              <a:extLst>
                <a:ext uri="{FF2B5EF4-FFF2-40B4-BE49-F238E27FC236}">
                  <a16:creationId xmlns:a16="http://schemas.microsoft.com/office/drawing/2014/main" id="{92D01AA6-4D0E-4603-BAB9-D99E90DEC435}"/>
                </a:ext>
              </a:extLst>
            </p:cNvPr>
            <p:cNvSpPr/>
            <p:nvPr/>
          </p:nvSpPr>
          <p:spPr>
            <a:xfrm>
              <a:off x="467544" y="1268760"/>
              <a:ext cx="8192278" cy="130649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7113FB8C-1FA4-44D4-BC31-6C2C4056C077}"/>
                </a:ext>
              </a:extLst>
            </p:cNvPr>
            <p:cNvSpPr/>
            <p:nvPr/>
          </p:nvSpPr>
          <p:spPr>
            <a:xfrm>
              <a:off x="538031" y="1342300"/>
              <a:ext cx="8051305" cy="115941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矩形 9">
            <a:extLst>
              <a:ext uri="{FF2B5EF4-FFF2-40B4-BE49-F238E27FC236}">
                <a16:creationId xmlns:a16="http://schemas.microsoft.com/office/drawing/2014/main" id="{D230191B-D751-4BE7-8407-E83F26D8845E}"/>
              </a:ext>
            </a:extLst>
          </p:cNvPr>
          <p:cNvSpPr/>
          <p:nvPr/>
        </p:nvSpPr>
        <p:spPr>
          <a:xfrm>
            <a:off x="1181944" y="1920484"/>
            <a:ext cx="7128792" cy="369332"/>
          </a:xfrm>
          <a:prstGeom prst="rect">
            <a:avLst/>
          </a:prstGeom>
        </p:spPr>
        <p:txBody>
          <a:bodyPr wrap="square">
            <a:spAutoFit/>
          </a:bodyPr>
          <a:lstStyle/>
          <a:p>
            <a:pPr marL="285750" indent="-285750" defTabSz="914400" eaLnBrk="0" fontAlgn="base" hangingPunct="0">
              <a:spcBef>
                <a:spcPct val="0"/>
              </a:spcBef>
              <a:spcAft>
                <a:spcPct val="0"/>
              </a:spcAft>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需求</a:t>
            </a:r>
            <a:r>
              <a:rPr lang="en-US" altLang="zh-CN" spc="150" dirty="0">
                <a:solidFill>
                  <a:srgbClr val="000000"/>
                </a:solidFill>
                <a:latin typeface="微软雅黑" panose="020B0503020204020204" pitchFamily="34" charset="-122"/>
                <a:ea typeface="微软雅黑" panose="020B0503020204020204" pitchFamily="34" charset="-122"/>
              </a:rPr>
              <a:t>——</a:t>
            </a:r>
            <a:r>
              <a:rPr lang="zh-CN" altLang="en-US" spc="150" dirty="0">
                <a:solidFill>
                  <a:srgbClr val="000000"/>
                </a:solidFill>
                <a:latin typeface="微软雅黑" panose="020B0503020204020204" pitchFamily="34" charset="-122"/>
                <a:ea typeface="微软雅黑" panose="020B0503020204020204" pitchFamily="34" charset="-122"/>
              </a:rPr>
              <a:t>特定价格下消费者愿意并且能够购买的商品数量</a:t>
            </a:r>
            <a:endParaRPr lang="zh-CN" altLang="en-US" dirty="0">
              <a:solidFill>
                <a:srgbClr val="000000"/>
              </a:solidFill>
              <a:latin typeface="微软雅黑" panose="020B0503020204020204" pitchFamily="34" charset="-122"/>
              <a:ea typeface="宋体" panose="02010600030101010101" pitchFamily="2" charset="-122"/>
            </a:endParaRPr>
          </a:p>
        </p:txBody>
      </p:sp>
      <p:sp>
        <p:nvSpPr>
          <p:cNvPr id="11" name="矩形 10">
            <a:extLst>
              <a:ext uri="{FF2B5EF4-FFF2-40B4-BE49-F238E27FC236}">
                <a16:creationId xmlns:a16="http://schemas.microsoft.com/office/drawing/2014/main" id="{F68E5273-CD77-47B9-B841-9D29349C133D}"/>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defTabSz="914400" fontAlgn="base">
              <a:spcBef>
                <a:spcPct val="0"/>
              </a:spcBef>
              <a:spcAft>
                <a:spcPct val="0"/>
              </a:spcAft>
              <a:defRPr/>
            </a:pPr>
            <a:r>
              <a:rPr lang="zh-CN" altLang="en-US" sz="2400" b="1" spc="150" dirty="0">
                <a:solidFill>
                  <a:srgbClr val="FFFFFF"/>
                </a:solidFill>
                <a:latin typeface="微软雅黑" panose="020B0503020204020204" pitchFamily="34" charset="-122"/>
                <a:ea typeface="微软雅黑" panose="020B0503020204020204" pitchFamily="34" charset="-122"/>
              </a:rPr>
              <a:t>一、需求的概念</a:t>
            </a:r>
          </a:p>
        </p:txBody>
      </p:sp>
      <p:sp>
        <p:nvSpPr>
          <p:cNvPr id="12" name="矩形 11">
            <a:extLst>
              <a:ext uri="{FF2B5EF4-FFF2-40B4-BE49-F238E27FC236}">
                <a16:creationId xmlns:a16="http://schemas.microsoft.com/office/drawing/2014/main" id="{49C733EB-F3D1-4EC8-8D19-B58AE2477326}"/>
              </a:ext>
            </a:extLst>
          </p:cNvPr>
          <p:cNvSpPr/>
          <p:nvPr/>
        </p:nvSpPr>
        <p:spPr>
          <a:xfrm>
            <a:off x="1181944" y="1520270"/>
            <a:ext cx="1685077" cy="369332"/>
          </a:xfrm>
          <a:prstGeom prst="rect">
            <a:avLst/>
          </a:prstGeom>
        </p:spPr>
        <p:txBody>
          <a:bodyPr wrap="none">
            <a:spAutoFit/>
          </a:bodyPr>
          <a:lstStyle/>
          <a:p>
            <a:pPr defTabSz="914400" fontAlgn="base">
              <a:spcBef>
                <a:spcPct val="0"/>
              </a:spcBef>
              <a:spcAft>
                <a:spcPct val="0"/>
              </a:spcAft>
            </a:pPr>
            <a:r>
              <a:rPr lang="zh-CN" altLang="en-US" spc="150" dirty="0">
                <a:solidFill>
                  <a:srgbClr val="000000"/>
                </a:solidFill>
                <a:latin typeface="微软雅黑" panose="020B0503020204020204" pitchFamily="34" charset="-122"/>
                <a:ea typeface="微软雅黑" panose="020B0503020204020204" pitchFamily="34" charset="-122"/>
              </a:rPr>
              <a:t>什么是需求？</a:t>
            </a:r>
            <a:endParaRPr lang="en-US" altLang="zh-CN" spc="150" dirty="0">
              <a:solidFill>
                <a:srgbClr val="000000"/>
              </a:solidFill>
              <a:latin typeface="微软雅黑" panose="020B0503020204020204" pitchFamily="34" charset="-122"/>
              <a:ea typeface="微软雅黑" panose="020B0503020204020204" pitchFamily="34" charset="-122"/>
            </a:endParaRPr>
          </a:p>
        </p:txBody>
      </p:sp>
      <p:pic>
        <p:nvPicPr>
          <p:cNvPr id="13" name="图片 12">
            <a:extLst>
              <a:ext uri="{FF2B5EF4-FFF2-40B4-BE49-F238E27FC236}">
                <a16:creationId xmlns:a16="http://schemas.microsoft.com/office/drawing/2014/main" id="{910856D5-C79D-4924-8E1B-F628F801C8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1904" y="1441158"/>
            <a:ext cx="448444" cy="448444"/>
          </a:xfrm>
          <a:prstGeom prst="rect">
            <a:avLst/>
          </a:prstGeom>
          <a:effectLst>
            <a:innerShdw blurRad="114300">
              <a:prstClr val="black"/>
            </a:innerShdw>
          </a:effectLst>
        </p:spPr>
      </p:pic>
      <p:sp>
        <p:nvSpPr>
          <p:cNvPr id="14" name="矩形 13">
            <a:extLst>
              <a:ext uri="{FF2B5EF4-FFF2-40B4-BE49-F238E27FC236}">
                <a16:creationId xmlns:a16="http://schemas.microsoft.com/office/drawing/2014/main" id="{70C10CEA-106F-4024-A651-A61CA87A6390}"/>
              </a:ext>
            </a:extLst>
          </p:cNvPr>
          <p:cNvSpPr/>
          <p:nvPr/>
        </p:nvSpPr>
        <p:spPr>
          <a:xfrm>
            <a:off x="2569154" y="2982502"/>
            <a:ext cx="3413703" cy="369332"/>
          </a:xfrm>
          <a:prstGeom prst="rect">
            <a:avLst/>
          </a:prstGeom>
          <a:solidFill>
            <a:srgbClr val="BB1528"/>
          </a:solidFill>
        </p:spPr>
        <p:txBody>
          <a:bodyPr wrap="square">
            <a:spAutoFit/>
          </a:bodyPr>
          <a:lstStyle/>
          <a:p>
            <a:pPr algn="ctr" defTabSz="914400" fontAlgn="base">
              <a:spcBef>
                <a:spcPct val="0"/>
              </a:spcBef>
              <a:spcAft>
                <a:spcPct val="0"/>
              </a:spcAft>
            </a:pPr>
            <a:r>
              <a:rPr lang="zh-CN" altLang="en-US" spc="150" dirty="0">
                <a:solidFill>
                  <a:srgbClr val="FFFFFF"/>
                </a:solidFill>
                <a:latin typeface="微软雅黑" panose="020B0503020204020204" pitchFamily="34" charset="-122"/>
                <a:ea typeface="微软雅黑" panose="020B0503020204020204" pitchFamily="34" charset="-122"/>
              </a:rPr>
              <a:t>经济学中需求定义的两个要素</a:t>
            </a:r>
            <a:endParaRPr lang="en-US" altLang="zh-CN" spc="150" dirty="0">
              <a:solidFill>
                <a:srgbClr val="FFFFFF"/>
              </a:solidFill>
              <a:latin typeface="微软雅黑" panose="020B0503020204020204" pitchFamily="34" charset="-122"/>
              <a:ea typeface="微软雅黑" panose="020B0503020204020204" pitchFamily="34" charset="-122"/>
            </a:endParaRPr>
          </a:p>
        </p:txBody>
      </p:sp>
      <p:sp>
        <p:nvSpPr>
          <p:cNvPr id="16" name="左大括号 15">
            <a:extLst>
              <a:ext uri="{FF2B5EF4-FFF2-40B4-BE49-F238E27FC236}">
                <a16:creationId xmlns:a16="http://schemas.microsoft.com/office/drawing/2014/main" id="{68964485-A070-4596-8132-03093633FA50}"/>
              </a:ext>
            </a:extLst>
          </p:cNvPr>
          <p:cNvSpPr/>
          <p:nvPr/>
        </p:nvSpPr>
        <p:spPr>
          <a:xfrm rot="5400000">
            <a:off x="4173080" y="783079"/>
            <a:ext cx="369332" cy="5728996"/>
          </a:xfrm>
          <a:prstGeom prst="leftBrac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A67A3612-DEB5-489E-B44D-41E7784352B5}"/>
              </a:ext>
            </a:extLst>
          </p:cNvPr>
          <p:cNvSpPr/>
          <p:nvPr/>
        </p:nvSpPr>
        <p:spPr>
          <a:xfrm>
            <a:off x="165506" y="3953334"/>
            <a:ext cx="3686414" cy="369332"/>
          </a:xfrm>
          <a:prstGeom prst="rect">
            <a:avLst/>
          </a:prstGeom>
          <a:noFill/>
        </p:spPr>
        <p:txBody>
          <a:bodyPr wrap="square">
            <a:spAutoFit/>
          </a:bodyPr>
          <a:lstStyle/>
          <a:p>
            <a:pPr>
              <a:spcBef>
                <a:spcPct val="0"/>
              </a:spcBef>
            </a:pPr>
            <a:r>
              <a:rPr lang="zh-CN" altLang="en-US" spc="150" dirty="0">
                <a:latin typeface="微软雅黑" panose="020B0503020204020204" pitchFamily="34" charset="-122"/>
                <a:ea typeface="微软雅黑" panose="020B0503020204020204" pitchFamily="34" charset="-122"/>
              </a:rPr>
              <a:t>有需要</a:t>
            </a:r>
            <a:r>
              <a:rPr lang="en-US" altLang="zh-CN" spc="150" dirty="0">
                <a:latin typeface="微软雅黑" panose="020B0503020204020204" pitchFamily="34" charset="-122"/>
                <a:ea typeface="微软雅黑" panose="020B0503020204020204" pitchFamily="34" charset="-122"/>
              </a:rPr>
              <a:t>——</a:t>
            </a:r>
            <a:r>
              <a:rPr lang="zh-CN" altLang="en-US" spc="150" dirty="0">
                <a:latin typeface="微软雅黑" panose="020B0503020204020204" pitchFamily="34" charset="-122"/>
                <a:ea typeface="微软雅黑" panose="020B0503020204020204" pitchFamily="34" charset="-122"/>
              </a:rPr>
              <a:t>如果有钱就会购买</a:t>
            </a:r>
            <a:endParaRPr lang="en-US" altLang="zh-CN" spc="150" dirty="0">
              <a:latin typeface="微软雅黑" panose="020B0503020204020204" pitchFamily="34" charset="-122"/>
              <a:ea typeface="微软雅黑" panose="020B0503020204020204" pitchFamily="34" charset="-122"/>
            </a:endParaRPr>
          </a:p>
        </p:txBody>
      </p:sp>
      <p:sp>
        <p:nvSpPr>
          <p:cNvPr id="18" name="矩形 17">
            <a:extLst>
              <a:ext uri="{FF2B5EF4-FFF2-40B4-BE49-F238E27FC236}">
                <a16:creationId xmlns:a16="http://schemas.microsoft.com/office/drawing/2014/main" id="{30EB7D63-D003-49CC-AB97-2B036080794D}"/>
              </a:ext>
            </a:extLst>
          </p:cNvPr>
          <p:cNvSpPr/>
          <p:nvPr/>
        </p:nvSpPr>
        <p:spPr>
          <a:xfrm>
            <a:off x="5004329" y="3926147"/>
            <a:ext cx="3974165" cy="369332"/>
          </a:xfrm>
          <a:prstGeom prst="rect">
            <a:avLst/>
          </a:prstGeom>
          <a:noFill/>
        </p:spPr>
        <p:txBody>
          <a:bodyPr wrap="square">
            <a:spAutoFit/>
          </a:bodyPr>
          <a:lstStyle/>
          <a:p>
            <a:pPr>
              <a:spcBef>
                <a:spcPct val="0"/>
              </a:spcBef>
            </a:pPr>
            <a:r>
              <a:rPr lang="zh-CN" altLang="en-US" spc="150" dirty="0">
                <a:latin typeface="微软雅黑" panose="020B0503020204020204" pitchFamily="34" charset="-122"/>
                <a:ea typeface="微软雅黑" panose="020B0503020204020204" pitchFamily="34" charset="-122"/>
              </a:rPr>
              <a:t>有购买能力</a:t>
            </a:r>
            <a:r>
              <a:rPr lang="en-US" altLang="zh-CN" spc="150" dirty="0">
                <a:latin typeface="微软雅黑" panose="020B0503020204020204" pitchFamily="34" charset="-122"/>
                <a:ea typeface="微软雅黑" panose="020B0503020204020204" pitchFamily="34" charset="-122"/>
              </a:rPr>
              <a:t>——</a:t>
            </a:r>
            <a:r>
              <a:rPr lang="zh-CN" altLang="en-US" spc="150" dirty="0">
                <a:latin typeface="微软雅黑" panose="020B0503020204020204" pitchFamily="34" charset="-122"/>
                <a:ea typeface="微软雅黑" panose="020B0503020204020204" pitchFamily="34" charset="-122"/>
              </a:rPr>
              <a:t>如果需要就去购买</a:t>
            </a:r>
          </a:p>
        </p:txBody>
      </p:sp>
      <p:sp>
        <p:nvSpPr>
          <p:cNvPr id="19" name="左大括号 18">
            <a:extLst>
              <a:ext uri="{FF2B5EF4-FFF2-40B4-BE49-F238E27FC236}">
                <a16:creationId xmlns:a16="http://schemas.microsoft.com/office/drawing/2014/main" id="{63EDA47D-7414-4429-A982-A2AAE835798D}"/>
              </a:ext>
            </a:extLst>
          </p:cNvPr>
          <p:cNvSpPr/>
          <p:nvPr/>
        </p:nvSpPr>
        <p:spPr>
          <a:xfrm rot="16200000" flipV="1">
            <a:off x="4249053" y="1943228"/>
            <a:ext cx="369332" cy="5728996"/>
          </a:xfrm>
          <a:prstGeom prst="leftBrac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9D0436A9-22D6-4209-9B25-FD8F6871F2B4}"/>
              </a:ext>
            </a:extLst>
          </p:cNvPr>
          <p:cNvSpPr/>
          <p:nvPr/>
        </p:nvSpPr>
        <p:spPr>
          <a:xfrm>
            <a:off x="2206390" y="5219908"/>
            <a:ext cx="5173922" cy="369332"/>
          </a:xfrm>
          <a:prstGeom prst="rect">
            <a:avLst/>
          </a:prstGeom>
          <a:noFill/>
        </p:spPr>
        <p:txBody>
          <a:bodyPr wrap="square">
            <a:spAutoFit/>
          </a:bodyPr>
          <a:lstStyle/>
          <a:p>
            <a:pPr>
              <a:spcBef>
                <a:spcPct val="0"/>
              </a:spcBef>
            </a:pPr>
            <a:r>
              <a:rPr lang="zh-CN" altLang="en-US" spc="150" dirty="0">
                <a:latin typeface="微软雅黑" panose="020B0503020204020204" pitchFamily="34" charset="-122"/>
                <a:ea typeface="微软雅黑" panose="020B0503020204020204" pitchFamily="34" charset="-122"/>
              </a:rPr>
              <a:t>需求</a:t>
            </a:r>
            <a:r>
              <a:rPr lang="en-US" altLang="zh-CN" spc="15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pc="150" dirty="0">
                <a:latin typeface="微软雅黑" panose="020B0503020204020204" pitchFamily="34" charset="-122"/>
                <a:ea typeface="微软雅黑" panose="020B0503020204020204" pitchFamily="34" charset="-122"/>
                <a:sym typeface="Wingdings" panose="05000000000000000000" pitchFamily="2" charset="2"/>
              </a:rPr>
              <a:t>实际的购买（如果供给能够满足）</a:t>
            </a:r>
            <a:endParaRPr lang="zh-CN" altLang="en-US" spc="150" dirty="0">
              <a:latin typeface="微软雅黑" panose="020B0503020204020204" pitchFamily="34" charset="-122"/>
              <a:ea typeface="微软雅黑" panose="020B0503020204020204" pitchFamily="34" charset="-122"/>
            </a:endParaRPr>
          </a:p>
        </p:txBody>
      </p:sp>
      <p:sp>
        <p:nvSpPr>
          <p:cNvPr id="24" name="矩形 23">
            <a:extLst>
              <a:ext uri="{FF2B5EF4-FFF2-40B4-BE49-F238E27FC236}">
                <a16:creationId xmlns:a16="http://schemas.microsoft.com/office/drawing/2014/main" id="{99A861F3-1BF5-4FA4-A7CE-A93F6E99B7C4}"/>
              </a:ext>
            </a:extLst>
          </p:cNvPr>
          <p:cNvSpPr/>
          <p:nvPr/>
        </p:nvSpPr>
        <p:spPr>
          <a:xfrm>
            <a:off x="7532661"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需求 </a:t>
            </a:r>
          </a:p>
        </p:txBody>
      </p:sp>
    </p:spTree>
    <p:extLst>
      <p:ext uri="{BB962C8B-B14F-4D97-AF65-F5344CB8AC3E}">
        <p14:creationId xmlns:p14="http://schemas.microsoft.com/office/powerpoint/2010/main" val="2388635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randombar(horizontal)">
                                      <p:cBhvr>
                                        <p:cTn id="12" dur="500"/>
                                        <p:tgtEl>
                                          <p:spTgt spid="25"/>
                                        </p:tgtEl>
                                      </p:cBhvr>
                                    </p:animEffect>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animEffect transition="in" filter="fade">
                                      <p:cBhvr>
                                        <p:cTn id="18" dur="500"/>
                                        <p:tgtEl>
                                          <p:spTgt spid="13"/>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
                                          </p:val>
                                        </p:tav>
                                        <p:tav tm="100000">
                                          <p:val>
                                            <p:strVal val="#ppt_w"/>
                                          </p:val>
                                        </p:tav>
                                      </p:tavLst>
                                    </p:anim>
                                    <p:anim calcmode="lin" valueType="num">
                                      <p:cBhvr>
                                        <p:cTn id="32" dur="500" fill="hold"/>
                                        <p:tgtEl>
                                          <p:spTgt spid="14"/>
                                        </p:tgtEl>
                                        <p:attrNameLst>
                                          <p:attrName>ppt_h</p:attrName>
                                        </p:attrNameLst>
                                      </p:cBhvr>
                                      <p:tavLst>
                                        <p:tav tm="0">
                                          <p:val>
                                            <p:fltVal val="0"/>
                                          </p:val>
                                        </p:tav>
                                        <p:tav tm="100000">
                                          <p:val>
                                            <p:strVal val="#ppt_h"/>
                                          </p:val>
                                        </p:tav>
                                      </p:tavLst>
                                    </p:anim>
                                    <p:animEffect transition="in" filter="fade">
                                      <p:cBhvr>
                                        <p:cTn id="33" dur="500"/>
                                        <p:tgtEl>
                                          <p:spTgt spid="14"/>
                                        </p:tgtEl>
                                      </p:cBhvr>
                                    </p:animEffect>
                                  </p:childTnLst>
                                </p:cTn>
                              </p:par>
                            </p:childTnLst>
                          </p:cTn>
                        </p:par>
                        <p:par>
                          <p:cTn id="34" fill="hold">
                            <p:stCondLst>
                              <p:cond delay="500"/>
                            </p:stCondLst>
                            <p:childTnLst>
                              <p:par>
                                <p:cTn id="35" presetID="22" presetClass="entr" presetSubtype="1"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up)">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left)">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left)">
                                      <p:cBhvr>
                                        <p:cTn id="47" dur="500"/>
                                        <p:tgtEl>
                                          <p:spTgt spid="18"/>
                                        </p:tgtEl>
                                      </p:cBhvr>
                                    </p:animEffect>
                                  </p:childTnLst>
                                </p:cTn>
                              </p:par>
                            </p:childTnLst>
                          </p:cTn>
                        </p:par>
                        <p:par>
                          <p:cTn id="48" fill="hold">
                            <p:stCondLst>
                              <p:cond delay="500"/>
                            </p:stCondLst>
                            <p:childTnLst>
                              <p:par>
                                <p:cTn id="49" presetID="22" presetClass="entr" presetSubtype="1"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ipe(up)">
                                      <p:cBhvr>
                                        <p:cTn id="51" dur="500"/>
                                        <p:tgtEl>
                                          <p:spTgt spid="19"/>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wipe(left)">
                                      <p:cBhvr>
                                        <p:cTn id="5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p:bldP spid="14" grpId="0" animBg="1"/>
      <p:bldP spid="16" grpId="0" animBg="1"/>
      <p:bldP spid="17" grpId="0"/>
      <p:bldP spid="18" grpId="0"/>
      <p:bldP spid="19" grpId="0" animBg="1"/>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 name="表格 30">
            <a:extLst>
              <a:ext uri="{FF2B5EF4-FFF2-40B4-BE49-F238E27FC236}">
                <a16:creationId xmlns:a16="http://schemas.microsoft.com/office/drawing/2014/main" id="{DB26C36A-0B38-4D22-A609-4FCF811F71A3}"/>
              </a:ext>
            </a:extLst>
          </p:cNvPr>
          <p:cNvGraphicFramePr>
            <a:graphicFrameLocks noGrp="1"/>
          </p:cNvGraphicFramePr>
          <p:nvPr/>
        </p:nvGraphicFramePr>
        <p:xfrm>
          <a:off x="2400951" y="4179116"/>
          <a:ext cx="6096000" cy="1112520"/>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1713122075"/>
                    </a:ext>
                  </a:extLst>
                </a:gridCol>
                <a:gridCol w="3048000">
                  <a:extLst>
                    <a:ext uri="{9D8B030D-6E8A-4147-A177-3AD203B41FA5}">
                      <a16:colId xmlns:a16="http://schemas.microsoft.com/office/drawing/2014/main" val="130208231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200" spc="150" dirty="0">
                          <a:solidFill>
                            <a:srgbClr val="000000"/>
                          </a:solidFill>
                          <a:latin typeface="微软雅黑" panose="020B0503020204020204" pitchFamily="34" charset="-122"/>
                          <a:ea typeface="微软雅黑" panose="020B0503020204020204" pitchFamily="34" charset="-122"/>
                          <a:cs typeface="+mn-cs"/>
                        </a:rPr>
                        <a:t>想要</a:t>
                      </a:r>
                      <a:endParaRPr lang="en-US" altLang="zh-CN" sz="1800" kern="1200" spc="150" dirty="0">
                        <a:solidFill>
                          <a:srgbClr val="000000"/>
                        </a:solidFill>
                        <a:latin typeface="微软雅黑" panose="020B0503020204020204" pitchFamily="34" charset="-122"/>
                        <a:ea typeface="微软雅黑" panose="020B0503020204020204" pitchFamily="34" charset="-122"/>
                        <a:cs typeface="+mn-cs"/>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kern="1200" spc="150" dirty="0">
                          <a:solidFill>
                            <a:srgbClr val="000000"/>
                          </a:solidFill>
                          <a:latin typeface="微软雅黑" panose="020B0503020204020204" pitchFamily="34" charset="-122"/>
                          <a:ea typeface="微软雅黑" panose="020B0503020204020204" pitchFamily="34" charset="-122"/>
                          <a:cs typeface="+mn-cs"/>
                        </a:rPr>
                        <a:t>支付能力（购买能力）</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81554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200" spc="150" dirty="0">
                          <a:solidFill>
                            <a:srgbClr val="000000"/>
                          </a:solidFill>
                          <a:latin typeface="微软雅黑" panose="020B0503020204020204" pitchFamily="34" charset="-122"/>
                          <a:ea typeface="微软雅黑" panose="020B0503020204020204" pitchFamily="34" charset="-122"/>
                          <a:cs typeface="+mn-cs"/>
                        </a:rPr>
                        <a:t>年收入</a:t>
                      </a:r>
                      <a:r>
                        <a:rPr lang="en-US" altLang="zh-CN" sz="1800" kern="1200" spc="150" dirty="0">
                          <a:solidFill>
                            <a:srgbClr val="000000"/>
                          </a:solidFill>
                          <a:latin typeface="微软雅黑" panose="020B0503020204020204" pitchFamily="34" charset="-122"/>
                          <a:ea typeface="微软雅黑" panose="020B0503020204020204" pitchFamily="34" charset="-122"/>
                          <a:cs typeface="+mn-cs"/>
                        </a:rPr>
                        <a:t>15</a:t>
                      </a:r>
                      <a:r>
                        <a:rPr lang="zh-CN" altLang="en-US" sz="1800" kern="1200" spc="150" dirty="0">
                          <a:solidFill>
                            <a:srgbClr val="000000"/>
                          </a:solidFill>
                          <a:latin typeface="微软雅黑" panose="020B0503020204020204" pitchFamily="34" charset="-122"/>
                          <a:ea typeface="微软雅黑" panose="020B0503020204020204" pitchFamily="34" charset="-122"/>
                          <a:cs typeface="+mn-cs"/>
                        </a:rPr>
                        <a:t>万元</a:t>
                      </a:r>
                      <a:endParaRPr lang="en-US" altLang="zh-CN" sz="1800" kern="1200" spc="150" dirty="0">
                        <a:solidFill>
                          <a:srgbClr val="000000"/>
                        </a:solidFill>
                        <a:latin typeface="微软雅黑" panose="020B0503020204020204" pitchFamily="34" charset="-122"/>
                        <a:ea typeface="微软雅黑" panose="020B0503020204020204" pitchFamily="34" charset="-122"/>
                        <a:cs typeface="+mn-cs"/>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vMerge="1">
                  <a:txBody>
                    <a:bodyPr/>
                    <a:lstStyle/>
                    <a:p>
                      <a:endParaRPr lang="zh-CN" alt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21381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200" spc="150" dirty="0">
                          <a:solidFill>
                            <a:srgbClr val="00B050"/>
                          </a:solidFill>
                          <a:latin typeface="微软雅黑" panose="020B0503020204020204" pitchFamily="34" charset="-122"/>
                          <a:ea typeface="微软雅黑" panose="020B0503020204020204" pitchFamily="34" charset="-122"/>
                          <a:cs typeface="+mn-cs"/>
                        </a:rPr>
                        <a:t>愿意花钱</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vMerge="1">
                  <a:txBody>
                    <a:bodyPr/>
                    <a:lstStyle/>
                    <a:p>
                      <a:endParaRPr lang="zh-CN" alt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2981739"/>
                  </a:ext>
                </a:extLst>
              </a:tr>
            </a:tbl>
          </a:graphicData>
        </a:graphic>
      </p:graphicFrame>
      <p:graphicFrame>
        <p:nvGraphicFramePr>
          <p:cNvPr id="30" name="表格 29">
            <a:extLst>
              <a:ext uri="{FF2B5EF4-FFF2-40B4-BE49-F238E27FC236}">
                <a16:creationId xmlns:a16="http://schemas.microsoft.com/office/drawing/2014/main" id="{67C9FA23-7451-4F38-A027-9539B2D413AF}"/>
              </a:ext>
            </a:extLst>
          </p:cNvPr>
          <p:cNvGraphicFramePr>
            <a:graphicFrameLocks noGrp="1"/>
          </p:cNvGraphicFramePr>
          <p:nvPr/>
        </p:nvGraphicFramePr>
        <p:xfrm>
          <a:off x="2400951" y="2759367"/>
          <a:ext cx="6096000" cy="1112520"/>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1713122075"/>
                    </a:ext>
                  </a:extLst>
                </a:gridCol>
                <a:gridCol w="3048000">
                  <a:extLst>
                    <a:ext uri="{9D8B030D-6E8A-4147-A177-3AD203B41FA5}">
                      <a16:colId xmlns:a16="http://schemas.microsoft.com/office/drawing/2014/main" val="130208231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200" spc="150" dirty="0">
                          <a:solidFill>
                            <a:srgbClr val="000000"/>
                          </a:solidFill>
                          <a:latin typeface="微软雅黑" panose="020B0503020204020204" pitchFamily="34" charset="-122"/>
                          <a:ea typeface="微软雅黑" panose="020B0503020204020204" pitchFamily="34" charset="-122"/>
                          <a:cs typeface="+mn-cs"/>
                        </a:rPr>
                        <a:t>想要</a:t>
                      </a:r>
                      <a:endParaRPr lang="en-US" altLang="zh-CN" sz="1800" kern="1200" spc="150" dirty="0">
                        <a:solidFill>
                          <a:srgbClr val="000000"/>
                        </a:solidFill>
                        <a:latin typeface="微软雅黑" panose="020B0503020204020204" pitchFamily="34" charset="-122"/>
                        <a:ea typeface="微软雅黑" panose="020B0503020204020204" pitchFamily="34" charset="-122"/>
                        <a:cs typeface="+mn-cs"/>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kern="1200" spc="150" dirty="0">
                          <a:solidFill>
                            <a:srgbClr val="000000"/>
                          </a:solidFill>
                          <a:latin typeface="微软雅黑" panose="020B0503020204020204" pitchFamily="34" charset="-122"/>
                          <a:ea typeface="微软雅黑" panose="020B0503020204020204" pitchFamily="34" charset="-122"/>
                          <a:cs typeface="+mn-cs"/>
                        </a:rPr>
                        <a:t>支付能力（购买能力）</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81554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200" spc="150" dirty="0">
                          <a:solidFill>
                            <a:srgbClr val="000000"/>
                          </a:solidFill>
                          <a:latin typeface="微软雅黑" panose="020B0503020204020204" pitchFamily="34" charset="-122"/>
                          <a:ea typeface="微软雅黑" panose="020B0503020204020204" pitchFamily="34" charset="-122"/>
                          <a:cs typeface="+mn-cs"/>
                        </a:rPr>
                        <a:t>年收入</a:t>
                      </a:r>
                      <a:r>
                        <a:rPr lang="en-US" altLang="zh-CN" sz="1800" kern="1200" spc="150" dirty="0">
                          <a:solidFill>
                            <a:srgbClr val="000000"/>
                          </a:solidFill>
                          <a:latin typeface="微软雅黑" panose="020B0503020204020204" pitchFamily="34" charset="-122"/>
                          <a:ea typeface="微软雅黑" panose="020B0503020204020204" pitchFamily="34" charset="-122"/>
                          <a:cs typeface="+mn-cs"/>
                        </a:rPr>
                        <a:t>15</a:t>
                      </a:r>
                      <a:r>
                        <a:rPr lang="zh-CN" altLang="en-US" sz="1800" kern="1200" spc="150" dirty="0">
                          <a:solidFill>
                            <a:srgbClr val="000000"/>
                          </a:solidFill>
                          <a:latin typeface="微软雅黑" panose="020B0503020204020204" pitchFamily="34" charset="-122"/>
                          <a:ea typeface="微软雅黑" panose="020B0503020204020204" pitchFamily="34" charset="-122"/>
                          <a:cs typeface="+mn-cs"/>
                        </a:rPr>
                        <a:t>万元</a:t>
                      </a:r>
                      <a:endParaRPr lang="en-US" altLang="zh-CN" sz="1800" kern="1200" spc="150" dirty="0">
                        <a:solidFill>
                          <a:srgbClr val="000000"/>
                        </a:solidFill>
                        <a:latin typeface="微软雅黑" panose="020B0503020204020204" pitchFamily="34" charset="-122"/>
                        <a:ea typeface="微软雅黑" panose="020B0503020204020204" pitchFamily="34" charset="-122"/>
                        <a:cs typeface="+mn-cs"/>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vMerge="1">
                  <a:txBody>
                    <a:bodyPr/>
                    <a:lstStyle/>
                    <a:p>
                      <a:endParaRPr lang="zh-CN" alt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21381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1200" spc="150" dirty="0">
                          <a:solidFill>
                            <a:srgbClr val="BB1528"/>
                          </a:solidFill>
                          <a:latin typeface="微软雅黑" panose="020B0503020204020204" pitchFamily="34" charset="-122"/>
                          <a:ea typeface="微软雅黑" panose="020B0503020204020204" pitchFamily="34" charset="-122"/>
                          <a:cs typeface="+mn-cs"/>
                        </a:rPr>
                        <a:t>但是事后没有购买</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vMerge="1">
                  <a:txBody>
                    <a:bodyPr/>
                    <a:lstStyle/>
                    <a:p>
                      <a:endParaRPr lang="zh-CN" alt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2981739"/>
                  </a:ext>
                </a:extLst>
              </a:tr>
            </a:tbl>
          </a:graphicData>
        </a:graphic>
      </p:graphicFrame>
      <p:sp>
        <p:nvSpPr>
          <p:cNvPr id="6" name="矩形 5">
            <a:extLst>
              <a:ext uri="{FF2B5EF4-FFF2-40B4-BE49-F238E27FC236}">
                <a16:creationId xmlns:a16="http://schemas.microsoft.com/office/drawing/2014/main" id="{397E6944-8BFF-4EC2-BEB6-936EF78F7FB9}"/>
              </a:ext>
            </a:extLst>
          </p:cNvPr>
          <p:cNvSpPr/>
          <p:nvPr/>
        </p:nvSpPr>
        <p:spPr>
          <a:xfrm>
            <a:off x="1213080" y="1166326"/>
            <a:ext cx="6091876" cy="875251"/>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F68E5273-CD77-47B9-B841-9D29349C133D}"/>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defTabSz="914400" fontAlgn="base">
              <a:spcBef>
                <a:spcPct val="0"/>
              </a:spcBef>
              <a:spcAft>
                <a:spcPct val="0"/>
              </a:spcAft>
              <a:defRPr/>
            </a:pPr>
            <a:r>
              <a:rPr lang="zh-CN" altLang="en-US" sz="2400" b="1" spc="150" dirty="0">
                <a:solidFill>
                  <a:srgbClr val="FFFFFF"/>
                </a:solidFill>
                <a:latin typeface="微软雅黑" panose="020B0503020204020204" pitchFamily="34" charset="-122"/>
                <a:ea typeface="微软雅黑" panose="020B0503020204020204" pitchFamily="34" charset="-122"/>
              </a:rPr>
              <a:t>一、需求的概念</a:t>
            </a:r>
          </a:p>
        </p:txBody>
      </p:sp>
      <p:sp>
        <p:nvSpPr>
          <p:cNvPr id="15" name="矩形 14">
            <a:extLst>
              <a:ext uri="{FF2B5EF4-FFF2-40B4-BE49-F238E27FC236}">
                <a16:creationId xmlns:a16="http://schemas.microsoft.com/office/drawing/2014/main" id="{88E64304-A318-44E5-8B2C-DCEFC99551AF}"/>
              </a:ext>
            </a:extLst>
          </p:cNvPr>
          <p:cNvSpPr/>
          <p:nvPr/>
        </p:nvSpPr>
        <p:spPr>
          <a:xfrm>
            <a:off x="7532661"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需求 </a:t>
            </a:r>
          </a:p>
        </p:txBody>
      </p:sp>
      <p:pic>
        <p:nvPicPr>
          <p:cNvPr id="3" name="图片 2">
            <a:extLst>
              <a:ext uri="{FF2B5EF4-FFF2-40B4-BE49-F238E27FC236}">
                <a16:creationId xmlns:a16="http://schemas.microsoft.com/office/drawing/2014/main" id="{A172BEFA-0D9A-4D9D-8E96-EAB12E0413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775454" y="1278293"/>
            <a:ext cx="875251" cy="875251"/>
          </a:xfrm>
          <a:prstGeom prst="rect">
            <a:avLst/>
          </a:prstGeom>
        </p:spPr>
      </p:pic>
      <p:pic>
        <p:nvPicPr>
          <p:cNvPr id="8" name="图片 7">
            <a:extLst>
              <a:ext uri="{FF2B5EF4-FFF2-40B4-BE49-F238E27FC236}">
                <a16:creationId xmlns:a16="http://schemas.microsoft.com/office/drawing/2014/main" id="{7EFE2494-C995-4CDB-A405-0D8167D137D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34096" y="1603951"/>
            <a:ext cx="570860" cy="570860"/>
          </a:xfrm>
          <a:prstGeom prst="rect">
            <a:avLst/>
          </a:prstGeom>
        </p:spPr>
      </p:pic>
      <p:sp>
        <p:nvSpPr>
          <p:cNvPr id="9" name="矩形 8">
            <a:extLst>
              <a:ext uri="{FF2B5EF4-FFF2-40B4-BE49-F238E27FC236}">
                <a16:creationId xmlns:a16="http://schemas.microsoft.com/office/drawing/2014/main" id="{20E41E1C-F8E2-429A-B198-48C7C7BCCBD2}"/>
              </a:ext>
            </a:extLst>
          </p:cNvPr>
          <p:cNvSpPr/>
          <p:nvPr/>
        </p:nvSpPr>
        <p:spPr>
          <a:xfrm>
            <a:off x="2820871" y="1419285"/>
            <a:ext cx="2743059" cy="369332"/>
          </a:xfrm>
          <a:prstGeom prst="rect">
            <a:avLst/>
          </a:prstGeom>
        </p:spPr>
        <p:txBody>
          <a:bodyPr wrap="none">
            <a:spAutoFit/>
          </a:bodyPr>
          <a:lstStyle/>
          <a:p>
            <a:pPr>
              <a:spcBef>
                <a:spcPct val="0"/>
              </a:spcBef>
            </a:pPr>
            <a:r>
              <a:rPr lang="zh-CN" altLang="en-US" spc="150" dirty="0">
                <a:solidFill>
                  <a:srgbClr val="000000"/>
                </a:solidFill>
                <a:latin typeface="微软雅黑" panose="020B0503020204020204" pitchFamily="34" charset="-122"/>
                <a:ea typeface="微软雅黑" panose="020B0503020204020204" pitchFamily="34" charset="-122"/>
              </a:rPr>
              <a:t>例子：汽车价格</a:t>
            </a:r>
            <a:r>
              <a:rPr lang="en-US" altLang="zh-CN" spc="150" dirty="0">
                <a:solidFill>
                  <a:srgbClr val="000000"/>
                </a:solidFill>
                <a:latin typeface="微软雅黑" panose="020B0503020204020204" pitchFamily="34" charset="-122"/>
                <a:ea typeface="微软雅黑" panose="020B0503020204020204" pitchFamily="34" charset="-122"/>
              </a:rPr>
              <a:t>10</a:t>
            </a:r>
            <a:r>
              <a:rPr lang="zh-CN" altLang="en-US" spc="150" dirty="0">
                <a:solidFill>
                  <a:srgbClr val="000000"/>
                </a:solidFill>
                <a:latin typeface="微软雅黑" panose="020B0503020204020204" pitchFamily="34" charset="-122"/>
                <a:ea typeface="微软雅黑" panose="020B0503020204020204" pitchFamily="34" charset="-122"/>
              </a:rPr>
              <a:t>万元</a:t>
            </a:r>
          </a:p>
        </p:txBody>
      </p:sp>
      <p:sp>
        <p:nvSpPr>
          <p:cNvPr id="25" name="文本框 24">
            <a:extLst>
              <a:ext uri="{FF2B5EF4-FFF2-40B4-BE49-F238E27FC236}">
                <a16:creationId xmlns:a16="http://schemas.microsoft.com/office/drawing/2014/main" id="{0BB438F3-0F11-49AD-ABD4-926CDC9D0FF1}"/>
              </a:ext>
            </a:extLst>
          </p:cNvPr>
          <p:cNvSpPr txBox="1"/>
          <p:nvPr/>
        </p:nvSpPr>
        <p:spPr>
          <a:xfrm>
            <a:off x="6430106" y="4135211"/>
            <a:ext cx="911138" cy="1200329"/>
          </a:xfrm>
          <a:prstGeom prst="rect">
            <a:avLst/>
          </a:prstGeom>
          <a:noFill/>
          <a:ln>
            <a:noFill/>
          </a:ln>
        </p:spPr>
        <p:txBody>
          <a:bodyPr wrap="square" rtlCol="0">
            <a:spAutoFit/>
          </a:bodyPr>
          <a:lstStyle/>
          <a:p>
            <a:r>
              <a:rPr lang="zh-CN" altLang="en-US" sz="7200" spc="150" dirty="0">
                <a:solidFill>
                  <a:srgbClr val="00B050"/>
                </a:solidFill>
                <a:latin typeface="Arial Unicode MS" panose="020B0604020202020204" pitchFamily="34" charset="-122"/>
                <a:ea typeface="Arial Unicode MS" panose="020B0604020202020204" pitchFamily="34" charset="-122"/>
                <a:cs typeface="Arial Unicode MS" panose="020B0604020202020204" pitchFamily="34" charset="-122"/>
              </a:rPr>
              <a:t>✔</a:t>
            </a:r>
          </a:p>
        </p:txBody>
      </p:sp>
      <p:sp>
        <p:nvSpPr>
          <p:cNvPr id="26" name="文本框 25">
            <a:extLst>
              <a:ext uri="{FF2B5EF4-FFF2-40B4-BE49-F238E27FC236}">
                <a16:creationId xmlns:a16="http://schemas.microsoft.com/office/drawing/2014/main" id="{0C1B2F7B-34E1-4423-A6CB-E5F2D6690BFA}"/>
              </a:ext>
            </a:extLst>
          </p:cNvPr>
          <p:cNvSpPr txBox="1">
            <a:spLocks/>
          </p:cNvSpPr>
          <p:nvPr/>
        </p:nvSpPr>
        <p:spPr>
          <a:xfrm>
            <a:off x="6336800" y="2759367"/>
            <a:ext cx="911138" cy="1200329"/>
          </a:xfrm>
          <a:prstGeom prst="rect">
            <a:avLst/>
          </a:prstGeom>
          <a:noFill/>
        </p:spPr>
        <p:txBody>
          <a:bodyPr wrap="square" rtlCol="0">
            <a:noAutofit/>
          </a:bodyPr>
          <a:lstStyle/>
          <a:p>
            <a:r>
              <a:rPr lang="zh-CN" altLang="en-US" sz="7200" spc="150" dirty="0">
                <a:solidFill>
                  <a:srgbClr val="BB1528"/>
                </a:solidFill>
                <a:latin typeface="微软雅黑" panose="020B0503020204020204" pitchFamily="34" charset="-122"/>
                <a:ea typeface="文鼎CS书宋二" panose="02010609010101010101" pitchFamily="49" charset="-122"/>
              </a:rPr>
              <a:t>✘</a:t>
            </a:r>
          </a:p>
        </p:txBody>
      </p:sp>
      <p:pic>
        <p:nvPicPr>
          <p:cNvPr id="28" name="图片 27">
            <a:extLst>
              <a:ext uri="{FF2B5EF4-FFF2-40B4-BE49-F238E27FC236}">
                <a16:creationId xmlns:a16="http://schemas.microsoft.com/office/drawing/2014/main" id="{BD9DEFAF-3ADD-47C5-B0F4-B5AFF1724F5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48156"/>
          <a:stretch/>
        </p:blipFill>
        <p:spPr>
          <a:xfrm flipH="1">
            <a:off x="246461" y="2522402"/>
            <a:ext cx="1810953" cy="3495420"/>
          </a:xfrm>
          <a:prstGeom prst="rect">
            <a:avLst/>
          </a:prstGeom>
        </p:spPr>
      </p:pic>
    </p:spTree>
    <p:extLst>
      <p:ext uri="{BB962C8B-B14F-4D97-AF65-F5344CB8AC3E}">
        <p14:creationId xmlns:p14="http://schemas.microsoft.com/office/powerpoint/2010/main" val="1577709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par>
                                <p:cTn id="8" presetID="53" presetClass="entr" presetSubtype="16"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p:cTn id="10" dur="500" fill="hold"/>
                                        <p:tgtEl>
                                          <p:spTgt spid="3"/>
                                        </p:tgtEl>
                                        <p:attrNameLst>
                                          <p:attrName>ppt_w</p:attrName>
                                        </p:attrNameLst>
                                      </p:cBhvr>
                                      <p:tavLst>
                                        <p:tav tm="0">
                                          <p:val>
                                            <p:fltVal val="0"/>
                                          </p:val>
                                        </p:tav>
                                        <p:tav tm="100000">
                                          <p:val>
                                            <p:strVal val="#ppt_w"/>
                                          </p:val>
                                        </p:tav>
                                      </p:tavLst>
                                    </p:anim>
                                    <p:anim calcmode="lin" valueType="num">
                                      <p:cBhvr>
                                        <p:cTn id="11" dur="500" fill="hold"/>
                                        <p:tgtEl>
                                          <p:spTgt spid="3"/>
                                        </p:tgtEl>
                                        <p:attrNameLst>
                                          <p:attrName>ppt_h</p:attrName>
                                        </p:attrNameLst>
                                      </p:cBhvr>
                                      <p:tavLst>
                                        <p:tav tm="0">
                                          <p:val>
                                            <p:fltVal val="0"/>
                                          </p:val>
                                        </p:tav>
                                        <p:tav tm="100000">
                                          <p:val>
                                            <p:strVal val="#ppt_h"/>
                                          </p:val>
                                        </p:tav>
                                      </p:tavLst>
                                    </p:anim>
                                    <p:animEffect transition="in" filter="fade">
                                      <p:cBhvr>
                                        <p:cTn id="12" dur="500"/>
                                        <p:tgtEl>
                                          <p:spTgt spid="3"/>
                                        </p:tgtEl>
                                      </p:cBhvr>
                                    </p:animEffect>
                                  </p:childTnLst>
                                </p:cTn>
                              </p:par>
                              <p:par>
                                <p:cTn id="13" presetID="53" presetClass="entr" presetSubtype="16"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animEffect transition="in" filter="fade">
                                      <p:cBhvr>
                                        <p:cTn id="17" dur="500"/>
                                        <p:tgtEl>
                                          <p:spTgt spid="8"/>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randombar(horizontal)">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wipe(up)">
                                      <p:cBhvr>
                                        <p:cTn id="31" dur="500"/>
                                        <p:tgtEl>
                                          <p:spTgt spid="30"/>
                                        </p:tgtEl>
                                      </p:cBhvr>
                                    </p:animEffect>
                                  </p:childTnLst>
                                </p:cTn>
                              </p:par>
                            </p:childTnLst>
                          </p:cTn>
                        </p:par>
                        <p:par>
                          <p:cTn id="32" fill="hold">
                            <p:stCondLst>
                              <p:cond delay="500"/>
                            </p:stCondLst>
                            <p:childTnLst>
                              <p:par>
                                <p:cTn id="33" presetID="53" presetClass="entr" presetSubtype="16" fill="hold" grpId="0" nodeType="afterEffect">
                                  <p:stCondLst>
                                    <p:cond delay="0"/>
                                  </p:stCondLst>
                                  <p:childTnLst>
                                    <p:set>
                                      <p:cBhvr>
                                        <p:cTn id="34" dur="1" fill="hold">
                                          <p:stCondLst>
                                            <p:cond delay="0"/>
                                          </p:stCondLst>
                                        </p:cTn>
                                        <p:tgtEl>
                                          <p:spTgt spid="26"/>
                                        </p:tgtEl>
                                        <p:attrNameLst>
                                          <p:attrName>style.visibility</p:attrName>
                                        </p:attrNameLst>
                                      </p:cBhvr>
                                      <p:to>
                                        <p:strVal val="visible"/>
                                      </p:to>
                                    </p:set>
                                    <p:anim calcmode="lin" valueType="num">
                                      <p:cBhvr>
                                        <p:cTn id="35" dur="500" fill="hold"/>
                                        <p:tgtEl>
                                          <p:spTgt spid="26"/>
                                        </p:tgtEl>
                                        <p:attrNameLst>
                                          <p:attrName>ppt_w</p:attrName>
                                        </p:attrNameLst>
                                      </p:cBhvr>
                                      <p:tavLst>
                                        <p:tav tm="0">
                                          <p:val>
                                            <p:fltVal val="0"/>
                                          </p:val>
                                        </p:tav>
                                        <p:tav tm="100000">
                                          <p:val>
                                            <p:strVal val="#ppt_w"/>
                                          </p:val>
                                        </p:tav>
                                      </p:tavLst>
                                    </p:anim>
                                    <p:anim calcmode="lin" valueType="num">
                                      <p:cBhvr>
                                        <p:cTn id="36" dur="500" fill="hold"/>
                                        <p:tgtEl>
                                          <p:spTgt spid="26"/>
                                        </p:tgtEl>
                                        <p:attrNameLst>
                                          <p:attrName>ppt_h</p:attrName>
                                        </p:attrNameLst>
                                      </p:cBhvr>
                                      <p:tavLst>
                                        <p:tav tm="0">
                                          <p:val>
                                            <p:fltVal val="0"/>
                                          </p:val>
                                        </p:tav>
                                        <p:tav tm="100000">
                                          <p:val>
                                            <p:strVal val="#ppt_h"/>
                                          </p:val>
                                        </p:tav>
                                      </p:tavLst>
                                    </p:anim>
                                    <p:animEffect transition="in" filter="fade">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wipe(up)">
                                      <p:cBhvr>
                                        <p:cTn id="42" dur="500"/>
                                        <p:tgtEl>
                                          <p:spTgt spid="31"/>
                                        </p:tgtEl>
                                      </p:cBhvr>
                                    </p:animEffect>
                                  </p:childTnLst>
                                </p:cTn>
                              </p:par>
                            </p:childTnLst>
                          </p:cTn>
                        </p:par>
                        <p:par>
                          <p:cTn id="43" fill="hold">
                            <p:stCondLst>
                              <p:cond delay="500"/>
                            </p:stCondLst>
                            <p:childTnLst>
                              <p:par>
                                <p:cTn id="44" presetID="53" presetClass="entr" presetSubtype="16" fill="hold" grpId="0" nodeType="afterEffect">
                                  <p:stCondLst>
                                    <p:cond delay="0"/>
                                  </p:stCondLst>
                                  <p:childTnLst>
                                    <p:set>
                                      <p:cBhvr>
                                        <p:cTn id="45" dur="1" fill="hold">
                                          <p:stCondLst>
                                            <p:cond delay="0"/>
                                          </p:stCondLst>
                                        </p:cTn>
                                        <p:tgtEl>
                                          <p:spTgt spid="25"/>
                                        </p:tgtEl>
                                        <p:attrNameLst>
                                          <p:attrName>style.visibility</p:attrName>
                                        </p:attrNameLst>
                                      </p:cBhvr>
                                      <p:to>
                                        <p:strVal val="visible"/>
                                      </p:to>
                                    </p:set>
                                    <p:anim calcmode="lin" valueType="num">
                                      <p:cBhvr>
                                        <p:cTn id="46" dur="500" fill="hold"/>
                                        <p:tgtEl>
                                          <p:spTgt spid="25"/>
                                        </p:tgtEl>
                                        <p:attrNameLst>
                                          <p:attrName>ppt_w</p:attrName>
                                        </p:attrNameLst>
                                      </p:cBhvr>
                                      <p:tavLst>
                                        <p:tav tm="0">
                                          <p:val>
                                            <p:fltVal val="0"/>
                                          </p:val>
                                        </p:tav>
                                        <p:tav tm="100000">
                                          <p:val>
                                            <p:strVal val="#ppt_w"/>
                                          </p:val>
                                        </p:tav>
                                      </p:tavLst>
                                    </p:anim>
                                    <p:anim calcmode="lin" valueType="num">
                                      <p:cBhvr>
                                        <p:cTn id="47" dur="500" fill="hold"/>
                                        <p:tgtEl>
                                          <p:spTgt spid="25"/>
                                        </p:tgtEl>
                                        <p:attrNameLst>
                                          <p:attrName>ppt_h</p:attrName>
                                        </p:attrNameLst>
                                      </p:cBhvr>
                                      <p:tavLst>
                                        <p:tav tm="0">
                                          <p:val>
                                            <p:fltVal val="0"/>
                                          </p:val>
                                        </p:tav>
                                        <p:tav tm="100000">
                                          <p:val>
                                            <p:strVal val="#ppt_h"/>
                                          </p:val>
                                        </p:tav>
                                      </p:tavLst>
                                    </p:anim>
                                    <p:animEffect transition="in" filter="fade">
                                      <p:cBhvr>
                                        <p:cTn id="4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P spid="25" grpId="0"/>
      <p:bldP spid="2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KSO_Shape">
            <a:extLst>
              <a:ext uri="{FF2B5EF4-FFF2-40B4-BE49-F238E27FC236}">
                <a16:creationId xmlns:a16="http://schemas.microsoft.com/office/drawing/2014/main" id="{CBC1FE15-9E83-478C-BDA8-371090F0FE37}"/>
              </a:ext>
            </a:extLst>
          </p:cNvPr>
          <p:cNvSpPr/>
          <p:nvPr/>
        </p:nvSpPr>
        <p:spPr>
          <a:xfrm>
            <a:off x="4574153" y="2397968"/>
            <a:ext cx="2687217" cy="503853"/>
          </a:xfrm>
          <a:prstGeom prst="roundRect">
            <a:avLst>
              <a:gd name="adj" fmla="val 50000"/>
            </a:avLst>
          </a:prstGeom>
          <a:solidFill>
            <a:srgbClr val="BB152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pc="150" dirty="0">
                <a:solidFill>
                  <a:schemeClr val="bg1"/>
                </a:solidFill>
                <a:latin typeface="微软雅黑" panose="020B0503020204020204" pitchFamily="34" charset="-122"/>
                <a:ea typeface="微软雅黑" panose="020B0503020204020204" pitchFamily="34" charset="-122"/>
              </a:rPr>
              <a:t>表格</a:t>
            </a:r>
            <a:r>
              <a:rPr lang="en-US" altLang="zh-CN" spc="150" dirty="0">
                <a:solidFill>
                  <a:schemeClr val="bg1"/>
                </a:solidFill>
                <a:latin typeface="微软雅黑" panose="020B0503020204020204" pitchFamily="34" charset="-122"/>
                <a:ea typeface="微软雅黑" panose="020B0503020204020204" pitchFamily="34" charset="-122"/>
              </a:rPr>
              <a:t>—</a:t>
            </a:r>
            <a:r>
              <a:rPr lang="zh-CN" altLang="en-US" spc="150" dirty="0">
                <a:solidFill>
                  <a:schemeClr val="bg1"/>
                </a:solidFill>
                <a:latin typeface="微软雅黑" panose="020B0503020204020204" pitchFamily="34" charset="-122"/>
                <a:ea typeface="微软雅黑" panose="020B0503020204020204" pitchFamily="34" charset="-122"/>
              </a:rPr>
              <a:t>需求表</a:t>
            </a:r>
            <a:endParaRPr lang="en-US" altLang="zh-CN" spc="150" dirty="0">
              <a:solidFill>
                <a:schemeClr val="bg1"/>
              </a:solidFill>
              <a:latin typeface="微软雅黑" panose="020B0503020204020204" pitchFamily="34" charset="-122"/>
              <a:ea typeface="微软雅黑" panose="020B0503020204020204" pitchFamily="34" charset="-122"/>
            </a:endParaRPr>
          </a:p>
        </p:txBody>
      </p:sp>
      <p:sp>
        <p:nvSpPr>
          <p:cNvPr id="5" name="矩形: 圆角 4">
            <a:extLst>
              <a:ext uri="{FF2B5EF4-FFF2-40B4-BE49-F238E27FC236}">
                <a16:creationId xmlns:a16="http://schemas.microsoft.com/office/drawing/2014/main" id="{F5501FC4-6109-488A-9E7B-E591DF9E4D96}"/>
              </a:ext>
            </a:extLst>
          </p:cNvPr>
          <p:cNvSpPr/>
          <p:nvPr/>
        </p:nvSpPr>
        <p:spPr>
          <a:xfrm>
            <a:off x="970384" y="1119673"/>
            <a:ext cx="6988628" cy="858417"/>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F68E5273-CD77-47B9-B841-9D29349C133D}"/>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defTabSz="914400" fontAlgn="base">
              <a:spcBef>
                <a:spcPct val="0"/>
              </a:spcBef>
              <a:spcAft>
                <a:spcPct val="0"/>
              </a:spcAft>
              <a:defRPr/>
            </a:pPr>
            <a:r>
              <a:rPr lang="zh-CN" altLang="en-US" sz="2400" b="1" spc="150" dirty="0">
                <a:solidFill>
                  <a:srgbClr val="FFFFFF"/>
                </a:solidFill>
                <a:latin typeface="微软雅黑" panose="020B0503020204020204" pitchFamily="34" charset="-122"/>
                <a:ea typeface="微软雅黑" panose="020B0503020204020204" pitchFamily="34" charset="-122"/>
              </a:rPr>
              <a:t>一、需求的概念</a:t>
            </a:r>
          </a:p>
        </p:txBody>
      </p:sp>
      <p:sp>
        <p:nvSpPr>
          <p:cNvPr id="15" name="矩形 14">
            <a:extLst>
              <a:ext uri="{FF2B5EF4-FFF2-40B4-BE49-F238E27FC236}">
                <a16:creationId xmlns:a16="http://schemas.microsoft.com/office/drawing/2014/main" id="{88E64304-A318-44E5-8B2C-DCEFC99551AF}"/>
              </a:ext>
            </a:extLst>
          </p:cNvPr>
          <p:cNvSpPr/>
          <p:nvPr/>
        </p:nvSpPr>
        <p:spPr>
          <a:xfrm>
            <a:off x="7532661"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需求 </a:t>
            </a:r>
          </a:p>
        </p:txBody>
      </p:sp>
      <p:pic>
        <p:nvPicPr>
          <p:cNvPr id="4" name="图片 3">
            <a:extLst>
              <a:ext uri="{FF2B5EF4-FFF2-40B4-BE49-F238E27FC236}">
                <a16:creationId xmlns:a16="http://schemas.microsoft.com/office/drawing/2014/main" id="{26C14FD7-288B-4EBC-97AB-25CDCA7265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07901" y="1010345"/>
            <a:ext cx="1065715" cy="1065715"/>
          </a:xfrm>
          <a:prstGeom prst="rect">
            <a:avLst/>
          </a:prstGeom>
        </p:spPr>
      </p:pic>
      <p:sp>
        <p:nvSpPr>
          <p:cNvPr id="12" name="矩形 11">
            <a:extLst>
              <a:ext uri="{FF2B5EF4-FFF2-40B4-BE49-F238E27FC236}">
                <a16:creationId xmlns:a16="http://schemas.microsoft.com/office/drawing/2014/main" id="{F2E1D167-2D51-47EE-8CA8-1E1607A3745D}"/>
              </a:ext>
            </a:extLst>
          </p:cNvPr>
          <p:cNvSpPr/>
          <p:nvPr/>
        </p:nvSpPr>
        <p:spPr>
          <a:xfrm>
            <a:off x="2225645" y="1310478"/>
            <a:ext cx="4474302" cy="458908"/>
          </a:xfrm>
          <a:prstGeom prst="rect">
            <a:avLst/>
          </a:prstGeom>
        </p:spPr>
        <p:txBody>
          <a:bodyPr wrap="none">
            <a:spAutoFit/>
          </a:bodyPr>
          <a:lstStyle/>
          <a:p>
            <a:pPr marL="285750" indent="-285750">
              <a:lnSpc>
                <a:spcPct val="150000"/>
              </a:lnSpc>
              <a:spcBef>
                <a:spcPct val="0"/>
              </a:spcBef>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如何表示需求量和价格之间的关系？</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13" name="左中括号 12">
            <a:extLst>
              <a:ext uri="{FF2B5EF4-FFF2-40B4-BE49-F238E27FC236}">
                <a16:creationId xmlns:a16="http://schemas.microsoft.com/office/drawing/2014/main" id="{477854A3-6439-46A2-AE03-EAD859BF14E2}"/>
              </a:ext>
            </a:extLst>
          </p:cNvPr>
          <p:cNvSpPr/>
          <p:nvPr/>
        </p:nvSpPr>
        <p:spPr>
          <a:xfrm>
            <a:off x="4182269" y="2649895"/>
            <a:ext cx="322200" cy="2817845"/>
          </a:xfrm>
          <a:prstGeom prst="leftBracket">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KSO_Shape">
            <a:extLst>
              <a:ext uri="{FF2B5EF4-FFF2-40B4-BE49-F238E27FC236}">
                <a16:creationId xmlns:a16="http://schemas.microsoft.com/office/drawing/2014/main" id="{E61A57DA-73FC-4DEE-8B29-01486B929BB3}"/>
              </a:ext>
            </a:extLst>
          </p:cNvPr>
          <p:cNvSpPr/>
          <p:nvPr/>
        </p:nvSpPr>
        <p:spPr>
          <a:xfrm>
            <a:off x="4574153" y="3806890"/>
            <a:ext cx="2687217" cy="503853"/>
          </a:xfrm>
          <a:prstGeom prst="roundRect">
            <a:avLst>
              <a:gd name="adj" fmla="val 50000"/>
            </a:avLst>
          </a:prstGeom>
          <a:solidFill>
            <a:srgbClr val="BB152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pc="150" dirty="0">
                <a:solidFill>
                  <a:schemeClr val="bg1"/>
                </a:solidFill>
                <a:latin typeface="微软雅黑" panose="020B0503020204020204" pitchFamily="34" charset="-122"/>
                <a:ea typeface="微软雅黑" panose="020B0503020204020204" pitchFamily="34" charset="-122"/>
              </a:rPr>
              <a:t>曲线</a:t>
            </a:r>
            <a:r>
              <a:rPr lang="en-US" altLang="zh-CN" spc="150" dirty="0">
                <a:solidFill>
                  <a:schemeClr val="bg1"/>
                </a:solidFill>
                <a:latin typeface="微软雅黑" panose="020B0503020204020204" pitchFamily="34" charset="-122"/>
                <a:ea typeface="微软雅黑" panose="020B0503020204020204" pitchFamily="34" charset="-122"/>
              </a:rPr>
              <a:t>—</a:t>
            </a:r>
            <a:r>
              <a:rPr lang="zh-CN" altLang="en-US" spc="150" dirty="0">
                <a:solidFill>
                  <a:schemeClr val="bg1"/>
                </a:solidFill>
                <a:latin typeface="微软雅黑" panose="020B0503020204020204" pitchFamily="34" charset="-122"/>
                <a:ea typeface="微软雅黑" panose="020B0503020204020204" pitchFamily="34" charset="-122"/>
              </a:rPr>
              <a:t>需求曲线</a:t>
            </a:r>
            <a:endParaRPr lang="en-US" altLang="zh-CN" spc="150" dirty="0">
              <a:solidFill>
                <a:schemeClr val="bg1"/>
              </a:solidFill>
              <a:latin typeface="微软雅黑" panose="020B0503020204020204" pitchFamily="34" charset="-122"/>
              <a:ea typeface="微软雅黑" panose="020B0503020204020204" pitchFamily="34" charset="-122"/>
            </a:endParaRPr>
          </a:p>
        </p:txBody>
      </p:sp>
      <p:sp>
        <p:nvSpPr>
          <p:cNvPr id="27" name="KSO_Shape">
            <a:extLst>
              <a:ext uri="{FF2B5EF4-FFF2-40B4-BE49-F238E27FC236}">
                <a16:creationId xmlns:a16="http://schemas.microsoft.com/office/drawing/2014/main" id="{06761997-35B5-48BC-BD4D-DE37E2EB9AE1}"/>
              </a:ext>
            </a:extLst>
          </p:cNvPr>
          <p:cNvSpPr/>
          <p:nvPr/>
        </p:nvSpPr>
        <p:spPr>
          <a:xfrm>
            <a:off x="4574153" y="5215813"/>
            <a:ext cx="2687217" cy="503853"/>
          </a:xfrm>
          <a:prstGeom prst="roundRect">
            <a:avLst>
              <a:gd name="adj" fmla="val 50000"/>
            </a:avLst>
          </a:prstGeom>
          <a:solidFill>
            <a:srgbClr val="BB152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pc="150" dirty="0">
                <a:solidFill>
                  <a:schemeClr val="bg1"/>
                </a:solidFill>
                <a:latin typeface="微软雅黑" panose="020B0503020204020204" pitchFamily="34" charset="-122"/>
                <a:ea typeface="微软雅黑" panose="020B0503020204020204" pitchFamily="34" charset="-122"/>
              </a:rPr>
              <a:t>公式</a:t>
            </a:r>
            <a:r>
              <a:rPr lang="en-US" altLang="zh-CN" spc="150" dirty="0">
                <a:solidFill>
                  <a:schemeClr val="bg1"/>
                </a:solidFill>
                <a:latin typeface="微软雅黑" panose="020B0503020204020204" pitchFamily="34" charset="-122"/>
                <a:ea typeface="微软雅黑" panose="020B0503020204020204" pitchFamily="34" charset="-122"/>
              </a:rPr>
              <a:t>—</a:t>
            </a:r>
            <a:r>
              <a:rPr lang="zh-CN" altLang="en-US" spc="150" dirty="0">
                <a:solidFill>
                  <a:schemeClr val="bg1"/>
                </a:solidFill>
                <a:latin typeface="微软雅黑" panose="020B0503020204020204" pitchFamily="34" charset="-122"/>
                <a:ea typeface="微软雅黑" panose="020B0503020204020204" pitchFamily="34" charset="-122"/>
              </a:rPr>
              <a:t>需求函数</a:t>
            </a:r>
            <a:endParaRPr lang="en-US" altLang="zh-CN" spc="150" dirty="0">
              <a:solidFill>
                <a:schemeClr val="bg1"/>
              </a:solidFill>
              <a:latin typeface="微软雅黑" panose="020B0503020204020204" pitchFamily="34" charset="-122"/>
              <a:ea typeface="微软雅黑" panose="020B0503020204020204" pitchFamily="34" charset="-122"/>
            </a:endParaRPr>
          </a:p>
        </p:txBody>
      </p:sp>
      <p:pic>
        <p:nvPicPr>
          <p:cNvPr id="17" name="图片 16">
            <a:extLst>
              <a:ext uri="{FF2B5EF4-FFF2-40B4-BE49-F238E27FC236}">
                <a16:creationId xmlns:a16="http://schemas.microsoft.com/office/drawing/2014/main" id="{30B71DB4-7A75-4C95-8883-9FBBE76BA9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9941" y="2901821"/>
            <a:ext cx="2757486" cy="3035172"/>
          </a:xfrm>
          <a:prstGeom prst="rect">
            <a:avLst/>
          </a:prstGeom>
        </p:spPr>
      </p:pic>
    </p:spTree>
    <p:extLst>
      <p:ext uri="{BB962C8B-B14F-4D97-AF65-F5344CB8AC3E}">
        <p14:creationId xmlns:p14="http://schemas.microsoft.com/office/powerpoint/2010/main" val="60251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53" presetClass="entr" presetSubtype="16"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00" fill="hold"/>
                                        <p:tgtEl>
                                          <p:spTgt spid="4"/>
                                        </p:tgtEl>
                                        <p:attrNameLst>
                                          <p:attrName>ppt_w</p:attrName>
                                        </p:attrNameLst>
                                      </p:cBhvr>
                                      <p:tavLst>
                                        <p:tav tm="0">
                                          <p:val>
                                            <p:fltVal val="0"/>
                                          </p:val>
                                        </p:tav>
                                        <p:tav tm="100000">
                                          <p:val>
                                            <p:strVal val="#ppt_w"/>
                                          </p:val>
                                        </p:tav>
                                      </p:tavLst>
                                    </p:anim>
                                    <p:anim calcmode="lin" valueType="num">
                                      <p:cBhvr>
                                        <p:cTn id="11" dur="500" fill="hold"/>
                                        <p:tgtEl>
                                          <p:spTgt spid="4"/>
                                        </p:tgtEl>
                                        <p:attrNameLst>
                                          <p:attrName>ppt_h</p:attrName>
                                        </p:attrNameLst>
                                      </p:cBhvr>
                                      <p:tavLst>
                                        <p:tav tm="0">
                                          <p:val>
                                            <p:fltVal val="0"/>
                                          </p:val>
                                        </p:tav>
                                        <p:tav tm="100000">
                                          <p:val>
                                            <p:strVal val="#ppt_h"/>
                                          </p:val>
                                        </p:tav>
                                      </p:tavLst>
                                    </p:anim>
                                    <p:animEffect transition="in" filter="fade">
                                      <p:cBhvr>
                                        <p:cTn id="12" dur="500"/>
                                        <p:tgtEl>
                                          <p:spTgt spid="4"/>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randombar(horizontal)">
                                      <p:cBhvr>
                                        <p:cTn id="21" dur="500"/>
                                        <p:tgtEl>
                                          <p:spTgt spid="17"/>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down)">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wipe(left)">
                                      <p:cBhvr>
                                        <p:cTn id="29" dur="500"/>
                                        <p:tgtEl>
                                          <p:spTgt spid="2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wipe(left)">
                                      <p:cBhvr>
                                        <p:cTn id="34" dur="5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wipe(left)">
                                      <p:cBhvr>
                                        <p:cTn id="3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5" grpId="0" animBg="1"/>
      <p:bldP spid="12" grpId="0"/>
      <p:bldP spid="13" grpId="0" animBg="1"/>
      <p:bldP spid="24" grpId="0" animBg="1"/>
      <p:bldP spid="2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68E5273-CD77-47B9-B841-9D29349C133D}"/>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defTabSz="914400" fontAlgn="base">
              <a:spcBef>
                <a:spcPct val="0"/>
              </a:spcBef>
              <a:spcAft>
                <a:spcPct val="0"/>
              </a:spcAft>
              <a:defRPr/>
            </a:pPr>
            <a:r>
              <a:rPr lang="zh-CN" altLang="en-US" sz="2400" b="1" spc="150" dirty="0">
                <a:solidFill>
                  <a:srgbClr val="FFFFFF"/>
                </a:solidFill>
                <a:latin typeface="微软雅黑" panose="020B0503020204020204" pitchFamily="34" charset="-122"/>
                <a:ea typeface="微软雅黑" panose="020B0503020204020204" pitchFamily="34" charset="-122"/>
              </a:rPr>
              <a:t>一、需求的概念</a:t>
            </a:r>
          </a:p>
        </p:txBody>
      </p:sp>
      <p:sp>
        <p:nvSpPr>
          <p:cNvPr id="15" name="矩形 14">
            <a:extLst>
              <a:ext uri="{FF2B5EF4-FFF2-40B4-BE49-F238E27FC236}">
                <a16:creationId xmlns:a16="http://schemas.microsoft.com/office/drawing/2014/main" id="{88E64304-A318-44E5-8B2C-DCEFC99551AF}"/>
              </a:ext>
            </a:extLst>
          </p:cNvPr>
          <p:cNvSpPr/>
          <p:nvPr/>
        </p:nvSpPr>
        <p:spPr>
          <a:xfrm>
            <a:off x="7532661"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需求 </a:t>
            </a:r>
          </a:p>
        </p:txBody>
      </p:sp>
      <p:graphicFrame>
        <p:nvGraphicFramePr>
          <p:cNvPr id="3" name="表格 2">
            <a:extLst>
              <a:ext uri="{FF2B5EF4-FFF2-40B4-BE49-F238E27FC236}">
                <a16:creationId xmlns:a16="http://schemas.microsoft.com/office/drawing/2014/main" id="{12AA3C37-56A3-406D-A53F-C38CFF9604F8}"/>
              </a:ext>
            </a:extLst>
          </p:cNvPr>
          <p:cNvGraphicFramePr>
            <a:graphicFrameLocks noGrp="1"/>
          </p:cNvGraphicFramePr>
          <p:nvPr/>
        </p:nvGraphicFramePr>
        <p:xfrm>
          <a:off x="467544" y="3798226"/>
          <a:ext cx="8332237" cy="1112520"/>
        </p:xfrm>
        <a:graphic>
          <a:graphicData uri="http://schemas.openxmlformats.org/drawingml/2006/table">
            <a:tbl>
              <a:tblPr firstRow="1" bandRow="1">
                <a:tableStyleId>{5940675A-B579-460E-94D1-54222C63F5DA}</a:tableStyleId>
              </a:tblPr>
              <a:tblGrid>
                <a:gridCol w="2584580">
                  <a:extLst>
                    <a:ext uri="{9D8B030D-6E8A-4147-A177-3AD203B41FA5}">
                      <a16:colId xmlns:a16="http://schemas.microsoft.com/office/drawing/2014/main" val="226105803"/>
                    </a:ext>
                  </a:extLst>
                </a:gridCol>
                <a:gridCol w="1063689">
                  <a:extLst>
                    <a:ext uri="{9D8B030D-6E8A-4147-A177-3AD203B41FA5}">
                      <a16:colId xmlns:a16="http://schemas.microsoft.com/office/drawing/2014/main" val="476090610"/>
                    </a:ext>
                  </a:extLst>
                </a:gridCol>
                <a:gridCol w="914400">
                  <a:extLst>
                    <a:ext uri="{9D8B030D-6E8A-4147-A177-3AD203B41FA5}">
                      <a16:colId xmlns:a16="http://schemas.microsoft.com/office/drawing/2014/main" val="3220988987"/>
                    </a:ext>
                  </a:extLst>
                </a:gridCol>
                <a:gridCol w="944152">
                  <a:extLst>
                    <a:ext uri="{9D8B030D-6E8A-4147-A177-3AD203B41FA5}">
                      <a16:colId xmlns:a16="http://schemas.microsoft.com/office/drawing/2014/main" val="2488551950"/>
                    </a:ext>
                  </a:extLst>
                </a:gridCol>
                <a:gridCol w="1002336">
                  <a:extLst>
                    <a:ext uri="{9D8B030D-6E8A-4147-A177-3AD203B41FA5}">
                      <a16:colId xmlns:a16="http://schemas.microsoft.com/office/drawing/2014/main" val="1161571735"/>
                    </a:ext>
                  </a:extLst>
                </a:gridCol>
                <a:gridCol w="929881">
                  <a:extLst>
                    <a:ext uri="{9D8B030D-6E8A-4147-A177-3AD203B41FA5}">
                      <a16:colId xmlns:a16="http://schemas.microsoft.com/office/drawing/2014/main" val="3552070805"/>
                    </a:ext>
                  </a:extLst>
                </a:gridCol>
                <a:gridCol w="893199">
                  <a:extLst>
                    <a:ext uri="{9D8B030D-6E8A-4147-A177-3AD203B41FA5}">
                      <a16:colId xmlns:a16="http://schemas.microsoft.com/office/drawing/2014/main" val="3701271827"/>
                    </a:ext>
                  </a:extLst>
                </a:gridCol>
              </a:tblGrid>
              <a:tr h="370840">
                <a:tc>
                  <a:txBody>
                    <a:bodyPr/>
                    <a:lstStyle/>
                    <a:p>
                      <a:pPr algn="ctr"/>
                      <a:r>
                        <a:rPr lang="zh-CN" altLang="en-US" sz="1600" kern="1200" spc="150" dirty="0">
                          <a:solidFill>
                            <a:srgbClr val="000000"/>
                          </a:solidFill>
                          <a:latin typeface="微软雅黑" panose="020B0503020204020204" pitchFamily="34" charset="-122"/>
                          <a:ea typeface="微软雅黑" panose="020B0503020204020204" pitchFamily="34" charset="-122"/>
                          <a:cs typeface="+mn-cs"/>
                        </a:rPr>
                        <a:t>价格（元</a:t>
                      </a:r>
                      <a:r>
                        <a:rPr lang="en-US" altLang="zh-CN" sz="1600" kern="1200" spc="150" dirty="0">
                          <a:solidFill>
                            <a:srgbClr val="000000"/>
                          </a:solidFill>
                          <a:latin typeface="微软雅黑" panose="020B0503020204020204" pitchFamily="34" charset="-122"/>
                          <a:ea typeface="微软雅黑" panose="020B0503020204020204" pitchFamily="34" charset="-122"/>
                          <a:cs typeface="+mn-cs"/>
                        </a:rPr>
                        <a:t>/</a:t>
                      </a:r>
                      <a:r>
                        <a:rPr lang="zh-CN" altLang="en-US" sz="1600" kern="1200" spc="150" dirty="0">
                          <a:solidFill>
                            <a:srgbClr val="000000"/>
                          </a:solidFill>
                          <a:latin typeface="微软雅黑" panose="020B0503020204020204" pitchFamily="34" charset="-122"/>
                          <a:ea typeface="微软雅黑" panose="020B0503020204020204" pitchFamily="34" charset="-122"/>
                          <a:cs typeface="+mn-cs"/>
                        </a:rPr>
                        <a:t>千克）</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zh-CN" dirty="0"/>
                        <a:t>14</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12</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10</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8</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6</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4</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011714"/>
                  </a:ext>
                </a:extLst>
              </a:tr>
              <a:tr h="370840">
                <a:tc>
                  <a:txBody>
                    <a:bodyPr/>
                    <a:lstStyle/>
                    <a:p>
                      <a:pPr algn="ctr"/>
                      <a:r>
                        <a:rPr lang="zh-CN" altLang="en-US" sz="1600" kern="1200" spc="150" dirty="0">
                          <a:solidFill>
                            <a:srgbClr val="000000"/>
                          </a:solidFill>
                          <a:latin typeface="微软雅黑" panose="020B0503020204020204" pitchFamily="34" charset="-122"/>
                          <a:ea typeface="微软雅黑" panose="020B0503020204020204" pitchFamily="34" charset="-122"/>
                          <a:cs typeface="+mn-cs"/>
                        </a:rPr>
                        <a:t>需求量（千克）</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zh-CN" dirty="0"/>
                        <a:t>2</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5</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8</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11</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14</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17</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9336256"/>
                  </a:ext>
                </a:extLst>
              </a:tr>
              <a:tr h="370840">
                <a:tc>
                  <a:txBody>
                    <a:bodyPr/>
                    <a:lstStyle/>
                    <a:p>
                      <a:pPr algn="ctr"/>
                      <a:r>
                        <a:rPr lang="zh-CN" altLang="en-US" sz="1600" kern="1200" spc="150" dirty="0">
                          <a:solidFill>
                            <a:srgbClr val="000000"/>
                          </a:solidFill>
                          <a:latin typeface="微软雅黑" panose="020B0503020204020204" pitchFamily="34" charset="-122"/>
                          <a:ea typeface="微软雅黑" panose="020B0503020204020204" pitchFamily="34" charset="-122"/>
                          <a:cs typeface="+mn-cs"/>
                        </a:rPr>
                        <a:t>价格与需求量的组合点</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zh-CN" dirty="0"/>
                        <a:t>A</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B</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C</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F</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G</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H</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1165536"/>
                  </a:ext>
                </a:extLst>
              </a:tr>
            </a:tbl>
          </a:graphicData>
        </a:graphic>
      </p:graphicFrame>
      <p:sp>
        <p:nvSpPr>
          <p:cNvPr id="17" name="KSO_Shape">
            <a:extLst>
              <a:ext uri="{FF2B5EF4-FFF2-40B4-BE49-F238E27FC236}">
                <a16:creationId xmlns:a16="http://schemas.microsoft.com/office/drawing/2014/main" id="{6A619BCE-CB96-40B6-AFFF-A5E70B6F5833}"/>
              </a:ext>
            </a:extLst>
          </p:cNvPr>
          <p:cNvSpPr/>
          <p:nvPr/>
        </p:nvSpPr>
        <p:spPr>
          <a:xfrm>
            <a:off x="1384632" y="2727751"/>
            <a:ext cx="2687217" cy="503853"/>
          </a:xfrm>
          <a:prstGeom prst="roundRect">
            <a:avLst>
              <a:gd name="adj" fmla="val 50000"/>
            </a:avLst>
          </a:prstGeom>
          <a:solidFill>
            <a:srgbClr val="BB152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pc="150" dirty="0">
                <a:solidFill>
                  <a:schemeClr val="bg1"/>
                </a:solidFill>
                <a:latin typeface="微软雅黑" panose="020B0503020204020204" pitchFamily="34" charset="-122"/>
                <a:ea typeface="微软雅黑" panose="020B0503020204020204" pitchFamily="34" charset="-122"/>
              </a:rPr>
              <a:t>表格</a:t>
            </a:r>
            <a:r>
              <a:rPr lang="en-US" altLang="zh-CN" spc="150" dirty="0">
                <a:solidFill>
                  <a:schemeClr val="bg1"/>
                </a:solidFill>
                <a:latin typeface="微软雅黑" panose="020B0503020204020204" pitchFamily="34" charset="-122"/>
                <a:ea typeface="微软雅黑" panose="020B0503020204020204" pitchFamily="34" charset="-122"/>
              </a:rPr>
              <a:t>—</a:t>
            </a:r>
            <a:r>
              <a:rPr lang="zh-CN" altLang="en-US" spc="150" dirty="0">
                <a:solidFill>
                  <a:schemeClr val="bg1"/>
                </a:solidFill>
                <a:latin typeface="微软雅黑" panose="020B0503020204020204" pitchFamily="34" charset="-122"/>
                <a:ea typeface="微软雅黑" panose="020B0503020204020204" pitchFamily="34" charset="-122"/>
              </a:rPr>
              <a:t>需求表</a:t>
            </a:r>
            <a:endParaRPr lang="en-US" altLang="zh-CN" spc="150" dirty="0">
              <a:solidFill>
                <a:schemeClr val="bg1"/>
              </a:solidFill>
              <a:latin typeface="微软雅黑" panose="020B0503020204020204" pitchFamily="34" charset="-122"/>
              <a:ea typeface="微软雅黑" panose="020B0503020204020204" pitchFamily="34" charset="-122"/>
            </a:endParaRPr>
          </a:p>
        </p:txBody>
      </p:sp>
      <p:sp>
        <p:nvSpPr>
          <p:cNvPr id="13" name="矩形: 圆角 12">
            <a:extLst>
              <a:ext uri="{FF2B5EF4-FFF2-40B4-BE49-F238E27FC236}">
                <a16:creationId xmlns:a16="http://schemas.microsoft.com/office/drawing/2014/main" id="{30A327DC-079A-421A-A3B1-FD9E90B715D3}"/>
              </a:ext>
            </a:extLst>
          </p:cNvPr>
          <p:cNvSpPr/>
          <p:nvPr/>
        </p:nvSpPr>
        <p:spPr>
          <a:xfrm>
            <a:off x="970384" y="1119673"/>
            <a:ext cx="5319321" cy="858417"/>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EC4B6F11-B2AA-4E12-88E8-47A7994FB84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44686" y="1095414"/>
            <a:ext cx="1065715" cy="1065715"/>
          </a:xfrm>
          <a:prstGeom prst="rect">
            <a:avLst/>
          </a:prstGeom>
        </p:spPr>
      </p:pic>
      <p:sp>
        <p:nvSpPr>
          <p:cNvPr id="16" name="矩形 15">
            <a:extLst>
              <a:ext uri="{FF2B5EF4-FFF2-40B4-BE49-F238E27FC236}">
                <a16:creationId xmlns:a16="http://schemas.microsoft.com/office/drawing/2014/main" id="{00E39E52-C93E-4B19-B814-302E19B24526}"/>
              </a:ext>
            </a:extLst>
          </p:cNvPr>
          <p:cNvSpPr/>
          <p:nvPr/>
        </p:nvSpPr>
        <p:spPr>
          <a:xfrm>
            <a:off x="970384" y="1310478"/>
            <a:ext cx="4474302" cy="458908"/>
          </a:xfrm>
          <a:prstGeom prst="rect">
            <a:avLst/>
          </a:prstGeom>
        </p:spPr>
        <p:txBody>
          <a:bodyPr wrap="none">
            <a:spAutoFit/>
          </a:bodyPr>
          <a:lstStyle/>
          <a:p>
            <a:pPr marL="285750" indent="-285750">
              <a:lnSpc>
                <a:spcPct val="150000"/>
              </a:lnSpc>
              <a:spcBef>
                <a:spcPct val="0"/>
              </a:spcBef>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如何表示需求量和价格之间的关系？</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63B1E72B-180C-4C5E-BC1C-C13AA6EF1F60}"/>
              </a:ext>
            </a:extLst>
          </p:cNvPr>
          <p:cNvSpPr/>
          <p:nvPr/>
        </p:nvSpPr>
        <p:spPr>
          <a:xfrm>
            <a:off x="1299174" y="1968165"/>
            <a:ext cx="3185487" cy="458908"/>
          </a:xfrm>
          <a:prstGeom prst="rect">
            <a:avLst/>
          </a:prstGeom>
        </p:spPr>
        <p:txBody>
          <a:bodyPr wrap="none">
            <a:spAutoFit/>
          </a:bodyPr>
          <a:lstStyle/>
          <a:p>
            <a:pPr>
              <a:lnSpc>
                <a:spcPct val="150000"/>
              </a:lnSpc>
              <a:spcBef>
                <a:spcPct val="0"/>
              </a:spcBef>
            </a:pPr>
            <a:r>
              <a:rPr lang="zh-CN" altLang="en-US" spc="150" dirty="0">
                <a:solidFill>
                  <a:srgbClr val="000000"/>
                </a:solidFill>
                <a:latin typeface="微软雅黑" panose="020B0503020204020204" pitchFamily="34" charset="-122"/>
                <a:ea typeface="微软雅黑" panose="020B0503020204020204" pitchFamily="34" charset="-122"/>
              </a:rPr>
              <a:t>以消费者对苹果的需求为例</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41090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par>
                                <p:cTn id="8" presetID="14" presetClass="entr" presetSubtype="1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randombar(horizontal)">
                                      <p:cBhvr>
                                        <p:cTn id="10" dur="500"/>
                                        <p:tgtEl>
                                          <p:spTgt spid="14"/>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left)">
                                      <p:cBhvr>
                                        <p:cTn id="14" dur="5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left)">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3" grpId="0" animBg="1"/>
      <p:bldP spid="16" grpId="0"/>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68E5273-CD77-47B9-B841-9D29349C133D}"/>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defTabSz="914400" fontAlgn="base">
              <a:spcBef>
                <a:spcPct val="0"/>
              </a:spcBef>
              <a:spcAft>
                <a:spcPct val="0"/>
              </a:spcAft>
              <a:defRPr/>
            </a:pPr>
            <a:r>
              <a:rPr lang="zh-CN" altLang="en-US" sz="2400" b="1" spc="150" dirty="0">
                <a:solidFill>
                  <a:srgbClr val="FFFFFF"/>
                </a:solidFill>
                <a:latin typeface="微软雅黑" panose="020B0503020204020204" pitchFamily="34" charset="-122"/>
                <a:ea typeface="微软雅黑" panose="020B0503020204020204" pitchFamily="34" charset="-122"/>
              </a:rPr>
              <a:t>一、需求的概念</a:t>
            </a:r>
          </a:p>
        </p:txBody>
      </p:sp>
      <p:sp>
        <p:nvSpPr>
          <p:cNvPr id="15" name="矩形 14">
            <a:extLst>
              <a:ext uri="{FF2B5EF4-FFF2-40B4-BE49-F238E27FC236}">
                <a16:creationId xmlns:a16="http://schemas.microsoft.com/office/drawing/2014/main" id="{88E64304-A318-44E5-8B2C-DCEFC99551AF}"/>
              </a:ext>
            </a:extLst>
          </p:cNvPr>
          <p:cNvSpPr/>
          <p:nvPr/>
        </p:nvSpPr>
        <p:spPr>
          <a:xfrm>
            <a:off x="7532661"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需求 </a:t>
            </a:r>
          </a:p>
        </p:txBody>
      </p:sp>
      <p:grpSp>
        <p:nvGrpSpPr>
          <p:cNvPr id="10" name="组合 18">
            <a:extLst>
              <a:ext uri="{FF2B5EF4-FFF2-40B4-BE49-F238E27FC236}">
                <a16:creationId xmlns:a16="http://schemas.microsoft.com/office/drawing/2014/main" id="{88F4CD56-40EC-482D-94DE-FCA84CB9659B}"/>
              </a:ext>
            </a:extLst>
          </p:cNvPr>
          <p:cNvGrpSpPr>
            <a:grpSpLocks/>
          </p:cNvGrpSpPr>
          <p:nvPr/>
        </p:nvGrpSpPr>
        <p:grpSpPr bwMode="auto">
          <a:xfrm>
            <a:off x="1462437" y="2949249"/>
            <a:ext cx="6000718" cy="3358087"/>
            <a:chOff x="0" y="0"/>
            <a:chExt cx="6000728" cy="3357554"/>
          </a:xfrm>
        </p:grpSpPr>
        <p:graphicFrame>
          <p:nvGraphicFramePr>
            <p:cNvPr id="13" name="Object 4">
              <a:extLst>
                <a:ext uri="{FF2B5EF4-FFF2-40B4-BE49-F238E27FC236}">
                  <a16:creationId xmlns:a16="http://schemas.microsoft.com/office/drawing/2014/main" id="{0FE45FD8-84EB-46D8-B151-58EDE920A8BF}"/>
                </a:ext>
              </a:extLst>
            </p:cNvPr>
            <p:cNvGraphicFramePr>
              <a:graphicFrameLocks noChangeAspect="1"/>
            </p:cNvGraphicFramePr>
            <p:nvPr/>
          </p:nvGraphicFramePr>
          <p:xfrm>
            <a:off x="1143008" y="440794"/>
            <a:ext cx="212725" cy="230187"/>
          </p:xfrm>
          <a:graphic>
            <a:graphicData uri="http://schemas.openxmlformats.org/presentationml/2006/ole">
              <mc:AlternateContent xmlns:mc="http://schemas.openxmlformats.org/markup-compatibility/2006">
                <mc:Choice xmlns:v="urn:schemas-microsoft-com:vml" Requires="v">
                  <p:oleObj spid="_x0000_s168531" r:id="rId3" imgW="153332" imgH="166109" progId="">
                    <p:embed/>
                  </p:oleObj>
                </mc:Choice>
                <mc:Fallback>
                  <p:oleObj r:id="rId3" imgW="153332" imgH="166109" progId="">
                    <p:embed/>
                    <p:pic>
                      <p:nvPicPr>
                        <p:cNvPr id="13" name="Object 4">
                          <a:extLst>
                            <a:ext uri="{FF2B5EF4-FFF2-40B4-BE49-F238E27FC236}">
                              <a16:creationId xmlns:a16="http://schemas.microsoft.com/office/drawing/2014/main" id="{0FE45FD8-84EB-46D8-B151-58EDE920A8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8" y="440794"/>
                          <a:ext cx="212725"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4" name="组合 17">
              <a:extLst>
                <a:ext uri="{FF2B5EF4-FFF2-40B4-BE49-F238E27FC236}">
                  <a16:creationId xmlns:a16="http://schemas.microsoft.com/office/drawing/2014/main" id="{A04D03E8-94A3-48C3-BA1F-3523147DEB15}"/>
                </a:ext>
              </a:extLst>
            </p:cNvPr>
            <p:cNvGrpSpPr>
              <a:grpSpLocks/>
            </p:cNvGrpSpPr>
            <p:nvPr/>
          </p:nvGrpSpPr>
          <p:grpSpPr bwMode="auto">
            <a:xfrm>
              <a:off x="0" y="0"/>
              <a:ext cx="6000728" cy="3357554"/>
              <a:chOff x="0" y="0"/>
              <a:chExt cx="6000728" cy="3357554"/>
            </a:xfrm>
          </p:grpSpPr>
          <p:grpSp>
            <p:nvGrpSpPr>
              <p:cNvPr id="16" name="组合 14">
                <a:extLst>
                  <a:ext uri="{FF2B5EF4-FFF2-40B4-BE49-F238E27FC236}">
                    <a16:creationId xmlns:a16="http://schemas.microsoft.com/office/drawing/2014/main" id="{F06889BA-C29C-496B-8666-28908B249C91}"/>
                  </a:ext>
                </a:extLst>
              </p:cNvPr>
              <p:cNvGrpSpPr>
                <a:grpSpLocks/>
              </p:cNvGrpSpPr>
              <p:nvPr/>
            </p:nvGrpSpPr>
            <p:grpSpPr bwMode="auto">
              <a:xfrm>
                <a:off x="71438" y="71470"/>
                <a:ext cx="5929290" cy="3286084"/>
                <a:chOff x="32" y="32"/>
                <a:chExt cx="5929290" cy="3286084"/>
              </a:xfrm>
            </p:grpSpPr>
            <p:graphicFrame>
              <p:nvGraphicFramePr>
                <p:cNvPr id="20" name="图表 5">
                  <a:extLst>
                    <a:ext uri="{FF2B5EF4-FFF2-40B4-BE49-F238E27FC236}">
                      <a16:creationId xmlns:a16="http://schemas.microsoft.com/office/drawing/2014/main" id="{A50A1374-96AA-40BA-99EE-CE5DBE1A0629}"/>
                    </a:ext>
                  </a:extLst>
                </p:cNvPr>
                <p:cNvGraphicFramePr>
                  <a:graphicFrameLocks/>
                </p:cNvGraphicFramePr>
                <p:nvPr/>
              </p:nvGraphicFramePr>
              <p:xfrm>
                <a:off x="32" y="32"/>
                <a:ext cx="5929290" cy="328608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1" name="Object 8">
                  <a:extLst>
                    <a:ext uri="{FF2B5EF4-FFF2-40B4-BE49-F238E27FC236}">
                      <a16:creationId xmlns:a16="http://schemas.microsoft.com/office/drawing/2014/main" id="{DDDD1836-4276-43AD-9E50-D58FDF3B5EF2}"/>
                    </a:ext>
                  </a:extLst>
                </p:cNvPr>
                <p:cNvGraphicFramePr>
                  <a:graphicFrameLocks noChangeAspect="1"/>
                </p:cNvGraphicFramePr>
                <p:nvPr/>
              </p:nvGraphicFramePr>
              <p:xfrm>
                <a:off x="1643106" y="571504"/>
                <a:ext cx="212725" cy="230187"/>
              </p:xfrm>
              <a:graphic>
                <a:graphicData uri="http://schemas.openxmlformats.org/presentationml/2006/ole">
                  <mc:AlternateContent xmlns:mc="http://schemas.openxmlformats.org/markup-compatibility/2006">
                    <mc:Choice xmlns:v="urn:schemas-microsoft-com:vml" Requires="v">
                      <p:oleObj spid="_x0000_s168532" r:id="rId6" imgW="153332" imgH="166109" progId="">
                        <p:embed/>
                      </p:oleObj>
                    </mc:Choice>
                    <mc:Fallback>
                      <p:oleObj r:id="rId6" imgW="153332" imgH="166109" progId="">
                        <p:embed/>
                        <p:pic>
                          <p:nvPicPr>
                            <p:cNvPr id="21" name="Object 8">
                              <a:extLst>
                                <a:ext uri="{FF2B5EF4-FFF2-40B4-BE49-F238E27FC236}">
                                  <a16:creationId xmlns:a16="http://schemas.microsoft.com/office/drawing/2014/main" id="{DDDD1836-4276-43AD-9E50-D58FDF3B5EF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43106" y="571504"/>
                              <a:ext cx="212725"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 name="Object 9">
                  <a:extLst>
                    <a:ext uri="{FF2B5EF4-FFF2-40B4-BE49-F238E27FC236}">
                      <a16:creationId xmlns:a16="http://schemas.microsoft.com/office/drawing/2014/main" id="{F67AEF86-5757-4465-BF77-9D454F25FA2D}"/>
                    </a:ext>
                  </a:extLst>
                </p:cNvPr>
                <p:cNvGraphicFramePr>
                  <a:graphicFrameLocks noChangeAspect="1"/>
                </p:cNvGraphicFramePr>
                <p:nvPr/>
              </p:nvGraphicFramePr>
              <p:xfrm>
                <a:off x="2571800" y="857256"/>
                <a:ext cx="212725" cy="247650"/>
              </p:xfrm>
              <a:graphic>
                <a:graphicData uri="http://schemas.openxmlformats.org/presentationml/2006/ole">
                  <mc:AlternateContent xmlns:mc="http://schemas.openxmlformats.org/markup-compatibility/2006">
                    <mc:Choice xmlns:v="urn:schemas-microsoft-com:vml" Requires="v">
                      <p:oleObj spid="_x0000_s168533" r:id="rId8" imgW="153198" imgH="178731" progId="">
                        <p:embed/>
                      </p:oleObj>
                    </mc:Choice>
                    <mc:Fallback>
                      <p:oleObj r:id="rId8" imgW="153198" imgH="178731" progId="">
                        <p:embed/>
                        <p:pic>
                          <p:nvPicPr>
                            <p:cNvPr id="22" name="Object 9">
                              <a:extLst>
                                <a:ext uri="{FF2B5EF4-FFF2-40B4-BE49-F238E27FC236}">
                                  <a16:creationId xmlns:a16="http://schemas.microsoft.com/office/drawing/2014/main" id="{F67AEF86-5757-4465-BF77-9D454F25FA2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71800" y="857256"/>
                              <a:ext cx="212725"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 name="Object 10">
                  <a:extLst>
                    <a:ext uri="{FF2B5EF4-FFF2-40B4-BE49-F238E27FC236}">
                      <a16:creationId xmlns:a16="http://schemas.microsoft.com/office/drawing/2014/main" id="{BCA0B4D8-92EF-4B61-8352-87B5C99EF56E}"/>
                    </a:ext>
                  </a:extLst>
                </p:cNvPr>
                <p:cNvGraphicFramePr>
                  <a:graphicFrameLocks noChangeAspect="1"/>
                </p:cNvGraphicFramePr>
                <p:nvPr/>
              </p:nvGraphicFramePr>
              <p:xfrm>
                <a:off x="4429188" y="1857388"/>
                <a:ext cx="230187" cy="230187"/>
              </p:xfrm>
              <a:graphic>
                <a:graphicData uri="http://schemas.openxmlformats.org/presentationml/2006/ole">
                  <mc:AlternateContent xmlns:mc="http://schemas.openxmlformats.org/markup-compatibility/2006">
                    <mc:Choice xmlns:v="urn:schemas-microsoft-com:vml" Requires="v">
                      <p:oleObj spid="_x0000_s168534" r:id="rId10" imgW="166037" imgH="166037" progId="">
                        <p:embed/>
                      </p:oleObj>
                    </mc:Choice>
                    <mc:Fallback>
                      <p:oleObj r:id="rId10" imgW="166037" imgH="166037" progId="">
                        <p:embed/>
                        <p:pic>
                          <p:nvPicPr>
                            <p:cNvPr id="23" name="Object 10">
                              <a:extLst>
                                <a:ext uri="{FF2B5EF4-FFF2-40B4-BE49-F238E27FC236}">
                                  <a16:creationId xmlns:a16="http://schemas.microsoft.com/office/drawing/2014/main" id="{BCA0B4D8-92EF-4B61-8352-87B5C99EF56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29188" y="1857388"/>
                              <a:ext cx="230187"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 name="Object 11">
                  <a:extLst>
                    <a:ext uri="{FF2B5EF4-FFF2-40B4-BE49-F238E27FC236}">
                      <a16:creationId xmlns:a16="http://schemas.microsoft.com/office/drawing/2014/main" id="{5E648418-F8E6-4699-971A-DB5BFFB40CB2}"/>
                    </a:ext>
                  </a:extLst>
                </p:cNvPr>
                <p:cNvGraphicFramePr>
                  <a:graphicFrameLocks noChangeAspect="1"/>
                </p:cNvGraphicFramePr>
                <p:nvPr/>
              </p:nvGraphicFramePr>
              <p:xfrm>
                <a:off x="3357618" y="1071570"/>
                <a:ext cx="230188" cy="230187"/>
              </p:xfrm>
              <a:graphic>
                <a:graphicData uri="http://schemas.openxmlformats.org/presentationml/2006/ole">
                  <mc:AlternateContent xmlns:mc="http://schemas.openxmlformats.org/markup-compatibility/2006">
                    <mc:Choice xmlns:v="urn:schemas-microsoft-com:vml" Requires="v">
                      <p:oleObj spid="_x0000_s168535" r:id="rId12" imgW="166037" imgH="166037" progId="">
                        <p:embed/>
                      </p:oleObj>
                    </mc:Choice>
                    <mc:Fallback>
                      <p:oleObj r:id="rId12" imgW="166037" imgH="166037" progId="">
                        <p:embed/>
                        <p:pic>
                          <p:nvPicPr>
                            <p:cNvPr id="24" name="Object 11">
                              <a:extLst>
                                <a:ext uri="{FF2B5EF4-FFF2-40B4-BE49-F238E27FC236}">
                                  <a16:creationId xmlns:a16="http://schemas.microsoft.com/office/drawing/2014/main" id="{5E648418-F8E6-4699-971A-DB5BFFB40CB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57618" y="1071570"/>
                              <a:ext cx="230188"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Object 12">
                  <a:extLst>
                    <a:ext uri="{FF2B5EF4-FFF2-40B4-BE49-F238E27FC236}">
                      <a16:creationId xmlns:a16="http://schemas.microsoft.com/office/drawing/2014/main" id="{274B23EE-6501-491F-AC65-500234C3BF06}"/>
                    </a:ext>
                  </a:extLst>
                </p:cNvPr>
                <p:cNvGraphicFramePr>
                  <a:graphicFrameLocks noChangeAspect="1"/>
                </p:cNvGraphicFramePr>
                <p:nvPr/>
              </p:nvGraphicFramePr>
              <p:xfrm>
                <a:off x="4286312" y="1357322"/>
                <a:ext cx="230188" cy="247650"/>
              </p:xfrm>
              <a:graphic>
                <a:graphicData uri="http://schemas.openxmlformats.org/presentationml/2006/ole">
                  <mc:AlternateContent xmlns:mc="http://schemas.openxmlformats.org/markup-compatibility/2006">
                    <mc:Choice xmlns:v="urn:schemas-microsoft-com:vml" Requires="v">
                      <p:oleObj spid="_x0000_s168536" r:id="rId14" imgW="165964" imgH="178731" progId="">
                        <p:embed/>
                      </p:oleObj>
                    </mc:Choice>
                    <mc:Fallback>
                      <p:oleObj r:id="rId14" imgW="165964" imgH="178731" progId="">
                        <p:embed/>
                        <p:pic>
                          <p:nvPicPr>
                            <p:cNvPr id="25" name="Object 12">
                              <a:extLst>
                                <a:ext uri="{FF2B5EF4-FFF2-40B4-BE49-F238E27FC236}">
                                  <a16:creationId xmlns:a16="http://schemas.microsoft.com/office/drawing/2014/main" id="{274B23EE-6501-491F-AC65-500234C3BF0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86312" y="1357322"/>
                              <a:ext cx="230188"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 name="Object 13">
                  <a:extLst>
                    <a:ext uri="{FF2B5EF4-FFF2-40B4-BE49-F238E27FC236}">
                      <a16:creationId xmlns:a16="http://schemas.microsoft.com/office/drawing/2014/main" id="{FA08CBB5-63D2-4C98-83BC-DDBB8A993D2A}"/>
                    </a:ext>
                  </a:extLst>
                </p:cNvPr>
                <p:cNvGraphicFramePr>
                  <a:graphicFrameLocks noChangeAspect="1"/>
                </p:cNvGraphicFramePr>
                <p:nvPr/>
              </p:nvGraphicFramePr>
              <p:xfrm>
                <a:off x="5215006" y="1714512"/>
                <a:ext cx="247650" cy="230187"/>
              </p:xfrm>
              <a:graphic>
                <a:graphicData uri="http://schemas.openxmlformats.org/presentationml/2006/ole">
                  <mc:AlternateContent xmlns:mc="http://schemas.openxmlformats.org/markup-compatibility/2006">
                    <mc:Choice xmlns:v="urn:schemas-microsoft-com:vml" Requires="v">
                      <p:oleObj spid="_x0000_s168537" r:id="rId16" imgW="178731" imgH="165964" progId="">
                        <p:embed/>
                      </p:oleObj>
                    </mc:Choice>
                    <mc:Fallback>
                      <p:oleObj r:id="rId16" imgW="178731" imgH="165964" progId="">
                        <p:embed/>
                        <p:pic>
                          <p:nvPicPr>
                            <p:cNvPr id="26" name="Object 13">
                              <a:extLst>
                                <a:ext uri="{FF2B5EF4-FFF2-40B4-BE49-F238E27FC236}">
                                  <a16:creationId xmlns:a16="http://schemas.microsoft.com/office/drawing/2014/main" id="{FA08CBB5-63D2-4C98-83BC-DDBB8A993D2A}"/>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215006" y="1714512"/>
                              <a:ext cx="247650"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8" name="TextBox 15">
                <a:extLst>
                  <a:ext uri="{FF2B5EF4-FFF2-40B4-BE49-F238E27FC236}">
                    <a16:creationId xmlns:a16="http://schemas.microsoft.com/office/drawing/2014/main" id="{563B1189-438B-4876-B013-2E40FC96A216}"/>
                  </a:ext>
                </a:extLst>
              </p:cNvPr>
              <p:cNvSpPr txBox="1">
                <a:spLocks noChangeArrowheads="1"/>
              </p:cNvSpPr>
              <p:nvPr/>
            </p:nvSpPr>
            <p:spPr bwMode="auto">
              <a:xfrm>
                <a:off x="0" y="0"/>
                <a:ext cx="1872632" cy="3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0" spc="150" dirty="0">
                    <a:solidFill>
                      <a:srgbClr val="000000"/>
                    </a:solidFill>
                    <a:latin typeface="微软雅黑" panose="020B0503020204020204" pitchFamily="34" charset="-122"/>
                    <a:ea typeface="微软雅黑" panose="020B0503020204020204" pitchFamily="34" charset="-122"/>
                  </a:rPr>
                  <a:t>价格（元</a:t>
                </a:r>
                <a:r>
                  <a:rPr lang="en-US" altLang="zh-CN" sz="1600" b="0" spc="150" dirty="0">
                    <a:solidFill>
                      <a:srgbClr val="000000"/>
                    </a:solidFill>
                    <a:latin typeface="微软雅黑" panose="020B0503020204020204" pitchFamily="34" charset="-122"/>
                    <a:ea typeface="微软雅黑" panose="020B0503020204020204" pitchFamily="34" charset="-122"/>
                  </a:rPr>
                  <a:t>/</a:t>
                </a:r>
                <a:r>
                  <a:rPr lang="zh-CN" altLang="en-US" sz="1600" b="0" spc="150" dirty="0">
                    <a:solidFill>
                      <a:srgbClr val="000000"/>
                    </a:solidFill>
                    <a:latin typeface="微软雅黑" panose="020B0503020204020204" pitchFamily="34" charset="-122"/>
                    <a:ea typeface="微软雅黑" panose="020B0503020204020204" pitchFamily="34" charset="-122"/>
                  </a:rPr>
                  <a:t>千克）</a:t>
                </a:r>
              </a:p>
            </p:txBody>
          </p:sp>
          <p:sp>
            <p:nvSpPr>
              <p:cNvPr id="19" name="TextBox 16">
                <a:extLst>
                  <a:ext uri="{FF2B5EF4-FFF2-40B4-BE49-F238E27FC236}">
                    <a16:creationId xmlns:a16="http://schemas.microsoft.com/office/drawing/2014/main" id="{B672CFB2-D473-43F6-B950-4B72CE66CF2B}"/>
                  </a:ext>
                </a:extLst>
              </p:cNvPr>
              <p:cNvSpPr txBox="1">
                <a:spLocks noChangeArrowheads="1"/>
              </p:cNvSpPr>
              <p:nvPr/>
            </p:nvSpPr>
            <p:spPr bwMode="auto">
              <a:xfrm>
                <a:off x="4200267" y="3000396"/>
                <a:ext cx="1755612" cy="3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None/>
                </a:pPr>
                <a:r>
                  <a:rPr lang="zh-CN" altLang="en-US" sz="1600" b="0" spc="150" dirty="0">
                    <a:solidFill>
                      <a:srgbClr val="000000"/>
                    </a:solidFill>
                    <a:latin typeface="微软雅黑" panose="020B0503020204020204" pitchFamily="34" charset="-122"/>
                    <a:ea typeface="微软雅黑" panose="020B0503020204020204" pitchFamily="34" charset="-122"/>
                  </a:rPr>
                  <a:t>需求量（千克）</a:t>
                </a:r>
              </a:p>
            </p:txBody>
          </p:sp>
        </p:grpSp>
      </p:grpSp>
      <p:sp>
        <p:nvSpPr>
          <p:cNvPr id="27" name="KSO_Shape">
            <a:extLst>
              <a:ext uri="{FF2B5EF4-FFF2-40B4-BE49-F238E27FC236}">
                <a16:creationId xmlns:a16="http://schemas.microsoft.com/office/drawing/2014/main" id="{9A0782F8-1A0F-46E1-A81C-13B5F291E8EA}"/>
              </a:ext>
            </a:extLst>
          </p:cNvPr>
          <p:cNvSpPr/>
          <p:nvPr/>
        </p:nvSpPr>
        <p:spPr>
          <a:xfrm>
            <a:off x="1368196" y="2464720"/>
            <a:ext cx="2687217" cy="503853"/>
          </a:xfrm>
          <a:prstGeom prst="roundRect">
            <a:avLst>
              <a:gd name="adj" fmla="val 50000"/>
            </a:avLst>
          </a:prstGeom>
          <a:solidFill>
            <a:srgbClr val="BB152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pc="150" dirty="0">
                <a:solidFill>
                  <a:schemeClr val="bg1"/>
                </a:solidFill>
                <a:latin typeface="微软雅黑" panose="020B0503020204020204" pitchFamily="34" charset="-122"/>
                <a:ea typeface="微软雅黑" panose="020B0503020204020204" pitchFamily="34" charset="-122"/>
              </a:rPr>
              <a:t>曲线</a:t>
            </a:r>
            <a:r>
              <a:rPr lang="en-US" altLang="zh-CN" spc="150" dirty="0">
                <a:solidFill>
                  <a:schemeClr val="bg1"/>
                </a:solidFill>
                <a:latin typeface="微软雅黑" panose="020B0503020204020204" pitchFamily="34" charset="-122"/>
                <a:ea typeface="微软雅黑" panose="020B0503020204020204" pitchFamily="34" charset="-122"/>
              </a:rPr>
              <a:t>—</a:t>
            </a:r>
            <a:r>
              <a:rPr lang="zh-CN" altLang="en-US" spc="150" dirty="0">
                <a:solidFill>
                  <a:schemeClr val="bg1"/>
                </a:solidFill>
                <a:latin typeface="微软雅黑" panose="020B0503020204020204" pitchFamily="34" charset="-122"/>
                <a:ea typeface="微软雅黑" panose="020B0503020204020204" pitchFamily="34" charset="-122"/>
              </a:rPr>
              <a:t>需求曲线</a:t>
            </a:r>
            <a:endParaRPr lang="en-US" altLang="zh-CN" spc="150" dirty="0">
              <a:solidFill>
                <a:schemeClr val="bg1"/>
              </a:solidFill>
              <a:latin typeface="微软雅黑" panose="020B0503020204020204" pitchFamily="34" charset="-122"/>
              <a:ea typeface="微软雅黑" panose="020B0503020204020204" pitchFamily="34" charset="-122"/>
            </a:endParaRPr>
          </a:p>
        </p:txBody>
      </p:sp>
      <p:sp>
        <p:nvSpPr>
          <p:cNvPr id="30" name="矩形: 圆角 29">
            <a:extLst>
              <a:ext uri="{FF2B5EF4-FFF2-40B4-BE49-F238E27FC236}">
                <a16:creationId xmlns:a16="http://schemas.microsoft.com/office/drawing/2014/main" id="{4702085E-15C1-4E90-B3DF-2173105B5C0C}"/>
              </a:ext>
            </a:extLst>
          </p:cNvPr>
          <p:cNvSpPr/>
          <p:nvPr/>
        </p:nvSpPr>
        <p:spPr>
          <a:xfrm>
            <a:off x="970384" y="1119673"/>
            <a:ext cx="5319321" cy="858417"/>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图片 30">
            <a:extLst>
              <a:ext uri="{FF2B5EF4-FFF2-40B4-BE49-F238E27FC236}">
                <a16:creationId xmlns:a16="http://schemas.microsoft.com/office/drawing/2014/main" id="{A2720330-7FD0-4D31-9B4A-9AD38381CB5A}"/>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5444686" y="1095414"/>
            <a:ext cx="1065715" cy="1065715"/>
          </a:xfrm>
          <a:prstGeom prst="rect">
            <a:avLst/>
          </a:prstGeom>
        </p:spPr>
      </p:pic>
      <p:sp>
        <p:nvSpPr>
          <p:cNvPr id="32" name="矩形 31">
            <a:extLst>
              <a:ext uri="{FF2B5EF4-FFF2-40B4-BE49-F238E27FC236}">
                <a16:creationId xmlns:a16="http://schemas.microsoft.com/office/drawing/2014/main" id="{D42FBAF9-BE7A-4601-ADF0-7D224C9641EC}"/>
              </a:ext>
            </a:extLst>
          </p:cNvPr>
          <p:cNvSpPr/>
          <p:nvPr/>
        </p:nvSpPr>
        <p:spPr>
          <a:xfrm>
            <a:off x="970384" y="1310478"/>
            <a:ext cx="4474302" cy="458908"/>
          </a:xfrm>
          <a:prstGeom prst="rect">
            <a:avLst/>
          </a:prstGeom>
        </p:spPr>
        <p:txBody>
          <a:bodyPr wrap="none">
            <a:spAutoFit/>
          </a:bodyPr>
          <a:lstStyle/>
          <a:p>
            <a:pPr marL="285750" indent="-285750">
              <a:lnSpc>
                <a:spcPct val="150000"/>
              </a:lnSpc>
              <a:spcBef>
                <a:spcPct val="0"/>
              </a:spcBef>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如何表示需求量和价格之间的关系？</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34" name="矩形 33">
            <a:extLst>
              <a:ext uri="{FF2B5EF4-FFF2-40B4-BE49-F238E27FC236}">
                <a16:creationId xmlns:a16="http://schemas.microsoft.com/office/drawing/2014/main" id="{E7296016-8746-4BC1-977C-508EFAE6F327}"/>
              </a:ext>
            </a:extLst>
          </p:cNvPr>
          <p:cNvSpPr/>
          <p:nvPr/>
        </p:nvSpPr>
        <p:spPr>
          <a:xfrm>
            <a:off x="1299174" y="1968165"/>
            <a:ext cx="3185487" cy="458908"/>
          </a:xfrm>
          <a:prstGeom prst="rect">
            <a:avLst/>
          </a:prstGeom>
        </p:spPr>
        <p:txBody>
          <a:bodyPr wrap="none">
            <a:spAutoFit/>
          </a:bodyPr>
          <a:lstStyle/>
          <a:p>
            <a:pPr>
              <a:lnSpc>
                <a:spcPct val="150000"/>
              </a:lnSpc>
              <a:spcBef>
                <a:spcPct val="0"/>
              </a:spcBef>
            </a:pPr>
            <a:r>
              <a:rPr lang="zh-CN" altLang="en-US" spc="150" dirty="0">
                <a:solidFill>
                  <a:srgbClr val="000000"/>
                </a:solidFill>
                <a:latin typeface="微软雅黑" panose="020B0503020204020204" pitchFamily="34" charset="-122"/>
                <a:ea typeface="微软雅黑" panose="020B0503020204020204" pitchFamily="34" charset="-122"/>
              </a:rPr>
              <a:t>以消费者对苹果的需求为例</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4A97AFD9-E7C6-419A-BFE5-473A03F9438C}"/>
              </a:ext>
            </a:extLst>
          </p:cNvPr>
          <p:cNvSpPr txBox="1"/>
          <p:nvPr/>
        </p:nvSpPr>
        <p:spPr>
          <a:xfrm>
            <a:off x="6748840" y="2464720"/>
            <a:ext cx="2215648" cy="923330"/>
          </a:xfrm>
          <a:prstGeom prst="rect">
            <a:avLst/>
          </a:prstGeom>
          <a:noFill/>
        </p:spPr>
        <p:txBody>
          <a:bodyPr wrap="square" rtlCol="0">
            <a:spAutoFit/>
          </a:bodyPr>
          <a:lstStyle/>
          <a:p>
            <a:r>
              <a:rPr lang="zh-CN" altLang="en-US" dirty="0">
                <a:solidFill>
                  <a:srgbClr val="BB1528"/>
                </a:solidFill>
              </a:rPr>
              <a:t>注意：我们习惯上将需求量</a:t>
            </a:r>
            <a:r>
              <a:rPr lang="en-US" altLang="zh-CN" dirty="0">
                <a:solidFill>
                  <a:srgbClr val="BB1528"/>
                </a:solidFill>
              </a:rPr>
              <a:t>Q</a:t>
            </a:r>
            <a:r>
              <a:rPr lang="zh-CN" altLang="en-US" dirty="0">
                <a:solidFill>
                  <a:srgbClr val="BB1528"/>
                </a:solidFill>
              </a:rPr>
              <a:t>放在横轴，价格放在纵轴。</a:t>
            </a:r>
          </a:p>
        </p:txBody>
      </p:sp>
    </p:spTree>
    <p:extLst>
      <p:ext uri="{BB962C8B-B14F-4D97-AF65-F5344CB8AC3E}">
        <p14:creationId xmlns:p14="http://schemas.microsoft.com/office/powerpoint/2010/main" val="3715123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F5501FC4-6109-488A-9E7B-E591DF9E4D96}"/>
              </a:ext>
            </a:extLst>
          </p:cNvPr>
          <p:cNvSpPr/>
          <p:nvPr/>
        </p:nvSpPr>
        <p:spPr>
          <a:xfrm>
            <a:off x="970384" y="1119673"/>
            <a:ext cx="5319321" cy="858417"/>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F68E5273-CD77-47B9-B841-9D29349C133D}"/>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defTabSz="914400" fontAlgn="base">
              <a:spcBef>
                <a:spcPct val="0"/>
              </a:spcBef>
              <a:spcAft>
                <a:spcPct val="0"/>
              </a:spcAft>
              <a:defRPr/>
            </a:pPr>
            <a:r>
              <a:rPr lang="zh-CN" altLang="en-US" sz="2400" b="1" spc="150" dirty="0">
                <a:solidFill>
                  <a:srgbClr val="FFFFFF"/>
                </a:solidFill>
                <a:latin typeface="微软雅黑" panose="020B0503020204020204" pitchFamily="34" charset="-122"/>
                <a:ea typeface="微软雅黑" panose="020B0503020204020204" pitchFamily="34" charset="-122"/>
              </a:rPr>
              <a:t>一、需求的概念</a:t>
            </a:r>
          </a:p>
        </p:txBody>
      </p:sp>
      <p:sp>
        <p:nvSpPr>
          <p:cNvPr id="15" name="矩形 14">
            <a:extLst>
              <a:ext uri="{FF2B5EF4-FFF2-40B4-BE49-F238E27FC236}">
                <a16:creationId xmlns:a16="http://schemas.microsoft.com/office/drawing/2014/main" id="{88E64304-A318-44E5-8B2C-DCEFC99551AF}"/>
              </a:ext>
            </a:extLst>
          </p:cNvPr>
          <p:cNvSpPr/>
          <p:nvPr/>
        </p:nvSpPr>
        <p:spPr>
          <a:xfrm>
            <a:off x="7532661"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需求 </a:t>
            </a:r>
          </a:p>
        </p:txBody>
      </p:sp>
      <p:pic>
        <p:nvPicPr>
          <p:cNvPr id="4" name="图片 3">
            <a:extLst>
              <a:ext uri="{FF2B5EF4-FFF2-40B4-BE49-F238E27FC236}">
                <a16:creationId xmlns:a16="http://schemas.microsoft.com/office/drawing/2014/main" id="{26C14FD7-288B-4EBC-97AB-25CDCA7265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44686" y="1095414"/>
            <a:ext cx="1065715" cy="1065715"/>
          </a:xfrm>
          <a:prstGeom prst="rect">
            <a:avLst/>
          </a:prstGeom>
        </p:spPr>
      </p:pic>
      <p:sp>
        <p:nvSpPr>
          <p:cNvPr id="12" name="矩形 11">
            <a:extLst>
              <a:ext uri="{FF2B5EF4-FFF2-40B4-BE49-F238E27FC236}">
                <a16:creationId xmlns:a16="http://schemas.microsoft.com/office/drawing/2014/main" id="{F2E1D167-2D51-47EE-8CA8-1E1607A3745D}"/>
              </a:ext>
            </a:extLst>
          </p:cNvPr>
          <p:cNvSpPr/>
          <p:nvPr/>
        </p:nvSpPr>
        <p:spPr>
          <a:xfrm>
            <a:off x="970384" y="1310478"/>
            <a:ext cx="4474302" cy="458908"/>
          </a:xfrm>
          <a:prstGeom prst="rect">
            <a:avLst/>
          </a:prstGeom>
        </p:spPr>
        <p:txBody>
          <a:bodyPr wrap="none">
            <a:spAutoFit/>
          </a:bodyPr>
          <a:lstStyle/>
          <a:p>
            <a:pPr marL="285750" indent="-285750">
              <a:lnSpc>
                <a:spcPct val="150000"/>
              </a:lnSpc>
              <a:spcBef>
                <a:spcPct val="0"/>
              </a:spcBef>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如何表示需求量和价格之间的关系？</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28" name="KSO_Shape">
            <a:extLst>
              <a:ext uri="{FF2B5EF4-FFF2-40B4-BE49-F238E27FC236}">
                <a16:creationId xmlns:a16="http://schemas.microsoft.com/office/drawing/2014/main" id="{F91E9D36-B1A1-4122-9C43-B7EE72F70046}"/>
              </a:ext>
            </a:extLst>
          </p:cNvPr>
          <p:cNvSpPr/>
          <p:nvPr/>
        </p:nvSpPr>
        <p:spPr>
          <a:xfrm>
            <a:off x="1429294" y="2858772"/>
            <a:ext cx="2687217" cy="503853"/>
          </a:xfrm>
          <a:prstGeom prst="roundRect">
            <a:avLst>
              <a:gd name="adj" fmla="val 50000"/>
            </a:avLst>
          </a:prstGeom>
          <a:solidFill>
            <a:srgbClr val="BB152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pc="150" dirty="0">
                <a:solidFill>
                  <a:schemeClr val="bg1"/>
                </a:solidFill>
                <a:latin typeface="微软雅黑" panose="020B0503020204020204" pitchFamily="34" charset="-122"/>
                <a:ea typeface="微软雅黑" panose="020B0503020204020204" pitchFamily="34" charset="-122"/>
              </a:rPr>
              <a:t>公式</a:t>
            </a:r>
            <a:r>
              <a:rPr lang="en-US" altLang="zh-CN" spc="150" dirty="0">
                <a:solidFill>
                  <a:schemeClr val="bg1"/>
                </a:solidFill>
                <a:latin typeface="微软雅黑" panose="020B0503020204020204" pitchFamily="34" charset="-122"/>
                <a:ea typeface="微软雅黑" panose="020B0503020204020204" pitchFamily="34" charset="-122"/>
              </a:rPr>
              <a:t>—</a:t>
            </a:r>
            <a:r>
              <a:rPr lang="zh-CN" altLang="en-US" spc="150" dirty="0">
                <a:solidFill>
                  <a:schemeClr val="bg1"/>
                </a:solidFill>
                <a:latin typeface="微软雅黑" panose="020B0503020204020204" pitchFamily="34" charset="-122"/>
                <a:ea typeface="微软雅黑" panose="020B0503020204020204" pitchFamily="34" charset="-122"/>
              </a:rPr>
              <a:t>需求函数</a:t>
            </a:r>
            <a:endParaRPr lang="en-US" altLang="zh-CN" spc="150"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2F1D2E82-C64A-4D3B-869E-F531575B6DA6}"/>
                  </a:ext>
                </a:extLst>
              </p:cNvPr>
              <p:cNvGraphicFramePr>
                <a:graphicFrameLocks noGrp="1"/>
              </p:cNvGraphicFramePr>
              <p:nvPr/>
            </p:nvGraphicFramePr>
            <p:xfrm>
              <a:off x="1436661" y="3878930"/>
              <a:ext cx="6096000" cy="136536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3760116452"/>
                        </a:ext>
                      </a:extLst>
                    </a:gridCol>
                    <a:gridCol w="4064000">
                      <a:extLst>
                        <a:ext uri="{9D8B030D-6E8A-4147-A177-3AD203B41FA5}">
                          <a16:colId xmlns:a16="http://schemas.microsoft.com/office/drawing/2014/main" val="3423923078"/>
                        </a:ext>
                      </a:extLst>
                    </a:gridCol>
                  </a:tblGrid>
                  <a:tr h="682680">
                    <a:tc>
                      <a:txBody>
                        <a:bodyPr/>
                        <a:lstStyle/>
                        <a:p>
                          <a:pPr algn="ctr"/>
                          <a:r>
                            <a:rPr lang="zh-CN" altLang="en-US" sz="1800" kern="1200" spc="150" dirty="0">
                              <a:solidFill>
                                <a:schemeClr val="tx1"/>
                              </a:solidFill>
                              <a:latin typeface="微软雅黑" panose="020B0503020204020204" pitchFamily="34" charset="-122"/>
                              <a:ea typeface="微软雅黑" panose="020B0503020204020204" pitchFamily="34" charset="-122"/>
                              <a:cs typeface="+mn-cs"/>
                            </a:rPr>
                            <a:t>一般形式 </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14:m>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𝑄</m:t>
                                  </m:r>
                                </m:e>
                                <m:sup>
                                  <m:r>
                                    <a:rPr lang="en-US" altLang="zh-CN" sz="2400" b="0" i="1" smtClean="0">
                                      <a:latin typeface="Cambria Math" panose="02040503050406030204" pitchFamily="18" charset="0"/>
                                    </a:rPr>
                                    <m:t>𝑑</m:t>
                                  </m:r>
                                </m:sup>
                              </m:sSup>
                            </m:oMath>
                          </a14:m>
                          <a:r>
                            <a:rPr lang="en-US" altLang="zh-CN" sz="2400" b="0" i="0" kern="1200" dirty="0">
                              <a:solidFill>
                                <a:schemeClr val="tx1"/>
                              </a:solidFill>
                              <a:latin typeface="Cambria Math" panose="02040503050406030204" pitchFamily="18" charset="0"/>
                              <a:ea typeface="+mn-ea"/>
                              <a:cs typeface="+mn-cs"/>
                            </a:rPr>
                            <a:t>=D(P)               </a:t>
                          </a:r>
                          <a14:m>
                            <m:oMath xmlns:m="http://schemas.openxmlformats.org/officeDocument/2006/math">
                              <m:sSup>
                                <m:sSupPr>
                                  <m:ctrlPr>
                                    <a:rPr lang="en-US" altLang="zh-CN" sz="2400" i="1" dirty="0" smtClean="0">
                                      <a:latin typeface="Cambria Math" panose="02040503050406030204" pitchFamily="18" charset="0"/>
                                    </a:rPr>
                                  </m:ctrlPr>
                                </m:sSupPr>
                                <m:e>
                                  <m:r>
                                    <a:rPr lang="en-US" altLang="zh-CN" sz="2400" i="1" dirty="0" smtClean="0">
                                      <a:latin typeface="Cambria Math" panose="02040503050406030204" pitchFamily="18" charset="0"/>
                                    </a:rPr>
                                    <m:t>𝐷</m:t>
                                  </m:r>
                                </m:e>
                                <m:sup>
                                  <m:r>
                                    <a:rPr lang="en-US" altLang="zh-CN" sz="2400" b="0" i="1" dirty="0" smtClean="0">
                                      <a:latin typeface="Cambria Math" panose="02040503050406030204" pitchFamily="18" charset="0"/>
                                    </a:rPr>
                                    <m:t>′</m:t>
                                  </m:r>
                                </m:sup>
                              </m:sSup>
                            </m:oMath>
                          </a14:m>
                          <a:r>
                            <a:rPr lang="zh-CN" altLang="en-US" sz="2400" dirty="0"/>
                            <a:t>＜</a:t>
                          </a:r>
                          <a:r>
                            <a:rPr lang="en-US" altLang="zh-CN" sz="2400" dirty="0"/>
                            <a:t>0</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559779"/>
                      </a:ext>
                    </a:extLst>
                  </a:tr>
                  <a:tr h="682680">
                    <a:tc>
                      <a:txBody>
                        <a:bodyPr/>
                        <a:lstStyle/>
                        <a:p>
                          <a:pPr algn="ctr"/>
                          <a:r>
                            <a:rPr lang="zh-CN" altLang="en-US" sz="1800" kern="1200" spc="150" dirty="0">
                              <a:solidFill>
                                <a:schemeClr val="tx1"/>
                              </a:solidFill>
                              <a:latin typeface="微软雅黑" panose="020B0503020204020204" pitchFamily="34" charset="-122"/>
                              <a:ea typeface="微软雅黑" panose="020B0503020204020204" pitchFamily="34" charset="-122"/>
                              <a:cs typeface="+mn-cs"/>
                            </a:rPr>
                            <a:t>具体例子 </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l"/>
                          <a14:m>
                            <m:oMath xmlns:m="http://schemas.openxmlformats.org/officeDocument/2006/math">
                              <m:sSup>
                                <m:sSupPr>
                                  <m:ctrlPr>
                                    <a:rPr lang="en-US" altLang="zh-CN" sz="2400" b="0" i="1" kern="1200" smtClean="0">
                                      <a:solidFill>
                                        <a:schemeClr val="tx1"/>
                                      </a:solidFill>
                                      <a:latin typeface="Cambria Math" panose="02040503050406030204" pitchFamily="18" charset="0"/>
                                      <a:ea typeface="+mn-ea"/>
                                      <a:cs typeface="+mn-cs"/>
                                    </a:rPr>
                                  </m:ctrlPr>
                                </m:sSupPr>
                                <m:e>
                                  <m:r>
                                    <a:rPr lang="en-US" altLang="zh-CN" sz="2400" b="0" i="0" kern="1200" smtClean="0">
                                      <a:solidFill>
                                        <a:schemeClr val="tx1"/>
                                      </a:solidFill>
                                      <a:latin typeface="Cambria Math" panose="02040503050406030204" pitchFamily="18" charset="0"/>
                                      <a:ea typeface="+mn-ea"/>
                                      <a:cs typeface="+mn-cs"/>
                                    </a:rPr>
                                    <m:t>     </m:t>
                                  </m:r>
                                  <m:r>
                                    <a:rPr lang="en-US" altLang="zh-CN" sz="2400" b="0" i="0" kern="1200" smtClean="0">
                                      <a:solidFill>
                                        <a:schemeClr val="tx1"/>
                                      </a:solidFill>
                                      <a:latin typeface="Cambria Math" panose="02040503050406030204" pitchFamily="18" charset="0"/>
                                      <a:ea typeface="+mn-ea"/>
                                      <a:cs typeface="+mn-cs"/>
                                    </a:rPr>
                                    <m:t>𝑄</m:t>
                                  </m:r>
                                </m:e>
                                <m:sup>
                                  <m:r>
                                    <a:rPr lang="en-US" altLang="zh-CN" sz="2400" b="0" i="0" kern="1200" smtClean="0">
                                      <a:solidFill>
                                        <a:schemeClr val="tx1"/>
                                      </a:solidFill>
                                      <a:latin typeface="Cambria Math" panose="02040503050406030204" pitchFamily="18" charset="0"/>
                                      <a:ea typeface="+mn-ea"/>
                                      <a:cs typeface="+mn-cs"/>
                                    </a:rPr>
                                    <m:t>𝑑</m:t>
                                  </m:r>
                                </m:sup>
                              </m:sSup>
                            </m:oMath>
                          </a14:m>
                          <a:r>
                            <a:rPr lang="en-US" altLang="zh-CN" sz="2400" b="0" i="0" kern="1200" dirty="0">
                              <a:solidFill>
                                <a:schemeClr val="tx1"/>
                              </a:solidFill>
                              <a:latin typeface="Cambria Math" panose="02040503050406030204" pitchFamily="18" charset="0"/>
                              <a:ea typeface="+mn-ea"/>
                              <a:cs typeface="+mn-cs"/>
                            </a:rPr>
                            <a:t>=</a:t>
                          </a:r>
                          <a14:m>
                            <m:oMath xmlns:m="http://schemas.openxmlformats.org/officeDocument/2006/math">
                              <m:r>
                                <a:rPr lang="zh-CN" altLang="en-US" sz="2400" b="0" i="0" kern="1200" dirty="0" smtClean="0">
                                  <a:solidFill>
                                    <a:schemeClr val="tx1"/>
                                  </a:solidFill>
                                  <a:latin typeface="Cambria Math" panose="02040503050406030204" pitchFamily="18" charset="0"/>
                                  <a:ea typeface="+mn-ea"/>
                                  <a:cs typeface="+mn-cs"/>
                                </a:rPr>
                                <m:t>𝛼</m:t>
                              </m:r>
                              <m:r>
                                <a:rPr lang="en-US" altLang="zh-CN" sz="2400" b="0" i="0" kern="1200" dirty="0" smtClean="0">
                                  <a:solidFill>
                                    <a:schemeClr val="tx1"/>
                                  </a:solidFill>
                                  <a:latin typeface="Cambria Math" panose="02040503050406030204" pitchFamily="18" charset="0"/>
                                  <a:ea typeface="+mn-ea"/>
                                  <a:cs typeface="+mn-cs"/>
                                </a:rPr>
                                <m:t>−</m:t>
                              </m:r>
                              <m:r>
                                <a:rPr lang="zh-CN" altLang="en-US" sz="2400" b="0" i="0" kern="1200" dirty="0" smtClean="0">
                                  <a:solidFill>
                                    <a:schemeClr val="tx1"/>
                                  </a:solidFill>
                                  <a:latin typeface="Cambria Math" panose="02040503050406030204" pitchFamily="18" charset="0"/>
                                  <a:ea typeface="+mn-ea"/>
                                  <a:cs typeface="+mn-cs"/>
                                </a:rPr>
                                <m:t>𝛽</m:t>
                              </m:r>
                              <m:r>
                                <a:rPr lang="en-US" altLang="zh-CN" sz="2400" b="0" i="0" kern="1200" dirty="0" smtClean="0">
                                  <a:solidFill>
                                    <a:schemeClr val="tx1"/>
                                  </a:solidFill>
                                  <a:latin typeface="Cambria Math" panose="02040503050406030204" pitchFamily="18" charset="0"/>
                                  <a:ea typeface="+mn-ea"/>
                                  <a:cs typeface="+mn-cs"/>
                                </a:rPr>
                                <m:t>𝑃</m:t>
                              </m:r>
                              <m:r>
                                <a:rPr lang="en-US" altLang="zh-CN" sz="2400" b="0" i="0" kern="1200" dirty="0" smtClean="0">
                                  <a:solidFill>
                                    <a:schemeClr val="tx1"/>
                                  </a:solidFill>
                                  <a:latin typeface="Cambria Math" panose="02040503050406030204" pitchFamily="18" charset="0"/>
                                  <a:ea typeface="+mn-ea"/>
                                  <a:cs typeface="+mn-cs"/>
                                </a:rPr>
                                <m:t>       </m:t>
                              </m:r>
                              <m:r>
                                <a:rPr lang="zh-CN" altLang="en-US" sz="2400" b="0" i="0" kern="1200" dirty="0" smtClean="0">
                                  <a:solidFill>
                                    <a:schemeClr val="tx1"/>
                                  </a:solidFill>
                                  <a:latin typeface="Cambria Math" panose="02040503050406030204" pitchFamily="18" charset="0"/>
                                  <a:ea typeface="+mn-ea"/>
                                  <a:cs typeface="+mn-cs"/>
                                </a:rPr>
                                <m:t>𝛼</m:t>
                              </m:r>
                              <m:r>
                                <a:rPr lang="zh-CN" altLang="en-US" sz="2400" b="0" i="0" kern="1200" dirty="0" smtClean="0">
                                  <a:solidFill>
                                    <a:schemeClr val="tx1"/>
                                  </a:solidFill>
                                  <a:latin typeface="Cambria Math" panose="02040503050406030204" pitchFamily="18" charset="0"/>
                                  <a:ea typeface="+mn-ea"/>
                                  <a:cs typeface="+mn-cs"/>
                                </a:rPr>
                                <m:t>＞</m:t>
                              </m:r>
                            </m:oMath>
                          </a14:m>
                          <a:r>
                            <a:rPr lang="en-US" altLang="zh-CN" sz="2400" b="0" i="0" kern="1200" dirty="0">
                              <a:solidFill>
                                <a:schemeClr val="tx1"/>
                              </a:solidFill>
                              <a:latin typeface="Cambria Math" panose="02040503050406030204" pitchFamily="18" charset="0"/>
                              <a:ea typeface="+mn-ea"/>
                              <a:cs typeface="+mn-cs"/>
                            </a:rPr>
                            <a:t>0,</a:t>
                          </a:r>
                          <a14:m>
                            <m:oMath xmlns:m="http://schemas.openxmlformats.org/officeDocument/2006/math">
                              <m:r>
                                <a:rPr lang="zh-CN" altLang="en-US" sz="2400" b="0" i="0" kern="1200" smtClean="0">
                                  <a:solidFill>
                                    <a:schemeClr val="tx1"/>
                                  </a:solidFill>
                                  <a:latin typeface="Cambria Math" panose="02040503050406030204" pitchFamily="18" charset="0"/>
                                  <a:ea typeface="+mn-ea"/>
                                  <a:cs typeface="+mn-cs"/>
                                </a:rPr>
                                <m:t>𝛽</m:t>
                              </m:r>
                            </m:oMath>
                          </a14:m>
                          <a:r>
                            <a:rPr lang="zh-CN" altLang="en-US" sz="2400" b="0" i="0" kern="1200" dirty="0">
                              <a:solidFill>
                                <a:schemeClr val="tx1"/>
                              </a:solidFill>
                              <a:latin typeface="Cambria Math" panose="02040503050406030204" pitchFamily="18" charset="0"/>
                              <a:ea typeface="+mn-ea"/>
                              <a:cs typeface="+mn-cs"/>
                            </a:rPr>
                            <a:t>＞</a:t>
                          </a:r>
                          <a:r>
                            <a:rPr lang="en-US" altLang="zh-CN" sz="2400" b="0" i="0" kern="1200" dirty="0">
                              <a:solidFill>
                                <a:schemeClr val="tx1"/>
                              </a:solidFill>
                              <a:latin typeface="Cambria Math" panose="02040503050406030204" pitchFamily="18" charset="0"/>
                              <a:ea typeface="+mn-ea"/>
                              <a:cs typeface="+mn-cs"/>
                            </a:rPr>
                            <a:t>0</a:t>
                          </a:r>
                          <a:endParaRPr lang="zh-CN" altLang="en-US" sz="2400" b="0" i="0" kern="1200" dirty="0">
                            <a:solidFill>
                              <a:schemeClr val="tx1"/>
                            </a:solidFill>
                            <a:latin typeface="Cambria Math" panose="02040503050406030204" pitchFamily="18" charset="0"/>
                            <a:ea typeface="+mn-ea"/>
                            <a:cs typeface="+mn-cs"/>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0459254"/>
                      </a:ext>
                    </a:extLst>
                  </a:tr>
                </a:tbl>
              </a:graphicData>
            </a:graphic>
          </p:graphicFrame>
        </mc:Choice>
        <mc:Fallback xmlns="">
          <p:graphicFrame>
            <p:nvGraphicFramePr>
              <p:cNvPr id="3" name="表格 2">
                <a:extLst>
                  <a:ext uri="{FF2B5EF4-FFF2-40B4-BE49-F238E27FC236}">
                    <a16:creationId xmlns:a16="http://schemas.microsoft.com/office/drawing/2014/main" id="{2F1D2E82-C64A-4D3B-869E-F531575B6DA6}"/>
                  </a:ext>
                </a:extLst>
              </p:cNvPr>
              <p:cNvGraphicFramePr>
                <a:graphicFrameLocks noGrp="1"/>
              </p:cNvGraphicFramePr>
              <p:nvPr>
                <p:extLst>
                  <p:ext uri="{D42A27DB-BD31-4B8C-83A1-F6EECF244321}">
                    <p14:modId xmlns:p14="http://schemas.microsoft.com/office/powerpoint/2010/main" val="3238241393"/>
                  </p:ext>
                </p:extLst>
              </p:nvPr>
            </p:nvGraphicFramePr>
            <p:xfrm>
              <a:off x="1436661" y="3878930"/>
              <a:ext cx="6096000" cy="136536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3760116452"/>
                        </a:ext>
                      </a:extLst>
                    </a:gridCol>
                    <a:gridCol w="4064000">
                      <a:extLst>
                        <a:ext uri="{9D8B030D-6E8A-4147-A177-3AD203B41FA5}">
                          <a16:colId xmlns:a16="http://schemas.microsoft.com/office/drawing/2014/main" val="3423923078"/>
                        </a:ext>
                      </a:extLst>
                    </a:gridCol>
                  </a:tblGrid>
                  <a:tr h="682680">
                    <a:tc>
                      <a:txBody>
                        <a:bodyPr/>
                        <a:lstStyle/>
                        <a:p>
                          <a:pPr algn="ctr"/>
                          <a:r>
                            <a:rPr lang="zh-CN" altLang="en-US" sz="1800" kern="1200" spc="150" dirty="0">
                              <a:solidFill>
                                <a:schemeClr val="tx1"/>
                              </a:solidFill>
                              <a:latin typeface="微软雅黑" panose="020B0503020204020204" pitchFamily="34" charset="-122"/>
                              <a:ea typeface="微软雅黑" panose="020B0503020204020204" pitchFamily="34" charset="-122"/>
                              <a:cs typeface="+mn-cs"/>
                            </a:rPr>
                            <a:t>一般形式 </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zh-CN"/>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50375" t="-2655" r="-750" b="-103540"/>
                          </a:stretch>
                        </a:blipFill>
                      </a:tcPr>
                    </a:tc>
                    <a:extLst>
                      <a:ext uri="{0D108BD9-81ED-4DB2-BD59-A6C34878D82A}">
                        <a16:rowId xmlns:a16="http://schemas.microsoft.com/office/drawing/2014/main" val="265559779"/>
                      </a:ext>
                    </a:extLst>
                  </a:tr>
                  <a:tr h="682680">
                    <a:tc>
                      <a:txBody>
                        <a:bodyPr/>
                        <a:lstStyle/>
                        <a:p>
                          <a:pPr algn="ctr"/>
                          <a:r>
                            <a:rPr lang="zh-CN" altLang="en-US" sz="1800" kern="1200" spc="150" dirty="0">
                              <a:solidFill>
                                <a:schemeClr val="tx1"/>
                              </a:solidFill>
                              <a:latin typeface="微软雅黑" panose="020B0503020204020204" pitchFamily="34" charset="-122"/>
                              <a:ea typeface="微软雅黑" panose="020B0503020204020204" pitchFamily="34" charset="-122"/>
                              <a:cs typeface="+mn-cs"/>
                            </a:rPr>
                            <a:t>具体例子 </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zh-CN"/>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50375" t="-103571" r="-750" b="-4464"/>
                          </a:stretch>
                        </a:blipFill>
                      </a:tcPr>
                    </a:tc>
                    <a:extLst>
                      <a:ext uri="{0D108BD9-81ED-4DB2-BD59-A6C34878D82A}">
                        <a16:rowId xmlns:a16="http://schemas.microsoft.com/office/drawing/2014/main" val="4200459254"/>
                      </a:ext>
                    </a:extLst>
                  </a:tr>
                </a:tbl>
              </a:graphicData>
            </a:graphic>
          </p:graphicFrame>
        </mc:Fallback>
      </mc:AlternateContent>
      <p:sp>
        <p:nvSpPr>
          <p:cNvPr id="10" name="矩形 9">
            <a:extLst>
              <a:ext uri="{FF2B5EF4-FFF2-40B4-BE49-F238E27FC236}">
                <a16:creationId xmlns:a16="http://schemas.microsoft.com/office/drawing/2014/main" id="{62C2827F-01FB-438D-944D-3AD41012E92D}"/>
              </a:ext>
            </a:extLst>
          </p:cNvPr>
          <p:cNvSpPr/>
          <p:nvPr/>
        </p:nvSpPr>
        <p:spPr>
          <a:xfrm>
            <a:off x="1299174" y="1968165"/>
            <a:ext cx="3185487" cy="458908"/>
          </a:xfrm>
          <a:prstGeom prst="rect">
            <a:avLst/>
          </a:prstGeom>
        </p:spPr>
        <p:txBody>
          <a:bodyPr wrap="none">
            <a:spAutoFit/>
          </a:bodyPr>
          <a:lstStyle/>
          <a:p>
            <a:pPr>
              <a:lnSpc>
                <a:spcPct val="150000"/>
              </a:lnSpc>
              <a:spcBef>
                <a:spcPct val="0"/>
              </a:spcBef>
            </a:pPr>
            <a:r>
              <a:rPr lang="zh-CN" altLang="en-US" spc="150" dirty="0">
                <a:solidFill>
                  <a:srgbClr val="000000"/>
                </a:solidFill>
                <a:latin typeface="微软雅黑" panose="020B0503020204020204" pitchFamily="34" charset="-122"/>
                <a:ea typeface="微软雅黑" panose="020B0503020204020204" pitchFamily="34" charset="-122"/>
              </a:rPr>
              <a:t>以消费者对苹果的需求为例</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40211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68E5273-CD77-47B9-B841-9D29349C133D}"/>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defTabSz="914400" fontAlgn="base">
              <a:spcBef>
                <a:spcPct val="0"/>
              </a:spcBef>
              <a:spcAft>
                <a:spcPct val="0"/>
              </a:spcAft>
              <a:defRPr/>
            </a:pPr>
            <a:r>
              <a:rPr lang="zh-CN" altLang="en-US" sz="2400" b="1" spc="150" dirty="0">
                <a:solidFill>
                  <a:srgbClr val="FFFFFF"/>
                </a:solidFill>
                <a:latin typeface="微软雅黑" panose="020B0503020204020204" pitchFamily="34" charset="-122"/>
                <a:ea typeface="微软雅黑" panose="020B0503020204020204" pitchFamily="34" charset="-122"/>
              </a:rPr>
              <a:t>一、需求的概念</a:t>
            </a:r>
          </a:p>
        </p:txBody>
      </p:sp>
      <p:sp>
        <p:nvSpPr>
          <p:cNvPr id="15" name="矩形 14">
            <a:extLst>
              <a:ext uri="{FF2B5EF4-FFF2-40B4-BE49-F238E27FC236}">
                <a16:creationId xmlns:a16="http://schemas.microsoft.com/office/drawing/2014/main" id="{88E64304-A318-44E5-8B2C-DCEFC99551AF}"/>
              </a:ext>
            </a:extLst>
          </p:cNvPr>
          <p:cNvSpPr/>
          <p:nvPr/>
        </p:nvSpPr>
        <p:spPr>
          <a:xfrm>
            <a:off x="7532661"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需求 </a:t>
            </a:r>
          </a:p>
        </p:txBody>
      </p:sp>
      <p:sp>
        <p:nvSpPr>
          <p:cNvPr id="10" name="MH_SubTitle_1">
            <a:extLst>
              <a:ext uri="{FF2B5EF4-FFF2-40B4-BE49-F238E27FC236}">
                <a16:creationId xmlns:a16="http://schemas.microsoft.com/office/drawing/2014/main" id="{78608EE4-064A-4A6B-8607-F09E3D7D70A6}"/>
              </a:ext>
            </a:extLst>
          </p:cNvPr>
          <p:cNvSpPr txBox="1"/>
          <p:nvPr>
            <p:custDataLst>
              <p:tags r:id="rId1"/>
            </p:custDataLst>
          </p:nvPr>
        </p:nvSpPr>
        <p:spPr bwMode="auto">
          <a:xfrm>
            <a:off x="2725483" y="1504091"/>
            <a:ext cx="1484313" cy="485696"/>
          </a:xfrm>
          <a:prstGeom prst="rect">
            <a:avLst/>
          </a:prstGeom>
          <a:solidFill>
            <a:srgbClr val="F3C97F"/>
          </a:solidFill>
        </p:spPr>
        <p:txBody>
          <a:bodyPr>
            <a:normAutofit/>
          </a:bodyPr>
          <a:lstStyle/>
          <a:p>
            <a:pPr algn="ctr">
              <a:lnSpc>
                <a:spcPct val="150000"/>
              </a:lnSpc>
              <a:spcBef>
                <a:spcPct val="80000"/>
              </a:spcBef>
              <a:buSzPct val="50000"/>
              <a:defRPr/>
            </a:pPr>
            <a:r>
              <a:rPr lang="zh-CN" altLang="en-US" sz="160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rPr>
              <a:t>个人需求</a:t>
            </a:r>
            <a:endParaRPr lang="en-US" altLang="zh-CN" sz="160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endParaRPr>
          </a:p>
        </p:txBody>
      </p:sp>
      <p:sp>
        <p:nvSpPr>
          <p:cNvPr id="13" name="MH_Other_1">
            <a:extLst>
              <a:ext uri="{FF2B5EF4-FFF2-40B4-BE49-F238E27FC236}">
                <a16:creationId xmlns:a16="http://schemas.microsoft.com/office/drawing/2014/main" id="{4F8CBB44-8FF9-4440-9102-A3455487694C}"/>
              </a:ext>
            </a:extLst>
          </p:cNvPr>
          <p:cNvSpPr/>
          <p:nvPr>
            <p:custDataLst>
              <p:tags r:id="rId2"/>
            </p:custDataLst>
          </p:nvPr>
        </p:nvSpPr>
        <p:spPr bwMode="auto">
          <a:xfrm>
            <a:off x="2207988" y="1476270"/>
            <a:ext cx="47065" cy="3121509"/>
          </a:xfrm>
          <a:prstGeom prst="rect">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p>
        </p:txBody>
      </p:sp>
      <p:sp>
        <p:nvSpPr>
          <p:cNvPr id="14" name="MH_SubTitle_2">
            <a:extLst>
              <a:ext uri="{FF2B5EF4-FFF2-40B4-BE49-F238E27FC236}">
                <a16:creationId xmlns:a16="http://schemas.microsoft.com/office/drawing/2014/main" id="{C9FA3A9B-C20D-4DDA-9B1C-2AD0C35126DC}"/>
              </a:ext>
            </a:extLst>
          </p:cNvPr>
          <p:cNvSpPr txBox="1"/>
          <p:nvPr>
            <p:custDataLst>
              <p:tags r:id="rId3"/>
            </p:custDataLst>
          </p:nvPr>
        </p:nvSpPr>
        <p:spPr bwMode="auto">
          <a:xfrm>
            <a:off x="4598733" y="1504091"/>
            <a:ext cx="1484313" cy="485695"/>
          </a:xfrm>
          <a:prstGeom prst="rect">
            <a:avLst/>
          </a:prstGeom>
          <a:solidFill>
            <a:srgbClr val="F3C97F"/>
          </a:solidFill>
        </p:spPr>
        <p:txBody>
          <a:bodyPr>
            <a:normAutofit/>
          </a:bodyPr>
          <a:lstStyle>
            <a:defPPr>
              <a:defRPr lang="en-US"/>
            </a:defPPr>
            <a:lvl1pPr algn="ctr">
              <a:lnSpc>
                <a:spcPct val="150000"/>
              </a:lnSpc>
              <a:spcBef>
                <a:spcPct val="80000"/>
              </a:spcBef>
              <a:buSzPct val="50000"/>
              <a:defRPr sz="1600" spc="150">
                <a:solidFill>
                  <a:srgbClr val="000000"/>
                </a:solidFill>
                <a:latin typeface="微软雅黑" panose="020B0503020204020204" pitchFamily="34" charset="-122"/>
                <a:ea typeface="微软雅黑" panose="020B0503020204020204" pitchFamily="34" charset="-122"/>
              </a:defRPr>
            </a:lvl1pPr>
          </a:lstStyle>
          <a:p>
            <a:r>
              <a:rPr lang="zh-CN" altLang="en-US" dirty="0">
                <a:sym typeface="华文楷体" panose="02010600040101010101" pitchFamily="2" charset="-122"/>
              </a:rPr>
              <a:t>厂商需求</a:t>
            </a:r>
          </a:p>
        </p:txBody>
      </p:sp>
      <p:sp>
        <p:nvSpPr>
          <p:cNvPr id="16" name="MH_SubTitle_3">
            <a:extLst>
              <a:ext uri="{FF2B5EF4-FFF2-40B4-BE49-F238E27FC236}">
                <a16:creationId xmlns:a16="http://schemas.microsoft.com/office/drawing/2014/main" id="{4FC8516E-8DC6-465B-9E9D-BD82563DAF92}"/>
              </a:ext>
            </a:extLst>
          </p:cNvPr>
          <p:cNvSpPr txBox="1"/>
          <p:nvPr>
            <p:custDataLst>
              <p:tags r:id="rId4"/>
            </p:custDataLst>
          </p:nvPr>
        </p:nvSpPr>
        <p:spPr bwMode="auto">
          <a:xfrm>
            <a:off x="6440233" y="1504091"/>
            <a:ext cx="1484313" cy="485695"/>
          </a:xfrm>
          <a:prstGeom prst="rect">
            <a:avLst/>
          </a:prstGeom>
          <a:solidFill>
            <a:srgbClr val="F3C97F"/>
          </a:solidFill>
        </p:spPr>
        <p:txBody>
          <a:bodyPr>
            <a:normAutofit/>
          </a:bodyPr>
          <a:lstStyle>
            <a:defPPr>
              <a:defRPr lang="en-US"/>
            </a:defPPr>
            <a:lvl1pPr algn="ctr">
              <a:lnSpc>
                <a:spcPct val="150000"/>
              </a:lnSpc>
              <a:spcBef>
                <a:spcPct val="80000"/>
              </a:spcBef>
              <a:buSzPct val="50000"/>
              <a:defRPr sz="1600" spc="150">
                <a:solidFill>
                  <a:srgbClr val="000000"/>
                </a:solidFill>
                <a:latin typeface="微软雅黑" panose="020B0503020204020204" pitchFamily="34" charset="-122"/>
                <a:ea typeface="微软雅黑" panose="020B0503020204020204" pitchFamily="34" charset="-122"/>
              </a:defRPr>
            </a:lvl1pPr>
          </a:lstStyle>
          <a:p>
            <a:r>
              <a:rPr lang="zh-CN" altLang="en-US" dirty="0">
                <a:sym typeface="华文楷体" panose="02010600040101010101" pitchFamily="2" charset="-122"/>
              </a:rPr>
              <a:t>市场需求</a:t>
            </a:r>
          </a:p>
        </p:txBody>
      </p:sp>
      <p:sp>
        <p:nvSpPr>
          <p:cNvPr id="17" name="MH_Other_2">
            <a:extLst>
              <a:ext uri="{FF2B5EF4-FFF2-40B4-BE49-F238E27FC236}">
                <a16:creationId xmlns:a16="http://schemas.microsoft.com/office/drawing/2014/main" id="{0A2F6743-5701-4A93-87EE-36497B21823B}"/>
              </a:ext>
            </a:extLst>
          </p:cNvPr>
          <p:cNvSpPr/>
          <p:nvPr>
            <p:custDataLst>
              <p:tags r:id="rId5"/>
            </p:custDataLst>
          </p:nvPr>
        </p:nvSpPr>
        <p:spPr bwMode="auto">
          <a:xfrm>
            <a:off x="4403471" y="1667523"/>
            <a:ext cx="38100" cy="2794000"/>
          </a:xfrm>
          <a:prstGeom prst="rect">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p>
        </p:txBody>
      </p:sp>
      <p:sp>
        <p:nvSpPr>
          <p:cNvPr id="18" name="MH_Other_3">
            <a:extLst>
              <a:ext uri="{FF2B5EF4-FFF2-40B4-BE49-F238E27FC236}">
                <a16:creationId xmlns:a16="http://schemas.microsoft.com/office/drawing/2014/main" id="{1FE7FCDB-046B-4FBB-9C94-62F5D71092D0}"/>
              </a:ext>
            </a:extLst>
          </p:cNvPr>
          <p:cNvSpPr/>
          <p:nvPr>
            <p:custDataLst>
              <p:tags r:id="rId6"/>
            </p:custDataLst>
          </p:nvPr>
        </p:nvSpPr>
        <p:spPr bwMode="auto">
          <a:xfrm>
            <a:off x="6238621" y="1667523"/>
            <a:ext cx="38100" cy="2794000"/>
          </a:xfrm>
          <a:prstGeom prst="rect">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p>
        </p:txBody>
      </p:sp>
      <p:sp>
        <p:nvSpPr>
          <p:cNvPr id="6" name="矩形 5">
            <a:extLst>
              <a:ext uri="{FF2B5EF4-FFF2-40B4-BE49-F238E27FC236}">
                <a16:creationId xmlns:a16="http://schemas.microsoft.com/office/drawing/2014/main" id="{34262BAE-01B9-4989-AA3F-B46AB2CE9274}"/>
              </a:ext>
            </a:extLst>
          </p:cNvPr>
          <p:cNvSpPr/>
          <p:nvPr/>
        </p:nvSpPr>
        <p:spPr>
          <a:xfrm>
            <a:off x="2725483" y="2086623"/>
            <a:ext cx="1484313" cy="2062103"/>
          </a:xfrm>
          <a:prstGeom prst="rect">
            <a:avLst/>
          </a:prstGeom>
        </p:spPr>
        <p:txBody>
          <a:bodyPr wrap="square">
            <a:spAutoFit/>
          </a:bodyPr>
          <a:lstStyle/>
          <a:p>
            <a:pPr algn="just"/>
            <a:r>
              <a:rPr lang="zh-CN" altLang="zh-CN" sz="160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rPr>
              <a:t>个别消费者对某一个商品的需求。</a:t>
            </a:r>
            <a:endParaRPr lang="en-US" altLang="zh-CN" sz="160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endParaRPr>
          </a:p>
          <a:p>
            <a:pPr algn="just"/>
            <a:endParaRPr lang="en-US" altLang="zh-CN" sz="160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endParaRPr>
          </a:p>
          <a:p>
            <a:pPr algn="just"/>
            <a:r>
              <a:rPr lang="zh-CN" altLang="zh-CN" sz="160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rPr>
              <a:t>例如一个代表性的用户对小汽车的需求。</a:t>
            </a:r>
          </a:p>
        </p:txBody>
      </p:sp>
      <p:sp>
        <p:nvSpPr>
          <p:cNvPr id="7" name="矩形 6">
            <a:extLst>
              <a:ext uri="{FF2B5EF4-FFF2-40B4-BE49-F238E27FC236}">
                <a16:creationId xmlns:a16="http://schemas.microsoft.com/office/drawing/2014/main" id="{3F33B741-A9F8-4A6E-9E33-EB0660C6AB0E}"/>
              </a:ext>
            </a:extLst>
          </p:cNvPr>
          <p:cNvSpPr/>
          <p:nvPr/>
        </p:nvSpPr>
        <p:spPr>
          <a:xfrm>
            <a:off x="6357647" y="2053966"/>
            <a:ext cx="1678799" cy="2800767"/>
          </a:xfrm>
          <a:prstGeom prst="rect">
            <a:avLst/>
          </a:prstGeom>
        </p:spPr>
        <p:txBody>
          <a:bodyPr wrap="square">
            <a:spAutoFit/>
          </a:bodyPr>
          <a:lstStyle/>
          <a:p>
            <a:pPr algn="just"/>
            <a:r>
              <a:rPr lang="zh-CN" altLang="zh-CN" sz="160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rPr>
              <a:t>一个商品市场上所有消费者对所有厂商生产的某种商品的需求。</a:t>
            </a:r>
            <a:endParaRPr lang="en-US" altLang="zh-CN" sz="160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endParaRPr>
          </a:p>
          <a:p>
            <a:pPr algn="just"/>
            <a:endParaRPr lang="en-US" altLang="zh-CN" sz="160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endParaRPr>
          </a:p>
          <a:p>
            <a:pPr algn="just"/>
            <a:r>
              <a:rPr lang="zh-CN" altLang="zh-CN" sz="160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rPr>
              <a:t>例如市场对所有品牌小汽车的需求，对所有品牌手机的需求。</a:t>
            </a:r>
          </a:p>
        </p:txBody>
      </p:sp>
      <p:sp>
        <p:nvSpPr>
          <p:cNvPr id="8" name="矩形 7">
            <a:extLst>
              <a:ext uri="{FF2B5EF4-FFF2-40B4-BE49-F238E27FC236}">
                <a16:creationId xmlns:a16="http://schemas.microsoft.com/office/drawing/2014/main" id="{99530FD6-D562-4A64-B882-6E88A4C93A26}"/>
              </a:ext>
            </a:extLst>
          </p:cNvPr>
          <p:cNvSpPr/>
          <p:nvPr/>
        </p:nvSpPr>
        <p:spPr>
          <a:xfrm>
            <a:off x="4547934" y="2012456"/>
            <a:ext cx="1584324" cy="2554545"/>
          </a:xfrm>
          <a:prstGeom prst="rect">
            <a:avLst/>
          </a:prstGeom>
        </p:spPr>
        <p:txBody>
          <a:bodyPr wrap="square">
            <a:spAutoFit/>
          </a:bodyPr>
          <a:lstStyle/>
          <a:p>
            <a:pPr algn="just"/>
            <a:r>
              <a:rPr lang="zh-CN" altLang="zh-CN" sz="160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rPr>
              <a:t>市场所有消费者对某一个厂商所产商品的需求。</a:t>
            </a:r>
            <a:endParaRPr lang="en-US" altLang="zh-CN" sz="160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endParaRPr>
          </a:p>
          <a:p>
            <a:pPr algn="just"/>
            <a:endParaRPr lang="en-US" altLang="zh-CN" sz="160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endParaRPr>
          </a:p>
          <a:p>
            <a:pPr algn="just"/>
            <a:r>
              <a:rPr lang="zh-CN" altLang="zh-CN" sz="160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rPr>
              <a:t>比如整个市场对大众产小汽车的需求，对华为手机的需求。</a:t>
            </a:r>
          </a:p>
        </p:txBody>
      </p:sp>
      <p:grpSp>
        <p:nvGrpSpPr>
          <p:cNvPr id="26" name="组合 25">
            <a:extLst>
              <a:ext uri="{FF2B5EF4-FFF2-40B4-BE49-F238E27FC236}">
                <a16:creationId xmlns:a16="http://schemas.microsoft.com/office/drawing/2014/main" id="{862D0AC9-8D0F-48B7-A489-9A495AD48740}"/>
              </a:ext>
            </a:extLst>
          </p:cNvPr>
          <p:cNvGrpSpPr/>
          <p:nvPr/>
        </p:nvGrpSpPr>
        <p:grpSpPr>
          <a:xfrm>
            <a:off x="931104" y="2086623"/>
            <a:ext cx="1056958" cy="2187673"/>
            <a:chOff x="931104" y="2086623"/>
            <a:chExt cx="1056958" cy="2187673"/>
          </a:xfrm>
        </p:grpSpPr>
        <p:sp>
          <p:nvSpPr>
            <p:cNvPr id="24" name="KSO_Shape">
              <a:extLst>
                <a:ext uri="{FF2B5EF4-FFF2-40B4-BE49-F238E27FC236}">
                  <a16:creationId xmlns:a16="http://schemas.microsoft.com/office/drawing/2014/main" id="{24602673-A2E2-4C60-98D0-09AA8EA102F4}"/>
                </a:ext>
              </a:extLst>
            </p:cNvPr>
            <p:cNvSpPr/>
            <p:nvPr/>
          </p:nvSpPr>
          <p:spPr>
            <a:xfrm>
              <a:off x="931104" y="2086623"/>
              <a:ext cx="1056958" cy="2187673"/>
            </a:xfrm>
            <a:prstGeom prst="roundRect">
              <a:avLst/>
            </a:prstGeom>
            <a:noFill/>
            <a:ln w="19050">
              <a:solidFill>
                <a:srgbClr val="BB1528"/>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pPr>
              <a:endParaRPr lang="zh-CN" altLang="en-US" sz="2400" spc="150">
                <a:solidFill>
                  <a:schemeClr val="bg1"/>
                </a:solidFill>
                <a:latin typeface="微软雅黑" panose="020B0503020204020204" pitchFamily="34" charset="-122"/>
                <a:ea typeface="微软雅黑" panose="020B0503020204020204" pitchFamily="34" charset="-122"/>
              </a:endParaRPr>
            </a:p>
          </p:txBody>
        </p:sp>
        <p:sp>
          <p:nvSpPr>
            <p:cNvPr id="25" name="KSO_Shape">
              <a:extLst>
                <a:ext uri="{FF2B5EF4-FFF2-40B4-BE49-F238E27FC236}">
                  <a16:creationId xmlns:a16="http://schemas.microsoft.com/office/drawing/2014/main" id="{4D984438-F2CB-49C5-B9E2-5325D21F869B}"/>
                </a:ext>
              </a:extLst>
            </p:cNvPr>
            <p:cNvSpPr/>
            <p:nvPr/>
          </p:nvSpPr>
          <p:spPr>
            <a:xfrm>
              <a:off x="967220" y="2130193"/>
              <a:ext cx="984726" cy="2089437"/>
            </a:xfrm>
            <a:prstGeom prst="roundRect">
              <a:avLst/>
            </a:prstGeom>
            <a:solidFill>
              <a:srgbClr val="BB152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pPr>
              <a:r>
                <a:rPr lang="zh-CN" altLang="en-US" sz="2400" spc="150" dirty="0">
                  <a:solidFill>
                    <a:schemeClr val="bg1"/>
                  </a:solidFill>
                  <a:latin typeface="微软雅黑" panose="020B0503020204020204" pitchFamily="34" charset="-122"/>
                  <a:ea typeface="微软雅黑" panose="020B0503020204020204" pitchFamily="34" charset="-122"/>
                </a:rPr>
                <a:t>需求类型</a:t>
              </a:r>
            </a:p>
          </p:txBody>
        </p:sp>
      </p:grpSp>
      <p:sp>
        <p:nvSpPr>
          <p:cNvPr id="9" name="矩形 8">
            <a:extLst>
              <a:ext uri="{FF2B5EF4-FFF2-40B4-BE49-F238E27FC236}">
                <a16:creationId xmlns:a16="http://schemas.microsoft.com/office/drawing/2014/main" id="{37EC5C9D-B142-4E80-8A1B-70442D97307C}"/>
              </a:ext>
            </a:extLst>
          </p:cNvPr>
          <p:cNvSpPr/>
          <p:nvPr/>
        </p:nvSpPr>
        <p:spPr>
          <a:xfrm>
            <a:off x="2795743" y="5339767"/>
            <a:ext cx="4107355" cy="461665"/>
          </a:xfrm>
          <a:prstGeom prst="rect">
            <a:avLst/>
          </a:prstGeom>
        </p:spPr>
        <p:txBody>
          <a:bodyPr wrap="square">
            <a:spAutoFit/>
          </a:bodyPr>
          <a:lstStyle/>
          <a:p>
            <a:pPr>
              <a:spcBef>
                <a:spcPct val="80000"/>
              </a:spcBef>
              <a:buSzPct val="50000"/>
              <a:defRPr/>
            </a:pPr>
            <a:r>
              <a:rPr lang="zh-CN" altLang="en-US" sz="2400" dirty="0">
                <a:latin typeface="宋体" panose="02010600030101010101" pitchFamily="2" charset="-122"/>
                <a:sym typeface="华文楷体" panose="02010600040101010101" pitchFamily="2" charset="-122"/>
              </a:rPr>
              <a:t>∑</a:t>
            </a:r>
            <a:r>
              <a:rPr lang="zh-CN" altLang="en-US"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rPr>
              <a:t>厂商需求</a:t>
            </a:r>
            <a:r>
              <a:rPr lang="en-US" altLang="zh-CN" sz="2400" dirty="0">
                <a:latin typeface="宋体" panose="02010600030101010101" pitchFamily="2" charset="-122"/>
                <a:sym typeface="华文楷体" panose="02010600040101010101" pitchFamily="2" charset="-122"/>
              </a:rPr>
              <a:t>=</a:t>
            </a:r>
            <a:r>
              <a:rPr lang="en-US" altLang="zh-CN" sz="2400" dirty="0">
                <a:latin typeface="宋体" panose="02010600030101010101" pitchFamily="2" charset="-122"/>
                <a:sym typeface="宋体" panose="02010600030101010101" pitchFamily="2" charset="-122"/>
              </a:rPr>
              <a:t>∑</a:t>
            </a:r>
            <a:r>
              <a:rPr lang="zh-CN" altLang="en-US"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个人需求</a:t>
            </a:r>
            <a:r>
              <a:rPr lang="en-US" altLang="zh-CN"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pc="15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市场需求</a:t>
            </a:r>
          </a:p>
        </p:txBody>
      </p:sp>
    </p:spTree>
    <p:extLst>
      <p:ext uri="{BB962C8B-B14F-4D97-AF65-F5344CB8AC3E}">
        <p14:creationId xmlns:p14="http://schemas.microsoft.com/office/powerpoint/2010/main" val="1123281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par>
                          <p:cTn id="10" fill="hold">
                            <p:stCondLst>
                              <p:cond delay="500"/>
                            </p:stCondLst>
                            <p:childTnLst>
                              <p:par>
                                <p:cTn id="11" presetID="22" presetClass="entr" presetSubtype="4"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down)">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500"/>
                                        <p:tgtEl>
                                          <p:spTgt spid="10"/>
                                        </p:tgtEl>
                                      </p:cBhvr>
                                    </p:animEffect>
                                  </p:childTnLst>
                                </p:cTn>
                              </p:par>
                            </p:childTnLst>
                          </p:cTn>
                        </p:par>
                        <p:par>
                          <p:cTn id="19" fill="hold">
                            <p:stCondLst>
                              <p:cond delay="500"/>
                            </p:stCondLst>
                            <p:childTnLst>
                              <p:par>
                                <p:cTn id="20" presetID="22" presetClass="entr" presetSubtype="1"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childTnLst>
                          </p:cTn>
                        </p:par>
                        <p:par>
                          <p:cTn id="23" fill="hold">
                            <p:stCondLst>
                              <p:cond delay="1000"/>
                            </p:stCondLst>
                            <p:childTnLst>
                              <p:par>
                                <p:cTn id="24" presetID="22" presetClass="entr" presetSubtype="4" fill="hold" grpId="0" nodeType="after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down)">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500"/>
                                        <p:tgtEl>
                                          <p:spTgt spid="14"/>
                                        </p:tgtEl>
                                      </p:cBhvr>
                                    </p:animEffect>
                                  </p:childTnLst>
                                </p:cTn>
                              </p:par>
                            </p:childTnLst>
                          </p:cTn>
                        </p:par>
                        <p:par>
                          <p:cTn id="32" fill="hold">
                            <p:stCondLst>
                              <p:cond delay="500"/>
                            </p:stCondLst>
                            <p:childTnLst>
                              <p:par>
                                <p:cTn id="33" presetID="22" presetClass="entr" presetSubtype="1"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up)">
                                      <p:cBhvr>
                                        <p:cTn id="35" dur="500"/>
                                        <p:tgtEl>
                                          <p:spTgt spid="8"/>
                                        </p:tgtEl>
                                      </p:cBhvr>
                                    </p:animEffect>
                                  </p:childTnLst>
                                </p:cTn>
                              </p:par>
                            </p:childTnLst>
                          </p:cTn>
                        </p:par>
                        <p:par>
                          <p:cTn id="36" fill="hold">
                            <p:stCondLst>
                              <p:cond delay="1000"/>
                            </p:stCondLst>
                            <p:childTnLst>
                              <p:par>
                                <p:cTn id="37" presetID="22" presetClass="entr" presetSubtype="4" fill="hold" grpId="0"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down)">
                                      <p:cBhvr>
                                        <p:cTn id="39" dur="50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wipe(left)">
                                      <p:cBhvr>
                                        <p:cTn id="44" dur="500"/>
                                        <p:tgtEl>
                                          <p:spTgt spid="16"/>
                                        </p:tgtEl>
                                      </p:cBhvr>
                                    </p:animEffect>
                                  </p:childTnLst>
                                </p:cTn>
                              </p:par>
                            </p:childTnLst>
                          </p:cTn>
                        </p:par>
                        <p:par>
                          <p:cTn id="45" fill="hold">
                            <p:stCondLst>
                              <p:cond delay="500"/>
                            </p:stCondLst>
                            <p:childTnLst>
                              <p:par>
                                <p:cTn id="46" presetID="22" presetClass="entr" presetSubtype="1" fill="hold" grpId="0" nodeType="after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up)">
                                      <p:cBhvr>
                                        <p:cTn id="48" dur="500"/>
                                        <p:tgtEl>
                                          <p:spTgt spid="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wipe(left)">
                                      <p:cBhvr>
                                        <p:cTn id="5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4" grpId="0" animBg="1"/>
      <p:bldP spid="16" grpId="0" animBg="1"/>
      <p:bldP spid="17" grpId="0" animBg="1"/>
      <p:bldP spid="18" grpId="0" animBg="1"/>
      <p:bldP spid="6" grpId="0"/>
      <p:bldP spid="7" grpId="0"/>
      <p:bldP spid="8"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68E5273-CD77-47B9-B841-9D29349C133D}"/>
              </a:ext>
            </a:extLst>
          </p:cNvPr>
          <p:cNvSpPr/>
          <p:nvPr/>
        </p:nvSpPr>
        <p:spPr>
          <a:xfrm>
            <a:off x="467544" y="548680"/>
            <a:ext cx="2145153"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defTabSz="914400" fontAlgn="base">
              <a:spcBef>
                <a:spcPct val="0"/>
              </a:spcBef>
              <a:spcAft>
                <a:spcPct val="0"/>
              </a:spcAft>
            </a:pPr>
            <a:r>
              <a:rPr lang="zh-CN" altLang="en-US" sz="2400" b="1" spc="150" dirty="0">
                <a:solidFill>
                  <a:srgbClr val="FFFFFF"/>
                </a:solidFill>
                <a:latin typeface="微软雅黑" panose="020B0503020204020204" pitchFamily="34" charset="-122"/>
                <a:ea typeface="微软雅黑" panose="020B0503020204020204" pitchFamily="34" charset="-122"/>
              </a:rPr>
              <a:t>二、需求规律</a:t>
            </a:r>
          </a:p>
        </p:txBody>
      </p:sp>
      <p:sp>
        <p:nvSpPr>
          <p:cNvPr id="15" name="矩形 14">
            <a:extLst>
              <a:ext uri="{FF2B5EF4-FFF2-40B4-BE49-F238E27FC236}">
                <a16:creationId xmlns:a16="http://schemas.microsoft.com/office/drawing/2014/main" id="{88E64304-A318-44E5-8B2C-DCEFC99551AF}"/>
              </a:ext>
            </a:extLst>
          </p:cNvPr>
          <p:cNvSpPr/>
          <p:nvPr/>
        </p:nvSpPr>
        <p:spPr>
          <a:xfrm>
            <a:off x="7532661"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需求 </a:t>
            </a:r>
          </a:p>
        </p:txBody>
      </p:sp>
      <p:sp>
        <p:nvSpPr>
          <p:cNvPr id="2" name="矩形 1">
            <a:extLst>
              <a:ext uri="{FF2B5EF4-FFF2-40B4-BE49-F238E27FC236}">
                <a16:creationId xmlns:a16="http://schemas.microsoft.com/office/drawing/2014/main" id="{4BD51AFF-061F-4988-AB9A-B3166CD93301}"/>
              </a:ext>
            </a:extLst>
          </p:cNvPr>
          <p:cNvSpPr/>
          <p:nvPr/>
        </p:nvSpPr>
        <p:spPr>
          <a:xfrm>
            <a:off x="1147665" y="1101213"/>
            <a:ext cx="4572000" cy="1289905"/>
          </a:xfrm>
          <a:prstGeom prst="rect">
            <a:avLst/>
          </a:prstGeom>
        </p:spPr>
        <p:txBody>
          <a:bodyPr>
            <a:spAutoFit/>
          </a:bodyPr>
          <a:lstStyle/>
          <a:p>
            <a:pPr marL="285750" indent="-285750">
              <a:lnSpc>
                <a:spcPct val="150000"/>
              </a:lnSpc>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影响需求的因素有很多</a:t>
            </a:r>
            <a:endParaRPr lang="en-US" altLang="zh-CN" spc="150" dirty="0">
              <a:solidFill>
                <a:srgbClr val="000000"/>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价格是其中最重要的因素之一</a:t>
            </a:r>
            <a:endParaRPr lang="en-US" altLang="zh-CN" spc="150" dirty="0">
              <a:solidFill>
                <a:srgbClr val="000000"/>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需求与价格之间的关系</a:t>
            </a:r>
            <a:r>
              <a:rPr lang="en-US" altLang="zh-CN" spc="150" dirty="0">
                <a:solidFill>
                  <a:srgbClr val="000000"/>
                </a:solidFill>
                <a:latin typeface="微软雅黑" panose="020B0503020204020204" pitchFamily="34" charset="-122"/>
                <a:ea typeface="微软雅黑" panose="020B0503020204020204" pitchFamily="34" charset="-122"/>
              </a:rPr>
              <a:t>——</a:t>
            </a:r>
            <a:r>
              <a:rPr lang="zh-CN" altLang="en-US" spc="150" dirty="0">
                <a:solidFill>
                  <a:srgbClr val="000000"/>
                </a:solidFill>
                <a:latin typeface="微软雅黑" panose="020B0503020204020204" pitchFamily="34" charset="-122"/>
                <a:ea typeface="微软雅黑" panose="020B0503020204020204" pitchFamily="34" charset="-122"/>
              </a:rPr>
              <a:t>需求规律</a:t>
            </a:r>
            <a:endParaRPr lang="en-US" altLang="zh-CN" spc="150" dirty="0">
              <a:solidFill>
                <a:srgbClr val="000000"/>
              </a:solidFill>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a16="http://schemas.microsoft.com/office/drawing/2014/main" id="{627AE83D-F3D9-4FE1-841C-38AA09ECDF1C}"/>
              </a:ext>
            </a:extLst>
          </p:cNvPr>
          <p:cNvGrpSpPr/>
          <p:nvPr/>
        </p:nvGrpSpPr>
        <p:grpSpPr>
          <a:xfrm>
            <a:off x="467544" y="2481986"/>
            <a:ext cx="2547461" cy="514350"/>
            <a:chOff x="467544" y="2481986"/>
            <a:chExt cx="2547461" cy="514350"/>
          </a:xfrm>
        </p:grpSpPr>
        <p:sp>
          <p:nvSpPr>
            <p:cNvPr id="19" name="MH_Text_1">
              <a:extLst>
                <a:ext uri="{FF2B5EF4-FFF2-40B4-BE49-F238E27FC236}">
                  <a16:creationId xmlns:a16="http://schemas.microsoft.com/office/drawing/2014/main" id="{7F1EE33B-DD63-42A8-86A7-757932B8049A}"/>
                </a:ext>
              </a:extLst>
            </p:cNvPr>
            <p:cNvSpPr/>
            <p:nvPr>
              <p:custDataLst>
                <p:tags r:id="rId3"/>
              </p:custDataLst>
            </p:nvPr>
          </p:nvSpPr>
          <p:spPr bwMode="auto">
            <a:xfrm>
              <a:off x="467544" y="2481986"/>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pc="150" dirty="0">
                  <a:solidFill>
                    <a:srgbClr val="000000"/>
                  </a:solidFill>
                  <a:latin typeface="微软雅黑" panose="020B0503020204020204" pitchFamily="34" charset="-122"/>
                  <a:ea typeface="微软雅黑" panose="020B0503020204020204" pitchFamily="34" charset="-122"/>
                </a:rPr>
                <a:t>需求规律</a:t>
              </a:r>
            </a:p>
          </p:txBody>
        </p:sp>
        <p:sp>
          <p:nvSpPr>
            <p:cNvPr id="20" name="MH_Other_2">
              <a:extLst>
                <a:ext uri="{FF2B5EF4-FFF2-40B4-BE49-F238E27FC236}">
                  <a16:creationId xmlns:a16="http://schemas.microsoft.com/office/drawing/2014/main" id="{E635624F-D191-4C19-B11A-618C7FE0256E}"/>
                </a:ext>
              </a:extLst>
            </p:cNvPr>
            <p:cNvSpPr/>
            <p:nvPr>
              <p:custDataLst>
                <p:tags r:id="rId4"/>
              </p:custDataLst>
            </p:nvPr>
          </p:nvSpPr>
          <p:spPr bwMode="auto">
            <a:xfrm rot="10800000">
              <a:off x="2822917" y="2539136"/>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grpSp>
        <p:nvGrpSpPr>
          <p:cNvPr id="12" name="组合 11">
            <a:extLst>
              <a:ext uri="{FF2B5EF4-FFF2-40B4-BE49-F238E27FC236}">
                <a16:creationId xmlns:a16="http://schemas.microsoft.com/office/drawing/2014/main" id="{15BCAD35-C9C8-4AE1-874B-7737C5F09A87}"/>
              </a:ext>
            </a:extLst>
          </p:cNvPr>
          <p:cNvGrpSpPr/>
          <p:nvPr/>
        </p:nvGrpSpPr>
        <p:grpSpPr>
          <a:xfrm>
            <a:off x="467544" y="4012032"/>
            <a:ext cx="2547461" cy="514350"/>
            <a:chOff x="467544" y="4012032"/>
            <a:chExt cx="2547461" cy="514350"/>
          </a:xfrm>
        </p:grpSpPr>
        <p:sp>
          <p:nvSpPr>
            <p:cNvPr id="21" name="MH_Text_1">
              <a:extLst>
                <a:ext uri="{FF2B5EF4-FFF2-40B4-BE49-F238E27FC236}">
                  <a16:creationId xmlns:a16="http://schemas.microsoft.com/office/drawing/2014/main" id="{2B16FD77-75F5-478E-AAA0-B4711F002B71}"/>
                </a:ext>
              </a:extLst>
            </p:cNvPr>
            <p:cNvSpPr/>
            <p:nvPr>
              <p:custDataLst>
                <p:tags r:id="rId1"/>
              </p:custDataLst>
            </p:nvPr>
          </p:nvSpPr>
          <p:spPr bwMode="auto">
            <a:xfrm>
              <a:off x="467544" y="4012032"/>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pc="150" dirty="0">
                  <a:solidFill>
                    <a:srgbClr val="000000"/>
                  </a:solidFill>
                  <a:latin typeface="微软雅黑" panose="020B0503020204020204" pitchFamily="34" charset="-122"/>
                  <a:ea typeface="微软雅黑" panose="020B0503020204020204" pitchFamily="34" charset="-122"/>
                </a:rPr>
                <a:t>需求规律存在的原因</a:t>
              </a:r>
            </a:p>
          </p:txBody>
        </p:sp>
        <p:sp>
          <p:nvSpPr>
            <p:cNvPr id="22" name="MH_Other_2">
              <a:extLst>
                <a:ext uri="{FF2B5EF4-FFF2-40B4-BE49-F238E27FC236}">
                  <a16:creationId xmlns:a16="http://schemas.microsoft.com/office/drawing/2014/main" id="{2CAC8690-3479-4DBB-9B16-A4FF61D047C3}"/>
                </a:ext>
              </a:extLst>
            </p:cNvPr>
            <p:cNvSpPr/>
            <p:nvPr>
              <p:custDataLst>
                <p:tags r:id="rId2"/>
              </p:custDataLst>
            </p:nvPr>
          </p:nvSpPr>
          <p:spPr bwMode="auto">
            <a:xfrm rot="10800000">
              <a:off x="2822917" y="4069182"/>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3" name="矩形 2">
            <a:extLst>
              <a:ext uri="{FF2B5EF4-FFF2-40B4-BE49-F238E27FC236}">
                <a16:creationId xmlns:a16="http://schemas.microsoft.com/office/drawing/2014/main" id="{DC352424-0443-43CC-9DB7-D6B00F0C4B2E}"/>
              </a:ext>
            </a:extLst>
          </p:cNvPr>
          <p:cNvSpPr/>
          <p:nvPr/>
        </p:nvSpPr>
        <p:spPr>
          <a:xfrm>
            <a:off x="1147665" y="3053486"/>
            <a:ext cx="7483151" cy="874407"/>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一般而言，在其他条件不变时，消费者对商品的需求量与该商品的价格呈反方向变化</a:t>
            </a:r>
            <a:r>
              <a:rPr lang="zh-CN" altLang="en-US" sz="1100"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（低价会吸引更多购买者，低价会使同一个购买者增加购买量）</a:t>
            </a:r>
          </a:p>
        </p:txBody>
      </p:sp>
      <p:sp>
        <p:nvSpPr>
          <p:cNvPr id="4" name="矩形 3">
            <a:extLst>
              <a:ext uri="{FF2B5EF4-FFF2-40B4-BE49-F238E27FC236}">
                <a16:creationId xmlns:a16="http://schemas.microsoft.com/office/drawing/2014/main" id="{C7B8B3EA-F6C9-430E-B3E4-902A2736C4D8}"/>
              </a:ext>
            </a:extLst>
          </p:cNvPr>
          <p:cNvSpPr/>
          <p:nvPr/>
        </p:nvSpPr>
        <p:spPr>
          <a:xfrm>
            <a:off x="1147665" y="4583532"/>
            <a:ext cx="7669763" cy="1754326"/>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价格变化的</a:t>
            </a:r>
            <a:r>
              <a:rPr lang="zh-CN" altLang="en-US" spc="150" dirty="0">
                <a:solidFill>
                  <a:srgbClr val="FF0000"/>
                </a:solidFill>
                <a:latin typeface="微软雅黑" panose="020B0503020204020204" pitchFamily="34" charset="-122"/>
                <a:ea typeface="微软雅黑" panose="020B0503020204020204" pitchFamily="34" charset="-122"/>
              </a:rPr>
              <a:t>替代效应</a:t>
            </a:r>
            <a:r>
              <a:rPr lang="en-US" altLang="zh-CN" spc="150" dirty="0">
                <a:solidFill>
                  <a:srgbClr val="000000"/>
                </a:solidFill>
                <a:latin typeface="微软雅黑" panose="020B0503020204020204" pitchFamily="34" charset="-122"/>
                <a:ea typeface="微软雅黑" panose="020B0503020204020204" pitchFamily="34" charset="-122"/>
              </a:rPr>
              <a:t>——X</a:t>
            </a:r>
            <a:r>
              <a:rPr lang="zh-CN" altLang="en-US" spc="150" dirty="0">
                <a:solidFill>
                  <a:srgbClr val="000000"/>
                </a:solidFill>
                <a:latin typeface="微软雅黑" panose="020B0503020204020204" pitchFamily="34" charset="-122"/>
                <a:ea typeface="微软雅黑" panose="020B0503020204020204" pitchFamily="34" charset="-122"/>
              </a:rPr>
              <a:t>价格上升</a:t>
            </a:r>
            <a:r>
              <a:rPr lang="en-US" altLang="zh-CN"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相对于其他商品</a:t>
            </a:r>
            <a:r>
              <a:rPr lang="en-US" altLang="zh-CN"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Y</a:t>
            </a:r>
            <a:r>
              <a:rPr lang="zh-CN" altLang="en-US"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变贵</a:t>
            </a:r>
            <a:r>
              <a:rPr lang="en-US" altLang="zh-CN"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增加</a:t>
            </a:r>
            <a:r>
              <a:rPr lang="en-US" altLang="zh-CN"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Y</a:t>
            </a:r>
            <a:r>
              <a:rPr lang="zh-CN" altLang="en-US"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购买，替代</a:t>
            </a:r>
            <a:r>
              <a:rPr lang="en-US" altLang="zh-CN"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X</a:t>
            </a:r>
          </a:p>
          <a:p>
            <a:pPr marL="285750" indent="-285750">
              <a:lnSpc>
                <a:spcPct val="1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价格变化的</a:t>
            </a:r>
            <a:r>
              <a:rPr lang="zh-CN" altLang="en-US" spc="15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收入效应</a:t>
            </a:r>
            <a:r>
              <a:rPr lang="en-US" altLang="zh-CN"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——X</a:t>
            </a:r>
            <a:r>
              <a:rPr lang="zh-CN" altLang="en-US"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价格上升</a:t>
            </a:r>
            <a:r>
              <a:rPr lang="en-US" altLang="zh-CN"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收入购买力下降（变穷了）</a:t>
            </a:r>
            <a:r>
              <a:rPr lang="en-US" altLang="zh-CN"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减少</a:t>
            </a:r>
            <a:r>
              <a:rPr lang="en-US" altLang="zh-CN"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X</a:t>
            </a:r>
            <a:r>
              <a:rPr lang="zh-CN" altLang="en-US"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购买（也减少</a:t>
            </a:r>
            <a:r>
              <a:rPr lang="en-US" altLang="zh-CN"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Y</a:t>
            </a:r>
            <a:r>
              <a:rPr lang="zh-CN" altLang="en-US"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购买）。对正常商品而言。</a:t>
            </a:r>
            <a:endParaRPr lang="zh-CN" altLang="en-US" spc="15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99179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wipe(left)">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wipe(left)">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wipe(left)">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xEl>
                                              <p:pRg st="0" end="0"/>
                                            </p:txEl>
                                          </p:spTgt>
                                        </p:tgtEl>
                                        <p:attrNameLst>
                                          <p:attrName>style.visibility</p:attrName>
                                        </p:attrNameLst>
                                      </p:cBhvr>
                                      <p:to>
                                        <p:strVal val="visible"/>
                                      </p:to>
                                    </p:set>
                                    <p:animEffect transition="in" filter="wipe(left)">
                                      <p:cBhvr>
                                        <p:cTn id="42" dur="500"/>
                                        <p:tgtEl>
                                          <p:spTgt spid="4">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xEl>
                                              <p:pRg st="1" end="1"/>
                                            </p:txEl>
                                          </p:spTgt>
                                        </p:tgtEl>
                                        <p:attrNameLst>
                                          <p:attrName>style.visibility</p:attrName>
                                        </p:attrNameLst>
                                      </p:cBhvr>
                                      <p:to>
                                        <p:strVal val="visible"/>
                                      </p:to>
                                    </p:set>
                                    <p:animEffect transition="in" filter="wipe(left)">
                                      <p:cBhvr>
                                        <p:cTn id="4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88E64304-A318-44E5-8B2C-DCEFC99551AF}"/>
              </a:ext>
            </a:extLst>
          </p:cNvPr>
          <p:cNvSpPr/>
          <p:nvPr/>
        </p:nvSpPr>
        <p:spPr>
          <a:xfrm>
            <a:off x="7532661" y="0"/>
            <a:ext cx="1611339"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15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第一节 需求 </a:t>
            </a:r>
          </a:p>
        </p:txBody>
      </p:sp>
      <p:grpSp>
        <p:nvGrpSpPr>
          <p:cNvPr id="6" name="组合 5">
            <a:extLst>
              <a:ext uri="{FF2B5EF4-FFF2-40B4-BE49-F238E27FC236}">
                <a16:creationId xmlns:a16="http://schemas.microsoft.com/office/drawing/2014/main" id="{FD701A9D-B437-4365-8EAE-39596CD5F811}"/>
              </a:ext>
            </a:extLst>
          </p:cNvPr>
          <p:cNvGrpSpPr/>
          <p:nvPr/>
        </p:nvGrpSpPr>
        <p:grpSpPr>
          <a:xfrm>
            <a:off x="458213" y="1296677"/>
            <a:ext cx="2893707" cy="514350"/>
            <a:chOff x="458213" y="1296677"/>
            <a:chExt cx="2893707" cy="514350"/>
          </a:xfrm>
        </p:grpSpPr>
        <p:sp>
          <p:nvSpPr>
            <p:cNvPr id="19" name="MH_Text_1">
              <a:extLst>
                <a:ext uri="{FF2B5EF4-FFF2-40B4-BE49-F238E27FC236}">
                  <a16:creationId xmlns:a16="http://schemas.microsoft.com/office/drawing/2014/main" id="{7F1EE33B-DD63-42A8-86A7-757932B8049A}"/>
                </a:ext>
              </a:extLst>
            </p:cNvPr>
            <p:cNvSpPr/>
            <p:nvPr>
              <p:custDataLst>
                <p:tags r:id="rId3"/>
              </p:custDataLst>
            </p:nvPr>
          </p:nvSpPr>
          <p:spPr bwMode="auto">
            <a:xfrm>
              <a:off x="458213" y="1296677"/>
              <a:ext cx="2893707"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lvl="0" algn="ctr">
                <a:defRPr/>
              </a:pPr>
              <a:r>
                <a:rPr lang="zh-CN" altLang="en-US" spc="150" dirty="0">
                  <a:solidFill>
                    <a:srgbClr val="000000"/>
                  </a:solidFill>
                  <a:latin typeface="微软雅黑" panose="020B0503020204020204" pitchFamily="34" charset="-122"/>
                  <a:ea typeface="微软雅黑" panose="020B0503020204020204" pitchFamily="34" charset="-122"/>
                </a:rPr>
                <a:t>需求规律的特例（例外）</a:t>
              </a:r>
            </a:p>
          </p:txBody>
        </p:sp>
        <p:sp>
          <p:nvSpPr>
            <p:cNvPr id="20" name="MH_Other_2">
              <a:extLst>
                <a:ext uri="{FF2B5EF4-FFF2-40B4-BE49-F238E27FC236}">
                  <a16:creationId xmlns:a16="http://schemas.microsoft.com/office/drawing/2014/main" id="{E635624F-D191-4C19-B11A-618C7FE0256E}"/>
                </a:ext>
              </a:extLst>
            </p:cNvPr>
            <p:cNvSpPr/>
            <p:nvPr>
              <p:custDataLst>
                <p:tags r:id="rId4"/>
              </p:custDataLst>
            </p:nvPr>
          </p:nvSpPr>
          <p:spPr bwMode="auto">
            <a:xfrm rot="10800000">
              <a:off x="3159832" y="1353827"/>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472C4">
                    <a:lumMod val="75000"/>
                  </a:srgbClr>
                </a:solidFill>
                <a:effectLst/>
                <a:uLnTx/>
                <a:uFillTx/>
                <a:latin typeface="Calibri" panose="020F0502020204030204"/>
                <a:ea typeface="맑은 고딕" panose="020B0503020000020004" pitchFamily="34" charset="-127"/>
                <a:cs typeface="+mn-cs"/>
              </a:endParaRPr>
            </a:p>
          </p:txBody>
        </p:sp>
      </p:grpSp>
      <p:grpSp>
        <p:nvGrpSpPr>
          <p:cNvPr id="5" name="组合 4">
            <a:extLst>
              <a:ext uri="{FF2B5EF4-FFF2-40B4-BE49-F238E27FC236}">
                <a16:creationId xmlns:a16="http://schemas.microsoft.com/office/drawing/2014/main" id="{4FBD33C8-9F7C-4586-8094-93FD18B5B724}"/>
              </a:ext>
            </a:extLst>
          </p:cNvPr>
          <p:cNvGrpSpPr/>
          <p:nvPr/>
        </p:nvGrpSpPr>
        <p:grpSpPr>
          <a:xfrm>
            <a:off x="458213" y="4075203"/>
            <a:ext cx="1708719" cy="514350"/>
            <a:chOff x="458213" y="4075203"/>
            <a:chExt cx="1708719" cy="514350"/>
          </a:xfrm>
        </p:grpSpPr>
        <p:sp>
          <p:nvSpPr>
            <p:cNvPr id="21" name="MH_Text_1">
              <a:extLst>
                <a:ext uri="{FF2B5EF4-FFF2-40B4-BE49-F238E27FC236}">
                  <a16:creationId xmlns:a16="http://schemas.microsoft.com/office/drawing/2014/main" id="{2B16FD77-75F5-478E-AAA0-B4711F002B71}"/>
                </a:ext>
              </a:extLst>
            </p:cNvPr>
            <p:cNvSpPr/>
            <p:nvPr>
              <p:custDataLst>
                <p:tags r:id="rId1"/>
              </p:custDataLst>
            </p:nvPr>
          </p:nvSpPr>
          <p:spPr bwMode="auto">
            <a:xfrm>
              <a:off x="458213" y="4075203"/>
              <a:ext cx="1708719"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lvl="0" algn="ctr">
                <a:defRPr/>
              </a:pPr>
              <a:r>
                <a:rPr lang="zh-CN" altLang="en-US" spc="150" dirty="0">
                  <a:solidFill>
                    <a:srgbClr val="000000"/>
                  </a:solidFill>
                  <a:latin typeface="微软雅黑" panose="020B0503020204020204" pitchFamily="34" charset="-122"/>
                  <a:ea typeface="微软雅黑" panose="020B0503020204020204" pitchFamily="34" charset="-122"/>
                </a:rPr>
                <a:t>吉芬商品</a:t>
              </a:r>
            </a:p>
          </p:txBody>
        </p:sp>
        <p:sp>
          <p:nvSpPr>
            <p:cNvPr id="22" name="MH_Other_2">
              <a:extLst>
                <a:ext uri="{FF2B5EF4-FFF2-40B4-BE49-F238E27FC236}">
                  <a16:creationId xmlns:a16="http://schemas.microsoft.com/office/drawing/2014/main" id="{2CAC8690-3479-4DBB-9B16-A4FF61D047C3}"/>
                </a:ext>
              </a:extLst>
            </p:cNvPr>
            <p:cNvSpPr/>
            <p:nvPr>
              <p:custDataLst>
                <p:tags r:id="rId2"/>
              </p:custDataLst>
            </p:nvPr>
          </p:nvSpPr>
          <p:spPr bwMode="auto">
            <a:xfrm rot="10800000">
              <a:off x="1974844" y="4132353"/>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472C4">
                    <a:lumMod val="75000"/>
                  </a:srgbClr>
                </a:solidFill>
                <a:effectLst/>
                <a:uLnTx/>
                <a:uFillTx/>
                <a:latin typeface="Calibri" panose="020F0502020204030204"/>
                <a:ea typeface="맑은 고딕" panose="020B0503020000020004" pitchFamily="34" charset="-127"/>
                <a:cs typeface="+mn-cs"/>
              </a:endParaRPr>
            </a:p>
          </p:txBody>
        </p:sp>
      </p:grpSp>
      <p:sp>
        <p:nvSpPr>
          <p:cNvPr id="3" name="矩形 2">
            <a:extLst>
              <a:ext uri="{FF2B5EF4-FFF2-40B4-BE49-F238E27FC236}">
                <a16:creationId xmlns:a16="http://schemas.microsoft.com/office/drawing/2014/main" id="{DC352424-0443-43CC-9DB7-D6B00F0C4B2E}"/>
              </a:ext>
            </a:extLst>
          </p:cNvPr>
          <p:cNvSpPr/>
          <p:nvPr/>
        </p:nvSpPr>
        <p:spPr>
          <a:xfrm>
            <a:off x="765109" y="1811027"/>
            <a:ext cx="7809723" cy="2169825"/>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垂直的需求曲线</a:t>
            </a:r>
            <a:r>
              <a:rPr lang="en-US" altLang="zh-CN" spc="150" dirty="0">
                <a:solidFill>
                  <a:srgbClr val="000000"/>
                </a:solidFill>
                <a:latin typeface="微软雅黑" panose="020B0503020204020204" pitchFamily="34" charset="-122"/>
                <a:ea typeface="微软雅黑" panose="020B0503020204020204" pitchFamily="34" charset="-122"/>
              </a:rPr>
              <a:t>——X</a:t>
            </a:r>
            <a:r>
              <a:rPr lang="zh-CN" altLang="en-US" spc="150" dirty="0">
                <a:solidFill>
                  <a:srgbClr val="000000"/>
                </a:solidFill>
                <a:latin typeface="微软雅黑" panose="020B0503020204020204" pitchFamily="34" charset="-122"/>
                <a:ea typeface="微软雅黑" panose="020B0503020204020204" pitchFamily="34" charset="-122"/>
              </a:rPr>
              <a:t>的需求量与价格无关，</a:t>
            </a:r>
            <a:r>
              <a:rPr lang="zh-CN" altLang="en-US" spc="150" dirty="0">
                <a:solidFill>
                  <a:srgbClr val="FF0000"/>
                </a:solidFill>
                <a:latin typeface="微软雅黑" panose="020B0503020204020204" pitchFamily="34" charset="-122"/>
                <a:ea typeface="微软雅黑" panose="020B0503020204020204" pitchFamily="34" charset="-122"/>
              </a:rPr>
              <a:t>需求对价格毫无弹性</a:t>
            </a:r>
            <a:endParaRPr lang="en-US" altLang="zh-CN" spc="150" dirty="0">
              <a:solidFill>
                <a:srgbClr val="FF0000"/>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水平的需求曲线</a:t>
            </a:r>
            <a:r>
              <a:rPr lang="en-US" altLang="zh-CN" spc="150" dirty="0">
                <a:solidFill>
                  <a:srgbClr val="000000"/>
                </a:solidFill>
                <a:latin typeface="微软雅黑" panose="020B0503020204020204" pitchFamily="34" charset="-122"/>
                <a:ea typeface="微软雅黑" panose="020B0503020204020204" pitchFamily="34" charset="-122"/>
              </a:rPr>
              <a:t>——</a:t>
            </a:r>
            <a:r>
              <a:rPr lang="zh-CN" altLang="en-US" spc="150" dirty="0">
                <a:solidFill>
                  <a:srgbClr val="000000"/>
                </a:solidFill>
                <a:latin typeface="微软雅黑" panose="020B0503020204020204" pitchFamily="34" charset="-122"/>
                <a:ea typeface="微软雅黑" panose="020B0503020204020204" pitchFamily="34" charset="-122"/>
              </a:rPr>
              <a:t>既定价格下，</a:t>
            </a:r>
            <a:r>
              <a:rPr lang="en-US" altLang="zh-CN" spc="150" dirty="0">
                <a:solidFill>
                  <a:srgbClr val="000000"/>
                </a:solidFill>
                <a:latin typeface="微软雅黑" panose="020B0503020204020204" pitchFamily="34" charset="-122"/>
                <a:ea typeface="微软雅黑" panose="020B0503020204020204" pitchFamily="34" charset="-122"/>
              </a:rPr>
              <a:t>X</a:t>
            </a:r>
            <a:r>
              <a:rPr lang="zh-CN" altLang="en-US" spc="150" dirty="0">
                <a:solidFill>
                  <a:srgbClr val="000000"/>
                </a:solidFill>
                <a:latin typeface="微软雅黑" panose="020B0503020204020204" pitchFamily="34" charset="-122"/>
                <a:ea typeface="微软雅黑" panose="020B0503020204020204" pitchFamily="34" charset="-122"/>
              </a:rPr>
              <a:t>的需求量是无限多的，</a:t>
            </a:r>
            <a:r>
              <a:rPr lang="zh-CN" altLang="en-US" spc="150" dirty="0">
                <a:solidFill>
                  <a:srgbClr val="FF0000"/>
                </a:solidFill>
                <a:latin typeface="微软雅黑" panose="020B0503020204020204" pitchFamily="34" charset="-122"/>
                <a:ea typeface="微软雅黑" panose="020B0503020204020204" pitchFamily="34" charset="-122"/>
              </a:rPr>
              <a:t>需求对价格无限弹性</a:t>
            </a:r>
            <a:endParaRPr lang="en-US" altLang="zh-CN" spc="150" dirty="0">
              <a:solidFill>
                <a:srgbClr val="FF0000"/>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正斜率的需求曲线</a:t>
            </a:r>
            <a:r>
              <a:rPr lang="en-US" altLang="zh-CN" spc="150" dirty="0">
                <a:solidFill>
                  <a:srgbClr val="000000"/>
                </a:solidFill>
                <a:latin typeface="微软雅黑" panose="020B0503020204020204" pitchFamily="34" charset="-122"/>
                <a:ea typeface="微软雅黑" panose="020B0503020204020204" pitchFamily="34" charset="-122"/>
              </a:rPr>
              <a:t>——X</a:t>
            </a:r>
            <a:r>
              <a:rPr lang="zh-CN" altLang="en-US" spc="150" dirty="0">
                <a:solidFill>
                  <a:srgbClr val="000000"/>
                </a:solidFill>
                <a:latin typeface="微软雅黑" panose="020B0503020204020204" pitchFamily="34" charset="-122"/>
                <a:ea typeface="微软雅黑" panose="020B0503020204020204" pitchFamily="34" charset="-122"/>
              </a:rPr>
              <a:t>的需求量与价格正相关，价格越高，需求量反而越多。此即吉芬商品</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C7B8B3EA-F6C9-430E-B3E4-902A2736C4D8}"/>
              </a:ext>
            </a:extLst>
          </p:cNvPr>
          <p:cNvSpPr/>
          <p:nvPr/>
        </p:nvSpPr>
        <p:spPr>
          <a:xfrm>
            <a:off x="765109" y="4704772"/>
            <a:ext cx="7669763" cy="874407"/>
          </a:xfrm>
          <a:prstGeom prst="rect">
            <a:avLst/>
          </a:prstGeom>
        </p:spPr>
        <p:txBody>
          <a:bodyPr wrap="square">
            <a:spAutoFit/>
          </a:bodyPr>
          <a:lstStyle/>
          <a:p>
            <a:pPr marL="285750" indent="-285750">
              <a:lnSpc>
                <a:spcPct val="150000"/>
              </a:lnSpc>
              <a:spcBef>
                <a:spcPct val="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这种商品的需求量与其价格同方向变化，尤其是，当商品价格上涨时，其需求量也增加。</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7E4A3EC2-8BCD-493E-A833-DC957F042B43}"/>
              </a:ext>
            </a:extLst>
          </p:cNvPr>
          <p:cNvSpPr/>
          <p:nvPr/>
        </p:nvSpPr>
        <p:spPr>
          <a:xfrm>
            <a:off x="467544" y="548680"/>
            <a:ext cx="2145153"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15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二、需求规律</a:t>
            </a:r>
          </a:p>
        </p:txBody>
      </p:sp>
    </p:spTree>
    <p:extLst>
      <p:ext uri="{BB962C8B-B14F-4D97-AF65-F5344CB8AC3E}">
        <p14:creationId xmlns:p14="http://schemas.microsoft.com/office/powerpoint/2010/main" val="1735154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left)">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68E5273-CD77-47B9-B841-9D29349C133D}"/>
              </a:ext>
            </a:extLst>
          </p:cNvPr>
          <p:cNvSpPr/>
          <p:nvPr/>
        </p:nvSpPr>
        <p:spPr>
          <a:xfrm>
            <a:off x="467544" y="548680"/>
            <a:ext cx="2145153"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15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二、需求规律</a:t>
            </a:r>
          </a:p>
        </p:txBody>
      </p:sp>
      <p:sp>
        <p:nvSpPr>
          <p:cNvPr id="15" name="矩形 14">
            <a:extLst>
              <a:ext uri="{FF2B5EF4-FFF2-40B4-BE49-F238E27FC236}">
                <a16:creationId xmlns:a16="http://schemas.microsoft.com/office/drawing/2014/main" id="{88E64304-A318-44E5-8B2C-DCEFC99551AF}"/>
              </a:ext>
            </a:extLst>
          </p:cNvPr>
          <p:cNvSpPr/>
          <p:nvPr/>
        </p:nvSpPr>
        <p:spPr>
          <a:xfrm>
            <a:off x="7532661" y="0"/>
            <a:ext cx="1611339"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15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第一节 需求 </a:t>
            </a:r>
          </a:p>
        </p:txBody>
      </p:sp>
      <p:sp>
        <p:nvSpPr>
          <p:cNvPr id="2" name="矩形 1">
            <a:extLst>
              <a:ext uri="{FF2B5EF4-FFF2-40B4-BE49-F238E27FC236}">
                <a16:creationId xmlns:a16="http://schemas.microsoft.com/office/drawing/2014/main" id="{0E1CDD6D-3D75-42E5-8CAC-221887B6776A}"/>
              </a:ext>
            </a:extLst>
          </p:cNvPr>
          <p:cNvSpPr/>
          <p:nvPr/>
        </p:nvSpPr>
        <p:spPr>
          <a:xfrm>
            <a:off x="739294" y="1300117"/>
            <a:ext cx="2460930" cy="400110"/>
          </a:xfrm>
          <a:prstGeom prst="rect">
            <a:avLst/>
          </a:prstGeom>
        </p:spPr>
        <p:txBody>
          <a:bodyPr wrap="none">
            <a:spAutoFit/>
          </a:bodyPr>
          <a:lstStyle/>
          <a:p>
            <a:pPr marL="342900" indent="-342900">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需求曲线的特例</a:t>
            </a:r>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p:grpSp>
        <p:nvGrpSpPr>
          <p:cNvPr id="48" name="组合 50">
            <a:extLst>
              <a:ext uri="{FF2B5EF4-FFF2-40B4-BE49-F238E27FC236}">
                <a16:creationId xmlns:a16="http://schemas.microsoft.com/office/drawing/2014/main" id="{FE02D591-C380-41C7-AA17-E0E519E6B52F}"/>
              </a:ext>
            </a:extLst>
          </p:cNvPr>
          <p:cNvGrpSpPr>
            <a:grpSpLocks/>
          </p:cNvGrpSpPr>
          <p:nvPr/>
        </p:nvGrpSpPr>
        <p:grpSpPr bwMode="auto">
          <a:xfrm>
            <a:off x="828349" y="2377026"/>
            <a:ext cx="1785937" cy="2228850"/>
            <a:chOff x="0" y="0"/>
            <a:chExt cx="1785950" cy="2226720"/>
          </a:xfrm>
        </p:grpSpPr>
        <p:grpSp>
          <p:nvGrpSpPr>
            <p:cNvPr id="49" name="组合 30">
              <a:extLst>
                <a:ext uri="{FF2B5EF4-FFF2-40B4-BE49-F238E27FC236}">
                  <a16:creationId xmlns:a16="http://schemas.microsoft.com/office/drawing/2014/main" id="{3BBC977C-112C-493B-90D1-A2491E656BC3}"/>
                </a:ext>
              </a:extLst>
            </p:cNvPr>
            <p:cNvGrpSpPr>
              <a:grpSpLocks/>
            </p:cNvGrpSpPr>
            <p:nvPr/>
          </p:nvGrpSpPr>
          <p:grpSpPr bwMode="auto">
            <a:xfrm>
              <a:off x="285752" y="0"/>
              <a:ext cx="1500198" cy="1501786"/>
              <a:chOff x="0" y="0"/>
              <a:chExt cx="1500198" cy="1501786"/>
            </a:xfrm>
          </p:grpSpPr>
          <p:cxnSp>
            <p:nvCxnSpPr>
              <p:cNvPr id="56" name="直接箭头连接符 8">
                <a:extLst>
                  <a:ext uri="{FF2B5EF4-FFF2-40B4-BE49-F238E27FC236}">
                    <a16:creationId xmlns:a16="http://schemas.microsoft.com/office/drawing/2014/main" id="{AD7F74EC-6306-477A-811F-C96C9E5EEFEB}"/>
                  </a:ext>
                </a:extLst>
              </p:cNvPr>
              <p:cNvCxnSpPr>
                <a:cxnSpLocks noChangeShapeType="1"/>
              </p:cNvCxnSpPr>
              <p:nvPr/>
            </p:nvCxnSpPr>
            <p:spPr bwMode="auto">
              <a:xfrm>
                <a:off x="0" y="1499822"/>
                <a:ext cx="1500198"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7" name="直接箭头连接符 13">
                <a:extLst>
                  <a:ext uri="{FF2B5EF4-FFF2-40B4-BE49-F238E27FC236}">
                    <a16:creationId xmlns:a16="http://schemas.microsoft.com/office/drawing/2014/main" id="{F5A176AF-BFA2-4594-9C63-A1B034EFD66B}"/>
                  </a:ext>
                </a:extLst>
              </p:cNvPr>
              <p:cNvCxnSpPr>
                <a:cxnSpLocks noChangeShapeType="1"/>
              </p:cNvCxnSpPr>
              <p:nvPr/>
            </p:nvCxnSpPr>
            <p:spPr bwMode="auto">
              <a:xfrm rot="5400000" flipH="1" flipV="1">
                <a:off x="-749117" y="749111"/>
                <a:ext cx="1499822"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8" name="直接连接符 24">
                <a:extLst>
                  <a:ext uri="{FF2B5EF4-FFF2-40B4-BE49-F238E27FC236}">
                    <a16:creationId xmlns:a16="http://schemas.microsoft.com/office/drawing/2014/main" id="{A27A711A-199F-4D65-A256-06A9E2158581}"/>
                  </a:ext>
                </a:extLst>
              </p:cNvPr>
              <p:cNvCxnSpPr>
                <a:cxnSpLocks noChangeShapeType="1"/>
              </p:cNvCxnSpPr>
              <p:nvPr/>
            </p:nvCxnSpPr>
            <p:spPr bwMode="auto">
              <a:xfrm rot="5400000" flipH="1" flipV="1">
                <a:off x="108097" y="891951"/>
                <a:ext cx="1214142" cy="1587"/>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pSp>
        <p:graphicFrame>
          <p:nvGraphicFramePr>
            <p:cNvPr id="50" name="Object 8">
              <a:extLst>
                <a:ext uri="{FF2B5EF4-FFF2-40B4-BE49-F238E27FC236}">
                  <a16:creationId xmlns:a16="http://schemas.microsoft.com/office/drawing/2014/main" id="{BD5E843F-9377-4A7B-9705-53F5C1E7FC8C}"/>
                </a:ext>
              </a:extLst>
            </p:cNvPr>
            <p:cNvGraphicFramePr>
              <a:graphicFrameLocks noChangeAspect="1"/>
            </p:cNvGraphicFramePr>
            <p:nvPr/>
          </p:nvGraphicFramePr>
          <p:xfrm>
            <a:off x="0" y="0"/>
            <a:ext cx="212725" cy="230188"/>
          </p:xfrm>
          <a:graphic>
            <a:graphicData uri="http://schemas.openxmlformats.org/presentationml/2006/ole">
              <mc:AlternateContent xmlns:mc="http://schemas.openxmlformats.org/markup-compatibility/2006">
                <mc:Choice xmlns:v="urn:schemas-microsoft-com:vml" Requires="v">
                  <p:oleObj spid="_x0000_s199858" r:id="rId3" imgW="153332" imgH="166109" progId="">
                    <p:embed/>
                  </p:oleObj>
                </mc:Choice>
                <mc:Fallback>
                  <p:oleObj r:id="rId3" imgW="153332" imgH="166109" progId="">
                    <p:embed/>
                    <p:pic>
                      <p:nvPicPr>
                        <p:cNvPr id="50" name="Object 8">
                          <a:extLst>
                            <a:ext uri="{FF2B5EF4-FFF2-40B4-BE49-F238E27FC236}">
                              <a16:creationId xmlns:a16="http://schemas.microsoft.com/office/drawing/2014/main" id="{BD5E843F-9377-4A7B-9705-53F5C1E7FC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12725"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 name="Object 9">
              <a:extLst>
                <a:ext uri="{FF2B5EF4-FFF2-40B4-BE49-F238E27FC236}">
                  <a16:creationId xmlns:a16="http://schemas.microsoft.com/office/drawing/2014/main" id="{126F401F-A4C5-4948-8A6D-39E7E1395815}"/>
                </a:ext>
              </a:extLst>
            </p:cNvPr>
            <p:cNvGraphicFramePr>
              <a:graphicFrameLocks noChangeAspect="1"/>
            </p:cNvGraphicFramePr>
            <p:nvPr/>
          </p:nvGraphicFramePr>
          <p:xfrm>
            <a:off x="142901" y="1525587"/>
            <a:ext cx="176212" cy="195262"/>
          </p:xfrm>
          <a:graphic>
            <a:graphicData uri="http://schemas.openxmlformats.org/presentationml/2006/ole">
              <mc:AlternateContent xmlns:mc="http://schemas.openxmlformats.org/markup-compatibility/2006">
                <mc:Choice xmlns:v="urn:schemas-microsoft-com:vml" Requires="v">
                  <p:oleObj spid="_x0000_s199859" r:id="rId5" imgW="127832" imgH="140615" progId="">
                    <p:embed/>
                  </p:oleObj>
                </mc:Choice>
                <mc:Fallback>
                  <p:oleObj r:id="rId5" imgW="127832" imgH="140615" progId="">
                    <p:embed/>
                    <p:pic>
                      <p:nvPicPr>
                        <p:cNvPr id="51" name="Object 9">
                          <a:extLst>
                            <a:ext uri="{FF2B5EF4-FFF2-40B4-BE49-F238E27FC236}">
                              <a16:creationId xmlns:a16="http://schemas.microsoft.com/office/drawing/2014/main" id="{126F401F-A4C5-4948-8A6D-39E7E139581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901" y="1525587"/>
                          <a:ext cx="176212" cy="19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 name="Object 10">
              <a:extLst>
                <a:ext uri="{FF2B5EF4-FFF2-40B4-BE49-F238E27FC236}">
                  <a16:creationId xmlns:a16="http://schemas.microsoft.com/office/drawing/2014/main" id="{2D3B1F96-B6F8-40E8-845C-7E976837651A}"/>
                </a:ext>
              </a:extLst>
            </p:cNvPr>
            <p:cNvGraphicFramePr>
              <a:graphicFrameLocks noChangeAspect="1"/>
            </p:cNvGraphicFramePr>
            <p:nvPr/>
          </p:nvGraphicFramePr>
          <p:xfrm>
            <a:off x="1571636" y="1571636"/>
            <a:ext cx="212725" cy="284162"/>
          </p:xfrm>
          <a:graphic>
            <a:graphicData uri="http://schemas.openxmlformats.org/presentationml/2006/ole">
              <mc:AlternateContent xmlns:mc="http://schemas.openxmlformats.org/markup-compatibility/2006">
                <mc:Choice xmlns:v="urn:schemas-microsoft-com:vml" Requires="v">
                  <p:oleObj spid="_x0000_s199860" r:id="rId7" imgW="153332" imgH="204442" progId="">
                    <p:embed/>
                  </p:oleObj>
                </mc:Choice>
                <mc:Fallback>
                  <p:oleObj r:id="rId7" imgW="153332" imgH="204442" progId="">
                    <p:embed/>
                    <p:pic>
                      <p:nvPicPr>
                        <p:cNvPr id="52" name="Object 10">
                          <a:extLst>
                            <a:ext uri="{FF2B5EF4-FFF2-40B4-BE49-F238E27FC236}">
                              <a16:creationId xmlns:a16="http://schemas.microsoft.com/office/drawing/2014/main" id="{2D3B1F96-B6F8-40E8-845C-7E976837651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71636" y="1571636"/>
                          <a:ext cx="212725"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 name="Object 11">
              <a:extLst>
                <a:ext uri="{FF2B5EF4-FFF2-40B4-BE49-F238E27FC236}">
                  <a16:creationId xmlns:a16="http://schemas.microsoft.com/office/drawing/2014/main" id="{FFFC1CFB-07A3-40C3-8BEE-E5F1C1B5D889}"/>
                </a:ext>
              </a:extLst>
            </p:cNvPr>
            <p:cNvGraphicFramePr>
              <a:graphicFrameLocks noChangeAspect="1"/>
            </p:cNvGraphicFramePr>
            <p:nvPr/>
          </p:nvGraphicFramePr>
          <p:xfrm>
            <a:off x="928694" y="1571636"/>
            <a:ext cx="212725" cy="319087"/>
          </p:xfrm>
          <a:graphic>
            <a:graphicData uri="http://schemas.openxmlformats.org/presentationml/2006/ole">
              <mc:AlternateContent xmlns:mc="http://schemas.openxmlformats.org/markup-compatibility/2006">
                <mc:Choice xmlns:v="urn:schemas-microsoft-com:vml" Requires="v">
                  <p:oleObj spid="_x0000_s199861" r:id="rId9" imgW="153131" imgH="229697" progId="">
                    <p:embed/>
                  </p:oleObj>
                </mc:Choice>
                <mc:Fallback>
                  <p:oleObj r:id="rId9" imgW="153131" imgH="229697" progId="">
                    <p:embed/>
                    <p:pic>
                      <p:nvPicPr>
                        <p:cNvPr id="53" name="Object 11">
                          <a:extLst>
                            <a:ext uri="{FF2B5EF4-FFF2-40B4-BE49-F238E27FC236}">
                              <a16:creationId xmlns:a16="http://schemas.microsoft.com/office/drawing/2014/main" id="{FFFC1CFB-07A3-40C3-8BEE-E5F1C1B5D88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28694" y="1571636"/>
                          <a:ext cx="212725" cy="319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 name="Object 12">
              <a:extLst>
                <a:ext uri="{FF2B5EF4-FFF2-40B4-BE49-F238E27FC236}">
                  <a16:creationId xmlns:a16="http://schemas.microsoft.com/office/drawing/2014/main" id="{70C94D6A-6250-49AA-BB14-9E9E1EB5803F}"/>
                </a:ext>
              </a:extLst>
            </p:cNvPr>
            <p:cNvGraphicFramePr>
              <a:graphicFrameLocks noChangeAspect="1"/>
            </p:cNvGraphicFramePr>
            <p:nvPr/>
          </p:nvGraphicFramePr>
          <p:xfrm>
            <a:off x="1071570" y="142876"/>
            <a:ext cx="230187" cy="230187"/>
          </p:xfrm>
          <a:graphic>
            <a:graphicData uri="http://schemas.openxmlformats.org/presentationml/2006/ole">
              <mc:AlternateContent xmlns:mc="http://schemas.openxmlformats.org/markup-compatibility/2006">
                <mc:Choice xmlns:v="urn:schemas-microsoft-com:vml" Requires="v">
                  <p:oleObj spid="_x0000_s199862" r:id="rId11" imgW="166037" imgH="166037" progId="">
                    <p:embed/>
                  </p:oleObj>
                </mc:Choice>
                <mc:Fallback>
                  <p:oleObj r:id="rId11" imgW="166037" imgH="166037" progId="">
                    <p:embed/>
                    <p:pic>
                      <p:nvPicPr>
                        <p:cNvPr id="54" name="Object 12">
                          <a:extLst>
                            <a:ext uri="{FF2B5EF4-FFF2-40B4-BE49-F238E27FC236}">
                              <a16:creationId xmlns:a16="http://schemas.microsoft.com/office/drawing/2014/main" id="{70C94D6A-6250-49AA-BB14-9E9E1EB5803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71570" y="142876"/>
                          <a:ext cx="230187"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 name="TextBox 45">
              <a:extLst>
                <a:ext uri="{FF2B5EF4-FFF2-40B4-BE49-F238E27FC236}">
                  <a16:creationId xmlns:a16="http://schemas.microsoft.com/office/drawing/2014/main" id="{D56D321F-28E2-4643-939F-1B08D74A03B4}"/>
                </a:ext>
              </a:extLst>
            </p:cNvPr>
            <p:cNvSpPr txBox="1">
              <a:spLocks noChangeArrowheads="1"/>
            </p:cNvSpPr>
            <p:nvPr/>
          </p:nvSpPr>
          <p:spPr bwMode="auto">
            <a:xfrm>
              <a:off x="857256" y="1857388"/>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0" dirty="0">
                  <a:solidFill>
                    <a:schemeClr val="tx1"/>
                  </a:solidFill>
                  <a:latin typeface="微软雅黑" panose="020B0503020204020204" pitchFamily="34" charset="-122"/>
                </a:rPr>
                <a:t>(a)</a:t>
              </a:r>
              <a:endParaRPr lang="zh-CN" altLang="en-US" sz="1800" b="0" dirty="0">
                <a:solidFill>
                  <a:schemeClr val="tx1"/>
                </a:solidFill>
                <a:latin typeface="微软雅黑" panose="020B0503020204020204" pitchFamily="34" charset="-122"/>
              </a:endParaRPr>
            </a:p>
          </p:txBody>
        </p:sp>
      </p:grpSp>
      <p:grpSp>
        <p:nvGrpSpPr>
          <p:cNvPr id="59" name="组合 49">
            <a:extLst>
              <a:ext uri="{FF2B5EF4-FFF2-40B4-BE49-F238E27FC236}">
                <a16:creationId xmlns:a16="http://schemas.microsoft.com/office/drawing/2014/main" id="{07736811-0E27-43F9-8A64-D5566845E889}"/>
              </a:ext>
            </a:extLst>
          </p:cNvPr>
          <p:cNvGrpSpPr>
            <a:grpSpLocks/>
          </p:cNvGrpSpPr>
          <p:nvPr/>
        </p:nvGrpSpPr>
        <p:grpSpPr bwMode="auto">
          <a:xfrm>
            <a:off x="3849361" y="2337339"/>
            <a:ext cx="1712913" cy="2228497"/>
            <a:chOff x="0" y="0"/>
            <a:chExt cx="1712923" cy="2226367"/>
          </a:xfrm>
        </p:grpSpPr>
        <p:grpSp>
          <p:nvGrpSpPr>
            <p:cNvPr id="60" name="组合 29">
              <a:extLst>
                <a:ext uri="{FF2B5EF4-FFF2-40B4-BE49-F238E27FC236}">
                  <a16:creationId xmlns:a16="http://schemas.microsoft.com/office/drawing/2014/main" id="{06B32DE9-AA87-4264-8526-931665FC9ADB}"/>
                </a:ext>
              </a:extLst>
            </p:cNvPr>
            <p:cNvGrpSpPr>
              <a:grpSpLocks/>
            </p:cNvGrpSpPr>
            <p:nvPr/>
          </p:nvGrpSpPr>
          <p:grpSpPr bwMode="auto">
            <a:xfrm>
              <a:off x="285752" y="0"/>
              <a:ext cx="1357322" cy="1501786"/>
              <a:chOff x="0" y="0"/>
              <a:chExt cx="1357322" cy="1501786"/>
            </a:xfrm>
          </p:grpSpPr>
          <p:cxnSp>
            <p:nvCxnSpPr>
              <p:cNvPr id="67" name="直接箭头连接符 10">
                <a:extLst>
                  <a:ext uri="{FF2B5EF4-FFF2-40B4-BE49-F238E27FC236}">
                    <a16:creationId xmlns:a16="http://schemas.microsoft.com/office/drawing/2014/main" id="{27B0F54E-9D6E-4D17-B4F2-93C393A44074}"/>
                  </a:ext>
                </a:extLst>
              </p:cNvPr>
              <p:cNvCxnSpPr>
                <a:cxnSpLocks noChangeShapeType="1"/>
              </p:cNvCxnSpPr>
              <p:nvPr/>
            </p:nvCxnSpPr>
            <p:spPr bwMode="auto">
              <a:xfrm>
                <a:off x="0" y="1499822"/>
                <a:ext cx="1357321"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68" name="直接箭头连接符 15">
                <a:extLst>
                  <a:ext uri="{FF2B5EF4-FFF2-40B4-BE49-F238E27FC236}">
                    <a16:creationId xmlns:a16="http://schemas.microsoft.com/office/drawing/2014/main" id="{719BA6C1-7368-4056-BDE0-E49A2180BBB2}"/>
                  </a:ext>
                </a:extLst>
              </p:cNvPr>
              <p:cNvCxnSpPr>
                <a:cxnSpLocks noChangeShapeType="1"/>
              </p:cNvCxnSpPr>
              <p:nvPr/>
            </p:nvCxnSpPr>
            <p:spPr bwMode="auto">
              <a:xfrm rot="5400000" flipH="1" flipV="1">
                <a:off x="-749117" y="749117"/>
                <a:ext cx="1499822"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69" name="直接连接符 26">
                <a:extLst>
                  <a:ext uri="{FF2B5EF4-FFF2-40B4-BE49-F238E27FC236}">
                    <a16:creationId xmlns:a16="http://schemas.microsoft.com/office/drawing/2014/main" id="{2D9FF2A7-B559-46D1-9F47-EA4F99788297}"/>
                  </a:ext>
                </a:extLst>
              </p:cNvPr>
              <p:cNvCxnSpPr>
                <a:cxnSpLocks noChangeShapeType="1"/>
              </p:cNvCxnSpPr>
              <p:nvPr/>
            </p:nvCxnSpPr>
            <p:spPr bwMode="auto">
              <a:xfrm>
                <a:off x="0" y="642781"/>
                <a:ext cx="928693" cy="1587"/>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pSp>
        <p:graphicFrame>
          <p:nvGraphicFramePr>
            <p:cNvPr id="61" name="Object 19">
              <a:extLst>
                <a:ext uri="{FF2B5EF4-FFF2-40B4-BE49-F238E27FC236}">
                  <a16:creationId xmlns:a16="http://schemas.microsoft.com/office/drawing/2014/main" id="{737F9536-A430-43E4-B095-974A77286B10}"/>
                </a:ext>
              </a:extLst>
            </p:cNvPr>
            <p:cNvGraphicFramePr>
              <a:graphicFrameLocks noChangeAspect="1"/>
            </p:cNvGraphicFramePr>
            <p:nvPr/>
          </p:nvGraphicFramePr>
          <p:xfrm>
            <a:off x="0" y="0"/>
            <a:ext cx="212725" cy="230188"/>
          </p:xfrm>
          <a:graphic>
            <a:graphicData uri="http://schemas.openxmlformats.org/presentationml/2006/ole">
              <mc:AlternateContent xmlns:mc="http://schemas.openxmlformats.org/markup-compatibility/2006">
                <mc:Choice xmlns:v="urn:schemas-microsoft-com:vml" Requires="v">
                  <p:oleObj spid="_x0000_s199863" r:id="rId13" imgW="153332" imgH="166109" progId="">
                    <p:embed/>
                  </p:oleObj>
                </mc:Choice>
                <mc:Fallback>
                  <p:oleObj r:id="rId13" imgW="153332" imgH="166109" progId="">
                    <p:embed/>
                    <p:pic>
                      <p:nvPicPr>
                        <p:cNvPr id="61" name="Object 19">
                          <a:extLst>
                            <a:ext uri="{FF2B5EF4-FFF2-40B4-BE49-F238E27FC236}">
                              <a16:creationId xmlns:a16="http://schemas.microsoft.com/office/drawing/2014/main" id="{737F9536-A430-43E4-B095-974A77286B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12725"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 name="Object 20">
              <a:extLst>
                <a:ext uri="{FF2B5EF4-FFF2-40B4-BE49-F238E27FC236}">
                  <a16:creationId xmlns:a16="http://schemas.microsoft.com/office/drawing/2014/main" id="{5A892BCD-3162-41CE-B94D-E10F8820B906}"/>
                </a:ext>
              </a:extLst>
            </p:cNvPr>
            <p:cNvGraphicFramePr>
              <a:graphicFrameLocks noChangeAspect="1"/>
            </p:cNvGraphicFramePr>
            <p:nvPr/>
          </p:nvGraphicFramePr>
          <p:xfrm>
            <a:off x="142881" y="1525587"/>
            <a:ext cx="176213" cy="195262"/>
          </p:xfrm>
          <a:graphic>
            <a:graphicData uri="http://schemas.openxmlformats.org/presentationml/2006/ole">
              <mc:AlternateContent xmlns:mc="http://schemas.openxmlformats.org/markup-compatibility/2006">
                <mc:Choice xmlns:v="urn:schemas-microsoft-com:vml" Requires="v">
                  <p:oleObj spid="_x0000_s199864" r:id="rId14" imgW="127832" imgH="140615" progId="">
                    <p:embed/>
                  </p:oleObj>
                </mc:Choice>
                <mc:Fallback>
                  <p:oleObj r:id="rId14" imgW="127832" imgH="140615" progId="">
                    <p:embed/>
                    <p:pic>
                      <p:nvPicPr>
                        <p:cNvPr id="62" name="Object 20">
                          <a:extLst>
                            <a:ext uri="{FF2B5EF4-FFF2-40B4-BE49-F238E27FC236}">
                              <a16:creationId xmlns:a16="http://schemas.microsoft.com/office/drawing/2014/main" id="{5A892BCD-3162-41CE-B94D-E10F8820B90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2881" y="1525587"/>
                          <a:ext cx="176213" cy="19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 name="Object 21">
              <a:extLst>
                <a:ext uri="{FF2B5EF4-FFF2-40B4-BE49-F238E27FC236}">
                  <a16:creationId xmlns:a16="http://schemas.microsoft.com/office/drawing/2014/main" id="{0BCB5403-B6A6-41B1-8562-AC76A3CFA9BF}"/>
                </a:ext>
              </a:extLst>
            </p:cNvPr>
            <p:cNvGraphicFramePr>
              <a:graphicFrameLocks noChangeAspect="1"/>
            </p:cNvGraphicFramePr>
            <p:nvPr/>
          </p:nvGraphicFramePr>
          <p:xfrm>
            <a:off x="1500198" y="1571636"/>
            <a:ext cx="212725" cy="284162"/>
          </p:xfrm>
          <a:graphic>
            <a:graphicData uri="http://schemas.openxmlformats.org/presentationml/2006/ole">
              <mc:AlternateContent xmlns:mc="http://schemas.openxmlformats.org/markup-compatibility/2006">
                <mc:Choice xmlns:v="urn:schemas-microsoft-com:vml" Requires="v">
                  <p:oleObj spid="_x0000_s199865" r:id="rId16" imgW="153332" imgH="204442" progId="">
                    <p:embed/>
                  </p:oleObj>
                </mc:Choice>
                <mc:Fallback>
                  <p:oleObj r:id="rId16" imgW="153332" imgH="204442" progId="">
                    <p:embed/>
                    <p:pic>
                      <p:nvPicPr>
                        <p:cNvPr id="63" name="Object 21">
                          <a:extLst>
                            <a:ext uri="{FF2B5EF4-FFF2-40B4-BE49-F238E27FC236}">
                              <a16:creationId xmlns:a16="http://schemas.microsoft.com/office/drawing/2014/main" id="{0BCB5403-B6A6-41B1-8562-AC76A3CFA9B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00198" y="1571636"/>
                          <a:ext cx="212725"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 name="Object 22">
              <a:extLst>
                <a:ext uri="{FF2B5EF4-FFF2-40B4-BE49-F238E27FC236}">
                  <a16:creationId xmlns:a16="http://schemas.microsoft.com/office/drawing/2014/main" id="{5E39F207-32D7-4F88-961D-CD13F9E37829}"/>
                </a:ext>
              </a:extLst>
            </p:cNvPr>
            <p:cNvGraphicFramePr>
              <a:graphicFrameLocks noChangeAspect="1"/>
            </p:cNvGraphicFramePr>
            <p:nvPr/>
          </p:nvGraphicFramePr>
          <p:xfrm>
            <a:off x="1285884" y="571504"/>
            <a:ext cx="230188" cy="230188"/>
          </p:xfrm>
          <a:graphic>
            <a:graphicData uri="http://schemas.openxmlformats.org/presentationml/2006/ole">
              <mc:AlternateContent xmlns:mc="http://schemas.openxmlformats.org/markup-compatibility/2006">
                <mc:Choice xmlns:v="urn:schemas-microsoft-com:vml" Requires="v">
                  <p:oleObj spid="_x0000_s199866" r:id="rId17" imgW="166037" imgH="166037" progId="">
                    <p:embed/>
                  </p:oleObj>
                </mc:Choice>
                <mc:Fallback>
                  <p:oleObj r:id="rId17" imgW="166037" imgH="166037" progId="">
                    <p:embed/>
                    <p:pic>
                      <p:nvPicPr>
                        <p:cNvPr id="64" name="Object 22">
                          <a:extLst>
                            <a:ext uri="{FF2B5EF4-FFF2-40B4-BE49-F238E27FC236}">
                              <a16:creationId xmlns:a16="http://schemas.microsoft.com/office/drawing/2014/main" id="{5E39F207-32D7-4F88-961D-CD13F9E3782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85884" y="571504"/>
                          <a:ext cx="230188"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 name="Object 23">
              <a:extLst>
                <a:ext uri="{FF2B5EF4-FFF2-40B4-BE49-F238E27FC236}">
                  <a16:creationId xmlns:a16="http://schemas.microsoft.com/office/drawing/2014/main" id="{5B67A241-156F-4D0B-87CB-00C0F5E3FDA8}"/>
                </a:ext>
              </a:extLst>
            </p:cNvPr>
            <p:cNvGraphicFramePr>
              <a:graphicFrameLocks noChangeAspect="1"/>
            </p:cNvGraphicFramePr>
            <p:nvPr/>
          </p:nvGraphicFramePr>
          <p:xfrm>
            <a:off x="71438" y="500066"/>
            <a:ext cx="212725" cy="266700"/>
          </p:xfrm>
          <a:graphic>
            <a:graphicData uri="http://schemas.openxmlformats.org/presentationml/2006/ole">
              <mc:AlternateContent xmlns:mc="http://schemas.openxmlformats.org/markup-compatibility/2006">
                <mc:Choice xmlns:v="urn:schemas-microsoft-com:vml" Requires="v">
                  <p:oleObj spid="_x0000_s199867" r:id="rId18" imgW="153332" imgH="191665" progId="">
                    <p:embed/>
                  </p:oleObj>
                </mc:Choice>
                <mc:Fallback>
                  <p:oleObj r:id="rId18" imgW="153332" imgH="191665" progId="">
                    <p:embed/>
                    <p:pic>
                      <p:nvPicPr>
                        <p:cNvPr id="65" name="Object 23">
                          <a:extLst>
                            <a:ext uri="{FF2B5EF4-FFF2-40B4-BE49-F238E27FC236}">
                              <a16:creationId xmlns:a16="http://schemas.microsoft.com/office/drawing/2014/main" id="{5B67A241-156F-4D0B-87CB-00C0F5E3FDA8}"/>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1438" y="500066"/>
                          <a:ext cx="212725" cy="26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6" name="TextBox 46">
              <a:extLst>
                <a:ext uri="{FF2B5EF4-FFF2-40B4-BE49-F238E27FC236}">
                  <a16:creationId xmlns:a16="http://schemas.microsoft.com/office/drawing/2014/main" id="{48414556-EEC2-4A60-8F39-CBC15E186359}"/>
                </a:ext>
              </a:extLst>
            </p:cNvPr>
            <p:cNvSpPr txBox="1">
              <a:spLocks noChangeArrowheads="1"/>
            </p:cNvSpPr>
            <p:nvPr/>
          </p:nvSpPr>
          <p:spPr bwMode="auto">
            <a:xfrm>
              <a:off x="714380" y="1857388"/>
              <a:ext cx="486033" cy="368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0" dirty="0">
                  <a:solidFill>
                    <a:schemeClr val="tx1"/>
                  </a:solidFill>
                  <a:latin typeface="微软雅黑" panose="020B0503020204020204" pitchFamily="34" charset="-122"/>
                </a:rPr>
                <a:t>(b)</a:t>
              </a:r>
              <a:endParaRPr lang="zh-CN" altLang="en-US" sz="1800" b="0" dirty="0">
                <a:solidFill>
                  <a:schemeClr val="tx1"/>
                </a:solidFill>
                <a:latin typeface="微软雅黑" panose="020B0503020204020204" pitchFamily="34" charset="-122"/>
              </a:endParaRPr>
            </a:p>
          </p:txBody>
        </p:sp>
      </p:grpSp>
      <p:grpSp>
        <p:nvGrpSpPr>
          <p:cNvPr id="70" name="组合 28">
            <a:extLst>
              <a:ext uri="{FF2B5EF4-FFF2-40B4-BE49-F238E27FC236}">
                <a16:creationId xmlns:a16="http://schemas.microsoft.com/office/drawing/2014/main" id="{D09ADB7A-AB8B-4AAC-AFDC-E3C6F6A3A575}"/>
              </a:ext>
            </a:extLst>
          </p:cNvPr>
          <p:cNvGrpSpPr>
            <a:grpSpLocks/>
          </p:cNvGrpSpPr>
          <p:nvPr/>
        </p:nvGrpSpPr>
        <p:grpSpPr bwMode="auto">
          <a:xfrm>
            <a:off x="5525761" y="1810289"/>
            <a:ext cx="2868613" cy="2347912"/>
            <a:chOff x="0" y="0"/>
            <a:chExt cx="2869306" cy="2347151"/>
          </a:xfrm>
        </p:grpSpPr>
        <p:cxnSp>
          <p:nvCxnSpPr>
            <p:cNvPr id="71" name="直接箭头连接符 11">
              <a:extLst>
                <a:ext uri="{FF2B5EF4-FFF2-40B4-BE49-F238E27FC236}">
                  <a16:creationId xmlns:a16="http://schemas.microsoft.com/office/drawing/2014/main" id="{4F10E741-A110-4F8F-880F-0B1AC546F609}"/>
                </a:ext>
              </a:extLst>
            </p:cNvPr>
            <p:cNvCxnSpPr>
              <a:cxnSpLocks noChangeShapeType="1"/>
            </p:cNvCxnSpPr>
            <p:nvPr/>
          </p:nvCxnSpPr>
          <p:spPr bwMode="auto">
            <a:xfrm>
              <a:off x="1583102" y="2247489"/>
              <a:ext cx="1286171"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72" name="直接箭头连接符 16">
              <a:extLst>
                <a:ext uri="{FF2B5EF4-FFF2-40B4-BE49-F238E27FC236}">
                  <a16:creationId xmlns:a16="http://schemas.microsoft.com/office/drawing/2014/main" id="{D839F33E-4C53-4FC7-B078-47DA8DF020AA}"/>
                </a:ext>
              </a:extLst>
            </p:cNvPr>
            <p:cNvCxnSpPr>
              <a:cxnSpLocks noChangeShapeType="1"/>
            </p:cNvCxnSpPr>
            <p:nvPr/>
          </p:nvCxnSpPr>
          <p:spPr bwMode="auto">
            <a:xfrm rot="5400000" flipH="1" flipV="1">
              <a:off x="833933" y="1496733"/>
              <a:ext cx="1499913"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sp>
          <p:nvSpPr>
            <p:cNvPr id="73" name="弧形 27">
              <a:extLst>
                <a:ext uri="{FF2B5EF4-FFF2-40B4-BE49-F238E27FC236}">
                  <a16:creationId xmlns:a16="http://schemas.microsoft.com/office/drawing/2014/main" id="{EE41E781-77F0-4E10-819B-3053CDE75B25}"/>
                </a:ext>
              </a:extLst>
            </p:cNvPr>
            <p:cNvSpPr>
              <a:spLocks noChangeArrowheads="1"/>
            </p:cNvSpPr>
            <p:nvPr/>
          </p:nvSpPr>
          <p:spPr bwMode="auto">
            <a:xfrm rot="2477245">
              <a:off x="0" y="0"/>
              <a:ext cx="2302406" cy="2347484"/>
            </a:xfrm>
            <a:custGeom>
              <a:avLst/>
              <a:gdLst>
                <a:gd name="T0" fmla="*/ 1979718 w 2302406"/>
                <a:gd name="T1" fmla="*/ 358824 h 2347484"/>
                <a:gd name="T2" fmla="*/ 1151203 w 2302406"/>
                <a:gd name="T3" fmla="*/ 1173742 h 2347484"/>
                <a:gd name="T4" fmla="*/ 2302406 w 2302406"/>
                <a:gd name="T5" fmla="*/ 1173742 h 2347484"/>
                <a:gd name="T6" fmla="*/ 17694720 60000 65536"/>
                <a:gd name="T7" fmla="*/ 11796480 60000 65536"/>
                <a:gd name="T8" fmla="*/ 5898240 60000 65536"/>
                <a:gd name="T9" fmla="*/ 1979718 w 2302406"/>
                <a:gd name="T10" fmla="*/ 358824 h 2347484"/>
                <a:gd name="T11" fmla="*/ 2302406 w 2302406"/>
                <a:gd name="T12" fmla="*/ 1173742 h 2347484"/>
              </a:gdLst>
              <a:ahLst/>
              <a:cxnLst>
                <a:cxn ang="T6">
                  <a:pos x="T0" y="T1"/>
                </a:cxn>
                <a:cxn ang="T7">
                  <a:pos x="T2" y="T3"/>
                </a:cxn>
                <a:cxn ang="T8">
                  <a:pos x="T4" y="T5"/>
                </a:cxn>
              </a:cxnLst>
              <a:rect l="T9" t="T10" r="T11" b="T12"/>
              <a:pathLst>
                <a:path w="2302406" h="2347484" stroke="0">
                  <a:moveTo>
                    <a:pt x="1979718" y="358824"/>
                  </a:moveTo>
                  <a:lnTo>
                    <a:pt x="1979717" y="358824"/>
                  </a:lnTo>
                  <a:cubicBezTo>
                    <a:pt x="2186726" y="577608"/>
                    <a:pt x="2302406" y="869746"/>
                    <a:pt x="2302406" y="1173742"/>
                  </a:cubicBezTo>
                  <a:cubicBezTo>
                    <a:pt x="2302406" y="1173742"/>
                    <a:pt x="2302405" y="1173743"/>
                    <a:pt x="2302405" y="1173744"/>
                  </a:cubicBezTo>
                  <a:lnTo>
                    <a:pt x="1151203" y="1173742"/>
                  </a:lnTo>
                  <a:lnTo>
                    <a:pt x="1979718" y="358824"/>
                  </a:lnTo>
                  <a:close/>
                </a:path>
                <a:path w="2302406" h="2347484" fill="none">
                  <a:moveTo>
                    <a:pt x="1979718" y="358824"/>
                  </a:moveTo>
                  <a:lnTo>
                    <a:pt x="1979717" y="358824"/>
                  </a:lnTo>
                  <a:cubicBezTo>
                    <a:pt x="2186726" y="577608"/>
                    <a:pt x="2302406" y="869746"/>
                    <a:pt x="2302406" y="1173742"/>
                  </a:cubicBezTo>
                  <a:cubicBezTo>
                    <a:pt x="2302406" y="1173742"/>
                    <a:pt x="2302405" y="1173743"/>
                    <a:pt x="2302405" y="1173744"/>
                  </a:cubicBezTo>
                </a:path>
              </a:pathLst>
            </a:custGeom>
            <a:noFill/>
            <a:ln w="38100" cmpd="sng">
              <a:solidFill>
                <a:srgbClr val="2D2D8A"/>
              </a:solidFill>
              <a:miter lim="800000"/>
              <a:headEnd/>
              <a:tailEnd/>
            </a:ln>
            <a:effectLst>
              <a:outerShdw dist="23000" dir="5400000" algn="ctr" rotWithShape="0">
                <a:srgbClr val="000000">
                  <a:alpha val="28998"/>
                </a:srgbClr>
              </a:outerShdw>
            </a:effectLst>
            <a:extLst>
              <a:ext uri="{909E8E84-426E-40DD-AFC4-6F175D3DCCD1}">
                <a14:hiddenFill xmlns:a14="http://schemas.microsoft.com/office/drawing/2010/main">
                  <a:solidFill>
                    <a:srgbClr val="FFFFFF"/>
                  </a:solidFill>
                </a14:hiddenFill>
              </a:ext>
            </a:extLst>
          </p:spPr>
          <p:txBody>
            <a:bodyPr anchor="ctr"/>
            <a:lstStyle/>
            <a:p>
              <a:endParaRPr lang="zh-CN" altLang="en-US"/>
            </a:p>
          </p:txBody>
        </p:sp>
      </p:grpSp>
      <p:graphicFrame>
        <p:nvGraphicFramePr>
          <p:cNvPr id="74" name="Object 30">
            <a:extLst>
              <a:ext uri="{FF2B5EF4-FFF2-40B4-BE49-F238E27FC236}">
                <a16:creationId xmlns:a16="http://schemas.microsoft.com/office/drawing/2014/main" id="{E63083B5-B8E0-4A8A-A88C-9DC887B23983}"/>
              </a:ext>
            </a:extLst>
          </p:cNvPr>
          <p:cNvGraphicFramePr>
            <a:graphicFrameLocks noChangeAspect="1"/>
          </p:cNvGraphicFramePr>
          <p:nvPr/>
        </p:nvGraphicFramePr>
        <p:xfrm>
          <a:off x="6730674" y="2377026"/>
          <a:ext cx="212725" cy="230188"/>
        </p:xfrm>
        <a:graphic>
          <a:graphicData uri="http://schemas.openxmlformats.org/presentationml/2006/ole">
            <mc:AlternateContent xmlns:mc="http://schemas.openxmlformats.org/markup-compatibility/2006">
              <mc:Choice xmlns:v="urn:schemas-microsoft-com:vml" Requires="v">
                <p:oleObj spid="_x0000_s199868" r:id="rId20" imgW="153332" imgH="166109" progId="">
                  <p:embed/>
                </p:oleObj>
              </mc:Choice>
              <mc:Fallback>
                <p:oleObj r:id="rId20" imgW="153332" imgH="166109" progId="">
                  <p:embed/>
                  <p:pic>
                    <p:nvPicPr>
                      <p:cNvPr id="74" name="Object 30">
                        <a:extLst>
                          <a:ext uri="{FF2B5EF4-FFF2-40B4-BE49-F238E27FC236}">
                            <a16:creationId xmlns:a16="http://schemas.microsoft.com/office/drawing/2014/main" id="{E63083B5-B8E0-4A8A-A88C-9DC887B239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0674" y="2377026"/>
                        <a:ext cx="212725"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 name="Object 31">
            <a:extLst>
              <a:ext uri="{FF2B5EF4-FFF2-40B4-BE49-F238E27FC236}">
                <a16:creationId xmlns:a16="http://schemas.microsoft.com/office/drawing/2014/main" id="{F2375530-5B9F-41A5-B306-9B066BD88490}"/>
              </a:ext>
            </a:extLst>
          </p:cNvPr>
          <p:cNvGraphicFramePr>
            <a:graphicFrameLocks noChangeAspect="1"/>
          </p:cNvGraphicFramePr>
          <p:nvPr/>
        </p:nvGraphicFramePr>
        <p:xfrm>
          <a:off x="6971535" y="4027107"/>
          <a:ext cx="176213" cy="195262"/>
        </p:xfrm>
        <a:graphic>
          <a:graphicData uri="http://schemas.openxmlformats.org/presentationml/2006/ole">
            <mc:AlternateContent xmlns:mc="http://schemas.openxmlformats.org/markup-compatibility/2006">
              <mc:Choice xmlns:v="urn:schemas-microsoft-com:vml" Requires="v">
                <p:oleObj spid="_x0000_s199869" r:id="rId21" imgW="127832" imgH="140615" progId="">
                  <p:embed/>
                </p:oleObj>
              </mc:Choice>
              <mc:Fallback>
                <p:oleObj r:id="rId21" imgW="127832" imgH="140615" progId="">
                  <p:embed/>
                  <p:pic>
                    <p:nvPicPr>
                      <p:cNvPr id="75" name="Object 31">
                        <a:extLst>
                          <a:ext uri="{FF2B5EF4-FFF2-40B4-BE49-F238E27FC236}">
                            <a16:creationId xmlns:a16="http://schemas.microsoft.com/office/drawing/2014/main" id="{F2375530-5B9F-41A5-B306-9B066BD88490}"/>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971535" y="4027107"/>
                        <a:ext cx="176213" cy="19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6" name="Object 32">
            <a:extLst>
              <a:ext uri="{FF2B5EF4-FFF2-40B4-BE49-F238E27FC236}">
                <a16:creationId xmlns:a16="http://schemas.microsoft.com/office/drawing/2014/main" id="{122EAB35-7F58-48A9-B175-C2AB5E99BA5A}"/>
              </a:ext>
            </a:extLst>
          </p:cNvPr>
          <p:cNvGraphicFramePr>
            <a:graphicFrameLocks noChangeAspect="1"/>
          </p:cNvGraphicFramePr>
          <p:nvPr/>
        </p:nvGraphicFramePr>
        <p:xfrm>
          <a:off x="8416599" y="4110576"/>
          <a:ext cx="212725" cy="284163"/>
        </p:xfrm>
        <a:graphic>
          <a:graphicData uri="http://schemas.openxmlformats.org/presentationml/2006/ole">
            <mc:AlternateContent xmlns:mc="http://schemas.openxmlformats.org/markup-compatibility/2006">
              <mc:Choice xmlns:v="urn:schemas-microsoft-com:vml" Requires="v">
                <p:oleObj spid="_x0000_s199870" r:id="rId23" imgW="153332" imgH="204442" progId="">
                  <p:embed/>
                </p:oleObj>
              </mc:Choice>
              <mc:Fallback>
                <p:oleObj r:id="rId23" imgW="153332" imgH="204442" progId="">
                  <p:embed/>
                  <p:pic>
                    <p:nvPicPr>
                      <p:cNvPr id="76" name="Object 32">
                        <a:extLst>
                          <a:ext uri="{FF2B5EF4-FFF2-40B4-BE49-F238E27FC236}">
                            <a16:creationId xmlns:a16="http://schemas.microsoft.com/office/drawing/2014/main" id="{122EAB35-7F58-48A9-B175-C2AB5E99BA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16599" y="4110576"/>
                        <a:ext cx="212725"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7" name="Object 33">
            <a:extLst>
              <a:ext uri="{FF2B5EF4-FFF2-40B4-BE49-F238E27FC236}">
                <a16:creationId xmlns:a16="http://schemas.microsoft.com/office/drawing/2014/main" id="{33FF9483-B154-4F19-B2B7-A38AF0D02AA8}"/>
              </a:ext>
            </a:extLst>
          </p:cNvPr>
          <p:cNvGraphicFramePr>
            <a:graphicFrameLocks noChangeAspect="1"/>
          </p:cNvGraphicFramePr>
          <p:nvPr/>
        </p:nvGraphicFramePr>
        <p:xfrm>
          <a:off x="7635549" y="2519901"/>
          <a:ext cx="230187" cy="230188"/>
        </p:xfrm>
        <a:graphic>
          <a:graphicData uri="http://schemas.openxmlformats.org/presentationml/2006/ole">
            <mc:AlternateContent xmlns:mc="http://schemas.openxmlformats.org/markup-compatibility/2006">
              <mc:Choice xmlns:v="urn:schemas-microsoft-com:vml" Requires="v">
                <p:oleObj spid="_x0000_s199871" r:id="rId24" imgW="166037" imgH="166037" progId="">
                  <p:embed/>
                </p:oleObj>
              </mc:Choice>
              <mc:Fallback>
                <p:oleObj r:id="rId24" imgW="166037" imgH="166037" progId="">
                  <p:embed/>
                  <p:pic>
                    <p:nvPicPr>
                      <p:cNvPr id="77" name="Object 33">
                        <a:extLst>
                          <a:ext uri="{FF2B5EF4-FFF2-40B4-BE49-F238E27FC236}">
                            <a16:creationId xmlns:a16="http://schemas.microsoft.com/office/drawing/2014/main" id="{33FF9483-B154-4F19-B2B7-A38AF0D02AA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35549" y="2519901"/>
                        <a:ext cx="230187"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8" name="TextBox 47">
            <a:extLst>
              <a:ext uri="{FF2B5EF4-FFF2-40B4-BE49-F238E27FC236}">
                <a16:creationId xmlns:a16="http://schemas.microsoft.com/office/drawing/2014/main" id="{936C1D84-0533-4AE2-9F79-AE9CBCFA0AFB}"/>
              </a:ext>
            </a:extLst>
          </p:cNvPr>
          <p:cNvSpPr txBox="1">
            <a:spLocks noChangeArrowheads="1"/>
          </p:cNvSpPr>
          <p:nvPr/>
        </p:nvSpPr>
        <p:spPr bwMode="auto">
          <a:xfrm>
            <a:off x="7460924" y="4196301"/>
            <a:ext cx="45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0" dirty="0">
                <a:solidFill>
                  <a:schemeClr val="tx1"/>
                </a:solidFill>
                <a:latin typeface="微软雅黑" panose="020B0503020204020204" pitchFamily="34" charset="-122"/>
              </a:rPr>
              <a:t>(c)</a:t>
            </a:r>
            <a:endParaRPr lang="zh-CN" altLang="en-US" sz="1800" b="0" dirty="0">
              <a:solidFill>
                <a:schemeClr val="tx1"/>
              </a:solidFill>
              <a:latin typeface="微软雅黑" panose="020B0503020204020204" pitchFamily="34" charset="-122"/>
            </a:endParaRPr>
          </a:p>
        </p:txBody>
      </p:sp>
      <p:sp>
        <p:nvSpPr>
          <p:cNvPr id="79" name="矩形 1">
            <a:extLst>
              <a:ext uri="{FF2B5EF4-FFF2-40B4-BE49-F238E27FC236}">
                <a16:creationId xmlns:a16="http://schemas.microsoft.com/office/drawing/2014/main" id="{D258E95C-B9C0-40C1-9DF2-8B2C1CC20DB9}"/>
              </a:ext>
            </a:extLst>
          </p:cNvPr>
          <p:cNvSpPr>
            <a:spLocks noChangeArrowheads="1"/>
          </p:cNvSpPr>
          <p:nvPr/>
        </p:nvSpPr>
        <p:spPr bwMode="auto">
          <a:xfrm>
            <a:off x="7160886" y="4774151"/>
            <a:ext cx="12875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20000"/>
              </a:spcBef>
              <a:buSzPct val="100000"/>
            </a:pPr>
            <a:r>
              <a:rPr lang="zh-CN" altLang="en-US" sz="2000" spc="150" dirty="0">
                <a:solidFill>
                  <a:srgbClr val="000000"/>
                </a:solidFill>
                <a:latin typeface="微软雅黑" panose="020B0503020204020204" pitchFamily="34" charset="-122"/>
                <a:ea typeface="微软雅黑" panose="020B0503020204020204" pitchFamily="34" charset="-122"/>
              </a:rPr>
              <a:t>吉芬商品</a:t>
            </a:r>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p:sp>
        <p:nvSpPr>
          <p:cNvPr id="80" name="矩形 45">
            <a:extLst>
              <a:ext uri="{FF2B5EF4-FFF2-40B4-BE49-F238E27FC236}">
                <a16:creationId xmlns:a16="http://schemas.microsoft.com/office/drawing/2014/main" id="{AF5AB240-9FFE-486C-BE7E-FECD8E5B24F4}"/>
              </a:ext>
            </a:extLst>
          </p:cNvPr>
          <p:cNvSpPr>
            <a:spLocks noChangeArrowheads="1"/>
          </p:cNvSpPr>
          <p:nvPr/>
        </p:nvSpPr>
        <p:spPr bwMode="auto">
          <a:xfrm>
            <a:off x="4241474" y="4790026"/>
            <a:ext cx="23903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20000"/>
              </a:spcBef>
              <a:buSzPct val="100000"/>
            </a:pPr>
            <a:r>
              <a:rPr lang="zh-CN" altLang="en-US" sz="2000" spc="150" dirty="0">
                <a:solidFill>
                  <a:srgbClr val="000000"/>
                </a:solidFill>
                <a:latin typeface="微软雅黑" panose="020B0503020204020204" pitchFamily="34" charset="-122"/>
                <a:ea typeface="微软雅黑" panose="020B0503020204020204" pitchFamily="34" charset="-122"/>
              </a:rPr>
              <a:t>无限</a:t>
            </a:r>
            <a:r>
              <a:rPr lang="zh-CN" altLang="en-US" sz="2000" spc="150" dirty="0">
                <a:solidFill>
                  <a:srgbClr val="FF0000"/>
                </a:solidFill>
                <a:latin typeface="微软雅黑" panose="020B0503020204020204" pitchFamily="34" charset="-122"/>
                <a:ea typeface="微软雅黑" panose="020B0503020204020204" pitchFamily="34" charset="-122"/>
              </a:rPr>
              <a:t>弹性</a:t>
            </a:r>
            <a:r>
              <a:rPr lang="zh-CN" altLang="en-US" sz="2000" spc="150" dirty="0">
                <a:solidFill>
                  <a:srgbClr val="000000"/>
                </a:solidFill>
                <a:latin typeface="微软雅黑" panose="020B0503020204020204" pitchFamily="34" charset="-122"/>
                <a:ea typeface="微软雅黑" panose="020B0503020204020204" pitchFamily="34" charset="-122"/>
              </a:rPr>
              <a:t>（水平）</a:t>
            </a:r>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p:sp>
        <p:nvSpPr>
          <p:cNvPr id="81" name="矩形 46">
            <a:extLst>
              <a:ext uri="{FF2B5EF4-FFF2-40B4-BE49-F238E27FC236}">
                <a16:creationId xmlns:a16="http://schemas.microsoft.com/office/drawing/2014/main" id="{FBEA9042-D299-4F06-B064-24054F260613}"/>
              </a:ext>
            </a:extLst>
          </p:cNvPr>
          <p:cNvSpPr>
            <a:spLocks noChangeArrowheads="1"/>
          </p:cNvSpPr>
          <p:nvPr/>
        </p:nvSpPr>
        <p:spPr bwMode="auto">
          <a:xfrm>
            <a:off x="1499861" y="4774151"/>
            <a:ext cx="23903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SzPct val="100000"/>
            </a:pPr>
            <a:r>
              <a:rPr lang="zh-CN" altLang="en-US" sz="2000" spc="150" dirty="0">
                <a:solidFill>
                  <a:srgbClr val="000000"/>
                </a:solidFill>
                <a:latin typeface="微软雅黑" panose="020B0503020204020204" pitchFamily="34" charset="-122"/>
                <a:ea typeface="微软雅黑" panose="020B0503020204020204" pitchFamily="34" charset="-122"/>
              </a:rPr>
              <a:t>毫无</a:t>
            </a:r>
            <a:r>
              <a:rPr lang="zh-CN" altLang="en-US" sz="2000" spc="150" dirty="0">
                <a:solidFill>
                  <a:srgbClr val="FF0000"/>
                </a:solidFill>
                <a:latin typeface="微软雅黑" panose="020B0503020204020204" pitchFamily="34" charset="-122"/>
                <a:ea typeface="微软雅黑" panose="020B0503020204020204" pitchFamily="34" charset="-122"/>
              </a:rPr>
              <a:t>弹性</a:t>
            </a:r>
            <a:r>
              <a:rPr lang="zh-CN" altLang="en-US" sz="2000" spc="150" dirty="0">
                <a:solidFill>
                  <a:srgbClr val="000000"/>
                </a:solidFill>
                <a:latin typeface="微软雅黑" panose="020B0503020204020204" pitchFamily="34" charset="-122"/>
                <a:ea typeface="微软雅黑" panose="020B0503020204020204" pitchFamily="34" charset="-122"/>
              </a:rPr>
              <a:t>（垂直）</a:t>
            </a:r>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6419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strips(downLeft)">
                                      <p:cBhvr>
                                        <p:cTn id="12" dur="500"/>
                                        <p:tgtEl>
                                          <p:spTgt spid="4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1"/>
                                        </p:tgtEl>
                                        <p:attrNameLst>
                                          <p:attrName>style.visibility</p:attrName>
                                        </p:attrNameLst>
                                      </p:cBhvr>
                                      <p:to>
                                        <p:strVal val="visible"/>
                                      </p:to>
                                    </p:set>
                                    <p:animEffect transition="in" filter="fade">
                                      <p:cBhvr>
                                        <p:cTn id="15" dur="500"/>
                                        <p:tgtEl>
                                          <p:spTgt spid="81"/>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59"/>
                                        </p:tgtEl>
                                        <p:attrNameLst>
                                          <p:attrName>style.visibility</p:attrName>
                                        </p:attrNameLst>
                                      </p:cBhvr>
                                      <p:to>
                                        <p:strVal val="visible"/>
                                      </p:to>
                                    </p:set>
                                    <p:animEffect transition="in" filter="randombar(horizontal)">
                                      <p:cBhvr>
                                        <p:cTn id="20" dur="500"/>
                                        <p:tgtEl>
                                          <p:spTgt spid="5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0"/>
                                        </p:tgtEl>
                                        <p:attrNameLst>
                                          <p:attrName>style.visibility</p:attrName>
                                        </p:attrNameLst>
                                      </p:cBhvr>
                                      <p:to>
                                        <p:strVal val="visible"/>
                                      </p:to>
                                    </p:set>
                                    <p:animEffect transition="in" filter="fade">
                                      <p:cBhvr>
                                        <p:cTn id="23" dur="500"/>
                                        <p:tgtEl>
                                          <p:spTgt spid="80"/>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74"/>
                                        </p:tgtEl>
                                        <p:attrNameLst>
                                          <p:attrName>style.visibility</p:attrName>
                                        </p:attrNameLst>
                                      </p:cBhvr>
                                      <p:to>
                                        <p:strVal val="visible"/>
                                      </p:to>
                                    </p:set>
                                    <p:animEffect transition="in" filter="randombar(horizontal)">
                                      <p:cBhvr>
                                        <p:cTn id="28" dur="500"/>
                                        <p:tgtEl>
                                          <p:spTgt spid="74"/>
                                        </p:tgtEl>
                                      </p:cBhvr>
                                    </p:animEffect>
                                  </p:childTnLst>
                                </p:cTn>
                              </p:par>
                              <p:par>
                                <p:cTn id="29" presetID="14" presetClass="entr" presetSubtype="10" fill="hold" nodeType="withEffect">
                                  <p:stCondLst>
                                    <p:cond delay="0"/>
                                  </p:stCondLst>
                                  <p:childTnLst>
                                    <p:set>
                                      <p:cBhvr>
                                        <p:cTn id="30" dur="1" fill="hold">
                                          <p:stCondLst>
                                            <p:cond delay="0"/>
                                          </p:stCondLst>
                                        </p:cTn>
                                        <p:tgtEl>
                                          <p:spTgt spid="75"/>
                                        </p:tgtEl>
                                        <p:attrNameLst>
                                          <p:attrName>style.visibility</p:attrName>
                                        </p:attrNameLst>
                                      </p:cBhvr>
                                      <p:to>
                                        <p:strVal val="visible"/>
                                      </p:to>
                                    </p:set>
                                    <p:animEffect transition="in" filter="randombar(horizontal)">
                                      <p:cBhvr>
                                        <p:cTn id="31" dur="500"/>
                                        <p:tgtEl>
                                          <p:spTgt spid="75"/>
                                        </p:tgtEl>
                                      </p:cBhvr>
                                    </p:animEffect>
                                  </p:childTnLst>
                                </p:cTn>
                              </p:par>
                              <p:par>
                                <p:cTn id="32" presetID="14" presetClass="entr" presetSubtype="10" fill="hold" nodeType="withEffect">
                                  <p:stCondLst>
                                    <p:cond delay="0"/>
                                  </p:stCondLst>
                                  <p:childTnLst>
                                    <p:set>
                                      <p:cBhvr>
                                        <p:cTn id="33" dur="1" fill="hold">
                                          <p:stCondLst>
                                            <p:cond delay="0"/>
                                          </p:stCondLst>
                                        </p:cTn>
                                        <p:tgtEl>
                                          <p:spTgt spid="76"/>
                                        </p:tgtEl>
                                        <p:attrNameLst>
                                          <p:attrName>style.visibility</p:attrName>
                                        </p:attrNameLst>
                                      </p:cBhvr>
                                      <p:to>
                                        <p:strVal val="visible"/>
                                      </p:to>
                                    </p:set>
                                    <p:animEffect transition="in" filter="randombar(horizontal)">
                                      <p:cBhvr>
                                        <p:cTn id="34" dur="500"/>
                                        <p:tgtEl>
                                          <p:spTgt spid="76"/>
                                        </p:tgtEl>
                                      </p:cBhvr>
                                    </p:animEffect>
                                  </p:childTnLst>
                                </p:cTn>
                              </p:par>
                              <p:par>
                                <p:cTn id="35" presetID="14" presetClass="entr" presetSubtype="10" fill="hold" nodeType="withEffect">
                                  <p:stCondLst>
                                    <p:cond delay="0"/>
                                  </p:stCondLst>
                                  <p:childTnLst>
                                    <p:set>
                                      <p:cBhvr>
                                        <p:cTn id="36" dur="1" fill="hold">
                                          <p:stCondLst>
                                            <p:cond delay="0"/>
                                          </p:stCondLst>
                                        </p:cTn>
                                        <p:tgtEl>
                                          <p:spTgt spid="77"/>
                                        </p:tgtEl>
                                        <p:attrNameLst>
                                          <p:attrName>style.visibility</p:attrName>
                                        </p:attrNameLst>
                                      </p:cBhvr>
                                      <p:to>
                                        <p:strVal val="visible"/>
                                      </p:to>
                                    </p:set>
                                    <p:animEffect transition="in" filter="randombar(horizontal)">
                                      <p:cBhvr>
                                        <p:cTn id="37" dur="500"/>
                                        <p:tgtEl>
                                          <p:spTgt spid="77"/>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78"/>
                                        </p:tgtEl>
                                        <p:attrNameLst>
                                          <p:attrName>style.visibility</p:attrName>
                                        </p:attrNameLst>
                                      </p:cBhvr>
                                      <p:to>
                                        <p:strVal val="visible"/>
                                      </p:to>
                                    </p:set>
                                    <p:animEffect transition="in" filter="randombar(horizontal)">
                                      <p:cBhvr>
                                        <p:cTn id="40" dur="500"/>
                                        <p:tgtEl>
                                          <p:spTgt spid="78"/>
                                        </p:tgtEl>
                                      </p:cBhvr>
                                    </p:animEffect>
                                  </p:childTnLst>
                                </p:cTn>
                              </p:par>
                              <p:par>
                                <p:cTn id="41" presetID="14" presetClass="entr" presetSubtype="10" fill="hold" nodeType="withEffect">
                                  <p:stCondLst>
                                    <p:cond delay="0"/>
                                  </p:stCondLst>
                                  <p:childTnLst>
                                    <p:set>
                                      <p:cBhvr>
                                        <p:cTn id="42" dur="1" fill="hold">
                                          <p:stCondLst>
                                            <p:cond delay="0"/>
                                          </p:stCondLst>
                                        </p:cTn>
                                        <p:tgtEl>
                                          <p:spTgt spid="70"/>
                                        </p:tgtEl>
                                        <p:attrNameLst>
                                          <p:attrName>style.visibility</p:attrName>
                                        </p:attrNameLst>
                                      </p:cBhvr>
                                      <p:to>
                                        <p:strVal val="visible"/>
                                      </p:to>
                                    </p:set>
                                    <p:animEffect transition="in" filter="randombar(horizontal)">
                                      <p:cBhvr>
                                        <p:cTn id="43" dur="500"/>
                                        <p:tgtEl>
                                          <p:spTgt spid="7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9"/>
                                        </p:tgtEl>
                                        <p:attrNameLst>
                                          <p:attrName>style.visibility</p:attrName>
                                        </p:attrNameLst>
                                      </p:cBhvr>
                                      <p:to>
                                        <p:strVal val="visible"/>
                                      </p:to>
                                    </p:set>
                                    <p:animEffect transition="in" filter="fade">
                                      <p:cBhvr>
                                        <p:cTn id="46"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8" grpId="0"/>
      <p:bldP spid="79" grpId="0"/>
      <p:bldP spid="80" grpId="0"/>
      <p:bldP spid="8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68E5273-CD77-47B9-B841-9D29349C133D}"/>
              </a:ext>
            </a:extLst>
          </p:cNvPr>
          <p:cNvSpPr/>
          <p:nvPr/>
        </p:nvSpPr>
        <p:spPr>
          <a:xfrm>
            <a:off x="467543" y="548680"/>
            <a:ext cx="3819785"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defTabSz="914400" fontAlgn="base">
              <a:spcBef>
                <a:spcPct val="0"/>
              </a:spcBef>
              <a:spcAft>
                <a:spcPct val="0"/>
              </a:spcAft>
            </a:pPr>
            <a:r>
              <a:rPr lang="zh-CN" altLang="en-US" sz="2400" b="1" spc="150" dirty="0">
                <a:solidFill>
                  <a:srgbClr val="FFFFFF"/>
                </a:solidFill>
                <a:latin typeface="微软雅黑" panose="020B0503020204020204" pitchFamily="34" charset="-122"/>
                <a:ea typeface="微软雅黑" panose="020B0503020204020204" pitchFamily="34" charset="-122"/>
              </a:rPr>
              <a:t>三、影响需求的其他因素</a:t>
            </a:r>
          </a:p>
        </p:txBody>
      </p:sp>
      <p:sp>
        <p:nvSpPr>
          <p:cNvPr id="15" name="矩形 14">
            <a:extLst>
              <a:ext uri="{FF2B5EF4-FFF2-40B4-BE49-F238E27FC236}">
                <a16:creationId xmlns:a16="http://schemas.microsoft.com/office/drawing/2014/main" id="{88E64304-A318-44E5-8B2C-DCEFC99551AF}"/>
              </a:ext>
            </a:extLst>
          </p:cNvPr>
          <p:cNvSpPr/>
          <p:nvPr/>
        </p:nvSpPr>
        <p:spPr>
          <a:xfrm>
            <a:off x="7532661" y="0"/>
            <a:ext cx="1611339"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15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第一节 需求 </a:t>
            </a:r>
          </a:p>
        </p:txBody>
      </p:sp>
      <p:sp>
        <p:nvSpPr>
          <p:cNvPr id="4" name="矩形 3">
            <a:extLst>
              <a:ext uri="{FF2B5EF4-FFF2-40B4-BE49-F238E27FC236}">
                <a16:creationId xmlns:a16="http://schemas.microsoft.com/office/drawing/2014/main" id="{6699317A-9253-4BBE-B88B-D26FCF8E5A02}"/>
              </a:ext>
            </a:extLst>
          </p:cNvPr>
          <p:cNvSpPr/>
          <p:nvPr/>
        </p:nvSpPr>
        <p:spPr>
          <a:xfrm>
            <a:off x="540117" y="1542824"/>
            <a:ext cx="2185214" cy="338554"/>
          </a:xfrm>
          <a:prstGeom prst="rect">
            <a:avLst/>
          </a:prstGeom>
        </p:spPr>
        <p:txBody>
          <a:bodyPr wrap="none">
            <a:spAutoFit/>
          </a:bodyPr>
          <a:lstStyle/>
          <a:p>
            <a:pPr marL="342900" indent="-342900">
              <a:lnSpc>
                <a:spcPct val="80000"/>
              </a:lnSpc>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消费者的偏好</a:t>
            </a:r>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p:sp>
        <p:nvSpPr>
          <p:cNvPr id="5" name="标注: 线形(带边框和强调线) 4">
            <a:extLst>
              <a:ext uri="{FF2B5EF4-FFF2-40B4-BE49-F238E27FC236}">
                <a16:creationId xmlns:a16="http://schemas.microsoft.com/office/drawing/2014/main" id="{AAB944D5-A5BA-4F05-AE5A-6D9811B678F2}"/>
              </a:ext>
            </a:extLst>
          </p:cNvPr>
          <p:cNvSpPr/>
          <p:nvPr/>
        </p:nvSpPr>
        <p:spPr>
          <a:xfrm>
            <a:off x="4581331" y="1242067"/>
            <a:ext cx="4311149" cy="529034"/>
          </a:xfrm>
          <a:prstGeom prst="accentBorderCallout1">
            <a:avLst>
              <a:gd name="adj1" fmla="val 18750"/>
              <a:gd name="adj2" fmla="val -8333"/>
              <a:gd name="adj3" fmla="val 77167"/>
              <a:gd name="adj4" fmla="val -51237"/>
            </a:avLst>
          </a:prstGeom>
          <a:solidFill>
            <a:srgbClr val="BB1528"/>
          </a:solidFill>
          <a:ln>
            <a:solidFill>
              <a:srgbClr val="BB15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sz="1400" spc="150" dirty="0">
                <a:solidFill>
                  <a:schemeClr val="bg1"/>
                </a:solidFill>
                <a:latin typeface="微软雅黑" panose="020B0503020204020204" pitchFamily="34" charset="-122"/>
                <a:ea typeface="微软雅黑" panose="020B0503020204020204" pitchFamily="34" charset="-122"/>
              </a:rPr>
              <a:t>偏好是指消费者对某种商品的喜好程度，它极大地影响着消费者对该商品的需求。</a:t>
            </a:r>
          </a:p>
        </p:txBody>
      </p:sp>
      <p:sp>
        <p:nvSpPr>
          <p:cNvPr id="42" name="矩形 41">
            <a:extLst>
              <a:ext uri="{FF2B5EF4-FFF2-40B4-BE49-F238E27FC236}">
                <a16:creationId xmlns:a16="http://schemas.microsoft.com/office/drawing/2014/main" id="{56BEB393-18C9-48B3-892F-6C4E74325086}"/>
              </a:ext>
            </a:extLst>
          </p:cNvPr>
          <p:cNvSpPr/>
          <p:nvPr/>
        </p:nvSpPr>
        <p:spPr>
          <a:xfrm>
            <a:off x="540117" y="2049496"/>
            <a:ext cx="2736647" cy="338554"/>
          </a:xfrm>
          <a:prstGeom prst="rect">
            <a:avLst/>
          </a:prstGeom>
        </p:spPr>
        <p:txBody>
          <a:bodyPr wrap="none">
            <a:spAutoFit/>
          </a:bodyPr>
          <a:lstStyle/>
          <a:p>
            <a:pPr marL="342900" indent="-342900">
              <a:lnSpc>
                <a:spcPct val="80000"/>
              </a:lnSpc>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消费者的收入水平</a:t>
            </a:r>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p:sp>
        <p:nvSpPr>
          <p:cNvPr id="43" name="标注: 线形(带边框和强调线) 42">
            <a:extLst>
              <a:ext uri="{FF2B5EF4-FFF2-40B4-BE49-F238E27FC236}">
                <a16:creationId xmlns:a16="http://schemas.microsoft.com/office/drawing/2014/main" id="{CA4FBBCD-F4CF-417A-AFFB-EFC51E34B0F8}"/>
              </a:ext>
            </a:extLst>
          </p:cNvPr>
          <p:cNvSpPr/>
          <p:nvPr/>
        </p:nvSpPr>
        <p:spPr>
          <a:xfrm>
            <a:off x="4581330" y="1881378"/>
            <a:ext cx="4311150" cy="511417"/>
          </a:xfrm>
          <a:prstGeom prst="accentBorderCallout1">
            <a:avLst>
              <a:gd name="adj1" fmla="val 18750"/>
              <a:gd name="adj2" fmla="val -8333"/>
              <a:gd name="adj3" fmla="val 54150"/>
              <a:gd name="adj4" fmla="val -37841"/>
            </a:avLst>
          </a:prstGeom>
          <a:solidFill>
            <a:srgbClr val="BB1528"/>
          </a:solidFill>
          <a:ln>
            <a:solidFill>
              <a:srgbClr val="BB15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ct val="0"/>
              </a:spcBef>
              <a:buFont typeface="Arial" panose="020B0604020202020204" pitchFamily="34" charset="0"/>
              <a:buChar char="•"/>
            </a:pPr>
            <a:r>
              <a:rPr lang="zh-CN" altLang="en-US" sz="1400" spc="150" dirty="0">
                <a:solidFill>
                  <a:schemeClr val="bg1"/>
                </a:solidFill>
                <a:latin typeface="微软雅黑" panose="020B0503020204020204" pitchFamily="34" charset="-122"/>
                <a:ea typeface="微软雅黑" panose="020B0503020204020204" pitchFamily="34" charset="-122"/>
              </a:rPr>
              <a:t>对于一个消费者而言，收入决定了其支付能力，从而也决定了对商品的需求量。</a:t>
            </a:r>
          </a:p>
        </p:txBody>
      </p:sp>
      <p:sp>
        <p:nvSpPr>
          <p:cNvPr id="6" name="矩形 5">
            <a:extLst>
              <a:ext uri="{FF2B5EF4-FFF2-40B4-BE49-F238E27FC236}">
                <a16:creationId xmlns:a16="http://schemas.microsoft.com/office/drawing/2014/main" id="{63306558-2496-43D6-8CAF-5B19BC766222}"/>
              </a:ext>
            </a:extLst>
          </p:cNvPr>
          <p:cNvSpPr/>
          <p:nvPr/>
        </p:nvSpPr>
        <p:spPr>
          <a:xfrm>
            <a:off x="540117" y="2560914"/>
            <a:ext cx="3012363" cy="338554"/>
          </a:xfrm>
          <a:prstGeom prst="rect">
            <a:avLst/>
          </a:prstGeom>
        </p:spPr>
        <p:txBody>
          <a:bodyPr wrap="none">
            <a:spAutoFit/>
          </a:bodyPr>
          <a:lstStyle/>
          <a:p>
            <a:pPr marL="342900" indent="-342900">
              <a:lnSpc>
                <a:spcPct val="80000"/>
              </a:lnSpc>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其他相关商品的价格</a:t>
            </a:r>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p:sp>
        <p:nvSpPr>
          <p:cNvPr id="45" name="矩形 44">
            <a:extLst>
              <a:ext uri="{FF2B5EF4-FFF2-40B4-BE49-F238E27FC236}">
                <a16:creationId xmlns:a16="http://schemas.microsoft.com/office/drawing/2014/main" id="{663F22D8-8F24-4B5C-A6F0-7A0EA209C9B4}"/>
              </a:ext>
            </a:extLst>
          </p:cNvPr>
          <p:cNvSpPr/>
          <p:nvPr/>
        </p:nvSpPr>
        <p:spPr>
          <a:xfrm>
            <a:off x="915506" y="2989287"/>
            <a:ext cx="2031325" cy="646331"/>
          </a:xfrm>
          <a:prstGeom prst="rect">
            <a:avLst/>
          </a:prstGeom>
        </p:spPr>
        <p:txBody>
          <a:bodyPr wrap="none">
            <a:spAutoFit/>
          </a:bodyPr>
          <a:lstStyle/>
          <a:p>
            <a:pPr marL="342900" indent="-342900">
              <a:lnSpc>
                <a:spcPct val="80000"/>
              </a:lnSpc>
              <a:spcBef>
                <a:spcPct val="40000"/>
              </a:spcBef>
              <a:buFont typeface="Arial" panose="020B0604020202020204" pitchFamily="34" charset="0"/>
              <a:buChar char="•"/>
            </a:pPr>
            <a:r>
              <a:rPr lang="zh-CN" altLang="en-US" spc="150" dirty="0">
                <a:solidFill>
                  <a:srgbClr val="000000"/>
                </a:solidFill>
                <a:latin typeface="微软雅黑" panose="020B0503020204020204" pitchFamily="34" charset="-122"/>
                <a:ea typeface="微软雅黑" panose="020B0503020204020204" pitchFamily="34" charset="-122"/>
              </a:rPr>
              <a:t>替代品的价格</a:t>
            </a:r>
            <a:endParaRPr lang="en-US" altLang="zh-CN" spc="150" dirty="0">
              <a:solidFill>
                <a:srgbClr val="000000"/>
              </a:solidFill>
              <a:latin typeface="微软雅黑" panose="020B0503020204020204" pitchFamily="34" charset="-122"/>
              <a:ea typeface="微软雅黑" panose="020B0503020204020204" pitchFamily="34" charset="-122"/>
            </a:endParaRPr>
          </a:p>
          <a:p>
            <a:pPr marL="342900" indent="-342900">
              <a:lnSpc>
                <a:spcPct val="80000"/>
              </a:lnSpc>
              <a:spcBef>
                <a:spcPct val="40000"/>
              </a:spcBef>
              <a:buFont typeface="Arial" panose="020B0604020202020204" pitchFamily="34" charset="0"/>
              <a:buChar char="•"/>
            </a:pPr>
            <a:r>
              <a:rPr lang="zh-CN" altLang="en-US" spc="150" dirty="0">
                <a:solidFill>
                  <a:srgbClr val="000000"/>
                </a:solidFill>
                <a:latin typeface="微软雅黑" panose="020B0503020204020204" pitchFamily="34" charset="-122"/>
                <a:ea typeface="微软雅黑" panose="020B0503020204020204" pitchFamily="34" charset="-122"/>
              </a:rPr>
              <a:t>互补品的价格</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46" name="标注: 线形(带边框和强调线) 45">
            <a:extLst>
              <a:ext uri="{FF2B5EF4-FFF2-40B4-BE49-F238E27FC236}">
                <a16:creationId xmlns:a16="http://schemas.microsoft.com/office/drawing/2014/main" id="{D62DE9BD-DD7A-4A79-BFE1-294A6B834E45}"/>
              </a:ext>
            </a:extLst>
          </p:cNvPr>
          <p:cNvSpPr/>
          <p:nvPr/>
        </p:nvSpPr>
        <p:spPr>
          <a:xfrm>
            <a:off x="4581329" y="2519050"/>
            <a:ext cx="4311151" cy="1247033"/>
          </a:xfrm>
          <a:prstGeom prst="accentBorderCallout1">
            <a:avLst>
              <a:gd name="adj1" fmla="val 18750"/>
              <a:gd name="adj2" fmla="val -8333"/>
              <a:gd name="adj3" fmla="val 18648"/>
              <a:gd name="adj4" fmla="val -30186"/>
            </a:avLst>
          </a:prstGeom>
          <a:solidFill>
            <a:srgbClr val="BB1528"/>
          </a:solidFill>
          <a:ln>
            <a:solidFill>
              <a:srgbClr val="BB15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ct val="0"/>
              </a:spcBef>
              <a:buFont typeface="Arial" panose="020B0604020202020204" pitchFamily="34" charset="0"/>
              <a:buChar char="•"/>
            </a:pPr>
            <a:r>
              <a:rPr lang="zh-CN" altLang="en-US" sz="1400" spc="150" dirty="0">
                <a:solidFill>
                  <a:schemeClr val="bg1"/>
                </a:solidFill>
                <a:latin typeface="微软雅黑" panose="020B0503020204020204" pitchFamily="34" charset="-122"/>
                <a:ea typeface="微软雅黑" panose="020B0503020204020204" pitchFamily="34" charset="-122"/>
              </a:rPr>
              <a:t>替代品价格上升将导致消费者对原商品的需求量增加，例如苹果和橘子。</a:t>
            </a:r>
            <a:endParaRPr lang="en-US" altLang="zh-CN" sz="1400" spc="150" dirty="0">
              <a:solidFill>
                <a:schemeClr val="bg1"/>
              </a:solidFill>
              <a:latin typeface="微软雅黑" panose="020B0503020204020204" pitchFamily="34" charset="-122"/>
              <a:ea typeface="微软雅黑" panose="020B0503020204020204" pitchFamily="34" charset="-122"/>
            </a:endParaRPr>
          </a:p>
          <a:p>
            <a:pPr>
              <a:spcBef>
                <a:spcPct val="0"/>
              </a:spcBef>
            </a:pPr>
            <a:endParaRPr lang="en-US" altLang="zh-CN" sz="1400" spc="150" dirty="0">
              <a:solidFill>
                <a:schemeClr val="bg1"/>
              </a:solidFill>
              <a:latin typeface="微软雅黑" panose="020B0503020204020204" pitchFamily="34" charset="-122"/>
              <a:ea typeface="微软雅黑" panose="020B0503020204020204" pitchFamily="34" charset="-122"/>
            </a:endParaRPr>
          </a:p>
          <a:p>
            <a:pPr marL="285750" indent="-285750">
              <a:spcBef>
                <a:spcPct val="0"/>
              </a:spcBef>
              <a:buFont typeface="Arial" panose="020B0604020202020204" pitchFamily="34" charset="0"/>
              <a:buChar char="•"/>
            </a:pPr>
            <a:r>
              <a:rPr lang="zh-CN" altLang="en-US" sz="1400" spc="150" dirty="0">
                <a:solidFill>
                  <a:schemeClr val="bg1"/>
                </a:solidFill>
                <a:latin typeface="微软雅黑" panose="020B0503020204020204" pitchFamily="34" charset="-122"/>
                <a:ea typeface="微软雅黑" panose="020B0503020204020204" pitchFamily="34" charset="-122"/>
              </a:rPr>
              <a:t>互补品价格提高时，消费者对原商品的需求量也会减少，例如汽车和汽油。</a:t>
            </a:r>
          </a:p>
        </p:txBody>
      </p:sp>
      <p:sp>
        <p:nvSpPr>
          <p:cNvPr id="7" name="矩形 6">
            <a:extLst>
              <a:ext uri="{FF2B5EF4-FFF2-40B4-BE49-F238E27FC236}">
                <a16:creationId xmlns:a16="http://schemas.microsoft.com/office/drawing/2014/main" id="{9C24C86B-2EBA-45F8-9AD4-C1243D749AFA}"/>
              </a:ext>
            </a:extLst>
          </p:cNvPr>
          <p:cNvSpPr/>
          <p:nvPr/>
        </p:nvSpPr>
        <p:spPr>
          <a:xfrm>
            <a:off x="540117" y="3766083"/>
            <a:ext cx="1909497" cy="338554"/>
          </a:xfrm>
          <a:prstGeom prst="rect">
            <a:avLst/>
          </a:prstGeom>
        </p:spPr>
        <p:txBody>
          <a:bodyPr wrap="none">
            <a:spAutoFit/>
          </a:bodyPr>
          <a:lstStyle/>
          <a:p>
            <a:pPr marL="342900" indent="-342900">
              <a:lnSpc>
                <a:spcPct val="80000"/>
              </a:lnSpc>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消费者预期</a:t>
            </a:r>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p:sp>
        <p:nvSpPr>
          <p:cNvPr id="82" name="标注: 线形(带边框和强调线) 81">
            <a:extLst>
              <a:ext uri="{FF2B5EF4-FFF2-40B4-BE49-F238E27FC236}">
                <a16:creationId xmlns:a16="http://schemas.microsoft.com/office/drawing/2014/main" id="{59222FB5-4E4D-4297-8882-A74BE279CEFD}"/>
              </a:ext>
            </a:extLst>
          </p:cNvPr>
          <p:cNvSpPr/>
          <p:nvPr/>
        </p:nvSpPr>
        <p:spPr>
          <a:xfrm>
            <a:off x="4581328" y="3892338"/>
            <a:ext cx="4311151" cy="671371"/>
          </a:xfrm>
          <a:prstGeom prst="accentBorderCallout1">
            <a:avLst>
              <a:gd name="adj1" fmla="val 18750"/>
              <a:gd name="adj2" fmla="val -8333"/>
              <a:gd name="adj3" fmla="val 6204"/>
              <a:gd name="adj4" fmla="val -57698"/>
            </a:avLst>
          </a:prstGeom>
          <a:solidFill>
            <a:srgbClr val="BB1528"/>
          </a:solidFill>
          <a:ln>
            <a:solidFill>
              <a:srgbClr val="BB15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ct val="0"/>
              </a:spcBef>
              <a:buFont typeface="Arial" panose="020B0604020202020204" pitchFamily="34" charset="0"/>
              <a:buChar char="•"/>
            </a:pPr>
            <a:r>
              <a:rPr lang="zh-CN" altLang="en-US" sz="1400" spc="150" dirty="0">
                <a:solidFill>
                  <a:schemeClr val="bg1"/>
                </a:solidFill>
                <a:latin typeface="微软雅黑" panose="020B0503020204020204" pitchFamily="34" charset="-122"/>
                <a:ea typeface="微软雅黑" panose="020B0503020204020204" pitchFamily="34" charset="-122"/>
              </a:rPr>
              <a:t>考虑时间因素时，消费者会根据已有的信息对未来事项进行预期。</a:t>
            </a:r>
          </a:p>
        </p:txBody>
      </p:sp>
      <p:sp>
        <p:nvSpPr>
          <p:cNvPr id="85" name="矩形 84">
            <a:extLst>
              <a:ext uri="{FF2B5EF4-FFF2-40B4-BE49-F238E27FC236}">
                <a16:creationId xmlns:a16="http://schemas.microsoft.com/office/drawing/2014/main" id="{C1B8C2CD-A435-45F8-BB3E-8F8F51AB1F9A}"/>
              </a:ext>
            </a:extLst>
          </p:cNvPr>
          <p:cNvSpPr/>
          <p:nvPr/>
        </p:nvSpPr>
        <p:spPr>
          <a:xfrm>
            <a:off x="540117" y="4272756"/>
            <a:ext cx="1909497" cy="338554"/>
          </a:xfrm>
          <a:prstGeom prst="rect">
            <a:avLst/>
          </a:prstGeom>
        </p:spPr>
        <p:txBody>
          <a:bodyPr wrap="none">
            <a:spAutoFit/>
          </a:bodyPr>
          <a:lstStyle/>
          <a:p>
            <a:pPr marL="342900" indent="-342900">
              <a:lnSpc>
                <a:spcPct val="80000"/>
              </a:lnSpc>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政府的政策</a:t>
            </a:r>
          </a:p>
        </p:txBody>
      </p:sp>
      <p:sp>
        <p:nvSpPr>
          <p:cNvPr id="86" name="标注: 线形(带边框和强调线) 85">
            <a:extLst>
              <a:ext uri="{FF2B5EF4-FFF2-40B4-BE49-F238E27FC236}">
                <a16:creationId xmlns:a16="http://schemas.microsoft.com/office/drawing/2014/main" id="{FB64765D-E2AD-4DEC-B2C9-9A2EF812CD5F}"/>
              </a:ext>
            </a:extLst>
          </p:cNvPr>
          <p:cNvSpPr/>
          <p:nvPr/>
        </p:nvSpPr>
        <p:spPr>
          <a:xfrm>
            <a:off x="4581329" y="4689964"/>
            <a:ext cx="4311150" cy="805766"/>
          </a:xfrm>
          <a:prstGeom prst="accentBorderCallout1">
            <a:avLst>
              <a:gd name="adj1" fmla="val 18750"/>
              <a:gd name="adj2" fmla="val -8333"/>
              <a:gd name="adj3" fmla="val -33167"/>
              <a:gd name="adj4" fmla="val -58894"/>
            </a:avLst>
          </a:prstGeom>
          <a:solidFill>
            <a:srgbClr val="BB1528"/>
          </a:solidFill>
          <a:ln>
            <a:solidFill>
              <a:srgbClr val="BB152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285750" indent="-285750">
              <a:spcBef>
                <a:spcPct val="0"/>
              </a:spcBef>
              <a:buFont typeface="Arial" panose="020B0604020202020204" pitchFamily="34" charset="0"/>
              <a:buChar char="•"/>
            </a:pPr>
            <a:r>
              <a:rPr lang="zh-CN" altLang="en-US" sz="1400" spc="150" dirty="0">
                <a:solidFill>
                  <a:schemeClr val="bg1"/>
                </a:solidFill>
                <a:latin typeface="微软雅黑" panose="020B0503020204020204" pitchFamily="34" charset="-122"/>
                <a:ea typeface="微软雅黑" panose="020B0503020204020204" pitchFamily="34" charset="-122"/>
              </a:rPr>
              <a:t>政府政策可以通过影响消费者的偏好、收入、相关商品价格以及预期等因素来影响消费者的需求量。</a:t>
            </a:r>
          </a:p>
        </p:txBody>
      </p:sp>
    </p:spTree>
    <p:extLst>
      <p:ext uri="{BB962C8B-B14F-4D97-AF65-F5344CB8AC3E}">
        <p14:creationId xmlns:p14="http://schemas.microsoft.com/office/powerpoint/2010/main" val="3356984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wipe(left)">
                                      <p:cBhvr>
                                        <p:cTn id="21" dur="500"/>
                                        <p:tgtEl>
                                          <p:spTgt spid="42"/>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wipe(left)">
                                      <p:cBhvr>
                                        <p:cTn id="25" dur="500"/>
                                        <p:tgtEl>
                                          <p:spTgt spid="4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wipe(left)">
                                      <p:cBhvr>
                                        <p:cTn id="34" dur="500"/>
                                        <p:tgtEl>
                                          <p:spTgt spid="46"/>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fade">
                                      <p:cBhvr>
                                        <p:cTn id="39" dur="1000"/>
                                        <p:tgtEl>
                                          <p:spTgt spid="45"/>
                                        </p:tgtEl>
                                      </p:cBhvr>
                                    </p:animEffect>
                                    <p:anim calcmode="lin" valueType="num">
                                      <p:cBhvr>
                                        <p:cTn id="40" dur="1000" fill="hold"/>
                                        <p:tgtEl>
                                          <p:spTgt spid="45"/>
                                        </p:tgtEl>
                                        <p:attrNameLst>
                                          <p:attrName>ppt_x</p:attrName>
                                        </p:attrNameLst>
                                      </p:cBhvr>
                                      <p:tavLst>
                                        <p:tav tm="0">
                                          <p:val>
                                            <p:strVal val="#ppt_x"/>
                                          </p:val>
                                        </p:tav>
                                        <p:tav tm="100000">
                                          <p:val>
                                            <p:strVal val="#ppt_x"/>
                                          </p:val>
                                        </p:tav>
                                      </p:tavLst>
                                    </p:anim>
                                    <p:anim calcmode="lin" valueType="num">
                                      <p:cBhvr>
                                        <p:cTn id="41"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wipe(left)">
                                      <p:cBhvr>
                                        <p:cTn id="46" dur="500"/>
                                        <p:tgtEl>
                                          <p:spTgt spid="7"/>
                                        </p:tgtEl>
                                      </p:cBhvr>
                                    </p:animEffect>
                                  </p:childTnLst>
                                </p:cTn>
                              </p:par>
                            </p:childTnLst>
                          </p:cTn>
                        </p:par>
                        <p:par>
                          <p:cTn id="47" fill="hold">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82"/>
                                        </p:tgtEl>
                                        <p:attrNameLst>
                                          <p:attrName>style.visibility</p:attrName>
                                        </p:attrNameLst>
                                      </p:cBhvr>
                                      <p:to>
                                        <p:strVal val="visible"/>
                                      </p:to>
                                    </p:set>
                                    <p:animEffect transition="in" filter="wipe(left)">
                                      <p:cBhvr>
                                        <p:cTn id="50" dur="500"/>
                                        <p:tgtEl>
                                          <p:spTgt spid="8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85"/>
                                        </p:tgtEl>
                                        <p:attrNameLst>
                                          <p:attrName>style.visibility</p:attrName>
                                        </p:attrNameLst>
                                      </p:cBhvr>
                                      <p:to>
                                        <p:strVal val="visible"/>
                                      </p:to>
                                    </p:set>
                                    <p:animEffect transition="in" filter="wipe(left)">
                                      <p:cBhvr>
                                        <p:cTn id="55" dur="500"/>
                                        <p:tgtEl>
                                          <p:spTgt spid="85"/>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86"/>
                                        </p:tgtEl>
                                        <p:attrNameLst>
                                          <p:attrName>style.visibility</p:attrName>
                                        </p:attrNameLst>
                                      </p:cBhvr>
                                      <p:to>
                                        <p:strVal val="visible"/>
                                      </p:to>
                                    </p:set>
                                    <p:animEffect transition="in" filter="wipe(left)">
                                      <p:cBhvr>
                                        <p:cTn id="59"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4" grpId="0"/>
      <p:bldP spid="5" grpId="0" animBg="1"/>
      <p:bldP spid="42" grpId="0"/>
      <p:bldP spid="43" grpId="0" animBg="1"/>
      <p:bldP spid="6" grpId="0"/>
      <p:bldP spid="45" grpId="0"/>
      <p:bldP spid="46" grpId="0" animBg="1"/>
      <p:bldP spid="7" grpId="0"/>
      <p:bldP spid="82" grpId="0" animBg="1"/>
      <p:bldP spid="85" grpId="0"/>
      <p:bldP spid="8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a:extLst>
              <a:ext uri="{FF2B5EF4-FFF2-40B4-BE49-F238E27FC236}">
                <a16:creationId xmlns:a16="http://schemas.microsoft.com/office/drawing/2014/main" id="{18951FFE-8CCC-4031-9DDA-C359FD350A01}"/>
              </a:ext>
            </a:extLst>
          </p:cNvPr>
          <p:cNvSpPr/>
          <p:nvPr/>
        </p:nvSpPr>
        <p:spPr>
          <a:xfrm>
            <a:off x="261257" y="2855167"/>
            <a:ext cx="1884783" cy="858416"/>
          </a:xfrm>
          <a:prstGeom prst="roundRect">
            <a:avLst/>
          </a:prstGeom>
          <a:solidFill>
            <a:srgbClr val="999E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0"/>
              </a:spcBef>
            </a:pPr>
            <a:r>
              <a:rPr lang="zh-CN" altLang="en-US" spc="150" dirty="0">
                <a:solidFill>
                  <a:schemeClr val="bg1"/>
                </a:solidFill>
                <a:latin typeface="微软雅黑" panose="020B0503020204020204" pitchFamily="34" charset="-122"/>
                <a:ea typeface="微软雅黑" panose="020B0503020204020204" pitchFamily="34" charset="-122"/>
              </a:rPr>
              <a:t>把影响需求的</a:t>
            </a:r>
            <a:endParaRPr lang="en-US" altLang="zh-CN" spc="150" dirty="0">
              <a:solidFill>
                <a:schemeClr val="bg1"/>
              </a:solidFill>
              <a:latin typeface="微软雅黑" panose="020B0503020204020204" pitchFamily="34" charset="-122"/>
              <a:ea typeface="微软雅黑" panose="020B0503020204020204" pitchFamily="34" charset="-122"/>
            </a:endParaRPr>
          </a:p>
          <a:p>
            <a:pPr>
              <a:spcBef>
                <a:spcPct val="0"/>
              </a:spcBef>
            </a:pPr>
            <a:r>
              <a:rPr lang="zh-CN" altLang="en-US" spc="150" dirty="0">
                <a:solidFill>
                  <a:schemeClr val="bg1"/>
                </a:solidFill>
                <a:latin typeface="微软雅黑" panose="020B0503020204020204" pitchFamily="34" charset="-122"/>
                <a:ea typeface="微软雅黑" panose="020B0503020204020204" pitchFamily="34" charset="-122"/>
              </a:rPr>
              <a:t>因素分为两类</a:t>
            </a:r>
            <a:endParaRPr lang="en-US" altLang="zh-CN" spc="150" dirty="0">
              <a:solidFill>
                <a:schemeClr val="bg1"/>
              </a:solidFill>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F68E5273-CD77-47B9-B841-9D29349C133D}"/>
              </a:ext>
            </a:extLst>
          </p:cNvPr>
          <p:cNvSpPr/>
          <p:nvPr/>
        </p:nvSpPr>
        <p:spPr>
          <a:xfrm>
            <a:off x="467543" y="548680"/>
            <a:ext cx="4761088"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defTabSz="914400" fontAlgn="base">
              <a:spcBef>
                <a:spcPct val="0"/>
              </a:spcBef>
              <a:spcAft>
                <a:spcPct val="0"/>
              </a:spcAft>
            </a:pPr>
            <a:r>
              <a:rPr lang="zh-CN" altLang="en-US" sz="2400" b="1" spc="150" dirty="0">
                <a:solidFill>
                  <a:srgbClr val="FFFFFF"/>
                </a:solidFill>
                <a:latin typeface="微软雅黑" panose="020B0503020204020204" pitchFamily="34" charset="-122"/>
                <a:ea typeface="微软雅黑" panose="020B0503020204020204" pitchFamily="34" charset="-122"/>
              </a:rPr>
              <a:t>四、需求的变动与需求量的变动</a:t>
            </a:r>
          </a:p>
        </p:txBody>
      </p:sp>
      <p:sp>
        <p:nvSpPr>
          <p:cNvPr id="15" name="矩形 14">
            <a:extLst>
              <a:ext uri="{FF2B5EF4-FFF2-40B4-BE49-F238E27FC236}">
                <a16:creationId xmlns:a16="http://schemas.microsoft.com/office/drawing/2014/main" id="{88E64304-A318-44E5-8B2C-DCEFC99551AF}"/>
              </a:ext>
            </a:extLst>
          </p:cNvPr>
          <p:cNvSpPr/>
          <p:nvPr/>
        </p:nvSpPr>
        <p:spPr>
          <a:xfrm>
            <a:off x="7532661" y="0"/>
            <a:ext cx="1611339"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15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第一节 需求 </a:t>
            </a:r>
          </a:p>
        </p:txBody>
      </p:sp>
      <p:sp>
        <p:nvSpPr>
          <p:cNvPr id="3" name="左中括号 2">
            <a:extLst>
              <a:ext uri="{FF2B5EF4-FFF2-40B4-BE49-F238E27FC236}">
                <a16:creationId xmlns:a16="http://schemas.microsoft.com/office/drawing/2014/main" id="{46C7EA5B-3396-4782-9E16-0FBA89E2571E}"/>
              </a:ext>
            </a:extLst>
          </p:cNvPr>
          <p:cNvSpPr/>
          <p:nvPr/>
        </p:nvSpPr>
        <p:spPr>
          <a:xfrm>
            <a:off x="2215533" y="1399592"/>
            <a:ext cx="569167" cy="4460032"/>
          </a:xfrm>
          <a:prstGeom prst="leftBracket">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511701C7-5C3E-43E4-8C1C-9D4654F68497}"/>
              </a:ext>
            </a:extLst>
          </p:cNvPr>
          <p:cNvSpPr/>
          <p:nvPr/>
        </p:nvSpPr>
        <p:spPr>
          <a:xfrm>
            <a:off x="2784698" y="1848457"/>
            <a:ext cx="5426240" cy="1144929"/>
          </a:xfrm>
          <a:prstGeom prst="rect">
            <a:avLst/>
          </a:prstGeom>
        </p:spPr>
        <p:txBody>
          <a:bodyPr wrap="square">
            <a:spAutoFit/>
          </a:bodyPr>
          <a:lstStyle/>
          <a:p>
            <a:pPr marL="342900" indent="-342900">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原因：（自身）价格变动引起</a:t>
            </a:r>
            <a:endParaRPr lang="en-US" altLang="zh-CN" spc="150" dirty="0">
              <a:solidFill>
                <a:srgbClr val="000000"/>
              </a:solidFill>
              <a:latin typeface="微软雅黑" panose="020B0503020204020204" pitchFamily="34" charset="-122"/>
              <a:ea typeface="微软雅黑" panose="020B0503020204020204" pitchFamily="34" charset="-122"/>
            </a:endParaRPr>
          </a:p>
          <a:p>
            <a:pPr marL="342900" indent="-342900">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形式：顺着需求曲线移动</a:t>
            </a:r>
            <a:endParaRPr lang="en-US" altLang="zh-CN" spc="150" dirty="0">
              <a:solidFill>
                <a:srgbClr val="000000"/>
              </a:solidFill>
              <a:latin typeface="微软雅黑" panose="020B0503020204020204" pitchFamily="34" charset="-122"/>
              <a:ea typeface="微软雅黑" panose="020B0503020204020204" pitchFamily="34" charset="-122"/>
            </a:endParaRPr>
          </a:p>
          <a:p>
            <a:pPr marL="342900" indent="-342900">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示例：</a:t>
            </a:r>
            <a:r>
              <a:rPr lang="zh-CN" altLang="en-US" spc="150" dirty="0">
                <a:solidFill>
                  <a:srgbClr val="009999"/>
                </a:solidFill>
                <a:latin typeface="微软雅黑" panose="020B0503020204020204" pitchFamily="34" charset="-122"/>
                <a:ea typeface="微软雅黑" panose="020B0503020204020204" pitchFamily="34" charset="-122"/>
                <a:hlinkClick r:id="rId2" action="ppaction://hlinksldjump">
                  <a:extLst>
                    <a:ext uri="{A12FA001-AC4F-418D-AE19-62706E023703}">
                      <ahyp:hlinkClr xmlns:ahyp="http://schemas.microsoft.com/office/drawing/2018/hyperlinkcolor" val="tx"/>
                    </a:ext>
                  </a:extLst>
                </a:hlinkClick>
              </a:rPr>
              <a:t>图中从</a:t>
            </a:r>
            <a:r>
              <a:rPr lang="en-US" altLang="zh-CN" spc="150" dirty="0">
                <a:solidFill>
                  <a:srgbClr val="009999"/>
                </a:solidFill>
                <a:latin typeface="微软雅黑" panose="020B0503020204020204" pitchFamily="34" charset="-122"/>
                <a:ea typeface="微软雅黑" panose="020B0503020204020204" pitchFamily="34" charset="-122"/>
                <a:hlinkClick r:id="rId2" action="ppaction://hlinksldjump">
                  <a:extLst>
                    <a:ext uri="{A12FA001-AC4F-418D-AE19-62706E023703}">
                      <ahyp:hlinkClr xmlns:ahyp="http://schemas.microsoft.com/office/drawing/2018/hyperlinkcolor" val="tx"/>
                    </a:ext>
                  </a:extLst>
                </a:hlinkClick>
              </a:rPr>
              <a:t>A</a:t>
            </a:r>
            <a:r>
              <a:rPr lang="zh-CN" altLang="en-US" spc="150" dirty="0">
                <a:solidFill>
                  <a:srgbClr val="009999"/>
                </a:solidFill>
                <a:latin typeface="微软雅黑" panose="020B0503020204020204" pitchFamily="34" charset="-122"/>
                <a:ea typeface="微软雅黑" panose="020B0503020204020204" pitchFamily="34" charset="-122"/>
                <a:hlinkClick r:id="rId2" action="ppaction://hlinksldjump">
                  <a:extLst>
                    <a:ext uri="{A12FA001-AC4F-418D-AE19-62706E023703}">
                      <ahyp:hlinkClr xmlns:ahyp="http://schemas.microsoft.com/office/drawing/2018/hyperlinkcolor" val="tx"/>
                    </a:ext>
                  </a:extLst>
                </a:hlinkClick>
              </a:rPr>
              <a:t>点到</a:t>
            </a:r>
            <a:r>
              <a:rPr lang="en-US" altLang="zh-CN" spc="150" dirty="0">
                <a:solidFill>
                  <a:srgbClr val="009999"/>
                </a:solidFill>
                <a:latin typeface="微软雅黑" panose="020B0503020204020204" pitchFamily="34" charset="-122"/>
                <a:ea typeface="微软雅黑" panose="020B0503020204020204" pitchFamily="34" charset="-122"/>
                <a:hlinkClick r:id="rId2" action="ppaction://hlinksldjump">
                  <a:extLst>
                    <a:ext uri="{A12FA001-AC4F-418D-AE19-62706E023703}">
                      <ahyp:hlinkClr xmlns:ahyp="http://schemas.microsoft.com/office/drawing/2018/hyperlinkcolor" val="tx"/>
                    </a:ext>
                  </a:extLst>
                </a:hlinkClick>
              </a:rPr>
              <a:t>B</a:t>
            </a:r>
            <a:r>
              <a:rPr lang="zh-CN" altLang="en-US" spc="150" dirty="0">
                <a:solidFill>
                  <a:srgbClr val="009999"/>
                </a:solidFill>
                <a:latin typeface="微软雅黑" panose="020B0503020204020204" pitchFamily="34" charset="-122"/>
                <a:ea typeface="微软雅黑" panose="020B0503020204020204" pitchFamily="34" charset="-122"/>
                <a:hlinkClick r:id="rId2" action="ppaction://hlinksldjump">
                  <a:extLst>
                    <a:ext uri="{A12FA001-AC4F-418D-AE19-62706E023703}">
                      <ahyp:hlinkClr xmlns:ahyp="http://schemas.microsoft.com/office/drawing/2018/hyperlinkcolor" val="tx"/>
                    </a:ext>
                  </a:extLst>
                </a:hlinkClick>
              </a:rPr>
              <a:t>点</a:t>
            </a:r>
            <a:r>
              <a:rPr lang="en-US" altLang="zh-CN" spc="150" dirty="0">
                <a:solidFill>
                  <a:srgbClr val="009999"/>
                </a:solidFill>
                <a:latin typeface="微软雅黑" panose="020B0503020204020204" pitchFamily="34" charset="-122"/>
                <a:ea typeface="微软雅黑" panose="020B0503020204020204" pitchFamily="34" charset="-122"/>
                <a:hlinkClick r:id="rId2" action="ppaction://hlinksldjump">
                  <a:extLst>
                    <a:ext uri="{A12FA001-AC4F-418D-AE19-62706E023703}">
                      <ahyp:hlinkClr xmlns:ahyp="http://schemas.microsoft.com/office/drawing/2018/hyperlinkcolor" val="tx"/>
                    </a:ext>
                  </a:extLst>
                </a:hlinkClick>
              </a:rPr>
              <a:t>——</a:t>
            </a:r>
            <a:r>
              <a:rPr lang="zh-CN" altLang="en-US" spc="150" dirty="0">
                <a:solidFill>
                  <a:srgbClr val="009999"/>
                </a:solidFill>
                <a:latin typeface="微软雅黑" panose="020B0503020204020204" pitchFamily="34" charset="-122"/>
                <a:ea typeface="微软雅黑" panose="020B0503020204020204" pitchFamily="34" charset="-122"/>
                <a:hlinkClick r:id="rId2" action="ppaction://hlinksldjump">
                  <a:extLst>
                    <a:ext uri="{A12FA001-AC4F-418D-AE19-62706E023703}">
                      <ahyp:hlinkClr xmlns:ahyp="http://schemas.microsoft.com/office/drawing/2018/hyperlinkcolor" val="tx"/>
                    </a:ext>
                  </a:extLst>
                </a:hlinkClick>
              </a:rPr>
              <a:t>需求量增加</a:t>
            </a:r>
            <a:endParaRPr lang="en-US" altLang="zh-CN" spc="150" dirty="0">
              <a:solidFill>
                <a:srgbClr val="009999"/>
              </a:solidFill>
              <a:latin typeface="微软雅黑" panose="020B0503020204020204" pitchFamily="34" charset="-122"/>
              <a:ea typeface="微软雅黑" panose="020B0503020204020204" pitchFamily="34" charset="-122"/>
            </a:endParaRPr>
          </a:p>
        </p:txBody>
      </p:sp>
      <p:sp>
        <p:nvSpPr>
          <p:cNvPr id="9" name="平行四边形 8">
            <a:extLst>
              <a:ext uri="{FF2B5EF4-FFF2-40B4-BE49-F238E27FC236}">
                <a16:creationId xmlns:a16="http://schemas.microsoft.com/office/drawing/2014/main" id="{CB454385-BA6E-4ED6-B306-69AF3AC853B8}"/>
              </a:ext>
            </a:extLst>
          </p:cNvPr>
          <p:cNvSpPr/>
          <p:nvPr/>
        </p:nvSpPr>
        <p:spPr>
          <a:xfrm>
            <a:off x="2784700" y="1291921"/>
            <a:ext cx="3373991" cy="461665"/>
          </a:xfrm>
          <a:prstGeom prst="parallelogram">
            <a:avLst/>
          </a:prstGeom>
          <a:solidFill>
            <a:srgbClr val="999E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pc="150" dirty="0">
                <a:solidFill>
                  <a:schemeClr val="bg1"/>
                </a:solidFill>
                <a:latin typeface="微软雅黑" panose="020B0503020204020204" pitchFamily="34" charset="-122"/>
                <a:ea typeface="微软雅黑" panose="020B0503020204020204" pitchFamily="34" charset="-122"/>
              </a:rPr>
              <a:t>需求量的变动</a:t>
            </a:r>
            <a:endParaRPr lang="en-US" altLang="zh-CN" spc="150" dirty="0">
              <a:solidFill>
                <a:schemeClr val="bg1"/>
              </a:solidFill>
              <a:latin typeface="微软雅黑" panose="020B0503020204020204" pitchFamily="34" charset="-122"/>
              <a:ea typeface="微软雅黑" panose="020B0503020204020204" pitchFamily="34" charset="-122"/>
            </a:endParaRPr>
          </a:p>
        </p:txBody>
      </p:sp>
      <p:sp>
        <p:nvSpPr>
          <p:cNvPr id="19" name="平行四边形 18">
            <a:extLst>
              <a:ext uri="{FF2B5EF4-FFF2-40B4-BE49-F238E27FC236}">
                <a16:creationId xmlns:a16="http://schemas.microsoft.com/office/drawing/2014/main" id="{F26D4013-C82B-41ED-A645-05DC11DE7BEF}"/>
              </a:ext>
            </a:extLst>
          </p:cNvPr>
          <p:cNvSpPr/>
          <p:nvPr/>
        </p:nvSpPr>
        <p:spPr>
          <a:xfrm>
            <a:off x="2784698" y="3436044"/>
            <a:ext cx="3373991" cy="461665"/>
          </a:xfrm>
          <a:prstGeom prst="parallelogram">
            <a:avLst/>
          </a:prstGeom>
          <a:solidFill>
            <a:srgbClr val="999E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pc="150" dirty="0">
                <a:solidFill>
                  <a:schemeClr val="bg1"/>
                </a:solidFill>
                <a:latin typeface="微软雅黑" panose="020B0503020204020204" pitchFamily="34" charset="-122"/>
                <a:ea typeface="微软雅黑" panose="020B0503020204020204" pitchFamily="34" charset="-122"/>
              </a:rPr>
              <a:t>需求的变动</a:t>
            </a:r>
            <a:endParaRPr lang="en-US" altLang="zh-CN" spc="150" dirty="0">
              <a:solidFill>
                <a:schemeClr val="bg1"/>
              </a:solidFill>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1623B8E6-CF08-4AFB-BAD9-5F7E77D0E7F6}"/>
              </a:ext>
            </a:extLst>
          </p:cNvPr>
          <p:cNvSpPr/>
          <p:nvPr/>
        </p:nvSpPr>
        <p:spPr>
          <a:xfrm>
            <a:off x="2784698" y="3944364"/>
            <a:ext cx="5654351" cy="1920526"/>
          </a:xfrm>
          <a:prstGeom prst="rect">
            <a:avLst/>
          </a:prstGeom>
        </p:spPr>
        <p:txBody>
          <a:bodyPr wrap="square">
            <a:spAutoFit/>
          </a:bodyPr>
          <a:lstStyle/>
          <a:p>
            <a:pPr marL="342900" indent="-342900">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原因：价格以外的其他因素变动引起</a:t>
            </a:r>
            <a:endParaRPr lang="en-US" altLang="zh-CN" spc="150" dirty="0">
              <a:solidFill>
                <a:srgbClr val="000000"/>
              </a:solidFill>
              <a:latin typeface="微软雅黑" panose="020B0503020204020204" pitchFamily="34" charset="-122"/>
              <a:ea typeface="微软雅黑" panose="020B0503020204020204" pitchFamily="34" charset="-122"/>
            </a:endParaRPr>
          </a:p>
          <a:p>
            <a:pPr marL="342900" indent="-342900">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形式：需求曲线的移动</a:t>
            </a:r>
            <a:endParaRPr lang="en-US" altLang="zh-CN" spc="150" dirty="0">
              <a:solidFill>
                <a:srgbClr val="000000"/>
              </a:solidFill>
              <a:latin typeface="微软雅黑" panose="020B0503020204020204" pitchFamily="34" charset="-122"/>
              <a:ea typeface="微软雅黑" panose="020B0503020204020204" pitchFamily="34" charset="-122"/>
            </a:endParaRPr>
          </a:p>
          <a:p>
            <a:pPr marL="342900" indent="-342900">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示例：</a:t>
            </a:r>
            <a:endParaRPr lang="en-US" altLang="zh-CN" spc="150" dirty="0">
              <a:solidFill>
                <a:srgbClr val="000000"/>
              </a:solidFill>
              <a:latin typeface="微软雅黑" panose="020B0503020204020204" pitchFamily="34" charset="-122"/>
              <a:ea typeface="微软雅黑" panose="020B0503020204020204" pitchFamily="34" charset="-122"/>
            </a:endParaRPr>
          </a:p>
          <a:p>
            <a:pPr marL="800100" lvl="1" indent="-342900">
              <a:spcBef>
                <a:spcPct val="40000"/>
              </a:spcBef>
              <a:buFont typeface="Arial" panose="020B0604020202020204" pitchFamily="34" charset="0"/>
              <a:buChar char="•"/>
            </a:pPr>
            <a:r>
              <a:rPr lang="zh-CN" altLang="en-US" spc="150" dirty="0">
                <a:solidFill>
                  <a:srgbClr val="009999"/>
                </a:solidFill>
                <a:latin typeface="微软雅黑" panose="020B0503020204020204" pitchFamily="34" charset="-122"/>
                <a:ea typeface="微软雅黑" panose="020B0503020204020204" pitchFamily="34" charset="-122"/>
                <a:hlinkClick r:id="rId2" action="ppaction://hlinksldjump">
                  <a:extLst>
                    <a:ext uri="{A12FA001-AC4F-418D-AE19-62706E023703}">
                      <ahyp:hlinkClr xmlns:ahyp="http://schemas.microsoft.com/office/drawing/2018/hyperlinkcolor" val="tx"/>
                    </a:ext>
                  </a:extLst>
                </a:hlinkClick>
              </a:rPr>
              <a:t>需求增加</a:t>
            </a:r>
            <a:r>
              <a:rPr lang="en-US" altLang="zh-CN" spc="150" dirty="0">
                <a:solidFill>
                  <a:srgbClr val="009999"/>
                </a:solidFill>
                <a:latin typeface="微软雅黑" panose="020B0503020204020204" pitchFamily="34" charset="-122"/>
                <a:ea typeface="微软雅黑" panose="020B0503020204020204" pitchFamily="34" charset="-122"/>
                <a:hlinkClick r:id="rId2" action="ppaction://hlinksldjump">
                  <a:extLst>
                    <a:ext uri="{A12FA001-AC4F-418D-AE19-62706E023703}">
                      <ahyp:hlinkClr xmlns:ahyp="http://schemas.microsoft.com/office/drawing/2018/hyperlinkcolor" val="tx"/>
                    </a:ext>
                  </a:extLst>
                </a:hlinkClick>
              </a:rPr>
              <a:t>——D1</a:t>
            </a:r>
            <a:r>
              <a:rPr lang="zh-CN" altLang="en-US" spc="150" dirty="0">
                <a:solidFill>
                  <a:srgbClr val="009999"/>
                </a:solidFill>
                <a:latin typeface="微软雅黑" panose="020B0503020204020204" pitchFamily="34" charset="-122"/>
                <a:ea typeface="微软雅黑" panose="020B0503020204020204" pitchFamily="34" charset="-122"/>
                <a:hlinkClick r:id="rId2" action="ppaction://hlinksldjump">
                  <a:extLst>
                    <a:ext uri="{A12FA001-AC4F-418D-AE19-62706E023703}">
                      <ahyp:hlinkClr xmlns:ahyp="http://schemas.microsoft.com/office/drawing/2018/hyperlinkcolor" val="tx"/>
                    </a:ext>
                  </a:extLst>
                </a:hlinkClick>
              </a:rPr>
              <a:t>到</a:t>
            </a:r>
            <a:r>
              <a:rPr lang="en-US" altLang="zh-CN" spc="150" dirty="0">
                <a:solidFill>
                  <a:srgbClr val="009999"/>
                </a:solidFill>
                <a:latin typeface="微软雅黑" panose="020B0503020204020204" pitchFamily="34" charset="-122"/>
                <a:ea typeface="微软雅黑" panose="020B0503020204020204" pitchFamily="34" charset="-122"/>
                <a:hlinkClick r:id="rId2" action="ppaction://hlinksldjump">
                  <a:extLst>
                    <a:ext uri="{A12FA001-AC4F-418D-AE19-62706E023703}">
                      <ahyp:hlinkClr xmlns:ahyp="http://schemas.microsoft.com/office/drawing/2018/hyperlinkcolor" val="tx"/>
                    </a:ext>
                  </a:extLst>
                </a:hlinkClick>
              </a:rPr>
              <a:t>D2</a:t>
            </a:r>
            <a:endParaRPr lang="en-US" altLang="zh-CN" spc="150" dirty="0">
              <a:solidFill>
                <a:srgbClr val="009999"/>
              </a:solidFill>
              <a:latin typeface="微软雅黑" panose="020B0503020204020204" pitchFamily="34" charset="-122"/>
              <a:ea typeface="微软雅黑" panose="020B0503020204020204" pitchFamily="34" charset="-122"/>
              <a:hlinkClick r:id="rId3" action="ppaction://hlinksldjump">
                <a:extLst>
                  <a:ext uri="{A12FA001-AC4F-418D-AE19-62706E023703}">
                    <ahyp:hlinkClr xmlns:ahyp="http://schemas.microsoft.com/office/drawing/2018/hyperlinkcolor" val="tx"/>
                  </a:ext>
                </a:extLst>
              </a:hlinkClick>
            </a:endParaRPr>
          </a:p>
          <a:p>
            <a:pPr marL="800100" lvl="1" indent="-342900">
              <a:spcBef>
                <a:spcPct val="40000"/>
              </a:spcBef>
              <a:buFont typeface="Arial" panose="020B0604020202020204" pitchFamily="34" charset="0"/>
              <a:buChar char="•"/>
            </a:pPr>
            <a:r>
              <a:rPr lang="zh-CN" altLang="en-US" spc="150" dirty="0">
                <a:solidFill>
                  <a:srgbClr val="009999"/>
                </a:solidFill>
                <a:latin typeface="微软雅黑" panose="020B0503020204020204" pitchFamily="34" charset="-122"/>
                <a:ea typeface="微软雅黑" panose="020B0503020204020204" pitchFamily="34" charset="-122"/>
                <a:hlinkClick r:id="rId2" action="ppaction://hlinksldjump">
                  <a:extLst>
                    <a:ext uri="{A12FA001-AC4F-418D-AE19-62706E023703}">
                      <ahyp:hlinkClr xmlns:ahyp="http://schemas.microsoft.com/office/drawing/2018/hyperlinkcolor" val="tx"/>
                    </a:ext>
                  </a:extLst>
                </a:hlinkClick>
              </a:rPr>
              <a:t>需求减少</a:t>
            </a:r>
            <a:r>
              <a:rPr lang="en-US" altLang="zh-CN" spc="150" dirty="0">
                <a:solidFill>
                  <a:srgbClr val="009999"/>
                </a:solidFill>
                <a:latin typeface="微软雅黑" panose="020B0503020204020204" pitchFamily="34" charset="-122"/>
                <a:ea typeface="微软雅黑" panose="020B0503020204020204" pitchFamily="34" charset="-122"/>
                <a:hlinkClick r:id="rId2" action="ppaction://hlinksldjump">
                  <a:extLst>
                    <a:ext uri="{A12FA001-AC4F-418D-AE19-62706E023703}">
                      <ahyp:hlinkClr xmlns:ahyp="http://schemas.microsoft.com/office/drawing/2018/hyperlinkcolor" val="tx"/>
                    </a:ext>
                  </a:extLst>
                </a:hlinkClick>
              </a:rPr>
              <a:t>——D1</a:t>
            </a:r>
            <a:r>
              <a:rPr lang="zh-CN" altLang="en-US" spc="150" dirty="0">
                <a:solidFill>
                  <a:srgbClr val="009999"/>
                </a:solidFill>
                <a:latin typeface="微软雅黑" panose="020B0503020204020204" pitchFamily="34" charset="-122"/>
                <a:ea typeface="微软雅黑" panose="020B0503020204020204" pitchFamily="34" charset="-122"/>
                <a:hlinkClick r:id="rId2" action="ppaction://hlinksldjump">
                  <a:extLst>
                    <a:ext uri="{A12FA001-AC4F-418D-AE19-62706E023703}">
                      <ahyp:hlinkClr xmlns:ahyp="http://schemas.microsoft.com/office/drawing/2018/hyperlinkcolor" val="tx"/>
                    </a:ext>
                  </a:extLst>
                </a:hlinkClick>
              </a:rPr>
              <a:t>到</a:t>
            </a:r>
            <a:r>
              <a:rPr lang="en-US" altLang="zh-CN" spc="150" dirty="0">
                <a:solidFill>
                  <a:srgbClr val="009999"/>
                </a:solidFill>
                <a:latin typeface="微软雅黑" panose="020B0503020204020204" pitchFamily="34" charset="-122"/>
                <a:ea typeface="微软雅黑" panose="020B0503020204020204" pitchFamily="34" charset="-122"/>
                <a:hlinkClick r:id="rId2" action="ppaction://hlinksldjump">
                  <a:extLst>
                    <a:ext uri="{A12FA001-AC4F-418D-AE19-62706E023703}">
                      <ahyp:hlinkClr xmlns:ahyp="http://schemas.microsoft.com/office/drawing/2018/hyperlinkcolor" val="tx"/>
                    </a:ext>
                  </a:extLst>
                </a:hlinkClick>
              </a:rPr>
              <a:t>D3</a:t>
            </a:r>
            <a:endParaRPr lang="en-US" altLang="zh-CN" spc="150" dirty="0">
              <a:solidFill>
                <a:srgbClr val="00999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48928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down)">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8">
                                            <p:txEl>
                                              <p:pRg st="0" end="0"/>
                                            </p:txEl>
                                          </p:spTgt>
                                        </p:tgtEl>
                                        <p:attrNameLst>
                                          <p:attrName>style.visibility</p:attrName>
                                        </p:attrNameLst>
                                      </p:cBhvr>
                                      <p:to>
                                        <p:strVal val="visible"/>
                                      </p:to>
                                    </p:set>
                                    <p:animEffect transition="in" filter="wipe(left)">
                                      <p:cBhvr>
                                        <p:cTn id="29" dur="500"/>
                                        <p:tgtEl>
                                          <p:spTgt spid="8">
                                            <p:txEl>
                                              <p:pRg st="0" end="0"/>
                                            </p:txEl>
                                          </p:spTgt>
                                        </p:tgtEl>
                                      </p:cBhvr>
                                    </p:animEffect>
                                  </p:childTnLst>
                                </p:cTn>
                              </p:par>
                              <p:par>
                                <p:cTn id="30" presetID="22" presetClass="entr" presetSubtype="8" fill="hold" nodeType="withEffect">
                                  <p:stCondLst>
                                    <p:cond delay="0"/>
                                  </p:stCondLst>
                                  <p:childTnLst>
                                    <p:set>
                                      <p:cBhvr>
                                        <p:cTn id="31" dur="1" fill="hold">
                                          <p:stCondLst>
                                            <p:cond delay="0"/>
                                          </p:stCondLst>
                                        </p:cTn>
                                        <p:tgtEl>
                                          <p:spTgt spid="8">
                                            <p:txEl>
                                              <p:pRg st="1" end="1"/>
                                            </p:txEl>
                                          </p:spTgt>
                                        </p:tgtEl>
                                        <p:attrNameLst>
                                          <p:attrName>style.visibility</p:attrName>
                                        </p:attrNameLst>
                                      </p:cBhvr>
                                      <p:to>
                                        <p:strVal val="visible"/>
                                      </p:to>
                                    </p:set>
                                    <p:animEffect transition="in" filter="wipe(left)">
                                      <p:cBhvr>
                                        <p:cTn id="32" dur="500"/>
                                        <p:tgtEl>
                                          <p:spTgt spid="8">
                                            <p:txEl>
                                              <p:pRg st="1" end="1"/>
                                            </p:txEl>
                                          </p:spTgt>
                                        </p:tgtEl>
                                      </p:cBhvr>
                                    </p:animEffect>
                                  </p:childTnLst>
                                </p:cTn>
                              </p:par>
                              <p:par>
                                <p:cTn id="33" presetID="22" presetClass="entr" presetSubtype="8" fill="hold" nodeType="withEffect">
                                  <p:stCondLst>
                                    <p:cond delay="0"/>
                                  </p:stCondLst>
                                  <p:childTnLst>
                                    <p:set>
                                      <p:cBhvr>
                                        <p:cTn id="34" dur="1" fill="hold">
                                          <p:stCondLst>
                                            <p:cond delay="0"/>
                                          </p:stCondLst>
                                        </p:cTn>
                                        <p:tgtEl>
                                          <p:spTgt spid="8">
                                            <p:txEl>
                                              <p:pRg st="2" end="2"/>
                                            </p:txEl>
                                          </p:spTgt>
                                        </p:tgtEl>
                                        <p:attrNameLst>
                                          <p:attrName>style.visibility</p:attrName>
                                        </p:attrNameLst>
                                      </p:cBhvr>
                                      <p:to>
                                        <p:strVal val="visible"/>
                                      </p:to>
                                    </p:set>
                                    <p:animEffect transition="in" filter="wipe(left)">
                                      <p:cBhvr>
                                        <p:cTn id="35" dur="500"/>
                                        <p:tgtEl>
                                          <p:spTgt spid="8">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2">
                                            <p:txEl>
                                              <p:pRg st="0" end="0"/>
                                            </p:txEl>
                                          </p:spTgt>
                                        </p:tgtEl>
                                        <p:attrNameLst>
                                          <p:attrName>style.visibility</p:attrName>
                                        </p:attrNameLst>
                                      </p:cBhvr>
                                      <p:to>
                                        <p:strVal val="visible"/>
                                      </p:to>
                                    </p:set>
                                    <p:animEffect transition="in" filter="wipe(left)">
                                      <p:cBhvr>
                                        <p:cTn id="45" dur="500"/>
                                        <p:tgtEl>
                                          <p:spTgt spid="12">
                                            <p:txEl>
                                              <p:pRg st="0" end="0"/>
                                            </p:txEl>
                                          </p:spTgt>
                                        </p:tgtEl>
                                      </p:cBhvr>
                                    </p:animEffect>
                                  </p:childTnLst>
                                </p:cTn>
                              </p:par>
                              <p:par>
                                <p:cTn id="46" presetID="22" presetClass="entr" presetSubtype="8" fill="hold" nodeType="withEffect">
                                  <p:stCondLst>
                                    <p:cond delay="0"/>
                                  </p:stCondLst>
                                  <p:childTnLst>
                                    <p:set>
                                      <p:cBhvr>
                                        <p:cTn id="47" dur="1" fill="hold">
                                          <p:stCondLst>
                                            <p:cond delay="0"/>
                                          </p:stCondLst>
                                        </p:cTn>
                                        <p:tgtEl>
                                          <p:spTgt spid="12">
                                            <p:txEl>
                                              <p:pRg st="1" end="1"/>
                                            </p:txEl>
                                          </p:spTgt>
                                        </p:tgtEl>
                                        <p:attrNameLst>
                                          <p:attrName>style.visibility</p:attrName>
                                        </p:attrNameLst>
                                      </p:cBhvr>
                                      <p:to>
                                        <p:strVal val="visible"/>
                                      </p:to>
                                    </p:set>
                                    <p:animEffect transition="in" filter="wipe(left)">
                                      <p:cBhvr>
                                        <p:cTn id="48" dur="500"/>
                                        <p:tgtEl>
                                          <p:spTgt spid="12">
                                            <p:txEl>
                                              <p:pRg st="1" end="1"/>
                                            </p:txEl>
                                          </p:spTgt>
                                        </p:tgtEl>
                                      </p:cBhvr>
                                    </p:animEffect>
                                  </p:childTnLst>
                                </p:cTn>
                              </p:par>
                              <p:par>
                                <p:cTn id="49" presetID="22" presetClass="entr" presetSubtype="8" fill="hold" nodeType="withEffect">
                                  <p:stCondLst>
                                    <p:cond delay="0"/>
                                  </p:stCondLst>
                                  <p:childTnLst>
                                    <p:set>
                                      <p:cBhvr>
                                        <p:cTn id="50" dur="1" fill="hold">
                                          <p:stCondLst>
                                            <p:cond delay="0"/>
                                          </p:stCondLst>
                                        </p:cTn>
                                        <p:tgtEl>
                                          <p:spTgt spid="12">
                                            <p:txEl>
                                              <p:pRg st="2" end="2"/>
                                            </p:txEl>
                                          </p:spTgt>
                                        </p:tgtEl>
                                        <p:attrNameLst>
                                          <p:attrName>style.visibility</p:attrName>
                                        </p:attrNameLst>
                                      </p:cBhvr>
                                      <p:to>
                                        <p:strVal val="visible"/>
                                      </p:to>
                                    </p:set>
                                    <p:animEffect transition="in" filter="wipe(left)">
                                      <p:cBhvr>
                                        <p:cTn id="51" dur="500"/>
                                        <p:tgtEl>
                                          <p:spTgt spid="12">
                                            <p:txEl>
                                              <p:pRg st="2" end="2"/>
                                            </p:txEl>
                                          </p:spTgt>
                                        </p:tgtEl>
                                      </p:cBhvr>
                                    </p:animEffect>
                                  </p:childTnLst>
                                </p:cTn>
                              </p:par>
                              <p:par>
                                <p:cTn id="52" presetID="22" presetClass="entr" presetSubtype="8" fill="hold" nodeType="withEffect">
                                  <p:stCondLst>
                                    <p:cond delay="0"/>
                                  </p:stCondLst>
                                  <p:childTnLst>
                                    <p:set>
                                      <p:cBhvr>
                                        <p:cTn id="53" dur="1" fill="hold">
                                          <p:stCondLst>
                                            <p:cond delay="0"/>
                                          </p:stCondLst>
                                        </p:cTn>
                                        <p:tgtEl>
                                          <p:spTgt spid="12">
                                            <p:txEl>
                                              <p:pRg st="3" end="3"/>
                                            </p:txEl>
                                          </p:spTgt>
                                        </p:tgtEl>
                                        <p:attrNameLst>
                                          <p:attrName>style.visibility</p:attrName>
                                        </p:attrNameLst>
                                      </p:cBhvr>
                                      <p:to>
                                        <p:strVal val="visible"/>
                                      </p:to>
                                    </p:set>
                                    <p:animEffect transition="in" filter="wipe(left)">
                                      <p:cBhvr>
                                        <p:cTn id="54" dur="500"/>
                                        <p:tgtEl>
                                          <p:spTgt spid="12">
                                            <p:txEl>
                                              <p:pRg st="3" end="3"/>
                                            </p:txEl>
                                          </p:spTgt>
                                        </p:tgtEl>
                                      </p:cBhvr>
                                    </p:animEffect>
                                  </p:childTnLst>
                                </p:cTn>
                              </p:par>
                              <p:par>
                                <p:cTn id="55" presetID="22" presetClass="entr" presetSubtype="8" fill="hold" nodeType="withEffect">
                                  <p:stCondLst>
                                    <p:cond delay="0"/>
                                  </p:stCondLst>
                                  <p:childTnLst>
                                    <p:set>
                                      <p:cBhvr>
                                        <p:cTn id="56" dur="1" fill="hold">
                                          <p:stCondLst>
                                            <p:cond delay="0"/>
                                          </p:stCondLst>
                                        </p:cTn>
                                        <p:tgtEl>
                                          <p:spTgt spid="12">
                                            <p:txEl>
                                              <p:pRg st="4" end="4"/>
                                            </p:txEl>
                                          </p:spTgt>
                                        </p:tgtEl>
                                        <p:attrNameLst>
                                          <p:attrName>style.visibility</p:attrName>
                                        </p:attrNameLst>
                                      </p:cBhvr>
                                      <p:to>
                                        <p:strVal val="visible"/>
                                      </p:to>
                                    </p:set>
                                    <p:animEffect transition="in" filter="wipe(left)">
                                      <p:cBhvr>
                                        <p:cTn id="57" dur="50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3" grpId="0" animBg="1"/>
      <p:bldP spid="9"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00B2A87-2B7D-4B94-87B8-61432F30D800}"/>
              </a:ext>
            </a:extLst>
          </p:cNvPr>
          <p:cNvSpPr/>
          <p:nvPr/>
        </p:nvSpPr>
        <p:spPr>
          <a:xfrm>
            <a:off x="4269328" y="2181173"/>
            <a:ext cx="4309466" cy="1448708"/>
          </a:xfrm>
          <a:prstGeom prst="rect">
            <a:avLst/>
          </a:prstGeom>
          <a:solidFill>
            <a:srgbClr val="F3C97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F68E5273-CD77-47B9-B841-9D29349C133D}"/>
              </a:ext>
            </a:extLst>
          </p:cNvPr>
          <p:cNvSpPr/>
          <p:nvPr/>
        </p:nvSpPr>
        <p:spPr>
          <a:xfrm>
            <a:off x="467543" y="548680"/>
            <a:ext cx="4761088"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defTabSz="914400" fontAlgn="base">
              <a:spcBef>
                <a:spcPct val="0"/>
              </a:spcBef>
              <a:spcAft>
                <a:spcPct val="0"/>
              </a:spcAft>
            </a:pPr>
            <a:r>
              <a:rPr lang="zh-CN" altLang="en-US" sz="2400" b="1" spc="150" dirty="0">
                <a:solidFill>
                  <a:srgbClr val="FFFFFF"/>
                </a:solidFill>
                <a:latin typeface="微软雅黑" panose="020B0503020204020204" pitchFamily="34" charset="-122"/>
                <a:ea typeface="微软雅黑" panose="020B0503020204020204" pitchFamily="34" charset="-122"/>
              </a:rPr>
              <a:t>四、需求的变动与需求量的变动</a:t>
            </a:r>
          </a:p>
        </p:txBody>
      </p:sp>
      <p:sp>
        <p:nvSpPr>
          <p:cNvPr id="15" name="矩形 14">
            <a:extLst>
              <a:ext uri="{FF2B5EF4-FFF2-40B4-BE49-F238E27FC236}">
                <a16:creationId xmlns:a16="http://schemas.microsoft.com/office/drawing/2014/main" id="{88E64304-A318-44E5-8B2C-DCEFC99551AF}"/>
              </a:ext>
            </a:extLst>
          </p:cNvPr>
          <p:cNvSpPr/>
          <p:nvPr/>
        </p:nvSpPr>
        <p:spPr>
          <a:xfrm>
            <a:off x="7532661" y="0"/>
            <a:ext cx="1611339"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15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第一节 需求 </a:t>
            </a:r>
          </a:p>
        </p:txBody>
      </p:sp>
      <p:sp>
        <p:nvSpPr>
          <p:cNvPr id="2" name="矩形 1">
            <a:extLst>
              <a:ext uri="{FF2B5EF4-FFF2-40B4-BE49-F238E27FC236}">
                <a16:creationId xmlns:a16="http://schemas.microsoft.com/office/drawing/2014/main" id="{43144617-86E7-4C79-8DA7-59FB06215111}"/>
              </a:ext>
            </a:extLst>
          </p:cNvPr>
          <p:cNvSpPr/>
          <p:nvPr/>
        </p:nvSpPr>
        <p:spPr>
          <a:xfrm>
            <a:off x="467544" y="1331558"/>
            <a:ext cx="3958135" cy="369332"/>
          </a:xfrm>
          <a:prstGeom prst="rect">
            <a:avLst/>
          </a:prstGeom>
        </p:spPr>
        <p:txBody>
          <a:bodyPr wrap="none">
            <a:spAutoFit/>
          </a:bodyPr>
          <a:lstStyle/>
          <a:p>
            <a:pPr marL="285750" indent="-285750">
              <a:lnSpc>
                <a:spcPct val="80000"/>
              </a:lnSpc>
              <a:spcBef>
                <a:spcPct val="40000"/>
              </a:spcBef>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正常商品的需求变化与需求量变化。</a:t>
            </a:r>
          </a:p>
        </p:txBody>
      </p:sp>
      <p:grpSp>
        <p:nvGrpSpPr>
          <p:cNvPr id="13" name="组合 50">
            <a:extLst>
              <a:ext uri="{FF2B5EF4-FFF2-40B4-BE49-F238E27FC236}">
                <a16:creationId xmlns:a16="http://schemas.microsoft.com/office/drawing/2014/main" id="{6A4E5DC5-C855-46EF-B3FE-103F45756432}"/>
              </a:ext>
            </a:extLst>
          </p:cNvPr>
          <p:cNvGrpSpPr>
            <a:grpSpLocks/>
          </p:cNvGrpSpPr>
          <p:nvPr/>
        </p:nvGrpSpPr>
        <p:grpSpPr bwMode="auto">
          <a:xfrm>
            <a:off x="731411" y="2242360"/>
            <a:ext cx="4498975" cy="3422650"/>
            <a:chOff x="0" y="0"/>
            <a:chExt cx="4500562" cy="3422256"/>
          </a:xfrm>
        </p:grpSpPr>
        <p:grpSp>
          <p:nvGrpSpPr>
            <p:cNvPr id="14" name="组合 49">
              <a:extLst>
                <a:ext uri="{FF2B5EF4-FFF2-40B4-BE49-F238E27FC236}">
                  <a16:creationId xmlns:a16="http://schemas.microsoft.com/office/drawing/2014/main" id="{5B75CEF7-59AA-454C-B998-9120C9CFCC5E}"/>
                </a:ext>
              </a:extLst>
            </p:cNvPr>
            <p:cNvGrpSpPr>
              <a:grpSpLocks/>
            </p:cNvGrpSpPr>
            <p:nvPr/>
          </p:nvGrpSpPr>
          <p:grpSpPr bwMode="auto">
            <a:xfrm>
              <a:off x="0" y="0"/>
              <a:ext cx="4500562" cy="3422256"/>
              <a:chOff x="0" y="0"/>
              <a:chExt cx="4500562" cy="3422256"/>
            </a:xfrm>
          </p:grpSpPr>
          <p:graphicFrame>
            <p:nvGraphicFramePr>
              <p:cNvPr id="17" name="Object 5">
                <a:extLst>
                  <a:ext uri="{FF2B5EF4-FFF2-40B4-BE49-F238E27FC236}">
                    <a16:creationId xmlns:a16="http://schemas.microsoft.com/office/drawing/2014/main" id="{C0FE0AAE-0E1F-479D-B1F7-1DEDEA41CAB1}"/>
                  </a:ext>
                </a:extLst>
              </p:cNvPr>
              <p:cNvGraphicFramePr>
                <a:graphicFrameLocks noChangeAspect="1"/>
              </p:cNvGraphicFramePr>
              <p:nvPr/>
            </p:nvGraphicFramePr>
            <p:xfrm>
              <a:off x="60325" y="3067050"/>
              <a:ext cx="231775" cy="282575"/>
            </p:xfrm>
            <a:graphic>
              <a:graphicData uri="http://schemas.openxmlformats.org/presentationml/2006/ole">
                <mc:AlternateContent xmlns:mc="http://schemas.openxmlformats.org/markup-compatibility/2006">
                  <mc:Choice xmlns:v="urn:schemas-microsoft-com:vml" Requires="v">
                    <p:oleObj spid="_x0000_s189850" r:id="rId3" imgW="153198" imgH="178731" progId="">
                      <p:embed/>
                    </p:oleObj>
                  </mc:Choice>
                  <mc:Fallback>
                    <p:oleObj r:id="rId3" imgW="153198" imgH="178731" progId="">
                      <p:embed/>
                      <p:pic>
                        <p:nvPicPr>
                          <p:cNvPr id="17" name="Object 5">
                            <a:extLst>
                              <a:ext uri="{FF2B5EF4-FFF2-40B4-BE49-F238E27FC236}">
                                <a16:creationId xmlns:a16="http://schemas.microsoft.com/office/drawing/2014/main" id="{C0FE0AAE-0E1F-479D-B1F7-1DEDEA41CA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25" y="3067050"/>
                            <a:ext cx="231775" cy="28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6">
                <a:extLst>
                  <a:ext uri="{FF2B5EF4-FFF2-40B4-BE49-F238E27FC236}">
                    <a16:creationId xmlns:a16="http://schemas.microsoft.com/office/drawing/2014/main" id="{80BCEE45-05CB-41BA-BECD-320ACDE0AEFC}"/>
                  </a:ext>
                </a:extLst>
              </p:cNvPr>
              <p:cNvGraphicFramePr>
                <a:graphicFrameLocks noChangeAspect="1"/>
              </p:cNvGraphicFramePr>
              <p:nvPr/>
            </p:nvGraphicFramePr>
            <p:xfrm>
              <a:off x="0" y="0"/>
              <a:ext cx="235115" cy="262692"/>
            </p:xfrm>
            <a:graphic>
              <a:graphicData uri="http://schemas.openxmlformats.org/presentationml/2006/ole">
                <mc:AlternateContent xmlns:mc="http://schemas.openxmlformats.org/markup-compatibility/2006">
                  <mc:Choice xmlns:v="urn:schemas-microsoft-com:vml" Requires="v">
                    <p:oleObj spid="_x0000_s189851" r:id="rId5" imgW="153332" imgH="166109" progId="">
                      <p:embed/>
                    </p:oleObj>
                  </mc:Choice>
                  <mc:Fallback>
                    <p:oleObj r:id="rId5" imgW="153332" imgH="166109" progId="">
                      <p:embed/>
                      <p:pic>
                        <p:nvPicPr>
                          <p:cNvPr id="18" name="Object 6">
                            <a:extLst>
                              <a:ext uri="{FF2B5EF4-FFF2-40B4-BE49-F238E27FC236}">
                                <a16:creationId xmlns:a16="http://schemas.microsoft.com/office/drawing/2014/main" id="{80BCEE45-05CB-41BA-BECD-320ACDE0AE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235115" cy="262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7">
                <a:extLst>
                  <a:ext uri="{FF2B5EF4-FFF2-40B4-BE49-F238E27FC236}">
                    <a16:creationId xmlns:a16="http://schemas.microsoft.com/office/drawing/2014/main" id="{0C929C26-A398-46AE-AF60-7048772E1DAF}"/>
                  </a:ext>
                </a:extLst>
              </p:cNvPr>
              <p:cNvGraphicFramePr>
                <a:graphicFrameLocks noChangeAspect="1"/>
              </p:cNvGraphicFramePr>
              <p:nvPr/>
            </p:nvGraphicFramePr>
            <p:xfrm>
              <a:off x="4263691" y="3097968"/>
              <a:ext cx="235115" cy="324288"/>
            </p:xfrm>
            <a:graphic>
              <a:graphicData uri="http://schemas.openxmlformats.org/presentationml/2006/ole">
                <mc:AlternateContent xmlns:mc="http://schemas.openxmlformats.org/markup-compatibility/2006">
                  <mc:Choice xmlns:v="urn:schemas-microsoft-com:vml" Requires="v">
                    <p:oleObj spid="_x0000_s189852" r:id="rId7" imgW="153332" imgH="204442" progId="">
                      <p:embed/>
                    </p:oleObj>
                  </mc:Choice>
                  <mc:Fallback>
                    <p:oleObj r:id="rId7" imgW="153332" imgH="204442" progId="">
                      <p:embed/>
                      <p:pic>
                        <p:nvPicPr>
                          <p:cNvPr id="20" name="Object 7">
                            <a:extLst>
                              <a:ext uri="{FF2B5EF4-FFF2-40B4-BE49-F238E27FC236}">
                                <a16:creationId xmlns:a16="http://schemas.microsoft.com/office/drawing/2014/main" id="{0C929C26-A398-46AE-AF60-7048772E1DA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63691" y="3097968"/>
                            <a:ext cx="235115" cy="324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21" name="直接箭头连接符 5">
                <a:extLst>
                  <a:ext uri="{FF2B5EF4-FFF2-40B4-BE49-F238E27FC236}">
                    <a16:creationId xmlns:a16="http://schemas.microsoft.com/office/drawing/2014/main" id="{820B47E1-8AD4-4832-B8B7-0CA20E4CB3A9}"/>
                  </a:ext>
                </a:extLst>
              </p:cNvPr>
              <p:cNvCxnSpPr>
                <a:cxnSpLocks noChangeShapeType="1"/>
              </p:cNvCxnSpPr>
              <p:nvPr/>
            </p:nvCxnSpPr>
            <p:spPr bwMode="auto">
              <a:xfrm>
                <a:off x="315912" y="3015903"/>
                <a:ext cx="4184650"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grpSp>
        <p:cxnSp>
          <p:nvCxnSpPr>
            <p:cNvPr id="16" name="直接箭头连接符 7">
              <a:extLst>
                <a:ext uri="{FF2B5EF4-FFF2-40B4-BE49-F238E27FC236}">
                  <a16:creationId xmlns:a16="http://schemas.microsoft.com/office/drawing/2014/main" id="{E7E7596A-7E25-493D-8598-6CB941800374}"/>
                </a:ext>
              </a:extLst>
            </p:cNvPr>
            <p:cNvCxnSpPr>
              <a:cxnSpLocks noChangeShapeType="1"/>
            </p:cNvCxnSpPr>
            <p:nvPr/>
          </p:nvCxnSpPr>
          <p:spPr bwMode="auto">
            <a:xfrm rot="5400000" flipH="1" flipV="1">
              <a:off x="-1192044" y="1507944"/>
              <a:ext cx="3015903" cy="3175"/>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grpSp>
      <p:graphicFrame>
        <p:nvGraphicFramePr>
          <p:cNvPr id="22" name="Object 10">
            <a:extLst>
              <a:ext uri="{FF2B5EF4-FFF2-40B4-BE49-F238E27FC236}">
                <a16:creationId xmlns:a16="http://schemas.microsoft.com/office/drawing/2014/main" id="{70828BA3-EEBE-4021-9BF0-70C225AF38A6}"/>
              </a:ext>
            </a:extLst>
          </p:cNvPr>
          <p:cNvGraphicFramePr>
            <a:graphicFrameLocks noChangeAspect="1"/>
          </p:cNvGraphicFramePr>
          <p:nvPr>
            <p:extLst>
              <p:ext uri="{D42A27DB-BD31-4B8C-83A1-F6EECF244321}">
                <p14:modId xmlns:p14="http://schemas.microsoft.com/office/powerpoint/2010/main" val="3348203186"/>
              </p:ext>
            </p:extLst>
          </p:nvPr>
        </p:nvGraphicFramePr>
        <p:xfrm>
          <a:off x="686942" y="3790675"/>
          <a:ext cx="259258" cy="358405"/>
        </p:xfrm>
        <a:graphic>
          <a:graphicData uri="http://schemas.openxmlformats.org/presentationml/2006/ole">
            <mc:AlternateContent xmlns:mc="http://schemas.openxmlformats.org/markup-compatibility/2006">
              <mc:Choice xmlns:v="urn:schemas-microsoft-com:vml" Requires="v">
                <p:oleObj spid="_x0000_s189853" r:id="rId9" imgW="153131" imgH="229697" progId="">
                  <p:embed/>
                </p:oleObj>
              </mc:Choice>
              <mc:Fallback>
                <p:oleObj r:id="rId9" imgW="153131" imgH="229697" progId="">
                  <p:embed/>
                  <p:pic>
                    <p:nvPicPr>
                      <p:cNvPr id="22" name="Object 10">
                        <a:extLst>
                          <a:ext uri="{FF2B5EF4-FFF2-40B4-BE49-F238E27FC236}">
                            <a16:creationId xmlns:a16="http://schemas.microsoft.com/office/drawing/2014/main" id="{70828BA3-EEBE-4021-9BF0-70C225AF38A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6942" y="3790675"/>
                        <a:ext cx="259258" cy="358405"/>
                      </a:xfrm>
                      <a:prstGeom prst="rect">
                        <a:avLst/>
                      </a:prstGeom>
                      <a:noFill/>
                      <a:ln>
                        <a:noFill/>
                      </a:ln>
                      <a:effectLst/>
                      <a:extLst/>
                    </p:spPr>
                  </p:pic>
                </p:oleObj>
              </mc:Fallback>
            </mc:AlternateContent>
          </a:graphicData>
        </a:graphic>
      </p:graphicFrame>
      <p:grpSp>
        <p:nvGrpSpPr>
          <p:cNvPr id="23" name="组合 57">
            <a:extLst>
              <a:ext uri="{FF2B5EF4-FFF2-40B4-BE49-F238E27FC236}">
                <a16:creationId xmlns:a16="http://schemas.microsoft.com/office/drawing/2014/main" id="{24B9D445-BBD8-4163-8BDF-4DEEE9C3CAA2}"/>
              </a:ext>
            </a:extLst>
          </p:cNvPr>
          <p:cNvGrpSpPr>
            <a:grpSpLocks/>
          </p:cNvGrpSpPr>
          <p:nvPr/>
        </p:nvGrpSpPr>
        <p:grpSpPr bwMode="auto">
          <a:xfrm>
            <a:off x="742033" y="2386822"/>
            <a:ext cx="2682875" cy="3300413"/>
            <a:chOff x="0" y="0"/>
            <a:chExt cx="2682875" cy="3300874"/>
          </a:xfrm>
        </p:grpSpPr>
        <p:graphicFrame>
          <p:nvGraphicFramePr>
            <p:cNvPr id="24" name="Object 12">
              <a:extLst>
                <a:ext uri="{FF2B5EF4-FFF2-40B4-BE49-F238E27FC236}">
                  <a16:creationId xmlns:a16="http://schemas.microsoft.com/office/drawing/2014/main" id="{C10830FD-3377-4C7F-8E06-942AFF140F05}"/>
                </a:ext>
              </a:extLst>
            </p:cNvPr>
            <p:cNvGraphicFramePr>
              <a:graphicFrameLocks noChangeAspect="1"/>
            </p:cNvGraphicFramePr>
            <p:nvPr/>
          </p:nvGraphicFramePr>
          <p:xfrm>
            <a:off x="1263316" y="0"/>
            <a:ext cx="294772" cy="365957"/>
          </p:xfrm>
          <a:graphic>
            <a:graphicData uri="http://schemas.openxmlformats.org/presentationml/2006/ole">
              <mc:AlternateContent xmlns:mc="http://schemas.openxmlformats.org/markup-compatibility/2006">
                <mc:Choice xmlns:v="urn:schemas-microsoft-com:vml" Requires="v">
                  <p:oleObj spid="_x0000_s189854" r:id="rId11" imgW="191414" imgH="229697" progId="">
                    <p:embed/>
                  </p:oleObj>
                </mc:Choice>
                <mc:Fallback>
                  <p:oleObj r:id="rId11" imgW="191414" imgH="229697" progId="">
                    <p:embed/>
                    <p:pic>
                      <p:nvPicPr>
                        <p:cNvPr id="24" name="Object 12">
                          <a:extLst>
                            <a:ext uri="{FF2B5EF4-FFF2-40B4-BE49-F238E27FC236}">
                              <a16:creationId xmlns:a16="http://schemas.microsoft.com/office/drawing/2014/main" id="{C10830FD-3377-4C7F-8E06-942AFF140F0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63316" y="0"/>
                          <a:ext cx="294772" cy="365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25" name="直接连接符 15">
              <a:extLst>
                <a:ext uri="{FF2B5EF4-FFF2-40B4-BE49-F238E27FC236}">
                  <a16:creationId xmlns:a16="http://schemas.microsoft.com/office/drawing/2014/main" id="{A80D0BA1-58E5-4D1D-A3B4-7559B130AB09}"/>
                </a:ext>
              </a:extLst>
            </p:cNvPr>
            <p:cNvCxnSpPr>
              <a:cxnSpLocks noChangeShapeType="1"/>
            </p:cNvCxnSpPr>
            <p:nvPr/>
          </p:nvCxnSpPr>
          <p:spPr bwMode="auto">
            <a:xfrm>
              <a:off x="357187" y="1551205"/>
              <a:ext cx="1714500" cy="1587"/>
            </a:xfrm>
            <a:prstGeom prst="line">
              <a:avLst/>
            </a:prstGeom>
            <a:noFill/>
            <a:ln w="9525">
              <a:solidFill>
                <a:srgbClr val="404040"/>
              </a:solidFill>
              <a:prstDash val="dash"/>
              <a:round/>
              <a:headEnd/>
              <a:tailEnd/>
            </a:ln>
            <a:extLst>
              <a:ext uri="{909E8E84-426E-40DD-AFC4-6F175D3DCCD1}">
                <a14:hiddenFill xmlns:a14="http://schemas.microsoft.com/office/drawing/2010/main">
                  <a:noFill/>
                </a14:hiddenFill>
              </a:ext>
            </a:extLst>
          </p:spPr>
        </p:cxnSp>
        <p:grpSp>
          <p:nvGrpSpPr>
            <p:cNvPr id="26" name="组合 56">
              <a:extLst>
                <a:ext uri="{FF2B5EF4-FFF2-40B4-BE49-F238E27FC236}">
                  <a16:creationId xmlns:a16="http://schemas.microsoft.com/office/drawing/2014/main" id="{A5B04756-66C5-45D2-95B1-74296B3686FB}"/>
                </a:ext>
              </a:extLst>
            </p:cNvPr>
            <p:cNvGrpSpPr>
              <a:grpSpLocks/>
            </p:cNvGrpSpPr>
            <p:nvPr/>
          </p:nvGrpSpPr>
          <p:grpSpPr bwMode="auto">
            <a:xfrm>
              <a:off x="0" y="336597"/>
              <a:ext cx="2682875" cy="2964277"/>
              <a:chOff x="0" y="0"/>
              <a:chExt cx="2682875" cy="2964277"/>
            </a:xfrm>
          </p:grpSpPr>
          <p:graphicFrame>
            <p:nvGraphicFramePr>
              <p:cNvPr id="27" name="Object 15">
                <a:extLst>
                  <a:ext uri="{FF2B5EF4-FFF2-40B4-BE49-F238E27FC236}">
                    <a16:creationId xmlns:a16="http://schemas.microsoft.com/office/drawing/2014/main" id="{6BEA3018-D691-43FB-8431-5AAD0B831099}"/>
                  </a:ext>
                </a:extLst>
              </p:cNvPr>
              <p:cNvGraphicFramePr>
                <a:graphicFrameLocks noChangeAspect="1"/>
              </p:cNvGraphicFramePr>
              <p:nvPr/>
            </p:nvGraphicFramePr>
            <p:xfrm>
              <a:off x="2447752" y="1538702"/>
              <a:ext cx="235123" cy="262652"/>
            </p:xfrm>
            <a:graphic>
              <a:graphicData uri="http://schemas.openxmlformats.org/presentationml/2006/ole">
                <mc:AlternateContent xmlns:mc="http://schemas.openxmlformats.org/markup-compatibility/2006">
                  <mc:Choice xmlns:v="urn:schemas-microsoft-com:vml" Requires="v">
                    <p:oleObj spid="_x0000_s189855" r:id="rId13" imgW="153332" imgH="166109" progId="">
                      <p:embed/>
                    </p:oleObj>
                  </mc:Choice>
                  <mc:Fallback>
                    <p:oleObj r:id="rId13" imgW="153332" imgH="166109" progId="">
                      <p:embed/>
                      <p:pic>
                        <p:nvPicPr>
                          <p:cNvPr id="27" name="Object 15">
                            <a:extLst>
                              <a:ext uri="{FF2B5EF4-FFF2-40B4-BE49-F238E27FC236}">
                                <a16:creationId xmlns:a16="http://schemas.microsoft.com/office/drawing/2014/main" id="{6BEA3018-D691-43FB-8431-5AAD0B83109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47752" y="1538702"/>
                            <a:ext cx="235123" cy="262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 name="Object 16">
                <a:extLst>
                  <a:ext uri="{FF2B5EF4-FFF2-40B4-BE49-F238E27FC236}">
                    <a16:creationId xmlns:a16="http://schemas.microsoft.com/office/drawing/2014/main" id="{0D2AEEF8-2E93-4ECC-B900-900DB240068C}"/>
                  </a:ext>
                </a:extLst>
              </p:cNvPr>
              <p:cNvGraphicFramePr>
                <a:graphicFrameLocks noChangeAspect="1"/>
              </p:cNvGraphicFramePr>
              <p:nvPr/>
            </p:nvGraphicFramePr>
            <p:xfrm>
              <a:off x="2052888" y="804760"/>
              <a:ext cx="235115" cy="262692"/>
            </p:xfrm>
            <a:graphic>
              <a:graphicData uri="http://schemas.openxmlformats.org/presentationml/2006/ole">
                <mc:AlternateContent xmlns:mc="http://schemas.openxmlformats.org/markup-compatibility/2006">
                  <mc:Choice xmlns:v="urn:schemas-microsoft-com:vml" Requires="v">
                    <p:oleObj spid="_x0000_s189856" r:id="rId15" imgW="153332" imgH="166109" progId="">
                      <p:embed/>
                    </p:oleObj>
                  </mc:Choice>
                  <mc:Fallback>
                    <p:oleObj r:id="rId15" imgW="153332" imgH="166109" progId="">
                      <p:embed/>
                      <p:pic>
                        <p:nvPicPr>
                          <p:cNvPr id="28" name="Object 16">
                            <a:extLst>
                              <a:ext uri="{FF2B5EF4-FFF2-40B4-BE49-F238E27FC236}">
                                <a16:creationId xmlns:a16="http://schemas.microsoft.com/office/drawing/2014/main" id="{0D2AEEF8-2E93-4ECC-B900-900DB240068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52888" y="804760"/>
                            <a:ext cx="235115" cy="262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29" name="直接连接符 11">
                <a:extLst>
                  <a:ext uri="{FF2B5EF4-FFF2-40B4-BE49-F238E27FC236}">
                    <a16:creationId xmlns:a16="http://schemas.microsoft.com/office/drawing/2014/main" id="{4B99A7AC-E6EE-40EB-A9BA-30A38FE4A114}"/>
                  </a:ext>
                </a:extLst>
              </p:cNvPr>
              <p:cNvCxnSpPr>
                <a:cxnSpLocks noChangeShapeType="1"/>
              </p:cNvCxnSpPr>
              <p:nvPr/>
            </p:nvCxnSpPr>
            <p:spPr bwMode="auto">
              <a:xfrm rot="16200000" flipH="1">
                <a:off x="921389" y="507355"/>
                <a:ext cx="2119609" cy="1104900"/>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aphicFrame>
            <p:nvGraphicFramePr>
              <p:cNvPr id="30" name="Object 18">
                <a:extLst>
                  <a:ext uri="{FF2B5EF4-FFF2-40B4-BE49-F238E27FC236}">
                    <a16:creationId xmlns:a16="http://schemas.microsoft.com/office/drawing/2014/main" id="{3FB4768E-2BC9-48BF-9729-56AE012400E9}"/>
                  </a:ext>
                </a:extLst>
              </p:cNvPr>
              <p:cNvGraphicFramePr>
                <a:graphicFrameLocks noChangeAspect="1"/>
              </p:cNvGraphicFramePr>
              <p:nvPr/>
            </p:nvGraphicFramePr>
            <p:xfrm>
              <a:off x="1816016" y="2598320"/>
              <a:ext cx="333373" cy="365957"/>
            </p:xfrm>
            <a:graphic>
              <a:graphicData uri="http://schemas.openxmlformats.org/presentationml/2006/ole">
                <mc:AlternateContent xmlns:mc="http://schemas.openxmlformats.org/markup-compatibility/2006">
                  <mc:Choice xmlns:v="urn:schemas-microsoft-com:vml" Requires="v">
                    <p:oleObj spid="_x0000_s189857" r:id="rId17" imgW="216747" imgH="229496" progId="">
                      <p:embed/>
                    </p:oleObj>
                  </mc:Choice>
                  <mc:Fallback>
                    <p:oleObj r:id="rId17" imgW="216747" imgH="229496" progId="">
                      <p:embed/>
                      <p:pic>
                        <p:nvPicPr>
                          <p:cNvPr id="30" name="Object 18">
                            <a:extLst>
                              <a:ext uri="{FF2B5EF4-FFF2-40B4-BE49-F238E27FC236}">
                                <a16:creationId xmlns:a16="http://schemas.microsoft.com/office/drawing/2014/main" id="{3FB4768E-2BC9-48BF-9729-56AE012400E9}"/>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16016" y="2598320"/>
                            <a:ext cx="333373" cy="365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1" name="直接连接符 19">
                <a:extLst>
                  <a:ext uri="{FF2B5EF4-FFF2-40B4-BE49-F238E27FC236}">
                    <a16:creationId xmlns:a16="http://schemas.microsoft.com/office/drawing/2014/main" id="{490971A5-B9FF-41C7-8BD0-67A294500716}"/>
                  </a:ext>
                </a:extLst>
              </p:cNvPr>
              <p:cNvCxnSpPr>
                <a:cxnSpLocks noChangeShapeType="1"/>
              </p:cNvCxnSpPr>
              <p:nvPr/>
            </p:nvCxnSpPr>
            <p:spPr bwMode="auto">
              <a:xfrm rot="5400000">
                <a:off x="1392934" y="1866362"/>
                <a:ext cx="1305107" cy="1587"/>
              </a:xfrm>
              <a:prstGeom prst="line">
                <a:avLst/>
              </a:prstGeom>
              <a:noFill/>
              <a:ln w="9525">
                <a:solidFill>
                  <a:srgbClr val="404040"/>
                </a:solidFill>
                <a:prstDash val="dash"/>
                <a:round/>
                <a:headEnd/>
                <a:tailEnd/>
              </a:ln>
              <a:extLst>
                <a:ext uri="{909E8E84-426E-40DD-AFC4-6F175D3DCCD1}">
                  <a14:hiddenFill xmlns:a14="http://schemas.microsoft.com/office/drawing/2010/main">
                    <a:noFill/>
                  </a14:hiddenFill>
                </a:ext>
              </a:extLst>
            </p:spPr>
          </p:cxnSp>
          <p:graphicFrame>
            <p:nvGraphicFramePr>
              <p:cNvPr id="32" name="Object 20">
                <a:extLst>
                  <a:ext uri="{FF2B5EF4-FFF2-40B4-BE49-F238E27FC236}">
                    <a16:creationId xmlns:a16="http://schemas.microsoft.com/office/drawing/2014/main" id="{0C87EDB7-9EE2-4305-BF86-845E056DF1A2}"/>
                  </a:ext>
                </a:extLst>
              </p:cNvPr>
              <p:cNvGraphicFramePr>
                <a:graphicFrameLocks noChangeAspect="1"/>
              </p:cNvGraphicFramePr>
              <p:nvPr/>
            </p:nvGraphicFramePr>
            <p:xfrm>
              <a:off x="2210873" y="2598375"/>
              <a:ext cx="354439" cy="365902"/>
            </p:xfrm>
            <a:graphic>
              <a:graphicData uri="http://schemas.openxmlformats.org/presentationml/2006/ole">
                <mc:AlternateContent xmlns:mc="http://schemas.openxmlformats.org/markup-compatibility/2006">
                  <mc:Choice xmlns:v="urn:schemas-microsoft-com:vml" Requires="v">
                    <p:oleObj spid="_x0000_s189858" r:id="rId19" imgW="229797" imgH="229797" progId="">
                      <p:embed/>
                    </p:oleObj>
                  </mc:Choice>
                  <mc:Fallback>
                    <p:oleObj r:id="rId19" imgW="229797" imgH="229797" progId="">
                      <p:embed/>
                      <p:pic>
                        <p:nvPicPr>
                          <p:cNvPr id="32" name="Object 20">
                            <a:extLst>
                              <a:ext uri="{FF2B5EF4-FFF2-40B4-BE49-F238E27FC236}">
                                <a16:creationId xmlns:a16="http://schemas.microsoft.com/office/drawing/2014/main" id="{0C87EDB7-9EE2-4305-BF86-845E056DF1A2}"/>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210873" y="2598375"/>
                            <a:ext cx="354439" cy="365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 name="Object 21">
                <a:extLst>
                  <a:ext uri="{FF2B5EF4-FFF2-40B4-BE49-F238E27FC236}">
                    <a16:creationId xmlns:a16="http://schemas.microsoft.com/office/drawing/2014/main" id="{614DEC2D-4869-4C10-BD18-37027097FDFD}"/>
                  </a:ext>
                </a:extLst>
              </p:cNvPr>
              <p:cNvGraphicFramePr>
                <a:graphicFrameLocks noChangeAspect="1"/>
              </p:cNvGraphicFramePr>
              <p:nvPr/>
            </p:nvGraphicFramePr>
            <p:xfrm>
              <a:off x="0" y="1620215"/>
              <a:ext cx="254424" cy="364091"/>
            </p:xfrm>
            <a:graphic>
              <a:graphicData uri="http://schemas.openxmlformats.org/presentationml/2006/ole">
                <mc:AlternateContent xmlns:mc="http://schemas.openxmlformats.org/markup-compatibility/2006">
                  <mc:Choice xmlns:v="urn:schemas-microsoft-com:vml" Requires="v">
                    <p:oleObj spid="_x0000_s189859" r:id="rId21" imgW="165820" imgH="229597" progId="">
                      <p:embed/>
                    </p:oleObj>
                  </mc:Choice>
                  <mc:Fallback>
                    <p:oleObj r:id="rId21" imgW="165820" imgH="229597" progId="">
                      <p:embed/>
                      <p:pic>
                        <p:nvPicPr>
                          <p:cNvPr id="33" name="Object 21">
                            <a:extLst>
                              <a:ext uri="{FF2B5EF4-FFF2-40B4-BE49-F238E27FC236}">
                                <a16:creationId xmlns:a16="http://schemas.microsoft.com/office/drawing/2014/main" id="{614DEC2D-4869-4C10-BD18-37027097FDFD}"/>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0" y="1620215"/>
                            <a:ext cx="254424" cy="364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4" name="直接连接符 27">
                <a:extLst>
                  <a:ext uri="{FF2B5EF4-FFF2-40B4-BE49-F238E27FC236}">
                    <a16:creationId xmlns:a16="http://schemas.microsoft.com/office/drawing/2014/main" id="{BCF81860-C4D7-49EB-9ACA-97CAC8E91AFA}"/>
                  </a:ext>
                </a:extLst>
              </p:cNvPr>
              <p:cNvCxnSpPr>
                <a:cxnSpLocks noChangeShapeType="1"/>
              </p:cNvCxnSpPr>
              <p:nvPr/>
            </p:nvCxnSpPr>
            <p:spPr bwMode="auto">
              <a:xfrm>
                <a:off x="315912" y="1783012"/>
                <a:ext cx="2052638" cy="1587"/>
              </a:xfrm>
              <a:prstGeom prst="line">
                <a:avLst/>
              </a:prstGeom>
              <a:noFill/>
              <a:ln w="9525">
                <a:solidFill>
                  <a:srgbClr val="404040"/>
                </a:solidFill>
                <a:prstDash val="dash"/>
                <a:round/>
                <a:headEnd/>
                <a:tailEnd/>
              </a:ln>
              <a:extLst>
                <a:ext uri="{909E8E84-426E-40DD-AFC4-6F175D3DCCD1}">
                  <a14:hiddenFill xmlns:a14="http://schemas.microsoft.com/office/drawing/2010/main">
                    <a:noFill/>
                  </a14:hiddenFill>
                </a:ext>
              </a:extLst>
            </p:spPr>
          </p:cxnSp>
          <p:cxnSp>
            <p:nvCxnSpPr>
              <p:cNvPr id="35" name="直接连接符 31">
                <a:extLst>
                  <a:ext uri="{FF2B5EF4-FFF2-40B4-BE49-F238E27FC236}">
                    <a16:creationId xmlns:a16="http://schemas.microsoft.com/office/drawing/2014/main" id="{38A77BA3-6E7C-4898-A549-373B6283D193}"/>
                  </a:ext>
                </a:extLst>
              </p:cNvPr>
              <p:cNvCxnSpPr>
                <a:cxnSpLocks noChangeShapeType="1"/>
              </p:cNvCxnSpPr>
              <p:nvPr/>
            </p:nvCxnSpPr>
            <p:spPr bwMode="auto">
              <a:xfrm rot="5400000">
                <a:off x="2000987" y="2142625"/>
                <a:ext cx="714475" cy="1588"/>
              </a:xfrm>
              <a:prstGeom prst="line">
                <a:avLst/>
              </a:prstGeom>
              <a:noFill/>
              <a:ln w="9525">
                <a:solidFill>
                  <a:srgbClr val="404040"/>
                </a:solidFill>
                <a:prstDash val="dash"/>
                <a:round/>
                <a:headEnd/>
                <a:tailEnd/>
              </a:ln>
              <a:extLst>
                <a:ext uri="{909E8E84-426E-40DD-AFC4-6F175D3DCCD1}">
                  <a14:hiddenFill xmlns:a14="http://schemas.microsoft.com/office/drawing/2010/main">
                    <a:noFill/>
                  </a14:hiddenFill>
                </a:ext>
              </a:extLst>
            </p:spPr>
          </p:cxnSp>
        </p:grpSp>
      </p:grpSp>
      <p:cxnSp>
        <p:nvCxnSpPr>
          <p:cNvPr id="36" name="直接箭头连接符 35">
            <a:extLst>
              <a:ext uri="{FF2B5EF4-FFF2-40B4-BE49-F238E27FC236}">
                <a16:creationId xmlns:a16="http://schemas.microsoft.com/office/drawing/2014/main" id="{E3823C3A-AA10-4313-ABDF-9F874FF8FBC3}"/>
              </a:ext>
            </a:extLst>
          </p:cNvPr>
          <p:cNvCxnSpPr>
            <a:cxnSpLocks noChangeShapeType="1"/>
          </p:cNvCxnSpPr>
          <p:nvPr/>
        </p:nvCxnSpPr>
        <p:spPr bwMode="auto">
          <a:xfrm>
            <a:off x="2531636" y="3250422"/>
            <a:ext cx="552450" cy="1588"/>
          </a:xfrm>
          <a:prstGeom prst="straightConnector1">
            <a:avLst/>
          </a:prstGeom>
          <a:noFill/>
          <a:ln w="25400">
            <a:solidFill>
              <a:srgbClr val="A7C804"/>
            </a:solidFill>
            <a:round/>
            <a:headEnd/>
            <a:tailEnd type="stealth" w="med" len="lg"/>
          </a:ln>
          <a:effectLst>
            <a:outerShdw dist="20000" dir="5400000" algn="ctr" rotWithShape="0">
              <a:srgbClr val="000000">
                <a:alpha val="31998"/>
              </a:srgbClr>
            </a:outerShdw>
          </a:effectLst>
          <a:extLst>
            <a:ext uri="{909E8E84-426E-40DD-AFC4-6F175D3DCCD1}">
              <a14:hiddenFill xmlns:a14="http://schemas.microsoft.com/office/drawing/2010/main">
                <a:noFill/>
              </a14:hiddenFill>
            </a:ext>
          </a:extLst>
        </p:spPr>
      </p:cxnSp>
      <p:grpSp>
        <p:nvGrpSpPr>
          <p:cNvPr id="37" name="组合 58">
            <a:extLst>
              <a:ext uri="{FF2B5EF4-FFF2-40B4-BE49-F238E27FC236}">
                <a16:creationId xmlns:a16="http://schemas.microsoft.com/office/drawing/2014/main" id="{C1372717-C925-43B5-8AFB-F2141FFAF9B1}"/>
              </a:ext>
            </a:extLst>
          </p:cNvPr>
          <p:cNvGrpSpPr>
            <a:grpSpLocks/>
          </p:cNvGrpSpPr>
          <p:nvPr/>
        </p:nvGrpSpPr>
        <p:grpSpPr bwMode="auto">
          <a:xfrm>
            <a:off x="1090186" y="2386822"/>
            <a:ext cx="3038475" cy="3332163"/>
            <a:chOff x="0" y="0"/>
            <a:chExt cx="3038489" cy="3332161"/>
          </a:xfrm>
        </p:grpSpPr>
        <p:graphicFrame>
          <p:nvGraphicFramePr>
            <p:cNvPr id="38" name="Object 26">
              <a:extLst>
                <a:ext uri="{FF2B5EF4-FFF2-40B4-BE49-F238E27FC236}">
                  <a16:creationId xmlns:a16="http://schemas.microsoft.com/office/drawing/2014/main" id="{85599BF2-6939-48C6-8C89-A2E891CD8F0C}"/>
                </a:ext>
              </a:extLst>
            </p:cNvPr>
            <p:cNvGraphicFramePr>
              <a:graphicFrameLocks noChangeAspect="1"/>
            </p:cNvGraphicFramePr>
            <p:nvPr/>
          </p:nvGraphicFramePr>
          <p:xfrm>
            <a:off x="1786453" y="0"/>
            <a:ext cx="314072" cy="364144"/>
          </p:xfrm>
          <a:graphic>
            <a:graphicData uri="http://schemas.openxmlformats.org/presentationml/2006/ole">
              <mc:AlternateContent xmlns:mc="http://schemas.openxmlformats.org/markup-compatibility/2006">
                <mc:Choice xmlns:v="urn:schemas-microsoft-com:vml" Requires="v">
                  <p:oleObj spid="_x0000_s189860" r:id="rId23" imgW="204086" imgH="229597" progId="">
                    <p:embed/>
                  </p:oleObj>
                </mc:Choice>
                <mc:Fallback>
                  <p:oleObj r:id="rId23" imgW="204086" imgH="229597" progId="">
                    <p:embed/>
                    <p:pic>
                      <p:nvPicPr>
                        <p:cNvPr id="38" name="Object 26">
                          <a:extLst>
                            <a:ext uri="{FF2B5EF4-FFF2-40B4-BE49-F238E27FC236}">
                              <a16:creationId xmlns:a16="http://schemas.microsoft.com/office/drawing/2014/main" id="{85599BF2-6939-48C6-8C89-A2E891CD8F0C}"/>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786453" y="0"/>
                          <a:ext cx="314072" cy="364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 name="Object 27">
              <a:extLst>
                <a:ext uri="{FF2B5EF4-FFF2-40B4-BE49-F238E27FC236}">
                  <a16:creationId xmlns:a16="http://schemas.microsoft.com/office/drawing/2014/main" id="{1C120C2D-CFD8-4731-B9B9-834FB149DA56}"/>
                </a:ext>
              </a:extLst>
            </p:cNvPr>
            <p:cNvGraphicFramePr>
              <a:graphicFrameLocks noChangeAspect="1"/>
            </p:cNvGraphicFramePr>
            <p:nvPr/>
          </p:nvGraphicFramePr>
          <p:xfrm>
            <a:off x="2564745" y="1243058"/>
            <a:ext cx="235115" cy="282620"/>
          </p:xfrm>
          <a:graphic>
            <a:graphicData uri="http://schemas.openxmlformats.org/presentationml/2006/ole">
              <mc:AlternateContent xmlns:mc="http://schemas.openxmlformats.org/markup-compatibility/2006">
                <mc:Choice xmlns:v="urn:schemas-microsoft-com:vml" Requires="v">
                  <p:oleObj spid="_x0000_s189861" r:id="rId25" imgW="153198" imgH="178731" progId="">
                    <p:embed/>
                  </p:oleObj>
                </mc:Choice>
                <mc:Fallback>
                  <p:oleObj r:id="rId25" imgW="153198" imgH="178731" progId="">
                    <p:embed/>
                    <p:pic>
                      <p:nvPicPr>
                        <p:cNvPr id="39" name="Object 27">
                          <a:extLst>
                            <a:ext uri="{FF2B5EF4-FFF2-40B4-BE49-F238E27FC236}">
                              <a16:creationId xmlns:a16="http://schemas.microsoft.com/office/drawing/2014/main" id="{1C120C2D-CFD8-4731-B9B9-834FB149DA56}"/>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564745" y="1243058"/>
                          <a:ext cx="235115" cy="282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0" name="组合 54">
              <a:extLst>
                <a:ext uri="{FF2B5EF4-FFF2-40B4-BE49-F238E27FC236}">
                  <a16:creationId xmlns:a16="http://schemas.microsoft.com/office/drawing/2014/main" id="{F6DD2DF4-0928-4155-A6B2-91E8C4CF22C4}"/>
                </a:ext>
              </a:extLst>
            </p:cNvPr>
            <p:cNvGrpSpPr>
              <a:grpSpLocks/>
            </p:cNvGrpSpPr>
            <p:nvPr/>
          </p:nvGrpSpPr>
          <p:grpSpPr bwMode="auto">
            <a:xfrm>
              <a:off x="0" y="357186"/>
              <a:ext cx="3038489" cy="2974975"/>
              <a:chOff x="0" y="0"/>
              <a:chExt cx="3038489" cy="2974975"/>
            </a:xfrm>
          </p:grpSpPr>
          <p:cxnSp>
            <p:nvCxnSpPr>
              <p:cNvPr id="41" name="直接连接符 12">
                <a:extLst>
                  <a:ext uri="{FF2B5EF4-FFF2-40B4-BE49-F238E27FC236}">
                    <a16:creationId xmlns:a16="http://schemas.microsoft.com/office/drawing/2014/main" id="{B04C4F0B-3E27-4B07-B272-6FC5B1A159A5}"/>
                  </a:ext>
                </a:extLst>
              </p:cNvPr>
              <p:cNvCxnSpPr>
                <a:cxnSpLocks noChangeShapeType="1"/>
              </p:cNvCxnSpPr>
              <p:nvPr/>
            </p:nvCxnSpPr>
            <p:spPr bwMode="auto">
              <a:xfrm rot="16200000" flipH="1">
                <a:off x="1345418" y="508792"/>
                <a:ext cx="2201862" cy="1184280"/>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pSp>
            <p:nvGrpSpPr>
              <p:cNvPr id="42" name="组合 53">
                <a:extLst>
                  <a:ext uri="{FF2B5EF4-FFF2-40B4-BE49-F238E27FC236}">
                    <a16:creationId xmlns:a16="http://schemas.microsoft.com/office/drawing/2014/main" id="{D5BBF367-963F-4216-8491-20F7D3C4E20D}"/>
                  </a:ext>
                </a:extLst>
              </p:cNvPr>
              <p:cNvGrpSpPr>
                <a:grpSpLocks/>
              </p:cNvGrpSpPr>
              <p:nvPr/>
            </p:nvGrpSpPr>
            <p:grpSpPr bwMode="auto">
              <a:xfrm>
                <a:off x="0" y="1222375"/>
                <a:ext cx="2682301" cy="1752600"/>
                <a:chOff x="0" y="0"/>
                <a:chExt cx="2682301" cy="1752600"/>
              </a:xfrm>
            </p:grpSpPr>
            <p:cxnSp>
              <p:nvCxnSpPr>
                <p:cNvPr id="43" name="直接连接符 20">
                  <a:extLst>
                    <a:ext uri="{FF2B5EF4-FFF2-40B4-BE49-F238E27FC236}">
                      <a16:creationId xmlns:a16="http://schemas.microsoft.com/office/drawing/2014/main" id="{E5DED01A-DEC9-4D9A-87DB-0CAF0A600B91}"/>
                    </a:ext>
                  </a:extLst>
                </p:cNvPr>
                <p:cNvCxnSpPr>
                  <a:cxnSpLocks noChangeShapeType="1"/>
                </p:cNvCxnSpPr>
                <p:nvPr/>
              </p:nvCxnSpPr>
              <p:spPr bwMode="auto">
                <a:xfrm rot="16200000" flipH="1">
                  <a:off x="1849444" y="638175"/>
                  <a:ext cx="1289049" cy="12700"/>
                </a:xfrm>
                <a:prstGeom prst="line">
                  <a:avLst/>
                </a:prstGeom>
                <a:noFill/>
                <a:ln w="9525">
                  <a:solidFill>
                    <a:srgbClr val="404040"/>
                  </a:solidFill>
                  <a:prstDash val="dash"/>
                  <a:round/>
                  <a:headEnd/>
                  <a:tailEnd/>
                </a:ln>
                <a:extLst>
                  <a:ext uri="{909E8E84-426E-40DD-AFC4-6F175D3DCCD1}">
                    <a14:hiddenFill xmlns:a14="http://schemas.microsoft.com/office/drawing/2010/main">
                      <a:noFill/>
                    </a14:hiddenFill>
                  </a:ext>
                </a:extLst>
              </p:spPr>
            </p:cxnSp>
            <p:graphicFrame>
              <p:nvGraphicFramePr>
                <p:cNvPr id="44" name="Object 32">
                  <a:extLst>
                    <a:ext uri="{FF2B5EF4-FFF2-40B4-BE49-F238E27FC236}">
                      <a16:creationId xmlns:a16="http://schemas.microsoft.com/office/drawing/2014/main" id="{EA521ABA-9CF5-46DF-857F-346E247E6845}"/>
                    </a:ext>
                  </a:extLst>
                </p:cNvPr>
                <p:cNvGraphicFramePr>
                  <a:graphicFrameLocks noChangeAspect="1"/>
                </p:cNvGraphicFramePr>
                <p:nvPr/>
              </p:nvGraphicFramePr>
              <p:xfrm>
                <a:off x="2327874" y="1386643"/>
                <a:ext cx="354427" cy="365957"/>
              </p:xfrm>
              <a:graphic>
                <a:graphicData uri="http://schemas.openxmlformats.org/presentationml/2006/ole">
                  <mc:AlternateContent xmlns:mc="http://schemas.openxmlformats.org/markup-compatibility/2006">
                    <mc:Choice xmlns:v="urn:schemas-microsoft-com:vml" Requires="v">
                      <p:oleObj spid="_x0000_s189862" r:id="rId27" imgW="229797" imgH="229797" progId="">
                        <p:embed/>
                      </p:oleObj>
                    </mc:Choice>
                    <mc:Fallback>
                      <p:oleObj r:id="rId27" imgW="229797" imgH="229797" progId="">
                        <p:embed/>
                        <p:pic>
                          <p:nvPicPr>
                            <p:cNvPr id="44" name="Object 32">
                              <a:extLst>
                                <a:ext uri="{FF2B5EF4-FFF2-40B4-BE49-F238E27FC236}">
                                  <a16:creationId xmlns:a16="http://schemas.microsoft.com/office/drawing/2014/main" id="{EA521ABA-9CF5-46DF-857F-346E247E6845}"/>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327874" y="1386643"/>
                              <a:ext cx="354427" cy="365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5" name="直接连接符 77">
                  <a:extLst>
                    <a:ext uri="{FF2B5EF4-FFF2-40B4-BE49-F238E27FC236}">
                      <a16:creationId xmlns:a16="http://schemas.microsoft.com/office/drawing/2014/main" id="{74A5A872-E095-448E-854C-28E9215EB430}"/>
                    </a:ext>
                  </a:extLst>
                </p:cNvPr>
                <p:cNvCxnSpPr>
                  <a:cxnSpLocks noChangeShapeType="1"/>
                </p:cNvCxnSpPr>
                <p:nvPr/>
              </p:nvCxnSpPr>
              <p:spPr bwMode="auto">
                <a:xfrm>
                  <a:off x="0" y="3176"/>
                  <a:ext cx="2500324" cy="1588"/>
                </a:xfrm>
                <a:prstGeom prst="line">
                  <a:avLst/>
                </a:prstGeom>
                <a:noFill/>
                <a:ln w="9525">
                  <a:solidFill>
                    <a:srgbClr val="404040"/>
                  </a:solidFill>
                  <a:prstDash val="dash"/>
                  <a:round/>
                  <a:headEnd/>
                  <a:tailEnd/>
                </a:ln>
                <a:extLst>
                  <a:ext uri="{909E8E84-426E-40DD-AFC4-6F175D3DCCD1}">
                    <a14:hiddenFill xmlns:a14="http://schemas.microsoft.com/office/drawing/2010/main">
                      <a:noFill/>
                    </a14:hiddenFill>
                  </a:ext>
                </a:extLst>
              </p:spPr>
            </p:cxnSp>
          </p:grpSp>
        </p:grpSp>
      </p:grpSp>
      <p:cxnSp>
        <p:nvCxnSpPr>
          <p:cNvPr id="46" name="直接箭头连接符 34">
            <a:extLst>
              <a:ext uri="{FF2B5EF4-FFF2-40B4-BE49-F238E27FC236}">
                <a16:creationId xmlns:a16="http://schemas.microsoft.com/office/drawing/2014/main" id="{CD043717-B5E8-48EF-80FD-57729F7F6A53}"/>
              </a:ext>
            </a:extLst>
          </p:cNvPr>
          <p:cNvCxnSpPr>
            <a:cxnSpLocks noChangeShapeType="1"/>
          </p:cNvCxnSpPr>
          <p:nvPr/>
        </p:nvCxnSpPr>
        <p:spPr bwMode="auto">
          <a:xfrm rot="10800000">
            <a:off x="1810911" y="3250422"/>
            <a:ext cx="473075" cy="1588"/>
          </a:xfrm>
          <a:prstGeom prst="straightConnector1">
            <a:avLst/>
          </a:prstGeom>
          <a:noFill/>
          <a:ln w="25400">
            <a:solidFill>
              <a:srgbClr val="A7C804"/>
            </a:solidFill>
            <a:round/>
            <a:headEnd/>
            <a:tailEnd type="stealth" w="med" len="lg"/>
          </a:ln>
          <a:effectLst>
            <a:outerShdw dist="20000" dir="5400000" algn="ctr" rotWithShape="0">
              <a:srgbClr val="000000">
                <a:alpha val="31998"/>
              </a:srgbClr>
            </a:outerShdw>
          </a:effectLst>
          <a:extLst>
            <a:ext uri="{909E8E84-426E-40DD-AFC4-6F175D3DCCD1}">
              <a14:hiddenFill xmlns:a14="http://schemas.microsoft.com/office/drawing/2010/main">
                <a:noFill/>
              </a14:hiddenFill>
            </a:ext>
          </a:extLst>
        </p:spPr>
      </p:cxnSp>
      <p:grpSp>
        <p:nvGrpSpPr>
          <p:cNvPr id="47" name="组合 60">
            <a:extLst>
              <a:ext uri="{FF2B5EF4-FFF2-40B4-BE49-F238E27FC236}">
                <a16:creationId xmlns:a16="http://schemas.microsoft.com/office/drawing/2014/main" id="{4A54FCDD-3FAD-459B-BD8C-F8713A3D5EF5}"/>
              </a:ext>
            </a:extLst>
          </p:cNvPr>
          <p:cNvGrpSpPr>
            <a:grpSpLocks/>
          </p:cNvGrpSpPr>
          <p:nvPr/>
        </p:nvGrpSpPr>
        <p:grpSpPr bwMode="auto">
          <a:xfrm>
            <a:off x="1029617" y="2399747"/>
            <a:ext cx="1460500" cy="3300413"/>
            <a:chOff x="0" y="0"/>
            <a:chExt cx="1458927" cy="3300413"/>
          </a:xfrm>
        </p:grpSpPr>
        <p:cxnSp>
          <p:nvCxnSpPr>
            <p:cNvPr id="48" name="直接连接符 9">
              <a:extLst>
                <a:ext uri="{FF2B5EF4-FFF2-40B4-BE49-F238E27FC236}">
                  <a16:creationId xmlns:a16="http://schemas.microsoft.com/office/drawing/2014/main" id="{6F8703A3-D47C-4EC7-B0B3-42C5B889FF9F}"/>
                </a:ext>
              </a:extLst>
            </p:cNvPr>
            <p:cNvCxnSpPr>
              <a:cxnSpLocks noChangeShapeType="1"/>
            </p:cNvCxnSpPr>
            <p:nvPr/>
          </p:nvCxnSpPr>
          <p:spPr bwMode="auto">
            <a:xfrm rot="16200000" flipH="1">
              <a:off x="-153184" y="915183"/>
              <a:ext cx="2119312" cy="1104911"/>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pSp>
          <p:nvGrpSpPr>
            <p:cNvPr id="49" name="组合 59">
              <a:extLst>
                <a:ext uri="{FF2B5EF4-FFF2-40B4-BE49-F238E27FC236}">
                  <a16:creationId xmlns:a16="http://schemas.microsoft.com/office/drawing/2014/main" id="{496C9AD5-D356-4EFC-8664-8DBE220D2B62}"/>
                </a:ext>
              </a:extLst>
            </p:cNvPr>
            <p:cNvGrpSpPr>
              <a:grpSpLocks/>
            </p:cNvGrpSpPr>
            <p:nvPr/>
          </p:nvGrpSpPr>
          <p:grpSpPr bwMode="auto">
            <a:xfrm>
              <a:off x="0" y="0"/>
              <a:ext cx="1103327" cy="3300413"/>
              <a:chOff x="0" y="0"/>
              <a:chExt cx="1103327" cy="3300413"/>
            </a:xfrm>
          </p:grpSpPr>
          <p:graphicFrame>
            <p:nvGraphicFramePr>
              <p:cNvPr id="50" name="Object 38">
                <a:extLst>
                  <a:ext uri="{FF2B5EF4-FFF2-40B4-BE49-F238E27FC236}">
                    <a16:creationId xmlns:a16="http://schemas.microsoft.com/office/drawing/2014/main" id="{80030737-53D4-4454-8F39-EF0200457BB7}"/>
                  </a:ext>
                </a:extLst>
              </p:cNvPr>
              <p:cNvGraphicFramePr>
                <a:graphicFrameLocks noChangeAspect="1"/>
              </p:cNvGraphicFramePr>
              <p:nvPr/>
            </p:nvGraphicFramePr>
            <p:xfrm>
              <a:off x="195277" y="0"/>
              <a:ext cx="314156" cy="364147"/>
            </p:xfrm>
            <a:graphic>
              <a:graphicData uri="http://schemas.openxmlformats.org/presentationml/2006/ole">
                <mc:AlternateContent xmlns:mc="http://schemas.openxmlformats.org/markup-compatibility/2006">
                  <mc:Choice xmlns:v="urn:schemas-microsoft-com:vml" Requires="v">
                    <p:oleObj spid="_x0000_s189863" r:id="rId29" imgW="204086" imgH="229597" progId="">
                      <p:embed/>
                    </p:oleObj>
                  </mc:Choice>
                  <mc:Fallback>
                    <p:oleObj r:id="rId29" imgW="204086" imgH="229597" progId="">
                      <p:embed/>
                      <p:pic>
                        <p:nvPicPr>
                          <p:cNvPr id="50" name="Object 38">
                            <a:extLst>
                              <a:ext uri="{FF2B5EF4-FFF2-40B4-BE49-F238E27FC236}">
                                <a16:creationId xmlns:a16="http://schemas.microsoft.com/office/drawing/2014/main" id="{80030737-53D4-4454-8F39-EF0200457BB7}"/>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95277" y="0"/>
                            <a:ext cx="314156" cy="364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51" name="直接连接符 17">
                <a:extLst>
                  <a:ext uri="{FF2B5EF4-FFF2-40B4-BE49-F238E27FC236}">
                    <a16:creationId xmlns:a16="http://schemas.microsoft.com/office/drawing/2014/main" id="{AB9F0D53-8760-4CDA-95AF-68BFA5C9A42D}"/>
                  </a:ext>
                </a:extLst>
              </p:cNvPr>
              <p:cNvCxnSpPr>
                <a:cxnSpLocks noChangeShapeType="1"/>
              </p:cNvCxnSpPr>
              <p:nvPr/>
            </p:nvCxnSpPr>
            <p:spPr bwMode="auto">
              <a:xfrm rot="5400000">
                <a:off x="268291" y="2190744"/>
                <a:ext cx="1301750" cy="22225"/>
              </a:xfrm>
              <a:prstGeom prst="line">
                <a:avLst/>
              </a:prstGeom>
              <a:noFill/>
              <a:ln w="9525">
                <a:solidFill>
                  <a:srgbClr val="404040"/>
                </a:solidFill>
                <a:prstDash val="dash"/>
                <a:round/>
                <a:headEnd/>
                <a:tailEnd/>
              </a:ln>
              <a:extLst>
                <a:ext uri="{909E8E84-426E-40DD-AFC4-6F175D3DCCD1}">
                  <a14:hiddenFill xmlns:a14="http://schemas.microsoft.com/office/drawing/2010/main">
                    <a:noFill/>
                  </a14:hiddenFill>
                </a:ext>
              </a:extLst>
            </p:spPr>
          </p:cxnSp>
          <p:graphicFrame>
            <p:nvGraphicFramePr>
              <p:cNvPr id="52" name="Object 40">
                <a:extLst>
                  <a:ext uri="{FF2B5EF4-FFF2-40B4-BE49-F238E27FC236}">
                    <a16:creationId xmlns:a16="http://schemas.microsoft.com/office/drawing/2014/main" id="{9342D3BD-F8F8-43EC-BAAE-7A02F7EAE2F7}"/>
                  </a:ext>
                </a:extLst>
              </p:cNvPr>
              <p:cNvGraphicFramePr>
                <a:graphicFrameLocks noChangeAspect="1"/>
              </p:cNvGraphicFramePr>
              <p:nvPr/>
            </p:nvGraphicFramePr>
            <p:xfrm>
              <a:off x="748684" y="2934456"/>
              <a:ext cx="354643" cy="365957"/>
            </p:xfrm>
            <a:graphic>
              <a:graphicData uri="http://schemas.openxmlformats.org/presentationml/2006/ole">
                <mc:AlternateContent xmlns:mc="http://schemas.openxmlformats.org/markup-compatibility/2006">
                  <mc:Choice xmlns:v="urn:schemas-microsoft-com:vml" Requires="v">
                    <p:oleObj spid="_x0000_s189864" r:id="rId31" imgW="229797" imgH="229797" progId="">
                      <p:embed/>
                    </p:oleObj>
                  </mc:Choice>
                  <mc:Fallback>
                    <p:oleObj r:id="rId31" imgW="229797" imgH="229797" progId="">
                      <p:embed/>
                      <p:pic>
                        <p:nvPicPr>
                          <p:cNvPr id="52" name="Object 40">
                            <a:extLst>
                              <a:ext uri="{FF2B5EF4-FFF2-40B4-BE49-F238E27FC236}">
                                <a16:creationId xmlns:a16="http://schemas.microsoft.com/office/drawing/2014/main" id="{9342D3BD-F8F8-43EC-BAAE-7A02F7EAE2F7}"/>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48684" y="2934456"/>
                            <a:ext cx="354643" cy="365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53" name="直接连接符 93">
                <a:extLst>
                  <a:ext uri="{FF2B5EF4-FFF2-40B4-BE49-F238E27FC236}">
                    <a16:creationId xmlns:a16="http://schemas.microsoft.com/office/drawing/2014/main" id="{C753A9B0-508A-4B87-9E71-C1150333D4A0}"/>
                  </a:ext>
                </a:extLst>
              </p:cNvPr>
              <p:cNvCxnSpPr>
                <a:cxnSpLocks noChangeShapeType="1"/>
              </p:cNvCxnSpPr>
              <p:nvPr/>
            </p:nvCxnSpPr>
            <p:spPr bwMode="auto">
              <a:xfrm>
                <a:off x="0" y="1550988"/>
                <a:ext cx="928697" cy="1587"/>
              </a:xfrm>
              <a:prstGeom prst="line">
                <a:avLst/>
              </a:prstGeom>
              <a:noFill/>
              <a:ln w="9525">
                <a:solidFill>
                  <a:srgbClr val="404040"/>
                </a:solidFill>
                <a:prstDash val="dash"/>
                <a:round/>
                <a:headEnd/>
                <a:tailEnd/>
              </a:ln>
              <a:extLst>
                <a:ext uri="{909E8E84-426E-40DD-AFC4-6F175D3DCCD1}">
                  <a14:hiddenFill xmlns:a14="http://schemas.microsoft.com/office/drawing/2010/main">
                    <a:noFill/>
                  </a14:hiddenFill>
                </a:ext>
              </a:extLst>
            </p:spPr>
          </p:cxnSp>
        </p:grpSp>
      </p:grpSp>
      <p:cxnSp>
        <p:nvCxnSpPr>
          <p:cNvPr id="54" name="直接箭头连接符 35">
            <a:extLst>
              <a:ext uri="{FF2B5EF4-FFF2-40B4-BE49-F238E27FC236}">
                <a16:creationId xmlns:a16="http://schemas.microsoft.com/office/drawing/2014/main" id="{7935D765-5F4B-40EE-B822-016973A362B5}"/>
              </a:ext>
            </a:extLst>
          </p:cNvPr>
          <p:cNvCxnSpPr>
            <a:cxnSpLocks noChangeShapeType="1"/>
          </p:cNvCxnSpPr>
          <p:nvPr/>
        </p:nvCxnSpPr>
        <p:spPr bwMode="auto">
          <a:xfrm>
            <a:off x="2941211" y="3948922"/>
            <a:ext cx="238125" cy="444500"/>
          </a:xfrm>
          <a:prstGeom prst="straightConnector1">
            <a:avLst/>
          </a:prstGeom>
          <a:noFill/>
          <a:ln w="25400">
            <a:solidFill>
              <a:srgbClr val="A7C804"/>
            </a:solidFill>
            <a:round/>
            <a:headEnd/>
            <a:tailEnd type="stealth" w="med" len="lg"/>
          </a:ln>
          <a:effectLst>
            <a:outerShdw dist="20000" dir="5400000" algn="ctr" rotWithShape="0">
              <a:srgbClr val="000000">
                <a:alpha val="31998"/>
              </a:srgbClr>
            </a:outerShdw>
          </a:effectLst>
          <a:extLst>
            <a:ext uri="{909E8E84-426E-40DD-AFC4-6F175D3DCCD1}">
              <a14:hiddenFill xmlns:a14="http://schemas.microsoft.com/office/drawing/2010/main">
                <a:noFill/>
              </a14:hiddenFill>
            </a:ext>
          </a:extLst>
        </p:spPr>
      </p:cxnSp>
      <p:sp>
        <p:nvSpPr>
          <p:cNvPr id="55" name="矩形 5">
            <a:extLst>
              <a:ext uri="{FF2B5EF4-FFF2-40B4-BE49-F238E27FC236}">
                <a16:creationId xmlns:a16="http://schemas.microsoft.com/office/drawing/2014/main" id="{871A96D0-94A9-4086-ACB5-31CFC778F28F}"/>
              </a:ext>
            </a:extLst>
          </p:cNvPr>
          <p:cNvSpPr>
            <a:spLocks noChangeArrowheads="1"/>
          </p:cNvSpPr>
          <p:nvPr/>
        </p:nvSpPr>
        <p:spPr bwMode="auto">
          <a:xfrm>
            <a:off x="2299861" y="2843229"/>
            <a:ext cx="77457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1000" spc="150" dirty="0">
                <a:solidFill>
                  <a:srgbClr val="000000"/>
                </a:solidFill>
                <a:latin typeface="微软雅黑" panose="020B0503020204020204" pitchFamily="34" charset="-122"/>
                <a:ea typeface="微软雅黑" panose="020B0503020204020204" pitchFamily="34" charset="-122"/>
              </a:rPr>
              <a:t>需求增加</a:t>
            </a:r>
          </a:p>
        </p:txBody>
      </p:sp>
      <p:sp>
        <p:nvSpPr>
          <p:cNvPr id="56" name="矩形 52">
            <a:extLst>
              <a:ext uri="{FF2B5EF4-FFF2-40B4-BE49-F238E27FC236}">
                <a16:creationId xmlns:a16="http://schemas.microsoft.com/office/drawing/2014/main" id="{EF4DBAE0-EA37-47A2-88E3-BBC486CF2CF4}"/>
              </a:ext>
            </a:extLst>
          </p:cNvPr>
          <p:cNvSpPr>
            <a:spLocks noChangeArrowheads="1"/>
          </p:cNvSpPr>
          <p:nvPr/>
        </p:nvSpPr>
        <p:spPr bwMode="auto">
          <a:xfrm>
            <a:off x="1552149" y="2843229"/>
            <a:ext cx="77457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1000" spc="150" dirty="0">
                <a:solidFill>
                  <a:srgbClr val="000000"/>
                </a:solidFill>
                <a:latin typeface="微软雅黑" panose="020B0503020204020204" pitchFamily="34" charset="-122"/>
                <a:ea typeface="微软雅黑" panose="020B0503020204020204" pitchFamily="34" charset="-122"/>
              </a:rPr>
              <a:t>需求减少</a:t>
            </a:r>
          </a:p>
        </p:txBody>
      </p:sp>
      <p:sp>
        <p:nvSpPr>
          <p:cNvPr id="57" name="矩形 53">
            <a:extLst>
              <a:ext uri="{FF2B5EF4-FFF2-40B4-BE49-F238E27FC236}">
                <a16:creationId xmlns:a16="http://schemas.microsoft.com/office/drawing/2014/main" id="{8C7E3663-9674-428D-A927-73FBD3914847}"/>
              </a:ext>
            </a:extLst>
          </p:cNvPr>
          <p:cNvSpPr>
            <a:spLocks noChangeArrowheads="1"/>
          </p:cNvSpPr>
          <p:nvPr/>
        </p:nvSpPr>
        <p:spPr bwMode="auto">
          <a:xfrm rot="3313330">
            <a:off x="2856425" y="3944079"/>
            <a:ext cx="92204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000" spc="150" dirty="0">
                <a:solidFill>
                  <a:srgbClr val="000000"/>
                </a:solidFill>
                <a:latin typeface="微软雅黑" panose="020B0503020204020204" pitchFamily="34" charset="-122"/>
                <a:ea typeface="微软雅黑" panose="020B0503020204020204" pitchFamily="34" charset="-122"/>
              </a:rPr>
              <a:t>需求量增加</a:t>
            </a:r>
          </a:p>
        </p:txBody>
      </p:sp>
      <p:sp>
        <p:nvSpPr>
          <p:cNvPr id="4" name="矩形 3">
            <a:extLst>
              <a:ext uri="{FF2B5EF4-FFF2-40B4-BE49-F238E27FC236}">
                <a16:creationId xmlns:a16="http://schemas.microsoft.com/office/drawing/2014/main" id="{D2162600-114A-4C05-A7A2-48990CE89835}"/>
              </a:ext>
            </a:extLst>
          </p:cNvPr>
          <p:cNvSpPr/>
          <p:nvPr/>
        </p:nvSpPr>
        <p:spPr>
          <a:xfrm>
            <a:off x="4398795" y="2242360"/>
            <a:ext cx="4183174" cy="1289905"/>
          </a:xfrm>
          <a:prstGeom prst="rect">
            <a:avLst/>
          </a:prstGeom>
          <a:noFill/>
        </p:spPr>
        <p:txBody>
          <a:bodyPr wrap="square">
            <a:spAutoFit/>
          </a:bodyPr>
          <a:lstStyle/>
          <a:p>
            <a:pPr marL="285750" indent="-285750">
              <a:lnSpc>
                <a:spcPct val="150000"/>
              </a:lnSpc>
              <a:spcBef>
                <a:spcPct val="0"/>
              </a:spcBef>
              <a:buFont typeface="Wingdings" panose="05000000000000000000" pitchFamily="2" charset="2"/>
              <a:buChar char="Ø"/>
            </a:pPr>
            <a:r>
              <a:rPr lang="en-US" altLang="zh-CN" spc="150" dirty="0">
                <a:solidFill>
                  <a:srgbClr val="000000"/>
                </a:solidFill>
                <a:latin typeface="微软雅黑" panose="020B0503020204020204" pitchFamily="34" charset="-122"/>
                <a:ea typeface="微软雅黑" panose="020B0503020204020204" pitchFamily="34" charset="-122"/>
              </a:rPr>
              <a:t>D</a:t>
            </a:r>
            <a:r>
              <a:rPr lang="en-US" altLang="zh-CN" spc="150" baseline="-25000" dirty="0">
                <a:solidFill>
                  <a:srgbClr val="000000"/>
                </a:solidFill>
                <a:latin typeface="微软雅黑" panose="020B0503020204020204" pitchFamily="34" charset="-122"/>
                <a:ea typeface="微软雅黑" panose="020B0503020204020204" pitchFamily="34" charset="-122"/>
              </a:rPr>
              <a:t>1</a:t>
            </a:r>
            <a:r>
              <a:rPr lang="zh-CN" altLang="en-US" spc="150" dirty="0">
                <a:solidFill>
                  <a:srgbClr val="000000"/>
                </a:solidFill>
                <a:latin typeface="微软雅黑" panose="020B0503020204020204" pitchFamily="34" charset="-122"/>
                <a:ea typeface="微软雅黑" panose="020B0503020204020204" pitchFamily="34" charset="-122"/>
              </a:rPr>
              <a:t>表示月收入为</a:t>
            </a:r>
            <a:r>
              <a:rPr lang="en-US" altLang="zh-CN" spc="150" dirty="0">
                <a:solidFill>
                  <a:srgbClr val="000000"/>
                </a:solidFill>
                <a:latin typeface="微软雅黑" panose="020B0503020204020204" pitchFamily="34" charset="-122"/>
                <a:ea typeface="微软雅黑" panose="020B0503020204020204" pitchFamily="34" charset="-122"/>
              </a:rPr>
              <a:t>4000</a:t>
            </a:r>
            <a:r>
              <a:rPr lang="zh-CN" altLang="en-US" spc="150" dirty="0">
                <a:solidFill>
                  <a:srgbClr val="000000"/>
                </a:solidFill>
                <a:latin typeface="微软雅黑" panose="020B0503020204020204" pitchFamily="34" charset="-122"/>
                <a:ea typeface="微软雅黑" panose="020B0503020204020204" pitchFamily="34" charset="-122"/>
              </a:rPr>
              <a:t>元时的需求</a:t>
            </a:r>
            <a:endParaRPr lang="en-US" altLang="zh-CN" spc="150" dirty="0">
              <a:solidFill>
                <a:srgbClr val="000000"/>
              </a:solidFill>
              <a:latin typeface="微软雅黑" panose="020B0503020204020204" pitchFamily="34" charset="-122"/>
              <a:ea typeface="微软雅黑" panose="020B0503020204020204" pitchFamily="34" charset="-122"/>
            </a:endParaRPr>
          </a:p>
          <a:p>
            <a:pPr marL="285750" indent="-285750">
              <a:lnSpc>
                <a:spcPct val="150000"/>
              </a:lnSpc>
              <a:spcBef>
                <a:spcPct val="0"/>
              </a:spcBef>
              <a:buFont typeface="Wingdings" panose="05000000000000000000" pitchFamily="2" charset="2"/>
              <a:buChar char="Ø"/>
            </a:pPr>
            <a:r>
              <a:rPr lang="en-US" altLang="zh-CN" spc="150" dirty="0">
                <a:solidFill>
                  <a:srgbClr val="000000"/>
                </a:solidFill>
                <a:latin typeface="微软雅黑" panose="020B0503020204020204" pitchFamily="34" charset="-122"/>
                <a:ea typeface="微软雅黑" panose="020B0503020204020204" pitchFamily="34" charset="-122"/>
              </a:rPr>
              <a:t>D</a:t>
            </a:r>
            <a:r>
              <a:rPr lang="en-US" altLang="zh-CN" spc="150" baseline="-25000" dirty="0">
                <a:solidFill>
                  <a:srgbClr val="000000"/>
                </a:solidFill>
                <a:latin typeface="微软雅黑" panose="020B0503020204020204" pitchFamily="34" charset="-122"/>
                <a:ea typeface="微软雅黑" panose="020B0503020204020204" pitchFamily="34" charset="-122"/>
              </a:rPr>
              <a:t>2</a:t>
            </a:r>
            <a:r>
              <a:rPr lang="zh-CN" altLang="en-US" spc="150" dirty="0">
                <a:solidFill>
                  <a:srgbClr val="000000"/>
                </a:solidFill>
                <a:latin typeface="微软雅黑" panose="020B0503020204020204" pitchFamily="34" charset="-122"/>
                <a:ea typeface="微软雅黑" panose="020B0503020204020204" pitchFamily="34" charset="-122"/>
              </a:rPr>
              <a:t>表示月收入为</a:t>
            </a:r>
            <a:r>
              <a:rPr lang="en-US" altLang="zh-CN" spc="150" dirty="0">
                <a:solidFill>
                  <a:srgbClr val="000000"/>
                </a:solidFill>
                <a:latin typeface="微软雅黑" panose="020B0503020204020204" pitchFamily="34" charset="-122"/>
                <a:ea typeface="微软雅黑" panose="020B0503020204020204" pitchFamily="34" charset="-122"/>
              </a:rPr>
              <a:t>5000</a:t>
            </a:r>
            <a:r>
              <a:rPr lang="zh-CN" altLang="en-US" spc="150" dirty="0">
                <a:solidFill>
                  <a:srgbClr val="000000"/>
                </a:solidFill>
                <a:latin typeface="微软雅黑" panose="020B0503020204020204" pitchFamily="34" charset="-122"/>
                <a:ea typeface="微软雅黑" panose="020B0503020204020204" pitchFamily="34" charset="-122"/>
              </a:rPr>
              <a:t>元时的需求</a:t>
            </a:r>
            <a:endParaRPr lang="en-US" altLang="zh-CN" spc="150" dirty="0">
              <a:solidFill>
                <a:srgbClr val="000000"/>
              </a:solidFill>
              <a:latin typeface="微软雅黑" panose="020B0503020204020204" pitchFamily="34" charset="-122"/>
              <a:ea typeface="微软雅黑" panose="020B0503020204020204" pitchFamily="34" charset="-122"/>
            </a:endParaRPr>
          </a:p>
          <a:p>
            <a:pPr marL="285750" indent="-285750">
              <a:lnSpc>
                <a:spcPct val="150000"/>
              </a:lnSpc>
              <a:spcBef>
                <a:spcPct val="0"/>
              </a:spcBef>
              <a:buFont typeface="Wingdings" panose="05000000000000000000" pitchFamily="2" charset="2"/>
              <a:buChar char="Ø"/>
            </a:pPr>
            <a:r>
              <a:rPr lang="en-US" altLang="zh-CN" spc="150" dirty="0">
                <a:solidFill>
                  <a:srgbClr val="000000"/>
                </a:solidFill>
                <a:latin typeface="微软雅黑" panose="020B0503020204020204" pitchFamily="34" charset="-122"/>
                <a:ea typeface="微软雅黑" panose="020B0503020204020204" pitchFamily="34" charset="-122"/>
              </a:rPr>
              <a:t>D</a:t>
            </a:r>
            <a:r>
              <a:rPr lang="en-US" altLang="zh-CN" spc="150" baseline="-25000" dirty="0">
                <a:solidFill>
                  <a:srgbClr val="000000"/>
                </a:solidFill>
                <a:latin typeface="微软雅黑" panose="020B0503020204020204" pitchFamily="34" charset="-122"/>
                <a:ea typeface="微软雅黑" panose="020B0503020204020204" pitchFamily="34" charset="-122"/>
              </a:rPr>
              <a:t>3</a:t>
            </a:r>
            <a:r>
              <a:rPr lang="zh-CN" altLang="en-US" spc="150" dirty="0">
                <a:solidFill>
                  <a:srgbClr val="000000"/>
                </a:solidFill>
                <a:latin typeface="微软雅黑" panose="020B0503020204020204" pitchFamily="34" charset="-122"/>
                <a:ea typeface="微软雅黑" panose="020B0503020204020204" pitchFamily="34" charset="-122"/>
              </a:rPr>
              <a:t>表示月收入为</a:t>
            </a:r>
            <a:r>
              <a:rPr lang="en-US" altLang="zh-CN" spc="150" dirty="0">
                <a:solidFill>
                  <a:srgbClr val="000000"/>
                </a:solidFill>
                <a:latin typeface="微软雅黑" panose="020B0503020204020204" pitchFamily="34" charset="-122"/>
                <a:ea typeface="微软雅黑" panose="020B0503020204020204" pitchFamily="34" charset="-122"/>
              </a:rPr>
              <a:t>3000</a:t>
            </a:r>
            <a:r>
              <a:rPr lang="zh-CN" altLang="en-US" spc="150" dirty="0">
                <a:solidFill>
                  <a:srgbClr val="000000"/>
                </a:solidFill>
                <a:latin typeface="微软雅黑" panose="020B0503020204020204" pitchFamily="34" charset="-122"/>
                <a:ea typeface="微软雅黑" panose="020B0503020204020204" pitchFamily="34" charset="-122"/>
              </a:rPr>
              <a:t>元时的需求</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58" name="KSO_Shape">
            <a:hlinkClick r:id="rId33" action="ppaction://hlinksldjump"/>
            <a:extLst>
              <a:ext uri="{FF2B5EF4-FFF2-40B4-BE49-F238E27FC236}">
                <a16:creationId xmlns:a16="http://schemas.microsoft.com/office/drawing/2014/main" id="{16BDAC62-68F9-45CC-B784-8D5363C35381}"/>
              </a:ext>
            </a:extLst>
          </p:cNvPr>
          <p:cNvSpPr/>
          <p:nvPr/>
        </p:nvSpPr>
        <p:spPr>
          <a:xfrm>
            <a:off x="5588950" y="4719638"/>
            <a:ext cx="888762" cy="353695"/>
          </a:xfrm>
          <a:prstGeom prst="roundRect">
            <a:avLst/>
          </a:prstGeom>
          <a:solidFill>
            <a:srgbClr val="BB152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dirty="0"/>
              <a:t>返回</a:t>
            </a:r>
          </a:p>
        </p:txBody>
      </p:sp>
    </p:spTree>
    <p:extLst>
      <p:ext uri="{BB962C8B-B14F-4D97-AF65-F5344CB8AC3E}">
        <p14:creationId xmlns:p14="http://schemas.microsoft.com/office/powerpoint/2010/main" val="4162540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0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54"/>
                                        </p:tgtEl>
                                        <p:attrNameLst>
                                          <p:attrName>style.visibility</p:attrName>
                                        </p:attrNameLst>
                                      </p:cBhvr>
                                      <p:to>
                                        <p:strVal val="visible"/>
                                      </p:to>
                                    </p:set>
                                    <p:animEffect transition="in" filter="wipe(down)">
                                      <p:cBhvr>
                                        <p:cTn id="15" dur="500"/>
                                        <p:tgtEl>
                                          <p:spTgt spid="54"/>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20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randombar(horizontal)">
                                      <p:cBhvr>
                                        <p:cTn id="23" dur="500"/>
                                        <p:tgtEl>
                                          <p:spTgt spid="6"/>
                                        </p:tgtEl>
                                      </p:cBhvr>
                                    </p:animEffec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wipe(left)">
                                      <p:cBhvr>
                                        <p:cTn id="27" dur="500"/>
                                        <p:tgtEl>
                                          <p:spTgt spid="4">
                                            <p:txEl>
                                              <p:pRg st="0" end="0"/>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7"/>
                                        </p:tgtEl>
                                        <p:attrNameLst>
                                          <p:attrName>style.visibility</p:attrName>
                                        </p:attrNameLst>
                                      </p:cBhvr>
                                      <p:to>
                                        <p:strVal val="visible"/>
                                      </p:to>
                                    </p:set>
                                    <p:animEffect transition="in" filter="fade">
                                      <p:cBhvr>
                                        <p:cTn id="30" dur="500"/>
                                        <p:tgtEl>
                                          <p:spTgt spid="57"/>
                                        </p:tgtEl>
                                      </p:cBhvr>
                                    </p:animEffect>
                                  </p:childTnLst>
                                </p:cTn>
                              </p:par>
                              <p:par>
                                <p:cTn id="31" presetID="1" presetClass="exit" presetSubtype="0" fill="hold" grpId="1" nodeType="withEffect">
                                  <p:stCondLst>
                                    <p:cond delay="0"/>
                                  </p:stCondLst>
                                  <p:childTnLst>
                                    <p:set>
                                      <p:cBhvr>
                                        <p:cTn id="32" dur="1" fill="hold">
                                          <p:stCondLst>
                                            <p:cond delay="1999"/>
                                          </p:stCondLst>
                                        </p:cTn>
                                        <p:tgtEl>
                                          <p:spTgt spid="5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blinds(horizontal)">
                                      <p:cBhvr>
                                        <p:cTn id="37" dur="500"/>
                                        <p:tgtEl>
                                          <p:spTgt spid="3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5"/>
                                        </p:tgtEl>
                                        <p:attrNameLst>
                                          <p:attrName>style.visibility</p:attrName>
                                        </p:attrNameLst>
                                      </p:cBhvr>
                                      <p:to>
                                        <p:strVal val="visible"/>
                                      </p:to>
                                    </p:set>
                                    <p:animEffect transition="in" filter="fade">
                                      <p:cBhvr>
                                        <p:cTn id="40" dur="500"/>
                                        <p:tgtEl>
                                          <p:spTgt spid="55"/>
                                        </p:tgtEl>
                                      </p:cBhvr>
                                    </p:animEffect>
                                  </p:childTnLst>
                                </p:cTn>
                              </p:par>
                            </p:childTnLst>
                          </p:cTn>
                        </p:par>
                        <p:par>
                          <p:cTn id="41" fill="hold">
                            <p:stCondLst>
                              <p:cond delay="500"/>
                            </p:stCondLst>
                            <p:childTnLst>
                              <p:par>
                                <p:cTn id="42" presetID="10" presetClass="entr" presetSubtype="0" fill="hold" nodeType="afterEffect">
                                  <p:stCondLst>
                                    <p:cond delay="1000"/>
                                  </p:stCondLst>
                                  <p:childTnLst>
                                    <p:set>
                                      <p:cBhvr>
                                        <p:cTn id="43" dur="1" fill="hold">
                                          <p:stCondLst>
                                            <p:cond delay="0"/>
                                          </p:stCondLst>
                                        </p:cTn>
                                        <p:tgtEl>
                                          <p:spTgt spid="37"/>
                                        </p:tgtEl>
                                        <p:attrNameLst>
                                          <p:attrName>style.visibility</p:attrName>
                                        </p:attrNameLst>
                                      </p:cBhvr>
                                      <p:to>
                                        <p:strVal val="visible"/>
                                      </p:to>
                                    </p:set>
                                    <p:animEffect transition="in" filter="fade">
                                      <p:cBhvr>
                                        <p:cTn id="44" dur="2000"/>
                                        <p:tgtEl>
                                          <p:spTgt spid="37"/>
                                        </p:tgtEl>
                                      </p:cBhvr>
                                    </p:animEffect>
                                  </p:childTnLst>
                                </p:cTn>
                              </p:par>
                            </p:childTnLst>
                          </p:cTn>
                        </p:par>
                        <p:par>
                          <p:cTn id="45" fill="hold">
                            <p:stCondLst>
                              <p:cond delay="3500"/>
                            </p:stCondLst>
                            <p:childTnLst>
                              <p:par>
                                <p:cTn id="46" presetID="22" presetClass="entr" presetSubtype="8" fill="hold" nodeType="afterEffect">
                                  <p:stCondLst>
                                    <p:cond delay="0"/>
                                  </p:stCondLst>
                                  <p:childTnLst>
                                    <p:set>
                                      <p:cBhvr>
                                        <p:cTn id="47" dur="1" fill="hold">
                                          <p:stCondLst>
                                            <p:cond delay="0"/>
                                          </p:stCondLst>
                                        </p:cTn>
                                        <p:tgtEl>
                                          <p:spTgt spid="4">
                                            <p:txEl>
                                              <p:pRg st="1" end="1"/>
                                            </p:txEl>
                                          </p:spTgt>
                                        </p:tgtEl>
                                        <p:attrNameLst>
                                          <p:attrName>style.visibility</p:attrName>
                                        </p:attrNameLst>
                                      </p:cBhvr>
                                      <p:to>
                                        <p:strVal val="visible"/>
                                      </p:to>
                                    </p:set>
                                    <p:animEffect transition="in" filter="wipe(left)">
                                      <p:cBhvr>
                                        <p:cTn id="48" dur="500"/>
                                        <p:tgtEl>
                                          <p:spTgt spid="4">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xit" presetSubtype="0" fill="hold" nodeType="clickEffect">
                                  <p:stCondLst>
                                    <p:cond delay="0"/>
                                  </p:stCondLst>
                                  <p:childTnLst>
                                    <p:animEffect transition="out" filter="fade">
                                      <p:cBhvr>
                                        <p:cTn id="52" dur="2000"/>
                                        <p:tgtEl>
                                          <p:spTgt spid="23"/>
                                        </p:tgtEl>
                                      </p:cBhvr>
                                    </p:animEffect>
                                    <p:set>
                                      <p:cBhvr>
                                        <p:cTn id="53" dur="1" fill="hold">
                                          <p:stCondLst>
                                            <p:cond delay="1999"/>
                                          </p:stCondLst>
                                        </p:cTn>
                                        <p:tgtEl>
                                          <p:spTgt spid="23"/>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55" dur="2000"/>
                                        <p:tgtEl>
                                          <p:spTgt spid="36"/>
                                        </p:tgtEl>
                                      </p:cBhvr>
                                    </p:animEffect>
                                    <p:set>
                                      <p:cBhvr>
                                        <p:cTn id="56" dur="1" fill="hold">
                                          <p:stCondLst>
                                            <p:cond delay="1999"/>
                                          </p:stCondLst>
                                        </p:cTn>
                                        <p:tgtEl>
                                          <p:spTgt spid="36"/>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1999"/>
                                          </p:stCondLst>
                                        </p:cTn>
                                        <p:tgtEl>
                                          <p:spTgt spid="55"/>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2000"/>
                                        <p:tgtEl>
                                          <p:spTgt spid="23"/>
                                        </p:tgtEl>
                                      </p:cBhvr>
                                    </p:animEffect>
                                  </p:childTnLst>
                                </p:cTn>
                              </p:par>
                              <p:par>
                                <p:cTn id="64" presetID="10" presetClass="exit" presetSubtype="0" fill="hold" nodeType="withEffect">
                                  <p:stCondLst>
                                    <p:cond delay="0"/>
                                  </p:stCondLst>
                                  <p:childTnLst>
                                    <p:animEffect transition="out" filter="fade">
                                      <p:cBhvr>
                                        <p:cTn id="65" dur="2000"/>
                                        <p:tgtEl>
                                          <p:spTgt spid="37"/>
                                        </p:tgtEl>
                                      </p:cBhvr>
                                    </p:animEffect>
                                    <p:set>
                                      <p:cBhvr>
                                        <p:cTn id="66" dur="1" fill="hold">
                                          <p:stCondLst>
                                            <p:cond delay="1999"/>
                                          </p:stCondLst>
                                        </p:cTn>
                                        <p:tgtEl>
                                          <p:spTgt spid="37"/>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46"/>
                                        </p:tgtEl>
                                        <p:attrNameLst>
                                          <p:attrName>style.visibility</p:attrName>
                                        </p:attrNameLst>
                                      </p:cBhvr>
                                      <p:to>
                                        <p:strVal val="visible"/>
                                      </p:to>
                                    </p:set>
                                    <p:animEffect transition="in" filter="fade">
                                      <p:cBhvr>
                                        <p:cTn id="71" dur="2000"/>
                                        <p:tgtEl>
                                          <p:spTgt spid="4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56"/>
                                        </p:tgtEl>
                                        <p:attrNameLst>
                                          <p:attrName>style.visibility</p:attrName>
                                        </p:attrNameLst>
                                      </p:cBhvr>
                                      <p:to>
                                        <p:strVal val="visible"/>
                                      </p:to>
                                    </p:set>
                                    <p:animEffect transition="in" filter="fade">
                                      <p:cBhvr>
                                        <p:cTn id="74" dur="500"/>
                                        <p:tgtEl>
                                          <p:spTgt spid="56"/>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fade">
                                      <p:cBhvr>
                                        <p:cTn id="79" dur="2000"/>
                                        <p:tgtEl>
                                          <p:spTgt spid="47"/>
                                        </p:tgtEl>
                                      </p:cBhvr>
                                    </p:animEffect>
                                  </p:childTnLst>
                                </p:cTn>
                              </p:par>
                              <p:par>
                                <p:cTn id="80" presetID="22" presetClass="entr" presetSubtype="8" fill="hold" nodeType="withEffect">
                                  <p:stCondLst>
                                    <p:cond delay="0"/>
                                  </p:stCondLst>
                                  <p:childTnLst>
                                    <p:set>
                                      <p:cBhvr>
                                        <p:cTn id="81" dur="1" fill="hold">
                                          <p:stCondLst>
                                            <p:cond delay="0"/>
                                          </p:stCondLst>
                                        </p:cTn>
                                        <p:tgtEl>
                                          <p:spTgt spid="4">
                                            <p:txEl>
                                              <p:pRg st="2" end="2"/>
                                            </p:txEl>
                                          </p:spTgt>
                                        </p:tgtEl>
                                        <p:attrNameLst>
                                          <p:attrName>style.visibility</p:attrName>
                                        </p:attrNameLst>
                                      </p:cBhvr>
                                      <p:to>
                                        <p:strVal val="visible"/>
                                      </p:to>
                                    </p:set>
                                    <p:animEffect transition="in" filter="wipe(left)">
                                      <p:cBhvr>
                                        <p:cTn id="82" dur="500"/>
                                        <p:tgtEl>
                                          <p:spTgt spid="4">
                                            <p:txEl>
                                              <p:pRg st="2" end="2"/>
                                            </p:txEl>
                                          </p:spTgt>
                                        </p:tgtEl>
                                      </p:cBhvr>
                                    </p:animEffect>
                                  </p:childTnLst>
                                </p:cTn>
                              </p:par>
                              <p:par>
                                <p:cTn id="83" presetID="10" presetClass="exit" presetSubtype="0" fill="hold" nodeType="withEffect">
                                  <p:stCondLst>
                                    <p:cond delay="0"/>
                                  </p:stCondLst>
                                  <p:childTnLst>
                                    <p:animEffect transition="out" filter="fade">
                                      <p:cBhvr>
                                        <p:cTn id="84" dur="2000"/>
                                        <p:tgtEl>
                                          <p:spTgt spid="23"/>
                                        </p:tgtEl>
                                      </p:cBhvr>
                                    </p:animEffect>
                                    <p:set>
                                      <p:cBhvr>
                                        <p:cTn id="85" dur="1" fill="hold">
                                          <p:stCondLst>
                                            <p:cond delay="1999"/>
                                          </p:stCondLst>
                                        </p:cTn>
                                        <p:tgtEl>
                                          <p:spTgt spid="23"/>
                                        </p:tgtEl>
                                        <p:attrNameLst>
                                          <p:attrName>style.visibility</p:attrName>
                                        </p:attrNameLst>
                                      </p:cBhvr>
                                      <p:to>
                                        <p:strVal val="hidden"/>
                                      </p:to>
                                    </p:set>
                                  </p:childTnLst>
                                </p:cTn>
                              </p:par>
                              <p:par>
                                <p:cTn id="86" presetID="10" presetClass="exit" presetSubtype="0" fill="hold" nodeType="withEffect">
                                  <p:stCondLst>
                                    <p:cond delay="0"/>
                                  </p:stCondLst>
                                  <p:childTnLst>
                                    <p:animEffect transition="out" filter="fade">
                                      <p:cBhvr>
                                        <p:cTn id="87" dur="2000"/>
                                        <p:tgtEl>
                                          <p:spTgt spid="46"/>
                                        </p:tgtEl>
                                      </p:cBhvr>
                                    </p:animEffect>
                                    <p:set>
                                      <p:cBhvr>
                                        <p:cTn id="88" dur="1" fill="hold">
                                          <p:stCondLst>
                                            <p:cond delay="1999"/>
                                          </p:stCondLst>
                                        </p:cTn>
                                        <p:tgtEl>
                                          <p:spTgt spid="46"/>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1999"/>
                                          </p:stCondLst>
                                        </p:cTn>
                                        <p:tgtEl>
                                          <p:spTgt spid="5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5" grpId="0"/>
      <p:bldP spid="55" grpId="1"/>
      <p:bldP spid="56" grpId="0"/>
      <p:bldP spid="56" grpId="1"/>
      <p:bldP spid="57" grpId="0"/>
      <p:bldP spid="57"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B2EA9F08-0383-4610-BF36-7A63DA4D0232}"/>
              </a:ext>
            </a:extLst>
          </p:cNvPr>
          <p:cNvSpPr/>
          <p:nvPr/>
        </p:nvSpPr>
        <p:spPr>
          <a:xfrm>
            <a:off x="638438" y="1124085"/>
            <a:ext cx="7913645" cy="793102"/>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88E64304-A318-44E5-8B2C-DCEFC99551AF}"/>
              </a:ext>
            </a:extLst>
          </p:cNvPr>
          <p:cNvSpPr/>
          <p:nvPr/>
        </p:nvSpPr>
        <p:spPr>
          <a:xfrm>
            <a:off x="7532661" y="0"/>
            <a:ext cx="1611339"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15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第一节 需求 </a:t>
            </a:r>
          </a:p>
        </p:txBody>
      </p:sp>
      <p:pic>
        <p:nvPicPr>
          <p:cNvPr id="7" name="图片 6">
            <a:extLst>
              <a:ext uri="{FF2B5EF4-FFF2-40B4-BE49-F238E27FC236}">
                <a16:creationId xmlns:a16="http://schemas.microsoft.com/office/drawing/2014/main" id="{12125B1B-7460-47D4-8409-95D4EC8D6F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66317" y="779512"/>
            <a:ext cx="1310140" cy="1310140"/>
          </a:xfrm>
          <a:prstGeom prst="rect">
            <a:avLst/>
          </a:prstGeom>
        </p:spPr>
      </p:pic>
      <p:sp>
        <p:nvSpPr>
          <p:cNvPr id="9" name="矩形 8">
            <a:extLst>
              <a:ext uri="{FF2B5EF4-FFF2-40B4-BE49-F238E27FC236}">
                <a16:creationId xmlns:a16="http://schemas.microsoft.com/office/drawing/2014/main" id="{15FA188A-3102-4A0E-8ED7-E5A7BFB5511B}"/>
              </a:ext>
            </a:extLst>
          </p:cNvPr>
          <p:cNvSpPr/>
          <p:nvPr/>
        </p:nvSpPr>
        <p:spPr>
          <a:xfrm>
            <a:off x="1246481" y="1358317"/>
            <a:ext cx="5436104" cy="343299"/>
          </a:xfrm>
          <a:prstGeom prst="rect">
            <a:avLst/>
          </a:prstGeom>
        </p:spPr>
        <p:txBody>
          <a:bodyPr wrap="none">
            <a:spAutoFit/>
          </a:bodyPr>
          <a:lstStyle/>
          <a:p>
            <a:pPr marL="285750" indent="-285750">
              <a:lnSpc>
                <a:spcPct val="80000"/>
              </a:lnSpc>
              <a:spcBef>
                <a:spcPct val="40000"/>
              </a:spcBef>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为什么要区别需求的变动与需求量的变动</a:t>
            </a:r>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p:sp>
        <p:nvSpPr>
          <p:cNvPr id="10" name="标注: 下箭头 9">
            <a:extLst>
              <a:ext uri="{FF2B5EF4-FFF2-40B4-BE49-F238E27FC236}">
                <a16:creationId xmlns:a16="http://schemas.microsoft.com/office/drawing/2014/main" id="{D466B8BB-8606-4152-BC56-D8935A6079AB}"/>
              </a:ext>
            </a:extLst>
          </p:cNvPr>
          <p:cNvSpPr/>
          <p:nvPr/>
        </p:nvSpPr>
        <p:spPr>
          <a:xfrm>
            <a:off x="638437" y="2203392"/>
            <a:ext cx="8044275" cy="1508042"/>
          </a:xfrm>
          <a:prstGeom prst="downArrowCallout">
            <a:avLst>
              <a:gd name="adj1" fmla="val 20065"/>
              <a:gd name="adj2" fmla="val 25000"/>
              <a:gd name="adj3" fmla="val 25000"/>
              <a:gd name="adj4" fmla="val 64977"/>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pc="150" dirty="0">
                <a:solidFill>
                  <a:srgbClr val="000000"/>
                </a:solidFill>
                <a:latin typeface="微软雅黑" panose="020B0503020204020204" pitchFamily="34" charset="-122"/>
                <a:ea typeface="微软雅黑" panose="020B0503020204020204" pitchFamily="34" charset="-122"/>
              </a:rPr>
              <a:t>这个区别实质上是把（自身）价格因素和非（自身）价格因素分成两类那么为什么？</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58" name="标注: 下箭头 57">
            <a:extLst>
              <a:ext uri="{FF2B5EF4-FFF2-40B4-BE49-F238E27FC236}">
                <a16:creationId xmlns:a16="http://schemas.microsoft.com/office/drawing/2014/main" id="{15CD498A-0ABB-4DD2-8811-FF06BAFBBAE9}"/>
              </a:ext>
            </a:extLst>
          </p:cNvPr>
          <p:cNvSpPr/>
          <p:nvPr/>
        </p:nvSpPr>
        <p:spPr>
          <a:xfrm>
            <a:off x="632182" y="3779015"/>
            <a:ext cx="8044275" cy="1415427"/>
          </a:xfrm>
          <a:prstGeom prst="downArrowCallout">
            <a:avLst>
              <a:gd name="adj1" fmla="val 23595"/>
              <a:gd name="adj2" fmla="val 18680"/>
              <a:gd name="adj3" fmla="val 25000"/>
              <a:gd name="adj4" fmla="val 64977"/>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spcBef>
                <a:spcPct val="40000"/>
              </a:spcBef>
            </a:pPr>
            <a:r>
              <a:rPr lang="zh-CN" altLang="en-US" spc="150" dirty="0">
                <a:solidFill>
                  <a:srgbClr val="000000"/>
                </a:solidFill>
                <a:latin typeface="微软雅黑" panose="020B0503020204020204" pitchFamily="34" charset="-122"/>
                <a:ea typeface="微软雅黑" panose="020B0503020204020204" pitchFamily="34" charset="-122"/>
              </a:rPr>
              <a:t>因为在平面坐标系里，只能直接呈现两个变量之间的关系，第三个以上  的变量只能间接表现。显然，需求量和价格之间的关系最需要直接呈现那又为什么？</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61" name="矩形 60">
            <a:extLst>
              <a:ext uri="{FF2B5EF4-FFF2-40B4-BE49-F238E27FC236}">
                <a16:creationId xmlns:a16="http://schemas.microsoft.com/office/drawing/2014/main" id="{3E1C021F-7A4D-4D09-A06C-812B99742F8B}"/>
              </a:ext>
            </a:extLst>
          </p:cNvPr>
          <p:cNvSpPr/>
          <p:nvPr/>
        </p:nvSpPr>
        <p:spPr>
          <a:xfrm>
            <a:off x="632182" y="5262023"/>
            <a:ext cx="8044275" cy="793102"/>
          </a:xfrm>
          <a:prstGeom prst="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pc="150" dirty="0">
                <a:solidFill>
                  <a:srgbClr val="FF0000"/>
                </a:solidFill>
                <a:latin typeface="微软雅黑" panose="020B0503020204020204" pitchFamily="34" charset="-122"/>
                <a:ea typeface="微软雅黑" panose="020B0503020204020204" pitchFamily="34" charset="-122"/>
              </a:rPr>
              <a:t>？因为价格与需求有关，需求又与价格有关，需要把这个关系在逻辑上理清楚</a:t>
            </a:r>
            <a:endParaRPr lang="en-US" altLang="zh-CN" spc="150" dirty="0">
              <a:solidFill>
                <a:srgbClr val="FF0000"/>
              </a:solidFill>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EB741526-0AC8-460D-9EFD-C90A662FEC53}"/>
              </a:ext>
            </a:extLst>
          </p:cNvPr>
          <p:cNvSpPr/>
          <p:nvPr/>
        </p:nvSpPr>
        <p:spPr>
          <a:xfrm>
            <a:off x="467543" y="548680"/>
            <a:ext cx="4761088"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defTabSz="914400" fontAlgn="base">
              <a:spcBef>
                <a:spcPct val="0"/>
              </a:spcBef>
              <a:spcAft>
                <a:spcPct val="0"/>
              </a:spcAft>
            </a:pPr>
            <a:r>
              <a:rPr lang="zh-CN" altLang="en-US" sz="2400" b="1" spc="150" dirty="0">
                <a:solidFill>
                  <a:srgbClr val="FFFFFF"/>
                </a:solidFill>
                <a:latin typeface="微软雅黑" panose="020B0503020204020204" pitchFamily="34" charset="-122"/>
                <a:ea typeface="微软雅黑" panose="020B0503020204020204" pitchFamily="34" charset="-122"/>
              </a:rPr>
              <a:t>四、需求的变动与需求量的变动</a:t>
            </a:r>
          </a:p>
        </p:txBody>
      </p:sp>
    </p:spTree>
    <p:extLst>
      <p:ext uri="{BB962C8B-B14F-4D97-AF65-F5344CB8AC3E}">
        <p14:creationId xmlns:p14="http://schemas.microsoft.com/office/powerpoint/2010/main" val="157965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par>
                                <p:cTn id="8" presetID="14"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left)">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up)">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58"/>
                                        </p:tgtEl>
                                        <p:attrNameLst>
                                          <p:attrName>style.visibility</p:attrName>
                                        </p:attrNameLst>
                                      </p:cBhvr>
                                      <p:to>
                                        <p:strVal val="visible"/>
                                      </p:to>
                                    </p:set>
                                    <p:animEffect transition="in" filter="wipe(up)">
                                      <p:cBhvr>
                                        <p:cTn id="24" dur="500"/>
                                        <p:tgtEl>
                                          <p:spTgt spid="5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1"/>
                                        </p:tgtEl>
                                        <p:attrNameLst>
                                          <p:attrName>style.visibility</p:attrName>
                                        </p:attrNameLst>
                                      </p:cBhvr>
                                      <p:to>
                                        <p:strVal val="visible"/>
                                      </p:to>
                                    </p:set>
                                    <p:animEffect transition="in" filter="wipe(left)">
                                      <p:cBhvr>
                                        <p:cTn id="29"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P spid="58" grpId="0" animBg="1"/>
      <p:bldP spid="6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68E5273-CD77-47B9-B841-9D29349C133D}"/>
              </a:ext>
            </a:extLst>
          </p:cNvPr>
          <p:cNvSpPr/>
          <p:nvPr/>
        </p:nvSpPr>
        <p:spPr>
          <a:xfrm>
            <a:off x="467544" y="548680"/>
            <a:ext cx="4104456"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defTabSz="914400" fontAlgn="base">
              <a:spcBef>
                <a:spcPct val="0"/>
              </a:spcBef>
              <a:spcAft>
                <a:spcPct val="0"/>
              </a:spcAft>
            </a:pPr>
            <a:r>
              <a:rPr lang="zh-CN" altLang="en-US" sz="2400" b="1" spc="150" dirty="0">
                <a:solidFill>
                  <a:srgbClr val="FFFFFF"/>
                </a:solidFill>
                <a:latin typeface="微软雅黑" panose="020B0503020204020204" pitchFamily="34" charset="-122"/>
                <a:ea typeface="微软雅黑" panose="020B0503020204020204" pitchFamily="34" charset="-122"/>
              </a:rPr>
              <a:t>五、从单个需求到市场需求</a:t>
            </a:r>
          </a:p>
        </p:txBody>
      </p:sp>
      <p:sp>
        <p:nvSpPr>
          <p:cNvPr id="15" name="矩形 14">
            <a:extLst>
              <a:ext uri="{FF2B5EF4-FFF2-40B4-BE49-F238E27FC236}">
                <a16:creationId xmlns:a16="http://schemas.microsoft.com/office/drawing/2014/main" id="{88E64304-A318-44E5-8B2C-DCEFC99551AF}"/>
              </a:ext>
            </a:extLst>
          </p:cNvPr>
          <p:cNvSpPr/>
          <p:nvPr/>
        </p:nvSpPr>
        <p:spPr>
          <a:xfrm>
            <a:off x="7532661" y="0"/>
            <a:ext cx="1611339"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15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第一节 需求 </a:t>
            </a:r>
          </a:p>
        </p:txBody>
      </p:sp>
      <p:sp>
        <p:nvSpPr>
          <p:cNvPr id="2" name="矩形 1">
            <a:extLst>
              <a:ext uri="{FF2B5EF4-FFF2-40B4-BE49-F238E27FC236}">
                <a16:creationId xmlns:a16="http://schemas.microsoft.com/office/drawing/2014/main" id="{E0A99D78-9954-4D9E-A9CD-6D00C6935420}"/>
              </a:ext>
            </a:extLst>
          </p:cNvPr>
          <p:cNvSpPr/>
          <p:nvPr/>
        </p:nvSpPr>
        <p:spPr>
          <a:xfrm>
            <a:off x="1049587" y="1320823"/>
            <a:ext cx="2192908" cy="465448"/>
          </a:xfrm>
          <a:prstGeom prst="rect">
            <a:avLst/>
          </a:prstGeom>
        </p:spPr>
        <p:txBody>
          <a:bodyPr wrap="none">
            <a:spAutoFit/>
          </a:bodyPr>
          <a:lstStyle/>
          <a:p>
            <a:pPr marL="285750" indent="-285750">
              <a:lnSpc>
                <a:spcPct val="80000"/>
              </a:lnSpc>
              <a:spcBef>
                <a:spcPct val="40000"/>
              </a:spcBef>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单个消费者的需求</a:t>
            </a:r>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DFA7F2C8-98F5-40D0-94C5-32316328066C}"/>
              </a:ext>
            </a:extLst>
          </p:cNvPr>
          <p:cNvSpPr/>
          <p:nvPr/>
        </p:nvSpPr>
        <p:spPr>
          <a:xfrm>
            <a:off x="1351111" y="1805323"/>
            <a:ext cx="4754828" cy="338554"/>
          </a:xfrm>
          <a:prstGeom prst="rect">
            <a:avLst/>
          </a:prstGeom>
        </p:spPr>
        <p:txBody>
          <a:bodyPr wrap="none">
            <a:spAutoFit/>
          </a:bodyPr>
          <a:lstStyle/>
          <a:p>
            <a:pPr marL="342900" indent="-342900">
              <a:lnSpc>
                <a:spcPct val="80000"/>
              </a:lnSpc>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某个消费者（如</a:t>
            </a:r>
            <a:r>
              <a:rPr lang="en-US" altLang="zh-CN" sz="2000" spc="150" dirty="0">
                <a:solidFill>
                  <a:srgbClr val="000000"/>
                </a:solidFill>
                <a:latin typeface="微软雅黑" panose="020B0503020204020204" pitchFamily="34" charset="-122"/>
                <a:ea typeface="微软雅黑" panose="020B0503020204020204" pitchFamily="34" charset="-122"/>
              </a:rPr>
              <a:t>i</a:t>
            </a:r>
            <a:r>
              <a:rPr lang="zh-CN" altLang="en-US" sz="2000" spc="150" dirty="0">
                <a:solidFill>
                  <a:srgbClr val="000000"/>
                </a:solidFill>
                <a:latin typeface="微软雅黑" panose="020B0503020204020204" pitchFamily="34" charset="-122"/>
                <a:ea typeface="微软雅黑" panose="020B0503020204020204" pitchFamily="34" charset="-122"/>
              </a:rPr>
              <a:t>）对某商品的需求</a:t>
            </a:r>
          </a:p>
        </p:txBody>
      </p:sp>
      <p:sp>
        <p:nvSpPr>
          <p:cNvPr id="13" name="矩形 12">
            <a:extLst>
              <a:ext uri="{FF2B5EF4-FFF2-40B4-BE49-F238E27FC236}">
                <a16:creationId xmlns:a16="http://schemas.microsoft.com/office/drawing/2014/main" id="{8BB6046A-2FD6-4FE6-B85B-57433D0B65A9}"/>
              </a:ext>
            </a:extLst>
          </p:cNvPr>
          <p:cNvSpPr/>
          <p:nvPr/>
        </p:nvSpPr>
        <p:spPr>
          <a:xfrm>
            <a:off x="1049587" y="3257350"/>
            <a:ext cx="2198038" cy="505523"/>
          </a:xfrm>
          <a:prstGeom prst="rect">
            <a:avLst/>
          </a:prstGeom>
        </p:spPr>
        <p:txBody>
          <a:bodyPr wrap="none">
            <a:spAutoFit/>
          </a:bodyPr>
          <a:lstStyle/>
          <a:p>
            <a:pPr marL="285750" indent="-285750">
              <a:lnSpc>
                <a:spcPct val="80000"/>
              </a:lnSpc>
              <a:spcBef>
                <a:spcPct val="40000"/>
              </a:spcBef>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商品的市场需求</a:t>
            </a:r>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03A39773-DE69-4C72-AC29-F37DB447E101}"/>
              </a:ext>
            </a:extLst>
          </p:cNvPr>
          <p:cNvSpPr/>
          <p:nvPr/>
        </p:nvSpPr>
        <p:spPr>
          <a:xfrm>
            <a:off x="1453704" y="3737105"/>
            <a:ext cx="3594254" cy="369332"/>
          </a:xfrm>
          <a:prstGeom prst="rect">
            <a:avLst/>
          </a:prstGeom>
        </p:spPr>
        <p:txBody>
          <a:bodyPr wrap="none">
            <a:spAutoFit/>
          </a:bodyPr>
          <a:lstStyle/>
          <a:p>
            <a:pPr marL="342900" indent="-342900">
              <a:lnSpc>
                <a:spcPct val="80000"/>
              </a:lnSpc>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所有消费者（∑</a:t>
            </a:r>
            <a:r>
              <a:rPr lang="en-US" altLang="zh-CN" sz="2000" spc="150" dirty="0">
                <a:solidFill>
                  <a:srgbClr val="000000"/>
                </a:solidFill>
                <a:latin typeface="微软雅黑" panose="020B0503020204020204" pitchFamily="34" charset="-122"/>
                <a:ea typeface="微软雅黑" panose="020B0503020204020204" pitchFamily="34" charset="-122"/>
              </a:rPr>
              <a:t>i</a:t>
            </a:r>
            <a:r>
              <a:rPr lang="zh-CN" altLang="en-US" sz="2000" spc="150" dirty="0">
                <a:solidFill>
                  <a:srgbClr val="000000"/>
                </a:solidFill>
                <a:latin typeface="微软雅黑" panose="020B0503020204020204" pitchFamily="34" charset="-122"/>
                <a:ea typeface="微软雅黑" panose="020B0503020204020204" pitchFamily="34" charset="-122"/>
              </a:rPr>
              <a:t>）对某商品的需求</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772817B-5D43-462F-B4D5-5E5951F388DE}"/>
                  </a:ext>
                </a:extLst>
              </p:cNvPr>
              <p:cNvSpPr txBox="1"/>
              <p:nvPr/>
            </p:nvSpPr>
            <p:spPr>
              <a:xfrm>
                <a:off x="1805852" y="2282203"/>
                <a:ext cx="2889958" cy="398442"/>
              </a:xfrm>
              <a:prstGeom prst="rect">
                <a:avLst/>
              </a:prstGeom>
              <a:noFill/>
            </p:spPr>
            <p:txBody>
              <a:bodyPr wrap="none" lIns="0" tIns="0" rIns="0" bIns="0" rtlCol="0">
                <a:spAutoFit/>
              </a:bodyPr>
              <a:lstStyle/>
              <a:p>
                <a14:m>
                  <m:oMath xmlns:m="http://schemas.openxmlformats.org/officeDocument/2006/math">
                    <m:sSubSup>
                      <m:sSubSupPr>
                        <m:ctrlPr>
                          <a:rPr lang="en-US" altLang="zh-CN" sz="24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a:latin typeface="Cambria Math" panose="02040503050406030204" pitchFamily="18" charset="0"/>
                            <a:ea typeface="Cambria Math" panose="02040503050406030204" pitchFamily="18" charset="0"/>
                            <a:cs typeface="Times New Roman" panose="02020603050405020304" pitchFamily="18" charset="0"/>
                          </a:rPr>
                          <m:t>𝑄</m:t>
                        </m:r>
                      </m:e>
                      <m:sub>
                        <m:r>
                          <a:rPr lang="en-US" altLang="zh-CN" sz="2400">
                            <a:latin typeface="Cambria Math" panose="02040503050406030204" pitchFamily="18" charset="0"/>
                            <a:ea typeface="Cambria Math" panose="02040503050406030204" pitchFamily="18" charset="0"/>
                            <a:cs typeface="Times New Roman" panose="02020603050405020304" pitchFamily="18" charset="0"/>
                          </a:rPr>
                          <m:t>𝑖</m:t>
                        </m:r>
                      </m:sub>
                      <m:sup>
                        <m:r>
                          <a:rPr lang="en-US" altLang="zh-CN" sz="2400">
                            <a:latin typeface="Cambria Math" panose="02040503050406030204" pitchFamily="18" charset="0"/>
                            <a:ea typeface="Cambria Math" panose="02040503050406030204" pitchFamily="18" charset="0"/>
                            <a:cs typeface="Times New Roman" panose="02020603050405020304" pitchFamily="18" charset="0"/>
                          </a:rPr>
                          <m:t>𝑑</m:t>
                        </m:r>
                      </m:sup>
                    </m:sSubSup>
                    <m:r>
                      <a:rPr lang="en-US" altLang="zh-CN" sz="240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ea typeface="Cambria Math" panose="02040503050406030204" pitchFamily="18" charset="0"/>
                            <a:cs typeface="Times New Roman" panose="02020603050405020304" pitchFamily="18" charset="0"/>
                          </a:rPr>
                          <m:t>𝐷</m:t>
                        </m:r>
                      </m:e>
                      <m:sub>
                        <m:r>
                          <a:rPr lang="en-US" altLang="zh-CN" sz="2400">
                            <a:latin typeface="Cambria Math" panose="02040503050406030204" pitchFamily="18" charset="0"/>
                            <a:ea typeface="Cambria Math" panose="02040503050406030204" pitchFamily="18" charset="0"/>
                            <a:cs typeface="Times New Roman" panose="02020603050405020304" pitchFamily="18" charset="0"/>
                          </a:rPr>
                          <m:t>𝑖</m:t>
                        </m:r>
                      </m:sub>
                    </m:sSub>
                  </m:oMath>
                </a14:m>
                <a:r>
                  <a:rPr lang="en-US" altLang="zh-CN" sz="2400" dirty="0">
                    <a:latin typeface="Times New Roman" panose="02020603050405020304" pitchFamily="18" charset="0"/>
                    <a:ea typeface="Cambria Math" panose="02040503050406030204" pitchFamily="18" charset="0"/>
                    <a:cs typeface="Times New Roman" panose="02020603050405020304" pitchFamily="18" charset="0"/>
                  </a:rPr>
                  <a:t>(</a:t>
                </a:r>
                <a:r>
                  <a:rPr lang="en-US" altLang="zh-CN" sz="2400" i="1" dirty="0">
                    <a:latin typeface="Times New Roman" panose="02020603050405020304" pitchFamily="18" charset="0"/>
                    <a:ea typeface="Cambria Math" panose="02040503050406030204" pitchFamily="18" charset="0"/>
                    <a:cs typeface="Times New Roman" panose="02020603050405020304" pitchFamily="18" charset="0"/>
                  </a:rPr>
                  <a:t>P</a:t>
                </a:r>
                <a:r>
                  <a:rPr lang="en-US" altLang="zh-CN" sz="2400" dirty="0">
                    <a:latin typeface="Times New Roman" panose="02020603050405020304" pitchFamily="18" charset="0"/>
                    <a:ea typeface="Cambria Math" panose="02040503050406030204" pitchFamily="18" charset="0"/>
                    <a:cs typeface="Times New Roman" panose="02020603050405020304" pitchFamily="18" charset="0"/>
                  </a:rPr>
                  <a:t>), </a:t>
                </a:r>
                <a:r>
                  <a:rPr lang="en-US" altLang="zh-CN" sz="2400" i="1" dirty="0">
                    <a:latin typeface="Times New Roman" panose="02020603050405020304" pitchFamily="18" charset="0"/>
                    <a:ea typeface="Cambria Math" panose="02040503050406030204" pitchFamily="18" charset="0"/>
                    <a:cs typeface="Times New Roman" panose="02020603050405020304" pitchFamily="18" charset="0"/>
                  </a:rPr>
                  <a:t>i</a:t>
                </a:r>
                <a:r>
                  <a:rPr lang="en-US" altLang="zh-CN" sz="2400" dirty="0">
                    <a:latin typeface="Times New Roman" panose="02020603050405020304" pitchFamily="18" charset="0"/>
                    <a:ea typeface="Cambria Math" panose="02040503050406030204" pitchFamily="18" charset="0"/>
                    <a:cs typeface="Times New Roman" panose="02020603050405020304" pitchFamily="18" charset="0"/>
                  </a:rPr>
                  <a:t>=1,2, </a:t>
                </a:r>
                <a14:m>
                  <m:oMath xmlns:m="http://schemas.openxmlformats.org/officeDocument/2006/math">
                    <m:r>
                      <a:rPr lang="zh-CN" altLang="en-US" sz="2400" i="1">
                        <a:solidFill>
                          <a:srgbClr val="000000"/>
                        </a:solidFill>
                        <a:latin typeface="Cambria Math" panose="02040503050406030204" pitchFamily="18" charset="0"/>
                      </a:rPr>
                      <m:t>⋯</m:t>
                    </m:r>
                  </m:oMath>
                </a14:m>
                <a:r>
                  <a:rPr lang="en-US" altLang="zh-CN" sz="2400" dirty="0">
                    <a:latin typeface="Times New Roman" panose="02020603050405020304" pitchFamily="18" charset="0"/>
                    <a:ea typeface="Cambria Math" panose="02040503050406030204" pitchFamily="18" charset="0"/>
                    <a:cs typeface="Times New Roman" panose="02020603050405020304" pitchFamily="18" charset="0"/>
                  </a:rPr>
                  <a:t>,</a:t>
                </a:r>
                <a:r>
                  <a:rPr lang="en-US" altLang="zh-CN" sz="2400" i="1" dirty="0">
                    <a:latin typeface="Times New Roman" panose="02020603050405020304" pitchFamily="18" charset="0"/>
                    <a:ea typeface="Cambria Math" panose="02040503050406030204" pitchFamily="18" charset="0"/>
                    <a:cs typeface="Times New Roman" panose="02020603050405020304" pitchFamily="18" charset="0"/>
                  </a:rPr>
                  <a:t>n</a:t>
                </a:r>
                <a:endParaRPr lang="zh-CN" altLang="en-US" sz="3200" i="1"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6772817B-5D43-462F-B4D5-5E5951F388DE}"/>
                  </a:ext>
                </a:extLst>
              </p:cNvPr>
              <p:cNvSpPr txBox="1">
                <a:spLocks noRot="1" noChangeAspect="1" noMove="1" noResize="1" noEditPoints="1" noAdjustHandles="1" noChangeArrowheads="1" noChangeShapeType="1" noTextEdit="1"/>
              </p:cNvSpPr>
              <p:nvPr/>
            </p:nvSpPr>
            <p:spPr>
              <a:xfrm>
                <a:off x="1805852" y="2282203"/>
                <a:ext cx="2889958" cy="398442"/>
              </a:xfrm>
              <a:prstGeom prst="rect">
                <a:avLst/>
              </a:prstGeom>
              <a:blipFill>
                <a:blip r:embed="rId2"/>
                <a:stretch>
                  <a:fillRect t="-15152" r="-5696" b="-454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897B3D2F-7A57-407D-813F-C76AE8607FE7}"/>
                  </a:ext>
                </a:extLst>
              </p:cNvPr>
              <p:cNvSpPr txBox="1"/>
              <p:nvPr/>
            </p:nvSpPr>
            <p:spPr>
              <a:xfrm>
                <a:off x="1805852" y="4151724"/>
                <a:ext cx="4397934" cy="8960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a:latin typeface="Cambria Math" panose="02040503050406030204" pitchFamily="18" charset="0"/>
                              <a:ea typeface="Cambria Math" panose="02040503050406030204" pitchFamily="18" charset="0"/>
                              <a:cs typeface="Times New Roman" panose="02020603050405020304" pitchFamily="18" charset="0"/>
                            </a:rPr>
                            <m:t>𝑄</m:t>
                          </m:r>
                        </m:e>
                        <m:sup>
                          <m:r>
                            <a:rPr lang="en-US" altLang="zh-CN" sz="2400">
                              <a:latin typeface="Cambria Math" panose="02040503050406030204" pitchFamily="18" charset="0"/>
                              <a:ea typeface="Cambria Math" panose="02040503050406030204" pitchFamily="18" charset="0"/>
                              <a:cs typeface="Times New Roman" panose="02020603050405020304" pitchFamily="18" charset="0"/>
                            </a:rPr>
                            <m:t>𝑑</m:t>
                          </m:r>
                        </m:sup>
                      </m:sSup>
                      <m:r>
                        <a:rPr lang="en-US" altLang="zh-CN" sz="24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a:latin typeface="Cambria Math" panose="02040503050406030204" pitchFamily="18" charset="0"/>
                          <a:ea typeface="Cambria Math" panose="02040503050406030204" pitchFamily="18" charset="0"/>
                          <a:cs typeface="Times New Roman" panose="02020603050405020304" pitchFamily="18" charset="0"/>
                        </a:rPr>
                        <m:t>𝐷</m:t>
                      </m:r>
                      <m:d>
                        <m:dPr>
                          <m:ctrlPr>
                            <a:rPr lang="en-US" altLang="zh-CN" sz="2400"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a:latin typeface="Cambria Math" panose="02040503050406030204" pitchFamily="18" charset="0"/>
                              <a:ea typeface="Cambria Math" panose="02040503050406030204" pitchFamily="18" charset="0"/>
                              <a:cs typeface="Times New Roman" panose="02020603050405020304" pitchFamily="18" charset="0"/>
                            </a:rPr>
                            <m:t>𝑃</m:t>
                          </m:r>
                        </m:e>
                      </m:d>
                      <m:r>
                        <a:rPr lang="en-US" altLang="zh-CN" sz="2400">
                          <a:latin typeface="Cambria Math" panose="02040503050406030204" pitchFamily="18" charset="0"/>
                          <a:ea typeface="Cambria Math" panose="02040503050406030204" pitchFamily="18" charset="0"/>
                          <a:cs typeface="Times New Roman" panose="02020603050405020304" pitchFamily="18" charset="0"/>
                        </a:rPr>
                        <m:t>=</m:t>
                      </m:r>
                      <m:nary>
                        <m:naryPr>
                          <m:chr m:val="∑"/>
                          <m:supHide m:val="on"/>
                          <m:ctrlPr>
                            <a:rPr lang="en-US" altLang="zh-CN" sz="2400" i="1">
                              <a:latin typeface="Cambria Math" panose="02040503050406030204" pitchFamily="18" charset="0"/>
                              <a:ea typeface="Cambria Math" panose="02040503050406030204" pitchFamily="18" charset="0"/>
                              <a:cs typeface="Times New Roman" panose="02020603050405020304" pitchFamily="18" charset="0"/>
                            </a:rPr>
                          </m:ctrlPr>
                        </m:naryPr>
                        <m:sub>
                          <m:r>
                            <m:rPr>
                              <m:brk m:alnAt="7"/>
                            </m:rPr>
                            <a:rPr lang="en-US" altLang="zh-CN" sz="2400">
                              <a:latin typeface="Cambria Math" panose="02040503050406030204" pitchFamily="18" charset="0"/>
                              <a:ea typeface="Cambria Math" panose="02040503050406030204" pitchFamily="18" charset="0"/>
                              <a:cs typeface="Times New Roman" panose="02020603050405020304" pitchFamily="18" charset="0"/>
                            </a:rPr>
                            <m:t>𝑖</m:t>
                          </m:r>
                        </m:sub>
                        <m:sup/>
                        <m:e>
                          <m:sSubSup>
                            <m:sSubSupPr>
                              <m:ctrlPr>
                                <a:rPr lang="en-US" altLang="zh-CN" sz="24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a:latin typeface="Cambria Math" panose="02040503050406030204" pitchFamily="18" charset="0"/>
                                  <a:ea typeface="Cambria Math" panose="02040503050406030204" pitchFamily="18" charset="0"/>
                                  <a:cs typeface="Times New Roman" panose="02020603050405020304" pitchFamily="18" charset="0"/>
                                </a:rPr>
                                <m:t>𝑄</m:t>
                              </m:r>
                            </m:e>
                            <m:sub>
                              <m:r>
                                <a:rPr lang="en-US" altLang="zh-CN" sz="2400">
                                  <a:latin typeface="Cambria Math" panose="02040503050406030204" pitchFamily="18" charset="0"/>
                                  <a:ea typeface="Cambria Math" panose="02040503050406030204" pitchFamily="18" charset="0"/>
                                  <a:cs typeface="Times New Roman" panose="02020603050405020304" pitchFamily="18" charset="0"/>
                                </a:rPr>
                                <m:t>𝑖</m:t>
                              </m:r>
                            </m:sub>
                            <m:sup>
                              <m:r>
                                <a:rPr lang="en-US" altLang="zh-CN" sz="2400">
                                  <a:latin typeface="Cambria Math" panose="02040503050406030204" pitchFamily="18" charset="0"/>
                                  <a:ea typeface="Cambria Math" panose="02040503050406030204" pitchFamily="18" charset="0"/>
                                  <a:cs typeface="Times New Roman" panose="02020603050405020304" pitchFamily="18" charset="0"/>
                                </a:rPr>
                                <m:t>𝑑</m:t>
                              </m:r>
                            </m:sup>
                          </m:sSubSup>
                        </m:e>
                      </m:nary>
                      <m:r>
                        <a:rPr lang="en-US" altLang="zh-CN" sz="2400">
                          <a:latin typeface="Cambria Math" panose="02040503050406030204" pitchFamily="18" charset="0"/>
                          <a:ea typeface="Cambria Math" panose="02040503050406030204" pitchFamily="18" charset="0"/>
                          <a:cs typeface="Times New Roman" panose="02020603050405020304" pitchFamily="18" charset="0"/>
                        </a:rPr>
                        <m:t>=</m:t>
                      </m:r>
                      <m:nary>
                        <m:naryPr>
                          <m:chr m:val="∑"/>
                          <m:supHide m:val="on"/>
                          <m:ctrlPr>
                            <a:rPr lang="en-US" altLang="zh-CN" sz="2400" i="1">
                              <a:latin typeface="Cambria Math" panose="02040503050406030204" pitchFamily="18" charset="0"/>
                              <a:ea typeface="Cambria Math" panose="02040503050406030204" pitchFamily="18" charset="0"/>
                              <a:cs typeface="Times New Roman" panose="02020603050405020304" pitchFamily="18" charset="0"/>
                            </a:rPr>
                          </m:ctrlPr>
                        </m:naryPr>
                        <m:sub>
                          <m:r>
                            <m:rPr>
                              <m:brk m:alnAt="7"/>
                            </m:rPr>
                            <a:rPr lang="en-US" altLang="zh-CN" sz="2400">
                              <a:latin typeface="Cambria Math" panose="02040503050406030204" pitchFamily="18" charset="0"/>
                              <a:ea typeface="Cambria Math" panose="02040503050406030204" pitchFamily="18" charset="0"/>
                              <a:cs typeface="Times New Roman" panose="02020603050405020304" pitchFamily="18" charset="0"/>
                            </a:rPr>
                            <m:t>𝑖</m:t>
                          </m:r>
                        </m:sub>
                        <m:sup/>
                        <m:e>
                          <m:sSub>
                            <m:sSubPr>
                              <m:ctrlPr>
                                <a:rPr lang="en-US" altLang="zh-CN"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ea typeface="Cambria Math" panose="02040503050406030204" pitchFamily="18" charset="0"/>
                                  <a:cs typeface="Times New Roman" panose="02020603050405020304" pitchFamily="18" charset="0"/>
                                </a:rPr>
                                <m:t>𝐷</m:t>
                              </m:r>
                            </m:e>
                            <m:sub>
                              <m:r>
                                <a:rPr lang="en-US" altLang="zh-CN" sz="2400">
                                  <a:latin typeface="Cambria Math" panose="02040503050406030204" pitchFamily="18" charset="0"/>
                                  <a:ea typeface="Cambria Math" panose="02040503050406030204" pitchFamily="18" charset="0"/>
                                  <a:cs typeface="Times New Roman" panose="02020603050405020304" pitchFamily="18" charset="0"/>
                                </a:rPr>
                                <m:t>𝑖</m:t>
                              </m:r>
                            </m:sub>
                          </m:sSub>
                        </m:e>
                      </m:nary>
                      <m:r>
                        <a:rPr lang="en-US" altLang="zh-CN" sz="24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a:latin typeface="Cambria Math" panose="02040503050406030204" pitchFamily="18" charset="0"/>
                          <a:ea typeface="Cambria Math" panose="02040503050406030204" pitchFamily="18" charset="0"/>
                          <a:cs typeface="Times New Roman" panose="02020603050405020304" pitchFamily="18" charset="0"/>
                        </a:rPr>
                        <m:t>𝑃</m:t>
                      </m:r>
                      <m:r>
                        <a:rPr lang="en-US" altLang="zh-CN" sz="240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zh-CN" altLang="en-US" sz="3200"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9" name="文本框 8">
                <a:extLst>
                  <a:ext uri="{FF2B5EF4-FFF2-40B4-BE49-F238E27FC236}">
                    <a16:creationId xmlns:a16="http://schemas.microsoft.com/office/drawing/2014/main" id="{897B3D2F-7A57-407D-813F-C76AE8607FE7}"/>
                  </a:ext>
                </a:extLst>
              </p:cNvPr>
              <p:cNvSpPr txBox="1">
                <a:spLocks noRot="1" noChangeAspect="1" noMove="1" noResize="1" noEditPoints="1" noAdjustHandles="1" noChangeArrowheads="1" noChangeShapeType="1" noTextEdit="1"/>
              </p:cNvSpPr>
              <p:nvPr/>
            </p:nvSpPr>
            <p:spPr>
              <a:xfrm>
                <a:off x="1805852" y="4151724"/>
                <a:ext cx="4397934" cy="896015"/>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47230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left)">
                                      <p:cBhvr>
                                        <p:cTn id="29" dur="5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left)">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500" fill="hold"/>
                                        <p:tgtEl>
                                          <p:spTgt spid="9"/>
                                        </p:tgtEl>
                                        <p:attrNameLst>
                                          <p:attrName>ppt_w</p:attrName>
                                        </p:attrNameLst>
                                      </p:cBhvr>
                                      <p:tavLst>
                                        <p:tav tm="0">
                                          <p:val>
                                            <p:fltVal val="0"/>
                                          </p:val>
                                        </p:tav>
                                        <p:tav tm="100000">
                                          <p:val>
                                            <p:strVal val="#ppt_w"/>
                                          </p:val>
                                        </p:tav>
                                      </p:tavLst>
                                    </p:anim>
                                    <p:anim calcmode="lin" valueType="num">
                                      <p:cBhvr>
                                        <p:cTn id="40" dur="500" fill="hold"/>
                                        <p:tgtEl>
                                          <p:spTgt spid="9"/>
                                        </p:tgtEl>
                                        <p:attrNameLst>
                                          <p:attrName>ppt_h</p:attrName>
                                        </p:attrNameLst>
                                      </p:cBhvr>
                                      <p:tavLst>
                                        <p:tav tm="0">
                                          <p:val>
                                            <p:fltVal val="0"/>
                                          </p:val>
                                        </p:tav>
                                        <p:tav tm="100000">
                                          <p:val>
                                            <p:strVal val="#ppt_h"/>
                                          </p:val>
                                        </p:tav>
                                      </p:tavLst>
                                    </p:anim>
                                    <p:animEffect transition="in" filter="fade">
                                      <p:cBhvr>
                                        <p:cTn id="4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p:bldP spid="3" grpId="0"/>
      <p:bldP spid="13" grpId="0"/>
      <p:bldP spid="4" grpId="0"/>
      <p:bldP spid="7"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68E5273-CD77-47B9-B841-9D29349C133D}"/>
              </a:ext>
            </a:extLst>
          </p:cNvPr>
          <p:cNvSpPr/>
          <p:nvPr/>
        </p:nvSpPr>
        <p:spPr>
          <a:xfrm>
            <a:off x="467544" y="548680"/>
            <a:ext cx="4104456"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defTabSz="914400" fontAlgn="base">
              <a:spcBef>
                <a:spcPct val="0"/>
              </a:spcBef>
              <a:spcAft>
                <a:spcPct val="0"/>
              </a:spcAft>
            </a:pPr>
            <a:r>
              <a:rPr lang="zh-CN" altLang="en-US" sz="2400" b="1" spc="150" dirty="0">
                <a:solidFill>
                  <a:srgbClr val="FFFFFF"/>
                </a:solidFill>
                <a:latin typeface="微软雅黑" panose="020B0503020204020204" pitchFamily="34" charset="-122"/>
                <a:ea typeface="微软雅黑" panose="020B0503020204020204" pitchFamily="34" charset="-122"/>
              </a:rPr>
              <a:t>五、从单个需求到市场需求</a:t>
            </a:r>
          </a:p>
        </p:txBody>
      </p:sp>
      <p:sp>
        <p:nvSpPr>
          <p:cNvPr id="15" name="矩形 14">
            <a:extLst>
              <a:ext uri="{FF2B5EF4-FFF2-40B4-BE49-F238E27FC236}">
                <a16:creationId xmlns:a16="http://schemas.microsoft.com/office/drawing/2014/main" id="{88E64304-A318-44E5-8B2C-DCEFC99551AF}"/>
              </a:ext>
            </a:extLst>
          </p:cNvPr>
          <p:cNvSpPr/>
          <p:nvPr/>
        </p:nvSpPr>
        <p:spPr>
          <a:xfrm>
            <a:off x="7532661" y="0"/>
            <a:ext cx="1611339"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15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第一节 需求 </a:t>
            </a:r>
          </a:p>
        </p:txBody>
      </p:sp>
      <p:graphicFrame>
        <p:nvGraphicFramePr>
          <p:cNvPr id="10" name="Object 3">
            <a:extLst>
              <a:ext uri="{FF2B5EF4-FFF2-40B4-BE49-F238E27FC236}">
                <a16:creationId xmlns:a16="http://schemas.microsoft.com/office/drawing/2014/main" id="{162EFDA5-6E60-407D-BEA5-EA4DDD8B877E}"/>
              </a:ext>
            </a:extLst>
          </p:cNvPr>
          <p:cNvGraphicFramePr>
            <a:graphicFrameLocks noChangeAspect="1"/>
          </p:cNvGraphicFramePr>
          <p:nvPr/>
        </p:nvGraphicFramePr>
        <p:xfrm>
          <a:off x="723830" y="1176102"/>
          <a:ext cx="3919558" cy="608020"/>
        </p:xfrm>
        <a:graphic>
          <a:graphicData uri="http://schemas.openxmlformats.org/presentationml/2006/ole">
            <mc:AlternateContent xmlns:mc="http://schemas.openxmlformats.org/markup-compatibility/2006">
              <mc:Choice xmlns:v="urn:schemas-microsoft-com:vml" Requires="v">
                <p:oleObj spid="_x0000_s197927" r:id="rId3" imgW="1637589" imgH="253890" progId="">
                  <p:embed/>
                </p:oleObj>
              </mc:Choice>
              <mc:Fallback>
                <p:oleObj r:id="rId3" imgW="1637589" imgH="253890" progId="">
                  <p:embed/>
                  <p:pic>
                    <p:nvPicPr>
                      <p:cNvPr id="10" name="Object 3">
                        <a:extLst>
                          <a:ext uri="{FF2B5EF4-FFF2-40B4-BE49-F238E27FC236}">
                            <a16:creationId xmlns:a16="http://schemas.microsoft.com/office/drawing/2014/main" id="{162EFDA5-6E60-407D-BEA5-EA4DDD8B87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830" y="1176102"/>
                        <a:ext cx="3919558" cy="608020"/>
                      </a:xfrm>
                      <a:prstGeom prst="rect">
                        <a:avLst/>
                      </a:prstGeom>
                      <a:noFill/>
                      <a:ln>
                        <a:noFill/>
                      </a:ln>
                      <a:effectLst/>
                    </p:spPr>
                  </p:pic>
                </p:oleObj>
              </mc:Fallback>
            </mc:AlternateContent>
          </a:graphicData>
        </a:graphic>
      </p:graphicFrame>
      <p:cxnSp>
        <p:nvCxnSpPr>
          <p:cNvPr id="14" name="直接连接符 81">
            <a:extLst>
              <a:ext uri="{FF2B5EF4-FFF2-40B4-BE49-F238E27FC236}">
                <a16:creationId xmlns:a16="http://schemas.microsoft.com/office/drawing/2014/main" id="{71AB0760-2A8A-44AB-99B9-6BEFC7523B1E}"/>
              </a:ext>
            </a:extLst>
          </p:cNvPr>
          <p:cNvCxnSpPr>
            <a:cxnSpLocks noChangeShapeType="1"/>
          </p:cNvCxnSpPr>
          <p:nvPr/>
        </p:nvCxnSpPr>
        <p:spPr bwMode="auto">
          <a:xfrm>
            <a:off x="3923532" y="3315413"/>
            <a:ext cx="2000250"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nvGrpSpPr>
          <p:cNvPr id="17" name="组合 94">
            <a:extLst>
              <a:ext uri="{FF2B5EF4-FFF2-40B4-BE49-F238E27FC236}">
                <a16:creationId xmlns:a16="http://schemas.microsoft.com/office/drawing/2014/main" id="{1DBF7C06-9634-4EEE-A29C-D013C1AA4F08}"/>
              </a:ext>
            </a:extLst>
          </p:cNvPr>
          <p:cNvGrpSpPr>
            <a:grpSpLocks/>
          </p:cNvGrpSpPr>
          <p:nvPr/>
        </p:nvGrpSpPr>
        <p:grpSpPr bwMode="auto">
          <a:xfrm>
            <a:off x="467544" y="1873963"/>
            <a:ext cx="1695450" cy="3441700"/>
            <a:chOff x="0" y="0"/>
            <a:chExt cx="1695460" cy="3440372"/>
          </a:xfrm>
        </p:grpSpPr>
        <p:graphicFrame>
          <p:nvGraphicFramePr>
            <p:cNvPr id="18" name="Object 4">
              <a:extLst>
                <a:ext uri="{FF2B5EF4-FFF2-40B4-BE49-F238E27FC236}">
                  <a16:creationId xmlns:a16="http://schemas.microsoft.com/office/drawing/2014/main" id="{0BF63BA9-304E-4813-9A9E-28A40EE80DFF}"/>
                </a:ext>
              </a:extLst>
            </p:cNvPr>
            <p:cNvGraphicFramePr>
              <a:graphicFrameLocks noChangeAspect="1"/>
            </p:cNvGraphicFramePr>
            <p:nvPr/>
          </p:nvGraphicFramePr>
          <p:xfrm>
            <a:off x="1428760" y="2000264"/>
            <a:ext cx="266700" cy="320675"/>
          </p:xfrm>
          <a:graphic>
            <a:graphicData uri="http://schemas.openxmlformats.org/presentationml/2006/ole">
              <mc:AlternateContent xmlns:mc="http://schemas.openxmlformats.org/markup-compatibility/2006">
                <mc:Choice xmlns:v="urn:schemas-microsoft-com:vml" Requires="v">
                  <p:oleObj spid="_x0000_s197928" r:id="rId5" imgW="191414" imgH="229697" progId="">
                    <p:embed/>
                  </p:oleObj>
                </mc:Choice>
                <mc:Fallback>
                  <p:oleObj r:id="rId5" imgW="191414" imgH="229697" progId="">
                    <p:embed/>
                    <p:pic>
                      <p:nvPicPr>
                        <p:cNvPr id="18" name="Object 4">
                          <a:extLst>
                            <a:ext uri="{FF2B5EF4-FFF2-40B4-BE49-F238E27FC236}">
                              <a16:creationId xmlns:a16="http://schemas.microsoft.com/office/drawing/2014/main" id="{0BF63BA9-304E-4813-9A9E-28A40EE80DF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8760" y="2000264"/>
                          <a:ext cx="2667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9" name="组合 46">
              <a:extLst>
                <a:ext uri="{FF2B5EF4-FFF2-40B4-BE49-F238E27FC236}">
                  <a16:creationId xmlns:a16="http://schemas.microsoft.com/office/drawing/2014/main" id="{021B726D-2532-4B8B-876E-6EF64F42DFC1}"/>
                </a:ext>
              </a:extLst>
            </p:cNvPr>
            <p:cNvGrpSpPr>
              <a:grpSpLocks/>
            </p:cNvGrpSpPr>
            <p:nvPr/>
          </p:nvGrpSpPr>
          <p:grpSpPr bwMode="auto">
            <a:xfrm>
              <a:off x="0" y="0"/>
              <a:ext cx="1676410" cy="3440372"/>
              <a:chOff x="0" y="0"/>
              <a:chExt cx="1676410" cy="3440372"/>
            </a:xfrm>
          </p:grpSpPr>
          <p:cxnSp>
            <p:nvCxnSpPr>
              <p:cNvPr id="20" name="直接连接符 17">
                <a:extLst>
                  <a:ext uri="{FF2B5EF4-FFF2-40B4-BE49-F238E27FC236}">
                    <a16:creationId xmlns:a16="http://schemas.microsoft.com/office/drawing/2014/main" id="{64F28D84-8EE7-4B65-9905-F855FF1C60EA}"/>
                  </a:ext>
                </a:extLst>
              </p:cNvPr>
              <p:cNvCxnSpPr>
                <a:cxnSpLocks noChangeShapeType="1"/>
              </p:cNvCxnSpPr>
              <p:nvPr/>
            </p:nvCxnSpPr>
            <p:spPr bwMode="auto">
              <a:xfrm rot="16200000" flipH="1">
                <a:off x="-65" y="784313"/>
                <a:ext cx="1714629" cy="1000131"/>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pSp>
            <p:nvGrpSpPr>
              <p:cNvPr id="21" name="组合 45">
                <a:extLst>
                  <a:ext uri="{FF2B5EF4-FFF2-40B4-BE49-F238E27FC236}">
                    <a16:creationId xmlns:a16="http://schemas.microsoft.com/office/drawing/2014/main" id="{F8FE0D62-2C65-43A6-93BD-02004DAB032F}"/>
                  </a:ext>
                </a:extLst>
              </p:cNvPr>
              <p:cNvGrpSpPr>
                <a:grpSpLocks/>
              </p:cNvGrpSpPr>
              <p:nvPr/>
            </p:nvGrpSpPr>
            <p:grpSpPr bwMode="auto">
              <a:xfrm>
                <a:off x="0" y="0"/>
                <a:ext cx="1676410" cy="3440372"/>
                <a:chOff x="0" y="0"/>
                <a:chExt cx="1676410" cy="3440372"/>
              </a:xfrm>
            </p:grpSpPr>
            <p:grpSp>
              <p:nvGrpSpPr>
                <p:cNvPr id="22" name="组合 9">
                  <a:extLst>
                    <a:ext uri="{FF2B5EF4-FFF2-40B4-BE49-F238E27FC236}">
                      <a16:creationId xmlns:a16="http://schemas.microsoft.com/office/drawing/2014/main" id="{B84A614E-C23C-4E2B-8799-DC0FFC1902E4}"/>
                    </a:ext>
                  </a:extLst>
                </p:cNvPr>
                <p:cNvGrpSpPr>
                  <a:grpSpLocks/>
                </p:cNvGrpSpPr>
                <p:nvPr/>
              </p:nvGrpSpPr>
              <p:grpSpPr bwMode="auto">
                <a:xfrm>
                  <a:off x="356396" y="0"/>
                  <a:ext cx="1287472" cy="2715438"/>
                  <a:chOff x="0" y="0"/>
                  <a:chExt cx="1287472" cy="2715438"/>
                </a:xfrm>
              </p:grpSpPr>
              <p:cxnSp>
                <p:nvCxnSpPr>
                  <p:cNvPr id="31" name="直接箭头连接符 5">
                    <a:extLst>
                      <a:ext uri="{FF2B5EF4-FFF2-40B4-BE49-F238E27FC236}">
                        <a16:creationId xmlns:a16="http://schemas.microsoft.com/office/drawing/2014/main" id="{94808BBF-B85D-4443-9534-D4EC72DE73E7}"/>
                      </a:ext>
                    </a:extLst>
                  </p:cNvPr>
                  <p:cNvCxnSpPr>
                    <a:cxnSpLocks noChangeShapeType="1"/>
                  </p:cNvCxnSpPr>
                  <p:nvPr/>
                </p:nvCxnSpPr>
                <p:spPr bwMode="auto">
                  <a:xfrm>
                    <a:off x="2381" y="2713242"/>
                    <a:ext cx="1285883"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32" name="直接箭头连接符 7">
                    <a:extLst>
                      <a:ext uri="{FF2B5EF4-FFF2-40B4-BE49-F238E27FC236}">
                        <a16:creationId xmlns:a16="http://schemas.microsoft.com/office/drawing/2014/main" id="{EFC9B25B-33D2-4EE2-9394-FEC73889B81D}"/>
                      </a:ext>
                    </a:extLst>
                  </p:cNvPr>
                  <p:cNvCxnSpPr>
                    <a:cxnSpLocks noChangeShapeType="1"/>
                  </p:cNvCxnSpPr>
                  <p:nvPr/>
                </p:nvCxnSpPr>
                <p:spPr bwMode="auto">
                  <a:xfrm rot="5400000" flipH="1" flipV="1">
                    <a:off x="-1355828" y="1356621"/>
                    <a:ext cx="2714829"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grpSp>
            <p:graphicFrame>
              <p:nvGraphicFramePr>
                <p:cNvPr id="23" name="Object 11">
                  <a:extLst>
                    <a:ext uri="{FF2B5EF4-FFF2-40B4-BE49-F238E27FC236}">
                      <a16:creationId xmlns:a16="http://schemas.microsoft.com/office/drawing/2014/main" id="{190A8B97-2723-4181-8C73-26AEBE488A11}"/>
                    </a:ext>
                  </a:extLst>
                </p:cNvPr>
                <p:cNvGraphicFramePr>
                  <a:graphicFrameLocks noChangeAspect="1"/>
                </p:cNvGraphicFramePr>
                <p:nvPr/>
              </p:nvGraphicFramePr>
              <p:xfrm>
                <a:off x="71438" y="427834"/>
                <a:ext cx="212725" cy="230188"/>
              </p:xfrm>
              <a:graphic>
                <a:graphicData uri="http://schemas.openxmlformats.org/presentationml/2006/ole">
                  <mc:AlternateContent xmlns:mc="http://schemas.openxmlformats.org/markup-compatibility/2006">
                    <mc:Choice xmlns:v="urn:schemas-microsoft-com:vml" Requires="v">
                      <p:oleObj spid="_x0000_s197929" r:id="rId7" imgW="153332" imgH="166109" progId="">
                        <p:embed/>
                      </p:oleObj>
                    </mc:Choice>
                    <mc:Fallback>
                      <p:oleObj r:id="rId7" imgW="153332" imgH="166109" progId="">
                        <p:embed/>
                        <p:pic>
                          <p:nvPicPr>
                            <p:cNvPr id="23" name="Object 11">
                              <a:extLst>
                                <a:ext uri="{FF2B5EF4-FFF2-40B4-BE49-F238E27FC236}">
                                  <a16:creationId xmlns:a16="http://schemas.microsoft.com/office/drawing/2014/main" id="{190A8B97-2723-4181-8C73-26AEBE488A1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438" y="427834"/>
                              <a:ext cx="212725"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 name="Object 12">
                  <a:extLst>
                    <a:ext uri="{FF2B5EF4-FFF2-40B4-BE49-F238E27FC236}">
                      <a16:creationId xmlns:a16="http://schemas.microsoft.com/office/drawing/2014/main" id="{8C9A4BD5-4E4A-4E14-9A52-733EC0E53EA1}"/>
                    </a:ext>
                  </a:extLst>
                </p:cNvPr>
                <p:cNvGraphicFramePr>
                  <a:graphicFrameLocks noChangeAspect="1"/>
                </p:cNvGraphicFramePr>
                <p:nvPr/>
              </p:nvGraphicFramePr>
              <p:xfrm>
                <a:off x="71438" y="2785288"/>
                <a:ext cx="212725" cy="247650"/>
              </p:xfrm>
              <a:graphic>
                <a:graphicData uri="http://schemas.openxmlformats.org/presentationml/2006/ole">
                  <mc:AlternateContent xmlns:mc="http://schemas.openxmlformats.org/markup-compatibility/2006">
                    <mc:Choice xmlns:v="urn:schemas-microsoft-com:vml" Requires="v">
                      <p:oleObj spid="_x0000_s197930" r:id="rId9" imgW="153198" imgH="178731" progId="">
                        <p:embed/>
                      </p:oleObj>
                    </mc:Choice>
                    <mc:Fallback>
                      <p:oleObj r:id="rId9" imgW="153198" imgH="178731" progId="">
                        <p:embed/>
                        <p:pic>
                          <p:nvPicPr>
                            <p:cNvPr id="24" name="Object 12">
                              <a:extLst>
                                <a:ext uri="{FF2B5EF4-FFF2-40B4-BE49-F238E27FC236}">
                                  <a16:creationId xmlns:a16="http://schemas.microsoft.com/office/drawing/2014/main" id="{8C9A4BD5-4E4A-4E14-9A52-733EC0E53EA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438" y="2785288"/>
                              <a:ext cx="212725"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Object 13">
                  <a:extLst>
                    <a:ext uri="{FF2B5EF4-FFF2-40B4-BE49-F238E27FC236}">
                      <a16:creationId xmlns:a16="http://schemas.microsoft.com/office/drawing/2014/main" id="{F972D057-1129-4DAE-AD60-8D424B018C75}"/>
                    </a:ext>
                  </a:extLst>
                </p:cNvPr>
                <p:cNvGraphicFramePr>
                  <a:graphicFrameLocks noChangeAspect="1"/>
                </p:cNvGraphicFramePr>
                <p:nvPr/>
              </p:nvGraphicFramePr>
              <p:xfrm>
                <a:off x="1428760" y="2785288"/>
                <a:ext cx="247650" cy="320675"/>
              </p:xfrm>
              <a:graphic>
                <a:graphicData uri="http://schemas.openxmlformats.org/presentationml/2006/ole">
                  <mc:AlternateContent xmlns:mc="http://schemas.openxmlformats.org/markup-compatibility/2006">
                    <mc:Choice xmlns:v="urn:schemas-microsoft-com:vml" Requires="v">
                      <p:oleObj spid="_x0000_s197931" r:id="rId11" imgW="178497" imgH="229496" progId="">
                        <p:embed/>
                      </p:oleObj>
                    </mc:Choice>
                    <mc:Fallback>
                      <p:oleObj r:id="rId11" imgW="178497" imgH="229496" progId="">
                        <p:embed/>
                        <p:pic>
                          <p:nvPicPr>
                            <p:cNvPr id="25" name="Object 13">
                              <a:extLst>
                                <a:ext uri="{FF2B5EF4-FFF2-40B4-BE49-F238E27FC236}">
                                  <a16:creationId xmlns:a16="http://schemas.microsoft.com/office/drawing/2014/main" id="{F972D057-1129-4DAE-AD60-8D424B018C7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28760" y="2785288"/>
                              <a:ext cx="247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 name="Object 14">
                  <a:extLst>
                    <a:ext uri="{FF2B5EF4-FFF2-40B4-BE49-F238E27FC236}">
                      <a16:creationId xmlns:a16="http://schemas.microsoft.com/office/drawing/2014/main" id="{7C046A9B-002D-4A64-88C6-B8FBFBABAB7A}"/>
                    </a:ext>
                  </a:extLst>
                </p:cNvPr>
                <p:cNvGraphicFramePr>
                  <a:graphicFrameLocks noChangeAspect="1"/>
                </p:cNvGraphicFramePr>
                <p:nvPr/>
              </p:nvGraphicFramePr>
              <p:xfrm>
                <a:off x="785818" y="2785288"/>
                <a:ext cx="301625" cy="320675"/>
              </p:xfrm>
              <a:graphic>
                <a:graphicData uri="http://schemas.openxmlformats.org/presentationml/2006/ole">
                  <mc:AlternateContent xmlns:mc="http://schemas.openxmlformats.org/markup-compatibility/2006">
                    <mc:Choice xmlns:v="urn:schemas-microsoft-com:vml" Requires="v">
                      <p:oleObj spid="_x0000_s197932" r:id="rId13" imgW="216747" imgH="229496" progId="">
                        <p:embed/>
                      </p:oleObj>
                    </mc:Choice>
                    <mc:Fallback>
                      <p:oleObj r:id="rId13" imgW="216747" imgH="229496" progId="">
                        <p:embed/>
                        <p:pic>
                          <p:nvPicPr>
                            <p:cNvPr id="26" name="Object 14">
                              <a:extLst>
                                <a:ext uri="{FF2B5EF4-FFF2-40B4-BE49-F238E27FC236}">
                                  <a16:creationId xmlns:a16="http://schemas.microsoft.com/office/drawing/2014/main" id="{7C046A9B-002D-4A64-88C6-B8FBFBABAB7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85818" y="2785288"/>
                              <a:ext cx="3016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 name="Object 15">
                  <a:extLst>
                    <a:ext uri="{FF2B5EF4-FFF2-40B4-BE49-F238E27FC236}">
                      <a16:creationId xmlns:a16="http://schemas.microsoft.com/office/drawing/2014/main" id="{9CCAA13E-EE53-4853-9F92-AC280EC40FEC}"/>
                    </a:ext>
                  </a:extLst>
                </p:cNvPr>
                <p:cNvGraphicFramePr>
                  <a:graphicFrameLocks noChangeAspect="1"/>
                </p:cNvGraphicFramePr>
                <p:nvPr/>
              </p:nvGraphicFramePr>
              <p:xfrm>
                <a:off x="0" y="1213652"/>
                <a:ext cx="212725" cy="319088"/>
              </p:xfrm>
              <a:graphic>
                <a:graphicData uri="http://schemas.openxmlformats.org/presentationml/2006/ole">
                  <mc:AlternateContent xmlns:mc="http://schemas.openxmlformats.org/markup-compatibility/2006">
                    <mc:Choice xmlns:v="urn:schemas-microsoft-com:vml" Requires="v">
                      <p:oleObj spid="_x0000_s197933" r:id="rId15" imgW="153131" imgH="229697" progId="">
                        <p:embed/>
                      </p:oleObj>
                    </mc:Choice>
                    <mc:Fallback>
                      <p:oleObj r:id="rId15" imgW="153131" imgH="229697" progId="">
                        <p:embed/>
                        <p:pic>
                          <p:nvPicPr>
                            <p:cNvPr id="27" name="Object 15">
                              <a:extLst>
                                <a:ext uri="{FF2B5EF4-FFF2-40B4-BE49-F238E27FC236}">
                                  <a16:creationId xmlns:a16="http://schemas.microsoft.com/office/drawing/2014/main" id="{9CCAA13E-EE53-4853-9F92-AC280EC40FE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1213652"/>
                              <a:ext cx="212725" cy="319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28" name="直接连接符 35">
                  <a:extLst>
                    <a:ext uri="{FF2B5EF4-FFF2-40B4-BE49-F238E27FC236}">
                      <a16:creationId xmlns:a16="http://schemas.microsoft.com/office/drawing/2014/main" id="{E9115BF8-95E9-4D6A-9728-DD6BAE092E08}"/>
                    </a:ext>
                  </a:extLst>
                </p:cNvPr>
                <p:cNvCxnSpPr>
                  <a:cxnSpLocks noChangeShapeType="1"/>
                </p:cNvCxnSpPr>
                <p:nvPr/>
              </p:nvCxnSpPr>
              <p:spPr bwMode="auto">
                <a:xfrm>
                  <a:off x="358777" y="1427270"/>
                  <a:ext cx="571503"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29" name="直接连接符 37">
                  <a:extLst>
                    <a:ext uri="{FF2B5EF4-FFF2-40B4-BE49-F238E27FC236}">
                      <a16:creationId xmlns:a16="http://schemas.microsoft.com/office/drawing/2014/main" id="{677E66AB-50E6-48BE-860F-BC3E4560C360}"/>
                    </a:ext>
                  </a:extLst>
                </p:cNvPr>
                <p:cNvCxnSpPr>
                  <a:cxnSpLocks noChangeShapeType="1"/>
                </p:cNvCxnSpPr>
                <p:nvPr/>
              </p:nvCxnSpPr>
              <p:spPr bwMode="auto">
                <a:xfrm rot="5400000">
                  <a:off x="288082" y="2069457"/>
                  <a:ext cx="1285972"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sp>
              <p:nvSpPr>
                <p:cNvPr id="30" name="TextBox 44">
                  <a:extLst>
                    <a:ext uri="{FF2B5EF4-FFF2-40B4-BE49-F238E27FC236}">
                      <a16:creationId xmlns:a16="http://schemas.microsoft.com/office/drawing/2014/main" id="{A931BFD0-CCAB-4797-AE53-30E14EA04539}"/>
                    </a:ext>
                  </a:extLst>
                </p:cNvPr>
                <p:cNvSpPr txBox="1">
                  <a:spLocks noChangeArrowheads="1"/>
                </p:cNvSpPr>
                <p:nvPr/>
              </p:nvSpPr>
              <p:spPr bwMode="auto">
                <a:xfrm>
                  <a:off x="714380" y="3071040"/>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0" dirty="0">
                      <a:solidFill>
                        <a:schemeClr val="tx1"/>
                      </a:solidFill>
                      <a:latin typeface="微软雅黑" panose="020B0503020204020204" pitchFamily="34" charset="-122"/>
                    </a:rPr>
                    <a:t>(a)</a:t>
                  </a:r>
                  <a:endParaRPr lang="zh-CN" altLang="en-US" sz="1800" b="0" dirty="0">
                    <a:solidFill>
                      <a:schemeClr val="tx1"/>
                    </a:solidFill>
                    <a:latin typeface="微软雅黑" panose="020B0503020204020204" pitchFamily="34" charset="-122"/>
                  </a:endParaRPr>
                </a:p>
              </p:txBody>
            </p:sp>
          </p:grpSp>
        </p:grpSp>
      </p:grpSp>
      <p:grpSp>
        <p:nvGrpSpPr>
          <p:cNvPr id="33" name="组合 95">
            <a:extLst>
              <a:ext uri="{FF2B5EF4-FFF2-40B4-BE49-F238E27FC236}">
                <a16:creationId xmlns:a16="http://schemas.microsoft.com/office/drawing/2014/main" id="{4A7E9BEC-505F-4F00-956E-7B47909B7EA4}"/>
              </a:ext>
            </a:extLst>
          </p:cNvPr>
          <p:cNvGrpSpPr>
            <a:grpSpLocks/>
          </p:cNvGrpSpPr>
          <p:nvPr/>
        </p:nvGrpSpPr>
        <p:grpSpPr bwMode="auto">
          <a:xfrm>
            <a:off x="3058344" y="1873963"/>
            <a:ext cx="1633538" cy="3441557"/>
            <a:chOff x="0" y="0"/>
            <a:chExt cx="1633545" cy="3440229"/>
          </a:xfrm>
        </p:grpSpPr>
        <p:grpSp>
          <p:nvGrpSpPr>
            <p:cNvPr id="34" name="组合 61">
              <a:extLst>
                <a:ext uri="{FF2B5EF4-FFF2-40B4-BE49-F238E27FC236}">
                  <a16:creationId xmlns:a16="http://schemas.microsoft.com/office/drawing/2014/main" id="{7796E42C-26AC-4E6B-8DD2-46786EEA1939}"/>
                </a:ext>
              </a:extLst>
            </p:cNvPr>
            <p:cNvGrpSpPr>
              <a:grpSpLocks/>
            </p:cNvGrpSpPr>
            <p:nvPr/>
          </p:nvGrpSpPr>
          <p:grpSpPr bwMode="auto">
            <a:xfrm>
              <a:off x="0" y="0"/>
              <a:ext cx="1614495" cy="3440229"/>
              <a:chOff x="0" y="0"/>
              <a:chExt cx="1614495" cy="3440229"/>
            </a:xfrm>
          </p:grpSpPr>
          <p:cxnSp>
            <p:nvCxnSpPr>
              <p:cNvPr id="36" name="直接连接符 62">
                <a:extLst>
                  <a:ext uri="{FF2B5EF4-FFF2-40B4-BE49-F238E27FC236}">
                    <a16:creationId xmlns:a16="http://schemas.microsoft.com/office/drawing/2014/main" id="{A4293622-AAFD-4A8E-A037-B58B4597F7BA}"/>
                  </a:ext>
                </a:extLst>
              </p:cNvPr>
              <p:cNvCxnSpPr>
                <a:cxnSpLocks noChangeShapeType="1"/>
              </p:cNvCxnSpPr>
              <p:nvPr/>
            </p:nvCxnSpPr>
            <p:spPr bwMode="auto">
              <a:xfrm rot="16200000" flipH="1">
                <a:off x="-71498" y="784313"/>
                <a:ext cx="1714629" cy="1000130"/>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pSp>
            <p:nvGrpSpPr>
              <p:cNvPr id="37" name="组合 45">
                <a:extLst>
                  <a:ext uri="{FF2B5EF4-FFF2-40B4-BE49-F238E27FC236}">
                    <a16:creationId xmlns:a16="http://schemas.microsoft.com/office/drawing/2014/main" id="{F8C984C1-2F9F-4A77-9141-6719E8643E2A}"/>
                  </a:ext>
                </a:extLst>
              </p:cNvPr>
              <p:cNvGrpSpPr>
                <a:grpSpLocks/>
              </p:cNvGrpSpPr>
              <p:nvPr/>
            </p:nvGrpSpPr>
            <p:grpSpPr bwMode="auto">
              <a:xfrm>
                <a:off x="0" y="0"/>
                <a:ext cx="1614495" cy="3440229"/>
                <a:chOff x="0" y="0"/>
                <a:chExt cx="1614495" cy="3440229"/>
              </a:xfrm>
            </p:grpSpPr>
            <p:grpSp>
              <p:nvGrpSpPr>
                <p:cNvPr id="38" name="组合 9">
                  <a:extLst>
                    <a:ext uri="{FF2B5EF4-FFF2-40B4-BE49-F238E27FC236}">
                      <a16:creationId xmlns:a16="http://schemas.microsoft.com/office/drawing/2014/main" id="{CD9A6131-8C83-463F-8121-5995E1441B43}"/>
                    </a:ext>
                  </a:extLst>
                </p:cNvPr>
                <p:cNvGrpSpPr>
                  <a:grpSpLocks/>
                </p:cNvGrpSpPr>
                <p:nvPr/>
              </p:nvGrpSpPr>
              <p:grpSpPr bwMode="auto">
                <a:xfrm>
                  <a:off x="284958" y="0"/>
                  <a:ext cx="1287472" cy="2715438"/>
                  <a:chOff x="0" y="0"/>
                  <a:chExt cx="1287472" cy="2715438"/>
                </a:xfrm>
              </p:grpSpPr>
              <p:cxnSp>
                <p:nvCxnSpPr>
                  <p:cNvPr id="46" name="直接箭头连接符 73">
                    <a:extLst>
                      <a:ext uri="{FF2B5EF4-FFF2-40B4-BE49-F238E27FC236}">
                        <a16:creationId xmlns:a16="http://schemas.microsoft.com/office/drawing/2014/main" id="{D6FD6C35-833D-413E-ADDD-DE322B5393A3}"/>
                      </a:ext>
                    </a:extLst>
                  </p:cNvPr>
                  <p:cNvCxnSpPr>
                    <a:cxnSpLocks noChangeShapeType="1"/>
                  </p:cNvCxnSpPr>
                  <p:nvPr/>
                </p:nvCxnSpPr>
                <p:spPr bwMode="auto">
                  <a:xfrm>
                    <a:off x="2380" y="2713242"/>
                    <a:ext cx="1285881"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47" name="直接箭头连接符 74">
                    <a:extLst>
                      <a:ext uri="{FF2B5EF4-FFF2-40B4-BE49-F238E27FC236}">
                        <a16:creationId xmlns:a16="http://schemas.microsoft.com/office/drawing/2014/main" id="{75614D99-FF65-4AD8-B5DC-32AF90B1CCE9}"/>
                      </a:ext>
                    </a:extLst>
                  </p:cNvPr>
                  <p:cNvCxnSpPr>
                    <a:cxnSpLocks noChangeShapeType="1"/>
                  </p:cNvCxnSpPr>
                  <p:nvPr/>
                </p:nvCxnSpPr>
                <p:spPr bwMode="auto">
                  <a:xfrm rot="5400000" flipH="1" flipV="1">
                    <a:off x="-1355834" y="1356621"/>
                    <a:ext cx="2714829"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grpSp>
            <p:graphicFrame>
              <p:nvGraphicFramePr>
                <p:cNvPr id="39" name="Object 26">
                  <a:extLst>
                    <a:ext uri="{FF2B5EF4-FFF2-40B4-BE49-F238E27FC236}">
                      <a16:creationId xmlns:a16="http://schemas.microsoft.com/office/drawing/2014/main" id="{2623B094-B81C-46B0-BCD2-C39F68165922}"/>
                    </a:ext>
                  </a:extLst>
                </p:cNvPr>
                <p:cNvGraphicFramePr>
                  <a:graphicFrameLocks noChangeAspect="1"/>
                </p:cNvGraphicFramePr>
                <p:nvPr/>
              </p:nvGraphicFramePr>
              <p:xfrm>
                <a:off x="0" y="427834"/>
                <a:ext cx="212725" cy="230188"/>
              </p:xfrm>
              <a:graphic>
                <a:graphicData uri="http://schemas.openxmlformats.org/presentationml/2006/ole">
                  <mc:AlternateContent xmlns:mc="http://schemas.openxmlformats.org/markup-compatibility/2006">
                    <mc:Choice xmlns:v="urn:schemas-microsoft-com:vml" Requires="v">
                      <p:oleObj spid="_x0000_s197934" r:id="rId17" imgW="153332" imgH="166109" progId="">
                        <p:embed/>
                      </p:oleObj>
                    </mc:Choice>
                    <mc:Fallback>
                      <p:oleObj r:id="rId17" imgW="153332" imgH="166109" progId="">
                        <p:embed/>
                        <p:pic>
                          <p:nvPicPr>
                            <p:cNvPr id="39" name="Object 26">
                              <a:extLst>
                                <a:ext uri="{FF2B5EF4-FFF2-40B4-BE49-F238E27FC236}">
                                  <a16:creationId xmlns:a16="http://schemas.microsoft.com/office/drawing/2014/main" id="{2623B094-B81C-46B0-BCD2-C39F6816592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427834"/>
                              <a:ext cx="212725"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 name="Object 27">
                  <a:extLst>
                    <a:ext uri="{FF2B5EF4-FFF2-40B4-BE49-F238E27FC236}">
                      <a16:creationId xmlns:a16="http://schemas.microsoft.com/office/drawing/2014/main" id="{479AADCD-8220-441C-A654-6768BBBB87C9}"/>
                    </a:ext>
                  </a:extLst>
                </p:cNvPr>
                <p:cNvGraphicFramePr>
                  <a:graphicFrameLocks noChangeAspect="1"/>
                </p:cNvGraphicFramePr>
                <p:nvPr/>
              </p:nvGraphicFramePr>
              <p:xfrm>
                <a:off x="0" y="2785288"/>
                <a:ext cx="212725" cy="247650"/>
              </p:xfrm>
              <a:graphic>
                <a:graphicData uri="http://schemas.openxmlformats.org/presentationml/2006/ole">
                  <mc:AlternateContent xmlns:mc="http://schemas.openxmlformats.org/markup-compatibility/2006">
                    <mc:Choice xmlns:v="urn:schemas-microsoft-com:vml" Requires="v">
                      <p:oleObj spid="_x0000_s197935" r:id="rId18" imgW="153198" imgH="178731" progId="">
                        <p:embed/>
                      </p:oleObj>
                    </mc:Choice>
                    <mc:Fallback>
                      <p:oleObj r:id="rId18" imgW="153198" imgH="178731" progId="">
                        <p:embed/>
                        <p:pic>
                          <p:nvPicPr>
                            <p:cNvPr id="40" name="Object 27">
                              <a:extLst>
                                <a:ext uri="{FF2B5EF4-FFF2-40B4-BE49-F238E27FC236}">
                                  <a16:creationId xmlns:a16="http://schemas.microsoft.com/office/drawing/2014/main" id="{479AADCD-8220-441C-A654-6768BBBB87C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2785288"/>
                              <a:ext cx="212725"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 name="Object 28">
                  <a:extLst>
                    <a:ext uri="{FF2B5EF4-FFF2-40B4-BE49-F238E27FC236}">
                      <a16:creationId xmlns:a16="http://schemas.microsoft.com/office/drawing/2014/main" id="{AA74CB1F-F44A-47CC-A2B0-BC5A4084285C}"/>
                    </a:ext>
                  </a:extLst>
                </p:cNvPr>
                <p:cNvGraphicFramePr>
                  <a:graphicFrameLocks noChangeAspect="1"/>
                </p:cNvGraphicFramePr>
                <p:nvPr/>
              </p:nvGraphicFramePr>
              <p:xfrm>
                <a:off x="1349382" y="2786068"/>
                <a:ext cx="265113" cy="320675"/>
              </p:xfrm>
              <a:graphic>
                <a:graphicData uri="http://schemas.openxmlformats.org/presentationml/2006/ole">
                  <mc:AlternateContent xmlns:mc="http://schemas.openxmlformats.org/markup-compatibility/2006">
                    <mc:Choice xmlns:v="urn:schemas-microsoft-com:vml" Requires="v">
                      <p:oleObj spid="_x0000_s197936" r:id="rId19" imgW="191414" imgH="229697" progId="">
                        <p:embed/>
                      </p:oleObj>
                    </mc:Choice>
                    <mc:Fallback>
                      <p:oleObj r:id="rId19" imgW="191414" imgH="229697" progId="">
                        <p:embed/>
                        <p:pic>
                          <p:nvPicPr>
                            <p:cNvPr id="41" name="Object 28">
                              <a:extLst>
                                <a:ext uri="{FF2B5EF4-FFF2-40B4-BE49-F238E27FC236}">
                                  <a16:creationId xmlns:a16="http://schemas.microsoft.com/office/drawing/2014/main" id="{AA74CB1F-F44A-47CC-A2B0-BC5A4084285C}"/>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49382" y="2786068"/>
                              <a:ext cx="2651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 name="Object 29">
                  <a:extLst>
                    <a:ext uri="{FF2B5EF4-FFF2-40B4-BE49-F238E27FC236}">
                      <a16:creationId xmlns:a16="http://schemas.microsoft.com/office/drawing/2014/main" id="{4FE302A8-26D8-44FF-A7DA-62C6F27C3AA3}"/>
                    </a:ext>
                  </a:extLst>
                </p:cNvPr>
                <p:cNvGraphicFramePr>
                  <a:graphicFrameLocks noChangeAspect="1"/>
                </p:cNvGraphicFramePr>
                <p:nvPr/>
              </p:nvGraphicFramePr>
              <p:xfrm>
                <a:off x="706445" y="2786068"/>
                <a:ext cx="319087" cy="320675"/>
              </p:xfrm>
              <a:graphic>
                <a:graphicData uri="http://schemas.openxmlformats.org/presentationml/2006/ole">
                  <mc:AlternateContent xmlns:mc="http://schemas.openxmlformats.org/markup-compatibility/2006">
                    <mc:Choice xmlns:v="urn:schemas-microsoft-com:vml" Requires="v">
                      <p:oleObj spid="_x0000_s197937" r:id="rId21" imgW="229797" imgH="229797" progId="">
                        <p:embed/>
                      </p:oleObj>
                    </mc:Choice>
                    <mc:Fallback>
                      <p:oleObj r:id="rId21" imgW="229797" imgH="229797" progId="">
                        <p:embed/>
                        <p:pic>
                          <p:nvPicPr>
                            <p:cNvPr id="42" name="Object 29">
                              <a:extLst>
                                <a:ext uri="{FF2B5EF4-FFF2-40B4-BE49-F238E27FC236}">
                                  <a16:creationId xmlns:a16="http://schemas.microsoft.com/office/drawing/2014/main" id="{4FE302A8-26D8-44FF-A7DA-62C6F27C3AA3}"/>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06445" y="2786068"/>
                              <a:ext cx="31908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3" name="直接连接符 70">
                  <a:extLst>
                    <a:ext uri="{FF2B5EF4-FFF2-40B4-BE49-F238E27FC236}">
                      <a16:creationId xmlns:a16="http://schemas.microsoft.com/office/drawing/2014/main" id="{9AA1A48A-1FE5-48E9-9B1E-75FE27AD93C1}"/>
                    </a:ext>
                  </a:extLst>
                </p:cNvPr>
                <p:cNvCxnSpPr>
                  <a:cxnSpLocks noChangeShapeType="1"/>
                </p:cNvCxnSpPr>
                <p:nvPr/>
              </p:nvCxnSpPr>
              <p:spPr bwMode="auto">
                <a:xfrm>
                  <a:off x="287338" y="1427270"/>
                  <a:ext cx="571503"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44" name="直接连接符 71">
                  <a:extLst>
                    <a:ext uri="{FF2B5EF4-FFF2-40B4-BE49-F238E27FC236}">
                      <a16:creationId xmlns:a16="http://schemas.microsoft.com/office/drawing/2014/main" id="{F198602B-1F8E-4F2A-AB09-92FE5DB200EE}"/>
                    </a:ext>
                  </a:extLst>
                </p:cNvPr>
                <p:cNvCxnSpPr>
                  <a:cxnSpLocks noChangeShapeType="1"/>
                </p:cNvCxnSpPr>
                <p:nvPr/>
              </p:nvCxnSpPr>
              <p:spPr bwMode="auto">
                <a:xfrm rot="5400000">
                  <a:off x="216649" y="2069463"/>
                  <a:ext cx="1285972"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sp>
              <p:nvSpPr>
                <p:cNvPr id="45" name="TextBox 72">
                  <a:extLst>
                    <a:ext uri="{FF2B5EF4-FFF2-40B4-BE49-F238E27FC236}">
                      <a16:creationId xmlns:a16="http://schemas.microsoft.com/office/drawing/2014/main" id="{544C8613-7C90-4306-9634-D893325C51D7}"/>
                    </a:ext>
                  </a:extLst>
                </p:cNvPr>
                <p:cNvSpPr txBox="1">
                  <a:spLocks noChangeArrowheads="1"/>
                </p:cNvSpPr>
                <p:nvPr/>
              </p:nvSpPr>
              <p:spPr bwMode="auto">
                <a:xfrm>
                  <a:off x="642942" y="3071040"/>
                  <a:ext cx="486032" cy="369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0" dirty="0">
                      <a:solidFill>
                        <a:schemeClr val="tx1"/>
                      </a:solidFill>
                      <a:latin typeface="微软雅黑" panose="020B0503020204020204" pitchFamily="34" charset="-122"/>
                    </a:rPr>
                    <a:t>(b)</a:t>
                  </a:r>
                  <a:endParaRPr lang="zh-CN" altLang="en-US" sz="1800" b="0" dirty="0">
                    <a:solidFill>
                      <a:schemeClr val="tx1"/>
                    </a:solidFill>
                    <a:latin typeface="微软雅黑" panose="020B0503020204020204" pitchFamily="34" charset="-122"/>
                  </a:endParaRPr>
                </a:p>
              </p:txBody>
            </p:sp>
          </p:grpSp>
        </p:grpSp>
        <p:graphicFrame>
          <p:nvGraphicFramePr>
            <p:cNvPr id="35" name="Object 33">
              <a:extLst>
                <a:ext uri="{FF2B5EF4-FFF2-40B4-BE49-F238E27FC236}">
                  <a16:creationId xmlns:a16="http://schemas.microsoft.com/office/drawing/2014/main" id="{18B9B6CD-0B44-450E-B03B-F5D98B9950CE}"/>
                </a:ext>
              </a:extLst>
            </p:cNvPr>
            <p:cNvGraphicFramePr>
              <a:graphicFrameLocks noChangeAspect="1"/>
            </p:cNvGraphicFramePr>
            <p:nvPr/>
          </p:nvGraphicFramePr>
          <p:xfrm>
            <a:off x="1349383" y="2071693"/>
            <a:ext cx="284162" cy="320675"/>
          </p:xfrm>
          <a:graphic>
            <a:graphicData uri="http://schemas.openxmlformats.org/presentationml/2006/ole">
              <mc:AlternateContent xmlns:mc="http://schemas.openxmlformats.org/markup-compatibility/2006">
                <mc:Choice xmlns:v="urn:schemas-microsoft-com:vml" Requires="v">
                  <p:oleObj spid="_x0000_s197938" r:id="rId23" imgW="204086" imgH="229597" progId="">
                    <p:embed/>
                  </p:oleObj>
                </mc:Choice>
                <mc:Fallback>
                  <p:oleObj r:id="rId23" imgW="204086" imgH="229597" progId="">
                    <p:embed/>
                    <p:pic>
                      <p:nvPicPr>
                        <p:cNvPr id="35" name="Object 33">
                          <a:extLst>
                            <a:ext uri="{FF2B5EF4-FFF2-40B4-BE49-F238E27FC236}">
                              <a16:creationId xmlns:a16="http://schemas.microsoft.com/office/drawing/2014/main" id="{18B9B6CD-0B44-450E-B03B-F5D98B9950CE}"/>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349383" y="2071693"/>
                          <a:ext cx="28416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8" name="组合 97">
            <a:extLst>
              <a:ext uri="{FF2B5EF4-FFF2-40B4-BE49-F238E27FC236}">
                <a16:creationId xmlns:a16="http://schemas.microsoft.com/office/drawing/2014/main" id="{7A4CE297-0F8F-4D89-92D2-57213FE2BA67}"/>
              </a:ext>
            </a:extLst>
          </p:cNvPr>
          <p:cNvGrpSpPr>
            <a:grpSpLocks/>
          </p:cNvGrpSpPr>
          <p:nvPr/>
        </p:nvGrpSpPr>
        <p:grpSpPr bwMode="auto">
          <a:xfrm>
            <a:off x="5579294" y="1873963"/>
            <a:ext cx="2428875" cy="3441700"/>
            <a:chOff x="0" y="0"/>
            <a:chExt cx="2428892" cy="3441166"/>
          </a:xfrm>
        </p:grpSpPr>
        <p:cxnSp>
          <p:nvCxnSpPr>
            <p:cNvPr id="49" name="直接连接符 79">
              <a:extLst>
                <a:ext uri="{FF2B5EF4-FFF2-40B4-BE49-F238E27FC236}">
                  <a16:creationId xmlns:a16="http://schemas.microsoft.com/office/drawing/2014/main" id="{3399DC0F-0CAC-49F1-8985-8DC8D94AE2EB}"/>
                </a:ext>
              </a:extLst>
            </p:cNvPr>
            <p:cNvCxnSpPr>
              <a:cxnSpLocks noChangeShapeType="1"/>
            </p:cNvCxnSpPr>
            <p:nvPr/>
          </p:nvCxnSpPr>
          <p:spPr bwMode="auto">
            <a:xfrm rot="5400000">
              <a:off x="643834" y="2070567"/>
              <a:ext cx="1285675"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nvGrpSpPr>
            <p:cNvPr id="50" name="组合 96">
              <a:extLst>
                <a:ext uri="{FF2B5EF4-FFF2-40B4-BE49-F238E27FC236}">
                  <a16:creationId xmlns:a16="http://schemas.microsoft.com/office/drawing/2014/main" id="{916EC908-A349-4C15-842E-743B08D2E300}"/>
                </a:ext>
              </a:extLst>
            </p:cNvPr>
            <p:cNvGrpSpPr>
              <a:grpSpLocks/>
            </p:cNvGrpSpPr>
            <p:nvPr/>
          </p:nvGrpSpPr>
          <p:grpSpPr bwMode="auto">
            <a:xfrm>
              <a:off x="0" y="0"/>
              <a:ext cx="2428892" cy="3441166"/>
              <a:chOff x="0" y="0"/>
              <a:chExt cx="2428892" cy="3441166"/>
            </a:xfrm>
          </p:grpSpPr>
          <p:grpSp>
            <p:nvGrpSpPr>
              <p:cNvPr id="52" name="组合 47">
                <a:extLst>
                  <a:ext uri="{FF2B5EF4-FFF2-40B4-BE49-F238E27FC236}">
                    <a16:creationId xmlns:a16="http://schemas.microsoft.com/office/drawing/2014/main" id="{A1F645BB-18AC-4AB6-B4DF-55BDBBD9C69F}"/>
                  </a:ext>
                </a:extLst>
              </p:cNvPr>
              <p:cNvGrpSpPr>
                <a:grpSpLocks/>
              </p:cNvGrpSpPr>
              <p:nvPr/>
            </p:nvGrpSpPr>
            <p:grpSpPr bwMode="auto">
              <a:xfrm>
                <a:off x="0" y="0"/>
                <a:ext cx="2428892" cy="3441166"/>
                <a:chOff x="0" y="0"/>
                <a:chExt cx="2428892" cy="3441166"/>
              </a:xfrm>
            </p:grpSpPr>
            <p:cxnSp>
              <p:nvCxnSpPr>
                <p:cNvPr id="54" name="直接连接符 48">
                  <a:extLst>
                    <a:ext uri="{FF2B5EF4-FFF2-40B4-BE49-F238E27FC236}">
                      <a16:creationId xmlns:a16="http://schemas.microsoft.com/office/drawing/2014/main" id="{DC01268B-6542-4576-AD29-BC65D818635D}"/>
                    </a:ext>
                  </a:extLst>
                </p:cNvPr>
                <p:cNvCxnSpPr>
                  <a:cxnSpLocks noChangeShapeType="1"/>
                </p:cNvCxnSpPr>
                <p:nvPr/>
              </p:nvCxnSpPr>
              <p:spPr bwMode="auto">
                <a:xfrm>
                  <a:off x="285752" y="428558"/>
                  <a:ext cx="1643073" cy="1571381"/>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pSp>
              <p:nvGrpSpPr>
                <p:cNvPr id="55" name="组合 45">
                  <a:extLst>
                    <a:ext uri="{FF2B5EF4-FFF2-40B4-BE49-F238E27FC236}">
                      <a16:creationId xmlns:a16="http://schemas.microsoft.com/office/drawing/2014/main" id="{C3E4FF39-E6AA-433A-9809-68CEDDFD0024}"/>
                    </a:ext>
                  </a:extLst>
                </p:cNvPr>
                <p:cNvGrpSpPr>
                  <a:grpSpLocks/>
                </p:cNvGrpSpPr>
                <p:nvPr/>
              </p:nvGrpSpPr>
              <p:grpSpPr bwMode="auto">
                <a:xfrm>
                  <a:off x="0" y="0"/>
                  <a:ext cx="2428892" cy="3441166"/>
                  <a:chOff x="0" y="0"/>
                  <a:chExt cx="2428892" cy="3441166"/>
                </a:xfrm>
              </p:grpSpPr>
              <p:grpSp>
                <p:nvGrpSpPr>
                  <p:cNvPr id="56" name="组合 9">
                    <a:extLst>
                      <a:ext uri="{FF2B5EF4-FFF2-40B4-BE49-F238E27FC236}">
                        <a16:creationId xmlns:a16="http://schemas.microsoft.com/office/drawing/2014/main" id="{86FB22EA-DF89-4AE7-BF97-E9C183EF27C7}"/>
                      </a:ext>
                    </a:extLst>
                  </p:cNvPr>
                  <p:cNvGrpSpPr>
                    <a:grpSpLocks/>
                  </p:cNvGrpSpPr>
                  <p:nvPr/>
                </p:nvGrpSpPr>
                <p:grpSpPr bwMode="auto">
                  <a:xfrm>
                    <a:off x="284958" y="0"/>
                    <a:ext cx="2143934" cy="2715438"/>
                    <a:chOff x="0" y="0"/>
                    <a:chExt cx="2143934" cy="2715438"/>
                  </a:xfrm>
                </p:grpSpPr>
                <p:cxnSp>
                  <p:nvCxnSpPr>
                    <p:cNvPr id="64" name="直接箭头连接符 59">
                      <a:extLst>
                        <a:ext uri="{FF2B5EF4-FFF2-40B4-BE49-F238E27FC236}">
                          <a16:creationId xmlns:a16="http://schemas.microsoft.com/office/drawing/2014/main" id="{1A2D0C2F-5FD3-46D2-95D2-C051879CE14B}"/>
                        </a:ext>
                      </a:extLst>
                    </p:cNvPr>
                    <p:cNvCxnSpPr>
                      <a:cxnSpLocks noChangeShapeType="1"/>
                    </p:cNvCxnSpPr>
                    <p:nvPr/>
                  </p:nvCxnSpPr>
                  <p:spPr bwMode="auto">
                    <a:xfrm>
                      <a:off x="794" y="2714204"/>
                      <a:ext cx="2143140" cy="0"/>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65" name="直接箭头连接符 60">
                      <a:extLst>
                        <a:ext uri="{FF2B5EF4-FFF2-40B4-BE49-F238E27FC236}">
                          <a16:creationId xmlns:a16="http://schemas.microsoft.com/office/drawing/2014/main" id="{65B1E3AF-0B74-4B83-BFD7-E1A4C0EC1D0B}"/>
                        </a:ext>
                      </a:extLst>
                    </p:cNvPr>
                    <p:cNvCxnSpPr>
                      <a:cxnSpLocks noChangeShapeType="1"/>
                    </p:cNvCxnSpPr>
                    <p:nvPr/>
                  </p:nvCxnSpPr>
                  <p:spPr bwMode="auto">
                    <a:xfrm rot="5400000" flipH="1" flipV="1">
                      <a:off x="-1384084" y="1353127"/>
                      <a:ext cx="2715792" cy="9525"/>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grpSp>
              <p:graphicFrame>
                <p:nvGraphicFramePr>
                  <p:cNvPr id="57" name="Object 43">
                    <a:extLst>
                      <a:ext uri="{FF2B5EF4-FFF2-40B4-BE49-F238E27FC236}">
                        <a16:creationId xmlns:a16="http://schemas.microsoft.com/office/drawing/2014/main" id="{A1B9AA7B-5F06-4A1F-B0E9-C9A50A8DAD7F}"/>
                      </a:ext>
                    </a:extLst>
                  </p:cNvPr>
                  <p:cNvGraphicFramePr>
                    <a:graphicFrameLocks noChangeAspect="1"/>
                  </p:cNvGraphicFramePr>
                  <p:nvPr/>
                </p:nvGraphicFramePr>
                <p:xfrm>
                  <a:off x="0" y="427834"/>
                  <a:ext cx="212725" cy="230188"/>
                </p:xfrm>
                <a:graphic>
                  <a:graphicData uri="http://schemas.openxmlformats.org/presentationml/2006/ole">
                    <mc:AlternateContent xmlns:mc="http://schemas.openxmlformats.org/markup-compatibility/2006">
                      <mc:Choice xmlns:v="urn:schemas-microsoft-com:vml" Requires="v">
                        <p:oleObj spid="_x0000_s197939" r:id="rId25" imgW="153332" imgH="166109" progId="">
                          <p:embed/>
                        </p:oleObj>
                      </mc:Choice>
                      <mc:Fallback>
                        <p:oleObj r:id="rId25" imgW="153332" imgH="166109" progId="">
                          <p:embed/>
                          <p:pic>
                            <p:nvPicPr>
                              <p:cNvPr id="57" name="Object 43">
                                <a:extLst>
                                  <a:ext uri="{FF2B5EF4-FFF2-40B4-BE49-F238E27FC236}">
                                    <a16:creationId xmlns:a16="http://schemas.microsoft.com/office/drawing/2014/main" id="{A1B9AA7B-5F06-4A1F-B0E9-C9A50A8DAD7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427834"/>
                                <a:ext cx="212725"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 name="Object 44">
                    <a:extLst>
                      <a:ext uri="{FF2B5EF4-FFF2-40B4-BE49-F238E27FC236}">
                        <a16:creationId xmlns:a16="http://schemas.microsoft.com/office/drawing/2014/main" id="{B3F8E0F7-06D9-44B4-BC92-D24DFF5B0220}"/>
                      </a:ext>
                    </a:extLst>
                  </p:cNvPr>
                  <p:cNvGraphicFramePr>
                    <a:graphicFrameLocks noChangeAspect="1"/>
                  </p:cNvGraphicFramePr>
                  <p:nvPr/>
                </p:nvGraphicFramePr>
                <p:xfrm>
                  <a:off x="0" y="2785288"/>
                  <a:ext cx="212725" cy="247650"/>
                </p:xfrm>
                <a:graphic>
                  <a:graphicData uri="http://schemas.openxmlformats.org/presentationml/2006/ole">
                    <mc:AlternateContent xmlns:mc="http://schemas.openxmlformats.org/markup-compatibility/2006">
                      <mc:Choice xmlns:v="urn:schemas-microsoft-com:vml" Requires="v">
                        <p:oleObj spid="_x0000_s197940" r:id="rId26" imgW="153198" imgH="178731" progId="">
                          <p:embed/>
                        </p:oleObj>
                      </mc:Choice>
                      <mc:Fallback>
                        <p:oleObj r:id="rId26" imgW="153198" imgH="178731" progId="">
                          <p:embed/>
                          <p:pic>
                            <p:nvPicPr>
                              <p:cNvPr id="58" name="Object 44">
                                <a:extLst>
                                  <a:ext uri="{FF2B5EF4-FFF2-40B4-BE49-F238E27FC236}">
                                    <a16:creationId xmlns:a16="http://schemas.microsoft.com/office/drawing/2014/main" id="{B3F8E0F7-06D9-44B4-BC92-D24DFF5B022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2785288"/>
                                <a:ext cx="212725"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 name="Object 45">
                    <a:extLst>
                      <a:ext uri="{FF2B5EF4-FFF2-40B4-BE49-F238E27FC236}">
                        <a16:creationId xmlns:a16="http://schemas.microsoft.com/office/drawing/2014/main" id="{06F8784C-A3CB-4A77-B023-ED98736ECE8E}"/>
                      </a:ext>
                    </a:extLst>
                  </p:cNvPr>
                  <p:cNvGraphicFramePr>
                    <a:graphicFrameLocks noChangeAspect="1"/>
                  </p:cNvGraphicFramePr>
                  <p:nvPr/>
                </p:nvGraphicFramePr>
                <p:xfrm>
                  <a:off x="1092188" y="2786068"/>
                  <a:ext cx="777875" cy="320675"/>
                </p:xfrm>
                <a:graphic>
                  <a:graphicData uri="http://schemas.openxmlformats.org/presentationml/2006/ole">
                    <mc:AlternateContent xmlns:mc="http://schemas.openxmlformats.org/markup-compatibility/2006">
                      <mc:Choice xmlns:v="urn:schemas-microsoft-com:vml" Requires="v">
                        <p:oleObj spid="_x0000_s197941" r:id="rId27" imgW="560015" imgH="229097" progId="">
                          <p:embed/>
                        </p:oleObj>
                      </mc:Choice>
                      <mc:Fallback>
                        <p:oleObj r:id="rId27" imgW="560015" imgH="229097" progId="">
                          <p:embed/>
                          <p:pic>
                            <p:nvPicPr>
                              <p:cNvPr id="59" name="Object 45">
                                <a:extLst>
                                  <a:ext uri="{FF2B5EF4-FFF2-40B4-BE49-F238E27FC236}">
                                    <a16:creationId xmlns:a16="http://schemas.microsoft.com/office/drawing/2014/main" id="{06F8784C-A3CB-4A77-B023-ED98736ECE8E}"/>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092188" y="2786068"/>
                                <a:ext cx="77787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0" name="Object 46">
                    <a:extLst>
                      <a:ext uri="{FF2B5EF4-FFF2-40B4-BE49-F238E27FC236}">
                        <a16:creationId xmlns:a16="http://schemas.microsoft.com/office/drawing/2014/main" id="{5A1ADAB3-C421-4D72-B385-165FE955F523}"/>
                      </a:ext>
                    </a:extLst>
                  </p:cNvPr>
                  <p:cNvGraphicFramePr>
                    <a:graphicFrameLocks noChangeAspect="1"/>
                  </p:cNvGraphicFramePr>
                  <p:nvPr/>
                </p:nvGraphicFramePr>
                <p:xfrm>
                  <a:off x="714380" y="2785288"/>
                  <a:ext cx="301625" cy="320675"/>
                </p:xfrm>
                <a:graphic>
                  <a:graphicData uri="http://schemas.openxmlformats.org/presentationml/2006/ole">
                    <mc:AlternateContent xmlns:mc="http://schemas.openxmlformats.org/markup-compatibility/2006">
                      <mc:Choice xmlns:v="urn:schemas-microsoft-com:vml" Requires="v">
                        <p:oleObj spid="_x0000_s197942" r:id="rId29" imgW="216747" imgH="229496" progId="">
                          <p:embed/>
                        </p:oleObj>
                      </mc:Choice>
                      <mc:Fallback>
                        <p:oleObj r:id="rId29" imgW="216747" imgH="229496" progId="">
                          <p:embed/>
                          <p:pic>
                            <p:nvPicPr>
                              <p:cNvPr id="60" name="Object 46">
                                <a:extLst>
                                  <a:ext uri="{FF2B5EF4-FFF2-40B4-BE49-F238E27FC236}">
                                    <a16:creationId xmlns:a16="http://schemas.microsoft.com/office/drawing/2014/main" id="{5A1ADAB3-C421-4D72-B385-165FE955F52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4380" y="2785288"/>
                                <a:ext cx="3016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61" name="直接连接符 56">
                    <a:extLst>
                      <a:ext uri="{FF2B5EF4-FFF2-40B4-BE49-F238E27FC236}">
                        <a16:creationId xmlns:a16="http://schemas.microsoft.com/office/drawing/2014/main" id="{E7197882-37D7-4187-BEBA-1A18EF54B89F}"/>
                      </a:ext>
                    </a:extLst>
                  </p:cNvPr>
                  <p:cNvCxnSpPr>
                    <a:cxnSpLocks noChangeShapeType="1"/>
                  </p:cNvCxnSpPr>
                  <p:nvPr/>
                </p:nvCxnSpPr>
                <p:spPr bwMode="auto">
                  <a:xfrm>
                    <a:off x="285752" y="1428528"/>
                    <a:ext cx="1000132" cy="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62" name="直接连接符 57">
                    <a:extLst>
                      <a:ext uri="{FF2B5EF4-FFF2-40B4-BE49-F238E27FC236}">
                        <a16:creationId xmlns:a16="http://schemas.microsoft.com/office/drawing/2014/main" id="{83701AF4-D729-4C16-A709-0A5561FE669B}"/>
                      </a:ext>
                    </a:extLst>
                  </p:cNvPr>
                  <p:cNvCxnSpPr>
                    <a:cxnSpLocks noChangeShapeType="1"/>
                  </p:cNvCxnSpPr>
                  <p:nvPr/>
                </p:nvCxnSpPr>
                <p:spPr bwMode="auto">
                  <a:xfrm rot="5400000">
                    <a:off x="143767" y="2070567"/>
                    <a:ext cx="1285675"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sp>
                <p:nvSpPr>
                  <p:cNvPr id="63" name="TextBox 58">
                    <a:extLst>
                      <a:ext uri="{FF2B5EF4-FFF2-40B4-BE49-F238E27FC236}">
                        <a16:creationId xmlns:a16="http://schemas.microsoft.com/office/drawing/2014/main" id="{BAE5FF70-0678-44C8-A20D-EC1CF850B489}"/>
                      </a:ext>
                    </a:extLst>
                  </p:cNvPr>
                  <p:cNvSpPr txBox="1">
                    <a:spLocks noChangeArrowheads="1"/>
                  </p:cNvSpPr>
                  <p:nvPr/>
                </p:nvSpPr>
                <p:spPr bwMode="auto">
                  <a:xfrm>
                    <a:off x="1143008" y="3071834"/>
                    <a:ext cx="4539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0" dirty="0">
                        <a:solidFill>
                          <a:schemeClr val="tx1"/>
                        </a:solidFill>
                        <a:latin typeface="微软雅黑" panose="020B0503020204020204" pitchFamily="34" charset="-122"/>
                      </a:rPr>
                      <a:t>(c)</a:t>
                    </a:r>
                    <a:endParaRPr lang="zh-CN" altLang="en-US" sz="1800" b="0" dirty="0">
                      <a:solidFill>
                        <a:schemeClr val="tx1"/>
                      </a:solidFill>
                      <a:latin typeface="微软雅黑" panose="020B0503020204020204" pitchFamily="34" charset="-122"/>
                    </a:endParaRPr>
                  </a:p>
                </p:txBody>
              </p:sp>
            </p:grpSp>
          </p:grpSp>
          <p:graphicFrame>
            <p:nvGraphicFramePr>
              <p:cNvPr id="53" name="Object 50">
                <a:extLst>
                  <a:ext uri="{FF2B5EF4-FFF2-40B4-BE49-F238E27FC236}">
                    <a16:creationId xmlns:a16="http://schemas.microsoft.com/office/drawing/2014/main" id="{9877F4F6-36D2-4162-AB8B-1339EDDB5A99}"/>
                  </a:ext>
                </a:extLst>
              </p:cNvPr>
              <p:cNvGraphicFramePr>
                <a:graphicFrameLocks noChangeAspect="1"/>
              </p:cNvGraphicFramePr>
              <p:nvPr/>
            </p:nvGraphicFramePr>
            <p:xfrm>
              <a:off x="1928826" y="2071702"/>
              <a:ext cx="231775" cy="231775"/>
            </p:xfrm>
            <a:graphic>
              <a:graphicData uri="http://schemas.openxmlformats.org/presentationml/2006/ole">
                <mc:AlternateContent xmlns:mc="http://schemas.openxmlformats.org/markup-compatibility/2006">
                  <mc:Choice xmlns:v="urn:schemas-microsoft-com:vml" Requires="v">
                    <p:oleObj spid="_x0000_s197943" r:id="rId30" imgW="166037" imgH="166037" progId="">
                      <p:embed/>
                    </p:oleObj>
                  </mc:Choice>
                  <mc:Fallback>
                    <p:oleObj r:id="rId30" imgW="166037" imgH="166037" progId="">
                      <p:embed/>
                      <p:pic>
                        <p:nvPicPr>
                          <p:cNvPr id="53" name="Object 50">
                            <a:extLst>
                              <a:ext uri="{FF2B5EF4-FFF2-40B4-BE49-F238E27FC236}">
                                <a16:creationId xmlns:a16="http://schemas.microsoft.com/office/drawing/2014/main" id="{9877F4F6-36D2-4162-AB8B-1339EDDB5A99}"/>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928826" y="2071702"/>
                            <a:ext cx="231775"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51" name="Object 51">
              <a:extLst>
                <a:ext uri="{FF2B5EF4-FFF2-40B4-BE49-F238E27FC236}">
                  <a16:creationId xmlns:a16="http://schemas.microsoft.com/office/drawing/2014/main" id="{581BC4A8-1839-42E2-8662-EE5D6C2ED037}"/>
                </a:ext>
              </a:extLst>
            </p:cNvPr>
            <p:cNvGraphicFramePr>
              <a:graphicFrameLocks noChangeAspect="1"/>
            </p:cNvGraphicFramePr>
            <p:nvPr/>
          </p:nvGraphicFramePr>
          <p:xfrm>
            <a:off x="2214578" y="2786082"/>
            <a:ext cx="212725" cy="285750"/>
          </p:xfrm>
          <a:graphic>
            <a:graphicData uri="http://schemas.openxmlformats.org/presentationml/2006/ole">
              <mc:AlternateContent xmlns:mc="http://schemas.openxmlformats.org/markup-compatibility/2006">
                <mc:Choice xmlns:v="urn:schemas-microsoft-com:vml" Requires="v">
                  <p:oleObj spid="_x0000_s197944" r:id="rId32" imgW="153332" imgH="204442" progId="">
                    <p:embed/>
                  </p:oleObj>
                </mc:Choice>
                <mc:Fallback>
                  <p:oleObj r:id="rId32" imgW="153332" imgH="204442" progId="">
                    <p:embed/>
                    <p:pic>
                      <p:nvPicPr>
                        <p:cNvPr id="51" name="Object 51">
                          <a:extLst>
                            <a:ext uri="{FF2B5EF4-FFF2-40B4-BE49-F238E27FC236}">
                              <a16:creationId xmlns:a16="http://schemas.microsoft.com/office/drawing/2014/main" id="{581BC4A8-1839-42E2-8662-EE5D6C2ED037}"/>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214578" y="2786082"/>
                          <a:ext cx="212725"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cxnSp>
        <p:nvCxnSpPr>
          <p:cNvPr id="66" name="直接连接符 92">
            <a:extLst>
              <a:ext uri="{FF2B5EF4-FFF2-40B4-BE49-F238E27FC236}">
                <a16:creationId xmlns:a16="http://schemas.microsoft.com/office/drawing/2014/main" id="{300CBD39-9CA0-46F2-B975-6B441AC2ED09}"/>
              </a:ext>
            </a:extLst>
          </p:cNvPr>
          <p:cNvCxnSpPr>
            <a:cxnSpLocks noChangeShapeType="1"/>
          </p:cNvCxnSpPr>
          <p:nvPr/>
        </p:nvCxnSpPr>
        <p:spPr bwMode="auto">
          <a:xfrm>
            <a:off x="1402582" y="3315413"/>
            <a:ext cx="1928812"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7" name="Object 4">
            <a:extLst>
              <a:ext uri="{FF2B5EF4-FFF2-40B4-BE49-F238E27FC236}">
                <a16:creationId xmlns:a16="http://schemas.microsoft.com/office/drawing/2014/main" id="{183EBF2B-9E66-4E61-B11C-AEC19ECB892F}"/>
              </a:ext>
            </a:extLst>
          </p:cNvPr>
          <p:cNvGraphicFramePr>
            <a:graphicFrameLocks noChangeAspect="1"/>
          </p:cNvGraphicFramePr>
          <p:nvPr/>
        </p:nvGraphicFramePr>
        <p:xfrm>
          <a:off x="5146973" y="5367418"/>
          <a:ext cx="3360360" cy="581231"/>
        </p:xfrm>
        <a:graphic>
          <a:graphicData uri="http://schemas.openxmlformats.org/presentationml/2006/ole">
            <mc:AlternateContent xmlns:mc="http://schemas.openxmlformats.org/markup-compatibility/2006">
              <mc:Choice xmlns:v="urn:schemas-microsoft-com:vml" Requires="v">
                <p:oleObj spid="_x0000_s197945" r:id="rId34" imgW="1981200" imgH="342900" progId="">
                  <p:embed/>
                </p:oleObj>
              </mc:Choice>
              <mc:Fallback>
                <p:oleObj r:id="rId34" imgW="1981200" imgH="342900" progId="">
                  <p:embed/>
                  <p:pic>
                    <p:nvPicPr>
                      <p:cNvPr id="67" name="Object 4">
                        <a:extLst>
                          <a:ext uri="{FF2B5EF4-FFF2-40B4-BE49-F238E27FC236}">
                            <a16:creationId xmlns:a16="http://schemas.microsoft.com/office/drawing/2014/main" id="{183EBF2B-9E66-4E61-B11C-AEC19ECB892F}"/>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5146973" y="5367418"/>
                        <a:ext cx="3360360" cy="58123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7165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33"/>
                                        </p:tgtEl>
                                        <p:attrNameLst>
                                          <p:attrName>style.visibility</p:attrName>
                                        </p:attrNameLst>
                                      </p:cBhvr>
                                      <p:to>
                                        <p:strVal val="visible"/>
                                      </p:to>
                                    </p:set>
                                    <p:anim calcmode="lin" valueType="num">
                                      <p:cBhvr additive="base">
                                        <p:cTn id="18" dur="500" fill="hold"/>
                                        <p:tgtEl>
                                          <p:spTgt spid="33"/>
                                        </p:tgtEl>
                                        <p:attrNameLst>
                                          <p:attrName>ppt_x</p:attrName>
                                        </p:attrNameLst>
                                      </p:cBhvr>
                                      <p:tavLst>
                                        <p:tav tm="0">
                                          <p:val>
                                            <p:strVal val="0-#ppt_w/2"/>
                                          </p:val>
                                        </p:tav>
                                        <p:tav tm="100000">
                                          <p:val>
                                            <p:strVal val="#ppt_x"/>
                                          </p:val>
                                        </p:tav>
                                      </p:tavLst>
                                    </p:anim>
                                    <p:anim calcmode="lin" valueType="num">
                                      <p:cBhvr additive="base">
                                        <p:cTn id="19" dur="500" fill="hold"/>
                                        <p:tgtEl>
                                          <p:spTgt spid="33"/>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499"/>
                                          </p:stCondLst>
                                        </p:cTn>
                                        <p:tgtEl>
                                          <p:spTgt spid="6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67"/>
                                        </p:tgtEl>
                                        <p:attrNameLst>
                                          <p:attrName>style.visibility</p:attrName>
                                        </p:attrNameLst>
                                      </p:cBhvr>
                                      <p:to>
                                        <p:strVal val="visible"/>
                                      </p:to>
                                    </p:set>
                                    <p:anim calcmode="lin" valueType="num">
                                      <p:cBhvr>
                                        <p:cTn id="27" dur="500" fill="hold"/>
                                        <p:tgtEl>
                                          <p:spTgt spid="67"/>
                                        </p:tgtEl>
                                        <p:attrNameLst>
                                          <p:attrName>ppt_w</p:attrName>
                                        </p:attrNameLst>
                                      </p:cBhvr>
                                      <p:tavLst>
                                        <p:tav tm="0">
                                          <p:val>
                                            <p:fltVal val="0"/>
                                          </p:val>
                                        </p:tav>
                                        <p:tav tm="100000">
                                          <p:val>
                                            <p:strVal val="#ppt_w"/>
                                          </p:val>
                                        </p:tav>
                                      </p:tavLst>
                                    </p:anim>
                                    <p:anim calcmode="lin" valueType="num">
                                      <p:cBhvr>
                                        <p:cTn id="28" dur="500" fill="hold"/>
                                        <p:tgtEl>
                                          <p:spTgt spid="67"/>
                                        </p:tgtEl>
                                        <p:attrNameLst>
                                          <p:attrName>ppt_h</p:attrName>
                                        </p:attrNameLst>
                                      </p:cBhvr>
                                      <p:tavLst>
                                        <p:tav tm="0">
                                          <p:val>
                                            <p:fltVal val="0"/>
                                          </p:val>
                                        </p:tav>
                                        <p:tav tm="100000">
                                          <p:val>
                                            <p:strVal val="#ppt_h"/>
                                          </p:val>
                                        </p:tav>
                                      </p:tavLst>
                                    </p:anim>
                                    <p:animEffect transition="in" filter="fade">
                                      <p:cBhvr>
                                        <p:cTn id="29" dur="500"/>
                                        <p:tgtEl>
                                          <p:spTgt spid="67"/>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499"/>
                                          </p:stCondLst>
                                        </p:cTn>
                                        <p:tgtEl>
                                          <p:spTgt spid="14"/>
                                        </p:tgtEl>
                                        <p:attrNameLst>
                                          <p:attrName>style.visibility</p:attrName>
                                        </p:attrNameLst>
                                      </p:cBhvr>
                                      <p:to>
                                        <p:strVal val="visible"/>
                                      </p:to>
                                    </p:set>
                                  </p:childTnLst>
                                </p:cTn>
                              </p:par>
                            </p:childTnLst>
                          </p:cTn>
                        </p:par>
                        <p:par>
                          <p:cTn id="34" fill="hold">
                            <p:stCondLst>
                              <p:cond delay="500"/>
                            </p:stCondLst>
                            <p:childTnLst>
                              <p:par>
                                <p:cTn id="35" presetID="1" presetClass="entr" presetSubtype="0" fill="hold" nodeType="afterEffect">
                                  <p:stCondLst>
                                    <p:cond delay="0"/>
                                  </p:stCondLst>
                                  <p:childTnLst>
                                    <p:set>
                                      <p:cBhvr>
                                        <p:cTn id="36" dur="1" fill="hold">
                                          <p:stCondLst>
                                            <p:cond delay="499"/>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D27843F-C8C8-4131-BFDC-E49DAECFC098}"/>
              </a:ext>
            </a:extLst>
          </p:cNvPr>
          <p:cNvSpPr/>
          <p:nvPr/>
        </p:nvSpPr>
        <p:spPr>
          <a:xfrm>
            <a:off x="3108792" y="533598"/>
            <a:ext cx="2906565" cy="646331"/>
          </a:xfrm>
          <a:prstGeom prst="rect">
            <a:avLst/>
          </a:prstGeom>
        </p:spPr>
        <p:txBody>
          <a:bodyPr wrap="none">
            <a:spAutoFit/>
          </a:bodyPr>
          <a:lstStyle/>
          <a:p>
            <a:r>
              <a:rPr lang="zh-CN" altLang="en-US" sz="3600" b="1" dirty="0">
                <a:latin typeface="微软雅黑" panose="020B0503020204020204" pitchFamily="34" charset="-122"/>
                <a:ea typeface="微软雅黑" panose="020B0503020204020204" pitchFamily="34" charset="-122"/>
                <a:cs typeface="+mj-cs"/>
              </a:rPr>
              <a:t>第二节   供给</a:t>
            </a:r>
          </a:p>
        </p:txBody>
      </p:sp>
      <p:sp>
        <p:nvSpPr>
          <p:cNvPr id="3" name="MH_Other_1">
            <a:extLst>
              <a:ext uri="{FF2B5EF4-FFF2-40B4-BE49-F238E27FC236}">
                <a16:creationId xmlns:a16="http://schemas.microsoft.com/office/drawing/2014/main" id="{E49827CC-25A7-41B2-867D-685134B4A529}"/>
              </a:ext>
            </a:extLst>
          </p:cNvPr>
          <p:cNvSpPr>
            <a:spLocks/>
          </p:cNvSpPr>
          <p:nvPr>
            <p:custDataLst>
              <p:tags r:id="rId1"/>
            </p:custDataLst>
          </p:nvPr>
        </p:nvSpPr>
        <p:spPr bwMode="gray">
          <a:xfrm>
            <a:off x="1831951" y="1906468"/>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2"/>
            </p:custDataLst>
          </p:nvPr>
        </p:nvSpPr>
        <p:spPr bwMode="gray">
          <a:xfrm>
            <a:off x="1763688" y="1604843"/>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5" name="MH_Other_2">
            <a:extLst>
              <a:ext uri="{FF2B5EF4-FFF2-40B4-BE49-F238E27FC236}">
                <a16:creationId xmlns:a16="http://schemas.microsoft.com/office/drawing/2014/main" id="{DB311A0E-78D0-4766-B201-6B5608EF753D}"/>
              </a:ext>
            </a:extLst>
          </p:cNvPr>
          <p:cNvSpPr>
            <a:spLocks/>
          </p:cNvSpPr>
          <p:nvPr>
            <p:custDataLst>
              <p:tags r:id="rId3"/>
            </p:custDataLst>
          </p:nvPr>
        </p:nvSpPr>
        <p:spPr bwMode="gray">
          <a:xfrm>
            <a:off x="1831951" y="2790705"/>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6" name="MH_SubTitle_2">
            <a:extLst>
              <a:ext uri="{FF2B5EF4-FFF2-40B4-BE49-F238E27FC236}">
                <a16:creationId xmlns:a16="http://schemas.microsoft.com/office/drawing/2014/main" id="{324FEB12-6B52-4D2F-B5C9-D9A603800236}"/>
              </a:ext>
            </a:extLst>
          </p:cNvPr>
          <p:cNvSpPr>
            <a:spLocks noChangeArrowheads="1"/>
          </p:cNvSpPr>
          <p:nvPr>
            <p:custDataLst>
              <p:tags r:id="rId4"/>
            </p:custDataLst>
          </p:nvPr>
        </p:nvSpPr>
        <p:spPr bwMode="gray">
          <a:xfrm>
            <a:off x="1763688" y="2489080"/>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7" name="MH_Other_3">
            <a:extLst>
              <a:ext uri="{FF2B5EF4-FFF2-40B4-BE49-F238E27FC236}">
                <a16:creationId xmlns:a16="http://schemas.microsoft.com/office/drawing/2014/main" id="{9F9167DD-6270-4A4E-9E47-20FB88C3F048}"/>
              </a:ext>
            </a:extLst>
          </p:cNvPr>
          <p:cNvSpPr>
            <a:spLocks/>
          </p:cNvSpPr>
          <p:nvPr>
            <p:custDataLst>
              <p:tags r:id="rId5"/>
            </p:custDataLst>
          </p:nvPr>
        </p:nvSpPr>
        <p:spPr bwMode="gray">
          <a:xfrm>
            <a:off x="1831951" y="3674943"/>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8" name="MH_SubTitle_3">
            <a:extLst>
              <a:ext uri="{FF2B5EF4-FFF2-40B4-BE49-F238E27FC236}">
                <a16:creationId xmlns:a16="http://schemas.microsoft.com/office/drawing/2014/main" id="{3FEC77B5-DB98-453D-BDBC-6598DEA48C49}"/>
              </a:ext>
            </a:extLst>
          </p:cNvPr>
          <p:cNvSpPr>
            <a:spLocks noChangeArrowheads="1"/>
          </p:cNvSpPr>
          <p:nvPr>
            <p:custDataLst>
              <p:tags r:id="rId6"/>
            </p:custDataLst>
          </p:nvPr>
        </p:nvSpPr>
        <p:spPr bwMode="gray">
          <a:xfrm>
            <a:off x="1763688" y="3373318"/>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9" name="MH_Other_4">
            <a:extLst>
              <a:ext uri="{FF2B5EF4-FFF2-40B4-BE49-F238E27FC236}">
                <a16:creationId xmlns:a16="http://schemas.microsoft.com/office/drawing/2014/main" id="{49EAC476-10C1-4DAF-AEAB-4D58FAA0C0DE}"/>
              </a:ext>
            </a:extLst>
          </p:cNvPr>
          <p:cNvSpPr>
            <a:spLocks/>
          </p:cNvSpPr>
          <p:nvPr>
            <p:custDataLst>
              <p:tags r:id="rId7"/>
            </p:custDataLst>
          </p:nvPr>
        </p:nvSpPr>
        <p:spPr bwMode="gray">
          <a:xfrm>
            <a:off x="1831951" y="4559180"/>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0" name="MH_SubTitle_4">
            <a:extLst>
              <a:ext uri="{FF2B5EF4-FFF2-40B4-BE49-F238E27FC236}">
                <a16:creationId xmlns:a16="http://schemas.microsoft.com/office/drawing/2014/main" id="{906C2589-D3EE-4ADE-A5EC-65B915A21062}"/>
              </a:ext>
            </a:extLst>
          </p:cNvPr>
          <p:cNvSpPr>
            <a:spLocks noChangeArrowheads="1"/>
          </p:cNvSpPr>
          <p:nvPr>
            <p:custDataLst>
              <p:tags r:id="rId8"/>
            </p:custDataLst>
          </p:nvPr>
        </p:nvSpPr>
        <p:spPr bwMode="gray">
          <a:xfrm>
            <a:off x="1763688" y="4259143"/>
            <a:ext cx="1158875" cy="354012"/>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四</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1" name="MH_Other_5">
            <a:extLst>
              <a:ext uri="{FF2B5EF4-FFF2-40B4-BE49-F238E27FC236}">
                <a16:creationId xmlns:a16="http://schemas.microsoft.com/office/drawing/2014/main" id="{25D06B7F-7DCD-4D03-A450-0AAC55A41525}"/>
              </a:ext>
            </a:extLst>
          </p:cNvPr>
          <p:cNvCxnSpPr>
            <a:stCxn id="4" idx="2"/>
            <a:endCxn id="6" idx="0"/>
          </p:cNvCxnSpPr>
          <p:nvPr>
            <p:custDataLst>
              <p:tags r:id="rId9"/>
            </p:custDataLst>
          </p:nvPr>
        </p:nvCxnSpPr>
        <p:spPr>
          <a:xfrm>
            <a:off x="2343126" y="1960443"/>
            <a:ext cx="0" cy="52863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2" name="MH_Other_6">
            <a:extLst>
              <a:ext uri="{FF2B5EF4-FFF2-40B4-BE49-F238E27FC236}">
                <a16:creationId xmlns:a16="http://schemas.microsoft.com/office/drawing/2014/main" id="{B30D78AD-B3DA-44A6-A5F6-F28D02655A40}"/>
              </a:ext>
            </a:extLst>
          </p:cNvPr>
          <p:cNvCxnSpPr>
            <a:stCxn id="6" idx="2"/>
            <a:endCxn id="8" idx="0"/>
          </p:cNvCxnSpPr>
          <p:nvPr>
            <p:custDataLst>
              <p:tags r:id="rId10"/>
            </p:custDataLst>
          </p:nvPr>
        </p:nvCxnSpPr>
        <p:spPr>
          <a:xfrm>
            <a:off x="2343126" y="2844680"/>
            <a:ext cx="0" cy="528638"/>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3" name="MH_Other_7">
            <a:extLst>
              <a:ext uri="{FF2B5EF4-FFF2-40B4-BE49-F238E27FC236}">
                <a16:creationId xmlns:a16="http://schemas.microsoft.com/office/drawing/2014/main" id="{DF653FE5-3B26-45B8-A03B-DDBD47BE3AA3}"/>
              </a:ext>
            </a:extLst>
          </p:cNvPr>
          <p:cNvCxnSpPr>
            <a:stCxn id="8" idx="2"/>
            <a:endCxn id="10" idx="0"/>
          </p:cNvCxnSpPr>
          <p:nvPr>
            <p:custDataLst>
              <p:tags r:id="rId11"/>
            </p:custDataLst>
          </p:nvPr>
        </p:nvCxnSpPr>
        <p:spPr>
          <a:xfrm>
            <a:off x="2343126" y="3728918"/>
            <a:ext cx="0" cy="530225"/>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4" name="MH_Other_8">
            <a:extLst>
              <a:ext uri="{FF2B5EF4-FFF2-40B4-BE49-F238E27FC236}">
                <a16:creationId xmlns:a16="http://schemas.microsoft.com/office/drawing/2014/main" id="{77A701BE-7972-41BF-905D-AEBB5D217CA4}"/>
              </a:ext>
            </a:extLst>
          </p:cNvPr>
          <p:cNvSpPr>
            <a:spLocks/>
          </p:cNvSpPr>
          <p:nvPr>
            <p:custDataLst>
              <p:tags r:id="rId12"/>
            </p:custDataLst>
          </p:nvPr>
        </p:nvSpPr>
        <p:spPr bwMode="gray">
          <a:xfrm>
            <a:off x="1831951" y="5416430"/>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5" name="MH_SubTitle_5">
            <a:extLst>
              <a:ext uri="{FF2B5EF4-FFF2-40B4-BE49-F238E27FC236}">
                <a16:creationId xmlns:a16="http://schemas.microsoft.com/office/drawing/2014/main" id="{75368CAB-27CD-4703-8972-304F98A68B85}"/>
              </a:ext>
            </a:extLst>
          </p:cNvPr>
          <p:cNvSpPr>
            <a:spLocks noChangeArrowheads="1"/>
          </p:cNvSpPr>
          <p:nvPr>
            <p:custDataLst>
              <p:tags r:id="rId13"/>
            </p:custDataLst>
          </p:nvPr>
        </p:nvSpPr>
        <p:spPr bwMode="gray">
          <a:xfrm>
            <a:off x="1763688" y="5114805"/>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五</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6" name="MH_Other_9">
            <a:extLst>
              <a:ext uri="{FF2B5EF4-FFF2-40B4-BE49-F238E27FC236}">
                <a16:creationId xmlns:a16="http://schemas.microsoft.com/office/drawing/2014/main" id="{F0DEA2FD-8402-4B14-A5DB-4DADFF8B4F5E}"/>
              </a:ext>
            </a:extLst>
          </p:cNvPr>
          <p:cNvCxnSpPr>
            <a:endCxn id="15" idx="0"/>
          </p:cNvCxnSpPr>
          <p:nvPr>
            <p:custDataLst>
              <p:tags r:id="rId14"/>
            </p:custDataLst>
          </p:nvPr>
        </p:nvCxnSpPr>
        <p:spPr>
          <a:xfrm>
            <a:off x="2343126" y="4586168"/>
            <a:ext cx="0" cy="52863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7" name="矩形 16">
            <a:extLst>
              <a:ext uri="{FF2B5EF4-FFF2-40B4-BE49-F238E27FC236}">
                <a16:creationId xmlns:a16="http://schemas.microsoft.com/office/drawing/2014/main" id="{66A93A4A-F736-4CF5-82B6-87D5F4B7E4E5}"/>
              </a:ext>
            </a:extLst>
          </p:cNvPr>
          <p:cNvSpPr/>
          <p:nvPr/>
        </p:nvSpPr>
        <p:spPr>
          <a:xfrm>
            <a:off x="3128963" y="1564570"/>
            <a:ext cx="1819729"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供给的概念</a:t>
            </a:r>
          </a:p>
        </p:txBody>
      </p:sp>
      <p:sp>
        <p:nvSpPr>
          <p:cNvPr id="18" name="矩形 17">
            <a:extLst>
              <a:ext uri="{FF2B5EF4-FFF2-40B4-BE49-F238E27FC236}">
                <a16:creationId xmlns:a16="http://schemas.microsoft.com/office/drawing/2014/main" id="{6BA99CA7-A4CC-4245-BA58-DB89FA49F037}"/>
              </a:ext>
            </a:extLst>
          </p:cNvPr>
          <p:cNvSpPr/>
          <p:nvPr/>
        </p:nvSpPr>
        <p:spPr>
          <a:xfrm>
            <a:off x="3125168" y="2461790"/>
            <a:ext cx="1492716"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供给规律</a:t>
            </a:r>
          </a:p>
        </p:txBody>
      </p:sp>
      <p:sp>
        <p:nvSpPr>
          <p:cNvPr id="19" name="矩形 18">
            <a:extLst>
              <a:ext uri="{FF2B5EF4-FFF2-40B4-BE49-F238E27FC236}">
                <a16:creationId xmlns:a16="http://schemas.microsoft.com/office/drawing/2014/main" id="{018105B0-EC74-4F50-9B33-7F18FF6C04E7}"/>
              </a:ext>
            </a:extLst>
          </p:cNvPr>
          <p:cNvSpPr/>
          <p:nvPr/>
        </p:nvSpPr>
        <p:spPr>
          <a:xfrm>
            <a:off x="3125168" y="3359010"/>
            <a:ext cx="3454792"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影响供给量的其他因素</a:t>
            </a:r>
          </a:p>
        </p:txBody>
      </p:sp>
      <p:sp>
        <p:nvSpPr>
          <p:cNvPr id="20" name="矩形 19">
            <a:extLst>
              <a:ext uri="{FF2B5EF4-FFF2-40B4-BE49-F238E27FC236}">
                <a16:creationId xmlns:a16="http://schemas.microsoft.com/office/drawing/2014/main" id="{E52AEF20-C2D6-4C68-8E54-0EF930AB28A2}"/>
              </a:ext>
            </a:extLst>
          </p:cNvPr>
          <p:cNvSpPr/>
          <p:nvPr/>
        </p:nvSpPr>
        <p:spPr>
          <a:xfrm>
            <a:off x="3125168" y="4205316"/>
            <a:ext cx="4108817" cy="461665"/>
          </a:xfrm>
          <a:prstGeom prst="rect">
            <a:avLst/>
          </a:prstGeom>
        </p:spPr>
        <p:txBody>
          <a:bodyPr wrap="none">
            <a:spAutoFit/>
          </a:bodyPr>
          <a:lstStyle/>
          <a:p>
            <a:pPr>
              <a:buFontTx/>
              <a:buNone/>
            </a:pPr>
            <a:r>
              <a:rPr lang="zh-CN" altLang="en-US" sz="2400" spc="150" dirty="0">
                <a:latin typeface="微软雅黑" panose="020B0503020204020204" pitchFamily="34" charset="-122"/>
                <a:ea typeface="微软雅黑" panose="020B0503020204020204" pitchFamily="34" charset="-122"/>
              </a:rPr>
              <a:t>供给量的变动和供给的变动</a:t>
            </a:r>
          </a:p>
        </p:txBody>
      </p:sp>
      <p:sp>
        <p:nvSpPr>
          <p:cNvPr id="21" name="矩形 20">
            <a:extLst>
              <a:ext uri="{FF2B5EF4-FFF2-40B4-BE49-F238E27FC236}">
                <a16:creationId xmlns:a16="http://schemas.microsoft.com/office/drawing/2014/main" id="{CA3460CE-2B2D-4AE6-AFC4-443A013EDC9B}"/>
              </a:ext>
            </a:extLst>
          </p:cNvPr>
          <p:cNvSpPr/>
          <p:nvPr/>
        </p:nvSpPr>
        <p:spPr>
          <a:xfrm>
            <a:off x="3125168" y="5114685"/>
            <a:ext cx="4762842" cy="461665"/>
          </a:xfrm>
          <a:prstGeom prst="rect">
            <a:avLst/>
          </a:prstGeom>
        </p:spPr>
        <p:txBody>
          <a:bodyPr wrap="none">
            <a:spAutoFit/>
          </a:bodyPr>
          <a:lstStyle/>
          <a:p>
            <a:pPr>
              <a:buFontTx/>
              <a:buNone/>
            </a:pPr>
            <a:r>
              <a:rPr lang="zh-CN" altLang="en-US" sz="2400" spc="150" dirty="0">
                <a:latin typeface="微软雅黑" panose="020B0503020204020204" pitchFamily="34" charset="-122"/>
                <a:ea typeface="微软雅黑" panose="020B0503020204020204" pitchFamily="34" charset="-122"/>
              </a:rPr>
              <a:t>从单个生产者的供给到市场供给</a:t>
            </a:r>
          </a:p>
        </p:txBody>
      </p:sp>
    </p:spTree>
    <p:extLst>
      <p:ext uri="{BB962C8B-B14F-4D97-AF65-F5344CB8AC3E}">
        <p14:creationId xmlns:p14="http://schemas.microsoft.com/office/powerpoint/2010/main" val="1035311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8" dur="500"/>
                                        <p:tgtEl>
                                          <p:spTgt spid="17"/>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up)">
                                      <p:cBhvr>
                                        <p:cTn id="30" dur="500"/>
                                        <p:tgtEl>
                                          <p:spTgt spid="6"/>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left)">
                                      <p:cBhvr>
                                        <p:cTn id="33" dur="500"/>
                                        <p:tgtEl>
                                          <p:spTgt spid="18"/>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up)">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up)">
                                      <p:cBhvr>
                                        <p:cTn id="42" dur="500"/>
                                        <p:tgtEl>
                                          <p:spTgt spid="7"/>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up)">
                                      <p:cBhvr>
                                        <p:cTn id="45" dur="500"/>
                                        <p:tgtEl>
                                          <p:spTgt spid="8"/>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500"/>
                                        <p:tgtEl>
                                          <p:spTgt spid="19"/>
                                        </p:tgtEl>
                                      </p:cBhvr>
                                    </p:animEffect>
                                  </p:childTnLst>
                                </p:cTn>
                              </p:par>
                            </p:childTnLst>
                          </p:cTn>
                        </p:par>
                        <p:par>
                          <p:cTn id="49" fill="hold">
                            <p:stCondLst>
                              <p:cond delay="500"/>
                            </p:stCondLst>
                            <p:childTnLst>
                              <p:par>
                                <p:cTn id="50" presetID="22" presetClass="entr" presetSubtype="1" fill="hold" nodeType="after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up)">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up)">
                                      <p:cBhvr>
                                        <p:cTn id="57" dur="500"/>
                                        <p:tgtEl>
                                          <p:spTgt spid="9"/>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wipe(up)">
                                      <p:cBhvr>
                                        <p:cTn id="60" dur="500"/>
                                        <p:tgtEl>
                                          <p:spTgt spid="10"/>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wipe(left)">
                                      <p:cBhvr>
                                        <p:cTn id="63" dur="500"/>
                                        <p:tgtEl>
                                          <p:spTgt spid="20"/>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wipe(up)">
                                      <p:cBhvr>
                                        <p:cTn id="68" dur="500"/>
                                        <p:tgtEl>
                                          <p:spTgt spid="16"/>
                                        </p:tgtEl>
                                      </p:cBhvr>
                                    </p:animEffect>
                                  </p:childTnLst>
                                </p:cTn>
                              </p:par>
                              <p:par>
                                <p:cTn id="69" presetID="22" presetClass="entr" presetSubtype="1"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wipe(up)">
                                      <p:cBhvr>
                                        <p:cTn id="71" dur="500"/>
                                        <p:tgtEl>
                                          <p:spTgt spid="14"/>
                                        </p:tgtEl>
                                      </p:cBhvr>
                                    </p:animEffect>
                                  </p:childTnLst>
                                </p:cTn>
                              </p:par>
                              <p:par>
                                <p:cTn id="72" presetID="22" presetClass="entr" presetSubtype="1" fill="hold" grpId="0" nodeType="with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wipe(up)">
                                      <p:cBhvr>
                                        <p:cTn id="74" dur="500"/>
                                        <p:tgtEl>
                                          <p:spTgt spid="15"/>
                                        </p:tgtEl>
                                      </p:cBhvr>
                                    </p:animEffect>
                                  </p:childTnLst>
                                </p:cTn>
                              </p:par>
                            </p:childTnLst>
                          </p:cTn>
                        </p:par>
                        <p:par>
                          <p:cTn id="75" fill="hold">
                            <p:stCondLst>
                              <p:cond delay="500"/>
                            </p:stCondLst>
                            <p:childTnLst>
                              <p:par>
                                <p:cTn id="76" presetID="22" presetClass="entr" presetSubtype="8"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wipe(left)">
                                      <p:cBhvr>
                                        <p:cTn id="7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P spid="8" grpId="0" animBg="1"/>
      <p:bldP spid="9" grpId="0" animBg="1"/>
      <p:bldP spid="10" grpId="0" animBg="1"/>
      <p:bldP spid="14" grpId="0" animBg="1"/>
      <p:bldP spid="15" grpId="0" animBg="1"/>
      <p:bldP spid="17" grpId="0"/>
      <p:bldP spid="18" grpId="0"/>
      <p:bldP spid="19" grpId="0"/>
      <p:bldP spid="20" grpId="0"/>
      <p:bldP spid="2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26CC98E5-B2B8-4C3B-B94F-E7BEACD62A0A}"/>
              </a:ext>
            </a:extLst>
          </p:cNvPr>
          <p:cNvGrpSpPr/>
          <p:nvPr/>
        </p:nvGrpSpPr>
        <p:grpSpPr>
          <a:xfrm>
            <a:off x="467544" y="1268760"/>
            <a:ext cx="8192278" cy="1306490"/>
            <a:chOff x="467544" y="1268760"/>
            <a:chExt cx="8192278" cy="1306490"/>
          </a:xfrm>
        </p:grpSpPr>
        <p:sp>
          <p:nvSpPr>
            <p:cNvPr id="23" name="矩形 22">
              <a:extLst>
                <a:ext uri="{FF2B5EF4-FFF2-40B4-BE49-F238E27FC236}">
                  <a16:creationId xmlns:a16="http://schemas.microsoft.com/office/drawing/2014/main" id="{92D01AA6-4D0E-4603-BAB9-D99E90DEC435}"/>
                </a:ext>
              </a:extLst>
            </p:cNvPr>
            <p:cNvSpPr/>
            <p:nvPr/>
          </p:nvSpPr>
          <p:spPr>
            <a:xfrm>
              <a:off x="467544" y="1268760"/>
              <a:ext cx="8192278" cy="130649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7113FB8C-1FA4-44D4-BC31-6C2C4056C077}"/>
                </a:ext>
              </a:extLst>
            </p:cNvPr>
            <p:cNvSpPr/>
            <p:nvPr/>
          </p:nvSpPr>
          <p:spPr>
            <a:xfrm>
              <a:off x="538031" y="1342300"/>
              <a:ext cx="8051305" cy="115941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矩形 9">
            <a:extLst>
              <a:ext uri="{FF2B5EF4-FFF2-40B4-BE49-F238E27FC236}">
                <a16:creationId xmlns:a16="http://schemas.microsoft.com/office/drawing/2014/main" id="{D230191B-D751-4BE7-8407-E83F26D8845E}"/>
              </a:ext>
            </a:extLst>
          </p:cNvPr>
          <p:cNvSpPr/>
          <p:nvPr/>
        </p:nvSpPr>
        <p:spPr>
          <a:xfrm>
            <a:off x="1181944" y="1920484"/>
            <a:ext cx="7128792" cy="369332"/>
          </a:xfrm>
          <a:prstGeom prst="rect">
            <a:avLst/>
          </a:prstGeom>
        </p:spPr>
        <p:txBody>
          <a:bodyPr wrap="square">
            <a:spAutoFit/>
          </a:bodyPr>
          <a:lstStyle/>
          <a:p>
            <a:pPr marL="285750" indent="-285750">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供给</a:t>
            </a:r>
            <a:r>
              <a:rPr lang="en-US" altLang="zh-CN" spc="150" dirty="0">
                <a:solidFill>
                  <a:srgbClr val="000000"/>
                </a:solidFill>
                <a:latin typeface="微软雅黑" panose="020B0503020204020204" pitchFamily="34" charset="-122"/>
                <a:ea typeface="微软雅黑" panose="020B0503020204020204" pitchFamily="34" charset="-122"/>
              </a:rPr>
              <a:t>——</a:t>
            </a:r>
            <a:r>
              <a:rPr lang="zh-CN" altLang="en-US" spc="150" dirty="0">
                <a:solidFill>
                  <a:srgbClr val="000000"/>
                </a:solidFill>
                <a:latin typeface="微软雅黑" panose="020B0503020204020204" pitchFamily="34" charset="-122"/>
                <a:ea typeface="微软雅黑" panose="020B0503020204020204" pitchFamily="34" charset="-122"/>
              </a:rPr>
              <a:t>特定价格下生产者愿意并且能够供给的商品数量</a:t>
            </a:r>
          </a:p>
        </p:txBody>
      </p:sp>
      <p:sp>
        <p:nvSpPr>
          <p:cNvPr id="11" name="矩形 10">
            <a:extLst>
              <a:ext uri="{FF2B5EF4-FFF2-40B4-BE49-F238E27FC236}">
                <a16:creationId xmlns:a16="http://schemas.microsoft.com/office/drawing/2014/main" id="{F68E5273-CD77-47B9-B841-9D29349C133D}"/>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一、供给的概念</a:t>
            </a:r>
          </a:p>
        </p:txBody>
      </p:sp>
      <p:sp>
        <p:nvSpPr>
          <p:cNvPr id="12" name="矩形 11">
            <a:extLst>
              <a:ext uri="{FF2B5EF4-FFF2-40B4-BE49-F238E27FC236}">
                <a16:creationId xmlns:a16="http://schemas.microsoft.com/office/drawing/2014/main" id="{49C733EB-F3D1-4EC8-8D19-B58AE2477326}"/>
              </a:ext>
            </a:extLst>
          </p:cNvPr>
          <p:cNvSpPr/>
          <p:nvPr/>
        </p:nvSpPr>
        <p:spPr>
          <a:xfrm>
            <a:off x="1181944" y="1520270"/>
            <a:ext cx="1685077"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什么是供给？</a:t>
            </a:r>
            <a:endParaRPr lang="en-US" altLang="zh-CN" spc="150" dirty="0">
              <a:solidFill>
                <a:srgbClr val="000000"/>
              </a:solidFill>
              <a:latin typeface="微软雅黑" panose="020B0503020204020204" pitchFamily="34" charset="-122"/>
              <a:ea typeface="微软雅黑" panose="020B0503020204020204" pitchFamily="34" charset="-122"/>
            </a:endParaRPr>
          </a:p>
        </p:txBody>
      </p:sp>
      <p:pic>
        <p:nvPicPr>
          <p:cNvPr id="13" name="图片 12">
            <a:extLst>
              <a:ext uri="{FF2B5EF4-FFF2-40B4-BE49-F238E27FC236}">
                <a16:creationId xmlns:a16="http://schemas.microsoft.com/office/drawing/2014/main" id="{910856D5-C79D-4924-8E1B-F628F801C8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1904" y="1441158"/>
            <a:ext cx="448444" cy="448444"/>
          </a:xfrm>
          <a:prstGeom prst="rect">
            <a:avLst/>
          </a:prstGeom>
          <a:effectLst>
            <a:innerShdw blurRad="114300">
              <a:prstClr val="black"/>
            </a:innerShdw>
          </a:effectLst>
        </p:spPr>
      </p:pic>
      <p:sp>
        <p:nvSpPr>
          <p:cNvPr id="14" name="矩形 13">
            <a:extLst>
              <a:ext uri="{FF2B5EF4-FFF2-40B4-BE49-F238E27FC236}">
                <a16:creationId xmlns:a16="http://schemas.microsoft.com/office/drawing/2014/main" id="{70C10CEA-106F-4024-A651-A61CA87A6390}"/>
              </a:ext>
            </a:extLst>
          </p:cNvPr>
          <p:cNvSpPr/>
          <p:nvPr/>
        </p:nvSpPr>
        <p:spPr>
          <a:xfrm>
            <a:off x="2569154" y="2982502"/>
            <a:ext cx="3413703" cy="369332"/>
          </a:xfrm>
          <a:prstGeom prst="rect">
            <a:avLst/>
          </a:prstGeom>
          <a:solidFill>
            <a:srgbClr val="BB1528"/>
          </a:solidFill>
        </p:spPr>
        <p:txBody>
          <a:bodyPr wrap="square">
            <a:spAutoFit/>
          </a:bodyPr>
          <a:lstStyle/>
          <a:p>
            <a:pPr algn="ctr"/>
            <a:r>
              <a:rPr lang="zh-CN" altLang="en-US" spc="150" dirty="0">
                <a:solidFill>
                  <a:srgbClr val="FFFFFF"/>
                </a:solidFill>
                <a:latin typeface="微软雅黑" panose="020B0503020204020204" pitchFamily="34" charset="-122"/>
                <a:ea typeface="微软雅黑" panose="020B0503020204020204" pitchFamily="34" charset="-122"/>
              </a:rPr>
              <a:t>经济学中供给定义的两个要素</a:t>
            </a:r>
          </a:p>
        </p:txBody>
      </p:sp>
      <p:sp>
        <p:nvSpPr>
          <p:cNvPr id="16" name="左大括号 15">
            <a:extLst>
              <a:ext uri="{FF2B5EF4-FFF2-40B4-BE49-F238E27FC236}">
                <a16:creationId xmlns:a16="http://schemas.microsoft.com/office/drawing/2014/main" id="{68964485-A070-4596-8132-03093633FA50}"/>
              </a:ext>
            </a:extLst>
          </p:cNvPr>
          <p:cNvSpPr/>
          <p:nvPr/>
        </p:nvSpPr>
        <p:spPr>
          <a:xfrm rot="5400000">
            <a:off x="4173080" y="783079"/>
            <a:ext cx="369332" cy="5728996"/>
          </a:xfrm>
          <a:prstGeom prst="leftBrac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A67A3612-DEB5-489E-B44D-41E7784352B5}"/>
              </a:ext>
            </a:extLst>
          </p:cNvPr>
          <p:cNvSpPr/>
          <p:nvPr/>
        </p:nvSpPr>
        <p:spPr>
          <a:xfrm>
            <a:off x="325291" y="3953334"/>
            <a:ext cx="3398382" cy="646331"/>
          </a:xfrm>
          <a:prstGeom prst="rect">
            <a:avLst/>
          </a:prstGeom>
          <a:noFill/>
        </p:spPr>
        <p:txBody>
          <a:bodyPr wrap="square">
            <a:spAutoFit/>
          </a:bodyPr>
          <a:lstStyle/>
          <a:p>
            <a:r>
              <a:rPr lang="zh-CN" altLang="en-US" spc="150" dirty="0">
                <a:latin typeface="微软雅黑" panose="020B0503020204020204" pitchFamily="34" charset="-122"/>
                <a:ea typeface="微软雅黑" panose="020B0503020204020204" pitchFamily="34" charset="-122"/>
              </a:rPr>
              <a:t>有供给能力</a:t>
            </a:r>
            <a:r>
              <a:rPr lang="en-US" altLang="zh-CN" spc="150" dirty="0">
                <a:latin typeface="微软雅黑" panose="020B0503020204020204" pitchFamily="34" charset="-122"/>
                <a:ea typeface="微软雅黑" panose="020B0503020204020204" pitchFamily="34" charset="-122"/>
              </a:rPr>
              <a:t>——</a:t>
            </a:r>
            <a:r>
              <a:rPr lang="zh-CN" altLang="en-US" spc="150" dirty="0">
                <a:latin typeface="微软雅黑" panose="020B0503020204020204" pitchFamily="34" charset="-122"/>
                <a:ea typeface="微软雅黑" panose="020B0503020204020204" pitchFamily="34" charset="-122"/>
              </a:rPr>
              <a:t>已经生产出来，或者可以立即安排生产</a:t>
            </a:r>
          </a:p>
        </p:txBody>
      </p:sp>
      <p:sp>
        <p:nvSpPr>
          <p:cNvPr id="18" name="矩形 17">
            <a:extLst>
              <a:ext uri="{FF2B5EF4-FFF2-40B4-BE49-F238E27FC236}">
                <a16:creationId xmlns:a16="http://schemas.microsoft.com/office/drawing/2014/main" id="{30EB7D63-D003-49CC-AB97-2B036080794D}"/>
              </a:ext>
            </a:extLst>
          </p:cNvPr>
          <p:cNvSpPr/>
          <p:nvPr/>
        </p:nvSpPr>
        <p:spPr>
          <a:xfrm>
            <a:off x="5130151" y="3926147"/>
            <a:ext cx="3306407" cy="369332"/>
          </a:xfrm>
          <a:prstGeom prst="rect">
            <a:avLst/>
          </a:prstGeom>
          <a:noFill/>
        </p:spPr>
        <p:txBody>
          <a:bodyPr wrap="square">
            <a:spAutoFit/>
          </a:bodyPr>
          <a:lstStyle/>
          <a:p>
            <a:r>
              <a:rPr lang="zh-CN" altLang="en-US" spc="150" dirty="0">
                <a:latin typeface="微软雅黑" panose="020B0503020204020204" pitchFamily="34" charset="-122"/>
                <a:ea typeface="微软雅黑" panose="020B0503020204020204" pitchFamily="34" charset="-122"/>
              </a:rPr>
              <a:t>有出售愿望</a:t>
            </a:r>
            <a:r>
              <a:rPr lang="en-US" altLang="zh-CN" spc="150" dirty="0">
                <a:latin typeface="微软雅黑" panose="020B0503020204020204" pitchFamily="34" charset="-122"/>
                <a:ea typeface="微软雅黑" panose="020B0503020204020204" pitchFamily="34" charset="-122"/>
              </a:rPr>
              <a:t>——</a:t>
            </a:r>
            <a:r>
              <a:rPr lang="zh-CN" altLang="en-US" spc="150" dirty="0">
                <a:latin typeface="微软雅黑" panose="020B0503020204020204" pitchFamily="34" charset="-122"/>
                <a:ea typeface="微软雅黑" panose="020B0503020204020204" pitchFamily="34" charset="-122"/>
              </a:rPr>
              <a:t>对价格满意</a:t>
            </a:r>
          </a:p>
        </p:txBody>
      </p:sp>
      <p:sp>
        <p:nvSpPr>
          <p:cNvPr id="19" name="左大括号 18">
            <a:extLst>
              <a:ext uri="{FF2B5EF4-FFF2-40B4-BE49-F238E27FC236}">
                <a16:creationId xmlns:a16="http://schemas.microsoft.com/office/drawing/2014/main" id="{63EDA47D-7414-4429-A982-A2AAE835798D}"/>
              </a:ext>
            </a:extLst>
          </p:cNvPr>
          <p:cNvSpPr/>
          <p:nvPr/>
        </p:nvSpPr>
        <p:spPr>
          <a:xfrm rot="16200000" flipV="1">
            <a:off x="4249053" y="1943228"/>
            <a:ext cx="369332" cy="5728996"/>
          </a:xfrm>
          <a:prstGeom prst="leftBrac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9D0436A9-22D6-4209-9B25-FD8F6871F2B4}"/>
              </a:ext>
            </a:extLst>
          </p:cNvPr>
          <p:cNvSpPr/>
          <p:nvPr/>
        </p:nvSpPr>
        <p:spPr>
          <a:xfrm>
            <a:off x="2206390" y="5219908"/>
            <a:ext cx="4576965" cy="369332"/>
          </a:xfrm>
          <a:prstGeom prst="rect">
            <a:avLst/>
          </a:prstGeom>
          <a:noFill/>
        </p:spPr>
        <p:txBody>
          <a:bodyPr wrap="square">
            <a:spAutoFit/>
          </a:bodyPr>
          <a:lstStyle/>
          <a:p>
            <a:r>
              <a:rPr lang="zh-CN" altLang="en-US" spc="150" dirty="0">
                <a:latin typeface="微软雅黑" panose="020B0503020204020204" pitchFamily="34" charset="-122"/>
                <a:ea typeface="微软雅黑" panose="020B0503020204020204" pitchFamily="34" charset="-122"/>
              </a:rPr>
              <a:t>供给</a:t>
            </a:r>
            <a:r>
              <a:rPr lang="en-US" altLang="zh-CN" dirty="0">
                <a:sym typeface="Wingdings" panose="05000000000000000000" pitchFamily="2" charset="2"/>
              </a:rPr>
              <a:t></a:t>
            </a:r>
            <a:r>
              <a:rPr lang="zh-CN" altLang="en-US" spc="150" dirty="0">
                <a:latin typeface="微软雅黑" panose="020B0503020204020204" pitchFamily="34" charset="-122"/>
                <a:ea typeface="微软雅黑" panose="020B0503020204020204" pitchFamily="34" charset="-122"/>
              </a:rPr>
              <a:t>实际的销售（如果有人购买）</a:t>
            </a:r>
          </a:p>
        </p:txBody>
      </p:sp>
      <p:sp>
        <p:nvSpPr>
          <p:cNvPr id="24" name="矩形 23">
            <a:extLst>
              <a:ext uri="{FF2B5EF4-FFF2-40B4-BE49-F238E27FC236}">
                <a16:creationId xmlns:a16="http://schemas.microsoft.com/office/drawing/2014/main" id="{99A861F3-1BF5-4FA4-A7CE-A93F6E99B7C4}"/>
              </a:ext>
            </a:extLst>
          </p:cNvPr>
          <p:cNvSpPr/>
          <p:nvPr/>
        </p:nvSpPr>
        <p:spPr>
          <a:xfrm>
            <a:off x="7455320" y="0"/>
            <a:ext cx="1523174"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第二节 供给</a:t>
            </a:r>
          </a:p>
        </p:txBody>
      </p:sp>
    </p:spTree>
    <p:extLst>
      <p:ext uri="{BB962C8B-B14F-4D97-AF65-F5344CB8AC3E}">
        <p14:creationId xmlns:p14="http://schemas.microsoft.com/office/powerpoint/2010/main" val="1012216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randombar(horizontal)">
                                      <p:cBhvr>
                                        <p:cTn id="12" dur="500"/>
                                        <p:tgtEl>
                                          <p:spTgt spid="25"/>
                                        </p:tgtEl>
                                      </p:cBhvr>
                                    </p:animEffect>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animEffect transition="in" filter="fade">
                                      <p:cBhvr>
                                        <p:cTn id="18" dur="500"/>
                                        <p:tgtEl>
                                          <p:spTgt spid="13"/>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
                                          </p:val>
                                        </p:tav>
                                        <p:tav tm="100000">
                                          <p:val>
                                            <p:strVal val="#ppt_w"/>
                                          </p:val>
                                        </p:tav>
                                      </p:tavLst>
                                    </p:anim>
                                    <p:anim calcmode="lin" valueType="num">
                                      <p:cBhvr>
                                        <p:cTn id="32" dur="500" fill="hold"/>
                                        <p:tgtEl>
                                          <p:spTgt spid="14"/>
                                        </p:tgtEl>
                                        <p:attrNameLst>
                                          <p:attrName>ppt_h</p:attrName>
                                        </p:attrNameLst>
                                      </p:cBhvr>
                                      <p:tavLst>
                                        <p:tav tm="0">
                                          <p:val>
                                            <p:fltVal val="0"/>
                                          </p:val>
                                        </p:tav>
                                        <p:tav tm="100000">
                                          <p:val>
                                            <p:strVal val="#ppt_h"/>
                                          </p:val>
                                        </p:tav>
                                      </p:tavLst>
                                    </p:anim>
                                    <p:animEffect transition="in" filter="fade">
                                      <p:cBhvr>
                                        <p:cTn id="33" dur="500"/>
                                        <p:tgtEl>
                                          <p:spTgt spid="14"/>
                                        </p:tgtEl>
                                      </p:cBhvr>
                                    </p:animEffect>
                                  </p:childTnLst>
                                </p:cTn>
                              </p:par>
                            </p:childTnLst>
                          </p:cTn>
                        </p:par>
                        <p:par>
                          <p:cTn id="34" fill="hold">
                            <p:stCondLst>
                              <p:cond delay="500"/>
                            </p:stCondLst>
                            <p:childTnLst>
                              <p:par>
                                <p:cTn id="35" presetID="22" presetClass="entr" presetSubtype="1"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up)">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left)">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left)">
                                      <p:cBhvr>
                                        <p:cTn id="47" dur="500"/>
                                        <p:tgtEl>
                                          <p:spTgt spid="18"/>
                                        </p:tgtEl>
                                      </p:cBhvr>
                                    </p:animEffect>
                                  </p:childTnLst>
                                </p:cTn>
                              </p:par>
                            </p:childTnLst>
                          </p:cTn>
                        </p:par>
                        <p:par>
                          <p:cTn id="48" fill="hold">
                            <p:stCondLst>
                              <p:cond delay="500"/>
                            </p:stCondLst>
                            <p:childTnLst>
                              <p:par>
                                <p:cTn id="49" presetID="22" presetClass="entr" presetSubtype="1"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ipe(up)">
                                      <p:cBhvr>
                                        <p:cTn id="51" dur="500"/>
                                        <p:tgtEl>
                                          <p:spTgt spid="19"/>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wipe(left)">
                                      <p:cBhvr>
                                        <p:cTn id="5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p:bldP spid="14" grpId="0" animBg="1"/>
      <p:bldP spid="16" grpId="0" animBg="1"/>
      <p:bldP spid="17" grpId="0"/>
      <p:bldP spid="18" grpId="0"/>
      <p:bldP spid="19" grpId="0" animBg="1"/>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KSO_Shape">
            <a:extLst>
              <a:ext uri="{FF2B5EF4-FFF2-40B4-BE49-F238E27FC236}">
                <a16:creationId xmlns:a16="http://schemas.microsoft.com/office/drawing/2014/main" id="{CBC1FE15-9E83-478C-BDA8-371090F0FE37}"/>
              </a:ext>
            </a:extLst>
          </p:cNvPr>
          <p:cNvSpPr/>
          <p:nvPr/>
        </p:nvSpPr>
        <p:spPr>
          <a:xfrm>
            <a:off x="4574153" y="2397968"/>
            <a:ext cx="2687217" cy="503853"/>
          </a:xfrm>
          <a:prstGeom prst="roundRect">
            <a:avLst>
              <a:gd name="adj" fmla="val 50000"/>
            </a:avLst>
          </a:prstGeom>
          <a:solidFill>
            <a:srgbClr val="BB152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pc="150" dirty="0">
                <a:solidFill>
                  <a:schemeClr val="bg1"/>
                </a:solidFill>
                <a:latin typeface="微软雅黑" panose="020B0503020204020204" pitchFamily="34" charset="-122"/>
                <a:ea typeface="微软雅黑" panose="020B0503020204020204" pitchFamily="34" charset="-122"/>
              </a:rPr>
              <a:t>表格</a:t>
            </a:r>
            <a:r>
              <a:rPr lang="en-US" altLang="zh-CN" spc="150" dirty="0">
                <a:solidFill>
                  <a:schemeClr val="bg1"/>
                </a:solidFill>
                <a:latin typeface="微软雅黑" panose="020B0503020204020204" pitchFamily="34" charset="-122"/>
                <a:ea typeface="微软雅黑" panose="020B0503020204020204" pitchFamily="34" charset="-122"/>
              </a:rPr>
              <a:t>—</a:t>
            </a:r>
            <a:r>
              <a:rPr lang="zh-CN" altLang="en-US" spc="150" dirty="0">
                <a:solidFill>
                  <a:schemeClr val="bg1"/>
                </a:solidFill>
                <a:latin typeface="微软雅黑" panose="020B0503020204020204" pitchFamily="34" charset="-122"/>
                <a:ea typeface="微软雅黑" panose="020B0503020204020204" pitchFamily="34" charset="-122"/>
              </a:rPr>
              <a:t>供给表</a:t>
            </a:r>
          </a:p>
        </p:txBody>
      </p:sp>
      <p:sp>
        <p:nvSpPr>
          <p:cNvPr id="5" name="矩形: 圆角 4">
            <a:extLst>
              <a:ext uri="{FF2B5EF4-FFF2-40B4-BE49-F238E27FC236}">
                <a16:creationId xmlns:a16="http://schemas.microsoft.com/office/drawing/2014/main" id="{F5501FC4-6109-488A-9E7B-E591DF9E4D96}"/>
              </a:ext>
            </a:extLst>
          </p:cNvPr>
          <p:cNvSpPr/>
          <p:nvPr/>
        </p:nvSpPr>
        <p:spPr>
          <a:xfrm>
            <a:off x="970384" y="1232420"/>
            <a:ext cx="5689848" cy="858417"/>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a:extLst>
              <a:ext uri="{FF2B5EF4-FFF2-40B4-BE49-F238E27FC236}">
                <a16:creationId xmlns:a16="http://schemas.microsoft.com/office/drawing/2014/main" id="{26C14FD7-288B-4EBC-97AB-25CDCA7265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57260" y="1128770"/>
            <a:ext cx="1065715" cy="1065715"/>
          </a:xfrm>
          <a:prstGeom prst="rect">
            <a:avLst/>
          </a:prstGeom>
        </p:spPr>
      </p:pic>
      <p:sp>
        <p:nvSpPr>
          <p:cNvPr id="12" name="矩形 11">
            <a:extLst>
              <a:ext uri="{FF2B5EF4-FFF2-40B4-BE49-F238E27FC236}">
                <a16:creationId xmlns:a16="http://schemas.microsoft.com/office/drawing/2014/main" id="{F2E1D167-2D51-47EE-8CA8-1E1607A3745D}"/>
              </a:ext>
            </a:extLst>
          </p:cNvPr>
          <p:cNvSpPr/>
          <p:nvPr/>
        </p:nvSpPr>
        <p:spPr>
          <a:xfrm>
            <a:off x="1176671" y="1423225"/>
            <a:ext cx="4474302" cy="458908"/>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如何表示供给量和价格之间的关系？</a:t>
            </a:r>
          </a:p>
        </p:txBody>
      </p:sp>
      <p:sp>
        <p:nvSpPr>
          <p:cNvPr id="13" name="左中括号 12">
            <a:extLst>
              <a:ext uri="{FF2B5EF4-FFF2-40B4-BE49-F238E27FC236}">
                <a16:creationId xmlns:a16="http://schemas.microsoft.com/office/drawing/2014/main" id="{477854A3-6439-46A2-AE03-EAD859BF14E2}"/>
              </a:ext>
            </a:extLst>
          </p:cNvPr>
          <p:cNvSpPr/>
          <p:nvPr/>
        </p:nvSpPr>
        <p:spPr>
          <a:xfrm>
            <a:off x="4182269" y="2649895"/>
            <a:ext cx="322200" cy="2817845"/>
          </a:xfrm>
          <a:prstGeom prst="leftBracket">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KSO_Shape">
            <a:extLst>
              <a:ext uri="{FF2B5EF4-FFF2-40B4-BE49-F238E27FC236}">
                <a16:creationId xmlns:a16="http://schemas.microsoft.com/office/drawing/2014/main" id="{E61A57DA-73FC-4DEE-8B29-01486B929BB3}"/>
              </a:ext>
            </a:extLst>
          </p:cNvPr>
          <p:cNvSpPr/>
          <p:nvPr/>
        </p:nvSpPr>
        <p:spPr>
          <a:xfrm>
            <a:off x="4574153" y="3806890"/>
            <a:ext cx="2687217" cy="503853"/>
          </a:xfrm>
          <a:prstGeom prst="roundRect">
            <a:avLst>
              <a:gd name="adj" fmla="val 50000"/>
            </a:avLst>
          </a:prstGeom>
          <a:solidFill>
            <a:srgbClr val="BB152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pc="150" dirty="0">
                <a:solidFill>
                  <a:schemeClr val="bg1"/>
                </a:solidFill>
                <a:latin typeface="微软雅黑" panose="020B0503020204020204" pitchFamily="34" charset="-122"/>
                <a:ea typeface="微软雅黑" panose="020B0503020204020204" pitchFamily="34" charset="-122"/>
              </a:rPr>
              <a:t>曲线</a:t>
            </a:r>
            <a:r>
              <a:rPr lang="en-US" altLang="zh-CN" spc="150" dirty="0">
                <a:solidFill>
                  <a:schemeClr val="bg1"/>
                </a:solidFill>
                <a:latin typeface="微软雅黑" panose="020B0503020204020204" pitchFamily="34" charset="-122"/>
                <a:ea typeface="微软雅黑" panose="020B0503020204020204" pitchFamily="34" charset="-122"/>
              </a:rPr>
              <a:t>—</a:t>
            </a:r>
            <a:r>
              <a:rPr lang="zh-CN" altLang="en-US" spc="150" dirty="0">
                <a:solidFill>
                  <a:schemeClr val="bg1"/>
                </a:solidFill>
                <a:latin typeface="微软雅黑" panose="020B0503020204020204" pitchFamily="34" charset="-122"/>
                <a:ea typeface="微软雅黑" panose="020B0503020204020204" pitchFamily="34" charset="-122"/>
              </a:rPr>
              <a:t>供给曲线</a:t>
            </a:r>
          </a:p>
        </p:txBody>
      </p:sp>
      <p:sp>
        <p:nvSpPr>
          <p:cNvPr id="27" name="KSO_Shape">
            <a:extLst>
              <a:ext uri="{FF2B5EF4-FFF2-40B4-BE49-F238E27FC236}">
                <a16:creationId xmlns:a16="http://schemas.microsoft.com/office/drawing/2014/main" id="{06761997-35B5-48BC-BD4D-DE37E2EB9AE1}"/>
              </a:ext>
            </a:extLst>
          </p:cNvPr>
          <p:cNvSpPr/>
          <p:nvPr/>
        </p:nvSpPr>
        <p:spPr>
          <a:xfrm>
            <a:off x="4574153" y="5215813"/>
            <a:ext cx="2687217" cy="503853"/>
          </a:xfrm>
          <a:prstGeom prst="roundRect">
            <a:avLst>
              <a:gd name="adj" fmla="val 50000"/>
            </a:avLst>
          </a:prstGeom>
          <a:solidFill>
            <a:srgbClr val="BB152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pc="150" dirty="0">
                <a:solidFill>
                  <a:schemeClr val="bg1"/>
                </a:solidFill>
                <a:latin typeface="微软雅黑" panose="020B0503020204020204" pitchFamily="34" charset="-122"/>
                <a:ea typeface="微软雅黑" panose="020B0503020204020204" pitchFamily="34" charset="-122"/>
              </a:rPr>
              <a:t>公式</a:t>
            </a:r>
            <a:r>
              <a:rPr lang="en-US" altLang="zh-CN" spc="150" dirty="0">
                <a:solidFill>
                  <a:schemeClr val="bg1"/>
                </a:solidFill>
                <a:latin typeface="微软雅黑" panose="020B0503020204020204" pitchFamily="34" charset="-122"/>
                <a:ea typeface="微软雅黑" panose="020B0503020204020204" pitchFamily="34" charset="-122"/>
              </a:rPr>
              <a:t>—</a:t>
            </a:r>
            <a:r>
              <a:rPr lang="zh-CN" altLang="en-US" spc="150" dirty="0">
                <a:solidFill>
                  <a:schemeClr val="bg1"/>
                </a:solidFill>
                <a:latin typeface="微软雅黑" panose="020B0503020204020204" pitchFamily="34" charset="-122"/>
                <a:ea typeface="微软雅黑" panose="020B0503020204020204" pitchFamily="34" charset="-122"/>
              </a:rPr>
              <a:t>供给函数</a:t>
            </a:r>
          </a:p>
        </p:txBody>
      </p:sp>
      <p:pic>
        <p:nvPicPr>
          <p:cNvPr id="17" name="图片 16">
            <a:extLst>
              <a:ext uri="{FF2B5EF4-FFF2-40B4-BE49-F238E27FC236}">
                <a16:creationId xmlns:a16="http://schemas.microsoft.com/office/drawing/2014/main" id="{30B71DB4-7A75-4C95-8883-9FBBE76BA9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9941" y="2901821"/>
            <a:ext cx="2757486" cy="3035172"/>
          </a:xfrm>
          <a:prstGeom prst="rect">
            <a:avLst/>
          </a:prstGeom>
        </p:spPr>
      </p:pic>
      <p:sp>
        <p:nvSpPr>
          <p:cNvPr id="14" name="矩形 13">
            <a:extLst>
              <a:ext uri="{FF2B5EF4-FFF2-40B4-BE49-F238E27FC236}">
                <a16:creationId xmlns:a16="http://schemas.microsoft.com/office/drawing/2014/main" id="{F68E5273-CD77-47B9-B841-9D29349C133D}"/>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一、供给的概念</a:t>
            </a:r>
          </a:p>
        </p:txBody>
      </p:sp>
      <p:sp>
        <p:nvSpPr>
          <p:cNvPr id="16" name="矩形 15">
            <a:extLst>
              <a:ext uri="{FF2B5EF4-FFF2-40B4-BE49-F238E27FC236}">
                <a16:creationId xmlns:a16="http://schemas.microsoft.com/office/drawing/2014/main" id="{99A861F3-1BF5-4FA4-A7CE-A93F6E99B7C4}"/>
              </a:ext>
            </a:extLst>
          </p:cNvPr>
          <p:cNvSpPr/>
          <p:nvPr/>
        </p:nvSpPr>
        <p:spPr>
          <a:xfrm>
            <a:off x="7455320" y="0"/>
            <a:ext cx="1523174"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第二节 供给</a:t>
            </a:r>
          </a:p>
        </p:txBody>
      </p:sp>
    </p:spTree>
    <p:extLst>
      <p:ext uri="{BB962C8B-B14F-4D97-AF65-F5344CB8AC3E}">
        <p14:creationId xmlns:p14="http://schemas.microsoft.com/office/powerpoint/2010/main" val="3613903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53" presetClass="entr" presetSubtype="16"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00" fill="hold"/>
                                        <p:tgtEl>
                                          <p:spTgt spid="4"/>
                                        </p:tgtEl>
                                        <p:attrNameLst>
                                          <p:attrName>ppt_w</p:attrName>
                                        </p:attrNameLst>
                                      </p:cBhvr>
                                      <p:tavLst>
                                        <p:tav tm="0">
                                          <p:val>
                                            <p:fltVal val="0"/>
                                          </p:val>
                                        </p:tav>
                                        <p:tav tm="100000">
                                          <p:val>
                                            <p:strVal val="#ppt_w"/>
                                          </p:val>
                                        </p:tav>
                                      </p:tavLst>
                                    </p:anim>
                                    <p:anim calcmode="lin" valueType="num">
                                      <p:cBhvr>
                                        <p:cTn id="11" dur="500" fill="hold"/>
                                        <p:tgtEl>
                                          <p:spTgt spid="4"/>
                                        </p:tgtEl>
                                        <p:attrNameLst>
                                          <p:attrName>ppt_h</p:attrName>
                                        </p:attrNameLst>
                                      </p:cBhvr>
                                      <p:tavLst>
                                        <p:tav tm="0">
                                          <p:val>
                                            <p:fltVal val="0"/>
                                          </p:val>
                                        </p:tav>
                                        <p:tav tm="100000">
                                          <p:val>
                                            <p:strVal val="#ppt_h"/>
                                          </p:val>
                                        </p:tav>
                                      </p:tavLst>
                                    </p:anim>
                                    <p:animEffect transition="in" filter="fade">
                                      <p:cBhvr>
                                        <p:cTn id="12" dur="500"/>
                                        <p:tgtEl>
                                          <p:spTgt spid="4"/>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randombar(horizontal)">
                                      <p:cBhvr>
                                        <p:cTn id="21" dur="500"/>
                                        <p:tgtEl>
                                          <p:spTgt spid="17"/>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down)">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wipe(left)">
                                      <p:cBhvr>
                                        <p:cTn id="29" dur="500"/>
                                        <p:tgtEl>
                                          <p:spTgt spid="2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wipe(left)">
                                      <p:cBhvr>
                                        <p:cTn id="34" dur="5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wipe(left)">
                                      <p:cBhvr>
                                        <p:cTn id="3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5" grpId="0" animBg="1"/>
      <p:bldP spid="12" grpId="0"/>
      <p:bldP spid="13" grpId="0" animBg="1"/>
      <p:bldP spid="24" grpId="0" animBg="1"/>
      <p:bldP spid="2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12AA3C37-56A3-406D-A53F-C38CFF9604F8}"/>
              </a:ext>
            </a:extLst>
          </p:cNvPr>
          <p:cNvGraphicFramePr>
            <a:graphicFrameLocks noGrp="1"/>
          </p:cNvGraphicFramePr>
          <p:nvPr>
            <p:extLst>
              <p:ext uri="{D42A27DB-BD31-4B8C-83A1-F6EECF244321}">
                <p14:modId xmlns:p14="http://schemas.microsoft.com/office/powerpoint/2010/main" val="730862984"/>
              </p:ext>
            </p:extLst>
          </p:nvPr>
        </p:nvGraphicFramePr>
        <p:xfrm>
          <a:off x="467544" y="3284984"/>
          <a:ext cx="8208911" cy="2448270"/>
        </p:xfrm>
        <a:graphic>
          <a:graphicData uri="http://schemas.openxmlformats.org/drawingml/2006/table">
            <a:tbl>
              <a:tblPr firstRow="1" bandRow="1">
                <a:tableStyleId>{5940675A-B579-460E-94D1-54222C63F5DA}</a:tableStyleId>
              </a:tblPr>
              <a:tblGrid>
                <a:gridCol w="2852061">
                  <a:extLst>
                    <a:ext uri="{9D8B030D-6E8A-4147-A177-3AD203B41FA5}">
                      <a16:colId xmlns:a16="http://schemas.microsoft.com/office/drawing/2014/main" val="226105803"/>
                    </a:ext>
                  </a:extLst>
                </a:gridCol>
                <a:gridCol w="1173771">
                  <a:extLst>
                    <a:ext uri="{9D8B030D-6E8A-4147-A177-3AD203B41FA5}">
                      <a16:colId xmlns:a16="http://schemas.microsoft.com/office/drawing/2014/main" val="476090610"/>
                    </a:ext>
                  </a:extLst>
                </a:gridCol>
                <a:gridCol w="1009032">
                  <a:extLst>
                    <a:ext uri="{9D8B030D-6E8A-4147-A177-3AD203B41FA5}">
                      <a16:colId xmlns:a16="http://schemas.microsoft.com/office/drawing/2014/main" val="3220988987"/>
                    </a:ext>
                  </a:extLst>
                </a:gridCol>
                <a:gridCol w="1041863">
                  <a:extLst>
                    <a:ext uri="{9D8B030D-6E8A-4147-A177-3AD203B41FA5}">
                      <a16:colId xmlns:a16="http://schemas.microsoft.com/office/drawing/2014/main" val="2488551950"/>
                    </a:ext>
                  </a:extLst>
                </a:gridCol>
                <a:gridCol w="1106069">
                  <a:extLst>
                    <a:ext uri="{9D8B030D-6E8A-4147-A177-3AD203B41FA5}">
                      <a16:colId xmlns:a16="http://schemas.microsoft.com/office/drawing/2014/main" val="1161571735"/>
                    </a:ext>
                  </a:extLst>
                </a:gridCol>
                <a:gridCol w="1026115">
                  <a:extLst>
                    <a:ext uri="{9D8B030D-6E8A-4147-A177-3AD203B41FA5}">
                      <a16:colId xmlns:a16="http://schemas.microsoft.com/office/drawing/2014/main" val="3552070805"/>
                    </a:ext>
                  </a:extLst>
                </a:gridCol>
              </a:tblGrid>
              <a:tr h="816090">
                <a:tc>
                  <a:txBody>
                    <a:bodyPr/>
                    <a:lstStyle/>
                    <a:p>
                      <a:pPr algn="ctr"/>
                      <a:r>
                        <a:rPr lang="zh-CN" altLang="en-US" sz="1600" kern="1200" spc="150" dirty="0">
                          <a:solidFill>
                            <a:srgbClr val="000000"/>
                          </a:solidFill>
                          <a:latin typeface="微软雅黑" panose="020B0503020204020204" pitchFamily="34" charset="-122"/>
                          <a:ea typeface="微软雅黑" panose="020B0503020204020204" pitchFamily="34" charset="-122"/>
                          <a:cs typeface="+mn-cs"/>
                        </a:rPr>
                        <a:t>价格（元</a:t>
                      </a:r>
                      <a:r>
                        <a:rPr lang="en-US" altLang="zh-CN" sz="1600" kern="1200" spc="150" dirty="0">
                          <a:solidFill>
                            <a:srgbClr val="000000"/>
                          </a:solidFill>
                          <a:latin typeface="微软雅黑" panose="020B0503020204020204" pitchFamily="34" charset="-122"/>
                          <a:ea typeface="微软雅黑" panose="020B0503020204020204" pitchFamily="34" charset="-122"/>
                          <a:cs typeface="+mn-cs"/>
                        </a:rPr>
                        <a:t>/</a:t>
                      </a:r>
                      <a:r>
                        <a:rPr lang="zh-CN" altLang="en-US" sz="1600" kern="1200" spc="150" dirty="0">
                          <a:solidFill>
                            <a:srgbClr val="000000"/>
                          </a:solidFill>
                          <a:latin typeface="微软雅黑" panose="020B0503020204020204" pitchFamily="34" charset="-122"/>
                          <a:ea typeface="微软雅黑" panose="020B0503020204020204" pitchFamily="34" charset="-122"/>
                          <a:cs typeface="+mn-cs"/>
                        </a:rPr>
                        <a:t>袋）</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zh-CN" dirty="0"/>
                        <a:t>1</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2</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3</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4</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5</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011714"/>
                  </a:ext>
                </a:extLst>
              </a:tr>
              <a:tr h="816090">
                <a:tc>
                  <a:txBody>
                    <a:bodyPr/>
                    <a:lstStyle/>
                    <a:p>
                      <a:pPr algn="ctr"/>
                      <a:r>
                        <a:rPr lang="zh-CN" altLang="en-US" sz="1600" kern="1200" spc="150" dirty="0">
                          <a:solidFill>
                            <a:srgbClr val="000000"/>
                          </a:solidFill>
                          <a:latin typeface="微软雅黑" panose="020B0503020204020204" pitchFamily="34" charset="-122"/>
                          <a:ea typeface="微软雅黑" panose="020B0503020204020204" pitchFamily="34" charset="-122"/>
                          <a:cs typeface="+mn-cs"/>
                        </a:rPr>
                        <a:t>供给量（万袋）</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zh-CN" dirty="0"/>
                        <a:t>5</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10</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14</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16</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17</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9336256"/>
                  </a:ext>
                </a:extLst>
              </a:tr>
              <a:tr h="816090">
                <a:tc>
                  <a:txBody>
                    <a:bodyPr/>
                    <a:lstStyle/>
                    <a:p>
                      <a:pPr algn="ctr"/>
                      <a:r>
                        <a:rPr lang="zh-CN" altLang="en-US" sz="1600" kern="1200" spc="150" dirty="0">
                          <a:solidFill>
                            <a:srgbClr val="000000"/>
                          </a:solidFill>
                          <a:latin typeface="微软雅黑" panose="020B0503020204020204" pitchFamily="34" charset="-122"/>
                          <a:ea typeface="微软雅黑" panose="020B0503020204020204" pitchFamily="34" charset="-122"/>
                          <a:cs typeface="+mn-cs"/>
                        </a:rPr>
                        <a:t>价格与供给量的组合点</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zh-CN" dirty="0"/>
                        <a:t>A</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B</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C</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F</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G</a:t>
                      </a:r>
                      <a:endParaRPr lang="zh-CN" alt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1165536"/>
                  </a:ext>
                </a:extLst>
              </a:tr>
            </a:tbl>
          </a:graphicData>
        </a:graphic>
      </p:graphicFrame>
      <p:sp>
        <p:nvSpPr>
          <p:cNvPr id="17" name="KSO_Shape">
            <a:extLst>
              <a:ext uri="{FF2B5EF4-FFF2-40B4-BE49-F238E27FC236}">
                <a16:creationId xmlns:a16="http://schemas.microsoft.com/office/drawing/2014/main" id="{6A619BCE-CB96-40B6-AFFF-A5E70B6F5833}"/>
              </a:ext>
            </a:extLst>
          </p:cNvPr>
          <p:cNvSpPr/>
          <p:nvPr/>
        </p:nvSpPr>
        <p:spPr>
          <a:xfrm>
            <a:off x="1331640" y="2508648"/>
            <a:ext cx="2687217" cy="503853"/>
          </a:xfrm>
          <a:prstGeom prst="roundRect">
            <a:avLst>
              <a:gd name="adj" fmla="val 50000"/>
            </a:avLst>
          </a:prstGeom>
          <a:solidFill>
            <a:srgbClr val="BB152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pc="150" dirty="0">
                <a:solidFill>
                  <a:schemeClr val="bg1"/>
                </a:solidFill>
                <a:latin typeface="微软雅黑" panose="020B0503020204020204" pitchFamily="34" charset="-122"/>
                <a:ea typeface="微软雅黑" panose="020B0503020204020204" pitchFamily="34" charset="-122"/>
              </a:rPr>
              <a:t>表格</a:t>
            </a:r>
            <a:r>
              <a:rPr lang="en-US" altLang="zh-CN" spc="150" dirty="0">
                <a:solidFill>
                  <a:schemeClr val="bg1"/>
                </a:solidFill>
                <a:latin typeface="微软雅黑" panose="020B0503020204020204" pitchFamily="34" charset="-122"/>
                <a:ea typeface="微软雅黑" panose="020B0503020204020204" pitchFamily="34" charset="-122"/>
              </a:rPr>
              <a:t>—</a:t>
            </a:r>
            <a:r>
              <a:rPr lang="zh-CN" altLang="en-US" spc="150" dirty="0">
                <a:solidFill>
                  <a:schemeClr val="bg1"/>
                </a:solidFill>
                <a:latin typeface="微软雅黑" panose="020B0503020204020204" pitchFamily="34" charset="-122"/>
                <a:ea typeface="微软雅黑" panose="020B0503020204020204" pitchFamily="34" charset="-122"/>
              </a:rPr>
              <a:t>供给表</a:t>
            </a:r>
          </a:p>
        </p:txBody>
      </p:sp>
      <p:sp>
        <p:nvSpPr>
          <p:cNvPr id="10" name="矩形 9">
            <a:extLst>
              <a:ext uri="{FF2B5EF4-FFF2-40B4-BE49-F238E27FC236}">
                <a16:creationId xmlns:a16="http://schemas.microsoft.com/office/drawing/2014/main" id="{F68E5273-CD77-47B9-B841-9D29349C133D}"/>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一、供给的概念</a:t>
            </a:r>
          </a:p>
        </p:txBody>
      </p:sp>
      <p:sp>
        <p:nvSpPr>
          <p:cNvPr id="12" name="矩形 11">
            <a:extLst>
              <a:ext uri="{FF2B5EF4-FFF2-40B4-BE49-F238E27FC236}">
                <a16:creationId xmlns:a16="http://schemas.microsoft.com/office/drawing/2014/main" id="{99A861F3-1BF5-4FA4-A7CE-A93F6E99B7C4}"/>
              </a:ext>
            </a:extLst>
          </p:cNvPr>
          <p:cNvSpPr/>
          <p:nvPr/>
        </p:nvSpPr>
        <p:spPr>
          <a:xfrm>
            <a:off x="7455320" y="0"/>
            <a:ext cx="1523174"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第二节 供给</a:t>
            </a:r>
          </a:p>
        </p:txBody>
      </p:sp>
      <p:sp>
        <p:nvSpPr>
          <p:cNvPr id="18" name="矩形: 圆角 17">
            <a:extLst>
              <a:ext uri="{FF2B5EF4-FFF2-40B4-BE49-F238E27FC236}">
                <a16:creationId xmlns:a16="http://schemas.microsoft.com/office/drawing/2014/main" id="{694A0F67-2705-4BBF-927E-EF3413354A65}"/>
              </a:ext>
            </a:extLst>
          </p:cNvPr>
          <p:cNvSpPr/>
          <p:nvPr/>
        </p:nvSpPr>
        <p:spPr>
          <a:xfrm>
            <a:off x="970384" y="1232420"/>
            <a:ext cx="5689848" cy="858417"/>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a:extLst>
              <a:ext uri="{FF2B5EF4-FFF2-40B4-BE49-F238E27FC236}">
                <a16:creationId xmlns:a16="http://schemas.microsoft.com/office/drawing/2014/main" id="{05E68957-5EDA-454D-9F3F-D914C63694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57260" y="1128770"/>
            <a:ext cx="1065715" cy="1065715"/>
          </a:xfrm>
          <a:prstGeom prst="rect">
            <a:avLst/>
          </a:prstGeom>
        </p:spPr>
      </p:pic>
      <p:sp>
        <p:nvSpPr>
          <p:cNvPr id="20" name="矩形 19">
            <a:extLst>
              <a:ext uri="{FF2B5EF4-FFF2-40B4-BE49-F238E27FC236}">
                <a16:creationId xmlns:a16="http://schemas.microsoft.com/office/drawing/2014/main" id="{7DD4A08B-220A-4A31-9879-DC73D6E30A07}"/>
              </a:ext>
            </a:extLst>
          </p:cNvPr>
          <p:cNvSpPr/>
          <p:nvPr/>
        </p:nvSpPr>
        <p:spPr>
          <a:xfrm>
            <a:off x="1176671" y="1423225"/>
            <a:ext cx="4474302" cy="458908"/>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如何表示供给量和价格之间的关系？</a:t>
            </a:r>
          </a:p>
        </p:txBody>
      </p:sp>
    </p:spTree>
    <p:extLst>
      <p:ext uri="{BB962C8B-B14F-4D97-AF65-F5344CB8AC3E}">
        <p14:creationId xmlns:p14="http://schemas.microsoft.com/office/powerpoint/2010/main" val="1878907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KSO_Shape">
            <a:extLst>
              <a:ext uri="{FF2B5EF4-FFF2-40B4-BE49-F238E27FC236}">
                <a16:creationId xmlns:a16="http://schemas.microsoft.com/office/drawing/2014/main" id="{9A0782F8-1A0F-46E1-A81C-13B5F291E8EA}"/>
              </a:ext>
            </a:extLst>
          </p:cNvPr>
          <p:cNvSpPr/>
          <p:nvPr/>
        </p:nvSpPr>
        <p:spPr>
          <a:xfrm>
            <a:off x="1453851" y="2263323"/>
            <a:ext cx="2687217" cy="503853"/>
          </a:xfrm>
          <a:prstGeom prst="roundRect">
            <a:avLst>
              <a:gd name="adj" fmla="val 50000"/>
            </a:avLst>
          </a:prstGeom>
          <a:solidFill>
            <a:srgbClr val="BB152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pc="150" dirty="0">
                <a:solidFill>
                  <a:schemeClr val="bg1"/>
                </a:solidFill>
                <a:latin typeface="微软雅黑" panose="020B0503020204020204" pitchFamily="34" charset="-122"/>
                <a:ea typeface="微软雅黑" panose="020B0503020204020204" pitchFamily="34" charset="-122"/>
              </a:rPr>
              <a:t>曲线</a:t>
            </a:r>
            <a:r>
              <a:rPr lang="en-US" altLang="zh-CN" spc="150" dirty="0">
                <a:solidFill>
                  <a:schemeClr val="bg1"/>
                </a:solidFill>
                <a:latin typeface="微软雅黑" panose="020B0503020204020204" pitchFamily="34" charset="-122"/>
                <a:ea typeface="微软雅黑" panose="020B0503020204020204" pitchFamily="34" charset="-122"/>
              </a:rPr>
              <a:t>—</a:t>
            </a:r>
            <a:r>
              <a:rPr lang="zh-CN" altLang="en-US" spc="150" dirty="0">
                <a:solidFill>
                  <a:schemeClr val="bg1"/>
                </a:solidFill>
                <a:latin typeface="微软雅黑" panose="020B0503020204020204" pitchFamily="34" charset="-122"/>
                <a:ea typeface="微软雅黑" panose="020B0503020204020204" pitchFamily="34" charset="-122"/>
              </a:rPr>
              <a:t>供给曲线</a:t>
            </a:r>
          </a:p>
        </p:txBody>
      </p:sp>
      <p:sp>
        <p:nvSpPr>
          <p:cNvPr id="33" name="矩形 32">
            <a:extLst>
              <a:ext uri="{FF2B5EF4-FFF2-40B4-BE49-F238E27FC236}">
                <a16:creationId xmlns:a16="http://schemas.microsoft.com/office/drawing/2014/main" id="{F68E5273-CD77-47B9-B841-9D29349C133D}"/>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一、供给的概念</a:t>
            </a:r>
          </a:p>
        </p:txBody>
      </p:sp>
      <p:sp>
        <p:nvSpPr>
          <p:cNvPr id="35" name="矩形 34">
            <a:extLst>
              <a:ext uri="{FF2B5EF4-FFF2-40B4-BE49-F238E27FC236}">
                <a16:creationId xmlns:a16="http://schemas.microsoft.com/office/drawing/2014/main" id="{99A861F3-1BF5-4FA4-A7CE-A93F6E99B7C4}"/>
              </a:ext>
            </a:extLst>
          </p:cNvPr>
          <p:cNvSpPr/>
          <p:nvPr/>
        </p:nvSpPr>
        <p:spPr>
          <a:xfrm>
            <a:off x="7455320" y="0"/>
            <a:ext cx="1523174"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第二节 供给</a:t>
            </a:r>
          </a:p>
        </p:txBody>
      </p:sp>
      <p:grpSp>
        <p:nvGrpSpPr>
          <p:cNvPr id="36" name="组合 149"/>
          <p:cNvGrpSpPr>
            <a:grpSpLocks/>
          </p:cNvGrpSpPr>
          <p:nvPr/>
        </p:nvGrpSpPr>
        <p:grpSpPr bwMode="auto">
          <a:xfrm>
            <a:off x="1704421" y="2924944"/>
            <a:ext cx="6179946" cy="3081390"/>
            <a:chOff x="225275" y="-127555"/>
            <a:chExt cx="6179431" cy="3673916"/>
          </a:xfrm>
        </p:grpSpPr>
        <p:sp>
          <p:nvSpPr>
            <p:cNvPr id="37" name="椭圆 69"/>
            <p:cNvSpPr>
              <a:spLocks noChangeArrowheads="1"/>
            </p:cNvSpPr>
            <p:nvPr/>
          </p:nvSpPr>
          <p:spPr bwMode="auto">
            <a:xfrm flipH="1">
              <a:off x="2665190" y="2260210"/>
              <a:ext cx="53970" cy="53966"/>
            </a:xfrm>
            <a:prstGeom prst="ellipse">
              <a:avLst/>
            </a:prstGeom>
            <a:solidFill>
              <a:srgbClr val="000000"/>
            </a:solidFill>
            <a:ln w="25400">
              <a:solidFill>
                <a:srgbClr val="000000"/>
              </a:solidFill>
              <a:round/>
              <a:headEnd/>
              <a:tailEnd/>
            </a:ln>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rgbClr val="FFFFFF"/>
                </a:solidFill>
              </a:endParaRPr>
            </a:p>
          </p:txBody>
        </p:sp>
        <p:sp>
          <p:nvSpPr>
            <p:cNvPr id="38" name="椭圆 70"/>
            <p:cNvSpPr>
              <a:spLocks noChangeArrowheads="1"/>
            </p:cNvSpPr>
            <p:nvPr/>
          </p:nvSpPr>
          <p:spPr bwMode="auto">
            <a:xfrm flipH="1" flipV="1">
              <a:off x="3300137" y="1833246"/>
              <a:ext cx="53970" cy="53966"/>
            </a:xfrm>
            <a:prstGeom prst="ellipse">
              <a:avLst/>
            </a:prstGeom>
            <a:solidFill>
              <a:srgbClr val="000000"/>
            </a:solidFill>
            <a:ln w="25400">
              <a:solidFill>
                <a:srgbClr val="000000"/>
              </a:solidFill>
              <a:round/>
              <a:headEnd/>
              <a:tailEnd/>
            </a:ln>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rgbClr val="FFFFFF"/>
                </a:solidFill>
              </a:endParaRPr>
            </a:p>
          </p:txBody>
        </p:sp>
        <p:sp>
          <p:nvSpPr>
            <p:cNvPr id="39" name="椭圆 71"/>
            <p:cNvSpPr>
              <a:spLocks noChangeArrowheads="1"/>
            </p:cNvSpPr>
            <p:nvPr/>
          </p:nvSpPr>
          <p:spPr bwMode="auto">
            <a:xfrm>
              <a:off x="3635071" y="1479295"/>
              <a:ext cx="53970" cy="53966"/>
            </a:xfrm>
            <a:prstGeom prst="ellipse">
              <a:avLst/>
            </a:prstGeom>
            <a:solidFill>
              <a:srgbClr val="000000"/>
            </a:solidFill>
            <a:ln w="25400">
              <a:solidFill>
                <a:srgbClr val="000000"/>
              </a:solidFill>
              <a:round/>
              <a:headEnd/>
              <a:tailEnd/>
            </a:ln>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rgbClr val="FFFFFF"/>
                </a:solidFill>
              </a:endParaRPr>
            </a:p>
          </p:txBody>
        </p:sp>
        <p:sp>
          <p:nvSpPr>
            <p:cNvPr id="40" name="椭圆 72"/>
            <p:cNvSpPr>
              <a:spLocks noChangeArrowheads="1"/>
            </p:cNvSpPr>
            <p:nvPr/>
          </p:nvSpPr>
          <p:spPr bwMode="auto">
            <a:xfrm flipH="1" flipV="1">
              <a:off x="3876351" y="1001540"/>
              <a:ext cx="53970" cy="53966"/>
            </a:xfrm>
            <a:prstGeom prst="ellipse">
              <a:avLst/>
            </a:prstGeom>
            <a:solidFill>
              <a:srgbClr val="000000"/>
            </a:solidFill>
            <a:ln w="25400">
              <a:solidFill>
                <a:srgbClr val="000000"/>
              </a:solidFill>
              <a:round/>
              <a:headEnd/>
              <a:tailEnd/>
            </a:ln>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rgbClr val="FFFFFF"/>
                </a:solidFill>
              </a:endParaRPr>
            </a:p>
          </p:txBody>
        </p:sp>
        <p:grpSp>
          <p:nvGrpSpPr>
            <p:cNvPr id="41" name="组合 148"/>
            <p:cNvGrpSpPr>
              <a:grpSpLocks/>
            </p:cNvGrpSpPr>
            <p:nvPr/>
          </p:nvGrpSpPr>
          <p:grpSpPr bwMode="auto">
            <a:xfrm>
              <a:off x="225275" y="-127555"/>
              <a:ext cx="6179431" cy="3673916"/>
              <a:chOff x="225275" y="-127555"/>
              <a:chExt cx="6179431" cy="3673916"/>
            </a:xfrm>
          </p:grpSpPr>
          <p:grpSp>
            <p:nvGrpSpPr>
              <p:cNvPr id="42" name="组合 141"/>
              <p:cNvGrpSpPr>
                <a:grpSpLocks/>
              </p:cNvGrpSpPr>
              <p:nvPr/>
            </p:nvGrpSpPr>
            <p:grpSpPr bwMode="auto">
              <a:xfrm>
                <a:off x="714380" y="142876"/>
                <a:ext cx="4702470" cy="3321072"/>
                <a:chOff x="0" y="0"/>
                <a:chExt cx="4702470" cy="3321072"/>
              </a:xfrm>
            </p:grpSpPr>
            <p:graphicFrame>
              <p:nvGraphicFramePr>
                <p:cNvPr id="53" name="Object 10"/>
                <p:cNvGraphicFramePr>
                  <a:graphicFrameLocks noChangeAspect="1"/>
                </p:cNvGraphicFramePr>
                <p:nvPr/>
              </p:nvGraphicFramePr>
              <p:xfrm>
                <a:off x="0" y="1143008"/>
                <a:ext cx="177800" cy="230188"/>
              </p:xfrm>
              <a:graphic>
                <a:graphicData uri="http://schemas.openxmlformats.org/presentationml/2006/ole">
                  <mc:AlternateContent xmlns:mc="http://schemas.openxmlformats.org/markup-compatibility/2006">
                    <mc:Choice xmlns:v="urn:schemas-microsoft-com:vml" Requires="v">
                      <p:oleObj spid="_x0000_s188818" r:id="rId3" imgW="127665" imgH="165964" progId="">
                        <p:embed/>
                      </p:oleObj>
                    </mc:Choice>
                    <mc:Fallback>
                      <p:oleObj r:id="rId3" imgW="127665" imgH="165964" progId="">
                        <p:embed/>
                        <p:pic>
                          <p:nvPicPr>
                            <p:cNvPr id="25"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143008"/>
                              <a:ext cx="177800"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4" name="组合 47"/>
                <p:cNvGrpSpPr>
                  <a:grpSpLocks/>
                </p:cNvGrpSpPr>
                <p:nvPr/>
              </p:nvGrpSpPr>
              <p:grpSpPr bwMode="auto">
                <a:xfrm>
                  <a:off x="214230" y="2929989"/>
                  <a:ext cx="4488240" cy="73012"/>
                  <a:chOff x="-84" y="237"/>
                  <a:chExt cx="4488240" cy="73012"/>
                </a:xfrm>
              </p:grpSpPr>
              <p:grpSp>
                <p:nvGrpSpPr>
                  <p:cNvPr id="74" name="组合 46"/>
                  <p:cNvGrpSpPr>
                    <a:grpSpLocks/>
                  </p:cNvGrpSpPr>
                  <p:nvPr/>
                </p:nvGrpSpPr>
                <p:grpSpPr bwMode="auto">
                  <a:xfrm>
                    <a:off x="-84" y="237"/>
                    <a:ext cx="4488240" cy="73012"/>
                    <a:chOff x="-84" y="237"/>
                    <a:chExt cx="4488240" cy="73012"/>
                  </a:xfrm>
                </p:grpSpPr>
                <p:cxnSp>
                  <p:nvCxnSpPr>
                    <p:cNvPr id="76" name="直接箭头连接符 5"/>
                    <p:cNvCxnSpPr>
                      <a:cxnSpLocks noChangeShapeType="1"/>
                      <a:endCxn id="46" idx="0"/>
                    </p:cNvCxnSpPr>
                    <p:nvPr/>
                  </p:nvCxnSpPr>
                  <p:spPr bwMode="auto">
                    <a:xfrm flipV="1">
                      <a:off x="-84" y="70078"/>
                      <a:ext cx="4488240" cy="5"/>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77" name="直接连接符 10"/>
                    <p:cNvCxnSpPr>
                      <a:cxnSpLocks noChangeShapeType="1"/>
                    </p:cNvCxnSpPr>
                    <p:nvPr/>
                  </p:nvCxnSpPr>
                  <p:spPr bwMode="auto">
                    <a:xfrm rot="5400000" flipH="1" flipV="1">
                      <a:off x="821376" y="35949"/>
                      <a:ext cx="73012" cy="1587"/>
                    </a:xfrm>
                    <a:prstGeom prst="line">
                      <a:avLst/>
                    </a:prstGeom>
                    <a:noFill/>
                    <a:ln w="9525">
                      <a:solidFill>
                        <a:srgbClr val="7F7F7F"/>
                      </a:solidFill>
                      <a:round/>
                      <a:headEnd/>
                      <a:tailEnd/>
                    </a:ln>
                    <a:extLst>
                      <a:ext uri="{909E8E84-426E-40DD-AFC4-6F175D3DCCD1}">
                        <a14:hiddenFill xmlns:a14="http://schemas.microsoft.com/office/drawing/2010/main">
                          <a:noFill/>
                        </a14:hiddenFill>
                      </a:ext>
                    </a:extLst>
                  </p:spPr>
                </p:cxnSp>
                <p:cxnSp>
                  <p:nvCxnSpPr>
                    <p:cNvPr id="78" name="直接连接符 35"/>
                    <p:cNvCxnSpPr>
                      <a:cxnSpLocks noChangeShapeType="1"/>
                    </p:cNvCxnSpPr>
                    <p:nvPr/>
                  </p:nvCxnSpPr>
                  <p:spPr bwMode="auto">
                    <a:xfrm rot="5400000" flipH="1" flipV="1">
                      <a:off x="1678554" y="35949"/>
                      <a:ext cx="73012" cy="1587"/>
                    </a:xfrm>
                    <a:prstGeom prst="line">
                      <a:avLst/>
                    </a:prstGeom>
                    <a:noFill/>
                    <a:ln w="9525">
                      <a:solidFill>
                        <a:srgbClr val="7F7F7F"/>
                      </a:solidFill>
                      <a:round/>
                      <a:headEnd/>
                      <a:tailEnd/>
                    </a:ln>
                    <a:extLst>
                      <a:ext uri="{909E8E84-426E-40DD-AFC4-6F175D3DCCD1}">
                        <a14:hiddenFill xmlns:a14="http://schemas.microsoft.com/office/drawing/2010/main">
                          <a:noFill/>
                        </a14:hiddenFill>
                      </a:ext>
                    </a:extLst>
                  </p:spPr>
                </p:cxnSp>
                <p:cxnSp>
                  <p:nvCxnSpPr>
                    <p:cNvPr id="79" name="直接连接符 36"/>
                    <p:cNvCxnSpPr>
                      <a:cxnSpLocks noChangeShapeType="1"/>
                    </p:cNvCxnSpPr>
                    <p:nvPr/>
                  </p:nvCxnSpPr>
                  <p:spPr bwMode="auto">
                    <a:xfrm rot="5400000" flipH="1" flipV="1">
                      <a:off x="2535733" y="35949"/>
                      <a:ext cx="73012" cy="1587"/>
                    </a:xfrm>
                    <a:prstGeom prst="line">
                      <a:avLst/>
                    </a:prstGeom>
                    <a:noFill/>
                    <a:ln w="9525">
                      <a:solidFill>
                        <a:srgbClr val="7F7F7F"/>
                      </a:solidFill>
                      <a:round/>
                      <a:headEnd/>
                      <a:tailEnd/>
                    </a:ln>
                    <a:extLst>
                      <a:ext uri="{909E8E84-426E-40DD-AFC4-6F175D3DCCD1}">
                        <a14:hiddenFill xmlns:a14="http://schemas.microsoft.com/office/drawing/2010/main">
                          <a:noFill/>
                        </a14:hiddenFill>
                      </a:ext>
                    </a:extLst>
                  </p:spPr>
                </p:cxnSp>
              </p:grpSp>
              <p:cxnSp>
                <p:nvCxnSpPr>
                  <p:cNvPr id="75" name="直接连接符 37"/>
                  <p:cNvCxnSpPr>
                    <a:cxnSpLocks noChangeShapeType="1"/>
                  </p:cNvCxnSpPr>
                  <p:nvPr/>
                </p:nvCxnSpPr>
                <p:spPr bwMode="auto">
                  <a:xfrm rot="5400000" flipH="1" flipV="1">
                    <a:off x="3392911" y="35949"/>
                    <a:ext cx="73012" cy="1587"/>
                  </a:xfrm>
                  <a:prstGeom prst="line">
                    <a:avLst/>
                  </a:prstGeom>
                  <a:noFill/>
                  <a:ln w="9525">
                    <a:solidFill>
                      <a:srgbClr val="7F7F7F"/>
                    </a:solidFill>
                    <a:round/>
                    <a:headEnd/>
                    <a:tailEnd/>
                  </a:ln>
                  <a:extLst>
                    <a:ext uri="{909E8E84-426E-40DD-AFC4-6F175D3DCCD1}">
                      <a14:hiddenFill xmlns:a14="http://schemas.microsoft.com/office/drawing/2010/main">
                        <a:noFill/>
                      </a14:hiddenFill>
                    </a:ext>
                  </a:extLst>
                </p:spPr>
              </p:cxnSp>
            </p:grpSp>
            <p:grpSp>
              <p:nvGrpSpPr>
                <p:cNvPr id="55" name="组合 74"/>
                <p:cNvGrpSpPr>
                  <a:grpSpLocks/>
                </p:cNvGrpSpPr>
                <p:nvPr/>
              </p:nvGrpSpPr>
              <p:grpSpPr bwMode="auto">
                <a:xfrm>
                  <a:off x="214314" y="0"/>
                  <a:ext cx="71438" cy="3000396"/>
                  <a:chOff x="0" y="0"/>
                  <a:chExt cx="71438" cy="3000396"/>
                </a:xfrm>
              </p:grpSpPr>
              <p:cxnSp>
                <p:nvCxnSpPr>
                  <p:cNvPr id="66" name="直接箭头连接符 7"/>
                  <p:cNvCxnSpPr>
                    <a:cxnSpLocks noChangeShapeType="1"/>
                  </p:cNvCxnSpPr>
                  <p:nvPr/>
                </p:nvCxnSpPr>
                <p:spPr bwMode="auto">
                  <a:xfrm rot="5400000" flipH="1" flipV="1">
                    <a:off x="-1499219" y="1499109"/>
                    <a:ext cx="2999857"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grpSp>
                <p:nvGrpSpPr>
                  <p:cNvPr id="67" name="组合 73"/>
                  <p:cNvGrpSpPr>
                    <a:grpSpLocks/>
                  </p:cNvGrpSpPr>
                  <p:nvPr/>
                </p:nvGrpSpPr>
                <p:grpSpPr bwMode="auto">
                  <a:xfrm>
                    <a:off x="0" y="428628"/>
                    <a:ext cx="71438" cy="2144728"/>
                    <a:chOff x="0" y="0"/>
                    <a:chExt cx="71438" cy="2144728"/>
                  </a:xfrm>
                </p:grpSpPr>
                <p:cxnSp>
                  <p:nvCxnSpPr>
                    <p:cNvPr id="68" name="直接连接符 45"/>
                    <p:cNvCxnSpPr>
                      <a:cxnSpLocks noChangeShapeType="1"/>
                    </p:cNvCxnSpPr>
                    <p:nvPr/>
                  </p:nvCxnSpPr>
                  <p:spPr bwMode="auto">
                    <a:xfrm>
                      <a:off x="-84" y="1714101"/>
                      <a:ext cx="71431" cy="1588"/>
                    </a:xfrm>
                    <a:prstGeom prst="line">
                      <a:avLst/>
                    </a:prstGeom>
                    <a:noFill/>
                    <a:ln w="9525">
                      <a:solidFill>
                        <a:srgbClr val="7F7F7F"/>
                      </a:solidFill>
                      <a:round/>
                      <a:headEnd/>
                      <a:tailEnd/>
                    </a:ln>
                    <a:extLst>
                      <a:ext uri="{909E8E84-426E-40DD-AFC4-6F175D3DCCD1}">
                        <a14:hiddenFill xmlns:a14="http://schemas.microsoft.com/office/drawing/2010/main">
                          <a:noFill/>
                        </a14:hiddenFill>
                      </a:ext>
                    </a:extLst>
                  </p:spPr>
                </p:cxnSp>
                <p:cxnSp>
                  <p:nvCxnSpPr>
                    <p:cNvPr id="69" name="直接连接符 48"/>
                    <p:cNvCxnSpPr>
                      <a:cxnSpLocks noChangeShapeType="1"/>
                    </p:cNvCxnSpPr>
                    <p:nvPr/>
                  </p:nvCxnSpPr>
                  <p:spPr bwMode="auto">
                    <a:xfrm>
                      <a:off x="-84" y="2142652"/>
                      <a:ext cx="71431" cy="1588"/>
                    </a:xfrm>
                    <a:prstGeom prst="line">
                      <a:avLst/>
                    </a:prstGeom>
                    <a:noFill/>
                    <a:ln w="9525">
                      <a:solidFill>
                        <a:srgbClr val="7F7F7F"/>
                      </a:solidFill>
                      <a:round/>
                      <a:headEnd/>
                      <a:tailEnd/>
                    </a:ln>
                    <a:extLst>
                      <a:ext uri="{909E8E84-426E-40DD-AFC4-6F175D3DCCD1}">
                        <a14:hiddenFill xmlns:a14="http://schemas.microsoft.com/office/drawing/2010/main">
                          <a:noFill/>
                        </a14:hiddenFill>
                      </a:ext>
                    </a:extLst>
                  </p:spPr>
                </p:cxnSp>
                <p:cxnSp>
                  <p:nvCxnSpPr>
                    <p:cNvPr id="70" name="直接连接符 49"/>
                    <p:cNvCxnSpPr>
                      <a:cxnSpLocks noChangeShapeType="1"/>
                    </p:cNvCxnSpPr>
                    <p:nvPr/>
                  </p:nvCxnSpPr>
                  <p:spPr bwMode="auto">
                    <a:xfrm>
                      <a:off x="-84" y="856999"/>
                      <a:ext cx="71431" cy="1588"/>
                    </a:xfrm>
                    <a:prstGeom prst="line">
                      <a:avLst/>
                    </a:prstGeom>
                    <a:noFill/>
                    <a:ln w="9525">
                      <a:solidFill>
                        <a:srgbClr val="7F7F7F"/>
                      </a:solidFill>
                      <a:round/>
                      <a:headEnd/>
                      <a:tailEnd/>
                    </a:ln>
                    <a:extLst>
                      <a:ext uri="{909E8E84-426E-40DD-AFC4-6F175D3DCCD1}">
                        <a14:hiddenFill xmlns:a14="http://schemas.microsoft.com/office/drawing/2010/main">
                          <a:noFill/>
                        </a14:hiddenFill>
                      </a:ext>
                    </a:extLst>
                  </p:spPr>
                </p:cxnSp>
                <p:cxnSp>
                  <p:nvCxnSpPr>
                    <p:cNvPr id="71" name="直接连接符 50"/>
                    <p:cNvCxnSpPr>
                      <a:cxnSpLocks noChangeShapeType="1"/>
                    </p:cNvCxnSpPr>
                    <p:nvPr/>
                  </p:nvCxnSpPr>
                  <p:spPr bwMode="auto">
                    <a:xfrm>
                      <a:off x="-84" y="428448"/>
                      <a:ext cx="71431" cy="1588"/>
                    </a:xfrm>
                    <a:prstGeom prst="line">
                      <a:avLst/>
                    </a:prstGeom>
                    <a:noFill/>
                    <a:ln w="9525">
                      <a:solidFill>
                        <a:srgbClr val="7F7F7F"/>
                      </a:solidFill>
                      <a:round/>
                      <a:headEnd/>
                      <a:tailEnd/>
                    </a:ln>
                    <a:extLst>
                      <a:ext uri="{909E8E84-426E-40DD-AFC4-6F175D3DCCD1}">
                        <a14:hiddenFill xmlns:a14="http://schemas.microsoft.com/office/drawing/2010/main">
                          <a:noFill/>
                        </a14:hiddenFill>
                      </a:ext>
                    </a:extLst>
                  </p:spPr>
                </p:cxnSp>
                <p:cxnSp>
                  <p:nvCxnSpPr>
                    <p:cNvPr id="72" name="直接连接符 51"/>
                    <p:cNvCxnSpPr>
                      <a:cxnSpLocks noChangeShapeType="1"/>
                    </p:cNvCxnSpPr>
                    <p:nvPr/>
                  </p:nvCxnSpPr>
                  <p:spPr bwMode="auto">
                    <a:xfrm>
                      <a:off x="-84" y="-103"/>
                      <a:ext cx="71431" cy="1588"/>
                    </a:xfrm>
                    <a:prstGeom prst="line">
                      <a:avLst/>
                    </a:prstGeom>
                    <a:noFill/>
                    <a:ln w="9525">
                      <a:solidFill>
                        <a:srgbClr val="7F7F7F"/>
                      </a:solidFill>
                      <a:round/>
                      <a:headEnd/>
                      <a:tailEnd/>
                    </a:ln>
                    <a:extLst>
                      <a:ext uri="{909E8E84-426E-40DD-AFC4-6F175D3DCCD1}">
                        <a14:hiddenFill xmlns:a14="http://schemas.microsoft.com/office/drawing/2010/main">
                          <a:noFill/>
                        </a14:hiddenFill>
                      </a:ext>
                    </a:extLst>
                  </p:spPr>
                </p:cxnSp>
                <p:cxnSp>
                  <p:nvCxnSpPr>
                    <p:cNvPr id="73" name="直接连接符 52"/>
                    <p:cNvCxnSpPr>
                      <a:cxnSpLocks noChangeShapeType="1"/>
                    </p:cNvCxnSpPr>
                    <p:nvPr/>
                  </p:nvCxnSpPr>
                  <p:spPr bwMode="auto">
                    <a:xfrm>
                      <a:off x="-84" y="1285550"/>
                      <a:ext cx="71431" cy="1588"/>
                    </a:xfrm>
                    <a:prstGeom prst="line">
                      <a:avLst/>
                    </a:prstGeom>
                    <a:noFill/>
                    <a:ln w="9525">
                      <a:solidFill>
                        <a:srgbClr val="7F7F7F"/>
                      </a:solidFill>
                      <a:round/>
                      <a:headEnd/>
                      <a:tailEnd/>
                    </a:ln>
                    <a:extLst>
                      <a:ext uri="{909E8E84-426E-40DD-AFC4-6F175D3DCCD1}">
                        <a14:hiddenFill xmlns:a14="http://schemas.microsoft.com/office/drawing/2010/main">
                          <a:noFill/>
                        </a14:hiddenFill>
                      </a:ext>
                    </a:extLst>
                  </p:spPr>
                </p:cxnSp>
              </p:grpSp>
            </p:grpSp>
            <p:graphicFrame>
              <p:nvGraphicFramePr>
                <p:cNvPr id="56" name="Object 27"/>
                <p:cNvGraphicFramePr>
                  <a:graphicFrameLocks noChangeAspect="1"/>
                </p:cNvGraphicFramePr>
                <p:nvPr/>
              </p:nvGraphicFramePr>
              <p:xfrm>
                <a:off x="0" y="2928958"/>
                <a:ext cx="177800" cy="247650"/>
              </p:xfrm>
              <a:graphic>
                <a:graphicData uri="http://schemas.openxmlformats.org/presentationml/2006/ole">
                  <mc:AlternateContent xmlns:mc="http://schemas.openxmlformats.org/markup-compatibility/2006">
                    <mc:Choice xmlns:v="urn:schemas-microsoft-com:vml" Requires="v">
                      <p:oleObj spid="_x0000_s188819" r:id="rId5" imgW="127665" imgH="178731" progId="">
                        <p:embed/>
                      </p:oleObj>
                    </mc:Choice>
                    <mc:Fallback>
                      <p:oleObj r:id="rId5" imgW="127665" imgH="178731" progId="">
                        <p:embed/>
                        <p:pic>
                          <p:nvPicPr>
                            <p:cNvPr id="28"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928958"/>
                              <a:ext cx="1778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 name="Object 28"/>
                <p:cNvGraphicFramePr>
                  <a:graphicFrameLocks noChangeAspect="1"/>
                </p:cNvGraphicFramePr>
                <p:nvPr/>
              </p:nvGraphicFramePr>
              <p:xfrm>
                <a:off x="0" y="2500330"/>
                <a:ext cx="123825" cy="230188"/>
              </p:xfrm>
              <a:graphic>
                <a:graphicData uri="http://schemas.openxmlformats.org/presentationml/2006/ole">
                  <mc:AlternateContent xmlns:mc="http://schemas.openxmlformats.org/markup-compatibility/2006">
                    <mc:Choice xmlns:v="urn:schemas-microsoft-com:vml" Requires="v">
                      <p:oleObj spid="_x0000_s188820" r:id="rId7" imgW="89249" imgH="165747" progId="">
                        <p:embed/>
                      </p:oleObj>
                    </mc:Choice>
                    <mc:Fallback>
                      <p:oleObj r:id="rId7" imgW="89249" imgH="165747" progId="">
                        <p:embed/>
                        <p:pic>
                          <p:nvPicPr>
                            <p:cNvPr id="29"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2500330"/>
                              <a:ext cx="123825"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 name="Object 29"/>
                <p:cNvGraphicFramePr>
                  <a:graphicFrameLocks noChangeAspect="1"/>
                </p:cNvGraphicFramePr>
                <p:nvPr/>
              </p:nvGraphicFramePr>
              <p:xfrm>
                <a:off x="0" y="2071702"/>
                <a:ext cx="177800" cy="230187"/>
              </p:xfrm>
              <a:graphic>
                <a:graphicData uri="http://schemas.openxmlformats.org/presentationml/2006/ole">
                  <mc:AlternateContent xmlns:mc="http://schemas.openxmlformats.org/markup-compatibility/2006">
                    <mc:Choice xmlns:v="urn:schemas-microsoft-com:vml" Requires="v">
                      <p:oleObj spid="_x0000_s188821" r:id="rId9" imgW="127665" imgH="165964" progId="">
                        <p:embed/>
                      </p:oleObj>
                    </mc:Choice>
                    <mc:Fallback>
                      <p:oleObj r:id="rId9" imgW="127665" imgH="165964" progId="">
                        <p:embed/>
                        <p:pic>
                          <p:nvPicPr>
                            <p:cNvPr id="30" name="Object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2071702"/>
                              <a:ext cx="177800"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 name="Object 30"/>
                <p:cNvGraphicFramePr>
                  <a:graphicFrameLocks noChangeAspect="1"/>
                </p:cNvGraphicFramePr>
                <p:nvPr/>
              </p:nvGraphicFramePr>
              <p:xfrm>
                <a:off x="0" y="1643074"/>
                <a:ext cx="160338" cy="247650"/>
              </p:xfrm>
              <a:graphic>
                <a:graphicData uri="http://schemas.openxmlformats.org/presentationml/2006/ole">
                  <mc:AlternateContent xmlns:mc="http://schemas.openxmlformats.org/markup-compatibility/2006">
                    <mc:Choice xmlns:v="urn:schemas-microsoft-com:vml" Requires="v">
                      <p:oleObj spid="_x0000_s188822" r:id="rId11" imgW="114949" imgH="178809" progId="">
                        <p:embed/>
                      </p:oleObj>
                    </mc:Choice>
                    <mc:Fallback>
                      <p:oleObj r:id="rId11" imgW="114949" imgH="178809" progId="">
                        <p:embed/>
                        <p:pic>
                          <p:nvPicPr>
                            <p:cNvPr id="31" name="Object 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1643074"/>
                              <a:ext cx="160338"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0" name="Object 31"/>
                <p:cNvGraphicFramePr>
                  <a:graphicFrameLocks noChangeAspect="1"/>
                </p:cNvGraphicFramePr>
                <p:nvPr/>
              </p:nvGraphicFramePr>
              <p:xfrm>
                <a:off x="0" y="714380"/>
                <a:ext cx="160337" cy="247650"/>
              </p:xfrm>
              <a:graphic>
                <a:graphicData uri="http://schemas.openxmlformats.org/presentationml/2006/ole">
                  <mc:AlternateContent xmlns:mc="http://schemas.openxmlformats.org/markup-compatibility/2006">
                    <mc:Choice xmlns:v="urn:schemas-microsoft-com:vml" Requires="v">
                      <p:oleObj spid="_x0000_s188823" r:id="rId13" imgW="114949" imgH="178809" progId="">
                        <p:embed/>
                      </p:oleObj>
                    </mc:Choice>
                    <mc:Fallback>
                      <p:oleObj r:id="rId13" imgW="114949" imgH="178809" progId="">
                        <p:embed/>
                        <p:pic>
                          <p:nvPicPr>
                            <p:cNvPr id="32" name="Object 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714380"/>
                              <a:ext cx="160337"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 name="Object 32"/>
                <p:cNvGraphicFramePr>
                  <a:graphicFrameLocks noChangeAspect="1"/>
                </p:cNvGraphicFramePr>
                <p:nvPr/>
              </p:nvGraphicFramePr>
              <p:xfrm>
                <a:off x="0" y="285752"/>
                <a:ext cx="177800" cy="247650"/>
              </p:xfrm>
              <a:graphic>
                <a:graphicData uri="http://schemas.openxmlformats.org/presentationml/2006/ole">
                  <mc:AlternateContent xmlns:mc="http://schemas.openxmlformats.org/markup-compatibility/2006">
                    <mc:Choice xmlns:v="urn:schemas-microsoft-com:vml" Requires="v">
                      <p:oleObj spid="_x0000_s188824" r:id="rId15" imgW="127665" imgH="178731" progId="">
                        <p:embed/>
                      </p:oleObj>
                    </mc:Choice>
                    <mc:Fallback>
                      <p:oleObj r:id="rId15" imgW="127665" imgH="178731" progId="">
                        <p:embed/>
                        <p:pic>
                          <p:nvPicPr>
                            <p:cNvPr id="33" name="Object 3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285752"/>
                              <a:ext cx="1778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 name="Object 33"/>
                <p:cNvGraphicFramePr>
                  <a:graphicFrameLocks noChangeAspect="1"/>
                </p:cNvGraphicFramePr>
                <p:nvPr/>
              </p:nvGraphicFramePr>
              <p:xfrm>
                <a:off x="1785950" y="3071834"/>
                <a:ext cx="247650" cy="247650"/>
              </p:xfrm>
              <a:graphic>
                <a:graphicData uri="http://schemas.openxmlformats.org/presentationml/2006/ole">
                  <mc:AlternateContent xmlns:mc="http://schemas.openxmlformats.org/markup-compatibility/2006">
                    <mc:Choice xmlns:v="urn:schemas-microsoft-com:vml" Requires="v">
                      <p:oleObj spid="_x0000_s188825" r:id="rId17" imgW="178731" imgH="178731" progId="">
                        <p:embed/>
                      </p:oleObj>
                    </mc:Choice>
                    <mc:Fallback>
                      <p:oleObj r:id="rId17" imgW="178731" imgH="178731" progId="">
                        <p:embed/>
                        <p:pic>
                          <p:nvPicPr>
                            <p:cNvPr id="34" name="Object 3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785950" y="3071834"/>
                              <a:ext cx="24765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 name="Object 34"/>
                <p:cNvGraphicFramePr>
                  <a:graphicFrameLocks noChangeAspect="1"/>
                </p:cNvGraphicFramePr>
                <p:nvPr/>
              </p:nvGraphicFramePr>
              <p:xfrm>
                <a:off x="2643206" y="3071834"/>
                <a:ext cx="247650" cy="249238"/>
              </p:xfrm>
              <a:graphic>
                <a:graphicData uri="http://schemas.openxmlformats.org/presentationml/2006/ole">
                  <mc:AlternateContent xmlns:mc="http://schemas.openxmlformats.org/markup-compatibility/2006">
                    <mc:Choice xmlns:v="urn:schemas-microsoft-com:vml" Requires="v">
                      <p:oleObj spid="_x0000_s188826" r:id="rId19" imgW="178731" imgH="178731" progId="">
                        <p:embed/>
                      </p:oleObj>
                    </mc:Choice>
                    <mc:Fallback>
                      <p:oleObj r:id="rId19" imgW="178731" imgH="178731" progId="">
                        <p:embed/>
                        <p:pic>
                          <p:nvPicPr>
                            <p:cNvPr id="35" name="Object 3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643206" y="3071834"/>
                              <a:ext cx="247650" cy="24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 name="Object 35"/>
                <p:cNvGraphicFramePr>
                  <a:graphicFrameLocks noChangeAspect="1"/>
                </p:cNvGraphicFramePr>
                <p:nvPr/>
              </p:nvGraphicFramePr>
              <p:xfrm>
                <a:off x="3500462" y="3071834"/>
                <a:ext cx="284162" cy="247650"/>
              </p:xfrm>
              <a:graphic>
                <a:graphicData uri="http://schemas.openxmlformats.org/presentationml/2006/ole">
                  <mc:AlternateContent xmlns:mc="http://schemas.openxmlformats.org/markup-compatibility/2006">
                    <mc:Choice xmlns:v="urn:schemas-microsoft-com:vml" Requires="v">
                      <p:oleObj spid="_x0000_s188827" r:id="rId21" imgW="204264" imgH="178731" progId="">
                        <p:embed/>
                      </p:oleObj>
                    </mc:Choice>
                    <mc:Fallback>
                      <p:oleObj r:id="rId21" imgW="204264" imgH="178731" progId="">
                        <p:embed/>
                        <p:pic>
                          <p:nvPicPr>
                            <p:cNvPr id="36" name="Object 3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500462" y="3071834"/>
                              <a:ext cx="284162"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 name="Object 36"/>
                <p:cNvGraphicFramePr>
                  <a:graphicFrameLocks noChangeAspect="1"/>
                </p:cNvGraphicFramePr>
                <p:nvPr/>
              </p:nvGraphicFramePr>
              <p:xfrm>
                <a:off x="1000132" y="3071834"/>
                <a:ext cx="160337" cy="247650"/>
              </p:xfrm>
              <a:graphic>
                <a:graphicData uri="http://schemas.openxmlformats.org/presentationml/2006/ole">
                  <mc:AlternateContent xmlns:mc="http://schemas.openxmlformats.org/markup-compatibility/2006">
                    <mc:Choice xmlns:v="urn:schemas-microsoft-com:vml" Requires="v">
                      <p:oleObj spid="_x0000_s188828" r:id="rId23" imgW="114949" imgH="178809" progId="">
                        <p:embed/>
                      </p:oleObj>
                    </mc:Choice>
                    <mc:Fallback>
                      <p:oleObj r:id="rId23" imgW="114949" imgH="178809" progId="">
                        <p:embed/>
                        <p:pic>
                          <p:nvPicPr>
                            <p:cNvPr id="37" name="Object 3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000132" y="3071834"/>
                              <a:ext cx="160337"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3" name="组合 147"/>
              <p:cNvGrpSpPr>
                <a:grpSpLocks/>
              </p:cNvGrpSpPr>
              <p:nvPr/>
            </p:nvGrpSpPr>
            <p:grpSpPr bwMode="auto">
              <a:xfrm>
                <a:off x="225275" y="-127555"/>
                <a:ext cx="6179431" cy="3673916"/>
                <a:chOff x="225275" y="-127555"/>
                <a:chExt cx="6179431" cy="3673916"/>
              </a:xfrm>
            </p:grpSpPr>
            <p:grpSp>
              <p:nvGrpSpPr>
                <p:cNvPr id="44" name="组合 143"/>
                <p:cNvGrpSpPr>
                  <a:grpSpLocks/>
                </p:cNvGrpSpPr>
                <p:nvPr/>
              </p:nvGrpSpPr>
              <p:grpSpPr bwMode="auto">
                <a:xfrm>
                  <a:off x="1776264" y="1009476"/>
                  <a:ext cx="2124260" cy="1726902"/>
                  <a:chOff x="0" y="0"/>
                  <a:chExt cx="2124260" cy="1726902"/>
                </a:xfrm>
              </p:grpSpPr>
              <p:cxnSp>
                <p:nvCxnSpPr>
                  <p:cNvPr id="47" name="直接连接符 92"/>
                  <p:cNvCxnSpPr>
                    <a:cxnSpLocks noChangeShapeType="1"/>
                    <a:endCxn id="38" idx="7"/>
                  </p:cNvCxnSpPr>
                  <p:nvPr/>
                </p:nvCxnSpPr>
                <p:spPr bwMode="auto">
                  <a:xfrm flipV="1">
                    <a:off x="950832" y="869800"/>
                    <a:ext cx="580976" cy="382522"/>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pSp>
                <p:nvGrpSpPr>
                  <p:cNvPr id="48" name="组合 142"/>
                  <p:cNvGrpSpPr>
                    <a:grpSpLocks/>
                  </p:cNvGrpSpPr>
                  <p:nvPr/>
                </p:nvGrpSpPr>
                <p:grpSpPr bwMode="auto">
                  <a:xfrm>
                    <a:off x="0" y="0"/>
                    <a:ext cx="2124260" cy="1726902"/>
                    <a:chOff x="0" y="0"/>
                    <a:chExt cx="2124260" cy="1726902"/>
                  </a:xfrm>
                </p:grpSpPr>
                <p:cxnSp>
                  <p:nvCxnSpPr>
                    <p:cNvPr id="49" name="直接连接符 90"/>
                    <p:cNvCxnSpPr>
                      <a:cxnSpLocks noChangeShapeType="1"/>
                    </p:cNvCxnSpPr>
                    <p:nvPr/>
                  </p:nvCxnSpPr>
                  <p:spPr bwMode="auto">
                    <a:xfrm rot="5400000" flipH="1" flipV="1">
                      <a:off x="241292" y="1044350"/>
                      <a:ext cx="436488" cy="900037"/>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sp>
                  <p:nvSpPr>
                    <p:cNvPr id="50" name="椭圆 68"/>
                    <p:cNvSpPr>
                      <a:spLocks noChangeArrowheads="1"/>
                    </p:cNvSpPr>
                    <p:nvPr/>
                  </p:nvSpPr>
                  <p:spPr bwMode="auto">
                    <a:xfrm flipH="1" flipV="1">
                      <a:off x="0" y="1672936"/>
                      <a:ext cx="53970" cy="53966"/>
                    </a:xfrm>
                    <a:prstGeom prst="ellipse">
                      <a:avLst/>
                    </a:prstGeom>
                    <a:solidFill>
                      <a:srgbClr val="000000"/>
                    </a:solidFill>
                    <a:ln w="25400">
                      <a:solidFill>
                        <a:srgbClr val="000000"/>
                      </a:solidFill>
                      <a:round/>
                      <a:headEnd/>
                      <a:tailEnd/>
                    </a:ln>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rgbClr val="FFFFFF"/>
                        </a:solidFill>
                      </a:endParaRPr>
                    </a:p>
                  </p:txBody>
                </p:sp>
                <p:cxnSp>
                  <p:nvCxnSpPr>
                    <p:cNvPr id="51" name="直接连接符 94"/>
                    <p:cNvCxnSpPr>
                      <a:cxnSpLocks noChangeShapeType="1"/>
                    </p:cNvCxnSpPr>
                    <p:nvPr/>
                  </p:nvCxnSpPr>
                  <p:spPr bwMode="auto">
                    <a:xfrm rot="5400000" flipH="1" flipV="1">
                      <a:off x="1522296" y="498367"/>
                      <a:ext cx="372998" cy="357157"/>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52" name="直接连接符 96"/>
                    <p:cNvCxnSpPr>
                      <a:cxnSpLocks noChangeShapeType="1"/>
                    </p:cNvCxnSpPr>
                    <p:nvPr/>
                  </p:nvCxnSpPr>
                  <p:spPr bwMode="auto">
                    <a:xfrm rot="5400000" flipH="1" flipV="1">
                      <a:off x="1749301" y="133316"/>
                      <a:ext cx="507912" cy="241280"/>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pSp>
            </p:grpSp>
            <p:sp>
              <p:nvSpPr>
                <p:cNvPr id="45" name="TextBox 144"/>
                <p:cNvSpPr txBox="1">
                  <a:spLocks noChangeArrowheads="1"/>
                </p:cNvSpPr>
                <p:nvPr/>
              </p:nvSpPr>
              <p:spPr bwMode="auto">
                <a:xfrm>
                  <a:off x="225275" y="-127555"/>
                  <a:ext cx="1652575" cy="403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0" dirty="0">
                      <a:solidFill>
                        <a:srgbClr val="7F7F7F"/>
                      </a:solidFill>
                      <a:latin typeface="微软雅黑" panose="020B0503020204020204" pitchFamily="34" charset="-122"/>
                      <a:ea typeface="微软雅黑" panose="020B0503020204020204" pitchFamily="34" charset="-122"/>
                    </a:rPr>
                    <a:t>价格（元</a:t>
                  </a:r>
                  <a:r>
                    <a:rPr lang="en-US" altLang="zh-CN" sz="1600" b="0" dirty="0">
                      <a:solidFill>
                        <a:srgbClr val="7F7F7F"/>
                      </a:solidFill>
                      <a:latin typeface="微软雅黑" panose="020B0503020204020204" pitchFamily="34" charset="-122"/>
                      <a:ea typeface="微软雅黑" panose="020B0503020204020204" pitchFamily="34" charset="-122"/>
                    </a:rPr>
                    <a:t>/</a:t>
                  </a:r>
                  <a:r>
                    <a:rPr lang="zh-CN" altLang="en-US" sz="1600" b="0" dirty="0">
                      <a:solidFill>
                        <a:srgbClr val="7F7F7F"/>
                      </a:solidFill>
                      <a:latin typeface="微软雅黑" panose="020B0503020204020204" pitchFamily="34" charset="-122"/>
                      <a:ea typeface="微软雅黑" panose="020B0503020204020204" pitchFamily="34" charset="-122"/>
                    </a:rPr>
                    <a:t>袋）</a:t>
                  </a:r>
                  <a:endParaRPr lang="en-US" altLang="zh-CN" sz="1600" b="0" dirty="0">
                    <a:solidFill>
                      <a:srgbClr val="7F7F7F"/>
                    </a:solidFill>
                    <a:latin typeface="微软雅黑" panose="020B0503020204020204" pitchFamily="34" charset="-122"/>
                    <a:ea typeface="微软雅黑" panose="020B0503020204020204" pitchFamily="34" charset="-122"/>
                  </a:endParaRPr>
                </a:p>
              </p:txBody>
            </p:sp>
            <p:sp>
              <p:nvSpPr>
                <p:cNvPr id="46" name="TextBox 145"/>
                <p:cNvSpPr txBox="1">
                  <a:spLocks noChangeArrowheads="1"/>
                </p:cNvSpPr>
                <p:nvPr/>
              </p:nvSpPr>
              <p:spPr bwMode="auto">
                <a:xfrm>
                  <a:off x="4428993" y="3142706"/>
                  <a:ext cx="1975713" cy="403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0" dirty="0">
                      <a:solidFill>
                        <a:srgbClr val="7F7F7F"/>
                      </a:solidFill>
                      <a:latin typeface="微软雅黑" panose="020B0503020204020204" pitchFamily="34" charset="-122"/>
                      <a:ea typeface="微软雅黑" panose="020B0503020204020204" pitchFamily="34" charset="-122"/>
                    </a:rPr>
                    <a:t>供给量（万包）</a:t>
                  </a:r>
                </a:p>
              </p:txBody>
            </p:sp>
          </p:grpSp>
        </p:grpSp>
      </p:grpSp>
      <p:sp>
        <p:nvSpPr>
          <p:cNvPr id="80" name="矩形: 圆角 79">
            <a:extLst>
              <a:ext uri="{FF2B5EF4-FFF2-40B4-BE49-F238E27FC236}">
                <a16:creationId xmlns:a16="http://schemas.microsoft.com/office/drawing/2014/main" id="{8A23CA91-FF49-46ED-BBFA-7966902B4AAC}"/>
              </a:ext>
            </a:extLst>
          </p:cNvPr>
          <p:cNvSpPr/>
          <p:nvPr/>
        </p:nvSpPr>
        <p:spPr>
          <a:xfrm>
            <a:off x="970384" y="1232420"/>
            <a:ext cx="5689848" cy="858417"/>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1" name="图片 80">
            <a:extLst>
              <a:ext uri="{FF2B5EF4-FFF2-40B4-BE49-F238E27FC236}">
                <a16:creationId xmlns:a16="http://schemas.microsoft.com/office/drawing/2014/main" id="{380A3CF6-36DA-47AA-82F7-DDA81850DE22}"/>
              </a:ext>
            </a:extLst>
          </p:cNvPr>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5857260" y="1128770"/>
            <a:ext cx="1065715" cy="1065715"/>
          </a:xfrm>
          <a:prstGeom prst="rect">
            <a:avLst/>
          </a:prstGeom>
        </p:spPr>
      </p:pic>
      <p:sp>
        <p:nvSpPr>
          <p:cNvPr id="82" name="矩形 81">
            <a:extLst>
              <a:ext uri="{FF2B5EF4-FFF2-40B4-BE49-F238E27FC236}">
                <a16:creationId xmlns:a16="http://schemas.microsoft.com/office/drawing/2014/main" id="{18C3A744-3D3B-44FE-903B-CFF266765A57}"/>
              </a:ext>
            </a:extLst>
          </p:cNvPr>
          <p:cNvSpPr/>
          <p:nvPr/>
        </p:nvSpPr>
        <p:spPr>
          <a:xfrm>
            <a:off x="1176671" y="1423225"/>
            <a:ext cx="4474302" cy="458908"/>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如何表示供给量和价格之间的关系？</a:t>
            </a:r>
          </a:p>
        </p:txBody>
      </p:sp>
      <p:sp>
        <p:nvSpPr>
          <p:cNvPr id="2" name="文本框 1">
            <a:extLst>
              <a:ext uri="{FF2B5EF4-FFF2-40B4-BE49-F238E27FC236}">
                <a16:creationId xmlns:a16="http://schemas.microsoft.com/office/drawing/2014/main" id="{94C0104A-F458-49E1-9091-39262D86A44F}"/>
              </a:ext>
            </a:extLst>
          </p:cNvPr>
          <p:cNvSpPr txBox="1"/>
          <p:nvPr/>
        </p:nvSpPr>
        <p:spPr>
          <a:xfrm>
            <a:off x="2952059" y="5025012"/>
            <a:ext cx="376145"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A</a:t>
            </a:r>
            <a:endParaRPr lang="zh-CN" altLang="en-US" dirty="0">
              <a:latin typeface="微软雅黑" panose="020B0503020204020204" pitchFamily="34" charset="-122"/>
              <a:ea typeface="微软雅黑" panose="020B0503020204020204" pitchFamily="34" charset="-122"/>
            </a:endParaRPr>
          </a:p>
        </p:txBody>
      </p:sp>
      <p:sp>
        <p:nvSpPr>
          <p:cNvPr id="85" name="文本框 84">
            <a:extLst>
              <a:ext uri="{FF2B5EF4-FFF2-40B4-BE49-F238E27FC236}">
                <a16:creationId xmlns:a16="http://schemas.microsoft.com/office/drawing/2014/main" id="{FF26751F-5915-4AAE-9A13-A0746636F517}"/>
              </a:ext>
            </a:extLst>
          </p:cNvPr>
          <p:cNvSpPr txBox="1"/>
          <p:nvPr/>
        </p:nvSpPr>
        <p:spPr>
          <a:xfrm>
            <a:off x="3886674" y="4660351"/>
            <a:ext cx="376145"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B</a:t>
            </a:r>
            <a:endParaRPr lang="zh-CN" altLang="en-US" dirty="0">
              <a:latin typeface="微软雅黑" panose="020B0503020204020204" pitchFamily="34" charset="-122"/>
              <a:ea typeface="微软雅黑" panose="020B0503020204020204" pitchFamily="34" charset="-122"/>
            </a:endParaRPr>
          </a:p>
        </p:txBody>
      </p:sp>
      <p:sp>
        <p:nvSpPr>
          <p:cNvPr id="86" name="文本框 85">
            <a:extLst>
              <a:ext uri="{FF2B5EF4-FFF2-40B4-BE49-F238E27FC236}">
                <a16:creationId xmlns:a16="http://schemas.microsoft.com/office/drawing/2014/main" id="{D4A2B7A1-59D3-4934-9077-3BFFEA217E92}"/>
              </a:ext>
            </a:extLst>
          </p:cNvPr>
          <p:cNvSpPr txBox="1"/>
          <p:nvPr/>
        </p:nvSpPr>
        <p:spPr>
          <a:xfrm>
            <a:off x="4507787" y="4303488"/>
            <a:ext cx="376145"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C</a:t>
            </a:r>
            <a:endParaRPr lang="zh-CN" altLang="en-US" dirty="0">
              <a:latin typeface="微软雅黑" panose="020B0503020204020204" pitchFamily="34" charset="-122"/>
              <a:ea typeface="微软雅黑" panose="020B0503020204020204" pitchFamily="34" charset="-122"/>
            </a:endParaRPr>
          </a:p>
        </p:txBody>
      </p:sp>
      <p:sp>
        <p:nvSpPr>
          <p:cNvPr id="87" name="文本框 86">
            <a:extLst>
              <a:ext uri="{FF2B5EF4-FFF2-40B4-BE49-F238E27FC236}">
                <a16:creationId xmlns:a16="http://schemas.microsoft.com/office/drawing/2014/main" id="{35F08BE3-9281-4D77-BF7D-3FF4F763B723}"/>
              </a:ext>
            </a:extLst>
          </p:cNvPr>
          <p:cNvSpPr txBox="1"/>
          <p:nvPr/>
        </p:nvSpPr>
        <p:spPr>
          <a:xfrm>
            <a:off x="4870912" y="3999445"/>
            <a:ext cx="376145"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F</a:t>
            </a:r>
            <a:endParaRPr lang="zh-CN" altLang="en-US" dirty="0">
              <a:latin typeface="微软雅黑" panose="020B0503020204020204" pitchFamily="34" charset="-122"/>
              <a:ea typeface="微软雅黑" panose="020B0503020204020204" pitchFamily="34" charset="-122"/>
            </a:endParaRPr>
          </a:p>
        </p:txBody>
      </p:sp>
      <p:sp>
        <p:nvSpPr>
          <p:cNvPr id="88" name="文本框 87">
            <a:extLst>
              <a:ext uri="{FF2B5EF4-FFF2-40B4-BE49-F238E27FC236}">
                <a16:creationId xmlns:a16="http://schemas.microsoft.com/office/drawing/2014/main" id="{6A008896-B41F-4CD9-98AC-16FB665E35A1}"/>
              </a:ext>
            </a:extLst>
          </p:cNvPr>
          <p:cNvSpPr txBox="1"/>
          <p:nvPr/>
        </p:nvSpPr>
        <p:spPr>
          <a:xfrm>
            <a:off x="5114501" y="3601564"/>
            <a:ext cx="376145"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G</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54059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randombar(horizontal)">
                                      <p:cBhvr>
                                        <p:cTn id="12" dur="500"/>
                                        <p:tgtEl>
                                          <p:spTgt spid="36"/>
                                        </p:tgtEl>
                                      </p:cBhvr>
                                    </p:animEffect>
                                  </p:childTnLst>
                                </p:cTn>
                              </p:par>
                            </p:childTnLst>
                          </p:cTn>
                        </p:par>
                        <p:par>
                          <p:cTn id="13" fill="hold">
                            <p:stCondLst>
                              <p:cond delay="500"/>
                            </p:stCondLst>
                            <p:childTnLst>
                              <p:par>
                                <p:cTn id="14" presetID="14" presetClass="entr" presetSubtype="10"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randombar(horizontal)">
                                      <p:cBhvr>
                                        <p:cTn id="16" dur="500"/>
                                        <p:tgtEl>
                                          <p:spTgt spid="2"/>
                                        </p:tgtEl>
                                      </p:cBhvr>
                                    </p:animEffect>
                                  </p:childTnLst>
                                </p:cTn>
                              </p:par>
                            </p:childTnLst>
                          </p:cTn>
                        </p:par>
                        <p:par>
                          <p:cTn id="17" fill="hold">
                            <p:stCondLst>
                              <p:cond delay="1000"/>
                            </p:stCondLst>
                            <p:childTnLst>
                              <p:par>
                                <p:cTn id="18" presetID="14" presetClass="entr" presetSubtype="10" fill="hold" grpId="0" nodeType="afterEffect">
                                  <p:stCondLst>
                                    <p:cond delay="0"/>
                                  </p:stCondLst>
                                  <p:childTnLst>
                                    <p:set>
                                      <p:cBhvr>
                                        <p:cTn id="19" dur="1" fill="hold">
                                          <p:stCondLst>
                                            <p:cond delay="0"/>
                                          </p:stCondLst>
                                        </p:cTn>
                                        <p:tgtEl>
                                          <p:spTgt spid="85"/>
                                        </p:tgtEl>
                                        <p:attrNameLst>
                                          <p:attrName>style.visibility</p:attrName>
                                        </p:attrNameLst>
                                      </p:cBhvr>
                                      <p:to>
                                        <p:strVal val="visible"/>
                                      </p:to>
                                    </p:set>
                                    <p:animEffect transition="in" filter="randombar(horizontal)">
                                      <p:cBhvr>
                                        <p:cTn id="20" dur="500"/>
                                        <p:tgtEl>
                                          <p:spTgt spid="85"/>
                                        </p:tgtEl>
                                      </p:cBhvr>
                                    </p:animEffect>
                                  </p:childTnLst>
                                </p:cTn>
                              </p:par>
                            </p:childTnLst>
                          </p:cTn>
                        </p:par>
                        <p:par>
                          <p:cTn id="21" fill="hold">
                            <p:stCondLst>
                              <p:cond delay="1500"/>
                            </p:stCondLst>
                            <p:childTnLst>
                              <p:par>
                                <p:cTn id="22" presetID="14" presetClass="entr" presetSubtype="10" fill="hold" grpId="0" nodeType="afterEffect">
                                  <p:stCondLst>
                                    <p:cond delay="0"/>
                                  </p:stCondLst>
                                  <p:childTnLst>
                                    <p:set>
                                      <p:cBhvr>
                                        <p:cTn id="23" dur="1" fill="hold">
                                          <p:stCondLst>
                                            <p:cond delay="0"/>
                                          </p:stCondLst>
                                        </p:cTn>
                                        <p:tgtEl>
                                          <p:spTgt spid="86"/>
                                        </p:tgtEl>
                                        <p:attrNameLst>
                                          <p:attrName>style.visibility</p:attrName>
                                        </p:attrNameLst>
                                      </p:cBhvr>
                                      <p:to>
                                        <p:strVal val="visible"/>
                                      </p:to>
                                    </p:set>
                                    <p:animEffect transition="in" filter="randombar(horizontal)">
                                      <p:cBhvr>
                                        <p:cTn id="24" dur="500"/>
                                        <p:tgtEl>
                                          <p:spTgt spid="86"/>
                                        </p:tgtEl>
                                      </p:cBhvr>
                                    </p:animEffect>
                                  </p:childTnLst>
                                </p:cTn>
                              </p:par>
                            </p:childTnLst>
                          </p:cTn>
                        </p:par>
                        <p:par>
                          <p:cTn id="25" fill="hold">
                            <p:stCondLst>
                              <p:cond delay="2000"/>
                            </p:stCondLst>
                            <p:childTnLst>
                              <p:par>
                                <p:cTn id="26" presetID="14" presetClass="entr" presetSubtype="10" fill="hold" grpId="0" nodeType="afterEffect">
                                  <p:stCondLst>
                                    <p:cond delay="0"/>
                                  </p:stCondLst>
                                  <p:childTnLst>
                                    <p:set>
                                      <p:cBhvr>
                                        <p:cTn id="27" dur="1" fill="hold">
                                          <p:stCondLst>
                                            <p:cond delay="0"/>
                                          </p:stCondLst>
                                        </p:cTn>
                                        <p:tgtEl>
                                          <p:spTgt spid="87"/>
                                        </p:tgtEl>
                                        <p:attrNameLst>
                                          <p:attrName>style.visibility</p:attrName>
                                        </p:attrNameLst>
                                      </p:cBhvr>
                                      <p:to>
                                        <p:strVal val="visible"/>
                                      </p:to>
                                    </p:set>
                                    <p:animEffect transition="in" filter="randombar(horizontal)">
                                      <p:cBhvr>
                                        <p:cTn id="28" dur="500"/>
                                        <p:tgtEl>
                                          <p:spTgt spid="87"/>
                                        </p:tgtEl>
                                      </p:cBhvr>
                                    </p:animEffect>
                                  </p:childTnLst>
                                </p:cTn>
                              </p:par>
                            </p:childTnLst>
                          </p:cTn>
                        </p:par>
                        <p:par>
                          <p:cTn id="29" fill="hold">
                            <p:stCondLst>
                              <p:cond delay="2500"/>
                            </p:stCondLst>
                            <p:childTnLst>
                              <p:par>
                                <p:cTn id="30" presetID="14" presetClass="entr" presetSubtype="10" fill="hold" grpId="0" nodeType="afterEffect">
                                  <p:stCondLst>
                                    <p:cond delay="0"/>
                                  </p:stCondLst>
                                  <p:childTnLst>
                                    <p:set>
                                      <p:cBhvr>
                                        <p:cTn id="31" dur="1" fill="hold">
                                          <p:stCondLst>
                                            <p:cond delay="0"/>
                                          </p:stCondLst>
                                        </p:cTn>
                                        <p:tgtEl>
                                          <p:spTgt spid="88"/>
                                        </p:tgtEl>
                                        <p:attrNameLst>
                                          <p:attrName>style.visibility</p:attrName>
                                        </p:attrNameLst>
                                      </p:cBhvr>
                                      <p:to>
                                        <p:strVal val="visible"/>
                                      </p:to>
                                    </p:set>
                                    <p:animEffect transition="in" filter="randombar(horizontal)">
                                      <p:cBhvr>
                                        <p:cTn id="32"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 grpId="0"/>
      <p:bldP spid="85" grpId="0"/>
      <p:bldP spid="86" grpId="0"/>
      <p:bldP spid="87" grpId="0"/>
      <p:bldP spid="8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KSO_Shape">
            <a:extLst>
              <a:ext uri="{FF2B5EF4-FFF2-40B4-BE49-F238E27FC236}">
                <a16:creationId xmlns:a16="http://schemas.microsoft.com/office/drawing/2014/main" id="{F91E9D36-B1A1-4122-9C43-B7EE72F70046}"/>
              </a:ext>
            </a:extLst>
          </p:cNvPr>
          <p:cNvSpPr/>
          <p:nvPr/>
        </p:nvSpPr>
        <p:spPr>
          <a:xfrm>
            <a:off x="1475656" y="2670050"/>
            <a:ext cx="2687217" cy="503853"/>
          </a:xfrm>
          <a:prstGeom prst="roundRect">
            <a:avLst>
              <a:gd name="adj" fmla="val 50000"/>
            </a:avLst>
          </a:prstGeom>
          <a:solidFill>
            <a:srgbClr val="BB152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pc="150" dirty="0">
                <a:solidFill>
                  <a:schemeClr val="bg1"/>
                </a:solidFill>
                <a:latin typeface="微软雅黑" panose="020B0503020204020204" pitchFamily="34" charset="-122"/>
                <a:ea typeface="微软雅黑" panose="020B0503020204020204" pitchFamily="34" charset="-122"/>
              </a:rPr>
              <a:t>公式</a:t>
            </a:r>
            <a:r>
              <a:rPr lang="en-US" altLang="zh-CN" spc="150" dirty="0">
                <a:solidFill>
                  <a:schemeClr val="bg1"/>
                </a:solidFill>
                <a:latin typeface="微软雅黑" panose="020B0503020204020204" pitchFamily="34" charset="-122"/>
                <a:ea typeface="微软雅黑" panose="020B0503020204020204" pitchFamily="34" charset="-122"/>
              </a:rPr>
              <a:t>—</a:t>
            </a:r>
            <a:r>
              <a:rPr lang="zh-CN" altLang="en-US" spc="150" dirty="0">
                <a:solidFill>
                  <a:schemeClr val="bg1"/>
                </a:solidFill>
                <a:latin typeface="微软雅黑" panose="020B0503020204020204" pitchFamily="34" charset="-122"/>
                <a:ea typeface="微软雅黑" panose="020B0503020204020204" pitchFamily="34" charset="-122"/>
              </a:rPr>
              <a:t>供给函数</a:t>
            </a:r>
          </a:p>
        </p:txBody>
      </p:sp>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2F1D2E82-C64A-4D3B-869E-F531575B6DA6}"/>
                  </a:ext>
                </a:extLst>
              </p:cNvPr>
              <p:cNvGraphicFramePr>
                <a:graphicFrameLocks noGrp="1"/>
              </p:cNvGraphicFramePr>
              <p:nvPr>
                <p:extLst>
                  <p:ext uri="{D42A27DB-BD31-4B8C-83A1-F6EECF244321}">
                    <p14:modId xmlns:p14="http://schemas.microsoft.com/office/powerpoint/2010/main" val="2674645686"/>
                  </p:ext>
                </p:extLst>
              </p:nvPr>
            </p:nvGraphicFramePr>
            <p:xfrm>
              <a:off x="970384" y="3865864"/>
              <a:ext cx="7346032" cy="1687540"/>
            </p:xfrm>
            <a:graphic>
              <a:graphicData uri="http://schemas.openxmlformats.org/drawingml/2006/table">
                <a:tbl>
                  <a:tblPr firstRow="1" bandRow="1">
                    <a:tableStyleId>{5940675A-B579-460E-94D1-54222C63F5DA}</a:tableStyleId>
                  </a:tblPr>
                  <a:tblGrid>
                    <a:gridCol w="2448678">
                      <a:extLst>
                        <a:ext uri="{9D8B030D-6E8A-4147-A177-3AD203B41FA5}">
                          <a16:colId xmlns:a16="http://schemas.microsoft.com/office/drawing/2014/main" val="3760116452"/>
                        </a:ext>
                      </a:extLst>
                    </a:gridCol>
                    <a:gridCol w="4897354">
                      <a:extLst>
                        <a:ext uri="{9D8B030D-6E8A-4147-A177-3AD203B41FA5}">
                          <a16:colId xmlns:a16="http://schemas.microsoft.com/office/drawing/2014/main" val="3423923078"/>
                        </a:ext>
                      </a:extLst>
                    </a:gridCol>
                  </a:tblGrid>
                  <a:tr h="843770">
                    <a:tc>
                      <a:txBody>
                        <a:bodyPr/>
                        <a:lstStyle/>
                        <a:p>
                          <a:pPr algn="ctr"/>
                          <a:r>
                            <a:rPr lang="zh-CN" altLang="en-US" sz="1800" kern="1200" spc="150" dirty="0">
                              <a:solidFill>
                                <a:schemeClr val="tx1"/>
                              </a:solidFill>
                              <a:latin typeface="微软雅黑" panose="020B0503020204020204" pitchFamily="34" charset="-122"/>
                              <a:ea typeface="微软雅黑" panose="020B0503020204020204" pitchFamily="34" charset="-122"/>
                              <a:cs typeface="+mn-cs"/>
                            </a:rPr>
                            <a:t>一般形式 </a:t>
                          </a:r>
                        </a:p>
                      </a:txBody>
                      <a:tcPr marL="111055" marR="111055" marT="55527" marB="5552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eaLnBrk="1" hangingPunct="1">
                            <a:lnSpc>
                              <a:spcPct val="150000"/>
                            </a:lnSpc>
                          </a:pPr>
                          <a14:m>
                            <m:oMath xmlns:m="http://schemas.openxmlformats.org/officeDocument/2006/math">
                              <m:sSup>
                                <m:sSupPr>
                                  <m:ctrlPr>
                                    <a:rPr lang="en-US" altLang="zh-CN" sz="1800" i="1" smtClean="0">
                                      <a:latin typeface="Cambria Math" panose="02040503050406030204" pitchFamily="18" charset="0"/>
                                    </a:rPr>
                                  </m:ctrlPr>
                                </m:sSupPr>
                                <m:e>
                                  <m:r>
                                    <a:rPr lang="en-US" altLang="zh-CN" sz="1800" b="0" i="1" smtClean="0">
                                      <a:latin typeface="Cambria Math" panose="02040503050406030204" pitchFamily="18" charset="0"/>
                                    </a:rPr>
                                    <m:t>     </m:t>
                                  </m:r>
                                  <m:r>
                                    <a:rPr lang="en-US" altLang="zh-CN" sz="1800" b="0" i="1" smtClean="0">
                                      <a:latin typeface="Cambria Math" panose="02040503050406030204" pitchFamily="18" charset="0"/>
                                    </a:rPr>
                                    <m:t>𝑄</m:t>
                                  </m:r>
                                </m:e>
                                <m:sup>
                                  <m:r>
                                    <a:rPr lang="en-US" altLang="zh-CN" sz="1800" b="0" i="1" smtClean="0">
                                      <a:latin typeface="Cambria Math" panose="02040503050406030204" pitchFamily="18" charset="0"/>
                                    </a:rPr>
                                    <m:t>𝑆</m:t>
                                  </m:r>
                                </m:sup>
                              </m:sSup>
                            </m:oMath>
                          </a14:m>
                          <a:r>
                            <a:rPr lang="en-US" altLang="zh-CN" sz="1800" b="0" i="0" kern="1200" dirty="0">
                              <a:solidFill>
                                <a:schemeClr val="tx1"/>
                              </a:solidFill>
                              <a:latin typeface="Cambria Math" panose="02040503050406030204" pitchFamily="18" charset="0"/>
                              <a:ea typeface="+mn-ea"/>
                              <a:cs typeface="+mn-cs"/>
                            </a:rPr>
                            <a:t>=S(P) </a:t>
                          </a:r>
                          <a:r>
                            <a:rPr lang="en-US" altLang="zh-CN" sz="1800" b="0" i="0" kern="1200" baseline="0" dirty="0">
                              <a:solidFill>
                                <a:schemeClr val="tx1"/>
                              </a:solidFill>
                              <a:latin typeface="Cambria Math" panose="02040503050406030204" pitchFamily="18" charset="0"/>
                              <a:ea typeface="+mn-ea"/>
                              <a:cs typeface="+mn-cs"/>
                            </a:rPr>
                            <a:t>                                                 </a:t>
                          </a:r>
                          <a:r>
                            <a:rPr lang="en-US" altLang="zh-CN" sz="1800" i="1" dirty="0"/>
                            <a:t>S’</a:t>
                          </a:r>
                          <a:r>
                            <a:rPr lang="en-US" altLang="zh-CN" sz="1800" dirty="0"/>
                            <a:t>&gt;0</a:t>
                          </a:r>
                        </a:p>
                      </a:txBody>
                      <a:tcPr marL="111055" marR="111055" marT="55527" marB="5552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559779"/>
                      </a:ext>
                    </a:extLst>
                  </a:tr>
                  <a:tr h="843770">
                    <a:tc>
                      <a:txBody>
                        <a:bodyPr/>
                        <a:lstStyle/>
                        <a:p>
                          <a:pPr algn="ctr"/>
                          <a:r>
                            <a:rPr lang="zh-CN" altLang="en-US" sz="1800" kern="1200" spc="150" dirty="0">
                              <a:solidFill>
                                <a:schemeClr val="tx1"/>
                              </a:solidFill>
                              <a:latin typeface="微软雅黑" panose="020B0503020204020204" pitchFamily="34" charset="-122"/>
                              <a:ea typeface="微软雅黑" panose="020B0503020204020204" pitchFamily="34" charset="-122"/>
                              <a:cs typeface="+mn-cs"/>
                            </a:rPr>
                            <a:t>具体例子 </a:t>
                          </a:r>
                        </a:p>
                      </a:txBody>
                      <a:tcPr marL="111055" marR="111055" marT="55527" marB="5552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eaLnBrk="1" hangingPunct="1">
                            <a:lnSpc>
                              <a:spcPct val="150000"/>
                            </a:lnSpc>
                          </a:pPr>
                          <a14:m>
                            <m:oMath xmlns:m="http://schemas.openxmlformats.org/officeDocument/2006/math">
                              <m:sSup>
                                <m:sSupPr>
                                  <m:ctrlPr>
                                    <a:rPr lang="en-US" altLang="zh-CN" sz="1800" b="0" i="1" kern="1200" smtClean="0">
                                      <a:solidFill>
                                        <a:schemeClr val="tx1"/>
                                      </a:solidFill>
                                      <a:latin typeface="Cambria Math" panose="02040503050406030204" pitchFamily="18" charset="0"/>
                                      <a:ea typeface="+mn-ea"/>
                                      <a:cs typeface="+mn-cs"/>
                                    </a:rPr>
                                  </m:ctrlPr>
                                </m:sSupPr>
                                <m:e>
                                  <m:r>
                                    <a:rPr lang="en-US" altLang="zh-CN" sz="1800" b="0" i="0" kern="1200" smtClean="0">
                                      <a:solidFill>
                                        <a:schemeClr val="tx1"/>
                                      </a:solidFill>
                                      <a:latin typeface="Cambria Math" panose="02040503050406030204" pitchFamily="18" charset="0"/>
                                      <a:ea typeface="+mn-ea"/>
                                      <a:cs typeface="+mn-cs"/>
                                    </a:rPr>
                                    <m:t>     </m:t>
                                  </m:r>
                                  <m:r>
                                    <a:rPr lang="en-US" altLang="zh-CN" sz="1800" b="0" i="0" kern="1200" smtClean="0">
                                      <a:solidFill>
                                        <a:schemeClr val="tx1"/>
                                      </a:solidFill>
                                      <a:latin typeface="Cambria Math" panose="02040503050406030204" pitchFamily="18" charset="0"/>
                                      <a:ea typeface="+mn-ea"/>
                                      <a:cs typeface="+mn-cs"/>
                                    </a:rPr>
                                    <m:t>𝑄</m:t>
                                  </m:r>
                                </m:e>
                                <m:sup>
                                  <m:r>
                                    <a:rPr lang="en-US" altLang="zh-CN" sz="1800" b="0" i="1" kern="1200" smtClean="0">
                                      <a:solidFill>
                                        <a:schemeClr val="tx1"/>
                                      </a:solidFill>
                                      <a:latin typeface="Cambria Math" panose="02040503050406030204" pitchFamily="18" charset="0"/>
                                      <a:ea typeface="+mn-ea"/>
                                      <a:cs typeface="+mn-cs"/>
                                    </a:rPr>
                                    <m:t>𝑆</m:t>
                                  </m:r>
                                </m:sup>
                              </m:sSup>
                            </m:oMath>
                          </a14:m>
                          <a:r>
                            <a:rPr lang="en-US" altLang="zh-CN" sz="1800" b="0" i="0" kern="1200" dirty="0">
                              <a:solidFill>
                                <a:schemeClr val="tx1"/>
                              </a:solidFill>
                              <a:latin typeface="Cambria Math" panose="02040503050406030204" pitchFamily="18" charset="0"/>
                              <a:ea typeface="+mn-ea"/>
                              <a:cs typeface="+mn-cs"/>
                            </a:rPr>
                            <a:t>=</a:t>
                          </a:r>
                          <a:r>
                            <a:rPr lang="el-GR" altLang="zh-CN" sz="1800" b="0" i="0" kern="1200" dirty="0">
                              <a:solidFill>
                                <a:schemeClr val="tx1"/>
                              </a:solidFill>
                              <a:latin typeface="Cambria Math" panose="02040503050406030204" pitchFamily="18" charset="0"/>
                              <a:ea typeface="+mn-ea"/>
                              <a:cs typeface="+mn-cs"/>
                            </a:rPr>
                            <a:t>γ</a:t>
                          </a:r>
                          <a:r>
                            <a:rPr lang="en-US" altLang="zh-CN" sz="1800" b="0" i="0" kern="1200" dirty="0">
                              <a:solidFill>
                                <a:schemeClr val="tx1"/>
                              </a:solidFill>
                              <a:latin typeface="Cambria Math" panose="02040503050406030204" pitchFamily="18" charset="0"/>
                              <a:ea typeface="+mn-ea"/>
                              <a:cs typeface="+mn-cs"/>
                            </a:rPr>
                            <a:t> + </a:t>
                          </a:r>
                          <a:r>
                            <a:rPr lang="el-GR" altLang="zh-CN" sz="1800" b="0" i="0" kern="1200" dirty="0">
                              <a:solidFill>
                                <a:schemeClr val="tx1"/>
                              </a:solidFill>
                              <a:latin typeface="Cambria Math" panose="02040503050406030204" pitchFamily="18" charset="0"/>
                              <a:ea typeface="+mn-ea"/>
                              <a:cs typeface="+mn-cs"/>
                            </a:rPr>
                            <a:t>δ</a:t>
                          </a:r>
                          <a:r>
                            <a:rPr lang="en-US" altLang="zh-CN" sz="1800" b="0" i="0" kern="1200" dirty="0">
                              <a:solidFill>
                                <a:schemeClr val="tx1"/>
                              </a:solidFill>
                              <a:latin typeface="Cambria Math" panose="02040503050406030204" pitchFamily="18" charset="0"/>
                              <a:ea typeface="+mn-ea"/>
                              <a:cs typeface="+mn-cs"/>
                            </a:rPr>
                            <a:t>P                                               </a:t>
                          </a:r>
                          <a:r>
                            <a:rPr lang="el-GR" altLang="zh-CN" sz="1800" b="0" i="0" kern="1200" dirty="0">
                              <a:solidFill>
                                <a:schemeClr val="tx1"/>
                              </a:solidFill>
                              <a:latin typeface="Cambria Math" panose="02040503050406030204" pitchFamily="18" charset="0"/>
                              <a:ea typeface="+mn-ea"/>
                              <a:cs typeface="+mn-cs"/>
                            </a:rPr>
                            <a:t>δ</a:t>
                          </a:r>
                          <a:r>
                            <a:rPr lang="en-US" altLang="zh-CN" sz="1800" b="0" i="0" kern="1200" dirty="0">
                              <a:solidFill>
                                <a:schemeClr val="tx1"/>
                              </a:solidFill>
                              <a:latin typeface="Cambria Math" panose="02040503050406030204" pitchFamily="18" charset="0"/>
                              <a:ea typeface="+mn-ea"/>
                              <a:cs typeface="+mn-cs"/>
                            </a:rPr>
                            <a:t>&gt;0</a:t>
                          </a:r>
                          <a:endParaRPr lang="en-US" altLang="zh-CN" sz="1800" dirty="0"/>
                        </a:p>
                      </a:txBody>
                      <a:tcPr marL="111055" marR="111055" marT="55527" marB="5552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0459254"/>
                      </a:ext>
                    </a:extLst>
                  </a:tr>
                </a:tbl>
              </a:graphicData>
            </a:graphic>
          </p:graphicFrame>
        </mc:Choice>
        <mc:Fallback xmlns="">
          <p:graphicFrame>
            <p:nvGraphicFramePr>
              <p:cNvPr id="3" name="表格 2">
                <a:extLst>
                  <a:ext uri="{FF2B5EF4-FFF2-40B4-BE49-F238E27FC236}">
                    <a16:creationId xmlns:a16="http://schemas.microsoft.com/office/drawing/2014/main" id="{2F1D2E82-C64A-4D3B-869E-F531575B6DA6}"/>
                  </a:ext>
                </a:extLst>
              </p:cNvPr>
              <p:cNvGraphicFramePr>
                <a:graphicFrameLocks noGrp="1"/>
              </p:cNvGraphicFramePr>
              <p:nvPr>
                <p:extLst>
                  <p:ext uri="{D42A27DB-BD31-4B8C-83A1-F6EECF244321}">
                    <p14:modId xmlns:p14="http://schemas.microsoft.com/office/powerpoint/2010/main" val="2674645686"/>
                  </p:ext>
                </p:extLst>
              </p:nvPr>
            </p:nvGraphicFramePr>
            <p:xfrm>
              <a:off x="970384" y="3865864"/>
              <a:ext cx="7346032" cy="1687540"/>
            </p:xfrm>
            <a:graphic>
              <a:graphicData uri="http://schemas.openxmlformats.org/drawingml/2006/table">
                <a:tbl>
                  <a:tblPr firstRow="1" bandRow="1">
                    <a:tableStyleId>{5940675A-B579-460E-94D1-54222C63F5DA}</a:tableStyleId>
                  </a:tblPr>
                  <a:tblGrid>
                    <a:gridCol w="2448678">
                      <a:extLst>
                        <a:ext uri="{9D8B030D-6E8A-4147-A177-3AD203B41FA5}">
                          <a16:colId xmlns:a16="http://schemas.microsoft.com/office/drawing/2014/main" val="3760116452"/>
                        </a:ext>
                      </a:extLst>
                    </a:gridCol>
                    <a:gridCol w="4897354">
                      <a:extLst>
                        <a:ext uri="{9D8B030D-6E8A-4147-A177-3AD203B41FA5}">
                          <a16:colId xmlns:a16="http://schemas.microsoft.com/office/drawing/2014/main" val="3423923078"/>
                        </a:ext>
                      </a:extLst>
                    </a:gridCol>
                  </a:tblGrid>
                  <a:tr h="843770">
                    <a:tc>
                      <a:txBody>
                        <a:bodyPr/>
                        <a:lstStyle/>
                        <a:p>
                          <a:pPr algn="ctr"/>
                          <a:r>
                            <a:rPr lang="zh-CN" altLang="en-US" sz="1800" kern="1200" spc="150" dirty="0">
                              <a:solidFill>
                                <a:schemeClr val="tx1"/>
                              </a:solidFill>
                              <a:latin typeface="微软雅黑" panose="020B0503020204020204" pitchFamily="34" charset="-122"/>
                              <a:ea typeface="微软雅黑" panose="020B0503020204020204" pitchFamily="34" charset="-122"/>
                              <a:cs typeface="+mn-cs"/>
                            </a:rPr>
                            <a:t>一般形式 </a:t>
                          </a:r>
                        </a:p>
                      </a:txBody>
                      <a:tcPr marL="111055" marR="111055" marT="55527" marB="5552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zh-CN"/>
                        </a:p>
                      </a:txBody>
                      <a:tcPr marL="111055" marR="111055" marT="55527" marB="5552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2"/>
                          <a:stretch>
                            <a:fillRect l="-50373" t="-2158" r="-498" b="-102878"/>
                          </a:stretch>
                        </a:blipFill>
                      </a:tcPr>
                    </a:tc>
                    <a:extLst>
                      <a:ext uri="{0D108BD9-81ED-4DB2-BD59-A6C34878D82A}">
                        <a16:rowId xmlns:a16="http://schemas.microsoft.com/office/drawing/2014/main" val="265559779"/>
                      </a:ext>
                    </a:extLst>
                  </a:tr>
                  <a:tr h="843770">
                    <a:tc>
                      <a:txBody>
                        <a:bodyPr/>
                        <a:lstStyle/>
                        <a:p>
                          <a:pPr algn="ctr"/>
                          <a:r>
                            <a:rPr lang="zh-CN" altLang="en-US" sz="1800" kern="1200" spc="150" dirty="0">
                              <a:solidFill>
                                <a:schemeClr val="tx1"/>
                              </a:solidFill>
                              <a:latin typeface="微软雅黑" panose="020B0503020204020204" pitchFamily="34" charset="-122"/>
                              <a:ea typeface="微软雅黑" panose="020B0503020204020204" pitchFamily="34" charset="-122"/>
                              <a:cs typeface="+mn-cs"/>
                            </a:rPr>
                            <a:t>具体例子 </a:t>
                          </a:r>
                        </a:p>
                      </a:txBody>
                      <a:tcPr marL="111055" marR="111055" marT="55527" marB="5552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zh-CN"/>
                        </a:p>
                      </a:txBody>
                      <a:tcPr marL="111055" marR="111055" marT="55527" marB="5552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2"/>
                          <a:stretch>
                            <a:fillRect l="-50373" t="-102899" r="-498" b="-3623"/>
                          </a:stretch>
                        </a:blipFill>
                      </a:tcPr>
                    </a:tc>
                    <a:extLst>
                      <a:ext uri="{0D108BD9-81ED-4DB2-BD59-A6C34878D82A}">
                        <a16:rowId xmlns:a16="http://schemas.microsoft.com/office/drawing/2014/main" val="4200459254"/>
                      </a:ext>
                    </a:extLst>
                  </a:tr>
                </a:tbl>
              </a:graphicData>
            </a:graphic>
          </p:graphicFrame>
        </mc:Fallback>
      </mc:AlternateContent>
      <p:sp>
        <p:nvSpPr>
          <p:cNvPr id="13" name="矩形 12">
            <a:extLst>
              <a:ext uri="{FF2B5EF4-FFF2-40B4-BE49-F238E27FC236}">
                <a16:creationId xmlns:a16="http://schemas.microsoft.com/office/drawing/2014/main" id="{F68E5273-CD77-47B9-B841-9D29349C133D}"/>
              </a:ext>
            </a:extLst>
          </p:cNvPr>
          <p:cNvSpPr/>
          <p:nvPr/>
        </p:nvSpPr>
        <p:spPr>
          <a:xfrm>
            <a:off x="467544" y="548680"/>
            <a:ext cx="247375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一、供给的概念</a:t>
            </a:r>
          </a:p>
        </p:txBody>
      </p:sp>
      <p:sp>
        <p:nvSpPr>
          <p:cNvPr id="14" name="矩形 13">
            <a:extLst>
              <a:ext uri="{FF2B5EF4-FFF2-40B4-BE49-F238E27FC236}">
                <a16:creationId xmlns:a16="http://schemas.microsoft.com/office/drawing/2014/main" id="{99A861F3-1BF5-4FA4-A7CE-A93F6E99B7C4}"/>
              </a:ext>
            </a:extLst>
          </p:cNvPr>
          <p:cNvSpPr/>
          <p:nvPr/>
        </p:nvSpPr>
        <p:spPr>
          <a:xfrm>
            <a:off x="7455320" y="0"/>
            <a:ext cx="1523174"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第二节 供给</a:t>
            </a:r>
          </a:p>
        </p:txBody>
      </p:sp>
      <p:sp>
        <p:nvSpPr>
          <p:cNvPr id="11" name="矩形: 圆角 10">
            <a:extLst>
              <a:ext uri="{FF2B5EF4-FFF2-40B4-BE49-F238E27FC236}">
                <a16:creationId xmlns:a16="http://schemas.microsoft.com/office/drawing/2014/main" id="{B97236CA-7936-4B36-819A-31F826C16CF3}"/>
              </a:ext>
            </a:extLst>
          </p:cNvPr>
          <p:cNvSpPr/>
          <p:nvPr/>
        </p:nvSpPr>
        <p:spPr>
          <a:xfrm>
            <a:off x="970384" y="1232420"/>
            <a:ext cx="5689848" cy="858417"/>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a:extLst>
              <a:ext uri="{FF2B5EF4-FFF2-40B4-BE49-F238E27FC236}">
                <a16:creationId xmlns:a16="http://schemas.microsoft.com/office/drawing/2014/main" id="{FED0A775-7E19-418D-9560-3F92CB2ACE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57260" y="1128770"/>
            <a:ext cx="1065715" cy="1065715"/>
          </a:xfrm>
          <a:prstGeom prst="rect">
            <a:avLst/>
          </a:prstGeom>
        </p:spPr>
      </p:pic>
      <p:sp>
        <p:nvSpPr>
          <p:cNvPr id="16" name="矩形 15">
            <a:extLst>
              <a:ext uri="{FF2B5EF4-FFF2-40B4-BE49-F238E27FC236}">
                <a16:creationId xmlns:a16="http://schemas.microsoft.com/office/drawing/2014/main" id="{A57A92BD-779B-4BE2-9708-D8FF6EA41AB4}"/>
              </a:ext>
            </a:extLst>
          </p:cNvPr>
          <p:cNvSpPr/>
          <p:nvPr/>
        </p:nvSpPr>
        <p:spPr>
          <a:xfrm>
            <a:off x="1176671" y="1423225"/>
            <a:ext cx="4474302" cy="458908"/>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如何表示供给量和价格之间的关系？</a:t>
            </a:r>
          </a:p>
        </p:txBody>
      </p:sp>
    </p:spTree>
    <p:extLst>
      <p:ext uri="{BB962C8B-B14F-4D97-AF65-F5344CB8AC3E}">
        <p14:creationId xmlns:p14="http://schemas.microsoft.com/office/powerpoint/2010/main" val="973076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F68E5273-CD77-47B9-B841-9D29349C133D}"/>
              </a:ext>
            </a:extLst>
          </p:cNvPr>
          <p:cNvSpPr/>
          <p:nvPr/>
        </p:nvSpPr>
        <p:spPr>
          <a:xfrm>
            <a:off x="467544" y="548680"/>
            <a:ext cx="21467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二、供给规律</a:t>
            </a:r>
          </a:p>
        </p:txBody>
      </p:sp>
      <p:sp>
        <p:nvSpPr>
          <p:cNvPr id="17" name="矩形 16">
            <a:extLst>
              <a:ext uri="{FF2B5EF4-FFF2-40B4-BE49-F238E27FC236}">
                <a16:creationId xmlns:a16="http://schemas.microsoft.com/office/drawing/2014/main" id="{99A861F3-1BF5-4FA4-A7CE-A93F6E99B7C4}"/>
              </a:ext>
            </a:extLst>
          </p:cNvPr>
          <p:cNvSpPr/>
          <p:nvPr/>
        </p:nvSpPr>
        <p:spPr>
          <a:xfrm>
            <a:off x="7455320" y="0"/>
            <a:ext cx="1523174"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第二节 供给</a:t>
            </a:r>
          </a:p>
        </p:txBody>
      </p:sp>
      <p:sp>
        <p:nvSpPr>
          <p:cNvPr id="18" name="矩形: 圆角 4">
            <a:extLst>
              <a:ext uri="{FF2B5EF4-FFF2-40B4-BE49-F238E27FC236}">
                <a16:creationId xmlns:a16="http://schemas.microsoft.com/office/drawing/2014/main" id="{F5501FC4-6109-488A-9E7B-E591DF9E4D96}"/>
              </a:ext>
            </a:extLst>
          </p:cNvPr>
          <p:cNvSpPr/>
          <p:nvPr/>
        </p:nvSpPr>
        <p:spPr>
          <a:xfrm>
            <a:off x="970384" y="1211621"/>
            <a:ext cx="5319321" cy="782670"/>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片 22">
            <a:extLst>
              <a:ext uri="{FF2B5EF4-FFF2-40B4-BE49-F238E27FC236}">
                <a16:creationId xmlns:a16="http://schemas.microsoft.com/office/drawing/2014/main" id="{26C14FD7-288B-4EBC-97AB-25CDCA7265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48899" y="1027432"/>
            <a:ext cx="1065715" cy="1065715"/>
          </a:xfrm>
          <a:prstGeom prst="rect">
            <a:avLst/>
          </a:prstGeom>
        </p:spPr>
      </p:pic>
      <p:sp>
        <p:nvSpPr>
          <p:cNvPr id="24" name="矩形 23">
            <a:extLst>
              <a:ext uri="{FF2B5EF4-FFF2-40B4-BE49-F238E27FC236}">
                <a16:creationId xmlns:a16="http://schemas.microsoft.com/office/drawing/2014/main" id="{F2E1D167-2D51-47EE-8CA8-1E1607A3745D}"/>
              </a:ext>
            </a:extLst>
          </p:cNvPr>
          <p:cNvSpPr/>
          <p:nvPr/>
        </p:nvSpPr>
        <p:spPr>
          <a:xfrm>
            <a:off x="970384" y="1310478"/>
            <a:ext cx="4333238" cy="499624"/>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供给量和价格之间是什么关系？</a:t>
            </a:r>
          </a:p>
        </p:txBody>
      </p:sp>
      <p:sp>
        <p:nvSpPr>
          <p:cNvPr id="25" name="TextBox 3"/>
          <p:cNvSpPr txBox="1">
            <a:spLocks noChangeArrowheads="1"/>
          </p:cNvSpPr>
          <p:nvPr/>
        </p:nvSpPr>
        <p:spPr bwMode="auto">
          <a:xfrm>
            <a:off x="683568" y="1962280"/>
            <a:ext cx="8054975"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lnSpc>
                <a:spcPct val="200000"/>
              </a:lnSpc>
              <a:spcBef>
                <a:spcPct val="0"/>
              </a:spcBef>
              <a:buFont typeface="Wingdings" panose="05000000000000000000" pitchFamily="2" charset="2"/>
              <a:buChar char="Ø"/>
            </a:pPr>
            <a:r>
              <a:rPr lang="zh-CN" altLang="en-US" sz="2000" b="0" dirty="0">
                <a:solidFill>
                  <a:schemeClr val="tx1"/>
                </a:solidFill>
                <a:latin typeface="微软雅黑" panose="020B0503020204020204" pitchFamily="34" charset="-122"/>
                <a:ea typeface="微软雅黑" panose="020B0503020204020204" pitchFamily="34" charset="-122"/>
              </a:rPr>
              <a:t>供给规律：</a:t>
            </a:r>
            <a:endParaRPr lang="en-US" altLang="zh-CN" sz="2000" b="0" dirty="0">
              <a:solidFill>
                <a:schemeClr val="tx1"/>
              </a:solidFill>
              <a:latin typeface="微软雅黑" panose="020B0503020204020204" pitchFamily="34" charset="-122"/>
              <a:ea typeface="微软雅黑" panose="020B0503020204020204" pitchFamily="34" charset="-122"/>
            </a:endParaRPr>
          </a:p>
          <a:p>
            <a:pPr lvl="1" eaLnBrk="1" hangingPunct="1">
              <a:lnSpc>
                <a:spcPct val="200000"/>
              </a:lnSpc>
              <a:spcBef>
                <a:spcPct val="0"/>
              </a:spcBef>
              <a:buNone/>
            </a:pPr>
            <a:r>
              <a:rPr lang="zh-CN" altLang="en-US" sz="2000" b="0" dirty="0">
                <a:solidFill>
                  <a:schemeClr val="tx1"/>
                </a:solidFill>
                <a:latin typeface="微软雅黑" panose="020B0503020204020204" pitchFamily="34" charset="-122"/>
                <a:ea typeface="微软雅黑" panose="020B0503020204020204" pitchFamily="34" charset="-122"/>
              </a:rPr>
              <a:t>一般而言，在其他条件不变的情况下，商品的供给与其价格呈正向关系变化：</a:t>
            </a:r>
            <a:endParaRPr lang="en-US" altLang="zh-CN" sz="2000" b="0" dirty="0">
              <a:solidFill>
                <a:schemeClr val="tx1"/>
              </a:solidFill>
              <a:latin typeface="微软雅黑" panose="020B0503020204020204" pitchFamily="34" charset="-122"/>
              <a:ea typeface="微软雅黑" panose="020B0503020204020204" pitchFamily="34" charset="-122"/>
            </a:endParaRPr>
          </a:p>
          <a:p>
            <a:pPr lvl="2" eaLnBrk="1" hangingPunct="1">
              <a:lnSpc>
                <a:spcPct val="200000"/>
              </a:lnSpc>
              <a:spcBef>
                <a:spcPct val="0"/>
              </a:spcBef>
              <a:buFont typeface="Arial" panose="020B0604020202020204" pitchFamily="34" charset="0"/>
              <a:buChar char="•"/>
            </a:pPr>
            <a:r>
              <a:rPr lang="zh-CN" altLang="en-US" sz="2000" b="0" dirty="0">
                <a:solidFill>
                  <a:schemeClr val="tx1"/>
                </a:solidFill>
                <a:latin typeface="微软雅黑" panose="020B0503020204020204" pitchFamily="34" charset="-122"/>
                <a:ea typeface="微软雅黑" panose="020B0503020204020204" pitchFamily="34" charset="-122"/>
              </a:rPr>
              <a:t>价格越高</a:t>
            </a:r>
            <a:r>
              <a:rPr lang="en-US" altLang="zh-CN" sz="20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0" dirty="0">
                <a:solidFill>
                  <a:schemeClr val="tx1"/>
                </a:solidFill>
                <a:latin typeface="微软雅黑" panose="020B0503020204020204" pitchFamily="34" charset="-122"/>
                <a:ea typeface="微软雅黑" panose="020B0503020204020204" pitchFamily="34" charset="-122"/>
              </a:rPr>
              <a:t>供给量就越大</a:t>
            </a:r>
            <a:endParaRPr lang="en-US" altLang="zh-CN" sz="2000" b="0" dirty="0">
              <a:solidFill>
                <a:schemeClr val="tx1"/>
              </a:solidFill>
              <a:latin typeface="微软雅黑" panose="020B0503020204020204" pitchFamily="34" charset="-122"/>
              <a:ea typeface="微软雅黑" panose="020B0503020204020204" pitchFamily="34" charset="-122"/>
            </a:endParaRPr>
          </a:p>
          <a:p>
            <a:pPr lvl="2" eaLnBrk="1" hangingPunct="1">
              <a:lnSpc>
                <a:spcPct val="200000"/>
              </a:lnSpc>
              <a:spcBef>
                <a:spcPct val="0"/>
              </a:spcBef>
              <a:buFont typeface="Arial" panose="020B0604020202020204" pitchFamily="34" charset="0"/>
              <a:buChar char="•"/>
            </a:pPr>
            <a:r>
              <a:rPr lang="zh-CN" altLang="en-US" sz="2000" b="0" dirty="0">
                <a:solidFill>
                  <a:schemeClr val="tx1"/>
                </a:solidFill>
                <a:latin typeface="微软雅黑" panose="020B0503020204020204" pitchFamily="34" charset="-122"/>
                <a:ea typeface="微软雅黑" panose="020B0503020204020204" pitchFamily="34" charset="-122"/>
              </a:rPr>
              <a:t>价格越低</a:t>
            </a:r>
            <a:r>
              <a:rPr lang="en-US" altLang="zh-CN" sz="20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0" dirty="0">
                <a:solidFill>
                  <a:schemeClr val="tx1"/>
                </a:solidFill>
                <a:latin typeface="微软雅黑" panose="020B0503020204020204" pitchFamily="34" charset="-122"/>
                <a:ea typeface="微软雅黑" panose="020B0503020204020204" pitchFamily="34" charset="-122"/>
              </a:rPr>
              <a:t>供给量就越小</a:t>
            </a:r>
          </a:p>
          <a:p>
            <a:pPr marL="342900" indent="-342900" eaLnBrk="1" hangingPunct="1">
              <a:lnSpc>
                <a:spcPct val="200000"/>
              </a:lnSpc>
              <a:spcBef>
                <a:spcPct val="0"/>
              </a:spcBef>
              <a:buFont typeface="Wingdings" panose="05000000000000000000" pitchFamily="2" charset="2"/>
              <a:buChar char="Ø"/>
            </a:pPr>
            <a:r>
              <a:rPr lang="zh-CN" altLang="en-US" sz="2000" b="0" dirty="0">
                <a:solidFill>
                  <a:schemeClr val="tx1"/>
                </a:solidFill>
                <a:latin typeface="微软雅黑" panose="020B0503020204020204" pitchFamily="34" charset="-122"/>
                <a:ea typeface="微软雅黑" panose="020B0503020204020204" pitchFamily="34" charset="-122"/>
              </a:rPr>
              <a:t>从供给曲线看供给规律：正斜率向右上方倾斜</a:t>
            </a:r>
            <a:endParaRPr lang="en-US" altLang="zh-CN" sz="2000" b="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67043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left)">
                                      <p:cBhvr>
                                        <p:cTn id="15" dur="500"/>
                                        <p:tgtEl>
                                          <p:spTgt spid="18"/>
                                        </p:tgtEl>
                                      </p:cBhvr>
                                    </p:animEffect>
                                  </p:childTnLst>
                                </p:cTn>
                              </p:par>
                              <p:par>
                                <p:cTn id="16" presetID="14" presetClass="entr" presetSubtype="1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randombar(horizontal)">
                                      <p:cBhvr>
                                        <p:cTn id="18" dur="5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5">
                                            <p:txEl>
                                              <p:pRg st="0" end="0"/>
                                            </p:txEl>
                                          </p:spTgt>
                                        </p:tgtEl>
                                        <p:attrNameLst>
                                          <p:attrName>style.visibility</p:attrName>
                                        </p:attrNameLst>
                                      </p:cBhvr>
                                      <p:to>
                                        <p:strVal val="visible"/>
                                      </p:to>
                                    </p:set>
                                    <p:animEffect transition="in" filter="wipe(left)">
                                      <p:cBhvr>
                                        <p:cTn id="23" dur="500"/>
                                        <p:tgtEl>
                                          <p:spTgt spid="25">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5">
                                            <p:txEl>
                                              <p:pRg st="1" end="1"/>
                                            </p:txEl>
                                          </p:spTgt>
                                        </p:tgtEl>
                                        <p:attrNameLst>
                                          <p:attrName>style.visibility</p:attrName>
                                        </p:attrNameLst>
                                      </p:cBhvr>
                                      <p:to>
                                        <p:strVal val="visible"/>
                                      </p:to>
                                    </p:set>
                                    <p:animEffect transition="in" filter="wipe(left)">
                                      <p:cBhvr>
                                        <p:cTn id="28" dur="500"/>
                                        <p:tgtEl>
                                          <p:spTgt spid="25">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5">
                                            <p:txEl>
                                              <p:pRg st="2" end="2"/>
                                            </p:txEl>
                                          </p:spTgt>
                                        </p:tgtEl>
                                        <p:attrNameLst>
                                          <p:attrName>style.visibility</p:attrName>
                                        </p:attrNameLst>
                                      </p:cBhvr>
                                      <p:to>
                                        <p:strVal val="visible"/>
                                      </p:to>
                                    </p:set>
                                    <p:animEffect transition="in" filter="wipe(left)">
                                      <p:cBhvr>
                                        <p:cTn id="33" dur="500"/>
                                        <p:tgtEl>
                                          <p:spTgt spid="25">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25">
                                            <p:txEl>
                                              <p:pRg st="3" end="3"/>
                                            </p:txEl>
                                          </p:spTgt>
                                        </p:tgtEl>
                                        <p:attrNameLst>
                                          <p:attrName>style.visibility</p:attrName>
                                        </p:attrNameLst>
                                      </p:cBhvr>
                                      <p:to>
                                        <p:strVal val="visible"/>
                                      </p:to>
                                    </p:set>
                                    <p:animEffect transition="in" filter="wipe(left)">
                                      <p:cBhvr>
                                        <p:cTn id="38" dur="500"/>
                                        <p:tgtEl>
                                          <p:spTgt spid="25">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25">
                                            <p:txEl>
                                              <p:pRg st="4" end="4"/>
                                            </p:txEl>
                                          </p:spTgt>
                                        </p:tgtEl>
                                        <p:attrNameLst>
                                          <p:attrName>style.visibility</p:attrName>
                                        </p:attrNameLst>
                                      </p:cBhvr>
                                      <p:to>
                                        <p:strVal val="visible"/>
                                      </p:to>
                                    </p:set>
                                    <p:animEffect transition="in" filter="wipe(left)">
                                      <p:cBhvr>
                                        <p:cTn id="43" dur="500"/>
                                        <p:tgtEl>
                                          <p:spTgt spid="2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2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F68E5273-CD77-47B9-B841-9D29349C133D}"/>
              </a:ext>
            </a:extLst>
          </p:cNvPr>
          <p:cNvSpPr/>
          <p:nvPr/>
        </p:nvSpPr>
        <p:spPr>
          <a:xfrm>
            <a:off x="467544" y="548680"/>
            <a:ext cx="21467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二、供给规律</a:t>
            </a:r>
          </a:p>
        </p:txBody>
      </p:sp>
      <p:sp>
        <p:nvSpPr>
          <p:cNvPr id="17" name="矩形 16">
            <a:extLst>
              <a:ext uri="{FF2B5EF4-FFF2-40B4-BE49-F238E27FC236}">
                <a16:creationId xmlns:a16="http://schemas.microsoft.com/office/drawing/2014/main" id="{99A861F3-1BF5-4FA4-A7CE-A93F6E99B7C4}"/>
              </a:ext>
            </a:extLst>
          </p:cNvPr>
          <p:cNvSpPr/>
          <p:nvPr/>
        </p:nvSpPr>
        <p:spPr>
          <a:xfrm>
            <a:off x="7455320" y="0"/>
            <a:ext cx="1523174"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第二节 供给</a:t>
            </a:r>
          </a:p>
        </p:txBody>
      </p:sp>
      <p:sp>
        <p:nvSpPr>
          <p:cNvPr id="18" name="矩形: 圆角 4">
            <a:extLst>
              <a:ext uri="{FF2B5EF4-FFF2-40B4-BE49-F238E27FC236}">
                <a16:creationId xmlns:a16="http://schemas.microsoft.com/office/drawing/2014/main" id="{F5501FC4-6109-488A-9E7B-E591DF9E4D96}"/>
              </a:ext>
            </a:extLst>
          </p:cNvPr>
          <p:cNvSpPr/>
          <p:nvPr/>
        </p:nvSpPr>
        <p:spPr>
          <a:xfrm>
            <a:off x="683568" y="1368208"/>
            <a:ext cx="5319321" cy="857007"/>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片 22">
            <a:extLst>
              <a:ext uri="{FF2B5EF4-FFF2-40B4-BE49-F238E27FC236}">
                <a16:creationId xmlns:a16="http://schemas.microsoft.com/office/drawing/2014/main" id="{26C14FD7-288B-4EBC-97AB-25CDCA7265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2083" y="1211573"/>
            <a:ext cx="1065715" cy="1065715"/>
          </a:xfrm>
          <a:prstGeom prst="rect">
            <a:avLst/>
          </a:prstGeom>
        </p:spPr>
      </p:pic>
      <p:sp>
        <p:nvSpPr>
          <p:cNvPr id="24" name="矩形 23">
            <a:extLst>
              <a:ext uri="{FF2B5EF4-FFF2-40B4-BE49-F238E27FC236}">
                <a16:creationId xmlns:a16="http://schemas.microsoft.com/office/drawing/2014/main" id="{F2E1D167-2D51-47EE-8CA8-1E1607A3745D}"/>
              </a:ext>
            </a:extLst>
          </p:cNvPr>
          <p:cNvSpPr/>
          <p:nvPr/>
        </p:nvSpPr>
        <p:spPr>
          <a:xfrm>
            <a:off x="683568" y="1494619"/>
            <a:ext cx="4333238" cy="499624"/>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供给量和价格之间是什么关系？</a:t>
            </a:r>
          </a:p>
        </p:txBody>
      </p:sp>
      <p:sp>
        <p:nvSpPr>
          <p:cNvPr id="25" name="TextBox 3"/>
          <p:cNvSpPr txBox="1">
            <a:spLocks noChangeArrowheads="1"/>
          </p:cNvSpPr>
          <p:nvPr/>
        </p:nvSpPr>
        <p:spPr bwMode="auto">
          <a:xfrm>
            <a:off x="683568" y="2120654"/>
            <a:ext cx="8054975" cy="3615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lnSpc>
                <a:spcPct val="300000"/>
              </a:lnSpc>
              <a:spcBef>
                <a:spcPct val="0"/>
              </a:spcBef>
              <a:buFont typeface="Wingdings" panose="05000000000000000000" pitchFamily="2" charset="2"/>
              <a:buChar char="Ø"/>
            </a:pPr>
            <a:r>
              <a:rPr lang="zh-CN" altLang="en-US" sz="2000" b="0" dirty="0">
                <a:solidFill>
                  <a:schemeClr val="tx1"/>
                </a:solidFill>
                <a:latin typeface="微软雅黑" panose="020B0503020204020204" pitchFamily="34" charset="-122"/>
                <a:ea typeface="微软雅黑" panose="020B0503020204020204" pitchFamily="34" charset="-122"/>
              </a:rPr>
              <a:t>供给规律的例外：</a:t>
            </a:r>
          </a:p>
          <a:p>
            <a:pPr lvl="1" eaLnBrk="1" hangingPunct="1">
              <a:lnSpc>
                <a:spcPct val="300000"/>
              </a:lnSpc>
              <a:spcBef>
                <a:spcPct val="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无限</a:t>
            </a:r>
            <a:r>
              <a:rPr lang="zh-CN" altLang="en-US" sz="2000" dirty="0">
                <a:solidFill>
                  <a:srgbClr val="FF0000"/>
                </a:solidFill>
                <a:latin typeface="微软雅黑" panose="020B0503020204020204" pitchFamily="34" charset="-122"/>
                <a:ea typeface="微软雅黑" panose="020B0503020204020204" pitchFamily="34" charset="-122"/>
              </a:rPr>
              <a:t>弹性</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既定价格下，供给无限</a:t>
            </a:r>
            <a:r>
              <a:rPr lang="en-US" altLang="zh-CN" sz="2000" dirty="0">
                <a:sym typeface="Wingdings" panose="05000000000000000000" pitchFamily="2" charset="2"/>
              </a:rPr>
              <a:t></a:t>
            </a:r>
            <a:r>
              <a:rPr lang="zh-CN" altLang="en-US" sz="2000" dirty="0">
                <a:solidFill>
                  <a:srgbClr val="009999"/>
                </a:solidFill>
                <a:latin typeface="微软雅黑" panose="020B0503020204020204" pitchFamily="34" charset="-122"/>
                <a:ea typeface="微软雅黑" panose="020B0503020204020204" pitchFamily="34" charset="-122"/>
                <a:hlinkClick r:id="rId4" action="ppaction://hlinksldjump">
                  <a:extLst>
                    <a:ext uri="{A12FA001-AC4F-418D-AE19-62706E023703}">
                      <ahyp:hlinkClr xmlns:ahyp="http://schemas.microsoft.com/office/drawing/2018/hyperlinkcolor" val="tx"/>
                    </a:ext>
                  </a:extLst>
                </a:hlinkClick>
              </a:rPr>
              <a:t>供给曲线水平</a:t>
            </a:r>
            <a:endParaRPr lang="zh-CN" altLang="en-US" sz="2000" dirty="0">
              <a:solidFill>
                <a:srgbClr val="009999"/>
              </a:solidFill>
              <a:latin typeface="微软雅黑" panose="020B0503020204020204" pitchFamily="34" charset="-122"/>
              <a:ea typeface="微软雅黑" panose="020B0503020204020204" pitchFamily="34" charset="-122"/>
            </a:endParaRPr>
          </a:p>
          <a:p>
            <a:pPr lvl="1" eaLnBrk="1" hangingPunct="1">
              <a:lnSpc>
                <a:spcPct val="300000"/>
              </a:lnSpc>
              <a:spcBef>
                <a:spcPct val="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完全</a:t>
            </a:r>
            <a:r>
              <a:rPr lang="zh-CN" altLang="en-US" sz="2000" dirty="0">
                <a:solidFill>
                  <a:srgbClr val="FF0000"/>
                </a:solidFill>
                <a:latin typeface="微软雅黑" panose="020B0503020204020204" pitchFamily="34" charset="-122"/>
                <a:ea typeface="微软雅黑" panose="020B0503020204020204" pitchFamily="34" charset="-122"/>
              </a:rPr>
              <a:t>无弹性</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无论价格如何变化，供给固定不变</a:t>
            </a:r>
            <a:endParaRPr lang="en-US" altLang="zh-CN" sz="2000" dirty="0">
              <a:latin typeface="微软雅黑" panose="020B0503020204020204" pitchFamily="34" charset="-122"/>
              <a:ea typeface="微软雅黑" panose="020B0503020204020204" pitchFamily="34" charset="-122"/>
            </a:endParaRPr>
          </a:p>
          <a:p>
            <a:pPr marL="457200" lvl="1" indent="0" eaLnBrk="1" hangingPunct="1">
              <a:lnSpc>
                <a:spcPct val="300000"/>
              </a:lnSpc>
              <a:spcBef>
                <a:spcPct val="0"/>
              </a:spcBef>
              <a:buNone/>
            </a:pP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    </a:t>
            </a:r>
            <a:r>
              <a:rPr lang="en-US" altLang="zh-CN" sz="2000" dirty="0">
                <a:sym typeface="Wingdings" panose="05000000000000000000" pitchFamily="2" charset="2"/>
              </a:rPr>
              <a:t></a:t>
            </a:r>
            <a:r>
              <a:rPr lang="zh-CN" altLang="en-US" sz="2000" dirty="0">
                <a:solidFill>
                  <a:srgbClr val="009999"/>
                </a:solidFill>
                <a:latin typeface="微软雅黑" panose="020B0503020204020204" pitchFamily="34" charset="-122"/>
                <a:ea typeface="微软雅黑" panose="020B0503020204020204" pitchFamily="34" charset="-122"/>
                <a:hlinkClick r:id="rId4" action="ppaction://hlinksldjump">
                  <a:extLst>
                    <a:ext uri="{A12FA001-AC4F-418D-AE19-62706E023703}">
                      <ahyp:hlinkClr xmlns:ahyp="http://schemas.microsoft.com/office/drawing/2018/hyperlinkcolor" val="tx"/>
                    </a:ext>
                  </a:extLst>
                </a:hlinkClick>
              </a:rPr>
              <a:t>供给曲线垂直</a:t>
            </a:r>
            <a:endParaRPr lang="zh-CN" altLang="en-US" sz="2000" dirty="0">
              <a:solidFill>
                <a:srgbClr val="00999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90280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wipe(left)">
                                      <p:cBhvr>
                                        <p:cTn id="7" dur="5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xEl>
                                              <p:pRg st="1" end="1"/>
                                            </p:txEl>
                                          </p:spTgt>
                                        </p:tgtEl>
                                        <p:attrNameLst>
                                          <p:attrName>style.visibility</p:attrName>
                                        </p:attrNameLst>
                                      </p:cBhvr>
                                      <p:to>
                                        <p:strVal val="visible"/>
                                      </p:to>
                                    </p:set>
                                    <p:animEffect transition="in" filter="wipe(left)">
                                      <p:cBhvr>
                                        <p:cTn id="12" dur="500"/>
                                        <p:tgtEl>
                                          <p:spTgt spid="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xEl>
                                              <p:pRg st="2" end="2"/>
                                            </p:txEl>
                                          </p:spTgt>
                                        </p:tgtEl>
                                        <p:attrNameLst>
                                          <p:attrName>style.visibility</p:attrName>
                                        </p:attrNameLst>
                                      </p:cBhvr>
                                      <p:to>
                                        <p:strVal val="visible"/>
                                      </p:to>
                                    </p:set>
                                    <p:animEffect transition="in" filter="wipe(left)">
                                      <p:cBhvr>
                                        <p:cTn id="17" dur="500"/>
                                        <p:tgtEl>
                                          <p:spTgt spid="2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5">
                                            <p:txEl>
                                              <p:pRg st="3" end="3"/>
                                            </p:txEl>
                                          </p:spTgt>
                                        </p:tgtEl>
                                        <p:attrNameLst>
                                          <p:attrName>style.visibility</p:attrName>
                                        </p:attrNameLst>
                                      </p:cBhvr>
                                      <p:to>
                                        <p:strVal val="visible"/>
                                      </p:to>
                                    </p:set>
                                    <p:animEffect transition="in" filter="wipe(left)">
                                      <p:cBhvr>
                                        <p:cTn id="22" dur="500"/>
                                        <p:tgtEl>
                                          <p:spTgt spid="2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body" idx="4294967295"/>
          </p:nvPr>
        </p:nvSpPr>
        <p:spPr>
          <a:xfrm>
            <a:off x="457200" y="1341439"/>
            <a:ext cx="2157086" cy="471690"/>
          </a:xfrm>
        </p:spPr>
        <p:txBody>
          <a:bodyPr/>
          <a:lstStyle/>
          <a:p>
            <a:pPr marL="0" indent="0" eaLnBrk="1" hangingPunct="1">
              <a:buNone/>
            </a:pPr>
            <a:r>
              <a:rPr lang="zh-CN" altLang="en-US" sz="2000" b="0" dirty="0">
                <a:solidFill>
                  <a:schemeClr val="tx1"/>
                </a:solidFill>
                <a:latin typeface="微软雅黑" panose="020B0503020204020204" pitchFamily="34" charset="-122"/>
                <a:ea typeface="微软雅黑" panose="020B0503020204020204" pitchFamily="34" charset="-122"/>
              </a:rPr>
              <a:t>供给规律的特例</a:t>
            </a:r>
            <a:endParaRPr lang="zh-CN" altLang="en-US" dirty="0"/>
          </a:p>
        </p:txBody>
      </p:sp>
      <p:grpSp>
        <p:nvGrpSpPr>
          <p:cNvPr id="22531" name="组合 19"/>
          <p:cNvGrpSpPr>
            <a:grpSpLocks/>
          </p:cNvGrpSpPr>
          <p:nvPr/>
        </p:nvGrpSpPr>
        <p:grpSpPr bwMode="auto">
          <a:xfrm>
            <a:off x="1763688" y="1813129"/>
            <a:ext cx="2143125" cy="2657490"/>
            <a:chOff x="0" y="0"/>
            <a:chExt cx="2143140" cy="2657906"/>
          </a:xfrm>
        </p:grpSpPr>
        <p:grpSp>
          <p:nvGrpSpPr>
            <p:cNvPr id="27670" name="组合 12"/>
            <p:cNvGrpSpPr>
              <a:grpSpLocks/>
            </p:cNvGrpSpPr>
            <p:nvPr/>
          </p:nvGrpSpPr>
          <p:grpSpPr bwMode="auto">
            <a:xfrm>
              <a:off x="285752" y="0"/>
              <a:ext cx="1857388" cy="2001852"/>
              <a:chOff x="0" y="0"/>
              <a:chExt cx="1857388" cy="2001852"/>
            </a:xfrm>
          </p:grpSpPr>
          <p:cxnSp>
            <p:nvCxnSpPr>
              <p:cNvPr id="27677" name="直接箭头连接符 5"/>
              <p:cNvCxnSpPr>
                <a:cxnSpLocks noChangeShapeType="1"/>
              </p:cNvCxnSpPr>
              <p:nvPr/>
            </p:nvCxnSpPr>
            <p:spPr bwMode="auto">
              <a:xfrm>
                <a:off x="0" y="2000564"/>
                <a:ext cx="1857388"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27678" name="直接箭头连接符 7"/>
              <p:cNvCxnSpPr>
                <a:cxnSpLocks noChangeShapeType="1"/>
              </p:cNvCxnSpPr>
              <p:nvPr/>
            </p:nvCxnSpPr>
            <p:spPr bwMode="auto">
              <a:xfrm rot="5400000" flipH="1" flipV="1">
                <a:off x="-999488" y="999488"/>
                <a:ext cx="2000564"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27679" name="直接连接符 10"/>
              <p:cNvCxnSpPr>
                <a:cxnSpLocks noChangeShapeType="1"/>
              </p:cNvCxnSpPr>
              <p:nvPr/>
            </p:nvCxnSpPr>
            <p:spPr bwMode="auto">
              <a:xfrm rot="5400000">
                <a:off x="670" y="1213828"/>
                <a:ext cx="1570284" cy="3175"/>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pSp>
        <p:graphicFrame>
          <p:nvGraphicFramePr>
            <p:cNvPr id="27671" name="Object 8"/>
            <p:cNvGraphicFramePr>
              <a:graphicFrameLocks noChangeAspect="1"/>
            </p:cNvGraphicFramePr>
            <p:nvPr/>
          </p:nvGraphicFramePr>
          <p:xfrm>
            <a:off x="71438" y="2071702"/>
            <a:ext cx="212725" cy="247650"/>
          </p:xfrm>
          <a:graphic>
            <a:graphicData uri="http://schemas.openxmlformats.org/presentationml/2006/ole">
              <mc:AlternateContent xmlns:mc="http://schemas.openxmlformats.org/markup-compatibility/2006">
                <mc:Choice xmlns:v="urn:schemas-microsoft-com:vml" Requires="v">
                  <p:oleObj spid="_x0000_s190734" r:id="rId3" imgW="153198" imgH="178731" progId="">
                    <p:embed/>
                  </p:oleObj>
                </mc:Choice>
                <mc:Fallback>
                  <p:oleObj r:id="rId3" imgW="153198" imgH="178731" progId="">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8" y="2071702"/>
                          <a:ext cx="212725"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72" name="Object 9"/>
            <p:cNvGraphicFramePr>
              <a:graphicFrameLocks noChangeAspect="1"/>
            </p:cNvGraphicFramePr>
            <p:nvPr/>
          </p:nvGraphicFramePr>
          <p:xfrm>
            <a:off x="1928826" y="2071702"/>
            <a:ext cx="212725" cy="284163"/>
          </p:xfrm>
          <a:graphic>
            <a:graphicData uri="http://schemas.openxmlformats.org/presentationml/2006/ole">
              <mc:AlternateContent xmlns:mc="http://schemas.openxmlformats.org/markup-compatibility/2006">
                <mc:Choice xmlns:v="urn:schemas-microsoft-com:vml" Requires="v">
                  <p:oleObj spid="_x0000_s190735" r:id="rId5" imgW="153332" imgH="204442" progId="">
                    <p:embed/>
                  </p:oleObj>
                </mc:Choice>
                <mc:Fallback>
                  <p:oleObj r:id="rId5" imgW="153332" imgH="204442" progId="">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8826" y="2071702"/>
                          <a:ext cx="212725"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73" name="Object 10"/>
            <p:cNvGraphicFramePr>
              <a:graphicFrameLocks noChangeAspect="1"/>
            </p:cNvGraphicFramePr>
            <p:nvPr/>
          </p:nvGraphicFramePr>
          <p:xfrm>
            <a:off x="928694" y="2071702"/>
            <a:ext cx="212725" cy="320675"/>
          </p:xfrm>
          <a:graphic>
            <a:graphicData uri="http://schemas.openxmlformats.org/presentationml/2006/ole">
              <mc:AlternateContent xmlns:mc="http://schemas.openxmlformats.org/markup-compatibility/2006">
                <mc:Choice xmlns:v="urn:schemas-microsoft-com:vml" Requires="v">
                  <p:oleObj spid="_x0000_s190736" r:id="rId7" imgW="153131" imgH="229697" progId="">
                    <p:embed/>
                  </p:oleObj>
                </mc:Choice>
                <mc:Fallback>
                  <p:oleObj r:id="rId7" imgW="153131" imgH="229697" progId="">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28694" y="2071702"/>
                          <a:ext cx="2127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74" name="Object 11"/>
            <p:cNvGraphicFramePr>
              <a:graphicFrameLocks noChangeAspect="1"/>
            </p:cNvGraphicFramePr>
            <p:nvPr/>
          </p:nvGraphicFramePr>
          <p:xfrm>
            <a:off x="1000132" y="71438"/>
            <a:ext cx="195262" cy="247650"/>
          </p:xfrm>
          <a:graphic>
            <a:graphicData uri="http://schemas.openxmlformats.org/presentationml/2006/ole">
              <mc:AlternateContent xmlns:mc="http://schemas.openxmlformats.org/markup-compatibility/2006">
                <mc:Choice xmlns:v="urn:schemas-microsoft-com:vml" Requires="v">
                  <p:oleObj spid="_x0000_s190737" r:id="rId9" imgW="140493" imgH="178809" progId="">
                    <p:embed/>
                  </p:oleObj>
                </mc:Choice>
                <mc:Fallback>
                  <p:oleObj r:id="rId9" imgW="140493" imgH="178809" progId="">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00132" y="71438"/>
                          <a:ext cx="195262"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75" name="Object 12"/>
            <p:cNvGraphicFramePr>
              <a:graphicFrameLocks noChangeAspect="1"/>
            </p:cNvGraphicFramePr>
            <p:nvPr/>
          </p:nvGraphicFramePr>
          <p:xfrm>
            <a:off x="0" y="71438"/>
            <a:ext cx="212725" cy="230188"/>
          </p:xfrm>
          <a:graphic>
            <a:graphicData uri="http://schemas.openxmlformats.org/presentationml/2006/ole">
              <mc:AlternateContent xmlns:mc="http://schemas.openxmlformats.org/markup-compatibility/2006">
                <mc:Choice xmlns:v="urn:schemas-microsoft-com:vml" Requires="v">
                  <p:oleObj spid="_x0000_s190738" r:id="rId11" imgW="153332" imgH="166109" progId="">
                    <p:embed/>
                  </p:oleObj>
                </mc:Choice>
                <mc:Fallback>
                  <p:oleObj r:id="rId11" imgW="153332" imgH="166109" progId="">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71438"/>
                          <a:ext cx="212725"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76" name="TextBox 18"/>
            <p:cNvSpPr txBox="1">
              <a:spLocks noChangeArrowheads="1"/>
            </p:cNvSpPr>
            <p:nvPr/>
          </p:nvSpPr>
          <p:spPr bwMode="auto">
            <a:xfrm>
              <a:off x="715551" y="2319352"/>
              <a:ext cx="70884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0" dirty="0">
                  <a:solidFill>
                    <a:schemeClr val="tx1"/>
                  </a:solidFill>
                </a:rPr>
                <a:t>（</a:t>
              </a:r>
              <a:r>
                <a:rPr lang="en-US" altLang="zh-CN" sz="1600" b="0" dirty="0">
                  <a:solidFill>
                    <a:schemeClr val="tx1"/>
                  </a:solidFill>
                </a:rPr>
                <a:t>a</a:t>
              </a:r>
              <a:r>
                <a:rPr lang="zh-CN" altLang="en-US" sz="1600" b="0" dirty="0">
                  <a:solidFill>
                    <a:schemeClr val="tx1"/>
                  </a:solidFill>
                </a:rPr>
                <a:t>）</a:t>
              </a:r>
            </a:p>
          </p:txBody>
        </p:sp>
      </p:grpSp>
      <p:grpSp>
        <p:nvGrpSpPr>
          <p:cNvPr id="22542" name="组合 20"/>
          <p:cNvGrpSpPr>
            <a:grpSpLocks/>
          </p:cNvGrpSpPr>
          <p:nvPr/>
        </p:nvGrpSpPr>
        <p:grpSpPr bwMode="auto">
          <a:xfrm>
            <a:off x="5014889" y="1813129"/>
            <a:ext cx="2195512" cy="2624625"/>
            <a:chOff x="0" y="0"/>
            <a:chExt cx="2195529" cy="2624451"/>
          </a:xfrm>
        </p:grpSpPr>
        <p:grpSp>
          <p:nvGrpSpPr>
            <p:cNvPr id="27660" name="组合 12"/>
            <p:cNvGrpSpPr>
              <a:grpSpLocks/>
            </p:cNvGrpSpPr>
            <p:nvPr/>
          </p:nvGrpSpPr>
          <p:grpSpPr bwMode="auto">
            <a:xfrm>
              <a:off x="285755" y="0"/>
              <a:ext cx="1857388" cy="2001852"/>
              <a:chOff x="0" y="0"/>
              <a:chExt cx="1857388" cy="2001852"/>
            </a:xfrm>
          </p:grpSpPr>
          <p:cxnSp>
            <p:nvCxnSpPr>
              <p:cNvPr id="27667" name="直接箭头连接符 28"/>
              <p:cNvCxnSpPr>
                <a:cxnSpLocks noChangeShapeType="1"/>
              </p:cNvCxnSpPr>
              <p:nvPr/>
            </p:nvCxnSpPr>
            <p:spPr bwMode="auto">
              <a:xfrm>
                <a:off x="-3" y="2000118"/>
                <a:ext cx="1857389"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27668" name="直接箭头连接符 29"/>
              <p:cNvCxnSpPr>
                <a:cxnSpLocks noChangeShapeType="1"/>
              </p:cNvCxnSpPr>
              <p:nvPr/>
            </p:nvCxnSpPr>
            <p:spPr bwMode="auto">
              <a:xfrm rot="5400000" flipH="1" flipV="1">
                <a:off x="-999268" y="999265"/>
                <a:ext cx="2000118"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27669" name="直接连接符 30"/>
              <p:cNvCxnSpPr>
                <a:cxnSpLocks noChangeShapeType="1"/>
              </p:cNvCxnSpPr>
              <p:nvPr/>
            </p:nvCxnSpPr>
            <p:spPr bwMode="auto">
              <a:xfrm rot="10800000">
                <a:off x="-3" y="1000059"/>
                <a:ext cx="1571637" cy="1587"/>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pSp>
        <p:graphicFrame>
          <p:nvGraphicFramePr>
            <p:cNvPr id="27661" name="Object 19"/>
            <p:cNvGraphicFramePr>
              <a:graphicFrameLocks noChangeAspect="1"/>
            </p:cNvGraphicFramePr>
            <p:nvPr/>
          </p:nvGraphicFramePr>
          <p:xfrm>
            <a:off x="71441" y="2071702"/>
            <a:ext cx="212725" cy="247650"/>
          </p:xfrm>
          <a:graphic>
            <a:graphicData uri="http://schemas.openxmlformats.org/presentationml/2006/ole">
              <mc:AlternateContent xmlns:mc="http://schemas.openxmlformats.org/markup-compatibility/2006">
                <mc:Choice xmlns:v="urn:schemas-microsoft-com:vml" Requires="v">
                  <p:oleObj spid="_x0000_s190739" r:id="rId13" imgW="153198" imgH="178731" progId="">
                    <p:embed/>
                  </p:oleObj>
                </mc:Choice>
                <mc:Fallback>
                  <p:oleObj r:id="rId13" imgW="153198" imgH="178731" progId="">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41" y="2071702"/>
                          <a:ext cx="212725"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62" name="Object 20"/>
            <p:cNvGraphicFramePr>
              <a:graphicFrameLocks noChangeAspect="1"/>
            </p:cNvGraphicFramePr>
            <p:nvPr/>
          </p:nvGraphicFramePr>
          <p:xfrm>
            <a:off x="1928829" y="2071702"/>
            <a:ext cx="212725" cy="284163"/>
          </p:xfrm>
          <a:graphic>
            <a:graphicData uri="http://schemas.openxmlformats.org/presentationml/2006/ole">
              <mc:AlternateContent xmlns:mc="http://schemas.openxmlformats.org/markup-compatibility/2006">
                <mc:Choice xmlns:v="urn:schemas-microsoft-com:vml" Requires="v">
                  <p:oleObj spid="_x0000_s190740" r:id="rId14" imgW="153332" imgH="204442" progId="">
                    <p:embed/>
                  </p:oleObj>
                </mc:Choice>
                <mc:Fallback>
                  <p:oleObj r:id="rId14" imgW="153332" imgH="204442" progId="">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8829" y="2071702"/>
                          <a:ext cx="212725"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63" name="Object 21"/>
            <p:cNvGraphicFramePr>
              <a:graphicFrameLocks noChangeAspect="1"/>
            </p:cNvGraphicFramePr>
            <p:nvPr/>
          </p:nvGraphicFramePr>
          <p:xfrm>
            <a:off x="0" y="812799"/>
            <a:ext cx="212725" cy="266700"/>
          </p:xfrm>
          <a:graphic>
            <a:graphicData uri="http://schemas.openxmlformats.org/presentationml/2006/ole">
              <mc:AlternateContent xmlns:mc="http://schemas.openxmlformats.org/markup-compatibility/2006">
                <mc:Choice xmlns:v="urn:schemas-microsoft-com:vml" Requires="v">
                  <p:oleObj spid="_x0000_s190741" r:id="rId15" imgW="153332" imgH="191665" progId="">
                    <p:embed/>
                  </p:oleObj>
                </mc:Choice>
                <mc:Fallback>
                  <p:oleObj r:id="rId15" imgW="153332" imgH="191665" progId="">
                    <p:embed/>
                    <p:pic>
                      <p:nvPicPr>
                        <p:cNvPr id="0" name="Object 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812799"/>
                          <a:ext cx="212725" cy="26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64" name="Object 22"/>
            <p:cNvGraphicFramePr>
              <a:graphicFrameLocks noChangeAspect="1"/>
            </p:cNvGraphicFramePr>
            <p:nvPr/>
          </p:nvGraphicFramePr>
          <p:xfrm>
            <a:off x="2000267" y="928694"/>
            <a:ext cx="195262" cy="247650"/>
          </p:xfrm>
          <a:graphic>
            <a:graphicData uri="http://schemas.openxmlformats.org/presentationml/2006/ole">
              <mc:AlternateContent xmlns:mc="http://schemas.openxmlformats.org/markup-compatibility/2006">
                <mc:Choice xmlns:v="urn:schemas-microsoft-com:vml" Requires="v">
                  <p:oleObj spid="_x0000_s190742" r:id="rId17" imgW="140493" imgH="178809" progId="">
                    <p:embed/>
                  </p:oleObj>
                </mc:Choice>
                <mc:Fallback>
                  <p:oleObj r:id="rId17" imgW="140493" imgH="178809" progId="">
                    <p:embed/>
                    <p:pic>
                      <p:nvPicPr>
                        <p:cNvPr id="0"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00267" y="928694"/>
                          <a:ext cx="195262"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65" name="Object 23"/>
            <p:cNvGraphicFramePr>
              <a:graphicFrameLocks noChangeAspect="1"/>
            </p:cNvGraphicFramePr>
            <p:nvPr/>
          </p:nvGraphicFramePr>
          <p:xfrm>
            <a:off x="3" y="71438"/>
            <a:ext cx="212725" cy="230188"/>
          </p:xfrm>
          <a:graphic>
            <a:graphicData uri="http://schemas.openxmlformats.org/presentationml/2006/ole">
              <mc:AlternateContent xmlns:mc="http://schemas.openxmlformats.org/markup-compatibility/2006">
                <mc:Choice xmlns:v="urn:schemas-microsoft-com:vml" Requires="v">
                  <p:oleObj spid="_x0000_s190743" r:id="rId18" imgW="153332" imgH="166109" progId="">
                    <p:embed/>
                  </p:oleObj>
                </mc:Choice>
                <mc:Fallback>
                  <p:oleObj r:id="rId18" imgW="153332" imgH="166109" progId="">
                    <p:embed/>
                    <p:pic>
                      <p:nvPicPr>
                        <p:cNvPr id="0" name="Object 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 y="71438"/>
                          <a:ext cx="212725"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66" name="TextBox 27"/>
            <p:cNvSpPr txBox="1">
              <a:spLocks noChangeArrowheads="1"/>
            </p:cNvSpPr>
            <p:nvPr/>
          </p:nvSpPr>
          <p:spPr bwMode="auto">
            <a:xfrm>
              <a:off x="890113" y="2316674"/>
              <a:ext cx="6431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b="0" dirty="0">
                  <a:solidFill>
                    <a:schemeClr val="tx1"/>
                  </a:solidFill>
                </a:rPr>
                <a:t>（</a:t>
              </a:r>
              <a:r>
                <a:rPr lang="en-US" altLang="zh-CN" sz="1400" b="0" dirty="0">
                  <a:solidFill>
                    <a:schemeClr val="tx1"/>
                  </a:solidFill>
                </a:rPr>
                <a:t>b</a:t>
              </a:r>
              <a:r>
                <a:rPr lang="zh-CN" altLang="en-US" sz="1400" b="0" dirty="0">
                  <a:solidFill>
                    <a:schemeClr val="tx1"/>
                  </a:solidFill>
                </a:rPr>
                <a:t>）</a:t>
              </a:r>
            </a:p>
          </p:txBody>
        </p:sp>
      </p:grpSp>
      <p:grpSp>
        <p:nvGrpSpPr>
          <p:cNvPr id="22553" name="组合 9"/>
          <p:cNvGrpSpPr>
            <a:grpSpLocks/>
          </p:cNvGrpSpPr>
          <p:nvPr/>
        </p:nvGrpSpPr>
        <p:grpSpPr bwMode="auto">
          <a:xfrm>
            <a:off x="768182" y="4504450"/>
            <a:ext cx="3848388" cy="1538390"/>
            <a:chOff x="0" y="0"/>
            <a:chExt cx="4172822" cy="697169"/>
          </a:xfrm>
          <a:solidFill>
            <a:srgbClr val="F3C97F"/>
          </a:solidFill>
        </p:grpSpPr>
        <p:sp>
          <p:nvSpPr>
            <p:cNvPr id="27658" name="圆角矩形 31"/>
            <p:cNvSpPr>
              <a:spLocks noChangeArrowheads="1"/>
            </p:cNvSpPr>
            <p:nvPr/>
          </p:nvSpPr>
          <p:spPr bwMode="auto">
            <a:xfrm>
              <a:off x="0" y="0"/>
              <a:ext cx="4172822" cy="697169"/>
            </a:xfrm>
            <a:prstGeom prst="roundRect">
              <a:avLst>
                <a:gd name="adj" fmla="val 16667"/>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27659" name="TextBox 3"/>
            <p:cNvSpPr txBox="1">
              <a:spLocks noChangeArrowheads="1"/>
            </p:cNvSpPr>
            <p:nvPr/>
          </p:nvSpPr>
          <p:spPr bwMode="auto">
            <a:xfrm>
              <a:off x="38100" y="71447"/>
              <a:ext cx="4134721" cy="54282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spcBef>
                  <a:spcPct val="0"/>
                </a:spcBef>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无论商品的价格有多高，生产者提供的商品。</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342900" indent="-342900" eaLnBrk="1" hangingPunct="1">
                <a:spcBef>
                  <a:spcPct val="0"/>
                </a:spcBef>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如短期内既定数量易于腐败的商品的供给：新鲜蔬菜的供给。</a:t>
              </a:r>
            </a:p>
          </p:txBody>
        </p:sp>
      </p:grpSp>
      <p:grpSp>
        <p:nvGrpSpPr>
          <p:cNvPr id="22556" name="组合 9"/>
          <p:cNvGrpSpPr>
            <a:grpSpLocks/>
          </p:cNvGrpSpPr>
          <p:nvPr/>
        </p:nvGrpSpPr>
        <p:grpSpPr bwMode="auto">
          <a:xfrm>
            <a:off x="4932040" y="4504450"/>
            <a:ext cx="3661567" cy="1544683"/>
            <a:chOff x="0" y="0"/>
            <a:chExt cx="4389874" cy="1214454"/>
          </a:xfrm>
          <a:solidFill>
            <a:srgbClr val="F3C97F"/>
          </a:solidFill>
        </p:grpSpPr>
        <p:sp>
          <p:nvSpPr>
            <p:cNvPr id="27656" name="圆角矩形 34"/>
            <p:cNvSpPr>
              <a:spLocks noChangeArrowheads="1"/>
            </p:cNvSpPr>
            <p:nvPr/>
          </p:nvSpPr>
          <p:spPr bwMode="auto">
            <a:xfrm>
              <a:off x="32796" y="0"/>
              <a:ext cx="4357078" cy="1214454"/>
            </a:xfrm>
            <a:prstGeom prst="roundRect">
              <a:avLst>
                <a:gd name="adj" fmla="val 16667"/>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rgbClr val="000000"/>
                </a:solidFill>
              </a:endParaRPr>
            </a:p>
          </p:txBody>
        </p:sp>
        <p:sp>
          <p:nvSpPr>
            <p:cNvPr id="27657" name="TextBox 3"/>
            <p:cNvSpPr txBox="1">
              <a:spLocks noChangeArrowheads="1"/>
            </p:cNvSpPr>
            <p:nvPr/>
          </p:nvSpPr>
          <p:spPr bwMode="auto">
            <a:xfrm>
              <a:off x="0" y="42863"/>
              <a:ext cx="4319598" cy="94371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spcBef>
                  <a:spcPct val="0"/>
                </a:spcBef>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在一个特定的价格下，生产者愿意供给任意数量的商品。</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342900" indent="-342900" eaLnBrk="1" hangingPunct="1">
                <a:spcBef>
                  <a:spcPct val="0"/>
                </a:spcBef>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如单个厂商对市场的供给：某个农户对粮食的供给。</a:t>
              </a:r>
            </a:p>
          </p:txBody>
        </p:sp>
      </p:grpSp>
      <p:sp>
        <p:nvSpPr>
          <p:cNvPr id="34" name="矩形 33">
            <a:extLst>
              <a:ext uri="{FF2B5EF4-FFF2-40B4-BE49-F238E27FC236}">
                <a16:creationId xmlns:a16="http://schemas.microsoft.com/office/drawing/2014/main" id="{F68E5273-CD77-47B9-B841-9D29349C133D}"/>
              </a:ext>
            </a:extLst>
          </p:cNvPr>
          <p:cNvSpPr/>
          <p:nvPr/>
        </p:nvSpPr>
        <p:spPr>
          <a:xfrm>
            <a:off x="467544" y="548680"/>
            <a:ext cx="21467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二、供给规律</a:t>
            </a:r>
          </a:p>
        </p:txBody>
      </p:sp>
      <p:sp>
        <p:nvSpPr>
          <p:cNvPr id="35" name="矩形 34">
            <a:extLst>
              <a:ext uri="{FF2B5EF4-FFF2-40B4-BE49-F238E27FC236}">
                <a16:creationId xmlns:a16="http://schemas.microsoft.com/office/drawing/2014/main" id="{99A861F3-1BF5-4FA4-A7CE-A93F6E99B7C4}"/>
              </a:ext>
            </a:extLst>
          </p:cNvPr>
          <p:cNvSpPr/>
          <p:nvPr/>
        </p:nvSpPr>
        <p:spPr>
          <a:xfrm>
            <a:off x="7455320" y="0"/>
            <a:ext cx="1523174"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第二节 供给</a:t>
            </a:r>
          </a:p>
        </p:txBody>
      </p:sp>
    </p:spTree>
  </p:cSld>
  <p:clrMapOvr>
    <a:masterClrMapping/>
  </p:clrMapOvr>
  <p:transition>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wipe(left)">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253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2553"/>
                                        </p:tgtEl>
                                        <p:attrNameLst>
                                          <p:attrName>style.visibility</p:attrName>
                                        </p:attrNameLst>
                                      </p:cBhvr>
                                      <p:to>
                                        <p:strVal val="visible"/>
                                      </p:to>
                                    </p:set>
                                    <p:animEffect transition="in" filter="fade">
                                      <p:cBhvr>
                                        <p:cTn id="16" dur="500"/>
                                        <p:tgtEl>
                                          <p:spTgt spid="2255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2542"/>
                                        </p:tgtEl>
                                        <p:attrNameLst>
                                          <p:attrName>style.visibility</p:attrName>
                                        </p:attrNameLst>
                                      </p:cBhvr>
                                      <p:to>
                                        <p:strVal val="visible"/>
                                      </p:to>
                                    </p:set>
                                    <p:animEffect transition="in" filter="fade">
                                      <p:cBhvr>
                                        <p:cTn id="21" dur="500"/>
                                        <p:tgtEl>
                                          <p:spTgt spid="2254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2556"/>
                                        </p:tgtEl>
                                        <p:attrNameLst>
                                          <p:attrName>style.visibility</p:attrName>
                                        </p:attrNameLst>
                                      </p:cBhvr>
                                      <p:to>
                                        <p:strVal val="visible"/>
                                      </p:to>
                                    </p:set>
                                    <p:animEffect transition="in" filter="fade">
                                      <p:cBhvr>
                                        <p:cTn id="26" dur="500"/>
                                        <p:tgtEl>
                                          <p:spTgt spid="22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699317A-9253-4BBE-B88B-D26FCF8E5A02}"/>
              </a:ext>
            </a:extLst>
          </p:cNvPr>
          <p:cNvSpPr/>
          <p:nvPr/>
        </p:nvSpPr>
        <p:spPr>
          <a:xfrm>
            <a:off x="540117" y="1634302"/>
            <a:ext cx="2185214" cy="338554"/>
          </a:xfrm>
          <a:prstGeom prst="rect">
            <a:avLst/>
          </a:prstGeom>
        </p:spPr>
        <p:txBody>
          <a:bodyPr wrap="none">
            <a:spAutoFit/>
          </a:bodyPr>
          <a:lstStyle/>
          <a:p>
            <a:pPr marL="342900" indent="-342900">
              <a:lnSpc>
                <a:spcPct val="80000"/>
              </a:lnSpc>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生产者的目标</a:t>
            </a:r>
          </a:p>
        </p:txBody>
      </p:sp>
      <p:sp>
        <p:nvSpPr>
          <p:cNvPr id="5" name="标注: 线形(带边框和强调线) 4">
            <a:extLst>
              <a:ext uri="{FF2B5EF4-FFF2-40B4-BE49-F238E27FC236}">
                <a16:creationId xmlns:a16="http://schemas.microsoft.com/office/drawing/2014/main" id="{AAB944D5-A5BA-4F05-AE5A-6D9811B678F2}"/>
              </a:ext>
            </a:extLst>
          </p:cNvPr>
          <p:cNvSpPr/>
          <p:nvPr/>
        </p:nvSpPr>
        <p:spPr>
          <a:xfrm>
            <a:off x="4581331" y="1628800"/>
            <a:ext cx="4095127" cy="431757"/>
          </a:xfrm>
          <a:prstGeom prst="accentBorderCallout1">
            <a:avLst>
              <a:gd name="adj1" fmla="val 18750"/>
              <a:gd name="adj2" fmla="val -8333"/>
              <a:gd name="adj3" fmla="val 35986"/>
              <a:gd name="adj4" fmla="val -48549"/>
            </a:avLst>
          </a:prstGeom>
          <a:solidFill>
            <a:srgbClr val="BB1528"/>
          </a:solidFill>
          <a:ln>
            <a:solidFill>
              <a:srgbClr val="BB15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sz="1400" spc="150" dirty="0">
                <a:solidFill>
                  <a:schemeClr val="bg1"/>
                </a:solidFill>
                <a:latin typeface="微软雅黑" panose="020B0503020204020204" pitchFamily="34" charset="-122"/>
                <a:ea typeface="微软雅黑" panose="020B0503020204020204" pitchFamily="34" charset="-122"/>
              </a:rPr>
              <a:t>生产者目标是利润最大化</a:t>
            </a:r>
          </a:p>
        </p:txBody>
      </p:sp>
      <p:sp>
        <p:nvSpPr>
          <p:cNvPr id="42" name="矩形 41">
            <a:extLst>
              <a:ext uri="{FF2B5EF4-FFF2-40B4-BE49-F238E27FC236}">
                <a16:creationId xmlns:a16="http://schemas.microsoft.com/office/drawing/2014/main" id="{56BEB393-18C9-48B3-892F-6C4E74325086}"/>
              </a:ext>
            </a:extLst>
          </p:cNvPr>
          <p:cNvSpPr/>
          <p:nvPr/>
        </p:nvSpPr>
        <p:spPr>
          <a:xfrm>
            <a:off x="540117" y="2285894"/>
            <a:ext cx="2460930" cy="338554"/>
          </a:xfrm>
          <a:prstGeom prst="rect">
            <a:avLst/>
          </a:prstGeom>
        </p:spPr>
        <p:txBody>
          <a:bodyPr wrap="none">
            <a:spAutoFit/>
          </a:bodyPr>
          <a:lstStyle/>
          <a:p>
            <a:pPr marL="342900" indent="-342900">
              <a:lnSpc>
                <a:spcPct val="80000"/>
              </a:lnSpc>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生产的技术水平</a:t>
            </a:r>
          </a:p>
        </p:txBody>
      </p:sp>
      <p:sp>
        <p:nvSpPr>
          <p:cNvPr id="43" name="标注: 线形(带边框和强调线) 42">
            <a:extLst>
              <a:ext uri="{FF2B5EF4-FFF2-40B4-BE49-F238E27FC236}">
                <a16:creationId xmlns:a16="http://schemas.microsoft.com/office/drawing/2014/main" id="{CA4FBBCD-F4CF-417A-AFFB-EFC51E34B0F8}"/>
              </a:ext>
            </a:extLst>
          </p:cNvPr>
          <p:cNvSpPr/>
          <p:nvPr/>
        </p:nvSpPr>
        <p:spPr>
          <a:xfrm>
            <a:off x="4581330" y="2155149"/>
            <a:ext cx="4095127" cy="366076"/>
          </a:xfrm>
          <a:prstGeom prst="accentBorderCallout1">
            <a:avLst>
              <a:gd name="adj1" fmla="val 18750"/>
              <a:gd name="adj2" fmla="val -8333"/>
              <a:gd name="adj3" fmla="val 61089"/>
              <a:gd name="adj4" fmla="val -41872"/>
            </a:avLst>
          </a:prstGeom>
          <a:solidFill>
            <a:srgbClr val="BB1528"/>
          </a:solidFill>
          <a:ln>
            <a:solidFill>
              <a:srgbClr val="BB15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sz="1400" spc="150" dirty="0">
                <a:solidFill>
                  <a:schemeClr val="bg1"/>
                </a:solidFill>
                <a:latin typeface="微软雅黑" panose="020B0503020204020204" pitchFamily="34" charset="-122"/>
                <a:ea typeface="微软雅黑" panose="020B0503020204020204" pitchFamily="34" charset="-122"/>
              </a:rPr>
              <a:t>技术水平越高相应的产出量就会越大。</a:t>
            </a:r>
          </a:p>
        </p:txBody>
      </p:sp>
      <p:sp>
        <p:nvSpPr>
          <p:cNvPr id="6" name="矩形 5">
            <a:extLst>
              <a:ext uri="{FF2B5EF4-FFF2-40B4-BE49-F238E27FC236}">
                <a16:creationId xmlns:a16="http://schemas.microsoft.com/office/drawing/2014/main" id="{63306558-2496-43D6-8CAF-5B19BC766222}"/>
              </a:ext>
            </a:extLst>
          </p:cNvPr>
          <p:cNvSpPr/>
          <p:nvPr/>
        </p:nvSpPr>
        <p:spPr>
          <a:xfrm>
            <a:off x="540117" y="2881932"/>
            <a:ext cx="1633781" cy="338554"/>
          </a:xfrm>
          <a:prstGeom prst="rect">
            <a:avLst/>
          </a:prstGeom>
        </p:spPr>
        <p:txBody>
          <a:bodyPr wrap="none">
            <a:spAutoFit/>
          </a:bodyPr>
          <a:lstStyle/>
          <a:p>
            <a:pPr marL="342900" indent="-342900">
              <a:lnSpc>
                <a:spcPct val="80000"/>
              </a:lnSpc>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生产成本</a:t>
            </a:r>
          </a:p>
        </p:txBody>
      </p:sp>
      <p:sp>
        <p:nvSpPr>
          <p:cNvPr id="46" name="标注: 线形(带边框和强调线) 45">
            <a:extLst>
              <a:ext uri="{FF2B5EF4-FFF2-40B4-BE49-F238E27FC236}">
                <a16:creationId xmlns:a16="http://schemas.microsoft.com/office/drawing/2014/main" id="{D62DE9BD-DD7A-4A79-BFE1-294A6B834E45}"/>
              </a:ext>
            </a:extLst>
          </p:cNvPr>
          <p:cNvSpPr/>
          <p:nvPr/>
        </p:nvSpPr>
        <p:spPr>
          <a:xfrm>
            <a:off x="4581329" y="2615817"/>
            <a:ext cx="4095127" cy="896935"/>
          </a:xfrm>
          <a:prstGeom prst="accentBorderCallout1">
            <a:avLst>
              <a:gd name="adj1" fmla="val 18750"/>
              <a:gd name="adj2" fmla="val -8333"/>
              <a:gd name="adj3" fmla="val 39887"/>
              <a:gd name="adj4" fmla="val -60888"/>
            </a:avLst>
          </a:prstGeom>
          <a:solidFill>
            <a:srgbClr val="BB1528"/>
          </a:solidFill>
          <a:ln>
            <a:solidFill>
              <a:srgbClr val="BB15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sz="1400" spc="150" dirty="0">
                <a:solidFill>
                  <a:schemeClr val="bg1"/>
                </a:solidFill>
                <a:latin typeface="微软雅黑" panose="020B0503020204020204" pitchFamily="34" charset="-122"/>
                <a:ea typeface="微软雅黑" panose="020B0503020204020204" pitchFamily="34" charset="-122"/>
              </a:rPr>
              <a:t>在商品价格不变的条件下，生产者的成本增加，利润相应地减少，生产者就会减少供给量；相反，生产者的成本下降，供给量就会增加。</a:t>
            </a:r>
          </a:p>
        </p:txBody>
      </p:sp>
      <p:sp>
        <p:nvSpPr>
          <p:cNvPr id="7" name="矩形 6">
            <a:extLst>
              <a:ext uri="{FF2B5EF4-FFF2-40B4-BE49-F238E27FC236}">
                <a16:creationId xmlns:a16="http://schemas.microsoft.com/office/drawing/2014/main" id="{9C24C86B-2EBA-45F8-9AD4-C1243D749AFA}"/>
              </a:ext>
            </a:extLst>
          </p:cNvPr>
          <p:cNvSpPr/>
          <p:nvPr/>
        </p:nvSpPr>
        <p:spPr>
          <a:xfrm>
            <a:off x="540117" y="3477970"/>
            <a:ext cx="3012363" cy="707886"/>
          </a:xfrm>
          <a:prstGeom prst="rect">
            <a:avLst/>
          </a:prstGeom>
        </p:spPr>
        <p:txBody>
          <a:bodyPr wrap="none">
            <a:spAutoFit/>
          </a:bodyPr>
          <a:lstStyle/>
          <a:p>
            <a:pPr marL="342900" indent="-342900">
              <a:lnSpc>
                <a:spcPct val="80000"/>
              </a:lnSpc>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生产者可生产的其他</a:t>
            </a:r>
            <a:endParaRPr lang="en-US" altLang="zh-CN" sz="2000" spc="150" dirty="0">
              <a:solidFill>
                <a:srgbClr val="000000"/>
              </a:solidFill>
              <a:latin typeface="微软雅黑" panose="020B0503020204020204" pitchFamily="34" charset="-122"/>
              <a:ea typeface="微软雅黑" panose="020B0503020204020204" pitchFamily="34" charset="-122"/>
            </a:endParaRPr>
          </a:p>
          <a:p>
            <a:pPr>
              <a:lnSpc>
                <a:spcPct val="80000"/>
              </a:lnSpc>
              <a:spcBef>
                <a:spcPct val="40000"/>
              </a:spcBef>
            </a:pPr>
            <a:r>
              <a:rPr lang="en-US" altLang="zh-CN" sz="2000" spc="150" dirty="0">
                <a:solidFill>
                  <a:srgbClr val="000000"/>
                </a:solidFill>
                <a:latin typeface="微软雅黑" panose="020B0503020204020204" pitchFamily="34" charset="-122"/>
                <a:ea typeface="微软雅黑" panose="020B0503020204020204" pitchFamily="34" charset="-122"/>
              </a:rPr>
              <a:t>   </a:t>
            </a:r>
            <a:r>
              <a:rPr lang="zh-CN" altLang="en-US" sz="2000" spc="150" dirty="0">
                <a:solidFill>
                  <a:srgbClr val="000000"/>
                </a:solidFill>
                <a:latin typeface="微软雅黑" panose="020B0503020204020204" pitchFamily="34" charset="-122"/>
                <a:ea typeface="微软雅黑" panose="020B0503020204020204" pitchFamily="34" charset="-122"/>
              </a:rPr>
              <a:t>相关商品的价格</a:t>
            </a:r>
          </a:p>
        </p:txBody>
      </p:sp>
      <p:sp>
        <p:nvSpPr>
          <p:cNvPr id="82" name="标注: 线形(带边框和强调线) 81">
            <a:extLst>
              <a:ext uri="{FF2B5EF4-FFF2-40B4-BE49-F238E27FC236}">
                <a16:creationId xmlns:a16="http://schemas.microsoft.com/office/drawing/2014/main" id="{59222FB5-4E4D-4297-8882-A74BE279CEFD}"/>
              </a:ext>
            </a:extLst>
          </p:cNvPr>
          <p:cNvSpPr/>
          <p:nvPr/>
        </p:nvSpPr>
        <p:spPr>
          <a:xfrm>
            <a:off x="4581329" y="3611352"/>
            <a:ext cx="4095128" cy="671371"/>
          </a:xfrm>
          <a:prstGeom prst="accentBorderCallout1">
            <a:avLst>
              <a:gd name="adj1" fmla="val 18750"/>
              <a:gd name="adj2" fmla="val -8333"/>
              <a:gd name="adj3" fmla="val 6203"/>
              <a:gd name="adj4" fmla="val -28438"/>
            </a:avLst>
          </a:prstGeom>
          <a:solidFill>
            <a:srgbClr val="BB1528"/>
          </a:solidFill>
          <a:ln>
            <a:solidFill>
              <a:srgbClr val="BB15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sz="1400" spc="150" dirty="0">
                <a:solidFill>
                  <a:schemeClr val="bg1"/>
                </a:solidFill>
                <a:latin typeface="微软雅黑" panose="020B0503020204020204" pitchFamily="34" charset="-122"/>
                <a:ea typeface="微软雅黑" panose="020B0503020204020204" pitchFamily="34" charset="-122"/>
              </a:rPr>
              <a:t>如果一个生产者可以提供多种产品，则其中一种商品价格发生变化，它对另外一种商品的供给量也会随之发生改变。</a:t>
            </a:r>
          </a:p>
        </p:txBody>
      </p:sp>
      <p:sp>
        <p:nvSpPr>
          <p:cNvPr id="85" name="矩形 84">
            <a:extLst>
              <a:ext uri="{FF2B5EF4-FFF2-40B4-BE49-F238E27FC236}">
                <a16:creationId xmlns:a16="http://schemas.microsoft.com/office/drawing/2014/main" id="{C1B8C2CD-A435-45F8-BB3E-8F8F51AB1F9A}"/>
              </a:ext>
            </a:extLst>
          </p:cNvPr>
          <p:cNvSpPr/>
          <p:nvPr/>
        </p:nvSpPr>
        <p:spPr>
          <a:xfrm>
            <a:off x="540117" y="4443340"/>
            <a:ext cx="3012363" cy="338554"/>
          </a:xfrm>
          <a:prstGeom prst="rect">
            <a:avLst/>
          </a:prstGeom>
        </p:spPr>
        <p:txBody>
          <a:bodyPr wrap="none">
            <a:spAutoFit/>
          </a:bodyPr>
          <a:lstStyle/>
          <a:p>
            <a:pPr marL="342900" indent="-342900">
              <a:lnSpc>
                <a:spcPct val="80000"/>
              </a:lnSpc>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生产者对未来的预期</a:t>
            </a:r>
          </a:p>
        </p:txBody>
      </p:sp>
      <p:sp>
        <p:nvSpPr>
          <p:cNvPr id="86" name="标注: 线形(带边框和强调线) 85">
            <a:extLst>
              <a:ext uri="{FF2B5EF4-FFF2-40B4-BE49-F238E27FC236}">
                <a16:creationId xmlns:a16="http://schemas.microsoft.com/office/drawing/2014/main" id="{FB64765D-E2AD-4DEC-B2C9-9A2EF812CD5F}"/>
              </a:ext>
            </a:extLst>
          </p:cNvPr>
          <p:cNvSpPr/>
          <p:nvPr/>
        </p:nvSpPr>
        <p:spPr>
          <a:xfrm>
            <a:off x="4581329" y="4386745"/>
            <a:ext cx="4095128" cy="630566"/>
          </a:xfrm>
          <a:prstGeom prst="accentBorderCallout1">
            <a:avLst>
              <a:gd name="adj1" fmla="val 18750"/>
              <a:gd name="adj2" fmla="val -8333"/>
              <a:gd name="adj3" fmla="val 25505"/>
              <a:gd name="adj4" fmla="val -27711"/>
            </a:avLst>
          </a:prstGeom>
          <a:solidFill>
            <a:srgbClr val="BB1528"/>
          </a:solidFill>
          <a:ln>
            <a:solidFill>
              <a:srgbClr val="BB152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285750" indent="-285750">
              <a:buFont typeface="Arial" panose="020B0604020202020204" pitchFamily="34" charset="0"/>
              <a:buChar char="•"/>
            </a:pPr>
            <a:r>
              <a:rPr lang="zh-CN" altLang="en-US" sz="1400" spc="150" dirty="0">
                <a:solidFill>
                  <a:schemeClr val="bg1"/>
                </a:solidFill>
                <a:latin typeface="微软雅黑" panose="020B0503020204020204" pitchFamily="34" charset="-122"/>
                <a:ea typeface="微软雅黑" panose="020B0503020204020204" pitchFamily="34" charset="-122"/>
              </a:rPr>
              <a:t>生产者对未来影响供给量的各种因素的预期会影响现期供给量。</a:t>
            </a:r>
          </a:p>
        </p:txBody>
      </p:sp>
      <p:sp>
        <p:nvSpPr>
          <p:cNvPr id="16" name="矩形 15">
            <a:extLst>
              <a:ext uri="{FF2B5EF4-FFF2-40B4-BE49-F238E27FC236}">
                <a16:creationId xmlns:a16="http://schemas.microsoft.com/office/drawing/2014/main" id="{99A861F3-1BF5-4FA4-A7CE-A93F6E99B7C4}"/>
              </a:ext>
            </a:extLst>
          </p:cNvPr>
          <p:cNvSpPr/>
          <p:nvPr/>
        </p:nvSpPr>
        <p:spPr>
          <a:xfrm>
            <a:off x="7455320" y="0"/>
            <a:ext cx="1523174"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第二节 供给</a:t>
            </a:r>
          </a:p>
        </p:txBody>
      </p:sp>
      <p:sp>
        <p:nvSpPr>
          <p:cNvPr id="17" name="矩形 16">
            <a:extLst>
              <a:ext uri="{FF2B5EF4-FFF2-40B4-BE49-F238E27FC236}">
                <a16:creationId xmlns:a16="http://schemas.microsoft.com/office/drawing/2014/main" id="{F68E5273-CD77-47B9-B841-9D29349C133D}"/>
              </a:ext>
            </a:extLst>
          </p:cNvPr>
          <p:cNvSpPr/>
          <p:nvPr/>
        </p:nvSpPr>
        <p:spPr>
          <a:xfrm>
            <a:off x="467544" y="690322"/>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三、影响供给量的其他因素</a:t>
            </a:r>
          </a:p>
        </p:txBody>
      </p:sp>
      <p:sp>
        <p:nvSpPr>
          <p:cNvPr id="18" name="矩形 17">
            <a:extLst>
              <a:ext uri="{FF2B5EF4-FFF2-40B4-BE49-F238E27FC236}">
                <a16:creationId xmlns:a16="http://schemas.microsoft.com/office/drawing/2014/main" id="{C1B8C2CD-A435-45F8-BB3E-8F8F51AB1F9A}"/>
              </a:ext>
            </a:extLst>
          </p:cNvPr>
          <p:cNvSpPr/>
          <p:nvPr/>
        </p:nvSpPr>
        <p:spPr>
          <a:xfrm>
            <a:off x="532725" y="5063437"/>
            <a:ext cx="2460930" cy="338554"/>
          </a:xfrm>
          <a:prstGeom prst="rect">
            <a:avLst/>
          </a:prstGeom>
        </p:spPr>
        <p:txBody>
          <a:bodyPr wrap="none">
            <a:spAutoFit/>
          </a:bodyPr>
          <a:lstStyle/>
          <a:p>
            <a:pPr marL="342900" indent="-342900">
              <a:lnSpc>
                <a:spcPct val="80000"/>
              </a:lnSpc>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政府的政策因素</a:t>
            </a:r>
          </a:p>
        </p:txBody>
      </p:sp>
      <p:sp>
        <p:nvSpPr>
          <p:cNvPr id="19" name="标注: 线形(带边框和强调线) 85">
            <a:extLst>
              <a:ext uri="{FF2B5EF4-FFF2-40B4-BE49-F238E27FC236}">
                <a16:creationId xmlns:a16="http://schemas.microsoft.com/office/drawing/2014/main" id="{FB64765D-E2AD-4DEC-B2C9-9A2EF812CD5F}"/>
              </a:ext>
            </a:extLst>
          </p:cNvPr>
          <p:cNvSpPr/>
          <p:nvPr/>
        </p:nvSpPr>
        <p:spPr>
          <a:xfrm>
            <a:off x="4581329" y="5100836"/>
            <a:ext cx="4095128" cy="602311"/>
          </a:xfrm>
          <a:prstGeom prst="accentBorderCallout1">
            <a:avLst>
              <a:gd name="adj1" fmla="val 18750"/>
              <a:gd name="adj2" fmla="val -8333"/>
              <a:gd name="adj3" fmla="val 19246"/>
              <a:gd name="adj4" fmla="val -41914"/>
            </a:avLst>
          </a:prstGeom>
          <a:solidFill>
            <a:srgbClr val="BB1528"/>
          </a:solidFill>
          <a:ln>
            <a:solidFill>
              <a:srgbClr val="BB152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285750" indent="-285750">
              <a:buFont typeface="Arial" panose="020B0604020202020204" pitchFamily="34" charset="0"/>
              <a:buChar char="•"/>
            </a:pPr>
            <a:r>
              <a:rPr lang="zh-CN" altLang="en-US" sz="1400" spc="150" dirty="0">
                <a:solidFill>
                  <a:schemeClr val="bg1"/>
                </a:solidFill>
                <a:latin typeface="微软雅黑" panose="020B0503020204020204" pitchFamily="34" charset="-122"/>
                <a:ea typeface="微软雅黑" panose="020B0503020204020204" pitchFamily="34" charset="-122"/>
              </a:rPr>
              <a:t>政府所采取的经济政策会直接或间接地影响上述因素从而最终影响供给量。</a:t>
            </a:r>
          </a:p>
        </p:txBody>
      </p:sp>
    </p:spTree>
    <p:extLst>
      <p:ext uri="{BB962C8B-B14F-4D97-AF65-F5344CB8AC3E}">
        <p14:creationId xmlns:p14="http://schemas.microsoft.com/office/powerpoint/2010/main" val="710979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wipe(left)">
                                      <p:cBhvr>
                                        <p:cTn id="21" dur="500"/>
                                        <p:tgtEl>
                                          <p:spTgt spid="42"/>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wipe(left)">
                                      <p:cBhvr>
                                        <p:cTn id="25" dur="500"/>
                                        <p:tgtEl>
                                          <p:spTgt spid="4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wipe(left)">
                                      <p:cBhvr>
                                        <p:cTn id="34" dur="500"/>
                                        <p:tgtEl>
                                          <p:spTgt spid="4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left)">
                                      <p:cBhvr>
                                        <p:cTn id="39" dur="500"/>
                                        <p:tgtEl>
                                          <p:spTgt spid="7"/>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82"/>
                                        </p:tgtEl>
                                        <p:attrNameLst>
                                          <p:attrName>style.visibility</p:attrName>
                                        </p:attrNameLst>
                                      </p:cBhvr>
                                      <p:to>
                                        <p:strVal val="visible"/>
                                      </p:to>
                                    </p:set>
                                    <p:animEffect transition="in" filter="wipe(left)">
                                      <p:cBhvr>
                                        <p:cTn id="43" dur="500"/>
                                        <p:tgtEl>
                                          <p:spTgt spid="8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85"/>
                                        </p:tgtEl>
                                        <p:attrNameLst>
                                          <p:attrName>style.visibility</p:attrName>
                                        </p:attrNameLst>
                                      </p:cBhvr>
                                      <p:to>
                                        <p:strVal val="visible"/>
                                      </p:to>
                                    </p:set>
                                    <p:animEffect transition="in" filter="wipe(left)">
                                      <p:cBhvr>
                                        <p:cTn id="48" dur="500"/>
                                        <p:tgtEl>
                                          <p:spTgt spid="85"/>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86"/>
                                        </p:tgtEl>
                                        <p:attrNameLst>
                                          <p:attrName>style.visibility</p:attrName>
                                        </p:attrNameLst>
                                      </p:cBhvr>
                                      <p:to>
                                        <p:strVal val="visible"/>
                                      </p:to>
                                    </p:set>
                                    <p:animEffect transition="in" filter="wipe(left)">
                                      <p:cBhvr>
                                        <p:cTn id="52" dur="500"/>
                                        <p:tgtEl>
                                          <p:spTgt spid="8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wipe(left)">
                                      <p:cBhvr>
                                        <p:cTn id="57" dur="500"/>
                                        <p:tgtEl>
                                          <p:spTgt spid="18"/>
                                        </p:tgtEl>
                                      </p:cBhvr>
                                    </p:animEffect>
                                  </p:childTnLst>
                                </p:cTn>
                              </p:par>
                            </p:childTnLst>
                          </p:cTn>
                        </p:par>
                        <p:par>
                          <p:cTn id="58" fill="hold">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wipe(left)">
                                      <p:cBhvr>
                                        <p:cTn id="6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42" grpId="0"/>
      <p:bldP spid="43" grpId="0" animBg="1"/>
      <p:bldP spid="6" grpId="0"/>
      <p:bldP spid="46" grpId="0" animBg="1"/>
      <p:bldP spid="7" grpId="0"/>
      <p:bldP spid="82" grpId="0" animBg="1"/>
      <p:bldP spid="85" grpId="0"/>
      <p:bldP spid="86" grpId="0" animBg="1"/>
      <p:bldP spid="17" grpId="0" animBg="1"/>
      <p:bldP spid="18" grpId="0"/>
      <p:bldP spid="1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a:extLst>
              <a:ext uri="{FF2B5EF4-FFF2-40B4-BE49-F238E27FC236}">
                <a16:creationId xmlns:a16="http://schemas.microsoft.com/office/drawing/2014/main" id="{18951FFE-8CCC-4031-9DDA-C359FD350A01}"/>
              </a:ext>
            </a:extLst>
          </p:cNvPr>
          <p:cNvSpPr/>
          <p:nvPr/>
        </p:nvSpPr>
        <p:spPr>
          <a:xfrm>
            <a:off x="261257" y="2855167"/>
            <a:ext cx="1884783" cy="858416"/>
          </a:xfrm>
          <a:prstGeom prst="roundRect">
            <a:avLst/>
          </a:prstGeom>
          <a:solidFill>
            <a:srgbClr val="999E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pc="150" dirty="0">
                <a:solidFill>
                  <a:schemeClr val="bg1"/>
                </a:solidFill>
                <a:latin typeface="微软雅黑" panose="020B0503020204020204" pitchFamily="34" charset="-122"/>
                <a:ea typeface="微软雅黑" panose="020B0503020204020204" pitchFamily="34" charset="-122"/>
              </a:rPr>
              <a:t>把影响供给的因素分为两类</a:t>
            </a:r>
          </a:p>
        </p:txBody>
      </p:sp>
      <p:sp>
        <p:nvSpPr>
          <p:cNvPr id="3" name="左中括号 2">
            <a:extLst>
              <a:ext uri="{FF2B5EF4-FFF2-40B4-BE49-F238E27FC236}">
                <a16:creationId xmlns:a16="http://schemas.microsoft.com/office/drawing/2014/main" id="{46C7EA5B-3396-4782-9E16-0FBA89E2571E}"/>
              </a:ext>
            </a:extLst>
          </p:cNvPr>
          <p:cNvSpPr/>
          <p:nvPr/>
        </p:nvSpPr>
        <p:spPr>
          <a:xfrm>
            <a:off x="2215533" y="1399592"/>
            <a:ext cx="569167" cy="4460032"/>
          </a:xfrm>
          <a:prstGeom prst="leftBracket">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511701C7-5C3E-43E4-8C1C-9D4654F68497}"/>
              </a:ext>
            </a:extLst>
          </p:cNvPr>
          <p:cNvSpPr/>
          <p:nvPr/>
        </p:nvSpPr>
        <p:spPr>
          <a:xfrm>
            <a:off x="2784698" y="1848457"/>
            <a:ext cx="5426240" cy="1261884"/>
          </a:xfrm>
          <a:prstGeom prst="rect">
            <a:avLst/>
          </a:prstGeom>
        </p:spPr>
        <p:txBody>
          <a:bodyPr wrap="square">
            <a:spAutoFit/>
          </a:bodyPr>
          <a:lstStyle/>
          <a:p>
            <a:pPr marL="342900" indent="-342900">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原因：（自身）价格变动引起</a:t>
            </a:r>
          </a:p>
          <a:p>
            <a:pPr marL="342900" indent="-342900">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形式：顺着供给曲线移动</a:t>
            </a:r>
          </a:p>
          <a:p>
            <a:pPr marL="342900" indent="-342900">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示例：</a:t>
            </a:r>
            <a:r>
              <a:rPr lang="zh-CN" altLang="en-US" sz="2000" spc="150" dirty="0">
                <a:solidFill>
                  <a:srgbClr val="009999"/>
                </a:solidFill>
                <a:latin typeface="微软雅黑" panose="020B0503020204020204" pitchFamily="34" charset="-122"/>
                <a:ea typeface="微软雅黑" panose="020B0503020204020204" pitchFamily="34" charset="-122"/>
                <a:hlinkClick r:id="rId2" action="ppaction://hlinksldjump"/>
              </a:rPr>
              <a:t>图中从</a:t>
            </a:r>
            <a:r>
              <a:rPr lang="en-US" altLang="zh-CN" sz="2000" spc="150" dirty="0">
                <a:solidFill>
                  <a:srgbClr val="009999"/>
                </a:solidFill>
                <a:latin typeface="微软雅黑" panose="020B0503020204020204" pitchFamily="34" charset="-122"/>
                <a:ea typeface="微软雅黑" panose="020B0503020204020204" pitchFamily="34" charset="-122"/>
                <a:hlinkClick r:id="rId2" action="ppaction://hlinksldjump"/>
              </a:rPr>
              <a:t>A</a:t>
            </a:r>
            <a:r>
              <a:rPr lang="zh-CN" altLang="en-US" sz="2000" spc="150" dirty="0">
                <a:solidFill>
                  <a:srgbClr val="009999"/>
                </a:solidFill>
                <a:latin typeface="微软雅黑" panose="020B0503020204020204" pitchFamily="34" charset="-122"/>
                <a:ea typeface="微软雅黑" panose="020B0503020204020204" pitchFamily="34" charset="-122"/>
                <a:hlinkClick r:id="rId2" action="ppaction://hlinksldjump"/>
              </a:rPr>
              <a:t>点到</a:t>
            </a:r>
            <a:r>
              <a:rPr lang="en-US" altLang="zh-CN" sz="2000" spc="150" dirty="0">
                <a:solidFill>
                  <a:srgbClr val="009999"/>
                </a:solidFill>
                <a:latin typeface="微软雅黑" panose="020B0503020204020204" pitchFamily="34" charset="-122"/>
                <a:ea typeface="微软雅黑" panose="020B0503020204020204" pitchFamily="34" charset="-122"/>
                <a:hlinkClick r:id="rId2" action="ppaction://hlinksldjump"/>
              </a:rPr>
              <a:t>B</a:t>
            </a:r>
            <a:r>
              <a:rPr lang="zh-CN" altLang="en-US" sz="2000" spc="150" dirty="0">
                <a:solidFill>
                  <a:srgbClr val="009999"/>
                </a:solidFill>
                <a:latin typeface="微软雅黑" panose="020B0503020204020204" pitchFamily="34" charset="-122"/>
                <a:ea typeface="微软雅黑" panose="020B0503020204020204" pitchFamily="34" charset="-122"/>
                <a:hlinkClick r:id="rId2" action="ppaction://hlinksldjump"/>
              </a:rPr>
              <a:t>点</a:t>
            </a:r>
            <a:r>
              <a:rPr lang="en-US" altLang="zh-CN" sz="2000" spc="150" dirty="0">
                <a:solidFill>
                  <a:srgbClr val="009999"/>
                </a:solidFill>
                <a:latin typeface="微软雅黑" panose="020B0503020204020204" pitchFamily="34" charset="-122"/>
                <a:ea typeface="微软雅黑" panose="020B0503020204020204" pitchFamily="34" charset="-122"/>
                <a:hlinkClick r:id="rId2" action="ppaction://hlinksldjump"/>
              </a:rPr>
              <a:t>——</a:t>
            </a:r>
            <a:r>
              <a:rPr lang="zh-CN" altLang="en-US" sz="2000" spc="150" dirty="0">
                <a:solidFill>
                  <a:srgbClr val="009999"/>
                </a:solidFill>
                <a:latin typeface="微软雅黑" panose="020B0503020204020204" pitchFamily="34" charset="-122"/>
                <a:ea typeface="微软雅黑" panose="020B0503020204020204" pitchFamily="34" charset="-122"/>
                <a:hlinkClick r:id="rId2" action="ppaction://hlinksldjump"/>
              </a:rPr>
              <a:t>供给量减少</a:t>
            </a:r>
            <a:endParaRPr lang="zh-CN" altLang="en-US" sz="2000" spc="150" dirty="0">
              <a:solidFill>
                <a:srgbClr val="009999"/>
              </a:solidFill>
              <a:latin typeface="微软雅黑" panose="020B0503020204020204" pitchFamily="34" charset="-122"/>
              <a:ea typeface="微软雅黑" panose="020B0503020204020204" pitchFamily="34" charset="-122"/>
            </a:endParaRPr>
          </a:p>
        </p:txBody>
      </p:sp>
      <p:sp>
        <p:nvSpPr>
          <p:cNvPr id="9" name="平行四边形 8">
            <a:extLst>
              <a:ext uri="{FF2B5EF4-FFF2-40B4-BE49-F238E27FC236}">
                <a16:creationId xmlns:a16="http://schemas.microsoft.com/office/drawing/2014/main" id="{CB454385-BA6E-4ED6-B306-69AF3AC853B8}"/>
              </a:ext>
            </a:extLst>
          </p:cNvPr>
          <p:cNvSpPr/>
          <p:nvPr/>
        </p:nvSpPr>
        <p:spPr>
          <a:xfrm>
            <a:off x="2784700" y="1291921"/>
            <a:ext cx="3373991" cy="461665"/>
          </a:xfrm>
          <a:prstGeom prst="parallelogram">
            <a:avLst/>
          </a:prstGeom>
          <a:solidFill>
            <a:srgbClr val="999E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pc="150" dirty="0">
                <a:solidFill>
                  <a:schemeClr val="bg1"/>
                </a:solidFill>
                <a:latin typeface="微软雅黑" panose="020B0503020204020204" pitchFamily="34" charset="-122"/>
                <a:ea typeface="微软雅黑" panose="020B0503020204020204" pitchFamily="34" charset="-122"/>
              </a:rPr>
              <a:t>供给量的变动</a:t>
            </a:r>
          </a:p>
        </p:txBody>
      </p:sp>
      <p:sp>
        <p:nvSpPr>
          <p:cNvPr id="19" name="平行四边形 18">
            <a:extLst>
              <a:ext uri="{FF2B5EF4-FFF2-40B4-BE49-F238E27FC236}">
                <a16:creationId xmlns:a16="http://schemas.microsoft.com/office/drawing/2014/main" id="{F26D4013-C82B-41ED-A645-05DC11DE7BEF}"/>
              </a:ext>
            </a:extLst>
          </p:cNvPr>
          <p:cNvSpPr/>
          <p:nvPr/>
        </p:nvSpPr>
        <p:spPr>
          <a:xfrm>
            <a:off x="2784698" y="3436044"/>
            <a:ext cx="3373991" cy="461665"/>
          </a:xfrm>
          <a:prstGeom prst="parallelogram">
            <a:avLst/>
          </a:prstGeom>
          <a:solidFill>
            <a:srgbClr val="999E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pc="150" dirty="0">
                <a:solidFill>
                  <a:schemeClr val="bg1"/>
                </a:solidFill>
                <a:latin typeface="微软雅黑" panose="020B0503020204020204" pitchFamily="34" charset="-122"/>
                <a:ea typeface="微软雅黑" panose="020B0503020204020204" pitchFamily="34" charset="-122"/>
              </a:rPr>
              <a:t>供给的变动</a:t>
            </a:r>
          </a:p>
        </p:txBody>
      </p:sp>
      <p:sp>
        <p:nvSpPr>
          <p:cNvPr id="12" name="矩形 11">
            <a:extLst>
              <a:ext uri="{FF2B5EF4-FFF2-40B4-BE49-F238E27FC236}">
                <a16:creationId xmlns:a16="http://schemas.microsoft.com/office/drawing/2014/main" id="{1623B8E6-CF08-4AFB-BAD9-5F7E77D0E7F6}"/>
              </a:ext>
            </a:extLst>
          </p:cNvPr>
          <p:cNvSpPr/>
          <p:nvPr/>
        </p:nvSpPr>
        <p:spPr>
          <a:xfrm>
            <a:off x="2784698" y="3944364"/>
            <a:ext cx="5654351" cy="2123658"/>
          </a:xfrm>
          <a:prstGeom prst="rect">
            <a:avLst/>
          </a:prstGeom>
        </p:spPr>
        <p:txBody>
          <a:bodyPr wrap="square">
            <a:spAutoFit/>
          </a:bodyPr>
          <a:lstStyle/>
          <a:p>
            <a:pPr marL="342900" indent="-342900">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原因：价格以外的其他因素变动引起</a:t>
            </a:r>
          </a:p>
          <a:p>
            <a:pPr marL="342900" indent="-342900">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形式：供给曲线的移动</a:t>
            </a:r>
          </a:p>
          <a:p>
            <a:pPr marL="342900" indent="-342900">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示例：</a:t>
            </a:r>
            <a:endParaRPr lang="en-US" altLang="zh-CN" sz="2000" spc="150" dirty="0">
              <a:solidFill>
                <a:srgbClr val="000000"/>
              </a:solidFill>
              <a:latin typeface="微软雅黑" panose="020B0503020204020204" pitchFamily="34" charset="-122"/>
              <a:ea typeface="微软雅黑" panose="020B0503020204020204" pitchFamily="34" charset="-122"/>
            </a:endParaRPr>
          </a:p>
          <a:p>
            <a:pPr marL="800100" lvl="1" indent="-342900">
              <a:spcBef>
                <a:spcPct val="40000"/>
              </a:spcBef>
              <a:buFont typeface="Arial" panose="020B0604020202020204" pitchFamily="34" charset="0"/>
              <a:buChar char="•"/>
            </a:pPr>
            <a:r>
              <a:rPr lang="zh-CN" altLang="en-US" sz="2000" spc="150" dirty="0">
                <a:solidFill>
                  <a:srgbClr val="009999"/>
                </a:solidFill>
                <a:latin typeface="微软雅黑" panose="020B0503020204020204" pitchFamily="34" charset="-122"/>
                <a:ea typeface="微软雅黑" panose="020B0503020204020204" pitchFamily="34" charset="-122"/>
                <a:hlinkClick r:id="rId2" action="ppaction://hlinksldjump">
                  <a:extLst>
                    <a:ext uri="{A12FA001-AC4F-418D-AE19-62706E023703}">
                      <ahyp:hlinkClr xmlns:ahyp="http://schemas.microsoft.com/office/drawing/2018/hyperlinkcolor" val="tx"/>
                    </a:ext>
                  </a:extLst>
                </a:hlinkClick>
              </a:rPr>
              <a:t>供给增加</a:t>
            </a:r>
            <a:r>
              <a:rPr lang="en-US" altLang="zh-CN" sz="2000" spc="150" dirty="0">
                <a:solidFill>
                  <a:srgbClr val="009999"/>
                </a:solidFill>
                <a:latin typeface="微软雅黑" panose="020B0503020204020204" pitchFamily="34" charset="-122"/>
                <a:ea typeface="微软雅黑" panose="020B0503020204020204" pitchFamily="34" charset="-122"/>
                <a:hlinkClick r:id="rId2" action="ppaction://hlinksldjump">
                  <a:extLst>
                    <a:ext uri="{A12FA001-AC4F-418D-AE19-62706E023703}">
                      <ahyp:hlinkClr xmlns:ahyp="http://schemas.microsoft.com/office/drawing/2018/hyperlinkcolor" val="tx"/>
                    </a:ext>
                  </a:extLst>
                </a:hlinkClick>
              </a:rPr>
              <a:t>——S1</a:t>
            </a:r>
            <a:r>
              <a:rPr lang="zh-CN" altLang="en-US" sz="2000" spc="150" dirty="0">
                <a:solidFill>
                  <a:srgbClr val="009999"/>
                </a:solidFill>
                <a:latin typeface="微软雅黑" panose="020B0503020204020204" pitchFamily="34" charset="-122"/>
                <a:ea typeface="微软雅黑" panose="020B0503020204020204" pitchFamily="34" charset="-122"/>
                <a:hlinkClick r:id="rId2" action="ppaction://hlinksldjump">
                  <a:extLst>
                    <a:ext uri="{A12FA001-AC4F-418D-AE19-62706E023703}">
                      <ahyp:hlinkClr xmlns:ahyp="http://schemas.microsoft.com/office/drawing/2018/hyperlinkcolor" val="tx"/>
                    </a:ext>
                  </a:extLst>
                </a:hlinkClick>
              </a:rPr>
              <a:t>到</a:t>
            </a:r>
            <a:r>
              <a:rPr lang="en-US" altLang="zh-CN" sz="2000" spc="150" dirty="0">
                <a:solidFill>
                  <a:srgbClr val="009999"/>
                </a:solidFill>
                <a:latin typeface="微软雅黑" panose="020B0503020204020204" pitchFamily="34" charset="-122"/>
                <a:ea typeface="微软雅黑" panose="020B0503020204020204" pitchFamily="34" charset="-122"/>
                <a:hlinkClick r:id="rId2" action="ppaction://hlinksldjump">
                  <a:extLst>
                    <a:ext uri="{A12FA001-AC4F-418D-AE19-62706E023703}">
                      <ahyp:hlinkClr xmlns:ahyp="http://schemas.microsoft.com/office/drawing/2018/hyperlinkcolor" val="tx"/>
                    </a:ext>
                  </a:extLst>
                </a:hlinkClick>
              </a:rPr>
              <a:t>S2</a:t>
            </a:r>
            <a:endParaRPr lang="en-US" altLang="zh-CN" sz="2000" spc="150" dirty="0">
              <a:solidFill>
                <a:srgbClr val="009999"/>
              </a:solidFill>
              <a:latin typeface="微软雅黑" panose="020B0503020204020204" pitchFamily="34" charset="-122"/>
              <a:ea typeface="微软雅黑" panose="020B0503020204020204" pitchFamily="34" charset="-122"/>
              <a:hlinkClick r:id="rId3" action="ppaction://hlinksldjump">
                <a:extLst>
                  <a:ext uri="{A12FA001-AC4F-418D-AE19-62706E023703}">
                    <ahyp:hlinkClr xmlns:ahyp="http://schemas.microsoft.com/office/drawing/2018/hyperlinkcolor" val="tx"/>
                  </a:ext>
                </a:extLst>
              </a:hlinkClick>
            </a:endParaRPr>
          </a:p>
          <a:p>
            <a:pPr marL="800100" lvl="1" indent="-342900">
              <a:spcBef>
                <a:spcPct val="40000"/>
              </a:spcBef>
              <a:buFont typeface="Arial" panose="020B0604020202020204" pitchFamily="34" charset="0"/>
              <a:buChar char="•"/>
            </a:pPr>
            <a:r>
              <a:rPr lang="zh-CN" altLang="en-US" sz="2000" spc="150" dirty="0">
                <a:solidFill>
                  <a:srgbClr val="009999"/>
                </a:solidFill>
                <a:latin typeface="微软雅黑" panose="020B0503020204020204" pitchFamily="34" charset="-122"/>
                <a:ea typeface="微软雅黑" panose="020B0503020204020204" pitchFamily="34" charset="-122"/>
                <a:hlinkClick r:id="rId2" action="ppaction://hlinksldjump"/>
              </a:rPr>
              <a:t>供给减少</a:t>
            </a:r>
            <a:r>
              <a:rPr lang="en-US" altLang="zh-CN" sz="2000" spc="150" dirty="0">
                <a:solidFill>
                  <a:srgbClr val="009999"/>
                </a:solidFill>
                <a:latin typeface="微软雅黑" panose="020B0503020204020204" pitchFamily="34" charset="-122"/>
                <a:ea typeface="微软雅黑" panose="020B0503020204020204" pitchFamily="34" charset="-122"/>
                <a:hlinkClick r:id="rId2" action="ppaction://hlinksldjump"/>
              </a:rPr>
              <a:t>——S1</a:t>
            </a:r>
            <a:r>
              <a:rPr lang="zh-CN" altLang="en-US" sz="2000" spc="150" dirty="0">
                <a:solidFill>
                  <a:srgbClr val="009999"/>
                </a:solidFill>
                <a:latin typeface="微软雅黑" panose="020B0503020204020204" pitchFamily="34" charset="-122"/>
                <a:ea typeface="微软雅黑" panose="020B0503020204020204" pitchFamily="34" charset="-122"/>
                <a:hlinkClick r:id="rId2" action="ppaction://hlinksldjump"/>
              </a:rPr>
              <a:t>到</a:t>
            </a:r>
            <a:r>
              <a:rPr lang="en-US" altLang="zh-CN" sz="2000" spc="150" dirty="0">
                <a:solidFill>
                  <a:srgbClr val="009999"/>
                </a:solidFill>
                <a:latin typeface="微软雅黑" panose="020B0503020204020204" pitchFamily="34" charset="-122"/>
                <a:ea typeface="微软雅黑" panose="020B0503020204020204" pitchFamily="34" charset="-122"/>
                <a:hlinkClick r:id="rId2" action="ppaction://hlinksldjump"/>
              </a:rPr>
              <a:t>S3 </a:t>
            </a:r>
            <a:endParaRPr lang="en-US" altLang="zh-CN" sz="2000" spc="150" dirty="0">
              <a:solidFill>
                <a:srgbClr val="009999"/>
              </a:solidFill>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99A861F3-1BF5-4FA4-A7CE-A93F6E99B7C4}"/>
              </a:ext>
            </a:extLst>
          </p:cNvPr>
          <p:cNvSpPr/>
          <p:nvPr/>
        </p:nvSpPr>
        <p:spPr>
          <a:xfrm>
            <a:off x="7455320" y="0"/>
            <a:ext cx="1523174"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第二节 供给</a:t>
            </a:r>
          </a:p>
        </p:txBody>
      </p:sp>
      <p:sp>
        <p:nvSpPr>
          <p:cNvPr id="14" name="矩形 13">
            <a:extLst>
              <a:ext uri="{FF2B5EF4-FFF2-40B4-BE49-F238E27FC236}">
                <a16:creationId xmlns:a16="http://schemas.microsoft.com/office/drawing/2014/main" id="{F68E5273-CD77-47B9-B841-9D29349C133D}"/>
              </a:ext>
            </a:extLst>
          </p:cNvPr>
          <p:cNvSpPr/>
          <p:nvPr/>
        </p:nvSpPr>
        <p:spPr>
          <a:xfrm>
            <a:off x="467544" y="554866"/>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四、供给量的变动与供给的变动</a:t>
            </a:r>
          </a:p>
        </p:txBody>
      </p:sp>
    </p:spTree>
    <p:extLst>
      <p:ext uri="{BB962C8B-B14F-4D97-AF65-F5344CB8AC3E}">
        <p14:creationId xmlns:p14="http://schemas.microsoft.com/office/powerpoint/2010/main" val="3516720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down)">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8">
                                            <p:txEl>
                                              <p:pRg st="0" end="0"/>
                                            </p:txEl>
                                          </p:spTgt>
                                        </p:tgtEl>
                                        <p:attrNameLst>
                                          <p:attrName>style.visibility</p:attrName>
                                        </p:attrNameLst>
                                      </p:cBhvr>
                                      <p:to>
                                        <p:strVal val="visible"/>
                                      </p:to>
                                    </p:set>
                                    <p:animEffect transition="in" filter="wipe(left)">
                                      <p:cBhvr>
                                        <p:cTn id="29" dur="500"/>
                                        <p:tgtEl>
                                          <p:spTgt spid="8">
                                            <p:txEl>
                                              <p:pRg st="0" end="0"/>
                                            </p:txEl>
                                          </p:spTgt>
                                        </p:tgtEl>
                                      </p:cBhvr>
                                    </p:animEffect>
                                  </p:childTnLst>
                                </p:cTn>
                              </p:par>
                              <p:par>
                                <p:cTn id="30" presetID="22" presetClass="entr" presetSubtype="8" fill="hold" nodeType="withEffect">
                                  <p:stCondLst>
                                    <p:cond delay="0"/>
                                  </p:stCondLst>
                                  <p:childTnLst>
                                    <p:set>
                                      <p:cBhvr>
                                        <p:cTn id="31" dur="1" fill="hold">
                                          <p:stCondLst>
                                            <p:cond delay="0"/>
                                          </p:stCondLst>
                                        </p:cTn>
                                        <p:tgtEl>
                                          <p:spTgt spid="8">
                                            <p:txEl>
                                              <p:pRg st="1" end="1"/>
                                            </p:txEl>
                                          </p:spTgt>
                                        </p:tgtEl>
                                        <p:attrNameLst>
                                          <p:attrName>style.visibility</p:attrName>
                                        </p:attrNameLst>
                                      </p:cBhvr>
                                      <p:to>
                                        <p:strVal val="visible"/>
                                      </p:to>
                                    </p:set>
                                    <p:animEffect transition="in" filter="wipe(left)">
                                      <p:cBhvr>
                                        <p:cTn id="32" dur="500"/>
                                        <p:tgtEl>
                                          <p:spTgt spid="8">
                                            <p:txEl>
                                              <p:pRg st="1" end="1"/>
                                            </p:txEl>
                                          </p:spTgt>
                                        </p:tgtEl>
                                      </p:cBhvr>
                                    </p:animEffect>
                                  </p:childTnLst>
                                </p:cTn>
                              </p:par>
                              <p:par>
                                <p:cTn id="33" presetID="22" presetClass="entr" presetSubtype="8" fill="hold" nodeType="withEffect">
                                  <p:stCondLst>
                                    <p:cond delay="0"/>
                                  </p:stCondLst>
                                  <p:childTnLst>
                                    <p:set>
                                      <p:cBhvr>
                                        <p:cTn id="34" dur="1" fill="hold">
                                          <p:stCondLst>
                                            <p:cond delay="0"/>
                                          </p:stCondLst>
                                        </p:cTn>
                                        <p:tgtEl>
                                          <p:spTgt spid="8">
                                            <p:txEl>
                                              <p:pRg st="2" end="2"/>
                                            </p:txEl>
                                          </p:spTgt>
                                        </p:tgtEl>
                                        <p:attrNameLst>
                                          <p:attrName>style.visibility</p:attrName>
                                        </p:attrNameLst>
                                      </p:cBhvr>
                                      <p:to>
                                        <p:strVal val="visible"/>
                                      </p:to>
                                    </p:set>
                                    <p:animEffect transition="in" filter="wipe(left)">
                                      <p:cBhvr>
                                        <p:cTn id="35" dur="500"/>
                                        <p:tgtEl>
                                          <p:spTgt spid="8">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2">
                                            <p:txEl>
                                              <p:pRg st="0" end="0"/>
                                            </p:txEl>
                                          </p:spTgt>
                                        </p:tgtEl>
                                        <p:attrNameLst>
                                          <p:attrName>style.visibility</p:attrName>
                                        </p:attrNameLst>
                                      </p:cBhvr>
                                      <p:to>
                                        <p:strVal val="visible"/>
                                      </p:to>
                                    </p:set>
                                    <p:animEffect transition="in" filter="wipe(left)">
                                      <p:cBhvr>
                                        <p:cTn id="45" dur="500"/>
                                        <p:tgtEl>
                                          <p:spTgt spid="12">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2">
                                            <p:txEl>
                                              <p:pRg st="1" end="1"/>
                                            </p:txEl>
                                          </p:spTgt>
                                        </p:tgtEl>
                                        <p:attrNameLst>
                                          <p:attrName>style.visibility</p:attrName>
                                        </p:attrNameLst>
                                      </p:cBhvr>
                                      <p:to>
                                        <p:strVal val="visible"/>
                                      </p:to>
                                    </p:set>
                                    <p:animEffect transition="in" filter="wipe(left)">
                                      <p:cBhvr>
                                        <p:cTn id="50" dur="500"/>
                                        <p:tgtEl>
                                          <p:spTgt spid="12">
                                            <p:txEl>
                                              <p:pRg st="1" end="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2">
                                            <p:txEl>
                                              <p:pRg st="2" end="2"/>
                                            </p:txEl>
                                          </p:spTgt>
                                        </p:tgtEl>
                                        <p:attrNameLst>
                                          <p:attrName>style.visibility</p:attrName>
                                        </p:attrNameLst>
                                      </p:cBhvr>
                                      <p:to>
                                        <p:strVal val="visible"/>
                                      </p:to>
                                    </p:set>
                                    <p:animEffect transition="in" filter="wipe(left)">
                                      <p:cBhvr>
                                        <p:cTn id="55" dur="500"/>
                                        <p:tgtEl>
                                          <p:spTgt spid="12">
                                            <p:txEl>
                                              <p:pRg st="2" end="2"/>
                                            </p:txEl>
                                          </p:spTgt>
                                        </p:tgtEl>
                                      </p:cBhvr>
                                    </p:animEffect>
                                  </p:childTnLst>
                                </p:cTn>
                              </p:par>
                              <p:par>
                                <p:cTn id="56" presetID="22" presetClass="entr" presetSubtype="8" fill="hold" nodeType="withEffect">
                                  <p:stCondLst>
                                    <p:cond delay="0"/>
                                  </p:stCondLst>
                                  <p:childTnLst>
                                    <p:set>
                                      <p:cBhvr>
                                        <p:cTn id="57" dur="1" fill="hold">
                                          <p:stCondLst>
                                            <p:cond delay="0"/>
                                          </p:stCondLst>
                                        </p:cTn>
                                        <p:tgtEl>
                                          <p:spTgt spid="12">
                                            <p:txEl>
                                              <p:pRg st="3" end="3"/>
                                            </p:txEl>
                                          </p:spTgt>
                                        </p:tgtEl>
                                        <p:attrNameLst>
                                          <p:attrName>style.visibility</p:attrName>
                                        </p:attrNameLst>
                                      </p:cBhvr>
                                      <p:to>
                                        <p:strVal val="visible"/>
                                      </p:to>
                                    </p:set>
                                    <p:animEffect transition="in" filter="wipe(left)">
                                      <p:cBhvr>
                                        <p:cTn id="58" dur="500"/>
                                        <p:tgtEl>
                                          <p:spTgt spid="12">
                                            <p:txEl>
                                              <p:pRg st="3" end="3"/>
                                            </p:txEl>
                                          </p:spTgt>
                                        </p:tgtEl>
                                      </p:cBhvr>
                                    </p:animEffect>
                                  </p:childTnLst>
                                </p:cTn>
                              </p:par>
                              <p:par>
                                <p:cTn id="59" presetID="22" presetClass="entr" presetSubtype="8" fill="hold" nodeType="withEffect">
                                  <p:stCondLst>
                                    <p:cond delay="0"/>
                                  </p:stCondLst>
                                  <p:childTnLst>
                                    <p:set>
                                      <p:cBhvr>
                                        <p:cTn id="60" dur="1" fill="hold">
                                          <p:stCondLst>
                                            <p:cond delay="0"/>
                                          </p:stCondLst>
                                        </p:cTn>
                                        <p:tgtEl>
                                          <p:spTgt spid="12">
                                            <p:txEl>
                                              <p:pRg st="4" end="4"/>
                                            </p:txEl>
                                          </p:spTgt>
                                        </p:tgtEl>
                                        <p:attrNameLst>
                                          <p:attrName>style.visibility</p:attrName>
                                        </p:attrNameLst>
                                      </p:cBhvr>
                                      <p:to>
                                        <p:strVal val="visible"/>
                                      </p:to>
                                    </p:set>
                                    <p:animEffect transition="in" filter="wipe(left)">
                                      <p:cBhvr>
                                        <p:cTn id="61" dur="50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 grpId="0" animBg="1"/>
      <p:bldP spid="9" grpId="0" animBg="1"/>
      <p:bldP spid="19" grpId="0" animBg="1"/>
      <p:bldP spid="1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2" name="组合 41"/>
          <p:cNvGrpSpPr>
            <a:grpSpLocks/>
          </p:cNvGrpSpPr>
          <p:nvPr/>
        </p:nvGrpSpPr>
        <p:grpSpPr bwMode="auto">
          <a:xfrm>
            <a:off x="2124075" y="3717181"/>
            <a:ext cx="2487613" cy="1824037"/>
            <a:chOff x="0" y="0"/>
            <a:chExt cx="2488021" cy="1824686"/>
          </a:xfrm>
        </p:grpSpPr>
        <p:graphicFrame>
          <p:nvGraphicFramePr>
            <p:cNvPr id="30757" name="Object 3"/>
            <p:cNvGraphicFramePr>
              <a:graphicFrameLocks noChangeAspect="1"/>
            </p:cNvGraphicFramePr>
            <p:nvPr/>
          </p:nvGraphicFramePr>
          <p:xfrm>
            <a:off x="0" y="149022"/>
            <a:ext cx="302651" cy="334469"/>
          </p:xfrm>
          <a:graphic>
            <a:graphicData uri="http://schemas.openxmlformats.org/presentationml/2006/ole">
              <mc:AlternateContent xmlns:mc="http://schemas.openxmlformats.org/markup-compatibility/2006">
                <mc:Choice xmlns:v="urn:schemas-microsoft-com:vml" Requires="v">
                  <p:oleObj spid="_x0000_s179073" r:id="rId3" imgW="165820" imgH="229597" progId="">
                    <p:embed/>
                  </p:oleObj>
                </mc:Choice>
                <mc:Fallback>
                  <p:oleObj r:id="rId3" imgW="165820" imgH="229597"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49022"/>
                          <a:ext cx="302651" cy="334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0758" name="组合 40"/>
            <p:cNvGrpSpPr>
              <a:grpSpLocks/>
            </p:cNvGrpSpPr>
            <p:nvPr/>
          </p:nvGrpSpPr>
          <p:grpSpPr bwMode="auto">
            <a:xfrm>
              <a:off x="357231" y="0"/>
              <a:ext cx="2130790" cy="1824686"/>
              <a:chOff x="0" y="0"/>
              <a:chExt cx="2130790" cy="1824686"/>
            </a:xfrm>
          </p:grpSpPr>
          <p:cxnSp>
            <p:nvCxnSpPr>
              <p:cNvPr id="30759" name="直接连接符 28"/>
              <p:cNvCxnSpPr>
                <a:cxnSpLocks noChangeShapeType="1"/>
              </p:cNvCxnSpPr>
              <p:nvPr/>
            </p:nvCxnSpPr>
            <p:spPr bwMode="auto">
              <a:xfrm>
                <a:off x="16" y="360491"/>
                <a:ext cx="1878320"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0760" name="直接连接符 30"/>
              <p:cNvCxnSpPr>
                <a:cxnSpLocks noChangeShapeType="1"/>
              </p:cNvCxnSpPr>
              <p:nvPr/>
            </p:nvCxnSpPr>
            <p:spPr bwMode="auto">
              <a:xfrm rot="5400000">
                <a:off x="1404284" y="883752"/>
                <a:ext cx="1048122"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0761" name="Object 7"/>
              <p:cNvGraphicFramePr>
                <a:graphicFrameLocks noChangeAspect="1"/>
              </p:cNvGraphicFramePr>
              <p:nvPr/>
            </p:nvGraphicFramePr>
            <p:xfrm>
              <a:off x="1615238" y="0"/>
              <a:ext cx="279692" cy="240088"/>
            </p:xfrm>
            <a:graphic>
              <a:graphicData uri="http://schemas.openxmlformats.org/presentationml/2006/ole">
                <mc:AlternateContent xmlns:mc="http://schemas.openxmlformats.org/markup-compatibility/2006">
                  <mc:Choice xmlns:v="urn:schemas-microsoft-com:vml" Requires="v">
                    <p:oleObj spid="_x0000_s179074" r:id="rId5" imgW="153332" imgH="166109" progId="">
                      <p:embed/>
                    </p:oleObj>
                  </mc:Choice>
                  <mc:Fallback>
                    <p:oleObj r:id="rId5" imgW="153332" imgH="166109" progId="">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5238" y="0"/>
                            <a:ext cx="279692" cy="2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62" name="Object 8"/>
              <p:cNvGraphicFramePr>
                <a:graphicFrameLocks noChangeAspect="1"/>
              </p:cNvGraphicFramePr>
              <p:nvPr/>
            </p:nvGraphicFramePr>
            <p:xfrm>
              <a:off x="1709165" y="1490217"/>
              <a:ext cx="421625" cy="334469"/>
            </p:xfrm>
            <a:graphic>
              <a:graphicData uri="http://schemas.openxmlformats.org/presentationml/2006/ole">
                <mc:AlternateContent xmlns:mc="http://schemas.openxmlformats.org/markup-compatibility/2006">
                  <mc:Choice xmlns:v="urn:schemas-microsoft-com:vml" Requires="v">
                    <p:oleObj spid="_x0000_s179075" r:id="rId7" imgW="229797" imgH="229797" progId="">
                      <p:embed/>
                    </p:oleObj>
                  </mc:Choice>
                  <mc:Fallback>
                    <p:oleObj r:id="rId7" imgW="229797" imgH="229797" progId="">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09165" y="1490217"/>
                            <a:ext cx="421625" cy="334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25609" name="组合 55"/>
          <p:cNvGrpSpPr>
            <a:grpSpLocks/>
          </p:cNvGrpSpPr>
          <p:nvPr/>
        </p:nvGrpSpPr>
        <p:grpSpPr bwMode="auto">
          <a:xfrm>
            <a:off x="4716463" y="2132856"/>
            <a:ext cx="1828800" cy="3463925"/>
            <a:chOff x="0" y="0"/>
            <a:chExt cx="1828181" cy="3463925"/>
          </a:xfrm>
        </p:grpSpPr>
        <p:grpSp>
          <p:nvGrpSpPr>
            <p:cNvPr id="30748" name="组合 44"/>
            <p:cNvGrpSpPr>
              <a:grpSpLocks/>
            </p:cNvGrpSpPr>
            <p:nvPr/>
          </p:nvGrpSpPr>
          <p:grpSpPr bwMode="auto">
            <a:xfrm>
              <a:off x="0" y="500062"/>
              <a:ext cx="1481137" cy="2963863"/>
              <a:chOff x="0" y="0"/>
              <a:chExt cx="1481137" cy="2963863"/>
            </a:xfrm>
          </p:grpSpPr>
          <p:grpSp>
            <p:nvGrpSpPr>
              <p:cNvPr id="30750" name="组合 43"/>
              <p:cNvGrpSpPr>
                <a:grpSpLocks/>
              </p:cNvGrpSpPr>
              <p:nvPr/>
            </p:nvGrpSpPr>
            <p:grpSpPr bwMode="auto">
              <a:xfrm>
                <a:off x="0" y="0"/>
                <a:ext cx="1481137" cy="2554288"/>
                <a:chOff x="0" y="0"/>
                <a:chExt cx="1481137" cy="2554288"/>
              </a:xfrm>
            </p:grpSpPr>
            <p:cxnSp>
              <p:nvCxnSpPr>
                <p:cNvPr id="30752" name="直接连接符 13"/>
                <p:cNvCxnSpPr>
                  <a:cxnSpLocks noChangeShapeType="1"/>
                </p:cNvCxnSpPr>
                <p:nvPr/>
              </p:nvCxnSpPr>
              <p:spPr bwMode="auto">
                <a:xfrm rot="5400000" flipH="1" flipV="1">
                  <a:off x="-144741" y="311372"/>
                  <a:ext cx="1936750" cy="1314006"/>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pSp>
              <p:nvGrpSpPr>
                <p:cNvPr id="30753" name="组合 42"/>
                <p:cNvGrpSpPr>
                  <a:grpSpLocks/>
                </p:cNvGrpSpPr>
                <p:nvPr/>
              </p:nvGrpSpPr>
              <p:grpSpPr bwMode="auto">
                <a:xfrm>
                  <a:off x="0" y="841134"/>
                  <a:ext cx="1312626" cy="1713154"/>
                  <a:chOff x="0" y="0"/>
                  <a:chExt cx="1312626" cy="1713154"/>
                </a:xfrm>
              </p:grpSpPr>
              <p:cxnSp>
                <p:nvCxnSpPr>
                  <p:cNvPr id="30754" name="直接连接符 25"/>
                  <p:cNvCxnSpPr>
                    <a:cxnSpLocks noChangeShapeType="1"/>
                  </p:cNvCxnSpPr>
                  <p:nvPr/>
                </p:nvCxnSpPr>
                <p:spPr bwMode="auto">
                  <a:xfrm rot="5400000">
                    <a:off x="26702" y="892417"/>
                    <a:ext cx="1638300" cy="3174"/>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0755" name="直接连接符 47"/>
                  <p:cNvCxnSpPr>
                    <a:cxnSpLocks noChangeShapeType="1"/>
                  </p:cNvCxnSpPr>
                  <p:nvPr/>
                </p:nvCxnSpPr>
                <p:spPr bwMode="auto">
                  <a:xfrm>
                    <a:off x="0" y="74854"/>
                    <a:ext cx="844264"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0756" name="Object 16"/>
                  <p:cNvGraphicFramePr>
                    <a:graphicFrameLocks noChangeAspect="1"/>
                  </p:cNvGraphicFramePr>
                  <p:nvPr/>
                </p:nvGraphicFramePr>
                <p:xfrm>
                  <a:off x="1032934" y="0"/>
                  <a:ext cx="279692" cy="258303"/>
                </p:xfrm>
                <a:graphic>
                  <a:graphicData uri="http://schemas.openxmlformats.org/presentationml/2006/ole">
                    <mc:AlternateContent xmlns:mc="http://schemas.openxmlformats.org/markup-compatibility/2006">
                      <mc:Choice xmlns:v="urn:schemas-microsoft-com:vml" Requires="v">
                        <p:oleObj spid="_x0000_s179076" r:id="rId9" imgW="153198" imgH="178731" progId="">
                          <p:embed/>
                        </p:oleObj>
                      </mc:Choice>
                      <mc:Fallback>
                        <p:oleObj r:id="rId9" imgW="153198" imgH="178731" progId="">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32934" y="0"/>
                                <a:ext cx="279692" cy="258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aphicFrame>
            <p:nvGraphicFramePr>
              <p:cNvPr id="30751" name="Object 17"/>
              <p:cNvGraphicFramePr>
                <a:graphicFrameLocks noChangeAspect="1"/>
              </p:cNvGraphicFramePr>
              <p:nvPr/>
            </p:nvGraphicFramePr>
            <p:xfrm>
              <a:off x="751152" y="2629394"/>
              <a:ext cx="421625" cy="334469"/>
            </p:xfrm>
            <a:graphic>
              <a:graphicData uri="http://schemas.openxmlformats.org/presentationml/2006/ole">
                <mc:AlternateContent xmlns:mc="http://schemas.openxmlformats.org/markup-compatibility/2006">
                  <mc:Choice xmlns:v="urn:schemas-microsoft-com:vml" Requires="v">
                    <p:oleObj spid="_x0000_s179077" r:id="rId11" imgW="229797" imgH="229797" progId="">
                      <p:embed/>
                    </p:oleObj>
                  </mc:Choice>
                  <mc:Fallback>
                    <p:oleObj r:id="rId11" imgW="229797" imgH="229797" progId="">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1152" y="2629394"/>
                            <a:ext cx="421625" cy="334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0749" name="Object 18"/>
            <p:cNvGraphicFramePr>
              <a:graphicFrameLocks noChangeAspect="1"/>
            </p:cNvGraphicFramePr>
            <p:nvPr/>
          </p:nvGraphicFramePr>
          <p:xfrm>
            <a:off x="1502569" y="0"/>
            <a:ext cx="325612" cy="334469"/>
          </p:xfrm>
          <a:graphic>
            <a:graphicData uri="http://schemas.openxmlformats.org/presentationml/2006/ole">
              <mc:AlternateContent xmlns:mc="http://schemas.openxmlformats.org/markup-compatibility/2006">
                <mc:Choice xmlns:v="urn:schemas-microsoft-com:vml" Requires="v">
                  <p:oleObj spid="_x0000_s179078" r:id="rId13" imgW="178497" imgH="229496" progId="">
                    <p:embed/>
                  </p:oleObj>
                </mc:Choice>
                <mc:Fallback>
                  <p:oleObj r:id="rId13" imgW="178497" imgH="229496" progId="">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02569" y="0"/>
                          <a:ext cx="325612" cy="334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5619" name="组合 66"/>
          <p:cNvGrpSpPr>
            <a:grpSpLocks/>
          </p:cNvGrpSpPr>
          <p:nvPr/>
        </p:nvGrpSpPr>
        <p:grpSpPr bwMode="auto">
          <a:xfrm>
            <a:off x="2051050" y="2132856"/>
            <a:ext cx="5073650" cy="3463925"/>
            <a:chOff x="0" y="0"/>
            <a:chExt cx="5072063" cy="3463925"/>
          </a:xfrm>
        </p:grpSpPr>
        <p:graphicFrame>
          <p:nvGraphicFramePr>
            <p:cNvPr id="30732" name="Object 20"/>
            <p:cNvGraphicFramePr>
              <a:graphicFrameLocks noChangeAspect="1"/>
            </p:cNvGraphicFramePr>
            <p:nvPr/>
          </p:nvGraphicFramePr>
          <p:xfrm>
            <a:off x="2348177" y="1117663"/>
            <a:ext cx="279692" cy="240089"/>
          </p:xfrm>
          <a:graphic>
            <a:graphicData uri="http://schemas.openxmlformats.org/presentationml/2006/ole">
              <mc:AlternateContent xmlns:mc="http://schemas.openxmlformats.org/markup-compatibility/2006">
                <mc:Choice xmlns:v="urn:schemas-microsoft-com:vml" Requires="v">
                  <p:oleObj spid="_x0000_s179079" r:id="rId15" imgW="153332" imgH="166109" progId="">
                    <p:embed/>
                  </p:oleObj>
                </mc:Choice>
                <mc:Fallback>
                  <p:oleObj r:id="rId15" imgW="153332" imgH="166109" progId="">
                    <p:embed/>
                    <p:pic>
                      <p:nvPicPr>
                        <p:cNvPr id="0" name="Object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48177" y="1117663"/>
                          <a:ext cx="279692" cy="240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0733" name="组合 56"/>
            <p:cNvGrpSpPr>
              <a:grpSpLocks/>
            </p:cNvGrpSpPr>
            <p:nvPr/>
          </p:nvGrpSpPr>
          <p:grpSpPr bwMode="auto">
            <a:xfrm>
              <a:off x="0" y="0"/>
              <a:ext cx="5072063" cy="3463925"/>
              <a:chOff x="0" y="0"/>
              <a:chExt cx="5072063" cy="3463925"/>
            </a:xfrm>
          </p:grpSpPr>
          <p:grpSp>
            <p:nvGrpSpPr>
              <p:cNvPr id="30734" name="组合 39"/>
              <p:cNvGrpSpPr>
                <a:grpSpLocks/>
              </p:cNvGrpSpPr>
              <p:nvPr/>
            </p:nvGrpSpPr>
            <p:grpSpPr bwMode="auto">
              <a:xfrm>
                <a:off x="0" y="74511"/>
                <a:ext cx="5072063" cy="3389414"/>
                <a:chOff x="0" y="0"/>
                <a:chExt cx="5072063" cy="3389414"/>
              </a:xfrm>
            </p:grpSpPr>
            <p:grpSp>
              <p:nvGrpSpPr>
                <p:cNvPr id="30736" name="组合 38"/>
                <p:cNvGrpSpPr>
                  <a:grpSpLocks/>
                </p:cNvGrpSpPr>
                <p:nvPr/>
              </p:nvGrpSpPr>
              <p:grpSpPr bwMode="auto">
                <a:xfrm>
                  <a:off x="0" y="0"/>
                  <a:ext cx="5072063" cy="3351330"/>
                  <a:chOff x="0" y="0"/>
                  <a:chExt cx="5072063" cy="3351330"/>
                </a:xfrm>
              </p:grpSpPr>
              <p:cxnSp>
                <p:nvCxnSpPr>
                  <p:cNvPr id="30738" name="直接连接符 23"/>
                  <p:cNvCxnSpPr>
                    <a:cxnSpLocks noChangeShapeType="1"/>
                  </p:cNvCxnSpPr>
                  <p:nvPr/>
                </p:nvCxnSpPr>
                <p:spPr bwMode="auto">
                  <a:xfrm rot="5400000">
                    <a:off x="1843875" y="2161477"/>
                    <a:ext cx="1639887" cy="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0739" name="直接连接符 15"/>
                  <p:cNvCxnSpPr>
                    <a:cxnSpLocks noChangeShapeType="1"/>
                  </p:cNvCxnSpPr>
                  <p:nvPr/>
                </p:nvCxnSpPr>
                <p:spPr bwMode="auto">
                  <a:xfrm>
                    <a:off x="376238" y="1341539"/>
                    <a:ext cx="1314450"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0740" name="直接连接符 45"/>
                  <p:cNvCxnSpPr>
                    <a:cxnSpLocks noChangeShapeType="1"/>
                  </p:cNvCxnSpPr>
                  <p:nvPr/>
                </p:nvCxnSpPr>
                <p:spPr bwMode="auto">
                  <a:xfrm>
                    <a:off x="1690688" y="1341539"/>
                    <a:ext cx="939800"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0741" name="直接箭头连接符 5"/>
                  <p:cNvCxnSpPr>
                    <a:cxnSpLocks noChangeShapeType="1"/>
                  </p:cNvCxnSpPr>
                  <p:nvPr/>
                </p:nvCxnSpPr>
                <p:spPr bwMode="auto">
                  <a:xfrm>
                    <a:off x="376238" y="2979839"/>
                    <a:ext cx="4695825"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30742" name="直接箭头连接符 7"/>
                  <p:cNvCxnSpPr>
                    <a:cxnSpLocks noChangeShapeType="1"/>
                  </p:cNvCxnSpPr>
                  <p:nvPr/>
                </p:nvCxnSpPr>
                <p:spPr bwMode="auto">
                  <a:xfrm rot="5400000" flipH="1" flipV="1">
                    <a:off x="-1112837" y="1489170"/>
                    <a:ext cx="2979738"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30743" name="直接连接符 12"/>
                  <p:cNvCxnSpPr>
                    <a:cxnSpLocks noChangeShapeType="1"/>
                  </p:cNvCxnSpPr>
                  <p:nvPr/>
                </p:nvCxnSpPr>
                <p:spPr bwMode="auto">
                  <a:xfrm rot="5400000" flipH="1" flipV="1">
                    <a:off x="1755775" y="609701"/>
                    <a:ext cx="1936750" cy="1314450"/>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aphicFrame>
                <p:nvGraphicFramePr>
                  <p:cNvPr id="30744" name="Object 30"/>
                  <p:cNvGraphicFramePr>
                    <a:graphicFrameLocks noChangeAspect="1"/>
                  </p:cNvGraphicFramePr>
                  <p:nvPr/>
                </p:nvGraphicFramePr>
                <p:xfrm>
                  <a:off x="0" y="0"/>
                  <a:ext cx="279692" cy="240088"/>
                </p:xfrm>
                <a:graphic>
                  <a:graphicData uri="http://schemas.openxmlformats.org/presentationml/2006/ole">
                    <mc:AlternateContent xmlns:mc="http://schemas.openxmlformats.org/markup-compatibility/2006">
                      <mc:Choice xmlns:v="urn:schemas-microsoft-com:vml" Requires="v">
                        <p:oleObj spid="_x0000_s179080" r:id="rId17" imgW="153332" imgH="166109" progId="">
                          <p:embed/>
                        </p:oleObj>
                      </mc:Choice>
                      <mc:Fallback>
                        <p:oleObj r:id="rId17" imgW="153332" imgH="166109" progId="">
                          <p:embed/>
                          <p:pic>
                            <p:nvPicPr>
                              <p:cNvPr id="0" name="Object 3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0"/>
                                <a:ext cx="279692" cy="2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45" name="Object 31"/>
                  <p:cNvGraphicFramePr>
                    <a:graphicFrameLocks noChangeAspect="1"/>
                  </p:cNvGraphicFramePr>
                  <p:nvPr/>
                </p:nvGraphicFramePr>
                <p:xfrm>
                  <a:off x="0" y="1192174"/>
                  <a:ext cx="279692" cy="334469"/>
                </p:xfrm>
                <a:graphic>
                  <a:graphicData uri="http://schemas.openxmlformats.org/presentationml/2006/ole">
                    <mc:AlternateContent xmlns:mc="http://schemas.openxmlformats.org/markup-compatibility/2006">
                      <mc:Choice xmlns:v="urn:schemas-microsoft-com:vml" Requires="v">
                        <p:oleObj spid="_x0000_s179081" r:id="rId19" imgW="153131" imgH="229697" progId="">
                          <p:embed/>
                        </p:oleObj>
                      </mc:Choice>
                      <mc:Fallback>
                        <p:oleObj r:id="rId19" imgW="153131" imgH="229697" progId="">
                          <p:embed/>
                          <p:pic>
                            <p:nvPicPr>
                              <p:cNvPr id="0" name="Object 3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1192174"/>
                                <a:ext cx="279692" cy="334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46" name="Object 32"/>
                  <p:cNvGraphicFramePr>
                    <a:graphicFrameLocks noChangeAspect="1"/>
                  </p:cNvGraphicFramePr>
                  <p:nvPr/>
                </p:nvGraphicFramePr>
                <p:xfrm>
                  <a:off x="93927" y="2980434"/>
                  <a:ext cx="279692" cy="258303"/>
                </p:xfrm>
                <a:graphic>
                  <a:graphicData uri="http://schemas.openxmlformats.org/presentationml/2006/ole">
                    <mc:AlternateContent xmlns:mc="http://schemas.openxmlformats.org/markup-compatibility/2006">
                      <mc:Choice xmlns:v="urn:schemas-microsoft-com:vml" Requires="v">
                        <p:oleObj spid="_x0000_s179082" r:id="rId21" imgW="153198" imgH="178731" progId="">
                          <p:embed/>
                        </p:oleObj>
                      </mc:Choice>
                      <mc:Fallback>
                        <p:oleObj r:id="rId21" imgW="153198" imgH="178731" progId="">
                          <p:embed/>
                          <p:pic>
                            <p:nvPicPr>
                              <p:cNvPr id="0" name="Object 3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3927" y="2980434"/>
                                <a:ext cx="279692" cy="258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47" name="Object 33"/>
                  <p:cNvGraphicFramePr>
                    <a:graphicFrameLocks noChangeAspect="1"/>
                  </p:cNvGraphicFramePr>
                  <p:nvPr/>
                </p:nvGraphicFramePr>
                <p:xfrm>
                  <a:off x="4790282" y="3054945"/>
                  <a:ext cx="279692" cy="296385"/>
                </p:xfrm>
                <a:graphic>
                  <a:graphicData uri="http://schemas.openxmlformats.org/presentationml/2006/ole">
                    <mc:AlternateContent xmlns:mc="http://schemas.openxmlformats.org/markup-compatibility/2006">
                      <mc:Choice xmlns:v="urn:schemas-microsoft-com:vml" Requires="v">
                        <p:oleObj spid="_x0000_s179083" r:id="rId23" imgW="153332" imgH="204442" progId="">
                          <p:embed/>
                        </p:oleObj>
                      </mc:Choice>
                      <mc:Fallback>
                        <p:oleObj r:id="rId23" imgW="153332" imgH="204442" progId="">
                          <p:embed/>
                          <p:pic>
                            <p:nvPicPr>
                              <p:cNvPr id="0" name="Object 3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790282" y="3054945"/>
                                <a:ext cx="279692" cy="296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0737" name="Object 34"/>
                <p:cNvGraphicFramePr>
                  <a:graphicFrameLocks noChangeAspect="1"/>
                </p:cNvGraphicFramePr>
                <p:nvPr/>
              </p:nvGraphicFramePr>
              <p:xfrm>
                <a:off x="2629959" y="3054945"/>
                <a:ext cx="396578" cy="334469"/>
              </p:xfrm>
              <a:graphic>
                <a:graphicData uri="http://schemas.openxmlformats.org/presentationml/2006/ole">
                  <mc:AlternateContent xmlns:mc="http://schemas.openxmlformats.org/markup-compatibility/2006">
                    <mc:Choice xmlns:v="urn:schemas-microsoft-com:vml" Requires="v">
                      <p:oleObj spid="_x0000_s179084" r:id="rId25" imgW="216747" imgH="229496" progId="">
                        <p:embed/>
                      </p:oleObj>
                    </mc:Choice>
                    <mc:Fallback>
                      <p:oleObj r:id="rId25" imgW="216747" imgH="229496" progId="">
                        <p:embed/>
                        <p:pic>
                          <p:nvPicPr>
                            <p:cNvPr id="0" name="Object 3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629959" y="3054945"/>
                              <a:ext cx="396578" cy="334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0735" name="Object 35"/>
              <p:cNvGraphicFramePr>
                <a:graphicFrameLocks noChangeAspect="1"/>
              </p:cNvGraphicFramePr>
              <p:nvPr/>
            </p:nvGraphicFramePr>
            <p:xfrm>
              <a:off x="3287448" y="0"/>
              <a:ext cx="302653" cy="334469"/>
            </p:xfrm>
            <a:graphic>
              <a:graphicData uri="http://schemas.openxmlformats.org/presentationml/2006/ole">
                <mc:AlternateContent xmlns:mc="http://schemas.openxmlformats.org/markup-compatibility/2006">
                  <mc:Choice xmlns:v="urn:schemas-microsoft-com:vml" Requires="v">
                    <p:oleObj spid="_x0000_s179085" r:id="rId27" imgW="165820" imgH="229597" progId="">
                      <p:embed/>
                    </p:oleObj>
                  </mc:Choice>
                  <mc:Fallback>
                    <p:oleObj r:id="rId27" imgW="165820" imgH="229597" progId="">
                      <p:embed/>
                      <p:pic>
                        <p:nvPicPr>
                          <p:cNvPr id="0" name="Object 3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287448" y="0"/>
                            <a:ext cx="302653" cy="334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25636" name="组合 65"/>
          <p:cNvGrpSpPr>
            <a:grpSpLocks/>
          </p:cNvGrpSpPr>
          <p:nvPr/>
        </p:nvGrpSpPr>
        <p:grpSpPr bwMode="auto">
          <a:xfrm>
            <a:off x="2987675" y="2132856"/>
            <a:ext cx="1562100" cy="3463925"/>
            <a:chOff x="0" y="0"/>
            <a:chExt cx="1562273" cy="3463925"/>
          </a:xfrm>
        </p:grpSpPr>
        <p:cxnSp>
          <p:nvCxnSpPr>
            <p:cNvPr id="30727" name="直接连接符 21"/>
            <p:cNvCxnSpPr>
              <a:cxnSpLocks noChangeShapeType="1"/>
            </p:cNvCxnSpPr>
            <p:nvPr/>
          </p:nvCxnSpPr>
          <p:spPr bwMode="auto">
            <a:xfrm rot="16200000" flipH="1">
              <a:off x="-116602" y="2232811"/>
              <a:ext cx="1655762" cy="2222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0728" name="Object 38"/>
            <p:cNvGraphicFramePr>
              <a:graphicFrameLocks noChangeAspect="1"/>
            </p:cNvGraphicFramePr>
            <p:nvPr/>
          </p:nvGraphicFramePr>
          <p:xfrm>
            <a:off x="485244" y="3129456"/>
            <a:ext cx="421625" cy="334469"/>
          </p:xfrm>
          <a:graphic>
            <a:graphicData uri="http://schemas.openxmlformats.org/presentationml/2006/ole">
              <mc:AlternateContent xmlns:mc="http://schemas.openxmlformats.org/markup-compatibility/2006">
                <mc:Choice xmlns:v="urn:schemas-microsoft-com:vml" Requires="v">
                  <p:oleObj spid="_x0000_s179086" r:id="rId29" imgW="229797" imgH="229797" progId="">
                    <p:embed/>
                  </p:oleObj>
                </mc:Choice>
                <mc:Fallback>
                  <p:oleObj r:id="rId29" imgW="229797" imgH="229797" progId="">
                    <p:embed/>
                    <p:pic>
                      <p:nvPicPr>
                        <p:cNvPr id="0" name="Object 38"/>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85244" y="3129456"/>
                          <a:ext cx="421625" cy="334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0729" name="组合 60"/>
            <p:cNvGrpSpPr>
              <a:grpSpLocks/>
            </p:cNvGrpSpPr>
            <p:nvPr/>
          </p:nvGrpSpPr>
          <p:grpSpPr bwMode="auto">
            <a:xfrm>
              <a:off x="0" y="0"/>
              <a:ext cx="1562273" cy="2459037"/>
              <a:chOff x="0" y="0"/>
              <a:chExt cx="1562273" cy="2459037"/>
            </a:xfrm>
          </p:grpSpPr>
          <p:cxnSp>
            <p:nvCxnSpPr>
              <p:cNvPr id="30730" name="直接连接符 10"/>
              <p:cNvCxnSpPr>
                <a:cxnSpLocks noChangeShapeType="1"/>
              </p:cNvCxnSpPr>
              <p:nvPr/>
            </p:nvCxnSpPr>
            <p:spPr bwMode="auto">
              <a:xfrm rot="5400000" flipH="1" flipV="1">
                <a:off x="-338854" y="711910"/>
                <a:ext cx="2085975" cy="1408268"/>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aphicFrame>
            <p:nvGraphicFramePr>
              <p:cNvPr id="30731" name="Object 41"/>
              <p:cNvGraphicFramePr>
                <a:graphicFrameLocks noChangeAspect="1"/>
              </p:cNvGraphicFramePr>
              <p:nvPr/>
            </p:nvGraphicFramePr>
            <p:xfrm>
              <a:off x="1236661" y="0"/>
              <a:ext cx="325612" cy="334469"/>
            </p:xfrm>
            <a:graphic>
              <a:graphicData uri="http://schemas.openxmlformats.org/presentationml/2006/ole">
                <mc:AlternateContent xmlns:mc="http://schemas.openxmlformats.org/markup-compatibility/2006">
                  <mc:Choice xmlns:v="urn:schemas-microsoft-com:vml" Requires="v">
                    <p:oleObj spid="_x0000_s179087" r:id="rId31" imgW="178497" imgH="229496" progId="">
                      <p:embed/>
                    </p:oleObj>
                  </mc:Choice>
                  <mc:Fallback>
                    <p:oleObj r:id="rId31" imgW="178497" imgH="229496" progId="">
                      <p:embed/>
                      <p:pic>
                        <p:nvPicPr>
                          <p:cNvPr id="0" name="Object 4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236661" y="0"/>
                            <a:ext cx="325612" cy="334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2" name="右箭头 1"/>
          <p:cNvSpPr/>
          <p:nvPr/>
        </p:nvSpPr>
        <p:spPr bwMode="auto">
          <a:xfrm>
            <a:off x="5078534" y="3062643"/>
            <a:ext cx="731303" cy="187876"/>
          </a:xfrm>
          <a:prstGeom prst="rightArrow">
            <a:avLst/>
          </a:prstGeom>
          <a:solidFill>
            <a:srgbClr val="FF00FF"/>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44" name="右箭头 43"/>
          <p:cNvSpPr/>
          <p:nvPr/>
        </p:nvSpPr>
        <p:spPr bwMode="auto">
          <a:xfrm rot="10800000">
            <a:off x="4400288" y="2688587"/>
            <a:ext cx="678246" cy="177693"/>
          </a:xfrm>
          <a:prstGeom prst="rightArrow">
            <a:avLst/>
          </a:prstGeom>
          <a:solidFill>
            <a:srgbClr val="FF00FF"/>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45" name="右箭头 44"/>
          <p:cNvSpPr/>
          <p:nvPr/>
        </p:nvSpPr>
        <p:spPr bwMode="auto">
          <a:xfrm rot="7562913">
            <a:off x="4095442" y="3659011"/>
            <a:ext cx="731303" cy="187876"/>
          </a:xfrm>
          <a:prstGeom prst="rightArrow">
            <a:avLst/>
          </a:prstGeom>
          <a:solidFill>
            <a:srgbClr val="FF00FF"/>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 name="矩形 2"/>
          <p:cNvSpPr/>
          <p:nvPr/>
        </p:nvSpPr>
        <p:spPr>
          <a:xfrm>
            <a:off x="4476053" y="2425650"/>
            <a:ext cx="684803"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减少</a:t>
            </a:r>
          </a:p>
        </p:txBody>
      </p:sp>
      <p:sp>
        <p:nvSpPr>
          <p:cNvPr id="4" name="矩形 3"/>
          <p:cNvSpPr/>
          <p:nvPr/>
        </p:nvSpPr>
        <p:spPr>
          <a:xfrm>
            <a:off x="5266676" y="2662352"/>
            <a:ext cx="684803"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增加</a:t>
            </a:r>
          </a:p>
        </p:txBody>
      </p:sp>
      <p:sp>
        <p:nvSpPr>
          <p:cNvPr id="48" name="矩形 47"/>
          <p:cNvSpPr/>
          <p:nvPr/>
        </p:nvSpPr>
        <p:spPr>
          <a:xfrm rot="18241323">
            <a:off x="3819748" y="3326000"/>
            <a:ext cx="684803"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减少</a:t>
            </a:r>
          </a:p>
        </p:txBody>
      </p:sp>
      <p:sp>
        <p:nvSpPr>
          <p:cNvPr id="52" name="矩形 51">
            <a:extLst>
              <a:ext uri="{FF2B5EF4-FFF2-40B4-BE49-F238E27FC236}">
                <a16:creationId xmlns:a16="http://schemas.microsoft.com/office/drawing/2014/main" id="{99A861F3-1BF5-4FA4-A7CE-A93F6E99B7C4}"/>
              </a:ext>
            </a:extLst>
          </p:cNvPr>
          <p:cNvSpPr/>
          <p:nvPr/>
        </p:nvSpPr>
        <p:spPr>
          <a:xfrm>
            <a:off x="7455320" y="0"/>
            <a:ext cx="1523174"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第二节 供给</a:t>
            </a:r>
          </a:p>
        </p:txBody>
      </p:sp>
      <p:sp>
        <p:nvSpPr>
          <p:cNvPr id="53" name="矩形 52">
            <a:extLst>
              <a:ext uri="{FF2B5EF4-FFF2-40B4-BE49-F238E27FC236}">
                <a16:creationId xmlns:a16="http://schemas.microsoft.com/office/drawing/2014/main" id="{F68E5273-CD77-47B9-B841-9D29349C133D}"/>
              </a:ext>
            </a:extLst>
          </p:cNvPr>
          <p:cNvSpPr/>
          <p:nvPr/>
        </p:nvSpPr>
        <p:spPr>
          <a:xfrm>
            <a:off x="467544" y="554866"/>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四、供给量的变动与供给的变动</a:t>
            </a:r>
          </a:p>
        </p:txBody>
      </p:sp>
      <p:sp>
        <p:nvSpPr>
          <p:cNvPr id="54" name="矩形 53">
            <a:extLst>
              <a:ext uri="{FF2B5EF4-FFF2-40B4-BE49-F238E27FC236}">
                <a16:creationId xmlns:a16="http://schemas.microsoft.com/office/drawing/2014/main" id="{43144617-86E7-4C79-8DA7-59FB06215111}"/>
              </a:ext>
            </a:extLst>
          </p:cNvPr>
          <p:cNvSpPr/>
          <p:nvPr/>
        </p:nvSpPr>
        <p:spPr>
          <a:xfrm>
            <a:off x="997176" y="1441961"/>
            <a:ext cx="1851789" cy="338554"/>
          </a:xfrm>
          <a:prstGeom prst="rect">
            <a:avLst/>
          </a:prstGeom>
        </p:spPr>
        <p:txBody>
          <a:bodyPr wrap="none">
            <a:spAutoFit/>
          </a:bodyPr>
          <a:lstStyle/>
          <a:p>
            <a:pPr marL="285750" indent="-285750">
              <a:lnSpc>
                <a:spcPct val="80000"/>
              </a:lnSpc>
              <a:spcBef>
                <a:spcPct val="40000"/>
              </a:spcBef>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供给的变动</a:t>
            </a:r>
          </a:p>
        </p:txBody>
      </p:sp>
    </p:spTree>
  </p:cSld>
  <p:clrMapOvr>
    <a:masterClrMapping/>
  </p:clrMapOvr>
  <p:transition>
    <p:whee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left)">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619"/>
                                        </p:tgtEl>
                                        <p:attrNameLst>
                                          <p:attrName>style.visibility</p:attrName>
                                        </p:attrNameLst>
                                      </p:cBhvr>
                                      <p:to>
                                        <p:strVal val="visible"/>
                                      </p:to>
                                    </p:set>
                                    <p:animEffect transition="in" filter="fade">
                                      <p:cBhvr>
                                        <p:cTn id="12" dur="2000"/>
                                        <p:tgtEl>
                                          <p:spTgt spid="25619"/>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wipe(up)">
                                      <p:cBhvr>
                                        <p:cTn id="15" dur="500"/>
                                        <p:tgtEl>
                                          <p:spTgt spid="45"/>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wipe(up)">
                                      <p:cBhvr>
                                        <p:cTn id="18" dur="500"/>
                                        <p:tgtEl>
                                          <p:spTgt spid="48"/>
                                        </p:tgtEl>
                                      </p:cBhvr>
                                    </p:animEffect>
                                  </p:childTnLst>
                                </p:cTn>
                              </p:par>
                            </p:childTnLst>
                          </p:cTn>
                        </p:par>
                        <p:par>
                          <p:cTn id="19" fill="hold">
                            <p:stCondLst>
                              <p:cond delay="2000"/>
                            </p:stCondLst>
                            <p:childTnLst>
                              <p:par>
                                <p:cTn id="20" presetID="10" presetClass="entr" presetSubtype="0" fill="hold" nodeType="afterEffect">
                                  <p:stCondLst>
                                    <p:cond delay="2000"/>
                                  </p:stCondLst>
                                  <p:childTnLst>
                                    <p:set>
                                      <p:cBhvr>
                                        <p:cTn id="21" dur="1" fill="hold">
                                          <p:stCondLst>
                                            <p:cond delay="0"/>
                                          </p:stCondLst>
                                        </p:cTn>
                                        <p:tgtEl>
                                          <p:spTgt spid="25602"/>
                                        </p:tgtEl>
                                        <p:attrNameLst>
                                          <p:attrName>style.visibility</p:attrName>
                                        </p:attrNameLst>
                                      </p:cBhvr>
                                      <p:to>
                                        <p:strVal val="visible"/>
                                      </p:to>
                                    </p:set>
                                    <p:animEffect transition="in" filter="fade">
                                      <p:cBhvr>
                                        <p:cTn id="22" dur="2000"/>
                                        <p:tgtEl>
                                          <p:spTgt spid="2560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500"/>
                                        <p:tgtEl>
                                          <p:spTgt spid="4"/>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5609"/>
                                        </p:tgtEl>
                                        <p:attrNameLst>
                                          <p:attrName>style.visibility</p:attrName>
                                        </p:attrNameLst>
                                      </p:cBhvr>
                                      <p:to>
                                        <p:strVal val="visible"/>
                                      </p:to>
                                    </p:set>
                                    <p:animEffect transition="in" filter="fade">
                                      <p:cBhvr>
                                        <p:cTn id="33" dur="2000"/>
                                        <p:tgtEl>
                                          <p:spTgt spid="2560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grpId="0" nodeType="clickEffect">
                                  <p:stCondLst>
                                    <p:cond delay="0"/>
                                  </p:stCondLst>
                                  <p:childTnLst>
                                    <p:set>
                                      <p:cBhvr>
                                        <p:cTn id="37" dur="1" fill="hold">
                                          <p:stCondLst>
                                            <p:cond delay="0"/>
                                          </p:stCondLst>
                                        </p:cTn>
                                        <p:tgtEl>
                                          <p:spTgt spid="44"/>
                                        </p:tgtEl>
                                        <p:attrNameLst>
                                          <p:attrName>style.visibility</p:attrName>
                                        </p:attrNameLst>
                                      </p:cBhvr>
                                      <p:to>
                                        <p:strVal val="visible"/>
                                      </p:to>
                                    </p:set>
                                    <p:animEffect transition="in" filter="wipe(right)">
                                      <p:cBhvr>
                                        <p:cTn id="38" dur="500"/>
                                        <p:tgtEl>
                                          <p:spTgt spid="44"/>
                                        </p:tgtEl>
                                      </p:cBhvr>
                                    </p:animEffect>
                                  </p:childTnLst>
                                </p:cTn>
                              </p:par>
                              <p:par>
                                <p:cTn id="39" presetID="22" presetClass="entr" presetSubtype="2" fill="hold" grpId="0" nodeType="with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wipe(right)">
                                      <p:cBhvr>
                                        <p:cTn id="41" dur="500"/>
                                        <p:tgtEl>
                                          <p:spTgt spid="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5636"/>
                                        </p:tgtEl>
                                        <p:attrNameLst>
                                          <p:attrName>style.visibility</p:attrName>
                                        </p:attrNameLst>
                                      </p:cBhvr>
                                      <p:to>
                                        <p:strVal val="visible"/>
                                      </p:to>
                                    </p:set>
                                    <p:animEffect transition="in" filter="fade">
                                      <p:cBhvr>
                                        <p:cTn id="46" dur="2000"/>
                                        <p:tgtEl>
                                          <p:spTgt spid="25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4" grpId="0" animBg="1"/>
      <p:bldP spid="45" grpId="0" animBg="1"/>
      <p:bldP spid="3" grpId="0"/>
      <p:bldP spid="4" grpId="0"/>
      <p:bldP spid="48" grpId="0"/>
      <p:bldP spid="5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3"/>
          <p:cNvSpPr txBox="1">
            <a:spLocks noChangeArrowheads="1"/>
          </p:cNvSpPr>
          <p:nvPr/>
        </p:nvSpPr>
        <p:spPr bwMode="auto">
          <a:xfrm>
            <a:off x="1105272" y="2333750"/>
            <a:ext cx="8229600" cy="372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某个生产者或者厂商（</a:t>
            </a:r>
            <a:r>
              <a:rPr lang="en-US" altLang="zh-CN" sz="2000" spc="150" dirty="0">
                <a:solidFill>
                  <a:srgbClr val="000000"/>
                </a:solidFill>
                <a:latin typeface="微软雅黑" panose="020B0503020204020204" pitchFamily="34" charset="-122"/>
                <a:ea typeface="微软雅黑" panose="020B0503020204020204" pitchFamily="34" charset="-122"/>
              </a:rPr>
              <a:t>j</a:t>
            </a:r>
            <a:r>
              <a:rPr lang="zh-CN" altLang="en-US" sz="2000" spc="150" dirty="0">
                <a:solidFill>
                  <a:srgbClr val="000000"/>
                </a:solidFill>
                <a:latin typeface="微软雅黑" panose="020B0503020204020204" pitchFamily="34" charset="-122"/>
                <a:ea typeface="微软雅黑" panose="020B0503020204020204" pitchFamily="34" charset="-122"/>
              </a:rPr>
              <a:t>）对某个商品的供给</a:t>
            </a:r>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p:graphicFrame>
        <p:nvGraphicFramePr>
          <p:cNvPr id="8" name="Object 3"/>
          <p:cNvGraphicFramePr>
            <a:graphicFrameLocks noChangeAspect="1"/>
          </p:cNvGraphicFramePr>
          <p:nvPr>
            <p:extLst>
              <p:ext uri="{D42A27DB-BD31-4B8C-83A1-F6EECF244321}">
                <p14:modId xmlns:p14="http://schemas.microsoft.com/office/powerpoint/2010/main" val="50594579"/>
              </p:ext>
            </p:extLst>
          </p:nvPr>
        </p:nvGraphicFramePr>
        <p:xfrm>
          <a:off x="3327973" y="2983121"/>
          <a:ext cx="3096344" cy="480111"/>
        </p:xfrm>
        <a:graphic>
          <a:graphicData uri="http://schemas.openxmlformats.org/presentationml/2006/ole">
            <mc:AlternateContent xmlns:mc="http://schemas.openxmlformats.org/markup-compatibility/2006">
              <mc:Choice xmlns:v="urn:schemas-microsoft-com:vml" Requires="v">
                <p:oleObj spid="_x0000_s71312" r:id="rId8" imgW="1637589" imgH="253890" progId="">
                  <p:embed/>
                </p:oleObj>
              </mc:Choice>
              <mc:Fallback>
                <p:oleObj r:id="rId8" imgW="1637589" imgH="253890" progId="">
                  <p:embed/>
                  <p:pic>
                    <p:nvPicPr>
                      <p:cNvPr id="26627"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27973" y="2983121"/>
                        <a:ext cx="3096344" cy="480111"/>
                      </a:xfrm>
                      <a:prstGeom prst="rect">
                        <a:avLst/>
                      </a:prstGeom>
                      <a:noFill/>
                      <a:ln>
                        <a:noFill/>
                      </a:ln>
                      <a:effectLst/>
                    </p:spPr>
                  </p:pic>
                </p:oleObj>
              </mc:Fallback>
            </mc:AlternateContent>
          </a:graphicData>
        </a:graphic>
      </p:graphicFrame>
      <p:graphicFrame>
        <p:nvGraphicFramePr>
          <p:cNvPr id="9" name="Object 4"/>
          <p:cNvGraphicFramePr>
            <a:graphicFrameLocks noChangeAspect="1"/>
          </p:cNvGraphicFramePr>
          <p:nvPr>
            <p:extLst>
              <p:ext uri="{D42A27DB-BD31-4B8C-83A1-F6EECF244321}">
                <p14:modId xmlns:p14="http://schemas.microsoft.com/office/powerpoint/2010/main" val="2067028563"/>
              </p:ext>
            </p:extLst>
          </p:nvPr>
        </p:nvGraphicFramePr>
        <p:xfrm>
          <a:off x="4097234" y="5084696"/>
          <a:ext cx="2554396" cy="770619"/>
        </p:xfrm>
        <a:graphic>
          <a:graphicData uri="http://schemas.openxmlformats.org/presentationml/2006/ole">
            <mc:AlternateContent xmlns:mc="http://schemas.openxmlformats.org/markup-compatibility/2006">
              <mc:Choice xmlns:v="urn:schemas-microsoft-com:vml" Requires="v">
                <p:oleObj spid="_x0000_s71313" r:id="rId10" imgW="1473200" imgH="444500" progId="">
                  <p:embed/>
                </p:oleObj>
              </mc:Choice>
              <mc:Fallback>
                <p:oleObj r:id="rId10" imgW="1473200" imgH="444500" progId="">
                  <p:embed/>
                  <p:pic>
                    <p:nvPicPr>
                      <p:cNvPr id="26628"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97234" y="5084696"/>
                        <a:ext cx="2554396" cy="770619"/>
                      </a:xfrm>
                      <a:prstGeom prst="rect">
                        <a:avLst/>
                      </a:prstGeom>
                      <a:noFill/>
                      <a:ln>
                        <a:noFill/>
                      </a:ln>
                      <a:effectLst/>
                    </p:spPr>
                  </p:pic>
                </p:oleObj>
              </mc:Fallback>
            </mc:AlternateContent>
          </a:graphicData>
        </a:graphic>
      </p:graphicFrame>
      <p:sp>
        <p:nvSpPr>
          <p:cNvPr id="15" name="矩形 14">
            <a:extLst>
              <a:ext uri="{FF2B5EF4-FFF2-40B4-BE49-F238E27FC236}">
                <a16:creationId xmlns:a16="http://schemas.microsoft.com/office/drawing/2014/main" id="{99A861F3-1BF5-4FA4-A7CE-A93F6E99B7C4}"/>
              </a:ext>
            </a:extLst>
          </p:cNvPr>
          <p:cNvSpPr/>
          <p:nvPr/>
        </p:nvSpPr>
        <p:spPr>
          <a:xfrm>
            <a:off x="7455320" y="0"/>
            <a:ext cx="1523174"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第二节 供给</a:t>
            </a:r>
          </a:p>
        </p:txBody>
      </p:sp>
      <p:sp>
        <p:nvSpPr>
          <p:cNvPr id="16" name="矩形 15">
            <a:extLst>
              <a:ext uri="{FF2B5EF4-FFF2-40B4-BE49-F238E27FC236}">
                <a16:creationId xmlns:a16="http://schemas.microsoft.com/office/drawing/2014/main" id="{F68E5273-CD77-47B9-B841-9D29349C133D}"/>
              </a:ext>
            </a:extLst>
          </p:cNvPr>
          <p:cNvSpPr/>
          <p:nvPr/>
        </p:nvSpPr>
        <p:spPr>
          <a:xfrm>
            <a:off x="467544" y="554866"/>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五、从厂商供给到市场供给</a:t>
            </a:r>
          </a:p>
        </p:txBody>
      </p:sp>
      <p:grpSp>
        <p:nvGrpSpPr>
          <p:cNvPr id="17" name="组合 16">
            <a:extLst>
              <a:ext uri="{FF2B5EF4-FFF2-40B4-BE49-F238E27FC236}">
                <a16:creationId xmlns:a16="http://schemas.microsoft.com/office/drawing/2014/main" id="{627AE83D-F3D9-4FE1-841C-38AA09ECDF1C}"/>
              </a:ext>
            </a:extLst>
          </p:cNvPr>
          <p:cNvGrpSpPr/>
          <p:nvPr/>
        </p:nvGrpSpPr>
        <p:grpSpPr>
          <a:xfrm>
            <a:off x="467544" y="1535817"/>
            <a:ext cx="3960440" cy="514350"/>
            <a:chOff x="467544" y="2481986"/>
            <a:chExt cx="2547461" cy="514350"/>
          </a:xfrm>
        </p:grpSpPr>
        <p:sp>
          <p:nvSpPr>
            <p:cNvPr id="18" name="MH_Text_1">
              <a:extLst>
                <a:ext uri="{FF2B5EF4-FFF2-40B4-BE49-F238E27FC236}">
                  <a16:creationId xmlns:a16="http://schemas.microsoft.com/office/drawing/2014/main" id="{7F1EE33B-DD63-42A8-86A7-757932B8049A}"/>
                </a:ext>
              </a:extLst>
            </p:cNvPr>
            <p:cNvSpPr/>
            <p:nvPr>
              <p:custDataLst>
                <p:tags r:id="rId4"/>
              </p:custDataLst>
            </p:nvPr>
          </p:nvSpPr>
          <p:spPr bwMode="auto">
            <a:xfrm>
              <a:off x="467544" y="2481986"/>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厂商供给（单个生产者供给）</a:t>
              </a:r>
            </a:p>
          </p:txBody>
        </p:sp>
        <p:sp>
          <p:nvSpPr>
            <p:cNvPr id="19" name="MH_Other_2">
              <a:extLst>
                <a:ext uri="{FF2B5EF4-FFF2-40B4-BE49-F238E27FC236}">
                  <a16:creationId xmlns:a16="http://schemas.microsoft.com/office/drawing/2014/main" id="{E635624F-D191-4C19-B11A-618C7FE0256E}"/>
                </a:ext>
              </a:extLst>
            </p:cNvPr>
            <p:cNvSpPr/>
            <p:nvPr>
              <p:custDataLst>
                <p:tags r:id="rId5"/>
              </p:custDataLst>
            </p:nvPr>
          </p:nvSpPr>
          <p:spPr bwMode="auto">
            <a:xfrm rot="10800000">
              <a:off x="2822917" y="2539136"/>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grpSp>
        <p:nvGrpSpPr>
          <p:cNvPr id="20" name="组合 19">
            <a:extLst>
              <a:ext uri="{FF2B5EF4-FFF2-40B4-BE49-F238E27FC236}">
                <a16:creationId xmlns:a16="http://schemas.microsoft.com/office/drawing/2014/main" id="{15BCAD35-C9C8-4AE1-874B-7737C5F09A87}"/>
              </a:ext>
            </a:extLst>
          </p:cNvPr>
          <p:cNvGrpSpPr/>
          <p:nvPr/>
        </p:nvGrpSpPr>
        <p:grpSpPr>
          <a:xfrm>
            <a:off x="467544" y="3683446"/>
            <a:ext cx="2547461" cy="514350"/>
            <a:chOff x="467544" y="4012032"/>
            <a:chExt cx="2547461" cy="514350"/>
          </a:xfrm>
        </p:grpSpPr>
        <p:sp>
          <p:nvSpPr>
            <p:cNvPr id="21" name="MH_Text_1">
              <a:extLst>
                <a:ext uri="{FF2B5EF4-FFF2-40B4-BE49-F238E27FC236}">
                  <a16:creationId xmlns:a16="http://schemas.microsoft.com/office/drawing/2014/main" id="{2B16FD77-75F5-478E-AAA0-B4711F002B71}"/>
                </a:ext>
              </a:extLst>
            </p:cNvPr>
            <p:cNvSpPr/>
            <p:nvPr>
              <p:custDataLst>
                <p:tags r:id="rId2"/>
              </p:custDataLst>
            </p:nvPr>
          </p:nvSpPr>
          <p:spPr bwMode="auto">
            <a:xfrm>
              <a:off x="467544" y="4012032"/>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市场供给</a:t>
              </a:r>
            </a:p>
          </p:txBody>
        </p:sp>
        <p:sp>
          <p:nvSpPr>
            <p:cNvPr id="22" name="MH_Other_2">
              <a:extLst>
                <a:ext uri="{FF2B5EF4-FFF2-40B4-BE49-F238E27FC236}">
                  <a16:creationId xmlns:a16="http://schemas.microsoft.com/office/drawing/2014/main" id="{2CAC8690-3479-4DBB-9B16-A4FF61D047C3}"/>
                </a:ext>
              </a:extLst>
            </p:cNvPr>
            <p:cNvSpPr/>
            <p:nvPr>
              <p:custDataLst>
                <p:tags r:id="rId3"/>
              </p:custDataLst>
            </p:nvPr>
          </p:nvSpPr>
          <p:spPr bwMode="auto">
            <a:xfrm rot="10800000">
              <a:off x="2822917" y="4069182"/>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23" name="Rectangle 3"/>
          <p:cNvSpPr txBox="1">
            <a:spLocks noChangeArrowheads="1"/>
          </p:cNvSpPr>
          <p:nvPr/>
        </p:nvSpPr>
        <p:spPr bwMode="auto">
          <a:xfrm>
            <a:off x="1259632" y="4484620"/>
            <a:ext cx="8229600" cy="372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所有厂商对某个商品的供给</a:t>
            </a:r>
          </a:p>
        </p:txBody>
      </p:sp>
    </p:spTree>
    <p:extLst>
      <p:ext uri="{BB962C8B-B14F-4D97-AF65-F5344CB8AC3E}">
        <p14:creationId xmlns:p14="http://schemas.microsoft.com/office/powerpoint/2010/main" val="947337417"/>
      </p:ext>
    </p:extLst>
  </p:cSld>
  <p:clrMapOvr>
    <a:masterClrMapping/>
  </p:clrMapOvr>
  <p:transition>
    <p:wheel spokes="3"/>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animEffect transition="in" filter="wipe(left)">
                                      <p:cBhvr>
                                        <p:cTn id="17" dur="500"/>
                                        <p:tgtEl>
                                          <p:spTgt spid="1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left)">
                                      <p:cBhvr>
                                        <p:cTn id="29" dur="500"/>
                                        <p:tgtEl>
                                          <p:spTgt spid="2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3">
                                            <p:txEl>
                                              <p:pRg st="0" end="0"/>
                                            </p:txEl>
                                          </p:spTgt>
                                        </p:tgtEl>
                                        <p:attrNameLst>
                                          <p:attrName>style.visibility</p:attrName>
                                        </p:attrNameLst>
                                      </p:cBhvr>
                                      <p:to>
                                        <p:strVal val="visible"/>
                                      </p:to>
                                    </p:set>
                                    <p:animEffect transition="in" filter="wipe(left)">
                                      <p:cBhvr>
                                        <p:cTn id="34" dur="500"/>
                                        <p:tgtEl>
                                          <p:spTgt spid="23">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500" fill="hold"/>
                                        <p:tgtEl>
                                          <p:spTgt spid="9"/>
                                        </p:tgtEl>
                                        <p:attrNameLst>
                                          <p:attrName>ppt_w</p:attrName>
                                        </p:attrNameLst>
                                      </p:cBhvr>
                                      <p:tavLst>
                                        <p:tav tm="0">
                                          <p:val>
                                            <p:fltVal val="0"/>
                                          </p:val>
                                        </p:tav>
                                        <p:tav tm="100000">
                                          <p:val>
                                            <p:strVal val="#ppt_w"/>
                                          </p:val>
                                        </p:tav>
                                      </p:tavLst>
                                    </p:anim>
                                    <p:anim calcmode="lin" valueType="num">
                                      <p:cBhvr>
                                        <p:cTn id="40" dur="500" fill="hold"/>
                                        <p:tgtEl>
                                          <p:spTgt spid="9"/>
                                        </p:tgtEl>
                                        <p:attrNameLst>
                                          <p:attrName>ppt_h</p:attrName>
                                        </p:attrNameLst>
                                      </p:cBhvr>
                                      <p:tavLst>
                                        <p:tav tm="0">
                                          <p:val>
                                            <p:fltVal val="0"/>
                                          </p:val>
                                        </p:tav>
                                        <p:tav tm="100000">
                                          <p:val>
                                            <p:strVal val="#ppt_h"/>
                                          </p:val>
                                        </p:tav>
                                      </p:tavLst>
                                    </p:anim>
                                    <p:animEffect transition="in" filter="fade">
                                      <p:cBhvr>
                                        <p:cTn id="4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0" name="组合 33"/>
          <p:cNvGrpSpPr>
            <a:grpSpLocks/>
          </p:cNvGrpSpPr>
          <p:nvPr/>
        </p:nvGrpSpPr>
        <p:grpSpPr bwMode="auto">
          <a:xfrm>
            <a:off x="1044079" y="1988840"/>
            <a:ext cx="2105025" cy="3013075"/>
            <a:chOff x="0" y="0"/>
            <a:chExt cx="2105038" cy="3012538"/>
          </a:xfrm>
        </p:grpSpPr>
        <p:cxnSp>
          <p:nvCxnSpPr>
            <p:cNvPr id="32804" name="直接箭头连接符 5"/>
            <p:cNvCxnSpPr>
              <a:cxnSpLocks noChangeShapeType="1"/>
            </p:cNvCxnSpPr>
            <p:nvPr/>
          </p:nvCxnSpPr>
          <p:spPr bwMode="auto">
            <a:xfrm>
              <a:off x="285752" y="2214168"/>
              <a:ext cx="1785948"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sp>
          <p:nvSpPr>
            <p:cNvPr id="32805" name="TextBox 20"/>
            <p:cNvSpPr txBox="1">
              <a:spLocks noChangeArrowheads="1"/>
            </p:cNvSpPr>
            <p:nvPr/>
          </p:nvSpPr>
          <p:spPr bwMode="auto">
            <a:xfrm>
              <a:off x="785818" y="2643206"/>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0" dirty="0">
                  <a:solidFill>
                    <a:schemeClr val="tx1"/>
                  </a:solidFill>
                </a:rPr>
                <a:t>(a)</a:t>
              </a:r>
              <a:endParaRPr lang="zh-CN" altLang="en-US" sz="1800" b="0" dirty="0">
                <a:solidFill>
                  <a:schemeClr val="tx1"/>
                </a:solidFill>
              </a:endParaRPr>
            </a:p>
          </p:txBody>
        </p:sp>
        <p:grpSp>
          <p:nvGrpSpPr>
            <p:cNvPr id="32806" name="组合 32"/>
            <p:cNvGrpSpPr>
              <a:grpSpLocks/>
            </p:cNvGrpSpPr>
            <p:nvPr/>
          </p:nvGrpSpPr>
          <p:grpSpPr bwMode="auto">
            <a:xfrm>
              <a:off x="0" y="0"/>
              <a:ext cx="2105038" cy="2606691"/>
              <a:chOff x="0" y="0"/>
              <a:chExt cx="2105038" cy="2606691"/>
            </a:xfrm>
          </p:grpSpPr>
          <p:cxnSp>
            <p:nvCxnSpPr>
              <p:cNvPr id="32807" name="直接箭头连接符 7"/>
              <p:cNvCxnSpPr>
                <a:cxnSpLocks noChangeShapeType="1"/>
              </p:cNvCxnSpPr>
              <p:nvPr/>
            </p:nvCxnSpPr>
            <p:spPr bwMode="auto">
              <a:xfrm rot="5400000" flipH="1" flipV="1">
                <a:off x="-820539" y="1106285"/>
                <a:ext cx="2214168"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grpSp>
            <p:nvGrpSpPr>
              <p:cNvPr id="32808" name="组合 31"/>
              <p:cNvGrpSpPr>
                <a:grpSpLocks/>
              </p:cNvGrpSpPr>
              <p:nvPr/>
            </p:nvGrpSpPr>
            <p:grpSpPr bwMode="auto">
              <a:xfrm>
                <a:off x="0" y="71438"/>
                <a:ext cx="2105038" cy="2535253"/>
                <a:chOff x="0" y="0"/>
                <a:chExt cx="2105038" cy="2535253"/>
              </a:xfrm>
            </p:grpSpPr>
            <p:cxnSp>
              <p:nvCxnSpPr>
                <p:cNvPr id="32809" name="直接连接符 14"/>
                <p:cNvCxnSpPr>
                  <a:cxnSpLocks noChangeShapeType="1"/>
                </p:cNvCxnSpPr>
                <p:nvPr/>
              </p:nvCxnSpPr>
              <p:spPr bwMode="auto">
                <a:xfrm rot="5400000">
                  <a:off x="455727" y="1534825"/>
                  <a:ext cx="1214222"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nvGrpSpPr>
                <p:cNvPr id="32810" name="组合 28"/>
                <p:cNvGrpSpPr>
                  <a:grpSpLocks/>
                </p:cNvGrpSpPr>
                <p:nvPr/>
              </p:nvGrpSpPr>
              <p:grpSpPr bwMode="auto">
                <a:xfrm>
                  <a:off x="0" y="0"/>
                  <a:ext cx="2105038" cy="2535253"/>
                  <a:chOff x="0" y="0"/>
                  <a:chExt cx="2105038" cy="2535253"/>
                </a:xfrm>
              </p:grpSpPr>
              <p:cxnSp>
                <p:nvCxnSpPr>
                  <p:cNvPr id="32811" name="直接连接符 10"/>
                  <p:cNvCxnSpPr>
                    <a:cxnSpLocks noChangeShapeType="1"/>
                  </p:cNvCxnSpPr>
                  <p:nvPr/>
                </p:nvCxnSpPr>
                <p:spPr bwMode="auto">
                  <a:xfrm rot="5400000" flipH="1" flipV="1">
                    <a:off x="321589" y="678450"/>
                    <a:ext cx="1357071" cy="714379"/>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32812" name="直接连接符 12"/>
                  <p:cNvCxnSpPr>
                    <a:cxnSpLocks noChangeShapeType="1"/>
                  </p:cNvCxnSpPr>
                  <p:nvPr/>
                </p:nvCxnSpPr>
                <p:spPr bwMode="auto">
                  <a:xfrm>
                    <a:off x="285752" y="928508"/>
                    <a:ext cx="785817"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2813" name="Object 12"/>
                  <p:cNvGraphicFramePr>
                    <a:graphicFrameLocks noChangeAspect="1"/>
                  </p:cNvGraphicFramePr>
                  <p:nvPr/>
                </p:nvGraphicFramePr>
                <p:xfrm>
                  <a:off x="71438" y="2214578"/>
                  <a:ext cx="212725" cy="247650"/>
                </p:xfrm>
                <a:graphic>
                  <a:graphicData uri="http://schemas.openxmlformats.org/presentationml/2006/ole">
                    <mc:AlternateContent xmlns:mc="http://schemas.openxmlformats.org/markup-compatibility/2006">
                      <mc:Choice xmlns:v="urn:schemas-microsoft-com:vml" Requires="v">
                        <p:oleObj spid="_x0000_s182113" r:id="rId3" imgW="153198" imgH="178731" progId="">
                          <p:embed/>
                        </p:oleObj>
                      </mc:Choice>
                      <mc:Fallback>
                        <p:oleObj r:id="rId3" imgW="153198" imgH="178731" progId="">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8" y="2214578"/>
                                <a:ext cx="212725"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814" name="Object 13"/>
                  <p:cNvGraphicFramePr>
                    <a:graphicFrameLocks noChangeAspect="1"/>
                  </p:cNvGraphicFramePr>
                  <p:nvPr/>
                </p:nvGraphicFramePr>
                <p:xfrm>
                  <a:off x="0" y="0"/>
                  <a:ext cx="212725" cy="230188"/>
                </p:xfrm>
                <a:graphic>
                  <a:graphicData uri="http://schemas.openxmlformats.org/presentationml/2006/ole">
                    <mc:AlternateContent xmlns:mc="http://schemas.openxmlformats.org/markup-compatibility/2006">
                      <mc:Choice xmlns:v="urn:schemas-microsoft-com:vml" Requires="v">
                        <p:oleObj spid="_x0000_s182114" r:id="rId5" imgW="153332" imgH="166109" progId="">
                          <p:embed/>
                        </p:oleObj>
                      </mc:Choice>
                      <mc:Fallback>
                        <p:oleObj r:id="rId5" imgW="153332" imgH="166109" progId="">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212725"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815" name="Object 14"/>
                  <p:cNvGraphicFramePr>
                    <a:graphicFrameLocks noChangeAspect="1"/>
                  </p:cNvGraphicFramePr>
                  <p:nvPr/>
                </p:nvGraphicFramePr>
                <p:xfrm>
                  <a:off x="1857388" y="2214578"/>
                  <a:ext cx="247650" cy="320675"/>
                </p:xfrm>
                <a:graphic>
                  <a:graphicData uri="http://schemas.openxmlformats.org/presentationml/2006/ole">
                    <mc:AlternateContent xmlns:mc="http://schemas.openxmlformats.org/markup-compatibility/2006">
                      <mc:Choice xmlns:v="urn:schemas-microsoft-com:vml" Requires="v">
                        <p:oleObj spid="_x0000_s182115" r:id="rId7" imgW="178497" imgH="229496" progId="">
                          <p:embed/>
                        </p:oleObj>
                      </mc:Choice>
                      <mc:Fallback>
                        <p:oleObj r:id="rId7" imgW="178497" imgH="229496" progId="">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57388" y="2214578"/>
                                <a:ext cx="247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816" name="Object 15"/>
                  <p:cNvGraphicFramePr>
                    <a:graphicFrameLocks noChangeAspect="1"/>
                  </p:cNvGraphicFramePr>
                  <p:nvPr/>
                </p:nvGraphicFramePr>
                <p:xfrm>
                  <a:off x="928694" y="2214578"/>
                  <a:ext cx="301625" cy="320675"/>
                </p:xfrm>
                <a:graphic>
                  <a:graphicData uri="http://schemas.openxmlformats.org/presentationml/2006/ole">
                    <mc:AlternateContent xmlns:mc="http://schemas.openxmlformats.org/markup-compatibility/2006">
                      <mc:Choice xmlns:v="urn:schemas-microsoft-com:vml" Requires="v">
                        <p:oleObj spid="_x0000_s182116" r:id="rId9" imgW="216747" imgH="229496" progId="">
                          <p:embed/>
                        </p:oleObj>
                      </mc:Choice>
                      <mc:Fallback>
                        <p:oleObj r:id="rId9" imgW="216747" imgH="229496" progId="">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28694" y="2214578"/>
                                <a:ext cx="3016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817" name="Object 16"/>
                  <p:cNvGraphicFramePr>
                    <a:graphicFrameLocks noChangeAspect="1"/>
                  </p:cNvGraphicFramePr>
                  <p:nvPr/>
                </p:nvGraphicFramePr>
                <p:xfrm>
                  <a:off x="0" y="785818"/>
                  <a:ext cx="212725" cy="320675"/>
                </p:xfrm>
                <a:graphic>
                  <a:graphicData uri="http://schemas.openxmlformats.org/presentationml/2006/ole">
                    <mc:AlternateContent xmlns:mc="http://schemas.openxmlformats.org/markup-compatibility/2006">
                      <mc:Choice xmlns:v="urn:schemas-microsoft-com:vml" Requires="v">
                        <p:oleObj spid="_x0000_s182117" r:id="rId11" imgW="153131" imgH="229697" progId="">
                          <p:embed/>
                        </p:oleObj>
                      </mc:Choice>
                      <mc:Fallback>
                        <p:oleObj r:id="rId11" imgW="153131" imgH="229697" progId="">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785818"/>
                                <a:ext cx="2127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818" name="Object 17"/>
                  <p:cNvGraphicFramePr>
                    <a:graphicFrameLocks noChangeAspect="1"/>
                  </p:cNvGraphicFramePr>
                  <p:nvPr/>
                </p:nvGraphicFramePr>
                <p:xfrm>
                  <a:off x="1428760" y="0"/>
                  <a:ext cx="230188" cy="320675"/>
                </p:xfrm>
                <a:graphic>
                  <a:graphicData uri="http://schemas.openxmlformats.org/presentationml/2006/ole">
                    <mc:AlternateContent xmlns:mc="http://schemas.openxmlformats.org/markup-compatibility/2006">
                      <mc:Choice xmlns:v="urn:schemas-microsoft-com:vml" Requires="v">
                        <p:oleObj spid="_x0000_s182118" r:id="rId13" imgW="165820" imgH="229597" progId="">
                          <p:embed/>
                        </p:oleObj>
                      </mc:Choice>
                      <mc:Fallback>
                        <p:oleObj r:id="rId13" imgW="165820" imgH="229597" progId="">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28760" y="0"/>
                                <a:ext cx="230188"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grpSp>
      <p:grpSp>
        <p:nvGrpSpPr>
          <p:cNvPr id="27666" name="组合 34"/>
          <p:cNvGrpSpPr>
            <a:grpSpLocks/>
          </p:cNvGrpSpPr>
          <p:nvPr/>
        </p:nvGrpSpPr>
        <p:grpSpPr bwMode="auto">
          <a:xfrm>
            <a:off x="3707904" y="1988840"/>
            <a:ext cx="2122487" cy="3013075"/>
            <a:chOff x="0" y="0"/>
            <a:chExt cx="2122501" cy="3012538"/>
          </a:xfrm>
        </p:grpSpPr>
        <p:cxnSp>
          <p:nvCxnSpPr>
            <p:cNvPr id="32790" name="直接箭头连接符 35"/>
            <p:cNvCxnSpPr>
              <a:cxnSpLocks noChangeShapeType="1"/>
            </p:cNvCxnSpPr>
            <p:nvPr/>
          </p:nvCxnSpPr>
          <p:spPr bwMode="auto">
            <a:xfrm>
              <a:off x="285752" y="2214168"/>
              <a:ext cx="1785949"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sp>
          <p:nvSpPr>
            <p:cNvPr id="32791" name="TextBox 36"/>
            <p:cNvSpPr txBox="1">
              <a:spLocks noChangeArrowheads="1"/>
            </p:cNvSpPr>
            <p:nvPr/>
          </p:nvSpPr>
          <p:spPr bwMode="auto">
            <a:xfrm>
              <a:off x="857256" y="2643206"/>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0">
                  <a:solidFill>
                    <a:schemeClr val="tx1"/>
                  </a:solidFill>
                </a:rPr>
                <a:t>(b)</a:t>
              </a:r>
              <a:endParaRPr lang="zh-CN" altLang="en-US" sz="1800" b="0">
                <a:solidFill>
                  <a:schemeClr val="tx1"/>
                </a:solidFill>
              </a:endParaRPr>
            </a:p>
          </p:txBody>
        </p:sp>
        <p:grpSp>
          <p:nvGrpSpPr>
            <p:cNvPr id="32792" name="组合 32"/>
            <p:cNvGrpSpPr>
              <a:grpSpLocks/>
            </p:cNvGrpSpPr>
            <p:nvPr/>
          </p:nvGrpSpPr>
          <p:grpSpPr bwMode="auto">
            <a:xfrm>
              <a:off x="0" y="0"/>
              <a:ext cx="2122501" cy="2606691"/>
              <a:chOff x="0" y="0"/>
              <a:chExt cx="2122501" cy="2606691"/>
            </a:xfrm>
          </p:grpSpPr>
          <p:cxnSp>
            <p:nvCxnSpPr>
              <p:cNvPr id="32793" name="直接箭头连接符 38"/>
              <p:cNvCxnSpPr>
                <a:cxnSpLocks noChangeShapeType="1"/>
              </p:cNvCxnSpPr>
              <p:nvPr/>
            </p:nvCxnSpPr>
            <p:spPr bwMode="auto">
              <a:xfrm rot="5400000" flipH="1" flipV="1">
                <a:off x="-820539" y="1106285"/>
                <a:ext cx="2214168"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grpSp>
            <p:nvGrpSpPr>
              <p:cNvPr id="32794" name="组合 31"/>
              <p:cNvGrpSpPr>
                <a:grpSpLocks/>
              </p:cNvGrpSpPr>
              <p:nvPr/>
            </p:nvGrpSpPr>
            <p:grpSpPr bwMode="auto">
              <a:xfrm>
                <a:off x="0" y="71438"/>
                <a:ext cx="2122501" cy="2535253"/>
                <a:chOff x="0" y="0"/>
                <a:chExt cx="2122501" cy="2535253"/>
              </a:xfrm>
            </p:grpSpPr>
            <p:cxnSp>
              <p:nvCxnSpPr>
                <p:cNvPr id="32795" name="直接连接符 40"/>
                <p:cNvCxnSpPr>
                  <a:cxnSpLocks noChangeShapeType="1"/>
                </p:cNvCxnSpPr>
                <p:nvPr/>
              </p:nvCxnSpPr>
              <p:spPr bwMode="auto">
                <a:xfrm rot="5400000">
                  <a:off x="465252" y="1534825"/>
                  <a:ext cx="1214222"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nvGrpSpPr>
                <p:cNvPr id="32796" name="组合 28"/>
                <p:cNvGrpSpPr>
                  <a:grpSpLocks/>
                </p:cNvGrpSpPr>
                <p:nvPr/>
              </p:nvGrpSpPr>
              <p:grpSpPr bwMode="auto">
                <a:xfrm>
                  <a:off x="0" y="0"/>
                  <a:ext cx="2122501" cy="2535253"/>
                  <a:chOff x="0" y="0"/>
                  <a:chExt cx="2122501" cy="2535253"/>
                </a:xfrm>
              </p:grpSpPr>
              <p:cxnSp>
                <p:nvCxnSpPr>
                  <p:cNvPr id="32797" name="直接连接符 42"/>
                  <p:cNvCxnSpPr>
                    <a:cxnSpLocks noChangeShapeType="1"/>
                  </p:cNvCxnSpPr>
                  <p:nvPr/>
                </p:nvCxnSpPr>
                <p:spPr bwMode="auto">
                  <a:xfrm rot="5400000" flipH="1" flipV="1">
                    <a:off x="214446" y="714156"/>
                    <a:ext cx="1499921" cy="785817"/>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32798" name="直接连接符 43"/>
                  <p:cNvCxnSpPr>
                    <a:cxnSpLocks noChangeShapeType="1"/>
                  </p:cNvCxnSpPr>
                  <p:nvPr/>
                </p:nvCxnSpPr>
                <p:spPr bwMode="auto">
                  <a:xfrm>
                    <a:off x="285752" y="928508"/>
                    <a:ext cx="785817"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2799" name="Object 28"/>
                  <p:cNvGraphicFramePr>
                    <a:graphicFrameLocks noChangeAspect="1"/>
                  </p:cNvGraphicFramePr>
                  <p:nvPr/>
                </p:nvGraphicFramePr>
                <p:xfrm>
                  <a:off x="71438" y="2214578"/>
                  <a:ext cx="212725" cy="247650"/>
                </p:xfrm>
                <a:graphic>
                  <a:graphicData uri="http://schemas.openxmlformats.org/presentationml/2006/ole">
                    <mc:AlternateContent xmlns:mc="http://schemas.openxmlformats.org/markup-compatibility/2006">
                      <mc:Choice xmlns:v="urn:schemas-microsoft-com:vml" Requires="v">
                        <p:oleObj spid="_x0000_s182119" r:id="rId15" imgW="153198" imgH="178731" progId="">
                          <p:embed/>
                        </p:oleObj>
                      </mc:Choice>
                      <mc:Fallback>
                        <p:oleObj r:id="rId15" imgW="153198" imgH="178731" progId="">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8" y="2214578"/>
                                <a:ext cx="212725"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800" name="Object 29"/>
                  <p:cNvGraphicFramePr>
                    <a:graphicFrameLocks noChangeAspect="1"/>
                  </p:cNvGraphicFramePr>
                  <p:nvPr/>
                </p:nvGraphicFramePr>
                <p:xfrm>
                  <a:off x="0" y="0"/>
                  <a:ext cx="212725" cy="230188"/>
                </p:xfrm>
                <a:graphic>
                  <a:graphicData uri="http://schemas.openxmlformats.org/presentationml/2006/ole">
                    <mc:AlternateContent xmlns:mc="http://schemas.openxmlformats.org/markup-compatibility/2006">
                      <mc:Choice xmlns:v="urn:schemas-microsoft-com:vml" Requires="v">
                        <p:oleObj spid="_x0000_s182120" r:id="rId16" imgW="153332" imgH="166109" progId="">
                          <p:embed/>
                        </p:oleObj>
                      </mc:Choice>
                      <mc:Fallback>
                        <p:oleObj r:id="rId16" imgW="153332" imgH="166109" progId="">
                          <p:embed/>
                          <p:pic>
                            <p:nvPicPr>
                              <p:cNvPr id="0" name="Object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212725"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801" name="Object 30"/>
                  <p:cNvGraphicFramePr>
                    <a:graphicFrameLocks noChangeAspect="1"/>
                  </p:cNvGraphicFramePr>
                  <p:nvPr/>
                </p:nvGraphicFramePr>
                <p:xfrm>
                  <a:off x="1857388" y="2214578"/>
                  <a:ext cx="265113" cy="320675"/>
                </p:xfrm>
                <a:graphic>
                  <a:graphicData uri="http://schemas.openxmlformats.org/presentationml/2006/ole">
                    <mc:AlternateContent xmlns:mc="http://schemas.openxmlformats.org/markup-compatibility/2006">
                      <mc:Choice xmlns:v="urn:schemas-microsoft-com:vml" Requires="v">
                        <p:oleObj spid="_x0000_s182121" r:id="rId17" imgW="191414" imgH="229697" progId="">
                          <p:embed/>
                        </p:oleObj>
                      </mc:Choice>
                      <mc:Fallback>
                        <p:oleObj r:id="rId17" imgW="191414" imgH="229697" progId="">
                          <p:embed/>
                          <p:pic>
                            <p:nvPicPr>
                              <p:cNvPr id="0" name="Object 3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57388" y="2214578"/>
                                <a:ext cx="2651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802" name="Object 31"/>
                  <p:cNvGraphicFramePr>
                    <a:graphicFrameLocks noChangeAspect="1"/>
                  </p:cNvGraphicFramePr>
                  <p:nvPr/>
                </p:nvGraphicFramePr>
                <p:xfrm>
                  <a:off x="928694" y="2214578"/>
                  <a:ext cx="319087" cy="320675"/>
                </p:xfrm>
                <a:graphic>
                  <a:graphicData uri="http://schemas.openxmlformats.org/presentationml/2006/ole">
                    <mc:AlternateContent xmlns:mc="http://schemas.openxmlformats.org/markup-compatibility/2006">
                      <mc:Choice xmlns:v="urn:schemas-microsoft-com:vml" Requires="v">
                        <p:oleObj spid="_x0000_s182122" r:id="rId19" imgW="229797" imgH="229797" progId="">
                          <p:embed/>
                        </p:oleObj>
                      </mc:Choice>
                      <mc:Fallback>
                        <p:oleObj r:id="rId19" imgW="229797" imgH="229797" progId="">
                          <p:embed/>
                          <p:pic>
                            <p:nvPicPr>
                              <p:cNvPr id="0" name="Object 3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28694" y="2214578"/>
                                <a:ext cx="31908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803" name="Object 32"/>
                  <p:cNvGraphicFramePr>
                    <a:graphicFrameLocks noChangeAspect="1"/>
                  </p:cNvGraphicFramePr>
                  <p:nvPr/>
                </p:nvGraphicFramePr>
                <p:xfrm>
                  <a:off x="1420818" y="2"/>
                  <a:ext cx="247650" cy="320675"/>
                </p:xfrm>
                <a:graphic>
                  <a:graphicData uri="http://schemas.openxmlformats.org/presentationml/2006/ole">
                    <mc:AlternateContent xmlns:mc="http://schemas.openxmlformats.org/markup-compatibility/2006">
                      <mc:Choice xmlns:v="urn:schemas-microsoft-com:vml" Requires="v">
                        <p:oleObj spid="_x0000_s182123" r:id="rId21" imgW="178497" imgH="229496" progId="">
                          <p:embed/>
                        </p:oleObj>
                      </mc:Choice>
                      <mc:Fallback>
                        <p:oleObj r:id="rId21" imgW="178497" imgH="229496" progId="">
                          <p:embed/>
                          <p:pic>
                            <p:nvPicPr>
                              <p:cNvPr id="0" name="Object 3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20818" y="2"/>
                                <a:ext cx="247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grpSp>
      <p:grpSp>
        <p:nvGrpSpPr>
          <p:cNvPr id="27681" name="组合 50"/>
          <p:cNvGrpSpPr>
            <a:grpSpLocks/>
          </p:cNvGrpSpPr>
          <p:nvPr/>
        </p:nvGrpSpPr>
        <p:grpSpPr bwMode="auto">
          <a:xfrm>
            <a:off x="6084391" y="1988840"/>
            <a:ext cx="2282825" cy="3013075"/>
            <a:chOff x="0" y="0"/>
            <a:chExt cx="2282840" cy="3012538"/>
          </a:xfrm>
        </p:grpSpPr>
        <p:cxnSp>
          <p:nvCxnSpPr>
            <p:cNvPr id="32776" name="直接箭头连接符 51"/>
            <p:cNvCxnSpPr>
              <a:cxnSpLocks noChangeShapeType="1"/>
            </p:cNvCxnSpPr>
            <p:nvPr/>
          </p:nvCxnSpPr>
          <p:spPr bwMode="auto">
            <a:xfrm>
              <a:off x="285752" y="2214168"/>
              <a:ext cx="1928825"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sp>
          <p:nvSpPr>
            <p:cNvPr id="32777" name="TextBox 52"/>
            <p:cNvSpPr txBox="1">
              <a:spLocks noChangeArrowheads="1"/>
            </p:cNvSpPr>
            <p:nvPr/>
          </p:nvSpPr>
          <p:spPr bwMode="auto">
            <a:xfrm>
              <a:off x="928694" y="2643206"/>
              <a:ext cx="4539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0">
                  <a:solidFill>
                    <a:schemeClr val="tx1"/>
                  </a:solidFill>
                </a:rPr>
                <a:t>(c)</a:t>
              </a:r>
              <a:endParaRPr lang="zh-CN" altLang="en-US" sz="1800" b="0">
                <a:solidFill>
                  <a:schemeClr val="tx1"/>
                </a:solidFill>
              </a:endParaRPr>
            </a:p>
          </p:txBody>
        </p:sp>
        <p:grpSp>
          <p:nvGrpSpPr>
            <p:cNvPr id="32778" name="组合 32"/>
            <p:cNvGrpSpPr>
              <a:grpSpLocks/>
            </p:cNvGrpSpPr>
            <p:nvPr/>
          </p:nvGrpSpPr>
          <p:grpSpPr bwMode="auto">
            <a:xfrm>
              <a:off x="0" y="0"/>
              <a:ext cx="2282840" cy="2606691"/>
              <a:chOff x="0" y="0"/>
              <a:chExt cx="2282840" cy="2606691"/>
            </a:xfrm>
          </p:grpSpPr>
          <p:cxnSp>
            <p:nvCxnSpPr>
              <p:cNvPr id="32779" name="直接箭头连接符 54"/>
              <p:cNvCxnSpPr>
                <a:cxnSpLocks noChangeShapeType="1"/>
              </p:cNvCxnSpPr>
              <p:nvPr/>
            </p:nvCxnSpPr>
            <p:spPr bwMode="auto">
              <a:xfrm rot="5400000" flipH="1" flipV="1">
                <a:off x="-820539" y="1106285"/>
                <a:ext cx="2214168"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grpSp>
            <p:nvGrpSpPr>
              <p:cNvPr id="32780" name="组合 31"/>
              <p:cNvGrpSpPr>
                <a:grpSpLocks/>
              </p:cNvGrpSpPr>
              <p:nvPr/>
            </p:nvGrpSpPr>
            <p:grpSpPr bwMode="auto">
              <a:xfrm>
                <a:off x="0" y="71438"/>
                <a:ext cx="2282840" cy="2535253"/>
                <a:chOff x="0" y="0"/>
                <a:chExt cx="2282840" cy="2535253"/>
              </a:xfrm>
            </p:grpSpPr>
            <p:cxnSp>
              <p:nvCxnSpPr>
                <p:cNvPr id="32781" name="直接连接符 56"/>
                <p:cNvCxnSpPr>
                  <a:cxnSpLocks noChangeShapeType="1"/>
                </p:cNvCxnSpPr>
                <p:nvPr/>
              </p:nvCxnSpPr>
              <p:spPr bwMode="auto">
                <a:xfrm rot="5400000">
                  <a:off x="1006588" y="1534819"/>
                  <a:ext cx="1214222"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nvGrpSpPr>
                <p:cNvPr id="32782" name="组合 28"/>
                <p:cNvGrpSpPr>
                  <a:grpSpLocks/>
                </p:cNvGrpSpPr>
                <p:nvPr/>
              </p:nvGrpSpPr>
              <p:grpSpPr bwMode="auto">
                <a:xfrm>
                  <a:off x="0" y="0"/>
                  <a:ext cx="2282840" cy="2535253"/>
                  <a:chOff x="0" y="0"/>
                  <a:chExt cx="2282840" cy="2535253"/>
                </a:xfrm>
              </p:grpSpPr>
              <p:cxnSp>
                <p:nvCxnSpPr>
                  <p:cNvPr id="32783" name="直接连接符 58"/>
                  <p:cNvCxnSpPr>
                    <a:cxnSpLocks noChangeShapeType="1"/>
                  </p:cNvCxnSpPr>
                  <p:nvPr/>
                </p:nvCxnSpPr>
                <p:spPr bwMode="auto">
                  <a:xfrm flipV="1">
                    <a:off x="500065" y="499960"/>
                    <a:ext cx="1643074" cy="1357071"/>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32784" name="直接连接符 59"/>
                  <p:cNvCxnSpPr>
                    <a:cxnSpLocks noChangeShapeType="1"/>
                  </p:cNvCxnSpPr>
                  <p:nvPr/>
                </p:nvCxnSpPr>
                <p:spPr bwMode="auto">
                  <a:xfrm>
                    <a:off x="285752" y="928508"/>
                    <a:ext cx="1285883" cy="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2785" name="Object 43"/>
                  <p:cNvGraphicFramePr>
                    <a:graphicFrameLocks noChangeAspect="1"/>
                  </p:cNvGraphicFramePr>
                  <p:nvPr/>
                </p:nvGraphicFramePr>
                <p:xfrm>
                  <a:off x="71438" y="2214578"/>
                  <a:ext cx="212725" cy="247650"/>
                </p:xfrm>
                <a:graphic>
                  <a:graphicData uri="http://schemas.openxmlformats.org/presentationml/2006/ole">
                    <mc:AlternateContent xmlns:mc="http://schemas.openxmlformats.org/markup-compatibility/2006">
                      <mc:Choice xmlns:v="urn:schemas-microsoft-com:vml" Requires="v">
                        <p:oleObj spid="_x0000_s182124" r:id="rId23" imgW="153198" imgH="178731" progId="">
                          <p:embed/>
                        </p:oleObj>
                      </mc:Choice>
                      <mc:Fallback>
                        <p:oleObj r:id="rId23" imgW="153198" imgH="178731" progId="">
                          <p:embed/>
                          <p:pic>
                            <p:nvPicPr>
                              <p:cNvPr id="0" name="Object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8" y="2214578"/>
                                <a:ext cx="212725"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786" name="Object 44"/>
                  <p:cNvGraphicFramePr>
                    <a:graphicFrameLocks noChangeAspect="1"/>
                  </p:cNvGraphicFramePr>
                  <p:nvPr/>
                </p:nvGraphicFramePr>
                <p:xfrm>
                  <a:off x="0" y="0"/>
                  <a:ext cx="212725" cy="230188"/>
                </p:xfrm>
                <a:graphic>
                  <a:graphicData uri="http://schemas.openxmlformats.org/presentationml/2006/ole">
                    <mc:AlternateContent xmlns:mc="http://schemas.openxmlformats.org/markup-compatibility/2006">
                      <mc:Choice xmlns:v="urn:schemas-microsoft-com:vml" Requires="v">
                        <p:oleObj spid="_x0000_s182125" r:id="rId24" imgW="153332" imgH="166109" progId="">
                          <p:embed/>
                        </p:oleObj>
                      </mc:Choice>
                      <mc:Fallback>
                        <p:oleObj r:id="rId24" imgW="153332" imgH="166109" progId="">
                          <p:embed/>
                          <p:pic>
                            <p:nvPicPr>
                              <p:cNvPr id="0" name="Object 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212725"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787" name="Object 45"/>
                  <p:cNvGraphicFramePr>
                    <a:graphicFrameLocks noChangeAspect="1"/>
                  </p:cNvGraphicFramePr>
                  <p:nvPr/>
                </p:nvGraphicFramePr>
                <p:xfrm>
                  <a:off x="2071702" y="2214578"/>
                  <a:ext cx="211138" cy="285750"/>
                </p:xfrm>
                <a:graphic>
                  <a:graphicData uri="http://schemas.openxmlformats.org/presentationml/2006/ole">
                    <mc:AlternateContent xmlns:mc="http://schemas.openxmlformats.org/markup-compatibility/2006">
                      <mc:Choice xmlns:v="urn:schemas-microsoft-com:vml" Requires="v">
                        <p:oleObj spid="_x0000_s182126" r:id="rId25" imgW="153332" imgH="204442" progId="">
                          <p:embed/>
                        </p:oleObj>
                      </mc:Choice>
                      <mc:Fallback>
                        <p:oleObj r:id="rId25" imgW="153332" imgH="204442" progId="">
                          <p:embed/>
                          <p:pic>
                            <p:nvPicPr>
                              <p:cNvPr id="0" name="Object 4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071702" y="2214578"/>
                                <a:ext cx="211138"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788" name="Object 46"/>
                  <p:cNvGraphicFramePr>
                    <a:graphicFrameLocks noChangeAspect="1"/>
                  </p:cNvGraphicFramePr>
                  <p:nvPr/>
                </p:nvGraphicFramePr>
                <p:xfrm>
                  <a:off x="1214446" y="2214578"/>
                  <a:ext cx="781050" cy="320675"/>
                </p:xfrm>
                <a:graphic>
                  <a:graphicData uri="http://schemas.openxmlformats.org/presentationml/2006/ole">
                    <mc:AlternateContent xmlns:mc="http://schemas.openxmlformats.org/markup-compatibility/2006">
                      <mc:Choice xmlns:v="urn:schemas-microsoft-com:vml" Requires="v">
                        <p:oleObj spid="_x0000_s182127" r:id="rId27" imgW="560015" imgH="229097" progId="">
                          <p:embed/>
                        </p:oleObj>
                      </mc:Choice>
                      <mc:Fallback>
                        <p:oleObj r:id="rId27" imgW="560015" imgH="229097" progId="">
                          <p:embed/>
                          <p:pic>
                            <p:nvPicPr>
                              <p:cNvPr id="0" name="Object 4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214446" y="2214578"/>
                                <a:ext cx="7810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789" name="Object 47"/>
                  <p:cNvGraphicFramePr>
                    <a:graphicFrameLocks noChangeAspect="1"/>
                  </p:cNvGraphicFramePr>
                  <p:nvPr/>
                </p:nvGraphicFramePr>
                <p:xfrm>
                  <a:off x="1946264" y="106364"/>
                  <a:ext cx="193675" cy="249238"/>
                </p:xfrm>
                <a:graphic>
                  <a:graphicData uri="http://schemas.openxmlformats.org/presentationml/2006/ole">
                    <mc:AlternateContent xmlns:mc="http://schemas.openxmlformats.org/markup-compatibility/2006">
                      <mc:Choice xmlns:v="urn:schemas-microsoft-com:vml" Requires="v">
                        <p:oleObj spid="_x0000_s182128" r:id="rId29" imgW="140493" imgH="178809" progId="">
                          <p:embed/>
                        </p:oleObj>
                      </mc:Choice>
                      <mc:Fallback>
                        <p:oleObj r:id="rId29" imgW="140493" imgH="178809" progId="">
                          <p:embed/>
                          <p:pic>
                            <p:nvPicPr>
                              <p:cNvPr id="0" name="Object 4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946264" y="106364"/>
                                <a:ext cx="193675" cy="24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grpSp>
      <p:cxnSp>
        <p:nvCxnSpPr>
          <p:cNvPr id="27696" name="直接连接符 76"/>
          <p:cNvCxnSpPr>
            <a:cxnSpLocks noChangeShapeType="1"/>
          </p:cNvCxnSpPr>
          <p:nvPr/>
        </p:nvCxnSpPr>
        <p:spPr bwMode="auto">
          <a:xfrm>
            <a:off x="2052141" y="2996902"/>
            <a:ext cx="1928813" cy="3175"/>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27697" name="直接连接符 77"/>
          <p:cNvCxnSpPr>
            <a:cxnSpLocks noChangeShapeType="1"/>
          </p:cNvCxnSpPr>
          <p:nvPr/>
        </p:nvCxnSpPr>
        <p:spPr bwMode="auto">
          <a:xfrm>
            <a:off x="4788991" y="2996902"/>
            <a:ext cx="1643063" cy="3175"/>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53" name="Object 3"/>
          <p:cNvGraphicFramePr>
            <a:graphicFrameLocks noChangeAspect="1"/>
          </p:cNvGraphicFramePr>
          <p:nvPr>
            <p:extLst>
              <p:ext uri="{D42A27DB-BD31-4B8C-83A1-F6EECF244321}">
                <p14:modId xmlns:p14="http://schemas.microsoft.com/office/powerpoint/2010/main" val="3287179817"/>
              </p:ext>
            </p:extLst>
          </p:nvPr>
        </p:nvGraphicFramePr>
        <p:xfrm>
          <a:off x="1416346" y="5130497"/>
          <a:ext cx="3379788" cy="524061"/>
        </p:xfrm>
        <a:graphic>
          <a:graphicData uri="http://schemas.openxmlformats.org/presentationml/2006/ole">
            <mc:AlternateContent xmlns:mc="http://schemas.openxmlformats.org/markup-compatibility/2006">
              <mc:Choice xmlns:v="urn:schemas-microsoft-com:vml" Requires="v">
                <p:oleObj spid="_x0000_s182129" r:id="rId31" imgW="1637589" imgH="253890" progId="">
                  <p:embed/>
                </p:oleObj>
              </mc:Choice>
              <mc:Fallback>
                <p:oleObj r:id="rId31" imgW="1637589" imgH="253890" progId="">
                  <p:embed/>
                  <p:pic>
                    <p:nvPicPr>
                      <p:cNvPr id="8" name="Object 3"/>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416346" y="5130497"/>
                        <a:ext cx="3379788" cy="524061"/>
                      </a:xfrm>
                      <a:prstGeom prst="rect">
                        <a:avLst/>
                      </a:prstGeom>
                      <a:noFill/>
                      <a:ln>
                        <a:noFill/>
                      </a:ln>
                      <a:effectLst/>
                    </p:spPr>
                  </p:pic>
                </p:oleObj>
              </mc:Fallback>
            </mc:AlternateContent>
          </a:graphicData>
        </a:graphic>
      </p:graphicFrame>
      <p:graphicFrame>
        <p:nvGraphicFramePr>
          <p:cNvPr id="54" name="Object 4"/>
          <p:cNvGraphicFramePr>
            <a:graphicFrameLocks noChangeAspect="1"/>
          </p:cNvGraphicFramePr>
          <p:nvPr>
            <p:extLst>
              <p:ext uri="{D42A27DB-BD31-4B8C-83A1-F6EECF244321}">
                <p14:modId xmlns:p14="http://schemas.microsoft.com/office/powerpoint/2010/main" val="2065645424"/>
              </p:ext>
            </p:extLst>
          </p:nvPr>
        </p:nvGraphicFramePr>
        <p:xfrm>
          <a:off x="6084391" y="4967663"/>
          <a:ext cx="2605387" cy="786002"/>
        </p:xfrm>
        <a:graphic>
          <a:graphicData uri="http://schemas.openxmlformats.org/presentationml/2006/ole">
            <mc:AlternateContent xmlns:mc="http://schemas.openxmlformats.org/markup-compatibility/2006">
              <mc:Choice xmlns:v="urn:schemas-microsoft-com:vml" Requires="v">
                <p:oleObj spid="_x0000_s182130" r:id="rId33" imgW="1473200" imgH="444500" progId="">
                  <p:embed/>
                </p:oleObj>
              </mc:Choice>
              <mc:Fallback>
                <p:oleObj r:id="rId33" imgW="1473200" imgH="444500" progId="">
                  <p:embed/>
                  <p:pic>
                    <p:nvPicPr>
                      <p:cNvPr id="9" name="Object 4"/>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084391" y="4967663"/>
                        <a:ext cx="2605387" cy="786002"/>
                      </a:xfrm>
                      <a:prstGeom prst="rect">
                        <a:avLst/>
                      </a:prstGeom>
                      <a:noFill/>
                      <a:ln>
                        <a:noFill/>
                      </a:ln>
                      <a:effectLst/>
                    </p:spPr>
                  </p:pic>
                </p:oleObj>
              </mc:Fallback>
            </mc:AlternateContent>
          </a:graphicData>
        </a:graphic>
      </p:graphicFrame>
      <p:sp>
        <p:nvSpPr>
          <p:cNvPr id="56" name="矩形 55">
            <a:extLst>
              <a:ext uri="{FF2B5EF4-FFF2-40B4-BE49-F238E27FC236}">
                <a16:creationId xmlns:a16="http://schemas.microsoft.com/office/drawing/2014/main" id="{99A861F3-1BF5-4FA4-A7CE-A93F6E99B7C4}"/>
              </a:ext>
            </a:extLst>
          </p:cNvPr>
          <p:cNvSpPr/>
          <p:nvPr/>
        </p:nvSpPr>
        <p:spPr>
          <a:xfrm>
            <a:off x="7455320" y="0"/>
            <a:ext cx="1523174"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第二节 供给</a:t>
            </a:r>
          </a:p>
        </p:txBody>
      </p:sp>
      <p:sp>
        <p:nvSpPr>
          <p:cNvPr id="55" name="矩形 54">
            <a:extLst>
              <a:ext uri="{FF2B5EF4-FFF2-40B4-BE49-F238E27FC236}">
                <a16:creationId xmlns:a16="http://schemas.microsoft.com/office/drawing/2014/main" id="{845080B3-4A65-45FA-B1AC-20567EDACF6E}"/>
              </a:ext>
            </a:extLst>
          </p:cNvPr>
          <p:cNvSpPr/>
          <p:nvPr/>
        </p:nvSpPr>
        <p:spPr>
          <a:xfrm>
            <a:off x="467544" y="554866"/>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五、从厂商供给到市场供给</a:t>
            </a:r>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650"/>
                                        </p:tgtEl>
                                        <p:attrNameLst>
                                          <p:attrName>style.visibility</p:attrName>
                                        </p:attrNameLst>
                                      </p:cBhvr>
                                      <p:to>
                                        <p:strVal val="visible"/>
                                      </p:to>
                                    </p:set>
                                    <p:anim calcmode="lin" valueType="num">
                                      <p:cBhvr additive="base">
                                        <p:cTn id="7" dur="500" fill="hold"/>
                                        <p:tgtEl>
                                          <p:spTgt spid="27650"/>
                                        </p:tgtEl>
                                        <p:attrNameLst>
                                          <p:attrName>ppt_x</p:attrName>
                                        </p:attrNameLst>
                                      </p:cBhvr>
                                      <p:tavLst>
                                        <p:tav tm="0">
                                          <p:val>
                                            <p:strVal val="#ppt_x"/>
                                          </p:val>
                                        </p:tav>
                                        <p:tav tm="100000">
                                          <p:val>
                                            <p:strVal val="#ppt_x"/>
                                          </p:val>
                                        </p:tav>
                                      </p:tavLst>
                                    </p:anim>
                                    <p:anim calcmode="lin" valueType="num">
                                      <p:cBhvr additive="base">
                                        <p:cTn id="8" dur="500" fill="hold"/>
                                        <p:tgtEl>
                                          <p:spTgt spid="276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3"/>
                                        </p:tgtEl>
                                        <p:attrNameLst>
                                          <p:attrName>style.visibility</p:attrName>
                                        </p:attrNameLst>
                                      </p:cBhvr>
                                      <p:to>
                                        <p:strVal val="visible"/>
                                      </p:to>
                                    </p:set>
                                    <p:anim calcmode="lin" valueType="num">
                                      <p:cBhvr additive="base">
                                        <p:cTn id="13" dur="500" fill="hold"/>
                                        <p:tgtEl>
                                          <p:spTgt spid="53"/>
                                        </p:tgtEl>
                                        <p:attrNameLst>
                                          <p:attrName>ppt_x</p:attrName>
                                        </p:attrNameLst>
                                      </p:cBhvr>
                                      <p:tavLst>
                                        <p:tav tm="0">
                                          <p:val>
                                            <p:strVal val="#ppt_x"/>
                                          </p:val>
                                        </p:tav>
                                        <p:tav tm="100000">
                                          <p:val>
                                            <p:strVal val="#ppt_x"/>
                                          </p:val>
                                        </p:tav>
                                      </p:tavLst>
                                    </p:anim>
                                    <p:anim calcmode="lin" valueType="num">
                                      <p:cBhvr additive="base">
                                        <p:cTn id="14"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7696"/>
                                        </p:tgtEl>
                                        <p:attrNameLst>
                                          <p:attrName>style.visibility</p:attrName>
                                        </p:attrNameLst>
                                      </p:cBhvr>
                                      <p:to>
                                        <p:strVal val="visible"/>
                                      </p:to>
                                    </p:set>
                                    <p:anim calcmode="lin" valueType="num">
                                      <p:cBhvr additive="base">
                                        <p:cTn id="19" dur="500" fill="hold"/>
                                        <p:tgtEl>
                                          <p:spTgt spid="27696"/>
                                        </p:tgtEl>
                                        <p:attrNameLst>
                                          <p:attrName>ppt_x</p:attrName>
                                        </p:attrNameLst>
                                      </p:cBhvr>
                                      <p:tavLst>
                                        <p:tav tm="0">
                                          <p:val>
                                            <p:strVal val="#ppt_x"/>
                                          </p:val>
                                        </p:tav>
                                        <p:tav tm="100000">
                                          <p:val>
                                            <p:strVal val="#ppt_x"/>
                                          </p:val>
                                        </p:tav>
                                      </p:tavLst>
                                    </p:anim>
                                    <p:anim calcmode="lin" valueType="num">
                                      <p:cBhvr additive="base">
                                        <p:cTn id="20" dur="500" fill="hold"/>
                                        <p:tgtEl>
                                          <p:spTgt spid="27696"/>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 presetClass="entr" presetSubtype="4" fill="hold" nodeType="afterEffect">
                                  <p:stCondLst>
                                    <p:cond delay="0"/>
                                  </p:stCondLst>
                                  <p:childTnLst>
                                    <p:set>
                                      <p:cBhvr>
                                        <p:cTn id="23" dur="1" fill="hold">
                                          <p:stCondLst>
                                            <p:cond delay="0"/>
                                          </p:stCondLst>
                                        </p:cTn>
                                        <p:tgtEl>
                                          <p:spTgt spid="27666"/>
                                        </p:tgtEl>
                                        <p:attrNameLst>
                                          <p:attrName>style.visibility</p:attrName>
                                        </p:attrNameLst>
                                      </p:cBhvr>
                                      <p:to>
                                        <p:strVal val="visible"/>
                                      </p:to>
                                    </p:set>
                                    <p:anim calcmode="lin" valueType="num">
                                      <p:cBhvr additive="base">
                                        <p:cTn id="24" dur="500" fill="hold"/>
                                        <p:tgtEl>
                                          <p:spTgt spid="27666"/>
                                        </p:tgtEl>
                                        <p:attrNameLst>
                                          <p:attrName>ppt_x</p:attrName>
                                        </p:attrNameLst>
                                      </p:cBhvr>
                                      <p:tavLst>
                                        <p:tav tm="0">
                                          <p:val>
                                            <p:strVal val="#ppt_x"/>
                                          </p:val>
                                        </p:tav>
                                        <p:tav tm="100000">
                                          <p:val>
                                            <p:strVal val="#ppt_x"/>
                                          </p:val>
                                        </p:tav>
                                      </p:tavLst>
                                    </p:anim>
                                    <p:anim calcmode="lin" valueType="num">
                                      <p:cBhvr additive="base">
                                        <p:cTn id="25" dur="500" fill="hold"/>
                                        <p:tgtEl>
                                          <p:spTgt spid="27666"/>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7697"/>
                                        </p:tgtEl>
                                        <p:attrNameLst>
                                          <p:attrName>style.visibility</p:attrName>
                                        </p:attrNameLst>
                                      </p:cBhvr>
                                      <p:to>
                                        <p:strVal val="visible"/>
                                      </p:to>
                                    </p:set>
                                    <p:anim calcmode="lin" valueType="num">
                                      <p:cBhvr additive="base">
                                        <p:cTn id="30" dur="500" fill="hold"/>
                                        <p:tgtEl>
                                          <p:spTgt spid="27697"/>
                                        </p:tgtEl>
                                        <p:attrNameLst>
                                          <p:attrName>ppt_x</p:attrName>
                                        </p:attrNameLst>
                                      </p:cBhvr>
                                      <p:tavLst>
                                        <p:tav tm="0">
                                          <p:val>
                                            <p:strVal val="#ppt_x"/>
                                          </p:val>
                                        </p:tav>
                                        <p:tav tm="100000">
                                          <p:val>
                                            <p:strVal val="#ppt_x"/>
                                          </p:val>
                                        </p:tav>
                                      </p:tavLst>
                                    </p:anim>
                                    <p:anim calcmode="lin" valueType="num">
                                      <p:cBhvr additive="base">
                                        <p:cTn id="31" dur="500" fill="hold"/>
                                        <p:tgtEl>
                                          <p:spTgt spid="27697"/>
                                        </p:tgtEl>
                                        <p:attrNameLst>
                                          <p:attrName>ppt_y</p:attrName>
                                        </p:attrNameLst>
                                      </p:cBhvr>
                                      <p:tavLst>
                                        <p:tav tm="0">
                                          <p:val>
                                            <p:strVal val="1+#ppt_h/2"/>
                                          </p:val>
                                        </p:tav>
                                        <p:tav tm="100000">
                                          <p:val>
                                            <p:strVal val="#ppt_y"/>
                                          </p:val>
                                        </p:tav>
                                      </p:tavLst>
                                    </p:anim>
                                  </p:childTnLst>
                                </p:cTn>
                              </p:par>
                            </p:childTnLst>
                          </p:cTn>
                        </p:par>
                        <p:par>
                          <p:cTn id="32" fill="hold">
                            <p:stCondLst>
                              <p:cond delay="500"/>
                            </p:stCondLst>
                            <p:childTnLst>
                              <p:par>
                                <p:cTn id="33" presetID="2" presetClass="entr" presetSubtype="4" fill="hold" nodeType="afterEffect">
                                  <p:stCondLst>
                                    <p:cond delay="0"/>
                                  </p:stCondLst>
                                  <p:childTnLst>
                                    <p:set>
                                      <p:cBhvr>
                                        <p:cTn id="34" dur="1" fill="hold">
                                          <p:stCondLst>
                                            <p:cond delay="0"/>
                                          </p:stCondLst>
                                        </p:cTn>
                                        <p:tgtEl>
                                          <p:spTgt spid="27681"/>
                                        </p:tgtEl>
                                        <p:attrNameLst>
                                          <p:attrName>style.visibility</p:attrName>
                                        </p:attrNameLst>
                                      </p:cBhvr>
                                      <p:to>
                                        <p:strVal val="visible"/>
                                      </p:to>
                                    </p:set>
                                    <p:anim calcmode="lin" valueType="num">
                                      <p:cBhvr additive="base">
                                        <p:cTn id="35" dur="500" fill="hold"/>
                                        <p:tgtEl>
                                          <p:spTgt spid="27681"/>
                                        </p:tgtEl>
                                        <p:attrNameLst>
                                          <p:attrName>ppt_x</p:attrName>
                                        </p:attrNameLst>
                                      </p:cBhvr>
                                      <p:tavLst>
                                        <p:tav tm="0">
                                          <p:val>
                                            <p:strVal val="#ppt_x"/>
                                          </p:val>
                                        </p:tav>
                                        <p:tav tm="100000">
                                          <p:val>
                                            <p:strVal val="#ppt_x"/>
                                          </p:val>
                                        </p:tav>
                                      </p:tavLst>
                                    </p:anim>
                                    <p:anim calcmode="lin" valueType="num">
                                      <p:cBhvr additive="base">
                                        <p:cTn id="36" dur="500" fill="hold"/>
                                        <p:tgtEl>
                                          <p:spTgt spid="27681"/>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54"/>
                                        </p:tgtEl>
                                        <p:attrNameLst>
                                          <p:attrName>style.visibility</p:attrName>
                                        </p:attrNameLst>
                                      </p:cBhvr>
                                      <p:to>
                                        <p:strVal val="visible"/>
                                      </p:to>
                                    </p:set>
                                    <p:anim calcmode="lin" valueType="num">
                                      <p:cBhvr additive="base">
                                        <p:cTn id="41" dur="500" fill="hold"/>
                                        <p:tgtEl>
                                          <p:spTgt spid="54"/>
                                        </p:tgtEl>
                                        <p:attrNameLst>
                                          <p:attrName>ppt_x</p:attrName>
                                        </p:attrNameLst>
                                      </p:cBhvr>
                                      <p:tavLst>
                                        <p:tav tm="0">
                                          <p:val>
                                            <p:strVal val="#ppt_x"/>
                                          </p:val>
                                        </p:tav>
                                        <p:tav tm="100000">
                                          <p:val>
                                            <p:strVal val="#ppt_x"/>
                                          </p:val>
                                        </p:tav>
                                      </p:tavLst>
                                    </p:anim>
                                    <p:anim calcmode="lin" valueType="num">
                                      <p:cBhvr additive="base">
                                        <p:cTn id="42"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D27843F-C8C8-4131-BFDC-E49DAECFC098}"/>
              </a:ext>
            </a:extLst>
          </p:cNvPr>
          <p:cNvSpPr/>
          <p:nvPr/>
        </p:nvSpPr>
        <p:spPr>
          <a:xfrm>
            <a:off x="2699792" y="736949"/>
            <a:ext cx="3877985" cy="646331"/>
          </a:xfrm>
          <a:prstGeom prst="rect">
            <a:avLst/>
          </a:prstGeom>
        </p:spPr>
        <p:txBody>
          <a:bodyPr wrap="none">
            <a:spAutoFit/>
          </a:bodyPr>
          <a:lstStyle/>
          <a:p>
            <a:r>
              <a:rPr lang="zh-CN" altLang="en-US" sz="3600" b="1" dirty="0">
                <a:latin typeface="微软雅黑" panose="020B0503020204020204" pitchFamily="34" charset="-122"/>
                <a:ea typeface="微软雅黑" panose="020B0503020204020204" pitchFamily="34" charset="-122"/>
                <a:cs typeface="+mj-cs"/>
              </a:rPr>
              <a:t>第三节	市场均衡</a:t>
            </a:r>
          </a:p>
        </p:txBody>
      </p:sp>
      <p:sp>
        <p:nvSpPr>
          <p:cNvPr id="3" name="MH_Other_1">
            <a:extLst>
              <a:ext uri="{FF2B5EF4-FFF2-40B4-BE49-F238E27FC236}">
                <a16:creationId xmlns:a16="http://schemas.microsoft.com/office/drawing/2014/main" id="{E49827CC-25A7-41B2-867D-685134B4A529}"/>
              </a:ext>
            </a:extLst>
          </p:cNvPr>
          <p:cNvSpPr>
            <a:spLocks/>
          </p:cNvSpPr>
          <p:nvPr>
            <p:custDataLst>
              <p:tags r:id="rId1"/>
            </p:custDataLst>
          </p:nvPr>
        </p:nvSpPr>
        <p:spPr bwMode="gray">
          <a:xfrm>
            <a:off x="2846735" y="2299632"/>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2"/>
            </p:custDataLst>
          </p:nvPr>
        </p:nvSpPr>
        <p:spPr bwMode="gray">
          <a:xfrm>
            <a:off x="2778472" y="1998007"/>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5" name="MH_Other_2">
            <a:extLst>
              <a:ext uri="{FF2B5EF4-FFF2-40B4-BE49-F238E27FC236}">
                <a16:creationId xmlns:a16="http://schemas.microsoft.com/office/drawing/2014/main" id="{DB311A0E-78D0-4766-B201-6B5608EF753D}"/>
              </a:ext>
            </a:extLst>
          </p:cNvPr>
          <p:cNvSpPr>
            <a:spLocks/>
          </p:cNvSpPr>
          <p:nvPr>
            <p:custDataLst>
              <p:tags r:id="rId3"/>
            </p:custDataLst>
          </p:nvPr>
        </p:nvSpPr>
        <p:spPr bwMode="gray">
          <a:xfrm>
            <a:off x="2846735" y="3397875"/>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6" name="MH_SubTitle_2">
            <a:extLst>
              <a:ext uri="{FF2B5EF4-FFF2-40B4-BE49-F238E27FC236}">
                <a16:creationId xmlns:a16="http://schemas.microsoft.com/office/drawing/2014/main" id="{324FEB12-6B52-4D2F-B5C9-D9A603800236}"/>
              </a:ext>
            </a:extLst>
          </p:cNvPr>
          <p:cNvSpPr>
            <a:spLocks noChangeArrowheads="1"/>
          </p:cNvSpPr>
          <p:nvPr>
            <p:custDataLst>
              <p:tags r:id="rId4"/>
            </p:custDataLst>
          </p:nvPr>
        </p:nvSpPr>
        <p:spPr bwMode="gray">
          <a:xfrm>
            <a:off x="2778472" y="3096250"/>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7" name="MH_Other_3">
            <a:extLst>
              <a:ext uri="{FF2B5EF4-FFF2-40B4-BE49-F238E27FC236}">
                <a16:creationId xmlns:a16="http://schemas.microsoft.com/office/drawing/2014/main" id="{9F9167DD-6270-4A4E-9E47-20FB88C3F048}"/>
              </a:ext>
            </a:extLst>
          </p:cNvPr>
          <p:cNvSpPr>
            <a:spLocks/>
          </p:cNvSpPr>
          <p:nvPr>
            <p:custDataLst>
              <p:tags r:id="rId5"/>
            </p:custDataLst>
          </p:nvPr>
        </p:nvSpPr>
        <p:spPr bwMode="gray">
          <a:xfrm>
            <a:off x="2846735" y="4478600"/>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8" name="MH_SubTitle_3">
            <a:extLst>
              <a:ext uri="{FF2B5EF4-FFF2-40B4-BE49-F238E27FC236}">
                <a16:creationId xmlns:a16="http://schemas.microsoft.com/office/drawing/2014/main" id="{3FEC77B5-DB98-453D-BDBC-6598DEA48C49}"/>
              </a:ext>
            </a:extLst>
          </p:cNvPr>
          <p:cNvSpPr>
            <a:spLocks noChangeArrowheads="1"/>
          </p:cNvSpPr>
          <p:nvPr>
            <p:custDataLst>
              <p:tags r:id="rId6"/>
            </p:custDataLst>
          </p:nvPr>
        </p:nvSpPr>
        <p:spPr bwMode="gray">
          <a:xfrm>
            <a:off x="2778472" y="4176975"/>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9" name="MH_Other_4">
            <a:extLst>
              <a:ext uri="{FF2B5EF4-FFF2-40B4-BE49-F238E27FC236}">
                <a16:creationId xmlns:a16="http://schemas.microsoft.com/office/drawing/2014/main" id="{49EAC476-10C1-4DAF-AEAB-4D58FAA0C0DE}"/>
              </a:ext>
            </a:extLst>
          </p:cNvPr>
          <p:cNvSpPr>
            <a:spLocks/>
          </p:cNvSpPr>
          <p:nvPr>
            <p:custDataLst>
              <p:tags r:id="rId7"/>
            </p:custDataLst>
          </p:nvPr>
        </p:nvSpPr>
        <p:spPr bwMode="gray">
          <a:xfrm>
            <a:off x="2846735" y="5585846"/>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0" name="MH_SubTitle_4">
            <a:extLst>
              <a:ext uri="{FF2B5EF4-FFF2-40B4-BE49-F238E27FC236}">
                <a16:creationId xmlns:a16="http://schemas.microsoft.com/office/drawing/2014/main" id="{906C2589-D3EE-4ADE-A5EC-65B915A21062}"/>
              </a:ext>
            </a:extLst>
          </p:cNvPr>
          <p:cNvSpPr>
            <a:spLocks noChangeArrowheads="1"/>
          </p:cNvSpPr>
          <p:nvPr>
            <p:custDataLst>
              <p:tags r:id="rId8"/>
            </p:custDataLst>
          </p:nvPr>
        </p:nvSpPr>
        <p:spPr bwMode="gray">
          <a:xfrm>
            <a:off x="2778472" y="5285809"/>
            <a:ext cx="1158875" cy="354012"/>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四</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1" name="MH_Other_5">
            <a:extLst>
              <a:ext uri="{FF2B5EF4-FFF2-40B4-BE49-F238E27FC236}">
                <a16:creationId xmlns:a16="http://schemas.microsoft.com/office/drawing/2014/main" id="{25D06B7F-7DCD-4D03-A450-0AAC55A41525}"/>
              </a:ext>
            </a:extLst>
          </p:cNvPr>
          <p:cNvCxnSpPr>
            <a:stCxn id="4" idx="2"/>
            <a:endCxn id="6" idx="0"/>
          </p:cNvCxnSpPr>
          <p:nvPr>
            <p:custDataLst>
              <p:tags r:id="rId9"/>
            </p:custDataLst>
          </p:nvPr>
        </p:nvCxnSpPr>
        <p:spPr>
          <a:xfrm>
            <a:off x="3357910" y="2353607"/>
            <a:ext cx="0" cy="742643"/>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2" name="MH_Other_6">
            <a:extLst>
              <a:ext uri="{FF2B5EF4-FFF2-40B4-BE49-F238E27FC236}">
                <a16:creationId xmlns:a16="http://schemas.microsoft.com/office/drawing/2014/main" id="{B30D78AD-B3DA-44A6-A5F6-F28D02655A40}"/>
              </a:ext>
            </a:extLst>
          </p:cNvPr>
          <p:cNvCxnSpPr>
            <a:stCxn id="6" idx="2"/>
            <a:endCxn id="8" idx="0"/>
          </p:cNvCxnSpPr>
          <p:nvPr>
            <p:custDataLst>
              <p:tags r:id="rId10"/>
            </p:custDataLst>
          </p:nvPr>
        </p:nvCxnSpPr>
        <p:spPr>
          <a:xfrm>
            <a:off x="3357910" y="3451850"/>
            <a:ext cx="0" cy="725125"/>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3" name="MH_Other_7">
            <a:extLst>
              <a:ext uri="{FF2B5EF4-FFF2-40B4-BE49-F238E27FC236}">
                <a16:creationId xmlns:a16="http://schemas.microsoft.com/office/drawing/2014/main" id="{DF653FE5-3B26-45B8-A03B-DDBD47BE3AA3}"/>
              </a:ext>
            </a:extLst>
          </p:cNvPr>
          <p:cNvCxnSpPr>
            <a:stCxn id="8" idx="2"/>
            <a:endCxn id="10" idx="0"/>
          </p:cNvCxnSpPr>
          <p:nvPr>
            <p:custDataLst>
              <p:tags r:id="rId11"/>
            </p:custDataLst>
          </p:nvPr>
        </p:nvCxnSpPr>
        <p:spPr>
          <a:xfrm>
            <a:off x="3357910" y="4532575"/>
            <a:ext cx="0" cy="753234"/>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7" name="矩形 16">
            <a:extLst>
              <a:ext uri="{FF2B5EF4-FFF2-40B4-BE49-F238E27FC236}">
                <a16:creationId xmlns:a16="http://schemas.microsoft.com/office/drawing/2014/main" id="{66A93A4A-F736-4CF5-82B6-87D5F4B7E4E5}"/>
              </a:ext>
            </a:extLst>
          </p:cNvPr>
          <p:cNvSpPr/>
          <p:nvPr/>
        </p:nvSpPr>
        <p:spPr>
          <a:xfrm>
            <a:off x="4143747" y="1957734"/>
            <a:ext cx="1819729"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均衡的含义</a:t>
            </a:r>
          </a:p>
        </p:txBody>
      </p:sp>
      <p:sp>
        <p:nvSpPr>
          <p:cNvPr id="18" name="矩形 17">
            <a:extLst>
              <a:ext uri="{FF2B5EF4-FFF2-40B4-BE49-F238E27FC236}">
                <a16:creationId xmlns:a16="http://schemas.microsoft.com/office/drawing/2014/main" id="{6BA99CA7-A4CC-4245-BA58-DB89FA49F037}"/>
              </a:ext>
            </a:extLst>
          </p:cNvPr>
          <p:cNvSpPr/>
          <p:nvPr/>
        </p:nvSpPr>
        <p:spPr>
          <a:xfrm>
            <a:off x="4139952" y="3068960"/>
            <a:ext cx="3127779"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均衡价格和均衡数量</a:t>
            </a:r>
          </a:p>
        </p:txBody>
      </p:sp>
      <p:sp>
        <p:nvSpPr>
          <p:cNvPr id="19" name="矩形 18">
            <a:extLst>
              <a:ext uri="{FF2B5EF4-FFF2-40B4-BE49-F238E27FC236}">
                <a16:creationId xmlns:a16="http://schemas.microsoft.com/office/drawing/2014/main" id="{018105B0-EC74-4F50-9B33-7F18FF6C04E7}"/>
              </a:ext>
            </a:extLst>
          </p:cNvPr>
          <p:cNvSpPr/>
          <p:nvPr/>
        </p:nvSpPr>
        <p:spPr>
          <a:xfrm>
            <a:off x="4139952" y="4162667"/>
            <a:ext cx="2473754"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市场均衡的变动</a:t>
            </a:r>
          </a:p>
        </p:txBody>
      </p:sp>
      <p:sp>
        <p:nvSpPr>
          <p:cNvPr id="20" name="矩形 19">
            <a:extLst>
              <a:ext uri="{FF2B5EF4-FFF2-40B4-BE49-F238E27FC236}">
                <a16:creationId xmlns:a16="http://schemas.microsoft.com/office/drawing/2014/main" id="{E52AEF20-C2D6-4C68-8E54-0EF930AB28A2}"/>
              </a:ext>
            </a:extLst>
          </p:cNvPr>
          <p:cNvSpPr/>
          <p:nvPr/>
        </p:nvSpPr>
        <p:spPr>
          <a:xfrm>
            <a:off x="4139952" y="5231982"/>
            <a:ext cx="2473754" cy="461665"/>
          </a:xfrm>
          <a:prstGeom prst="rect">
            <a:avLst/>
          </a:prstGeom>
        </p:spPr>
        <p:txBody>
          <a:bodyPr wrap="none">
            <a:spAutoFit/>
          </a:bodyPr>
          <a:lstStyle/>
          <a:p>
            <a:pPr>
              <a:buFontTx/>
              <a:buNone/>
            </a:pPr>
            <a:r>
              <a:rPr lang="zh-CN" altLang="en-US" sz="2400" spc="150" dirty="0">
                <a:latin typeface="微软雅黑" panose="020B0503020204020204" pitchFamily="34" charset="-122"/>
                <a:ea typeface="微软雅黑" panose="020B0503020204020204" pitchFamily="34" charset="-122"/>
              </a:rPr>
              <a:t>经济模型的结构</a:t>
            </a:r>
          </a:p>
        </p:txBody>
      </p:sp>
    </p:spTree>
    <p:extLst>
      <p:ext uri="{BB962C8B-B14F-4D97-AF65-F5344CB8AC3E}">
        <p14:creationId xmlns:p14="http://schemas.microsoft.com/office/powerpoint/2010/main" val="2001206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8" dur="500"/>
                                        <p:tgtEl>
                                          <p:spTgt spid="17"/>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up)">
                                      <p:cBhvr>
                                        <p:cTn id="30" dur="500"/>
                                        <p:tgtEl>
                                          <p:spTgt spid="6"/>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left)">
                                      <p:cBhvr>
                                        <p:cTn id="33" dur="500"/>
                                        <p:tgtEl>
                                          <p:spTgt spid="18"/>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up)">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up)">
                                      <p:cBhvr>
                                        <p:cTn id="42" dur="500"/>
                                        <p:tgtEl>
                                          <p:spTgt spid="7"/>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up)">
                                      <p:cBhvr>
                                        <p:cTn id="45" dur="500"/>
                                        <p:tgtEl>
                                          <p:spTgt spid="8"/>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500"/>
                                        <p:tgtEl>
                                          <p:spTgt spid="19"/>
                                        </p:tgtEl>
                                      </p:cBhvr>
                                    </p:animEffect>
                                  </p:childTnLst>
                                </p:cTn>
                              </p:par>
                            </p:childTnLst>
                          </p:cTn>
                        </p:par>
                        <p:par>
                          <p:cTn id="49" fill="hold">
                            <p:stCondLst>
                              <p:cond delay="500"/>
                            </p:stCondLst>
                            <p:childTnLst>
                              <p:par>
                                <p:cTn id="50" presetID="22" presetClass="entr" presetSubtype="1" fill="hold" nodeType="after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up)">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up)">
                                      <p:cBhvr>
                                        <p:cTn id="57" dur="500"/>
                                        <p:tgtEl>
                                          <p:spTgt spid="9"/>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wipe(up)">
                                      <p:cBhvr>
                                        <p:cTn id="60" dur="500"/>
                                        <p:tgtEl>
                                          <p:spTgt spid="10"/>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wipe(left)">
                                      <p:cBhvr>
                                        <p:cTn id="6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P spid="8" grpId="0" animBg="1"/>
      <p:bldP spid="9" grpId="0" animBg="1"/>
      <p:bldP spid="10" grpId="0" animBg="1"/>
      <p:bldP spid="17" grpId="0"/>
      <p:bldP spid="18" grpId="0"/>
      <p:bldP spid="19" grpId="0"/>
      <p:bldP spid="2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F68E5273-CD77-47B9-B841-9D29349C133D}"/>
              </a:ext>
            </a:extLst>
          </p:cNvPr>
          <p:cNvSpPr/>
          <p:nvPr/>
        </p:nvSpPr>
        <p:spPr>
          <a:xfrm>
            <a:off x="467544" y="548680"/>
            <a:ext cx="258436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一、均衡的含义 </a:t>
            </a:r>
          </a:p>
        </p:txBody>
      </p:sp>
      <p:sp>
        <p:nvSpPr>
          <p:cNvPr id="17" name="矩形 16">
            <a:extLst>
              <a:ext uri="{FF2B5EF4-FFF2-40B4-BE49-F238E27FC236}">
                <a16:creationId xmlns:a16="http://schemas.microsoft.com/office/drawing/2014/main" id="{99A861F3-1BF5-4FA4-A7CE-A93F6E99B7C4}"/>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p:sp>
        <p:nvSpPr>
          <p:cNvPr id="25" name="TextBox 3"/>
          <p:cNvSpPr txBox="1">
            <a:spLocks noChangeArrowheads="1"/>
          </p:cNvSpPr>
          <p:nvPr/>
        </p:nvSpPr>
        <p:spPr bwMode="auto">
          <a:xfrm>
            <a:off x="683568" y="1018481"/>
            <a:ext cx="8054975" cy="1732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lnSpc>
                <a:spcPct val="200000"/>
              </a:lnSpc>
              <a:spcBef>
                <a:spcPct val="0"/>
              </a:spcBef>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均衡</a:t>
            </a:r>
          </a:p>
          <a:p>
            <a:pPr lvl="1" eaLnBrk="1" hangingPunct="1">
              <a:lnSpc>
                <a:spcPct val="200000"/>
              </a:lnSpc>
              <a:spcBef>
                <a:spcPct val="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均衡是指经济体系中一个特定的经济单位或者经济变量，在一系列经济力量的相互制约下，所达到的一种相对静止并保持不变的状态。</a:t>
            </a:r>
          </a:p>
        </p:txBody>
      </p:sp>
      <p:sp>
        <p:nvSpPr>
          <p:cNvPr id="8" name="TextBox 3"/>
          <p:cNvSpPr txBox="1">
            <a:spLocks noChangeArrowheads="1"/>
          </p:cNvSpPr>
          <p:nvPr/>
        </p:nvSpPr>
        <p:spPr bwMode="auto">
          <a:xfrm>
            <a:off x="683567" y="2924925"/>
            <a:ext cx="8054975" cy="1178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lnSpc>
                <a:spcPct val="200000"/>
              </a:lnSpc>
              <a:spcBef>
                <a:spcPct val="0"/>
              </a:spcBef>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供求均衡</a:t>
            </a:r>
          </a:p>
          <a:p>
            <a:pPr lvl="1" eaLnBrk="1" hangingPunct="1">
              <a:lnSpc>
                <a:spcPct val="200000"/>
              </a:lnSpc>
              <a:spcBef>
                <a:spcPct val="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供求均衡是指供给与需求</a:t>
            </a:r>
            <a:r>
              <a:rPr lang="zh-CN" altLang="en-US" sz="1800">
                <a:latin typeface="微软雅黑" panose="020B0503020204020204" pitchFamily="34" charset="-122"/>
                <a:ea typeface="微软雅黑" panose="020B0503020204020204" pitchFamily="34" charset="-122"/>
              </a:rPr>
              <a:t>相等时，商品</a:t>
            </a:r>
            <a:r>
              <a:rPr lang="zh-CN" altLang="en-US" sz="1800" dirty="0">
                <a:latin typeface="微软雅黑" panose="020B0503020204020204" pitchFamily="34" charset="-122"/>
                <a:ea typeface="微软雅黑" panose="020B0503020204020204" pitchFamily="34" charset="-122"/>
              </a:rPr>
              <a:t>数量和价格不再变动的状态。</a:t>
            </a:r>
          </a:p>
        </p:txBody>
      </p:sp>
      <p:sp>
        <p:nvSpPr>
          <p:cNvPr id="9" name="TextBox 3"/>
          <p:cNvSpPr txBox="1">
            <a:spLocks noChangeArrowheads="1"/>
          </p:cNvSpPr>
          <p:nvPr/>
        </p:nvSpPr>
        <p:spPr bwMode="auto">
          <a:xfrm>
            <a:off x="683566" y="4166900"/>
            <a:ext cx="8054975" cy="1905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lnSpc>
                <a:spcPct val="200000"/>
              </a:lnSpc>
              <a:spcBef>
                <a:spcPct val="0"/>
              </a:spcBef>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供求均衡的变动</a:t>
            </a:r>
          </a:p>
          <a:p>
            <a:pPr lvl="1" eaLnBrk="1" hangingPunct="1">
              <a:lnSpc>
                <a:spcPct val="150000"/>
              </a:lnSpc>
              <a:spcBef>
                <a:spcPct val="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如果</a:t>
            </a:r>
            <a:r>
              <a:rPr lang="en-US" altLang="zh-CN" sz="1800" dirty="0">
                <a:latin typeface="微软雅黑" panose="020B0503020204020204" pitchFamily="34" charset="-122"/>
                <a:ea typeface="微软雅黑" panose="020B0503020204020204" pitchFamily="34" charset="-122"/>
              </a:rPr>
              <a:t>S&gt;D</a:t>
            </a:r>
            <a:r>
              <a:rPr lang="zh-CN" altLang="en-US" sz="1800" dirty="0">
                <a:latin typeface="微软雅黑" panose="020B0503020204020204" pitchFamily="34" charset="-122"/>
                <a:ea typeface="微软雅黑" panose="020B0503020204020204" pitchFamily="34" charset="-122"/>
              </a:rPr>
              <a:t>，那么供过于求导致产品价格下降。</a:t>
            </a:r>
          </a:p>
          <a:p>
            <a:pPr lvl="1" eaLnBrk="1" hangingPunct="1">
              <a:lnSpc>
                <a:spcPct val="150000"/>
              </a:lnSpc>
              <a:spcBef>
                <a:spcPct val="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如果</a:t>
            </a:r>
            <a:r>
              <a:rPr lang="en-US" altLang="zh-CN" sz="1800" dirty="0">
                <a:latin typeface="微软雅黑" panose="020B0503020204020204" pitchFamily="34" charset="-122"/>
                <a:ea typeface="微软雅黑" panose="020B0503020204020204" pitchFamily="34" charset="-122"/>
              </a:rPr>
              <a:t>S&lt;D</a:t>
            </a:r>
            <a:r>
              <a:rPr lang="zh-CN" altLang="en-US" sz="1800" dirty="0">
                <a:latin typeface="微软雅黑" panose="020B0503020204020204" pitchFamily="34" charset="-122"/>
                <a:ea typeface="微软雅黑" panose="020B0503020204020204" pitchFamily="34" charset="-122"/>
              </a:rPr>
              <a:t>，那么供不应求导致产品价格上升。</a:t>
            </a:r>
          </a:p>
          <a:p>
            <a:pPr lvl="1" eaLnBrk="1" hangingPunct="1">
              <a:lnSpc>
                <a:spcPct val="150000"/>
              </a:lnSpc>
              <a:spcBef>
                <a:spcPct val="0"/>
              </a:spcBef>
              <a:buFont typeface="Wingdings" panose="05000000000000000000" pitchFamily="2" charset="2"/>
              <a:buChar char="ü"/>
            </a:pPr>
            <a:endParaRPr lang="zh-CN" altLang="en-US" sz="1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39940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wipe(left)">
                                      <p:cBhvr>
                                        <p:cTn id="12" dur="500"/>
                                        <p:tgtEl>
                                          <p:spTgt spid="2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xEl>
                                              <p:pRg st="1" end="1"/>
                                            </p:txEl>
                                          </p:spTgt>
                                        </p:tgtEl>
                                        <p:attrNameLst>
                                          <p:attrName>style.visibility</p:attrName>
                                        </p:attrNameLst>
                                      </p:cBhvr>
                                      <p:to>
                                        <p:strVal val="visible"/>
                                      </p:to>
                                    </p:set>
                                    <p:animEffect transition="in" filter="wipe(left)">
                                      <p:cBhvr>
                                        <p:cTn id="17" dur="500"/>
                                        <p:tgtEl>
                                          <p:spTgt spid="2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wipe(left)">
                                      <p:cBhvr>
                                        <p:cTn id="22" dur="500"/>
                                        <p:tgtEl>
                                          <p:spTgt spid="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xEl>
                                              <p:pRg st="1" end="1"/>
                                            </p:txEl>
                                          </p:spTgt>
                                        </p:tgtEl>
                                        <p:attrNameLst>
                                          <p:attrName>style.visibility</p:attrName>
                                        </p:attrNameLst>
                                      </p:cBhvr>
                                      <p:to>
                                        <p:strVal val="visible"/>
                                      </p:to>
                                    </p:set>
                                    <p:animEffect transition="in" filter="wipe(left)">
                                      <p:cBhvr>
                                        <p:cTn id="27" dur="500"/>
                                        <p:tgtEl>
                                          <p:spTgt spid="8">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animEffect transition="in" filter="wipe(left)">
                                      <p:cBhvr>
                                        <p:cTn id="32" dur="500"/>
                                        <p:tgtEl>
                                          <p:spTgt spid="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xEl>
                                              <p:pRg st="1" end="1"/>
                                            </p:txEl>
                                          </p:spTgt>
                                        </p:tgtEl>
                                        <p:attrNameLst>
                                          <p:attrName>style.visibility</p:attrName>
                                        </p:attrNameLst>
                                      </p:cBhvr>
                                      <p:to>
                                        <p:strVal val="visible"/>
                                      </p:to>
                                    </p:set>
                                    <p:animEffect transition="in" filter="wipe(left)">
                                      <p:cBhvr>
                                        <p:cTn id="37" dur="500"/>
                                        <p:tgtEl>
                                          <p:spTgt spid="9">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
                                            <p:txEl>
                                              <p:pRg st="2" end="2"/>
                                            </p:txEl>
                                          </p:spTgt>
                                        </p:tgtEl>
                                        <p:attrNameLst>
                                          <p:attrName>style.visibility</p:attrName>
                                        </p:attrNameLst>
                                      </p:cBhvr>
                                      <p:to>
                                        <p:strVal val="visible"/>
                                      </p:to>
                                    </p:set>
                                    <p:animEffect transition="in" filter="wipe(left)">
                                      <p:cBhvr>
                                        <p:cTn id="42"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body" idx="4294967295"/>
          </p:nvPr>
        </p:nvSpPr>
        <p:spPr>
          <a:xfrm>
            <a:off x="467544" y="1026121"/>
            <a:ext cx="8064896" cy="5587007"/>
          </a:xfrm>
        </p:spPr>
        <p:txBody>
          <a:bodyPr/>
          <a:lstStyle/>
          <a:p>
            <a:pPr eaLnBrk="1" hangingPunct="1">
              <a:lnSpc>
                <a:spcPct val="250000"/>
              </a:lnSpc>
              <a:buFont typeface="Wingdings" panose="05000000000000000000" pitchFamily="2" charset="2"/>
              <a:buChar char="u"/>
            </a:pPr>
            <a:r>
              <a:rPr lang="zh-CN" altLang="en-US" sz="2000" b="0" dirty="0">
                <a:solidFill>
                  <a:schemeClr val="tx1"/>
                </a:solidFill>
                <a:latin typeface="微软雅黑" panose="020B0503020204020204" pitchFamily="34" charset="-122"/>
                <a:ea typeface="微软雅黑" panose="020B0503020204020204" pitchFamily="34" charset="-122"/>
              </a:rPr>
              <a:t>均衡是经济学中的重要概念，也是一种分析视角</a:t>
            </a:r>
            <a:endParaRPr lang="en-US" altLang="zh-CN" sz="2000" b="0" dirty="0">
              <a:solidFill>
                <a:schemeClr val="tx1"/>
              </a:solidFill>
              <a:latin typeface="微软雅黑" panose="020B0503020204020204" pitchFamily="34" charset="-122"/>
              <a:ea typeface="微软雅黑" panose="020B0503020204020204" pitchFamily="34" charset="-122"/>
            </a:endParaRPr>
          </a:p>
          <a:p>
            <a:pPr marL="969963" lvl="1" indent="-457200" eaLnBrk="1" hangingPunct="1">
              <a:lnSpc>
                <a:spcPct val="250000"/>
              </a:lnSpc>
              <a:spcBef>
                <a:spcPct val="5000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均衡经济变量处于一种相对静止、不再变动的状态</a:t>
            </a:r>
            <a:endParaRPr lang="en-US" altLang="zh-CN" sz="1800" dirty="0">
              <a:latin typeface="微软雅黑" panose="020B0503020204020204" pitchFamily="34" charset="-122"/>
              <a:ea typeface="微软雅黑" panose="020B0503020204020204" pitchFamily="34" charset="-122"/>
            </a:endParaRPr>
          </a:p>
          <a:p>
            <a:pPr marL="969963" lvl="1" indent="-457200" eaLnBrk="1" hangingPunct="1">
              <a:lnSpc>
                <a:spcPct val="250000"/>
              </a:lnSpc>
              <a:spcBef>
                <a:spcPct val="5000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当影响经济变量的各种力量方向相反但势均力敌时，就会出现均衡</a:t>
            </a:r>
            <a:endParaRPr lang="en-US" altLang="zh-CN" sz="1800" dirty="0">
              <a:latin typeface="微软雅黑" panose="020B0503020204020204" pitchFamily="34" charset="-122"/>
              <a:ea typeface="微软雅黑" panose="020B0503020204020204" pitchFamily="34" charset="-122"/>
            </a:endParaRPr>
          </a:p>
          <a:p>
            <a:pPr marL="969963" lvl="1" indent="-457200" eaLnBrk="1" hangingPunct="1">
              <a:lnSpc>
                <a:spcPct val="250000"/>
              </a:lnSpc>
              <a:spcBef>
                <a:spcPct val="5000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供求均衡：</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1</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）供求相等 </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2</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）价格稳定不变</a:t>
            </a:r>
            <a:endParaRPr lang="en-US" altLang="zh-CN" sz="1800" dirty="0">
              <a:latin typeface="微软雅黑" panose="020B0503020204020204" pitchFamily="34" charset="-122"/>
              <a:ea typeface="微软雅黑" panose="020B0503020204020204" pitchFamily="34" charset="-122"/>
            </a:endParaRPr>
          </a:p>
          <a:p>
            <a:pPr marL="969963" lvl="1" indent="-457200" eaLnBrk="1" hangingPunct="1">
              <a:lnSpc>
                <a:spcPct val="250000"/>
              </a:lnSpc>
              <a:spcBef>
                <a:spcPct val="5000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均衡的前提：各种制约因素不变</a:t>
            </a:r>
            <a:endParaRPr lang="en-US" altLang="zh-CN" sz="1800" dirty="0">
              <a:latin typeface="微软雅黑" panose="020B0503020204020204" pitchFamily="34" charset="-122"/>
              <a:ea typeface="微软雅黑" panose="020B0503020204020204" pitchFamily="34" charset="-122"/>
            </a:endParaRPr>
          </a:p>
          <a:p>
            <a:pPr marL="969963" lvl="1" indent="-457200" eaLnBrk="1" hangingPunct="1">
              <a:lnSpc>
                <a:spcPct val="250000"/>
              </a:lnSpc>
              <a:spcBef>
                <a:spcPct val="5000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均衡的变化：各种制约因素变化</a:t>
            </a:r>
            <a:r>
              <a:rPr lang="en-US" altLang="zh-CN" sz="18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均衡变化</a:t>
            </a:r>
            <a:endParaRPr lang="zh-CN" altLang="en-US" sz="18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258436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一、均衡的含义 </a:t>
            </a:r>
          </a:p>
        </p:txBody>
      </p:sp>
      <p:sp>
        <p:nvSpPr>
          <p:cNvPr id="6" name="矩形 5">
            <a:extLst>
              <a:ext uri="{FF2B5EF4-FFF2-40B4-BE49-F238E27FC236}">
                <a16:creationId xmlns:a16="http://schemas.microsoft.com/office/drawing/2014/main" id="{99A861F3-1BF5-4FA4-A7CE-A93F6E99B7C4}"/>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p:spTree>
    <p:extLst>
      <p:ext uri="{BB962C8B-B14F-4D97-AF65-F5344CB8AC3E}">
        <p14:creationId xmlns:p14="http://schemas.microsoft.com/office/powerpoint/2010/main" val="4085426034"/>
      </p:ext>
    </p:extLst>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29698">
                                            <p:txEl>
                                              <p:pRg st="0" end="0"/>
                                            </p:txEl>
                                          </p:spTgt>
                                        </p:tgtEl>
                                        <p:attrNameLst>
                                          <p:attrName>style.visibility</p:attrName>
                                        </p:attrNameLst>
                                      </p:cBhvr>
                                      <p:to>
                                        <p:strVal val="visible"/>
                                      </p:to>
                                    </p:set>
                                    <p:animEffect transition="in" filter="strips(downRight)">
                                      <p:cBhvr>
                                        <p:cTn id="7" dur="500"/>
                                        <p:tgtEl>
                                          <p:spTgt spid="296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29698">
                                            <p:txEl>
                                              <p:pRg st="1" end="1"/>
                                            </p:txEl>
                                          </p:spTgt>
                                        </p:tgtEl>
                                        <p:attrNameLst>
                                          <p:attrName>style.visibility</p:attrName>
                                        </p:attrNameLst>
                                      </p:cBhvr>
                                      <p:to>
                                        <p:strVal val="visible"/>
                                      </p:to>
                                    </p:set>
                                    <p:animEffect transition="in" filter="strips(downRight)">
                                      <p:cBhvr>
                                        <p:cTn id="12" dur="500"/>
                                        <p:tgtEl>
                                          <p:spTgt spid="2969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29698">
                                            <p:txEl>
                                              <p:pRg st="2" end="2"/>
                                            </p:txEl>
                                          </p:spTgt>
                                        </p:tgtEl>
                                        <p:attrNameLst>
                                          <p:attrName>style.visibility</p:attrName>
                                        </p:attrNameLst>
                                      </p:cBhvr>
                                      <p:to>
                                        <p:strVal val="visible"/>
                                      </p:to>
                                    </p:set>
                                    <p:animEffect transition="in" filter="strips(downRight)">
                                      <p:cBhvr>
                                        <p:cTn id="17" dur="500"/>
                                        <p:tgtEl>
                                          <p:spTgt spid="2969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29698">
                                            <p:txEl>
                                              <p:pRg st="3" end="3"/>
                                            </p:txEl>
                                          </p:spTgt>
                                        </p:tgtEl>
                                        <p:attrNameLst>
                                          <p:attrName>style.visibility</p:attrName>
                                        </p:attrNameLst>
                                      </p:cBhvr>
                                      <p:to>
                                        <p:strVal val="visible"/>
                                      </p:to>
                                    </p:set>
                                    <p:animEffect transition="in" filter="strips(downRight)">
                                      <p:cBhvr>
                                        <p:cTn id="22" dur="500"/>
                                        <p:tgtEl>
                                          <p:spTgt spid="2969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29698">
                                            <p:txEl>
                                              <p:pRg st="4" end="4"/>
                                            </p:txEl>
                                          </p:spTgt>
                                        </p:tgtEl>
                                        <p:attrNameLst>
                                          <p:attrName>style.visibility</p:attrName>
                                        </p:attrNameLst>
                                      </p:cBhvr>
                                      <p:to>
                                        <p:strVal val="visible"/>
                                      </p:to>
                                    </p:set>
                                    <p:animEffect transition="in" filter="strips(downRight)">
                                      <p:cBhvr>
                                        <p:cTn id="27" dur="500"/>
                                        <p:tgtEl>
                                          <p:spTgt spid="2969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29698">
                                            <p:txEl>
                                              <p:pRg st="5" end="5"/>
                                            </p:txEl>
                                          </p:spTgt>
                                        </p:tgtEl>
                                        <p:attrNameLst>
                                          <p:attrName>style.visibility</p:attrName>
                                        </p:attrNameLst>
                                      </p:cBhvr>
                                      <p:to>
                                        <p:strVal val="visible"/>
                                      </p:to>
                                    </p:set>
                                    <p:animEffect transition="in" filter="strips(downRight)">
                                      <p:cBhvr>
                                        <p:cTn id="32" dur="500"/>
                                        <p:tgtEl>
                                          <p:spTgt spid="2969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6" name="组合 48"/>
          <p:cNvGrpSpPr>
            <a:grpSpLocks/>
          </p:cNvGrpSpPr>
          <p:nvPr/>
        </p:nvGrpSpPr>
        <p:grpSpPr bwMode="auto">
          <a:xfrm>
            <a:off x="828675" y="1557338"/>
            <a:ext cx="4511675" cy="3951287"/>
            <a:chOff x="0" y="0"/>
            <a:chExt cx="4513263" cy="3950640"/>
          </a:xfrm>
        </p:grpSpPr>
        <p:cxnSp>
          <p:nvCxnSpPr>
            <p:cNvPr id="36888" name="直接箭头连接符 5"/>
            <p:cNvCxnSpPr>
              <a:cxnSpLocks noChangeShapeType="1"/>
            </p:cNvCxnSpPr>
            <p:nvPr/>
          </p:nvCxnSpPr>
          <p:spPr bwMode="auto">
            <a:xfrm>
              <a:off x="304800" y="3457008"/>
              <a:ext cx="4195763" cy="42856"/>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grpSp>
          <p:nvGrpSpPr>
            <p:cNvPr id="36889" name="组合 35"/>
            <p:cNvGrpSpPr>
              <a:grpSpLocks/>
            </p:cNvGrpSpPr>
            <p:nvPr/>
          </p:nvGrpSpPr>
          <p:grpSpPr bwMode="auto">
            <a:xfrm>
              <a:off x="0" y="0"/>
              <a:ext cx="4513263" cy="3950640"/>
              <a:chOff x="0" y="0"/>
              <a:chExt cx="4513263" cy="3950640"/>
            </a:xfrm>
          </p:grpSpPr>
          <p:graphicFrame>
            <p:nvGraphicFramePr>
              <p:cNvPr id="36890" name="Object 5"/>
              <p:cNvGraphicFramePr>
                <a:graphicFrameLocks noChangeAspect="1"/>
              </p:cNvGraphicFramePr>
              <p:nvPr/>
            </p:nvGraphicFramePr>
            <p:xfrm>
              <a:off x="3651927" y="420917"/>
              <a:ext cx="207956" cy="292484"/>
            </p:xfrm>
            <a:graphic>
              <a:graphicData uri="http://schemas.openxmlformats.org/presentationml/2006/ole">
                <mc:AlternateContent xmlns:mc="http://schemas.openxmlformats.org/markup-compatibility/2006">
                  <mc:Choice xmlns:v="urn:schemas-microsoft-com:vml" Requires="v">
                    <p:oleObj spid="_x0000_s186947" r:id="rId3" imgW="140493" imgH="178809" progId="">
                      <p:embed/>
                    </p:oleObj>
                  </mc:Choice>
                  <mc:Fallback>
                    <p:oleObj r:id="rId3" imgW="140493" imgH="178809" progId="">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1927" y="420917"/>
                            <a:ext cx="207956" cy="292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91" name="Object 6"/>
              <p:cNvGraphicFramePr>
                <a:graphicFrameLocks noChangeAspect="1"/>
              </p:cNvGraphicFramePr>
              <p:nvPr/>
            </p:nvGraphicFramePr>
            <p:xfrm>
              <a:off x="3499764" y="2783304"/>
              <a:ext cx="245151" cy="271861"/>
            </p:xfrm>
            <a:graphic>
              <a:graphicData uri="http://schemas.openxmlformats.org/presentationml/2006/ole">
                <mc:AlternateContent xmlns:mc="http://schemas.openxmlformats.org/markup-compatibility/2006">
                  <mc:Choice xmlns:v="urn:schemas-microsoft-com:vml" Requires="v">
                    <p:oleObj spid="_x0000_s186948" r:id="rId5" imgW="166037" imgH="166037" progId="">
                      <p:embed/>
                    </p:oleObj>
                  </mc:Choice>
                  <mc:Fallback>
                    <p:oleObj r:id="rId5" imgW="166037" imgH="166037" progId="">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9764" y="2783304"/>
                            <a:ext cx="245151" cy="271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6892" name="组合 34"/>
              <p:cNvGrpSpPr>
                <a:grpSpLocks/>
              </p:cNvGrpSpPr>
              <p:nvPr/>
            </p:nvGrpSpPr>
            <p:grpSpPr bwMode="auto">
              <a:xfrm>
                <a:off x="0" y="0"/>
                <a:ext cx="4513263" cy="3950640"/>
                <a:chOff x="0" y="0"/>
                <a:chExt cx="4513263" cy="3950640"/>
              </a:xfrm>
            </p:grpSpPr>
            <p:graphicFrame>
              <p:nvGraphicFramePr>
                <p:cNvPr id="36893" name="Object 8"/>
                <p:cNvGraphicFramePr>
                  <a:graphicFrameLocks noChangeAspect="1"/>
                </p:cNvGraphicFramePr>
                <p:nvPr/>
              </p:nvGraphicFramePr>
              <p:xfrm>
                <a:off x="1978127" y="1095885"/>
                <a:ext cx="226553" cy="271861"/>
              </p:xfrm>
              <a:graphic>
                <a:graphicData uri="http://schemas.openxmlformats.org/presentationml/2006/ole">
                  <mc:AlternateContent xmlns:mc="http://schemas.openxmlformats.org/markup-compatibility/2006">
                    <mc:Choice xmlns:v="urn:schemas-microsoft-com:vml" Requires="v">
                      <p:oleObj spid="_x0000_s186949" r:id="rId7" imgW="153332" imgH="166109" progId="">
                        <p:embed/>
                      </p:oleObj>
                    </mc:Choice>
                    <mc:Fallback>
                      <p:oleObj r:id="rId7" imgW="153332" imgH="166109" progId="">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8127" y="1095885"/>
                              <a:ext cx="226553" cy="271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6894" name="组合 33"/>
                <p:cNvGrpSpPr>
                  <a:grpSpLocks/>
                </p:cNvGrpSpPr>
                <p:nvPr/>
              </p:nvGrpSpPr>
              <p:grpSpPr bwMode="auto">
                <a:xfrm>
                  <a:off x="0" y="0"/>
                  <a:ext cx="4513263" cy="3950640"/>
                  <a:chOff x="0" y="0"/>
                  <a:chExt cx="4513263" cy="3950640"/>
                </a:xfrm>
              </p:grpSpPr>
              <p:cxnSp>
                <p:nvCxnSpPr>
                  <p:cNvPr id="36895" name="直接箭头连接符 10"/>
                  <p:cNvCxnSpPr>
                    <a:cxnSpLocks noChangeShapeType="1"/>
                  </p:cNvCxnSpPr>
                  <p:nvPr/>
                </p:nvCxnSpPr>
                <p:spPr bwMode="auto">
                  <a:xfrm rot="5400000" flipH="1" flipV="1">
                    <a:off x="-1425292" y="1728504"/>
                    <a:ext cx="3458596"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36896" name="直接连接符 13"/>
                  <p:cNvCxnSpPr>
                    <a:cxnSpLocks noChangeShapeType="1"/>
                  </p:cNvCxnSpPr>
                  <p:nvPr/>
                </p:nvCxnSpPr>
                <p:spPr bwMode="auto">
                  <a:xfrm flipV="1">
                    <a:off x="836612" y="252372"/>
                    <a:ext cx="2967039" cy="2109441"/>
                  </a:xfrm>
                  <a:prstGeom prst="line">
                    <a:avLst/>
                  </a:prstGeom>
                  <a:noFill/>
                  <a:ln w="38100">
                    <a:solidFill>
                      <a:schemeClr val="accent2"/>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36897" name="直接连接符 16"/>
                  <p:cNvCxnSpPr>
                    <a:cxnSpLocks noChangeShapeType="1"/>
                  </p:cNvCxnSpPr>
                  <p:nvPr/>
                </p:nvCxnSpPr>
                <p:spPr bwMode="auto">
                  <a:xfrm rot="16200000" flipH="1">
                    <a:off x="763812" y="377551"/>
                    <a:ext cx="2807827" cy="2509839"/>
                  </a:xfrm>
                  <a:prstGeom prst="line">
                    <a:avLst/>
                  </a:prstGeom>
                  <a:noFill/>
                  <a:ln w="38100">
                    <a:solidFill>
                      <a:schemeClr val="accent2"/>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36898" name="直接连接符 19"/>
                  <p:cNvCxnSpPr>
                    <a:cxnSpLocks noChangeShapeType="1"/>
                  </p:cNvCxnSpPr>
                  <p:nvPr/>
                </p:nvCxnSpPr>
                <p:spPr bwMode="auto">
                  <a:xfrm>
                    <a:off x="304800" y="1517401"/>
                    <a:ext cx="1749425"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6899" name="直接连接符 21"/>
                  <p:cNvCxnSpPr>
                    <a:cxnSpLocks noChangeShapeType="1"/>
                  </p:cNvCxnSpPr>
                  <p:nvPr/>
                </p:nvCxnSpPr>
                <p:spPr bwMode="auto">
                  <a:xfrm rot="5400000">
                    <a:off x="1085210" y="2486405"/>
                    <a:ext cx="1939607"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6900" name="Object 15"/>
                  <p:cNvGraphicFramePr>
                    <a:graphicFrameLocks noChangeAspect="1"/>
                  </p:cNvGraphicFramePr>
                  <p:nvPr/>
                </p:nvGraphicFramePr>
                <p:xfrm>
                  <a:off x="0" y="3458271"/>
                  <a:ext cx="226553" cy="292484"/>
                </p:xfrm>
                <a:graphic>
                  <a:graphicData uri="http://schemas.openxmlformats.org/presentationml/2006/ole">
                    <mc:AlternateContent xmlns:mc="http://schemas.openxmlformats.org/markup-compatibility/2006">
                      <mc:Choice xmlns:v="urn:schemas-microsoft-com:vml" Requires="v">
                        <p:oleObj spid="_x0000_s186950" r:id="rId9" imgW="153198" imgH="178731" progId="">
                          <p:embed/>
                        </p:oleObj>
                      </mc:Choice>
                      <mc:Fallback>
                        <p:oleObj r:id="rId9" imgW="153198" imgH="178731" progId="">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3458271"/>
                                <a:ext cx="226553" cy="292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901" name="Object 16"/>
                  <p:cNvGraphicFramePr>
                    <a:graphicFrameLocks noChangeAspect="1"/>
                  </p:cNvGraphicFramePr>
                  <p:nvPr/>
                </p:nvGraphicFramePr>
                <p:xfrm>
                  <a:off x="0" y="83433"/>
                  <a:ext cx="226553" cy="271859"/>
                </p:xfrm>
                <a:graphic>
                  <a:graphicData uri="http://schemas.openxmlformats.org/presentationml/2006/ole">
                    <mc:AlternateContent xmlns:mc="http://schemas.openxmlformats.org/markup-compatibility/2006">
                      <mc:Choice xmlns:v="urn:schemas-microsoft-com:vml" Requires="v">
                        <p:oleObj spid="_x0000_s186951" r:id="rId11" imgW="153332" imgH="166109" progId="">
                          <p:embed/>
                        </p:oleObj>
                      </mc:Choice>
                      <mc:Fallback>
                        <p:oleObj r:id="rId11" imgW="153332" imgH="166109" progId="">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83433"/>
                                <a:ext cx="226553" cy="271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902" name="Object 17"/>
                  <p:cNvGraphicFramePr>
                    <a:graphicFrameLocks noChangeAspect="1"/>
                  </p:cNvGraphicFramePr>
                  <p:nvPr/>
                </p:nvGraphicFramePr>
                <p:xfrm>
                  <a:off x="4286710" y="3500438"/>
                  <a:ext cx="226553" cy="335607"/>
                </p:xfrm>
                <a:graphic>
                  <a:graphicData uri="http://schemas.openxmlformats.org/presentationml/2006/ole">
                    <mc:AlternateContent xmlns:mc="http://schemas.openxmlformats.org/markup-compatibility/2006">
                      <mc:Choice xmlns:v="urn:schemas-microsoft-com:vml" Requires="v">
                        <p:oleObj spid="_x0000_s186952" r:id="rId13" imgW="153332" imgH="204442" progId="">
                          <p:embed/>
                        </p:oleObj>
                      </mc:Choice>
                      <mc:Fallback>
                        <p:oleObj r:id="rId13" imgW="153332" imgH="204442" progId="">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86710" y="3500438"/>
                                <a:ext cx="226553" cy="335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903" name="Object 18"/>
                  <p:cNvGraphicFramePr>
                    <a:graphicFrameLocks noChangeAspect="1"/>
                  </p:cNvGraphicFramePr>
                  <p:nvPr/>
                </p:nvGraphicFramePr>
                <p:xfrm>
                  <a:off x="0" y="1348998"/>
                  <a:ext cx="284037" cy="378729"/>
                </p:xfrm>
                <a:graphic>
                  <a:graphicData uri="http://schemas.openxmlformats.org/presentationml/2006/ole">
                    <mc:AlternateContent xmlns:mc="http://schemas.openxmlformats.org/markup-compatibility/2006">
                      <mc:Choice xmlns:v="urn:schemas-microsoft-com:vml" Requires="v">
                        <p:oleObj spid="_x0000_s186953" r:id="rId15" imgW="191414" imgH="229697" progId="">
                          <p:embed/>
                        </p:oleObj>
                      </mc:Choice>
                      <mc:Fallback>
                        <p:oleObj r:id="rId15" imgW="191414" imgH="229697" progId="">
                          <p:embed/>
                          <p:pic>
                            <p:nvPicPr>
                              <p:cNvPr id="0"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1348998"/>
                                <a:ext cx="284037" cy="3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904" name="Object 19"/>
                  <p:cNvGraphicFramePr>
                    <a:graphicFrameLocks noChangeAspect="1"/>
                  </p:cNvGraphicFramePr>
                  <p:nvPr/>
                </p:nvGraphicFramePr>
                <p:xfrm>
                  <a:off x="1857388" y="3571911"/>
                  <a:ext cx="321232" cy="378729"/>
                </p:xfrm>
                <a:graphic>
                  <a:graphicData uri="http://schemas.openxmlformats.org/presentationml/2006/ole">
                    <mc:AlternateContent xmlns:mc="http://schemas.openxmlformats.org/markup-compatibility/2006">
                      <mc:Choice xmlns:v="urn:schemas-microsoft-com:vml" Requires="v">
                        <p:oleObj spid="_x0000_s186954" r:id="rId17" imgW="216747" imgH="229496" progId="">
                          <p:embed/>
                        </p:oleObj>
                      </mc:Choice>
                      <mc:Fallback>
                        <p:oleObj r:id="rId17" imgW="216747" imgH="229496" progId="">
                          <p:embed/>
                          <p:pic>
                            <p:nvPicPr>
                              <p:cNvPr id="0" name="Object 1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57388" y="3571911"/>
                                <a:ext cx="321232" cy="3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grpSp>
      <p:grpSp>
        <p:nvGrpSpPr>
          <p:cNvPr id="31764" name="组合 47"/>
          <p:cNvGrpSpPr>
            <a:grpSpLocks/>
          </p:cNvGrpSpPr>
          <p:nvPr/>
        </p:nvGrpSpPr>
        <p:grpSpPr bwMode="auto">
          <a:xfrm>
            <a:off x="828675" y="3286125"/>
            <a:ext cx="2527300" cy="2143125"/>
            <a:chOff x="0" y="0"/>
            <a:chExt cx="2527620" cy="2143120"/>
          </a:xfrm>
        </p:grpSpPr>
        <p:cxnSp>
          <p:nvCxnSpPr>
            <p:cNvPr id="36881" name="直接连接符 41"/>
            <p:cNvCxnSpPr>
              <a:cxnSpLocks noChangeShapeType="1"/>
            </p:cNvCxnSpPr>
            <p:nvPr/>
          </p:nvCxnSpPr>
          <p:spPr bwMode="auto">
            <a:xfrm rot="5400000">
              <a:off x="1437767" y="899310"/>
              <a:ext cx="1689096"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nvGrpSpPr>
            <p:cNvPr id="36882" name="组合 46"/>
            <p:cNvGrpSpPr>
              <a:grpSpLocks/>
            </p:cNvGrpSpPr>
            <p:nvPr/>
          </p:nvGrpSpPr>
          <p:grpSpPr bwMode="auto">
            <a:xfrm>
              <a:off x="0" y="0"/>
              <a:ext cx="2527620" cy="2143120"/>
              <a:chOff x="0" y="0"/>
              <a:chExt cx="2527620" cy="2143120"/>
            </a:xfrm>
          </p:grpSpPr>
          <p:cxnSp>
            <p:nvCxnSpPr>
              <p:cNvPr id="36883" name="直接连接符 23"/>
              <p:cNvCxnSpPr>
                <a:cxnSpLocks noChangeShapeType="1"/>
              </p:cNvCxnSpPr>
              <p:nvPr/>
            </p:nvCxnSpPr>
            <p:spPr bwMode="auto">
              <a:xfrm>
                <a:off x="304839" y="55562"/>
                <a:ext cx="1978275" cy="3175"/>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6884" name="直接连接符 39"/>
              <p:cNvCxnSpPr>
                <a:cxnSpLocks noChangeShapeType="1"/>
              </p:cNvCxnSpPr>
              <p:nvPr/>
            </p:nvCxnSpPr>
            <p:spPr bwMode="auto">
              <a:xfrm rot="5400000">
                <a:off x="800304" y="914392"/>
                <a:ext cx="1687509"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6885" name="Object 25"/>
              <p:cNvGraphicFramePr>
                <a:graphicFrameLocks noChangeAspect="1"/>
              </p:cNvGraphicFramePr>
              <p:nvPr/>
            </p:nvGraphicFramePr>
            <p:xfrm>
              <a:off x="0" y="0"/>
              <a:ext cx="245150" cy="378729"/>
            </p:xfrm>
            <a:graphic>
              <a:graphicData uri="http://schemas.openxmlformats.org/presentationml/2006/ole">
                <mc:AlternateContent xmlns:mc="http://schemas.openxmlformats.org/markup-compatibility/2006">
                  <mc:Choice xmlns:v="urn:schemas-microsoft-com:vml" Requires="v">
                    <p:oleObj spid="_x0000_s186955" r:id="rId19" imgW="165820" imgH="229597" progId="">
                      <p:embed/>
                    </p:oleObj>
                  </mc:Choice>
                  <mc:Fallback>
                    <p:oleObj r:id="rId19" imgW="165820" imgH="229597" progId="">
                      <p:embed/>
                      <p:pic>
                        <p:nvPicPr>
                          <p:cNvPr id="0" name="Object 2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0"/>
                            <a:ext cx="245150" cy="3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86" name="Object 26"/>
              <p:cNvGraphicFramePr>
                <a:graphicFrameLocks noChangeAspect="1"/>
              </p:cNvGraphicFramePr>
              <p:nvPr/>
            </p:nvGraphicFramePr>
            <p:xfrm>
              <a:off x="1445570" y="1743766"/>
              <a:ext cx="302635" cy="399354"/>
            </p:xfrm>
            <a:graphic>
              <a:graphicData uri="http://schemas.openxmlformats.org/presentationml/2006/ole">
                <mc:AlternateContent xmlns:mc="http://schemas.openxmlformats.org/markup-compatibility/2006">
                  <mc:Choice xmlns:v="urn:schemas-microsoft-com:vml" Requires="v">
                    <p:oleObj spid="_x0000_s186956" r:id="rId21" imgW="204086" imgH="242352" progId="">
                      <p:embed/>
                    </p:oleObj>
                  </mc:Choice>
                  <mc:Fallback>
                    <p:oleObj r:id="rId21" imgW="204086" imgH="242352" progId="">
                      <p:embed/>
                      <p:pic>
                        <p:nvPicPr>
                          <p:cNvPr id="0" name="Object 2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45570" y="1743766"/>
                            <a:ext cx="302635" cy="399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87" name="Object 27"/>
              <p:cNvGraphicFramePr>
                <a:graphicFrameLocks noChangeAspect="1"/>
              </p:cNvGraphicFramePr>
              <p:nvPr/>
            </p:nvGraphicFramePr>
            <p:xfrm>
              <a:off x="2206388" y="1743766"/>
              <a:ext cx="321232" cy="399352"/>
            </p:xfrm>
            <a:graphic>
              <a:graphicData uri="http://schemas.openxmlformats.org/presentationml/2006/ole">
                <mc:AlternateContent xmlns:mc="http://schemas.openxmlformats.org/markup-compatibility/2006">
                  <mc:Choice xmlns:v="urn:schemas-microsoft-com:vml" Requires="v">
                    <p:oleObj spid="_x0000_s186957" r:id="rId23" imgW="216747" imgH="242246" progId="">
                      <p:embed/>
                    </p:oleObj>
                  </mc:Choice>
                  <mc:Fallback>
                    <p:oleObj r:id="rId23" imgW="216747" imgH="242246" progId="">
                      <p:embed/>
                      <p:pic>
                        <p:nvPicPr>
                          <p:cNvPr id="0" name="Object 2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06388" y="1743766"/>
                            <a:ext cx="321232" cy="399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31772" name="组合 44"/>
          <p:cNvGrpSpPr>
            <a:grpSpLocks/>
          </p:cNvGrpSpPr>
          <p:nvPr/>
        </p:nvGrpSpPr>
        <p:grpSpPr bwMode="auto">
          <a:xfrm>
            <a:off x="828675" y="2133600"/>
            <a:ext cx="3375025" cy="3400425"/>
            <a:chOff x="0" y="0"/>
            <a:chExt cx="3373983" cy="3399753"/>
          </a:xfrm>
        </p:grpSpPr>
        <p:cxnSp>
          <p:nvCxnSpPr>
            <p:cNvPr id="36873" name="直接连接符 28"/>
            <p:cNvCxnSpPr>
              <a:cxnSpLocks noChangeShapeType="1"/>
            </p:cNvCxnSpPr>
            <p:nvPr/>
          </p:nvCxnSpPr>
          <p:spPr bwMode="auto">
            <a:xfrm rot="16200000" flipH="1">
              <a:off x="1791577" y="1506241"/>
              <a:ext cx="2825192" cy="19044"/>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nvGrpSpPr>
            <p:cNvPr id="36874" name="组合 42"/>
            <p:cNvGrpSpPr>
              <a:grpSpLocks/>
            </p:cNvGrpSpPr>
            <p:nvPr/>
          </p:nvGrpSpPr>
          <p:grpSpPr bwMode="auto">
            <a:xfrm>
              <a:off x="0" y="0"/>
              <a:ext cx="3373983" cy="3399753"/>
              <a:chOff x="0" y="0"/>
              <a:chExt cx="3373983" cy="3399753"/>
            </a:xfrm>
          </p:grpSpPr>
          <p:cxnSp>
            <p:nvCxnSpPr>
              <p:cNvPr id="36875" name="直接连接符 25"/>
              <p:cNvCxnSpPr>
                <a:cxnSpLocks noChangeShapeType="1"/>
              </p:cNvCxnSpPr>
              <p:nvPr/>
            </p:nvCxnSpPr>
            <p:spPr bwMode="auto">
              <a:xfrm>
                <a:off x="1293413" y="103168"/>
                <a:ext cx="1901238"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6876" name="直接连接符 31"/>
              <p:cNvCxnSpPr>
                <a:cxnSpLocks noChangeShapeType="1"/>
              </p:cNvCxnSpPr>
              <p:nvPr/>
            </p:nvCxnSpPr>
            <p:spPr bwMode="auto">
              <a:xfrm rot="5400000">
                <a:off x="-96963" y="1493537"/>
                <a:ext cx="2782337"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6877" name="直接连接符 45"/>
              <p:cNvCxnSpPr>
                <a:cxnSpLocks noChangeShapeType="1"/>
              </p:cNvCxnSpPr>
              <p:nvPr/>
            </p:nvCxnSpPr>
            <p:spPr bwMode="auto">
              <a:xfrm>
                <a:off x="304706" y="103168"/>
                <a:ext cx="988707"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6878" name="Object 34"/>
              <p:cNvGraphicFramePr>
                <a:graphicFrameLocks noChangeAspect="1"/>
              </p:cNvGraphicFramePr>
              <p:nvPr/>
            </p:nvGraphicFramePr>
            <p:xfrm>
              <a:off x="0" y="0"/>
              <a:ext cx="226553" cy="378729"/>
            </p:xfrm>
            <a:graphic>
              <a:graphicData uri="http://schemas.openxmlformats.org/presentationml/2006/ole">
                <mc:AlternateContent xmlns:mc="http://schemas.openxmlformats.org/markup-compatibility/2006">
                  <mc:Choice xmlns:v="urn:schemas-microsoft-com:vml" Requires="v">
                    <p:oleObj spid="_x0000_s186958" r:id="rId25" imgW="153131" imgH="229697" progId="">
                      <p:embed/>
                    </p:oleObj>
                  </mc:Choice>
                  <mc:Fallback>
                    <p:oleObj r:id="rId25" imgW="153131" imgH="229697" progId="">
                      <p:embed/>
                      <p:pic>
                        <p:nvPicPr>
                          <p:cNvPr id="0" name="Object 3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0" y="0"/>
                            <a:ext cx="226553" cy="3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79" name="Object 35"/>
              <p:cNvGraphicFramePr>
                <a:graphicFrameLocks noChangeAspect="1"/>
              </p:cNvGraphicFramePr>
              <p:nvPr/>
            </p:nvGraphicFramePr>
            <p:xfrm>
              <a:off x="1071401" y="3000399"/>
              <a:ext cx="321232" cy="399354"/>
            </p:xfrm>
            <a:graphic>
              <a:graphicData uri="http://schemas.openxmlformats.org/presentationml/2006/ole">
                <mc:AlternateContent xmlns:mc="http://schemas.openxmlformats.org/markup-compatibility/2006">
                  <mc:Choice xmlns:v="urn:schemas-microsoft-com:vml" Requires="v">
                    <p:oleObj spid="_x0000_s186959" r:id="rId27" imgW="216747" imgH="242246" progId="">
                      <p:embed/>
                    </p:oleObj>
                  </mc:Choice>
                  <mc:Fallback>
                    <p:oleObj r:id="rId27" imgW="216747" imgH="242246" progId="">
                      <p:embed/>
                      <p:pic>
                        <p:nvPicPr>
                          <p:cNvPr id="0" name="Object 3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071401" y="3000399"/>
                            <a:ext cx="321232" cy="399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80" name="Object 36"/>
              <p:cNvGraphicFramePr>
                <a:graphicFrameLocks noChangeAspect="1"/>
              </p:cNvGraphicFramePr>
              <p:nvPr/>
            </p:nvGraphicFramePr>
            <p:xfrm>
              <a:off x="3070865" y="2999782"/>
              <a:ext cx="303118" cy="399971"/>
            </p:xfrm>
            <a:graphic>
              <a:graphicData uri="http://schemas.openxmlformats.org/presentationml/2006/ole">
                <mc:AlternateContent xmlns:mc="http://schemas.openxmlformats.org/markup-compatibility/2006">
                  <mc:Choice xmlns:v="urn:schemas-microsoft-com:vml" Requires="v">
                    <p:oleObj spid="_x0000_s186960" r:id="rId29" imgW="204086" imgH="242352" progId="">
                      <p:embed/>
                    </p:oleObj>
                  </mc:Choice>
                  <mc:Fallback>
                    <p:oleObj r:id="rId29" imgW="204086" imgH="242352" progId="">
                      <p:embed/>
                      <p:pic>
                        <p:nvPicPr>
                          <p:cNvPr id="0" name="Object 3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070865" y="2999782"/>
                            <a:ext cx="303118" cy="399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46" name="矩形 45">
            <a:extLst>
              <a:ext uri="{FF2B5EF4-FFF2-40B4-BE49-F238E27FC236}">
                <a16:creationId xmlns:a16="http://schemas.microsoft.com/office/drawing/2014/main" id="{F68E5273-CD77-47B9-B841-9D29349C133D}"/>
              </a:ext>
            </a:extLst>
          </p:cNvPr>
          <p:cNvSpPr/>
          <p:nvPr/>
        </p:nvSpPr>
        <p:spPr>
          <a:xfrm>
            <a:off x="467543" y="548680"/>
            <a:ext cx="3859665"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二、均衡价格和均衡数量 </a:t>
            </a:r>
          </a:p>
        </p:txBody>
      </p:sp>
      <p:sp>
        <p:nvSpPr>
          <p:cNvPr id="47" name="矩形 46">
            <a:extLst>
              <a:ext uri="{FF2B5EF4-FFF2-40B4-BE49-F238E27FC236}">
                <a16:creationId xmlns:a16="http://schemas.microsoft.com/office/drawing/2014/main" id="{99A861F3-1BF5-4FA4-A7CE-A93F6E99B7C4}"/>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p:sp>
        <p:nvSpPr>
          <p:cNvPr id="49" name="TextBox 3"/>
          <p:cNvSpPr txBox="1">
            <a:spLocks noChangeArrowheads="1"/>
          </p:cNvSpPr>
          <p:nvPr/>
        </p:nvSpPr>
        <p:spPr bwMode="auto">
          <a:xfrm>
            <a:off x="4782409" y="2244678"/>
            <a:ext cx="3858729" cy="2582566"/>
          </a:xfrm>
          <a:prstGeom prst="rect">
            <a:avLst/>
          </a:prstGeom>
          <a:solidFill>
            <a:srgbClr val="F3C97F"/>
          </a:solidFill>
          <a:ln>
            <a:noFill/>
          </a:ln>
        </p:spPr>
        <p:txBody>
          <a:bodyPr wrap="squar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285750" indent="-285750">
              <a:lnSpc>
                <a:spcPct val="150000"/>
              </a:lnSpc>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均衡价格：供求相等时的价格</a:t>
            </a:r>
            <a:endParaRPr lang="en-US" altLang="zh-CN" sz="1800" b="0" spc="150" dirty="0">
              <a:solidFill>
                <a:srgbClr val="000000"/>
              </a:solidFill>
              <a:latin typeface="微软雅黑" panose="020B0503020204020204" pitchFamily="34" charset="-122"/>
              <a:ea typeface="微软雅黑" panose="020B0503020204020204" pitchFamily="34" charset="-122"/>
            </a:endParaRPr>
          </a:p>
          <a:p>
            <a:pPr marL="285750" indent="-285750">
              <a:lnSpc>
                <a:spcPct val="150000"/>
              </a:lnSpc>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均衡数量：均衡价格下的供给量和需求量（二者相等）</a:t>
            </a:r>
            <a:endParaRPr lang="en-US" altLang="zh-CN" sz="1800" b="0" spc="150" dirty="0">
              <a:solidFill>
                <a:srgbClr val="000000"/>
              </a:solidFill>
              <a:latin typeface="微软雅黑" panose="020B0503020204020204" pitchFamily="34" charset="-122"/>
              <a:ea typeface="微软雅黑" panose="020B0503020204020204" pitchFamily="34" charset="-122"/>
            </a:endParaRPr>
          </a:p>
          <a:p>
            <a:pPr marL="285750" indent="-285750">
              <a:lnSpc>
                <a:spcPct val="150000"/>
              </a:lnSpc>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不均衡的情形：</a:t>
            </a:r>
            <a:endParaRPr lang="en-US" altLang="zh-CN" sz="1800" b="0" spc="150" dirty="0">
              <a:solidFill>
                <a:srgbClr val="000000"/>
              </a:solidFill>
              <a:latin typeface="微软雅黑" panose="020B0503020204020204" pitchFamily="34" charset="-122"/>
              <a:ea typeface="微软雅黑" panose="020B0503020204020204" pitchFamily="34" charset="-122"/>
            </a:endParaRPr>
          </a:p>
          <a:p>
            <a:pPr marL="742950" lvl="2" indent="-285750">
              <a:lnSpc>
                <a:spcPct val="150000"/>
              </a:lnSpc>
              <a:spcBef>
                <a:spcPct val="0"/>
              </a:spcBef>
              <a:buFont typeface="Arial" panose="020B0604020202020204" pitchFamily="34" charset="0"/>
              <a:buChar char="•"/>
            </a:pPr>
            <a:r>
              <a:rPr lang="en-US" altLang="zh-CN" sz="1800" spc="150" dirty="0">
                <a:solidFill>
                  <a:srgbClr val="000000"/>
                </a:solidFill>
                <a:latin typeface="微软雅黑" panose="020B0503020204020204" pitchFamily="34" charset="-122"/>
                <a:ea typeface="微软雅黑" panose="020B0503020204020204" pitchFamily="34" charset="-122"/>
              </a:rPr>
              <a:t>P1——S&gt;D</a:t>
            </a:r>
          </a:p>
          <a:p>
            <a:pPr marL="742950" lvl="2" indent="-285750">
              <a:lnSpc>
                <a:spcPct val="150000"/>
              </a:lnSpc>
              <a:spcBef>
                <a:spcPct val="0"/>
              </a:spcBef>
              <a:buFont typeface="Arial" panose="020B0604020202020204" pitchFamily="34" charset="0"/>
              <a:buChar char="•"/>
            </a:pPr>
            <a:r>
              <a:rPr lang="en-US" altLang="zh-CN" sz="1800" spc="150" dirty="0">
                <a:solidFill>
                  <a:srgbClr val="000000"/>
                </a:solidFill>
                <a:latin typeface="微软雅黑" panose="020B0503020204020204" pitchFamily="34" charset="-122"/>
                <a:ea typeface="微软雅黑" panose="020B0503020204020204" pitchFamily="34" charset="-122"/>
              </a:rPr>
              <a:t>P2——S&lt;D</a:t>
            </a:r>
            <a:endParaRPr lang="zh-CN" altLang="en-US" sz="1800" spc="15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left)">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1746"/>
                                        </p:tgtEl>
                                        <p:attrNameLst>
                                          <p:attrName>style.visibility</p:attrName>
                                        </p:attrNameLst>
                                      </p:cBhvr>
                                      <p:to>
                                        <p:strVal val="visible"/>
                                      </p:to>
                                    </p:set>
                                    <p:anim calcmode="lin" valueType="num">
                                      <p:cBhvr additive="base">
                                        <p:cTn id="12" dur="500" fill="hold"/>
                                        <p:tgtEl>
                                          <p:spTgt spid="31746"/>
                                        </p:tgtEl>
                                        <p:attrNameLst>
                                          <p:attrName>ppt_x</p:attrName>
                                        </p:attrNameLst>
                                      </p:cBhvr>
                                      <p:tavLst>
                                        <p:tav tm="0">
                                          <p:val>
                                            <p:strVal val="#ppt_x"/>
                                          </p:val>
                                        </p:tav>
                                        <p:tav tm="100000">
                                          <p:val>
                                            <p:strVal val="#ppt_x"/>
                                          </p:val>
                                        </p:tav>
                                      </p:tavLst>
                                    </p:anim>
                                    <p:anim calcmode="lin" valueType="num">
                                      <p:cBhvr additive="base">
                                        <p:cTn id="13" dur="500" fill="hold"/>
                                        <p:tgtEl>
                                          <p:spTgt spid="31746"/>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1772"/>
                                        </p:tgtEl>
                                        <p:attrNameLst>
                                          <p:attrName>style.visibility</p:attrName>
                                        </p:attrNameLst>
                                      </p:cBhvr>
                                      <p:to>
                                        <p:strVal val="visible"/>
                                      </p:to>
                                    </p:set>
                                    <p:anim calcmode="lin" valueType="num">
                                      <p:cBhvr additive="base">
                                        <p:cTn id="18" dur="500" fill="hold"/>
                                        <p:tgtEl>
                                          <p:spTgt spid="31772"/>
                                        </p:tgtEl>
                                        <p:attrNameLst>
                                          <p:attrName>ppt_x</p:attrName>
                                        </p:attrNameLst>
                                      </p:cBhvr>
                                      <p:tavLst>
                                        <p:tav tm="0">
                                          <p:val>
                                            <p:strVal val="#ppt_x"/>
                                          </p:val>
                                        </p:tav>
                                        <p:tav tm="100000">
                                          <p:val>
                                            <p:strVal val="#ppt_x"/>
                                          </p:val>
                                        </p:tav>
                                      </p:tavLst>
                                    </p:anim>
                                    <p:anim calcmode="lin" valueType="num">
                                      <p:cBhvr additive="base">
                                        <p:cTn id="19" dur="500" fill="hold"/>
                                        <p:tgtEl>
                                          <p:spTgt spid="31772"/>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31764"/>
                                        </p:tgtEl>
                                        <p:attrNameLst>
                                          <p:attrName>style.visibility</p:attrName>
                                        </p:attrNameLst>
                                      </p:cBhvr>
                                      <p:to>
                                        <p:strVal val="visible"/>
                                      </p:to>
                                    </p:set>
                                    <p:anim calcmode="lin" valueType="num">
                                      <p:cBhvr additive="base">
                                        <p:cTn id="24" dur="500" fill="hold"/>
                                        <p:tgtEl>
                                          <p:spTgt spid="31764"/>
                                        </p:tgtEl>
                                        <p:attrNameLst>
                                          <p:attrName>ppt_x</p:attrName>
                                        </p:attrNameLst>
                                      </p:cBhvr>
                                      <p:tavLst>
                                        <p:tav tm="0">
                                          <p:val>
                                            <p:strVal val="#ppt_x"/>
                                          </p:val>
                                        </p:tav>
                                        <p:tav tm="100000">
                                          <p:val>
                                            <p:strVal val="#ppt_x"/>
                                          </p:val>
                                        </p:tav>
                                      </p:tavLst>
                                    </p:anim>
                                    <p:anim calcmode="lin" valueType="num">
                                      <p:cBhvr additive="base">
                                        <p:cTn id="25" dur="500" fill="hold"/>
                                        <p:tgtEl>
                                          <p:spTgt spid="31764"/>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wipe(up)">
                                      <p:cBhvr>
                                        <p:cTn id="30"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6" name="组合 48"/>
          <p:cNvGrpSpPr>
            <a:grpSpLocks/>
          </p:cNvGrpSpPr>
          <p:nvPr/>
        </p:nvGrpSpPr>
        <p:grpSpPr bwMode="auto">
          <a:xfrm>
            <a:off x="828675" y="1557338"/>
            <a:ext cx="4511675" cy="3951287"/>
            <a:chOff x="0" y="0"/>
            <a:chExt cx="4513263" cy="3950640"/>
          </a:xfrm>
        </p:grpSpPr>
        <p:cxnSp>
          <p:nvCxnSpPr>
            <p:cNvPr id="36888" name="直接箭头连接符 5"/>
            <p:cNvCxnSpPr>
              <a:cxnSpLocks noChangeShapeType="1"/>
            </p:cNvCxnSpPr>
            <p:nvPr/>
          </p:nvCxnSpPr>
          <p:spPr bwMode="auto">
            <a:xfrm>
              <a:off x="304800" y="3457008"/>
              <a:ext cx="4195763" cy="42856"/>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grpSp>
          <p:nvGrpSpPr>
            <p:cNvPr id="36889" name="组合 35"/>
            <p:cNvGrpSpPr>
              <a:grpSpLocks/>
            </p:cNvGrpSpPr>
            <p:nvPr/>
          </p:nvGrpSpPr>
          <p:grpSpPr bwMode="auto">
            <a:xfrm>
              <a:off x="0" y="0"/>
              <a:ext cx="4513263" cy="3950640"/>
              <a:chOff x="0" y="0"/>
              <a:chExt cx="4513263" cy="3950640"/>
            </a:xfrm>
          </p:grpSpPr>
          <p:graphicFrame>
            <p:nvGraphicFramePr>
              <p:cNvPr id="36890" name="Object 5"/>
              <p:cNvGraphicFramePr>
                <a:graphicFrameLocks noChangeAspect="1"/>
              </p:cNvGraphicFramePr>
              <p:nvPr/>
            </p:nvGraphicFramePr>
            <p:xfrm>
              <a:off x="3651927" y="420917"/>
              <a:ext cx="207956" cy="292484"/>
            </p:xfrm>
            <a:graphic>
              <a:graphicData uri="http://schemas.openxmlformats.org/presentationml/2006/ole">
                <mc:AlternateContent xmlns:mc="http://schemas.openxmlformats.org/markup-compatibility/2006">
                  <mc:Choice xmlns:v="urn:schemas-microsoft-com:vml" Requires="v">
                    <p:oleObj spid="_x0000_s180765" r:id="rId3" imgW="140493" imgH="178809" progId="">
                      <p:embed/>
                    </p:oleObj>
                  </mc:Choice>
                  <mc:Fallback>
                    <p:oleObj r:id="rId3" imgW="140493" imgH="178809" progId="">
                      <p:embed/>
                      <p:pic>
                        <p:nvPicPr>
                          <p:cNvPr id="3689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1927" y="420917"/>
                            <a:ext cx="207956" cy="292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91" name="Object 6"/>
              <p:cNvGraphicFramePr>
                <a:graphicFrameLocks noChangeAspect="1"/>
              </p:cNvGraphicFramePr>
              <p:nvPr/>
            </p:nvGraphicFramePr>
            <p:xfrm>
              <a:off x="3499764" y="2783304"/>
              <a:ext cx="245151" cy="271861"/>
            </p:xfrm>
            <a:graphic>
              <a:graphicData uri="http://schemas.openxmlformats.org/presentationml/2006/ole">
                <mc:AlternateContent xmlns:mc="http://schemas.openxmlformats.org/markup-compatibility/2006">
                  <mc:Choice xmlns:v="urn:schemas-microsoft-com:vml" Requires="v">
                    <p:oleObj spid="_x0000_s180766" r:id="rId5" imgW="166037" imgH="166037" progId="">
                      <p:embed/>
                    </p:oleObj>
                  </mc:Choice>
                  <mc:Fallback>
                    <p:oleObj r:id="rId5" imgW="166037" imgH="166037" progId="">
                      <p:embed/>
                      <p:pic>
                        <p:nvPicPr>
                          <p:cNvPr id="36891"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9764" y="2783304"/>
                            <a:ext cx="245151" cy="271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6892" name="组合 34"/>
              <p:cNvGrpSpPr>
                <a:grpSpLocks/>
              </p:cNvGrpSpPr>
              <p:nvPr/>
            </p:nvGrpSpPr>
            <p:grpSpPr bwMode="auto">
              <a:xfrm>
                <a:off x="0" y="0"/>
                <a:ext cx="4513263" cy="3950640"/>
                <a:chOff x="0" y="0"/>
                <a:chExt cx="4513263" cy="3950640"/>
              </a:xfrm>
            </p:grpSpPr>
            <p:graphicFrame>
              <p:nvGraphicFramePr>
                <p:cNvPr id="36893" name="Object 8"/>
                <p:cNvGraphicFramePr>
                  <a:graphicFrameLocks noChangeAspect="1"/>
                </p:cNvGraphicFramePr>
                <p:nvPr/>
              </p:nvGraphicFramePr>
              <p:xfrm>
                <a:off x="1978127" y="1095885"/>
                <a:ext cx="226553" cy="271861"/>
              </p:xfrm>
              <a:graphic>
                <a:graphicData uri="http://schemas.openxmlformats.org/presentationml/2006/ole">
                  <mc:AlternateContent xmlns:mc="http://schemas.openxmlformats.org/markup-compatibility/2006">
                    <mc:Choice xmlns:v="urn:schemas-microsoft-com:vml" Requires="v">
                      <p:oleObj spid="_x0000_s180767" r:id="rId7" imgW="153332" imgH="166109" progId="">
                        <p:embed/>
                      </p:oleObj>
                    </mc:Choice>
                    <mc:Fallback>
                      <p:oleObj r:id="rId7" imgW="153332" imgH="166109" progId="">
                        <p:embed/>
                        <p:pic>
                          <p:nvPicPr>
                            <p:cNvPr id="36893"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8127" y="1095885"/>
                              <a:ext cx="226553" cy="271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6894" name="组合 33"/>
                <p:cNvGrpSpPr>
                  <a:grpSpLocks/>
                </p:cNvGrpSpPr>
                <p:nvPr/>
              </p:nvGrpSpPr>
              <p:grpSpPr bwMode="auto">
                <a:xfrm>
                  <a:off x="0" y="0"/>
                  <a:ext cx="4513263" cy="3950640"/>
                  <a:chOff x="0" y="0"/>
                  <a:chExt cx="4513263" cy="3950640"/>
                </a:xfrm>
              </p:grpSpPr>
              <p:cxnSp>
                <p:nvCxnSpPr>
                  <p:cNvPr id="36895" name="直接箭头连接符 10"/>
                  <p:cNvCxnSpPr>
                    <a:cxnSpLocks noChangeShapeType="1"/>
                  </p:cNvCxnSpPr>
                  <p:nvPr/>
                </p:nvCxnSpPr>
                <p:spPr bwMode="auto">
                  <a:xfrm rot="5400000" flipH="1" flipV="1">
                    <a:off x="-1425292" y="1728504"/>
                    <a:ext cx="3458596"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36896" name="直接连接符 13"/>
                  <p:cNvCxnSpPr>
                    <a:cxnSpLocks noChangeShapeType="1"/>
                  </p:cNvCxnSpPr>
                  <p:nvPr/>
                </p:nvCxnSpPr>
                <p:spPr bwMode="auto">
                  <a:xfrm flipV="1">
                    <a:off x="836612" y="252372"/>
                    <a:ext cx="2967039" cy="2109441"/>
                  </a:xfrm>
                  <a:prstGeom prst="line">
                    <a:avLst/>
                  </a:prstGeom>
                  <a:noFill/>
                  <a:ln w="38100">
                    <a:solidFill>
                      <a:schemeClr val="accent2"/>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36897" name="直接连接符 16"/>
                  <p:cNvCxnSpPr>
                    <a:cxnSpLocks noChangeShapeType="1"/>
                  </p:cNvCxnSpPr>
                  <p:nvPr/>
                </p:nvCxnSpPr>
                <p:spPr bwMode="auto">
                  <a:xfrm rot="16200000" flipH="1">
                    <a:off x="763812" y="377551"/>
                    <a:ext cx="2807827" cy="2509839"/>
                  </a:xfrm>
                  <a:prstGeom prst="line">
                    <a:avLst/>
                  </a:prstGeom>
                  <a:noFill/>
                  <a:ln w="38100">
                    <a:solidFill>
                      <a:schemeClr val="accent2"/>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36898" name="直接连接符 19"/>
                  <p:cNvCxnSpPr>
                    <a:cxnSpLocks noChangeShapeType="1"/>
                  </p:cNvCxnSpPr>
                  <p:nvPr/>
                </p:nvCxnSpPr>
                <p:spPr bwMode="auto">
                  <a:xfrm>
                    <a:off x="304800" y="1517401"/>
                    <a:ext cx="1749425"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6899" name="直接连接符 21"/>
                  <p:cNvCxnSpPr>
                    <a:cxnSpLocks noChangeShapeType="1"/>
                  </p:cNvCxnSpPr>
                  <p:nvPr/>
                </p:nvCxnSpPr>
                <p:spPr bwMode="auto">
                  <a:xfrm rot="5400000">
                    <a:off x="1085210" y="2486405"/>
                    <a:ext cx="1939607"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6900" name="Object 15"/>
                  <p:cNvGraphicFramePr>
                    <a:graphicFrameLocks noChangeAspect="1"/>
                  </p:cNvGraphicFramePr>
                  <p:nvPr/>
                </p:nvGraphicFramePr>
                <p:xfrm>
                  <a:off x="0" y="3458271"/>
                  <a:ext cx="226553" cy="292484"/>
                </p:xfrm>
                <a:graphic>
                  <a:graphicData uri="http://schemas.openxmlformats.org/presentationml/2006/ole">
                    <mc:AlternateContent xmlns:mc="http://schemas.openxmlformats.org/markup-compatibility/2006">
                      <mc:Choice xmlns:v="urn:schemas-microsoft-com:vml" Requires="v">
                        <p:oleObj spid="_x0000_s180768" r:id="rId9" imgW="153198" imgH="178731" progId="">
                          <p:embed/>
                        </p:oleObj>
                      </mc:Choice>
                      <mc:Fallback>
                        <p:oleObj r:id="rId9" imgW="153198" imgH="178731" progId="">
                          <p:embed/>
                          <p:pic>
                            <p:nvPicPr>
                              <p:cNvPr id="3690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3458271"/>
                                <a:ext cx="226553" cy="292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901" name="Object 16"/>
                  <p:cNvGraphicFramePr>
                    <a:graphicFrameLocks noChangeAspect="1"/>
                  </p:cNvGraphicFramePr>
                  <p:nvPr/>
                </p:nvGraphicFramePr>
                <p:xfrm>
                  <a:off x="0" y="83433"/>
                  <a:ext cx="226553" cy="271859"/>
                </p:xfrm>
                <a:graphic>
                  <a:graphicData uri="http://schemas.openxmlformats.org/presentationml/2006/ole">
                    <mc:AlternateContent xmlns:mc="http://schemas.openxmlformats.org/markup-compatibility/2006">
                      <mc:Choice xmlns:v="urn:schemas-microsoft-com:vml" Requires="v">
                        <p:oleObj spid="_x0000_s180769" r:id="rId11" imgW="153332" imgH="166109" progId="">
                          <p:embed/>
                        </p:oleObj>
                      </mc:Choice>
                      <mc:Fallback>
                        <p:oleObj r:id="rId11" imgW="153332" imgH="166109" progId="">
                          <p:embed/>
                          <p:pic>
                            <p:nvPicPr>
                              <p:cNvPr id="36901"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83433"/>
                                <a:ext cx="226553" cy="271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902" name="Object 17"/>
                  <p:cNvGraphicFramePr>
                    <a:graphicFrameLocks noChangeAspect="1"/>
                  </p:cNvGraphicFramePr>
                  <p:nvPr/>
                </p:nvGraphicFramePr>
                <p:xfrm>
                  <a:off x="4286710" y="3500438"/>
                  <a:ext cx="226553" cy="335607"/>
                </p:xfrm>
                <a:graphic>
                  <a:graphicData uri="http://schemas.openxmlformats.org/presentationml/2006/ole">
                    <mc:AlternateContent xmlns:mc="http://schemas.openxmlformats.org/markup-compatibility/2006">
                      <mc:Choice xmlns:v="urn:schemas-microsoft-com:vml" Requires="v">
                        <p:oleObj spid="_x0000_s180770" r:id="rId13" imgW="153332" imgH="204442" progId="">
                          <p:embed/>
                        </p:oleObj>
                      </mc:Choice>
                      <mc:Fallback>
                        <p:oleObj r:id="rId13" imgW="153332" imgH="204442" progId="">
                          <p:embed/>
                          <p:pic>
                            <p:nvPicPr>
                              <p:cNvPr id="36902"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86710" y="3500438"/>
                                <a:ext cx="226553" cy="335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903" name="Object 18"/>
                  <p:cNvGraphicFramePr>
                    <a:graphicFrameLocks noChangeAspect="1"/>
                  </p:cNvGraphicFramePr>
                  <p:nvPr/>
                </p:nvGraphicFramePr>
                <p:xfrm>
                  <a:off x="0" y="1348998"/>
                  <a:ext cx="284037" cy="378729"/>
                </p:xfrm>
                <a:graphic>
                  <a:graphicData uri="http://schemas.openxmlformats.org/presentationml/2006/ole">
                    <mc:AlternateContent xmlns:mc="http://schemas.openxmlformats.org/markup-compatibility/2006">
                      <mc:Choice xmlns:v="urn:schemas-microsoft-com:vml" Requires="v">
                        <p:oleObj spid="_x0000_s180771" r:id="rId15" imgW="191414" imgH="229697" progId="">
                          <p:embed/>
                        </p:oleObj>
                      </mc:Choice>
                      <mc:Fallback>
                        <p:oleObj r:id="rId15" imgW="191414" imgH="229697" progId="">
                          <p:embed/>
                          <p:pic>
                            <p:nvPicPr>
                              <p:cNvPr id="36903"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1348998"/>
                                <a:ext cx="284037" cy="3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904" name="Object 19"/>
                  <p:cNvGraphicFramePr>
                    <a:graphicFrameLocks noChangeAspect="1"/>
                  </p:cNvGraphicFramePr>
                  <p:nvPr/>
                </p:nvGraphicFramePr>
                <p:xfrm>
                  <a:off x="1857388" y="3571911"/>
                  <a:ext cx="321232" cy="378729"/>
                </p:xfrm>
                <a:graphic>
                  <a:graphicData uri="http://schemas.openxmlformats.org/presentationml/2006/ole">
                    <mc:AlternateContent xmlns:mc="http://schemas.openxmlformats.org/markup-compatibility/2006">
                      <mc:Choice xmlns:v="urn:schemas-microsoft-com:vml" Requires="v">
                        <p:oleObj spid="_x0000_s180772" r:id="rId17" imgW="216747" imgH="229496" progId="">
                          <p:embed/>
                        </p:oleObj>
                      </mc:Choice>
                      <mc:Fallback>
                        <p:oleObj r:id="rId17" imgW="216747" imgH="229496" progId="">
                          <p:embed/>
                          <p:pic>
                            <p:nvPicPr>
                              <p:cNvPr id="36904" name="Object 1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57388" y="3571911"/>
                                <a:ext cx="321232" cy="3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grpSp>
      <p:grpSp>
        <p:nvGrpSpPr>
          <p:cNvPr id="31772" name="组合 44"/>
          <p:cNvGrpSpPr>
            <a:grpSpLocks/>
          </p:cNvGrpSpPr>
          <p:nvPr/>
        </p:nvGrpSpPr>
        <p:grpSpPr bwMode="auto">
          <a:xfrm>
            <a:off x="828675" y="2133600"/>
            <a:ext cx="3375025" cy="3400425"/>
            <a:chOff x="0" y="0"/>
            <a:chExt cx="3373983" cy="3399753"/>
          </a:xfrm>
        </p:grpSpPr>
        <p:cxnSp>
          <p:nvCxnSpPr>
            <p:cNvPr id="36873" name="直接连接符 28"/>
            <p:cNvCxnSpPr>
              <a:cxnSpLocks noChangeShapeType="1"/>
            </p:cNvCxnSpPr>
            <p:nvPr/>
          </p:nvCxnSpPr>
          <p:spPr bwMode="auto">
            <a:xfrm rot="16200000" flipH="1">
              <a:off x="1791577" y="1506241"/>
              <a:ext cx="2825192" cy="19044"/>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nvGrpSpPr>
            <p:cNvPr id="36874" name="组合 42"/>
            <p:cNvGrpSpPr>
              <a:grpSpLocks/>
            </p:cNvGrpSpPr>
            <p:nvPr/>
          </p:nvGrpSpPr>
          <p:grpSpPr bwMode="auto">
            <a:xfrm>
              <a:off x="0" y="0"/>
              <a:ext cx="3373983" cy="3399753"/>
              <a:chOff x="0" y="0"/>
              <a:chExt cx="3373983" cy="3399753"/>
            </a:xfrm>
          </p:grpSpPr>
          <p:cxnSp>
            <p:nvCxnSpPr>
              <p:cNvPr id="36875" name="直接连接符 25"/>
              <p:cNvCxnSpPr>
                <a:cxnSpLocks noChangeShapeType="1"/>
              </p:cNvCxnSpPr>
              <p:nvPr/>
            </p:nvCxnSpPr>
            <p:spPr bwMode="auto">
              <a:xfrm>
                <a:off x="1293413" y="103168"/>
                <a:ext cx="1901238"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6876" name="直接连接符 31"/>
              <p:cNvCxnSpPr>
                <a:cxnSpLocks noChangeShapeType="1"/>
              </p:cNvCxnSpPr>
              <p:nvPr/>
            </p:nvCxnSpPr>
            <p:spPr bwMode="auto">
              <a:xfrm rot="5400000">
                <a:off x="-96963" y="1493537"/>
                <a:ext cx="2782337"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6877" name="直接连接符 45"/>
              <p:cNvCxnSpPr>
                <a:cxnSpLocks noChangeShapeType="1"/>
              </p:cNvCxnSpPr>
              <p:nvPr/>
            </p:nvCxnSpPr>
            <p:spPr bwMode="auto">
              <a:xfrm>
                <a:off x="304706" y="103168"/>
                <a:ext cx="988707"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6878" name="Object 34"/>
              <p:cNvGraphicFramePr>
                <a:graphicFrameLocks noChangeAspect="1"/>
              </p:cNvGraphicFramePr>
              <p:nvPr/>
            </p:nvGraphicFramePr>
            <p:xfrm>
              <a:off x="0" y="0"/>
              <a:ext cx="226553" cy="378729"/>
            </p:xfrm>
            <a:graphic>
              <a:graphicData uri="http://schemas.openxmlformats.org/presentationml/2006/ole">
                <mc:AlternateContent xmlns:mc="http://schemas.openxmlformats.org/markup-compatibility/2006">
                  <mc:Choice xmlns:v="urn:schemas-microsoft-com:vml" Requires="v">
                    <p:oleObj spid="_x0000_s180773" r:id="rId19" imgW="153131" imgH="229697" progId="">
                      <p:embed/>
                    </p:oleObj>
                  </mc:Choice>
                  <mc:Fallback>
                    <p:oleObj r:id="rId19" imgW="153131" imgH="229697" progId="">
                      <p:embed/>
                      <p:pic>
                        <p:nvPicPr>
                          <p:cNvPr id="36878" name="Object 3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0"/>
                            <a:ext cx="226553" cy="3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79" name="Object 35"/>
              <p:cNvGraphicFramePr>
                <a:graphicFrameLocks noChangeAspect="1"/>
              </p:cNvGraphicFramePr>
              <p:nvPr/>
            </p:nvGraphicFramePr>
            <p:xfrm>
              <a:off x="1071401" y="3000399"/>
              <a:ext cx="321232" cy="399354"/>
            </p:xfrm>
            <a:graphic>
              <a:graphicData uri="http://schemas.openxmlformats.org/presentationml/2006/ole">
                <mc:AlternateContent xmlns:mc="http://schemas.openxmlformats.org/markup-compatibility/2006">
                  <mc:Choice xmlns:v="urn:schemas-microsoft-com:vml" Requires="v">
                    <p:oleObj spid="_x0000_s180774" r:id="rId21" imgW="216747" imgH="242246" progId="">
                      <p:embed/>
                    </p:oleObj>
                  </mc:Choice>
                  <mc:Fallback>
                    <p:oleObj r:id="rId21" imgW="216747" imgH="242246" progId="">
                      <p:embed/>
                      <p:pic>
                        <p:nvPicPr>
                          <p:cNvPr id="36879" name="Object 3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71401" y="3000399"/>
                            <a:ext cx="321232" cy="399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80" name="Object 36"/>
              <p:cNvGraphicFramePr>
                <a:graphicFrameLocks noChangeAspect="1"/>
              </p:cNvGraphicFramePr>
              <p:nvPr/>
            </p:nvGraphicFramePr>
            <p:xfrm>
              <a:off x="3070865" y="2999782"/>
              <a:ext cx="303118" cy="399971"/>
            </p:xfrm>
            <a:graphic>
              <a:graphicData uri="http://schemas.openxmlformats.org/presentationml/2006/ole">
                <mc:AlternateContent xmlns:mc="http://schemas.openxmlformats.org/markup-compatibility/2006">
                  <mc:Choice xmlns:v="urn:schemas-microsoft-com:vml" Requires="v">
                    <p:oleObj spid="_x0000_s180775" r:id="rId23" imgW="204086" imgH="242352" progId="">
                      <p:embed/>
                    </p:oleObj>
                  </mc:Choice>
                  <mc:Fallback>
                    <p:oleObj r:id="rId23" imgW="204086" imgH="242352" progId="">
                      <p:embed/>
                      <p:pic>
                        <p:nvPicPr>
                          <p:cNvPr id="36880" name="Object 3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070865" y="2999782"/>
                            <a:ext cx="303118" cy="399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31781" name="组合 40"/>
          <p:cNvGrpSpPr>
            <a:grpSpLocks/>
          </p:cNvGrpSpPr>
          <p:nvPr/>
        </p:nvGrpSpPr>
        <p:grpSpPr bwMode="auto">
          <a:xfrm>
            <a:off x="4429397" y="2785580"/>
            <a:ext cx="4431802" cy="1550755"/>
            <a:chOff x="0" y="0"/>
            <a:chExt cx="4357686" cy="1571995"/>
          </a:xfrm>
          <a:solidFill>
            <a:srgbClr val="F3C97F"/>
          </a:solidFill>
        </p:grpSpPr>
        <p:sp>
          <p:nvSpPr>
            <p:cNvPr id="36871" name="圆角矩形 42"/>
            <p:cNvSpPr>
              <a:spLocks noChangeArrowheads="1"/>
            </p:cNvSpPr>
            <p:nvPr/>
          </p:nvSpPr>
          <p:spPr bwMode="auto">
            <a:xfrm>
              <a:off x="0" y="0"/>
              <a:ext cx="4357686" cy="1571995"/>
            </a:xfrm>
            <a:prstGeom prst="roundRect">
              <a:avLst>
                <a:gd name="adj" fmla="val 16667"/>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2400" b="0" dirty="0">
                <a:solidFill>
                  <a:schemeClr val="tx1"/>
                </a:solidFill>
              </a:endParaRPr>
            </a:p>
          </p:txBody>
        </p:sp>
        <p:sp>
          <p:nvSpPr>
            <p:cNvPr id="36872" name="TextBox 3"/>
            <p:cNvSpPr txBox="1">
              <a:spLocks noChangeArrowheads="1"/>
            </p:cNvSpPr>
            <p:nvPr/>
          </p:nvSpPr>
          <p:spPr bwMode="auto">
            <a:xfrm>
              <a:off x="91270" y="86902"/>
              <a:ext cx="4261329" cy="127664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lnSpc>
                  <a:spcPct val="150000"/>
                </a:lnSpc>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均衡的实现</a:t>
              </a:r>
              <a:endParaRPr lang="en-US" altLang="zh-CN" sz="1800" b="0" spc="150" dirty="0">
                <a:solidFill>
                  <a:srgbClr val="000000"/>
                </a:solidFill>
                <a:latin typeface="微软雅黑" panose="020B0503020204020204" pitchFamily="34" charset="-122"/>
                <a:ea typeface="微软雅黑" panose="020B0503020204020204" pitchFamily="34" charset="-122"/>
              </a:endParaRPr>
            </a:p>
            <a:p>
              <a:pPr marL="1085850" lvl="1" indent="-342900" eaLnBrk="1" hangingPunct="1">
                <a:lnSpc>
                  <a:spcPct val="150000"/>
                </a:lnSpc>
                <a:spcBef>
                  <a:spcPct val="0"/>
                </a:spcBef>
                <a:buFont typeface="Wingdings" panose="05000000000000000000" pitchFamily="2" charset="2"/>
                <a:buChar char="ü"/>
              </a:pPr>
              <a:r>
                <a:rPr lang="en-US" altLang="zh-CN" sz="1800" spc="150" dirty="0">
                  <a:solidFill>
                    <a:srgbClr val="000000"/>
                  </a:solidFill>
                  <a:latin typeface="微软雅黑" panose="020B0503020204020204" pitchFamily="34" charset="-122"/>
                  <a:ea typeface="微软雅黑" panose="020B0503020204020204" pitchFamily="34" charset="-122"/>
                </a:rPr>
                <a:t>P1</a:t>
              </a:r>
              <a:r>
                <a:rPr lang="zh-CN" altLang="en-US" sz="1800" spc="150" dirty="0">
                  <a:solidFill>
                    <a:srgbClr val="000000"/>
                  </a:solidFill>
                  <a:latin typeface="微软雅黑" panose="020B0503020204020204" pitchFamily="34" charset="-122"/>
                  <a:ea typeface="微软雅黑" panose="020B0503020204020204" pitchFamily="34" charset="-122"/>
                </a:rPr>
                <a:t>：</a:t>
              </a:r>
              <a:r>
                <a:rPr lang="en-US" altLang="zh-CN" sz="1800" spc="150" dirty="0">
                  <a:solidFill>
                    <a:srgbClr val="000000"/>
                  </a:solidFill>
                  <a:latin typeface="微软雅黑" panose="020B0503020204020204" pitchFamily="34" charset="-122"/>
                  <a:ea typeface="微软雅黑" panose="020B0503020204020204" pitchFamily="34" charset="-122"/>
                </a:rPr>
                <a:t>S&gt;D</a:t>
              </a:r>
              <a:r>
                <a:rPr lang="en-US" altLang="zh-CN" sz="1800"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P↓S↓ and D↑ until S=D at E</a:t>
              </a:r>
            </a:p>
          </p:txBody>
        </p:sp>
      </p:grpSp>
      <p:cxnSp>
        <p:nvCxnSpPr>
          <p:cNvPr id="3" name="直接箭头连接符 2"/>
          <p:cNvCxnSpPr/>
          <p:nvPr/>
        </p:nvCxnSpPr>
        <p:spPr bwMode="auto">
          <a:xfrm>
            <a:off x="2221738" y="2097875"/>
            <a:ext cx="584368" cy="55552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6" name="直接箭头连接符 45"/>
          <p:cNvCxnSpPr/>
          <p:nvPr/>
        </p:nvCxnSpPr>
        <p:spPr bwMode="auto">
          <a:xfrm flipH="1">
            <a:off x="3154630" y="2219077"/>
            <a:ext cx="624832" cy="43432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5" name="直接箭头连接符 54"/>
          <p:cNvCxnSpPr/>
          <p:nvPr/>
        </p:nvCxnSpPr>
        <p:spPr bwMode="auto">
          <a:xfrm>
            <a:off x="2144572" y="4869160"/>
            <a:ext cx="738699"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7" name="直接箭头连接符 56"/>
          <p:cNvCxnSpPr/>
          <p:nvPr/>
        </p:nvCxnSpPr>
        <p:spPr bwMode="auto">
          <a:xfrm flipH="1">
            <a:off x="3022794" y="4845147"/>
            <a:ext cx="888503" cy="1468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9" name="直接箭头连接符 58"/>
          <p:cNvCxnSpPr/>
          <p:nvPr/>
        </p:nvCxnSpPr>
        <p:spPr bwMode="auto">
          <a:xfrm>
            <a:off x="1292032" y="2292350"/>
            <a:ext cx="11015" cy="61950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8" name="矩形 37">
            <a:extLst>
              <a:ext uri="{FF2B5EF4-FFF2-40B4-BE49-F238E27FC236}">
                <a16:creationId xmlns:a16="http://schemas.microsoft.com/office/drawing/2014/main" id="{F68E5273-CD77-47B9-B841-9D29349C133D}"/>
              </a:ext>
            </a:extLst>
          </p:cNvPr>
          <p:cNvSpPr/>
          <p:nvPr/>
        </p:nvSpPr>
        <p:spPr>
          <a:xfrm>
            <a:off x="467543" y="548680"/>
            <a:ext cx="3782573"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二、均衡价格和均衡数量 </a:t>
            </a:r>
          </a:p>
        </p:txBody>
      </p:sp>
      <p:sp>
        <p:nvSpPr>
          <p:cNvPr id="39" name="矩形 38">
            <a:extLst>
              <a:ext uri="{FF2B5EF4-FFF2-40B4-BE49-F238E27FC236}">
                <a16:creationId xmlns:a16="http://schemas.microsoft.com/office/drawing/2014/main" id="{99A861F3-1BF5-4FA4-A7CE-A93F6E99B7C4}"/>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p:spTree>
    <p:extLst>
      <p:ext uri="{BB962C8B-B14F-4D97-AF65-F5344CB8AC3E}">
        <p14:creationId xmlns:p14="http://schemas.microsoft.com/office/powerpoint/2010/main" val="912635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746"/>
                                        </p:tgtEl>
                                        <p:attrNameLst>
                                          <p:attrName>style.visibility</p:attrName>
                                        </p:attrNameLst>
                                      </p:cBhvr>
                                      <p:to>
                                        <p:strVal val="visible"/>
                                      </p:to>
                                    </p:set>
                                    <p:animEffect transition="in" filter="fade">
                                      <p:cBhvr>
                                        <p:cTn id="7" dur="2000"/>
                                        <p:tgtEl>
                                          <p:spTgt spid="317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1772"/>
                                        </p:tgtEl>
                                        <p:attrNameLst>
                                          <p:attrName>style.visibility</p:attrName>
                                        </p:attrNameLst>
                                      </p:cBhvr>
                                      <p:to>
                                        <p:strVal val="visible"/>
                                      </p:to>
                                    </p:set>
                                    <p:animEffect transition="in" filter="fade">
                                      <p:cBhvr>
                                        <p:cTn id="12" dur="2000"/>
                                        <p:tgtEl>
                                          <p:spTgt spid="31772"/>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1781"/>
                                        </p:tgtEl>
                                        <p:attrNameLst>
                                          <p:attrName>style.visibility</p:attrName>
                                        </p:attrNameLst>
                                      </p:cBhvr>
                                      <p:to>
                                        <p:strVal val="visible"/>
                                      </p:to>
                                    </p:set>
                                    <p:animEffect transition="in" filter="randombar(horizontal)">
                                      <p:cBhvr>
                                        <p:cTn id="17" dur="500"/>
                                        <p:tgtEl>
                                          <p:spTgt spid="31781"/>
                                        </p:tgtEl>
                                      </p:cBhvr>
                                    </p:animEffect>
                                  </p:childTnLst>
                                </p:cTn>
                              </p:par>
                              <p:par>
                                <p:cTn id="18" presetID="10" presetClass="entr" presetSubtype="0" fill="hold" nodeType="with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fade">
                                      <p:cBhvr>
                                        <p:cTn id="20" dur="500"/>
                                        <p:tgtEl>
                                          <p:spTgt spid="46"/>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5"/>
                                        </p:tgtEl>
                                        <p:attrNameLst>
                                          <p:attrName>style.visibility</p:attrName>
                                        </p:attrNameLst>
                                      </p:cBhvr>
                                      <p:to>
                                        <p:strVal val="visible"/>
                                      </p:to>
                                    </p:set>
                                    <p:animEffect transition="in" filter="fade">
                                      <p:cBhvr>
                                        <p:cTn id="29" dur="500"/>
                                        <p:tgtEl>
                                          <p:spTgt spid="55"/>
                                        </p:tgtEl>
                                      </p:cBhvr>
                                    </p:animEffect>
                                  </p:childTnLst>
                                </p:cTn>
                              </p:par>
                              <p:par>
                                <p:cTn id="30" presetID="10" presetClass="entr" presetSubtype="0" fill="hold" nodeType="withEffect">
                                  <p:stCondLst>
                                    <p:cond delay="0"/>
                                  </p:stCondLst>
                                  <p:childTnLst>
                                    <p:set>
                                      <p:cBhvr>
                                        <p:cTn id="31" dur="1" fill="hold">
                                          <p:stCondLst>
                                            <p:cond delay="0"/>
                                          </p:stCondLst>
                                        </p:cTn>
                                        <p:tgtEl>
                                          <p:spTgt spid="57"/>
                                        </p:tgtEl>
                                        <p:attrNameLst>
                                          <p:attrName>style.visibility</p:attrName>
                                        </p:attrNameLst>
                                      </p:cBhvr>
                                      <p:to>
                                        <p:strVal val="visible"/>
                                      </p:to>
                                    </p:set>
                                    <p:animEffect transition="in" filter="fade">
                                      <p:cBhvr>
                                        <p:cTn id="32" dur="500"/>
                                        <p:tgtEl>
                                          <p:spTgt spid="5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6" name="组合 48"/>
          <p:cNvGrpSpPr>
            <a:grpSpLocks/>
          </p:cNvGrpSpPr>
          <p:nvPr/>
        </p:nvGrpSpPr>
        <p:grpSpPr bwMode="auto">
          <a:xfrm>
            <a:off x="828675" y="1557338"/>
            <a:ext cx="4511675" cy="3951287"/>
            <a:chOff x="0" y="0"/>
            <a:chExt cx="4513263" cy="3950640"/>
          </a:xfrm>
        </p:grpSpPr>
        <p:cxnSp>
          <p:nvCxnSpPr>
            <p:cNvPr id="36888" name="直接箭头连接符 5"/>
            <p:cNvCxnSpPr>
              <a:cxnSpLocks noChangeShapeType="1"/>
            </p:cNvCxnSpPr>
            <p:nvPr/>
          </p:nvCxnSpPr>
          <p:spPr bwMode="auto">
            <a:xfrm>
              <a:off x="304800" y="3457008"/>
              <a:ext cx="4195763" cy="42856"/>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grpSp>
          <p:nvGrpSpPr>
            <p:cNvPr id="36889" name="组合 35"/>
            <p:cNvGrpSpPr>
              <a:grpSpLocks/>
            </p:cNvGrpSpPr>
            <p:nvPr/>
          </p:nvGrpSpPr>
          <p:grpSpPr bwMode="auto">
            <a:xfrm>
              <a:off x="0" y="0"/>
              <a:ext cx="4513263" cy="3950640"/>
              <a:chOff x="0" y="0"/>
              <a:chExt cx="4513263" cy="3950640"/>
            </a:xfrm>
          </p:grpSpPr>
          <p:graphicFrame>
            <p:nvGraphicFramePr>
              <p:cNvPr id="36890" name="Object 5"/>
              <p:cNvGraphicFramePr>
                <a:graphicFrameLocks noChangeAspect="1"/>
              </p:cNvGraphicFramePr>
              <p:nvPr/>
            </p:nvGraphicFramePr>
            <p:xfrm>
              <a:off x="3651927" y="420917"/>
              <a:ext cx="207956" cy="292484"/>
            </p:xfrm>
            <a:graphic>
              <a:graphicData uri="http://schemas.openxmlformats.org/presentationml/2006/ole">
                <mc:AlternateContent xmlns:mc="http://schemas.openxmlformats.org/markup-compatibility/2006">
                  <mc:Choice xmlns:v="urn:schemas-microsoft-com:vml" Requires="v">
                    <p:oleObj spid="_x0000_s182802" r:id="rId4" imgW="140493" imgH="178809" progId="">
                      <p:embed/>
                    </p:oleObj>
                  </mc:Choice>
                  <mc:Fallback>
                    <p:oleObj r:id="rId4" imgW="140493" imgH="178809" progId="">
                      <p:embed/>
                      <p:pic>
                        <p:nvPicPr>
                          <p:cNvPr id="3689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1927" y="420917"/>
                            <a:ext cx="207956" cy="292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91" name="Object 6"/>
              <p:cNvGraphicFramePr>
                <a:graphicFrameLocks noChangeAspect="1"/>
              </p:cNvGraphicFramePr>
              <p:nvPr/>
            </p:nvGraphicFramePr>
            <p:xfrm>
              <a:off x="3499764" y="2783304"/>
              <a:ext cx="245151" cy="271861"/>
            </p:xfrm>
            <a:graphic>
              <a:graphicData uri="http://schemas.openxmlformats.org/presentationml/2006/ole">
                <mc:AlternateContent xmlns:mc="http://schemas.openxmlformats.org/markup-compatibility/2006">
                  <mc:Choice xmlns:v="urn:schemas-microsoft-com:vml" Requires="v">
                    <p:oleObj spid="_x0000_s182803" r:id="rId6" imgW="166037" imgH="166037" progId="">
                      <p:embed/>
                    </p:oleObj>
                  </mc:Choice>
                  <mc:Fallback>
                    <p:oleObj r:id="rId6" imgW="166037" imgH="166037" progId="">
                      <p:embed/>
                      <p:pic>
                        <p:nvPicPr>
                          <p:cNvPr id="36891"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99764" y="2783304"/>
                            <a:ext cx="245151" cy="271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6892" name="组合 34"/>
              <p:cNvGrpSpPr>
                <a:grpSpLocks/>
              </p:cNvGrpSpPr>
              <p:nvPr/>
            </p:nvGrpSpPr>
            <p:grpSpPr bwMode="auto">
              <a:xfrm>
                <a:off x="0" y="0"/>
                <a:ext cx="4513263" cy="3950640"/>
                <a:chOff x="0" y="0"/>
                <a:chExt cx="4513263" cy="3950640"/>
              </a:xfrm>
            </p:grpSpPr>
            <p:graphicFrame>
              <p:nvGraphicFramePr>
                <p:cNvPr id="36893" name="Object 8"/>
                <p:cNvGraphicFramePr>
                  <a:graphicFrameLocks noChangeAspect="1"/>
                </p:cNvGraphicFramePr>
                <p:nvPr/>
              </p:nvGraphicFramePr>
              <p:xfrm>
                <a:off x="1978127" y="1095885"/>
                <a:ext cx="226553" cy="271861"/>
              </p:xfrm>
              <a:graphic>
                <a:graphicData uri="http://schemas.openxmlformats.org/presentationml/2006/ole">
                  <mc:AlternateContent xmlns:mc="http://schemas.openxmlformats.org/markup-compatibility/2006">
                    <mc:Choice xmlns:v="urn:schemas-microsoft-com:vml" Requires="v">
                      <p:oleObj spid="_x0000_s182804" r:id="rId8" imgW="153332" imgH="166109" progId="">
                        <p:embed/>
                      </p:oleObj>
                    </mc:Choice>
                    <mc:Fallback>
                      <p:oleObj r:id="rId8" imgW="153332" imgH="166109" progId="">
                        <p:embed/>
                        <p:pic>
                          <p:nvPicPr>
                            <p:cNvPr id="36893"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78127" y="1095885"/>
                              <a:ext cx="226553" cy="271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6894" name="组合 33"/>
                <p:cNvGrpSpPr>
                  <a:grpSpLocks/>
                </p:cNvGrpSpPr>
                <p:nvPr/>
              </p:nvGrpSpPr>
              <p:grpSpPr bwMode="auto">
                <a:xfrm>
                  <a:off x="0" y="0"/>
                  <a:ext cx="4513263" cy="3950640"/>
                  <a:chOff x="0" y="0"/>
                  <a:chExt cx="4513263" cy="3950640"/>
                </a:xfrm>
              </p:grpSpPr>
              <p:cxnSp>
                <p:nvCxnSpPr>
                  <p:cNvPr id="36895" name="直接箭头连接符 10"/>
                  <p:cNvCxnSpPr>
                    <a:cxnSpLocks noChangeShapeType="1"/>
                  </p:cNvCxnSpPr>
                  <p:nvPr/>
                </p:nvCxnSpPr>
                <p:spPr bwMode="auto">
                  <a:xfrm rot="5400000" flipH="1" flipV="1">
                    <a:off x="-1425292" y="1728504"/>
                    <a:ext cx="3458596"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36896" name="直接连接符 13"/>
                  <p:cNvCxnSpPr>
                    <a:cxnSpLocks noChangeShapeType="1"/>
                  </p:cNvCxnSpPr>
                  <p:nvPr/>
                </p:nvCxnSpPr>
                <p:spPr bwMode="auto">
                  <a:xfrm flipV="1">
                    <a:off x="836612" y="252372"/>
                    <a:ext cx="2967039" cy="2109441"/>
                  </a:xfrm>
                  <a:prstGeom prst="line">
                    <a:avLst/>
                  </a:prstGeom>
                  <a:noFill/>
                  <a:ln w="38100">
                    <a:solidFill>
                      <a:schemeClr val="accent2"/>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36897" name="直接连接符 16"/>
                  <p:cNvCxnSpPr>
                    <a:cxnSpLocks noChangeShapeType="1"/>
                  </p:cNvCxnSpPr>
                  <p:nvPr/>
                </p:nvCxnSpPr>
                <p:spPr bwMode="auto">
                  <a:xfrm rot="16200000" flipH="1">
                    <a:off x="763812" y="377551"/>
                    <a:ext cx="2807827" cy="2509839"/>
                  </a:xfrm>
                  <a:prstGeom prst="line">
                    <a:avLst/>
                  </a:prstGeom>
                  <a:noFill/>
                  <a:ln w="38100">
                    <a:solidFill>
                      <a:schemeClr val="accent2"/>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36898" name="直接连接符 19"/>
                  <p:cNvCxnSpPr>
                    <a:cxnSpLocks noChangeShapeType="1"/>
                  </p:cNvCxnSpPr>
                  <p:nvPr/>
                </p:nvCxnSpPr>
                <p:spPr bwMode="auto">
                  <a:xfrm>
                    <a:off x="304800" y="1517401"/>
                    <a:ext cx="1749425"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6899" name="直接连接符 21"/>
                  <p:cNvCxnSpPr>
                    <a:cxnSpLocks noChangeShapeType="1"/>
                  </p:cNvCxnSpPr>
                  <p:nvPr/>
                </p:nvCxnSpPr>
                <p:spPr bwMode="auto">
                  <a:xfrm rot="5400000">
                    <a:off x="1085210" y="2486405"/>
                    <a:ext cx="1939607"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6900" name="Object 15"/>
                  <p:cNvGraphicFramePr>
                    <a:graphicFrameLocks noChangeAspect="1"/>
                  </p:cNvGraphicFramePr>
                  <p:nvPr/>
                </p:nvGraphicFramePr>
                <p:xfrm>
                  <a:off x="0" y="3458271"/>
                  <a:ext cx="226553" cy="292484"/>
                </p:xfrm>
                <a:graphic>
                  <a:graphicData uri="http://schemas.openxmlformats.org/presentationml/2006/ole">
                    <mc:AlternateContent xmlns:mc="http://schemas.openxmlformats.org/markup-compatibility/2006">
                      <mc:Choice xmlns:v="urn:schemas-microsoft-com:vml" Requires="v">
                        <p:oleObj spid="_x0000_s182805" r:id="rId10" imgW="153198" imgH="178731" progId="">
                          <p:embed/>
                        </p:oleObj>
                      </mc:Choice>
                      <mc:Fallback>
                        <p:oleObj r:id="rId10" imgW="153198" imgH="178731" progId="">
                          <p:embed/>
                          <p:pic>
                            <p:nvPicPr>
                              <p:cNvPr id="3690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3458271"/>
                                <a:ext cx="226553" cy="292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901" name="Object 16"/>
                  <p:cNvGraphicFramePr>
                    <a:graphicFrameLocks noChangeAspect="1"/>
                  </p:cNvGraphicFramePr>
                  <p:nvPr/>
                </p:nvGraphicFramePr>
                <p:xfrm>
                  <a:off x="0" y="83433"/>
                  <a:ext cx="226553" cy="271859"/>
                </p:xfrm>
                <a:graphic>
                  <a:graphicData uri="http://schemas.openxmlformats.org/presentationml/2006/ole">
                    <mc:AlternateContent xmlns:mc="http://schemas.openxmlformats.org/markup-compatibility/2006">
                      <mc:Choice xmlns:v="urn:schemas-microsoft-com:vml" Requires="v">
                        <p:oleObj spid="_x0000_s182806" r:id="rId12" imgW="153332" imgH="166109" progId="">
                          <p:embed/>
                        </p:oleObj>
                      </mc:Choice>
                      <mc:Fallback>
                        <p:oleObj r:id="rId12" imgW="153332" imgH="166109" progId="">
                          <p:embed/>
                          <p:pic>
                            <p:nvPicPr>
                              <p:cNvPr id="36901"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83433"/>
                                <a:ext cx="226553" cy="271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902" name="Object 17"/>
                  <p:cNvGraphicFramePr>
                    <a:graphicFrameLocks noChangeAspect="1"/>
                  </p:cNvGraphicFramePr>
                  <p:nvPr/>
                </p:nvGraphicFramePr>
                <p:xfrm>
                  <a:off x="4286710" y="3500438"/>
                  <a:ext cx="226553" cy="335607"/>
                </p:xfrm>
                <a:graphic>
                  <a:graphicData uri="http://schemas.openxmlformats.org/presentationml/2006/ole">
                    <mc:AlternateContent xmlns:mc="http://schemas.openxmlformats.org/markup-compatibility/2006">
                      <mc:Choice xmlns:v="urn:schemas-microsoft-com:vml" Requires="v">
                        <p:oleObj spid="_x0000_s182807" r:id="rId14" imgW="153332" imgH="204442" progId="">
                          <p:embed/>
                        </p:oleObj>
                      </mc:Choice>
                      <mc:Fallback>
                        <p:oleObj r:id="rId14" imgW="153332" imgH="204442" progId="">
                          <p:embed/>
                          <p:pic>
                            <p:nvPicPr>
                              <p:cNvPr id="36902" name="Object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86710" y="3500438"/>
                                <a:ext cx="226553" cy="335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903" name="Object 18"/>
                  <p:cNvGraphicFramePr>
                    <a:graphicFrameLocks noChangeAspect="1"/>
                  </p:cNvGraphicFramePr>
                  <p:nvPr/>
                </p:nvGraphicFramePr>
                <p:xfrm>
                  <a:off x="0" y="1348998"/>
                  <a:ext cx="284037" cy="378729"/>
                </p:xfrm>
                <a:graphic>
                  <a:graphicData uri="http://schemas.openxmlformats.org/presentationml/2006/ole">
                    <mc:AlternateContent xmlns:mc="http://schemas.openxmlformats.org/markup-compatibility/2006">
                      <mc:Choice xmlns:v="urn:schemas-microsoft-com:vml" Requires="v">
                        <p:oleObj spid="_x0000_s182808" r:id="rId16" imgW="191414" imgH="229697" progId="">
                          <p:embed/>
                        </p:oleObj>
                      </mc:Choice>
                      <mc:Fallback>
                        <p:oleObj r:id="rId16" imgW="191414" imgH="229697" progId="">
                          <p:embed/>
                          <p:pic>
                            <p:nvPicPr>
                              <p:cNvPr id="36903" name="Object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1348998"/>
                                <a:ext cx="284037" cy="3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904" name="Object 19"/>
                  <p:cNvGraphicFramePr>
                    <a:graphicFrameLocks noChangeAspect="1"/>
                  </p:cNvGraphicFramePr>
                  <p:nvPr/>
                </p:nvGraphicFramePr>
                <p:xfrm>
                  <a:off x="1857388" y="3571911"/>
                  <a:ext cx="321232" cy="378729"/>
                </p:xfrm>
                <a:graphic>
                  <a:graphicData uri="http://schemas.openxmlformats.org/presentationml/2006/ole">
                    <mc:AlternateContent xmlns:mc="http://schemas.openxmlformats.org/markup-compatibility/2006">
                      <mc:Choice xmlns:v="urn:schemas-microsoft-com:vml" Requires="v">
                        <p:oleObj spid="_x0000_s182809" r:id="rId18" imgW="216747" imgH="229496" progId="">
                          <p:embed/>
                        </p:oleObj>
                      </mc:Choice>
                      <mc:Fallback>
                        <p:oleObj r:id="rId18" imgW="216747" imgH="229496" progId="">
                          <p:embed/>
                          <p:pic>
                            <p:nvPicPr>
                              <p:cNvPr id="36904" name="Object 1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57388" y="3571911"/>
                                <a:ext cx="321232" cy="3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grpSp>
      <p:grpSp>
        <p:nvGrpSpPr>
          <p:cNvPr id="31764" name="组合 47"/>
          <p:cNvGrpSpPr>
            <a:grpSpLocks/>
          </p:cNvGrpSpPr>
          <p:nvPr/>
        </p:nvGrpSpPr>
        <p:grpSpPr bwMode="auto">
          <a:xfrm>
            <a:off x="828675" y="3286125"/>
            <a:ext cx="2527300" cy="2143125"/>
            <a:chOff x="0" y="0"/>
            <a:chExt cx="2527620" cy="2143120"/>
          </a:xfrm>
        </p:grpSpPr>
        <p:cxnSp>
          <p:nvCxnSpPr>
            <p:cNvPr id="36881" name="直接连接符 41"/>
            <p:cNvCxnSpPr>
              <a:cxnSpLocks noChangeShapeType="1"/>
            </p:cNvCxnSpPr>
            <p:nvPr/>
          </p:nvCxnSpPr>
          <p:spPr bwMode="auto">
            <a:xfrm rot="5400000">
              <a:off x="1437767" y="899310"/>
              <a:ext cx="1689096"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nvGrpSpPr>
            <p:cNvPr id="36882" name="组合 46"/>
            <p:cNvGrpSpPr>
              <a:grpSpLocks/>
            </p:cNvGrpSpPr>
            <p:nvPr/>
          </p:nvGrpSpPr>
          <p:grpSpPr bwMode="auto">
            <a:xfrm>
              <a:off x="0" y="0"/>
              <a:ext cx="2527620" cy="2143120"/>
              <a:chOff x="0" y="0"/>
              <a:chExt cx="2527620" cy="2143120"/>
            </a:xfrm>
          </p:grpSpPr>
          <p:cxnSp>
            <p:nvCxnSpPr>
              <p:cNvPr id="36883" name="直接连接符 23"/>
              <p:cNvCxnSpPr>
                <a:cxnSpLocks noChangeShapeType="1"/>
              </p:cNvCxnSpPr>
              <p:nvPr/>
            </p:nvCxnSpPr>
            <p:spPr bwMode="auto">
              <a:xfrm>
                <a:off x="304837" y="135984"/>
                <a:ext cx="1978275" cy="3175"/>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6884" name="直接连接符 39"/>
              <p:cNvCxnSpPr>
                <a:cxnSpLocks noChangeShapeType="1"/>
              </p:cNvCxnSpPr>
              <p:nvPr/>
            </p:nvCxnSpPr>
            <p:spPr bwMode="auto">
              <a:xfrm rot="5400000">
                <a:off x="800304" y="914392"/>
                <a:ext cx="1687509"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6885" name="Object 25"/>
              <p:cNvGraphicFramePr>
                <a:graphicFrameLocks noChangeAspect="1"/>
              </p:cNvGraphicFramePr>
              <p:nvPr/>
            </p:nvGraphicFramePr>
            <p:xfrm>
              <a:off x="0" y="0"/>
              <a:ext cx="245150" cy="378729"/>
            </p:xfrm>
            <a:graphic>
              <a:graphicData uri="http://schemas.openxmlformats.org/presentationml/2006/ole">
                <mc:AlternateContent xmlns:mc="http://schemas.openxmlformats.org/markup-compatibility/2006">
                  <mc:Choice xmlns:v="urn:schemas-microsoft-com:vml" Requires="v">
                    <p:oleObj spid="_x0000_s182810" r:id="rId20" imgW="165820" imgH="229597" progId="">
                      <p:embed/>
                    </p:oleObj>
                  </mc:Choice>
                  <mc:Fallback>
                    <p:oleObj r:id="rId20" imgW="165820" imgH="229597" progId="">
                      <p:embed/>
                      <p:pic>
                        <p:nvPicPr>
                          <p:cNvPr id="36885" name="Object 2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0" y="0"/>
                            <a:ext cx="245150" cy="3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86" name="Object 26"/>
              <p:cNvGraphicFramePr>
                <a:graphicFrameLocks noChangeAspect="1"/>
              </p:cNvGraphicFramePr>
              <p:nvPr/>
            </p:nvGraphicFramePr>
            <p:xfrm>
              <a:off x="1445570" y="1743766"/>
              <a:ext cx="302635" cy="399354"/>
            </p:xfrm>
            <a:graphic>
              <a:graphicData uri="http://schemas.openxmlformats.org/presentationml/2006/ole">
                <mc:AlternateContent xmlns:mc="http://schemas.openxmlformats.org/markup-compatibility/2006">
                  <mc:Choice xmlns:v="urn:schemas-microsoft-com:vml" Requires="v">
                    <p:oleObj spid="_x0000_s182811" r:id="rId22" imgW="204086" imgH="242352" progId="">
                      <p:embed/>
                    </p:oleObj>
                  </mc:Choice>
                  <mc:Fallback>
                    <p:oleObj r:id="rId22" imgW="204086" imgH="242352" progId="">
                      <p:embed/>
                      <p:pic>
                        <p:nvPicPr>
                          <p:cNvPr id="36886" name="Object 2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445570" y="1743766"/>
                            <a:ext cx="302635" cy="399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87" name="Object 27"/>
              <p:cNvGraphicFramePr>
                <a:graphicFrameLocks noChangeAspect="1"/>
              </p:cNvGraphicFramePr>
              <p:nvPr/>
            </p:nvGraphicFramePr>
            <p:xfrm>
              <a:off x="2206904" y="1743071"/>
              <a:ext cx="320716" cy="400049"/>
            </p:xfrm>
            <a:graphic>
              <a:graphicData uri="http://schemas.openxmlformats.org/presentationml/2006/ole">
                <mc:AlternateContent xmlns:mc="http://schemas.openxmlformats.org/markup-compatibility/2006">
                  <mc:Choice xmlns:v="urn:schemas-microsoft-com:vml" Requires="v">
                    <p:oleObj spid="_x0000_s182812" r:id="rId24" imgW="216747" imgH="242246" progId="">
                      <p:embed/>
                    </p:oleObj>
                  </mc:Choice>
                  <mc:Fallback>
                    <p:oleObj r:id="rId24" imgW="216747" imgH="242246" progId="">
                      <p:embed/>
                      <p:pic>
                        <p:nvPicPr>
                          <p:cNvPr id="36887" name="Object 2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206904" y="1743071"/>
                            <a:ext cx="320716" cy="400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cxnSp>
        <p:nvCxnSpPr>
          <p:cNvPr id="48" name="直接箭头连接符 47"/>
          <p:cNvCxnSpPr/>
          <p:nvPr/>
        </p:nvCxnSpPr>
        <p:spPr bwMode="auto">
          <a:xfrm flipV="1">
            <a:off x="2272852" y="3044094"/>
            <a:ext cx="370370" cy="25741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0" name="直接箭头连接符 49"/>
          <p:cNvCxnSpPr/>
          <p:nvPr/>
        </p:nvCxnSpPr>
        <p:spPr bwMode="auto">
          <a:xfrm flipH="1" flipV="1">
            <a:off x="2798966" y="3163676"/>
            <a:ext cx="233613" cy="21867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5" name="直接箭头连接符 44"/>
          <p:cNvCxnSpPr/>
          <p:nvPr/>
        </p:nvCxnSpPr>
        <p:spPr bwMode="auto">
          <a:xfrm>
            <a:off x="2492354" y="4869160"/>
            <a:ext cx="306612"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7" name="直接箭头连接符 46"/>
          <p:cNvCxnSpPr/>
          <p:nvPr/>
        </p:nvCxnSpPr>
        <p:spPr bwMode="auto">
          <a:xfrm flipH="1" flipV="1">
            <a:off x="2856846" y="4708741"/>
            <a:ext cx="253061" cy="932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55" name="直接箭头连接符 54"/>
          <p:cNvCxnSpPr/>
          <p:nvPr/>
        </p:nvCxnSpPr>
        <p:spPr bwMode="auto">
          <a:xfrm flipV="1">
            <a:off x="1294621" y="3098687"/>
            <a:ext cx="21752" cy="22751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7" name="矩形 36">
            <a:extLst>
              <a:ext uri="{FF2B5EF4-FFF2-40B4-BE49-F238E27FC236}">
                <a16:creationId xmlns:a16="http://schemas.microsoft.com/office/drawing/2014/main" id="{F68E5273-CD77-47B9-B841-9D29349C133D}"/>
              </a:ext>
            </a:extLst>
          </p:cNvPr>
          <p:cNvSpPr/>
          <p:nvPr/>
        </p:nvSpPr>
        <p:spPr>
          <a:xfrm>
            <a:off x="467543" y="548680"/>
            <a:ext cx="3782573"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二、均衡价格和均衡数量 </a:t>
            </a:r>
          </a:p>
        </p:txBody>
      </p:sp>
      <p:sp>
        <p:nvSpPr>
          <p:cNvPr id="38" name="矩形 37">
            <a:extLst>
              <a:ext uri="{FF2B5EF4-FFF2-40B4-BE49-F238E27FC236}">
                <a16:creationId xmlns:a16="http://schemas.microsoft.com/office/drawing/2014/main" id="{99A861F3-1BF5-4FA4-A7CE-A93F6E99B7C4}"/>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p:grpSp>
        <p:nvGrpSpPr>
          <p:cNvPr id="39" name="组合 40"/>
          <p:cNvGrpSpPr>
            <a:grpSpLocks/>
          </p:cNvGrpSpPr>
          <p:nvPr/>
        </p:nvGrpSpPr>
        <p:grpSpPr bwMode="auto">
          <a:xfrm>
            <a:off x="4429397" y="2785580"/>
            <a:ext cx="4431802" cy="1588319"/>
            <a:chOff x="0" y="0"/>
            <a:chExt cx="4357686" cy="1571995"/>
          </a:xfrm>
          <a:solidFill>
            <a:srgbClr val="F3C97F"/>
          </a:solidFill>
        </p:grpSpPr>
        <p:sp>
          <p:nvSpPr>
            <p:cNvPr id="40" name="圆角矩形 42"/>
            <p:cNvSpPr>
              <a:spLocks noChangeArrowheads="1"/>
            </p:cNvSpPr>
            <p:nvPr/>
          </p:nvSpPr>
          <p:spPr bwMode="auto">
            <a:xfrm>
              <a:off x="0" y="0"/>
              <a:ext cx="4357686" cy="1571995"/>
            </a:xfrm>
            <a:prstGeom prst="roundRect">
              <a:avLst>
                <a:gd name="adj" fmla="val 16667"/>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2400" b="0" dirty="0">
                <a:solidFill>
                  <a:schemeClr val="tx1"/>
                </a:solidFill>
              </a:endParaRPr>
            </a:p>
          </p:txBody>
        </p:sp>
        <p:sp>
          <p:nvSpPr>
            <p:cNvPr id="41" name="TextBox 3"/>
            <p:cNvSpPr txBox="1">
              <a:spLocks noChangeArrowheads="1"/>
            </p:cNvSpPr>
            <p:nvPr/>
          </p:nvSpPr>
          <p:spPr bwMode="auto">
            <a:xfrm>
              <a:off x="91270" y="86902"/>
              <a:ext cx="4261329" cy="12766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lnSpc>
                  <a:spcPct val="150000"/>
                </a:lnSpc>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均衡的实现</a:t>
              </a:r>
            </a:p>
            <a:p>
              <a:pPr marL="1085850" lvl="1" indent="-342900" eaLnBrk="1" hangingPunct="1">
                <a:lnSpc>
                  <a:spcPct val="150000"/>
                </a:lnSpc>
                <a:spcBef>
                  <a:spcPct val="0"/>
                </a:spcBef>
                <a:buFont typeface="Wingdings" panose="05000000000000000000" pitchFamily="2" charset="2"/>
                <a:buChar char="Ø"/>
              </a:pPr>
              <a:r>
                <a:rPr lang="en-US" altLang="zh-CN" sz="1800" b="0" spc="150" dirty="0">
                  <a:solidFill>
                    <a:srgbClr val="000000"/>
                  </a:solidFill>
                  <a:latin typeface="微软雅黑" panose="020B0503020204020204" pitchFamily="34" charset="-122"/>
                  <a:ea typeface="微软雅黑" panose="020B0503020204020204" pitchFamily="34" charset="-122"/>
                </a:rPr>
                <a:t>P2</a:t>
              </a:r>
              <a:r>
                <a:rPr lang="zh-CN" altLang="en-US" sz="1800" b="0" spc="150" dirty="0">
                  <a:solidFill>
                    <a:srgbClr val="000000"/>
                  </a:solidFill>
                  <a:latin typeface="微软雅黑" panose="020B0503020204020204" pitchFamily="34" charset="-122"/>
                  <a:ea typeface="微软雅黑" panose="020B0503020204020204" pitchFamily="34" charset="-122"/>
                </a:rPr>
                <a:t>：</a:t>
              </a:r>
              <a:r>
                <a:rPr lang="en-US" altLang="zh-CN" sz="1800" b="0" spc="150" dirty="0">
                  <a:solidFill>
                    <a:srgbClr val="000000"/>
                  </a:solidFill>
                  <a:latin typeface="微软雅黑" panose="020B0503020204020204" pitchFamily="34" charset="-122"/>
                  <a:ea typeface="微软雅黑" panose="020B0503020204020204" pitchFamily="34" charset="-122"/>
                </a:rPr>
                <a:t>S&lt;D</a:t>
              </a:r>
              <a:r>
                <a:rPr lang="en-US" altLang="zh-CN" sz="1800"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  </a:t>
              </a:r>
              <a:r>
                <a:rPr lang="en-US" altLang="zh-CN" sz="1800" b="0" spc="150" dirty="0">
                  <a:solidFill>
                    <a:srgbClr val="000000"/>
                  </a:solidFill>
                  <a:latin typeface="微软雅黑" panose="020B0503020204020204" pitchFamily="34" charset="-122"/>
                  <a:ea typeface="微软雅黑" panose="020B0503020204020204" pitchFamily="34" charset="-122"/>
                </a:rPr>
                <a:t>P↑</a:t>
              </a:r>
              <a:r>
                <a:rPr lang="en-US" altLang="zh-CN" sz="1800"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  </a:t>
              </a:r>
              <a:r>
                <a:rPr lang="en-US" altLang="zh-CN" sz="1800" b="0" spc="150" dirty="0">
                  <a:solidFill>
                    <a:srgbClr val="000000"/>
                  </a:solidFill>
                  <a:latin typeface="微软雅黑" panose="020B0503020204020204" pitchFamily="34" charset="-122"/>
                  <a:ea typeface="微软雅黑" panose="020B0503020204020204" pitchFamily="34" charset="-122"/>
                </a:rPr>
                <a:t>S↑ and D↓ until S=D at E</a:t>
              </a:r>
            </a:p>
          </p:txBody>
        </p:sp>
      </p:grpSp>
    </p:spTree>
    <p:extLst>
      <p:ext uri="{BB962C8B-B14F-4D97-AF65-F5344CB8AC3E}">
        <p14:creationId xmlns:p14="http://schemas.microsoft.com/office/powerpoint/2010/main" val="2668149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746"/>
                                        </p:tgtEl>
                                        <p:attrNameLst>
                                          <p:attrName>style.visibility</p:attrName>
                                        </p:attrNameLst>
                                      </p:cBhvr>
                                      <p:to>
                                        <p:strVal val="visible"/>
                                      </p:to>
                                    </p:set>
                                    <p:animEffect transition="in" filter="fade">
                                      <p:cBhvr>
                                        <p:cTn id="7" dur="2000"/>
                                        <p:tgtEl>
                                          <p:spTgt spid="317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764"/>
                                        </p:tgtEl>
                                        <p:attrNameLst>
                                          <p:attrName>style.visibility</p:attrName>
                                        </p:attrNameLst>
                                      </p:cBhvr>
                                      <p:to>
                                        <p:strVal val="visible"/>
                                      </p:to>
                                    </p:set>
                                    <p:animEffect transition="in" filter="fade">
                                      <p:cBhvr>
                                        <p:cTn id="12" dur="2000"/>
                                        <p:tgtEl>
                                          <p:spTgt spid="3176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randombar(horizontal)">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fade">
                                      <p:cBhvr>
                                        <p:cTn id="22" dur="500"/>
                                        <p:tgtEl>
                                          <p:spTgt spid="45"/>
                                        </p:tgtEl>
                                      </p:cBhvr>
                                    </p:animEffect>
                                  </p:childTnLst>
                                </p:cTn>
                              </p:par>
                              <p:par>
                                <p:cTn id="23" presetID="10" presetClass="entr" presetSubtype="0" fill="hold" nodeType="withEffect">
                                  <p:stCondLst>
                                    <p:cond delay="0"/>
                                  </p:stCondLst>
                                  <p:childTnLst>
                                    <p:set>
                                      <p:cBhvr>
                                        <p:cTn id="24" dur="1" fill="hold">
                                          <p:stCondLst>
                                            <p:cond delay="0"/>
                                          </p:stCondLst>
                                        </p:cTn>
                                        <p:tgtEl>
                                          <p:spTgt spid="55"/>
                                        </p:tgtEl>
                                        <p:attrNameLst>
                                          <p:attrName>style.visibility</p:attrName>
                                        </p:attrNameLst>
                                      </p:cBhvr>
                                      <p:to>
                                        <p:strVal val="visible"/>
                                      </p:to>
                                    </p:set>
                                    <p:animEffect transition="in" filter="fade">
                                      <p:cBhvr>
                                        <p:cTn id="25" dur="500"/>
                                        <p:tgtEl>
                                          <p:spTgt spid="55"/>
                                        </p:tgtEl>
                                      </p:cBhvr>
                                    </p:animEffect>
                                  </p:childTnLst>
                                </p:cTn>
                              </p:par>
                              <p:par>
                                <p:cTn id="26" presetID="10" presetClass="entr" presetSubtype="0" fill="hold" nodeType="withEffect">
                                  <p:stCondLst>
                                    <p:cond delay="0"/>
                                  </p:stCondLst>
                                  <p:childTnLst>
                                    <p:set>
                                      <p:cBhvr>
                                        <p:cTn id="27" dur="1" fill="hold">
                                          <p:stCondLst>
                                            <p:cond delay="0"/>
                                          </p:stCondLst>
                                        </p:cTn>
                                        <p:tgtEl>
                                          <p:spTgt spid="47"/>
                                        </p:tgtEl>
                                        <p:attrNameLst>
                                          <p:attrName>style.visibility</p:attrName>
                                        </p:attrNameLst>
                                      </p:cBhvr>
                                      <p:to>
                                        <p:strVal val="visible"/>
                                      </p:to>
                                    </p:set>
                                    <p:animEffect transition="in" filter="fade">
                                      <p:cBhvr>
                                        <p:cTn id="28" dur="500"/>
                                        <p:tgtEl>
                                          <p:spTgt spid="47"/>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68E5273-CD77-47B9-B841-9D29349C133D}"/>
              </a:ext>
            </a:extLst>
          </p:cNvPr>
          <p:cNvSpPr/>
          <p:nvPr/>
        </p:nvSpPr>
        <p:spPr>
          <a:xfrm>
            <a:off x="467543" y="548680"/>
            <a:ext cx="3168353"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三、市场均衡的变动 </a:t>
            </a:r>
          </a:p>
        </p:txBody>
      </p:sp>
      <p:sp>
        <p:nvSpPr>
          <p:cNvPr id="5" name="矩形 4">
            <a:extLst>
              <a:ext uri="{FF2B5EF4-FFF2-40B4-BE49-F238E27FC236}">
                <a16:creationId xmlns:a16="http://schemas.microsoft.com/office/drawing/2014/main" id="{99A861F3-1BF5-4FA4-A7CE-A93F6E99B7C4}"/>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p:sp>
        <p:nvSpPr>
          <p:cNvPr id="6" name="Rectangle 3"/>
          <p:cNvSpPr txBox="1">
            <a:spLocks noChangeArrowheads="1"/>
          </p:cNvSpPr>
          <p:nvPr/>
        </p:nvSpPr>
        <p:spPr bwMode="auto">
          <a:xfrm>
            <a:off x="933564" y="2401298"/>
            <a:ext cx="8229600" cy="372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需求增加</a:t>
            </a:r>
            <a:r>
              <a:rPr lang="en-US" altLang="zh-CN" sz="2000" dirty="0">
                <a:solidFill>
                  <a:srgbClr val="C00000"/>
                </a:solidFill>
                <a:sym typeface="Wingdings" panose="05000000000000000000" pitchFamily="2" charset="2"/>
              </a:rPr>
              <a:t> </a:t>
            </a:r>
            <a:r>
              <a:rPr lang="en-US" altLang="zh-CN" sz="2000" spc="150" dirty="0">
                <a:solidFill>
                  <a:srgbClr val="C00000"/>
                </a:solidFill>
                <a:latin typeface="微软雅黑" panose="020B0503020204020204" pitchFamily="34" charset="-122"/>
                <a:ea typeface="微软雅黑" panose="020B0503020204020204" pitchFamily="34" charset="-122"/>
              </a:rPr>
              <a:t>D&gt;S</a:t>
            </a:r>
            <a:r>
              <a:rPr lang="en-US" altLang="zh-CN" sz="2000" dirty="0">
                <a:solidFill>
                  <a:srgbClr val="C00000"/>
                </a:solidFill>
                <a:sym typeface="Wingdings" panose="05000000000000000000" pitchFamily="2" charset="2"/>
              </a:rPr>
              <a:t>  </a:t>
            </a:r>
            <a:r>
              <a:rPr lang="en-US" altLang="zh-CN" sz="2000" spc="150" dirty="0">
                <a:solidFill>
                  <a:srgbClr val="C00000"/>
                </a:solidFill>
                <a:latin typeface="微软雅黑" panose="020B0503020204020204" pitchFamily="34" charset="-122"/>
                <a:ea typeface="微软雅黑" panose="020B0503020204020204" pitchFamily="34" charset="-122"/>
              </a:rPr>
              <a:t>P up</a:t>
            </a:r>
          </a:p>
        </p:txBody>
      </p:sp>
      <p:grpSp>
        <p:nvGrpSpPr>
          <p:cNvPr id="7" name="组合 6">
            <a:extLst>
              <a:ext uri="{FF2B5EF4-FFF2-40B4-BE49-F238E27FC236}">
                <a16:creationId xmlns:a16="http://schemas.microsoft.com/office/drawing/2014/main" id="{627AE83D-F3D9-4FE1-841C-38AA09ECDF1C}"/>
              </a:ext>
            </a:extLst>
          </p:cNvPr>
          <p:cNvGrpSpPr/>
          <p:nvPr/>
        </p:nvGrpSpPr>
        <p:grpSpPr>
          <a:xfrm>
            <a:off x="467544" y="1535817"/>
            <a:ext cx="2088232" cy="514350"/>
            <a:chOff x="467544" y="2481986"/>
            <a:chExt cx="2547461" cy="514350"/>
          </a:xfrm>
        </p:grpSpPr>
        <p:sp>
          <p:nvSpPr>
            <p:cNvPr id="8" name="MH_Text_1">
              <a:extLst>
                <a:ext uri="{FF2B5EF4-FFF2-40B4-BE49-F238E27FC236}">
                  <a16:creationId xmlns:a16="http://schemas.microsoft.com/office/drawing/2014/main" id="{7F1EE33B-DD63-42A8-86A7-757932B8049A}"/>
                </a:ext>
              </a:extLst>
            </p:cNvPr>
            <p:cNvSpPr/>
            <p:nvPr>
              <p:custDataLst>
                <p:tags r:id="rId3"/>
              </p:custDataLst>
            </p:nvPr>
          </p:nvSpPr>
          <p:spPr bwMode="auto">
            <a:xfrm>
              <a:off x="467544" y="2481986"/>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需求变化</a:t>
              </a:r>
            </a:p>
          </p:txBody>
        </p:sp>
        <p:sp>
          <p:nvSpPr>
            <p:cNvPr id="9" name="MH_Other_2">
              <a:extLst>
                <a:ext uri="{FF2B5EF4-FFF2-40B4-BE49-F238E27FC236}">
                  <a16:creationId xmlns:a16="http://schemas.microsoft.com/office/drawing/2014/main" id="{E635624F-D191-4C19-B11A-618C7FE0256E}"/>
                </a:ext>
              </a:extLst>
            </p:cNvPr>
            <p:cNvSpPr/>
            <p:nvPr>
              <p:custDataLst>
                <p:tags r:id="rId4"/>
              </p:custDataLst>
            </p:nvPr>
          </p:nvSpPr>
          <p:spPr bwMode="auto">
            <a:xfrm rot="10800000">
              <a:off x="2822917" y="2539136"/>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10" name="Rectangle 3"/>
          <p:cNvSpPr txBox="1">
            <a:spLocks noChangeArrowheads="1"/>
          </p:cNvSpPr>
          <p:nvPr/>
        </p:nvSpPr>
        <p:spPr bwMode="auto">
          <a:xfrm>
            <a:off x="914400" y="3055861"/>
            <a:ext cx="8229600" cy="372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需求减少</a:t>
            </a:r>
            <a:r>
              <a:rPr lang="en-US" altLang="zh-CN" sz="2000" dirty="0">
                <a:solidFill>
                  <a:srgbClr val="C00000"/>
                </a:solidFill>
                <a:sym typeface="Wingdings" panose="05000000000000000000" pitchFamily="2" charset="2"/>
              </a:rPr>
              <a:t> </a:t>
            </a:r>
            <a:r>
              <a:rPr lang="en-US" altLang="zh-CN" sz="2000" spc="150" dirty="0">
                <a:solidFill>
                  <a:srgbClr val="C00000"/>
                </a:solidFill>
                <a:latin typeface="微软雅黑" panose="020B0503020204020204" pitchFamily="34" charset="-122"/>
                <a:ea typeface="微软雅黑" panose="020B0503020204020204" pitchFamily="34" charset="-122"/>
              </a:rPr>
              <a:t>D&lt;S</a:t>
            </a:r>
            <a:r>
              <a:rPr lang="en-US" altLang="zh-CN" sz="2000" dirty="0">
                <a:solidFill>
                  <a:srgbClr val="C00000"/>
                </a:solidFill>
                <a:sym typeface="Wingdings" panose="05000000000000000000" pitchFamily="2" charset="2"/>
              </a:rPr>
              <a:t>  </a:t>
            </a:r>
            <a:r>
              <a:rPr lang="en-US" altLang="zh-CN" sz="2000" spc="150" dirty="0">
                <a:solidFill>
                  <a:srgbClr val="C00000"/>
                </a:solidFill>
                <a:latin typeface="微软雅黑" panose="020B0503020204020204" pitchFamily="34" charset="-122"/>
                <a:ea typeface="微软雅黑" panose="020B0503020204020204" pitchFamily="34" charset="-122"/>
              </a:rPr>
              <a:t>P down</a:t>
            </a:r>
          </a:p>
        </p:txBody>
      </p:sp>
      <p:sp>
        <p:nvSpPr>
          <p:cNvPr id="15" name="Rectangle 3"/>
          <p:cNvSpPr txBox="1">
            <a:spLocks noChangeArrowheads="1"/>
          </p:cNvSpPr>
          <p:nvPr/>
        </p:nvSpPr>
        <p:spPr bwMode="auto">
          <a:xfrm>
            <a:off x="963071" y="4672531"/>
            <a:ext cx="8229600" cy="372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供给增加</a:t>
            </a:r>
            <a:r>
              <a:rPr lang="en-US" altLang="zh-CN" sz="2000" dirty="0">
                <a:solidFill>
                  <a:srgbClr val="C00000"/>
                </a:solidFill>
                <a:sym typeface="Wingdings" panose="05000000000000000000" pitchFamily="2" charset="2"/>
              </a:rPr>
              <a:t> </a:t>
            </a:r>
            <a:r>
              <a:rPr lang="en-US" altLang="zh-CN" sz="2000" spc="150" dirty="0">
                <a:solidFill>
                  <a:srgbClr val="C00000"/>
                </a:solidFill>
                <a:latin typeface="微软雅黑" panose="020B0503020204020204" pitchFamily="34" charset="-122"/>
                <a:ea typeface="微软雅黑" panose="020B0503020204020204" pitchFamily="34" charset="-122"/>
              </a:rPr>
              <a:t>D&lt;S</a:t>
            </a:r>
            <a:r>
              <a:rPr lang="en-US" altLang="zh-CN" sz="2000" dirty="0">
                <a:solidFill>
                  <a:srgbClr val="C00000"/>
                </a:solidFill>
                <a:sym typeface="Wingdings" panose="05000000000000000000" pitchFamily="2" charset="2"/>
              </a:rPr>
              <a:t>  </a:t>
            </a:r>
            <a:r>
              <a:rPr lang="en-US" altLang="zh-CN" sz="2000" spc="150" dirty="0">
                <a:solidFill>
                  <a:srgbClr val="C00000"/>
                </a:solidFill>
                <a:latin typeface="微软雅黑" panose="020B0503020204020204" pitchFamily="34" charset="-122"/>
                <a:ea typeface="微软雅黑" panose="020B0503020204020204" pitchFamily="34" charset="-122"/>
              </a:rPr>
              <a:t>P down</a:t>
            </a:r>
          </a:p>
        </p:txBody>
      </p:sp>
      <p:grpSp>
        <p:nvGrpSpPr>
          <p:cNvPr id="16" name="组合 15">
            <a:extLst>
              <a:ext uri="{FF2B5EF4-FFF2-40B4-BE49-F238E27FC236}">
                <a16:creationId xmlns:a16="http://schemas.microsoft.com/office/drawing/2014/main" id="{627AE83D-F3D9-4FE1-841C-38AA09ECDF1C}"/>
              </a:ext>
            </a:extLst>
          </p:cNvPr>
          <p:cNvGrpSpPr/>
          <p:nvPr/>
        </p:nvGrpSpPr>
        <p:grpSpPr>
          <a:xfrm>
            <a:off x="497051" y="3815860"/>
            <a:ext cx="2088232" cy="514350"/>
            <a:chOff x="467544" y="2481986"/>
            <a:chExt cx="2547461" cy="514350"/>
          </a:xfrm>
        </p:grpSpPr>
        <p:sp>
          <p:nvSpPr>
            <p:cNvPr id="17"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67544" y="2481986"/>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sz="2000" spc="150" dirty="0">
                  <a:solidFill>
                    <a:srgbClr val="000000"/>
                  </a:solidFill>
                  <a:latin typeface="微软雅黑" panose="020B0503020204020204" pitchFamily="34" charset="-122"/>
                  <a:ea typeface="微软雅黑" panose="020B0503020204020204" pitchFamily="34" charset="-122"/>
                </a:rPr>
                <a:t>供给变化</a:t>
              </a:r>
            </a:p>
          </p:txBody>
        </p:sp>
        <p:sp>
          <p:nvSpPr>
            <p:cNvPr id="18"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2822917" y="2539136"/>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endParaRPr>
            </a:p>
          </p:txBody>
        </p:sp>
      </p:grpSp>
      <p:sp>
        <p:nvSpPr>
          <p:cNvPr id="19" name="Rectangle 3"/>
          <p:cNvSpPr txBox="1">
            <a:spLocks noChangeArrowheads="1"/>
          </p:cNvSpPr>
          <p:nvPr/>
        </p:nvSpPr>
        <p:spPr bwMode="auto">
          <a:xfrm>
            <a:off x="943907" y="5333963"/>
            <a:ext cx="8229600" cy="372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ct val="40000"/>
              </a:spcBef>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供给减少</a:t>
            </a:r>
            <a:r>
              <a:rPr lang="en-US" altLang="zh-CN" sz="2000" dirty="0">
                <a:solidFill>
                  <a:srgbClr val="C00000"/>
                </a:solidFill>
                <a:sym typeface="Wingdings" panose="05000000000000000000" pitchFamily="2" charset="2"/>
              </a:rPr>
              <a:t> </a:t>
            </a:r>
            <a:r>
              <a:rPr lang="en-US" altLang="zh-CN" sz="2000" spc="150" dirty="0">
                <a:solidFill>
                  <a:srgbClr val="C00000"/>
                </a:solidFill>
                <a:latin typeface="微软雅黑" panose="020B0503020204020204" pitchFamily="34" charset="-122"/>
                <a:ea typeface="微软雅黑" panose="020B0503020204020204" pitchFamily="34" charset="-122"/>
              </a:rPr>
              <a:t>D&gt;S</a:t>
            </a:r>
            <a:r>
              <a:rPr lang="en-US" altLang="zh-CN" sz="2000" dirty="0">
                <a:solidFill>
                  <a:srgbClr val="C00000"/>
                </a:solidFill>
                <a:sym typeface="Wingdings" panose="05000000000000000000" pitchFamily="2" charset="2"/>
              </a:rPr>
              <a:t>  </a:t>
            </a:r>
            <a:r>
              <a:rPr lang="en-US" altLang="zh-CN" sz="2000" spc="150" dirty="0">
                <a:solidFill>
                  <a:srgbClr val="C00000"/>
                </a:solidFill>
                <a:latin typeface="微软雅黑" panose="020B0503020204020204" pitchFamily="34" charset="-122"/>
                <a:ea typeface="微软雅黑" panose="020B0503020204020204" pitchFamily="34" charset="-122"/>
              </a:rPr>
              <a:t>P up</a:t>
            </a:r>
          </a:p>
        </p:txBody>
      </p:sp>
      <p:pic>
        <p:nvPicPr>
          <p:cNvPr id="14" name="图片 13">
            <a:extLst>
              <a:ext uri="{FF2B5EF4-FFF2-40B4-BE49-F238E27FC236}">
                <a16:creationId xmlns:a16="http://schemas.microsoft.com/office/drawing/2014/main" id="{9D894A8B-C22A-4EA6-A336-11F4AC4AABAC}"/>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48156"/>
          <a:stretch/>
        </p:blipFill>
        <p:spPr>
          <a:xfrm>
            <a:off x="6300192" y="2286471"/>
            <a:ext cx="1512545" cy="3594656"/>
          </a:xfrm>
          <a:prstGeom prst="rect">
            <a:avLst/>
          </a:prstGeom>
        </p:spPr>
      </p:pic>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randombar(horizontal)">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10" grpId="0"/>
      <p:bldP spid="15" grpId="0"/>
      <p:bldP spid="1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type="body" idx="4294967295"/>
          </p:nvPr>
        </p:nvSpPr>
        <p:spPr>
          <a:xfrm>
            <a:off x="34925" y="1341438"/>
            <a:ext cx="8229600" cy="503889"/>
          </a:xfrm>
        </p:spPr>
        <p:txBody>
          <a:bodyPr/>
          <a:lstStyle/>
          <a:p>
            <a:pPr lvl="2" eaLnBrk="1" hangingPunct="1">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 需求变动对市场均衡的影响</a:t>
            </a:r>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p:cxnSp>
        <p:nvCxnSpPr>
          <p:cNvPr id="39972" name="直接连接符 17"/>
          <p:cNvCxnSpPr>
            <a:cxnSpLocks noChangeShapeType="1"/>
          </p:cNvCxnSpPr>
          <p:nvPr/>
        </p:nvCxnSpPr>
        <p:spPr bwMode="auto">
          <a:xfrm rot="16200000" flipH="1">
            <a:off x="2629368" y="3172388"/>
            <a:ext cx="2147887" cy="833089"/>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39973" name="直接箭头连接符 57"/>
          <p:cNvCxnSpPr>
            <a:cxnSpLocks noChangeShapeType="1"/>
          </p:cNvCxnSpPr>
          <p:nvPr/>
        </p:nvCxnSpPr>
        <p:spPr bwMode="auto">
          <a:xfrm>
            <a:off x="2594912" y="2722956"/>
            <a:ext cx="558566" cy="1588"/>
          </a:xfrm>
          <a:prstGeom prst="straightConnector1">
            <a:avLst/>
          </a:prstGeom>
          <a:noFill/>
          <a:ln w="25400">
            <a:solidFill>
              <a:srgbClr val="A7C804"/>
            </a:solidFill>
            <a:round/>
            <a:headEnd/>
            <a:tailEnd type="arrow" w="med" len="med"/>
          </a:ln>
          <a:effectLst>
            <a:outerShdw dist="20000" dir="5400000" algn="ctr" rotWithShape="0">
              <a:srgbClr val="000000">
                <a:alpha val="31998"/>
              </a:srgbClr>
            </a:outerShdw>
          </a:effectLst>
          <a:extLst>
            <a:ext uri="{909E8E84-426E-40DD-AFC4-6F175D3DCCD1}">
              <a14:hiddenFill xmlns:a14="http://schemas.microsoft.com/office/drawing/2010/main">
                <a:noFill/>
              </a14:hiddenFill>
            </a:ext>
          </a:extLst>
        </p:spPr>
      </p:cxnSp>
      <p:graphicFrame>
        <p:nvGraphicFramePr>
          <p:cNvPr id="39974" name="Object 19"/>
          <p:cNvGraphicFramePr>
            <a:graphicFrameLocks noChangeAspect="1"/>
          </p:cNvGraphicFramePr>
          <p:nvPr/>
        </p:nvGraphicFramePr>
        <p:xfrm>
          <a:off x="3543339" y="2833779"/>
          <a:ext cx="239196" cy="357024"/>
        </p:xfrm>
        <a:graphic>
          <a:graphicData uri="http://schemas.openxmlformats.org/presentationml/2006/ole">
            <mc:AlternateContent xmlns:mc="http://schemas.openxmlformats.org/markup-compatibility/2006">
              <mc:Choice xmlns:v="urn:schemas-microsoft-com:vml" Requires="v">
                <p:oleObj spid="_x0000_s172898" r:id="rId4" imgW="191414" imgH="229697" progId="">
                  <p:embed/>
                </p:oleObj>
              </mc:Choice>
              <mc:Fallback>
                <p:oleObj r:id="rId4" imgW="191414" imgH="229697" progId="">
                  <p:embed/>
                  <p:pic>
                    <p:nvPicPr>
                      <p:cNvPr id="39974"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43339" y="2833779"/>
                        <a:ext cx="239196" cy="35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75" name="Object 20"/>
          <p:cNvGraphicFramePr>
            <a:graphicFrameLocks noChangeAspect="1"/>
          </p:cNvGraphicFramePr>
          <p:nvPr/>
        </p:nvGraphicFramePr>
        <p:xfrm>
          <a:off x="3094843" y="2197494"/>
          <a:ext cx="254858" cy="357024"/>
        </p:xfrm>
        <a:graphic>
          <a:graphicData uri="http://schemas.openxmlformats.org/presentationml/2006/ole">
            <mc:AlternateContent xmlns:mc="http://schemas.openxmlformats.org/markup-compatibility/2006">
              <mc:Choice xmlns:v="urn:schemas-microsoft-com:vml" Requires="v">
                <p:oleObj spid="_x0000_s172899" r:id="rId6" imgW="204086" imgH="229597" progId="">
                  <p:embed/>
                </p:oleObj>
              </mc:Choice>
              <mc:Fallback>
                <p:oleObj r:id="rId6" imgW="204086" imgH="229597" progId="">
                  <p:embed/>
                  <p:pic>
                    <p:nvPicPr>
                      <p:cNvPr id="39975"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94843" y="2197494"/>
                        <a:ext cx="254858" cy="35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9976" name="直接连接符 35"/>
          <p:cNvCxnSpPr>
            <a:cxnSpLocks noChangeShapeType="1"/>
          </p:cNvCxnSpPr>
          <p:nvPr/>
        </p:nvCxnSpPr>
        <p:spPr bwMode="auto">
          <a:xfrm>
            <a:off x="1301643" y="3000375"/>
            <a:ext cx="2177137"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9977" name="直接连接符 43"/>
          <p:cNvCxnSpPr>
            <a:cxnSpLocks noChangeShapeType="1"/>
          </p:cNvCxnSpPr>
          <p:nvPr/>
        </p:nvCxnSpPr>
        <p:spPr bwMode="auto">
          <a:xfrm rot="16200000" flipH="1">
            <a:off x="2485790" y="3971134"/>
            <a:ext cx="2000250" cy="42845"/>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9978" name="Object 14"/>
          <p:cNvGraphicFramePr>
            <a:graphicFrameLocks noChangeAspect="1"/>
          </p:cNvGraphicFramePr>
          <p:nvPr/>
        </p:nvGraphicFramePr>
        <p:xfrm>
          <a:off x="1044575" y="2840814"/>
          <a:ext cx="206416" cy="357094"/>
        </p:xfrm>
        <a:graphic>
          <a:graphicData uri="http://schemas.openxmlformats.org/presentationml/2006/ole">
            <mc:AlternateContent xmlns:mc="http://schemas.openxmlformats.org/markup-compatibility/2006">
              <mc:Choice xmlns:v="urn:schemas-microsoft-com:vml" Requires="v">
                <p:oleObj spid="_x0000_s172900" r:id="rId8" imgW="165820" imgH="229597" progId="">
                  <p:embed/>
                </p:oleObj>
              </mc:Choice>
              <mc:Fallback>
                <p:oleObj r:id="rId8" imgW="165820" imgH="229597" progId="">
                  <p:embed/>
                  <p:pic>
                    <p:nvPicPr>
                      <p:cNvPr id="39978"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4575" y="2840814"/>
                        <a:ext cx="206416" cy="357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79" name="Object 15"/>
          <p:cNvGraphicFramePr>
            <a:graphicFrameLocks noChangeAspect="1"/>
          </p:cNvGraphicFramePr>
          <p:nvPr/>
        </p:nvGraphicFramePr>
        <p:xfrm>
          <a:off x="3390528" y="5070569"/>
          <a:ext cx="239159" cy="357094"/>
        </p:xfrm>
        <a:graphic>
          <a:graphicData uri="http://schemas.openxmlformats.org/presentationml/2006/ole">
            <mc:AlternateContent xmlns:mc="http://schemas.openxmlformats.org/markup-compatibility/2006">
              <mc:Choice xmlns:v="urn:schemas-microsoft-com:vml" Requires="v">
                <p:oleObj spid="_x0000_s172901" r:id="rId10" imgW="191414" imgH="229697" progId="">
                  <p:embed/>
                </p:oleObj>
              </mc:Choice>
              <mc:Fallback>
                <p:oleObj r:id="rId10" imgW="191414" imgH="229697" progId="">
                  <p:embed/>
                  <p:pic>
                    <p:nvPicPr>
                      <p:cNvPr id="39979"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90528" y="5070569"/>
                        <a:ext cx="239159" cy="357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50" name="Object 28"/>
          <p:cNvGraphicFramePr>
            <a:graphicFrameLocks noChangeAspect="1"/>
          </p:cNvGraphicFramePr>
          <p:nvPr/>
        </p:nvGraphicFramePr>
        <p:xfrm>
          <a:off x="2838560" y="3398071"/>
          <a:ext cx="222111" cy="357024"/>
        </p:xfrm>
        <a:graphic>
          <a:graphicData uri="http://schemas.openxmlformats.org/presentationml/2006/ole">
            <mc:AlternateContent xmlns:mc="http://schemas.openxmlformats.org/markup-compatibility/2006">
              <mc:Choice xmlns:v="urn:schemas-microsoft-com:vml" Requires="v">
                <p:oleObj spid="_x0000_s172902" r:id="rId12" imgW="178497" imgH="229496" progId="">
                  <p:embed/>
                </p:oleObj>
              </mc:Choice>
              <mc:Fallback>
                <p:oleObj r:id="rId12" imgW="178497" imgH="229496" progId="">
                  <p:embed/>
                  <p:pic>
                    <p:nvPicPr>
                      <p:cNvPr id="39950" name="Object 2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38560" y="3398071"/>
                        <a:ext cx="222111" cy="35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9952" name="直接连接符 13"/>
          <p:cNvCxnSpPr>
            <a:cxnSpLocks noChangeShapeType="1"/>
          </p:cNvCxnSpPr>
          <p:nvPr/>
        </p:nvCxnSpPr>
        <p:spPr bwMode="auto">
          <a:xfrm flipV="1">
            <a:off x="1492063" y="2522538"/>
            <a:ext cx="2564325" cy="1909762"/>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aphicFrame>
        <p:nvGraphicFramePr>
          <p:cNvPr id="39955" name="Object 32"/>
          <p:cNvGraphicFramePr>
            <a:graphicFrameLocks noChangeAspect="1"/>
          </p:cNvGraphicFramePr>
          <p:nvPr/>
        </p:nvGraphicFramePr>
        <p:xfrm>
          <a:off x="4629230" y="5070639"/>
          <a:ext cx="190788" cy="316373"/>
        </p:xfrm>
        <a:graphic>
          <a:graphicData uri="http://schemas.openxmlformats.org/presentationml/2006/ole">
            <mc:AlternateContent xmlns:mc="http://schemas.openxmlformats.org/markup-compatibility/2006">
              <mc:Choice xmlns:v="urn:schemas-microsoft-com:vml" Requires="v">
                <p:oleObj spid="_x0000_s172903" r:id="rId14" imgW="153332" imgH="204442" progId="">
                  <p:embed/>
                </p:oleObj>
              </mc:Choice>
              <mc:Fallback>
                <p:oleObj r:id="rId14" imgW="153332" imgH="204442" progId="">
                  <p:embed/>
                  <p:pic>
                    <p:nvPicPr>
                      <p:cNvPr id="39955" name="Object 3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29230" y="5070639"/>
                        <a:ext cx="190788" cy="316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9957" name="直接箭头连接符 5"/>
          <p:cNvCxnSpPr>
            <a:cxnSpLocks noChangeShapeType="1"/>
          </p:cNvCxnSpPr>
          <p:nvPr/>
        </p:nvCxnSpPr>
        <p:spPr bwMode="auto">
          <a:xfrm>
            <a:off x="1304816" y="5000625"/>
            <a:ext cx="3524359"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39958" name="直接箭头连接符 11"/>
          <p:cNvCxnSpPr>
            <a:cxnSpLocks noChangeShapeType="1"/>
          </p:cNvCxnSpPr>
          <p:nvPr/>
        </p:nvCxnSpPr>
        <p:spPr bwMode="auto">
          <a:xfrm rot="16200000" flipV="1">
            <a:off x="-54083" y="3641720"/>
            <a:ext cx="2714625" cy="3173"/>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39959" name="直接连接符 16"/>
          <p:cNvCxnSpPr>
            <a:cxnSpLocks noChangeShapeType="1"/>
          </p:cNvCxnSpPr>
          <p:nvPr/>
        </p:nvCxnSpPr>
        <p:spPr bwMode="auto">
          <a:xfrm rot="16200000" flipH="1">
            <a:off x="1733600" y="3115665"/>
            <a:ext cx="2147887" cy="961622"/>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39960" name="直接连接符 32"/>
          <p:cNvCxnSpPr>
            <a:cxnSpLocks noChangeShapeType="1"/>
          </p:cNvCxnSpPr>
          <p:nvPr/>
        </p:nvCxnSpPr>
        <p:spPr bwMode="auto">
          <a:xfrm flipV="1">
            <a:off x="1301642" y="3478213"/>
            <a:ext cx="2361295" cy="1"/>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9961" name="直接连接符 41"/>
          <p:cNvCxnSpPr>
            <a:cxnSpLocks noChangeShapeType="1"/>
          </p:cNvCxnSpPr>
          <p:nvPr/>
        </p:nvCxnSpPr>
        <p:spPr bwMode="auto">
          <a:xfrm rot="16200000" flipH="1">
            <a:off x="2028887" y="4223550"/>
            <a:ext cx="1522412" cy="31736"/>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9962" name="Object 39"/>
          <p:cNvGraphicFramePr>
            <a:graphicFrameLocks noChangeAspect="1"/>
          </p:cNvGraphicFramePr>
          <p:nvPr/>
        </p:nvGraphicFramePr>
        <p:xfrm>
          <a:off x="1109751" y="5070639"/>
          <a:ext cx="190788" cy="275722"/>
        </p:xfrm>
        <a:graphic>
          <a:graphicData uri="http://schemas.openxmlformats.org/presentationml/2006/ole">
            <mc:AlternateContent xmlns:mc="http://schemas.openxmlformats.org/markup-compatibility/2006">
              <mc:Choice xmlns:v="urn:schemas-microsoft-com:vml" Requires="v">
                <p:oleObj spid="_x0000_s172904" r:id="rId16" imgW="153198" imgH="178731" progId="">
                  <p:embed/>
                </p:oleObj>
              </mc:Choice>
              <mc:Fallback>
                <p:oleObj r:id="rId16" imgW="153198" imgH="178731" progId="">
                  <p:embed/>
                  <p:pic>
                    <p:nvPicPr>
                      <p:cNvPr id="39962" name="Object 3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09751" y="5070639"/>
                        <a:ext cx="190788" cy="275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63" name="Object 40"/>
          <p:cNvGraphicFramePr>
            <a:graphicFrameLocks noChangeAspect="1"/>
          </p:cNvGraphicFramePr>
          <p:nvPr/>
        </p:nvGraphicFramePr>
        <p:xfrm>
          <a:off x="1044575" y="2284574"/>
          <a:ext cx="190788" cy="256280"/>
        </p:xfrm>
        <a:graphic>
          <a:graphicData uri="http://schemas.openxmlformats.org/presentationml/2006/ole">
            <mc:AlternateContent xmlns:mc="http://schemas.openxmlformats.org/markup-compatibility/2006">
              <mc:Choice xmlns:v="urn:schemas-microsoft-com:vml" Requires="v">
                <p:oleObj spid="_x0000_s172905" r:id="rId18" imgW="153332" imgH="166109" progId="">
                  <p:embed/>
                </p:oleObj>
              </mc:Choice>
              <mc:Fallback>
                <p:oleObj r:id="rId18" imgW="153332" imgH="166109" progId="">
                  <p:embed/>
                  <p:pic>
                    <p:nvPicPr>
                      <p:cNvPr id="39963" name="Object 4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44575" y="2284574"/>
                        <a:ext cx="190788" cy="256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64" name="Object 41"/>
          <p:cNvGraphicFramePr>
            <a:graphicFrameLocks noChangeAspect="1"/>
          </p:cNvGraphicFramePr>
          <p:nvPr/>
        </p:nvGraphicFramePr>
        <p:xfrm>
          <a:off x="1044575" y="3318536"/>
          <a:ext cx="190788" cy="357024"/>
        </p:xfrm>
        <a:graphic>
          <a:graphicData uri="http://schemas.openxmlformats.org/presentationml/2006/ole">
            <mc:AlternateContent xmlns:mc="http://schemas.openxmlformats.org/markup-compatibility/2006">
              <mc:Choice xmlns:v="urn:schemas-microsoft-com:vml" Requires="v">
                <p:oleObj spid="_x0000_s172906" r:id="rId20" imgW="153131" imgH="229697" progId="">
                  <p:embed/>
                </p:oleObj>
              </mc:Choice>
              <mc:Fallback>
                <p:oleObj r:id="rId20" imgW="153131" imgH="229697" progId="">
                  <p:embed/>
                  <p:pic>
                    <p:nvPicPr>
                      <p:cNvPr id="39964" name="Object 4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44575" y="3318536"/>
                        <a:ext cx="190788" cy="35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65" name="Object 42"/>
          <p:cNvGraphicFramePr>
            <a:graphicFrameLocks noChangeAspect="1"/>
          </p:cNvGraphicFramePr>
          <p:nvPr/>
        </p:nvGraphicFramePr>
        <p:xfrm>
          <a:off x="2673963" y="5070639"/>
          <a:ext cx="222111" cy="357024"/>
        </p:xfrm>
        <a:graphic>
          <a:graphicData uri="http://schemas.openxmlformats.org/presentationml/2006/ole">
            <mc:AlternateContent xmlns:mc="http://schemas.openxmlformats.org/markup-compatibility/2006">
              <mc:Choice xmlns:v="urn:schemas-microsoft-com:vml" Requires="v">
                <p:oleObj spid="_x0000_s172907" r:id="rId22" imgW="178497" imgH="229496" progId="">
                  <p:embed/>
                </p:oleObj>
              </mc:Choice>
              <mc:Fallback>
                <p:oleObj r:id="rId22" imgW="178497" imgH="229496" progId="">
                  <p:embed/>
                  <p:pic>
                    <p:nvPicPr>
                      <p:cNvPr id="39965" name="Object 4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673963" y="5070639"/>
                        <a:ext cx="222111" cy="35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66" name="Object 43"/>
          <p:cNvGraphicFramePr>
            <a:graphicFrameLocks noChangeAspect="1"/>
          </p:cNvGraphicFramePr>
          <p:nvPr/>
        </p:nvGraphicFramePr>
        <p:xfrm>
          <a:off x="2197849" y="2205038"/>
          <a:ext cx="239196" cy="357024"/>
        </p:xfrm>
        <a:graphic>
          <a:graphicData uri="http://schemas.openxmlformats.org/presentationml/2006/ole">
            <mc:AlternateContent xmlns:mc="http://schemas.openxmlformats.org/markup-compatibility/2006">
              <mc:Choice xmlns:v="urn:schemas-microsoft-com:vml" Requires="v">
                <p:oleObj spid="_x0000_s172908" r:id="rId24" imgW="191414" imgH="229697" progId="">
                  <p:embed/>
                </p:oleObj>
              </mc:Choice>
              <mc:Fallback>
                <p:oleObj r:id="rId24" imgW="191414" imgH="229697" progId="">
                  <p:embed/>
                  <p:pic>
                    <p:nvPicPr>
                      <p:cNvPr id="39966" name="Object 4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197849" y="2205038"/>
                        <a:ext cx="239196" cy="35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54" name="Object 44"/>
          <p:cNvGraphicFramePr>
            <a:graphicFrameLocks noChangeAspect="1"/>
          </p:cNvGraphicFramePr>
          <p:nvPr/>
        </p:nvGraphicFramePr>
        <p:xfrm>
          <a:off x="4184042" y="2364109"/>
          <a:ext cx="175126" cy="275722"/>
        </p:xfrm>
        <a:graphic>
          <a:graphicData uri="http://schemas.openxmlformats.org/presentationml/2006/ole">
            <mc:AlternateContent xmlns:mc="http://schemas.openxmlformats.org/markup-compatibility/2006">
              <mc:Choice xmlns:v="urn:schemas-microsoft-com:vml" Requires="v">
                <p:oleObj spid="_x0000_s172909" r:id="rId26" imgW="140493" imgH="178809" progId="">
                  <p:embed/>
                </p:oleObj>
              </mc:Choice>
              <mc:Fallback>
                <p:oleObj r:id="rId26" imgW="140493" imgH="178809" progId="">
                  <p:embed/>
                  <p:pic>
                    <p:nvPicPr>
                      <p:cNvPr id="39954" name="Object 44"/>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184042" y="2364109"/>
                        <a:ext cx="175126" cy="275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4861" name="组合 9"/>
          <p:cNvGrpSpPr>
            <a:grpSpLocks/>
          </p:cNvGrpSpPr>
          <p:nvPr/>
        </p:nvGrpSpPr>
        <p:grpSpPr bwMode="auto">
          <a:xfrm>
            <a:off x="4343326" y="2781300"/>
            <a:ext cx="4429125" cy="1485041"/>
            <a:chOff x="57717" y="0"/>
            <a:chExt cx="4357686" cy="1116099"/>
          </a:xfrm>
          <a:solidFill>
            <a:srgbClr val="F3C97F"/>
          </a:solidFill>
        </p:grpSpPr>
        <p:sp>
          <p:nvSpPr>
            <p:cNvPr id="39942" name="圆角矩形 45"/>
            <p:cNvSpPr>
              <a:spLocks noChangeArrowheads="1"/>
            </p:cNvSpPr>
            <p:nvPr/>
          </p:nvSpPr>
          <p:spPr bwMode="auto">
            <a:xfrm>
              <a:off x="57717" y="0"/>
              <a:ext cx="4357686" cy="1116099"/>
            </a:xfrm>
            <a:prstGeom prst="roundRect">
              <a:avLst>
                <a:gd name="adj" fmla="val 16667"/>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39943" name="TextBox 3"/>
            <p:cNvSpPr txBox="1">
              <a:spLocks noChangeArrowheads="1"/>
            </p:cNvSpPr>
            <p:nvPr/>
          </p:nvSpPr>
          <p:spPr bwMode="auto">
            <a:xfrm>
              <a:off x="88722" y="213977"/>
              <a:ext cx="4293034" cy="69393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需求增加</a:t>
              </a:r>
              <a:r>
                <a:rPr lang="en-US" altLang="zh-CN" sz="1800" b="0"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spc="150" dirty="0">
                  <a:solidFill>
                    <a:srgbClr val="000000"/>
                  </a:solidFill>
                  <a:latin typeface="微软雅黑" panose="020B0503020204020204" pitchFamily="34" charset="-122"/>
                  <a:ea typeface="微软雅黑" panose="020B0503020204020204" pitchFamily="34" charset="-122"/>
                </a:rPr>
                <a:t>需求曲线水平右移</a:t>
              </a:r>
              <a:r>
                <a:rPr lang="en-US" altLang="zh-CN" sz="1800" b="0"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S&lt;DP↑</a:t>
              </a:r>
              <a:r>
                <a:rPr lang="zh-CN" altLang="en-US" sz="1800" b="0"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。最终</a:t>
              </a:r>
              <a:r>
                <a:rPr lang="zh-CN" altLang="en-US" sz="1800" b="0" spc="150" dirty="0">
                  <a:solidFill>
                    <a:srgbClr val="000000"/>
                  </a:solidFill>
                  <a:latin typeface="微软雅黑" panose="020B0503020204020204" pitchFamily="34" charset="-122"/>
                  <a:ea typeface="微软雅黑" panose="020B0503020204020204" pitchFamily="34" charset="-122"/>
                </a:rPr>
                <a:t>市场均衡由</a:t>
              </a:r>
              <a:r>
                <a:rPr lang="en-US" altLang="zh-CN" sz="1800" b="0" dirty="0">
                  <a:solidFill>
                    <a:schemeClr val="tx1"/>
                  </a:solidFill>
                </a:rPr>
                <a:t>E</a:t>
              </a:r>
              <a:r>
                <a:rPr lang="en-US" altLang="zh-CN" sz="1800" b="0" baseline="-25000" dirty="0">
                  <a:solidFill>
                    <a:schemeClr val="tx1"/>
                  </a:solidFill>
                </a:rPr>
                <a:t>1</a:t>
              </a:r>
              <a:r>
                <a:rPr lang="zh-CN" altLang="en-US" sz="1800" b="0" spc="150" dirty="0">
                  <a:solidFill>
                    <a:srgbClr val="000000"/>
                  </a:solidFill>
                  <a:latin typeface="微软雅黑" panose="020B0503020204020204" pitchFamily="34" charset="-122"/>
                  <a:ea typeface="微软雅黑" panose="020B0503020204020204" pitchFamily="34" charset="-122"/>
                </a:rPr>
                <a:t>变动为</a:t>
              </a:r>
              <a:r>
                <a:rPr lang="en-US" altLang="zh-CN" sz="1800" b="0" dirty="0">
                  <a:solidFill>
                    <a:schemeClr val="tx1"/>
                  </a:solidFill>
                </a:rPr>
                <a:t>E</a:t>
              </a:r>
              <a:r>
                <a:rPr lang="en-US" altLang="zh-CN" sz="1800" b="0" baseline="-25000" dirty="0">
                  <a:solidFill>
                    <a:schemeClr val="tx1"/>
                  </a:solidFill>
                </a:rPr>
                <a:t>2 </a:t>
              </a:r>
              <a:r>
                <a:rPr lang="zh-CN" altLang="en-US" sz="1800" b="0" spc="150" dirty="0">
                  <a:solidFill>
                    <a:srgbClr val="000000"/>
                  </a:solidFill>
                  <a:latin typeface="微软雅黑" panose="020B0503020204020204" pitchFamily="34" charset="-122"/>
                  <a:ea typeface="微软雅黑" panose="020B0503020204020204" pitchFamily="34" charset="-122"/>
                </a:rPr>
                <a:t>；</a:t>
              </a:r>
              <a:endParaRPr lang="en-US" altLang="zh-CN" sz="1800" b="0" spc="150" dirty="0">
                <a:solidFill>
                  <a:srgbClr val="000000"/>
                </a:solidFill>
                <a:latin typeface="微软雅黑" panose="020B0503020204020204" pitchFamily="34" charset="-122"/>
                <a:ea typeface="微软雅黑" panose="020B0503020204020204" pitchFamily="34" charset="-122"/>
              </a:endParaRPr>
            </a:p>
          </p:txBody>
        </p:sp>
      </p:grpSp>
      <p:cxnSp>
        <p:nvCxnSpPr>
          <p:cNvPr id="79" name="直接箭头连接符 57"/>
          <p:cNvCxnSpPr>
            <a:cxnSpLocks noChangeShapeType="1"/>
          </p:cNvCxnSpPr>
          <p:nvPr/>
        </p:nvCxnSpPr>
        <p:spPr bwMode="auto">
          <a:xfrm flipV="1">
            <a:off x="3134263" y="3298211"/>
            <a:ext cx="407212" cy="397674"/>
          </a:xfrm>
          <a:prstGeom prst="straightConnector1">
            <a:avLst/>
          </a:prstGeom>
          <a:noFill/>
          <a:ln w="25400">
            <a:solidFill>
              <a:srgbClr val="A7C804"/>
            </a:solidFill>
            <a:round/>
            <a:headEnd/>
            <a:tailEnd type="arrow" w="med" len="med"/>
          </a:ln>
          <a:effectLst>
            <a:outerShdw dist="20000" dir="5400000" algn="ctr" rotWithShape="0">
              <a:srgbClr val="000000">
                <a:alpha val="31998"/>
              </a:srgbClr>
            </a:outerShdw>
          </a:effectLst>
          <a:extLst>
            <a:ext uri="{909E8E84-426E-40DD-AFC4-6F175D3DCCD1}">
              <a14:hiddenFill xmlns:a14="http://schemas.microsoft.com/office/drawing/2010/main">
                <a:noFill/>
              </a14:hiddenFill>
            </a:ext>
          </a:extLst>
        </p:spPr>
      </p:cxnSp>
      <p:sp>
        <p:nvSpPr>
          <p:cNvPr id="38" name="矩形 37">
            <a:extLst>
              <a:ext uri="{FF2B5EF4-FFF2-40B4-BE49-F238E27FC236}">
                <a16:creationId xmlns:a16="http://schemas.microsoft.com/office/drawing/2014/main" id="{F68E5273-CD77-47B9-B841-9D29349C133D}"/>
              </a:ext>
            </a:extLst>
          </p:cNvPr>
          <p:cNvSpPr/>
          <p:nvPr/>
        </p:nvSpPr>
        <p:spPr>
          <a:xfrm>
            <a:off x="467543" y="548680"/>
            <a:ext cx="3162141"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三、市场均衡的变动 </a:t>
            </a:r>
          </a:p>
        </p:txBody>
      </p:sp>
      <p:sp>
        <p:nvSpPr>
          <p:cNvPr id="39" name="矩形 38">
            <a:extLst>
              <a:ext uri="{FF2B5EF4-FFF2-40B4-BE49-F238E27FC236}">
                <a16:creationId xmlns:a16="http://schemas.microsoft.com/office/drawing/2014/main" id="{99A861F3-1BF5-4FA4-A7CE-A93F6E99B7C4}"/>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p:spTree>
    <p:extLst>
      <p:ext uri="{BB962C8B-B14F-4D97-AF65-F5344CB8AC3E}">
        <p14:creationId xmlns:p14="http://schemas.microsoft.com/office/powerpoint/2010/main" val="1912394073"/>
      </p:ext>
    </p:extLst>
  </p:cSld>
  <p:clrMapOvr>
    <a:masterClrMapping/>
  </p:clrMapOvr>
  <p:transition>
    <p:strip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18">
                                            <p:txEl>
                                              <p:pRg st="0" end="0"/>
                                            </p:txEl>
                                          </p:spTgt>
                                        </p:tgtEl>
                                        <p:attrNameLst>
                                          <p:attrName>style.visibility</p:attrName>
                                        </p:attrNameLst>
                                      </p:cBhvr>
                                      <p:to>
                                        <p:strVal val="visible"/>
                                      </p:to>
                                    </p:set>
                                    <p:animEffect transition="in" filter="wipe(left)">
                                      <p:cBhvr>
                                        <p:cTn id="7" dur="500"/>
                                        <p:tgtEl>
                                          <p:spTgt spid="348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9962"/>
                                        </p:tgtEl>
                                        <p:attrNameLst>
                                          <p:attrName>style.visibility</p:attrName>
                                        </p:attrNameLst>
                                      </p:cBhvr>
                                      <p:to>
                                        <p:strVal val="visible"/>
                                      </p:to>
                                    </p:set>
                                    <p:animEffect transition="in" filter="randombar(horizontal)">
                                      <p:cBhvr>
                                        <p:cTn id="12" dur="500"/>
                                        <p:tgtEl>
                                          <p:spTgt spid="399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9957"/>
                                        </p:tgtEl>
                                        <p:attrNameLst>
                                          <p:attrName>style.visibility</p:attrName>
                                        </p:attrNameLst>
                                      </p:cBhvr>
                                      <p:to>
                                        <p:strVal val="visible"/>
                                      </p:to>
                                    </p:set>
                                    <p:animEffect transition="in" filter="wipe(left)">
                                      <p:cBhvr>
                                        <p:cTn id="17" dur="500"/>
                                        <p:tgtEl>
                                          <p:spTgt spid="39957"/>
                                        </p:tgtEl>
                                      </p:cBhvr>
                                    </p:animEffect>
                                  </p:childTnLst>
                                </p:cTn>
                              </p:par>
                              <p:par>
                                <p:cTn id="18" presetID="22" presetClass="entr" presetSubtype="4" fill="hold" nodeType="withEffect">
                                  <p:stCondLst>
                                    <p:cond delay="0"/>
                                  </p:stCondLst>
                                  <p:childTnLst>
                                    <p:set>
                                      <p:cBhvr>
                                        <p:cTn id="19" dur="1" fill="hold">
                                          <p:stCondLst>
                                            <p:cond delay="0"/>
                                          </p:stCondLst>
                                        </p:cTn>
                                        <p:tgtEl>
                                          <p:spTgt spid="39958"/>
                                        </p:tgtEl>
                                        <p:attrNameLst>
                                          <p:attrName>style.visibility</p:attrName>
                                        </p:attrNameLst>
                                      </p:cBhvr>
                                      <p:to>
                                        <p:strVal val="visible"/>
                                      </p:to>
                                    </p:set>
                                    <p:animEffect transition="in" filter="wipe(down)">
                                      <p:cBhvr>
                                        <p:cTn id="20" dur="500"/>
                                        <p:tgtEl>
                                          <p:spTgt spid="39958"/>
                                        </p:tgtEl>
                                      </p:cBhvr>
                                    </p:animEffect>
                                  </p:childTnLst>
                                </p:cTn>
                              </p:par>
                            </p:childTnLst>
                          </p:cTn>
                        </p:par>
                        <p:par>
                          <p:cTn id="21" fill="hold">
                            <p:stCondLst>
                              <p:cond delay="500"/>
                            </p:stCondLst>
                            <p:childTnLst>
                              <p:par>
                                <p:cTn id="22" presetID="14" presetClass="entr" presetSubtype="10" fill="hold" nodeType="afterEffect">
                                  <p:stCondLst>
                                    <p:cond delay="0"/>
                                  </p:stCondLst>
                                  <p:childTnLst>
                                    <p:set>
                                      <p:cBhvr>
                                        <p:cTn id="23" dur="1" fill="hold">
                                          <p:stCondLst>
                                            <p:cond delay="0"/>
                                          </p:stCondLst>
                                        </p:cTn>
                                        <p:tgtEl>
                                          <p:spTgt spid="39955"/>
                                        </p:tgtEl>
                                        <p:attrNameLst>
                                          <p:attrName>style.visibility</p:attrName>
                                        </p:attrNameLst>
                                      </p:cBhvr>
                                      <p:to>
                                        <p:strVal val="visible"/>
                                      </p:to>
                                    </p:set>
                                    <p:animEffect transition="in" filter="randombar(horizontal)">
                                      <p:cBhvr>
                                        <p:cTn id="24" dur="500"/>
                                        <p:tgtEl>
                                          <p:spTgt spid="39955"/>
                                        </p:tgtEl>
                                      </p:cBhvr>
                                    </p:animEffect>
                                  </p:childTnLst>
                                </p:cTn>
                              </p:par>
                            </p:childTnLst>
                          </p:cTn>
                        </p:par>
                        <p:par>
                          <p:cTn id="25" fill="hold">
                            <p:stCondLst>
                              <p:cond delay="1000"/>
                            </p:stCondLst>
                            <p:childTnLst>
                              <p:par>
                                <p:cTn id="26" presetID="14" presetClass="entr" presetSubtype="10" fill="hold" nodeType="afterEffect">
                                  <p:stCondLst>
                                    <p:cond delay="0"/>
                                  </p:stCondLst>
                                  <p:childTnLst>
                                    <p:set>
                                      <p:cBhvr>
                                        <p:cTn id="27" dur="1" fill="hold">
                                          <p:stCondLst>
                                            <p:cond delay="0"/>
                                          </p:stCondLst>
                                        </p:cTn>
                                        <p:tgtEl>
                                          <p:spTgt spid="39963"/>
                                        </p:tgtEl>
                                        <p:attrNameLst>
                                          <p:attrName>style.visibility</p:attrName>
                                        </p:attrNameLst>
                                      </p:cBhvr>
                                      <p:to>
                                        <p:strVal val="visible"/>
                                      </p:to>
                                    </p:set>
                                    <p:animEffect transition="in" filter="randombar(horizontal)">
                                      <p:cBhvr>
                                        <p:cTn id="28" dur="500"/>
                                        <p:tgtEl>
                                          <p:spTgt spid="3996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39952"/>
                                        </p:tgtEl>
                                        <p:attrNameLst>
                                          <p:attrName>style.visibility</p:attrName>
                                        </p:attrNameLst>
                                      </p:cBhvr>
                                      <p:to>
                                        <p:strVal val="visible"/>
                                      </p:to>
                                    </p:set>
                                    <p:animEffect transition="in" filter="wipe(down)">
                                      <p:cBhvr>
                                        <p:cTn id="33" dur="500"/>
                                        <p:tgtEl>
                                          <p:spTgt spid="39952"/>
                                        </p:tgtEl>
                                      </p:cBhvr>
                                    </p:animEffect>
                                  </p:childTnLst>
                                </p:cTn>
                              </p:par>
                            </p:childTnLst>
                          </p:cTn>
                        </p:par>
                        <p:par>
                          <p:cTn id="34" fill="hold">
                            <p:stCondLst>
                              <p:cond delay="500"/>
                            </p:stCondLst>
                            <p:childTnLst>
                              <p:par>
                                <p:cTn id="35" presetID="14" presetClass="entr" presetSubtype="10" fill="hold" nodeType="afterEffect">
                                  <p:stCondLst>
                                    <p:cond delay="0"/>
                                  </p:stCondLst>
                                  <p:childTnLst>
                                    <p:set>
                                      <p:cBhvr>
                                        <p:cTn id="36" dur="1" fill="hold">
                                          <p:stCondLst>
                                            <p:cond delay="0"/>
                                          </p:stCondLst>
                                        </p:cTn>
                                        <p:tgtEl>
                                          <p:spTgt spid="39954"/>
                                        </p:tgtEl>
                                        <p:attrNameLst>
                                          <p:attrName>style.visibility</p:attrName>
                                        </p:attrNameLst>
                                      </p:cBhvr>
                                      <p:to>
                                        <p:strVal val="visible"/>
                                      </p:to>
                                    </p:set>
                                    <p:animEffect transition="in" filter="randombar(horizontal)">
                                      <p:cBhvr>
                                        <p:cTn id="37" dur="500"/>
                                        <p:tgtEl>
                                          <p:spTgt spid="39954"/>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39978"/>
                                        </p:tgtEl>
                                        <p:attrNameLst>
                                          <p:attrName>style.visibility</p:attrName>
                                        </p:attrNameLst>
                                      </p:cBhvr>
                                      <p:to>
                                        <p:strVal val="visible"/>
                                      </p:to>
                                    </p:set>
                                    <p:animEffect transition="in" filter="randombar(horizontal)">
                                      <p:cBhvr>
                                        <p:cTn id="42" dur="500"/>
                                        <p:tgtEl>
                                          <p:spTgt spid="39978"/>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39976"/>
                                        </p:tgtEl>
                                        <p:attrNameLst>
                                          <p:attrName>style.visibility</p:attrName>
                                        </p:attrNameLst>
                                      </p:cBhvr>
                                      <p:to>
                                        <p:strVal val="visible"/>
                                      </p:to>
                                    </p:set>
                                    <p:animEffect transition="in" filter="wipe(left)">
                                      <p:cBhvr>
                                        <p:cTn id="46" dur="500"/>
                                        <p:tgtEl>
                                          <p:spTgt spid="39976"/>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39979"/>
                                        </p:tgtEl>
                                        <p:attrNameLst>
                                          <p:attrName>style.visibility</p:attrName>
                                        </p:attrNameLst>
                                      </p:cBhvr>
                                      <p:to>
                                        <p:strVal val="visible"/>
                                      </p:to>
                                    </p:set>
                                    <p:animEffect transition="in" filter="randombar(horizontal)">
                                      <p:cBhvr>
                                        <p:cTn id="51" dur="500"/>
                                        <p:tgtEl>
                                          <p:spTgt spid="39979"/>
                                        </p:tgtEl>
                                      </p:cBhvr>
                                    </p:animEffect>
                                  </p:childTnLst>
                                </p:cTn>
                              </p:par>
                            </p:childTnLst>
                          </p:cTn>
                        </p:par>
                        <p:par>
                          <p:cTn id="52" fill="hold">
                            <p:stCondLst>
                              <p:cond delay="500"/>
                            </p:stCondLst>
                            <p:childTnLst>
                              <p:par>
                                <p:cTn id="53" presetID="22" presetClass="entr" presetSubtype="4" fill="hold" nodeType="afterEffect">
                                  <p:stCondLst>
                                    <p:cond delay="0"/>
                                  </p:stCondLst>
                                  <p:childTnLst>
                                    <p:set>
                                      <p:cBhvr>
                                        <p:cTn id="54" dur="1" fill="hold">
                                          <p:stCondLst>
                                            <p:cond delay="0"/>
                                          </p:stCondLst>
                                        </p:cTn>
                                        <p:tgtEl>
                                          <p:spTgt spid="39977"/>
                                        </p:tgtEl>
                                        <p:attrNameLst>
                                          <p:attrName>style.visibility</p:attrName>
                                        </p:attrNameLst>
                                      </p:cBhvr>
                                      <p:to>
                                        <p:strVal val="visible"/>
                                      </p:to>
                                    </p:set>
                                    <p:animEffect transition="in" filter="wipe(down)">
                                      <p:cBhvr>
                                        <p:cTn id="55" dur="500"/>
                                        <p:tgtEl>
                                          <p:spTgt spid="39977"/>
                                        </p:tgtEl>
                                      </p:cBhvr>
                                    </p:animEffect>
                                  </p:childTnLst>
                                </p:cTn>
                              </p:par>
                            </p:childTnLst>
                          </p:cTn>
                        </p:par>
                      </p:childTnLst>
                    </p:cTn>
                  </p:par>
                  <p:par>
                    <p:cTn id="56" fill="hold">
                      <p:stCondLst>
                        <p:cond delay="indefinite"/>
                      </p:stCondLst>
                      <p:childTnLst>
                        <p:par>
                          <p:cTn id="57" fill="hold">
                            <p:stCondLst>
                              <p:cond delay="0"/>
                            </p:stCondLst>
                            <p:childTnLst>
                              <p:par>
                                <p:cTn id="58" presetID="14" presetClass="entr" presetSubtype="10" fill="hold" nodeType="clickEffect">
                                  <p:stCondLst>
                                    <p:cond delay="0"/>
                                  </p:stCondLst>
                                  <p:childTnLst>
                                    <p:set>
                                      <p:cBhvr>
                                        <p:cTn id="59" dur="1" fill="hold">
                                          <p:stCondLst>
                                            <p:cond delay="0"/>
                                          </p:stCondLst>
                                        </p:cTn>
                                        <p:tgtEl>
                                          <p:spTgt spid="39964"/>
                                        </p:tgtEl>
                                        <p:attrNameLst>
                                          <p:attrName>style.visibility</p:attrName>
                                        </p:attrNameLst>
                                      </p:cBhvr>
                                      <p:to>
                                        <p:strVal val="visible"/>
                                      </p:to>
                                    </p:set>
                                    <p:animEffect transition="in" filter="randombar(horizontal)">
                                      <p:cBhvr>
                                        <p:cTn id="60" dur="500"/>
                                        <p:tgtEl>
                                          <p:spTgt spid="3996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39960"/>
                                        </p:tgtEl>
                                        <p:attrNameLst>
                                          <p:attrName>style.visibility</p:attrName>
                                        </p:attrNameLst>
                                      </p:cBhvr>
                                      <p:to>
                                        <p:strVal val="visible"/>
                                      </p:to>
                                    </p:set>
                                    <p:animEffect transition="in" filter="wipe(left)">
                                      <p:cBhvr>
                                        <p:cTn id="65" dur="500"/>
                                        <p:tgtEl>
                                          <p:spTgt spid="39960"/>
                                        </p:tgtEl>
                                      </p:cBhvr>
                                    </p:animEffect>
                                  </p:childTnLst>
                                </p:cTn>
                              </p:par>
                            </p:childTnLst>
                          </p:cTn>
                        </p:par>
                      </p:childTnLst>
                    </p:cTn>
                  </p:par>
                  <p:par>
                    <p:cTn id="66" fill="hold">
                      <p:stCondLst>
                        <p:cond delay="indefinite"/>
                      </p:stCondLst>
                      <p:childTnLst>
                        <p:par>
                          <p:cTn id="67" fill="hold">
                            <p:stCondLst>
                              <p:cond delay="0"/>
                            </p:stCondLst>
                            <p:childTnLst>
                              <p:par>
                                <p:cTn id="68" presetID="14" presetClass="entr" presetSubtype="10" fill="hold" nodeType="clickEffect">
                                  <p:stCondLst>
                                    <p:cond delay="0"/>
                                  </p:stCondLst>
                                  <p:childTnLst>
                                    <p:set>
                                      <p:cBhvr>
                                        <p:cTn id="69" dur="1" fill="hold">
                                          <p:stCondLst>
                                            <p:cond delay="0"/>
                                          </p:stCondLst>
                                        </p:cTn>
                                        <p:tgtEl>
                                          <p:spTgt spid="39965"/>
                                        </p:tgtEl>
                                        <p:attrNameLst>
                                          <p:attrName>style.visibility</p:attrName>
                                        </p:attrNameLst>
                                      </p:cBhvr>
                                      <p:to>
                                        <p:strVal val="visible"/>
                                      </p:to>
                                    </p:set>
                                    <p:animEffect transition="in" filter="randombar(horizontal)">
                                      <p:cBhvr>
                                        <p:cTn id="70" dur="500"/>
                                        <p:tgtEl>
                                          <p:spTgt spid="39965"/>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39961"/>
                                        </p:tgtEl>
                                        <p:attrNameLst>
                                          <p:attrName>style.visibility</p:attrName>
                                        </p:attrNameLst>
                                      </p:cBhvr>
                                      <p:to>
                                        <p:strVal val="visible"/>
                                      </p:to>
                                    </p:set>
                                    <p:animEffect transition="in" filter="wipe(down)">
                                      <p:cBhvr>
                                        <p:cTn id="75" dur="500"/>
                                        <p:tgtEl>
                                          <p:spTgt spid="3996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nodeType="clickEffect">
                                  <p:stCondLst>
                                    <p:cond delay="0"/>
                                  </p:stCondLst>
                                  <p:childTnLst>
                                    <p:set>
                                      <p:cBhvr>
                                        <p:cTn id="79" dur="1" fill="hold">
                                          <p:stCondLst>
                                            <p:cond delay="0"/>
                                          </p:stCondLst>
                                        </p:cTn>
                                        <p:tgtEl>
                                          <p:spTgt spid="39959"/>
                                        </p:tgtEl>
                                        <p:attrNameLst>
                                          <p:attrName>style.visibility</p:attrName>
                                        </p:attrNameLst>
                                      </p:cBhvr>
                                      <p:to>
                                        <p:strVal val="visible"/>
                                      </p:to>
                                    </p:set>
                                    <p:animEffect transition="in" filter="wipe(down)">
                                      <p:cBhvr>
                                        <p:cTn id="80" dur="500"/>
                                        <p:tgtEl>
                                          <p:spTgt spid="39959"/>
                                        </p:tgtEl>
                                      </p:cBhvr>
                                    </p:animEffect>
                                  </p:childTnLst>
                                </p:cTn>
                              </p:par>
                            </p:childTnLst>
                          </p:cTn>
                        </p:par>
                        <p:par>
                          <p:cTn id="81" fill="hold">
                            <p:stCondLst>
                              <p:cond delay="500"/>
                            </p:stCondLst>
                            <p:childTnLst>
                              <p:par>
                                <p:cTn id="82" presetID="14" presetClass="entr" presetSubtype="10" fill="hold" nodeType="afterEffect">
                                  <p:stCondLst>
                                    <p:cond delay="0"/>
                                  </p:stCondLst>
                                  <p:childTnLst>
                                    <p:set>
                                      <p:cBhvr>
                                        <p:cTn id="83" dur="1" fill="hold">
                                          <p:stCondLst>
                                            <p:cond delay="0"/>
                                          </p:stCondLst>
                                        </p:cTn>
                                        <p:tgtEl>
                                          <p:spTgt spid="39966"/>
                                        </p:tgtEl>
                                        <p:attrNameLst>
                                          <p:attrName>style.visibility</p:attrName>
                                        </p:attrNameLst>
                                      </p:cBhvr>
                                      <p:to>
                                        <p:strVal val="visible"/>
                                      </p:to>
                                    </p:set>
                                    <p:animEffect transition="in" filter="randombar(horizontal)">
                                      <p:cBhvr>
                                        <p:cTn id="84" dur="500"/>
                                        <p:tgtEl>
                                          <p:spTgt spid="39966"/>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39973"/>
                                        </p:tgtEl>
                                        <p:attrNameLst>
                                          <p:attrName>style.visibility</p:attrName>
                                        </p:attrNameLst>
                                      </p:cBhvr>
                                      <p:to>
                                        <p:strVal val="visible"/>
                                      </p:to>
                                    </p:set>
                                    <p:animEffect transition="in" filter="wipe(left)">
                                      <p:cBhvr>
                                        <p:cTn id="89" dur="500"/>
                                        <p:tgtEl>
                                          <p:spTgt spid="39973"/>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nodeType="clickEffect">
                                  <p:stCondLst>
                                    <p:cond delay="0"/>
                                  </p:stCondLst>
                                  <p:childTnLst>
                                    <p:set>
                                      <p:cBhvr>
                                        <p:cTn id="93" dur="1" fill="hold">
                                          <p:stCondLst>
                                            <p:cond delay="0"/>
                                          </p:stCondLst>
                                        </p:cTn>
                                        <p:tgtEl>
                                          <p:spTgt spid="39972"/>
                                        </p:tgtEl>
                                        <p:attrNameLst>
                                          <p:attrName>style.visibility</p:attrName>
                                        </p:attrNameLst>
                                      </p:cBhvr>
                                      <p:to>
                                        <p:strVal val="visible"/>
                                      </p:to>
                                    </p:set>
                                    <p:animEffect transition="in" filter="wipe(down)">
                                      <p:cBhvr>
                                        <p:cTn id="94" dur="500"/>
                                        <p:tgtEl>
                                          <p:spTgt spid="39972"/>
                                        </p:tgtEl>
                                      </p:cBhvr>
                                    </p:animEffect>
                                  </p:childTnLst>
                                </p:cTn>
                              </p:par>
                            </p:childTnLst>
                          </p:cTn>
                        </p:par>
                        <p:par>
                          <p:cTn id="95" fill="hold">
                            <p:stCondLst>
                              <p:cond delay="500"/>
                            </p:stCondLst>
                            <p:childTnLst>
                              <p:par>
                                <p:cTn id="96" presetID="14" presetClass="entr" presetSubtype="10" fill="hold" nodeType="afterEffect">
                                  <p:stCondLst>
                                    <p:cond delay="0"/>
                                  </p:stCondLst>
                                  <p:childTnLst>
                                    <p:set>
                                      <p:cBhvr>
                                        <p:cTn id="97" dur="1" fill="hold">
                                          <p:stCondLst>
                                            <p:cond delay="0"/>
                                          </p:stCondLst>
                                        </p:cTn>
                                        <p:tgtEl>
                                          <p:spTgt spid="39975"/>
                                        </p:tgtEl>
                                        <p:attrNameLst>
                                          <p:attrName>style.visibility</p:attrName>
                                        </p:attrNameLst>
                                      </p:cBhvr>
                                      <p:to>
                                        <p:strVal val="visible"/>
                                      </p:to>
                                    </p:set>
                                    <p:animEffect transition="in" filter="randombar(horizontal)">
                                      <p:cBhvr>
                                        <p:cTn id="98" dur="500"/>
                                        <p:tgtEl>
                                          <p:spTgt spid="39975"/>
                                        </p:tgtEl>
                                      </p:cBhvr>
                                    </p:animEffect>
                                  </p:childTnLst>
                                </p:cTn>
                              </p:par>
                            </p:childTnLst>
                          </p:cTn>
                        </p:par>
                      </p:childTnLst>
                    </p:cTn>
                  </p:par>
                  <p:par>
                    <p:cTn id="99" fill="hold">
                      <p:stCondLst>
                        <p:cond delay="indefinite"/>
                      </p:stCondLst>
                      <p:childTnLst>
                        <p:par>
                          <p:cTn id="100" fill="hold">
                            <p:stCondLst>
                              <p:cond delay="0"/>
                            </p:stCondLst>
                            <p:childTnLst>
                              <p:par>
                                <p:cTn id="101" presetID="14" presetClass="entr" presetSubtype="10" fill="hold" nodeType="clickEffect">
                                  <p:stCondLst>
                                    <p:cond delay="0"/>
                                  </p:stCondLst>
                                  <p:childTnLst>
                                    <p:set>
                                      <p:cBhvr>
                                        <p:cTn id="102" dur="1" fill="hold">
                                          <p:stCondLst>
                                            <p:cond delay="0"/>
                                          </p:stCondLst>
                                        </p:cTn>
                                        <p:tgtEl>
                                          <p:spTgt spid="39950"/>
                                        </p:tgtEl>
                                        <p:attrNameLst>
                                          <p:attrName>style.visibility</p:attrName>
                                        </p:attrNameLst>
                                      </p:cBhvr>
                                      <p:to>
                                        <p:strVal val="visible"/>
                                      </p:to>
                                    </p:set>
                                    <p:animEffect transition="in" filter="randombar(horizontal)">
                                      <p:cBhvr>
                                        <p:cTn id="103" dur="500"/>
                                        <p:tgtEl>
                                          <p:spTgt spid="39950"/>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4" fill="hold" nodeType="clickEffect">
                                  <p:stCondLst>
                                    <p:cond delay="0"/>
                                  </p:stCondLst>
                                  <p:childTnLst>
                                    <p:set>
                                      <p:cBhvr>
                                        <p:cTn id="107" dur="1" fill="hold">
                                          <p:stCondLst>
                                            <p:cond delay="0"/>
                                          </p:stCondLst>
                                        </p:cTn>
                                        <p:tgtEl>
                                          <p:spTgt spid="79"/>
                                        </p:tgtEl>
                                        <p:attrNameLst>
                                          <p:attrName>style.visibility</p:attrName>
                                        </p:attrNameLst>
                                      </p:cBhvr>
                                      <p:to>
                                        <p:strVal val="visible"/>
                                      </p:to>
                                    </p:set>
                                    <p:animEffect transition="in" filter="wipe(down)">
                                      <p:cBhvr>
                                        <p:cTn id="108" dur="500"/>
                                        <p:tgtEl>
                                          <p:spTgt spid="79"/>
                                        </p:tgtEl>
                                      </p:cBhvr>
                                    </p:animEffect>
                                  </p:childTnLst>
                                </p:cTn>
                              </p:par>
                            </p:childTnLst>
                          </p:cTn>
                        </p:par>
                        <p:par>
                          <p:cTn id="109" fill="hold">
                            <p:stCondLst>
                              <p:cond delay="1000"/>
                            </p:stCondLst>
                            <p:childTnLst>
                              <p:par>
                                <p:cTn id="110" presetID="14" presetClass="entr" presetSubtype="10" fill="hold" nodeType="afterEffect">
                                  <p:stCondLst>
                                    <p:cond delay="0"/>
                                  </p:stCondLst>
                                  <p:childTnLst>
                                    <p:set>
                                      <p:cBhvr>
                                        <p:cTn id="111" dur="1" fill="hold">
                                          <p:stCondLst>
                                            <p:cond delay="0"/>
                                          </p:stCondLst>
                                        </p:cTn>
                                        <p:tgtEl>
                                          <p:spTgt spid="39974"/>
                                        </p:tgtEl>
                                        <p:attrNameLst>
                                          <p:attrName>style.visibility</p:attrName>
                                        </p:attrNameLst>
                                      </p:cBhvr>
                                      <p:to>
                                        <p:strVal val="visible"/>
                                      </p:to>
                                    </p:set>
                                    <p:animEffect transition="in" filter="randombar(horizontal)">
                                      <p:cBhvr>
                                        <p:cTn id="112" dur="500"/>
                                        <p:tgtEl>
                                          <p:spTgt spid="39974"/>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1" fill="hold" nodeType="clickEffect">
                                  <p:stCondLst>
                                    <p:cond delay="0"/>
                                  </p:stCondLst>
                                  <p:childTnLst>
                                    <p:set>
                                      <p:cBhvr>
                                        <p:cTn id="116" dur="1" fill="hold">
                                          <p:stCondLst>
                                            <p:cond delay="0"/>
                                          </p:stCondLst>
                                        </p:cTn>
                                        <p:tgtEl>
                                          <p:spTgt spid="34861"/>
                                        </p:tgtEl>
                                        <p:attrNameLst>
                                          <p:attrName>style.visibility</p:attrName>
                                        </p:attrNameLst>
                                      </p:cBhvr>
                                      <p:to>
                                        <p:strVal val="visible"/>
                                      </p:to>
                                    </p:set>
                                    <p:animEffect transition="in" filter="wipe(up)">
                                      <p:cBhvr>
                                        <p:cTn id="117" dur="500"/>
                                        <p:tgtEl>
                                          <p:spTgt spid="348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0" name="直接箭头连接符 57"/>
          <p:cNvCxnSpPr>
            <a:cxnSpLocks noChangeShapeType="1"/>
          </p:cNvCxnSpPr>
          <p:nvPr/>
        </p:nvCxnSpPr>
        <p:spPr bwMode="auto">
          <a:xfrm flipH="1">
            <a:off x="2258762" y="3694931"/>
            <a:ext cx="461769" cy="410468"/>
          </a:xfrm>
          <a:prstGeom prst="straightConnector1">
            <a:avLst/>
          </a:prstGeom>
          <a:noFill/>
          <a:ln w="25400">
            <a:solidFill>
              <a:srgbClr val="A7C804"/>
            </a:solidFill>
            <a:round/>
            <a:headEnd/>
            <a:tailEnd type="arrow" w="med" len="med"/>
          </a:ln>
          <a:effectLst>
            <a:outerShdw dist="20000" dir="5400000" algn="ctr" rotWithShape="0">
              <a:srgbClr val="000000">
                <a:alpha val="31998"/>
              </a:srgbClr>
            </a:outerShdw>
          </a:effectLst>
          <a:extLst>
            <a:ext uri="{909E8E84-426E-40DD-AFC4-6F175D3DCCD1}">
              <a14:hiddenFill xmlns:a14="http://schemas.microsoft.com/office/drawing/2010/main">
                <a:noFill/>
              </a14:hiddenFill>
            </a:ext>
          </a:extLst>
        </p:spPr>
      </p:cxnSp>
      <p:graphicFrame>
        <p:nvGraphicFramePr>
          <p:cNvPr id="39967" name="Object 22"/>
          <p:cNvGraphicFramePr>
            <a:graphicFrameLocks noChangeAspect="1"/>
          </p:cNvGraphicFramePr>
          <p:nvPr/>
        </p:nvGraphicFramePr>
        <p:xfrm>
          <a:off x="2197911" y="3994340"/>
          <a:ext cx="239140" cy="357024"/>
        </p:xfrm>
        <a:graphic>
          <a:graphicData uri="http://schemas.openxmlformats.org/presentationml/2006/ole">
            <mc:AlternateContent xmlns:mc="http://schemas.openxmlformats.org/markup-compatibility/2006">
              <mc:Choice xmlns:v="urn:schemas-microsoft-com:vml" Requires="v">
                <p:oleObj spid="_x0000_s173926" r:id="rId4" imgW="191414" imgH="229697" progId="">
                  <p:embed/>
                </p:oleObj>
              </mc:Choice>
              <mc:Fallback>
                <p:oleObj r:id="rId4" imgW="191414" imgH="229697" progId="">
                  <p:embed/>
                  <p:pic>
                    <p:nvPicPr>
                      <p:cNvPr id="39967"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7911" y="3994340"/>
                        <a:ext cx="239140" cy="35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9969" name="直接连接符 15"/>
          <p:cNvCxnSpPr>
            <a:cxnSpLocks noChangeShapeType="1"/>
          </p:cNvCxnSpPr>
          <p:nvPr/>
        </p:nvCxnSpPr>
        <p:spPr bwMode="auto">
          <a:xfrm rot="16200000" flipH="1">
            <a:off x="932253" y="3266463"/>
            <a:ext cx="2147887" cy="898149"/>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39970" name="直接箭头连接符 59"/>
          <p:cNvCxnSpPr>
            <a:cxnSpLocks noChangeShapeType="1"/>
          </p:cNvCxnSpPr>
          <p:nvPr/>
        </p:nvCxnSpPr>
        <p:spPr bwMode="auto">
          <a:xfrm rot="10800000">
            <a:off x="1814190" y="2881306"/>
            <a:ext cx="447487" cy="1588"/>
          </a:xfrm>
          <a:prstGeom prst="straightConnector1">
            <a:avLst/>
          </a:prstGeom>
          <a:noFill/>
          <a:ln w="25400">
            <a:solidFill>
              <a:srgbClr val="A7C804"/>
            </a:solidFill>
            <a:round/>
            <a:headEnd/>
            <a:tailEnd type="arrow" w="med" len="med"/>
          </a:ln>
          <a:effectLst>
            <a:outerShdw dist="20000" dir="5400000" algn="ctr" rotWithShape="0">
              <a:srgbClr val="000000">
                <a:alpha val="31998"/>
              </a:srgbClr>
            </a:outerShdw>
          </a:effectLst>
          <a:extLst>
            <a:ext uri="{909E8E84-426E-40DD-AFC4-6F175D3DCCD1}">
              <a14:hiddenFill xmlns:a14="http://schemas.microsoft.com/office/drawing/2010/main">
                <a:noFill/>
              </a14:hiddenFill>
            </a:ext>
          </a:extLst>
        </p:spPr>
      </p:cxnSp>
      <p:graphicFrame>
        <p:nvGraphicFramePr>
          <p:cNvPr id="39971" name="Object 26"/>
          <p:cNvGraphicFramePr>
            <a:graphicFrameLocks noChangeAspect="1"/>
          </p:cNvGraphicFramePr>
          <p:nvPr/>
        </p:nvGraphicFramePr>
        <p:xfrm>
          <a:off x="1429241" y="2324094"/>
          <a:ext cx="254798" cy="357024"/>
        </p:xfrm>
        <a:graphic>
          <a:graphicData uri="http://schemas.openxmlformats.org/presentationml/2006/ole">
            <mc:AlternateContent xmlns:mc="http://schemas.openxmlformats.org/markup-compatibility/2006">
              <mc:Choice xmlns:v="urn:schemas-microsoft-com:vml" Requires="v">
                <p:oleObj spid="_x0000_s173927" r:id="rId6" imgW="204086" imgH="229597" progId="">
                  <p:embed/>
                </p:oleObj>
              </mc:Choice>
              <mc:Fallback>
                <p:oleObj r:id="rId6" imgW="204086" imgH="229597" progId="">
                  <p:embed/>
                  <p:pic>
                    <p:nvPicPr>
                      <p:cNvPr id="39971" name="Object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9241" y="2324094"/>
                        <a:ext cx="254798" cy="35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9980" name="直接连接符 30"/>
          <p:cNvCxnSpPr>
            <a:cxnSpLocks noChangeShapeType="1"/>
          </p:cNvCxnSpPr>
          <p:nvPr/>
        </p:nvCxnSpPr>
        <p:spPr bwMode="auto">
          <a:xfrm>
            <a:off x="1301642" y="3954463"/>
            <a:ext cx="831501"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9982" name="直接连接符 39"/>
          <p:cNvCxnSpPr>
            <a:cxnSpLocks noChangeShapeType="1"/>
          </p:cNvCxnSpPr>
          <p:nvPr/>
        </p:nvCxnSpPr>
        <p:spPr bwMode="auto">
          <a:xfrm rot="16200000" flipH="1">
            <a:off x="1620372" y="4468810"/>
            <a:ext cx="1046162" cy="17455"/>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9983" name="Object 8"/>
          <p:cNvGraphicFramePr>
            <a:graphicFrameLocks noChangeAspect="1"/>
          </p:cNvGraphicFramePr>
          <p:nvPr>
            <p:extLst>
              <p:ext uri="{D42A27DB-BD31-4B8C-83A1-F6EECF244321}">
                <p14:modId xmlns:p14="http://schemas.microsoft.com/office/powerpoint/2010/main" val="2305827047"/>
              </p:ext>
            </p:extLst>
          </p:nvPr>
        </p:nvGraphicFramePr>
        <p:xfrm>
          <a:off x="1044575" y="3795936"/>
          <a:ext cx="206548" cy="356983"/>
        </p:xfrm>
        <a:graphic>
          <a:graphicData uri="http://schemas.openxmlformats.org/presentationml/2006/ole">
            <mc:AlternateContent xmlns:mc="http://schemas.openxmlformats.org/markup-compatibility/2006">
              <mc:Choice xmlns:v="urn:schemas-microsoft-com:vml" Requires="v">
                <p:oleObj spid="_x0000_s173928" r:id="rId8" imgW="165820" imgH="229597" progId="">
                  <p:embed/>
                </p:oleObj>
              </mc:Choice>
              <mc:Fallback>
                <p:oleObj r:id="rId8" imgW="165820" imgH="229597" progId="">
                  <p:embed/>
                  <p:pic>
                    <p:nvPicPr>
                      <p:cNvPr id="39983"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4575" y="3795936"/>
                        <a:ext cx="206548" cy="356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84" name="Object 9"/>
          <p:cNvGraphicFramePr>
            <a:graphicFrameLocks noChangeAspect="1"/>
          </p:cNvGraphicFramePr>
          <p:nvPr/>
        </p:nvGraphicFramePr>
        <p:xfrm>
          <a:off x="2022678" y="5070680"/>
          <a:ext cx="239311" cy="356983"/>
        </p:xfrm>
        <a:graphic>
          <a:graphicData uri="http://schemas.openxmlformats.org/presentationml/2006/ole">
            <mc:AlternateContent xmlns:mc="http://schemas.openxmlformats.org/markup-compatibility/2006">
              <mc:Choice xmlns:v="urn:schemas-microsoft-com:vml" Requires="v">
                <p:oleObj spid="_x0000_s173929" r:id="rId10" imgW="191414" imgH="229697" progId="">
                  <p:embed/>
                </p:oleObj>
              </mc:Choice>
              <mc:Fallback>
                <p:oleObj r:id="rId10" imgW="191414" imgH="229697" progId="">
                  <p:embed/>
                  <p:pic>
                    <p:nvPicPr>
                      <p:cNvPr id="39984"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22678" y="5070680"/>
                        <a:ext cx="239311" cy="356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50" name="Object 28"/>
          <p:cNvGraphicFramePr>
            <a:graphicFrameLocks noChangeAspect="1"/>
          </p:cNvGraphicFramePr>
          <p:nvPr/>
        </p:nvGraphicFramePr>
        <p:xfrm>
          <a:off x="2838560" y="3398071"/>
          <a:ext cx="222111" cy="357024"/>
        </p:xfrm>
        <a:graphic>
          <a:graphicData uri="http://schemas.openxmlformats.org/presentationml/2006/ole">
            <mc:AlternateContent xmlns:mc="http://schemas.openxmlformats.org/markup-compatibility/2006">
              <mc:Choice xmlns:v="urn:schemas-microsoft-com:vml" Requires="v">
                <p:oleObj spid="_x0000_s173930" r:id="rId12" imgW="178497" imgH="229496" progId="">
                  <p:embed/>
                </p:oleObj>
              </mc:Choice>
              <mc:Fallback>
                <p:oleObj r:id="rId12" imgW="178497" imgH="229496" progId="">
                  <p:embed/>
                  <p:pic>
                    <p:nvPicPr>
                      <p:cNvPr id="39950" name="Object 2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38560" y="3398071"/>
                        <a:ext cx="222111" cy="35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9952" name="直接连接符 13"/>
          <p:cNvCxnSpPr>
            <a:cxnSpLocks noChangeShapeType="1"/>
          </p:cNvCxnSpPr>
          <p:nvPr/>
        </p:nvCxnSpPr>
        <p:spPr bwMode="auto">
          <a:xfrm flipV="1">
            <a:off x="1492063" y="2522538"/>
            <a:ext cx="2564325" cy="1909762"/>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aphicFrame>
        <p:nvGraphicFramePr>
          <p:cNvPr id="39955" name="Object 32"/>
          <p:cNvGraphicFramePr>
            <a:graphicFrameLocks noChangeAspect="1"/>
          </p:cNvGraphicFramePr>
          <p:nvPr/>
        </p:nvGraphicFramePr>
        <p:xfrm>
          <a:off x="4629230" y="5070639"/>
          <a:ext cx="190788" cy="316373"/>
        </p:xfrm>
        <a:graphic>
          <a:graphicData uri="http://schemas.openxmlformats.org/presentationml/2006/ole">
            <mc:AlternateContent xmlns:mc="http://schemas.openxmlformats.org/markup-compatibility/2006">
              <mc:Choice xmlns:v="urn:schemas-microsoft-com:vml" Requires="v">
                <p:oleObj spid="_x0000_s173931" r:id="rId14" imgW="153332" imgH="204442" progId="">
                  <p:embed/>
                </p:oleObj>
              </mc:Choice>
              <mc:Fallback>
                <p:oleObj r:id="rId14" imgW="153332" imgH="204442" progId="">
                  <p:embed/>
                  <p:pic>
                    <p:nvPicPr>
                      <p:cNvPr id="39955" name="Object 3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29230" y="5070639"/>
                        <a:ext cx="190788" cy="316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9957" name="直接箭头连接符 5"/>
          <p:cNvCxnSpPr>
            <a:cxnSpLocks noChangeShapeType="1"/>
          </p:cNvCxnSpPr>
          <p:nvPr/>
        </p:nvCxnSpPr>
        <p:spPr bwMode="auto">
          <a:xfrm>
            <a:off x="1304816" y="5000625"/>
            <a:ext cx="3524359"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39958" name="直接箭头连接符 11"/>
          <p:cNvCxnSpPr>
            <a:cxnSpLocks noChangeShapeType="1"/>
          </p:cNvCxnSpPr>
          <p:nvPr/>
        </p:nvCxnSpPr>
        <p:spPr bwMode="auto">
          <a:xfrm rot="16200000" flipV="1">
            <a:off x="-54083" y="3641720"/>
            <a:ext cx="2714625" cy="3173"/>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39959" name="直接连接符 16"/>
          <p:cNvCxnSpPr>
            <a:cxnSpLocks noChangeShapeType="1"/>
          </p:cNvCxnSpPr>
          <p:nvPr/>
        </p:nvCxnSpPr>
        <p:spPr bwMode="auto">
          <a:xfrm rot="16200000" flipH="1">
            <a:off x="1733600" y="3115665"/>
            <a:ext cx="2147887" cy="961622"/>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39960" name="直接连接符 32"/>
          <p:cNvCxnSpPr>
            <a:cxnSpLocks noChangeShapeType="1"/>
          </p:cNvCxnSpPr>
          <p:nvPr/>
        </p:nvCxnSpPr>
        <p:spPr bwMode="auto">
          <a:xfrm>
            <a:off x="1301642" y="3478213"/>
            <a:ext cx="1472582"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9961" name="直接连接符 41"/>
          <p:cNvCxnSpPr>
            <a:cxnSpLocks noChangeShapeType="1"/>
          </p:cNvCxnSpPr>
          <p:nvPr/>
        </p:nvCxnSpPr>
        <p:spPr bwMode="auto">
          <a:xfrm rot="16200000" flipH="1">
            <a:off x="2028887" y="4223550"/>
            <a:ext cx="1522412" cy="31736"/>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9962" name="Object 39"/>
          <p:cNvGraphicFramePr>
            <a:graphicFrameLocks noChangeAspect="1"/>
          </p:cNvGraphicFramePr>
          <p:nvPr/>
        </p:nvGraphicFramePr>
        <p:xfrm>
          <a:off x="1109751" y="5070639"/>
          <a:ext cx="190788" cy="275722"/>
        </p:xfrm>
        <a:graphic>
          <a:graphicData uri="http://schemas.openxmlformats.org/presentationml/2006/ole">
            <mc:AlternateContent xmlns:mc="http://schemas.openxmlformats.org/markup-compatibility/2006">
              <mc:Choice xmlns:v="urn:schemas-microsoft-com:vml" Requires="v">
                <p:oleObj spid="_x0000_s173932" r:id="rId16" imgW="153198" imgH="178731" progId="">
                  <p:embed/>
                </p:oleObj>
              </mc:Choice>
              <mc:Fallback>
                <p:oleObj r:id="rId16" imgW="153198" imgH="178731" progId="">
                  <p:embed/>
                  <p:pic>
                    <p:nvPicPr>
                      <p:cNvPr id="39962" name="Object 3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09751" y="5070639"/>
                        <a:ext cx="190788" cy="275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63" name="Object 40"/>
          <p:cNvGraphicFramePr>
            <a:graphicFrameLocks noChangeAspect="1"/>
          </p:cNvGraphicFramePr>
          <p:nvPr/>
        </p:nvGraphicFramePr>
        <p:xfrm>
          <a:off x="1044575" y="2284574"/>
          <a:ext cx="190788" cy="256280"/>
        </p:xfrm>
        <a:graphic>
          <a:graphicData uri="http://schemas.openxmlformats.org/presentationml/2006/ole">
            <mc:AlternateContent xmlns:mc="http://schemas.openxmlformats.org/markup-compatibility/2006">
              <mc:Choice xmlns:v="urn:schemas-microsoft-com:vml" Requires="v">
                <p:oleObj spid="_x0000_s173933" r:id="rId18" imgW="153332" imgH="166109" progId="">
                  <p:embed/>
                </p:oleObj>
              </mc:Choice>
              <mc:Fallback>
                <p:oleObj r:id="rId18" imgW="153332" imgH="166109" progId="">
                  <p:embed/>
                  <p:pic>
                    <p:nvPicPr>
                      <p:cNvPr id="39963" name="Object 4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44575" y="2284574"/>
                        <a:ext cx="190788" cy="256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64" name="Object 41"/>
          <p:cNvGraphicFramePr>
            <a:graphicFrameLocks noChangeAspect="1"/>
          </p:cNvGraphicFramePr>
          <p:nvPr/>
        </p:nvGraphicFramePr>
        <p:xfrm>
          <a:off x="1044575" y="3318536"/>
          <a:ext cx="190788" cy="357024"/>
        </p:xfrm>
        <a:graphic>
          <a:graphicData uri="http://schemas.openxmlformats.org/presentationml/2006/ole">
            <mc:AlternateContent xmlns:mc="http://schemas.openxmlformats.org/markup-compatibility/2006">
              <mc:Choice xmlns:v="urn:schemas-microsoft-com:vml" Requires="v">
                <p:oleObj spid="_x0000_s173934" r:id="rId20" imgW="153131" imgH="229697" progId="">
                  <p:embed/>
                </p:oleObj>
              </mc:Choice>
              <mc:Fallback>
                <p:oleObj r:id="rId20" imgW="153131" imgH="229697" progId="">
                  <p:embed/>
                  <p:pic>
                    <p:nvPicPr>
                      <p:cNvPr id="39964" name="Object 4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44575" y="3318536"/>
                        <a:ext cx="190788" cy="35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65" name="Object 42"/>
          <p:cNvGraphicFramePr>
            <a:graphicFrameLocks noChangeAspect="1"/>
          </p:cNvGraphicFramePr>
          <p:nvPr/>
        </p:nvGraphicFramePr>
        <p:xfrm>
          <a:off x="2673963" y="5070639"/>
          <a:ext cx="222111" cy="357024"/>
        </p:xfrm>
        <a:graphic>
          <a:graphicData uri="http://schemas.openxmlformats.org/presentationml/2006/ole">
            <mc:AlternateContent xmlns:mc="http://schemas.openxmlformats.org/markup-compatibility/2006">
              <mc:Choice xmlns:v="urn:schemas-microsoft-com:vml" Requires="v">
                <p:oleObj spid="_x0000_s173935" r:id="rId22" imgW="178497" imgH="229496" progId="">
                  <p:embed/>
                </p:oleObj>
              </mc:Choice>
              <mc:Fallback>
                <p:oleObj r:id="rId22" imgW="178497" imgH="229496" progId="">
                  <p:embed/>
                  <p:pic>
                    <p:nvPicPr>
                      <p:cNvPr id="39965" name="Object 4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673963" y="5070639"/>
                        <a:ext cx="222111" cy="35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66" name="Object 43"/>
          <p:cNvGraphicFramePr>
            <a:graphicFrameLocks noChangeAspect="1"/>
          </p:cNvGraphicFramePr>
          <p:nvPr/>
        </p:nvGraphicFramePr>
        <p:xfrm>
          <a:off x="2197851" y="2205038"/>
          <a:ext cx="239196" cy="357024"/>
        </p:xfrm>
        <a:graphic>
          <a:graphicData uri="http://schemas.openxmlformats.org/presentationml/2006/ole">
            <mc:AlternateContent xmlns:mc="http://schemas.openxmlformats.org/markup-compatibility/2006">
              <mc:Choice xmlns:v="urn:schemas-microsoft-com:vml" Requires="v">
                <p:oleObj spid="_x0000_s173936" r:id="rId24" imgW="191414" imgH="229697" progId="">
                  <p:embed/>
                </p:oleObj>
              </mc:Choice>
              <mc:Fallback>
                <p:oleObj r:id="rId24" imgW="191414" imgH="229697" progId="">
                  <p:embed/>
                  <p:pic>
                    <p:nvPicPr>
                      <p:cNvPr id="39966" name="Object 4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197851" y="2205038"/>
                        <a:ext cx="239196" cy="35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54" name="Object 44"/>
          <p:cNvGraphicFramePr>
            <a:graphicFrameLocks noChangeAspect="1"/>
          </p:cNvGraphicFramePr>
          <p:nvPr/>
        </p:nvGraphicFramePr>
        <p:xfrm>
          <a:off x="4184047" y="2364109"/>
          <a:ext cx="175126" cy="275722"/>
        </p:xfrm>
        <a:graphic>
          <a:graphicData uri="http://schemas.openxmlformats.org/presentationml/2006/ole">
            <mc:AlternateContent xmlns:mc="http://schemas.openxmlformats.org/markup-compatibility/2006">
              <mc:Choice xmlns:v="urn:schemas-microsoft-com:vml" Requires="v">
                <p:oleObj spid="_x0000_s173937" r:id="rId26" imgW="140493" imgH="178809" progId="">
                  <p:embed/>
                </p:oleObj>
              </mc:Choice>
              <mc:Fallback>
                <p:oleObj r:id="rId26" imgW="140493" imgH="178809" progId="">
                  <p:embed/>
                  <p:pic>
                    <p:nvPicPr>
                      <p:cNvPr id="39954" name="Object 44"/>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184047" y="2364109"/>
                        <a:ext cx="175126" cy="275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4861" name="组合 9"/>
          <p:cNvGrpSpPr>
            <a:grpSpLocks/>
          </p:cNvGrpSpPr>
          <p:nvPr/>
        </p:nvGrpSpPr>
        <p:grpSpPr bwMode="auto">
          <a:xfrm>
            <a:off x="4284663" y="3348730"/>
            <a:ext cx="4453590" cy="1211452"/>
            <a:chOff x="0" y="-1"/>
            <a:chExt cx="4381756" cy="1958353"/>
          </a:xfrm>
        </p:grpSpPr>
        <p:sp>
          <p:nvSpPr>
            <p:cNvPr id="39942" name="圆角矩形 45"/>
            <p:cNvSpPr>
              <a:spLocks noChangeArrowheads="1"/>
            </p:cNvSpPr>
            <p:nvPr/>
          </p:nvSpPr>
          <p:spPr bwMode="auto">
            <a:xfrm>
              <a:off x="0" y="-1"/>
              <a:ext cx="4357686" cy="1958353"/>
            </a:xfrm>
            <a:prstGeom prst="roundRect">
              <a:avLst>
                <a:gd name="adj" fmla="val 16667"/>
              </a:avLst>
            </a:prstGeom>
            <a:solidFill>
              <a:srgbClr val="F3C97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39943" name="TextBox 3"/>
            <p:cNvSpPr txBox="1">
              <a:spLocks noChangeArrowheads="1"/>
            </p:cNvSpPr>
            <p:nvPr/>
          </p:nvSpPr>
          <p:spPr bwMode="auto">
            <a:xfrm>
              <a:off x="88722" y="213976"/>
              <a:ext cx="4293034" cy="1492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spcBef>
                  <a:spcPct val="0"/>
                </a:spcBef>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需求减少</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solidFill>
                    <a:schemeClr val="tx1"/>
                  </a:solidFill>
                  <a:latin typeface="微软雅黑" panose="020B0503020204020204" pitchFamily="34" charset="-122"/>
                  <a:ea typeface="微软雅黑" panose="020B0503020204020204" pitchFamily="34" charset="-122"/>
                </a:rPr>
                <a:t>需求曲线水平左移</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S&gt;DP↓</a:t>
              </a: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。最终</a:t>
              </a:r>
              <a:r>
                <a:rPr lang="zh-CN" altLang="en-US" sz="1800" b="0" dirty="0">
                  <a:solidFill>
                    <a:schemeClr val="tx1"/>
                  </a:solidFill>
                  <a:latin typeface="微软雅黑" panose="020B0503020204020204" pitchFamily="34" charset="-122"/>
                  <a:ea typeface="微软雅黑" panose="020B0503020204020204" pitchFamily="34" charset="-122"/>
                </a:rPr>
                <a:t>市场均衡由</a:t>
              </a:r>
              <a:r>
                <a:rPr lang="en-US" altLang="zh-CN" sz="1800" b="0" dirty="0">
                  <a:solidFill>
                    <a:schemeClr val="tx1"/>
                  </a:solidFill>
                </a:rPr>
                <a:t>E</a:t>
              </a:r>
              <a:r>
                <a:rPr lang="en-US" altLang="zh-CN" sz="1800" b="0" baseline="-25000" dirty="0">
                  <a:solidFill>
                    <a:schemeClr val="tx1"/>
                  </a:solidFill>
                </a:rPr>
                <a:t>1</a:t>
              </a:r>
              <a:r>
                <a:rPr lang="zh-CN" altLang="en-US" sz="1800" b="0" dirty="0">
                  <a:solidFill>
                    <a:schemeClr val="tx1"/>
                  </a:solidFill>
                  <a:latin typeface="微软雅黑" panose="020B0503020204020204" pitchFamily="34" charset="-122"/>
                  <a:ea typeface="微软雅黑" panose="020B0503020204020204" pitchFamily="34" charset="-122"/>
                </a:rPr>
                <a:t>变为</a:t>
              </a:r>
              <a:r>
                <a:rPr lang="en-US" altLang="zh-CN" sz="1800" b="0" dirty="0">
                  <a:solidFill>
                    <a:schemeClr val="tx1"/>
                  </a:solidFill>
                </a:rPr>
                <a:t>E</a:t>
              </a:r>
              <a:r>
                <a:rPr lang="en-US" altLang="zh-CN" sz="1800" b="0" baseline="-25000" dirty="0">
                  <a:solidFill>
                    <a:schemeClr val="tx1"/>
                  </a:solidFill>
                </a:rPr>
                <a:t>3 </a:t>
              </a:r>
              <a:r>
                <a:rPr lang="zh-CN" altLang="en-US" sz="1800" b="0" dirty="0">
                  <a:solidFill>
                    <a:schemeClr val="tx1"/>
                  </a:solidFill>
                  <a:latin typeface="微软雅黑" panose="020B0503020204020204" pitchFamily="34" charset="-122"/>
                  <a:ea typeface="微软雅黑" panose="020B0503020204020204" pitchFamily="34" charset="-122"/>
                </a:rPr>
                <a:t>。</a:t>
              </a:r>
            </a:p>
          </p:txBody>
        </p:sp>
      </p:grpSp>
      <p:sp>
        <p:nvSpPr>
          <p:cNvPr id="42" name="矩形 41">
            <a:extLst>
              <a:ext uri="{FF2B5EF4-FFF2-40B4-BE49-F238E27FC236}">
                <a16:creationId xmlns:a16="http://schemas.microsoft.com/office/drawing/2014/main" id="{99A861F3-1BF5-4FA4-A7CE-A93F6E99B7C4}"/>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p:sp>
        <p:nvSpPr>
          <p:cNvPr id="43" name="Rectangle 3"/>
          <p:cNvSpPr txBox="1">
            <a:spLocks noChangeArrowheads="1"/>
          </p:cNvSpPr>
          <p:nvPr/>
        </p:nvSpPr>
        <p:spPr bwMode="auto">
          <a:xfrm>
            <a:off x="34925" y="1342855"/>
            <a:ext cx="8229600" cy="503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eaLnBrk="1" hangingPunct="1">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 需求变动对市场均衡的影响</a:t>
            </a:r>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p:sp>
        <p:nvSpPr>
          <p:cNvPr id="72" name="矩形 71">
            <a:extLst>
              <a:ext uri="{FF2B5EF4-FFF2-40B4-BE49-F238E27FC236}">
                <a16:creationId xmlns:a16="http://schemas.microsoft.com/office/drawing/2014/main" id="{F68E5273-CD77-47B9-B841-9D29349C133D}"/>
              </a:ext>
            </a:extLst>
          </p:cNvPr>
          <p:cNvSpPr/>
          <p:nvPr/>
        </p:nvSpPr>
        <p:spPr>
          <a:xfrm>
            <a:off x="467543" y="548680"/>
            <a:ext cx="3162141"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三、市场均衡的变动 </a:t>
            </a:r>
          </a:p>
        </p:txBody>
      </p:sp>
    </p:spTree>
    <p:extLst>
      <p:ext uri="{BB962C8B-B14F-4D97-AF65-F5344CB8AC3E}">
        <p14:creationId xmlns:p14="http://schemas.microsoft.com/office/powerpoint/2010/main" val="4003071600"/>
      </p:ext>
    </p:extLst>
  </p:cSld>
  <p:clrMapOvr>
    <a:masterClrMapping/>
  </p:clrMapOvr>
  <p:transition>
    <p:strip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9962"/>
                                        </p:tgtEl>
                                        <p:attrNameLst>
                                          <p:attrName>style.visibility</p:attrName>
                                        </p:attrNameLst>
                                      </p:cBhvr>
                                      <p:to>
                                        <p:strVal val="visible"/>
                                      </p:to>
                                    </p:set>
                                    <p:animEffect transition="in" filter="wipe(down)">
                                      <p:cBhvr>
                                        <p:cTn id="7" dur="500"/>
                                        <p:tgtEl>
                                          <p:spTgt spid="399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9957"/>
                                        </p:tgtEl>
                                        <p:attrNameLst>
                                          <p:attrName>style.visibility</p:attrName>
                                        </p:attrNameLst>
                                      </p:cBhvr>
                                      <p:to>
                                        <p:strVal val="visible"/>
                                      </p:to>
                                    </p:set>
                                    <p:animEffect transition="in" filter="wipe(left)">
                                      <p:cBhvr>
                                        <p:cTn id="12" dur="500"/>
                                        <p:tgtEl>
                                          <p:spTgt spid="39957"/>
                                        </p:tgtEl>
                                      </p:cBhvr>
                                    </p:animEffect>
                                  </p:childTnLst>
                                </p:cTn>
                              </p:par>
                              <p:par>
                                <p:cTn id="13" presetID="22" presetClass="entr" presetSubtype="4" fill="hold" nodeType="withEffect">
                                  <p:stCondLst>
                                    <p:cond delay="0"/>
                                  </p:stCondLst>
                                  <p:childTnLst>
                                    <p:set>
                                      <p:cBhvr>
                                        <p:cTn id="14" dur="1" fill="hold">
                                          <p:stCondLst>
                                            <p:cond delay="0"/>
                                          </p:stCondLst>
                                        </p:cTn>
                                        <p:tgtEl>
                                          <p:spTgt spid="39958"/>
                                        </p:tgtEl>
                                        <p:attrNameLst>
                                          <p:attrName>style.visibility</p:attrName>
                                        </p:attrNameLst>
                                      </p:cBhvr>
                                      <p:to>
                                        <p:strVal val="visible"/>
                                      </p:to>
                                    </p:set>
                                    <p:animEffect transition="in" filter="wipe(down)">
                                      <p:cBhvr>
                                        <p:cTn id="15" dur="500"/>
                                        <p:tgtEl>
                                          <p:spTgt spid="39958"/>
                                        </p:tgtEl>
                                      </p:cBhvr>
                                    </p:animEffect>
                                  </p:childTnLst>
                                </p:cTn>
                              </p:par>
                            </p:childTnLst>
                          </p:cTn>
                        </p:par>
                        <p:par>
                          <p:cTn id="16" fill="hold">
                            <p:stCondLst>
                              <p:cond delay="500"/>
                            </p:stCondLst>
                            <p:childTnLst>
                              <p:par>
                                <p:cTn id="17" presetID="14" presetClass="entr" presetSubtype="10" fill="hold" nodeType="afterEffect">
                                  <p:stCondLst>
                                    <p:cond delay="0"/>
                                  </p:stCondLst>
                                  <p:childTnLst>
                                    <p:set>
                                      <p:cBhvr>
                                        <p:cTn id="18" dur="1" fill="hold">
                                          <p:stCondLst>
                                            <p:cond delay="0"/>
                                          </p:stCondLst>
                                        </p:cTn>
                                        <p:tgtEl>
                                          <p:spTgt spid="39955"/>
                                        </p:tgtEl>
                                        <p:attrNameLst>
                                          <p:attrName>style.visibility</p:attrName>
                                        </p:attrNameLst>
                                      </p:cBhvr>
                                      <p:to>
                                        <p:strVal val="visible"/>
                                      </p:to>
                                    </p:set>
                                    <p:animEffect transition="in" filter="randombar(horizontal)">
                                      <p:cBhvr>
                                        <p:cTn id="19" dur="500"/>
                                        <p:tgtEl>
                                          <p:spTgt spid="39955"/>
                                        </p:tgtEl>
                                      </p:cBhvr>
                                    </p:animEffect>
                                  </p:childTnLst>
                                </p:cTn>
                              </p:par>
                            </p:childTnLst>
                          </p:cTn>
                        </p:par>
                        <p:par>
                          <p:cTn id="20" fill="hold">
                            <p:stCondLst>
                              <p:cond delay="1000"/>
                            </p:stCondLst>
                            <p:childTnLst>
                              <p:par>
                                <p:cTn id="21" presetID="14" presetClass="entr" presetSubtype="10" fill="hold" nodeType="afterEffect">
                                  <p:stCondLst>
                                    <p:cond delay="0"/>
                                  </p:stCondLst>
                                  <p:childTnLst>
                                    <p:set>
                                      <p:cBhvr>
                                        <p:cTn id="22" dur="1" fill="hold">
                                          <p:stCondLst>
                                            <p:cond delay="0"/>
                                          </p:stCondLst>
                                        </p:cTn>
                                        <p:tgtEl>
                                          <p:spTgt spid="39963"/>
                                        </p:tgtEl>
                                        <p:attrNameLst>
                                          <p:attrName>style.visibility</p:attrName>
                                        </p:attrNameLst>
                                      </p:cBhvr>
                                      <p:to>
                                        <p:strVal val="visible"/>
                                      </p:to>
                                    </p:set>
                                    <p:animEffect transition="in" filter="randombar(horizontal)">
                                      <p:cBhvr>
                                        <p:cTn id="23" dur="500"/>
                                        <p:tgtEl>
                                          <p:spTgt spid="3996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39952"/>
                                        </p:tgtEl>
                                        <p:attrNameLst>
                                          <p:attrName>style.visibility</p:attrName>
                                        </p:attrNameLst>
                                      </p:cBhvr>
                                      <p:to>
                                        <p:strVal val="visible"/>
                                      </p:to>
                                    </p:set>
                                    <p:animEffect transition="in" filter="wipe(down)">
                                      <p:cBhvr>
                                        <p:cTn id="28" dur="500"/>
                                        <p:tgtEl>
                                          <p:spTgt spid="39952"/>
                                        </p:tgtEl>
                                      </p:cBhvr>
                                    </p:animEffect>
                                  </p:childTnLst>
                                </p:cTn>
                              </p:par>
                            </p:childTnLst>
                          </p:cTn>
                        </p:par>
                        <p:par>
                          <p:cTn id="29" fill="hold">
                            <p:stCondLst>
                              <p:cond delay="500"/>
                            </p:stCondLst>
                            <p:childTnLst>
                              <p:par>
                                <p:cTn id="30" presetID="14" presetClass="entr" presetSubtype="10" fill="hold" nodeType="afterEffect">
                                  <p:stCondLst>
                                    <p:cond delay="0"/>
                                  </p:stCondLst>
                                  <p:childTnLst>
                                    <p:set>
                                      <p:cBhvr>
                                        <p:cTn id="31" dur="1" fill="hold">
                                          <p:stCondLst>
                                            <p:cond delay="0"/>
                                          </p:stCondLst>
                                        </p:cTn>
                                        <p:tgtEl>
                                          <p:spTgt spid="39954"/>
                                        </p:tgtEl>
                                        <p:attrNameLst>
                                          <p:attrName>style.visibility</p:attrName>
                                        </p:attrNameLst>
                                      </p:cBhvr>
                                      <p:to>
                                        <p:strVal val="visible"/>
                                      </p:to>
                                    </p:set>
                                    <p:animEffect transition="in" filter="randombar(horizontal)">
                                      <p:cBhvr>
                                        <p:cTn id="32" dur="500"/>
                                        <p:tgtEl>
                                          <p:spTgt spid="3995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9959"/>
                                        </p:tgtEl>
                                        <p:attrNameLst>
                                          <p:attrName>style.visibility</p:attrName>
                                        </p:attrNameLst>
                                      </p:cBhvr>
                                      <p:to>
                                        <p:strVal val="visible"/>
                                      </p:to>
                                    </p:set>
                                    <p:animEffect transition="in" filter="wipe(down)">
                                      <p:cBhvr>
                                        <p:cTn id="37" dur="500"/>
                                        <p:tgtEl>
                                          <p:spTgt spid="39959"/>
                                        </p:tgtEl>
                                      </p:cBhvr>
                                    </p:animEffect>
                                  </p:childTnLst>
                                </p:cTn>
                              </p:par>
                            </p:childTnLst>
                          </p:cTn>
                        </p:par>
                        <p:par>
                          <p:cTn id="38" fill="hold">
                            <p:stCondLst>
                              <p:cond delay="500"/>
                            </p:stCondLst>
                            <p:childTnLst>
                              <p:par>
                                <p:cTn id="39" presetID="14" presetClass="entr" presetSubtype="10" fill="hold" nodeType="afterEffect">
                                  <p:stCondLst>
                                    <p:cond delay="0"/>
                                  </p:stCondLst>
                                  <p:childTnLst>
                                    <p:set>
                                      <p:cBhvr>
                                        <p:cTn id="40" dur="1" fill="hold">
                                          <p:stCondLst>
                                            <p:cond delay="0"/>
                                          </p:stCondLst>
                                        </p:cTn>
                                        <p:tgtEl>
                                          <p:spTgt spid="39966"/>
                                        </p:tgtEl>
                                        <p:attrNameLst>
                                          <p:attrName>style.visibility</p:attrName>
                                        </p:attrNameLst>
                                      </p:cBhvr>
                                      <p:to>
                                        <p:strVal val="visible"/>
                                      </p:to>
                                    </p:set>
                                    <p:animEffect transition="in" filter="randombar(horizontal)">
                                      <p:cBhvr>
                                        <p:cTn id="41" dur="500"/>
                                        <p:tgtEl>
                                          <p:spTgt spid="39966"/>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nodeType="clickEffect">
                                  <p:stCondLst>
                                    <p:cond delay="0"/>
                                  </p:stCondLst>
                                  <p:childTnLst>
                                    <p:set>
                                      <p:cBhvr>
                                        <p:cTn id="45" dur="1" fill="hold">
                                          <p:stCondLst>
                                            <p:cond delay="0"/>
                                          </p:stCondLst>
                                        </p:cTn>
                                        <p:tgtEl>
                                          <p:spTgt spid="39964"/>
                                        </p:tgtEl>
                                        <p:attrNameLst>
                                          <p:attrName>style.visibility</p:attrName>
                                        </p:attrNameLst>
                                      </p:cBhvr>
                                      <p:to>
                                        <p:strVal val="visible"/>
                                      </p:to>
                                    </p:set>
                                    <p:animEffect transition="in" filter="randombar(horizontal)">
                                      <p:cBhvr>
                                        <p:cTn id="46" dur="500"/>
                                        <p:tgtEl>
                                          <p:spTgt spid="39964"/>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39960"/>
                                        </p:tgtEl>
                                        <p:attrNameLst>
                                          <p:attrName>style.visibility</p:attrName>
                                        </p:attrNameLst>
                                      </p:cBhvr>
                                      <p:to>
                                        <p:strVal val="visible"/>
                                      </p:to>
                                    </p:set>
                                    <p:animEffect transition="in" filter="wipe(left)">
                                      <p:cBhvr>
                                        <p:cTn id="50" dur="500"/>
                                        <p:tgtEl>
                                          <p:spTgt spid="39960"/>
                                        </p:tgtEl>
                                      </p:cBhvr>
                                    </p:animEffect>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nodeType="clickEffect">
                                  <p:stCondLst>
                                    <p:cond delay="0"/>
                                  </p:stCondLst>
                                  <p:childTnLst>
                                    <p:set>
                                      <p:cBhvr>
                                        <p:cTn id="54" dur="1" fill="hold">
                                          <p:stCondLst>
                                            <p:cond delay="0"/>
                                          </p:stCondLst>
                                        </p:cTn>
                                        <p:tgtEl>
                                          <p:spTgt spid="39965"/>
                                        </p:tgtEl>
                                        <p:attrNameLst>
                                          <p:attrName>style.visibility</p:attrName>
                                        </p:attrNameLst>
                                      </p:cBhvr>
                                      <p:to>
                                        <p:strVal val="visible"/>
                                      </p:to>
                                    </p:set>
                                    <p:animEffect transition="in" filter="randombar(horizontal)">
                                      <p:cBhvr>
                                        <p:cTn id="55" dur="500"/>
                                        <p:tgtEl>
                                          <p:spTgt spid="39965"/>
                                        </p:tgtEl>
                                      </p:cBhvr>
                                    </p:animEffect>
                                  </p:childTnLst>
                                </p:cTn>
                              </p:par>
                            </p:childTnLst>
                          </p:cTn>
                        </p:par>
                        <p:par>
                          <p:cTn id="56" fill="hold">
                            <p:stCondLst>
                              <p:cond delay="500"/>
                            </p:stCondLst>
                            <p:childTnLst>
                              <p:par>
                                <p:cTn id="57" presetID="22" presetClass="entr" presetSubtype="4" fill="hold" nodeType="afterEffect">
                                  <p:stCondLst>
                                    <p:cond delay="0"/>
                                  </p:stCondLst>
                                  <p:childTnLst>
                                    <p:set>
                                      <p:cBhvr>
                                        <p:cTn id="58" dur="1" fill="hold">
                                          <p:stCondLst>
                                            <p:cond delay="0"/>
                                          </p:stCondLst>
                                        </p:cTn>
                                        <p:tgtEl>
                                          <p:spTgt spid="39961"/>
                                        </p:tgtEl>
                                        <p:attrNameLst>
                                          <p:attrName>style.visibility</p:attrName>
                                        </p:attrNameLst>
                                      </p:cBhvr>
                                      <p:to>
                                        <p:strVal val="visible"/>
                                      </p:to>
                                    </p:set>
                                    <p:animEffect transition="in" filter="wipe(down)">
                                      <p:cBhvr>
                                        <p:cTn id="59" dur="500"/>
                                        <p:tgtEl>
                                          <p:spTgt spid="39961"/>
                                        </p:tgtEl>
                                      </p:cBhvr>
                                    </p:animEffect>
                                  </p:childTnLst>
                                </p:cTn>
                              </p:par>
                            </p:childTnLst>
                          </p:cTn>
                        </p:par>
                      </p:childTnLst>
                    </p:cTn>
                  </p:par>
                  <p:par>
                    <p:cTn id="60" fill="hold">
                      <p:stCondLst>
                        <p:cond delay="indefinite"/>
                      </p:stCondLst>
                      <p:childTnLst>
                        <p:par>
                          <p:cTn id="61" fill="hold">
                            <p:stCondLst>
                              <p:cond delay="0"/>
                            </p:stCondLst>
                            <p:childTnLst>
                              <p:par>
                                <p:cTn id="62" presetID="14" presetClass="entr" presetSubtype="10" fill="hold" nodeType="clickEffect">
                                  <p:stCondLst>
                                    <p:cond delay="0"/>
                                  </p:stCondLst>
                                  <p:childTnLst>
                                    <p:set>
                                      <p:cBhvr>
                                        <p:cTn id="63" dur="1" fill="hold">
                                          <p:stCondLst>
                                            <p:cond delay="0"/>
                                          </p:stCondLst>
                                        </p:cTn>
                                        <p:tgtEl>
                                          <p:spTgt spid="39983"/>
                                        </p:tgtEl>
                                        <p:attrNameLst>
                                          <p:attrName>style.visibility</p:attrName>
                                        </p:attrNameLst>
                                      </p:cBhvr>
                                      <p:to>
                                        <p:strVal val="visible"/>
                                      </p:to>
                                    </p:set>
                                    <p:animEffect transition="in" filter="randombar(horizontal)">
                                      <p:cBhvr>
                                        <p:cTn id="64" dur="500"/>
                                        <p:tgtEl>
                                          <p:spTgt spid="39983"/>
                                        </p:tgtEl>
                                      </p:cBhvr>
                                    </p:animEffec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39980"/>
                                        </p:tgtEl>
                                        <p:attrNameLst>
                                          <p:attrName>style.visibility</p:attrName>
                                        </p:attrNameLst>
                                      </p:cBhvr>
                                      <p:to>
                                        <p:strVal val="visible"/>
                                      </p:to>
                                    </p:set>
                                    <p:animEffect transition="in" filter="wipe(left)">
                                      <p:cBhvr>
                                        <p:cTn id="68" dur="500"/>
                                        <p:tgtEl>
                                          <p:spTgt spid="39980"/>
                                        </p:tgtEl>
                                      </p:cBhvr>
                                    </p:animEffect>
                                  </p:childTnLst>
                                </p:cTn>
                              </p:par>
                            </p:childTnLst>
                          </p:cTn>
                        </p:par>
                      </p:childTnLst>
                    </p:cTn>
                  </p:par>
                  <p:par>
                    <p:cTn id="69" fill="hold">
                      <p:stCondLst>
                        <p:cond delay="indefinite"/>
                      </p:stCondLst>
                      <p:childTnLst>
                        <p:par>
                          <p:cTn id="70" fill="hold">
                            <p:stCondLst>
                              <p:cond delay="0"/>
                            </p:stCondLst>
                            <p:childTnLst>
                              <p:par>
                                <p:cTn id="71" presetID="14" presetClass="entr" presetSubtype="10" fill="hold" nodeType="clickEffect">
                                  <p:stCondLst>
                                    <p:cond delay="0"/>
                                  </p:stCondLst>
                                  <p:childTnLst>
                                    <p:set>
                                      <p:cBhvr>
                                        <p:cTn id="72" dur="1" fill="hold">
                                          <p:stCondLst>
                                            <p:cond delay="0"/>
                                          </p:stCondLst>
                                        </p:cTn>
                                        <p:tgtEl>
                                          <p:spTgt spid="39984"/>
                                        </p:tgtEl>
                                        <p:attrNameLst>
                                          <p:attrName>style.visibility</p:attrName>
                                        </p:attrNameLst>
                                      </p:cBhvr>
                                      <p:to>
                                        <p:strVal val="visible"/>
                                      </p:to>
                                    </p:set>
                                    <p:animEffect transition="in" filter="randombar(horizontal)">
                                      <p:cBhvr>
                                        <p:cTn id="73" dur="500"/>
                                        <p:tgtEl>
                                          <p:spTgt spid="39984"/>
                                        </p:tgtEl>
                                      </p:cBhvr>
                                    </p:animEffect>
                                  </p:childTnLst>
                                </p:cTn>
                              </p:par>
                            </p:childTnLst>
                          </p:cTn>
                        </p:par>
                        <p:par>
                          <p:cTn id="74" fill="hold">
                            <p:stCondLst>
                              <p:cond delay="500"/>
                            </p:stCondLst>
                            <p:childTnLst>
                              <p:par>
                                <p:cTn id="75" presetID="22" presetClass="entr" presetSubtype="4" fill="hold" nodeType="afterEffect">
                                  <p:stCondLst>
                                    <p:cond delay="0"/>
                                  </p:stCondLst>
                                  <p:childTnLst>
                                    <p:set>
                                      <p:cBhvr>
                                        <p:cTn id="76" dur="1" fill="hold">
                                          <p:stCondLst>
                                            <p:cond delay="0"/>
                                          </p:stCondLst>
                                        </p:cTn>
                                        <p:tgtEl>
                                          <p:spTgt spid="39982"/>
                                        </p:tgtEl>
                                        <p:attrNameLst>
                                          <p:attrName>style.visibility</p:attrName>
                                        </p:attrNameLst>
                                      </p:cBhvr>
                                      <p:to>
                                        <p:strVal val="visible"/>
                                      </p:to>
                                    </p:set>
                                    <p:animEffect transition="in" filter="wipe(down)">
                                      <p:cBhvr>
                                        <p:cTn id="77" dur="500"/>
                                        <p:tgtEl>
                                          <p:spTgt spid="3998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2" fill="hold" nodeType="clickEffect">
                                  <p:stCondLst>
                                    <p:cond delay="0"/>
                                  </p:stCondLst>
                                  <p:childTnLst>
                                    <p:set>
                                      <p:cBhvr>
                                        <p:cTn id="81" dur="1" fill="hold">
                                          <p:stCondLst>
                                            <p:cond delay="0"/>
                                          </p:stCondLst>
                                        </p:cTn>
                                        <p:tgtEl>
                                          <p:spTgt spid="39970"/>
                                        </p:tgtEl>
                                        <p:attrNameLst>
                                          <p:attrName>style.visibility</p:attrName>
                                        </p:attrNameLst>
                                      </p:cBhvr>
                                      <p:to>
                                        <p:strVal val="visible"/>
                                      </p:to>
                                    </p:set>
                                    <p:animEffect transition="in" filter="wipe(right)">
                                      <p:cBhvr>
                                        <p:cTn id="82" dur="500"/>
                                        <p:tgtEl>
                                          <p:spTgt spid="3997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39969"/>
                                        </p:tgtEl>
                                        <p:attrNameLst>
                                          <p:attrName>style.visibility</p:attrName>
                                        </p:attrNameLst>
                                      </p:cBhvr>
                                      <p:to>
                                        <p:strVal val="visible"/>
                                      </p:to>
                                    </p:set>
                                    <p:animEffect transition="in" filter="wipe(down)">
                                      <p:cBhvr>
                                        <p:cTn id="87" dur="500"/>
                                        <p:tgtEl>
                                          <p:spTgt spid="39969"/>
                                        </p:tgtEl>
                                      </p:cBhvr>
                                    </p:animEffect>
                                  </p:childTnLst>
                                </p:cTn>
                              </p:par>
                            </p:childTnLst>
                          </p:cTn>
                        </p:par>
                        <p:par>
                          <p:cTn id="88" fill="hold">
                            <p:stCondLst>
                              <p:cond delay="500"/>
                            </p:stCondLst>
                            <p:childTnLst>
                              <p:par>
                                <p:cTn id="89" presetID="14" presetClass="entr" presetSubtype="10" fill="hold" nodeType="afterEffect">
                                  <p:stCondLst>
                                    <p:cond delay="0"/>
                                  </p:stCondLst>
                                  <p:childTnLst>
                                    <p:set>
                                      <p:cBhvr>
                                        <p:cTn id="90" dur="1" fill="hold">
                                          <p:stCondLst>
                                            <p:cond delay="0"/>
                                          </p:stCondLst>
                                        </p:cTn>
                                        <p:tgtEl>
                                          <p:spTgt spid="39971"/>
                                        </p:tgtEl>
                                        <p:attrNameLst>
                                          <p:attrName>style.visibility</p:attrName>
                                        </p:attrNameLst>
                                      </p:cBhvr>
                                      <p:to>
                                        <p:strVal val="visible"/>
                                      </p:to>
                                    </p:set>
                                    <p:animEffect transition="in" filter="randombar(horizontal)">
                                      <p:cBhvr>
                                        <p:cTn id="91" dur="500"/>
                                        <p:tgtEl>
                                          <p:spTgt spid="39971"/>
                                        </p:tgtEl>
                                      </p:cBhvr>
                                    </p:animEffect>
                                  </p:childTnLst>
                                </p:cTn>
                              </p:par>
                            </p:childTnLst>
                          </p:cTn>
                        </p:par>
                      </p:childTnLst>
                    </p:cTn>
                  </p:par>
                  <p:par>
                    <p:cTn id="92" fill="hold">
                      <p:stCondLst>
                        <p:cond delay="indefinite"/>
                      </p:stCondLst>
                      <p:childTnLst>
                        <p:par>
                          <p:cTn id="93" fill="hold">
                            <p:stCondLst>
                              <p:cond delay="0"/>
                            </p:stCondLst>
                            <p:childTnLst>
                              <p:par>
                                <p:cTn id="94" presetID="14" presetClass="entr" presetSubtype="10" fill="hold" nodeType="clickEffect">
                                  <p:stCondLst>
                                    <p:cond delay="0"/>
                                  </p:stCondLst>
                                  <p:childTnLst>
                                    <p:set>
                                      <p:cBhvr>
                                        <p:cTn id="95" dur="1" fill="hold">
                                          <p:stCondLst>
                                            <p:cond delay="0"/>
                                          </p:stCondLst>
                                        </p:cTn>
                                        <p:tgtEl>
                                          <p:spTgt spid="39950"/>
                                        </p:tgtEl>
                                        <p:attrNameLst>
                                          <p:attrName>style.visibility</p:attrName>
                                        </p:attrNameLst>
                                      </p:cBhvr>
                                      <p:to>
                                        <p:strVal val="visible"/>
                                      </p:to>
                                    </p:set>
                                    <p:animEffect transition="in" filter="randombar(horizontal)">
                                      <p:cBhvr>
                                        <p:cTn id="96" dur="500"/>
                                        <p:tgtEl>
                                          <p:spTgt spid="39950"/>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2" fill="hold" nodeType="clickEffect">
                                  <p:stCondLst>
                                    <p:cond delay="0"/>
                                  </p:stCondLst>
                                  <p:childTnLst>
                                    <p:set>
                                      <p:cBhvr>
                                        <p:cTn id="100" dur="1" fill="hold">
                                          <p:stCondLst>
                                            <p:cond delay="0"/>
                                          </p:stCondLst>
                                        </p:cTn>
                                        <p:tgtEl>
                                          <p:spTgt spid="50"/>
                                        </p:tgtEl>
                                        <p:attrNameLst>
                                          <p:attrName>style.visibility</p:attrName>
                                        </p:attrNameLst>
                                      </p:cBhvr>
                                      <p:to>
                                        <p:strVal val="visible"/>
                                      </p:to>
                                    </p:set>
                                    <p:animEffect transition="in" filter="wipe(right)">
                                      <p:cBhvr>
                                        <p:cTn id="101" dur="500"/>
                                        <p:tgtEl>
                                          <p:spTgt spid="50"/>
                                        </p:tgtEl>
                                      </p:cBhvr>
                                    </p:animEffect>
                                  </p:childTnLst>
                                </p:cTn>
                              </p:par>
                            </p:childTnLst>
                          </p:cTn>
                        </p:par>
                        <p:par>
                          <p:cTn id="102" fill="hold">
                            <p:stCondLst>
                              <p:cond delay="500"/>
                            </p:stCondLst>
                            <p:childTnLst>
                              <p:par>
                                <p:cTn id="103" presetID="14" presetClass="entr" presetSubtype="10" fill="hold" nodeType="afterEffect">
                                  <p:stCondLst>
                                    <p:cond delay="0"/>
                                  </p:stCondLst>
                                  <p:childTnLst>
                                    <p:set>
                                      <p:cBhvr>
                                        <p:cTn id="104" dur="1" fill="hold">
                                          <p:stCondLst>
                                            <p:cond delay="0"/>
                                          </p:stCondLst>
                                        </p:cTn>
                                        <p:tgtEl>
                                          <p:spTgt spid="39967"/>
                                        </p:tgtEl>
                                        <p:attrNameLst>
                                          <p:attrName>style.visibility</p:attrName>
                                        </p:attrNameLst>
                                      </p:cBhvr>
                                      <p:to>
                                        <p:strVal val="visible"/>
                                      </p:to>
                                    </p:set>
                                    <p:animEffect transition="in" filter="randombar(horizontal)">
                                      <p:cBhvr>
                                        <p:cTn id="105" dur="500"/>
                                        <p:tgtEl>
                                          <p:spTgt spid="39967"/>
                                        </p:tgtEl>
                                      </p:cBhvr>
                                    </p:animEffect>
                                  </p:childTnLst>
                                </p:cTn>
                              </p:par>
                              <p:par>
                                <p:cTn id="106" presetID="22" presetClass="entr" presetSubtype="1" fill="hold" nodeType="withEffect">
                                  <p:stCondLst>
                                    <p:cond delay="0"/>
                                  </p:stCondLst>
                                  <p:childTnLst>
                                    <p:set>
                                      <p:cBhvr>
                                        <p:cTn id="107" dur="1" fill="hold">
                                          <p:stCondLst>
                                            <p:cond delay="0"/>
                                          </p:stCondLst>
                                        </p:cTn>
                                        <p:tgtEl>
                                          <p:spTgt spid="34861"/>
                                        </p:tgtEl>
                                        <p:attrNameLst>
                                          <p:attrName>style.visibility</p:attrName>
                                        </p:attrNameLst>
                                      </p:cBhvr>
                                      <p:to>
                                        <p:strVal val="visible"/>
                                      </p:to>
                                    </p:set>
                                    <p:animEffect transition="in" filter="wipe(up)">
                                      <p:cBhvr>
                                        <p:cTn id="108" dur="500"/>
                                        <p:tgtEl>
                                          <p:spTgt spid="348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976" name="直接连接符 35"/>
          <p:cNvCxnSpPr>
            <a:cxnSpLocks noChangeShapeType="1"/>
          </p:cNvCxnSpPr>
          <p:nvPr/>
        </p:nvCxnSpPr>
        <p:spPr bwMode="auto">
          <a:xfrm>
            <a:off x="1301643" y="3000375"/>
            <a:ext cx="2177137"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9977" name="直接连接符 43"/>
          <p:cNvCxnSpPr>
            <a:cxnSpLocks noChangeShapeType="1"/>
          </p:cNvCxnSpPr>
          <p:nvPr/>
        </p:nvCxnSpPr>
        <p:spPr bwMode="auto">
          <a:xfrm rot="16200000" flipH="1">
            <a:off x="2485790" y="3971134"/>
            <a:ext cx="2000250" cy="42845"/>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9978" name="Object 14"/>
          <p:cNvGraphicFramePr>
            <a:graphicFrameLocks noChangeAspect="1"/>
          </p:cNvGraphicFramePr>
          <p:nvPr/>
        </p:nvGraphicFramePr>
        <p:xfrm>
          <a:off x="1044575" y="2840814"/>
          <a:ext cx="206416" cy="357094"/>
        </p:xfrm>
        <a:graphic>
          <a:graphicData uri="http://schemas.openxmlformats.org/presentationml/2006/ole">
            <mc:AlternateContent xmlns:mc="http://schemas.openxmlformats.org/markup-compatibility/2006">
              <mc:Choice xmlns:v="urn:schemas-microsoft-com:vml" Requires="v">
                <p:oleObj spid="_x0000_s200818" r:id="rId3" imgW="165820" imgH="229597" progId="">
                  <p:embed/>
                </p:oleObj>
              </mc:Choice>
              <mc:Fallback>
                <p:oleObj r:id="rId3" imgW="165820" imgH="229597" progId="">
                  <p:embed/>
                  <p:pic>
                    <p:nvPicPr>
                      <p:cNvPr id="39978"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575" y="2840814"/>
                        <a:ext cx="206416" cy="357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79" name="Object 15"/>
          <p:cNvGraphicFramePr>
            <a:graphicFrameLocks noChangeAspect="1"/>
          </p:cNvGraphicFramePr>
          <p:nvPr/>
        </p:nvGraphicFramePr>
        <p:xfrm>
          <a:off x="3390900" y="5070475"/>
          <a:ext cx="238125" cy="357188"/>
        </p:xfrm>
        <a:graphic>
          <a:graphicData uri="http://schemas.openxmlformats.org/presentationml/2006/ole">
            <mc:AlternateContent xmlns:mc="http://schemas.openxmlformats.org/markup-compatibility/2006">
              <mc:Choice xmlns:v="urn:schemas-microsoft-com:vml" Requires="v">
                <p:oleObj spid="_x0000_s200819" r:id="rId5" imgW="191414" imgH="229697" progId="">
                  <p:embed/>
                </p:oleObj>
              </mc:Choice>
              <mc:Fallback>
                <p:oleObj r:id="rId5" imgW="191414" imgH="229697" progId="">
                  <p:embed/>
                  <p:pic>
                    <p:nvPicPr>
                      <p:cNvPr id="39979"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90900" y="5070475"/>
                        <a:ext cx="238125"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9972" name="直接连接符 17"/>
          <p:cNvCxnSpPr>
            <a:cxnSpLocks noChangeShapeType="1"/>
          </p:cNvCxnSpPr>
          <p:nvPr/>
        </p:nvCxnSpPr>
        <p:spPr bwMode="auto">
          <a:xfrm rot="16200000" flipH="1">
            <a:off x="2629368" y="3179932"/>
            <a:ext cx="2147887" cy="833089"/>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39973" name="直接箭头连接符 57"/>
          <p:cNvCxnSpPr>
            <a:cxnSpLocks noChangeShapeType="1"/>
          </p:cNvCxnSpPr>
          <p:nvPr/>
        </p:nvCxnSpPr>
        <p:spPr bwMode="auto">
          <a:xfrm>
            <a:off x="2594912" y="2730500"/>
            <a:ext cx="558566" cy="1588"/>
          </a:xfrm>
          <a:prstGeom prst="straightConnector1">
            <a:avLst/>
          </a:prstGeom>
          <a:noFill/>
          <a:ln w="25400">
            <a:solidFill>
              <a:srgbClr val="A7C804"/>
            </a:solidFill>
            <a:round/>
            <a:headEnd/>
            <a:tailEnd type="arrow" w="med" len="med"/>
          </a:ln>
          <a:effectLst>
            <a:outerShdw dist="20000" dir="5400000" algn="ctr" rotWithShape="0">
              <a:srgbClr val="000000">
                <a:alpha val="31998"/>
              </a:srgbClr>
            </a:outerShdw>
          </a:effectLst>
          <a:extLst>
            <a:ext uri="{909E8E84-426E-40DD-AFC4-6F175D3DCCD1}">
              <a14:hiddenFill xmlns:a14="http://schemas.microsoft.com/office/drawing/2010/main">
                <a:noFill/>
              </a14:hiddenFill>
            </a:ext>
          </a:extLst>
        </p:spPr>
      </p:cxnSp>
      <p:graphicFrame>
        <p:nvGraphicFramePr>
          <p:cNvPr id="39974" name="Object 19"/>
          <p:cNvGraphicFramePr>
            <a:graphicFrameLocks noChangeAspect="1"/>
          </p:cNvGraphicFramePr>
          <p:nvPr/>
        </p:nvGraphicFramePr>
        <p:xfrm>
          <a:off x="3543339" y="2841323"/>
          <a:ext cx="239196" cy="357024"/>
        </p:xfrm>
        <a:graphic>
          <a:graphicData uri="http://schemas.openxmlformats.org/presentationml/2006/ole">
            <mc:AlternateContent xmlns:mc="http://schemas.openxmlformats.org/markup-compatibility/2006">
              <mc:Choice xmlns:v="urn:schemas-microsoft-com:vml" Requires="v">
                <p:oleObj spid="_x0000_s200820" r:id="rId7" imgW="191414" imgH="229697" progId="">
                  <p:embed/>
                </p:oleObj>
              </mc:Choice>
              <mc:Fallback>
                <p:oleObj r:id="rId7" imgW="191414" imgH="229697" progId="">
                  <p:embed/>
                  <p:pic>
                    <p:nvPicPr>
                      <p:cNvPr id="39974"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43339" y="2841323"/>
                        <a:ext cx="239196" cy="35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75" name="Object 20"/>
          <p:cNvGraphicFramePr>
            <a:graphicFrameLocks noChangeAspect="1"/>
          </p:cNvGraphicFramePr>
          <p:nvPr/>
        </p:nvGraphicFramePr>
        <p:xfrm>
          <a:off x="3094843" y="2205038"/>
          <a:ext cx="254858" cy="357024"/>
        </p:xfrm>
        <a:graphic>
          <a:graphicData uri="http://schemas.openxmlformats.org/presentationml/2006/ole">
            <mc:AlternateContent xmlns:mc="http://schemas.openxmlformats.org/markup-compatibility/2006">
              <mc:Choice xmlns:v="urn:schemas-microsoft-com:vml" Requires="v">
                <p:oleObj spid="_x0000_s200821" r:id="rId9" imgW="204086" imgH="229597" progId="">
                  <p:embed/>
                </p:oleObj>
              </mc:Choice>
              <mc:Fallback>
                <p:oleObj r:id="rId9" imgW="204086" imgH="229597" progId="">
                  <p:embed/>
                  <p:pic>
                    <p:nvPicPr>
                      <p:cNvPr id="39975"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94843" y="2205038"/>
                        <a:ext cx="254858" cy="35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67" name="Object 22"/>
          <p:cNvGraphicFramePr>
            <a:graphicFrameLocks noChangeAspect="1"/>
          </p:cNvGraphicFramePr>
          <p:nvPr/>
        </p:nvGraphicFramePr>
        <p:xfrm>
          <a:off x="2197911" y="3875284"/>
          <a:ext cx="239140" cy="357024"/>
        </p:xfrm>
        <a:graphic>
          <a:graphicData uri="http://schemas.openxmlformats.org/presentationml/2006/ole">
            <mc:AlternateContent xmlns:mc="http://schemas.openxmlformats.org/markup-compatibility/2006">
              <mc:Choice xmlns:v="urn:schemas-microsoft-com:vml" Requires="v">
                <p:oleObj spid="_x0000_s200822" r:id="rId11" imgW="191414" imgH="229697" progId="">
                  <p:embed/>
                </p:oleObj>
              </mc:Choice>
              <mc:Fallback>
                <p:oleObj r:id="rId11" imgW="191414" imgH="229697" progId="">
                  <p:embed/>
                  <p:pic>
                    <p:nvPicPr>
                      <p:cNvPr id="39967"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97911" y="3875284"/>
                        <a:ext cx="239140" cy="35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9969" name="直接连接符 15"/>
          <p:cNvCxnSpPr>
            <a:cxnSpLocks noChangeShapeType="1"/>
          </p:cNvCxnSpPr>
          <p:nvPr/>
        </p:nvCxnSpPr>
        <p:spPr bwMode="auto">
          <a:xfrm rot="16200000" flipH="1">
            <a:off x="932253" y="3147407"/>
            <a:ext cx="2147887" cy="898149"/>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39970" name="直接箭头连接符 59"/>
          <p:cNvCxnSpPr>
            <a:cxnSpLocks noChangeShapeType="1"/>
          </p:cNvCxnSpPr>
          <p:nvPr/>
        </p:nvCxnSpPr>
        <p:spPr bwMode="auto">
          <a:xfrm rot="10800000">
            <a:off x="1814190" y="2762250"/>
            <a:ext cx="447487" cy="1588"/>
          </a:xfrm>
          <a:prstGeom prst="straightConnector1">
            <a:avLst/>
          </a:prstGeom>
          <a:noFill/>
          <a:ln w="25400">
            <a:solidFill>
              <a:srgbClr val="A7C804"/>
            </a:solidFill>
            <a:round/>
            <a:headEnd/>
            <a:tailEnd type="arrow" w="med" len="med"/>
          </a:ln>
          <a:effectLst>
            <a:outerShdw dist="20000" dir="5400000" algn="ctr" rotWithShape="0">
              <a:srgbClr val="000000">
                <a:alpha val="31998"/>
              </a:srgbClr>
            </a:outerShdw>
          </a:effectLst>
          <a:extLst>
            <a:ext uri="{909E8E84-426E-40DD-AFC4-6F175D3DCCD1}">
              <a14:hiddenFill xmlns:a14="http://schemas.microsoft.com/office/drawing/2010/main">
                <a:noFill/>
              </a14:hiddenFill>
            </a:ext>
          </a:extLst>
        </p:spPr>
      </p:cxnSp>
      <p:graphicFrame>
        <p:nvGraphicFramePr>
          <p:cNvPr id="39971" name="Object 26"/>
          <p:cNvGraphicFramePr>
            <a:graphicFrameLocks noChangeAspect="1"/>
          </p:cNvGraphicFramePr>
          <p:nvPr/>
        </p:nvGraphicFramePr>
        <p:xfrm>
          <a:off x="1429240" y="2205038"/>
          <a:ext cx="254798" cy="357024"/>
        </p:xfrm>
        <a:graphic>
          <a:graphicData uri="http://schemas.openxmlformats.org/presentationml/2006/ole">
            <mc:AlternateContent xmlns:mc="http://schemas.openxmlformats.org/markup-compatibility/2006">
              <mc:Choice xmlns:v="urn:schemas-microsoft-com:vml" Requires="v">
                <p:oleObj spid="_x0000_s200823" r:id="rId13" imgW="204086" imgH="229597" progId="">
                  <p:embed/>
                </p:oleObj>
              </mc:Choice>
              <mc:Fallback>
                <p:oleObj r:id="rId13" imgW="204086" imgH="229597" progId="">
                  <p:embed/>
                  <p:pic>
                    <p:nvPicPr>
                      <p:cNvPr id="39971" name="Object 2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29240" y="2205038"/>
                        <a:ext cx="254798" cy="35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9980" name="直接连接符 30"/>
          <p:cNvCxnSpPr>
            <a:cxnSpLocks noChangeShapeType="1"/>
          </p:cNvCxnSpPr>
          <p:nvPr/>
        </p:nvCxnSpPr>
        <p:spPr bwMode="auto">
          <a:xfrm>
            <a:off x="1301642" y="3954463"/>
            <a:ext cx="831501"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9982" name="直接连接符 39"/>
          <p:cNvCxnSpPr>
            <a:cxnSpLocks noChangeShapeType="1"/>
          </p:cNvCxnSpPr>
          <p:nvPr/>
        </p:nvCxnSpPr>
        <p:spPr bwMode="auto">
          <a:xfrm rot="16200000" flipH="1">
            <a:off x="1620372" y="4468810"/>
            <a:ext cx="1046162" cy="17455"/>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9983" name="Object 8"/>
          <p:cNvGraphicFramePr>
            <a:graphicFrameLocks noChangeAspect="1"/>
          </p:cNvGraphicFramePr>
          <p:nvPr/>
        </p:nvGraphicFramePr>
        <p:xfrm>
          <a:off x="1044575" y="3795936"/>
          <a:ext cx="206548" cy="356983"/>
        </p:xfrm>
        <a:graphic>
          <a:graphicData uri="http://schemas.openxmlformats.org/presentationml/2006/ole">
            <mc:AlternateContent xmlns:mc="http://schemas.openxmlformats.org/markup-compatibility/2006">
              <mc:Choice xmlns:v="urn:schemas-microsoft-com:vml" Requires="v">
                <p:oleObj spid="_x0000_s200824" r:id="rId15" imgW="165820" imgH="229597" progId="">
                  <p:embed/>
                </p:oleObj>
              </mc:Choice>
              <mc:Fallback>
                <p:oleObj r:id="rId15" imgW="165820" imgH="229597" progId="">
                  <p:embed/>
                  <p:pic>
                    <p:nvPicPr>
                      <p:cNvPr id="39983"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44575" y="3795936"/>
                        <a:ext cx="206548" cy="356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84" name="Object 9"/>
          <p:cNvGraphicFramePr>
            <a:graphicFrameLocks noChangeAspect="1"/>
          </p:cNvGraphicFramePr>
          <p:nvPr/>
        </p:nvGraphicFramePr>
        <p:xfrm>
          <a:off x="2022678" y="5070680"/>
          <a:ext cx="239311" cy="356983"/>
        </p:xfrm>
        <a:graphic>
          <a:graphicData uri="http://schemas.openxmlformats.org/presentationml/2006/ole">
            <mc:AlternateContent xmlns:mc="http://schemas.openxmlformats.org/markup-compatibility/2006">
              <mc:Choice xmlns:v="urn:schemas-microsoft-com:vml" Requires="v">
                <p:oleObj spid="_x0000_s200825" r:id="rId17" imgW="191414" imgH="229697" progId="">
                  <p:embed/>
                </p:oleObj>
              </mc:Choice>
              <mc:Fallback>
                <p:oleObj r:id="rId17" imgW="191414" imgH="229697" progId="">
                  <p:embed/>
                  <p:pic>
                    <p:nvPicPr>
                      <p:cNvPr id="39984"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22678" y="5070680"/>
                        <a:ext cx="239311" cy="356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50" name="Object 28"/>
          <p:cNvGraphicFramePr>
            <a:graphicFrameLocks noChangeAspect="1"/>
          </p:cNvGraphicFramePr>
          <p:nvPr/>
        </p:nvGraphicFramePr>
        <p:xfrm>
          <a:off x="2838560" y="3398071"/>
          <a:ext cx="222111" cy="357024"/>
        </p:xfrm>
        <a:graphic>
          <a:graphicData uri="http://schemas.openxmlformats.org/presentationml/2006/ole">
            <mc:AlternateContent xmlns:mc="http://schemas.openxmlformats.org/markup-compatibility/2006">
              <mc:Choice xmlns:v="urn:schemas-microsoft-com:vml" Requires="v">
                <p:oleObj spid="_x0000_s200826" r:id="rId19" imgW="178497" imgH="229496" progId="">
                  <p:embed/>
                </p:oleObj>
              </mc:Choice>
              <mc:Fallback>
                <p:oleObj r:id="rId19" imgW="178497" imgH="229496" progId="">
                  <p:embed/>
                  <p:pic>
                    <p:nvPicPr>
                      <p:cNvPr id="39950" name="Object 2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838560" y="3398071"/>
                        <a:ext cx="222111" cy="35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9952" name="直接连接符 13"/>
          <p:cNvCxnSpPr>
            <a:cxnSpLocks noChangeShapeType="1"/>
          </p:cNvCxnSpPr>
          <p:nvPr/>
        </p:nvCxnSpPr>
        <p:spPr bwMode="auto">
          <a:xfrm flipV="1">
            <a:off x="1492063" y="2522538"/>
            <a:ext cx="2564325" cy="1909762"/>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aphicFrame>
        <p:nvGraphicFramePr>
          <p:cNvPr id="39955" name="Object 32"/>
          <p:cNvGraphicFramePr>
            <a:graphicFrameLocks noChangeAspect="1"/>
          </p:cNvGraphicFramePr>
          <p:nvPr/>
        </p:nvGraphicFramePr>
        <p:xfrm>
          <a:off x="4629230" y="5070639"/>
          <a:ext cx="190788" cy="316373"/>
        </p:xfrm>
        <a:graphic>
          <a:graphicData uri="http://schemas.openxmlformats.org/presentationml/2006/ole">
            <mc:AlternateContent xmlns:mc="http://schemas.openxmlformats.org/markup-compatibility/2006">
              <mc:Choice xmlns:v="urn:schemas-microsoft-com:vml" Requires="v">
                <p:oleObj spid="_x0000_s200827" r:id="rId21" imgW="153332" imgH="204442" progId="">
                  <p:embed/>
                </p:oleObj>
              </mc:Choice>
              <mc:Fallback>
                <p:oleObj r:id="rId21" imgW="153332" imgH="204442" progId="">
                  <p:embed/>
                  <p:pic>
                    <p:nvPicPr>
                      <p:cNvPr id="39955" name="Object 3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629230" y="5070639"/>
                        <a:ext cx="190788" cy="316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39957" name="直接箭头连接符 5"/>
          <p:cNvCxnSpPr>
            <a:cxnSpLocks noChangeShapeType="1"/>
          </p:cNvCxnSpPr>
          <p:nvPr/>
        </p:nvCxnSpPr>
        <p:spPr bwMode="auto">
          <a:xfrm>
            <a:off x="1304816" y="5000625"/>
            <a:ext cx="3524359"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39958" name="直接箭头连接符 11"/>
          <p:cNvCxnSpPr>
            <a:cxnSpLocks noChangeShapeType="1"/>
          </p:cNvCxnSpPr>
          <p:nvPr/>
        </p:nvCxnSpPr>
        <p:spPr bwMode="auto">
          <a:xfrm rot="16200000" flipV="1">
            <a:off x="-54083" y="3641720"/>
            <a:ext cx="2714625" cy="3173"/>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39959" name="直接连接符 16"/>
          <p:cNvCxnSpPr>
            <a:cxnSpLocks noChangeShapeType="1"/>
          </p:cNvCxnSpPr>
          <p:nvPr/>
        </p:nvCxnSpPr>
        <p:spPr bwMode="auto">
          <a:xfrm rot="16200000" flipH="1">
            <a:off x="1733600" y="3115665"/>
            <a:ext cx="2147887" cy="961622"/>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39960" name="直接连接符 32"/>
          <p:cNvCxnSpPr>
            <a:cxnSpLocks noChangeShapeType="1"/>
          </p:cNvCxnSpPr>
          <p:nvPr/>
        </p:nvCxnSpPr>
        <p:spPr bwMode="auto">
          <a:xfrm>
            <a:off x="1301642" y="3478213"/>
            <a:ext cx="1472582"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39961" name="直接连接符 41"/>
          <p:cNvCxnSpPr>
            <a:cxnSpLocks noChangeShapeType="1"/>
          </p:cNvCxnSpPr>
          <p:nvPr/>
        </p:nvCxnSpPr>
        <p:spPr bwMode="auto">
          <a:xfrm rot="16200000" flipH="1">
            <a:off x="2028887" y="4223550"/>
            <a:ext cx="1522412" cy="31736"/>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39962" name="Object 39"/>
          <p:cNvGraphicFramePr>
            <a:graphicFrameLocks noChangeAspect="1"/>
          </p:cNvGraphicFramePr>
          <p:nvPr/>
        </p:nvGraphicFramePr>
        <p:xfrm>
          <a:off x="1109751" y="5070639"/>
          <a:ext cx="190788" cy="275722"/>
        </p:xfrm>
        <a:graphic>
          <a:graphicData uri="http://schemas.openxmlformats.org/presentationml/2006/ole">
            <mc:AlternateContent xmlns:mc="http://schemas.openxmlformats.org/markup-compatibility/2006">
              <mc:Choice xmlns:v="urn:schemas-microsoft-com:vml" Requires="v">
                <p:oleObj spid="_x0000_s200828" r:id="rId23" imgW="153198" imgH="178731" progId="">
                  <p:embed/>
                </p:oleObj>
              </mc:Choice>
              <mc:Fallback>
                <p:oleObj r:id="rId23" imgW="153198" imgH="178731" progId="">
                  <p:embed/>
                  <p:pic>
                    <p:nvPicPr>
                      <p:cNvPr id="39962" name="Object 3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109751" y="5070639"/>
                        <a:ext cx="190788" cy="275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63" name="Object 40"/>
          <p:cNvGraphicFramePr>
            <a:graphicFrameLocks noChangeAspect="1"/>
          </p:cNvGraphicFramePr>
          <p:nvPr/>
        </p:nvGraphicFramePr>
        <p:xfrm>
          <a:off x="1044575" y="2284574"/>
          <a:ext cx="190788" cy="256280"/>
        </p:xfrm>
        <a:graphic>
          <a:graphicData uri="http://schemas.openxmlformats.org/presentationml/2006/ole">
            <mc:AlternateContent xmlns:mc="http://schemas.openxmlformats.org/markup-compatibility/2006">
              <mc:Choice xmlns:v="urn:schemas-microsoft-com:vml" Requires="v">
                <p:oleObj spid="_x0000_s200829" r:id="rId25" imgW="153332" imgH="166109" progId="">
                  <p:embed/>
                </p:oleObj>
              </mc:Choice>
              <mc:Fallback>
                <p:oleObj r:id="rId25" imgW="153332" imgH="166109" progId="">
                  <p:embed/>
                  <p:pic>
                    <p:nvPicPr>
                      <p:cNvPr id="39963" name="Object 4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044575" y="2284574"/>
                        <a:ext cx="190788" cy="256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64" name="Object 41"/>
          <p:cNvGraphicFramePr>
            <a:graphicFrameLocks noChangeAspect="1"/>
          </p:cNvGraphicFramePr>
          <p:nvPr/>
        </p:nvGraphicFramePr>
        <p:xfrm>
          <a:off x="1044575" y="3318536"/>
          <a:ext cx="190788" cy="357024"/>
        </p:xfrm>
        <a:graphic>
          <a:graphicData uri="http://schemas.openxmlformats.org/presentationml/2006/ole">
            <mc:AlternateContent xmlns:mc="http://schemas.openxmlformats.org/markup-compatibility/2006">
              <mc:Choice xmlns:v="urn:schemas-microsoft-com:vml" Requires="v">
                <p:oleObj spid="_x0000_s200830" r:id="rId27" imgW="153131" imgH="229697" progId="">
                  <p:embed/>
                </p:oleObj>
              </mc:Choice>
              <mc:Fallback>
                <p:oleObj r:id="rId27" imgW="153131" imgH="229697" progId="">
                  <p:embed/>
                  <p:pic>
                    <p:nvPicPr>
                      <p:cNvPr id="39964" name="Object 4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044575" y="3318536"/>
                        <a:ext cx="190788" cy="35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65" name="Object 42"/>
          <p:cNvGraphicFramePr>
            <a:graphicFrameLocks noChangeAspect="1"/>
          </p:cNvGraphicFramePr>
          <p:nvPr/>
        </p:nvGraphicFramePr>
        <p:xfrm>
          <a:off x="2673963" y="5070639"/>
          <a:ext cx="222111" cy="357024"/>
        </p:xfrm>
        <a:graphic>
          <a:graphicData uri="http://schemas.openxmlformats.org/presentationml/2006/ole">
            <mc:AlternateContent xmlns:mc="http://schemas.openxmlformats.org/markup-compatibility/2006">
              <mc:Choice xmlns:v="urn:schemas-microsoft-com:vml" Requires="v">
                <p:oleObj spid="_x0000_s200831" r:id="rId29" imgW="178497" imgH="229496" progId="">
                  <p:embed/>
                </p:oleObj>
              </mc:Choice>
              <mc:Fallback>
                <p:oleObj r:id="rId29" imgW="178497" imgH="229496" progId="">
                  <p:embed/>
                  <p:pic>
                    <p:nvPicPr>
                      <p:cNvPr id="39965" name="Object 42"/>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673963" y="5070639"/>
                        <a:ext cx="222111" cy="35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66" name="Object 43"/>
          <p:cNvGraphicFramePr>
            <a:graphicFrameLocks noChangeAspect="1"/>
          </p:cNvGraphicFramePr>
          <p:nvPr/>
        </p:nvGraphicFramePr>
        <p:xfrm>
          <a:off x="2197851" y="2205038"/>
          <a:ext cx="239196" cy="357024"/>
        </p:xfrm>
        <a:graphic>
          <a:graphicData uri="http://schemas.openxmlformats.org/presentationml/2006/ole">
            <mc:AlternateContent xmlns:mc="http://schemas.openxmlformats.org/markup-compatibility/2006">
              <mc:Choice xmlns:v="urn:schemas-microsoft-com:vml" Requires="v">
                <p:oleObj spid="_x0000_s200832" r:id="rId31" imgW="191414" imgH="229697" progId="">
                  <p:embed/>
                </p:oleObj>
              </mc:Choice>
              <mc:Fallback>
                <p:oleObj r:id="rId31" imgW="191414" imgH="229697" progId="">
                  <p:embed/>
                  <p:pic>
                    <p:nvPicPr>
                      <p:cNvPr id="39966" name="Object 43"/>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197851" y="2205038"/>
                        <a:ext cx="239196" cy="357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54" name="Object 44"/>
          <p:cNvGraphicFramePr>
            <a:graphicFrameLocks noChangeAspect="1"/>
          </p:cNvGraphicFramePr>
          <p:nvPr/>
        </p:nvGraphicFramePr>
        <p:xfrm>
          <a:off x="4184650" y="2363788"/>
          <a:ext cx="174625" cy="276225"/>
        </p:xfrm>
        <a:graphic>
          <a:graphicData uri="http://schemas.openxmlformats.org/presentationml/2006/ole">
            <mc:AlternateContent xmlns:mc="http://schemas.openxmlformats.org/markup-compatibility/2006">
              <mc:Choice xmlns:v="urn:schemas-microsoft-com:vml" Requires="v">
                <p:oleObj spid="_x0000_s200833" r:id="rId33" imgW="140493" imgH="178809" progId="">
                  <p:embed/>
                </p:oleObj>
              </mc:Choice>
              <mc:Fallback>
                <p:oleObj r:id="rId33" imgW="140493" imgH="178809" progId="">
                  <p:embed/>
                  <p:pic>
                    <p:nvPicPr>
                      <p:cNvPr id="39954" name="Object 44"/>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184650" y="2363788"/>
                        <a:ext cx="17462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4861" name="组合 9"/>
          <p:cNvGrpSpPr>
            <a:grpSpLocks/>
          </p:cNvGrpSpPr>
          <p:nvPr/>
        </p:nvGrpSpPr>
        <p:grpSpPr bwMode="auto">
          <a:xfrm>
            <a:off x="4439676" y="2777920"/>
            <a:ext cx="4453591" cy="2147888"/>
            <a:chOff x="0" y="-1"/>
            <a:chExt cx="4381757" cy="1958353"/>
          </a:xfrm>
          <a:solidFill>
            <a:srgbClr val="F3C97F"/>
          </a:solidFill>
        </p:grpSpPr>
        <p:sp>
          <p:nvSpPr>
            <p:cNvPr id="39942" name="圆角矩形 45"/>
            <p:cNvSpPr>
              <a:spLocks noChangeArrowheads="1"/>
            </p:cNvSpPr>
            <p:nvPr/>
          </p:nvSpPr>
          <p:spPr bwMode="auto">
            <a:xfrm>
              <a:off x="0" y="-1"/>
              <a:ext cx="4357686" cy="1958353"/>
            </a:xfrm>
            <a:prstGeom prst="roundRect">
              <a:avLst>
                <a:gd name="adj" fmla="val 16667"/>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39943" name="TextBox 3"/>
            <p:cNvSpPr txBox="1">
              <a:spLocks noChangeArrowheads="1"/>
            </p:cNvSpPr>
            <p:nvPr/>
          </p:nvSpPr>
          <p:spPr bwMode="auto">
            <a:xfrm>
              <a:off x="88722" y="213977"/>
              <a:ext cx="4293035" cy="159952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spcBef>
                  <a:spcPct val="0"/>
                </a:spcBef>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需求增加</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solidFill>
                    <a:schemeClr val="tx1"/>
                  </a:solidFill>
                  <a:latin typeface="微软雅黑" panose="020B0503020204020204" pitchFamily="34" charset="-122"/>
                  <a:ea typeface="微软雅黑" panose="020B0503020204020204" pitchFamily="34" charset="-122"/>
                </a:rPr>
                <a:t>需求曲线水平右移</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S&lt;DP↑</a:t>
              </a: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。最终</a:t>
              </a:r>
              <a:r>
                <a:rPr lang="zh-CN" altLang="en-US" sz="1800" b="0" dirty="0">
                  <a:solidFill>
                    <a:schemeClr val="tx1"/>
                  </a:solidFill>
                  <a:latin typeface="微软雅黑" panose="020B0503020204020204" pitchFamily="34" charset="-122"/>
                  <a:ea typeface="微软雅黑" panose="020B0503020204020204" pitchFamily="34" charset="-122"/>
                </a:rPr>
                <a:t>市场均衡由</a:t>
              </a:r>
              <a:r>
                <a:rPr lang="en-US" altLang="zh-CN" sz="1800" b="0" dirty="0">
                  <a:solidFill>
                    <a:schemeClr val="tx1"/>
                  </a:solidFill>
                </a:rPr>
                <a:t>E</a:t>
              </a:r>
              <a:r>
                <a:rPr lang="en-US" altLang="zh-CN" sz="1800" b="0" baseline="-25000" dirty="0">
                  <a:solidFill>
                    <a:schemeClr val="tx1"/>
                  </a:solidFill>
                </a:rPr>
                <a:t>1</a:t>
              </a:r>
              <a:r>
                <a:rPr lang="zh-CN" altLang="en-US" sz="1800" b="0" dirty="0">
                  <a:solidFill>
                    <a:schemeClr val="tx1"/>
                  </a:solidFill>
                  <a:latin typeface="微软雅黑" panose="020B0503020204020204" pitchFamily="34" charset="-122"/>
                  <a:ea typeface="微软雅黑" panose="020B0503020204020204" pitchFamily="34" charset="-122"/>
                </a:rPr>
                <a:t>变动为</a:t>
              </a:r>
              <a:r>
                <a:rPr lang="en-US" altLang="zh-CN" sz="1800" b="0" dirty="0">
                  <a:solidFill>
                    <a:schemeClr val="tx1"/>
                  </a:solidFill>
                </a:rPr>
                <a:t>E</a:t>
              </a:r>
              <a:r>
                <a:rPr lang="en-US" altLang="zh-CN" sz="1800" b="0" baseline="-25000" dirty="0">
                  <a:solidFill>
                    <a:schemeClr val="tx1"/>
                  </a:solidFill>
                </a:rPr>
                <a:t>2</a:t>
              </a:r>
              <a:r>
                <a:rPr lang="zh-CN" altLang="en-US" sz="1800" b="0" dirty="0">
                  <a:solidFill>
                    <a:schemeClr val="tx1"/>
                  </a:solidFill>
                  <a:latin typeface="微软雅黑" panose="020B0503020204020204" pitchFamily="34" charset="-122"/>
                  <a:ea typeface="微软雅黑" panose="020B0503020204020204" pitchFamily="34" charset="-122"/>
                </a:rPr>
                <a:t>；</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342900" indent="-342900" eaLnBrk="1" hangingPunct="1">
                <a:spcBef>
                  <a:spcPct val="0"/>
                </a:spcBef>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需求减少</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solidFill>
                    <a:schemeClr val="tx1"/>
                  </a:solidFill>
                  <a:latin typeface="微软雅黑" panose="020B0503020204020204" pitchFamily="34" charset="-122"/>
                  <a:ea typeface="微软雅黑" panose="020B0503020204020204" pitchFamily="34" charset="-122"/>
                </a:rPr>
                <a:t>需求曲线水平左移</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S&gt;DP↓</a:t>
              </a: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。最终</a:t>
              </a:r>
              <a:r>
                <a:rPr lang="zh-CN" altLang="en-US" sz="1800" b="0" dirty="0">
                  <a:solidFill>
                    <a:schemeClr val="tx1"/>
                  </a:solidFill>
                  <a:latin typeface="微软雅黑" panose="020B0503020204020204" pitchFamily="34" charset="-122"/>
                  <a:ea typeface="微软雅黑" panose="020B0503020204020204" pitchFamily="34" charset="-122"/>
                </a:rPr>
                <a:t>市场均衡由</a:t>
              </a:r>
              <a:r>
                <a:rPr lang="en-US" altLang="zh-CN" sz="1800" b="0" dirty="0">
                  <a:solidFill>
                    <a:schemeClr val="tx1"/>
                  </a:solidFill>
                </a:rPr>
                <a:t>E</a:t>
              </a:r>
              <a:r>
                <a:rPr lang="en-US" altLang="zh-CN" sz="1800" b="0" baseline="-25000" dirty="0">
                  <a:solidFill>
                    <a:schemeClr val="tx1"/>
                  </a:solidFill>
                </a:rPr>
                <a:t>1</a:t>
              </a:r>
              <a:r>
                <a:rPr lang="zh-CN" altLang="en-US" sz="1800" b="0" dirty="0">
                  <a:solidFill>
                    <a:schemeClr val="tx1"/>
                  </a:solidFill>
                  <a:latin typeface="微软雅黑" panose="020B0503020204020204" pitchFamily="34" charset="-122"/>
                  <a:ea typeface="微软雅黑" panose="020B0503020204020204" pitchFamily="34" charset="-122"/>
                </a:rPr>
                <a:t>变为</a:t>
              </a:r>
              <a:r>
                <a:rPr lang="en-US" altLang="zh-CN" sz="1800" b="0" dirty="0">
                  <a:solidFill>
                    <a:schemeClr val="tx1"/>
                  </a:solidFill>
                </a:rPr>
                <a:t>E</a:t>
              </a:r>
              <a:r>
                <a:rPr lang="en-US" altLang="zh-CN" sz="1800" b="0" baseline="-25000" dirty="0">
                  <a:solidFill>
                    <a:schemeClr val="tx1"/>
                  </a:solidFill>
                </a:rPr>
                <a:t>3 </a:t>
              </a:r>
              <a:r>
                <a:rPr lang="zh-CN" altLang="en-US" sz="1800" b="0" dirty="0">
                  <a:solidFill>
                    <a:schemeClr val="tx1"/>
                  </a:solidFill>
                  <a:latin typeface="微软雅黑" panose="020B0503020204020204" pitchFamily="34" charset="-122"/>
                  <a:ea typeface="微软雅黑" panose="020B0503020204020204" pitchFamily="34" charset="-122"/>
                </a:rPr>
                <a:t>。</a:t>
              </a:r>
            </a:p>
          </p:txBody>
        </p:sp>
      </p:grpSp>
      <p:sp>
        <p:nvSpPr>
          <p:cNvPr id="49" name="矩形 48">
            <a:extLst>
              <a:ext uri="{FF2B5EF4-FFF2-40B4-BE49-F238E27FC236}">
                <a16:creationId xmlns:a16="http://schemas.microsoft.com/office/drawing/2014/main" id="{99A861F3-1BF5-4FA4-A7CE-A93F6E99B7C4}"/>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p:sp>
        <p:nvSpPr>
          <p:cNvPr id="50" name="矩形 49">
            <a:extLst>
              <a:ext uri="{FF2B5EF4-FFF2-40B4-BE49-F238E27FC236}">
                <a16:creationId xmlns:a16="http://schemas.microsoft.com/office/drawing/2014/main" id="{F68E5273-CD77-47B9-B841-9D29349C133D}"/>
              </a:ext>
            </a:extLst>
          </p:cNvPr>
          <p:cNvSpPr/>
          <p:nvPr/>
        </p:nvSpPr>
        <p:spPr>
          <a:xfrm>
            <a:off x="467543" y="548680"/>
            <a:ext cx="3162141"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三、市场均衡的变动 </a:t>
            </a:r>
          </a:p>
        </p:txBody>
      </p:sp>
      <p:sp>
        <p:nvSpPr>
          <p:cNvPr id="51" name="Rectangle 3"/>
          <p:cNvSpPr txBox="1">
            <a:spLocks noChangeArrowheads="1"/>
          </p:cNvSpPr>
          <p:nvPr/>
        </p:nvSpPr>
        <p:spPr bwMode="auto">
          <a:xfrm>
            <a:off x="34925" y="1342855"/>
            <a:ext cx="8229600" cy="503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eaLnBrk="1" hangingPunct="1">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 需求变动对市场均衡的影响</a:t>
            </a:r>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10169483"/>
      </p:ext>
    </p:extLst>
  </p:cSld>
  <p:clrMapOvr>
    <a:masterClrMapping/>
  </p:clrMapOvr>
  <p:transition>
    <p:strip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9962"/>
                                        </p:tgtEl>
                                        <p:attrNameLst>
                                          <p:attrName>style.visibility</p:attrName>
                                        </p:attrNameLst>
                                      </p:cBhvr>
                                      <p:to>
                                        <p:strVal val="visible"/>
                                      </p:to>
                                    </p:set>
                                    <p:animEffect transition="in" filter="randombar(horizontal)">
                                      <p:cBhvr>
                                        <p:cTn id="7" dur="500"/>
                                        <p:tgtEl>
                                          <p:spTgt spid="399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9957"/>
                                        </p:tgtEl>
                                        <p:attrNameLst>
                                          <p:attrName>style.visibility</p:attrName>
                                        </p:attrNameLst>
                                      </p:cBhvr>
                                      <p:to>
                                        <p:strVal val="visible"/>
                                      </p:to>
                                    </p:set>
                                    <p:animEffect transition="in" filter="wipe(left)">
                                      <p:cBhvr>
                                        <p:cTn id="12" dur="500"/>
                                        <p:tgtEl>
                                          <p:spTgt spid="39957"/>
                                        </p:tgtEl>
                                      </p:cBhvr>
                                    </p:animEffect>
                                  </p:childTnLst>
                                </p:cTn>
                              </p:par>
                              <p:par>
                                <p:cTn id="13" presetID="22" presetClass="entr" presetSubtype="4" fill="hold" nodeType="withEffect">
                                  <p:stCondLst>
                                    <p:cond delay="0"/>
                                  </p:stCondLst>
                                  <p:childTnLst>
                                    <p:set>
                                      <p:cBhvr>
                                        <p:cTn id="14" dur="1" fill="hold">
                                          <p:stCondLst>
                                            <p:cond delay="0"/>
                                          </p:stCondLst>
                                        </p:cTn>
                                        <p:tgtEl>
                                          <p:spTgt spid="39958"/>
                                        </p:tgtEl>
                                        <p:attrNameLst>
                                          <p:attrName>style.visibility</p:attrName>
                                        </p:attrNameLst>
                                      </p:cBhvr>
                                      <p:to>
                                        <p:strVal val="visible"/>
                                      </p:to>
                                    </p:set>
                                    <p:animEffect transition="in" filter="wipe(down)">
                                      <p:cBhvr>
                                        <p:cTn id="15" dur="500"/>
                                        <p:tgtEl>
                                          <p:spTgt spid="39958"/>
                                        </p:tgtEl>
                                      </p:cBhvr>
                                    </p:animEffect>
                                  </p:childTnLst>
                                </p:cTn>
                              </p:par>
                            </p:childTnLst>
                          </p:cTn>
                        </p:par>
                        <p:par>
                          <p:cTn id="16" fill="hold">
                            <p:stCondLst>
                              <p:cond delay="500"/>
                            </p:stCondLst>
                            <p:childTnLst>
                              <p:par>
                                <p:cTn id="17" presetID="14" presetClass="entr" presetSubtype="10" fill="hold" nodeType="afterEffect">
                                  <p:stCondLst>
                                    <p:cond delay="0"/>
                                  </p:stCondLst>
                                  <p:childTnLst>
                                    <p:set>
                                      <p:cBhvr>
                                        <p:cTn id="18" dur="1" fill="hold">
                                          <p:stCondLst>
                                            <p:cond delay="0"/>
                                          </p:stCondLst>
                                        </p:cTn>
                                        <p:tgtEl>
                                          <p:spTgt spid="39955"/>
                                        </p:tgtEl>
                                        <p:attrNameLst>
                                          <p:attrName>style.visibility</p:attrName>
                                        </p:attrNameLst>
                                      </p:cBhvr>
                                      <p:to>
                                        <p:strVal val="visible"/>
                                      </p:to>
                                    </p:set>
                                    <p:animEffect transition="in" filter="randombar(horizontal)">
                                      <p:cBhvr>
                                        <p:cTn id="19" dur="500"/>
                                        <p:tgtEl>
                                          <p:spTgt spid="39955"/>
                                        </p:tgtEl>
                                      </p:cBhvr>
                                    </p:animEffect>
                                  </p:childTnLst>
                                </p:cTn>
                              </p:par>
                            </p:childTnLst>
                          </p:cTn>
                        </p:par>
                        <p:par>
                          <p:cTn id="20" fill="hold">
                            <p:stCondLst>
                              <p:cond delay="1000"/>
                            </p:stCondLst>
                            <p:childTnLst>
                              <p:par>
                                <p:cTn id="21" presetID="14" presetClass="entr" presetSubtype="10" fill="hold" nodeType="afterEffect">
                                  <p:stCondLst>
                                    <p:cond delay="0"/>
                                  </p:stCondLst>
                                  <p:childTnLst>
                                    <p:set>
                                      <p:cBhvr>
                                        <p:cTn id="22" dur="1" fill="hold">
                                          <p:stCondLst>
                                            <p:cond delay="0"/>
                                          </p:stCondLst>
                                        </p:cTn>
                                        <p:tgtEl>
                                          <p:spTgt spid="39963"/>
                                        </p:tgtEl>
                                        <p:attrNameLst>
                                          <p:attrName>style.visibility</p:attrName>
                                        </p:attrNameLst>
                                      </p:cBhvr>
                                      <p:to>
                                        <p:strVal val="visible"/>
                                      </p:to>
                                    </p:set>
                                    <p:animEffect transition="in" filter="randombar(horizontal)">
                                      <p:cBhvr>
                                        <p:cTn id="23" dur="500"/>
                                        <p:tgtEl>
                                          <p:spTgt spid="3996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39952"/>
                                        </p:tgtEl>
                                        <p:attrNameLst>
                                          <p:attrName>style.visibility</p:attrName>
                                        </p:attrNameLst>
                                      </p:cBhvr>
                                      <p:to>
                                        <p:strVal val="visible"/>
                                      </p:to>
                                    </p:set>
                                    <p:animEffect transition="in" filter="wipe(down)">
                                      <p:cBhvr>
                                        <p:cTn id="28" dur="500"/>
                                        <p:tgtEl>
                                          <p:spTgt spid="39952"/>
                                        </p:tgtEl>
                                      </p:cBhvr>
                                    </p:animEffect>
                                  </p:childTnLst>
                                </p:cTn>
                              </p:par>
                            </p:childTnLst>
                          </p:cTn>
                        </p:par>
                        <p:par>
                          <p:cTn id="29" fill="hold">
                            <p:stCondLst>
                              <p:cond delay="500"/>
                            </p:stCondLst>
                            <p:childTnLst>
                              <p:par>
                                <p:cTn id="30" presetID="14" presetClass="entr" presetSubtype="10" fill="hold" nodeType="afterEffect">
                                  <p:stCondLst>
                                    <p:cond delay="0"/>
                                  </p:stCondLst>
                                  <p:childTnLst>
                                    <p:set>
                                      <p:cBhvr>
                                        <p:cTn id="31" dur="1" fill="hold">
                                          <p:stCondLst>
                                            <p:cond delay="0"/>
                                          </p:stCondLst>
                                        </p:cTn>
                                        <p:tgtEl>
                                          <p:spTgt spid="39954"/>
                                        </p:tgtEl>
                                        <p:attrNameLst>
                                          <p:attrName>style.visibility</p:attrName>
                                        </p:attrNameLst>
                                      </p:cBhvr>
                                      <p:to>
                                        <p:strVal val="visible"/>
                                      </p:to>
                                    </p:set>
                                    <p:animEffect transition="in" filter="randombar(horizontal)">
                                      <p:cBhvr>
                                        <p:cTn id="32" dur="500"/>
                                        <p:tgtEl>
                                          <p:spTgt spid="3995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9959"/>
                                        </p:tgtEl>
                                        <p:attrNameLst>
                                          <p:attrName>style.visibility</p:attrName>
                                        </p:attrNameLst>
                                      </p:cBhvr>
                                      <p:to>
                                        <p:strVal val="visible"/>
                                      </p:to>
                                    </p:set>
                                    <p:animEffect transition="in" filter="wipe(down)">
                                      <p:cBhvr>
                                        <p:cTn id="37" dur="500"/>
                                        <p:tgtEl>
                                          <p:spTgt spid="39959"/>
                                        </p:tgtEl>
                                      </p:cBhvr>
                                    </p:animEffect>
                                  </p:childTnLst>
                                </p:cTn>
                              </p:par>
                            </p:childTnLst>
                          </p:cTn>
                        </p:par>
                        <p:par>
                          <p:cTn id="38" fill="hold">
                            <p:stCondLst>
                              <p:cond delay="500"/>
                            </p:stCondLst>
                            <p:childTnLst>
                              <p:par>
                                <p:cTn id="39" presetID="14" presetClass="entr" presetSubtype="10" fill="hold" nodeType="afterEffect">
                                  <p:stCondLst>
                                    <p:cond delay="0"/>
                                  </p:stCondLst>
                                  <p:childTnLst>
                                    <p:set>
                                      <p:cBhvr>
                                        <p:cTn id="40" dur="1" fill="hold">
                                          <p:stCondLst>
                                            <p:cond delay="0"/>
                                          </p:stCondLst>
                                        </p:cTn>
                                        <p:tgtEl>
                                          <p:spTgt spid="39966"/>
                                        </p:tgtEl>
                                        <p:attrNameLst>
                                          <p:attrName>style.visibility</p:attrName>
                                        </p:attrNameLst>
                                      </p:cBhvr>
                                      <p:to>
                                        <p:strVal val="visible"/>
                                      </p:to>
                                    </p:set>
                                    <p:animEffect transition="in" filter="randombar(horizontal)">
                                      <p:cBhvr>
                                        <p:cTn id="41" dur="500"/>
                                        <p:tgtEl>
                                          <p:spTgt spid="39966"/>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nodeType="clickEffect">
                                  <p:stCondLst>
                                    <p:cond delay="0"/>
                                  </p:stCondLst>
                                  <p:childTnLst>
                                    <p:set>
                                      <p:cBhvr>
                                        <p:cTn id="45" dur="1" fill="hold">
                                          <p:stCondLst>
                                            <p:cond delay="0"/>
                                          </p:stCondLst>
                                        </p:cTn>
                                        <p:tgtEl>
                                          <p:spTgt spid="39978"/>
                                        </p:tgtEl>
                                        <p:attrNameLst>
                                          <p:attrName>style.visibility</p:attrName>
                                        </p:attrNameLst>
                                      </p:cBhvr>
                                      <p:to>
                                        <p:strVal val="visible"/>
                                      </p:to>
                                    </p:set>
                                    <p:animEffect transition="in" filter="randombar(horizontal)">
                                      <p:cBhvr>
                                        <p:cTn id="46" dur="500"/>
                                        <p:tgtEl>
                                          <p:spTgt spid="39978"/>
                                        </p:tgtEl>
                                      </p:cBhvr>
                                    </p:animEffect>
                                  </p:childTnLst>
                                </p:cTn>
                              </p:par>
                              <p:par>
                                <p:cTn id="47" presetID="14" presetClass="entr" presetSubtype="10" fill="hold" nodeType="withEffect">
                                  <p:stCondLst>
                                    <p:cond delay="0"/>
                                  </p:stCondLst>
                                  <p:childTnLst>
                                    <p:set>
                                      <p:cBhvr>
                                        <p:cTn id="48" dur="1" fill="hold">
                                          <p:stCondLst>
                                            <p:cond delay="0"/>
                                          </p:stCondLst>
                                        </p:cTn>
                                        <p:tgtEl>
                                          <p:spTgt spid="39979"/>
                                        </p:tgtEl>
                                        <p:attrNameLst>
                                          <p:attrName>style.visibility</p:attrName>
                                        </p:attrNameLst>
                                      </p:cBhvr>
                                      <p:to>
                                        <p:strVal val="visible"/>
                                      </p:to>
                                    </p:set>
                                    <p:animEffect transition="in" filter="randombar(horizontal)">
                                      <p:cBhvr>
                                        <p:cTn id="49" dur="500"/>
                                        <p:tgtEl>
                                          <p:spTgt spid="39979"/>
                                        </p:tgtEl>
                                      </p:cBhvr>
                                    </p:animEffec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39976"/>
                                        </p:tgtEl>
                                        <p:attrNameLst>
                                          <p:attrName>style.visibility</p:attrName>
                                        </p:attrNameLst>
                                      </p:cBhvr>
                                      <p:to>
                                        <p:strVal val="visible"/>
                                      </p:to>
                                    </p:set>
                                    <p:animEffect transition="in" filter="wipe(left)">
                                      <p:cBhvr>
                                        <p:cTn id="53" dur="500"/>
                                        <p:tgtEl>
                                          <p:spTgt spid="39976"/>
                                        </p:tgtEl>
                                      </p:cBhvr>
                                    </p:animEffect>
                                  </p:childTnLst>
                                </p:cTn>
                              </p:par>
                              <p:par>
                                <p:cTn id="54" presetID="22" presetClass="entr" presetSubtype="4" fill="hold" nodeType="withEffect">
                                  <p:stCondLst>
                                    <p:cond delay="0"/>
                                  </p:stCondLst>
                                  <p:childTnLst>
                                    <p:set>
                                      <p:cBhvr>
                                        <p:cTn id="55" dur="1" fill="hold">
                                          <p:stCondLst>
                                            <p:cond delay="0"/>
                                          </p:stCondLst>
                                        </p:cTn>
                                        <p:tgtEl>
                                          <p:spTgt spid="39977"/>
                                        </p:tgtEl>
                                        <p:attrNameLst>
                                          <p:attrName>style.visibility</p:attrName>
                                        </p:attrNameLst>
                                      </p:cBhvr>
                                      <p:to>
                                        <p:strVal val="visible"/>
                                      </p:to>
                                    </p:set>
                                    <p:animEffect transition="in" filter="wipe(down)">
                                      <p:cBhvr>
                                        <p:cTn id="56" dur="500"/>
                                        <p:tgtEl>
                                          <p:spTgt spid="39977"/>
                                        </p:tgtEl>
                                      </p:cBhvr>
                                    </p:animEffect>
                                  </p:childTnLst>
                                </p:cTn>
                              </p:par>
                            </p:childTnLst>
                          </p:cTn>
                        </p:par>
                      </p:childTnLst>
                    </p:cTn>
                  </p:par>
                  <p:par>
                    <p:cTn id="57" fill="hold">
                      <p:stCondLst>
                        <p:cond delay="indefinite"/>
                      </p:stCondLst>
                      <p:childTnLst>
                        <p:par>
                          <p:cTn id="58" fill="hold">
                            <p:stCondLst>
                              <p:cond delay="0"/>
                            </p:stCondLst>
                            <p:childTnLst>
                              <p:par>
                                <p:cTn id="59" presetID="14" presetClass="entr" presetSubtype="10" fill="hold" nodeType="clickEffect">
                                  <p:stCondLst>
                                    <p:cond delay="0"/>
                                  </p:stCondLst>
                                  <p:childTnLst>
                                    <p:set>
                                      <p:cBhvr>
                                        <p:cTn id="60" dur="1" fill="hold">
                                          <p:stCondLst>
                                            <p:cond delay="0"/>
                                          </p:stCondLst>
                                        </p:cTn>
                                        <p:tgtEl>
                                          <p:spTgt spid="39964"/>
                                        </p:tgtEl>
                                        <p:attrNameLst>
                                          <p:attrName>style.visibility</p:attrName>
                                        </p:attrNameLst>
                                      </p:cBhvr>
                                      <p:to>
                                        <p:strVal val="visible"/>
                                      </p:to>
                                    </p:set>
                                    <p:animEffect transition="in" filter="randombar(horizontal)">
                                      <p:cBhvr>
                                        <p:cTn id="61" dur="500"/>
                                        <p:tgtEl>
                                          <p:spTgt spid="39964"/>
                                        </p:tgtEl>
                                      </p:cBhvr>
                                    </p:animEffect>
                                  </p:childTnLst>
                                </p:cTn>
                              </p:par>
                            </p:childTnLst>
                          </p:cTn>
                        </p:par>
                        <p:par>
                          <p:cTn id="62" fill="hold">
                            <p:stCondLst>
                              <p:cond delay="500"/>
                            </p:stCondLst>
                            <p:childTnLst>
                              <p:par>
                                <p:cTn id="63" presetID="22" presetClass="entr" presetSubtype="8" fill="hold" nodeType="afterEffect">
                                  <p:stCondLst>
                                    <p:cond delay="0"/>
                                  </p:stCondLst>
                                  <p:childTnLst>
                                    <p:set>
                                      <p:cBhvr>
                                        <p:cTn id="64" dur="1" fill="hold">
                                          <p:stCondLst>
                                            <p:cond delay="0"/>
                                          </p:stCondLst>
                                        </p:cTn>
                                        <p:tgtEl>
                                          <p:spTgt spid="39960"/>
                                        </p:tgtEl>
                                        <p:attrNameLst>
                                          <p:attrName>style.visibility</p:attrName>
                                        </p:attrNameLst>
                                      </p:cBhvr>
                                      <p:to>
                                        <p:strVal val="visible"/>
                                      </p:to>
                                    </p:set>
                                    <p:animEffect transition="in" filter="wipe(left)">
                                      <p:cBhvr>
                                        <p:cTn id="65" dur="500"/>
                                        <p:tgtEl>
                                          <p:spTgt spid="39960"/>
                                        </p:tgtEl>
                                      </p:cBhvr>
                                    </p:animEffect>
                                  </p:childTnLst>
                                </p:cTn>
                              </p:par>
                            </p:childTnLst>
                          </p:cTn>
                        </p:par>
                      </p:childTnLst>
                    </p:cTn>
                  </p:par>
                  <p:par>
                    <p:cTn id="66" fill="hold">
                      <p:stCondLst>
                        <p:cond delay="indefinite"/>
                      </p:stCondLst>
                      <p:childTnLst>
                        <p:par>
                          <p:cTn id="67" fill="hold">
                            <p:stCondLst>
                              <p:cond delay="0"/>
                            </p:stCondLst>
                            <p:childTnLst>
                              <p:par>
                                <p:cTn id="68" presetID="14" presetClass="entr" presetSubtype="10" fill="hold" nodeType="clickEffect">
                                  <p:stCondLst>
                                    <p:cond delay="0"/>
                                  </p:stCondLst>
                                  <p:childTnLst>
                                    <p:set>
                                      <p:cBhvr>
                                        <p:cTn id="69" dur="1" fill="hold">
                                          <p:stCondLst>
                                            <p:cond delay="0"/>
                                          </p:stCondLst>
                                        </p:cTn>
                                        <p:tgtEl>
                                          <p:spTgt spid="39965"/>
                                        </p:tgtEl>
                                        <p:attrNameLst>
                                          <p:attrName>style.visibility</p:attrName>
                                        </p:attrNameLst>
                                      </p:cBhvr>
                                      <p:to>
                                        <p:strVal val="visible"/>
                                      </p:to>
                                    </p:set>
                                    <p:animEffect transition="in" filter="randombar(horizontal)">
                                      <p:cBhvr>
                                        <p:cTn id="70" dur="500"/>
                                        <p:tgtEl>
                                          <p:spTgt spid="39965"/>
                                        </p:tgtEl>
                                      </p:cBhvr>
                                    </p:animEffect>
                                  </p:childTnLst>
                                </p:cTn>
                              </p:par>
                              <p:par>
                                <p:cTn id="71" presetID="22" presetClass="entr" presetSubtype="4" fill="hold" nodeType="withEffect">
                                  <p:stCondLst>
                                    <p:cond delay="0"/>
                                  </p:stCondLst>
                                  <p:childTnLst>
                                    <p:set>
                                      <p:cBhvr>
                                        <p:cTn id="72" dur="1" fill="hold">
                                          <p:stCondLst>
                                            <p:cond delay="0"/>
                                          </p:stCondLst>
                                        </p:cTn>
                                        <p:tgtEl>
                                          <p:spTgt spid="39961"/>
                                        </p:tgtEl>
                                        <p:attrNameLst>
                                          <p:attrName>style.visibility</p:attrName>
                                        </p:attrNameLst>
                                      </p:cBhvr>
                                      <p:to>
                                        <p:strVal val="visible"/>
                                      </p:to>
                                    </p:set>
                                    <p:animEffect transition="in" filter="wipe(down)">
                                      <p:cBhvr>
                                        <p:cTn id="73" dur="500"/>
                                        <p:tgtEl>
                                          <p:spTgt spid="39961"/>
                                        </p:tgtEl>
                                      </p:cBhvr>
                                    </p:animEffect>
                                  </p:childTnLst>
                                </p:cTn>
                              </p:par>
                            </p:childTnLst>
                          </p:cTn>
                        </p:par>
                      </p:childTnLst>
                    </p:cTn>
                  </p:par>
                  <p:par>
                    <p:cTn id="74" fill="hold">
                      <p:stCondLst>
                        <p:cond delay="indefinite"/>
                      </p:stCondLst>
                      <p:childTnLst>
                        <p:par>
                          <p:cTn id="75" fill="hold">
                            <p:stCondLst>
                              <p:cond delay="0"/>
                            </p:stCondLst>
                            <p:childTnLst>
                              <p:par>
                                <p:cTn id="76" presetID="14" presetClass="entr" presetSubtype="10" fill="hold" nodeType="clickEffect">
                                  <p:stCondLst>
                                    <p:cond delay="0"/>
                                  </p:stCondLst>
                                  <p:childTnLst>
                                    <p:set>
                                      <p:cBhvr>
                                        <p:cTn id="77" dur="1" fill="hold">
                                          <p:stCondLst>
                                            <p:cond delay="0"/>
                                          </p:stCondLst>
                                        </p:cTn>
                                        <p:tgtEl>
                                          <p:spTgt spid="39983"/>
                                        </p:tgtEl>
                                        <p:attrNameLst>
                                          <p:attrName>style.visibility</p:attrName>
                                        </p:attrNameLst>
                                      </p:cBhvr>
                                      <p:to>
                                        <p:strVal val="visible"/>
                                      </p:to>
                                    </p:set>
                                    <p:animEffect transition="in" filter="randombar(horizontal)">
                                      <p:cBhvr>
                                        <p:cTn id="78" dur="500"/>
                                        <p:tgtEl>
                                          <p:spTgt spid="39983"/>
                                        </p:tgtEl>
                                      </p:cBhvr>
                                    </p:animEffect>
                                  </p:childTnLst>
                                </p:cTn>
                              </p:par>
                              <p:par>
                                <p:cTn id="79" presetID="14" presetClass="entr" presetSubtype="10" fill="hold" nodeType="withEffect">
                                  <p:stCondLst>
                                    <p:cond delay="0"/>
                                  </p:stCondLst>
                                  <p:childTnLst>
                                    <p:set>
                                      <p:cBhvr>
                                        <p:cTn id="80" dur="1" fill="hold">
                                          <p:stCondLst>
                                            <p:cond delay="0"/>
                                          </p:stCondLst>
                                        </p:cTn>
                                        <p:tgtEl>
                                          <p:spTgt spid="39984"/>
                                        </p:tgtEl>
                                        <p:attrNameLst>
                                          <p:attrName>style.visibility</p:attrName>
                                        </p:attrNameLst>
                                      </p:cBhvr>
                                      <p:to>
                                        <p:strVal val="visible"/>
                                      </p:to>
                                    </p:set>
                                    <p:animEffect transition="in" filter="randombar(horizontal)">
                                      <p:cBhvr>
                                        <p:cTn id="81" dur="500"/>
                                        <p:tgtEl>
                                          <p:spTgt spid="39984"/>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39980"/>
                                        </p:tgtEl>
                                        <p:attrNameLst>
                                          <p:attrName>style.visibility</p:attrName>
                                        </p:attrNameLst>
                                      </p:cBhvr>
                                      <p:to>
                                        <p:strVal val="visible"/>
                                      </p:to>
                                    </p:set>
                                    <p:animEffect transition="in" filter="wipe(left)">
                                      <p:cBhvr>
                                        <p:cTn id="86" dur="500"/>
                                        <p:tgtEl>
                                          <p:spTgt spid="39980"/>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4" fill="hold" nodeType="clickEffect">
                                  <p:stCondLst>
                                    <p:cond delay="0"/>
                                  </p:stCondLst>
                                  <p:childTnLst>
                                    <p:set>
                                      <p:cBhvr>
                                        <p:cTn id="90" dur="1" fill="hold">
                                          <p:stCondLst>
                                            <p:cond delay="0"/>
                                          </p:stCondLst>
                                        </p:cTn>
                                        <p:tgtEl>
                                          <p:spTgt spid="39982"/>
                                        </p:tgtEl>
                                        <p:attrNameLst>
                                          <p:attrName>style.visibility</p:attrName>
                                        </p:attrNameLst>
                                      </p:cBhvr>
                                      <p:to>
                                        <p:strVal val="visible"/>
                                      </p:to>
                                    </p:set>
                                    <p:animEffect transition="in" filter="wipe(down)">
                                      <p:cBhvr>
                                        <p:cTn id="91" dur="500"/>
                                        <p:tgtEl>
                                          <p:spTgt spid="39982"/>
                                        </p:tgtEl>
                                      </p:cBhvr>
                                    </p:animEffect>
                                  </p:childTnLst>
                                </p:cTn>
                              </p:par>
                            </p:childTnLst>
                          </p:cTn>
                        </p:par>
                      </p:childTnLst>
                    </p:cTn>
                  </p:par>
                  <p:par>
                    <p:cTn id="92" fill="hold">
                      <p:stCondLst>
                        <p:cond delay="indefinite"/>
                      </p:stCondLst>
                      <p:childTnLst>
                        <p:par>
                          <p:cTn id="93" fill="hold">
                            <p:stCondLst>
                              <p:cond delay="0"/>
                            </p:stCondLst>
                            <p:childTnLst>
                              <p:par>
                                <p:cTn id="94" presetID="14" presetClass="entr" presetSubtype="10" fill="hold" nodeType="clickEffect">
                                  <p:stCondLst>
                                    <p:cond delay="0"/>
                                  </p:stCondLst>
                                  <p:childTnLst>
                                    <p:set>
                                      <p:cBhvr>
                                        <p:cTn id="95" dur="1" fill="hold">
                                          <p:stCondLst>
                                            <p:cond delay="0"/>
                                          </p:stCondLst>
                                        </p:cTn>
                                        <p:tgtEl>
                                          <p:spTgt spid="39950"/>
                                        </p:tgtEl>
                                        <p:attrNameLst>
                                          <p:attrName>style.visibility</p:attrName>
                                        </p:attrNameLst>
                                      </p:cBhvr>
                                      <p:to>
                                        <p:strVal val="visible"/>
                                      </p:to>
                                    </p:set>
                                    <p:animEffect transition="in" filter="randombar(horizontal)">
                                      <p:cBhvr>
                                        <p:cTn id="96" dur="500"/>
                                        <p:tgtEl>
                                          <p:spTgt spid="39950"/>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39973"/>
                                        </p:tgtEl>
                                        <p:attrNameLst>
                                          <p:attrName>style.visibility</p:attrName>
                                        </p:attrNameLst>
                                      </p:cBhvr>
                                      <p:to>
                                        <p:strVal val="visible"/>
                                      </p:to>
                                    </p:set>
                                    <p:animEffect transition="in" filter="wipe(left)">
                                      <p:cBhvr>
                                        <p:cTn id="101" dur="500"/>
                                        <p:tgtEl>
                                          <p:spTgt spid="39973"/>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4" fill="hold" nodeType="clickEffect">
                                  <p:stCondLst>
                                    <p:cond delay="0"/>
                                  </p:stCondLst>
                                  <p:childTnLst>
                                    <p:set>
                                      <p:cBhvr>
                                        <p:cTn id="105" dur="1" fill="hold">
                                          <p:stCondLst>
                                            <p:cond delay="0"/>
                                          </p:stCondLst>
                                        </p:cTn>
                                        <p:tgtEl>
                                          <p:spTgt spid="39972"/>
                                        </p:tgtEl>
                                        <p:attrNameLst>
                                          <p:attrName>style.visibility</p:attrName>
                                        </p:attrNameLst>
                                      </p:cBhvr>
                                      <p:to>
                                        <p:strVal val="visible"/>
                                      </p:to>
                                    </p:set>
                                    <p:animEffect transition="in" filter="wipe(down)">
                                      <p:cBhvr>
                                        <p:cTn id="106" dur="500"/>
                                        <p:tgtEl>
                                          <p:spTgt spid="39972"/>
                                        </p:tgtEl>
                                      </p:cBhvr>
                                    </p:animEffect>
                                  </p:childTnLst>
                                </p:cTn>
                              </p:par>
                            </p:childTnLst>
                          </p:cTn>
                        </p:par>
                        <p:par>
                          <p:cTn id="107" fill="hold">
                            <p:stCondLst>
                              <p:cond delay="500"/>
                            </p:stCondLst>
                            <p:childTnLst>
                              <p:par>
                                <p:cTn id="108" presetID="14" presetClass="entr" presetSubtype="10" fill="hold" nodeType="afterEffect">
                                  <p:stCondLst>
                                    <p:cond delay="0"/>
                                  </p:stCondLst>
                                  <p:childTnLst>
                                    <p:set>
                                      <p:cBhvr>
                                        <p:cTn id="109" dur="1" fill="hold">
                                          <p:stCondLst>
                                            <p:cond delay="0"/>
                                          </p:stCondLst>
                                        </p:cTn>
                                        <p:tgtEl>
                                          <p:spTgt spid="39975"/>
                                        </p:tgtEl>
                                        <p:attrNameLst>
                                          <p:attrName>style.visibility</p:attrName>
                                        </p:attrNameLst>
                                      </p:cBhvr>
                                      <p:to>
                                        <p:strVal val="visible"/>
                                      </p:to>
                                    </p:set>
                                    <p:animEffect transition="in" filter="randombar(horizontal)">
                                      <p:cBhvr>
                                        <p:cTn id="110" dur="500"/>
                                        <p:tgtEl>
                                          <p:spTgt spid="39975"/>
                                        </p:tgtEl>
                                      </p:cBhvr>
                                    </p:animEffect>
                                  </p:childTnLst>
                                </p:cTn>
                              </p:par>
                            </p:childTnLst>
                          </p:cTn>
                        </p:par>
                      </p:childTnLst>
                    </p:cTn>
                  </p:par>
                  <p:par>
                    <p:cTn id="111" fill="hold">
                      <p:stCondLst>
                        <p:cond delay="indefinite"/>
                      </p:stCondLst>
                      <p:childTnLst>
                        <p:par>
                          <p:cTn id="112" fill="hold">
                            <p:stCondLst>
                              <p:cond delay="0"/>
                            </p:stCondLst>
                            <p:childTnLst>
                              <p:par>
                                <p:cTn id="113" presetID="14" presetClass="entr" presetSubtype="10" fill="hold" nodeType="clickEffect">
                                  <p:stCondLst>
                                    <p:cond delay="0"/>
                                  </p:stCondLst>
                                  <p:childTnLst>
                                    <p:set>
                                      <p:cBhvr>
                                        <p:cTn id="114" dur="1" fill="hold">
                                          <p:stCondLst>
                                            <p:cond delay="0"/>
                                          </p:stCondLst>
                                        </p:cTn>
                                        <p:tgtEl>
                                          <p:spTgt spid="39974"/>
                                        </p:tgtEl>
                                        <p:attrNameLst>
                                          <p:attrName>style.visibility</p:attrName>
                                        </p:attrNameLst>
                                      </p:cBhvr>
                                      <p:to>
                                        <p:strVal val="visible"/>
                                      </p:to>
                                    </p:set>
                                    <p:animEffect transition="in" filter="randombar(horizontal)">
                                      <p:cBhvr>
                                        <p:cTn id="115" dur="500"/>
                                        <p:tgtEl>
                                          <p:spTgt spid="39974"/>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2" fill="hold" nodeType="clickEffect">
                                  <p:stCondLst>
                                    <p:cond delay="0"/>
                                  </p:stCondLst>
                                  <p:childTnLst>
                                    <p:set>
                                      <p:cBhvr>
                                        <p:cTn id="119" dur="1" fill="hold">
                                          <p:stCondLst>
                                            <p:cond delay="0"/>
                                          </p:stCondLst>
                                        </p:cTn>
                                        <p:tgtEl>
                                          <p:spTgt spid="39970"/>
                                        </p:tgtEl>
                                        <p:attrNameLst>
                                          <p:attrName>style.visibility</p:attrName>
                                        </p:attrNameLst>
                                      </p:cBhvr>
                                      <p:to>
                                        <p:strVal val="visible"/>
                                      </p:to>
                                    </p:set>
                                    <p:animEffect transition="in" filter="wipe(right)">
                                      <p:cBhvr>
                                        <p:cTn id="120" dur="500"/>
                                        <p:tgtEl>
                                          <p:spTgt spid="39970"/>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4" fill="hold" nodeType="clickEffect">
                                  <p:stCondLst>
                                    <p:cond delay="0"/>
                                  </p:stCondLst>
                                  <p:childTnLst>
                                    <p:set>
                                      <p:cBhvr>
                                        <p:cTn id="124" dur="1" fill="hold">
                                          <p:stCondLst>
                                            <p:cond delay="0"/>
                                          </p:stCondLst>
                                        </p:cTn>
                                        <p:tgtEl>
                                          <p:spTgt spid="39969"/>
                                        </p:tgtEl>
                                        <p:attrNameLst>
                                          <p:attrName>style.visibility</p:attrName>
                                        </p:attrNameLst>
                                      </p:cBhvr>
                                      <p:to>
                                        <p:strVal val="visible"/>
                                      </p:to>
                                    </p:set>
                                    <p:animEffect transition="in" filter="wipe(down)">
                                      <p:cBhvr>
                                        <p:cTn id="125" dur="500"/>
                                        <p:tgtEl>
                                          <p:spTgt spid="39969"/>
                                        </p:tgtEl>
                                      </p:cBhvr>
                                    </p:animEffect>
                                  </p:childTnLst>
                                </p:cTn>
                              </p:par>
                            </p:childTnLst>
                          </p:cTn>
                        </p:par>
                        <p:par>
                          <p:cTn id="126" fill="hold">
                            <p:stCondLst>
                              <p:cond delay="500"/>
                            </p:stCondLst>
                            <p:childTnLst>
                              <p:par>
                                <p:cTn id="127" presetID="14" presetClass="entr" presetSubtype="10" fill="hold" nodeType="afterEffect">
                                  <p:stCondLst>
                                    <p:cond delay="0"/>
                                  </p:stCondLst>
                                  <p:childTnLst>
                                    <p:set>
                                      <p:cBhvr>
                                        <p:cTn id="128" dur="1" fill="hold">
                                          <p:stCondLst>
                                            <p:cond delay="0"/>
                                          </p:stCondLst>
                                        </p:cTn>
                                        <p:tgtEl>
                                          <p:spTgt spid="39971"/>
                                        </p:tgtEl>
                                        <p:attrNameLst>
                                          <p:attrName>style.visibility</p:attrName>
                                        </p:attrNameLst>
                                      </p:cBhvr>
                                      <p:to>
                                        <p:strVal val="visible"/>
                                      </p:to>
                                    </p:set>
                                    <p:animEffect transition="in" filter="randombar(horizontal)">
                                      <p:cBhvr>
                                        <p:cTn id="129" dur="500"/>
                                        <p:tgtEl>
                                          <p:spTgt spid="39971"/>
                                        </p:tgtEl>
                                      </p:cBhvr>
                                    </p:animEffect>
                                  </p:childTnLst>
                                </p:cTn>
                              </p:par>
                            </p:childTnLst>
                          </p:cTn>
                        </p:par>
                      </p:childTnLst>
                    </p:cTn>
                  </p:par>
                  <p:par>
                    <p:cTn id="130" fill="hold">
                      <p:stCondLst>
                        <p:cond delay="indefinite"/>
                      </p:stCondLst>
                      <p:childTnLst>
                        <p:par>
                          <p:cTn id="131" fill="hold">
                            <p:stCondLst>
                              <p:cond delay="0"/>
                            </p:stCondLst>
                            <p:childTnLst>
                              <p:par>
                                <p:cTn id="132" presetID="14" presetClass="entr" presetSubtype="10" fill="hold" nodeType="clickEffect">
                                  <p:stCondLst>
                                    <p:cond delay="0"/>
                                  </p:stCondLst>
                                  <p:childTnLst>
                                    <p:set>
                                      <p:cBhvr>
                                        <p:cTn id="133" dur="1" fill="hold">
                                          <p:stCondLst>
                                            <p:cond delay="0"/>
                                          </p:stCondLst>
                                        </p:cTn>
                                        <p:tgtEl>
                                          <p:spTgt spid="39967"/>
                                        </p:tgtEl>
                                        <p:attrNameLst>
                                          <p:attrName>style.visibility</p:attrName>
                                        </p:attrNameLst>
                                      </p:cBhvr>
                                      <p:to>
                                        <p:strVal val="visible"/>
                                      </p:to>
                                    </p:set>
                                    <p:animEffect transition="in" filter="randombar(horizontal)">
                                      <p:cBhvr>
                                        <p:cTn id="134" dur="500"/>
                                        <p:tgtEl>
                                          <p:spTgt spid="39967"/>
                                        </p:tgtEl>
                                      </p:cBhvr>
                                    </p:animEffect>
                                  </p:childTnLst>
                                </p:cTn>
                              </p:par>
                              <p:par>
                                <p:cTn id="135" presetID="22" presetClass="entr" presetSubtype="1" fill="hold" nodeType="withEffect">
                                  <p:stCondLst>
                                    <p:cond delay="0"/>
                                  </p:stCondLst>
                                  <p:childTnLst>
                                    <p:set>
                                      <p:cBhvr>
                                        <p:cTn id="136" dur="1" fill="hold">
                                          <p:stCondLst>
                                            <p:cond delay="0"/>
                                          </p:stCondLst>
                                        </p:cTn>
                                        <p:tgtEl>
                                          <p:spTgt spid="34861"/>
                                        </p:tgtEl>
                                        <p:attrNameLst>
                                          <p:attrName>style.visibility</p:attrName>
                                        </p:attrNameLst>
                                      </p:cBhvr>
                                      <p:to>
                                        <p:strVal val="visible"/>
                                      </p:to>
                                    </p:set>
                                    <p:animEffect transition="in" filter="wipe(up)">
                                      <p:cBhvr>
                                        <p:cTn id="137" dur="500"/>
                                        <p:tgtEl>
                                          <p:spTgt spid="348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9" name="Object 5"/>
          <p:cNvGraphicFramePr>
            <a:graphicFrameLocks noChangeAspect="1"/>
          </p:cNvGraphicFramePr>
          <p:nvPr/>
        </p:nvGraphicFramePr>
        <p:xfrm>
          <a:off x="4110038" y="4857750"/>
          <a:ext cx="247650" cy="236538"/>
        </p:xfrm>
        <a:graphic>
          <a:graphicData uri="http://schemas.openxmlformats.org/presentationml/2006/ole">
            <mc:AlternateContent xmlns:mc="http://schemas.openxmlformats.org/markup-compatibility/2006">
              <mc:Choice xmlns:v="urn:schemas-microsoft-com:vml" Requires="v">
                <p:oleObj spid="_x0000_s198877" r:id="rId4" imgW="166037" imgH="166037" progId="">
                  <p:embed/>
                </p:oleObj>
              </mc:Choice>
              <mc:Fallback>
                <p:oleObj r:id="rId4" imgW="166037" imgH="166037"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0038" y="4857750"/>
                        <a:ext cx="247650" cy="236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0991" name="直接连接符 12"/>
          <p:cNvCxnSpPr>
            <a:cxnSpLocks noChangeShapeType="1"/>
          </p:cNvCxnSpPr>
          <p:nvPr/>
        </p:nvCxnSpPr>
        <p:spPr bwMode="auto">
          <a:xfrm>
            <a:off x="1738313" y="3160712"/>
            <a:ext cx="2297112" cy="1770063"/>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40993" name="直接箭头连接符 5"/>
          <p:cNvCxnSpPr>
            <a:cxnSpLocks noChangeShapeType="1"/>
          </p:cNvCxnSpPr>
          <p:nvPr/>
        </p:nvCxnSpPr>
        <p:spPr bwMode="auto">
          <a:xfrm>
            <a:off x="1277938" y="5373687"/>
            <a:ext cx="3694112"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40994" name="直接箭头连接符 8"/>
          <p:cNvCxnSpPr>
            <a:cxnSpLocks noChangeShapeType="1"/>
          </p:cNvCxnSpPr>
          <p:nvPr/>
        </p:nvCxnSpPr>
        <p:spPr bwMode="auto">
          <a:xfrm rot="5400000" flipH="1" flipV="1">
            <a:off x="-233362" y="3860794"/>
            <a:ext cx="3024187"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40995" name="直接连接符 13"/>
          <p:cNvCxnSpPr>
            <a:cxnSpLocks noChangeShapeType="1"/>
          </p:cNvCxnSpPr>
          <p:nvPr/>
        </p:nvCxnSpPr>
        <p:spPr bwMode="auto">
          <a:xfrm rot="5400000" flipH="1" flipV="1">
            <a:off x="1739895" y="3402007"/>
            <a:ext cx="2138363" cy="919163"/>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40996" name="直接连接符 28"/>
          <p:cNvCxnSpPr>
            <a:cxnSpLocks noChangeShapeType="1"/>
          </p:cNvCxnSpPr>
          <p:nvPr/>
        </p:nvCxnSpPr>
        <p:spPr bwMode="auto">
          <a:xfrm>
            <a:off x="1277938" y="3971925"/>
            <a:ext cx="1531937"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40997" name="直接连接符 36"/>
          <p:cNvCxnSpPr>
            <a:cxnSpLocks noChangeShapeType="1"/>
          </p:cNvCxnSpPr>
          <p:nvPr/>
        </p:nvCxnSpPr>
        <p:spPr bwMode="auto">
          <a:xfrm rot="5400000">
            <a:off x="2107406" y="4698206"/>
            <a:ext cx="1335088" cy="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0998" name="Object 14"/>
          <p:cNvGraphicFramePr>
            <a:graphicFrameLocks noChangeAspect="1"/>
          </p:cNvGraphicFramePr>
          <p:nvPr/>
        </p:nvGraphicFramePr>
        <p:xfrm>
          <a:off x="971550" y="5447404"/>
          <a:ext cx="227991" cy="255698"/>
        </p:xfrm>
        <a:graphic>
          <a:graphicData uri="http://schemas.openxmlformats.org/presentationml/2006/ole">
            <mc:AlternateContent xmlns:mc="http://schemas.openxmlformats.org/markup-compatibility/2006">
              <mc:Choice xmlns:v="urn:schemas-microsoft-com:vml" Requires="v">
                <p:oleObj spid="_x0000_s198878" r:id="rId6" imgW="153198" imgH="178731" progId="">
                  <p:embed/>
                </p:oleObj>
              </mc:Choice>
              <mc:Fallback>
                <p:oleObj r:id="rId6" imgW="153198" imgH="178731" progId="">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1550" y="5447404"/>
                        <a:ext cx="227991" cy="255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99" name="Object 15"/>
          <p:cNvGraphicFramePr>
            <a:graphicFrameLocks noChangeAspect="1"/>
          </p:cNvGraphicFramePr>
          <p:nvPr/>
        </p:nvGraphicFramePr>
        <p:xfrm>
          <a:off x="971550" y="2349500"/>
          <a:ext cx="228600" cy="238125"/>
        </p:xfrm>
        <a:graphic>
          <a:graphicData uri="http://schemas.openxmlformats.org/presentationml/2006/ole">
            <mc:AlternateContent xmlns:mc="http://schemas.openxmlformats.org/markup-compatibility/2006">
              <mc:Choice xmlns:v="urn:schemas-microsoft-com:vml" Requires="v">
                <p:oleObj spid="_x0000_s198879" r:id="rId8" imgW="153332" imgH="166109" progId="">
                  <p:embed/>
                </p:oleObj>
              </mc:Choice>
              <mc:Fallback>
                <p:oleObj r:id="rId8" imgW="153332" imgH="166109" progId="">
                  <p:embed/>
                  <p:pic>
                    <p:nvPicPr>
                      <p:cNvPr id="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71550" y="2349500"/>
                        <a:ext cx="228600" cy="23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00" name="Object 16"/>
          <p:cNvGraphicFramePr>
            <a:graphicFrameLocks noChangeAspect="1"/>
          </p:cNvGraphicFramePr>
          <p:nvPr/>
        </p:nvGraphicFramePr>
        <p:xfrm>
          <a:off x="4729596" y="5442324"/>
          <a:ext cx="227991" cy="293397"/>
        </p:xfrm>
        <a:graphic>
          <a:graphicData uri="http://schemas.openxmlformats.org/presentationml/2006/ole">
            <mc:AlternateContent xmlns:mc="http://schemas.openxmlformats.org/markup-compatibility/2006">
              <mc:Choice xmlns:v="urn:schemas-microsoft-com:vml" Requires="v">
                <p:oleObj spid="_x0000_s198880" r:id="rId10" imgW="153332" imgH="204442" progId="">
                  <p:embed/>
                </p:oleObj>
              </mc:Choice>
              <mc:Fallback>
                <p:oleObj r:id="rId10" imgW="153332" imgH="204442" progId="">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29596" y="5442324"/>
                        <a:ext cx="227991" cy="293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01" name="Object 17"/>
          <p:cNvGraphicFramePr>
            <a:graphicFrameLocks noChangeAspect="1"/>
          </p:cNvGraphicFramePr>
          <p:nvPr/>
        </p:nvGraphicFramePr>
        <p:xfrm>
          <a:off x="971550" y="3824693"/>
          <a:ext cx="227991" cy="331096"/>
        </p:xfrm>
        <a:graphic>
          <a:graphicData uri="http://schemas.openxmlformats.org/presentationml/2006/ole">
            <mc:AlternateContent xmlns:mc="http://schemas.openxmlformats.org/markup-compatibility/2006">
              <mc:Choice xmlns:v="urn:schemas-microsoft-com:vml" Requires="v">
                <p:oleObj spid="_x0000_s198881" r:id="rId12" imgW="153131" imgH="229697" progId="">
                  <p:embed/>
                </p:oleObj>
              </mc:Choice>
              <mc:Fallback>
                <p:oleObj r:id="rId12" imgW="153131" imgH="229697" progId="">
                  <p:embed/>
                  <p:pic>
                    <p:nvPicPr>
                      <p:cNvPr id="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71550" y="3824693"/>
                        <a:ext cx="227991" cy="33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02" name="Object 18"/>
          <p:cNvGraphicFramePr>
            <a:graphicFrameLocks noChangeAspect="1"/>
          </p:cNvGraphicFramePr>
          <p:nvPr/>
        </p:nvGraphicFramePr>
        <p:xfrm>
          <a:off x="2885665" y="3677174"/>
          <a:ext cx="265422" cy="331096"/>
        </p:xfrm>
        <a:graphic>
          <a:graphicData uri="http://schemas.openxmlformats.org/presentationml/2006/ole">
            <mc:AlternateContent xmlns:mc="http://schemas.openxmlformats.org/markup-compatibility/2006">
              <mc:Choice xmlns:v="urn:schemas-microsoft-com:vml" Requires="v">
                <p:oleObj spid="_x0000_s198882" r:id="rId14" imgW="178497" imgH="229496" progId="">
                  <p:embed/>
                </p:oleObj>
              </mc:Choice>
              <mc:Fallback>
                <p:oleObj r:id="rId14" imgW="178497" imgH="229496" progId="">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85665" y="3677174"/>
                        <a:ext cx="265422" cy="33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03" name="Object 19"/>
          <p:cNvGraphicFramePr>
            <a:graphicFrameLocks noChangeAspect="1"/>
          </p:cNvGraphicFramePr>
          <p:nvPr/>
        </p:nvGraphicFramePr>
        <p:xfrm>
          <a:off x="2655972" y="5447404"/>
          <a:ext cx="265422" cy="331096"/>
        </p:xfrm>
        <a:graphic>
          <a:graphicData uri="http://schemas.openxmlformats.org/presentationml/2006/ole">
            <mc:AlternateContent xmlns:mc="http://schemas.openxmlformats.org/markup-compatibility/2006">
              <mc:Choice xmlns:v="urn:schemas-microsoft-com:vml" Requires="v">
                <p:oleObj spid="_x0000_s198883" r:id="rId16" imgW="178497" imgH="229496" progId="">
                  <p:embed/>
                </p:oleObj>
              </mc:Choice>
              <mc:Fallback>
                <p:oleObj r:id="rId16" imgW="178497" imgH="229496" progId="">
                  <p:embed/>
                  <p:pic>
                    <p:nvPicPr>
                      <p:cNvPr id="0" name="Object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655972" y="5447404"/>
                        <a:ext cx="265422" cy="33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04" name="Object 20"/>
          <p:cNvGraphicFramePr>
            <a:graphicFrameLocks noChangeAspect="1"/>
          </p:cNvGraphicFramePr>
          <p:nvPr/>
        </p:nvGraphicFramePr>
        <p:xfrm>
          <a:off x="3148294" y="2483966"/>
          <a:ext cx="246707" cy="331096"/>
        </p:xfrm>
        <a:graphic>
          <a:graphicData uri="http://schemas.openxmlformats.org/presentationml/2006/ole">
            <mc:AlternateContent xmlns:mc="http://schemas.openxmlformats.org/markup-compatibility/2006">
              <mc:Choice xmlns:v="urn:schemas-microsoft-com:vml" Requires="v">
                <p:oleObj spid="_x0000_s198884" r:id="rId18" imgW="165820" imgH="229597" progId="">
                  <p:embed/>
                </p:oleObj>
              </mc:Choice>
              <mc:Fallback>
                <p:oleObj r:id="rId18" imgW="165820" imgH="229597" progId="">
                  <p:embed/>
                  <p:pic>
                    <p:nvPicPr>
                      <p:cNvPr id="0" name="Object 2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148294" y="2483966"/>
                        <a:ext cx="246707" cy="33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0980" name="直接连接符 38"/>
          <p:cNvCxnSpPr>
            <a:cxnSpLocks noChangeShapeType="1"/>
          </p:cNvCxnSpPr>
          <p:nvPr/>
        </p:nvCxnSpPr>
        <p:spPr bwMode="auto">
          <a:xfrm rot="5400000">
            <a:off x="2799552" y="4895050"/>
            <a:ext cx="958850"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40982" name="直接连接符 14"/>
          <p:cNvCxnSpPr>
            <a:cxnSpLocks noChangeShapeType="1"/>
          </p:cNvCxnSpPr>
          <p:nvPr/>
        </p:nvCxnSpPr>
        <p:spPr bwMode="auto">
          <a:xfrm rot="5400000" flipH="1" flipV="1">
            <a:off x="2428082" y="3477418"/>
            <a:ext cx="2063750" cy="842963"/>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40983" name="直接连接符 32"/>
          <p:cNvCxnSpPr>
            <a:cxnSpLocks noChangeShapeType="1"/>
          </p:cNvCxnSpPr>
          <p:nvPr/>
        </p:nvCxnSpPr>
        <p:spPr bwMode="auto">
          <a:xfrm>
            <a:off x="1277938" y="4341812"/>
            <a:ext cx="1990725"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0984" name="Object 26"/>
          <p:cNvGraphicFramePr>
            <a:graphicFrameLocks noChangeAspect="1"/>
          </p:cNvGraphicFramePr>
          <p:nvPr/>
        </p:nvGraphicFramePr>
        <p:xfrm>
          <a:off x="971550" y="4193490"/>
          <a:ext cx="246702" cy="331096"/>
        </p:xfrm>
        <a:graphic>
          <a:graphicData uri="http://schemas.openxmlformats.org/presentationml/2006/ole">
            <mc:AlternateContent xmlns:mc="http://schemas.openxmlformats.org/markup-compatibility/2006">
              <mc:Choice xmlns:v="urn:schemas-microsoft-com:vml" Requires="v">
                <p:oleObj spid="_x0000_s198885" r:id="rId20" imgW="165820" imgH="229597" progId="">
                  <p:embed/>
                </p:oleObj>
              </mc:Choice>
              <mc:Fallback>
                <p:oleObj r:id="rId20" imgW="165820" imgH="229597" progId="">
                  <p:embed/>
                  <p:pic>
                    <p:nvPicPr>
                      <p:cNvPr id="0" name="Object 2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71550" y="4193490"/>
                        <a:ext cx="246702" cy="33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85" name="Object 27"/>
          <p:cNvGraphicFramePr>
            <a:graphicFrameLocks noChangeAspect="1"/>
          </p:cNvGraphicFramePr>
          <p:nvPr/>
        </p:nvGraphicFramePr>
        <p:xfrm>
          <a:off x="3421063" y="4119563"/>
          <a:ext cx="285750" cy="331787"/>
        </p:xfrm>
        <a:graphic>
          <a:graphicData uri="http://schemas.openxmlformats.org/presentationml/2006/ole">
            <mc:AlternateContent xmlns:mc="http://schemas.openxmlformats.org/markup-compatibility/2006">
              <mc:Choice xmlns:v="urn:schemas-microsoft-com:vml" Requires="v">
                <p:oleObj spid="_x0000_s198886" r:id="rId22" imgW="191414" imgH="229697" progId="">
                  <p:embed/>
                </p:oleObj>
              </mc:Choice>
              <mc:Fallback>
                <p:oleObj r:id="rId22" imgW="191414" imgH="229697" progId="">
                  <p:embed/>
                  <p:pic>
                    <p:nvPicPr>
                      <p:cNvPr id="0" name="Object 2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421063" y="4119563"/>
                        <a:ext cx="285750" cy="33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86" name="Object 28"/>
          <p:cNvGraphicFramePr>
            <a:graphicFrameLocks noChangeAspect="1"/>
          </p:cNvGraphicFramePr>
          <p:nvPr/>
        </p:nvGraphicFramePr>
        <p:xfrm>
          <a:off x="3191888" y="5447404"/>
          <a:ext cx="285834" cy="331096"/>
        </p:xfrm>
        <a:graphic>
          <a:graphicData uri="http://schemas.openxmlformats.org/presentationml/2006/ole">
            <mc:AlternateContent xmlns:mc="http://schemas.openxmlformats.org/markup-compatibility/2006">
              <mc:Choice xmlns:v="urn:schemas-microsoft-com:vml" Requires="v">
                <p:oleObj spid="_x0000_s198887" r:id="rId24" imgW="191414" imgH="229697" progId="">
                  <p:embed/>
                </p:oleObj>
              </mc:Choice>
              <mc:Fallback>
                <p:oleObj r:id="rId24" imgW="191414" imgH="229697" progId="">
                  <p:embed/>
                  <p:pic>
                    <p:nvPicPr>
                      <p:cNvPr id="0" name="Object 2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191888" y="5447404"/>
                        <a:ext cx="285834" cy="33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87" name="Object 29"/>
          <p:cNvGraphicFramePr>
            <a:graphicFrameLocks noChangeAspect="1"/>
          </p:cNvGraphicFramePr>
          <p:nvPr/>
        </p:nvGraphicFramePr>
        <p:xfrm>
          <a:off x="3795407" y="2483971"/>
          <a:ext cx="265418" cy="331096"/>
        </p:xfrm>
        <a:graphic>
          <a:graphicData uri="http://schemas.openxmlformats.org/presentationml/2006/ole">
            <mc:AlternateContent xmlns:mc="http://schemas.openxmlformats.org/markup-compatibility/2006">
              <mc:Choice xmlns:v="urn:schemas-microsoft-com:vml" Requires="v">
                <p:oleObj spid="_x0000_s198888" r:id="rId26" imgW="178497" imgH="229496" progId="">
                  <p:embed/>
                </p:oleObj>
              </mc:Choice>
              <mc:Fallback>
                <p:oleObj r:id="rId26" imgW="178497" imgH="229496" progId="">
                  <p:embed/>
                  <p:pic>
                    <p:nvPicPr>
                      <p:cNvPr id="0" name="Object 29"/>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795407" y="2483971"/>
                        <a:ext cx="265418" cy="33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0988" name="直接箭头连接符 72"/>
          <p:cNvCxnSpPr>
            <a:cxnSpLocks noChangeShapeType="1"/>
          </p:cNvCxnSpPr>
          <p:nvPr/>
        </p:nvCxnSpPr>
        <p:spPr bwMode="auto">
          <a:xfrm>
            <a:off x="3190875" y="3235325"/>
            <a:ext cx="384175" cy="1587"/>
          </a:xfrm>
          <a:prstGeom prst="straightConnector1">
            <a:avLst/>
          </a:prstGeom>
          <a:noFill/>
          <a:ln w="25400">
            <a:solidFill>
              <a:srgbClr val="A7C804"/>
            </a:solidFill>
            <a:round/>
            <a:headEnd/>
            <a:tailEnd type="arrow" w="med" len="med"/>
          </a:ln>
          <a:effectLst>
            <a:outerShdw dist="20000" dir="5400000" algn="ctr" rotWithShape="0">
              <a:srgbClr val="000000">
                <a:alpha val="31998"/>
              </a:srgbClr>
            </a:outerShdw>
          </a:effectLst>
          <a:extLst>
            <a:ext uri="{909E8E84-426E-40DD-AFC4-6F175D3DCCD1}">
              <a14:hiddenFill xmlns:a14="http://schemas.microsoft.com/office/drawing/2010/main">
                <a:noFill/>
              </a14:hiddenFill>
            </a:ext>
          </a:extLst>
        </p:spPr>
      </p:cxnSp>
      <p:cxnSp>
        <p:nvCxnSpPr>
          <p:cNvPr id="40971" name="直接连接符 26"/>
          <p:cNvCxnSpPr>
            <a:cxnSpLocks noChangeShapeType="1"/>
          </p:cNvCxnSpPr>
          <p:nvPr/>
        </p:nvCxnSpPr>
        <p:spPr bwMode="auto">
          <a:xfrm>
            <a:off x="1277938" y="3543300"/>
            <a:ext cx="989012" cy="17462"/>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40973" name="直接连接符 10"/>
          <p:cNvCxnSpPr>
            <a:cxnSpLocks noChangeShapeType="1"/>
          </p:cNvCxnSpPr>
          <p:nvPr/>
        </p:nvCxnSpPr>
        <p:spPr bwMode="auto">
          <a:xfrm rot="5400000" flipH="1" flipV="1">
            <a:off x="1050920" y="3402006"/>
            <a:ext cx="2138363" cy="919163"/>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40974" name="直接连接符 34"/>
          <p:cNvCxnSpPr>
            <a:cxnSpLocks noChangeShapeType="1"/>
          </p:cNvCxnSpPr>
          <p:nvPr/>
        </p:nvCxnSpPr>
        <p:spPr bwMode="auto">
          <a:xfrm rot="5400000">
            <a:off x="1333495" y="4452932"/>
            <a:ext cx="1843088"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0975" name="Object 36"/>
          <p:cNvGraphicFramePr>
            <a:graphicFrameLocks noChangeAspect="1"/>
          </p:cNvGraphicFramePr>
          <p:nvPr/>
        </p:nvGraphicFramePr>
        <p:xfrm>
          <a:off x="971550" y="3382134"/>
          <a:ext cx="246705" cy="331096"/>
        </p:xfrm>
        <a:graphic>
          <a:graphicData uri="http://schemas.openxmlformats.org/presentationml/2006/ole">
            <mc:AlternateContent xmlns:mc="http://schemas.openxmlformats.org/markup-compatibility/2006">
              <mc:Choice xmlns:v="urn:schemas-microsoft-com:vml" Requires="v">
                <p:oleObj spid="_x0000_s198889" r:id="rId28" imgW="165820" imgH="229597" progId="">
                  <p:embed/>
                </p:oleObj>
              </mc:Choice>
              <mc:Fallback>
                <p:oleObj r:id="rId28" imgW="165820" imgH="229597" progId="">
                  <p:embed/>
                  <p:pic>
                    <p:nvPicPr>
                      <p:cNvPr id="0" name="Object 3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971550" y="3382134"/>
                        <a:ext cx="246705" cy="33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76" name="Object 37"/>
          <p:cNvGraphicFramePr>
            <a:graphicFrameLocks noChangeAspect="1"/>
          </p:cNvGraphicFramePr>
          <p:nvPr/>
        </p:nvGraphicFramePr>
        <p:xfrm>
          <a:off x="2349712" y="3308375"/>
          <a:ext cx="285839" cy="331096"/>
        </p:xfrm>
        <a:graphic>
          <a:graphicData uri="http://schemas.openxmlformats.org/presentationml/2006/ole">
            <mc:AlternateContent xmlns:mc="http://schemas.openxmlformats.org/markup-compatibility/2006">
              <mc:Choice xmlns:v="urn:schemas-microsoft-com:vml" Requires="v">
                <p:oleObj spid="_x0000_s198890" r:id="rId30" imgW="191414" imgH="229697" progId="">
                  <p:embed/>
                </p:oleObj>
              </mc:Choice>
              <mc:Fallback>
                <p:oleObj r:id="rId30" imgW="191414" imgH="229697" progId="">
                  <p:embed/>
                  <p:pic>
                    <p:nvPicPr>
                      <p:cNvPr id="0" name="Object 37"/>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349712" y="3308375"/>
                        <a:ext cx="285839" cy="33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77" name="Object 38"/>
          <p:cNvGraphicFramePr>
            <a:graphicFrameLocks noChangeAspect="1"/>
          </p:cNvGraphicFramePr>
          <p:nvPr/>
        </p:nvGraphicFramePr>
        <p:xfrm>
          <a:off x="2120019" y="5447404"/>
          <a:ext cx="285839" cy="331096"/>
        </p:xfrm>
        <a:graphic>
          <a:graphicData uri="http://schemas.openxmlformats.org/presentationml/2006/ole">
            <mc:AlternateContent xmlns:mc="http://schemas.openxmlformats.org/markup-compatibility/2006">
              <mc:Choice xmlns:v="urn:schemas-microsoft-com:vml" Requires="v">
                <p:oleObj spid="_x0000_s198891" r:id="rId32" imgW="191414" imgH="229697" progId="">
                  <p:embed/>
                </p:oleObj>
              </mc:Choice>
              <mc:Fallback>
                <p:oleObj r:id="rId32" imgW="191414" imgH="229697" progId="">
                  <p:embed/>
                  <p:pic>
                    <p:nvPicPr>
                      <p:cNvPr id="0" name="Object 38"/>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120019" y="5447404"/>
                        <a:ext cx="285839" cy="33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78" name="Object 39"/>
          <p:cNvGraphicFramePr>
            <a:graphicFrameLocks noChangeAspect="1"/>
          </p:cNvGraphicFramePr>
          <p:nvPr/>
        </p:nvGraphicFramePr>
        <p:xfrm>
          <a:off x="2442332" y="2483971"/>
          <a:ext cx="265422" cy="331096"/>
        </p:xfrm>
        <a:graphic>
          <a:graphicData uri="http://schemas.openxmlformats.org/presentationml/2006/ole">
            <mc:AlternateContent xmlns:mc="http://schemas.openxmlformats.org/markup-compatibility/2006">
              <mc:Choice xmlns:v="urn:schemas-microsoft-com:vml" Requires="v">
                <p:oleObj spid="_x0000_s198892" r:id="rId34" imgW="178497" imgH="229496" progId="">
                  <p:embed/>
                </p:oleObj>
              </mc:Choice>
              <mc:Fallback>
                <p:oleObj r:id="rId34" imgW="178497" imgH="229496" progId="">
                  <p:embed/>
                  <p:pic>
                    <p:nvPicPr>
                      <p:cNvPr id="0" name="Object 39"/>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442332" y="2483971"/>
                        <a:ext cx="265422" cy="33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0979" name="直接箭头连接符 74"/>
          <p:cNvCxnSpPr>
            <a:cxnSpLocks noChangeShapeType="1"/>
          </p:cNvCxnSpPr>
          <p:nvPr/>
        </p:nvCxnSpPr>
        <p:spPr bwMode="auto">
          <a:xfrm rot="10800000">
            <a:off x="2503488" y="3235325"/>
            <a:ext cx="382587" cy="0"/>
          </a:xfrm>
          <a:prstGeom prst="straightConnector1">
            <a:avLst/>
          </a:prstGeom>
          <a:noFill/>
          <a:ln w="25400">
            <a:solidFill>
              <a:srgbClr val="A7C804"/>
            </a:solidFill>
            <a:round/>
            <a:headEnd/>
            <a:tailEnd type="arrow" w="med" len="med"/>
          </a:ln>
          <a:effectLst>
            <a:outerShdw dist="20000" dir="5400000" algn="ctr" rotWithShape="0">
              <a:srgbClr val="000000">
                <a:alpha val="31998"/>
              </a:srgbClr>
            </a:outerShdw>
          </a:effectLst>
          <a:extLst>
            <a:ext uri="{909E8E84-426E-40DD-AFC4-6F175D3DCCD1}">
              <a14:hiddenFill xmlns:a14="http://schemas.microsoft.com/office/drawing/2010/main">
                <a:noFill/>
              </a14:hiddenFill>
            </a:ext>
          </a:extLst>
        </p:spPr>
      </p:cxnSp>
      <p:grpSp>
        <p:nvGrpSpPr>
          <p:cNvPr id="35881" name="组合 9"/>
          <p:cNvGrpSpPr>
            <a:grpSpLocks/>
          </p:cNvGrpSpPr>
          <p:nvPr/>
        </p:nvGrpSpPr>
        <p:grpSpPr bwMode="auto">
          <a:xfrm>
            <a:off x="4417351" y="3040747"/>
            <a:ext cx="4462424" cy="2062163"/>
            <a:chOff x="0" y="0"/>
            <a:chExt cx="4710674" cy="2497339"/>
          </a:xfrm>
        </p:grpSpPr>
        <p:sp>
          <p:nvSpPr>
            <p:cNvPr id="40966" name="圆角矩形 42"/>
            <p:cNvSpPr>
              <a:spLocks noChangeArrowheads="1"/>
            </p:cNvSpPr>
            <p:nvPr/>
          </p:nvSpPr>
          <p:spPr bwMode="auto">
            <a:xfrm>
              <a:off x="0" y="0"/>
              <a:ext cx="4710674" cy="2408753"/>
            </a:xfrm>
            <a:prstGeom prst="roundRect">
              <a:avLst>
                <a:gd name="adj" fmla="val 16667"/>
              </a:avLst>
            </a:prstGeom>
            <a:solidFill>
              <a:srgbClr val="F3C97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40967" name="TextBox 3"/>
            <p:cNvSpPr txBox="1">
              <a:spLocks noChangeArrowheads="1"/>
            </p:cNvSpPr>
            <p:nvPr/>
          </p:nvSpPr>
          <p:spPr bwMode="auto">
            <a:xfrm>
              <a:off x="208307" y="115254"/>
              <a:ext cx="4319586" cy="2382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lnSpc>
                  <a:spcPct val="150000"/>
                </a:lnSpc>
                <a:spcBef>
                  <a:spcPct val="0"/>
                </a:spcBef>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供给增加</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solidFill>
                    <a:schemeClr val="tx1"/>
                  </a:solidFill>
                  <a:latin typeface="微软雅黑" panose="020B0503020204020204" pitchFamily="34" charset="-122"/>
                  <a:ea typeface="微软雅黑" panose="020B0503020204020204" pitchFamily="34" charset="-122"/>
                </a:rPr>
                <a:t>供给曲线水平右移</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S&gt;DP↓</a:t>
              </a: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solidFill>
                    <a:schemeClr val="tx1"/>
                  </a:solidFill>
                  <a:latin typeface="微软雅黑" panose="020B0503020204020204" pitchFamily="34" charset="-122"/>
                  <a:ea typeface="微软雅黑" panose="020B0503020204020204" pitchFamily="34" charset="-122"/>
                </a:rPr>
                <a:t>均衡由</a:t>
              </a:r>
              <a:r>
                <a:rPr lang="en-US" altLang="zh-CN" sz="1800" b="0" dirty="0">
                  <a:solidFill>
                    <a:schemeClr val="tx1"/>
                  </a:solidFill>
                </a:rPr>
                <a:t>E</a:t>
              </a:r>
              <a:r>
                <a:rPr lang="en-US" altLang="zh-CN" sz="1800" b="0" baseline="-25000" dirty="0">
                  <a:solidFill>
                    <a:schemeClr val="tx1"/>
                  </a:solidFill>
                </a:rPr>
                <a:t>1</a:t>
              </a:r>
              <a:r>
                <a:rPr lang="zh-CN" altLang="en-US" sz="1800" b="0" dirty="0">
                  <a:solidFill>
                    <a:schemeClr val="tx1"/>
                  </a:solidFill>
                  <a:latin typeface="微软雅黑" panose="020B0503020204020204" pitchFamily="34" charset="-122"/>
                  <a:ea typeface="微软雅黑" panose="020B0503020204020204" pitchFamily="34" charset="-122"/>
                </a:rPr>
                <a:t>变为</a:t>
              </a:r>
              <a:r>
                <a:rPr lang="en-US" altLang="zh-CN" sz="1800" b="0" dirty="0">
                  <a:solidFill>
                    <a:schemeClr val="tx1"/>
                  </a:solidFill>
                </a:rPr>
                <a:t>E</a:t>
              </a:r>
              <a:r>
                <a:rPr lang="en-US" altLang="zh-CN" sz="1800" b="0" baseline="-25000" dirty="0">
                  <a:solidFill>
                    <a:schemeClr val="tx1"/>
                  </a:solidFill>
                </a:rPr>
                <a:t>2</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342900" indent="-342900" eaLnBrk="1" hangingPunct="1">
                <a:lnSpc>
                  <a:spcPct val="150000"/>
                </a:lnSpc>
                <a:spcBef>
                  <a:spcPct val="0"/>
                </a:spcBef>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供给减少</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solidFill>
                    <a:schemeClr val="tx1"/>
                  </a:solidFill>
                  <a:latin typeface="微软雅黑" panose="020B0503020204020204" pitchFamily="34" charset="-122"/>
                  <a:ea typeface="微软雅黑" panose="020B0503020204020204" pitchFamily="34" charset="-122"/>
                </a:rPr>
                <a:t>供给曲线水平左移</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S&lt;DP↑</a:t>
              </a:r>
              <a:r>
                <a:rPr lang="zh-CN" altLang="en-US"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solidFill>
                    <a:schemeClr val="tx1"/>
                  </a:solidFill>
                  <a:latin typeface="微软雅黑" panose="020B0503020204020204" pitchFamily="34" charset="-122"/>
                  <a:ea typeface="微软雅黑" panose="020B0503020204020204" pitchFamily="34" charset="-122"/>
                </a:rPr>
                <a:t>均衡由</a:t>
              </a:r>
              <a:r>
                <a:rPr lang="en-US" altLang="zh-CN" sz="1800" b="0" dirty="0">
                  <a:solidFill>
                    <a:schemeClr val="tx1"/>
                  </a:solidFill>
                </a:rPr>
                <a:t>E</a:t>
              </a:r>
              <a:r>
                <a:rPr lang="en-US" altLang="zh-CN" sz="1800" b="0" baseline="-25000" dirty="0">
                  <a:solidFill>
                    <a:schemeClr val="tx1"/>
                  </a:solidFill>
                </a:rPr>
                <a:t>1</a:t>
              </a:r>
              <a:r>
                <a:rPr lang="zh-CN" altLang="en-US" sz="1800" b="0" dirty="0">
                  <a:solidFill>
                    <a:schemeClr val="tx1"/>
                  </a:solidFill>
                  <a:latin typeface="微软雅黑" panose="020B0503020204020204" pitchFamily="34" charset="-122"/>
                  <a:ea typeface="微软雅黑" panose="020B0503020204020204" pitchFamily="34" charset="-122"/>
                </a:rPr>
                <a:t>变为</a:t>
              </a:r>
              <a:r>
                <a:rPr lang="en-US" altLang="zh-CN" sz="1800" b="0" dirty="0">
                  <a:solidFill>
                    <a:schemeClr val="tx1"/>
                  </a:solidFill>
                </a:rPr>
                <a:t>E</a:t>
              </a:r>
              <a:r>
                <a:rPr lang="en-US" altLang="zh-CN" sz="1800" b="0" baseline="-25000" dirty="0">
                  <a:solidFill>
                    <a:schemeClr val="tx1"/>
                  </a:solidFill>
                </a:rPr>
                <a:t>3</a:t>
              </a:r>
              <a:r>
                <a:rPr lang="zh-CN" altLang="en-US" sz="1800" b="0" dirty="0">
                  <a:solidFill>
                    <a:schemeClr val="tx1"/>
                  </a:solidFill>
                  <a:latin typeface="微软雅黑" panose="020B0503020204020204" pitchFamily="34" charset="-122"/>
                  <a:ea typeface="微软雅黑" panose="020B0503020204020204" pitchFamily="34" charset="-122"/>
                </a:rPr>
                <a:t>。</a:t>
              </a:r>
            </a:p>
            <a:p>
              <a:pPr eaLnBrk="1" hangingPunct="1">
                <a:lnSpc>
                  <a:spcPct val="150000"/>
                </a:lnSpc>
                <a:spcBef>
                  <a:spcPct val="0"/>
                </a:spcBef>
                <a:buFontTx/>
                <a:buNone/>
              </a:pPr>
              <a:endParaRPr lang="zh-CN" altLang="en-US" sz="1800" b="0" dirty="0">
                <a:solidFill>
                  <a:schemeClr val="tx1"/>
                </a:solidFill>
                <a:latin typeface="微软雅黑" panose="020B0503020204020204" pitchFamily="34" charset="-122"/>
                <a:ea typeface="微软雅黑" panose="020B0503020204020204" pitchFamily="34" charset="-122"/>
              </a:endParaRPr>
            </a:p>
          </p:txBody>
        </p:sp>
      </p:grpSp>
      <p:sp>
        <p:nvSpPr>
          <p:cNvPr id="46" name="矩形 45">
            <a:extLst>
              <a:ext uri="{FF2B5EF4-FFF2-40B4-BE49-F238E27FC236}">
                <a16:creationId xmlns:a16="http://schemas.microsoft.com/office/drawing/2014/main" id="{99A861F3-1BF5-4FA4-A7CE-A93F6E99B7C4}"/>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p:sp>
        <p:nvSpPr>
          <p:cNvPr id="47" name="矩形 46">
            <a:extLst>
              <a:ext uri="{FF2B5EF4-FFF2-40B4-BE49-F238E27FC236}">
                <a16:creationId xmlns:a16="http://schemas.microsoft.com/office/drawing/2014/main" id="{F68E5273-CD77-47B9-B841-9D29349C133D}"/>
              </a:ext>
            </a:extLst>
          </p:cNvPr>
          <p:cNvSpPr/>
          <p:nvPr/>
        </p:nvSpPr>
        <p:spPr>
          <a:xfrm>
            <a:off x="467543" y="548680"/>
            <a:ext cx="3162141"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三、市场均衡的变动 </a:t>
            </a:r>
          </a:p>
        </p:txBody>
      </p:sp>
      <p:sp>
        <p:nvSpPr>
          <p:cNvPr id="48" name="Rectangle 3"/>
          <p:cNvSpPr txBox="1">
            <a:spLocks noChangeArrowheads="1"/>
          </p:cNvSpPr>
          <p:nvPr/>
        </p:nvSpPr>
        <p:spPr bwMode="auto">
          <a:xfrm>
            <a:off x="34925" y="1400075"/>
            <a:ext cx="8229600" cy="503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eaLnBrk="1" hangingPunct="1">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 供给变动对市场均衡的影响</a:t>
            </a: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
                                            <p:txEl>
                                              <p:pRg st="0" end="0"/>
                                            </p:txEl>
                                          </p:spTgt>
                                        </p:tgtEl>
                                        <p:attrNameLst>
                                          <p:attrName>style.visibility</p:attrName>
                                        </p:attrNameLst>
                                      </p:cBhvr>
                                      <p:to>
                                        <p:strVal val="visible"/>
                                      </p:to>
                                    </p:set>
                                    <p:animEffect transition="in" filter="wipe(left)">
                                      <p:cBhvr>
                                        <p:cTn id="7" dur="500"/>
                                        <p:tgtEl>
                                          <p:spTgt spid="4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0998"/>
                                        </p:tgtEl>
                                        <p:attrNameLst>
                                          <p:attrName>style.visibility</p:attrName>
                                        </p:attrNameLst>
                                      </p:cBhvr>
                                      <p:to>
                                        <p:strVal val="visible"/>
                                      </p:to>
                                    </p:set>
                                    <p:animEffect transition="in" filter="randombar(horizontal)">
                                      <p:cBhvr>
                                        <p:cTn id="12" dur="500"/>
                                        <p:tgtEl>
                                          <p:spTgt spid="4099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0993"/>
                                        </p:tgtEl>
                                        <p:attrNameLst>
                                          <p:attrName>style.visibility</p:attrName>
                                        </p:attrNameLst>
                                      </p:cBhvr>
                                      <p:to>
                                        <p:strVal val="visible"/>
                                      </p:to>
                                    </p:set>
                                    <p:animEffect transition="in" filter="wipe(left)">
                                      <p:cBhvr>
                                        <p:cTn id="17" dur="500"/>
                                        <p:tgtEl>
                                          <p:spTgt spid="40993"/>
                                        </p:tgtEl>
                                      </p:cBhvr>
                                    </p:animEffect>
                                  </p:childTnLst>
                                </p:cTn>
                              </p:par>
                              <p:par>
                                <p:cTn id="18" presetID="22" presetClass="entr" presetSubtype="4" fill="hold" nodeType="withEffect">
                                  <p:stCondLst>
                                    <p:cond delay="0"/>
                                  </p:stCondLst>
                                  <p:childTnLst>
                                    <p:set>
                                      <p:cBhvr>
                                        <p:cTn id="19" dur="1" fill="hold">
                                          <p:stCondLst>
                                            <p:cond delay="0"/>
                                          </p:stCondLst>
                                        </p:cTn>
                                        <p:tgtEl>
                                          <p:spTgt spid="40994"/>
                                        </p:tgtEl>
                                        <p:attrNameLst>
                                          <p:attrName>style.visibility</p:attrName>
                                        </p:attrNameLst>
                                      </p:cBhvr>
                                      <p:to>
                                        <p:strVal val="visible"/>
                                      </p:to>
                                    </p:set>
                                    <p:animEffect transition="in" filter="wipe(down)">
                                      <p:cBhvr>
                                        <p:cTn id="20" dur="500"/>
                                        <p:tgtEl>
                                          <p:spTgt spid="40994"/>
                                        </p:tgtEl>
                                      </p:cBhvr>
                                    </p:animEffect>
                                  </p:childTnLst>
                                </p:cTn>
                              </p:par>
                            </p:childTnLst>
                          </p:cTn>
                        </p:par>
                        <p:par>
                          <p:cTn id="21" fill="hold">
                            <p:stCondLst>
                              <p:cond delay="500"/>
                            </p:stCondLst>
                            <p:childTnLst>
                              <p:par>
                                <p:cTn id="22" presetID="14" presetClass="entr" presetSubtype="10" fill="hold" nodeType="afterEffect">
                                  <p:stCondLst>
                                    <p:cond delay="0"/>
                                  </p:stCondLst>
                                  <p:childTnLst>
                                    <p:set>
                                      <p:cBhvr>
                                        <p:cTn id="23" dur="1" fill="hold">
                                          <p:stCondLst>
                                            <p:cond delay="0"/>
                                          </p:stCondLst>
                                        </p:cTn>
                                        <p:tgtEl>
                                          <p:spTgt spid="41000"/>
                                        </p:tgtEl>
                                        <p:attrNameLst>
                                          <p:attrName>style.visibility</p:attrName>
                                        </p:attrNameLst>
                                      </p:cBhvr>
                                      <p:to>
                                        <p:strVal val="visible"/>
                                      </p:to>
                                    </p:set>
                                    <p:animEffect transition="in" filter="randombar(horizontal)">
                                      <p:cBhvr>
                                        <p:cTn id="24" dur="500"/>
                                        <p:tgtEl>
                                          <p:spTgt spid="41000"/>
                                        </p:tgtEl>
                                      </p:cBhvr>
                                    </p:animEffect>
                                  </p:childTnLst>
                                </p:cTn>
                              </p:par>
                            </p:childTnLst>
                          </p:cTn>
                        </p:par>
                        <p:par>
                          <p:cTn id="25" fill="hold">
                            <p:stCondLst>
                              <p:cond delay="1000"/>
                            </p:stCondLst>
                            <p:childTnLst>
                              <p:par>
                                <p:cTn id="26" presetID="14" presetClass="entr" presetSubtype="10" fill="hold" nodeType="afterEffect">
                                  <p:stCondLst>
                                    <p:cond delay="0"/>
                                  </p:stCondLst>
                                  <p:childTnLst>
                                    <p:set>
                                      <p:cBhvr>
                                        <p:cTn id="27" dur="1" fill="hold">
                                          <p:stCondLst>
                                            <p:cond delay="0"/>
                                          </p:stCondLst>
                                        </p:cTn>
                                        <p:tgtEl>
                                          <p:spTgt spid="40999"/>
                                        </p:tgtEl>
                                        <p:attrNameLst>
                                          <p:attrName>style.visibility</p:attrName>
                                        </p:attrNameLst>
                                      </p:cBhvr>
                                      <p:to>
                                        <p:strVal val="visible"/>
                                      </p:to>
                                    </p:set>
                                    <p:animEffect transition="in" filter="randombar(horizontal)">
                                      <p:cBhvr>
                                        <p:cTn id="28" dur="500"/>
                                        <p:tgtEl>
                                          <p:spTgt spid="4099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40995"/>
                                        </p:tgtEl>
                                        <p:attrNameLst>
                                          <p:attrName>style.visibility</p:attrName>
                                        </p:attrNameLst>
                                      </p:cBhvr>
                                      <p:to>
                                        <p:strVal val="visible"/>
                                      </p:to>
                                    </p:set>
                                    <p:animEffect transition="in" filter="wipe(down)">
                                      <p:cBhvr>
                                        <p:cTn id="33" dur="500"/>
                                        <p:tgtEl>
                                          <p:spTgt spid="40995"/>
                                        </p:tgtEl>
                                      </p:cBhvr>
                                    </p:animEffect>
                                  </p:childTnLst>
                                </p:cTn>
                              </p:par>
                            </p:childTnLst>
                          </p:cTn>
                        </p:par>
                        <p:par>
                          <p:cTn id="34" fill="hold">
                            <p:stCondLst>
                              <p:cond delay="500"/>
                            </p:stCondLst>
                            <p:childTnLst>
                              <p:par>
                                <p:cTn id="35" presetID="14" presetClass="entr" presetSubtype="10" fill="hold" nodeType="afterEffect">
                                  <p:stCondLst>
                                    <p:cond delay="0"/>
                                  </p:stCondLst>
                                  <p:childTnLst>
                                    <p:set>
                                      <p:cBhvr>
                                        <p:cTn id="36" dur="1" fill="hold">
                                          <p:stCondLst>
                                            <p:cond delay="0"/>
                                          </p:stCondLst>
                                        </p:cTn>
                                        <p:tgtEl>
                                          <p:spTgt spid="41004"/>
                                        </p:tgtEl>
                                        <p:attrNameLst>
                                          <p:attrName>style.visibility</p:attrName>
                                        </p:attrNameLst>
                                      </p:cBhvr>
                                      <p:to>
                                        <p:strVal val="visible"/>
                                      </p:to>
                                    </p:set>
                                    <p:animEffect transition="in" filter="randombar(horizontal)">
                                      <p:cBhvr>
                                        <p:cTn id="37" dur="500"/>
                                        <p:tgtEl>
                                          <p:spTgt spid="4100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0991"/>
                                        </p:tgtEl>
                                        <p:attrNameLst>
                                          <p:attrName>style.visibility</p:attrName>
                                        </p:attrNameLst>
                                      </p:cBhvr>
                                      <p:to>
                                        <p:strVal val="visible"/>
                                      </p:to>
                                    </p:set>
                                    <p:animEffect transition="in" filter="wipe(left)">
                                      <p:cBhvr>
                                        <p:cTn id="42" dur="500"/>
                                        <p:tgtEl>
                                          <p:spTgt spid="40991"/>
                                        </p:tgtEl>
                                      </p:cBhvr>
                                    </p:animEffect>
                                  </p:childTnLst>
                                </p:cTn>
                              </p:par>
                            </p:childTnLst>
                          </p:cTn>
                        </p:par>
                        <p:par>
                          <p:cTn id="43" fill="hold">
                            <p:stCondLst>
                              <p:cond delay="500"/>
                            </p:stCondLst>
                            <p:childTnLst>
                              <p:par>
                                <p:cTn id="44" presetID="14" presetClass="entr" presetSubtype="10" fill="hold" nodeType="afterEffect">
                                  <p:stCondLst>
                                    <p:cond delay="0"/>
                                  </p:stCondLst>
                                  <p:childTnLst>
                                    <p:set>
                                      <p:cBhvr>
                                        <p:cTn id="45" dur="1" fill="hold">
                                          <p:stCondLst>
                                            <p:cond delay="0"/>
                                          </p:stCondLst>
                                        </p:cTn>
                                        <p:tgtEl>
                                          <p:spTgt spid="40989"/>
                                        </p:tgtEl>
                                        <p:attrNameLst>
                                          <p:attrName>style.visibility</p:attrName>
                                        </p:attrNameLst>
                                      </p:cBhvr>
                                      <p:to>
                                        <p:strVal val="visible"/>
                                      </p:to>
                                    </p:set>
                                    <p:animEffect transition="in" filter="randombar(horizontal)">
                                      <p:cBhvr>
                                        <p:cTn id="46" dur="500"/>
                                        <p:tgtEl>
                                          <p:spTgt spid="40989"/>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40975"/>
                                        </p:tgtEl>
                                        <p:attrNameLst>
                                          <p:attrName>style.visibility</p:attrName>
                                        </p:attrNameLst>
                                      </p:cBhvr>
                                      <p:to>
                                        <p:strVal val="visible"/>
                                      </p:to>
                                    </p:set>
                                    <p:animEffect transition="in" filter="randombar(horizontal)">
                                      <p:cBhvr>
                                        <p:cTn id="51" dur="500"/>
                                        <p:tgtEl>
                                          <p:spTgt spid="40975"/>
                                        </p:tgtEl>
                                      </p:cBhvr>
                                    </p:animEffect>
                                  </p:childTnLst>
                                </p:cTn>
                              </p:par>
                              <p:par>
                                <p:cTn id="52" presetID="14" presetClass="entr" presetSubtype="10" fill="hold" nodeType="withEffect">
                                  <p:stCondLst>
                                    <p:cond delay="0"/>
                                  </p:stCondLst>
                                  <p:childTnLst>
                                    <p:set>
                                      <p:cBhvr>
                                        <p:cTn id="53" dur="1" fill="hold">
                                          <p:stCondLst>
                                            <p:cond delay="0"/>
                                          </p:stCondLst>
                                        </p:cTn>
                                        <p:tgtEl>
                                          <p:spTgt spid="40977"/>
                                        </p:tgtEl>
                                        <p:attrNameLst>
                                          <p:attrName>style.visibility</p:attrName>
                                        </p:attrNameLst>
                                      </p:cBhvr>
                                      <p:to>
                                        <p:strVal val="visible"/>
                                      </p:to>
                                    </p:set>
                                    <p:animEffect transition="in" filter="randombar(horizontal)">
                                      <p:cBhvr>
                                        <p:cTn id="54" dur="500"/>
                                        <p:tgtEl>
                                          <p:spTgt spid="40977"/>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40971"/>
                                        </p:tgtEl>
                                        <p:attrNameLst>
                                          <p:attrName>style.visibility</p:attrName>
                                        </p:attrNameLst>
                                      </p:cBhvr>
                                      <p:to>
                                        <p:strVal val="visible"/>
                                      </p:to>
                                    </p:set>
                                    <p:animEffect transition="in" filter="wipe(left)">
                                      <p:cBhvr>
                                        <p:cTn id="58" dur="500"/>
                                        <p:tgtEl>
                                          <p:spTgt spid="40971"/>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40974"/>
                                        </p:tgtEl>
                                        <p:attrNameLst>
                                          <p:attrName>style.visibility</p:attrName>
                                        </p:attrNameLst>
                                      </p:cBhvr>
                                      <p:to>
                                        <p:strVal val="visible"/>
                                      </p:to>
                                    </p:set>
                                    <p:animEffect transition="in" filter="wipe(down)">
                                      <p:cBhvr>
                                        <p:cTn id="63" dur="500"/>
                                        <p:tgtEl>
                                          <p:spTgt spid="40974"/>
                                        </p:tgtEl>
                                      </p:cBhvr>
                                    </p:animEffect>
                                  </p:childTnLst>
                                </p:cTn>
                              </p:par>
                            </p:childTnLst>
                          </p:cTn>
                        </p:par>
                      </p:childTnLst>
                    </p:cTn>
                  </p:par>
                  <p:par>
                    <p:cTn id="64" fill="hold">
                      <p:stCondLst>
                        <p:cond delay="indefinite"/>
                      </p:stCondLst>
                      <p:childTnLst>
                        <p:par>
                          <p:cTn id="65" fill="hold">
                            <p:stCondLst>
                              <p:cond delay="0"/>
                            </p:stCondLst>
                            <p:childTnLst>
                              <p:par>
                                <p:cTn id="66" presetID="14" presetClass="entr" presetSubtype="10" fill="hold" nodeType="clickEffect">
                                  <p:stCondLst>
                                    <p:cond delay="0"/>
                                  </p:stCondLst>
                                  <p:childTnLst>
                                    <p:set>
                                      <p:cBhvr>
                                        <p:cTn id="67" dur="1" fill="hold">
                                          <p:stCondLst>
                                            <p:cond delay="0"/>
                                          </p:stCondLst>
                                        </p:cTn>
                                        <p:tgtEl>
                                          <p:spTgt spid="41001"/>
                                        </p:tgtEl>
                                        <p:attrNameLst>
                                          <p:attrName>style.visibility</p:attrName>
                                        </p:attrNameLst>
                                      </p:cBhvr>
                                      <p:to>
                                        <p:strVal val="visible"/>
                                      </p:to>
                                    </p:set>
                                    <p:animEffect transition="in" filter="randombar(horizontal)">
                                      <p:cBhvr>
                                        <p:cTn id="68" dur="500"/>
                                        <p:tgtEl>
                                          <p:spTgt spid="41001"/>
                                        </p:tgtEl>
                                      </p:cBhvr>
                                    </p:animEffect>
                                  </p:childTnLst>
                                </p:cTn>
                              </p:par>
                              <p:par>
                                <p:cTn id="69" presetID="14" presetClass="entr" presetSubtype="10" fill="hold" nodeType="withEffect">
                                  <p:stCondLst>
                                    <p:cond delay="0"/>
                                  </p:stCondLst>
                                  <p:childTnLst>
                                    <p:set>
                                      <p:cBhvr>
                                        <p:cTn id="70" dur="1" fill="hold">
                                          <p:stCondLst>
                                            <p:cond delay="0"/>
                                          </p:stCondLst>
                                        </p:cTn>
                                        <p:tgtEl>
                                          <p:spTgt spid="41003"/>
                                        </p:tgtEl>
                                        <p:attrNameLst>
                                          <p:attrName>style.visibility</p:attrName>
                                        </p:attrNameLst>
                                      </p:cBhvr>
                                      <p:to>
                                        <p:strVal val="visible"/>
                                      </p:to>
                                    </p:set>
                                    <p:animEffect transition="in" filter="randombar(horizontal)">
                                      <p:cBhvr>
                                        <p:cTn id="71" dur="500"/>
                                        <p:tgtEl>
                                          <p:spTgt spid="41003"/>
                                        </p:tgtEl>
                                      </p:cBhvr>
                                    </p:animEffect>
                                  </p:childTnLst>
                                </p:cTn>
                              </p:par>
                            </p:childTnLst>
                          </p:cTn>
                        </p:par>
                        <p:par>
                          <p:cTn id="72" fill="hold">
                            <p:stCondLst>
                              <p:cond delay="500"/>
                            </p:stCondLst>
                            <p:childTnLst>
                              <p:par>
                                <p:cTn id="73" presetID="22" presetClass="entr" presetSubtype="8" fill="hold" nodeType="afterEffect">
                                  <p:stCondLst>
                                    <p:cond delay="0"/>
                                  </p:stCondLst>
                                  <p:childTnLst>
                                    <p:set>
                                      <p:cBhvr>
                                        <p:cTn id="74" dur="1" fill="hold">
                                          <p:stCondLst>
                                            <p:cond delay="0"/>
                                          </p:stCondLst>
                                        </p:cTn>
                                        <p:tgtEl>
                                          <p:spTgt spid="40996"/>
                                        </p:tgtEl>
                                        <p:attrNameLst>
                                          <p:attrName>style.visibility</p:attrName>
                                        </p:attrNameLst>
                                      </p:cBhvr>
                                      <p:to>
                                        <p:strVal val="visible"/>
                                      </p:to>
                                    </p:set>
                                    <p:animEffect transition="in" filter="wipe(left)">
                                      <p:cBhvr>
                                        <p:cTn id="75" dur="500"/>
                                        <p:tgtEl>
                                          <p:spTgt spid="40996"/>
                                        </p:tgtEl>
                                      </p:cBhvr>
                                    </p:animEffect>
                                  </p:childTnLst>
                                </p:cTn>
                              </p:par>
                            </p:childTnLst>
                          </p:cTn>
                        </p:par>
                        <p:par>
                          <p:cTn id="76" fill="hold">
                            <p:stCondLst>
                              <p:cond delay="1000"/>
                            </p:stCondLst>
                            <p:childTnLst>
                              <p:par>
                                <p:cTn id="77" presetID="22" presetClass="entr" presetSubtype="4" fill="hold" nodeType="afterEffect">
                                  <p:stCondLst>
                                    <p:cond delay="0"/>
                                  </p:stCondLst>
                                  <p:childTnLst>
                                    <p:set>
                                      <p:cBhvr>
                                        <p:cTn id="78" dur="1" fill="hold">
                                          <p:stCondLst>
                                            <p:cond delay="0"/>
                                          </p:stCondLst>
                                        </p:cTn>
                                        <p:tgtEl>
                                          <p:spTgt spid="40997"/>
                                        </p:tgtEl>
                                        <p:attrNameLst>
                                          <p:attrName>style.visibility</p:attrName>
                                        </p:attrNameLst>
                                      </p:cBhvr>
                                      <p:to>
                                        <p:strVal val="visible"/>
                                      </p:to>
                                    </p:set>
                                    <p:animEffect transition="in" filter="wipe(down)">
                                      <p:cBhvr>
                                        <p:cTn id="79" dur="500"/>
                                        <p:tgtEl>
                                          <p:spTgt spid="40997"/>
                                        </p:tgtEl>
                                      </p:cBhvr>
                                    </p:animEffect>
                                  </p:childTnLst>
                                </p:cTn>
                              </p:par>
                            </p:childTnLst>
                          </p:cTn>
                        </p:par>
                      </p:childTnLst>
                    </p:cTn>
                  </p:par>
                  <p:par>
                    <p:cTn id="80" fill="hold">
                      <p:stCondLst>
                        <p:cond delay="indefinite"/>
                      </p:stCondLst>
                      <p:childTnLst>
                        <p:par>
                          <p:cTn id="81" fill="hold">
                            <p:stCondLst>
                              <p:cond delay="0"/>
                            </p:stCondLst>
                            <p:childTnLst>
                              <p:par>
                                <p:cTn id="82" presetID="14" presetClass="entr" presetSubtype="10" fill="hold" nodeType="clickEffect">
                                  <p:stCondLst>
                                    <p:cond delay="0"/>
                                  </p:stCondLst>
                                  <p:childTnLst>
                                    <p:set>
                                      <p:cBhvr>
                                        <p:cTn id="83" dur="1" fill="hold">
                                          <p:stCondLst>
                                            <p:cond delay="0"/>
                                          </p:stCondLst>
                                        </p:cTn>
                                        <p:tgtEl>
                                          <p:spTgt spid="40984"/>
                                        </p:tgtEl>
                                        <p:attrNameLst>
                                          <p:attrName>style.visibility</p:attrName>
                                        </p:attrNameLst>
                                      </p:cBhvr>
                                      <p:to>
                                        <p:strVal val="visible"/>
                                      </p:to>
                                    </p:set>
                                    <p:animEffect transition="in" filter="randombar(horizontal)">
                                      <p:cBhvr>
                                        <p:cTn id="84" dur="500"/>
                                        <p:tgtEl>
                                          <p:spTgt spid="40984"/>
                                        </p:tgtEl>
                                      </p:cBhvr>
                                    </p:animEffect>
                                  </p:childTnLst>
                                </p:cTn>
                              </p:par>
                              <p:par>
                                <p:cTn id="85" presetID="14" presetClass="entr" presetSubtype="10" fill="hold" nodeType="withEffect">
                                  <p:stCondLst>
                                    <p:cond delay="0"/>
                                  </p:stCondLst>
                                  <p:childTnLst>
                                    <p:set>
                                      <p:cBhvr>
                                        <p:cTn id="86" dur="1" fill="hold">
                                          <p:stCondLst>
                                            <p:cond delay="0"/>
                                          </p:stCondLst>
                                        </p:cTn>
                                        <p:tgtEl>
                                          <p:spTgt spid="40986"/>
                                        </p:tgtEl>
                                        <p:attrNameLst>
                                          <p:attrName>style.visibility</p:attrName>
                                        </p:attrNameLst>
                                      </p:cBhvr>
                                      <p:to>
                                        <p:strVal val="visible"/>
                                      </p:to>
                                    </p:set>
                                    <p:animEffect transition="in" filter="randombar(horizontal)">
                                      <p:cBhvr>
                                        <p:cTn id="87" dur="500"/>
                                        <p:tgtEl>
                                          <p:spTgt spid="40986"/>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40983"/>
                                        </p:tgtEl>
                                        <p:attrNameLst>
                                          <p:attrName>style.visibility</p:attrName>
                                        </p:attrNameLst>
                                      </p:cBhvr>
                                      <p:to>
                                        <p:strVal val="visible"/>
                                      </p:to>
                                    </p:set>
                                    <p:animEffect transition="in" filter="wipe(left)">
                                      <p:cBhvr>
                                        <p:cTn id="92" dur="500"/>
                                        <p:tgtEl>
                                          <p:spTgt spid="40983"/>
                                        </p:tgtEl>
                                      </p:cBhvr>
                                    </p:animEffect>
                                  </p:childTnLst>
                                </p:cTn>
                              </p:par>
                            </p:childTnLst>
                          </p:cTn>
                        </p:par>
                        <p:par>
                          <p:cTn id="93" fill="hold">
                            <p:stCondLst>
                              <p:cond delay="500"/>
                            </p:stCondLst>
                            <p:childTnLst>
                              <p:par>
                                <p:cTn id="94" presetID="22" presetClass="entr" presetSubtype="4" fill="hold" nodeType="afterEffect">
                                  <p:stCondLst>
                                    <p:cond delay="0"/>
                                  </p:stCondLst>
                                  <p:childTnLst>
                                    <p:set>
                                      <p:cBhvr>
                                        <p:cTn id="95" dur="1" fill="hold">
                                          <p:stCondLst>
                                            <p:cond delay="0"/>
                                          </p:stCondLst>
                                        </p:cTn>
                                        <p:tgtEl>
                                          <p:spTgt spid="40980"/>
                                        </p:tgtEl>
                                        <p:attrNameLst>
                                          <p:attrName>style.visibility</p:attrName>
                                        </p:attrNameLst>
                                      </p:cBhvr>
                                      <p:to>
                                        <p:strVal val="visible"/>
                                      </p:to>
                                    </p:set>
                                    <p:animEffect transition="in" filter="wipe(down)">
                                      <p:cBhvr>
                                        <p:cTn id="96" dur="500"/>
                                        <p:tgtEl>
                                          <p:spTgt spid="40980"/>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40988"/>
                                        </p:tgtEl>
                                        <p:attrNameLst>
                                          <p:attrName>style.visibility</p:attrName>
                                        </p:attrNameLst>
                                      </p:cBhvr>
                                      <p:to>
                                        <p:strVal val="visible"/>
                                      </p:to>
                                    </p:set>
                                    <p:animEffect transition="in" filter="wipe(left)">
                                      <p:cBhvr>
                                        <p:cTn id="101" dur="500"/>
                                        <p:tgtEl>
                                          <p:spTgt spid="40988"/>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4" fill="hold" nodeType="clickEffect">
                                  <p:stCondLst>
                                    <p:cond delay="0"/>
                                  </p:stCondLst>
                                  <p:childTnLst>
                                    <p:set>
                                      <p:cBhvr>
                                        <p:cTn id="105" dur="1" fill="hold">
                                          <p:stCondLst>
                                            <p:cond delay="0"/>
                                          </p:stCondLst>
                                        </p:cTn>
                                        <p:tgtEl>
                                          <p:spTgt spid="40982"/>
                                        </p:tgtEl>
                                        <p:attrNameLst>
                                          <p:attrName>style.visibility</p:attrName>
                                        </p:attrNameLst>
                                      </p:cBhvr>
                                      <p:to>
                                        <p:strVal val="visible"/>
                                      </p:to>
                                    </p:set>
                                    <p:animEffect transition="in" filter="wipe(down)">
                                      <p:cBhvr>
                                        <p:cTn id="106" dur="500"/>
                                        <p:tgtEl>
                                          <p:spTgt spid="40982"/>
                                        </p:tgtEl>
                                      </p:cBhvr>
                                    </p:animEffect>
                                  </p:childTnLst>
                                </p:cTn>
                              </p:par>
                            </p:childTnLst>
                          </p:cTn>
                        </p:par>
                        <p:par>
                          <p:cTn id="107" fill="hold">
                            <p:stCondLst>
                              <p:cond delay="500"/>
                            </p:stCondLst>
                            <p:childTnLst>
                              <p:par>
                                <p:cTn id="108" presetID="14" presetClass="entr" presetSubtype="10" fill="hold" nodeType="afterEffect">
                                  <p:stCondLst>
                                    <p:cond delay="0"/>
                                  </p:stCondLst>
                                  <p:childTnLst>
                                    <p:set>
                                      <p:cBhvr>
                                        <p:cTn id="109" dur="1" fill="hold">
                                          <p:stCondLst>
                                            <p:cond delay="0"/>
                                          </p:stCondLst>
                                        </p:cTn>
                                        <p:tgtEl>
                                          <p:spTgt spid="40987"/>
                                        </p:tgtEl>
                                        <p:attrNameLst>
                                          <p:attrName>style.visibility</p:attrName>
                                        </p:attrNameLst>
                                      </p:cBhvr>
                                      <p:to>
                                        <p:strVal val="visible"/>
                                      </p:to>
                                    </p:set>
                                    <p:animEffect transition="in" filter="randombar(horizontal)">
                                      <p:cBhvr>
                                        <p:cTn id="110" dur="500"/>
                                        <p:tgtEl>
                                          <p:spTgt spid="40987"/>
                                        </p:tgtEl>
                                      </p:cBhvr>
                                    </p:animEffect>
                                  </p:childTnLst>
                                </p:cTn>
                              </p:par>
                            </p:childTnLst>
                          </p:cTn>
                        </p:par>
                      </p:childTnLst>
                    </p:cTn>
                  </p:par>
                  <p:par>
                    <p:cTn id="111" fill="hold">
                      <p:stCondLst>
                        <p:cond delay="indefinite"/>
                      </p:stCondLst>
                      <p:childTnLst>
                        <p:par>
                          <p:cTn id="112" fill="hold">
                            <p:stCondLst>
                              <p:cond delay="0"/>
                            </p:stCondLst>
                            <p:childTnLst>
                              <p:par>
                                <p:cTn id="113" presetID="14" presetClass="entr" presetSubtype="10" fill="hold" nodeType="clickEffect">
                                  <p:stCondLst>
                                    <p:cond delay="0"/>
                                  </p:stCondLst>
                                  <p:childTnLst>
                                    <p:set>
                                      <p:cBhvr>
                                        <p:cTn id="114" dur="1" fill="hold">
                                          <p:stCondLst>
                                            <p:cond delay="0"/>
                                          </p:stCondLst>
                                        </p:cTn>
                                        <p:tgtEl>
                                          <p:spTgt spid="41002"/>
                                        </p:tgtEl>
                                        <p:attrNameLst>
                                          <p:attrName>style.visibility</p:attrName>
                                        </p:attrNameLst>
                                      </p:cBhvr>
                                      <p:to>
                                        <p:strVal val="visible"/>
                                      </p:to>
                                    </p:set>
                                    <p:animEffect transition="in" filter="randombar(horizontal)">
                                      <p:cBhvr>
                                        <p:cTn id="115" dur="500"/>
                                        <p:tgtEl>
                                          <p:spTgt spid="41002"/>
                                        </p:tgtEl>
                                      </p:cBhvr>
                                    </p:animEffect>
                                  </p:childTnLst>
                                </p:cTn>
                              </p:par>
                            </p:childTnLst>
                          </p:cTn>
                        </p:par>
                      </p:childTnLst>
                    </p:cTn>
                  </p:par>
                  <p:par>
                    <p:cTn id="116" fill="hold">
                      <p:stCondLst>
                        <p:cond delay="indefinite"/>
                      </p:stCondLst>
                      <p:childTnLst>
                        <p:par>
                          <p:cTn id="117" fill="hold">
                            <p:stCondLst>
                              <p:cond delay="0"/>
                            </p:stCondLst>
                            <p:childTnLst>
                              <p:par>
                                <p:cTn id="118" presetID="14" presetClass="entr" presetSubtype="10" fill="hold" nodeType="clickEffect">
                                  <p:stCondLst>
                                    <p:cond delay="0"/>
                                  </p:stCondLst>
                                  <p:childTnLst>
                                    <p:set>
                                      <p:cBhvr>
                                        <p:cTn id="119" dur="1" fill="hold">
                                          <p:stCondLst>
                                            <p:cond delay="0"/>
                                          </p:stCondLst>
                                        </p:cTn>
                                        <p:tgtEl>
                                          <p:spTgt spid="40985"/>
                                        </p:tgtEl>
                                        <p:attrNameLst>
                                          <p:attrName>style.visibility</p:attrName>
                                        </p:attrNameLst>
                                      </p:cBhvr>
                                      <p:to>
                                        <p:strVal val="visible"/>
                                      </p:to>
                                    </p:set>
                                    <p:animEffect transition="in" filter="randombar(horizontal)">
                                      <p:cBhvr>
                                        <p:cTn id="120" dur="500"/>
                                        <p:tgtEl>
                                          <p:spTgt spid="40985"/>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2" fill="hold" nodeType="clickEffect">
                                  <p:stCondLst>
                                    <p:cond delay="0"/>
                                  </p:stCondLst>
                                  <p:childTnLst>
                                    <p:set>
                                      <p:cBhvr>
                                        <p:cTn id="124" dur="1" fill="hold">
                                          <p:stCondLst>
                                            <p:cond delay="0"/>
                                          </p:stCondLst>
                                        </p:cTn>
                                        <p:tgtEl>
                                          <p:spTgt spid="40979"/>
                                        </p:tgtEl>
                                        <p:attrNameLst>
                                          <p:attrName>style.visibility</p:attrName>
                                        </p:attrNameLst>
                                      </p:cBhvr>
                                      <p:to>
                                        <p:strVal val="visible"/>
                                      </p:to>
                                    </p:set>
                                    <p:animEffect transition="in" filter="wipe(right)">
                                      <p:cBhvr>
                                        <p:cTn id="125" dur="500"/>
                                        <p:tgtEl>
                                          <p:spTgt spid="40979"/>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4" fill="hold" nodeType="clickEffect">
                                  <p:stCondLst>
                                    <p:cond delay="0"/>
                                  </p:stCondLst>
                                  <p:childTnLst>
                                    <p:set>
                                      <p:cBhvr>
                                        <p:cTn id="129" dur="1" fill="hold">
                                          <p:stCondLst>
                                            <p:cond delay="0"/>
                                          </p:stCondLst>
                                        </p:cTn>
                                        <p:tgtEl>
                                          <p:spTgt spid="40973"/>
                                        </p:tgtEl>
                                        <p:attrNameLst>
                                          <p:attrName>style.visibility</p:attrName>
                                        </p:attrNameLst>
                                      </p:cBhvr>
                                      <p:to>
                                        <p:strVal val="visible"/>
                                      </p:to>
                                    </p:set>
                                    <p:animEffect transition="in" filter="wipe(down)">
                                      <p:cBhvr>
                                        <p:cTn id="130" dur="500"/>
                                        <p:tgtEl>
                                          <p:spTgt spid="40973"/>
                                        </p:tgtEl>
                                      </p:cBhvr>
                                    </p:animEffect>
                                  </p:childTnLst>
                                </p:cTn>
                              </p:par>
                            </p:childTnLst>
                          </p:cTn>
                        </p:par>
                        <p:par>
                          <p:cTn id="131" fill="hold">
                            <p:stCondLst>
                              <p:cond delay="500"/>
                            </p:stCondLst>
                            <p:childTnLst>
                              <p:par>
                                <p:cTn id="132" presetID="14" presetClass="entr" presetSubtype="10" fill="hold" nodeType="afterEffect">
                                  <p:stCondLst>
                                    <p:cond delay="0"/>
                                  </p:stCondLst>
                                  <p:childTnLst>
                                    <p:set>
                                      <p:cBhvr>
                                        <p:cTn id="133" dur="1" fill="hold">
                                          <p:stCondLst>
                                            <p:cond delay="0"/>
                                          </p:stCondLst>
                                        </p:cTn>
                                        <p:tgtEl>
                                          <p:spTgt spid="40978"/>
                                        </p:tgtEl>
                                        <p:attrNameLst>
                                          <p:attrName>style.visibility</p:attrName>
                                        </p:attrNameLst>
                                      </p:cBhvr>
                                      <p:to>
                                        <p:strVal val="visible"/>
                                      </p:to>
                                    </p:set>
                                    <p:animEffect transition="in" filter="randombar(horizontal)">
                                      <p:cBhvr>
                                        <p:cTn id="134" dur="500"/>
                                        <p:tgtEl>
                                          <p:spTgt spid="40978"/>
                                        </p:tgtEl>
                                      </p:cBhvr>
                                    </p:animEffect>
                                  </p:childTnLst>
                                </p:cTn>
                              </p:par>
                            </p:childTnLst>
                          </p:cTn>
                        </p:par>
                      </p:childTnLst>
                    </p:cTn>
                  </p:par>
                  <p:par>
                    <p:cTn id="135" fill="hold">
                      <p:stCondLst>
                        <p:cond delay="indefinite"/>
                      </p:stCondLst>
                      <p:childTnLst>
                        <p:par>
                          <p:cTn id="136" fill="hold">
                            <p:stCondLst>
                              <p:cond delay="0"/>
                            </p:stCondLst>
                            <p:childTnLst>
                              <p:par>
                                <p:cTn id="137" presetID="14" presetClass="entr" presetSubtype="10" fill="hold" nodeType="clickEffect">
                                  <p:stCondLst>
                                    <p:cond delay="0"/>
                                  </p:stCondLst>
                                  <p:childTnLst>
                                    <p:set>
                                      <p:cBhvr>
                                        <p:cTn id="138" dur="1" fill="hold">
                                          <p:stCondLst>
                                            <p:cond delay="0"/>
                                          </p:stCondLst>
                                        </p:cTn>
                                        <p:tgtEl>
                                          <p:spTgt spid="40976"/>
                                        </p:tgtEl>
                                        <p:attrNameLst>
                                          <p:attrName>style.visibility</p:attrName>
                                        </p:attrNameLst>
                                      </p:cBhvr>
                                      <p:to>
                                        <p:strVal val="visible"/>
                                      </p:to>
                                    </p:set>
                                    <p:animEffect transition="in" filter="randombar(horizontal)">
                                      <p:cBhvr>
                                        <p:cTn id="139" dur="500"/>
                                        <p:tgtEl>
                                          <p:spTgt spid="40976"/>
                                        </p:tgtEl>
                                      </p:cBhvr>
                                    </p:animEffect>
                                  </p:childTnLst>
                                </p:cTn>
                              </p:par>
                            </p:childTnLst>
                          </p:cTn>
                        </p:par>
                        <p:par>
                          <p:cTn id="140" fill="hold">
                            <p:stCondLst>
                              <p:cond delay="500"/>
                            </p:stCondLst>
                            <p:childTnLst>
                              <p:par>
                                <p:cTn id="141" presetID="14" presetClass="entr" presetSubtype="10" fill="hold" nodeType="afterEffect">
                                  <p:stCondLst>
                                    <p:cond delay="0"/>
                                  </p:stCondLst>
                                  <p:childTnLst>
                                    <p:set>
                                      <p:cBhvr>
                                        <p:cTn id="142" dur="1" fill="hold">
                                          <p:stCondLst>
                                            <p:cond delay="0"/>
                                          </p:stCondLst>
                                        </p:cTn>
                                        <p:tgtEl>
                                          <p:spTgt spid="35881"/>
                                        </p:tgtEl>
                                        <p:attrNameLst>
                                          <p:attrName>style.visibility</p:attrName>
                                        </p:attrNameLst>
                                      </p:cBhvr>
                                      <p:to>
                                        <p:strVal val="visible"/>
                                      </p:to>
                                    </p:set>
                                    <p:animEffect transition="in" filter="randombar(horizontal)">
                                      <p:cBhvr>
                                        <p:cTn id="143" dur="500"/>
                                        <p:tgtEl>
                                          <p:spTgt spid="358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1993" name="直接箭头连接符 48"/>
          <p:cNvCxnSpPr>
            <a:cxnSpLocks noChangeShapeType="1"/>
          </p:cNvCxnSpPr>
          <p:nvPr/>
        </p:nvCxnSpPr>
        <p:spPr bwMode="auto">
          <a:xfrm>
            <a:off x="3071764" y="2860675"/>
            <a:ext cx="571500" cy="1587"/>
          </a:xfrm>
          <a:prstGeom prst="straightConnector1">
            <a:avLst/>
          </a:prstGeom>
          <a:noFill/>
          <a:ln w="25400">
            <a:solidFill>
              <a:srgbClr val="A7C804"/>
            </a:solidFill>
            <a:round/>
            <a:headEnd/>
            <a:tailEnd type="arrow" w="med" len="med"/>
          </a:ln>
          <a:effectLst>
            <a:outerShdw dist="20000" dir="5400000" algn="ctr" rotWithShape="0">
              <a:srgbClr val="000000">
                <a:alpha val="31998"/>
              </a:srgbClr>
            </a:outerShdw>
          </a:effectLst>
          <a:extLst>
            <a:ext uri="{909E8E84-426E-40DD-AFC4-6F175D3DCCD1}">
              <a14:hiddenFill xmlns:a14="http://schemas.microsoft.com/office/drawing/2010/main">
                <a:noFill/>
              </a14:hiddenFill>
            </a:ext>
          </a:extLst>
        </p:spPr>
      </p:cxnSp>
      <p:cxnSp>
        <p:nvCxnSpPr>
          <p:cNvPr id="42009" name="直接连接符 18"/>
          <p:cNvCxnSpPr>
            <a:cxnSpLocks noChangeShapeType="1"/>
          </p:cNvCxnSpPr>
          <p:nvPr/>
        </p:nvCxnSpPr>
        <p:spPr bwMode="auto">
          <a:xfrm rot="5400000" flipH="1" flipV="1">
            <a:off x="2298656" y="3273419"/>
            <a:ext cx="2117725" cy="1000125"/>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aphicFrame>
        <p:nvGraphicFramePr>
          <p:cNvPr id="42010" name="Object 28"/>
          <p:cNvGraphicFramePr>
            <a:graphicFrameLocks noChangeAspect="1"/>
          </p:cNvGraphicFramePr>
          <p:nvPr/>
        </p:nvGraphicFramePr>
        <p:xfrm>
          <a:off x="3714313" y="2422508"/>
          <a:ext cx="247537" cy="327722"/>
        </p:xfrm>
        <a:graphic>
          <a:graphicData uri="http://schemas.openxmlformats.org/presentationml/2006/ole">
            <mc:AlternateContent xmlns:mc="http://schemas.openxmlformats.org/markup-compatibility/2006">
              <mc:Choice xmlns:v="urn:schemas-microsoft-com:vml" Requires="v">
                <p:oleObj spid="_x0000_s192749" r:id="rId3" imgW="178497" imgH="229496" progId="">
                  <p:embed/>
                </p:oleObj>
              </mc:Choice>
              <mc:Fallback>
                <p:oleObj r:id="rId3" imgW="178497" imgH="229496" progId="">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4313" y="2422508"/>
                        <a:ext cx="247537" cy="32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2021" name="直接连接符 20"/>
          <p:cNvCxnSpPr>
            <a:cxnSpLocks noChangeShapeType="1"/>
          </p:cNvCxnSpPr>
          <p:nvPr/>
        </p:nvCxnSpPr>
        <p:spPr bwMode="auto">
          <a:xfrm>
            <a:off x="1257300" y="3517900"/>
            <a:ext cx="2214563"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42023" name="直接连接符 31"/>
          <p:cNvCxnSpPr>
            <a:cxnSpLocks noChangeShapeType="1"/>
          </p:cNvCxnSpPr>
          <p:nvPr/>
        </p:nvCxnSpPr>
        <p:spPr bwMode="auto">
          <a:xfrm rot="5400000">
            <a:off x="2596351" y="4393399"/>
            <a:ext cx="1752600"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2024" name="Object 8"/>
          <p:cNvGraphicFramePr>
            <a:graphicFrameLocks noChangeAspect="1"/>
          </p:cNvGraphicFramePr>
          <p:nvPr/>
        </p:nvGraphicFramePr>
        <p:xfrm>
          <a:off x="971550" y="3371612"/>
          <a:ext cx="230195" cy="327722"/>
        </p:xfrm>
        <a:graphic>
          <a:graphicData uri="http://schemas.openxmlformats.org/presentationml/2006/ole">
            <mc:AlternateContent xmlns:mc="http://schemas.openxmlformats.org/markup-compatibility/2006">
              <mc:Choice xmlns:v="urn:schemas-microsoft-com:vml" Requires="v">
                <p:oleObj spid="_x0000_s192750" r:id="rId5" imgW="165820" imgH="229597" progId="">
                  <p:embed/>
                </p:oleObj>
              </mc:Choice>
              <mc:Fallback>
                <p:oleObj r:id="rId5" imgW="165820" imgH="229597" progId="">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3371612"/>
                        <a:ext cx="230195" cy="32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25" name="Object 9"/>
          <p:cNvGraphicFramePr>
            <a:graphicFrameLocks noChangeAspect="1"/>
          </p:cNvGraphicFramePr>
          <p:nvPr/>
        </p:nvGraphicFramePr>
        <p:xfrm>
          <a:off x="3329081" y="5342828"/>
          <a:ext cx="266709" cy="327722"/>
        </p:xfrm>
        <a:graphic>
          <a:graphicData uri="http://schemas.openxmlformats.org/presentationml/2006/ole">
            <mc:AlternateContent xmlns:mc="http://schemas.openxmlformats.org/markup-compatibility/2006">
              <mc:Choice xmlns:v="urn:schemas-microsoft-com:vml" Requires="v">
                <p:oleObj spid="_x0000_s192751" r:id="rId7" imgW="191414" imgH="229697" progId="">
                  <p:embed/>
                </p:oleObj>
              </mc:Choice>
              <mc:Fallback>
                <p:oleObj r:id="rId7" imgW="191414" imgH="229697" progId="">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29081" y="5342828"/>
                        <a:ext cx="266709" cy="32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26" name="Object 10"/>
          <p:cNvGraphicFramePr>
            <a:graphicFrameLocks noChangeAspect="1"/>
          </p:cNvGraphicFramePr>
          <p:nvPr/>
        </p:nvGraphicFramePr>
        <p:xfrm>
          <a:off x="3543403" y="3298604"/>
          <a:ext cx="266709" cy="327722"/>
        </p:xfrm>
        <a:graphic>
          <a:graphicData uri="http://schemas.openxmlformats.org/presentationml/2006/ole">
            <mc:AlternateContent xmlns:mc="http://schemas.openxmlformats.org/markup-compatibility/2006">
              <mc:Choice xmlns:v="urn:schemas-microsoft-com:vml" Requires="v">
                <p:oleObj spid="_x0000_s192752" r:id="rId9" imgW="191414" imgH="229697" progId="">
                  <p:embed/>
                </p:oleObj>
              </mc:Choice>
              <mc:Fallback>
                <p:oleObj r:id="rId9" imgW="191414" imgH="229697" progId="">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43403" y="3298604"/>
                        <a:ext cx="266709" cy="32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1994" name="直接箭头连接符 51"/>
          <p:cNvCxnSpPr>
            <a:cxnSpLocks noChangeShapeType="1"/>
          </p:cNvCxnSpPr>
          <p:nvPr/>
        </p:nvCxnSpPr>
        <p:spPr bwMode="auto">
          <a:xfrm>
            <a:off x="3462435" y="4529598"/>
            <a:ext cx="714375" cy="1587"/>
          </a:xfrm>
          <a:prstGeom prst="straightConnector1">
            <a:avLst/>
          </a:prstGeom>
          <a:noFill/>
          <a:ln w="25400">
            <a:solidFill>
              <a:srgbClr val="A7C804"/>
            </a:solidFill>
            <a:round/>
            <a:headEnd/>
            <a:tailEnd type="arrow" w="med" len="med"/>
          </a:ln>
          <a:effectLst>
            <a:outerShdw dist="20000" dir="5400000" algn="ctr" rotWithShape="0">
              <a:srgbClr val="000000">
                <a:alpha val="31998"/>
              </a:srgbClr>
            </a:outerShdw>
          </a:effectLst>
          <a:extLst>
            <a:ext uri="{909E8E84-426E-40DD-AFC4-6F175D3DCCD1}">
              <a14:hiddenFill xmlns:a14="http://schemas.microsoft.com/office/drawing/2010/main">
                <a:noFill/>
              </a14:hiddenFill>
            </a:ext>
          </a:extLst>
        </p:spPr>
      </p:cxnSp>
      <p:cxnSp>
        <p:nvCxnSpPr>
          <p:cNvPr id="42011" name="直接连接符 29"/>
          <p:cNvCxnSpPr>
            <a:cxnSpLocks noChangeShapeType="1"/>
          </p:cNvCxnSpPr>
          <p:nvPr/>
        </p:nvCxnSpPr>
        <p:spPr bwMode="auto">
          <a:xfrm rot="5400000">
            <a:off x="1672432" y="4612481"/>
            <a:ext cx="1314450"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42013" name="直接连接符 12"/>
          <p:cNvCxnSpPr>
            <a:cxnSpLocks noChangeShapeType="1"/>
          </p:cNvCxnSpPr>
          <p:nvPr/>
        </p:nvCxnSpPr>
        <p:spPr bwMode="auto">
          <a:xfrm>
            <a:off x="1400175" y="3225800"/>
            <a:ext cx="2357438" cy="1898650"/>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42014" name="直接连接符 15"/>
          <p:cNvCxnSpPr>
            <a:cxnSpLocks noChangeShapeType="1"/>
          </p:cNvCxnSpPr>
          <p:nvPr/>
        </p:nvCxnSpPr>
        <p:spPr bwMode="auto">
          <a:xfrm rot="5400000" flipH="1" flipV="1">
            <a:off x="1340644" y="3201194"/>
            <a:ext cx="2190750" cy="1071562"/>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42015" name="直接连接符 22"/>
          <p:cNvCxnSpPr>
            <a:cxnSpLocks noChangeShapeType="1"/>
          </p:cNvCxnSpPr>
          <p:nvPr/>
        </p:nvCxnSpPr>
        <p:spPr bwMode="auto">
          <a:xfrm>
            <a:off x="1257300" y="3956050"/>
            <a:ext cx="1000125"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2016" name="Object 20"/>
          <p:cNvGraphicFramePr>
            <a:graphicFrameLocks noChangeAspect="1"/>
          </p:cNvGraphicFramePr>
          <p:nvPr/>
        </p:nvGraphicFramePr>
        <p:xfrm>
          <a:off x="971550" y="3809660"/>
          <a:ext cx="212687" cy="327722"/>
        </p:xfrm>
        <a:graphic>
          <a:graphicData uri="http://schemas.openxmlformats.org/presentationml/2006/ole">
            <mc:AlternateContent xmlns:mc="http://schemas.openxmlformats.org/markup-compatibility/2006">
              <mc:Choice xmlns:v="urn:schemas-microsoft-com:vml" Requires="v">
                <p:oleObj spid="_x0000_s192753" r:id="rId11" imgW="153131" imgH="229697" progId="">
                  <p:embed/>
                </p:oleObj>
              </mc:Choice>
              <mc:Fallback>
                <p:oleObj r:id="rId11" imgW="153131" imgH="229697" progId="">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71550" y="3809660"/>
                        <a:ext cx="212687" cy="32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17" name="Object 21"/>
          <p:cNvGraphicFramePr>
            <a:graphicFrameLocks noChangeAspect="1"/>
          </p:cNvGraphicFramePr>
          <p:nvPr/>
        </p:nvGraphicFramePr>
        <p:xfrm>
          <a:off x="2185778" y="5342828"/>
          <a:ext cx="247606" cy="327722"/>
        </p:xfrm>
        <a:graphic>
          <a:graphicData uri="http://schemas.openxmlformats.org/presentationml/2006/ole">
            <mc:AlternateContent xmlns:mc="http://schemas.openxmlformats.org/markup-compatibility/2006">
              <mc:Choice xmlns:v="urn:schemas-microsoft-com:vml" Requires="v">
                <p:oleObj spid="_x0000_s192754" r:id="rId13" imgW="178497" imgH="229496" progId="">
                  <p:embed/>
                </p:oleObj>
              </mc:Choice>
              <mc:Fallback>
                <p:oleObj r:id="rId13" imgW="178497" imgH="229496" progId="">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85778" y="5342828"/>
                        <a:ext cx="247606" cy="32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18" name="Object 22"/>
          <p:cNvGraphicFramePr>
            <a:graphicFrameLocks noChangeAspect="1"/>
          </p:cNvGraphicFramePr>
          <p:nvPr/>
        </p:nvGraphicFramePr>
        <p:xfrm>
          <a:off x="2375228" y="3736655"/>
          <a:ext cx="247606" cy="327722"/>
        </p:xfrm>
        <a:graphic>
          <a:graphicData uri="http://schemas.openxmlformats.org/presentationml/2006/ole">
            <mc:AlternateContent xmlns:mc="http://schemas.openxmlformats.org/markup-compatibility/2006">
              <mc:Choice xmlns:v="urn:schemas-microsoft-com:vml" Requires="v">
                <p:oleObj spid="_x0000_s192755" r:id="rId15" imgW="178497" imgH="229496" progId="">
                  <p:embed/>
                </p:oleObj>
              </mc:Choice>
              <mc:Fallback>
                <p:oleObj r:id="rId15" imgW="178497" imgH="229496" progId="">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75228" y="3736655"/>
                        <a:ext cx="247606" cy="32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19" name="Object 23"/>
          <p:cNvGraphicFramePr>
            <a:graphicFrameLocks noChangeAspect="1"/>
          </p:cNvGraphicFramePr>
          <p:nvPr/>
        </p:nvGraphicFramePr>
        <p:xfrm>
          <a:off x="2900029" y="2349500"/>
          <a:ext cx="230146" cy="327722"/>
        </p:xfrm>
        <a:graphic>
          <a:graphicData uri="http://schemas.openxmlformats.org/presentationml/2006/ole">
            <mc:AlternateContent xmlns:mc="http://schemas.openxmlformats.org/markup-compatibility/2006">
              <mc:Choice xmlns:v="urn:schemas-microsoft-com:vml" Requires="v">
                <p:oleObj spid="_x0000_s192756" r:id="rId17" imgW="165820" imgH="229597" progId="">
                  <p:embed/>
                </p:oleObj>
              </mc:Choice>
              <mc:Fallback>
                <p:oleObj r:id="rId17" imgW="165820" imgH="229597" progId="">
                  <p:embed/>
                  <p:pic>
                    <p:nvPicPr>
                      <p:cNvPr id="0" name="Object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00029" y="2349500"/>
                        <a:ext cx="230146" cy="32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20" name="Object 24"/>
          <p:cNvGraphicFramePr>
            <a:graphicFrameLocks noChangeAspect="1"/>
          </p:cNvGraphicFramePr>
          <p:nvPr/>
        </p:nvGraphicFramePr>
        <p:xfrm>
          <a:off x="3757613" y="4905375"/>
          <a:ext cx="266700" cy="327025"/>
        </p:xfrm>
        <a:graphic>
          <a:graphicData uri="http://schemas.openxmlformats.org/presentationml/2006/ole">
            <mc:AlternateContent xmlns:mc="http://schemas.openxmlformats.org/markup-compatibility/2006">
              <mc:Choice xmlns:v="urn:schemas-microsoft-com:vml" Requires="v">
                <p:oleObj spid="_x0000_s192757" r:id="rId19" imgW="191414" imgH="229697" progId="">
                  <p:embed/>
                </p:oleObj>
              </mc:Choice>
              <mc:Fallback>
                <p:oleObj r:id="rId19" imgW="191414" imgH="229697" progId="">
                  <p:embed/>
                  <p:pic>
                    <p:nvPicPr>
                      <p:cNvPr id="0" name="Object 2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757613" y="4905375"/>
                        <a:ext cx="266700"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2003" name="直接箭头连接符 5"/>
          <p:cNvCxnSpPr>
            <a:cxnSpLocks noChangeShapeType="1"/>
          </p:cNvCxnSpPr>
          <p:nvPr/>
        </p:nvCxnSpPr>
        <p:spPr bwMode="auto">
          <a:xfrm>
            <a:off x="1257300" y="5268912"/>
            <a:ext cx="3714750"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42005" name="直接箭头连接符 7"/>
          <p:cNvCxnSpPr>
            <a:cxnSpLocks noChangeShapeType="1"/>
          </p:cNvCxnSpPr>
          <p:nvPr/>
        </p:nvCxnSpPr>
        <p:spPr bwMode="auto">
          <a:xfrm rot="5400000" flipH="1" flipV="1">
            <a:off x="-201612" y="3808412"/>
            <a:ext cx="2919412"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42006" name="Object 33"/>
          <p:cNvGraphicFramePr>
            <a:graphicFrameLocks noChangeAspect="1"/>
          </p:cNvGraphicFramePr>
          <p:nvPr/>
        </p:nvGraphicFramePr>
        <p:xfrm>
          <a:off x="971550" y="5342827"/>
          <a:ext cx="212723" cy="253092"/>
        </p:xfrm>
        <a:graphic>
          <a:graphicData uri="http://schemas.openxmlformats.org/presentationml/2006/ole">
            <mc:AlternateContent xmlns:mc="http://schemas.openxmlformats.org/markup-compatibility/2006">
              <mc:Choice xmlns:v="urn:schemas-microsoft-com:vml" Requires="v">
                <p:oleObj spid="_x0000_s192758" r:id="rId21" imgW="153198" imgH="178731" progId="">
                  <p:embed/>
                </p:oleObj>
              </mc:Choice>
              <mc:Fallback>
                <p:oleObj r:id="rId21" imgW="153198" imgH="178731" progId="">
                  <p:embed/>
                  <p:pic>
                    <p:nvPicPr>
                      <p:cNvPr id="0" name="Object 3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71550" y="5342827"/>
                        <a:ext cx="212723" cy="253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07" name="Object 34"/>
          <p:cNvGraphicFramePr>
            <a:graphicFrameLocks noChangeAspect="1"/>
          </p:cNvGraphicFramePr>
          <p:nvPr/>
        </p:nvGraphicFramePr>
        <p:xfrm>
          <a:off x="971550" y="2349500"/>
          <a:ext cx="212723" cy="235247"/>
        </p:xfrm>
        <a:graphic>
          <a:graphicData uri="http://schemas.openxmlformats.org/presentationml/2006/ole">
            <mc:AlternateContent xmlns:mc="http://schemas.openxmlformats.org/markup-compatibility/2006">
              <mc:Choice xmlns:v="urn:schemas-microsoft-com:vml" Requires="v">
                <p:oleObj spid="_x0000_s192759" r:id="rId23" imgW="153332" imgH="166109" progId="">
                  <p:embed/>
                </p:oleObj>
              </mc:Choice>
              <mc:Fallback>
                <p:oleObj r:id="rId23" imgW="153332" imgH="166109" progId="">
                  <p:embed/>
                  <p:pic>
                    <p:nvPicPr>
                      <p:cNvPr id="0" name="Object 3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71550" y="2349500"/>
                        <a:ext cx="212723" cy="235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008" name="Object 35"/>
          <p:cNvGraphicFramePr>
            <a:graphicFrameLocks noChangeAspect="1"/>
          </p:cNvGraphicFramePr>
          <p:nvPr/>
        </p:nvGraphicFramePr>
        <p:xfrm>
          <a:off x="4757738" y="5342827"/>
          <a:ext cx="212723" cy="290407"/>
        </p:xfrm>
        <a:graphic>
          <a:graphicData uri="http://schemas.openxmlformats.org/presentationml/2006/ole">
            <mc:AlternateContent xmlns:mc="http://schemas.openxmlformats.org/markup-compatibility/2006">
              <mc:Choice xmlns:v="urn:schemas-microsoft-com:vml" Requires="v">
                <p:oleObj spid="_x0000_s192760" r:id="rId25" imgW="153332" imgH="204442" progId="">
                  <p:embed/>
                </p:oleObj>
              </mc:Choice>
              <mc:Fallback>
                <p:oleObj r:id="rId25" imgW="153332" imgH="204442" progId="">
                  <p:embed/>
                  <p:pic>
                    <p:nvPicPr>
                      <p:cNvPr id="0" name="Object 3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757738" y="5342827"/>
                        <a:ext cx="212723" cy="290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2001" name="直接连接符 10"/>
          <p:cNvCxnSpPr>
            <a:cxnSpLocks noChangeShapeType="1"/>
          </p:cNvCxnSpPr>
          <p:nvPr/>
        </p:nvCxnSpPr>
        <p:spPr bwMode="auto">
          <a:xfrm>
            <a:off x="2400300" y="2714625"/>
            <a:ext cx="2286000" cy="1752600"/>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aphicFrame>
        <p:nvGraphicFramePr>
          <p:cNvPr id="42002" name="Object 38"/>
          <p:cNvGraphicFramePr>
            <a:graphicFrameLocks noChangeAspect="1"/>
          </p:cNvGraphicFramePr>
          <p:nvPr/>
        </p:nvGraphicFramePr>
        <p:xfrm>
          <a:off x="4686328" y="4174700"/>
          <a:ext cx="284163" cy="327723"/>
        </p:xfrm>
        <a:graphic>
          <a:graphicData uri="http://schemas.openxmlformats.org/presentationml/2006/ole">
            <mc:AlternateContent xmlns:mc="http://schemas.openxmlformats.org/markup-compatibility/2006">
              <mc:Choice xmlns:v="urn:schemas-microsoft-com:vml" Requires="v">
                <p:oleObj spid="_x0000_s192761" r:id="rId27" imgW="204086" imgH="229597" progId="">
                  <p:embed/>
                </p:oleObj>
              </mc:Choice>
              <mc:Fallback>
                <p:oleObj r:id="rId27" imgW="204086" imgH="229597" progId="">
                  <p:embed/>
                  <p:pic>
                    <p:nvPicPr>
                      <p:cNvPr id="0" name="Object 3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686328" y="4174700"/>
                        <a:ext cx="284163" cy="327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4" name="矩形 43">
            <a:extLst>
              <a:ext uri="{FF2B5EF4-FFF2-40B4-BE49-F238E27FC236}">
                <a16:creationId xmlns:a16="http://schemas.microsoft.com/office/drawing/2014/main" id="{0767956C-6F6E-48F4-865A-92E66B5BC8E5}"/>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p:sp>
        <p:nvSpPr>
          <p:cNvPr id="45" name="矩形 44">
            <a:extLst>
              <a:ext uri="{FF2B5EF4-FFF2-40B4-BE49-F238E27FC236}">
                <a16:creationId xmlns:a16="http://schemas.microsoft.com/office/drawing/2014/main" id="{0C456F93-4DC2-4FDB-81C2-67ADD63EAB25}"/>
              </a:ext>
            </a:extLst>
          </p:cNvPr>
          <p:cNvSpPr/>
          <p:nvPr/>
        </p:nvSpPr>
        <p:spPr>
          <a:xfrm>
            <a:off x="467543" y="548680"/>
            <a:ext cx="3162141"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三、市场均衡的变动 </a:t>
            </a:r>
          </a:p>
        </p:txBody>
      </p:sp>
      <p:sp>
        <p:nvSpPr>
          <p:cNvPr id="46" name="Rectangle 3">
            <a:extLst>
              <a:ext uri="{FF2B5EF4-FFF2-40B4-BE49-F238E27FC236}">
                <a16:creationId xmlns:a16="http://schemas.microsoft.com/office/drawing/2014/main" id="{26524F90-0AC1-4FE5-9C9D-F9C4EA0F62A4}"/>
              </a:ext>
            </a:extLst>
          </p:cNvPr>
          <p:cNvSpPr txBox="1">
            <a:spLocks noChangeArrowheads="1"/>
          </p:cNvSpPr>
          <p:nvPr/>
        </p:nvSpPr>
        <p:spPr bwMode="auto">
          <a:xfrm>
            <a:off x="34925" y="1400075"/>
            <a:ext cx="8229600" cy="503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eaLnBrk="1" hangingPunct="1">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需求和供给同时增加对市场均衡的影响</a:t>
            </a:r>
          </a:p>
        </p:txBody>
      </p:sp>
      <p:grpSp>
        <p:nvGrpSpPr>
          <p:cNvPr id="47" name="组合 9">
            <a:extLst>
              <a:ext uri="{FF2B5EF4-FFF2-40B4-BE49-F238E27FC236}">
                <a16:creationId xmlns:a16="http://schemas.microsoft.com/office/drawing/2014/main" id="{364231A2-F149-4F95-BAF6-D9B80C337AD6}"/>
              </a:ext>
            </a:extLst>
          </p:cNvPr>
          <p:cNvGrpSpPr>
            <a:grpSpLocks/>
          </p:cNvGrpSpPr>
          <p:nvPr/>
        </p:nvGrpSpPr>
        <p:grpSpPr bwMode="auto">
          <a:xfrm>
            <a:off x="4471654" y="2556599"/>
            <a:ext cx="4276864" cy="1599845"/>
            <a:chOff x="0" y="1"/>
            <a:chExt cx="4710674" cy="3361869"/>
          </a:xfrm>
          <a:solidFill>
            <a:srgbClr val="F3C97F"/>
          </a:solidFill>
        </p:grpSpPr>
        <p:sp>
          <p:nvSpPr>
            <p:cNvPr id="48" name="圆角矩形 42">
              <a:extLst>
                <a:ext uri="{FF2B5EF4-FFF2-40B4-BE49-F238E27FC236}">
                  <a16:creationId xmlns:a16="http://schemas.microsoft.com/office/drawing/2014/main" id="{4DEE59DB-19EC-4C04-ACF2-7E5B847EDC35}"/>
                </a:ext>
              </a:extLst>
            </p:cNvPr>
            <p:cNvSpPr>
              <a:spLocks noChangeArrowheads="1"/>
            </p:cNvSpPr>
            <p:nvPr/>
          </p:nvSpPr>
          <p:spPr bwMode="auto">
            <a:xfrm>
              <a:off x="0" y="1"/>
              <a:ext cx="4710674" cy="2408753"/>
            </a:xfrm>
            <a:prstGeom prst="roundRect">
              <a:avLst>
                <a:gd name="adj" fmla="val 16667"/>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49" name="TextBox 3">
              <a:extLst>
                <a:ext uri="{FF2B5EF4-FFF2-40B4-BE49-F238E27FC236}">
                  <a16:creationId xmlns:a16="http://schemas.microsoft.com/office/drawing/2014/main" id="{02EE304F-9543-456B-B822-4B0A0669DBAB}"/>
                </a:ext>
              </a:extLst>
            </p:cNvPr>
            <p:cNvSpPr txBox="1">
              <a:spLocks noChangeArrowheads="1"/>
            </p:cNvSpPr>
            <p:nvPr/>
          </p:nvSpPr>
          <p:spPr bwMode="auto">
            <a:xfrm>
              <a:off x="208307" y="115255"/>
              <a:ext cx="4319586" cy="324661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lnSpc>
                  <a:spcPct val="150000"/>
                </a:lnSpc>
                <a:spcBef>
                  <a:spcPct val="0"/>
                </a:spcBef>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需求曲线和供给曲线同时向右平移，市场均衡由</a:t>
              </a:r>
              <a:r>
                <a:rPr lang="en-US" altLang="zh-CN" sz="1800" b="0" dirty="0">
                  <a:solidFill>
                    <a:schemeClr val="tx1"/>
                  </a:solidFill>
                </a:rPr>
                <a:t>E</a:t>
              </a:r>
              <a:r>
                <a:rPr lang="en-US" altLang="zh-CN" sz="1800" b="0" baseline="-25000" dirty="0">
                  <a:solidFill>
                    <a:schemeClr val="tx1"/>
                  </a:solidFill>
                </a:rPr>
                <a:t>1</a:t>
              </a:r>
              <a:r>
                <a:rPr lang="zh-CN" altLang="en-US" sz="1800" b="0" dirty="0">
                  <a:solidFill>
                    <a:schemeClr val="tx1"/>
                  </a:solidFill>
                  <a:latin typeface="微软雅黑" panose="020B0503020204020204" pitchFamily="34" charset="-122"/>
                  <a:ea typeface="微软雅黑" panose="020B0503020204020204" pitchFamily="34" charset="-122"/>
                </a:rPr>
                <a:t>变成</a:t>
              </a:r>
              <a:r>
                <a:rPr lang="en-US" altLang="zh-CN" sz="1800" b="0" dirty="0">
                  <a:solidFill>
                    <a:schemeClr val="tx1"/>
                  </a:solidFill>
                </a:rPr>
                <a:t>E</a:t>
              </a:r>
              <a:r>
                <a:rPr lang="en-US" altLang="zh-CN" sz="1800" b="0" baseline="-25000" dirty="0">
                  <a:solidFill>
                    <a:schemeClr val="tx1"/>
                  </a:solidFill>
                </a:rPr>
                <a:t>2</a:t>
              </a:r>
              <a:r>
                <a:rPr lang="zh-CN" altLang="en-US" sz="1800" b="0" dirty="0">
                  <a:solidFill>
                    <a:schemeClr val="tx1"/>
                  </a:solidFill>
                  <a:latin typeface="微软雅黑" panose="020B0503020204020204" pitchFamily="34" charset="-122"/>
                  <a:ea typeface="微软雅黑" panose="020B0503020204020204" pitchFamily="34" charset="-122"/>
                </a:rPr>
                <a:t>。</a:t>
              </a:r>
            </a:p>
            <a:p>
              <a:pPr marL="342900" indent="-342900" eaLnBrk="1" hangingPunct="1">
                <a:lnSpc>
                  <a:spcPct val="150000"/>
                </a:lnSpc>
                <a:spcBef>
                  <a:spcPct val="0"/>
                </a:spcBef>
                <a:buFont typeface="Wingdings" panose="05000000000000000000" pitchFamily="2" charset="2"/>
                <a:buChar char="Ø"/>
              </a:pPr>
              <a:endParaRPr lang="en-US" altLang="zh-CN" sz="2000" b="0" dirty="0">
                <a:solidFill>
                  <a:schemeClr val="tx1"/>
                </a:solidFill>
                <a:latin typeface="微软雅黑" panose="020B0503020204020204" pitchFamily="34" charset="-122"/>
                <a:ea typeface="微软雅黑" panose="020B0503020204020204" pitchFamily="34" charset="-122"/>
              </a:endParaRPr>
            </a:p>
            <a:p>
              <a:pPr eaLnBrk="1" hangingPunct="1">
                <a:lnSpc>
                  <a:spcPct val="150000"/>
                </a:lnSpc>
                <a:spcBef>
                  <a:spcPct val="0"/>
                </a:spcBef>
                <a:buFontTx/>
                <a:buNone/>
              </a:pPr>
              <a:endParaRPr lang="zh-CN" altLang="en-US" sz="2000" b="0" dirty="0">
                <a:solidFill>
                  <a:schemeClr val="tx1"/>
                </a:solidFill>
                <a:latin typeface="微软雅黑" panose="020B0503020204020204" pitchFamily="34" charset="-122"/>
                <a:ea typeface="微软雅黑" panose="020B0503020204020204" pitchFamily="34" charset="-122"/>
              </a:endParaRPr>
            </a:p>
          </p:txBody>
        </p:sp>
      </p:gr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animEffect transition="in" filter="wipe(left)">
                                      <p:cBhvr>
                                        <p:cTn id="7" dur="500"/>
                                        <p:tgtEl>
                                          <p:spTgt spid="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2006"/>
                                        </p:tgtEl>
                                        <p:attrNameLst>
                                          <p:attrName>style.visibility</p:attrName>
                                        </p:attrNameLst>
                                      </p:cBhvr>
                                      <p:to>
                                        <p:strVal val="visible"/>
                                      </p:to>
                                    </p:set>
                                    <p:animEffect transition="in" filter="randombar(horizontal)">
                                      <p:cBhvr>
                                        <p:cTn id="12" dur="500"/>
                                        <p:tgtEl>
                                          <p:spTgt spid="4200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2003"/>
                                        </p:tgtEl>
                                        <p:attrNameLst>
                                          <p:attrName>style.visibility</p:attrName>
                                        </p:attrNameLst>
                                      </p:cBhvr>
                                      <p:to>
                                        <p:strVal val="visible"/>
                                      </p:to>
                                    </p:set>
                                    <p:animEffect transition="in" filter="wipe(left)">
                                      <p:cBhvr>
                                        <p:cTn id="17" dur="500"/>
                                        <p:tgtEl>
                                          <p:spTgt spid="42003"/>
                                        </p:tgtEl>
                                      </p:cBhvr>
                                    </p:animEffect>
                                  </p:childTnLst>
                                </p:cTn>
                              </p:par>
                              <p:par>
                                <p:cTn id="18" presetID="22" presetClass="entr" presetSubtype="4" fill="hold" nodeType="withEffect">
                                  <p:stCondLst>
                                    <p:cond delay="0"/>
                                  </p:stCondLst>
                                  <p:childTnLst>
                                    <p:set>
                                      <p:cBhvr>
                                        <p:cTn id="19" dur="1" fill="hold">
                                          <p:stCondLst>
                                            <p:cond delay="0"/>
                                          </p:stCondLst>
                                        </p:cTn>
                                        <p:tgtEl>
                                          <p:spTgt spid="42005"/>
                                        </p:tgtEl>
                                        <p:attrNameLst>
                                          <p:attrName>style.visibility</p:attrName>
                                        </p:attrNameLst>
                                      </p:cBhvr>
                                      <p:to>
                                        <p:strVal val="visible"/>
                                      </p:to>
                                    </p:set>
                                    <p:animEffect transition="in" filter="wipe(down)">
                                      <p:cBhvr>
                                        <p:cTn id="20" dur="500"/>
                                        <p:tgtEl>
                                          <p:spTgt spid="42005"/>
                                        </p:tgtEl>
                                      </p:cBhvr>
                                    </p:animEffect>
                                  </p:childTnLst>
                                </p:cTn>
                              </p:par>
                            </p:childTnLst>
                          </p:cTn>
                        </p:par>
                        <p:par>
                          <p:cTn id="21" fill="hold">
                            <p:stCondLst>
                              <p:cond delay="500"/>
                            </p:stCondLst>
                            <p:childTnLst>
                              <p:par>
                                <p:cTn id="22" presetID="14" presetClass="entr" presetSubtype="10" fill="hold" nodeType="afterEffect">
                                  <p:stCondLst>
                                    <p:cond delay="0"/>
                                  </p:stCondLst>
                                  <p:childTnLst>
                                    <p:set>
                                      <p:cBhvr>
                                        <p:cTn id="23" dur="1" fill="hold">
                                          <p:stCondLst>
                                            <p:cond delay="0"/>
                                          </p:stCondLst>
                                        </p:cTn>
                                        <p:tgtEl>
                                          <p:spTgt spid="42008"/>
                                        </p:tgtEl>
                                        <p:attrNameLst>
                                          <p:attrName>style.visibility</p:attrName>
                                        </p:attrNameLst>
                                      </p:cBhvr>
                                      <p:to>
                                        <p:strVal val="visible"/>
                                      </p:to>
                                    </p:set>
                                    <p:animEffect transition="in" filter="randombar(horizontal)">
                                      <p:cBhvr>
                                        <p:cTn id="24" dur="500"/>
                                        <p:tgtEl>
                                          <p:spTgt spid="42008"/>
                                        </p:tgtEl>
                                      </p:cBhvr>
                                    </p:animEffect>
                                  </p:childTnLst>
                                </p:cTn>
                              </p:par>
                            </p:childTnLst>
                          </p:cTn>
                        </p:par>
                        <p:par>
                          <p:cTn id="25" fill="hold">
                            <p:stCondLst>
                              <p:cond delay="1000"/>
                            </p:stCondLst>
                            <p:childTnLst>
                              <p:par>
                                <p:cTn id="26" presetID="14" presetClass="entr" presetSubtype="10" fill="hold" nodeType="afterEffect">
                                  <p:stCondLst>
                                    <p:cond delay="0"/>
                                  </p:stCondLst>
                                  <p:childTnLst>
                                    <p:set>
                                      <p:cBhvr>
                                        <p:cTn id="27" dur="1" fill="hold">
                                          <p:stCondLst>
                                            <p:cond delay="0"/>
                                          </p:stCondLst>
                                        </p:cTn>
                                        <p:tgtEl>
                                          <p:spTgt spid="42007"/>
                                        </p:tgtEl>
                                        <p:attrNameLst>
                                          <p:attrName>style.visibility</p:attrName>
                                        </p:attrNameLst>
                                      </p:cBhvr>
                                      <p:to>
                                        <p:strVal val="visible"/>
                                      </p:to>
                                    </p:set>
                                    <p:animEffect transition="in" filter="randombar(horizontal)">
                                      <p:cBhvr>
                                        <p:cTn id="28" dur="500"/>
                                        <p:tgtEl>
                                          <p:spTgt spid="4200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42014"/>
                                        </p:tgtEl>
                                        <p:attrNameLst>
                                          <p:attrName>style.visibility</p:attrName>
                                        </p:attrNameLst>
                                      </p:cBhvr>
                                      <p:to>
                                        <p:strVal val="visible"/>
                                      </p:to>
                                    </p:set>
                                    <p:animEffect transition="in" filter="wipe(down)">
                                      <p:cBhvr>
                                        <p:cTn id="33" dur="500"/>
                                        <p:tgtEl>
                                          <p:spTgt spid="42014"/>
                                        </p:tgtEl>
                                      </p:cBhvr>
                                    </p:animEffect>
                                  </p:childTnLst>
                                </p:cTn>
                              </p:par>
                            </p:childTnLst>
                          </p:cTn>
                        </p:par>
                        <p:par>
                          <p:cTn id="34" fill="hold">
                            <p:stCondLst>
                              <p:cond delay="500"/>
                            </p:stCondLst>
                            <p:childTnLst>
                              <p:par>
                                <p:cTn id="35" presetID="14" presetClass="entr" presetSubtype="10" fill="hold" nodeType="afterEffect">
                                  <p:stCondLst>
                                    <p:cond delay="0"/>
                                  </p:stCondLst>
                                  <p:childTnLst>
                                    <p:set>
                                      <p:cBhvr>
                                        <p:cTn id="36" dur="1" fill="hold">
                                          <p:stCondLst>
                                            <p:cond delay="0"/>
                                          </p:stCondLst>
                                        </p:cTn>
                                        <p:tgtEl>
                                          <p:spTgt spid="42019"/>
                                        </p:tgtEl>
                                        <p:attrNameLst>
                                          <p:attrName>style.visibility</p:attrName>
                                        </p:attrNameLst>
                                      </p:cBhvr>
                                      <p:to>
                                        <p:strVal val="visible"/>
                                      </p:to>
                                    </p:set>
                                    <p:animEffect transition="in" filter="randombar(horizontal)">
                                      <p:cBhvr>
                                        <p:cTn id="37" dur="500"/>
                                        <p:tgtEl>
                                          <p:spTgt spid="420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2013"/>
                                        </p:tgtEl>
                                        <p:attrNameLst>
                                          <p:attrName>style.visibility</p:attrName>
                                        </p:attrNameLst>
                                      </p:cBhvr>
                                      <p:to>
                                        <p:strVal val="visible"/>
                                      </p:to>
                                    </p:set>
                                    <p:animEffect transition="in" filter="wipe(left)">
                                      <p:cBhvr>
                                        <p:cTn id="42" dur="500"/>
                                        <p:tgtEl>
                                          <p:spTgt spid="42013"/>
                                        </p:tgtEl>
                                      </p:cBhvr>
                                    </p:animEffect>
                                  </p:childTnLst>
                                </p:cTn>
                              </p:par>
                            </p:childTnLst>
                          </p:cTn>
                        </p:par>
                        <p:par>
                          <p:cTn id="43" fill="hold">
                            <p:stCondLst>
                              <p:cond delay="500"/>
                            </p:stCondLst>
                            <p:childTnLst>
                              <p:par>
                                <p:cTn id="44" presetID="14" presetClass="entr" presetSubtype="10" fill="hold" nodeType="afterEffect">
                                  <p:stCondLst>
                                    <p:cond delay="0"/>
                                  </p:stCondLst>
                                  <p:childTnLst>
                                    <p:set>
                                      <p:cBhvr>
                                        <p:cTn id="45" dur="1" fill="hold">
                                          <p:stCondLst>
                                            <p:cond delay="0"/>
                                          </p:stCondLst>
                                        </p:cTn>
                                        <p:tgtEl>
                                          <p:spTgt spid="42020"/>
                                        </p:tgtEl>
                                        <p:attrNameLst>
                                          <p:attrName>style.visibility</p:attrName>
                                        </p:attrNameLst>
                                      </p:cBhvr>
                                      <p:to>
                                        <p:strVal val="visible"/>
                                      </p:to>
                                    </p:set>
                                    <p:animEffect transition="in" filter="randombar(horizontal)">
                                      <p:cBhvr>
                                        <p:cTn id="46" dur="500"/>
                                        <p:tgtEl>
                                          <p:spTgt spid="42020"/>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42024"/>
                                        </p:tgtEl>
                                        <p:attrNameLst>
                                          <p:attrName>style.visibility</p:attrName>
                                        </p:attrNameLst>
                                      </p:cBhvr>
                                      <p:to>
                                        <p:strVal val="visible"/>
                                      </p:to>
                                    </p:set>
                                    <p:animEffect transition="in" filter="randombar(horizontal)">
                                      <p:cBhvr>
                                        <p:cTn id="51" dur="500"/>
                                        <p:tgtEl>
                                          <p:spTgt spid="42024"/>
                                        </p:tgtEl>
                                      </p:cBhvr>
                                    </p:animEffect>
                                  </p:childTnLst>
                                </p:cTn>
                              </p:par>
                              <p:par>
                                <p:cTn id="52" presetID="14" presetClass="entr" presetSubtype="10" fill="hold" nodeType="withEffect">
                                  <p:stCondLst>
                                    <p:cond delay="0"/>
                                  </p:stCondLst>
                                  <p:childTnLst>
                                    <p:set>
                                      <p:cBhvr>
                                        <p:cTn id="53" dur="1" fill="hold">
                                          <p:stCondLst>
                                            <p:cond delay="0"/>
                                          </p:stCondLst>
                                        </p:cTn>
                                        <p:tgtEl>
                                          <p:spTgt spid="42025"/>
                                        </p:tgtEl>
                                        <p:attrNameLst>
                                          <p:attrName>style.visibility</p:attrName>
                                        </p:attrNameLst>
                                      </p:cBhvr>
                                      <p:to>
                                        <p:strVal val="visible"/>
                                      </p:to>
                                    </p:set>
                                    <p:animEffect transition="in" filter="randombar(horizontal)">
                                      <p:cBhvr>
                                        <p:cTn id="54" dur="500"/>
                                        <p:tgtEl>
                                          <p:spTgt spid="42025"/>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42021"/>
                                        </p:tgtEl>
                                        <p:attrNameLst>
                                          <p:attrName>style.visibility</p:attrName>
                                        </p:attrNameLst>
                                      </p:cBhvr>
                                      <p:to>
                                        <p:strVal val="visible"/>
                                      </p:to>
                                    </p:set>
                                    <p:animEffect transition="in" filter="wipe(left)">
                                      <p:cBhvr>
                                        <p:cTn id="58" dur="500"/>
                                        <p:tgtEl>
                                          <p:spTgt spid="42021"/>
                                        </p:tgtEl>
                                      </p:cBhvr>
                                    </p:animEffect>
                                  </p:childTnLst>
                                </p:cTn>
                              </p:par>
                            </p:childTnLst>
                          </p:cTn>
                        </p:par>
                        <p:par>
                          <p:cTn id="59" fill="hold">
                            <p:stCondLst>
                              <p:cond delay="1000"/>
                            </p:stCondLst>
                            <p:childTnLst>
                              <p:par>
                                <p:cTn id="60" presetID="22" presetClass="entr" presetSubtype="4" fill="hold" nodeType="afterEffect">
                                  <p:stCondLst>
                                    <p:cond delay="0"/>
                                  </p:stCondLst>
                                  <p:childTnLst>
                                    <p:set>
                                      <p:cBhvr>
                                        <p:cTn id="61" dur="1" fill="hold">
                                          <p:stCondLst>
                                            <p:cond delay="0"/>
                                          </p:stCondLst>
                                        </p:cTn>
                                        <p:tgtEl>
                                          <p:spTgt spid="42023"/>
                                        </p:tgtEl>
                                        <p:attrNameLst>
                                          <p:attrName>style.visibility</p:attrName>
                                        </p:attrNameLst>
                                      </p:cBhvr>
                                      <p:to>
                                        <p:strVal val="visible"/>
                                      </p:to>
                                    </p:set>
                                    <p:animEffect transition="in" filter="wipe(down)">
                                      <p:cBhvr>
                                        <p:cTn id="62" dur="500"/>
                                        <p:tgtEl>
                                          <p:spTgt spid="42023"/>
                                        </p:tgtEl>
                                      </p:cBhvr>
                                    </p:animEffect>
                                  </p:childTnLst>
                                </p:cTn>
                              </p:par>
                            </p:childTnLst>
                          </p:cTn>
                        </p:par>
                      </p:childTnLst>
                    </p:cTn>
                  </p:par>
                  <p:par>
                    <p:cTn id="63" fill="hold">
                      <p:stCondLst>
                        <p:cond delay="indefinite"/>
                      </p:stCondLst>
                      <p:childTnLst>
                        <p:par>
                          <p:cTn id="64" fill="hold">
                            <p:stCondLst>
                              <p:cond delay="0"/>
                            </p:stCondLst>
                            <p:childTnLst>
                              <p:par>
                                <p:cTn id="65" presetID="14" presetClass="entr" presetSubtype="10" fill="hold" nodeType="clickEffect">
                                  <p:stCondLst>
                                    <p:cond delay="0"/>
                                  </p:stCondLst>
                                  <p:childTnLst>
                                    <p:set>
                                      <p:cBhvr>
                                        <p:cTn id="66" dur="1" fill="hold">
                                          <p:stCondLst>
                                            <p:cond delay="0"/>
                                          </p:stCondLst>
                                        </p:cTn>
                                        <p:tgtEl>
                                          <p:spTgt spid="42016"/>
                                        </p:tgtEl>
                                        <p:attrNameLst>
                                          <p:attrName>style.visibility</p:attrName>
                                        </p:attrNameLst>
                                      </p:cBhvr>
                                      <p:to>
                                        <p:strVal val="visible"/>
                                      </p:to>
                                    </p:set>
                                    <p:animEffect transition="in" filter="randombar(horizontal)">
                                      <p:cBhvr>
                                        <p:cTn id="67" dur="500"/>
                                        <p:tgtEl>
                                          <p:spTgt spid="42016"/>
                                        </p:tgtEl>
                                      </p:cBhvr>
                                    </p:animEffect>
                                  </p:childTnLst>
                                </p:cTn>
                              </p:par>
                            </p:childTnLst>
                          </p:cTn>
                        </p:par>
                        <p:par>
                          <p:cTn id="68" fill="hold">
                            <p:stCondLst>
                              <p:cond delay="500"/>
                            </p:stCondLst>
                            <p:childTnLst>
                              <p:par>
                                <p:cTn id="69" presetID="22" presetClass="entr" presetSubtype="8" fill="hold" nodeType="afterEffect">
                                  <p:stCondLst>
                                    <p:cond delay="0"/>
                                  </p:stCondLst>
                                  <p:childTnLst>
                                    <p:set>
                                      <p:cBhvr>
                                        <p:cTn id="70" dur="1" fill="hold">
                                          <p:stCondLst>
                                            <p:cond delay="0"/>
                                          </p:stCondLst>
                                        </p:cTn>
                                        <p:tgtEl>
                                          <p:spTgt spid="42015"/>
                                        </p:tgtEl>
                                        <p:attrNameLst>
                                          <p:attrName>style.visibility</p:attrName>
                                        </p:attrNameLst>
                                      </p:cBhvr>
                                      <p:to>
                                        <p:strVal val="visible"/>
                                      </p:to>
                                    </p:set>
                                    <p:animEffect transition="in" filter="wipe(left)">
                                      <p:cBhvr>
                                        <p:cTn id="71" dur="500"/>
                                        <p:tgtEl>
                                          <p:spTgt spid="42015"/>
                                        </p:tgtEl>
                                      </p:cBhvr>
                                    </p:animEffect>
                                  </p:childTnLst>
                                </p:cTn>
                              </p:par>
                              <p:par>
                                <p:cTn id="72" presetID="14" presetClass="entr" presetSubtype="10" fill="hold" nodeType="withEffect">
                                  <p:stCondLst>
                                    <p:cond delay="0"/>
                                  </p:stCondLst>
                                  <p:childTnLst>
                                    <p:set>
                                      <p:cBhvr>
                                        <p:cTn id="73" dur="1" fill="hold">
                                          <p:stCondLst>
                                            <p:cond delay="0"/>
                                          </p:stCondLst>
                                        </p:cTn>
                                        <p:tgtEl>
                                          <p:spTgt spid="42017"/>
                                        </p:tgtEl>
                                        <p:attrNameLst>
                                          <p:attrName>style.visibility</p:attrName>
                                        </p:attrNameLst>
                                      </p:cBhvr>
                                      <p:to>
                                        <p:strVal val="visible"/>
                                      </p:to>
                                    </p:set>
                                    <p:animEffect transition="in" filter="randombar(horizontal)">
                                      <p:cBhvr>
                                        <p:cTn id="74" dur="500"/>
                                        <p:tgtEl>
                                          <p:spTgt spid="42017"/>
                                        </p:tgtEl>
                                      </p:cBhvr>
                                    </p:animEffect>
                                  </p:childTnLst>
                                </p:cTn>
                              </p:par>
                            </p:childTnLst>
                          </p:cTn>
                        </p:par>
                        <p:par>
                          <p:cTn id="75" fill="hold">
                            <p:stCondLst>
                              <p:cond delay="1000"/>
                            </p:stCondLst>
                            <p:childTnLst>
                              <p:par>
                                <p:cTn id="76" presetID="22" presetClass="entr" presetSubtype="4" fill="hold" nodeType="afterEffect">
                                  <p:stCondLst>
                                    <p:cond delay="0"/>
                                  </p:stCondLst>
                                  <p:childTnLst>
                                    <p:set>
                                      <p:cBhvr>
                                        <p:cTn id="77" dur="1" fill="hold">
                                          <p:stCondLst>
                                            <p:cond delay="0"/>
                                          </p:stCondLst>
                                        </p:cTn>
                                        <p:tgtEl>
                                          <p:spTgt spid="42011"/>
                                        </p:tgtEl>
                                        <p:attrNameLst>
                                          <p:attrName>style.visibility</p:attrName>
                                        </p:attrNameLst>
                                      </p:cBhvr>
                                      <p:to>
                                        <p:strVal val="visible"/>
                                      </p:to>
                                    </p:set>
                                    <p:animEffect transition="in" filter="wipe(down)">
                                      <p:cBhvr>
                                        <p:cTn id="78" dur="500"/>
                                        <p:tgtEl>
                                          <p:spTgt spid="42011"/>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41993"/>
                                        </p:tgtEl>
                                        <p:attrNameLst>
                                          <p:attrName>style.visibility</p:attrName>
                                        </p:attrNameLst>
                                      </p:cBhvr>
                                      <p:to>
                                        <p:strVal val="visible"/>
                                      </p:to>
                                    </p:set>
                                    <p:animEffect transition="in" filter="wipe(left)">
                                      <p:cBhvr>
                                        <p:cTn id="83" dur="500"/>
                                        <p:tgtEl>
                                          <p:spTgt spid="41993"/>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4" fill="hold" nodeType="clickEffect">
                                  <p:stCondLst>
                                    <p:cond delay="0"/>
                                  </p:stCondLst>
                                  <p:childTnLst>
                                    <p:set>
                                      <p:cBhvr>
                                        <p:cTn id="87" dur="1" fill="hold">
                                          <p:stCondLst>
                                            <p:cond delay="0"/>
                                          </p:stCondLst>
                                        </p:cTn>
                                        <p:tgtEl>
                                          <p:spTgt spid="42009"/>
                                        </p:tgtEl>
                                        <p:attrNameLst>
                                          <p:attrName>style.visibility</p:attrName>
                                        </p:attrNameLst>
                                      </p:cBhvr>
                                      <p:to>
                                        <p:strVal val="visible"/>
                                      </p:to>
                                    </p:set>
                                    <p:animEffect transition="in" filter="wipe(down)">
                                      <p:cBhvr>
                                        <p:cTn id="88" dur="500"/>
                                        <p:tgtEl>
                                          <p:spTgt spid="42009"/>
                                        </p:tgtEl>
                                      </p:cBhvr>
                                    </p:animEffect>
                                  </p:childTnLst>
                                </p:cTn>
                              </p:par>
                            </p:childTnLst>
                          </p:cTn>
                        </p:par>
                        <p:par>
                          <p:cTn id="89" fill="hold">
                            <p:stCondLst>
                              <p:cond delay="500"/>
                            </p:stCondLst>
                            <p:childTnLst>
                              <p:par>
                                <p:cTn id="90" presetID="14" presetClass="entr" presetSubtype="10" fill="hold" nodeType="afterEffect">
                                  <p:stCondLst>
                                    <p:cond delay="0"/>
                                  </p:stCondLst>
                                  <p:childTnLst>
                                    <p:set>
                                      <p:cBhvr>
                                        <p:cTn id="91" dur="1" fill="hold">
                                          <p:stCondLst>
                                            <p:cond delay="0"/>
                                          </p:stCondLst>
                                        </p:cTn>
                                        <p:tgtEl>
                                          <p:spTgt spid="42010"/>
                                        </p:tgtEl>
                                        <p:attrNameLst>
                                          <p:attrName>style.visibility</p:attrName>
                                        </p:attrNameLst>
                                      </p:cBhvr>
                                      <p:to>
                                        <p:strVal val="visible"/>
                                      </p:to>
                                    </p:set>
                                    <p:animEffect transition="in" filter="randombar(horizontal)">
                                      <p:cBhvr>
                                        <p:cTn id="92" dur="500"/>
                                        <p:tgtEl>
                                          <p:spTgt spid="42010"/>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41994"/>
                                        </p:tgtEl>
                                        <p:attrNameLst>
                                          <p:attrName>style.visibility</p:attrName>
                                        </p:attrNameLst>
                                      </p:cBhvr>
                                      <p:to>
                                        <p:strVal val="visible"/>
                                      </p:to>
                                    </p:set>
                                    <p:animEffect transition="in" filter="wipe(left)">
                                      <p:cBhvr>
                                        <p:cTn id="97" dur="500"/>
                                        <p:tgtEl>
                                          <p:spTgt spid="41994"/>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42001"/>
                                        </p:tgtEl>
                                        <p:attrNameLst>
                                          <p:attrName>style.visibility</p:attrName>
                                        </p:attrNameLst>
                                      </p:cBhvr>
                                      <p:to>
                                        <p:strVal val="visible"/>
                                      </p:to>
                                    </p:set>
                                    <p:animEffect transition="in" filter="wipe(left)">
                                      <p:cBhvr>
                                        <p:cTn id="102" dur="500"/>
                                        <p:tgtEl>
                                          <p:spTgt spid="42001"/>
                                        </p:tgtEl>
                                      </p:cBhvr>
                                    </p:animEffect>
                                  </p:childTnLst>
                                </p:cTn>
                              </p:par>
                            </p:childTnLst>
                          </p:cTn>
                        </p:par>
                        <p:par>
                          <p:cTn id="103" fill="hold">
                            <p:stCondLst>
                              <p:cond delay="500"/>
                            </p:stCondLst>
                            <p:childTnLst>
                              <p:par>
                                <p:cTn id="104" presetID="14" presetClass="entr" presetSubtype="10" fill="hold" nodeType="afterEffect">
                                  <p:stCondLst>
                                    <p:cond delay="0"/>
                                  </p:stCondLst>
                                  <p:childTnLst>
                                    <p:set>
                                      <p:cBhvr>
                                        <p:cTn id="105" dur="1" fill="hold">
                                          <p:stCondLst>
                                            <p:cond delay="0"/>
                                          </p:stCondLst>
                                        </p:cTn>
                                        <p:tgtEl>
                                          <p:spTgt spid="42002"/>
                                        </p:tgtEl>
                                        <p:attrNameLst>
                                          <p:attrName>style.visibility</p:attrName>
                                        </p:attrNameLst>
                                      </p:cBhvr>
                                      <p:to>
                                        <p:strVal val="visible"/>
                                      </p:to>
                                    </p:set>
                                    <p:animEffect transition="in" filter="randombar(horizontal)">
                                      <p:cBhvr>
                                        <p:cTn id="106" dur="500"/>
                                        <p:tgtEl>
                                          <p:spTgt spid="42002"/>
                                        </p:tgtEl>
                                      </p:cBhvr>
                                    </p:animEffect>
                                  </p:childTnLst>
                                </p:cTn>
                              </p:par>
                            </p:childTnLst>
                          </p:cTn>
                        </p:par>
                      </p:childTnLst>
                    </p:cTn>
                  </p:par>
                  <p:par>
                    <p:cTn id="107" fill="hold">
                      <p:stCondLst>
                        <p:cond delay="indefinite"/>
                      </p:stCondLst>
                      <p:childTnLst>
                        <p:par>
                          <p:cTn id="108" fill="hold">
                            <p:stCondLst>
                              <p:cond delay="0"/>
                            </p:stCondLst>
                            <p:childTnLst>
                              <p:par>
                                <p:cTn id="109" presetID="14" presetClass="entr" presetSubtype="10" fill="hold" nodeType="clickEffect">
                                  <p:stCondLst>
                                    <p:cond delay="0"/>
                                  </p:stCondLst>
                                  <p:childTnLst>
                                    <p:set>
                                      <p:cBhvr>
                                        <p:cTn id="110" dur="1" fill="hold">
                                          <p:stCondLst>
                                            <p:cond delay="0"/>
                                          </p:stCondLst>
                                        </p:cTn>
                                        <p:tgtEl>
                                          <p:spTgt spid="42018"/>
                                        </p:tgtEl>
                                        <p:attrNameLst>
                                          <p:attrName>style.visibility</p:attrName>
                                        </p:attrNameLst>
                                      </p:cBhvr>
                                      <p:to>
                                        <p:strVal val="visible"/>
                                      </p:to>
                                    </p:set>
                                    <p:animEffect transition="in" filter="randombar(horizontal)">
                                      <p:cBhvr>
                                        <p:cTn id="111" dur="500"/>
                                        <p:tgtEl>
                                          <p:spTgt spid="42018"/>
                                        </p:tgtEl>
                                      </p:cBhvr>
                                    </p:animEffect>
                                  </p:childTnLst>
                                </p:cTn>
                              </p:par>
                            </p:childTnLst>
                          </p:cTn>
                        </p:par>
                      </p:childTnLst>
                    </p:cTn>
                  </p:par>
                  <p:par>
                    <p:cTn id="112" fill="hold">
                      <p:stCondLst>
                        <p:cond delay="indefinite"/>
                      </p:stCondLst>
                      <p:childTnLst>
                        <p:par>
                          <p:cTn id="113" fill="hold">
                            <p:stCondLst>
                              <p:cond delay="0"/>
                            </p:stCondLst>
                            <p:childTnLst>
                              <p:par>
                                <p:cTn id="114" presetID="14" presetClass="entr" presetSubtype="10" fill="hold" nodeType="clickEffect">
                                  <p:stCondLst>
                                    <p:cond delay="0"/>
                                  </p:stCondLst>
                                  <p:childTnLst>
                                    <p:set>
                                      <p:cBhvr>
                                        <p:cTn id="115" dur="1" fill="hold">
                                          <p:stCondLst>
                                            <p:cond delay="0"/>
                                          </p:stCondLst>
                                        </p:cTn>
                                        <p:tgtEl>
                                          <p:spTgt spid="42026"/>
                                        </p:tgtEl>
                                        <p:attrNameLst>
                                          <p:attrName>style.visibility</p:attrName>
                                        </p:attrNameLst>
                                      </p:cBhvr>
                                      <p:to>
                                        <p:strVal val="visible"/>
                                      </p:to>
                                    </p:set>
                                    <p:animEffect transition="in" filter="randombar(horizontal)">
                                      <p:cBhvr>
                                        <p:cTn id="116" dur="500"/>
                                        <p:tgtEl>
                                          <p:spTgt spid="42026"/>
                                        </p:tgtEl>
                                      </p:cBhvr>
                                    </p:animEffect>
                                  </p:childTnLst>
                                </p:cTn>
                              </p:par>
                            </p:childTnLst>
                          </p:cTn>
                        </p:par>
                        <p:par>
                          <p:cTn id="117" fill="hold">
                            <p:stCondLst>
                              <p:cond delay="500"/>
                            </p:stCondLst>
                            <p:childTnLst>
                              <p:par>
                                <p:cTn id="118" presetID="14" presetClass="entr" presetSubtype="10" fill="hold" nodeType="afterEffect">
                                  <p:stCondLst>
                                    <p:cond delay="0"/>
                                  </p:stCondLst>
                                  <p:childTnLst>
                                    <p:set>
                                      <p:cBhvr>
                                        <p:cTn id="119" dur="1" fill="hold">
                                          <p:stCondLst>
                                            <p:cond delay="0"/>
                                          </p:stCondLst>
                                        </p:cTn>
                                        <p:tgtEl>
                                          <p:spTgt spid="47"/>
                                        </p:tgtEl>
                                        <p:attrNameLst>
                                          <p:attrName>style.visibility</p:attrName>
                                        </p:attrNameLst>
                                      </p:cBhvr>
                                      <p:to>
                                        <p:strVal val="visible"/>
                                      </p:to>
                                    </p:set>
                                    <p:animEffect transition="in" filter="randombar(horizontal)">
                                      <p:cBhvr>
                                        <p:cTn id="12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029" name="直接箭头连接符 51"/>
          <p:cNvCxnSpPr>
            <a:cxnSpLocks noChangeShapeType="1"/>
          </p:cNvCxnSpPr>
          <p:nvPr/>
        </p:nvCxnSpPr>
        <p:spPr bwMode="auto">
          <a:xfrm>
            <a:off x="3256752" y="4478689"/>
            <a:ext cx="471488" cy="1587"/>
          </a:xfrm>
          <a:prstGeom prst="straightConnector1">
            <a:avLst/>
          </a:prstGeom>
          <a:noFill/>
          <a:ln w="25400">
            <a:solidFill>
              <a:srgbClr val="A7C804"/>
            </a:solidFill>
            <a:round/>
            <a:headEnd/>
            <a:tailEnd type="arrow" w="med" len="med"/>
          </a:ln>
          <a:effectLst>
            <a:outerShdw dist="20000" dir="5400000" algn="ctr" rotWithShape="0">
              <a:srgbClr val="000000">
                <a:alpha val="31998"/>
              </a:srgbClr>
            </a:outerShdw>
          </a:effectLst>
          <a:extLst>
            <a:ext uri="{909E8E84-426E-40DD-AFC4-6F175D3DCCD1}">
              <a14:hiddenFill xmlns:a14="http://schemas.microsoft.com/office/drawing/2010/main">
                <a:noFill/>
              </a14:hiddenFill>
            </a:ext>
          </a:extLst>
        </p:spPr>
      </p:cxnSp>
      <p:cxnSp>
        <p:nvCxnSpPr>
          <p:cNvPr id="43048" name="直接连接符 31"/>
          <p:cNvCxnSpPr>
            <a:cxnSpLocks noChangeShapeType="1"/>
          </p:cNvCxnSpPr>
          <p:nvPr/>
        </p:nvCxnSpPr>
        <p:spPr bwMode="auto">
          <a:xfrm rot="5400000">
            <a:off x="1561302" y="4166389"/>
            <a:ext cx="2095500"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43050" name="直接连接符 20"/>
          <p:cNvCxnSpPr>
            <a:cxnSpLocks noChangeShapeType="1"/>
          </p:cNvCxnSpPr>
          <p:nvPr/>
        </p:nvCxnSpPr>
        <p:spPr bwMode="auto">
          <a:xfrm>
            <a:off x="1285875" y="3049588"/>
            <a:ext cx="1322388"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3051" name="Object 8"/>
          <p:cNvGraphicFramePr>
            <a:graphicFrameLocks noChangeAspect="1"/>
          </p:cNvGraphicFramePr>
          <p:nvPr/>
        </p:nvGraphicFramePr>
        <p:xfrm>
          <a:off x="1044575" y="2910008"/>
          <a:ext cx="197302" cy="313622"/>
        </p:xfrm>
        <a:graphic>
          <a:graphicData uri="http://schemas.openxmlformats.org/presentationml/2006/ole">
            <mc:AlternateContent xmlns:mc="http://schemas.openxmlformats.org/markup-compatibility/2006">
              <mc:Choice xmlns:v="urn:schemas-microsoft-com:vml" Requires="v">
                <p:oleObj spid="_x0000_s191741" r:id="rId3" imgW="165820" imgH="229597" progId="">
                  <p:embed/>
                </p:oleObj>
              </mc:Choice>
              <mc:Fallback>
                <p:oleObj r:id="rId3" imgW="165820" imgH="229597" progId="">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575" y="2910008"/>
                        <a:ext cx="197302" cy="313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52" name="Object 9"/>
          <p:cNvGraphicFramePr>
            <a:graphicFrameLocks noChangeAspect="1"/>
          </p:cNvGraphicFramePr>
          <p:nvPr/>
        </p:nvGraphicFramePr>
        <p:xfrm>
          <a:off x="2428875" y="5284788"/>
          <a:ext cx="228600" cy="314325"/>
        </p:xfrm>
        <a:graphic>
          <a:graphicData uri="http://schemas.openxmlformats.org/presentationml/2006/ole">
            <mc:AlternateContent xmlns:mc="http://schemas.openxmlformats.org/markup-compatibility/2006">
              <mc:Choice xmlns:v="urn:schemas-microsoft-com:vml" Requires="v">
                <p:oleObj spid="_x0000_s191742" r:id="rId5" imgW="191414" imgH="229697" progId="">
                  <p:embed/>
                </p:oleObj>
              </mc:Choice>
              <mc:Fallback>
                <p:oleObj r:id="rId5" imgW="191414" imgH="229697" progId="">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8875" y="5284788"/>
                        <a:ext cx="228600"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53" name="Object 10"/>
          <p:cNvGraphicFramePr>
            <a:graphicFrameLocks noChangeAspect="1"/>
          </p:cNvGraphicFramePr>
          <p:nvPr/>
        </p:nvGraphicFramePr>
        <p:xfrm>
          <a:off x="2622550" y="3189288"/>
          <a:ext cx="228600" cy="314325"/>
        </p:xfrm>
        <a:graphic>
          <a:graphicData uri="http://schemas.openxmlformats.org/presentationml/2006/ole">
            <mc:AlternateContent xmlns:mc="http://schemas.openxmlformats.org/markup-compatibility/2006">
              <mc:Choice xmlns:v="urn:schemas-microsoft-com:vml" Requires="v">
                <p:oleObj spid="_x0000_s191743" r:id="rId7" imgW="191414" imgH="229697" progId="">
                  <p:embed/>
                </p:oleObj>
              </mc:Choice>
              <mc:Fallback>
                <p:oleObj r:id="rId7" imgW="191414" imgH="229697" progId="">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22550" y="3189288"/>
                        <a:ext cx="228600"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3039" name="直接连接符 22"/>
          <p:cNvCxnSpPr>
            <a:cxnSpLocks noChangeShapeType="1"/>
          </p:cNvCxnSpPr>
          <p:nvPr/>
        </p:nvCxnSpPr>
        <p:spPr bwMode="auto">
          <a:xfrm>
            <a:off x="1285875" y="4516438"/>
            <a:ext cx="1503363"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43041" name="直接连接符 12"/>
          <p:cNvCxnSpPr>
            <a:cxnSpLocks noChangeShapeType="1"/>
          </p:cNvCxnSpPr>
          <p:nvPr/>
        </p:nvCxnSpPr>
        <p:spPr bwMode="auto">
          <a:xfrm>
            <a:off x="1412875" y="3259138"/>
            <a:ext cx="2017713" cy="1816100"/>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43042" name="直接连接符 18"/>
          <p:cNvCxnSpPr>
            <a:cxnSpLocks noChangeShapeType="1"/>
          </p:cNvCxnSpPr>
          <p:nvPr/>
        </p:nvCxnSpPr>
        <p:spPr bwMode="auto">
          <a:xfrm rot="5400000" flipH="1" flipV="1">
            <a:off x="2051839" y="3355176"/>
            <a:ext cx="2025650" cy="855662"/>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43043" name="直接连接符 29"/>
          <p:cNvCxnSpPr>
            <a:cxnSpLocks noChangeShapeType="1"/>
          </p:cNvCxnSpPr>
          <p:nvPr/>
        </p:nvCxnSpPr>
        <p:spPr bwMode="auto">
          <a:xfrm rot="16200000" flipH="1">
            <a:off x="2439983" y="4865682"/>
            <a:ext cx="698500" cy="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3044" name="Object 19"/>
          <p:cNvGraphicFramePr>
            <a:graphicFrameLocks noChangeAspect="1"/>
          </p:cNvGraphicFramePr>
          <p:nvPr/>
        </p:nvGraphicFramePr>
        <p:xfrm>
          <a:off x="1044575" y="4377218"/>
          <a:ext cx="182303" cy="313622"/>
        </p:xfrm>
        <a:graphic>
          <a:graphicData uri="http://schemas.openxmlformats.org/presentationml/2006/ole">
            <mc:AlternateContent xmlns:mc="http://schemas.openxmlformats.org/markup-compatibility/2006">
              <mc:Choice xmlns:v="urn:schemas-microsoft-com:vml" Requires="v">
                <p:oleObj spid="_x0000_s191744" r:id="rId9" imgW="153131" imgH="229697" progId="">
                  <p:embed/>
                </p:oleObj>
              </mc:Choice>
              <mc:Fallback>
                <p:oleObj r:id="rId9" imgW="153131" imgH="229697" progId="">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575" y="4377218"/>
                        <a:ext cx="182303" cy="313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45" name="Object 20"/>
          <p:cNvGraphicFramePr>
            <a:graphicFrameLocks noChangeAspect="1"/>
          </p:cNvGraphicFramePr>
          <p:nvPr/>
        </p:nvGraphicFramePr>
        <p:xfrm>
          <a:off x="2728717" y="5285491"/>
          <a:ext cx="212233" cy="313622"/>
        </p:xfrm>
        <a:graphic>
          <a:graphicData uri="http://schemas.openxmlformats.org/presentationml/2006/ole">
            <mc:AlternateContent xmlns:mc="http://schemas.openxmlformats.org/markup-compatibility/2006">
              <mc:Choice xmlns:v="urn:schemas-microsoft-com:vml" Requires="v">
                <p:oleObj spid="_x0000_s191745" r:id="rId11" imgW="178497" imgH="229496" progId="">
                  <p:embed/>
                </p:oleObj>
              </mc:Choice>
              <mc:Fallback>
                <p:oleObj r:id="rId11" imgW="178497" imgH="229496" progId="">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28717" y="5285491"/>
                        <a:ext cx="212233" cy="313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46" name="Object 21"/>
          <p:cNvGraphicFramePr>
            <a:graphicFrameLocks noChangeAspect="1"/>
          </p:cNvGraphicFramePr>
          <p:nvPr/>
        </p:nvGraphicFramePr>
        <p:xfrm>
          <a:off x="2894826" y="4307351"/>
          <a:ext cx="212233" cy="313622"/>
        </p:xfrm>
        <a:graphic>
          <a:graphicData uri="http://schemas.openxmlformats.org/presentationml/2006/ole">
            <mc:AlternateContent xmlns:mc="http://schemas.openxmlformats.org/markup-compatibility/2006">
              <mc:Choice xmlns:v="urn:schemas-microsoft-com:vml" Requires="v">
                <p:oleObj spid="_x0000_s191746" r:id="rId13" imgW="178497" imgH="229496" progId="">
                  <p:embed/>
                </p:oleObj>
              </mc:Choice>
              <mc:Fallback>
                <p:oleObj r:id="rId13" imgW="178497" imgH="229496" progId="">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94826" y="4307351"/>
                        <a:ext cx="212233" cy="313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47" name="Object 22"/>
          <p:cNvGraphicFramePr>
            <a:graphicFrameLocks noChangeAspect="1"/>
          </p:cNvGraphicFramePr>
          <p:nvPr/>
        </p:nvGraphicFramePr>
        <p:xfrm>
          <a:off x="3450479" y="2420938"/>
          <a:ext cx="197267" cy="313622"/>
        </p:xfrm>
        <a:graphic>
          <a:graphicData uri="http://schemas.openxmlformats.org/presentationml/2006/ole">
            <mc:AlternateContent xmlns:mc="http://schemas.openxmlformats.org/markup-compatibility/2006">
              <mc:Choice xmlns:v="urn:schemas-microsoft-com:vml" Requires="v">
                <p:oleObj spid="_x0000_s191747" r:id="rId15" imgW="165820" imgH="229597" progId="">
                  <p:embed/>
                </p:oleObj>
              </mc:Choice>
              <mc:Fallback>
                <p:oleObj r:id="rId15" imgW="165820" imgH="229597" progId="">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50479" y="2420938"/>
                        <a:ext cx="197267" cy="313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38" name="Object 23"/>
          <p:cNvGraphicFramePr>
            <a:graphicFrameLocks noChangeAspect="1"/>
          </p:cNvGraphicFramePr>
          <p:nvPr/>
        </p:nvGraphicFramePr>
        <p:xfrm>
          <a:off x="3432216" y="4866279"/>
          <a:ext cx="228559" cy="313622"/>
        </p:xfrm>
        <a:graphic>
          <a:graphicData uri="http://schemas.openxmlformats.org/presentationml/2006/ole">
            <mc:AlternateContent xmlns:mc="http://schemas.openxmlformats.org/markup-compatibility/2006">
              <mc:Choice xmlns:v="urn:schemas-microsoft-com:vml" Requires="v">
                <p:oleObj spid="_x0000_s191748" r:id="rId17" imgW="191414" imgH="229697" progId="">
                  <p:embed/>
                </p:oleObj>
              </mc:Choice>
              <mc:Fallback>
                <p:oleObj r:id="rId17" imgW="191414" imgH="229697" progId="">
                  <p:embed/>
                  <p:pic>
                    <p:nvPicPr>
                      <p:cNvPr id="0" name="Object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32216" y="4866279"/>
                        <a:ext cx="228559" cy="313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3033" name="直接箭头连接符 7"/>
          <p:cNvCxnSpPr>
            <a:cxnSpLocks noChangeShapeType="1"/>
          </p:cNvCxnSpPr>
          <p:nvPr/>
        </p:nvCxnSpPr>
        <p:spPr bwMode="auto">
          <a:xfrm rot="5400000" flipH="1" flipV="1">
            <a:off x="-78582" y="3817144"/>
            <a:ext cx="2794000"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43034" name="直接箭头连接符 5"/>
          <p:cNvCxnSpPr>
            <a:cxnSpLocks noChangeShapeType="1"/>
          </p:cNvCxnSpPr>
          <p:nvPr/>
        </p:nvCxnSpPr>
        <p:spPr bwMode="auto">
          <a:xfrm>
            <a:off x="1317624" y="5214938"/>
            <a:ext cx="3184525"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43035" name="Object 31"/>
          <p:cNvGraphicFramePr>
            <a:graphicFrameLocks noChangeAspect="1"/>
          </p:cNvGraphicFramePr>
          <p:nvPr/>
        </p:nvGraphicFramePr>
        <p:xfrm>
          <a:off x="1073149" y="5285490"/>
          <a:ext cx="182335" cy="242204"/>
        </p:xfrm>
        <a:graphic>
          <a:graphicData uri="http://schemas.openxmlformats.org/presentationml/2006/ole">
            <mc:AlternateContent xmlns:mc="http://schemas.openxmlformats.org/markup-compatibility/2006">
              <mc:Choice xmlns:v="urn:schemas-microsoft-com:vml" Requires="v">
                <p:oleObj spid="_x0000_s191749" r:id="rId19" imgW="153198" imgH="178731" progId="">
                  <p:embed/>
                </p:oleObj>
              </mc:Choice>
              <mc:Fallback>
                <p:oleObj r:id="rId19" imgW="153198" imgH="178731" progId="">
                  <p:embed/>
                  <p:pic>
                    <p:nvPicPr>
                      <p:cNvPr id="0" name="Object 3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73149" y="5285490"/>
                        <a:ext cx="182335" cy="242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36" name="Object 32"/>
          <p:cNvGraphicFramePr>
            <a:graphicFrameLocks noChangeAspect="1"/>
          </p:cNvGraphicFramePr>
          <p:nvPr/>
        </p:nvGraphicFramePr>
        <p:xfrm>
          <a:off x="1073149" y="2420938"/>
          <a:ext cx="182335" cy="225127"/>
        </p:xfrm>
        <a:graphic>
          <a:graphicData uri="http://schemas.openxmlformats.org/presentationml/2006/ole">
            <mc:AlternateContent xmlns:mc="http://schemas.openxmlformats.org/markup-compatibility/2006">
              <mc:Choice xmlns:v="urn:schemas-microsoft-com:vml" Requires="v">
                <p:oleObj spid="_x0000_s191750" r:id="rId21" imgW="153332" imgH="166109" progId="">
                  <p:embed/>
                </p:oleObj>
              </mc:Choice>
              <mc:Fallback>
                <p:oleObj r:id="rId21" imgW="153332" imgH="166109" progId="">
                  <p:embed/>
                  <p:pic>
                    <p:nvPicPr>
                      <p:cNvPr id="0" name="Object 3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73149" y="2420938"/>
                        <a:ext cx="182335" cy="225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32" name="Object 33"/>
          <p:cNvGraphicFramePr>
            <a:graphicFrameLocks noChangeAspect="1"/>
          </p:cNvGraphicFramePr>
          <p:nvPr/>
        </p:nvGraphicFramePr>
        <p:xfrm>
          <a:off x="4318453" y="5285490"/>
          <a:ext cx="182335" cy="277913"/>
        </p:xfrm>
        <a:graphic>
          <a:graphicData uri="http://schemas.openxmlformats.org/presentationml/2006/ole">
            <mc:AlternateContent xmlns:mc="http://schemas.openxmlformats.org/markup-compatibility/2006">
              <mc:Choice xmlns:v="urn:schemas-microsoft-com:vml" Requires="v">
                <p:oleObj spid="_x0000_s191751" r:id="rId23" imgW="153332" imgH="204442" progId="">
                  <p:embed/>
                </p:oleObj>
              </mc:Choice>
              <mc:Fallback>
                <p:oleObj r:id="rId23" imgW="153332" imgH="204442" progId="">
                  <p:embed/>
                  <p:pic>
                    <p:nvPicPr>
                      <p:cNvPr id="0" name="Object 3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318453" y="5285490"/>
                        <a:ext cx="182335" cy="277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3022" name="直接箭头连接符 48"/>
          <p:cNvCxnSpPr>
            <a:cxnSpLocks noChangeShapeType="1"/>
          </p:cNvCxnSpPr>
          <p:nvPr/>
        </p:nvCxnSpPr>
        <p:spPr bwMode="auto">
          <a:xfrm rot="10800000">
            <a:off x="2795355" y="2979738"/>
            <a:ext cx="482600" cy="1588"/>
          </a:xfrm>
          <a:prstGeom prst="straightConnector1">
            <a:avLst/>
          </a:prstGeom>
          <a:noFill/>
          <a:ln w="25400">
            <a:solidFill>
              <a:srgbClr val="A7C804"/>
            </a:solidFill>
            <a:round/>
            <a:headEnd/>
            <a:tailEnd type="arrow" w="med" len="med"/>
          </a:ln>
          <a:effectLst>
            <a:outerShdw dist="20000" dir="5400000" algn="ctr" rotWithShape="0">
              <a:srgbClr val="000000">
                <a:alpha val="31998"/>
              </a:srgbClr>
            </a:outerShdw>
          </a:effectLst>
          <a:extLst>
            <a:ext uri="{909E8E84-426E-40DD-AFC4-6F175D3DCCD1}">
              <a14:hiddenFill xmlns:a14="http://schemas.microsoft.com/office/drawing/2010/main">
                <a:noFill/>
              </a14:hiddenFill>
            </a:ext>
          </a:extLst>
        </p:spPr>
      </p:cxnSp>
      <p:cxnSp>
        <p:nvCxnSpPr>
          <p:cNvPr id="43027" name="直接连接符 15"/>
          <p:cNvCxnSpPr>
            <a:cxnSpLocks noChangeShapeType="1"/>
          </p:cNvCxnSpPr>
          <p:nvPr/>
        </p:nvCxnSpPr>
        <p:spPr bwMode="auto">
          <a:xfrm rot="5400000" flipH="1" flipV="1">
            <a:off x="1253099" y="3294851"/>
            <a:ext cx="2101850" cy="912812"/>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aphicFrame>
        <p:nvGraphicFramePr>
          <p:cNvPr id="43028" name="Object 38"/>
          <p:cNvGraphicFramePr>
            <a:graphicFrameLocks noChangeAspect="1"/>
          </p:cNvGraphicFramePr>
          <p:nvPr/>
        </p:nvGraphicFramePr>
        <p:xfrm>
          <a:off x="2676256" y="2420938"/>
          <a:ext cx="212082" cy="313623"/>
        </p:xfrm>
        <a:graphic>
          <a:graphicData uri="http://schemas.openxmlformats.org/presentationml/2006/ole">
            <mc:AlternateContent xmlns:mc="http://schemas.openxmlformats.org/markup-compatibility/2006">
              <mc:Choice xmlns:v="urn:schemas-microsoft-com:vml" Requires="v">
                <p:oleObj spid="_x0000_s191752" r:id="rId25" imgW="178497" imgH="229496" progId="">
                  <p:embed/>
                </p:oleObj>
              </mc:Choice>
              <mc:Fallback>
                <p:oleObj r:id="rId25" imgW="178497" imgH="229496" progId="">
                  <p:embed/>
                  <p:pic>
                    <p:nvPicPr>
                      <p:cNvPr id="0" name="Object 3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676256" y="2420938"/>
                        <a:ext cx="212082" cy="313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3025" name="直接连接符 10"/>
          <p:cNvCxnSpPr>
            <a:cxnSpLocks noChangeShapeType="1"/>
          </p:cNvCxnSpPr>
          <p:nvPr/>
        </p:nvCxnSpPr>
        <p:spPr bwMode="auto">
          <a:xfrm>
            <a:off x="2296960" y="2770188"/>
            <a:ext cx="1960562" cy="1676400"/>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aphicFrame>
        <p:nvGraphicFramePr>
          <p:cNvPr id="43026" name="Object 41"/>
          <p:cNvGraphicFramePr>
            <a:graphicFrameLocks noChangeAspect="1"/>
          </p:cNvGraphicFramePr>
          <p:nvPr/>
        </p:nvGraphicFramePr>
        <p:xfrm>
          <a:off x="4257149" y="4167617"/>
          <a:ext cx="243639" cy="313624"/>
        </p:xfrm>
        <a:graphic>
          <a:graphicData uri="http://schemas.openxmlformats.org/presentationml/2006/ole">
            <mc:AlternateContent xmlns:mc="http://schemas.openxmlformats.org/markup-compatibility/2006">
              <mc:Choice xmlns:v="urn:schemas-microsoft-com:vml" Requires="v">
                <p:oleObj spid="_x0000_s191753" r:id="rId27" imgW="204086" imgH="229597" progId="">
                  <p:embed/>
                </p:oleObj>
              </mc:Choice>
              <mc:Fallback>
                <p:oleObj r:id="rId27" imgW="204086" imgH="229597" progId="">
                  <p:embed/>
                  <p:pic>
                    <p:nvPicPr>
                      <p:cNvPr id="0" name="Object 4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257149" y="4167617"/>
                        <a:ext cx="243639" cy="313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7930" name="组合 9"/>
          <p:cNvGrpSpPr>
            <a:grpSpLocks/>
          </p:cNvGrpSpPr>
          <p:nvPr/>
        </p:nvGrpSpPr>
        <p:grpSpPr bwMode="auto">
          <a:xfrm>
            <a:off x="4531785" y="2995927"/>
            <a:ext cx="4096613" cy="1862417"/>
            <a:chOff x="113281" y="-32787"/>
            <a:chExt cx="4128087" cy="1285893"/>
          </a:xfrm>
          <a:solidFill>
            <a:srgbClr val="F3C97F"/>
          </a:solidFill>
        </p:grpSpPr>
        <p:sp>
          <p:nvSpPr>
            <p:cNvPr id="43014" name="圆角矩形 39"/>
            <p:cNvSpPr>
              <a:spLocks noChangeArrowheads="1"/>
            </p:cNvSpPr>
            <p:nvPr/>
          </p:nvSpPr>
          <p:spPr bwMode="auto">
            <a:xfrm>
              <a:off x="113281" y="-32787"/>
              <a:ext cx="4128087" cy="1285893"/>
            </a:xfrm>
            <a:prstGeom prst="roundRect">
              <a:avLst>
                <a:gd name="adj" fmla="val 16667"/>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43015" name="TextBox 3"/>
            <p:cNvSpPr txBox="1">
              <a:spLocks noChangeArrowheads="1"/>
            </p:cNvSpPr>
            <p:nvPr/>
          </p:nvSpPr>
          <p:spPr bwMode="auto">
            <a:xfrm>
              <a:off x="196610" y="63102"/>
              <a:ext cx="4044758" cy="90381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spcBef>
                  <a:spcPct val="0"/>
                </a:spcBef>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需求增加</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solidFill>
                    <a:schemeClr val="tx1"/>
                  </a:solidFill>
                  <a:latin typeface="微软雅黑" panose="020B0503020204020204" pitchFamily="34" charset="-122"/>
                  <a:ea typeface="微软雅黑" panose="020B0503020204020204" pitchFamily="34" charset="-122"/>
                </a:rPr>
                <a:t>需求曲线向右平移</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342900" indent="-342900" eaLnBrk="1" hangingPunct="1">
                <a:spcBef>
                  <a:spcPct val="0"/>
                </a:spcBef>
                <a:buFont typeface="Wingdings" panose="05000000000000000000" pitchFamily="2" charset="2"/>
                <a:buChar char="Ø"/>
              </a:pPr>
              <a:endParaRPr lang="en-US" altLang="zh-CN" sz="1800" b="0" dirty="0">
                <a:solidFill>
                  <a:schemeClr val="tx1"/>
                </a:solidFill>
                <a:latin typeface="微软雅黑" panose="020B0503020204020204" pitchFamily="34" charset="-122"/>
                <a:ea typeface="微软雅黑" panose="020B0503020204020204" pitchFamily="34" charset="-122"/>
              </a:endParaRPr>
            </a:p>
            <a:p>
              <a:pPr marL="342900" indent="-342900" eaLnBrk="1" hangingPunct="1">
                <a:spcBef>
                  <a:spcPct val="0"/>
                </a:spcBef>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供给减少</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solidFill>
                    <a:schemeClr val="tx1"/>
                  </a:solidFill>
                  <a:latin typeface="微软雅黑" panose="020B0503020204020204" pitchFamily="34" charset="-122"/>
                  <a:ea typeface="微软雅黑" panose="020B0503020204020204" pitchFamily="34" charset="-122"/>
                </a:rPr>
                <a:t>供给曲线向左平移</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342900" indent="-342900" eaLnBrk="1" hangingPunct="1">
                <a:spcBef>
                  <a:spcPct val="0"/>
                </a:spcBef>
                <a:buFont typeface="Wingdings" panose="05000000000000000000" pitchFamily="2" charset="2"/>
                <a:buChar char="Ø"/>
              </a:pPr>
              <a:endParaRPr lang="en-US" altLang="zh-CN" sz="1800" b="0" dirty="0">
                <a:solidFill>
                  <a:schemeClr val="tx1"/>
                </a:solidFill>
                <a:latin typeface="微软雅黑" panose="020B0503020204020204" pitchFamily="34" charset="-122"/>
                <a:ea typeface="微软雅黑" panose="020B0503020204020204" pitchFamily="34" charset="-122"/>
              </a:endParaRPr>
            </a:p>
            <a:p>
              <a:pPr marL="342900" indent="-342900" eaLnBrk="1" hangingPunct="1">
                <a:spcBef>
                  <a:spcPct val="0"/>
                </a:spcBef>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结果：市场均衡由</a:t>
              </a:r>
              <a:r>
                <a:rPr lang="en-US" altLang="zh-CN" sz="1800" b="0" dirty="0">
                  <a:solidFill>
                    <a:schemeClr val="tx1"/>
                  </a:solidFill>
                </a:rPr>
                <a:t>E</a:t>
              </a:r>
              <a:r>
                <a:rPr lang="en-US" altLang="zh-CN" sz="1800" b="0" baseline="-25000" dirty="0">
                  <a:solidFill>
                    <a:schemeClr val="tx1"/>
                  </a:solidFill>
                </a:rPr>
                <a:t>1</a:t>
              </a:r>
              <a:r>
                <a:rPr lang="zh-CN" altLang="en-US" sz="1800" b="0" dirty="0">
                  <a:solidFill>
                    <a:schemeClr val="tx1"/>
                  </a:solidFill>
                  <a:latin typeface="微软雅黑" panose="020B0503020204020204" pitchFamily="34" charset="-122"/>
                  <a:ea typeface="微软雅黑" panose="020B0503020204020204" pitchFamily="34" charset="-122"/>
                </a:rPr>
                <a:t>变为</a:t>
              </a:r>
              <a:r>
                <a:rPr lang="en-US" altLang="zh-CN" sz="1800" b="0" dirty="0">
                  <a:solidFill>
                    <a:schemeClr val="tx1"/>
                  </a:solidFill>
                </a:rPr>
                <a:t>E</a:t>
              </a:r>
              <a:r>
                <a:rPr lang="en-US" altLang="zh-CN" sz="1800" b="0" baseline="-25000" dirty="0">
                  <a:solidFill>
                    <a:schemeClr val="tx1"/>
                  </a:solidFill>
                </a:rPr>
                <a:t>2</a:t>
              </a:r>
              <a:r>
                <a:rPr lang="zh-CN" altLang="en-US" sz="1800" b="0" dirty="0">
                  <a:solidFill>
                    <a:schemeClr val="tx1"/>
                  </a:solidFill>
                  <a:latin typeface="微软雅黑" panose="020B0503020204020204" pitchFamily="34" charset="-122"/>
                  <a:ea typeface="微软雅黑" panose="020B0503020204020204" pitchFamily="34" charset="-122"/>
                </a:rPr>
                <a:t>。</a:t>
              </a:r>
              <a:endParaRPr lang="en-US" altLang="zh-CN" sz="1800" b="0" dirty="0">
                <a:solidFill>
                  <a:schemeClr val="tx1"/>
                </a:solidFill>
                <a:latin typeface="微软雅黑" panose="020B0503020204020204" pitchFamily="34" charset="-122"/>
                <a:ea typeface="微软雅黑" panose="020B0503020204020204" pitchFamily="34" charset="-122"/>
              </a:endParaRPr>
            </a:p>
          </p:txBody>
        </p:sp>
      </p:grpSp>
      <p:sp>
        <p:nvSpPr>
          <p:cNvPr id="47" name="矩形 46">
            <a:extLst>
              <a:ext uri="{FF2B5EF4-FFF2-40B4-BE49-F238E27FC236}">
                <a16:creationId xmlns:a16="http://schemas.microsoft.com/office/drawing/2014/main" id="{6389BA3E-1C17-4AB9-8673-E66FDFE7552C}"/>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p:sp>
        <p:nvSpPr>
          <p:cNvPr id="48" name="矩形 47">
            <a:extLst>
              <a:ext uri="{FF2B5EF4-FFF2-40B4-BE49-F238E27FC236}">
                <a16:creationId xmlns:a16="http://schemas.microsoft.com/office/drawing/2014/main" id="{3A8D84F1-01EA-4AD1-AB98-5D53ECEF1068}"/>
              </a:ext>
            </a:extLst>
          </p:cNvPr>
          <p:cNvSpPr/>
          <p:nvPr/>
        </p:nvSpPr>
        <p:spPr>
          <a:xfrm>
            <a:off x="467543" y="548680"/>
            <a:ext cx="3162141"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三、市场均衡的变动 </a:t>
            </a:r>
          </a:p>
        </p:txBody>
      </p:sp>
      <p:sp>
        <p:nvSpPr>
          <p:cNvPr id="49" name="Rectangle 3">
            <a:extLst>
              <a:ext uri="{FF2B5EF4-FFF2-40B4-BE49-F238E27FC236}">
                <a16:creationId xmlns:a16="http://schemas.microsoft.com/office/drawing/2014/main" id="{12612E8C-7219-49B9-A882-BAD2C8239348}"/>
              </a:ext>
            </a:extLst>
          </p:cNvPr>
          <p:cNvSpPr txBox="1">
            <a:spLocks noChangeArrowheads="1"/>
          </p:cNvSpPr>
          <p:nvPr/>
        </p:nvSpPr>
        <p:spPr bwMode="auto">
          <a:xfrm>
            <a:off x="34925" y="1400075"/>
            <a:ext cx="6263679" cy="503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eaLnBrk="1" hangingPunct="1">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需求增加和供给减少对市场均衡的影响</a:t>
            </a:r>
          </a:p>
        </p:txBody>
      </p:sp>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
                                            <p:txEl>
                                              <p:pRg st="0" end="0"/>
                                            </p:txEl>
                                          </p:spTgt>
                                        </p:tgtEl>
                                        <p:attrNameLst>
                                          <p:attrName>style.visibility</p:attrName>
                                        </p:attrNameLst>
                                      </p:cBhvr>
                                      <p:to>
                                        <p:strVal val="visible"/>
                                      </p:to>
                                    </p:set>
                                    <p:animEffect transition="in" filter="wipe(left)">
                                      <p:cBhvr>
                                        <p:cTn id="7" dur="500"/>
                                        <p:tgtEl>
                                          <p:spTgt spid="4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3035"/>
                                        </p:tgtEl>
                                        <p:attrNameLst>
                                          <p:attrName>style.visibility</p:attrName>
                                        </p:attrNameLst>
                                      </p:cBhvr>
                                      <p:to>
                                        <p:strVal val="visible"/>
                                      </p:to>
                                    </p:set>
                                    <p:animEffect transition="in" filter="randombar(horizontal)">
                                      <p:cBhvr>
                                        <p:cTn id="12" dur="500"/>
                                        <p:tgtEl>
                                          <p:spTgt spid="430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3034"/>
                                        </p:tgtEl>
                                        <p:attrNameLst>
                                          <p:attrName>style.visibility</p:attrName>
                                        </p:attrNameLst>
                                      </p:cBhvr>
                                      <p:to>
                                        <p:strVal val="visible"/>
                                      </p:to>
                                    </p:set>
                                    <p:animEffect transition="in" filter="wipe(left)">
                                      <p:cBhvr>
                                        <p:cTn id="17" dur="500"/>
                                        <p:tgtEl>
                                          <p:spTgt spid="43034"/>
                                        </p:tgtEl>
                                      </p:cBhvr>
                                    </p:animEffect>
                                  </p:childTnLst>
                                </p:cTn>
                              </p:par>
                              <p:par>
                                <p:cTn id="18" presetID="22" presetClass="entr" presetSubtype="4" fill="hold" nodeType="withEffect">
                                  <p:stCondLst>
                                    <p:cond delay="0"/>
                                  </p:stCondLst>
                                  <p:childTnLst>
                                    <p:set>
                                      <p:cBhvr>
                                        <p:cTn id="19" dur="1" fill="hold">
                                          <p:stCondLst>
                                            <p:cond delay="0"/>
                                          </p:stCondLst>
                                        </p:cTn>
                                        <p:tgtEl>
                                          <p:spTgt spid="43033"/>
                                        </p:tgtEl>
                                        <p:attrNameLst>
                                          <p:attrName>style.visibility</p:attrName>
                                        </p:attrNameLst>
                                      </p:cBhvr>
                                      <p:to>
                                        <p:strVal val="visible"/>
                                      </p:to>
                                    </p:set>
                                    <p:animEffect transition="in" filter="wipe(down)">
                                      <p:cBhvr>
                                        <p:cTn id="20" dur="500"/>
                                        <p:tgtEl>
                                          <p:spTgt spid="43033"/>
                                        </p:tgtEl>
                                      </p:cBhvr>
                                    </p:animEffect>
                                  </p:childTnLst>
                                </p:cTn>
                              </p:par>
                            </p:childTnLst>
                          </p:cTn>
                        </p:par>
                        <p:par>
                          <p:cTn id="21" fill="hold">
                            <p:stCondLst>
                              <p:cond delay="500"/>
                            </p:stCondLst>
                            <p:childTnLst>
                              <p:par>
                                <p:cTn id="22" presetID="14" presetClass="entr" presetSubtype="10" fill="hold" nodeType="afterEffect">
                                  <p:stCondLst>
                                    <p:cond delay="0"/>
                                  </p:stCondLst>
                                  <p:childTnLst>
                                    <p:set>
                                      <p:cBhvr>
                                        <p:cTn id="23" dur="1" fill="hold">
                                          <p:stCondLst>
                                            <p:cond delay="0"/>
                                          </p:stCondLst>
                                        </p:cTn>
                                        <p:tgtEl>
                                          <p:spTgt spid="43032"/>
                                        </p:tgtEl>
                                        <p:attrNameLst>
                                          <p:attrName>style.visibility</p:attrName>
                                        </p:attrNameLst>
                                      </p:cBhvr>
                                      <p:to>
                                        <p:strVal val="visible"/>
                                      </p:to>
                                    </p:set>
                                    <p:animEffect transition="in" filter="randombar(horizontal)">
                                      <p:cBhvr>
                                        <p:cTn id="24" dur="500"/>
                                        <p:tgtEl>
                                          <p:spTgt spid="43032"/>
                                        </p:tgtEl>
                                      </p:cBhvr>
                                    </p:animEffect>
                                  </p:childTnLst>
                                </p:cTn>
                              </p:par>
                            </p:childTnLst>
                          </p:cTn>
                        </p:par>
                        <p:par>
                          <p:cTn id="25" fill="hold">
                            <p:stCondLst>
                              <p:cond delay="1000"/>
                            </p:stCondLst>
                            <p:childTnLst>
                              <p:par>
                                <p:cTn id="26" presetID="14" presetClass="entr" presetSubtype="10" fill="hold" nodeType="afterEffect">
                                  <p:stCondLst>
                                    <p:cond delay="0"/>
                                  </p:stCondLst>
                                  <p:childTnLst>
                                    <p:set>
                                      <p:cBhvr>
                                        <p:cTn id="27" dur="1" fill="hold">
                                          <p:stCondLst>
                                            <p:cond delay="0"/>
                                          </p:stCondLst>
                                        </p:cTn>
                                        <p:tgtEl>
                                          <p:spTgt spid="43036"/>
                                        </p:tgtEl>
                                        <p:attrNameLst>
                                          <p:attrName>style.visibility</p:attrName>
                                        </p:attrNameLst>
                                      </p:cBhvr>
                                      <p:to>
                                        <p:strVal val="visible"/>
                                      </p:to>
                                    </p:set>
                                    <p:animEffect transition="in" filter="randombar(horizontal)">
                                      <p:cBhvr>
                                        <p:cTn id="28" dur="500"/>
                                        <p:tgtEl>
                                          <p:spTgt spid="4303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43042"/>
                                        </p:tgtEl>
                                        <p:attrNameLst>
                                          <p:attrName>style.visibility</p:attrName>
                                        </p:attrNameLst>
                                      </p:cBhvr>
                                      <p:to>
                                        <p:strVal val="visible"/>
                                      </p:to>
                                    </p:set>
                                    <p:animEffect transition="in" filter="wipe(down)">
                                      <p:cBhvr>
                                        <p:cTn id="33" dur="500"/>
                                        <p:tgtEl>
                                          <p:spTgt spid="43042"/>
                                        </p:tgtEl>
                                      </p:cBhvr>
                                    </p:animEffect>
                                  </p:childTnLst>
                                </p:cTn>
                              </p:par>
                            </p:childTnLst>
                          </p:cTn>
                        </p:par>
                        <p:par>
                          <p:cTn id="34" fill="hold">
                            <p:stCondLst>
                              <p:cond delay="500"/>
                            </p:stCondLst>
                            <p:childTnLst>
                              <p:par>
                                <p:cTn id="35" presetID="14" presetClass="entr" presetSubtype="10" fill="hold" nodeType="afterEffect">
                                  <p:stCondLst>
                                    <p:cond delay="0"/>
                                  </p:stCondLst>
                                  <p:childTnLst>
                                    <p:set>
                                      <p:cBhvr>
                                        <p:cTn id="36" dur="1" fill="hold">
                                          <p:stCondLst>
                                            <p:cond delay="0"/>
                                          </p:stCondLst>
                                        </p:cTn>
                                        <p:tgtEl>
                                          <p:spTgt spid="43047"/>
                                        </p:tgtEl>
                                        <p:attrNameLst>
                                          <p:attrName>style.visibility</p:attrName>
                                        </p:attrNameLst>
                                      </p:cBhvr>
                                      <p:to>
                                        <p:strVal val="visible"/>
                                      </p:to>
                                    </p:set>
                                    <p:animEffect transition="in" filter="randombar(horizontal)">
                                      <p:cBhvr>
                                        <p:cTn id="37" dur="500"/>
                                        <p:tgtEl>
                                          <p:spTgt spid="4304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3041"/>
                                        </p:tgtEl>
                                        <p:attrNameLst>
                                          <p:attrName>style.visibility</p:attrName>
                                        </p:attrNameLst>
                                      </p:cBhvr>
                                      <p:to>
                                        <p:strVal val="visible"/>
                                      </p:to>
                                    </p:set>
                                    <p:animEffect transition="in" filter="wipe(left)">
                                      <p:cBhvr>
                                        <p:cTn id="42" dur="500"/>
                                        <p:tgtEl>
                                          <p:spTgt spid="43041"/>
                                        </p:tgtEl>
                                      </p:cBhvr>
                                    </p:animEffect>
                                  </p:childTnLst>
                                </p:cTn>
                              </p:par>
                            </p:childTnLst>
                          </p:cTn>
                        </p:par>
                        <p:par>
                          <p:cTn id="43" fill="hold">
                            <p:stCondLst>
                              <p:cond delay="500"/>
                            </p:stCondLst>
                            <p:childTnLst>
                              <p:par>
                                <p:cTn id="44" presetID="14" presetClass="entr" presetSubtype="10" fill="hold" nodeType="afterEffect">
                                  <p:stCondLst>
                                    <p:cond delay="0"/>
                                  </p:stCondLst>
                                  <p:childTnLst>
                                    <p:set>
                                      <p:cBhvr>
                                        <p:cTn id="45" dur="1" fill="hold">
                                          <p:stCondLst>
                                            <p:cond delay="0"/>
                                          </p:stCondLst>
                                        </p:cTn>
                                        <p:tgtEl>
                                          <p:spTgt spid="43038"/>
                                        </p:tgtEl>
                                        <p:attrNameLst>
                                          <p:attrName>style.visibility</p:attrName>
                                        </p:attrNameLst>
                                      </p:cBhvr>
                                      <p:to>
                                        <p:strVal val="visible"/>
                                      </p:to>
                                    </p:set>
                                    <p:animEffect transition="in" filter="randombar(horizontal)">
                                      <p:cBhvr>
                                        <p:cTn id="46" dur="500"/>
                                        <p:tgtEl>
                                          <p:spTgt spid="43038"/>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43051"/>
                                        </p:tgtEl>
                                        <p:attrNameLst>
                                          <p:attrName>style.visibility</p:attrName>
                                        </p:attrNameLst>
                                      </p:cBhvr>
                                      <p:to>
                                        <p:strVal val="visible"/>
                                      </p:to>
                                    </p:set>
                                    <p:animEffect transition="in" filter="randombar(horizontal)">
                                      <p:cBhvr>
                                        <p:cTn id="51" dur="500"/>
                                        <p:tgtEl>
                                          <p:spTgt spid="43051"/>
                                        </p:tgtEl>
                                      </p:cBhvr>
                                    </p:animEffect>
                                  </p:childTnLst>
                                </p:cTn>
                              </p:par>
                              <p:par>
                                <p:cTn id="52" presetID="14" presetClass="entr" presetSubtype="10" fill="hold" nodeType="withEffect">
                                  <p:stCondLst>
                                    <p:cond delay="0"/>
                                  </p:stCondLst>
                                  <p:childTnLst>
                                    <p:set>
                                      <p:cBhvr>
                                        <p:cTn id="53" dur="1" fill="hold">
                                          <p:stCondLst>
                                            <p:cond delay="0"/>
                                          </p:stCondLst>
                                        </p:cTn>
                                        <p:tgtEl>
                                          <p:spTgt spid="43052"/>
                                        </p:tgtEl>
                                        <p:attrNameLst>
                                          <p:attrName>style.visibility</p:attrName>
                                        </p:attrNameLst>
                                      </p:cBhvr>
                                      <p:to>
                                        <p:strVal val="visible"/>
                                      </p:to>
                                    </p:set>
                                    <p:animEffect transition="in" filter="randombar(horizontal)">
                                      <p:cBhvr>
                                        <p:cTn id="54" dur="500"/>
                                        <p:tgtEl>
                                          <p:spTgt spid="43052"/>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43050"/>
                                        </p:tgtEl>
                                        <p:attrNameLst>
                                          <p:attrName>style.visibility</p:attrName>
                                        </p:attrNameLst>
                                      </p:cBhvr>
                                      <p:to>
                                        <p:strVal val="visible"/>
                                      </p:to>
                                    </p:set>
                                    <p:animEffect transition="in" filter="wipe(left)">
                                      <p:cBhvr>
                                        <p:cTn id="58" dur="500"/>
                                        <p:tgtEl>
                                          <p:spTgt spid="43050"/>
                                        </p:tgtEl>
                                      </p:cBhvr>
                                    </p:animEffect>
                                  </p:childTnLst>
                                </p:cTn>
                              </p:par>
                            </p:childTnLst>
                          </p:cTn>
                        </p:par>
                        <p:par>
                          <p:cTn id="59" fill="hold">
                            <p:stCondLst>
                              <p:cond delay="1000"/>
                            </p:stCondLst>
                            <p:childTnLst>
                              <p:par>
                                <p:cTn id="60" presetID="22" presetClass="entr" presetSubtype="4" fill="hold" nodeType="afterEffect">
                                  <p:stCondLst>
                                    <p:cond delay="0"/>
                                  </p:stCondLst>
                                  <p:childTnLst>
                                    <p:set>
                                      <p:cBhvr>
                                        <p:cTn id="61" dur="1" fill="hold">
                                          <p:stCondLst>
                                            <p:cond delay="0"/>
                                          </p:stCondLst>
                                        </p:cTn>
                                        <p:tgtEl>
                                          <p:spTgt spid="43048"/>
                                        </p:tgtEl>
                                        <p:attrNameLst>
                                          <p:attrName>style.visibility</p:attrName>
                                        </p:attrNameLst>
                                      </p:cBhvr>
                                      <p:to>
                                        <p:strVal val="visible"/>
                                      </p:to>
                                    </p:set>
                                    <p:animEffect transition="in" filter="wipe(down)">
                                      <p:cBhvr>
                                        <p:cTn id="62" dur="500"/>
                                        <p:tgtEl>
                                          <p:spTgt spid="43048"/>
                                        </p:tgtEl>
                                      </p:cBhvr>
                                    </p:animEffect>
                                  </p:childTnLst>
                                </p:cTn>
                              </p:par>
                            </p:childTnLst>
                          </p:cTn>
                        </p:par>
                      </p:childTnLst>
                    </p:cTn>
                  </p:par>
                  <p:par>
                    <p:cTn id="63" fill="hold">
                      <p:stCondLst>
                        <p:cond delay="indefinite"/>
                      </p:stCondLst>
                      <p:childTnLst>
                        <p:par>
                          <p:cTn id="64" fill="hold">
                            <p:stCondLst>
                              <p:cond delay="0"/>
                            </p:stCondLst>
                            <p:childTnLst>
                              <p:par>
                                <p:cTn id="65" presetID="14" presetClass="entr" presetSubtype="10" fill="hold" nodeType="clickEffect">
                                  <p:stCondLst>
                                    <p:cond delay="0"/>
                                  </p:stCondLst>
                                  <p:childTnLst>
                                    <p:set>
                                      <p:cBhvr>
                                        <p:cTn id="66" dur="1" fill="hold">
                                          <p:stCondLst>
                                            <p:cond delay="0"/>
                                          </p:stCondLst>
                                        </p:cTn>
                                        <p:tgtEl>
                                          <p:spTgt spid="43044"/>
                                        </p:tgtEl>
                                        <p:attrNameLst>
                                          <p:attrName>style.visibility</p:attrName>
                                        </p:attrNameLst>
                                      </p:cBhvr>
                                      <p:to>
                                        <p:strVal val="visible"/>
                                      </p:to>
                                    </p:set>
                                    <p:animEffect transition="in" filter="randombar(horizontal)">
                                      <p:cBhvr>
                                        <p:cTn id="67" dur="500"/>
                                        <p:tgtEl>
                                          <p:spTgt spid="43044"/>
                                        </p:tgtEl>
                                      </p:cBhvr>
                                    </p:animEffect>
                                  </p:childTnLst>
                                </p:cTn>
                              </p:par>
                              <p:par>
                                <p:cTn id="68" presetID="14" presetClass="entr" presetSubtype="10" fill="hold" nodeType="withEffect">
                                  <p:stCondLst>
                                    <p:cond delay="0"/>
                                  </p:stCondLst>
                                  <p:childTnLst>
                                    <p:set>
                                      <p:cBhvr>
                                        <p:cTn id="69" dur="1" fill="hold">
                                          <p:stCondLst>
                                            <p:cond delay="0"/>
                                          </p:stCondLst>
                                        </p:cTn>
                                        <p:tgtEl>
                                          <p:spTgt spid="43045"/>
                                        </p:tgtEl>
                                        <p:attrNameLst>
                                          <p:attrName>style.visibility</p:attrName>
                                        </p:attrNameLst>
                                      </p:cBhvr>
                                      <p:to>
                                        <p:strVal val="visible"/>
                                      </p:to>
                                    </p:set>
                                    <p:animEffect transition="in" filter="randombar(horizontal)">
                                      <p:cBhvr>
                                        <p:cTn id="70" dur="500"/>
                                        <p:tgtEl>
                                          <p:spTgt spid="43045"/>
                                        </p:tgtEl>
                                      </p:cBhvr>
                                    </p:animEffect>
                                  </p:childTnLst>
                                </p:cTn>
                              </p:par>
                            </p:childTnLst>
                          </p:cTn>
                        </p:par>
                        <p:par>
                          <p:cTn id="71" fill="hold">
                            <p:stCondLst>
                              <p:cond delay="500"/>
                            </p:stCondLst>
                            <p:childTnLst>
                              <p:par>
                                <p:cTn id="72" presetID="22" presetClass="entr" presetSubtype="8" fill="hold" nodeType="afterEffect">
                                  <p:stCondLst>
                                    <p:cond delay="0"/>
                                  </p:stCondLst>
                                  <p:childTnLst>
                                    <p:set>
                                      <p:cBhvr>
                                        <p:cTn id="73" dur="1" fill="hold">
                                          <p:stCondLst>
                                            <p:cond delay="0"/>
                                          </p:stCondLst>
                                        </p:cTn>
                                        <p:tgtEl>
                                          <p:spTgt spid="43039"/>
                                        </p:tgtEl>
                                        <p:attrNameLst>
                                          <p:attrName>style.visibility</p:attrName>
                                        </p:attrNameLst>
                                      </p:cBhvr>
                                      <p:to>
                                        <p:strVal val="visible"/>
                                      </p:to>
                                    </p:set>
                                    <p:animEffect transition="in" filter="wipe(left)">
                                      <p:cBhvr>
                                        <p:cTn id="74" dur="500"/>
                                        <p:tgtEl>
                                          <p:spTgt spid="43039"/>
                                        </p:tgtEl>
                                      </p:cBhvr>
                                    </p:animEffect>
                                  </p:childTnLst>
                                </p:cTn>
                              </p:par>
                            </p:childTnLst>
                          </p:cTn>
                        </p:par>
                        <p:par>
                          <p:cTn id="75" fill="hold">
                            <p:stCondLst>
                              <p:cond delay="1000"/>
                            </p:stCondLst>
                            <p:childTnLst>
                              <p:par>
                                <p:cTn id="76" presetID="22" presetClass="entr" presetSubtype="4" fill="hold" nodeType="afterEffect">
                                  <p:stCondLst>
                                    <p:cond delay="0"/>
                                  </p:stCondLst>
                                  <p:childTnLst>
                                    <p:set>
                                      <p:cBhvr>
                                        <p:cTn id="77" dur="1" fill="hold">
                                          <p:stCondLst>
                                            <p:cond delay="0"/>
                                          </p:stCondLst>
                                        </p:cTn>
                                        <p:tgtEl>
                                          <p:spTgt spid="43043"/>
                                        </p:tgtEl>
                                        <p:attrNameLst>
                                          <p:attrName>style.visibility</p:attrName>
                                        </p:attrNameLst>
                                      </p:cBhvr>
                                      <p:to>
                                        <p:strVal val="visible"/>
                                      </p:to>
                                    </p:set>
                                    <p:animEffect transition="in" filter="wipe(down)">
                                      <p:cBhvr>
                                        <p:cTn id="78" dur="500"/>
                                        <p:tgtEl>
                                          <p:spTgt spid="43043"/>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2" fill="hold" nodeType="clickEffect">
                                  <p:stCondLst>
                                    <p:cond delay="0"/>
                                  </p:stCondLst>
                                  <p:childTnLst>
                                    <p:set>
                                      <p:cBhvr>
                                        <p:cTn id="82" dur="1" fill="hold">
                                          <p:stCondLst>
                                            <p:cond delay="0"/>
                                          </p:stCondLst>
                                        </p:cTn>
                                        <p:tgtEl>
                                          <p:spTgt spid="43022"/>
                                        </p:tgtEl>
                                        <p:attrNameLst>
                                          <p:attrName>style.visibility</p:attrName>
                                        </p:attrNameLst>
                                      </p:cBhvr>
                                      <p:to>
                                        <p:strVal val="visible"/>
                                      </p:to>
                                    </p:set>
                                    <p:animEffect transition="in" filter="wipe(right)">
                                      <p:cBhvr>
                                        <p:cTn id="83" dur="500"/>
                                        <p:tgtEl>
                                          <p:spTgt spid="43022"/>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4" fill="hold" nodeType="clickEffect">
                                  <p:stCondLst>
                                    <p:cond delay="0"/>
                                  </p:stCondLst>
                                  <p:childTnLst>
                                    <p:set>
                                      <p:cBhvr>
                                        <p:cTn id="87" dur="1" fill="hold">
                                          <p:stCondLst>
                                            <p:cond delay="0"/>
                                          </p:stCondLst>
                                        </p:cTn>
                                        <p:tgtEl>
                                          <p:spTgt spid="43027"/>
                                        </p:tgtEl>
                                        <p:attrNameLst>
                                          <p:attrName>style.visibility</p:attrName>
                                        </p:attrNameLst>
                                      </p:cBhvr>
                                      <p:to>
                                        <p:strVal val="visible"/>
                                      </p:to>
                                    </p:set>
                                    <p:animEffect transition="in" filter="wipe(down)">
                                      <p:cBhvr>
                                        <p:cTn id="88" dur="500"/>
                                        <p:tgtEl>
                                          <p:spTgt spid="43027"/>
                                        </p:tgtEl>
                                      </p:cBhvr>
                                    </p:animEffect>
                                  </p:childTnLst>
                                </p:cTn>
                              </p:par>
                            </p:childTnLst>
                          </p:cTn>
                        </p:par>
                        <p:par>
                          <p:cTn id="89" fill="hold">
                            <p:stCondLst>
                              <p:cond delay="500"/>
                            </p:stCondLst>
                            <p:childTnLst>
                              <p:par>
                                <p:cTn id="90" presetID="14" presetClass="entr" presetSubtype="10" fill="hold" nodeType="afterEffect">
                                  <p:stCondLst>
                                    <p:cond delay="0"/>
                                  </p:stCondLst>
                                  <p:childTnLst>
                                    <p:set>
                                      <p:cBhvr>
                                        <p:cTn id="91" dur="1" fill="hold">
                                          <p:stCondLst>
                                            <p:cond delay="0"/>
                                          </p:stCondLst>
                                        </p:cTn>
                                        <p:tgtEl>
                                          <p:spTgt spid="43028"/>
                                        </p:tgtEl>
                                        <p:attrNameLst>
                                          <p:attrName>style.visibility</p:attrName>
                                        </p:attrNameLst>
                                      </p:cBhvr>
                                      <p:to>
                                        <p:strVal val="visible"/>
                                      </p:to>
                                    </p:set>
                                    <p:animEffect transition="in" filter="randombar(horizontal)">
                                      <p:cBhvr>
                                        <p:cTn id="92" dur="500"/>
                                        <p:tgtEl>
                                          <p:spTgt spid="43028"/>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43029"/>
                                        </p:tgtEl>
                                        <p:attrNameLst>
                                          <p:attrName>style.visibility</p:attrName>
                                        </p:attrNameLst>
                                      </p:cBhvr>
                                      <p:to>
                                        <p:strVal val="visible"/>
                                      </p:to>
                                    </p:set>
                                    <p:animEffect transition="in" filter="wipe(left)">
                                      <p:cBhvr>
                                        <p:cTn id="97" dur="500"/>
                                        <p:tgtEl>
                                          <p:spTgt spid="43029"/>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43025"/>
                                        </p:tgtEl>
                                        <p:attrNameLst>
                                          <p:attrName>style.visibility</p:attrName>
                                        </p:attrNameLst>
                                      </p:cBhvr>
                                      <p:to>
                                        <p:strVal val="visible"/>
                                      </p:to>
                                    </p:set>
                                    <p:animEffect transition="in" filter="wipe(left)">
                                      <p:cBhvr>
                                        <p:cTn id="102" dur="500"/>
                                        <p:tgtEl>
                                          <p:spTgt spid="43025"/>
                                        </p:tgtEl>
                                      </p:cBhvr>
                                    </p:animEffect>
                                  </p:childTnLst>
                                </p:cTn>
                              </p:par>
                            </p:childTnLst>
                          </p:cTn>
                        </p:par>
                        <p:par>
                          <p:cTn id="103" fill="hold">
                            <p:stCondLst>
                              <p:cond delay="500"/>
                            </p:stCondLst>
                            <p:childTnLst>
                              <p:par>
                                <p:cTn id="104" presetID="14" presetClass="entr" presetSubtype="10" fill="hold" nodeType="afterEffect">
                                  <p:stCondLst>
                                    <p:cond delay="0"/>
                                  </p:stCondLst>
                                  <p:childTnLst>
                                    <p:set>
                                      <p:cBhvr>
                                        <p:cTn id="105" dur="1" fill="hold">
                                          <p:stCondLst>
                                            <p:cond delay="0"/>
                                          </p:stCondLst>
                                        </p:cTn>
                                        <p:tgtEl>
                                          <p:spTgt spid="43026"/>
                                        </p:tgtEl>
                                        <p:attrNameLst>
                                          <p:attrName>style.visibility</p:attrName>
                                        </p:attrNameLst>
                                      </p:cBhvr>
                                      <p:to>
                                        <p:strVal val="visible"/>
                                      </p:to>
                                    </p:set>
                                    <p:animEffect transition="in" filter="randombar(horizontal)">
                                      <p:cBhvr>
                                        <p:cTn id="106" dur="500"/>
                                        <p:tgtEl>
                                          <p:spTgt spid="43026"/>
                                        </p:tgtEl>
                                      </p:cBhvr>
                                    </p:animEffect>
                                  </p:childTnLst>
                                </p:cTn>
                              </p:par>
                            </p:childTnLst>
                          </p:cTn>
                        </p:par>
                      </p:childTnLst>
                    </p:cTn>
                  </p:par>
                  <p:par>
                    <p:cTn id="107" fill="hold">
                      <p:stCondLst>
                        <p:cond delay="indefinite"/>
                      </p:stCondLst>
                      <p:childTnLst>
                        <p:par>
                          <p:cTn id="108" fill="hold">
                            <p:stCondLst>
                              <p:cond delay="0"/>
                            </p:stCondLst>
                            <p:childTnLst>
                              <p:par>
                                <p:cTn id="109" presetID="14" presetClass="entr" presetSubtype="10" fill="hold" nodeType="clickEffect">
                                  <p:stCondLst>
                                    <p:cond delay="0"/>
                                  </p:stCondLst>
                                  <p:childTnLst>
                                    <p:set>
                                      <p:cBhvr>
                                        <p:cTn id="110" dur="1" fill="hold">
                                          <p:stCondLst>
                                            <p:cond delay="0"/>
                                          </p:stCondLst>
                                        </p:cTn>
                                        <p:tgtEl>
                                          <p:spTgt spid="43046"/>
                                        </p:tgtEl>
                                        <p:attrNameLst>
                                          <p:attrName>style.visibility</p:attrName>
                                        </p:attrNameLst>
                                      </p:cBhvr>
                                      <p:to>
                                        <p:strVal val="visible"/>
                                      </p:to>
                                    </p:set>
                                    <p:animEffect transition="in" filter="randombar(horizontal)">
                                      <p:cBhvr>
                                        <p:cTn id="111" dur="500"/>
                                        <p:tgtEl>
                                          <p:spTgt spid="43046"/>
                                        </p:tgtEl>
                                      </p:cBhvr>
                                    </p:animEffect>
                                  </p:childTnLst>
                                </p:cTn>
                              </p:par>
                            </p:childTnLst>
                          </p:cTn>
                        </p:par>
                      </p:childTnLst>
                    </p:cTn>
                  </p:par>
                  <p:par>
                    <p:cTn id="112" fill="hold">
                      <p:stCondLst>
                        <p:cond delay="indefinite"/>
                      </p:stCondLst>
                      <p:childTnLst>
                        <p:par>
                          <p:cTn id="113" fill="hold">
                            <p:stCondLst>
                              <p:cond delay="0"/>
                            </p:stCondLst>
                            <p:childTnLst>
                              <p:par>
                                <p:cTn id="114" presetID="14" presetClass="entr" presetSubtype="10" fill="hold" nodeType="clickEffect">
                                  <p:stCondLst>
                                    <p:cond delay="0"/>
                                  </p:stCondLst>
                                  <p:childTnLst>
                                    <p:set>
                                      <p:cBhvr>
                                        <p:cTn id="115" dur="1" fill="hold">
                                          <p:stCondLst>
                                            <p:cond delay="0"/>
                                          </p:stCondLst>
                                        </p:cTn>
                                        <p:tgtEl>
                                          <p:spTgt spid="43053"/>
                                        </p:tgtEl>
                                        <p:attrNameLst>
                                          <p:attrName>style.visibility</p:attrName>
                                        </p:attrNameLst>
                                      </p:cBhvr>
                                      <p:to>
                                        <p:strVal val="visible"/>
                                      </p:to>
                                    </p:set>
                                    <p:animEffect transition="in" filter="randombar(horizontal)">
                                      <p:cBhvr>
                                        <p:cTn id="116" dur="500"/>
                                        <p:tgtEl>
                                          <p:spTgt spid="43053"/>
                                        </p:tgtEl>
                                      </p:cBhvr>
                                    </p:animEffect>
                                  </p:childTnLst>
                                </p:cTn>
                              </p:par>
                            </p:childTnLst>
                          </p:cTn>
                        </p:par>
                        <p:par>
                          <p:cTn id="117" fill="hold">
                            <p:stCondLst>
                              <p:cond delay="500"/>
                            </p:stCondLst>
                            <p:childTnLst>
                              <p:par>
                                <p:cTn id="118" presetID="22" presetClass="entr" presetSubtype="1" fill="hold" nodeType="afterEffect">
                                  <p:stCondLst>
                                    <p:cond delay="0"/>
                                  </p:stCondLst>
                                  <p:childTnLst>
                                    <p:set>
                                      <p:cBhvr>
                                        <p:cTn id="119" dur="1" fill="hold">
                                          <p:stCondLst>
                                            <p:cond delay="0"/>
                                          </p:stCondLst>
                                        </p:cTn>
                                        <p:tgtEl>
                                          <p:spTgt spid="37930"/>
                                        </p:tgtEl>
                                        <p:attrNameLst>
                                          <p:attrName>style.visibility</p:attrName>
                                        </p:attrNameLst>
                                      </p:cBhvr>
                                      <p:to>
                                        <p:strVal val="visible"/>
                                      </p:to>
                                    </p:set>
                                    <p:animEffect transition="in" filter="wipe(up)">
                                      <p:cBhvr>
                                        <p:cTn id="120" dur="500"/>
                                        <p:tgtEl>
                                          <p:spTgt spid="379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044" name="直接箭头连接符 48"/>
          <p:cNvCxnSpPr>
            <a:cxnSpLocks noChangeShapeType="1"/>
          </p:cNvCxnSpPr>
          <p:nvPr/>
        </p:nvCxnSpPr>
        <p:spPr bwMode="auto">
          <a:xfrm flipV="1">
            <a:off x="2961086" y="3064154"/>
            <a:ext cx="374650" cy="1589"/>
          </a:xfrm>
          <a:prstGeom prst="straightConnector1">
            <a:avLst/>
          </a:prstGeom>
          <a:noFill/>
          <a:ln w="25400">
            <a:solidFill>
              <a:srgbClr val="A7C804"/>
            </a:solidFill>
            <a:round/>
            <a:headEnd/>
            <a:tailEnd type="arrow" w="med" len="med"/>
          </a:ln>
          <a:effectLst>
            <a:outerShdw dist="20000" dir="5400000" algn="ctr" rotWithShape="0">
              <a:srgbClr val="000000">
                <a:alpha val="31998"/>
              </a:srgbClr>
            </a:outerShdw>
          </a:effectLst>
          <a:extLst>
            <a:ext uri="{909E8E84-426E-40DD-AFC4-6F175D3DCCD1}">
              <a14:hiddenFill xmlns:a14="http://schemas.microsoft.com/office/drawing/2010/main">
                <a:noFill/>
              </a14:hiddenFill>
            </a:ext>
          </a:extLst>
        </p:spPr>
      </p:cxnSp>
      <p:cxnSp>
        <p:nvCxnSpPr>
          <p:cNvPr id="44045" name="直接箭头连接符 51"/>
          <p:cNvCxnSpPr>
            <a:cxnSpLocks noChangeShapeType="1"/>
          </p:cNvCxnSpPr>
          <p:nvPr/>
        </p:nvCxnSpPr>
        <p:spPr bwMode="auto">
          <a:xfrm rot="10800000">
            <a:off x="3185232" y="4708019"/>
            <a:ext cx="509588" cy="1588"/>
          </a:xfrm>
          <a:prstGeom prst="straightConnector1">
            <a:avLst/>
          </a:prstGeom>
          <a:noFill/>
          <a:ln w="25400">
            <a:solidFill>
              <a:srgbClr val="A7C804"/>
            </a:solidFill>
            <a:round/>
            <a:headEnd/>
            <a:tailEnd type="arrow" w="med" len="med"/>
          </a:ln>
          <a:effectLst>
            <a:outerShdw dist="20000" dir="5400000" algn="ctr" rotWithShape="0">
              <a:srgbClr val="000000">
                <a:alpha val="31998"/>
              </a:srgbClr>
            </a:outerShdw>
          </a:effectLst>
          <a:extLst>
            <a:ext uri="{909E8E84-426E-40DD-AFC4-6F175D3DCCD1}">
              <a14:hiddenFill xmlns:a14="http://schemas.microsoft.com/office/drawing/2010/main">
                <a:noFill/>
              </a14:hiddenFill>
            </a:ext>
          </a:extLst>
        </p:spPr>
      </p:cxnSp>
      <p:cxnSp>
        <p:nvCxnSpPr>
          <p:cNvPr id="44070" name="直接连接符 22"/>
          <p:cNvCxnSpPr>
            <a:cxnSpLocks noChangeShapeType="1"/>
          </p:cNvCxnSpPr>
          <p:nvPr/>
        </p:nvCxnSpPr>
        <p:spPr bwMode="auto">
          <a:xfrm>
            <a:off x="1116359" y="4741368"/>
            <a:ext cx="1690687" cy="1589"/>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44071" name="直接连接符 29"/>
          <p:cNvCxnSpPr>
            <a:cxnSpLocks noChangeShapeType="1"/>
          </p:cNvCxnSpPr>
          <p:nvPr/>
        </p:nvCxnSpPr>
        <p:spPr bwMode="auto">
          <a:xfrm rot="16200000" flipH="1">
            <a:off x="2433463" y="4993909"/>
            <a:ext cx="714724" cy="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4072" name="Object 7"/>
          <p:cNvGraphicFramePr>
            <a:graphicFrameLocks noChangeAspect="1"/>
          </p:cNvGraphicFramePr>
          <p:nvPr>
            <p:extLst>
              <p:ext uri="{D42A27DB-BD31-4B8C-83A1-F6EECF244321}">
                <p14:modId xmlns:p14="http://schemas.microsoft.com/office/powerpoint/2010/main" val="3142230133"/>
              </p:ext>
            </p:extLst>
          </p:nvPr>
        </p:nvGraphicFramePr>
        <p:xfrm>
          <a:off x="819242" y="4601602"/>
          <a:ext cx="221964" cy="320828"/>
        </p:xfrm>
        <a:graphic>
          <a:graphicData uri="http://schemas.openxmlformats.org/presentationml/2006/ole">
            <mc:AlternateContent xmlns:mc="http://schemas.openxmlformats.org/markup-compatibility/2006">
              <mc:Choice xmlns:v="urn:schemas-microsoft-com:vml" Requires="v">
                <p:oleObj spid="_x0000_s193773" r:id="rId3" imgW="165820" imgH="229597" progId="">
                  <p:embed/>
                </p:oleObj>
              </mc:Choice>
              <mc:Fallback>
                <p:oleObj r:id="rId3" imgW="165820" imgH="229597" progId="">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9242" y="4601602"/>
                        <a:ext cx="221964" cy="320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073" name="Object 8"/>
          <p:cNvGraphicFramePr>
            <a:graphicFrameLocks noChangeAspect="1"/>
          </p:cNvGraphicFramePr>
          <p:nvPr/>
        </p:nvGraphicFramePr>
        <p:xfrm>
          <a:off x="2726872" y="5422747"/>
          <a:ext cx="257174" cy="320828"/>
        </p:xfrm>
        <a:graphic>
          <a:graphicData uri="http://schemas.openxmlformats.org/presentationml/2006/ole">
            <mc:AlternateContent xmlns:mc="http://schemas.openxmlformats.org/markup-compatibility/2006">
              <mc:Choice xmlns:v="urn:schemas-microsoft-com:vml" Requires="v">
                <p:oleObj spid="_x0000_s193774" r:id="rId5" imgW="191414" imgH="229697" progId="">
                  <p:embed/>
                </p:oleObj>
              </mc:Choice>
              <mc:Fallback>
                <p:oleObj r:id="rId5" imgW="191414" imgH="229697" progId="">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26872" y="5422747"/>
                        <a:ext cx="257174" cy="320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074" name="Object 9"/>
          <p:cNvGraphicFramePr>
            <a:graphicFrameLocks noChangeAspect="1"/>
          </p:cNvGraphicFramePr>
          <p:nvPr>
            <p:extLst>
              <p:ext uri="{D42A27DB-BD31-4B8C-83A1-F6EECF244321}">
                <p14:modId xmlns:p14="http://schemas.microsoft.com/office/powerpoint/2010/main" val="2672459115"/>
              </p:ext>
            </p:extLst>
          </p:nvPr>
        </p:nvGraphicFramePr>
        <p:xfrm>
          <a:off x="2867680" y="4585026"/>
          <a:ext cx="180943" cy="260938"/>
        </p:xfrm>
        <a:graphic>
          <a:graphicData uri="http://schemas.openxmlformats.org/presentationml/2006/ole">
            <mc:AlternateContent xmlns:mc="http://schemas.openxmlformats.org/markup-compatibility/2006">
              <mc:Choice xmlns:v="urn:schemas-microsoft-com:vml" Requires="v">
                <p:oleObj spid="_x0000_s193775" r:id="rId7" imgW="191414" imgH="229697" progId="">
                  <p:embed/>
                </p:oleObj>
              </mc:Choice>
              <mc:Fallback>
                <p:oleObj r:id="rId7" imgW="191414" imgH="229697" progId="">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67680" y="4585026"/>
                        <a:ext cx="180943" cy="260938"/>
                      </a:xfrm>
                      <a:prstGeom prst="rect">
                        <a:avLst/>
                      </a:prstGeom>
                      <a:noFill/>
                      <a:ln>
                        <a:noFill/>
                      </a:ln>
                      <a:effectLst/>
                    </p:spPr>
                  </p:pic>
                </p:oleObj>
              </mc:Fallback>
            </mc:AlternateContent>
          </a:graphicData>
        </a:graphic>
      </p:graphicFrame>
      <p:cxnSp>
        <p:nvCxnSpPr>
          <p:cNvPr id="44061" name="直接连接符 31"/>
          <p:cNvCxnSpPr>
            <a:cxnSpLocks noChangeShapeType="1"/>
          </p:cNvCxnSpPr>
          <p:nvPr/>
        </p:nvCxnSpPr>
        <p:spPr bwMode="auto">
          <a:xfrm rot="5400000">
            <a:off x="1516327" y="4278386"/>
            <a:ext cx="2144172"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44063" name="直接连接符 10"/>
          <p:cNvCxnSpPr>
            <a:cxnSpLocks noChangeShapeType="1"/>
          </p:cNvCxnSpPr>
          <p:nvPr/>
        </p:nvCxnSpPr>
        <p:spPr bwMode="auto">
          <a:xfrm>
            <a:off x="2206625" y="2849737"/>
            <a:ext cx="2205038" cy="1715337"/>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44064" name="直接连接符 15"/>
          <p:cNvCxnSpPr>
            <a:cxnSpLocks noChangeShapeType="1"/>
          </p:cNvCxnSpPr>
          <p:nvPr/>
        </p:nvCxnSpPr>
        <p:spPr bwMode="auto">
          <a:xfrm rot="5400000" flipH="1" flipV="1">
            <a:off x="1168666" y="3333613"/>
            <a:ext cx="2144172" cy="1033463"/>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44065" name="直接连接符 20"/>
          <p:cNvCxnSpPr>
            <a:cxnSpLocks noChangeShapeType="1"/>
          </p:cNvCxnSpPr>
          <p:nvPr/>
        </p:nvCxnSpPr>
        <p:spPr bwMode="auto">
          <a:xfrm>
            <a:off x="1100138" y="3135627"/>
            <a:ext cx="1487487"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4066" name="Object 18"/>
          <p:cNvGraphicFramePr>
            <a:graphicFrameLocks noChangeAspect="1"/>
          </p:cNvGraphicFramePr>
          <p:nvPr/>
        </p:nvGraphicFramePr>
        <p:xfrm>
          <a:off x="828675" y="2992682"/>
          <a:ext cx="205127" cy="320828"/>
        </p:xfrm>
        <a:graphic>
          <a:graphicData uri="http://schemas.openxmlformats.org/presentationml/2006/ole">
            <mc:AlternateContent xmlns:mc="http://schemas.openxmlformats.org/markup-compatibility/2006">
              <mc:Choice xmlns:v="urn:schemas-microsoft-com:vml" Requires="v">
                <p:oleObj spid="_x0000_s193776" r:id="rId9" imgW="153131" imgH="229697" progId="">
                  <p:embed/>
                </p:oleObj>
              </mc:Choice>
              <mc:Fallback>
                <p:oleObj r:id="rId9" imgW="153131" imgH="229697" progId="">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8675" y="2992682"/>
                        <a:ext cx="205127" cy="320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067" name="Object 19"/>
          <p:cNvGraphicFramePr>
            <a:graphicFrameLocks noChangeAspect="1"/>
          </p:cNvGraphicFramePr>
          <p:nvPr/>
        </p:nvGraphicFramePr>
        <p:xfrm>
          <a:off x="2420711" y="5422747"/>
          <a:ext cx="238804" cy="320828"/>
        </p:xfrm>
        <a:graphic>
          <a:graphicData uri="http://schemas.openxmlformats.org/presentationml/2006/ole">
            <mc:AlternateContent xmlns:mc="http://schemas.openxmlformats.org/markup-compatibility/2006">
              <mc:Choice xmlns:v="urn:schemas-microsoft-com:vml" Requires="v">
                <p:oleObj spid="_x0000_s193777" r:id="rId11" imgW="178497" imgH="229496" progId="">
                  <p:embed/>
                </p:oleObj>
              </mc:Choice>
              <mc:Fallback>
                <p:oleObj r:id="rId11" imgW="178497" imgH="229496" progId="">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20711" y="5422747"/>
                        <a:ext cx="238804" cy="320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068" name="Object 20"/>
          <p:cNvGraphicFramePr>
            <a:graphicFrameLocks noChangeAspect="1"/>
          </p:cNvGraphicFramePr>
          <p:nvPr/>
        </p:nvGraphicFramePr>
        <p:xfrm>
          <a:off x="2665640" y="2921210"/>
          <a:ext cx="238804" cy="320828"/>
        </p:xfrm>
        <a:graphic>
          <a:graphicData uri="http://schemas.openxmlformats.org/presentationml/2006/ole">
            <mc:AlternateContent xmlns:mc="http://schemas.openxmlformats.org/markup-compatibility/2006">
              <mc:Choice xmlns:v="urn:schemas-microsoft-com:vml" Requires="v">
                <p:oleObj spid="_x0000_s193778" r:id="rId13" imgW="178497" imgH="229496" progId="">
                  <p:embed/>
                </p:oleObj>
              </mc:Choice>
              <mc:Fallback>
                <p:oleObj r:id="rId13" imgW="178497" imgH="229496" progId="">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65640" y="2921210"/>
                        <a:ext cx="238804" cy="320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069" name="Object 21"/>
          <p:cNvGraphicFramePr>
            <a:graphicFrameLocks noChangeAspect="1"/>
          </p:cNvGraphicFramePr>
          <p:nvPr/>
        </p:nvGraphicFramePr>
        <p:xfrm>
          <a:off x="2665640" y="2492375"/>
          <a:ext cx="221964" cy="320828"/>
        </p:xfrm>
        <a:graphic>
          <a:graphicData uri="http://schemas.openxmlformats.org/presentationml/2006/ole">
            <mc:AlternateContent xmlns:mc="http://schemas.openxmlformats.org/markup-compatibility/2006">
              <mc:Choice xmlns:v="urn:schemas-microsoft-com:vml" Requires="v">
                <p:oleObj spid="_x0000_s193779" r:id="rId15" imgW="165820" imgH="229597" progId="">
                  <p:embed/>
                </p:oleObj>
              </mc:Choice>
              <mc:Fallback>
                <p:oleObj r:id="rId15" imgW="165820" imgH="229597" progId="">
                  <p:embed/>
                  <p:pic>
                    <p:nvPicPr>
                      <p:cNvPr id="0" name="Object 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65640" y="2492375"/>
                        <a:ext cx="221964" cy="320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060" name="Object 22"/>
          <p:cNvGraphicFramePr>
            <a:graphicFrameLocks noChangeAspect="1"/>
          </p:cNvGraphicFramePr>
          <p:nvPr>
            <p:extLst>
              <p:ext uri="{D42A27DB-BD31-4B8C-83A1-F6EECF244321}">
                <p14:modId xmlns:p14="http://schemas.microsoft.com/office/powerpoint/2010/main" val="1178606956"/>
              </p:ext>
            </p:extLst>
          </p:nvPr>
        </p:nvGraphicFramePr>
        <p:xfrm>
          <a:off x="4380140" y="4565077"/>
          <a:ext cx="257174" cy="320828"/>
        </p:xfrm>
        <a:graphic>
          <a:graphicData uri="http://schemas.openxmlformats.org/presentationml/2006/ole">
            <mc:AlternateContent xmlns:mc="http://schemas.openxmlformats.org/markup-compatibility/2006">
              <mc:Choice xmlns:v="urn:schemas-microsoft-com:vml" Requires="v">
                <p:oleObj spid="_x0000_s193780" r:id="rId17" imgW="191414" imgH="229697" progId="">
                  <p:embed/>
                </p:oleObj>
              </mc:Choice>
              <mc:Fallback>
                <p:oleObj r:id="rId17" imgW="191414" imgH="229697" progId="">
                  <p:embed/>
                  <p:pic>
                    <p:nvPicPr>
                      <p:cNvPr id="0" name="Object 2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380140" y="4565077"/>
                        <a:ext cx="257174" cy="320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4053" name="直接箭头连接符 5"/>
          <p:cNvCxnSpPr>
            <a:cxnSpLocks noChangeShapeType="1"/>
          </p:cNvCxnSpPr>
          <p:nvPr/>
        </p:nvCxnSpPr>
        <p:spPr bwMode="auto">
          <a:xfrm>
            <a:off x="1103313" y="5351270"/>
            <a:ext cx="3582987" cy="1589"/>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44055" name="直接箭头连接符 7"/>
          <p:cNvCxnSpPr>
            <a:cxnSpLocks noChangeShapeType="1"/>
          </p:cNvCxnSpPr>
          <p:nvPr/>
        </p:nvCxnSpPr>
        <p:spPr bwMode="auto">
          <a:xfrm rot="5400000" flipH="1" flipV="1">
            <a:off x="-325340" y="3921029"/>
            <a:ext cx="2858895"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44056" name="Object 30"/>
          <p:cNvGraphicFramePr>
            <a:graphicFrameLocks noChangeAspect="1"/>
          </p:cNvGraphicFramePr>
          <p:nvPr/>
        </p:nvGraphicFramePr>
        <p:xfrm>
          <a:off x="828675" y="5422745"/>
          <a:ext cx="205127" cy="247769"/>
        </p:xfrm>
        <a:graphic>
          <a:graphicData uri="http://schemas.openxmlformats.org/presentationml/2006/ole">
            <mc:AlternateContent xmlns:mc="http://schemas.openxmlformats.org/markup-compatibility/2006">
              <mc:Choice xmlns:v="urn:schemas-microsoft-com:vml" Requires="v">
                <p:oleObj spid="_x0000_s193781" r:id="rId19" imgW="153198" imgH="178731" progId="">
                  <p:embed/>
                </p:oleObj>
              </mc:Choice>
              <mc:Fallback>
                <p:oleObj r:id="rId19" imgW="153198" imgH="178731" progId="">
                  <p:embed/>
                  <p:pic>
                    <p:nvPicPr>
                      <p:cNvPr id="0" name="Object 3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28675" y="5422745"/>
                        <a:ext cx="205127" cy="247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057" name="Object 31"/>
          <p:cNvGraphicFramePr>
            <a:graphicFrameLocks noChangeAspect="1"/>
          </p:cNvGraphicFramePr>
          <p:nvPr/>
        </p:nvGraphicFramePr>
        <p:xfrm>
          <a:off x="828675" y="2492375"/>
          <a:ext cx="205127" cy="230299"/>
        </p:xfrm>
        <a:graphic>
          <a:graphicData uri="http://schemas.openxmlformats.org/presentationml/2006/ole">
            <mc:AlternateContent xmlns:mc="http://schemas.openxmlformats.org/markup-compatibility/2006">
              <mc:Choice xmlns:v="urn:schemas-microsoft-com:vml" Requires="v">
                <p:oleObj spid="_x0000_s193782" r:id="rId21" imgW="153332" imgH="166109" progId="">
                  <p:embed/>
                </p:oleObj>
              </mc:Choice>
              <mc:Fallback>
                <p:oleObj r:id="rId21" imgW="153332" imgH="166109" progId="">
                  <p:embed/>
                  <p:pic>
                    <p:nvPicPr>
                      <p:cNvPr id="0" name="Object 3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28675" y="2492375"/>
                        <a:ext cx="205127" cy="230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058" name="Object 32"/>
          <p:cNvGraphicFramePr>
            <a:graphicFrameLocks noChangeAspect="1"/>
          </p:cNvGraphicFramePr>
          <p:nvPr/>
        </p:nvGraphicFramePr>
        <p:xfrm>
          <a:off x="4479641" y="5422745"/>
          <a:ext cx="205127" cy="284299"/>
        </p:xfrm>
        <a:graphic>
          <a:graphicData uri="http://schemas.openxmlformats.org/presentationml/2006/ole">
            <mc:AlternateContent xmlns:mc="http://schemas.openxmlformats.org/markup-compatibility/2006">
              <mc:Choice xmlns:v="urn:schemas-microsoft-com:vml" Requires="v">
                <p:oleObj spid="_x0000_s193783" r:id="rId23" imgW="153332" imgH="204442" progId="">
                  <p:embed/>
                </p:oleObj>
              </mc:Choice>
              <mc:Fallback>
                <p:oleObj r:id="rId23" imgW="153332" imgH="204442" progId="">
                  <p:embed/>
                  <p:pic>
                    <p:nvPicPr>
                      <p:cNvPr id="0" name="Object 3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479641" y="5422745"/>
                        <a:ext cx="205127" cy="284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4051" name="直接连接符 18"/>
          <p:cNvCxnSpPr>
            <a:cxnSpLocks noChangeShapeType="1"/>
          </p:cNvCxnSpPr>
          <p:nvPr/>
        </p:nvCxnSpPr>
        <p:spPr bwMode="auto">
          <a:xfrm rot="5400000" flipH="1" flipV="1">
            <a:off x="2116030" y="3404274"/>
            <a:ext cx="2072698" cy="963613"/>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aphicFrame>
        <p:nvGraphicFramePr>
          <p:cNvPr id="44052" name="Object 35"/>
          <p:cNvGraphicFramePr>
            <a:graphicFrameLocks noChangeAspect="1"/>
          </p:cNvGraphicFramePr>
          <p:nvPr/>
        </p:nvGraphicFramePr>
        <p:xfrm>
          <a:off x="3513276" y="2492375"/>
          <a:ext cx="239065" cy="320829"/>
        </p:xfrm>
        <a:graphic>
          <a:graphicData uri="http://schemas.openxmlformats.org/presentationml/2006/ole">
            <mc:AlternateContent xmlns:mc="http://schemas.openxmlformats.org/markup-compatibility/2006">
              <mc:Choice xmlns:v="urn:schemas-microsoft-com:vml" Requires="v">
                <p:oleObj spid="_x0000_s193784" r:id="rId25" imgW="178497" imgH="229496" progId="">
                  <p:embed/>
                </p:oleObj>
              </mc:Choice>
              <mc:Fallback>
                <p:oleObj r:id="rId25" imgW="178497" imgH="229496" progId="">
                  <p:embed/>
                  <p:pic>
                    <p:nvPicPr>
                      <p:cNvPr id="0" name="Object 3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513276" y="2492375"/>
                        <a:ext cx="239065" cy="320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4049" name="直接连接符 12"/>
          <p:cNvCxnSpPr>
            <a:cxnSpLocks noChangeShapeType="1"/>
          </p:cNvCxnSpPr>
          <p:nvPr/>
        </p:nvCxnSpPr>
        <p:spPr bwMode="auto">
          <a:xfrm>
            <a:off x="1027820" y="3350044"/>
            <a:ext cx="2271712" cy="1858282"/>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aphicFrame>
        <p:nvGraphicFramePr>
          <p:cNvPr id="44050" name="Object 38"/>
          <p:cNvGraphicFramePr>
            <a:graphicFrameLocks noChangeAspect="1"/>
          </p:cNvGraphicFramePr>
          <p:nvPr/>
        </p:nvGraphicFramePr>
        <p:xfrm>
          <a:off x="3307251" y="4993913"/>
          <a:ext cx="273949" cy="320828"/>
        </p:xfrm>
        <a:graphic>
          <a:graphicData uri="http://schemas.openxmlformats.org/presentationml/2006/ole">
            <mc:AlternateContent xmlns:mc="http://schemas.openxmlformats.org/markup-compatibility/2006">
              <mc:Choice xmlns:v="urn:schemas-microsoft-com:vml" Requires="v">
                <p:oleObj spid="_x0000_s193785" r:id="rId27" imgW="204086" imgH="229597" progId="">
                  <p:embed/>
                </p:oleObj>
              </mc:Choice>
              <mc:Fallback>
                <p:oleObj r:id="rId27" imgW="204086" imgH="229597" progId="">
                  <p:embed/>
                  <p:pic>
                    <p:nvPicPr>
                      <p:cNvPr id="0" name="Object 3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307251" y="4993913"/>
                        <a:ext cx="273949" cy="320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8951" name="组合 37"/>
          <p:cNvGrpSpPr>
            <a:grpSpLocks/>
          </p:cNvGrpSpPr>
          <p:nvPr/>
        </p:nvGrpSpPr>
        <p:grpSpPr bwMode="auto">
          <a:xfrm>
            <a:off x="4684768" y="3106574"/>
            <a:ext cx="3917700" cy="1774563"/>
            <a:chOff x="0" y="189277"/>
            <a:chExt cx="4357686" cy="945997"/>
          </a:xfrm>
          <a:solidFill>
            <a:srgbClr val="F3C97F"/>
          </a:solidFill>
        </p:grpSpPr>
        <p:sp>
          <p:nvSpPr>
            <p:cNvPr id="44038" name="圆角矩形 38"/>
            <p:cNvSpPr>
              <a:spLocks noChangeArrowheads="1"/>
            </p:cNvSpPr>
            <p:nvPr/>
          </p:nvSpPr>
          <p:spPr bwMode="auto">
            <a:xfrm>
              <a:off x="0" y="189277"/>
              <a:ext cx="4357686" cy="945997"/>
            </a:xfrm>
            <a:prstGeom prst="roundRect">
              <a:avLst>
                <a:gd name="adj" fmla="val 16667"/>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44039" name="TextBox 3"/>
            <p:cNvSpPr txBox="1">
              <a:spLocks noChangeArrowheads="1"/>
            </p:cNvSpPr>
            <p:nvPr/>
          </p:nvSpPr>
          <p:spPr bwMode="auto">
            <a:xfrm>
              <a:off x="38099" y="260725"/>
              <a:ext cx="4319587" cy="78754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spcBef>
                  <a:spcPct val="0"/>
                </a:spcBef>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供给增加</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solidFill>
                    <a:schemeClr val="tx1"/>
                  </a:solidFill>
                  <a:latin typeface="微软雅黑" panose="020B0503020204020204" pitchFamily="34" charset="-122"/>
                  <a:ea typeface="微软雅黑" panose="020B0503020204020204" pitchFamily="34" charset="-122"/>
                </a:rPr>
                <a:t>供给曲线向右平移</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342900" indent="-342900" eaLnBrk="1" hangingPunct="1">
                <a:spcBef>
                  <a:spcPct val="0"/>
                </a:spcBef>
                <a:buFont typeface="Wingdings" panose="05000000000000000000" pitchFamily="2" charset="2"/>
                <a:buChar char="Ø"/>
              </a:pPr>
              <a:endParaRPr lang="en-US" altLang="zh-CN" sz="1800" b="0" dirty="0">
                <a:solidFill>
                  <a:schemeClr val="tx1"/>
                </a:solidFill>
                <a:latin typeface="微软雅黑" panose="020B0503020204020204" pitchFamily="34" charset="-122"/>
                <a:ea typeface="微软雅黑" panose="020B0503020204020204" pitchFamily="34" charset="-122"/>
              </a:endParaRPr>
            </a:p>
            <a:p>
              <a:pPr marL="342900" indent="-342900" eaLnBrk="1" hangingPunct="1">
                <a:spcBef>
                  <a:spcPct val="0"/>
                </a:spcBef>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需求减小</a:t>
              </a:r>
              <a:r>
                <a:rPr lang="en-US" altLang="zh-CN" sz="1800" b="0"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solidFill>
                    <a:schemeClr val="tx1"/>
                  </a:solidFill>
                  <a:latin typeface="微软雅黑" panose="020B0503020204020204" pitchFamily="34" charset="-122"/>
                  <a:ea typeface="微软雅黑" panose="020B0503020204020204" pitchFamily="34" charset="-122"/>
                </a:rPr>
                <a:t>需求曲线向左平移</a:t>
              </a:r>
              <a:endParaRPr lang="en-US" altLang="zh-CN" sz="1800" b="0" dirty="0">
                <a:solidFill>
                  <a:schemeClr val="tx1"/>
                </a:solidFill>
                <a:latin typeface="微软雅黑" panose="020B0503020204020204" pitchFamily="34" charset="-122"/>
                <a:ea typeface="微软雅黑" panose="020B0503020204020204" pitchFamily="34" charset="-122"/>
              </a:endParaRPr>
            </a:p>
            <a:p>
              <a:pPr marL="342900" indent="-342900" eaLnBrk="1" hangingPunct="1">
                <a:spcBef>
                  <a:spcPct val="0"/>
                </a:spcBef>
                <a:buFont typeface="Wingdings" panose="05000000000000000000" pitchFamily="2" charset="2"/>
                <a:buChar char="Ø"/>
              </a:pPr>
              <a:endParaRPr lang="en-US" altLang="zh-CN" sz="1800" b="0" dirty="0">
                <a:solidFill>
                  <a:schemeClr val="tx1"/>
                </a:solidFill>
                <a:latin typeface="微软雅黑" panose="020B0503020204020204" pitchFamily="34" charset="-122"/>
                <a:ea typeface="微软雅黑" panose="020B0503020204020204" pitchFamily="34" charset="-122"/>
              </a:endParaRPr>
            </a:p>
            <a:p>
              <a:pPr marL="342900" indent="-342900" eaLnBrk="1" hangingPunct="1">
                <a:spcBef>
                  <a:spcPct val="0"/>
                </a:spcBef>
                <a:buFont typeface="Wingdings" panose="05000000000000000000" pitchFamily="2" charset="2"/>
                <a:buChar char="Ø"/>
              </a:pPr>
              <a:r>
                <a:rPr lang="zh-CN" altLang="en-US" sz="1800" b="0" dirty="0">
                  <a:solidFill>
                    <a:schemeClr val="tx1"/>
                  </a:solidFill>
                  <a:latin typeface="微软雅黑" panose="020B0503020204020204" pitchFamily="34" charset="-122"/>
                  <a:ea typeface="微软雅黑" panose="020B0503020204020204" pitchFamily="34" charset="-122"/>
                </a:rPr>
                <a:t>结果：市场均衡由</a:t>
              </a:r>
              <a:r>
                <a:rPr lang="en-US" altLang="zh-CN" sz="1800" b="0" dirty="0">
                  <a:solidFill>
                    <a:schemeClr val="tx1"/>
                  </a:solidFill>
                </a:rPr>
                <a:t>E</a:t>
              </a:r>
              <a:r>
                <a:rPr lang="en-US" altLang="zh-CN" sz="1800" b="0" baseline="-25000" dirty="0">
                  <a:solidFill>
                    <a:schemeClr val="tx1"/>
                  </a:solidFill>
                </a:rPr>
                <a:t>1</a:t>
              </a:r>
              <a:r>
                <a:rPr lang="zh-CN" altLang="en-US" sz="1800" b="0" dirty="0">
                  <a:solidFill>
                    <a:schemeClr val="tx1"/>
                  </a:solidFill>
                  <a:latin typeface="微软雅黑" panose="020B0503020204020204" pitchFamily="34" charset="-122"/>
                  <a:ea typeface="微软雅黑" panose="020B0503020204020204" pitchFamily="34" charset="-122"/>
                </a:rPr>
                <a:t>变为</a:t>
              </a:r>
              <a:r>
                <a:rPr lang="en-US" altLang="zh-CN" sz="1800" b="0" dirty="0">
                  <a:solidFill>
                    <a:schemeClr val="tx1"/>
                  </a:solidFill>
                </a:rPr>
                <a:t>E</a:t>
              </a:r>
              <a:r>
                <a:rPr lang="en-US" altLang="zh-CN" sz="1800" b="0" baseline="-25000" dirty="0">
                  <a:solidFill>
                    <a:schemeClr val="tx1"/>
                  </a:solidFill>
                </a:rPr>
                <a:t>2</a:t>
              </a:r>
              <a:r>
                <a:rPr lang="zh-CN" altLang="en-US" sz="1800" b="0" dirty="0">
                  <a:solidFill>
                    <a:schemeClr val="tx1"/>
                  </a:solidFill>
                </a:rPr>
                <a:t>。</a:t>
              </a:r>
              <a:endParaRPr lang="en-US" altLang="zh-CN" sz="1800" b="0" dirty="0">
                <a:solidFill>
                  <a:schemeClr val="tx1"/>
                </a:solidFill>
              </a:endParaRPr>
            </a:p>
          </p:txBody>
        </p:sp>
      </p:grpSp>
      <p:sp>
        <p:nvSpPr>
          <p:cNvPr id="43" name="矩形 42">
            <a:extLst>
              <a:ext uri="{FF2B5EF4-FFF2-40B4-BE49-F238E27FC236}">
                <a16:creationId xmlns:a16="http://schemas.microsoft.com/office/drawing/2014/main" id="{06B929B8-3B73-4153-9DEE-B5B4F81F6792}"/>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p:sp>
        <p:nvSpPr>
          <p:cNvPr id="44" name="矩形 43">
            <a:extLst>
              <a:ext uri="{FF2B5EF4-FFF2-40B4-BE49-F238E27FC236}">
                <a16:creationId xmlns:a16="http://schemas.microsoft.com/office/drawing/2014/main" id="{88B94EFE-5301-44F3-91FF-FA06256D4AC6}"/>
              </a:ext>
            </a:extLst>
          </p:cNvPr>
          <p:cNvSpPr/>
          <p:nvPr/>
        </p:nvSpPr>
        <p:spPr>
          <a:xfrm>
            <a:off x="467543" y="548680"/>
            <a:ext cx="3162141"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三、市场均衡的变动 </a:t>
            </a:r>
          </a:p>
        </p:txBody>
      </p:sp>
      <p:sp>
        <p:nvSpPr>
          <p:cNvPr id="45" name="Rectangle 3">
            <a:extLst>
              <a:ext uri="{FF2B5EF4-FFF2-40B4-BE49-F238E27FC236}">
                <a16:creationId xmlns:a16="http://schemas.microsoft.com/office/drawing/2014/main" id="{FDDD6B32-CA07-4526-B1BD-9E7A3F185B78}"/>
              </a:ext>
            </a:extLst>
          </p:cNvPr>
          <p:cNvSpPr txBox="1">
            <a:spLocks noChangeArrowheads="1"/>
          </p:cNvSpPr>
          <p:nvPr/>
        </p:nvSpPr>
        <p:spPr bwMode="auto">
          <a:xfrm>
            <a:off x="34925" y="1400075"/>
            <a:ext cx="6263679" cy="503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eaLnBrk="1" hangingPunct="1">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需求减少和供给增加对市场均衡的影响</a:t>
            </a: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Effect transition="in" filter="wipe(left)">
                                      <p:cBhvr>
                                        <p:cTn id="7" dur="500"/>
                                        <p:tgtEl>
                                          <p:spTgt spid="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4056"/>
                                        </p:tgtEl>
                                        <p:attrNameLst>
                                          <p:attrName>style.visibility</p:attrName>
                                        </p:attrNameLst>
                                      </p:cBhvr>
                                      <p:to>
                                        <p:strVal val="visible"/>
                                      </p:to>
                                    </p:set>
                                    <p:animEffect transition="in" filter="randombar(horizontal)">
                                      <p:cBhvr>
                                        <p:cTn id="12" dur="500"/>
                                        <p:tgtEl>
                                          <p:spTgt spid="440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4053"/>
                                        </p:tgtEl>
                                        <p:attrNameLst>
                                          <p:attrName>style.visibility</p:attrName>
                                        </p:attrNameLst>
                                      </p:cBhvr>
                                      <p:to>
                                        <p:strVal val="visible"/>
                                      </p:to>
                                    </p:set>
                                    <p:animEffect transition="in" filter="wipe(left)">
                                      <p:cBhvr>
                                        <p:cTn id="17" dur="500"/>
                                        <p:tgtEl>
                                          <p:spTgt spid="44053"/>
                                        </p:tgtEl>
                                      </p:cBhvr>
                                    </p:animEffect>
                                  </p:childTnLst>
                                </p:cTn>
                              </p:par>
                              <p:par>
                                <p:cTn id="18" presetID="22" presetClass="entr" presetSubtype="4" fill="hold" nodeType="withEffect">
                                  <p:stCondLst>
                                    <p:cond delay="0"/>
                                  </p:stCondLst>
                                  <p:childTnLst>
                                    <p:set>
                                      <p:cBhvr>
                                        <p:cTn id="19" dur="1" fill="hold">
                                          <p:stCondLst>
                                            <p:cond delay="0"/>
                                          </p:stCondLst>
                                        </p:cTn>
                                        <p:tgtEl>
                                          <p:spTgt spid="44055"/>
                                        </p:tgtEl>
                                        <p:attrNameLst>
                                          <p:attrName>style.visibility</p:attrName>
                                        </p:attrNameLst>
                                      </p:cBhvr>
                                      <p:to>
                                        <p:strVal val="visible"/>
                                      </p:to>
                                    </p:set>
                                    <p:animEffect transition="in" filter="wipe(down)">
                                      <p:cBhvr>
                                        <p:cTn id="20" dur="500"/>
                                        <p:tgtEl>
                                          <p:spTgt spid="44055"/>
                                        </p:tgtEl>
                                      </p:cBhvr>
                                    </p:animEffect>
                                  </p:childTnLst>
                                </p:cTn>
                              </p:par>
                            </p:childTnLst>
                          </p:cTn>
                        </p:par>
                        <p:par>
                          <p:cTn id="21" fill="hold">
                            <p:stCondLst>
                              <p:cond delay="500"/>
                            </p:stCondLst>
                            <p:childTnLst>
                              <p:par>
                                <p:cTn id="22" presetID="14" presetClass="entr" presetSubtype="10" fill="hold" nodeType="afterEffect">
                                  <p:stCondLst>
                                    <p:cond delay="0"/>
                                  </p:stCondLst>
                                  <p:childTnLst>
                                    <p:set>
                                      <p:cBhvr>
                                        <p:cTn id="23" dur="1" fill="hold">
                                          <p:stCondLst>
                                            <p:cond delay="0"/>
                                          </p:stCondLst>
                                        </p:cTn>
                                        <p:tgtEl>
                                          <p:spTgt spid="44058"/>
                                        </p:tgtEl>
                                        <p:attrNameLst>
                                          <p:attrName>style.visibility</p:attrName>
                                        </p:attrNameLst>
                                      </p:cBhvr>
                                      <p:to>
                                        <p:strVal val="visible"/>
                                      </p:to>
                                    </p:set>
                                    <p:animEffect transition="in" filter="randombar(horizontal)">
                                      <p:cBhvr>
                                        <p:cTn id="24" dur="500"/>
                                        <p:tgtEl>
                                          <p:spTgt spid="44058"/>
                                        </p:tgtEl>
                                      </p:cBhvr>
                                    </p:animEffect>
                                  </p:childTnLst>
                                </p:cTn>
                              </p:par>
                            </p:childTnLst>
                          </p:cTn>
                        </p:par>
                        <p:par>
                          <p:cTn id="25" fill="hold">
                            <p:stCondLst>
                              <p:cond delay="1000"/>
                            </p:stCondLst>
                            <p:childTnLst>
                              <p:par>
                                <p:cTn id="26" presetID="14" presetClass="entr" presetSubtype="10" fill="hold" nodeType="afterEffect">
                                  <p:stCondLst>
                                    <p:cond delay="0"/>
                                  </p:stCondLst>
                                  <p:childTnLst>
                                    <p:set>
                                      <p:cBhvr>
                                        <p:cTn id="27" dur="1" fill="hold">
                                          <p:stCondLst>
                                            <p:cond delay="0"/>
                                          </p:stCondLst>
                                        </p:cTn>
                                        <p:tgtEl>
                                          <p:spTgt spid="44057"/>
                                        </p:tgtEl>
                                        <p:attrNameLst>
                                          <p:attrName>style.visibility</p:attrName>
                                        </p:attrNameLst>
                                      </p:cBhvr>
                                      <p:to>
                                        <p:strVal val="visible"/>
                                      </p:to>
                                    </p:set>
                                    <p:animEffect transition="in" filter="randombar(horizontal)">
                                      <p:cBhvr>
                                        <p:cTn id="28" dur="500"/>
                                        <p:tgtEl>
                                          <p:spTgt spid="4405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44064"/>
                                        </p:tgtEl>
                                        <p:attrNameLst>
                                          <p:attrName>style.visibility</p:attrName>
                                        </p:attrNameLst>
                                      </p:cBhvr>
                                      <p:to>
                                        <p:strVal val="visible"/>
                                      </p:to>
                                    </p:set>
                                    <p:animEffect transition="in" filter="wipe(down)">
                                      <p:cBhvr>
                                        <p:cTn id="33" dur="500"/>
                                        <p:tgtEl>
                                          <p:spTgt spid="44064"/>
                                        </p:tgtEl>
                                      </p:cBhvr>
                                    </p:animEffect>
                                  </p:childTnLst>
                                </p:cTn>
                              </p:par>
                            </p:childTnLst>
                          </p:cTn>
                        </p:par>
                        <p:par>
                          <p:cTn id="34" fill="hold">
                            <p:stCondLst>
                              <p:cond delay="500"/>
                            </p:stCondLst>
                            <p:childTnLst>
                              <p:par>
                                <p:cTn id="35" presetID="14" presetClass="entr" presetSubtype="10" fill="hold" nodeType="afterEffect">
                                  <p:stCondLst>
                                    <p:cond delay="0"/>
                                  </p:stCondLst>
                                  <p:childTnLst>
                                    <p:set>
                                      <p:cBhvr>
                                        <p:cTn id="36" dur="1" fill="hold">
                                          <p:stCondLst>
                                            <p:cond delay="0"/>
                                          </p:stCondLst>
                                        </p:cTn>
                                        <p:tgtEl>
                                          <p:spTgt spid="44069"/>
                                        </p:tgtEl>
                                        <p:attrNameLst>
                                          <p:attrName>style.visibility</p:attrName>
                                        </p:attrNameLst>
                                      </p:cBhvr>
                                      <p:to>
                                        <p:strVal val="visible"/>
                                      </p:to>
                                    </p:set>
                                    <p:animEffect transition="in" filter="randombar(horizontal)">
                                      <p:cBhvr>
                                        <p:cTn id="37" dur="500"/>
                                        <p:tgtEl>
                                          <p:spTgt spid="4406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4063"/>
                                        </p:tgtEl>
                                        <p:attrNameLst>
                                          <p:attrName>style.visibility</p:attrName>
                                        </p:attrNameLst>
                                      </p:cBhvr>
                                      <p:to>
                                        <p:strVal val="visible"/>
                                      </p:to>
                                    </p:set>
                                    <p:animEffect transition="in" filter="wipe(left)">
                                      <p:cBhvr>
                                        <p:cTn id="42" dur="500"/>
                                        <p:tgtEl>
                                          <p:spTgt spid="44063"/>
                                        </p:tgtEl>
                                      </p:cBhvr>
                                    </p:animEffect>
                                  </p:childTnLst>
                                </p:cTn>
                              </p:par>
                            </p:childTnLst>
                          </p:cTn>
                        </p:par>
                        <p:par>
                          <p:cTn id="43" fill="hold">
                            <p:stCondLst>
                              <p:cond delay="500"/>
                            </p:stCondLst>
                            <p:childTnLst>
                              <p:par>
                                <p:cTn id="44" presetID="14" presetClass="entr" presetSubtype="10" fill="hold" nodeType="afterEffect">
                                  <p:stCondLst>
                                    <p:cond delay="0"/>
                                  </p:stCondLst>
                                  <p:childTnLst>
                                    <p:set>
                                      <p:cBhvr>
                                        <p:cTn id="45" dur="1" fill="hold">
                                          <p:stCondLst>
                                            <p:cond delay="0"/>
                                          </p:stCondLst>
                                        </p:cTn>
                                        <p:tgtEl>
                                          <p:spTgt spid="44060"/>
                                        </p:tgtEl>
                                        <p:attrNameLst>
                                          <p:attrName>style.visibility</p:attrName>
                                        </p:attrNameLst>
                                      </p:cBhvr>
                                      <p:to>
                                        <p:strVal val="visible"/>
                                      </p:to>
                                    </p:set>
                                    <p:animEffect transition="in" filter="randombar(horizontal)">
                                      <p:cBhvr>
                                        <p:cTn id="46" dur="500"/>
                                        <p:tgtEl>
                                          <p:spTgt spid="44060"/>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44066"/>
                                        </p:tgtEl>
                                        <p:attrNameLst>
                                          <p:attrName>style.visibility</p:attrName>
                                        </p:attrNameLst>
                                      </p:cBhvr>
                                      <p:to>
                                        <p:strVal val="visible"/>
                                      </p:to>
                                    </p:set>
                                    <p:animEffect transition="in" filter="randombar(horizontal)">
                                      <p:cBhvr>
                                        <p:cTn id="51" dur="500"/>
                                        <p:tgtEl>
                                          <p:spTgt spid="44066"/>
                                        </p:tgtEl>
                                      </p:cBhvr>
                                    </p:animEffect>
                                  </p:childTnLst>
                                </p:cTn>
                              </p:par>
                              <p:par>
                                <p:cTn id="52" presetID="14" presetClass="entr" presetSubtype="10" fill="hold" nodeType="withEffect">
                                  <p:stCondLst>
                                    <p:cond delay="0"/>
                                  </p:stCondLst>
                                  <p:childTnLst>
                                    <p:set>
                                      <p:cBhvr>
                                        <p:cTn id="53" dur="1" fill="hold">
                                          <p:stCondLst>
                                            <p:cond delay="0"/>
                                          </p:stCondLst>
                                        </p:cTn>
                                        <p:tgtEl>
                                          <p:spTgt spid="44067"/>
                                        </p:tgtEl>
                                        <p:attrNameLst>
                                          <p:attrName>style.visibility</p:attrName>
                                        </p:attrNameLst>
                                      </p:cBhvr>
                                      <p:to>
                                        <p:strVal val="visible"/>
                                      </p:to>
                                    </p:set>
                                    <p:animEffect transition="in" filter="randombar(horizontal)">
                                      <p:cBhvr>
                                        <p:cTn id="54" dur="500"/>
                                        <p:tgtEl>
                                          <p:spTgt spid="44067"/>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44065"/>
                                        </p:tgtEl>
                                        <p:attrNameLst>
                                          <p:attrName>style.visibility</p:attrName>
                                        </p:attrNameLst>
                                      </p:cBhvr>
                                      <p:to>
                                        <p:strVal val="visible"/>
                                      </p:to>
                                    </p:set>
                                    <p:animEffect transition="in" filter="wipe(left)">
                                      <p:cBhvr>
                                        <p:cTn id="58" dur="500"/>
                                        <p:tgtEl>
                                          <p:spTgt spid="44065"/>
                                        </p:tgtEl>
                                      </p:cBhvr>
                                    </p:animEffect>
                                  </p:childTnLst>
                                </p:cTn>
                              </p:par>
                            </p:childTnLst>
                          </p:cTn>
                        </p:par>
                        <p:par>
                          <p:cTn id="59" fill="hold">
                            <p:stCondLst>
                              <p:cond delay="1000"/>
                            </p:stCondLst>
                            <p:childTnLst>
                              <p:par>
                                <p:cTn id="60" presetID="22" presetClass="entr" presetSubtype="4" fill="hold" nodeType="afterEffect">
                                  <p:stCondLst>
                                    <p:cond delay="0"/>
                                  </p:stCondLst>
                                  <p:childTnLst>
                                    <p:set>
                                      <p:cBhvr>
                                        <p:cTn id="61" dur="1" fill="hold">
                                          <p:stCondLst>
                                            <p:cond delay="0"/>
                                          </p:stCondLst>
                                        </p:cTn>
                                        <p:tgtEl>
                                          <p:spTgt spid="44061"/>
                                        </p:tgtEl>
                                        <p:attrNameLst>
                                          <p:attrName>style.visibility</p:attrName>
                                        </p:attrNameLst>
                                      </p:cBhvr>
                                      <p:to>
                                        <p:strVal val="visible"/>
                                      </p:to>
                                    </p:set>
                                    <p:animEffect transition="in" filter="wipe(down)">
                                      <p:cBhvr>
                                        <p:cTn id="62" dur="500"/>
                                        <p:tgtEl>
                                          <p:spTgt spid="44061"/>
                                        </p:tgtEl>
                                      </p:cBhvr>
                                    </p:animEffect>
                                  </p:childTnLst>
                                </p:cTn>
                              </p:par>
                            </p:childTnLst>
                          </p:cTn>
                        </p:par>
                      </p:childTnLst>
                    </p:cTn>
                  </p:par>
                  <p:par>
                    <p:cTn id="63" fill="hold">
                      <p:stCondLst>
                        <p:cond delay="indefinite"/>
                      </p:stCondLst>
                      <p:childTnLst>
                        <p:par>
                          <p:cTn id="64" fill="hold">
                            <p:stCondLst>
                              <p:cond delay="0"/>
                            </p:stCondLst>
                            <p:childTnLst>
                              <p:par>
                                <p:cTn id="65" presetID="14" presetClass="entr" presetSubtype="10" fill="hold" nodeType="clickEffect">
                                  <p:stCondLst>
                                    <p:cond delay="0"/>
                                  </p:stCondLst>
                                  <p:childTnLst>
                                    <p:set>
                                      <p:cBhvr>
                                        <p:cTn id="66" dur="1" fill="hold">
                                          <p:stCondLst>
                                            <p:cond delay="0"/>
                                          </p:stCondLst>
                                        </p:cTn>
                                        <p:tgtEl>
                                          <p:spTgt spid="44072"/>
                                        </p:tgtEl>
                                        <p:attrNameLst>
                                          <p:attrName>style.visibility</p:attrName>
                                        </p:attrNameLst>
                                      </p:cBhvr>
                                      <p:to>
                                        <p:strVal val="visible"/>
                                      </p:to>
                                    </p:set>
                                    <p:animEffect transition="in" filter="randombar(horizontal)">
                                      <p:cBhvr>
                                        <p:cTn id="67" dur="500"/>
                                        <p:tgtEl>
                                          <p:spTgt spid="44072"/>
                                        </p:tgtEl>
                                      </p:cBhvr>
                                    </p:animEffect>
                                  </p:childTnLst>
                                </p:cTn>
                              </p:par>
                              <p:par>
                                <p:cTn id="68" presetID="14" presetClass="entr" presetSubtype="10" fill="hold" nodeType="withEffect">
                                  <p:stCondLst>
                                    <p:cond delay="0"/>
                                  </p:stCondLst>
                                  <p:childTnLst>
                                    <p:set>
                                      <p:cBhvr>
                                        <p:cTn id="69" dur="1" fill="hold">
                                          <p:stCondLst>
                                            <p:cond delay="0"/>
                                          </p:stCondLst>
                                        </p:cTn>
                                        <p:tgtEl>
                                          <p:spTgt spid="44073"/>
                                        </p:tgtEl>
                                        <p:attrNameLst>
                                          <p:attrName>style.visibility</p:attrName>
                                        </p:attrNameLst>
                                      </p:cBhvr>
                                      <p:to>
                                        <p:strVal val="visible"/>
                                      </p:to>
                                    </p:set>
                                    <p:animEffect transition="in" filter="randombar(horizontal)">
                                      <p:cBhvr>
                                        <p:cTn id="70" dur="500"/>
                                        <p:tgtEl>
                                          <p:spTgt spid="44073"/>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44070"/>
                                        </p:tgtEl>
                                        <p:attrNameLst>
                                          <p:attrName>style.visibility</p:attrName>
                                        </p:attrNameLst>
                                      </p:cBhvr>
                                      <p:to>
                                        <p:strVal val="visible"/>
                                      </p:to>
                                    </p:set>
                                    <p:animEffect transition="in" filter="wipe(left)">
                                      <p:cBhvr>
                                        <p:cTn id="75" dur="500"/>
                                        <p:tgtEl>
                                          <p:spTgt spid="44070"/>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nodeType="clickEffect">
                                  <p:stCondLst>
                                    <p:cond delay="0"/>
                                  </p:stCondLst>
                                  <p:childTnLst>
                                    <p:set>
                                      <p:cBhvr>
                                        <p:cTn id="79" dur="1" fill="hold">
                                          <p:stCondLst>
                                            <p:cond delay="0"/>
                                          </p:stCondLst>
                                        </p:cTn>
                                        <p:tgtEl>
                                          <p:spTgt spid="44071"/>
                                        </p:tgtEl>
                                        <p:attrNameLst>
                                          <p:attrName>style.visibility</p:attrName>
                                        </p:attrNameLst>
                                      </p:cBhvr>
                                      <p:to>
                                        <p:strVal val="visible"/>
                                      </p:to>
                                    </p:set>
                                    <p:animEffect transition="in" filter="wipe(down)">
                                      <p:cBhvr>
                                        <p:cTn id="80" dur="500"/>
                                        <p:tgtEl>
                                          <p:spTgt spid="44071"/>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44044"/>
                                        </p:tgtEl>
                                        <p:attrNameLst>
                                          <p:attrName>style.visibility</p:attrName>
                                        </p:attrNameLst>
                                      </p:cBhvr>
                                      <p:to>
                                        <p:strVal val="visible"/>
                                      </p:to>
                                    </p:set>
                                    <p:animEffect transition="in" filter="wipe(left)">
                                      <p:cBhvr>
                                        <p:cTn id="85" dur="500"/>
                                        <p:tgtEl>
                                          <p:spTgt spid="44044"/>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nodeType="clickEffect">
                                  <p:stCondLst>
                                    <p:cond delay="0"/>
                                  </p:stCondLst>
                                  <p:childTnLst>
                                    <p:set>
                                      <p:cBhvr>
                                        <p:cTn id="89" dur="1" fill="hold">
                                          <p:stCondLst>
                                            <p:cond delay="0"/>
                                          </p:stCondLst>
                                        </p:cTn>
                                        <p:tgtEl>
                                          <p:spTgt spid="44051"/>
                                        </p:tgtEl>
                                        <p:attrNameLst>
                                          <p:attrName>style.visibility</p:attrName>
                                        </p:attrNameLst>
                                      </p:cBhvr>
                                      <p:to>
                                        <p:strVal val="visible"/>
                                      </p:to>
                                    </p:set>
                                    <p:animEffect transition="in" filter="wipe(down)">
                                      <p:cBhvr>
                                        <p:cTn id="90" dur="500"/>
                                        <p:tgtEl>
                                          <p:spTgt spid="44051"/>
                                        </p:tgtEl>
                                      </p:cBhvr>
                                    </p:animEffect>
                                  </p:childTnLst>
                                </p:cTn>
                              </p:par>
                            </p:childTnLst>
                          </p:cTn>
                        </p:par>
                        <p:par>
                          <p:cTn id="91" fill="hold">
                            <p:stCondLst>
                              <p:cond delay="500"/>
                            </p:stCondLst>
                            <p:childTnLst>
                              <p:par>
                                <p:cTn id="92" presetID="14" presetClass="entr" presetSubtype="10" fill="hold" nodeType="afterEffect">
                                  <p:stCondLst>
                                    <p:cond delay="0"/>
                                  </p:stCondLst>
                                  <p:childTnLst>
                                    <p:set>
                                      <p:cBhvr>
                                        <p:cTn id="93" dur="1" fill="hold">
                                          <p:stCondLst>
                                            <p:cond delay="0"/>
                                          </p:stCondLst>
                                        </p:cTn>
                                        <p:tgtEl>
                                          <p:spTgt spid="44052"/>
                                        </p:tgtEl>
                                        <p:attrNameLst>
                                          <p:attrName>style.visibility</p:attrName>
                                        </p:attrNameLst>
                                      </p:cBhvr>
                                      <p:to>
                                        <p:strVal val="visible"/>
                                      </p:to>
                                    </p:set>
                                    <p:animEffect transition="in" filter="randombar(horizontal)">
                                      <p:cBhvr>
                                        <p:cTn id="94" dur="500"/>
                                        <p:tgtEl>
                                          <p:spTgt spid="44052"/>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2" fill="hold" nodeType="clickEffect">
                                  <p:stCondLst>
                                    <p:cond delay="0"/>
                                  </p:stCondLst>
                                  <p:childTnLst>
                                    <p:set>
                                      <p:cBhvr>
                                        <p:cTn id="98" dur="1" fill="hold">
                                          <p:stCondLst>
                                            <p:cond delay="0"/>
                                          </p:stCondLst>
                                        </p:cTn>
                                        <p:tgtEl>
                                          <p:spTgt spid="44045"/>
                                        </p:tgtEl>
                                        <p:attrNameLst>
                                          <p:attrName>style.visibility</p:attrName>
                                        </p:attrNameLst>
                                      </p:cBhvr>
                                      <p:to>
                                        <p:strVal val="visible"/>
                                      </p:to>
                                    </p:set>
                                    <p:animEffect transition="in" filter="wipe(right)">
                                      <p:cBhvr>
                                        <p:cTn id="99" dur="500"/>
                                        <p:tgtEl>
                                          <p:spTgt spid="44045"/>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44049"/>
                                        </p:tgtEl>
                                        <p:attrNameLst>
                                          <p:attrName>style.visibility</p:attrName>
                                        </p:attrNameLst>
                                      </p:cBhvr>
                                      <p:to>
                                        <p:strVal val="visible"/>
                                      </p:to>
                                    </p:set>
                                    <p:animEffect transition="in" filter="wipe(left)">
                                      <p:cBhvr>
                                        <p:cTn id="104" dur="500"/>
                                        <p:tgtEl>
                                          <p:spTgt spid="44049"/>
                                        </p:tgtEl>
                                      </p:cBhvr>
                                    </p:animEffect>
                                  </p:childTnLst>
                                </p:cTn>
                              </p:par>
                            </p:childTnLst>
                          </p:cTn>
                        </p:par>
                        <p:par>
                          <p:cTn id="105" fill="hold">
                            <p:stCondLst>
                              <p:cond delay="500"/>
                            </p:stCondLst>
                            <p:childTnLst>
                              <p:par>
                                <p:cTn id="106" presetID="14" presetClass="entr" presetSubtype="10" fill="hold" nodeType="afterEffect">
                                  <p:stCondLst>
                                    <p:cond delay="0"/>
                                  </p:stCondLst>
                                  <p:childTnLst>
                                    <p:set>
                                      <p:cBhvr>
                                        <p:cTn id="107" dur="1" fill="hold">
                                          <p:stCondLst>
                                            <p:cond delay="0"/>
                                          </p:stCondLst>
                                        </p:cTn>
                                        <p:tgtEl>
                                          <p:spTgt spid="44050"/>
                                        </p:tgtEl>
                                        <p:attrNameLst>
                                          <p:attrName>style.visibility</p:attrName>
                                        </p:attrNameLst>
                                      </p:cBhvr>
                                      <p:to>
                                        <p:strVal val="visible"/>
                                      </p:to>
                                    </p:set>
                                    <p:animEffect transition="in" filter="randombar(horizontal)">
                                      <p:cBhvr>
                                        <p:cTn id="108" dur="500"/>
                                        <p:tgtEl>
                                          <p:spTgt spid="44050"/>
                                        </p:tgtEl>
                                      </p:cBhvr>
                                    </p:animEffect>
                                  </p:childTnLst>
                                </p:cTn>
                              </p:par>
                            </p:childTnLst>
                          </p:cTn>
                        </p:par>
                      </p:childTnLst>
                    </p:cTn>
                  </p:par>
                  <p:par>
                    <p:cTn id="109" fill="hold">
                      <p:stCondLst>
                        <p:cond delay="indefinite"/>
                      </p:stCondLst>
                      <p:childTnLst>
                        <p:par>
                          <p:cTn id="110" fill="hold">
                            <p:stCondLst>
                              <p:cond delay="0"/>
                            </p:stCondLst>
                            <p:childTnLst>
                              <p:par>
                                <p:cTn id="111" presetID="14" presetClass="entr" presetSubtype="10" fill="hold" nodeType="clickEffect">
                                  <p:stCondLst>
                                    <p:cond delay="0"/>
                                  </p:stCondLst>
                                  <p:childTnLst>
                                    <p:set>
                                      <p:cBhvr>
                                        <p:cTn id="112" dur="1" fill="hold">
                                          <p:stCondLst>
                                            <p:cond delay="0"/>
                                          </p:stCondLst>
                                        </p:cTn>
                                        <p:tgtEl>
                                          <p:spTgt spid="44068"/>
                                        </p:tgtEl>
                                        <p:attrNameLst>
                                          <p:attrName>style.visibility</p:attrName>
                                        </p:attrNameLst>
                                      </p:cBhvr>
                                      <p:to>
                                        <p:strVal val="visible"/>
                                      </p:to>
                                    </p:set>
                                    <p:animEffect transition="in" filter="randombar(horizontal)">
                                      <p:cBhvr>
                                        <p:cTn id="113" dur="500"/>
                                        <p:tgtEl>
                                          <p:spTgt spid="44068"/>
                                        </p:tgtEl>
                                      </p:cBhvr>
                                    </p:animEffect>
                                  </p:childTnLst>
                                </p:cTn>
                              </p:par>
                            </p:childTnLst>
                          </p:cTn>
                        </p:par>
                      </p:childTnLst>
                    </p:cTn>
                  </p:par>
                  <p:par>
                    <p:cTn id="114" fill="hold">
                      <p:stCondLst>
                        <p:cond delay="indefinite"/>
                      </p:stCondLst>
                      <p:childTnLst>
                        <p:par>
                          <p:cTn id="115" fill="hold">
                            <p:stCondLst>
                              <p:cond delay="0"/>
                            </p:stCondLst>
                            <p:childTnLst>
                              <p:par>
                                <p:cTn id="116" presetID="14" presetClass="entr" presetSubtype="10" fill="hold" nodeType="clickEffect">
                                  <p:stCondLst>
                                    <p:cond delay="0"/>
                                  </p:stCondLst>
                                  <p:childTnLst>
                                    <p:set>
                                      <p:cBhvr>
                                        <p:cTn id="117" dur="1" fill="hold">
                                          <p:stCondLst>
                                            <p:cond delay="0"/>
                                          </p:stCondLst>
                                        </p:cTn>
                                        <p:tgtEl>
                                          <p:spTgt spid="44074"/>
                                        </p:tgtEl>
                                        <p:attrNameLst>
                                          <p:attrName>style.visibility</p:attrName>
                                        </p:attrNameLst>
                                      </p:cBhvr>
                                      <p:to>
                                        <p:strVal val="visible"/>
                                      </p:to>
                                    </p:set>
                                    <p:animEffect transition="in" filter="randombar(horizontal)">
                                      <p:cBhvr>
                                        <p:cTn id="118" dur="500"/>
                                        <p:tgtEl>
                                          <p:spTgt spid="44074"/>
                                        </p:tgtEl>
                                      </p:cBhvr>
                                    </p:animEffect>
                                  </p:childTnLst>
                                </p:cTn>
                              </p:par>
                            </p:childTnLst>
                          </p:cTn>
                        </p:par>
                        <p:par>
                          <p:cTn id="119" fill="hold">
                            <p:stCondLst>
                              <p:cond delay="500"/>
                            </p:stCondLst>
                            <p:childTnLst>
                              <p:par>
                                <p:cTn id="120" presetID="22" presetClass="entr" presetSubtype="1" fill="hold" nodeType="afterEffect">
                                  <p:stCondLst>
                                    <p:cond delay="0"/>
                                  </p:stCondLst>
                                  <p:childTnLst>
                                    <p:set>
                                      <p:cBhvr>
                                        <p:cTn id="121" dur="1" fill="hold">
                                          <p:stCondLst>
                                            <p:cond delay="0"/>
                                          </p:stCondLst>
                                        </p:cTn>
                                        <p:tgtEl>
                                          <p:spTgt spid="38951"/>
                                        </p:tgtEl>
                                        <p:attrNameLst>
                                          <p:attrName>style.visibility</p:attrName>
                                        </p:attrNameLst>
                                      </p:cBhvr>
                                      <p:to>
                                        <p:strVal val="visible"/>
                                      </p:to>
                                    </p:set>
                                    <p:animEffect transition="in" filter="wipe(up)">
                                      <p:cBhvr>
                                        <p:cTn id="122" dur="500"/>
                                        <p:tgtEl>
                                          <p:spTgt spid="389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5095" name="直接连接符 15"/>
          <p:cNvCxnSpPr>
            <a:cxnSpLocks noChangeShapeType="1"/>
          </p:cNvCxnSpPr>
          <p:nvPr/>
        </p:nvCxnSpPr>
        <p:spPr bwMode="auto">
          <a:xfrm rot="5400000" flipH="1" flipV="1">
            <a:off x="1333561" y="3299433"/>
            <a:ext cx="2144171" cy="958850"/>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aphicFrame>
        <p:nvGraphicFramePr>
          <p:cNvPr id="45096" name="Object 6"/>
          <p:cNvGraphicFramePr>
            <a:graphicFrameLocks noChangeAspect="1"/>
          </p:cNvGraphicFramePr>
          <p:nvPr/>
        </p:nvGraphicFramePr>
        <p:xfrm>
          <a:off x="2790769" y="2420888"/>
          <a:ext cx="221125" cy="320829"/>
        </p:xfrm>
        <a:graphic>
          <a:graphicData uri="http://schemas.openxmlformats.org/presentationml/2006/ole">
            <mc:AlternateContent xmlns:mc="http://schemas.openxmlformats.org/markup-compatibility/2006">
              <mc:Choice xmlns:v="urn:schemas-microsoft-com:vml" Requires="v">
                <p:oleObj spid="_x0000_s194795" r:id="rId3" imgW="178497" imgH="229496" progId="">
                  <p:embed/>
                </p:oleObj>
              </mc:Choice>
              <mc:Fallback>
                <p:oleObj r:id="rId3" imgW="178497" imgH="229496" progId="">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0769" y="2420888"/>
                        <a:ext cx="221125" cy="320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5069" name="直接箭头连接符 48"/>
          <p:cNvCxnSpPr>
            <a:cxnSpLocks noChangeShapeType="1"/>
          </p:cNvCxnSpPr>
          <p:nvPr/>
        </p:nvCxnSpPr>
        <p:spPr bwMode="auto">
          <a:xfrm rot="10800000">
            <a:off x="2916822" y="2992667"/>
            <a:ext cx="501650" cy="1589"/>
          </a:xfrm>
          <a:prstGeom prst="straightConnector1">
            <a:avLst/>
          </a:prstGeom>
          <a:noFill/>
          <a:ln w="25400">
            <a:solidFill>
              <a:srgbClr val="A7C804"/>
            </a:solidFill>
            <a:round/>
            <a:headEnd/>
            <a:tailEnd type="stealth" w="sm" len="lg"/>
          </a:ln>
          <a:effectLst>
            <a:outerShdw dist="20000" dir="5400000" algn="ctr" rotWithShape="0">
              <a:srgbClr val="000000">
                <a:alpha val="31998"/>
              </a:srgbClr>
            </a:outerShdw>
          </a:effectLst>
          <a:extLst>
            <a:ext uri="{909E8E84-426E-40DD-AFC4-6F175D3DCCD1}">
              <a14:hiddenFill xmlns:a14="http://schemas.microsoft.com/office/drawing/2010/main">
                <a:noFill/>
              </a14:hiddenFill>
            </a:ext>
          </a:extLst>
        </p:spPr>
      </p:cxnSp>
      <p:cxnSp>
        <p:nvCxnSpPr>
          <p:cNvPr id="45070" name="直接箭头连接符 51"/>
          <p:cNvCxnSpPr>
            <a:cxnSpLocks noChangeShapeType="1"/>
          </p:cNvCxnSpPr>
          <p:nvPr/>
        </p:nvCxnSpPr>
        <p:spPr bwMode="auto">
          <a:xfrm rot="10800000">
            <a:off x="3651834" y="4708004"/>
            <a:ext cx="471488" cy="1589"/>
          </a:xfrm>
          <a:prstGeom prst="straightConnector1">
            <a:avLst/>
          </a:prstGeom>
          <a:noFill/>
          <a:ln w="25400">
            <a:solidFill>
              <a:srgbClr val="A7C804"/>
            </a:solidFill>
            <a:round/>
            <a:headEnd/>
            <a:tailEnd type="stealth" w="sm" len="lg"/>
          </a:ln>
          <a:effectLst>
            <a:outerShdw dist="20000" dir="5400000" algn="ctr" rotWithShape="0">
              <a:srgbClr val="000000">
                <a:alpha val="31998"/>
              </a:srgbClr>
            </a:outerShdw>
          </a:effectLst>
          <a:extLst>
            <a:ext uri="{909E8E84-426E-40DD-AFC4-6F175D3DCCD1}">
              <a14:hiddenFill xmlns:a14="http://schemas.microsoft.com/office/drawing/2010/main">
                <a:noFill/>
              </a14:hiddenFill>
            </a:ext>
          </a:extLst>
        </p:spPr>
      </p:cxnSp>
      <p:cxnSp>
        <p:nvCxnSpPr>
          <p:cNvPr id="45089" name="直接箭头连接符 5"/>
          <p:cNvCxnSpPr>
            <a:cxnSpLocks noChangeShapeType="1"/>
          </p:cNvCxnSpPr>
          <p:nvPr/>
        </p:nvCxnSpPr>
        <p:spPr bwMode="auto">
          <a:xfrm>
            <a:off x="1359829" y="5279783"/>
            <a:ext cx="3321050" cy="1589"/>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45091" name="直接箭头连接符 7"/>
          <p:cNvCxnSpPr>
            <a:cxnSpLocks noChangeShapeType="1"/>
          </p:cNvCxnSpPr>
          <p:nvPr/>
        </p:nvCxnSpPr>
        <p:spPr bwMode="auto">
          <a:xfrm rot="5400000" flipH="1" flipV="1">
            <a:off x="-68825" y="3849542"/>
            <a:ext cx="2858895"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45092" name="Object 12"/>
          <p:cNvGraphicFramePr>
            <a:graphicFrameLocks noChangeAspect="1"/>
          </p:cNvGraphicFramePr>
          <p:nvPr/>
        </p:nvGraphicFramePr>
        <p:xfrm>
          <a:off x="1105829" y="5351258"/>
          <a:ext cx="190109" cy="247769"/>
        </p:xfrm>
        <a:graphic>
          <a:graphicData uri="http://schemas.openxmlformats.org/presentationml/2006/ole">
            <mc:AlternateContent xmlns:mc="http://schemas.openxmlformats.org/markup-compatibility/2006">
              <mc:Choice xmlns:v="urn:schemas-microsoft-com:vml" Requires="v">
                <p:oleObj spid="_x0000_s194796" r:id="rId5" imgW="153198" imgH="178731" progId="">
                  <p:embed/>
                </p:oleObj>
              </mc:Choice>
              <mc:Fallback>
                <p:oleObj r:id="rId5" imgW="153198" imgH="178731" progId="">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5829" y="5351258"/>
                        <a:ext cx="190109" cy="247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93" name="Object 13"/>
          <p:cNvGraphicFramePr>
            <a:graphicFrameLocks noChangeAspect="1"/>
          </p:cNvGraphicFramePr>
          <p:nvPr/>
        </p:nvGraphicFramePr>
        <p:xfrm>
          <a:off x="1105829" y="2420888"/>
          <a:ext cx="190109" cy="230299"/>
        </p:xfrm>
        <a:graphic>
          <a:graphicData uri="http://schemas.openxmlformats.org/presentationml/2006/ole">
            <mc:AlternateContent xmlns:mc="http://schemas.openxmlformats.org/markup-compatibility/2006">
              <mc:Choice xmlns:v="urn:schemas-microsoft-com:vml" Requires="v">
                <p:oleObj spid="_x0000_s194797" r:id="rId7" imgW="153332" imgH="166109" progId="">
                  <p:embed/>
                </p:oleObj>
              </mc:Choice>
              <mc:Fallback>
                <p:oleObj r:id="rId7" imgW="153332" imgH="166109" progId="">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5829" y="2420888"/>
                        <a:ext cx="190109" cy="230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94" name="Object 14"/>
          <p:cNvGraphicFramePr>
            <a:graphicFrameLocks noChangeAspect="1"/>
          </p:cNvGraphicFramePr>
          <p:nvPr/>
        </p:nvGraphicFramePr>
        <p:xfrm>
          <a:off x="4489513" y="5351258"/>
          <a:ext cx="190109" cy="284299"/>
        </p:xfrm>
        <a:graphic>
          <a:graphicData uri="http://schemas.openxmlformats.org/presentationml/2006/ole">
            <mc:AlternateContent xmlns:mc="http://schemas.openxmlformats.org/markup-compatibility/2006">
              <mc:Choice xmlns:v="urn:schemas-microsoft-com:vml" Requires="v">
                <p:oleObj spid="_x0000_s194798" r:id="rId9" imgW="153332" imgH="204442" progId="">
                  <p:embed/>
                </p:oleObj>
              </mc:Choice>
              <mc:Fallback>
                <p:oleObj r:id="rId9" imgW="153332" imgH="204442" progId="">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89513" y="5351258"/>
                        <a:ext cx="190109" cy="284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5084" name="直接连接符 22"/>
          <p:cNvCxnSpPr>
            <a:cxnSpLocks noChangeShapeType="1"/>
          </p:cNvCxnSpPr>
          <p:nvPr/>
        </p:nvCxnSpPr>
        <p:spPr bwMode="auto">
          <a:xfrm>
            <a:off x="1389991" y="3993281"/>
            <a:ext cx="908050" cy="1589"/>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45085" name="直接连接符 29"/>
          <p:cNvCxnSpPr>
            <a:cxnSpLocks noChangeShapeType="1"/>
          </p:cNvCxnSpPr>
          <p:nvPr/>
        </p:nvCxnSpPr>
        <p:spPr bwMode="auto">
          <a:xfrm rot="5400000">
            <a:off x="1655578" y="4637322"/>
            <a:ext cx="1286503"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5086" name="Object 18"/>
          <p:cNvGraphicFramePr>
            <a:graphicFrameLocks noChangeAspect="1"/>
          </p:cNvGraphicFramePr>
          <p:nvPr/>
        </p:nvGraphicFramePr>
        <p:xfrm>
          <a:off x="1106488" y="3849688"/>
          <a:ext cx="204787" cy="322262"/>
        </p:xfrm>
        <a:graphic>
          <a:graphicData uri="http://schemas.openxmlformats.org/presentationml/2006/ole">
            <mc:AlternateContent xmlns:mc="http://schemas.openxmlformats.org/markup-compatibility/2006">
              <mc:Choice xmlns:v="urn:schemas-microsoft-com:vml" Requires="v">
                <p:oleObj spid="_x0000_s194799" r:id="rId11" imgW="165820" imgH="229597" progId="">
                  <p:embed/>
                </p:oleObj>
              </mc:Choice>
              <mc:Fallback>
                <p:oleObj r:id="rId11" imgW="165820" imgH="229597" progId="">
                  <p:embed/>
                  <p:pic>
                    <p:nvPicPr>
                      <p:cNvPr id="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06488" y="3849688"/>
                        <a:ext cx="204787" cy="32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87" name="Object 19"/>
          <p:cNvGraphicFramePr>
            <a:graphicFrameLocks noChangeAspect="1"/>
          </p:cNvGraphicFramePr>
          <p:nvPr/>
        </p:nvGraphicFramePr>
        <p:xfrm>
          <a:off x="2184068" y="5351260"/>
          <a:ext cx="238346" cy="320828"/>
        </p:xfrm>
        <a:graphic>
          <a:graphicData uri="http://schemas.openxmlformats.org/presentationml/2006/ole">
            <mc:AlternateContent xmlns:mc="http://schemas.openxmlformats.org/markup-compatibility/2006">
              <mc:Choice xmlns:v="urn:schemas-microsoft-com:vml" Requires="v">
                <p:oleObj spid="_x0000_s194800" r:id="rId13" imgW="191414" imgH="229697" progId="">
                  <p:embed/>
                </p:oleObj>
              </mc:Choice>
              <mc:Fallback>
                <p:oleObj r:id="rId13" imgW="191414" imgH="229697" progId="">
                  <p:embed/>
                  <p:pic>
                    <p:nvPicPr>
                      <p:cNvPr id="0" name="Object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84068" y="5351260"/>
                        <a:ext cx="238346" cy="320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88" name="Object 20"/>
          <p:cNvGraphicFramePr>
            <a:graphicFrameLocks noChangeAspect="1"/>
          </p:cNvGraphicFramePr>
          <p:nvPr/>
        </p:nvGraphicFramePr>
        <p:xfrm>
          <a:off x="2354317" y="3778864"/>
          <a:ext cx="238346" cy="320828"/>
        </p:xfrm>
        <a:graphic>
          <a:graphicData uri="http://schemas.openxmlformats.org/presentationml/2006/ole">
            <mc:AlternateContent xmlns:mc="http://schemas.openxmlformats.org/markup-compatibility/2006">
              <mc:Choice xmlns:v="urn:schemas-microsoft-com:vml" Requires="v">
                <p:oleObj spid="_x0000_s194801" r:id="rId15" imgW="191414" imgH="229697" progId="">
                  <p:embed/>
                </p:oleObj>
              </mc:Choice>
              <mc:Fallback>
                <p:oleObj r:id="rId15" imgW="191414" imgH="229697" progId="">
                  <p:embed/>
                  <p:pic>
                    <p:nvPicPr>
                      <p:cNvPr id="0" name="Object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54317" y="3778864"/>
                        <a:ext cx="238346" cy="320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5075" name="直接连接符 10"/>
          <p:cNvCxnSpPr>
            <a:cxnSpLocks noChangeShapeType="1"/>
          </p:cNvCxnSpPr>
          <p:nvPr/>
        </p:nvCxnSpPr>
        <p:spPr bwMode="auto">
          <a:xfrm>
            <a:off x="2382179" y="2778250"/>
            <a:ext cx="2044700" cy="1715337"/>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45076" name="直接连接符 18"/>
          <p:cNvCxnSpPr>
            <a:cxnSpLocks noChangeShapeType="1"/>
          </p:cNvCxnSpPr>
          <p:nvPr/>
        </p:nvCxnSpPr>
        <p:spPr bwMode="auto">
          <a:xfrm rot="5400000" flipH="1" flipV="1">
            <a:off x="2176087" y="3366919"/>
            <a:ext cx="2072698" cy="895350"/>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45077" name="直接连接符 20"/>
          <p:cNvCxnSpPr>
            <a:cxnSpLocks noChangeShapeType="1"/>
          </p:cNvCxnSpPr>
          <p:nvPr/>
        </p:nvCxnSpPr>
        <p:spPr bwMode="auto">
          <a:xfrm>
            <a:off x="1389991" y="3564446"/>
            <a:ext cx="1928813" cy="1589"/>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45078" name="直接连接符 31"/>
          <p:cNvCxnSpPr>
            <a:cxnSpLocks noChangeShapeType="1"/>
          </p:cNvCxnSpPr>
          <p:nvPr/>
        </p:nvCxnSpPr>
        <p:spPr bwMode="auto">
          <a:xfrm rot="5400000">
            <a:off x="2461925" y="4422904"/>
            <a:ext cx="1715337"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45079" name="Object 29"/>
          <p:cNvGraphicFramePr>
            <a:graphicFrameLocks noChangeAspect="1"/>
          </p:cNvGraphicFramePr>
          <p:nvPr/>
        </p:nvGraphicFramePr>
        <p:xfrm>
          <a:off x="1105829" y="3421503"/>
          <a:ext cx="190110" cy="320828"/>
        </p:xfrm>
        <a:graphic>
          <a:graphicData uri="http://schemas.openxmlformats.org/presentationml/2006/ole">
            <mc:AlternateContent xmlns:mc="http://schemas.openxmlformats.org/markup-compatibility/2006">
              <mc:Choice xmlns:v="urn:schemas-microsoft-com:vml" Requires="v">
                <p:oleObj spid="_x0000_s194802" r:id="rId17" imgW="153131" imgH="229697" progId="">
                  <p:embed/>
                </p:oleObj>
              </mc:Choice>
              <mc:Fallback>
                <p:oleObj r:id="rId17" imgW="153131" imgH="229697" progId="">
                  <p:embed/>
                  <p:pic>
                    <p:nvPicPr>
                      <p:cNvPr id="0" name="Object 2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05829" y="3421503"/>
                        <a:ext cx="190110" cy="320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80" name="Object 30"/>
          <p:cNvGraphicFramePr>
            <a:graphicFrameLocks noChangeAspect="1"/>
          </p:cNvGraphicFramePr>
          <p:nvPr/>
        </p:nvGraphicFramePr>
        <p:xfrm>
          <a:off x="3205558" y="5351260"/>
          <a:ext cx="221321" cy="320828"/>
        </p:xfrm>
        <a:graphic>
          <a:graphicData uri="http://schemas.openxmlformats.org/presentationml/2006/ole">
            <mc:AlternateContent xmlns:mc="http://schemas.openxmlformats.org/markup-compatibility/2006">
              <mc:Choice xmlns:v="urn:schemas-microsoft-com:vml" Requires="v">
                <p:oleObj spid="_x0000_s194803" r:id="rId19" imgW="178497" imgH="229496" progId="">
                  <p:embed/>
                </p:oleObj>
              </mc:Choice>
              <mc:Fallback>
                <p:oleObj r:id="rId19" imgW="178497" imgH="229496" progId="">
                  <p:embed/>
                  <p:pic>
                    <p:nvPicPr>
                      <p:cNvPr id="0" name="Object 3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05558" y="5351260"/>
                        <a:ext cx="221321" cy="320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81" name="Object 31"/>
          <p:cNvGraphicFramePr>
            <a:graphicFrameLocks noChangeAspect="1"/>
          </p:cNvGraphicFramePr>
          <p:nvPr/>
        </p:nvGraphicFramePr>
        <p:xfrm>
          <a:off x="3375806" y="3350030"/>
          <a:ext cx="221321" cy="320828"/>
        </p:xfrm>
        <a:graphic>
          <a:graphicData uri="http://schemas.openxmlformats.org/presentationml/2006/ole">
            <mc:AlternateContent xmlns:mc="http://schemas.openxmlformats.org/markup-compatibility/2006">
              <mc:Choice xmlns:v="urn:schemas-microsoft-com:vml" Requires="v">
                <p:oleObj spid="_x0000_s194804" r:id="rId21" imgW="178497" imgH="229496" progId="">
                  <p:embed/>
                </p:oleObj>
              </mc:Choice>
              <mc:Fallback>
                <p:oleObj r:id="rId21" imgW="178497" imgH="229496" progId="">
                  <p:embed/>
                  <p:pic>
                    <p:nvPicPr>
                      <p:cNvPr id="0" name="Object 3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375806" y="3350030"/>
                        <a:ext cx="221321" cy="320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82" name="Object 32"/>
          <p:cNvGraphicFramePr>
            <a:graphicFrameLocks noChangeAspect="1"/>
          </p:cNvGraphicFramePr>
          <p:nvPr/>
        </p:nvGraphicFramePr>
        <p:xfrm>
          <a:off x="3614755" y="2420888"/>
          <a:ext cx="205714" cy="320828"/>
        </p:xfrm>
        <a:graphic>
          <a:graphicData uri="http://schemas.openxmlformats.org/presentationml/2006/ole">
            <mc:AlternateContent xmlns:mc="http://schemas.openxmlformats.org/markup-compatibility/2006">
              <mc:Choice xmlns:v="urn:schemas-microsoft-com:vml" Requires="v">
                <p:oleObj spid="_x0000_s194805" r:id="rId23" imgW="165820" imgH="229597" progId="">
                  <p:embed/>
                </p:oleObj>
              </mc:Choice>
              <mc:Fallback>
                <p:oleObj r:id="rId23" imgW="165820" imgH="229597" progId="">
                  <p:embed/>
                  <p:pic>
                    <p:nvPicPr>
                      <p:cNvPr id="0" name="Object 3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614755" y="2420888"/>
                        <a:ext cx="205714" cy="320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83" name="Object 33"/>
          <p:cNvGraphicFramePr>
            <a:graphicFrameLocks noChangeAspect="1"/>
          </p:cNvGraphicFramePr>
          <p:nvPr/>
        </p:nvGraphicFramePr>
        <p:xfrm>
          <a:off x="4510795" y="4279173"/>
          <a:ext cx="238346" cy="320828"/>
        </p:xfrm>
        <a:graphic>
          <a:graphicData uri="http://schemas.openxmlformats.org/presentationml/2006/ole">
            <mc:AlternateContent xmlns:mc="http://schemas.openxmlformats.org/markup-compatibility/2006">
              <mc:Choice xmlns:v="urn:schemas-microsoft-com:vml" Requires="v">
                <p:oleObj spid="_x0000_s194806" r:id="rId25" imgW="191414" imgH="229697" progId="">
                  <p:embed/>
                </p:oleObj>
              </mc:Choice>
              <mc:Fallback>
                <p:oleObj r:id="rId25" imgW="191414" imgH="229697" progId="">
                  <p:embed/>
                  <p:pic>
                    <p:nvPicPr>
                      <p:cNvPr id="0" name="Object 3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510795" y="4279173"/>
                        <a:ext cx="238346" cy="320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5073" name="直接连接符 12"/>
          <p:cNvCxnSpPr>
            <a:cxnSpLocks noChangeShapeType="1"/>
          </p:cNvCxnSpPr>
          <p:nvPr/>
        </p:nvCxnSpPr>
        <p:spPr bwMode="auto">
          <a:xfrm>
            <a:off x="1480134" y="3278558"/>
            <a:ext cx="2106613" cy="1858282"/>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aphicFrame>
        <p:nvGraphicFramePr>
          <p:cNvPr id="45074" name="Object 36"/>
          <p:cNvGraphicFramePr>
            <a:graphicFrameLocks noChangeAspect="1"/>
          </p:cNvGraphicFramePr>
          <p:nvPr/>
        </p:nvGraphicFramePr>
        <p:xfrm>
          <a:off x="3650857" y="4922426"/>
          <a:ext cx="253895" cy="320828"/>
        </p:xfrm>
        <a:graphic>
          <a:graphicData uri="http://schemas.openxmlformats.org/presentationml/2006/ole">
            <mc:AlternateContent xmlns:mc="http://schemas.openxmlformats.org/markup-compatibility/2006">
              <mc:Choice xmlns:v="urn:schemas-microsoft-com:vml" Requires="v">
                <p:oleObj spid="_x0000_s194807" r:id="rId27" imgW="204086" imgH="229597" progId="">
                  <p:embed/>
                </p:oleObj>
              </mc:Choice>
              <mc:Fallback>
                <p:oleObj r:id="rId27" imgW="204086" imgH="229597" progId="">
                  <p:embed/>
                  <p:pic>
                    <p:nvPicPr>
                      <p:cNvPr id="0" name="Object 3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650857" y="4922426"/>
                        <a:ext cx="253895" cy="320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9973" name="组合 9"/>
          <p:cNvGrpSpPr>
            <a:grpSpLocks/>
          </p:cNvGrpSpPr>
          <p:nvPr/>
        </p:nvGrpSpPr>
        <p:grpSpPr bwMode="auto">
          <a:xfrm>
            <a:off x="4775202" y="3528226"/>
            <a:ext cx="3649662" cy="1470027"/>
            <a:chOff x="0" y="289127"/>
            <a:chExt cx="4357686" cy="717485"/>
          </a:xfrm>
          <a:solidFill>
            <a:srgbClr val="F3C97F"/>
          </a:solidFill>
        </p:grpSpPr>
        <p:sp>
          <p:nvSpPr>
            <p:cNvPr id="45062" name="圆角矩形 36"/>
            <p:cNvSpPr>
              <a:spLocks noChangeArrowheads="1"/>
            </p:cNvSpPr>
            <p:nvPr/>
          </p:nvSpPr>
          <p:spPr bwMode="auto">
            <a:xfrm>
              <a:off x="0" y="289127"/>
              <a:ext cx="4357686" cy="627605"/>
            </a:xfrm>
            <a:prstGeom prst="roundRect">
              <a:avLst>
                <a:gd name="adj" fmla="val 16667"/>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45063" name="TextBox 3"/>
            <p:cNvSpPr txBox="1">
              <a:spLocks noChangeArrowheads="1"/>
            </p:cNvSpPr>
            <p:nvPr/>
          </p:nvSpPr>
          <p:spPr bwMode="auto">
            <a:xfrm>
              <a:off x="38099" y="360576"/>
              <a:ext cx="4319587" cy="64603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spcBef>
                  <a:spcPct val="0"/>
                </a:spcBef>
                <a:buFont typeface="Wingdings" panose="05000000000000000000" pitchFamily="2" charset="2"/>
                <a:buChar char="Ø"/>
              </a:pPr>
              <a:r>
                <a:rPr lang="zh-CN" altLang="en-US" sz="2000" b="0" dirty="0">
                  <a:solidFill>
                    <a:schemeClr val="tx1"/>
                  </a:solidFill>
                  <a:latin typeface="微软雅黑" panose="020B0503020204020204" pitchFamily="34" charset="-122"/>
                  <a:ea typeface="微软雅黑" panose="020B0503020204020204" pitchFamily="34" charset="-122"/>
                </a:rPr>
                <a:t>需求和供给同时减少时，需求曲线和供给曲线同时向左平移，市场均衡由</a:t>
              </a:r>
              <a:r>
                <a:rPr lang="en-US" altLang="zh-CN" sz="2000" b="0" dirty="0">
                  <a:solidFill>
                    <a:schemeClr val="tx1"/>
                  </a:solidFill>
                </a:rPr>
                <a:t>E</a:t>
              </a:r>
              <a:r>
                <a:rPr lang="en-US" altLang="zh-CN" sz="2000" b="0" baseline="-25000" dirty="0">
                  <a:solidFill>
                    <a:schemeClr val="tx1"/>
                  </a:solidFill>
                </a:rPr>
                <a:t>1</a:t>
              </a:r>
              <a:r>
                <a:rPr lang="zh-CN" altLang="en-US" sz="2000" b="0" dirty="0">
                  <a:solidFill>
                    <a:schemeClr val="tx1"/>
                  </a:solidFill>
                  <a:latin typeface="微软雅黑" panose="020B0503020204020204" pitchFamily="34" charset="-122"/>
                  <a:ea typeface="微软雅黑" panose="020B0503020204020204" pitchFamily="34" charset="-122"/>
                </a:rPr>
                <a:t>变成</a:t>
              </a:r>
              <a:r>
                <a:rPr lang="en-US" altLang="zh-CN" sz="2000" b="0" dirty="0">
                  <a:solidFill>
                    <a:schemeClr val="tx1"/>
                  </a:solidFill>
                </a:rPr>
                <a:t>E</a:t>
              </a:r>
              <a:r>
                <a:rPr lang="en-US" altLang="zh-CN" sz="2000" b="0" baseline="-25000" dirty="0">
                  <a:solidFill>
                    <a:schemeClr val="tx1"/>
                  </a:solidFill>
                </a:rPr>
                <a:t>2</a:t>
              </a:r>
              <a:r>
                <a:rPr lang="zh-CN" altLang="en-US" sz="2000" b="0" dirty="0">
                  <a:solidFill>
                    <a:schemeClr val="tx1"/>
                  </a:solidFill>
                  <a:latin typeface="微软雅黑" panose="020B0503020204020204" pitchFamily="34" charset="-122"/>
                  <a:ea typeface="微软雅黑" panose="020B0503020204020204" pitchFamily="34" charset="-122"/>
                </a:rPr>
                <a:t>。</a:t>
              </a:r>
            </a:p>
            <a:p>
              <a:pPr eaLnBrk="1" hangingPunct="1">
                <a:spcBef>
                  <a:spcPct val="0"/>
                </a:spcBef>
                <a:buFontTx/>
                <a:buNone/>
              </a:pPr>
              <a:endParaRPr lang="zh-CN" altLang="en-US" sz="2000" b="0" dirty="0">
                <a:solidFill>
                  <a:schemeClr val="tx1"/>
                </a:solidFill>
              </a:endParaRPr>
            </a:p>
          </p:txBody>
        </p:sp>
      </p:grpSp>
      <p:sp>
        <p:nvSpPr>
          <p:cNvPr id="42" name="矩形 41">
            <a:extLst>
              <a:ext uri="{FF2B5EF4-FFF2-40B4-BE49-F238E27FC236}">
                <a16:creationId xmlns:a16="http://schemas.microsoft.com/office/drawing/2014/main" id="{723FD137-8514-4B0E-A2D9-E3F61B61FB12}"/>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p:sp>
        <p:nvSpPr>
          <p:cNvPr id="43" name="矩形 42">
            <a:extLst>
              <a:ext uri="{FF2B5EF4-FFF2-40B4-BE49-F238E27FC236}">
                <a16:creationId xmlns:a16="http://schemas.microsoft.com/office/drawing/2014/main" id="{C7E25597-22DB-4F0F-A1A8-0BAD6FE8D05A}"/>
              </a:ext>
            </a:extLst>
          </p:cNvPr>
          <p:cNvSpPr/>
          <p:nvPr/>
        </p:nvSpPr>
        <p:spPr>
          <a:xfrm>
            <a:off x="467543" y="548680"/>
            <a:ext cx="3162141"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三、市场均衡的变动 </a:t>
            </a:r>
          </a:p>
        </p:txBody>
      </p:sp>
      <p:sp>
        <p:nvSpPr>
          <p:cNvPr id="44" name="Rectangle 3">
            <a:extLst>
              <a:ext uri="{FF2B5EF4-FFF2-40B4-BE49-F238E27FC236}">
                <a16:creationId xmlns:a16="http://schemas.microsoft.com/office/drawing/2014/main" id="{59CD6A70-E0B0-4107-A967-9C8EC81B1ED8}"/>
              </a:ext>
            </a:extLst>
          </p:cNvPr>
          <p:cNvSpPr txBox="1">
            <a:spLocks noChangeArrowheads="1"/>
          </p:cNvSpPr>
          <p:nvPr/>
        </p:nvSpPr>
        <p:spPr bwMode="auto">
          <a:xfrm>
            <a:off x="34925" y="1400075"/>
            <a:ext cx="6263679" cy="503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eaLnBrk="1" hangingPunct="1">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需求和供给同时减少对市场均衡的影响</a:t>
            </a:r>
          </a:p>
        </p:txBody>
      </p:sp>
    </p:spTree>
  </p:cSld>
  <p:clrMapOvr>
    <a:masterClrMapping/>
  </p:clrMapOvr>
  <p:transition>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
                                            <p:txEl>
                                              <p:pRg st="0" end="0"/>
                                            </p:txEl>
                                          </p:spTgt>
                                        </p:tgtEl>
                                        <p:attrNameLst>
                                          <p:attrName>style.visibility</p:attrName>
                                        </p:attrNameLst>
                                      </p:cBhvr>
                                      <p:to>
                                        <p:strVal val="visible"/>
                                      </p:to>
                                    </p:set>
                                    <p:animEffect transition="in" filter="wipe(left)">
                                      <p:cBhvr>
                                        <p:cTn id="7" dur="500"/>
                                        <p:tgtEl>
                                          <p:spTgt spid="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5092"/>
                                        </p:tgtEl>
                                        <p:attrNameLst>
                                          <p:attrName>style.visibility</p:attrName>
                                        </p:attrNameLst>
                                      </p:cBhvr>
                                      <p:to>
                                        <p:strVal val="visible"/>
                                      </p:to>
                                    </p:set>
                                    <p:animEffect transition="in" filter="randombar(horizontal)">
                                      <p:cBhvr>
                                        <p:cTn id="12" dur="500"/>
                                        <p:tgtEl>
                                          <p:spTgt spid="4509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5089"/>
                                        </p:tgtEl>
                                        <p:attrNameLst>
                                          <p:attrName>style.visibility</p:attrName>
                                        </p:attrNameLst>
                                      </p:cBhvr>
                                      <p:to>
                                        <p:strVal val="visible"/>
                                      </p:to>
                                    </p:set>
                                    <p:animEffect transition="in" filter="wipe(left)">
                                      <p:cBhvr>
                                        <p:cTn id="17" dur="500"/>
                                        <p:tgtEl>
                                          <p:spTgt spid="45089"/>
                                        </p:tgtEl>
                                      </p:cBhvr>
                                    </p:animEffect>
                                  </p:childTnLst>
                                </p:cTn>
                              </p:par>
                              <p:par>
                                <p:cTn id="18" presetID="22" presetClass="entr" presetSubtype="4" fill="hold" nodeType="withEffect">
                                  <p:stCondLst>
                                    <p:cond delay="0"/>
                                  </p:stCondLst>
                                  <p:childTnLst>
                                    <p:set>
                                      <p:cBhvr>
                                        <p:cTn id="19" dur="1" fill="hold">
                                          <p:stCondLst>
                                            <p:cond delay="0"/>
                                          </p:stCondLst>
                                        </p:cTn>
                                        <p:tgtEl>
                                          <p:spTgt spid="45091"/>
                                        </p:tgtEl>
                                        <p:attrNameLst>
                                          <p:attrName>style.visibility</p:attrName>
                                        </p:attrNameLst>
                                      </p:cBhvr>
                                      <p:to>
                                        <p:strVal val="visible"/>
                                      </p:to>
                                    </p:set>
                                    <p:animEffect transition="in" filter="wipe(down)">
                                      <p:cBhvr>
                                        <p:cTn id="20" dur="500"/>
                                        <p:tgtEl>
                                          <p:spTgt spid="45091"/>
                                        </p:tgtEl>
                                      </p:cBhvr>
                                    </p:animEffect>
                                  </p:childTnLst>
                                </p:cTn>
                              </p:par>
                            </p:childTnLst>
                          </p:cTn>
                        </p:par>
                        <p:par>
                          <p:cTn id="21" fill="hold">
                            <p:stCondLst>
                              <p:cond delay="500"/>
                            </p:stCondLst>
                            <p:childTnLst>
                              <p:par>
                                <p:cTn id="22" presetID="14" presetClass="entr" presetSubtype="10" fill="hold" nodeType="afterEffect">
                                  <p:stCondLst>
                                    <p:cond delay="0"/>
                                  </p:stCondLst>
                                  <p:childTnLst>
                                    <p:set>
                                      <p:cBhvr>
                                        <p:cTn id="23" dur="1" fill="hold">
                                          <p:stCondLst>
                                            <p:cond delay="0"/>
                                          </p:stCondLst>
                                        </p:cTn>
                                        <p:tgtEl>
                                          <p:spTgt spid="45094"/>
                                        </p:tgtEl>
                                        <p:attrNameLst>
                                          <p:attrName>style.visibility</p:attrName>
                                        </p:attrNameLst>
                                      </p:cBhvr>
                                      <p:to>
                                        <p:strVal val="visible"/>
                                      </p:to>
                                    </p:set>
                                    <p:animEffect transition="in" filter="randombar(horizontal)">
                                      <p:cBhvr>
                                        <p:cTn id="24" dur="500"/>
                                        <p:tgtEl>
                                          <p:spTgt spid="45094"/>
                                        </p:tgtEl>
                                      </p:cBhvr>
                                    </p:animEffect>
                                  </p:childTnLst>
                                </p:cTn>
                              </p:par>
                            </p:childTnLst>
                          </p:cTn>
                        </p:par>
                        <p:par>
                          <p:cTn id="25" fill="hold">
                            <p:stCondLst>
                              <p:cond delay="1000"/>
                            </p:stCondLst>
                            <p:childTnLst>
                              <p:par>
                                <p:cTn id="26" presetID="14" presetClass="entr" presetSubtype="10" fill="hold" nodeType="afterEffect">
                                  <p:stCondLst>
                                    <p:cond delay="0"/>
                                  </p:stCondLst>
                                  <p:childTnLst>
                                    <p:set>
                                      <p:cBhvr>
                                        <p:cTn id="27" dur="1" fill="hold">
                                          <p:stCondLst>
                                            <p:cond delay="0"/>
                                          </p:stCondLst>
                                        </p:cTn>
                                        <p:tgtEl>
                                          <p:spTgt spid="45093"/>
                                        </p:tgtEl>
                                        <p:attrNameLst>
                                          <p:attrName>style.visibility</p:attrName>
                                        </p:attrNameLst>
                                      </p:cBhvr>
                                      <p:to>
                                        <p:strVal val="visible"/>
                                      </p:to>
                                    </p:set>
                                    <p:animEffect transition="in" filter="randombar(horizontal)">
                                      <p:cBhvr>
                                        <p:cTn id="28" dur="500"/>
                                        <p:tgtEl>
                                          <p:spTgt spid="4509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45076"/>
                                        </p:tgtEl>
                                        <p:attrNameLst>
                                          <p:attrName>style.visibility</p:attrName>
                                        </p:attrNameLst>
                                      </p:cBhvr>
                                      <p:to>
                                        <p:strVal val="visible"/>
                                      </p:to>
                                    </p:set>
                                    <p:animEffect transition="in" filter="wipe(down)">
                                      <p:cBhvr>
                                        <p:cTn id="33" dur="500"/>
                                        <p:tgtEl>
                                          <p:spTgt spid="45076"/>
                                        </p:tgtEl>
                                      </p:cBhvr>
                                    </p:animEffect>
                                  </p:childTnLst>
                                </p:cTn>
                              </p:par>
                            </p:childTnLst>
                          </p:cTn>
                        </p:par>
                        <p:par>
                          <p:cTn id="34" fill="hold">
                            <p:stCondLst>
                              <p:cond delay="500"/>
                            </p:stCondLst>
                            <p:childTnLst>
                              <p:par>
                                <p:cTn id="35" presetID="14" presetClass="entr" presetSubtype="10" fill="hold" nodeType="afterEffect">
                                  <p:stCondLst>
                                    <p:cond delay="0"/>
                                  </p:stCondLst>
                                  <p:childTnLst>
                                    <p:set>
                                      <p:cBhvr>
                                        <p:cTn id="36" dur="1" fill="hold">
                                          <p:stCondLst>
                                            <p:cond delay="0"/>
                                          </p:stCondLst>
                                        </p:cTn>
                                        <p:tgtEl>
                                          <p:spTgt spid="45082"/>
                                        </p:tgtEl>
                                        <p:attrNameLst>
                                          <p:attrName>style.visibility</p:attrName>
                                        </p:attrNameLst>
                                      </p:cBhvr>
                                      <p:to>
                                        <p:strVal val="visible"/>
                                      </p:to>
                                    </p:set>
                                    <p:animEffect transition="in" filter="randombar(horizontal)">
                                      <p:cBhvr>
                                        <p:cTn id="37" dur="500"/>
                                        <p:tgtEl>
                                          <p:spTgt spid="4508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5075"/>
                                        </p:tgtEl>
                                        <p:attrNameLst>
                                          <p:attrName>style.visibility</p:attrName>
                                        </p:attrNameLst>
                                      </p:cBhvr>
                                      <p:to>
                                        <p:strVal val="visible"/>
                                      </p:to>
                                    </p:set>
                                    <p:animEffect transition="in" filter="wipe(left)">
                                      <p:cBhvr>
                                        <p:cTn id="42" dur="500"/>
                                        <p:tgtEl>
                                          <p:spTgt spid="45075"/>
                                        </p:tgtEl>
                                      </p:cBhvr>
                                    </p:animEffect>
                                  </p:childTnLst>
                                </p:cTn>
                              </p:par>
                            </p:childTnLst>
                          </p:cTn>
                        </p:par>
                        <p:par>
                          <p:cTn id="43" fill="hold">
                            <p:stCondLst>
                              <p:cond delay="500"/>
                            </p:stCondLst>
                            <p:childTnLst>
                              <p:par>
                                <p:cTn id="44" presetID="14" presetClass="entr" presetSubtype="10" fill="hold" nodeType="afterEffect">
                                  <p:stCondLst>
                                    <p:cond delay="0"/>
                                  </p:stCondLst>
                                  <p:childTnLst>
                                    <p:set>
                                      <p:cBhvr>
                                        <p:cTn id="45" dur="1" fill="hold">
                                          <p:stCondLst>
                                            <p:cond delay="0"/>
                                          </p:stCondLst>
                                        </p:cTn>
                                        <p:tgtEl>
                                          <p:spTgt spid="45083"/>
                                        </p:tgtEl>
                                        <p:attrNameLst>
                                          <p:attrName>style.visibility</p:attrName>
                                        </p:attrNameLst>
                                      </p:cBhvr>
                                      <p:to>
                                        <p:strVal val="visible"/>
                                      </p:to>
                                    </p:set>
                                    <p:animEffect transition="in" filter="randombar(horizontal)">
                                      <p:cBhvr>
                                        <p:cTn id="46" dur="500"/>
                                        <p:tgtEl>
                                          <p:spTgt spid="45083"/>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45079"/>
                                        </p:tgtEl>
                                        <p:attrNameLst>
                                          <p:attrName>style.visibility</p:attrName>
                                        </p:attrNameLst>
                                      </p:cBhvr>
                                      <p:to>
                                        <p:strVal val="visible"/>
                                      </p:to>
                                    </p:set>
                                    <p:animEffect transition="in" filter="randombar(horizontal)">
                                      <p:cBhvr>
                                        <p:cTn id="51" dur="500"/>
                                        <p:tgtEl>
                                          <p:spTgt spid="45079"/>
                                        </p:tgtEl>
                                      </p:cBhvr>
                                    </p:animEffect>
                                  </p:childTnLst>
                                </p:cTn>
                              </p:par>
                              <p:par>
                                <p:cTn id="52" presetID="14" presetClass="entr" presetSubtype="10" fill="hold" nodeType="withEffect">
                                  <p:stCondLst>
                                    <p:cond delay="0"/>
                                  </p:stCondLst>
                                  <p:childTnLst>
                                    <p:set>
                                      <p:cBhvr>
                                        <p:cTn id="53" dur="1" fill="hold">
                                          <p:stCondLst>
                                            <p:cond delay="0"/>
                                          </p:stCondLst>
                                        </p:cTn>
                                        <p:tgtEl>
                                          <p:spTgt spid="45080"/>
                                        </p:tgtEl>
                                        <p:attrNameLst>
                                          <p:attrName>style.visibility</p:attrName>
                                        </p:attrNameLst>
                                      </p:cBhvr>
                                      <p:to>
                                        <p:strVal val="visible"/>
                                      </p:to>
                                    </p:set>
                                    <p:animEffect transition="in" filter="randombar(horizontal)">
                                      <p:cBhvr>
                                        <p:cTn id="54" dur="500"/>
                                        <p:tgtEl>
                                          <p:spTgt spid="45080"/>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45077"/>
                                        </p:tgtEl>
                                        <p:attrNameLst>
                                          <p:attrName>style.visibility</p:attrName>
                                        </p:attrNameLst>
                                      </p:cBhvr>
                                      <p:to>
                                        <p:strVal val="visible"/>
                                      </p:to>
                                    </p:set>
                                    <p:animEffect transition="in" filter="wipe(left)">
                                      <p:cBhvr>
                                        <p:cTn id="58" dur="500"/>
                                        <p:tgtEl>
                                          <p:spTgt spid="45077"/>
                                        </p:tgtEl>
                                      </p:cBhvr>
                                    </p:animEffect>
                                  </p:childTnLst>
                                </p:cTn>
                              </p:par>
                            </p:childTnLst>
                          </p:cTn>
                        </p:par>
                        <p:par>
                          <p:cTn id="59" fill="hold">
                            <p:stCondLst>
                              <p:cond delay="1000"/>
                            </p:stCondLst>
                            <p:childTnLst>
                              <p:par>
                                <p:cTn id="60" presetID="22" presetClass="entr" presetSubtype="4" fill="hold" nodeType="afterEffect">
                                  <p:stCondLst>
                                    <p:cond delay="0"/>
                                  </p:stCondLst>
                                  <p:childTnLst>
                                    <p:set>
                                      <p:cBhvr>
                                        <p:cTn id="61" dur="1" fill="hold">
                                          <p:stCondLst>
                                            <p:cond delay="0"/>
                                          </p:stCondLst>
                                        </p:cTn>
                                        <p:tgtEl>
                                          <p:spTgt spid="45078"/>
                                        </p:tgtEl>
                                        <p:attrNameLst>
                                          <p:attrName>style.visibility</p:attrName>
                                        </p:attrNameLst>
                                      </p:cBhvr>
                                      <p:to>
                                        <p:strVal val="visible"/>
                                      </p:to>
                                    </p:set>
                                    <p:animEffect transition="in" filter="wipe(down)">
                                      <p:cBhvr>
                                        <p:cTn id="62" dur="500"/>
                                        <p:tgtEl>
                                          <p:spTgt spid="45078"/>
                                        </p:tgtEl>
                                      </p:cBhvr>
                                    </p:animEffect>
                                  </p:childTnLst>
                                </p:cTn>
                              </p:par>
                            </p:childTnLst>
                          </p:cTn>
                        </p:par>
                      </p:childTnLst>
                    </p:cTn>
                  </p:par>
                  <p:par>
                    <p:cTn id="63" fill="hold">
                      <p:stCondLst>
                        <p:cond delay="indefinite"/>
                      </p:stCondLst>
                      <p:childTnLst>
                        <p:par>
                          <p:cTn id="64" fill="hold">
                            <p:stCondLst>
                              <p:cond delay="0"/>
                            </p:stCondLst>
                            <p:childTnLst>
                              <p:par>
                                <p:cTn id="65" presetID="14" presetClass="entr" presetSubtype="10" fill="hold" nodeType="clickEffect">
                                  <p:stCondLst>
                                    <p:cond delay="0"/>
                                  </p:stCondLst>
                                  <p:childTnLst>
                                    <p:set>
                                      <p:cBhvr>
                                        <p:cTn id="66" dur="1" fill="hold">
                                          <p:stCondLst>
                                            <p:cond delay="0"/>
                                          </p:stCondLst>
                                        </p:cTn>
                                        <p:tgtEl>
                                          <p:spTgt spid="45086"/>
                                        </p:tgtEl>
                                        <p:attrNameLst>
                                          <p:attrName>style.visibility</p:attrName>
                                        </p:attrNameLst>
                                      </p:cBhvr>
                                      <p:to>
                                        <p:strVal val="visible"/>
                                      </p:to>
                                    </p:set>
                                    <p:animEffect transition="in" filter="randombar(horizontal)">
                                      <p:cBhvr>
                                        <p:cTn id="67" dur="500"/>
                                        <p:tgtEl>
                                          <p:spTgt spid="45086"/>
                                        </p:tgtEl>
                                      </p:cBhvr>
                                    </p:animEffect>
                                  </p:childTnLst>
                                </p:cTn>
                              </p:par>
                              <p:par>
                                <p:cTn id="68" presetID="14" presetClass="entr" presetSubtype="10" fill="hold" nodeType="withEffect">
                                  <p:stCondLst>
                                    <p:cond delay="0"/>
                                  </p:stCondLst>
                                  <p:childTnLst>
                                    <p:set>
                                      <p:cBhvr>
                                        <p:cTn id="69" dur="1" fill="hold">
                                          <p:stCondLst>
                                            <p:cond delay="0"/>
                                          </p:stCondLst>
                                        </p:cTn>
                                        <p:tgtEl>
                                          <p:spTgt spid="45087"/>
                                        </p:tgtEl>
                                        <p:attrNameLst>
                                          <p:attrName>style.visibility</p:attrName>
                                        </p:attrNameLst>
                                      </p:cBhvr>
                                      <p:to>
                                        <p:strVal val="visible"/>
                                      </p:to>
                                    </p:set>
                                    <p:animEffect transition="in" filter="randombar(horizontal)">
                                      <p:cBhvr>
                                        <p:cTn id="70" dur="500"/>
                                        <p:tgtEl>
                                          <p:spTgt spid="45087"/>
                                        </p:tgtEl>
                                      </p:cBhvr>
                                    </p:animEffect>
                                  </p:childTnLst>
                                </p:cTn>
                              </p:par>
                            </p:childTnLst>
                          </p:cTn>
                        </p:par>
                        <p:par>
                          <p:cTn id="71" fill="hold">
                            <p:stCondLst>
                              <p:cond delay="500"/>
                            </p:stCondLst>
                            <p:childTnLst>
                              <p:par>
                                <p:cTn id="72" presetID="22" presetClass="entr" presetSubtype="8" fill="hold" nodeType="afterEffect">
                                  <p:stCondLst>
                                    <p:cond delay="0"/>
                                  </p:stCondLst>
                                  <p:childTnLst>
                                    <p:set>
                                      <p:cBhvr>
                                        <p:cTn id="73" dur="1" fill="hold">
                                          <p:stCondLst>
                                            <p:cond delay="0"/>
                                          </p:stCondLst>
                                        </p:cTn>
                                        <p:tgtEl>
                                          <p:spTgt spid="45084"/>
                                        </p:tgtEl>
                                        <p:attrNameLst>
                                          <p:attrName>style.visibility</p:attrName>
                                        </p:attrNameLst>
                                      </p:cBhvr>
                                      <p:to>
                                        <p:strVal val="visible"/>
                                      </p:to>
                                    </p:set>
                                    <p:animEffect transition="in" filter="wipe(left)">
                                      <p:cBhvr>
                                        <p:cTn id="74" dur="500"/>
                                        <p:tgtEl>
                                          <p:spTgt spid="45084"/>
                                        </p:tgtEl>
                                      </p:cBhvr>
                                    </p:animEffect>
                                  </p:childTnLst>
                                </p:cTn>
                              </p:par>
                            </p:childTnLst>
                          </p:cTn>
                        </p:par>
                        <p:par>
                          <p:cTn id="75" fill="hold">
                            <p:stCondLst>
                              <p:cond delay="1000"/>
                            </p:stCondLst>
                            <p:childTnLst>
                              <p:par>
                                <p:cTn id="76" presetID="22" presetClass="entr" presetSubtype="4" fill="hold" nodeType="afterEffect">
                                  <p:stCondLst>
                                    <p:cond delay="0"/>
                                  </p:stCondLst>
                                  <p:childTnLst>
                                    <p:set>
                                      <p:cBhvr>
                                        <p:cTn id="77" dur="1" fill="hold">
                                          <p:stCondLst>
                                            <p:cond delay="0"/>
                                          </p:stCondLst>
                                        </p:cTn>
                                        <p:tgtEl>
                                          <p:spTgt spid="45085"/>
                                        </p:tgtEl>
                                        <p:attrNameLst>
                                          <p:attrName>style.visibility</p:attrName>
                                        </p:attrNameLst>
                                      </p:cBhvr>
                                      <p:to>
                                        <p:strVal val="visible"/>
                                      </p:to>
                                    </p:set>
                                    <p:animEffect transition="in" filter="wipe(down)">
                                      <p:cBhvr>
                                        <p:cTn id="78" dur="500"/>
                                        <p:tgtEl>
                                          <p:spTgt spid="45085"/>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2" fill="hold" nodeType="clickEffect">
                                  <p:stCondLst>
                                    <p:cond delay="0"/>
                                  </p:stCondLst>
                                  <p:childTnLst>
                                    <p:set>
                                      <p:cBhvr>
                                        <p:cTn id="82" dur="1" fill="hold">
                                          <p:stCondLst>
                                            <p:cond delay="0"/>
                                          </p:stCondLst>
                                        </p:cTn>
                                        <p:tgtEl>
                                          <p:spTgt spid="45069"/>
                                        </p:tgtEl>
                                        <p:attrNameLst>
                                          <p:attrName>style.visibility</p:attrName>
                                        </p:attrNameLst>
                                      </p:cBhvr>
                                      <p:to>
                                        <p:strVal val="visible"/>
                                      </p:to>
                                    </p:set>
                                    <p:animEffect transition="in" filter="wipe(right)">
                                      <p:cBhvr>
                                        <p:cTn id="83" dur="500"/>
                                        <p:tgtEl>
                                          <p:spTgt spid="45069"/>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4" fill="hold" nodeType="clickEffect">
                                  <p:stCondLst>
                                    <p:cond delay="0"/>
                                  </p:stCondLst>
                                  <p:childTnLst>
                                    <p:set>
                                      <p:cBhvr>
                                        <p:cTn id="87" dur="1" fill="hold">
                                          <p:stCondLst>
                                            <p:cond delay="0"/>
                                          </p:stCondLst>
                                        </p:cTn>
                                        <p:tgtEl>
                                          <p:spTgt spid="45095"/>
                                        </p:tgtEl>
                                        <p:attrNameLst>
                                          <p:attrName>style.visibility</p:attrName>
                                        </p:attrNameLst>
                                      </p:cBhvr>
                                      <p:to>
                                        <p:strVal val="visible"/>
                                      </p:to>
                                    </p:set>
                                    <p:animEffect transition="in" filter="wipe(down)">
                                      <p:cBhvr>
                                        <p:cTn id="88" dur="500"/>
                                        <p:tgtEl>
                                          <p:spTgt spid="45095"/>
                                        </p:tgtEl>
                                      </p:cBhvr>
                                    </p:animEffect>
                                  </p:childTnLst>
                                </p:cTn>
                              </p:par>
                            </p:childTnLst>
                          </p:cTn>
                        </p:par>
                        <p:par>
                          <p:cTn id="89" fill="hold">
                            <p:stCondLst>
                              <p:cond delay="500"/>
                            </p:stCondLst>
                            <p:childTnLst>
                              <p:par>
                                <p:cTn id="90" presetID="14" presetClass="entr" presetSubtype="10" fill="hold" nodeType="afterEffect">
                                  <p:stCondLst>
                                    <p:cond delay="0"/>
                                  </p:stCondLst>
                                  <p:childTnLst>
                                    <p:set>
                                      <p:cBhvr>
                                        <p:cTn id="91" dur="1" fill="hold">
                                          <p:stCondLst>
                                            <p:cond delay="0"/>
                                          </p:stCondLst>
                                        </p:cTn>
                                        <p:tgtEl>
                                          <p:spTgt spid="45096"/>
                                        </p:tgtEl>
                                        <p:attrNameLst>
                                          <p:attrName>style.visibility</p:attrName>
                                        </p:attrNameLst>
                                      </p:cBhvr>
                                      <p:to>
                                        <p:strVal val="visible"/>
                                      </p:to>
                                    </p:set>
                                    <p:animEffect transition="in" filter="randombar(horizontal)">
                                      <p:cBhvr>
                                        <p:cTn id="92" dur="500"/>
                                        <p:tgtEl>
                                          <p:spTgt spid="45096"/>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2" fill="hold" nodeType="clickEffect">
                                  <p:stCondLst>
                                    <p:cond delay="0"/>
                                  </p:stCondLst>
                                  <p:childTnLst>
                                    <p:set>
                                      <p:cBhvr>
                                        <p:cTn id="96" dur="1" fill="hold">
                                          <p:stCondLst>
                                            <p:cond delay="0"/>
                                          </p:stCondLst>
                                        </p:cTn>
                                        <p:tgtEl>
                                          <p:spTgt spid="45070"/>
                                        </p:tgtEl>
                                        <p:attrNameLst>
                                          <p:attrName>style.visibility</p:attrName>
                                        </p:attrNameLst>
                                      </p:cBhvr>
                                      <p:to>
                                        <p:strVal val="visible"/>
                                      </p:to>
                                    </p:set>
                                    <p:animEffect transition="in" filter="wipe(right)">
                                      <p:cBhvr>
                                        <p:cTn id="97" dur="500"/>
                                        <p:tgtEl>
                                          <p:spTgt spid="45070"/>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nodeType="clickEffect">
                                  <p:stCondLst>
                                    <p:cond delay="0"/>
                                  </p:stCondLst>
                                  <p:childTnLst>
                                    <p:set>
                                      <p:cBhvr>
                                        <p:cTn id="101" dur="1" fill="hold">
                                          <p:stCondLst>
                                            <p:cond delay="0"/>
                                          </p:stCondLst>
                                        </p:cTn>
                                        <p:tgtEl>
                                          <p:spTgt spid="45073"/>
                                        </p:tgtEl>
                                        <p:attrNameLst>
                                          <p:attrName>style.visibility</p:attrName>
                                        </p:attrNameLst>
                                      </p:cBhvr>
                                      <p:to>
                                        <p:strVal val="visible"/>
                                      </p:to>
                                    </p:set>
                                    <p:animEffect transition="in" filter="wipe(up)">
                                      <p:cBhvr>
                                        <p:cTn id="102" dur="500"/>
                                        <p:tgtEl>
                                          <p:spTgt spid="45073"/>
                                        </p:tgtEl>
                                      </p:cBhvr>
                                    </p:animEffect>
                                  </p:childTnLst>
                                </p:cTn>
                              </p:par>
                            </p:childTnLst>
                          </p:cTn>
                        </p:par>
                        <p:par>
                          <p:cTn id="103" fill="hold">
                            <p:stCondLst>
                              <p:cond delay="500"/>
                            </p:stCondLst>
                            <p:childTnLst>
                              <p:par>
                                <p:cTn id="104" presetID="14" presetClass="entr" presetSubtype="10" fill="hold" nodeType="afterEffect">
                                  <p:stCondLst>
                                    <p:cond delay="0"/>
                                  </p:stCondLst>
                                  <p:childTnLst>
                                    <p:set>
                                      <p:cBhvr>
                                        <p:cTn id="105" dur="1" fill="hold">
                                          <p:stCondLst>
                                            <p:cond delay="0"/>
                                          </p:stCondLst>
                                        </p:cTn>
                                        <p:tgtEl>
                                          <p:spTgt spid="45074"/>
                                        </p:tgtEl>
                                        <p:attrNameLst>
                                          <p:attrName>style.visibility</p:attrName>
                                        </p:attrNameLst>
                                      </p:cBhvr>
                                      <p:to>
                                        <p:strVal val="visible"/>
                                      </p:to>
                                    </p:set>
                                    <p:animEffect transition="in" filter="randombar(horizontal)">
                                      <p:cBhvr>
                                        <p:cTn id="106" dur="500"/>
                                        <p:tgtEl>
                                          <p:spTgt spid="45074"/>
                                        </p:tgtEl>
                                      </p:cBhvr>
                                    </p:animEffect>
                                  </p:childTnLst>
                                </p:cTn>
                              </p:par>
                            </p:childTnLst>
                          </p:cTn>
                        </p:par>
                      </p:childTnLst>
                    </p:cTn>
                  </p:par>
                  <p:par>
                    <p:cTn id="107" fill="hold">
                      <p:stCondLst>
                        <p:cond delay="indefinite"/>
                      </p:stCondLst>
                      <p:childTnLst>
                        <p:par>
                          <p:cTn id="108" fill="hold">
                            <p:stCondLst>
                              <p:cond delay="0"/>
                            </p:stCondLst>
                            <p:childTnLst>
                              <p:par>
                                <p:cTn id="109" presetID="14" presetClass="entr" presetSubtype="10" fill="hold" nodeType="clickEffect">
                                  <p:stCondLst>
                                    <p:cond delay="0"/>
                                  </p:stCondLst>
                                  <p:childTnLst>
                                    <p:set>
                                      <p:cBhvr>
                                        <p:cTn id="110" dur="1" fill="hold">
                                          <p:stCondLst>
                                            <p:cond delay="0"/>
                                          </p:stCondLst>
                                        </p:cTn>
                                        <p:tgtEl>
                                          <p:spTgt spid="45081"/>
                                        </p:tgtEl>
                                        <p:attrNameLst>
                                          <p:attrName>style.visibility</p:attrName>
                                        </p:attrNameLst>
                                      </p:cBhvr>
                                      <p:to>
                                        <p:strVal val="visible"/>
                                      </p:to>
                                    </p:set>
                                    <p:animEffect transition="in" filter="randombar(horizontal)">
                                      <p:cBhvr>
                                        <p:cTn id="111" dur="500"/>
                                        <p:tgtEl>
                                          <p:spTgt spid="45081"/>
                                        </p:tgtEl>
                                      </p:cBhvr>
                                    </p:animEffect>
                                  </p:childTnLst>
                                </p:cTn>
                              </p:par>
                            </p:childTnLst>
                          </p:cTn>
                        </p:par>
                      </p:childTnLst>
                    </p:cTn>
                  </p:par>
                  <p:par>
                    <p:cTn id="112" fill="hold">
                      <p:stCondLst>
                        <p:cond delay="indefinite"/>
                      </p:stCondLst>
                      <p:childTnLst>
                        <p:par>
                          <p:cTn id="113" fill="hold">
                            <p:stCondLst>
                              <p:cond delay="0"/>
                            </p:stCondLst>
                            <p:childTnLst>
                              <p:par>
                                <p:cTn id="114" presetID="14" presetClass="entr" presetSubtype="10" fill="hold" nodeType="clickEffect">
                                  <p:stCondLst>
                                    <p:cond delay="0"/>
                                  </p:stCondLst>
                                  <p:childTnLst>
                                    <p:set>
                                      <p:cBhvr>
                                        <p:cTn id="115" dur="1" fill="hold">
                                          <p:stCondLst>
                                            <p:cond delay="0"/>
                                          </p:stCondLst>
                                        </p:cTn>
                                        <p:tgtEl>
                                          <p:spTgt spid="45088"/>
                                        </p:tgtEl>
                                        <p:attrNameLst>
                                          <p:attrName>style.visibility</p:attrName>
                                        </p:attrNameLst>
                                      </p:cBhvr>
                                      <p:to>
                                        <p:strVal val="visible"/>
                                      </p:to>
                                    </p:set>
                                    <p:animEffect transition="in" filter="randombar(horizontal)">
                                      <p:cBhvr>
                                        <p:cTn id="116" dur="500"/>
                                        <p:tgtEl>
                                          <p:spTgt spid="45088"/>
                                        </p:tgtEl>
                                      </p:cBhvr>
                                    </p:animEffect>
                                  </p:childTnLst>
                                </p:cTn>
                              </p:par>
                            </p:childTnLst>
                          </p:cTn>
                        </p:par>
                        <p:par>
                          <p:cTn id="117" fill="hold">
                            <p:stCondLst>
                              <p:cond delay="500"/>
                            </p:stCondLst>
                            <p:childTnLst>
                              <p:par>
                                <p:cTn id="118" presetID="22" presetClass="entr" presetSubtype="1" fill="hold" nodeType="afterEffect">
                                  <p:stCondLst>
                                    <p:cond delay="0"/>
                                  </p:stCondLst>
                                  <p:childTnLst>
                                    <p:set>
                                      <p:cBhvr>
                                        <p:cTn id="119" dur="1" fill="hold">
                                          <p:stCondLst>
                                            <p:cond delay="0"/>
                                          </p:stCondLst>
                                        </p:cTn>
                                        <p:tgtEl>
                                          <p:spTgt spid="39973"/>
                                        </p:tgtEl>
                                        <p:attrNameLst>
                                          <p:attrName>style.visibility</p:attrName>
                                        </p:attrNameLst>
                                      </p:cBhvr>
                                      <p:to>
                                        <p:strVal val="visible"/>
                                      </p:to>
                                    </p:set>
                                    <p:animEffect transition="in" filter="wipe(up)">
                                      <p:cBhvr>
                                        <p:cTn id="120" dur="500"/>
                                        <p:tgtEl>
                                          <p:spTgt spid="399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build="p"/>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3795" name="Group 3"/>
          <p:cNvGraphicFramePr>
            <a:graphicFrameLocks noGrp="1"/>
          </p:cNvGraphicFramePr>
          <p:nvPr>
            <p:extLst>
              <p:ext uri="{D42A27DB-BD31-4B8C-83A1-F6EECF244321}">
                <p14:modId xmlns:p14="http://schemas.microsoft.com/office/powerpoint/2010/main" val="3941661609"/>
              </p:ext>
            </p:extLst>
          </p:nvPr>
        </p:nvGraphicFramePr>
        <p:xfrm>
          <a:off x="1035843" y="2109508"/>
          <a:ext cx="7072313" cy="3566160"/>
        </p:xfrm>
        <a:graphic>
          <a:graphicData uri="http://schemas.openxmlformats.org/drawingml/2006/table">
            <a:tbl>
              <a:tblPr/>
              <a:tblGrid>
                <a:gridCol w="1768475">
                  <a:extLst>
                    <a:ext uri="{9D8B030D-6E8A-4147-A177-3AD203B41FA5}">
                      <a16:colId xmlns:a16="http://schemas.microsoft.com/office/drawing/2014/main" val="2102147145"/>
                    </a:ext>
                  </a:extLst>
                </a:gridCol>
                <a:gridCol w="1768475">
                  <a:extLst>
                    <a:ext uri="{9D8B030D-6E8A-4147-A177-3AD203B41FA5}">
                      <a16:colId xmlns:a16="http://schemas.microsoft.com/office/drawing/2014/main" val="3031610266"/>
                    </a:ext>
                  </a:extLst>
                </a:gridCol>
                <a:gridCol w="1766888">
                  <a:extLst>
                    <a:ext uri="{9D8B030D-6E8A-4147-A177-3AD203B41FA5}">
                      <a16:colId xmlns:a16="http://schemas.microsoft.com/office/drawing/2014/main" val="2766312271"/>
                    </a:ext>
                  </a:extLst>
                </a:gridCol>
                <a:gridCol w="1768475">
                  <a:extLst>
                    <a:ext uri="{9D8B030D-6E8A-4147-A177-3AD203B41FA5}">
                      <a16:colId xmlns:a16="http://schemas.microsoft.com/office/drawing/2014/main" val="2905621399"/>
                    </a:ext>
                  </a:extLst>
                </a:gridCol>
              </a:tblGrid>
              <a:tr h="371475">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zh-CN" altLang="zh-CN" sz="2000" b="0" kern="1200" spc="150" dirty="0">
                          <a:solidFill>
                            <a:srgbClr val="000000"/>
                          </a:solidFill>
                          <a:latin typeface="微软雅黑" panose="020B0503020204020204" pitchFamily="34" charset="-122"/>
                          <a:ea typeface="微软雅黑" panose="020B0503020204020204" pitchFamily="34" charset="-122"/>
                          <a:cs typeface="+mn-cs"/>
                        </a:rPr>
                        <a:t>需求</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zh-CN" altLang="zh-CN" sz="2000" b="0" kern="1200" spc="150" dirty="0">
                          <a:solidFill>
                            <a:srgbClr val="000000"/>
                          </a:solidFill>
                          <a:latin typeface="微软雅黑" panose="020B0503020204020204" pitchFamily="34" charset="-122"/>
                          <a:ea typeface="微软雅黑" panose="020B0503020204020204" pitchFamily="34" charset="-122"/>
                          <a:cs typeface="+mn-cs"/>
                        </a:rPr>
                        <a:t>供给</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zh-CN" altLang="zh-CN" sz="2000" b="0" kern="1200" spc="150" dirty="0">
                          <a:solidFill>
                            <a:srgbClr val="000000"/>
                          </a:solidFill>
                          <a:latin typeface="微软雅黑" panose="020B0503020204020204" pitchFamily="34" charset="-122"/>
                          <a:ea typeface="微软雅黑" panose="020B0503020204020204" pitchFamily="34" charset="-122"/>
                          <a:cs typeface="+mn-cs"/>
                        </a:rPr>
                        <a:t>均衡价格</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zh-CN" altLang="zh-CN" sz="2000" b="0" kern="1200" spc="150">
                          <a:solidFill>
                            <a:srgbClr val="000000"/>
                          </a:solidFill>
                          <a:latin typeface="微软雅黑" panose="020B0503020204020204" pitchFamily="34" charset="-122"/>
                          <a:ea typeface="微软雅黑" panose="020B0503020204020204" pitchFamily="34" charset="-122"/>
                          <a:cs typeface="+mn-cs"/>
                        </a:rPr>
                        <a:t>均衡数量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87661890"/>
                  </a:ext>
                </a:extLst>
              </a:tr>
              <a:tr h="369888">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dirty="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en-US" altLang="zh-CN" sz="2000" b="0" kern="1200" spc="150" dirty="0">
                        <a:solidFill>
                          <a:srgbClr val="000000"/>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pPr>
                      <a:r>
                        <a:rPr lang="zh-CN" altLang="en-US" sz="2000" b="0" kern="1200" spc="150" dirty="0">
                          <a:solidFill>
                            <a:srgbClr val="000000"/>
                          </a:solidFill>
                          <a:latin typeface="微软雅黑" panose="020B0503020204020204" pitchFamily="34" charset="-122"/>
                          <a:ea typeface="微软雅黑" panose="020B0503020204020204" pitchFamily="34" charset="-122"/>
                          <a:cs typeface="+mn-cs"/>
                        </a:rPr>
                        <a:t>不变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01845393"/>
                  </a:ext>
                </a:extLst>
              </a:tr>
              <a:tr h="371475">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dirty="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dirty="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91955573"/>
                  </a:ext>
                </a:extLst>
              </a:tr>
              <a:tr h="369888">
                <a:tc rowSpan="2">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en-US" altLang="zh-CN" sz="2000" b="0" kern="1200" spc="150">
                        <a:solidFill>
                          <a:srgbClr val="000000"/>
                        </a:solidFill>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pPr>
                      <a:r>
                        <a:rPr lang="zh-CN" altLang="en-US" sz="2000" b="0" kern="1200" spc="150">
                          <a:solidFill>
                            <a:srgbClr val="000000"/>
                          </a:solidFill>
                          <a:latin typeface="微软雅黑" panose="020B0503020204020204" pitchFamily="34" charset="-122"/>
                          <a:ea typeface="微软雅黑" panose="020B0503020204020204" pitchFamily="34" charset="-122"/>
                          <a:cs typeface="+mn-cs"/>
                        </a:rPr>
                        <a:t>不变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dirty="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dirty="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43167151"/>
                  </a:ext>
                </a:extLst>
              </a:tr>
              <a:tr h="371475">
                <a:tc vMerge="1">
                  <a:txBody>
                    <a:bodyPr/>
                    <a:lstStyle/>
                    <a:p>
                      <a:endParaRPr lang="zh-CN" altLang="en-US"/>
                    </a:p>
                  </a:txBody>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dirty="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dirty="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31420267"/>
                  </a:ext>
                </a:extLst>
              </a:tr>
              <a:tr h="371475">
                <a:tc rowSpan="2">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zh-CN" altLang="zh-CN" sz="2000" b="0" kern="1200" spc="150" dirty="0">
                          <a:solidFill>
                            <a:srgbClr val="000000"/>
                          </a:solidFill>
                          <a:latin typeface="微软雅黑" panose="020B0503020204020204" pitchFamily="34" charset="-122"/>
                          <a:ea typeface="微软雅黑" panose="020B0503020204020204" pitchFamily="34" charset="-122"/>
                          <a:cs typeface="+mn-cs"/>
                        </a:rPr>
                        <a:t>不确定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dirty="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49262980"/>
                  </a:ext>
                </a:extLst>
              </a:tr>
              <a:tr h="369888">
                <a:tc vMerge="1">
                  <a:txBody>
                    <a:bodyPr/>
                    <a:lstStyle/>
                    <a:p>
                      <a:endParaRPr lang="zh-CN" altLang="en-US"/>
                    </a:p>
                  </a:txBody>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zh-CN" altLang="zh-CN" sz="2000" b="0" kern="1200" spc="150" dirty="0">
                          <a:solidFill>
                            <a:srgbClr val="000000"/>
                          </a:solidFill>
                          <a:latin typeface="微软雅黑" panose="020B0503020204020204" pitchFamily="34" charset="-122"/>
                          <a:ea typeface="微软雅黑" panose="020B0503020204020204" pitchFamily="34" charset="-122"/>
                          <a:cs typeface="+mn-cs"/>
                        </a:rPr>
                        <a:t>不确定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83785535"/>
                  </a:ext>
                </a:extLst>
              </a:tr>
              <a:tr h="371475">
                <a:tc rowSpan="2">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zh-CN" altLang="zh-CN" sz="2000" b="0" kern="1200" spc="150" dirty="0">
                          <a:solidFill>
                            <a:srgbClr val="000000"/>
                          </a:solidFill>
                          <a:latin typeface="微软雅黑" panose="020B0503020204020204" pitchFamily="34" charset="-122"/>
                          <a:ea typeface="微软雅黑" panose="020B0503020204020204" pitchFamily="34" charset="-122"/>
                          <a:cs typeface="+mn-cs"/>
                        </a:rPr>
                        <a:t>不确定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8407308"/>
                  </a:ext>
                </a:extLst>
              </a:tr>
              <a:tr h="369888">
                <a:tc vMerge="1">
                  <a:txBody>
                    <a:bodyPr/>
                    <a:lstStyle/>
                    <a:p>
                      <a:endParaRPr lang="zh-CN" altLang="en-US"/>
                    </a:p>
                  </a:txBody>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zh-CN" altLang="zh-CN" sz="2000" b="0" kern="1200" spc="150" dirty="0">
                          <a:solidFill>
                            <a:srgbClr val="000000"/>
                          </a:solidFill>
                          <a:latin typeface="微软雅黑" panose="020B0503020204020204" pitchFamily="34" charset="-122"/>
                          <a:ea typeface="微软雅黑" panose="020B0503020204020204" pitchFamily="34" charset="-122"/>
                          <a:cs typeface="+mn-cs"/>
                        </a:rPr>
                        <a:t>不确定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lang="zh-CN" altLang="zh-CN" sz="2000" b="0" kern="1200" spc="150" dirty="0">
                        <a:solidFill>
                          <a:srgbClr val="000000"/>
                        </a:solidFill>
                        <a:latin typeface="微软雅黑" panose="020B0503020204020204" pitchFamily="34" charset="-122"/>
                        <a:ea typeface="微软雅黑" panose="020B0503020204020204" pitchFamily="34"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24954628"/>
                  </a:ext>
                </a:extLst>
              </a:tr>
            </a:tbl>
          </a:graphicData>
        </a:graphic>
      </p:graphicFrame>
      <p:sp>
        <p:nvSpPr>
          <p:cNvPr id="33844" name="矩形 9"/>
          <p:cNvSpPr>
            <a:spLocks noChangeArrowheads="1"/>
          </p:cNvSpPr>
          <p:nvPr/>
        </p:nvSpPr>
        <p:spPr bwMode="auto">
          <a:xfrm>
            <a:off x="1619250" y="2565577"/>
            <a:ext cx="300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dirty="0">
                <a:solidFill>
                  <a:schemeClr val="tx1"/>
                </a:solidFill>
              </a:rPr>
              <a:t>↑</a:t>
            </a:r>
          </a:p>
        </p:txBody>
      </p:sp>
      <p:sp>
        <p:nvSpPr>
          <p:cNvPr id="33845" name="矩形 10"/>
          <p:cNvSpPr>
            <a:spLocks noChangeArrowheads="1"/>
          </p:cNvSpPr>
          <p:nvPr/>
        </p:nvSpPr>
        <p:spPr bwMode="auto">
          <a:xfrm>
            <a:off x="7019925" y="2517776"/>
            <a:ext cx="301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dirty="0">
                <a:solidFill>
                  <a:schemeClr val="tx1"/>
                </a:solidFill>
              </a:rPr>
              <a:t>↑</a:t>
            </a:r>
          </a:p>
        </p:txBody>
      </p:sp>
      <p:sp>
        <p:nvSpPr>
          <p:cNvPr id="33846" name="矩形 11"/>
          <p:cNvSpPr>
            <a:spLocks noChangeArrowheads="1"/>
          </p:cNvSpPr>
          <p:nvPr/>
        </p:nvSpPr>
        <p:spPr bwMode="auto">
          <a:xfrm>
            <a:off x="5219700" y="2492896"/>
            <a:ext cx="301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dirty="0">
                <a:solidFill>
                  <a:schemeClr val="tx1"/>
                </a:solidFill>
              </a:rPr>
              <a:t>↑</a:t>
            </a:r>
          </a:p>
        </p:txBody>
      </p:sp>
      <p:sp>
        <p:nvSpPr>
          <p:cNvPr id="33847" name="矩形 13"/>
          <p:cNvSpPr>
            <a:spLocks noChangeArrowheads="1"/>
          </p:cNvSpPr>
          <p:nvPr/>
        </p:nvSpPr>
        <p:spPr bwMode="auto">
          <a:xfrm>
            <a:off x="3419475" y="3321845"/>
            <a:ext cx="300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dirty="0">
                <a:solidFill>
                  <a:schemeClr val="tx1"/>
                </a:solidFill>
              </a:rPr>
              <a:t>↑</a:t>
            </a:r>
          </a:p>
        </p:txBody>
      </p:sp>
      <p:sp>
        <p:nvSpPr>
          <p:cNvPr id="33848" name="矩形 14"/>
          <p:cNvSpPr>
            <a:spLocks noChangeArrowheads="1"/>
          </p:cNvSpPr>
          <p:nvPr/>
        </p:nvSpPr>
        <p:spPr bwMode="auto">
          <a:xfrm>
            <a:off x="5219700" y="2924175"/>
            <a:ext cx="301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dirty="0">
                <a:solidFill>
                  <a:schemeClr val="tx1"/>
                </a:solidFill>
              </a:rPr>
              <a:t>↓</a:t>
            </a:r>
          </a:p>
        </p:txBody>
      </p:sp>
      <p:sp>
        <p:nvSpPr>
          <p:cNvPr id="33849" name="矩形 15"/>
          <p:cNvSpPr>
            <a:spLocks noChangeArrowheads="1"/>
          </p:cNvSpPr>
          <p:nvPr/>
        </p:nvSpPr>
        <p:spPr bwMode="auto">
          <a:xfrm>
            <a:off x="3419475" y="3722688"/>
            <a:ext cx="300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dirty="0">
                <a:solidFill>
                  <a:schemeClr val="tx1"/>
                </a:solidFill>
              </a:rPr>
              <a:t>↓</a:t>
            </a:r>
          </a:p>
        </p:txBody>
      </p:sp>
      <p:sp>
        <p:nvSpPr>
          <p:cNvPr id="33850" name="矩形 16"/>
          <p:cNvSpPr>
            <a:spLocks noChangeArrowheads="1"/>
          </p:cNvSpPr>
          <p:nvPr/>
        </p:nvSpPr>
        <p:spPr bwMode="auto">
          <a:xfrm>
            <a:off x="1619250" y="5013325"/>
            <a:ext cx="300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a:solidFill>
                  <a:schemeClr val="tx1"/>
                </a:solidFill>
              </a:rPr>
              <a:t>↓</a:t>
            </a:r>
          </a:p>
        </p:txBody>
      </p:sp>
      <p:sp>
        <p:nvSpPr>
          <p:cNvPr id="33851" name="矩形 17"/>
          <p:cNvSpPr>
            <a:spLocks noChangeArrowheads="1"/>
          </p:cNvSpPr>
          <p:nvPr/>
        </p:nvSpPr>
        <p:spPr bwMode="auto">
          <a:xfrm>
            <a:off x="1619250" y="2935464"/>
            <a:ext cx="300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dirty="0">
                <a:solidFill>
                  <a:schemeClr val="tx1"/>
                </a:solidFill>
              </a:rPr>
              <a:t>↓</a:t>
            </a:r>
          </a:p>
        </p:txBody>
      </p:sp>
      <p:sp>
        <p:nvSpPr>
          <p:cNvPr id="33852" name="矩形 18"/>
          <p:cNvSpPr>
            <a:spLocks noChangeArrowheads="1"/>
          </p:cNvSpPr>
          <p:nvPr/>
        </p:nvSpPr>
        <p:spPr bwMode="auto">
          <a:xfrm>
            <a:off x="7018338" y="3294063"/>
            <a:ext cx="30162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dirty="0">
                <a:solidFill>
                  <a:schemeClr val="tx1"/>
                </a:solidFill>
              </a:rPr>
              <a:t>↑</a:t>
            </a:r>
          </a:p>
        </p:txBody>
      </p:sp>
      <p:sp>
        <p:nvSpPr>
          <p:cNvPr id="33853" name="矩形 19"/>
          <p:cNvSpPr>
            <a:spLocks noChangeArrowheads="1"/>
          </p:cNvSpPr>
          <p:nvPr/>
        </p:nvSpPr>
        <p:spPr bwMode="auto">
          <a:xfrm>
            <a:off x="5219700" y="3707644"/>
            <a:ext cx="301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dirty="0">
                <a:solidFill>
                  <a:schemeClr val="tx1"/>
                </a:solidFill>
              </a:rPr>
              <a:t>↑</a:t>
            </a:r>
          </a:p>
        </p:txBody>
      </p:sp>
      <p:sp>
        <p:nvSpPr>
          <p:cNvPr id="33854" name="矩形 20"/>
          <p:cNvSpPr>
            <a:spLocks noChangeArrowheads="1"/>
          </p:cNvSpPr>
          <p:nvPr/>
        </p:nvSpPr>
        <p:spPr bwMode="auto">
          <a:xfrm>
            <a:off x="3419475" y="4149725"/>
            <a:ext cx="300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a:solidFill>
                  <a:schemeClr val="tx1"/>
                </a:solidFill>
              </a:rPr>
              <a:t>↑</a:t>
            </a:r>
          </a:p>
        </p:txBody>
      </p:sp>
      <p:sp>
        <p:nvSpPr>
          <p:cNvPr id="33855" name="矩形 21"/>
          <p:cNvSpPr>
            <a:spLocks noChangeArrowheads="1"/>
          </p:cNvSpPr>
          <p:nvPr/>
        </p:nvSpPr>
        <p:spPr bwMode="auto">
          <a:xfrm>
            <a:off x="7018338" y="4101820"/>
            <a:ext cx="301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dirty="0">
                <a:solidFill>
                  <a:schemeClr val="tx1"/>
                </a:solidFill>
              </a:rPr>
              <a:t>↑</a:t>
            </a:r>
          </a:p>
        </p:txBody>
      </p:sp>
      <p:sp>
        <p:nvSpPr>
          <p:cNvPr id="33856" name="矩形 22"/>
          <p:cNvSpPr>
            <a:spLocks noChangeArrowheads="1"/>
          </p:cNvSpPr>
          <p:nvPr/>
        </p:nvSpPr>
        <p:spPr bwMode="auto">
          <a:xfrm>
            <a:off x="1619250" y="4292600"/>
            <a:ext cx="300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a:solidFill>
                  <a:schemeClr val="tx1"/>
                </a:solidFill>
              </a:rPr>
              <a:t>↑</a:t>
            </a:r>
          </a:p>
        </p:txBody>
      </p:sp>
      <p:sp>
        <p:nvSpPr>
          <p:cNvPr id="33857" name="矩形 23"/>
          <p:cNvSpPr>
            <a:spLocks noChangeArrowheads="1"/>
          </p:cNvSpPr>
          <p:nvPr/>
        </p:nvSpPr>
        <p:spPr bwMode="auto">
          <a:xfrm>
            <a:off x="5219700" y="4495521"/>
            <a:ext cx="301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dirty="0">
                <a:solidFill>
                  <a:schemeClr val="tx1"/>
                </a:solidFill>
              </a:rPr>
              <a:t>↑</a:t>
            </a:r>
          </a:p>
        </p:txBody>
      </p:sp>
      <p:sp>
        <p:nvSpPr>
          <p:cNvPr id="33858" name="矩形 24"/>
          <p:cNvSpPr>
            <a:spLocks noChangeArrowheads="1"/>
          </p:cNvSpPr>
          <p:nvPr/>
        </p:nvSpPr>
        <p:spPr bwMode="auto">
          <a:xfrm>
            <a:off x="3419475" y="4870450"/>
            <a:ext cx="300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a:solidFill>
                  <a:schemeClr val="tx1"/>
                </a:solidFill>
              </a:rPr>
              <a:t>↑</a:t>
            </a:r>
          </a:p>
        </p:txBody>
      </p:sp>
      <p:sp>
        <p:nvSpPr>
          <p:cNvPr id="33859" name="矩形 25"/>
          <p:cNvSpPr>
            <a:spLocks noChangeArrowheads="1"/>
          </p:cNvSpPr>
          <p:nvPr/>
        </p:nvSpPr>
        <p:spPr bwMode="auto">
          <a:xfrm>
            <a:off x="7018338" y="2910858"/>
            <a:ext cx="301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dirty="0">
                <a:solidFill>
                  <a:schemeClr val="tx1"/>
                </a:solidFill>
              </a:rPr>
              <a:t>↓</a:t>
            </a:r>
          </a:p>
        </p:txBody>
      </p:sp>
      <p:sp>
        <p:nvSpPr>
          <p:cNvPr id="33860" name="矩形 26"/>
          <p:cNvSpPr>
            <a:spLocks noChangeArrowheads="1"/>
          </p:cNvSpPr>
          <p:nvPr/>
        </p:nvSpPr>
        <p:spPr bwMode="auto">
          <a:xfrm>
            <a:off x="7018338" y="3689013"/>
            <a:ext cx="301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dirty="0">
                <a:solidFill>
                  <a:schemeClr val="tx1"/>
                </a:solidFill>
              </a:rPr>
              <a:t>↓</a:t>
            </a:r>
          </a:p>
        </p:txBody>
      </p:sp>
      <p:sp>
        <p:nvSpPr>
          <p:cNvPr id="33861" name="矩形 27"/>
          <p:cNvSpPr>
            <a:spLocks noChangeArrowheads="1"/>
          </p:cNvSpPr>
          <p:nvPr/>
        </p:nvSpPr>
        <p:spPr bwMode="auto">
          <a:xfrm>
            <a:off x="7025605" y="5300662"/>
            <a:ext cx="300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dirty="0">
                <a:solidFill>
                  <a:schemeClr val="tx1"/>
                </a:solidFill>
              </a:rPr>
              <a:t>↓</a:t>
            </a:r>
          </a:p>
        </p:txBody>
      </p:sp>
      <p:sp>
        <p:nvSpPr>
          <p:cNvPr id="33862" name="矩形 28"/>
          <p:cNvSpPr>
            <a:spLocks noChangeArrowheads="1"/>
          </p:cNvSpPr>
          <p:nvPr/>
        </p:nvSpPr>
        <p:spPr bwMode="auto">
          <a:xfrm>
            <a:off x="3419475" y="4510088"/>
            <a:ext cx="300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a:solidFill>
                  <a:schemeClr val="tx1"/>
                </a:solidFill>
              </a:rPr>
              <a:t>↓</a:t>
            </a:r>
          </a:p>
        </p:txBody>
      </p:sp>
      <p:sp>
        <p:nvSpPr>
          <p:cNvPr id="33863" name="矩形 29"/>
          <p:cNvSpPr>
            <a:spLocks noChangeArrowheads="1"/>
          </p:cNvSpPr>
          <p:nvPr/>
        </p:nvSpPr>
        <p:spPr bwMode="auto">
          <a:xfrm>
            <a:off x="3417888" y="5302250"/>
            <a:ext cx="300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dirty="0">
                <a:solidFill>
                  <a:schemeClr val="tx1"/>
                </a:solidFill>
              </a:rPr>
              <a:t>↓</a:t>
            </a:r>
          </a:p>
        </p:txBody>
      </p:sp>
      <p:sp>
        <p:nvSpPr>
          <p:cNvPr id="33864" name="矩形 30"/>
          <p:cNvSpPr>
            <a:spLocks noChangeArrowheads="1"/>
          </p:cNvSpPr>
          <p:nvPr/>
        </p:nvSpPr>
        <p:spPr bwMode="auto">
          <a:xfrm>
            <a:off x="5219700" y="3326606"/>
            <a:ext cx="301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dirty="0">
                <a:solidFill>
                  <a:schemeClr val="tx1"/>
                </a:solidFill>
              </a:rPr>
              <a:t>↓</a:t>
            </a:r>
          </a:p>
        </p:txBody>
      </p:sp>
      <p:sp>
        <p:nvSpPr>
          <p:cNvPr id="33865" name="矩形 31"/>
          <p:cNvSpPr>
            <a:spLocks noChangeArrowheads="1"/>
          </p:cNvSpPr>
          <p:nvPr/>
        </p:nvSpPr>
        <p:spPr bwMode="auto">
          <a:xfrm>
            <a:off x="5219700" y="4885493"/>
            <a:ext cx="301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0" dirty="0">
                <a:solidFill>
                  <a:schemeClr val="tx1"/>
                </a:solidFill>
              </a:rPr>
              <a:t>↓</a:t>
            </a:r>
          </a:p>
        </p:txBody>
      </p:sp>
      <p:sp>
        <p:nvSpPr>
          <p:cNvPr id="27" name="矩形 26">
            <a:extLst>
              <a:ext uri="{FF2B5EF4-FFF2-40B4-BE49-F238E27FC236}">
                <a16:creationId xmlns:a16="http://schemas.microsoft.com/office/drawing/2014/main" id="{128F5EB9-FDD4-432A-95D3-F23DD664291C}"/>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p:sp>
        <p:nvSpPr>
          <p:cNvPr id="28" name="矩形 27">
            <a:extLst>
              <a:ext uri="{FF2B5EF4-FFF2-40B4-BE49-F238E27FC236}">
                <a16:creationId xmlns:a16="http://schemas.microsoft.com/office/drawing/2014/main" id="{916FE0E3-4453-4050-9A77-4D7C2D6CDFB5}"/>
              </a:ext>
            </a:extLst>
          </p:cNvPr>
          <p:cNvSpPr/>
          <p:nvPr/>
        </p:nvSpPr>
        <p:spPr>
          <a:xfrm>
            <a:off x="467543" y="548680"/>
            <a:ext cx="3162141"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三、市场均衡的变动 </a:t>
            </a:r>
          </a:p>
        </p:txBody>
      </p:sp>
      <p:sp>
        <p:nvSpPr>
          <p:cNvPr id="29" name="Rectangle 3">
            <a:extLst>
              <a:ext uri="{FF2B5EF4-FFF2-40B4-BE49-F238E27FC236}">
                <a16:creationId xmlns:a16="http://schemas.microsoft.com/office/drawing/2014/main" id="{B163AEEA-509F-4A54-B3FC-03D7AB876C8C}"/>
              </a:ext>
            </a:extLst>
          </p:cNvPr>
          <p:cNvSpPr txBox="1">
            <a:spLocks noChangeArrowheads="1"/>
          </p:cNvSpPr>
          <p:nvPr/>
        </p:nvSpPr>
        <p:spPr bwMode="auto">
          <a:xfrm>
            <a:off x="0" y="1400075"/>
            <a:ext cx="6263679" cy="503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eaLnBrk="1" hangingPunct="1">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供求规律：供求变化带来均衡变动的总结</a:t>
            </a: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wipe(left)">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3795"/>
                                        </p:tgtEl>
                                        <p:attrNameLst>
                                          <p:attrName>style.visibility</p:attrName>
                                        </p:attrNameLst>
                                      </p:cBhvr>
                                      <p:to>
                                        <p:strVal val="visible"/>
                                      </p:to>
                                    </p:set>
                                    <p:animEffect transition="in" filter="wipe(up)">
                                      <p:cBhvr>
                                        <p:cTn id="12" dur="500"/>
                                        <p:tgtEl>
                                          <p:spTgt spid="33795"/>
                                        </p:tgtEl>
                                      </p:cBhvr>
                                    </p:animEffect>
                                  </p:childTnLst>
                                </p:cTn>
                              </p:par>
                              <p:par>
                                <p:cTn id="13" presetID="49" presetClass="entr" presetSubtype="0" decel="100000" fill="hold" grpId="0" nodeType="withEffect">
                                  <p:stCondLst>
                                    <p:cond delay="0"/>
                                  </p:stCondLst>
                                  <p:childTnLst>
                                    <p:set>
                                      <p:cBhvr>
                                        <p:cTn id="14" dur="1" fill="hold">
                                          <p:stCondLst>
                                            <p:cond delay="0"/>
                                          </p:stCondLst>
                                        </p:cTn>
                                        <p:tgtEl>
                                          <p:spTgt spid="33844"/>
                                        </p:tgtEl>
                                        <p:attrNameLst>
                                          <p:attrName>style.visibility</p:attrName>
                                        </p:attrNameLst>
                                      </p:cBhvr>
                                      <p:to>
                                        <p:strVal val="visible"/>
                                      </p:to>
                                    </p:set>
                                    <p:anim calcmode="lin" valueType="num">
                                      <p:cBhvr>
                                        <p:cTn id="15" dur="500" fill="hold"/>
                                        <p:tgtEl>
                                          <p:spTgt spid="33844"/>
                                        </p:tgtEl>
                                        <p:attrNameLst>
                                          <p:attrName>ppt_w</p:attrName>
                                        </p:attrNameLst>
                                      </p:cBhvr>
                                      <p:tavLst>
                                        <p:tav tm="0">
                                          <p:val>
                                            <p:fltVal val="0"/>
                                          </p:val>
                                        </p:tav>
                                        <p:tav tm="100000">
                                          <p:val>
                                            <p:strVal val="#ppt_w"/>
                                          </p:val>
                                        </p:tav>
                                      </p:tavLst>
                                    </p:anim>
                                    <p:anim calcmode="lin" valueType="num">
                                      <p:cBhvr>
                                        <p:cTn id="16" dur="500" fill="hold"/>
                                        <p:tgtEl>
                                          <p:spTgt spid="33844"/>
                                        </p:tgtEl>
                                        <p:attrNameLst>
                                          <p:attrName>ppt_h</p:attrName>
                                        </p:attrNameLst>
                                      </p:cBhvr>
                                      <p:tavLst>
                                        <p:tav tm="0">
                                          <p:val>
                                            <p:fltVal val="0"/>
                                          </p:val>
                                        </p:tav>
                                        <p:tav tm="100000">
                                          <p:val>
                                            <p:strVal val="#ppt_h"/>
                                          </p:val>
                                        </p:tav>
                                      </p:tavLst>
                                    </p:anim>
                                    <p:anim calcmode="lin" valueType="num">
                                      <p:cBhvr>
                                        <p:cTn id="17" dur="500" fill="hold"/>
                                        <p:tgtEl>
                                          <p:spTgt spid="33844"/>
                                        </p:tgtEl>
                                        <p:attrNameLst>
                                          <p:attrName>style.rotation</p:attrName>
                                        </p:attrNameLst>
                                      </p:cBhvr>
                                      <p:tavLst>
                                        <p:tav tm="0">
                                          <p:val>
                                            <p:fltVal val="360"/>
                                          </p:val>
                                        </p:tav>
                                        <p:tav tm="100000">
                                          <p:val>
                                            <p:fltVal val="0"/>
                                          </p:val>
                                        </p:tav>
                                      </p:tavLst>
                                    </p:anim>
                                    <p:animEffect transition="in" filter="fade">
                                      <p:cBhvr>
                                        <p:cTn id="18" dur="500"/>
                                        <p:tgtEl>
                                          <p:spTgt spid="33844"/>
                                        </p:tgtEl>
                                      </p:cBhvr>
                                    </p:animEffect>
                                  </p:childTnLst>
                                </p:cTn>
                              </p:par>
                              <p:par>
                                <p:cTn id="19" presetID="49" presetClass="entr" presetSubtype="0" decel="100000" fill="hold" grpId="0" nodeType="withEffect">
                                  <p:stCondLst>
                                    <p:cond delay="0"/>
                                  </p:stCondLst>
                                  <p:childTnLst>
                                    <p:set>
                                      <p:cBhvr>
                                        <p:cTn id="20" dur="1" fill="hold">
                                          <p:stCondLst>
                                            <p:cond delay="0"/>
                                          </p:stCondLst>
                                        </p:cTn>
                                        <p:tgtEl>
                                          <p:spTgt spid="33851"/>
                                        </p:tgtEl>
                                        <p:attrNameLst>
                                          <p:attrName>style.visibility</p:attrName>
                                        </p:attrNameLst>
                                      </p:cBhvr>
                                      <p:to>
                                        <p:strVal val="visible"/>
                                      </p:to>
                                    </p:set>
                                    <p:anim calcmode="lin" valueType="num">
                                      <p:cBhvr>
                                        <p:cTn id="21" dur="500" fill="hold"/>
                                        <p:tgtEl>
                                          <p:spTgt spid="33851"/>
                                        </p:tgtEl>
                                        <p:attrNameLst>
                                          <p:attrName>ppt_w</p:attrName>
                                        </p:attrNameLst>
                                      </p:cBhvr>
                                      <p:tavLst>
                                        <p:tav tm="0">
                                          <p:val>
                                            <p:fltVal val="0"/>
                                          </p:val>
                                        </p:tav>
                                        <p:tav tm="100000">
                                          <p:val>
                                            <p:strVal val="#ppt_w"/>
                                          </p:val>
                                        </p:tav>
                                      </p:tavLst>
                                    </p:anim>
                                    <p:anim calcmode="lin" valueType="num">
                                      <p:cBhvr>
                                        <p:cTn id="22" dur="500" fill="hold"/>
                                        <p:tgtEl>
                                          <p:spTgt spid="33851"/>
                                        </p:tgtEl>
                                        <p:attrNameLst>
                                          <p:attrName>ppt_h</p:attrName>
                                        </p:attrNameLst>
                                      </p:cBhvr>
                                      <p:tavLst>
                                        <p:tav tm="0">
                                          <p:val>
                                            <p:fltVal val="0"/>
                                          </p:val>
                                        </p:tav>
                                        <p:tav tm="100000">
                                          <p:val>
                                            <p:strVal val="#ppt_h"/>
                                          </p:val>
                                        </p:tav>
                                      </p:tavLst>
                                    </p:anim>
                                    <p:anim calcmode="lin" valueType="num">
                                      <p:cBhvr>
                                        <p:cTn id="23" dur="500" fill="hold"/>
                                        <p:tgtEl>
                                          <p:spTgt spid="33851"/>
                                        </p:tgtEl>
                                        <p:attrNameLst>
                                          <p:attrName>style.rotation</p:attrName>
                                        </p:attrNameLst>
                                      </p:cBhvr>
                                      <p:tavLst>
                                        <p:tav tm="0">
                                          <p:val>
                                            <p:fltVal val="360"/>
                                          </p:val>
                                        </p:tav>
                                        <p:tav tm="100000">
                                          <p:val>
                                            <p:fltVal val="0"/>
                                          </p:val>
                                        </p:tav>
                                      </p:tavLst>
                                    </p:anim>
                                    <p:animEffect transition="in" filter="fade">
                                      <p:cBhvr>
                                        <p:cTn id="24" dur="500"/>
                                        <p:tgtEl>
                                          <p:spTgt spid="33851"/>
                                        </p:tgtEl>
                                      </p:cBhvr>
                                    </p:animEffect>
                                  </p:childTnLst>
                                </p:cTn>
                              </p:par>
                              <p:par>
                                <p:cTn id="25" presetID="49" presetClass="entr" presetSubtype="0" decel="100000" fill="hold" grpId="0" nodeType="withEffect">
                                  <p:stCondLst>
                                    <p:cond delay="0"/>
                                  </p:stCondLst>
                                  <p:childTnLst>
                                    <p:set>
                                      <p:cBhvr>
                                        <p:cTn id="26" dur="1" fill="hold">
                                          <p:stCondLst>
                                            <p:cond delay="0"/>
                                          </p:stCondLst>
                                        </p:cTn>
                                        <p:tgtEl>
                                          <p:spTgt spid="33846"/>
                                        </p:tgtEl>
                                        <p:attrNameLst>
                                          <p:attrName>style.visibility</p:attrName>
                                        </p:attrNameLst>
                                      </p:cBhvr>
                                      <p:to>
                                        <p:strVal val="visible"/>
                                      </p:to>
                                    </p:set>
                                    <p:anim calcmode="lin" valueType="num">
                                      <p:cBhvr>
                                        <p:cTn id="27" dur="500" fill="hold"/>
                                        <p:tgtEl>
                                          <p:spTgt spid="33846"/>
                                        </p:tgtEl>
                                        <p:attrNameLst>
                                          <p:attrName>ppt_w</p:attrName>
                                        </p:attrNameLst>
                                      </p:cBhvr>
                                      <p:tavLst>
                                        <p:tav tm="0">
                                          <p:val>
                                            <p:fltVal val="0"/>
                                          </p:val>
                                        </p:tav>
                                        <p:tav tm="100000">
                                          <p:val>
                                            <p:strVal val="#ppt_w"/>
                                          </p:val>
                                        </p:tav>
                                      </p:tavLst>
                                    </p:anim>
                                    <p:anim calcmode="lin" valueType="num">
                                      <p:cBhvr>
                                        <p:cTn id="28" dur="500" fill="hold"/>
                                        <p:tgtEl>
                                          <p:spTgt spid="33846"/>
                                        </p:tgtEl>
                                        <p:attrNameLst>
                                          <p:attrName>ppt_h</p:attrName>
                                        </p:attrNameLst>
                                      </p:cBhvr>
                                      <p:tavLst>
                                        <p:tav tm="0">
                                          <p:val>
                                            <p:fltVal val="0"/>
                                          </p:val>
                                        </p:tav>
                                        <p:tav tm="100000">
                                          <p:val>
                                            <p:strVal val="#ppt_h"/>
                                          </p:val>
                                        </p:tav>
                                      </p:tavLst>
                                    </p:anim>
                                    <p:anim calcmode="lin" valueType="num">
                                      <p:cBhvr>
                                        <p:cTn id="29" dur="500" fill="hold"/>
                                        <p:tgtEl>
                                          <p:spTgt spid="33846"/>
                                        </p:tgtEl>
                                        <p:attrNameLst>
                                          <p:attrName>style.rotation</p:attrName>
                                        </p:attrNameLst>
                                      </p:cBhvr>
                                      <p:tavLst>
                                        <p:tav tm="0">
                                          <p:val>
                                            <p:fltVal val="360"/>
                                          </p:val>
                                        </p:tav>
                                        <p:tav tm="100000">
                                          <p:val>
                                            <p:fltVal val="0"/>
                                          </p:val>
                                        </p:tav>
                                      </p:tavLst>
                                    </p:anim>
                                    <p:animEffect transition="in" filter="fade">
                                      <p:cBhvr>
                                        <p:cTn id="30" dur="500"/>
                                        <p:tgtEl>
                                          <p:spTgt spid="33846"/>
                                        </p:tgtEl>
                                      </p:cBhvr>
                                    </p:animEffect>
                                  </p:childTnLst>
                                </p:cTn>
                              </p:par>
                              <p:par>
                                <p:cTn id="31" presetID="49" presetClass="entr" presetSubtype="0" decel="100000" fill="hold" grpId="0" nodeType="withEffect">
                                  <p:stCondLst>
                                    <p:cond delay="0"/>
                                  </p:stCondLst>
                                  <p:childTnLst>
                                    <p:set>
                                      <p:cBhvr>
                                        <p:cTn id="32" dur="1" fill="hold">
                                          <p:stCondLst>
                                            <p:cond delay="0"/>
                                          </p:stCondLst>
                                        </p:cTn>
                                        <p:tgtEl>
                                          <p:spTgt spid="33848"/>
                                        </p:tgtEl>
                                        <p:attrNameLst>
                                          <p:attrName>style.visibility</p:attrName>
                                        </p:attrNameLst>
                                      </p:cBhvr>
                                      <p:to>
                                        <p:strVal val="visible"/>
                                      </p:to>
                                    </p:set>
                                    <p:anim calcmode="lin" valueType="num">
                                      <p:cBhvr>
                                        <p:cTn id="33" dur="500" fill="hold"/>
                                        <p:tgtEl>
                                          <p:spTgt spid="33848"/>
                                        </p:tgtEl>
                                        <p:attrNameLst>
                                          <p:attrName>ppt_w</p:attrName>
                                        </p:attrNameLst>
                                      </p:cBhvr>
                                      <p:tavLst>
                                        <p:tav tm="0">
                                          <p:val>
                                            <p:fltVal val="0"/>
                                          </p:val>
                                        </p:tav>
                                        <p:tav tm="100000">
                                          <p:val>
                                            <p:strVal val="#ppt_w"/>
                                          </p:val>
                                        </p:tav>
                                      </p:tavLst>
                                    </p:anim>
                                    <p:anim calcmode="lin" valueType="num">
                                      <p:cBhvr>
                                        <p:cTn id="34" dur="500" fill="hold"/>
                                        <p:tgtEl>
                                          <p:spTgt spid="33848"/>
                                        </p:tgtEl>
                                        <p:attrNameLst>
                                          <p:attrName>ppt_h</p:attrName>
                                        </p:attrNameLst>
                                      </p:cBhvr>
                                      <p:tavLst>
                                        <p:tav tm="0">
                                          <p:val>
                                            <p:fltVal val="0"/>
                                          </p:val>
                                        </p:tav>
                                        <p:tav tm="100000">
                                          <p:val>
                                            <p:strVal val="#ppt_h"/>
                                          </p:val>
                                        </p:tav>
                                      </p:tavLst>
                                    </p:anim>
                                    <p:anim calcmode="lin" valueType="num">
                                      <p:cBhvr>
                                        <p:cTn id="35" dur="500" fill="hold"/>
                                        <p:tgtEl>
                                          <p:spTgt spid="33848"/>
                                        </p:tgtEl>
                                        <p:attrNameLst>
                                          <p:attrName>style.rotation</p:attrName>
                                        </p:attrNameLst>
                                      </p:cBhvr>
                                      <p:tavLst>
                                        <p:tav tm="0">
                                          <p:val>
                                            <p:fltVal val="360"/>
                                          </p:val>
                                        </p:tav>
                                        <p:tav tm="100000">
                                          <p:val>
                                            <p:fltVal val="0"/>
                                          </p:val>
                                        </p:tav>
                                      </p:tavLst>
                                    </p:anim>
                                    <p:animEffect transition="in" filter="fade">
                                      <p:cBhvr>
                                        <p:cTn id="36" dur="500"/>
                                        <p:tgtEl>
                                          <p:spTgt spid="33848"/>
                                        </p:tgtEl>
                                      </p:cBhvr>
                                    </p:animEffect>
                                  </p:childTnLst>
                                </p:cTn>
                              </p:par>
                              <p:par>
                                <p:cTn id="37" presetID="49" presetClass="entr" presetSubtype="0" decel="100000" fill="hold" nodeType="withEffect">
                                  <p:stCondLst>
                                    <p:cond delay="0"/>
                                  </p:stCondLst>
                                  <p:childTnLst>
                                    <p:set>
                                      <p:cBhvr>
                                        <p:cTn id="38" dur="1" fill="hold">
                                          <p:stCondLst>
                                            <p:cond delay="0"/>
                                          </p:stCondLst>
                                        </p:cTn>
                                        <p:tgtEl>
                                          <p:spTgt spid="33845"/>
                                        </p:tgtEl>
                                        <p:attrNameLst>
                                          <p:attrName>style.visibility</p:attrName>
                                        </p:attrNameLst>
                                      </p:cBhvr>
                                      <p:to>
                                        <p:strVal val="visible"/>
                                      </p:to>
                                    </p:set>
                                    <p:anim calcmode="lin" valueType="num">
                                      <p:cBhvr>
                                        <p:cTn id="39" dur="500" fill="hold"/>
                                        <p:tgtEl>
                                          <p:spTgt spid="33845"/>
                                        </p:tgtEl>
                                        <p:attrNameLst>
                                          <p:attrName>ppt_w</p:attrName>
                                        </p:attrNameLst>
                                      </p:cBhvr>
                                      <p:tavLst>
                                        <p:tav tm="0">
                                          <p:val>
                                            <p:fltVal val="0"/>
                                          </p:val>
                                        </p:tav>
                                        <p:tav tm="100000">
                                          <p:val>
                                            <p:strVal val="#ppt_w"/>
                                          </p:val>
                                        </p:tav>
                                      </p:tavLst>
                                    </p:anim>
                                    <p:anim calcmode="lin" valueType="num">
                                      <p:cBhvr>
                                        <p:cTn id="40" dur="500" fill="hold"/>
                                        <p:tgtEl>
                                          <p:spTgt spid="33845"/>
                                        </p:tgtEl>
                                        <p:attrNameLst>
                                          <p:attrName>ppt_h</p:attrName>
                                        </p:attrNameLst>
                                      </p:cBhvr>
                                      <p:tavLst>
                                        <p:tav tm="0">
                                          <p:val>
                                            <p:fltVal val="0"/>
                                          </p:val>
                                        </p:tav>
                                        <p:tav tm="100000">
                                          <p:val>
                                            <p:strVal val="#ppt_h"/>
                                          </p:val>
                                        </p:tav>
                                      </p:tavLst>
                                    </p:anim>
                                    <p:anim calcmode="lin" valueType="num">
                                      <p:cBhvr>
                                        <p:cTn id="41" dur="500" fill="hold"/>
                                        <p:tgtEl>
                                          <p:spTgt spid="33845"/>
                                        </p:tgtEl>
                                        <p:attrNameLst>
                                          <p:attrName>style.rotation</p:attrName>
                                        </p:attrNameLst>
                                      </p:cBhvr>
                                      <p:tavLst>
                                        <p:tav tm="0">
                                          <p:val>
                                            <p:fltVal val="360"/>
                                          </p:val>
                                        </p:tav>
                                        <p:tav tm="100000">
                                          <p:val>
                                            <p:fltVal val="0"/>
                                          </p:val>
                                        </p:tav>
                                      </p:tavLst>
                                    </p:anim>
                                    <p:animEffect transition="in" filter="fade">
                                      <p:cBhvr>
                                        <p:cTn id="42" dur="500"/>
                                        <p:tgtEl>
                                          <p:spTgt spid="33845"/>
                                        </p:tgtEl>
                                      </p:cBhvr>
                                    </p:animEffect>
                                  </p:childTnLst>
                                </p:cTn>
                              </p:par>
                              <p:par>
                                <p:cTn id="43" presetID="49" presetClass="entr" presetSubtype="0" decel="100000" fill="hold" nodeType="withEffect">
                                  <p:stCondLst>
                                    <p:cond delay="0"/>
                                  </p:stCondLst>
                                  <p:childTnLst>
                                    <p:set>
                                      <p:cBhvr>
                                        <p:cTn id="44" dur="1" fill="hold">
                                          <p:stCondLst>
                                            <p:cond delay="0"/>
                                          </p:stCondLst>
                                        </p:cTn>
                                        <p:tgtEl>
                                          <p:spTgt spid="33859"/>
                                        </p:tgtEl>
                                        <p:attrNameLst>
                                          <p:attrName>style.visibility</p:attrName>
                                        </p:attrNameLst>
                                      </p:cBhvr>
                                      <p:to>
                                        <p:strVal val="visible"/>
                                      </p:to>
                                    </p:set>
                                    <p:anim calcmode="lin" valueType="num">
                                      <p:cBhvr>
                                        <p:cTn id="45" dur="500" fill="hold"/>
                                        <p:tgtEl>
                                          <p:spTgt spid="33859"/>
                                        </p:tgtEl>
                                        <p:attrNameLst>
                                          <p:attrName>ppt_w</p:attrName>
                                        </p:attrNameLst>
                                      </p:cBhvr>
                                      <p:tavLst>
                                        <p:tav tm="0">
                                          <p:val>
                                            <p:fltVal val="0"/>
                                          </p:val>
                                        </p:tav>
                                        <p:tav tm="100000">
                                          <p:val>
                                            <p:strVal val="#ppt_w"/>
                                          </p:val>
                                        </p:tav>
                                      </p:tavLst>
                                    </p:anim>
                                    <p:anim calcmode="lin" valueType="num">
                                      <p:cBhvr>
                                        <p:cTn id="46" dur="500" fill="hold"/>
                                        <p:tgtEl>
                                          <p:spTgt spid="33859"/>
                                        </p:tgtEl>
                                        <p:attrNameLst>
                                          <p:attrName>ppt_h</p:attrName>
                                        </p:attrNameLst>
                                      </p:cBhvr>
                                      <p:tavLst>
                                        <p:tav tm="0">
                                          <p:val>
                                            <p:fltVal val="0"/>
                                          </p:val>
                                        </p:tav>
                                        <p:tav tm="100000">
                                          <p:val>
                                            <p:strVal val="#ppt_h"/>
                                          </p:val>
                                        </p:tav>
                                      </p:tavLst>
                                    </p:anim>
                                    <p:anim calcmode="lin" valueType="num">
                                      <p:cBhvr>
                                        <p:cTn id="47" dur="500" fill="hold"/>
                                        <p:tgtEl>
                                          <p:spTgt spid="33859"/>
                                        </p:tgtEl>
                                        <p:attrNameLst>
                                          <p:attrName>style.rotation</p:attrName>
                                        </p:attrNameLst>
                                      </p:cBhvr>
                                      <p:tavLst>
                                        <p:tav tm="0">
                                          <p:val>
                                            <p:fltVal val="360"/>
                                          </p:val>
                                        </p:tav>
                                        <p:tav tm="100000">
                                          <p:val>
                                            <p:fltVal val="0"/>
                                          </p:val>
                                        </p:tav>
                                      </p:tavLst>
                                    </p:anim>
                                    <p:animEffect transition="in" filter="fade">
                                      <p:cBhvr>
                                        <p:cTn id="48" dur="500"/>
                                        <p:tgtEl>
                                          <p:spTgt spid="33859"/>
                                        </p:tgtEl>
                                      </p:cBhvr>
                                    </p:animEffect>
                                  </p:childTnLst>
                                </p:cTn>
                              </p:par>
                              <p:par>
                                <p:cTn id="49" presetID="49" presetClass="entr" presetSubtype="0" decel="100000" fill="hold" nodeType="withEffect">
                                  <p:stCondLst>
                                    <p:cond delay="0"/>
                                  </p:stCondLst>
                                  <p:childTnLst>
                                    <p:set>
                                      <p:cBhvr>
                                        <p:cTn id="50" dur="1" fill="hold">
                                          <p:stCondLst>
                                            <p:cond delay="0"/>
                                          </p:stCondLst>
                                        </p:cTn>
                                        <p:tgtEl>
                                          <p:spTgt spid="33860"/>
                                        </p:tgtEl>
                                        <p:attrNameLst>
                                          <p:attrName>style.visibility</p:attrName>
                                        </p:attrNameLst>
                                      </p:cBhvr>
                                      <p:to>
                                        <p:strVal val="visible"/>
                                      </p:to>
                                    </p:set>
                                    <p:anim calcmode="lin" valueType="num">
                                      <p:cBhvr>
                                        <p:cTn id="51" dur="500" fill="hold"/>
                                        <p:tgtEl>
                                          <p:spTgt spid="33860"/>
                                        </p:tgtEl>
                                        <p:attrNameLst>
                                          <p:attrName>ppt_w</p:attrName>
                                        </p:attrNameLst>
                                      </p:cBhvr>
                                      <p:tavLst>
                                        <p:tav tm="0">
                                          <p:val>
                                            <p:fltVal val="0"/>
                                          </p:val>
                                        </p:tav>
                                        <p:tav tm="100000">
                                          <p:val>
                                            <p:strVal val="#ppt_w"/>
                                          </p:val>
                                        </p:tav>
                                      </p:tavLst>
                                    </p:anim>
                                    <p:anim calcmode="lin" valueType="num">
                                      <p:cBhvr>
                                        <p:cTn id="52" dur="500" fill="hold"/>
                                        <p:tgtEl>
                                          <p:spTgt spid="33860"/>
                                        </p:tgtEl>
                                        <p:attrNameLst>
                                          <p:attrName>ppt_h</p:attrName>
                                        </p:attrNameLst>
                                      </p:cBhvr>
                                      <p:tavLst>
                                        <p:tav tm="0">
                                          <p:val>
                                            <p:fltVal val="0"/>
                                          </p:val>
                                        </p:tav>
                                        <p:tav tm="100000">
                                          <p:val>
                                            <p:strVal val="#ppt_h"/>
                                          </p:val>
                                        </p:tav>
                                      </p:tavLst>
                                    </p:anim>
                                    <p:anim calcmode="lin" valueType="num">
                                      <p:cBhvr>
                                        <p:cTn id="53" dur="500" fill="hold"/>
                                        <p:tgtEl>
                                          <p:spTgt spid="33860"/>
                                        </p:tgtEl>
                                        <p:attrNameLst>
                                          <p:attrName>style.rotation</p:attrName>
                                        </p:attrNameLst>
                                      </p:cBhvr>
                                      <p:tavLst>
                                        <p:tav tm="0">
                                          <p:val>
                                            <p:fltVal val="360"/>
                                          </p:val>
                                        </p:tav>
                                        <p:tav tm="100000">
                                          <p:val>
                                            <p:fltVal val="0"/>
                                          </p:val>
                                        </p:tav>
                                      </p:tavLst>
                                    </p:anim>
                                    <p:animEffect transition="in" filter="fade">
                                      <p:cBhvr>
                                        <p:cTn id="54" dur="500"/>
                                        <p:tgtEl>
                                          <p:spTgt spid="33860"/>
                                        </p:tgtEl>
                                      </p:cBhvr>
                                    </p:animEffect>
                                  </p:childTnLst>
                                </p:cTn>
                              </p:par>
                              <p:par>
                                <p:cTn id="55" presetID="49" presetClass="entr" presetSubtype="0" decel="100000" fill="hold" nodeType="withEffect">
                                  <p:stCondLst>
                                    <p:cond delay="0"/>
                                  </p:stCondLst>
                                  <p:childTnLst>
                                    <p:set>
                                      <p:cBhvr>
                                        <p:cTn id="56" dur="1" fill="hold">
                                          <p:stCondLst>
                                            <p:cond delay="0"/>
                                          </p:stCondLst>
                                        </p:cTn>
                                        <p:tgtEl>
                                          <p:spTgt spid="33852"/>
                                        </p:tgtEl>
                                        <p:attrNameLst>
                                          <p:attrName>style.visibility</p:attrName>
                                        </p:attrNameLst>
                                      </p:cBhvr>
                                      <p:to>
                                        <p:strVal val="visible"/>
                                      </p:to>
                                    </p:set>
                                    <p:anim calcmode="lin" valueType="num">
                                      <p:cBhvr>
                                        <p:cTn id="57" dur="500" fill="hold"/>
                                        <p:tgtEl>
                                          <p:spTgt spid="33852"/>
                                        </p:tgtEl>
                                        <p:attrNameLst>
                                          <p:attrName>ppt_w</p:attrName>
                                        </p:attrNameLst>
                                      </p:cBhvr>
                                      <p:tavLst>
                                        <p:tav tm="0">
                                          <p:val>
                                            <p:fltVal val="0"/>
                                          </p:val>
                                        </p:tav>
                                        <p:tav tm="100000">
                                          <p:val>
                                            <p:strVal val="#ppt_w"/>
                                          </p:val>
                                        </p:tav>
                                      </p:tavLst>
                                    </p:anim>
                                    <p:anim calcmode="lin" valueType="num">
                                      <p:cBhvr>
                                        <p:cTn id="58" dur="500" fill="hold"/>
                                        <p:tgtEl>
                                          <p:spTgt spid="33852"/>
                                        </p:tgtEl>
                                        <p:attrNameLst>
                                          <p:attrName>ppt_h</p:attrName>
                                        </p:attrNameLst>
                                      </p:cBhvr>
                                      <p:tavLst>
                                        <p:tav tm="0">
                                          <p:val>
                                            <p:fltVal val="0"/>
                                          </p:val>
                                        </p:tav>
                                        <p:tav tm="100000">
                                          <p:val>
                                            <p:strVal val="#ppt_h"/>
                                          </p:val>
                                        </p:tav>
                                      </p:tavLst>
                                    </p:anim>
                                    <p:anim calcmode="lin" valueType="num">
                                      <p:cBhvr>
                                        <p:cTn id="59" dur="500" fill="hold"/>
                                        <p:tgtEl>
                                          <p:spTgt spid="33852"/>
                                        </p:tgtEl>
                                        <p:attrNameLst>
                                          <p:attrName>style.rotation</p:attrName>
                                        </p:attrNameLst>
                                      </p:cBhvr>
                                      <p:tavLst>
                                        <p:tav tm="0">
                                          <p:val>
                                            <p:fltVal val="360"/>
                                          </p:val>
                                        </p:tav>
                                        <p:tav tm="100000">
                                          <p:val>
                                            <p:fltVal val="0"/>
                                          </p:val>
                                        </p:tav>
                                      </p:tavLst>
                                    </p:anim>
                                    <p:animEffect transition="in" filter="fade">
                                      <p:cBhvr>
                                        <p:cTn id="60" dur="500"/>
                                        <p:tgtEl>
                                          <p:spTgt spid="33852"/>
                                        </p:tgtEl>
                                      </p:cBhvr>
                                    </p:animEffect>
                                  </p:childTnLst>
                                </p:cTn>
                              </p:par>
                              <p:par>
                                <p:cTn id="61" presetID="49" presetClass="entr" presetSubtype="0" decel="100000" fill="hold" nodeType="withEffect">
                                  <p:stCondLst>
                                    <p:cond delay="0"/>
                                  </p:stCondLst>
                                  <p:childTnLst>
                                    <p:set>
                                      <p:cBhvr>
                                        <p:cTn id="62" dur="1" fill="hold">
                                          <p:stCondLst>
                                            <p:cond delay="0"/>
                                          </p:stCondLst>
                                        </p:cTn>
                                        <p:tgtEl>
                                          <p:spTgt spid="33864"/>
                                        </p:tgtEl>
                                        <p:attrNameLst>
                                          <p:attrName>style.visibility</p:attrName>
                                        </p:attrNameLst>
                                      </p:cBhvr>
                                      <p:to>
                                        <p:strVal val="visible"/>
                                      </p:to>
                                    </p:set>
                                    <p:anim calcmode="lin" valueType="num">
                                      <p:cBhvr>
                                        <p:cTn id="63" dur="500" fill="hold"/>
                                        <p:tgtEl>
                                          <p:spTgt spid="33864"/>
                                        </p:tgtEl>
                                        <p:attrNameLst>
                                          <p:attrName>ppt_w</p:attrName>
                                        </p:attrNameLst>
                                      </p:cBhvr>
                                      <p:tavLst>
                                        <p:tav tm="0">
                                          <p:val>
                                            <p:fltVal val="0"/>
                                          </p:val>
                                        </p:tav>
                                        <p:tav tm="100000">
                                          <p:val>
                                            <p:strVal val="#ppt_w"/>
                                          </p:val>
                                        </p:tav>
                                      </p:tavLst>
                                    </p:anim>
                                    <p:anim calcmode="lin" valueType="num">
                                      <p:cBhvr>
                                        <p:cTn id="64" dur="500" fill="hold"/>
                                        <p:tgtEl>
                                          <p:spTgt spid="33864"/>
                                        </p:tgtEl>
                                        <p:attrNameLst>
                                          <p:attrName>ppt_h</p:attrName>
                                        </p:attrNameLst>
                                      </p:cBhvr>
                                      <p:tavLst>
                                        <p:tav tm="0">
                                          <p:val>
                                            <p:fltVal val="0"/>
                                          </p:val>
                                        </p:tav>
                                        <p:tav tm="100000">
                                          <p:val>
                                            <p:strVal val="#ppt_h"/>
                                          </p:val>
                                        </p:tav>
                                      </p:tavLst>
                                    </p:anim>
                                    <p:anim calcmode="lin" valueType="num">
                                      <p:cBhvr>
                                        <p:cTn id="65" dur="500" fill="hold"/>
                                        <p:tgtEl>
                                          <p:spTgt spid="33864"/>
                                        </p:tgtEl>
                                        <p:attrNameLst>
                                          <p:attrName>style.rotation</p:attrName>
                                        </p:attrNameLst>
                                      </p:cBhvr>
                                      <p:tavLst>
                                        <p:tav tm="0">
                                          <p:val>
                                            <p:fltVal val="360"/>
                                          </p:val>
                                        </p:tav>
                                        <p:tav tm="100000">
                                          <p:val>
                                            <p:fltVal val="0"/>
                                          </p:val>
                                        </p:tav>
                                      </p:tavLst>
                                    </p:anim>
                                    <p:animEffect transition="in" filter="fade">
                                      <p:cBhvr>
                                        <p:cTn id="66" dur="500"/>
                                        <p:tgtEl>
                                          <p:spTgt spid="33864"/>
                                        </p:tgtEl>
                                      </p:cBhvr>
                                    </p:animEffect>
                                  </p:childTnLst>
                                </p:cTn>
                              </p:par>
                              <p:par>
                                <p:cTn id="67" presetID="49" presetClass="entr" presetSubtype="0" decel="100000" fill="hold" nodeType="withEffect">
                                  <p:stCondLst>
                                    <p:cond delay="0"/>
                                  </p:stCondLst>
                                  <p:childTnLst>
                                    <p:set>
                                      <p:cBhvr>
                                        <p:cTn id="68" dur="1" fill="hold">
                                          <p:stCondLst>
                                            <p:cond delay="0"/>
                                          </p:stCondLst>
                                        </p:cTn>
                                        <p:tgtEl>
                                          <p:spTgt spid="33853"/>
                                        </p:tgtEl>
                                        <p:attrNameLst>
                                          <p:attrName>style.visibility</p:attrName>
                                        </p:attrNameLst>
                                      </p:cBhvr>
                                      <p:to>
                                        <p:strVal val="visible"/>
                                      </p:to>
                                    </p:set>
                                    <p:anim calcmode="lin" valueType="num">
                                      <p:cBhvr>
                                        <p:cTn id="69" dur="500" fill="hold"/>
                                        <p:tgtEl>
                                          <p:spTgt spid="33853"/>
                                        </p:tgtEl>
                                        <p:attrNameLst>
                                          <p:attrName>ppt_w</p:attrName>
                                        </p:attrNameLst>
                                      </p:cBhvr>
                                      <p:tavLst>
                                        <p:tav tm="0">
                                          <p:val>
                                            <p:fltVal val="0"/>
                                          </p:val>
                                        </p:tav>
                                        <p:tav tm="100000">
                                          <p:val>
                                            <p:strVal val="#ppt_w"/>
                                          </p:val>
                                        </p:tav>
                                      </p:tavLst>
                                    </p:anim>
                                    <p:anim calcmode="lin" valueType="num">
                                      <p:cBhvr>
                                        <p:cTn id="70" dur="500" fill="hold"/>
                                        <p:tgtEl>
                                          <p:spTgt spid="33853"/>
                                        </p:tgtEl>
                                        <p:attrNameLst>
                                          <p:attrName>ppt_h</p:attrName>
                                        </p:attrNameLst>
                                      </p:cBhvr>
                                      <p:tavLst>
                                        <p:tav tm="0">
                                          <p:val>
                                            <p:fltVal val="0"/>
                                          </p:val>
                                        </p:tav>
                                        <p:tav tm="100000">
                                          <p:val>
                                            <p:strVal val="#ppt_h"/>
                                          </p:val>
                                        </p:tav>
                                      </p:tavLst>
                                    </p:anim>
                                    <p:anim calcmode="lin" valueType="num">
                                      <p:cBhvr>
                                        <p:cTn id="71" dur="500" fill="hold"/>
                                        <p:tgtEl>
                                          <p:spTgt spid="33853"/>
                                        </p:tgtEl>
                                        <p:attrNameLst>
                                          <p:attrName>style.rotation</p:attrName>
                                        </p:attrNameLst>
                                      </p:cBhvr>
                                      <p:tavLst>
                                        <p:tav tm="0">
                                          <p:val>
                                            <p:fltVal val="360"/>
                                          </p:val>
                                        </p:tav>
                                        <p:tav tm="100000">
                                          <p:val>
                                            <p:fltVal val="0"/>
                                          </p:val>
                                        </p:tav>
                                      </p:tavLst>
                                    </p:anim>
                                    <p:animEffect transition="in" filter="fade">
                                      <p:cBhvr>
                                        <p:cTn id="72" dur="500"/>
                                        <p:tgtEl>
                                          <p:spTgt spid="33853"/>
                                        </p:tgtEl>
                                      </p:cBhvr>
                                    </p:animEffect>
                                  </p:childTnLst>
                                </p:cTn>
                              </p:par>
                              <p:par>
                                <p:cTn id="73" presetID="49" presetClass="entr" presetSubtype="0" decel="100000" fill="hold" nodeType="withEffect">
                                  <p:stCondLst>
                                    <p:cond delay="0"/>
                                  </p:stCondLst>
                                  <p:childTnLst>
                                    <p:set>
                                      <p:cBhvr>
                                        <p:cTn id="74" dur="1" fill="hold">
                                          <p:stCondLst>
                                            <p:cond delay="0"/>
                                          </p:stCondLst>
                                        </p:cTn>
                                        <p:tgtEl>
                                          <p:spTgt spid="33847"/>
                                        </p:tgtEl>
                                        <p:attrNameLst>
                                          <p:attrName>style.visibility</p:attrName>
                                        </p:attrNameLst>
                                      </p:cBhvr>
                                      <p:to>
                                        <p:strVal val="visible"/>
                                      </p:to>
                                    </p:set>
                                    <p:anim calcmode="lin" valueType="num">
                                      <p:cBhvr>
                                        <p:cTn id="75" dur="500" fill="hold"/>
                                        <p:tgtEl>
                                          <p:spTgt spid="33847"/>
                                        </p:tgtEl>
                                        <p:attrNameLst>
                                          <p:attrName>ppt_w</p:attrName>
                                        </p:attrNameLst>
                                      </p:cBhvr>
                                      <p:tavLst>
                                        <p:tav tm="0">
                                          <p:val>
                                            <p:fltVal val="0"/>
                                          </p:val>
                                        </p:tav>
                                        <p:tav tm="100000">
                                          <p:val>
                                            <p:strVal val="#ppt_w"/>
                                          </p:val>
                                        </p:tav>
                                      </p:tavLst>
                                    </p:anim>
                                    <p:anim calcmode="lin" valueType="num">
                                      <p:cBhvr>
                                        <p:cTn id="76" dur="500" fill="hold"/>
                                        <p:tgtEl>
                                          <p:spTgt spid="33847"/>
                                        </p:tgtEl>
                                        <p:attrNameLst>
                                          <p:attrName>ppt_h</p:attrName>
                                        </p:attrNameLst>
                                      </p:cBhvr>
                                      <p:tavLst>
                                        <p:tav tm="0">
                                          <p:val>
                                            <p:fltVal val="0"/>
                                          </p:val>
                                        </p:tav>
                                        <p:tav tm="100000">
                                          <p:val>
                                            <p:strVal val="#ppt_h"/>
                                          </p:val>
                                        </p:tav>
                                      </p:tavLst>
                                    </p:anim>
                                    <p:anim calcmode="lin" valueType="num">
                                      <p:cBhvr>
                                        <p:cTn id="77" dur="500" fill="hold"/>
                                        <p:tgtEl>
                                          <p:spTgt spid="33847"/>
                                        </p:tgtEl>
                                        <p:attrNameLst>
                                          <p:attrName>style.rotation</p:attrName>
                                        </p:attrNameLst>
                                      </p:cBhvr>
                                      <p:tavLst>
                                        <p:tav tm="0">
                                          <p:val>
                                            <p:fltVal val="360"/>
                                          </p:val>
                                        </p:tav>
                                        <p:tav tm="100000">
                                          <p:val>
                                            <p:fltVal val="0"/>
                                          </p:val>
                                        </p:tav>
                                      </p:tavLst>
                                    </p:anim>
                                    <p:animEffect transition="in" filter="fade">
                                      <p:cBhvr>
                                        <p:cTn id="78" dur="500"/>
                                        <p:tgtEl>
                                          <p:spTgt spid="33847"/>
                                        </p:tgtEl>
                                      </p:cBhvr>
                                    </p:animEffect>
                                  </p:childTnLst>
                                </p:cTn>
                              </p:par>
                              <p:par>
                                <p:cTn id="79" presetID="49" presetClass="entr" presetSubtype="0" decel="100000" fill="hold" nodeType="withEffect">
                                  <p:stCondLst>
                                    <p:cond delay="0"/>
                                  </p:stCondLst>
                                  <p:childTnLst>
                                    <p:set>
                                      <p:cBhvr>
                                        <p:cTn id="80" dur="1" fill="hold">
                                          <p:stCondLst>
                                            <p:cond delay="0"/>
                                          </p:stCondLst>
                                        </p:cTn>
                                        <p:tgtEl>
                                          <p:spTgt spid="33849"/>
                                        </p:tgtEl>
                                        <p:attrNameLst>
                                          <p:attrName>style.visibility</p:attrName>
                                        </p:attrNameLst>
                                      </p:cBhvr>
                                      <p:to>
                                        <p:strVal val="visible"/>
                                      </p:to>
                                    </p:set>
                                    <p:anim calcmode="lin" valueType="num">
                                      <p:cBhvr>
                                        <p:cTn id="81" dur="500" fill="hold"/>
                                        <p:tgtEl>
                                          <p:spTgt spid="33849"/>
                                        </p:tgtEl>
                                        <p:attrNameLst>
                                          <p:attrName>ppt_w</p:attrName>
                                        </p:attrNameLst>
                                      </p:cBhvr>
                                      <p:tavLst>
                                        <p:tav tm="0">
                                          <p:val>
                                            <p:fltVal val="0"/>
                                          </p:val>
                                        </p:tav>
                                        <p:tav tm="100000">
                                          <p:val>
                                            <p:strVal val="#ppt_w"/>
                                          </p:val>
                                        </p:tav>
                                      </p:tavLst>
                                    </p:anim>
                                    <p:anim calcmode="lin" valueType="num">
                                      <p:cBhvr>
                                        <p:cTn id="82" dur="500" fill="hold"/>
                                        <p:tgtEl>
                                          <p:spTgt spid="33849"/>
                                        </p:tgtEl>
                                        <p:attrNameLst>
                                          <p:attrName>ppt_h</p:attrName>
                                        </p:attrNameLst>
                                      </p:cBhvr>
                                      <p:tavLst>
                                        <p:tav tm="0">
                                          <p:val>
                                            <p:fltVal val="0"/>
                                          </p:val>
                                        </p:tav>
                                        <p:tav tm="100000">
                                          <p:val>
                                            <p:strVal val="#ppt_h"/>
                                          </p:val>
                                        </p:tav>
                                      </p:tavLst>
                                    </p:anim>
                                    <p:anim calcmode="lin" valueType="num">
                                      <p:cBhvr>
                                        <p:cTn id="83" dur="500" fill="hold"/>
                                        <p:tgtEl>
                                          <p:spTgt spid="33849"/>
                                        </p:tgtEl>
                                        <p:attrNameLst>
                                          <p:attrName>style.rotation</p:attrName>
                                        </p:attrNameLst>
                                      </p:cBhvr>
                                      <p:tavLst>
                                        <p:tav tm="0">
                                          <p:val>
                                            <p:fltVal val="360"/>
                                          </p:val>
                                        </p:tav>
                                        <p:tav tm="100000">
                                          <p:val>
                                            <p:fltVal val="0"/>
                                          </p:val>
                                        </p:tav>
                                      </p:tavLst>
                                    </p:anim>
                                    <p:animEffect transition="in" filter="fade">
                                      <p:cBhvr>
                                        <p:cTn id="84" dur="500"/>
                                        <p:tgtEl>
                                          <p:spTgt spid="33849"/>
                                        </p:tgtEl>
                                      </p:cBhvr>
                                    </p:animEffect>
                                  </p:childTnLst>
                                </p:cTn>
                              </p:par>
                              <p:par>
                                <p:cTn id="85" presetID="49" presetClass="entr" presetSubtype="0" decel="100000" fill="hold" nodeType="withEffect">
                                  <p:stCondLst>
                                    <p:cond delay="0"/>
                                  </p:stCondLst>
                                  <p:childTnLst>
                                    <p:set>
                                      <p:cBhvr>
                                        <p:cTn id="86" dur="1" fill="hold">
                                          <p:stCondLst>
                                            <p:cond delay="0"/>
                                          </p:stCondLst>
                                        </p:cTn>
                                        <p:tgtEl>
                                          <p:spTgt spid="33854"/>
                                        </p:tgtEl>
                                        <p:attrNameLst>
                                          <p:attrName>style.visibility</p:attrName>
                                        </p:attrNameLst>
                                      </p:cBhvr>
                                      <p:to>
                                        <p:strVal val="visible"/>
                                      </p:to>
                                    </p:set>
                                    <p:anim calcmode="lin" valueType="num">
                                      <p:cBhvr>
                                        <p:cTn id="87" dur="500" fill="hold"/>
                                        <p:tgtEl>
                                          <p:spTgt spid="33854"/>
                                        </p:tgtEl>
                                        <p:attrNameLst>
                                          <p:attrName>ppt_w</p:attrName>
                                        </p:attrNameLst>
                                      </p:cBhvr>
                                      <p:tavLst>
                                        <p:tav tm="0">
                                          <p:val>
                                            <p:fltVal val="0"/>
                                          </p:val>
                                        </p:tav>
                                        <p:tav tm="100000">
                                          <p:val>
                                            <p:strVal val="#ppt_w"/>
                                          </p:val>
                                        </p:tav>
                                      </p:tavLst>
                                    </p:anim>
                                    <p:anim calcmode="lin" valueType="num">
                                      <p:cBhvr>
                                        <p:cTn id="88" dur="500" fill="hold"/>
                                        <p:tgtEl>
                                          <p:spTgt spid="33854"/>
                                        </p:tgtEl>
                                        <p:attrNameLst>
                                          <p:attrName>ppt_h</p:attrName>
                                        </p:attrNameLst>
                                      </p:cBhvr>
                                      <p:tavLst>
                                        <p:tav tm="0">
                                          <p:val>
                                            <p:fltVal val="0"/>
                                          </p:val>
                                        </p:tav>
                                        <p:tav tm="100000">
                                          <p:val>
                                            <p:strVal val="#ppt_h"/>
                                          </p:val>
                                        </p:tav>
                                      </p:tavLst>
                                    </p:anim>
                                    <p:anim calcmode="lin" valueType="num">
                                      <p:cBhvr>
                                        <p:cTn id="89" dur="500" fill="hold"/>
                                        <p:tgtEl>
                                          <p:spTgt spid="33854"/>
                                        </p:tgtEl>
                                        <p:attrNameLst>
                                          <p:attrName>style.rotation</p:attrName>
                                        </p:attrNameLst>
                                      </p:cBhvr>
                                      <p:tavLst>
                                        <p:tav tm="0">
                                          <p:val>
                                            <p:fltVal val="360"/>
                                          </p:val>
                                        </p:tav>
                                        <p:tav tm="100000">
                                          <p:val>
                                            <p:fltVal val="0"/>
                                          </p:val>
                                        </p:tav>
                                      </p:tavLst>
                                    </p:anim>
                                    <p:animEffect transition="in" filter="fade">
                                      <p:cBhvr>
                                        <p:cTn id="90" dur="500"/>
                                        <p:tgtEl>
                                          <p:spTgt spid="33854"/>
                                        </p:tgtEl>
                                      </p:cBhvr>
                                    </p:animEffect>
                                  </p:childTnLst>
                                </p:cTn>
                              </p:par>
                              <p:par>
                                <p:cTn id="91" presetID="49" presetClass="entr" presetSubtype="0" decel="100000" fill="hold" nodeType="withEffect">
                                  <p:stCondLst>
                                    <p:cond delay="0"/>
                                  </p:stCondLst>
                                  <p:childTnLst>
                                    <p:set>
                                      <p:cBhvr>
                                        <p:cTn id="92" dur="1" fill="hold">
                                          <p:stCondLst>
                                            <p:cond delay="0"/>
                                          </p:stCondLst>
                                        </p:cTn>
                                        <p:tgtEl>
                                          <p:spTgt spid="33856"/>
                                        </p:tgtEl>
                                        <p:attrNameLst>
                                          <p:attrName>style.visibility</p:attrName>
                                        </p:attrNameLst>
                                      </p:cBhvr>
                                      <p:to>
                                        <p:strVal val="visible"/>
                                      </p:to>
                                    </p:set>
                                    <p:anim calcmode="lin" valueType="num">
                                      <p:cBhvr>
                                        <p:cTn id="93" dur="500" fill="hold"/>
                                        <p:tgtEl>
                                          <p:spTgt spid="33856"/>
                                        </p:tgtEl>
                                        <p:attrNameLst>
                                          <p:attrName>ppt_w</p:attrName>
                                        </p:attrNameLst>
                                      </p:cBhvr>
                                      <p:tavLst>
                                        <p:tav tm="0">
                                          <p:val>
                                            <p:fltVal val="0"/>
                                          </p:val>
                                        </p:tav>
                                        <p:tav tm="100000">
                                          <p:val>
                                            <p:strVal val="#ppt_w"/>
                                          </p:val>
                                        </p:tav>
                                      </p:tavLst>
                                    </p:anim>
                                    <p:anim calcmode="lin" valueType="num">
                                      <p:cBhvr>
                                        <p:cTn id="94" dur="500" fill="hold"/>
                                        <p:tgtEl>
                                          <p:spTgt spid="33856"/>
                                        </p:tgtEl>
                                        <p:attrNameLst>
                                          <p:attrName>ppt_h</p:attrName>
                                        </p:attrNameLst>
                                      </p:cBhvr>
                                      <p:tavLst>
                                        <p:tav tm="0">
                                          <p:val>
                                            <p:fltVal val="0"/>
                                          </p:val>
                                        </p:tav>
                                        <p:tav tm="100000">
                                          <p:val>
                                            <p:strVal val="#ppt_h"/>
                                          </p:val>
                                        </p:tav>
                                      </p:tavLst>
                                    </p:anim>
                                    <p:anim calcmode="lin" valueType="num">
                                      <p:cBhvr>
                                        <p:cTn id="95" dur="500" fill="hold"/>
                                        <p:tgtEl>
                                          <p:spTgt spid="33856"/>
                                        </p:tgtEl>
                                        <p:attrNameLst>
                                          <p:attrName>style.rotation</p:attrName>
                                        </p:attrNameLst>
                                      </p:cBhvr>
                                      <p:tavLst>
                                        <p:tav tm="0">
                                          <p:val>
                                            <p:fltVal val="360"/>
                                          </p:val>
                                        </p:tav>
                                        <p:tav tm="100000">
                                          <p:val>
                                            <p:fltVal val="0"/>
                                          </p:val>
                                        </p:tav>
                                      </p:tavLst>
                                    </p:anim>
                                    <p:animEffect transition="in" filter="fade">
                                      <p:cBhvr>
                                        <p:cTn id="96" dur="500"/>
                                        <p:tgtEl>
                                          <p:spTgt spid="33856"/>
                                        </p:tgtEl>
                                      </p:cBhvr>
                                    </p:animEffect>
                                  </p:childTnLst>
                                </p:cTn>
                              </p:par>
                              <p:par>
                                <p:cTn id="97" presetID="49" presetClass="entr" presetSubtype="0" decel="100000" fill="hold" nodeType="withEffect">
                                  <p:stCondLst>
                                    <p:cond delay="0"/>
                                  </p:stCondLst>
                                  <p:childTnLst>
                                    <p:set>
                                      <p:cBhvr>
                                        <p:cTn id="98" dur="1" fill="hold">
                                          <p:stCondLst>
                                            <p:cond delay="0"/>
                                          </p:stCondLst>
                                        </p:cTn>
                                        <p:tgtEl>
                                          <p:spTgt spid="33850"/>
                                        </p:tgtEl>
                                        <p:attrNameLst>
                                          <p:attrName>style.visibility</p:attrName>
                                        </p:attrNameLst>
                                      </p:cBhvr>
                                      <p:to>
                                        <p:strVal val="visible"/>
                                      </p:to>
                                    </p:set>
                                    <p:anim calcmode="lin" valueType="num">
                                      <p:cBhvr>
                                        <p:cTn id="99" dur="500" fill="hold"/>
                                        <p:tgtEl>
                                          <p:spTgt spid="33850"/>
                                        </p:tgtEl>
                                        <p:attrNameLst>
                                          <p:attrName>ppt_w</p:attrName>
                                        </p:attrNameLst>
                                      </p:cBhvr>
                                      <p:tavLst>
                                        <p:tav tm="0">
                                          <p:val>
                                            <p:fltVal val="0"/>
                                          </p:val>
                                        </p:tav>
                                        <p:tav tm="100000">
                                          <p:val>
                                            <p:strVal val="#ppt_w"/>
                                          </p:val>
                                        </p:tav>
                                      </p:tavLst>
                                    </p:anim>
                                    <p:anim calcmode="lin" valueType="num">
                                      <p:cBhvr>
                                        <p:cTn id="100" dur="500" fill="hold"/>
                                        <p:tgtEl>
                                          <p:spTgt spid="33850"/>
                                        </p:tgtEl>
                                        <p:attrNameLst>
                                          <p:attrName>ppt_h</p:attrName>
                                        </p:attrNameLst>
                                      </p:cBhvr>
                                      <p:tavLst>
                                        <p:tav tm="0">
                                          <p:val>
                                            <p:fltVal val="0"/>
                                          </p:val>
                                        </p:tav>
                                        <p:tav tm="100000">
                                          <p:val>
                                            <p:strVal val="#ppt_h"/>
                                          </p:val>
                                        </p:tav>
                                      </p:tavLst>
                                    </p:anim>
                                    <p:anim calcmode="lin" valueType="num">
                                      <p:cBhvr>
                                        <p:cTn id="101" dur="500" fill="hold"/>
                                        <p:tgtEl>
                                          <p:spTgt spid="33850"/>
                                        </p:tgtEl>
                                        <p:attrNameLst>
                                          <p:attrName>style.rotation</p:attrName>
                                        </p:attrNameLst>
                                      </p:cBhvr>
                                      <p:tavLst>
                                        <p:tav tm="0">
                                          <p:val>
                                            <p:fltVal val="360"/>
                                          </p:val>
                                        </p:tav>
                                        <p:tav tm="100000">
                                          <p:val>
                                            <p:fltVal val="0"/>
                                          </p:val>
                                        </p:tav>
                                      </p:tavLst>
                                    </p:anim>
                                    <p:animEffect transition="in" filter="fade">
                                      <p:cBhvr>
                                        <p:cTn id="102" dur="500"/>
                                        <p:tgtEl>
                                          <p:spTgt spid="33850"/>
                                        </p:tgtEl>
                                      </p:cBhvr>
                                    </p:animEffect>
                                  </p:childTnLst>
                                </p:cTn>
                              </p:par>
                              <p:par>
                                <p:cTn id="103" presetID="49" presetClass="entr" presetSubtype="0" decel="100000" fill="hold" nodeType="withEffect">
                                  <p:stCondLst>
                                    <p:cond delay="0"/>
                                  </p:stCondLst>
                                  <p:childTnLst>
                                    <p:set>
                                      <p:cBhvr>
                                        <p:cTn id="104" dur="1" fill="hold">
                                          <p:stCondLst>
                                            <p:cond delay="0"/>
                                          </p:stCondLst>
                                        </p:cTn>
                                        <p:tgtEl>
                                          <p:spTgt spid="33858"/>
                                        </p:tgtEl>
                                        <p:attrNameLst>
                                          <p:attrName>style.visibility</p:attrName>
                                        </p:attrNameLst>
                                      </p:cBhvr>
                                      <p:to>
                                        <p:strVal val="visible"/>
                                      </p:to>
                                    </p:set>
                                    <p:anim calcmode="lin" valueType="num">
                                      <p:cBhvr>
                                        <p:cTn id="105" dur="500" fill="hold"/>
                                        <p:tgtEl>
                                          <p:spTgt spid="33858"/>
                                        </p:tgtEl>
                                        <p:attrNameLst>
                                          <p:attrName>ppt_w</p:attrName>
                                        </p:attrNameLst>
                                      </p:cBhvr>
                                      <p:tavLst>
                                        <p:tav tm="0">
                                          <p:val>
                                            <p:fltVal val="0"/>
                                          </p:val>
                                        </p:tav>
                                        <p:tav tm="100000">
                                          <p:val>
                                            <p:strVal val="#ppt_w"/>
                                          </p:val>
                                        </p:tav>
                                      </p:tavLst>
                                    </p:anim>
                                    <p:anim calcmode="lin" valueType="num">
                                      <p:cBhvr>
                                        <p:cTn id="106" dur="500" fill="hold"/>
                                        <p:tgtEl>
                                          <p:spTgt spid="33858"/>
                                        </p:tgtEl>
                                        <p:attrNameLst>
                                          <p:attrName>ppt_h</p:attrName>
                                        </p:attrNameLst>
                                      </p:cBhvr>
                                      <p:tavLst>
                                        <p:tav tm="0">
                                          <p:val>
                                            <p:fltVal val="0"/>
                                          </p:val>
                                        </p:tav>
                                        <p:tav tm="100000">
                                          <p:val>
                                            <p:strVal val="#ppt_h"/>
                                          </p:val>
                                        </p:tav>
                                      </p:tavLst>
                                    </p:anim>
                                    <p:anim calcmode="lin" valueType="num">
                                      <p:cBhvr>
                                        <p:cTn id="107" dur="500" fill="hold"/>
                                        <p:tgtEl>
                                          <p:spTgt spid="33858"/>
                                        </p:tgtEl>
                                        <p:attrNameLst>
                                          <p:attrName>style.rotation</p:attrName>
                                        </p:attrNameLst>
                                      </p:cBhvr>
                                      <p:tavLst>
                                        <p:tav tm="0">
                                          <p:val>
                                            <p:fltVal val="360"/>
                                          </p:val>
                                        </p:tav>
                                        <p:tav tm="100000">
                                          <p:val>
                                            <p:fltVal val="0"/>
                                          </p:val>
                                        </p:tav>
                                      </p:tavLst>
                                    </p:anim>
                                    <p:animEffect transition="in" filter="fade">
                                      <p:cBhvr>
                                        <p:cTn id="108" dur="500"/>
                                        <p:tgtEl>
                                          <p:spTgt spid="33858"/>
                                        </p:tgtEl>
                                      </p:cBhvr>
                                    </p:animEffect>
                                  </p:childTnLst>
                                </p:cTn>
                              </p:par>
                              <p:par>
                                <p:cTn id="109" presetID="49" presetClass="entr" presetSubtype="0" decel="100000" fill="hold" nodeType="withEffect">
                                  <p:stCondLst>
                                    <p:cond delay="0"/>
                                  </p:stCondLst>
                                  <p:childTnLst>
                                    <p:set>
                                      <p:cBhvr>
                                        <p:cTn id="110" dur="1" fill="hold">
                                          <p:stCondLst>
                                            <p:cond delay="0"/>
                                          </p:stCondLst>
                                        </p:cTn>
                                        <p:tgtEl>
                                          <p:spTgt spid="33863"/>
                                        </p:tgtEl>
                                        <p:attrNameLst>
                                          <p:attrName>style.visibility</p:attrName>
                                        </p:attrNameLst>
                                      </p:cBhvr>
                                      <p:to>
                                        <p:strVal val="visible"/>
                                      </p:to>
                                    </p:set>
                                    <p:anim calcmode="lin" valueType="num">
                                      <p:cBhvr>
                                        <p:cTn id="111" dur="500" fill="hold"/>
                                        <p:tgtEl>
                                          <p:spTgt spid="33863"/>
                                        </p:tgtEl>
                                        <p:attrNameLst>
                                          <p:attrName>ppt_w</p:attrName>
                                        </p:attrNameLst>
                                      </p:cBhvr>
                                      <p:tavLst>
                                        <p:tav tm="0">
                                          <p:val>
                                            <p:fltVal val="0"/>
                                          </p:val>
                                        </p:tav>
                                        <p:tav tm="100000">
                                          <p:val>
                                            <p:strVal val="#ppt_w"/>
                                          </p:val>
                                        </p:tav>
                                      </p:tavLst>
                                    </p:anim>
                                    <p:anim calcmode="lin" valueType="num">
                                      <p:cBhvr>
                                        <p:cTn id="112" dur="500" fill="hold"/>
                                        <p:tgtEl>
                                          <p:spTgt spid="33863"/>
                                        </p:tgtEl>
                                        <p:attrNameLst>
                                          <p:attrName>ppt_h</p:attrName>
                                        </p:attrNameLst>
                                      </p:cBhvr>
                                      <p:tavLst>
                                        <p:tav tm="0">
                                          <p:val>
                                            <p:fltVal val="0"/>
                                          </p:val>
                                        </p:tav>
                                        <p:tav tm="100000">
                                          <p:val>
                                            <p:strVal val="#ppt_h"/>
                                          </p:val>
                                        </p:tav>
                                      </p:tavLst>
                                    </p:anim>
                                    <p:anim calcmode="lin" valueType="num">
                                      <p:cBhvr>
                                        <p:cTn id="113" dur="500" fill="hold"/>
                                        <p:tgtEl>
                                          <p:spTgt spid="33863"/>
                                        </p:tgtEl>
                                        <p:attrNameLst>
                                          <p:attrName>style.rotation</p:attrName>
                                        </p:attrNameLst>
                                      </p:cBhvr>
                                      <p:tavLst>
                                        <p:tav tm="0">
                                          <p:val>
                                            <p:fltVal val="360"/>
                                          </p:val>
                                        </p:tav>
                                        <p:tav tm="100000">
                                          <p:val>
                                            <p:fltVal val="0"/>
                                          </p:val>
                                        </p:tav>
                                      </p:tavLst>
                                    </p:anim>
                                    <p:animEffect transition="in" filter="fade">
                                      <p:cBhvr>
                                        <p:cTn id="114" dur="500"/>
                                        <p:tgtEl>
                                          <p:spTgt spid="33863"/>
                                        </p:tgtEl>
                                      </p:cBhvr>
                                    </p:animEffect>
                                  </p:childTnLst>
                                </p:cTn>
                              </p:par>
                              <p:par>
                                <p:cTn id="115" presetID="49" presetClass="entr" presetSubtype="0" decel="100000" fill="hold" nodeType="withEffect">
                                  <p:stCondLst>
                                    <p:cond delay="0"/>
                                  </p:stCondLst>
                                  <p:childTnLst>
                                    <p:set>
                                      <p:cBhvr>
                                        <p:cTn id="116" dur="1" fill="hold">
                                          <p:stCondLst>
                                            <p:cond delay="0"/>
                                          </p:stCondLst>
                                        </p:cTn>
                                        <p:tgtEl>
                                          <p:spTgt spid="33862"/>
                                        </p:tgtEl>
                                        <p:attrNameLst>
                                          <p:attrName>style.visibility</p:attrName>
                                        </p:attrNameLst>
                                      </p:cBhvr>
                                      <p:to>
                                        <p:strVal val="visible"/>
                                      </p:to>
                                    </p:set>
                                    <p:anim calcmode="lin" valueType="num">
                                      <p:cBhvr>
                                        <p:cTn id="117" dur="500" fill="hold"/>
                                        <p:tgtEl>
                                          <p:spTgt spid="33862"/>
                                        </p:tgtEl>
                                        <p:attrNameLst>
                                          <p:attrName>ppt_w</p:attrName>
                                        </p:attrNameLst>
                                      </p:cBhvr>
                                      <p:tavLst>
                                        <p:tav tm="0">
                                          <p:val>
                                            <p:fltVal val="0"/>
                                          </p:val>
                                        </p:tav>
                                        <p:tav tm="100000">
                                          <p:val>
                                            <p:strVal val="#ppt_w"/>
                                          </p:val>
                                        </p:tav>
                                      </p:tavLst>
                                    </p:anim>
                                    <p:anim calcmode="lin" valueType="num">
                                      <p:cBhvr>
                                        <p:cTn id="118" dur="500" fill="hold"/>
                                        <p:tgtEl>
                                          <p:spTgt spid="33862"/>
                                        </p:tgtEl>
                                        <p:attrNameLst>
                                          <p:attrName>ppt_h</p:attrName>
                                        </p:attrNameLst>
                                      </p:cBhvr>
                                      <p:tavLst>
                                        <p:tav tm="0">
                                          <p:val>
                                            <p:fltVal val="0"/>
                                          </p:val>
                                        </p:tav>
                                        <p:tav tm="100000">
                                          <p:val>
                                            <p:strVal val="#ppt_h"/>
                                          </p:val>
                                        </p:tav>
                                      </p:tavLst>
                                    </p:anim>
                                    <p:anim calcmode="lin" valueType="num">
                                      <p:cBhvr>
                                        <p:cTn id="119" dur="500" fill="hold"/>
                                        <p:tgtEl>
                                          <p:spTgt spid="33862"/>
                                        </p:tgtEl>
                                        <p:attrNameLst>
                                          <p:attrName>style.rotation</p:attrName>
                                        </p:attrNameLst>
                                      </p:cBhvr>
                                      <p:tavLst>
                                        <p:tav tm="0">
                                          <p:val>
                                            <p:fltVal val="360"/>
                                          </p:val>
                                        </p:tav>
                                        <p:tav tm="100000">
                                          <p:val>
                                            <p:fltVal val="0"/>
                                          </p:val>
                                        </p:tav>
                                      </p:tavLst>
                                    </p:anim>
                                    <p:animEffect transition="in" filter="fade">
                                      <p:cBhvr>
                                        <p:cTn id="120" dur="500"/>
                                        <p:tgtEl>
                                          <p:spTgt spid="33862"/>
                                        </p:tgtEl>
                                      </p:cBhvr>
                                    </p:animEffect>
                                  </p:childTnLst>
                                </p:cTn>
                              </p:par>
                              <p:par>
                                <p:cTn id="121" presetID="49" presetClass="entr" presetSubtype="0" decel="100000" fill="hold" nodeType="withEffect">
                                  <p:stCondLst>
                                    <p:cond delay="0"/>
                                  </p:stCondLst>
                                  <p:childTnLst>
                                    <p:set>
                                      <p:cBhvr>
                                        <p:cTn id="122" dur="1" fill="hold">
                                          <p:stCondLst>
                                            <p:cond delay="0"/>
                                          </p:stCondLst>
                                        </p:cTn>
                                        <p:tgtEl>
                                          <p:spTgt spid="33857"/>
                                        </p:tgtEl>
                                        <p:attrNameLst>
                                          <p:attrName>style.visibility</p:attrName>
                                        </p:attrNameLst>
                                      </p:cBhvr>
                                      <p:to>
                                        <p:strVal val="visible"/>
                                      </p:to>
                                    </p:set>
                                    <p:anim calcmode="lin" valueType="num">
                                      <p:cBhvr>
                                        <p:cTn id="123" dur="500" fill="hold"/>
                                        <p:tgtEl>
                                          <p:spTgt spid="33857"/>
                                        </p:tgtEl>
                                        <p:attrNameLst>
                                          <p:attrName>ppt_w</p:attrName>
                                        </p:attrNameLst>
                                      </p:cBhvr>
                                      <p:tavLst>
                                        <p:tav tm="0">
                                          <p:val>
                                            <p:fltVal val="0"/>
                                          </p:val>
                                        </p:tav>
                                        <p:tav tm="100000">
                                          <p:val>
                                            <p:strVal val="#ppt_w"/>
                                          </p:val>
                                        </p:tav>
                                      </p:tavLst>
                                    </p:anim>
                                    <p:anim calcmode="lin" valueType="num">
                                      <p:cBhvr>
                                        <p:cTn id="124" dur="500" fill="hold"/>
                                        <p:tgtEl>
                                          <p:spTgt spid="33857"/>
                                        </p:tgtEl>
                                        <p:attrNameLst>
                                          <p:attrName>ppt_h</p:attrName>
                                        </p:attrNameLst>
                                      </p:cBhvr>
                                      <p:tavLst>
                                        <p:tav tm="0">
                                          <p:val>
                                            <p:fltVal val="0"/>
                                          </p:val>
                                        </p:tav>
                                        <p:tav tm="100000">
                                          <p:val>
                                            <p:strVal val="#ppt_h"/>
                                          </p:val>
                                        </p:tav>
                                      </p:tavLst>
                                    </p:anim>
                                    <p:anim calcmode="lin" valueType="num">
                                      <p:cBhvr>
                                        <p:cTn id="125" dur="500" fill="hold"/>
                                        <p:tgtEl>
                                          <p:spTgt spid="33857"/>
                                        </p:tgtEl>
                                        <p:attrNameLst>
                                          <p:attrName>style.rotation</p:attrName>
                                        </p:attrNameLst>
                                      </p:cBhvr>
                                      <p:tavLst>
                                        <p:tav tm="0">
                                          <p:val>
                                            <p:fltVal val="360"/>
                                          </p:val>
                                        </p:tav>
                                        <p:tav tm="100000">
                                          <p:val>
                                            <p:fltVal val="0"/>
                                          </p:val>
                                        </p:tav>
                                      </p:tavLst>
                                    </p:anim>
                                    <p:animEffect transition="in" filter="fade">
                                      <p:cBhvr>
                                        <p:cTn id="126" dur="500"/>
                                        <p:tgtEl>
                                          <p:spTgt spid="33857"/>
                                        </p:tgtEl>
                                      </p:cBhvr>
                                    </p:animEffect>
                                  </p:childTnLst>
                                </p:cTn>
                              </p:par>
                              <p:par>
                                <p:cTn id="127" presetID="49" presetClass="entr" presetSubtype="0" decel="100000" fill="hold" nodeType="withEffect">
                                  <p:stCondLst>
                                    <p:cond delay="0"/>
                                  </p:stCondLst>
                                  <p:childTnLst>
                                    <p:set>
                                      <p:cBhvr>
                                        <p:cTn id="128" dur="1" fill="hold">
                                          <p:stCondLst>
                                            <p:cond delay="0"/>
                                          </p:stCondLst>
                                        </p:cTn>
                                        <p:tgtEl>
                                          <p:spTgt spid="33865"/>
                                        </p:tgtEl>
                                        <p:attrNameLst>
                                          <p:attrName>style.visibility</p:attrName>
                                        </p:attrNameLst>
                                      </p:cBhvr>
                                      <p:to>
                                        <p:strVal val="visible"/>
                                      </p:to>
                                    </p:set>
                                    <p:anim calcmode="lin" valueType="num">
                                      <p:cBhvr>
                                        <p:cTn id="129" dur="500" fill="hold"/>
                                        <p:tgtEl>
                                          <p:spTgt spid="33865"/>
                                        </p:tgtEl>
                                        <p:attrNameLst>
                                          <p:attrName>ppt_w</p:attrName>
                                        </p:attrNameLst>
                                      </p:cBhvr>
                                      <p:tavLst>
                                        <p:tav tm="0">
                                          <p:val>
                                            <p:fltVal val="0"/>
                                          </p:val>
                                        </p:tav>
                                        <p:tav tm="100000">
                                          <p:val>
                                            <p:strVal val="#ppt_w"/>
                                          </p:val>
                                        </p:tav>
                                      </p:tavLst>
                                    </p:anim>
                                    <p:anim calcmode="lin" valueType="num">
                                      <p:cBhvr>
                                        <p:cTn id="130" dur="500" fill="hold"/>
                                        <p:tgtEl>
                                          <p:spTgt spid="33865"/>
                                        </p:tgtEl>
                                        <p:attrNameLst>
                                          <p:attrName>ppt_h</p:attrName>
                                        </p:attrNameLst>
                                      </p:cBhvr>
                                      <p:tavLst>
                                        <p:tav tm="0">
                                          <p:val>
                                            <p:fltVal val="0"/>
                                          </p:val>
                                        </p:tav>
                                        <p:tav tm="100000">
                                          <p:val>
                                            <p:strVal val="#ppt_h"/>
                                          </p:val>
                                        </p:tav>
                                      </p:tavLst>
                                    </p:anim>
                                    <p:anim calcmode="lin" valueType="num">
                                      <p:cBhvr>
                                        <p:cTn id="131" dur="500" fill="hold"/>
                                        <p:tgtEl>
                                          <p:spTgt spid="33865"/>
                                        </p:tgtEl>
                                        <p:attrNameLst>
                                          <p:attrName>style.rotation</p:attrName>
                                        </p:attrNameLst>
                                      </p:cBhvr>
                                      <p:tavLst>
                                        <p:tav tm="0">
                                          <p:val>
                                            <p:fltVal val="360"/>
                                          </p:val>
                                        </p:tav>
                                        <p:tav tm="100000">
                                          <p:val>
                                            <p:fltVal val="0"/>
                                          </p:val>
                                        </p:tav>
                                      </p:tavLst>
                                    </p:anim>
                                    <p:animEffect transition="in" filter="fade">
                                      <p:cBhvr>
                                        <p:cTn id="132" dur="500"/>
                                        <p:tgtEl>
                                          <p:spTgt spid="33865"/>
                                        </p:tgtEl>
                                      </p:cBhvr>
                                    </p:animEffect>
                                  </p:childTnLst>
                                </p:cTn>
                              </p:par>
                              <p:par>
                                <p:cTn id="133" presetID="49" presetClass="entr" presetSubtype="0" decel="100000" fill="hold" nodeType="withEffect">
                                  <p:stCondLst>
                                    <p:cond delay="0"/>
                                  </p:stCondLst>
                                  <p:childTnLst>
                                    <p:set>
                                      <p:cBhvr>
                                        <p:cTn id="134" dur="1" fill="hold">
                                          <p:stCondLst>
                                            <p:cond delay="0"/>
                                          </p:stCondLst>
                                        </p:cTn>
                                        <p:tgtEl>
                                          <p:spTgt spid="33861"/>
                                        </p:tgtEl>
                                        <p:attrNameLst>
                                          <p:attrName>style.visibility</p:attrName>
                                        </p:attrNameLst>
                                      </p:cBhvr>
                                      <p:to>
                                        <p:strVal val="visible"/>
                                      </p:to>
                                    </p:set>
                                    <p:anim calcmode="lin" valueType="num">
                                      <p:cBhvr>
                                        <p:cTn id="135" dur="500" fill="hold"/>
                                        <p:tgtEl>
                                          <p:spTgt spid="33861"/>
                                        </p:tgtEl>
                                        <p:attrNameLst>
                                          <p:attrName>ppt_w</p:attrName>
                                        </p:attrNameLst>
                                      </p:cBhvr>
                                      <p:tavLst>
                                        <p:tav tm="0">
                                          <p:val>
                                            <p:fltVal val="0"/>
                                          </p:val>
                                        </p:tav>
                                        <p:tav tm="100000">
                                          <p:val>
                                            <p:strVal val="#ppt_w"/>
                                          </p:val>
                                        </p:tav>
                                      </p:tavLst>
                                    </p:anim>
                                    <p:anim calcmode="lin" valueType="num">
                                      <p:cBhvr>
                                        <p:cTn id="136" dur="500" fill="hold"/>
                                        <p:tgtEl>
                                          <p:spTgt spid="33861"/>
                                        </p:tgtEl>
                                        <p:attrNameLst>
                                          <p:attrName>ppt_h</p:attrName>
                                        </p:attrNameLst>
                                      </p:cBhvr>
                                      <p:tavLst>
                                        <p:tav tm="0">
                                          <p:val>
                                            <p:fltVal val="0"/>
                                          </p:val>
                                        </p:tav>
                                        <p:tav tm="100000">
                                          <p:val>
                                            <p:strVal val="#ppt_h"/>
                                          </p:val>
                                        </p:tav>
                                      </p:tavLst>
                                    </p:anim>
                                    <p:anim calcmode="lin" valueType="num">
                                      <p:cBhvr>
                                        <p:cTn id="137" dur="500" fill="hold"/>
                                        <p:tgtEl>
                                          <p:spTgt spid="33861"/>
                                        </p:tgtEl>
                                        <p:attrNameLst>
                                          <p:attrName>style.rotation</p:attrName>
                                        </p:attrNameLst>
                                      </p:cBhvr>
                                      <p:tavLst>
                                        <p:tav tm="0">
                                          <p:val>
                                            <p:fltVal val="360"/>
                                          </p:val>
                                        </p:tav>
                                        <p:tav tm="100000">
                                          <p:val>
                                            <p:fltVal val="0"/>
                                          </p:val>
                                        </p:tav>
                                      </p:tavLst>
                                    </p:anim>
                                    <p:animEffect transition="in" filter="fade">
                                      <p:cBhvr>
                                        <p:cTn id="138" dur="500"/>
                                        <p:tgtEl>
                                          <p:spTgt spid="33861"/>
                                        </p:tgtEl>
                                      </p:cBhvr>
                                    </p:animEffect>
                                  </p:childTnLst>
                                </p:cTn>
                              </p:par>
                              <p:par>
                                <p:cTn id="139" presetID="49" presetClass="entr" presetSubtype="0" decel="100000" fill="hold" nodeType="withEffect">
                                  <p:stCondLst>
                                    <p:cond delay="0"/>
                                  </p:stCondLst>
                                  <p:childTnLst>
                                    <p:set>
                                      <p:cBhvr>
                                        <p:cTn id="140" dur="1" fill="hold">
                                          <p:stCondLst>
                                            <p:cond delay="0"/>
                                          </p:stCondLst>
                                        </p:cTn>
                                        <p:tgtEl>
                                          <p:spTgt spid="33855"/>
                                        </p:tgtEl>
                                        <p:attrNameLst>
                                          <p:attrName>style.visibility</p:attrName>
                                        </p:attrNameLst>
                                      </p:cBhvr>
                                      <p:to>
                                        <p:strVal val="visible"/>
                                      </p:to>
                                    </p:set>
                                    <p:anim calcmode="lin" valueType="num">
                                      <p:cBhvr>
                                        <p:cTn id="141" dur="500" fill="hold"/>
                                        <p:tgtEl>
                                          <p:spTgt spid="33855"/>
                                        </p:tgtEl>
                                        <p:attrNameLst>
                                          <p:attrName>ppt_w</p:attrName>
                                        </p:attrNameLst>
                                      </p:cBhvr>
                                      <p:tavLst>
                                        <p:tav tm="0">
                                          <p:val>
                                            <p:fltVal val="0"/>
                                          </p:val>
                                        </p:tav>
                                        <p:tav tm="100000">
                                          <p:val>
                                            <p:strVal val="#ppt_w"/>
                                          </p:val>
                                        </p:tav>
                                      </p:tavLst>
                                    </p:anim>
                                    <p:anim calcmode="lin" valueType="num">
                                      <p:cBhvr>
                                        <p:cTn id="142" dur="500" fill="hold"/>
                                        <p:tgtEl>
                                          <p:spTgt spid="33855"/>
                                        </p:tgtEl>
                                        <p:attrNameLst>
                                          <p:attrName>ppt_h</p:attrName>
                                        </p:attrNameLst>
                                      </p:cBhvr>
                                      <p:tavLst>
                                        <p:tav tm="0">
                                          <p:val>
                                            <p:fltVal val="0"/>
                                          </p:val>
                                        </p:tav>
                                        <p:tav tm="100000">
                                          <p:val>
                                            <p:strVal val="#ppt_h"/>
                                          </p:val>
                                        </p:tav>
                                      </p:tavLst>
                                    </p:anim>
                                    <p:anim calcmode="lin" valueType="num">
                                      <p:cBhvr>
                                        <p:cTn id="143" dur="500" fill="hold"/>
                                        <p:tgtEl>
                                          <p:spTgt spid="33855"/>
                                        </p:tgtEl>
                                        <p:attrNameLst>
                                          <p:attrName>style.rotation</p:attrName>
                                        </p:attrNameLst>
                                      </p:cBhvr>
                                      <p:tavLst>
                                        <p:tav tm="0">
                                          <p:val>
                                            <p:fltVal val="360"/>
                                          </p:val>
                                        </p:tav>
                                        <p:tav tm="100000">
                                          <p:val>
                                            <p:fltVal val="0"/>
                                          </p:val>
                                        </p:tav>
                                      </p:tavLst>
                                    </p:anim>
                                    <p:animEffect transition="in" filter="fade">
                                      <p:cBhvr>
                                        <p:cTn id="144" dur="500"/>
                                        <p:tgtEl>
                                          <p:spTgt spid="338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44" grpId="0" autoUpdateAnimBg="0"/>
      <p:bldP spid="33846" grpId="0" autoUpdateAnimBg="0"/>
      <p:bldP spid="33848" grpId="0" autoUpdateAnimBg="0"/>
      <p:bldP spid="33851" grpId="0" autoUpdateAnimBg="0"/>
      <p:bldP spid="29"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C820DED-1351-4688-A678-AA382FBACF89}"/>
              </a:ext>
            </a:extLst>
          </p:cNvPr>
          <p:cNvSpPr>
            <a:spLocks noGrp="1"/>
          </p:cNvSpPr>
          <p:nvPr>
            <p:ph idx="1"/>
          </p:nvPr>
        </p:nvSpPr>
        <p:spPr>
          <a:xfrm>
            <a:off x="457200" y="908720"/>
            <a:ext cx="8229600" cy="5217443"/>
          </a:xfrm>
        </p:spPr>
        <p:txBody>
          <a:bodyPr>
            <a:normAutofit fontScale="92500" lnSpcReduction="10000"/>
          </a:bodyPr>
          <a:lstStyle/>
          <a:p>
            <a:pPr>
              <a:lnSpc>
                <a:spcPct val="150000"/>
              </a:lnSpc>
            </a:pPr>
            <a:r>
              <a:rPr lang="zh-CN" altLang="en-US" b="0" dirty="0">
                <a:latin typeface="微软雅黑" panose="020B0503020204020204" pitchFamily="34" charset="-122"/>
                <a:ea typeface="微软雅黑" panose="020B0503020204020204" pitchFamily="34" charset="-122"/>
              </a:rPr>
              <a:t>供求规律不需要背，通过下面归纳的画图分析方法就能得出结果</a:t>
            </a:r>
            <a:endParaRPr lang="en-US" altLang="zh-CN" b="0" dirty="0">
              <a:latin typeface="微软雅黑" panose="020B0503020204020204" pitchFamily="34" charset="-122"/>
              <a:ea typeface="微软雅黑" panose="020B0503020204020204" pitchFamily="34" charset="-122"/>
            </a:endParaRPr>
          </a:p>
          <a:p>
            <a:pPr>
              <a:lnSpc>
                <a:spcPct val="150000"/>
              </a:lnSpc>
            </a:pPr>
            <a:r>
              <a:rPr lang="zh-CN" altLang="en-US" b="0" dirty="0">
                <a:latin typeface="微软雅黑" panose="020B0503020204020204" pitchFamily="34" charset="-122"/>
                <a:ea typeface="微软雅黑" panose="020B0503020204020204" pitchFamily="34" charset="-122"/>
              </a:rPr>
              <a:t>即：分析均衡价格变动的三个步骤</a:t>
            </a:r>
          </a:p>
          <a:p>
            <a:pPr lvl="1">
              <a:lnSpc>
                <a:spcPct val="150000"/>
              </a:lnSpc>
            </a:pPr>
            <a:r>
              <a:rPr lang="zh-CN" altLang="en-US" dirty="0">
                <a:latin typeface="微软雅黑" panose="020B0503020204020204" pitchFamily="34" charset="-122"/>
                <a:ea typeface="微软雅黑" panose="020B0503020204020204" pitchFamily="34" charset="-122"/>
              </a:rPr>
              <a:t>第一步，确定该事件是使供给曲线移动还是使需求曲线移动（还是使两者都移动）</a:t>
            </a:r>
          </a:p>
          <a:p>
            <a:pPr lvl="1">
              <a:lnSpc>
                <a:spcPct val="150000"/>
              </a:lnSpc>
            </a:pPr>
            <a:r>
              <a:rPr lang="zh-CN" altLang="en-US" dirty="0">
                <a:latin typeface="微软雅黑" panose="020B0503020204020204" pitchFamily="34" charset="-122"/>
                <a:ea typeface="微软雅黑" panose="020B0503020204020204" pitchFamily="34" charset="-122"/>
              </a:rPr>
              <a:t>第二步，确定曲线移动的方向</a:t>
            </a:r>
          </a:p>
          <a:p>
            <a:pPr lvl="1">
              <a:lnSpc>
                <a:spcPct val="150000"/>
              </a:lnSpc>
            </a:pPr>
            <a:r>
              <a:rPr lang="zh-CN" altLang="en-US" dirty="0">
                <a:latin typeface="微软雅黑" panose="020B0503020204020204" pitchFamily="34" charset="-122"/>
                <a:ea typeface="微软雅黑" panose="020B0503020204020204" pitchFamily="34" charset="-122"/>
              </a:rPr>
              <a:t>第三步，用供求图说明这种移动如何改变均衡价格和均衡数量</a:t>
            </a:r>
            <a:endParaRPr lang="zh-CN" altLang="en-US" dirty="0"/>
          </a:p>
        </p:txBody>
      </p:sp>
    </p:spTree>
    <p:extLst>
      <p:ext uri="{BB962C8B-B14F-4D97-AF65-F5344CB8AC3E}">
        <p14:creationId xmlns:p14="http://schemas.microsoft.com/office/powerpoint/2010/main" val="19690044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body" idx="4294967295"/>
          </p:nvPr>
        </p:nvSpPr>
        <p:spPr>
          <a:xfrm>
            <a:off x="251520" y="2037490"/>
            <a:ext cx="8064896" cy="5587007"/>
          </a:xfrm>
        </p:spPr>
        <p:txBody>
          <a:bodyPr/>
          <a:lstStyle/>
          <a:p>
            <a:pPr marL="969963" lvl="1" indent="-457200" eaLnBrk="1" hangingPunct="1">
              <a:lnSpc>
                <a:spcPct val="200000"/>
              </a:lnSpc>
              <a:spcBef>
                <a:spcPct val="5000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模型是对现实世界的简化把无关精要的细节抽象掉“抓住主要矛盾和矛盾的主要方面”</a:t>
            </a:r>
          </a:p>
          <a:p>
            <a:pPr marL="969963" lvl="1" indent="-457200" eaLnBrk="1" hangingPunct="1">
              <a:lnSpc>
                <a:spcPct val="200000"/>
              </a:lnSpc>
              <a:spcBef>
                <a:spcPct val="5000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简化到什么程度，取决于研究者的需要</a:t>
            </a:r>
          </a:p>
          <a:p>
            <a:pPr marL="969963" lvl="1" indent="-457200" eaLnBrk="1" hangingPunct="1">
              <a:lnSpc>
                <a:spcPct val="200000"/>
              </a:lnSpc>
              <a:spcBef>
                <a:spcPct val="5000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模型可以是文字的，是图像的，是公式的</a:t>
            </a:r>
          </a:p>
          <a:p>
            <a:pPr marL="969963" lvl="1" indent="-457200" eaLnBrk="1" hangingPunct="1">
              <a:lnSpc>
                <a:spcPct val="200000"/>
              </a:lnSpc>
              <a:spcBef>
                <a:spcPct val="5000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模型≠数学模型；数学模型⊂模型</a:t>
            </a:r>
          </a:p>
          <a:p>
            <a:pPr marL="969963" lvl="1" indent="-457200" eaLnBrk="1" hangingPunct="1">
              <a:lnSpc>
                <a:spcPct val="200000"/>
              </a:lnSpc>
              <a:spcBef>
                <a:spcPct val="5000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至少在经济学中，数学模型是最常用的，也是最“有效率的”</a:t>
            </a: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323838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四、经济模型的结构 </a:t>
            </a:r>
          </a:p>
        </p:txBody>
      </p:sp>
      <p:sp>
        <p:nvSpPr>
          <p:cNvPr id="6" name="矩形 5">
            <a:extLst>
              <a:ext uri="{FF2B5EF4-FFF2-40B4-BE49-F238E27FC236}">
                <a16:creationId xmlns:a16="http://schemas.microsoft.com/office/drawing/2014/main" id="{99A861F3-1BF5-4FA4-A7CE-A93F6E99B7C4}"/>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p:sp>
        <p:nvSpPr>
          <p:cNvPr id="8" name="矩形: 圆角 7">
            <a:extLst>
              <a:ext uri="{FF2B5EF4-FFF2-40B4-BE49-F238E27FC236}">
                <a16:creationId xmlns:a16="http://schemas.microsoft.com/office/drawing/2014/main" id="{52A34BB9-AF98-4059-90BF-08F2547F3DF6}"/>
              </a:ext>
            </a:extLst>
          </p:cNvPr>
          <p:cNvSpPr/>
          <p:nvPr/>
        </p:nvSpPr>
        <p:spPr>
          <a:xfrm>
            <a:off x="482193" y="1306274"/>
            <a:ext cx="2735547" cy="572634"/>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E0BBC2B7-47B9-498D-888C-C8A48BCF43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45087" y="971775"/>
            <a:ext cx="1065715" cy="1065715"/>
          </a:xfrm>
          <a:prstGeom prst="rect">
            <a:avLst/>
          </a:prstGeom>
        </p:spPr>
      </p:pic>
      <p:sp>
        <p:nvSpPr>
          <p:cNvPr id="10" name="矩形 9">
            <a:extLst>
              <a:ext uri="{FF2B5EF4-FFF2-40B4-BE49-F238E27FC236}">
                <a16:creationId xmlns:a16="http://schemas.microsoft.com/office/drawing/2014/main" id="{E092BF94-217F-4009-98A5-48A413422F21}"/>
              </a:ext>
            </a:extLst>
          </p:cNvPr>
          <p:cNvSpPr/>
          <p:nvPr/>
        </p:nvSpPr>
        <p:spPr>
          <a:xfrm>
            <a:off x="693298" y="1306274"/>
            <a:ext cx="1851789" cy="499624"/>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什么是模型</a:t>
            </a:r>
          </a:p>
        </p:txBody>
      </p:sp>
    </p:spTree>
    <p:extLst>
      <p:ext uri="{BB962C8B-B14F-4D97-AF65-F5344CB8AC3E}">
        <p14:creationId xmlns:p14="http://schemas.microsoft.com/office/powerpoint/2010/main" val="2412040059"/>
      </p:ext>
    </p:extLst>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par>
                                <p:cTn id="13" presetID="53" presetClass="entr" presetSubtype="16"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500" fill="hold"/>
                                        <p:tgtEl>
                                          <p:spTgt spid="9"/>
                                        </p:tgtEl>
                                        <p:attrNameLst>
                                          <p:attrName>ppt_w</p:attrName>
                                        </p:attrNameLst>
                                      </p:cBhvr>
                                      <p:tavLst>
                                        <p:tav tm="0">
                                          <p:val>
                                            <p:fltVal val="0"/>
                                          </p:val>
                                        </p:tav>
                                        <p:tav tm="100000">
                                          <p:val>
                                            <p:strVal val="#ppt_w"/>
                                          </p:val>
                                        </p:tav>
                                      </p:tavLst>
                                    </p:anim>
                                    <p:anim calcmode="lin" valueType="num">
                                      <p:cBhvr>
                                        <p:cTn id="16" dur="500" fill="hold"/>
                                        <p:tgtEl>
                                          <p:spTgt spid="9"/>
                                        </p:tgtEl>
                                        <p:attrNameLst>
                                          <p:attrName>ppt_h</p:attrName>
                                        </p:attrNameLst>
                                      </p:cBhvr>
                                      <p:tavLst>
                                        <p:tav tm="0">
                                          <p:val>
                                            <p:fltVal val="0"/>
                                          </p:val>
                                        </p:tav>
                                        <p:tav tm="100000">
                                          <p:val>
                                            <p:strVal val="#ppt_h"/>
                                          </p:val>
                                        </p:tav>
                                      </p:tavLst>
                                    </p:anim>
                                    <p:animEffect transition="in" filter="fade">
                                      <p:cBhvr>
                                        <p:cTn id="17" dur="500"/>
                                        <p:tgtEl>
                                          <p:spTgt spid="9"/>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nodeType="clickEffect">
                                  <p:stCondLst>
                                    <p:cond delay="0"/>
                                  </p:stCondLst>
                                  <p:childTnLst>
                                    <p:set>
                                      <p:cBhvr>
                                        <p:cTn id="25" dur="1" fill="hold">
                                          <p:stCondLst>
                                            <p:cond delay="0"/>
                                          </p:stCondLst>
                                        </p:cTn>
                                        <p:tgtEl>
                                          <p:spTgt spid="29698">
                                            <p:txEl>
                                              <p:pRg st="0" end="0"/>
                                            </p:txEl>
                                          </p:spTgt>
                                        </p:tgtEl>
                                        <p:attrNameLst>
                                          <p:attrName>style.visibility</p:attrName>
                                        </p:attrNameLst>
                                      </p:cBhvr>
                                      <p:to>
                                        <p:strVal val="visible"/>
                                      </p:to>
                                    </p:set>
                                    <p:animEffect transition="in" filter="strips(downRight)">
                                      <p:cBhvr>
                                        <p:cTn id="26" dur="500"/>
                                        <p:tgtEl>
                                          <p:spTgt spid="29698">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nodeType="clickEffect">
                                  <p:stCondLst>
                                    <p:cond delay="0"/>
                                  </p:stCondLst>
                                  <p:childTnLst>
                                    <p:set>
                                      <p:cBhvr>
                                        <p:cTn id="30" dur="1" fill="hold">
                                          <p:stCondLst>
                                            <p:cond delay="0"/>
                                          </p:stCondLst>
                                        </p:cTn>
                                        <p:tgtEl>
                                          <p:spTgt spid="29698">
                                            <p:txEl>
                                              <p:pRg st="1" end="1"/>
                                            </p:txEl>
                                          </p:spTgt>
                                        </p:tgtEl>
                                        <p:attrNameLst>
                                          <p:attrName>style.visibility</p:attrName>
                                        </p:attrNameLst>
                                      </p:cBhvr>
                                      <p:to>
                                        <p:strVal val="visible"/>
                                      </p:to>
                                    </p:set>
                                    <p:animEffect transition="in" filter="strips(downRight)">
                                      <p:cBhvr>
                                        <p:cTn id="31" dur="500"/>
                                        <p:tgtEl>
                                          <p:spTgt spid="29698">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6" fill="hold" nodeType="clickEffect">
                                  <p:stCondLst>
                                    <p:cond delay="0"/>
                                  </p:stCondLst>
                                  <p:childTnLst>
                                    <p:set>
                                      <p:cBhvr>
                                        <p:cTn id="35" dur="1" fill="hold">
                                          <p:stCondLst>
                                            <p:cond delay="0"/>
                                          </p:stCondLst>
                                        </p:cTn>
                                        <p:tgtEl>
                                          <p:spTgt spid="29698">
                                            <p:txEl>
                                              <p:pRg st="2" end="2"/>
                                            </p:txEl>
                                          </p:spTgt>
                                        </p:tgtEl>
                                        <p:attrNameLst>
                                          <p:attrName>style.visibility</p:attrName>
                                        </p:attrNameLst>
                                      </p:cBhvr>
                                      <p:to>
                                        <p:strVal val="visible"/>
                                      </p:to>
                                    </p:set>
                                    <p:animEffect transition="in" filter="strips(downRight)">
                                      <p:cBhvr>
                                        <p:cTn id="36" dur="500"/>
                                        <p:tgtEl>
                                          <p:spTgt spid="29698">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8" presetClass="entr" presetSubtype="6" fill="hold" nodeType="clickEffect">
                                  <p:stCondLst>
                                    <p:cond delay="0"/>
                                  </p:stCondLst>
                                  <p:childTnLst>
                                    <p:set>
                                      <p:cBhvr>
                                        <p:cTn id="40" dur="1" fill="hold">
                                          <p:stCondLst>
                                            <p:cond delay="0"/>
                                          </p:stCondLst>
                                        </p:cTn>
                                        <p:tgtEl>
                                          <p:spTgt spid="29698">
                                            <p:txEl>
                                              <p:pRg st="3" end="3"/>
                                            </p:txEl>
                                          </p:spTgt>
                                        </p:tgtEl>
                                        <p:attrNameLst>
                                          <p:attrName>style.visibility</p:attrName>
                                        </p:attrNameLst>
                                      </p:cBhvr>
                                      <p:to>
                                        <p:strVal val="visible"/>
                                      </p:to>
                                    </p:set>
                                    <p:animEffect transition="in" filter="strips(downRight)">
                                      <p:cBhvr>
                                        <p:cTn id="41" dur="500"/>
                                        <p:tgtEl>
                                          <p:spTgt spid="29698">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8" presetClass="entr" presetSubtype="6" fill="hold" nodeType="clickEffect">
                                  <p:stCondLst>
                                    <p:cond delay="0"/>
                                  </p:stCondLst>
                                  <p:childTnLst>
                                    <p:set>
                                      <p:cBhvr>
                                        <p:cTn id="45" dur="1" fill="hold">
                                          <p:stCondLst>
                                            <p:cond delay="0"/>
                                          </p:stCondLst>
                                        </p:cTn>
                                        <p:tgtEl>
                                          <p:spTgt spid="29698">
                                            <p:txEl>
                                              <p:pRg st="4" end="4"/>
                                            </p:txEl>
                                          </p:spTgt>
                                        </p:tgtEl>
                                        <p:attrNameLst>
                                          <p:attrName>style.visibility</p:attrName>
                                        </p:attrNameLst>
                                      </p:cBhvr>
                                      <p:to>
                                        <p:strVal val="visible"/>
                                      </p:to>
                                    </p:set>
                                    <p:animEffect transition="in" filter="strips(downRight)">
                                      <p:cBhvr>
                                        <p:cTn id="46" dur="500"/>
                                        <p:tgtEl>
                                          <p:spTgt spid="2969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body" idx="4294967295"/>
          </p:nvPr>
        </p:nvSpPr>
        <p:spPr>
          <a:xfrm>
            <a:off x="251520" y="2098937"/>
            <a:ext cx="8892480" cy="3181636"/>
          </a:xfrm>
        </p:spPr>
        <p:txBody>
          <a:bodyPr/>
          <a:lstStyle/>
          <a:p>
            <a:pPr marL="969963" lvl="1" indent="-457200" eaLnBrk="1" hangingPunct="1">
              <a:lnSpc>
                <a:spcPct val="150000"/>
              </a:lnSpc>
              <a:spcBef>
                <a:spcPct val="5000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一部电影就是一个模型：电影 </a:t>
            </a:r>
            <a:r>
              <a:rPr lang="en-US" altLang="zh-CN" sz="1800" dirty="0">
                <a:latin typeface="微软雅黑" panose="020B0503020204020204" pitchFamily="34" charset="-122"/>
                <a:ea typeface="微软雅黑" panose="020B0503020204020204" pitchFamily="34" charset="-122"/>
              </a:rPr>
              <a:t>VS </a:t>
            </a:r>
            <a:r>
              <a:rPr lang="zh-CN" altLang="en-US" sz="1800" dirty="0">
                <a:latin typeface="微软雅黑" panose="020B0503020204020204" pitchFamily="34" charset="-122"/>
                <a:ea typeface="微软雅黑" panose="020B0503020204020204" pitchFamily="34" charset="-122"/>
              </a:rPr>
              <a:t>现实</a:t>
            </a:r>
          </a:p>
          <a:p>
            <a:pPr marL="969963" lvl="1" indent="-457200" eaLnBrk="1" hangingPunct="1">
              <a:lnSpc>
                <a:spcPct val="150000"/>
              </a:lnSpc>
              <a:spcBef>
                <a:spcPct val="5000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不同比例的地图就是不同复杂程度的模型：地图 </a:t>
            </a:r>
            <a:r>
              <a:rPr lang="en-US" altLang="zh-CN" sz="1800" dirty="0">
                <a:latin typeface="微软雅黑" panose="020B0503020204020204" pitchFamily="34" charset="-122"/>
                <a:ea typeface="微软雅黑" panose="020B0503020204020204" pitchFamily="34" charset="-122"/>
              </a:rPr>
              <a:t>VS </a:t>
            </a:r>
            <a:r>
              <a:rPr lang="zh-CN" altLang="en-US" sz="1800" dirty="0">
                <a:latin typeface="微软雅黑" panose="020B0503020204020204" pitchFamily="34" charset="-122"/>
                <a:ea typeface="微软雅黑" panose="020B0503020204020204" pitchFamily="34" charset="-122"/>
              </a:rPr>
              <a:t>高清晰度卫星地图</a:t>
            </a:r>
          </a:p>
          <a:p>
            <a:pPr marL="969963" lvl="1" indent="-457200" eaLnBrk="1" hangingPunct="1">
              <a:lnSpc>
                <a:spcPct val="300000"/>
              </a:lnSpc>
              <a:spcBef>
                <a:spcPct val="50000"/>
              </a:spcBef>
              <a:buFont typeface="Wingdings" panose="05000000000000000000" pitchFamily="2" charset="2"/>
              <a:buChar char="Ø"/>
            </a:pPr>
            <a:endParaRPr lang="en-US" altLang="zh-CN" sz="1800" dirty="0">
              <a:latin typeface="微软雅黑" panose="020B0503020204020204" pitchFamily="34" charset="-122"/>
              <a:ea typeface="微软雅黑" panose="020B0503020204020204" pitchFamily="34" charset="-122"/>
            </a:endParaRPr>
          </a:p>
          <a:p>
            <a:pPr marL="969963" lvl="1" indent="-457200" eaLnBrk="1" hangingPunct="1">
              <a:lnSpc>
                <a:spcPct val="300000"/>
              </a:lnSpc>
              <a:spcBef>
                <a:spcPct val="50000"/>
              </a:spcBef>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卡通画就是一个模型：卡通画 </a:t>
            </a:r>
            <a:r>
              <a:rPr lang="en-US" altLang="zh-CN" sz="1800" dirty="0">
                <a:latin typeface="微软雅黑" panose="020B0503020204020204" pitchFamily="34" charset="-122"/>
                <a:ea typeface="微软雅黑" panose="020B0503020204020204" pitchFamily="34" charset="-122"/>
              </a:rPr>
              <a:t>VS </a:t>
            </a:r>
            <a:r>
              <a:rPr lang="zh-CN" altLang="en-US" sz="1800" dirty="0">
                <a:latin typeface="微软雅黑" panose="020B0503020204020204" pitchFamily="34" charset="-122"/>
                <a:ea typeface="微软雅黑" panose="020B0503020204020204" pitchFamily="34" charset="-122"/>
              </a:rPr>
              <a:t>写实素描（照片）</a:t>
            </a:r>
          </a:p>
          <a:p>
            <a:pPr marL="969963" lvl="1" indent="-457200" eaLnBrk="1" hangingPunct="1">
              <a:lnSpc>
                <a:spcPct val="250000"/>
              </a:lnSpc>
              <a:spcBef>
                <a:spcPct val="50000"/>
              </a:spcBef>
              <a:buFont typeface="Wingdings" panose="05000000000000000000" pitchFamily="2" charset="2"/>
              <a:buChar char="Ø"/>
            </a:pPr>
            <a:endParaRPr lang="zh-CN" altLang="en-US" sz="18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F68E5273-CD77-47B9-B841-9D29349C133D}"/>
              </a:ext>
            </a:extLst>
          </p:cNvPr>
          <p:cNvSpPr/>
          <p:nvPr/>
        </p:nvSpPr>
        <p:spPr>
          <a:xfrm>
            <a:off x="467544" y="548680"/>
            <a:ext cx="323838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四、经济模型的结构 </a:t>
            </a:r>
          </a:p>
        </p:txBody>
      </p:sp>
      <p:sp>
        <p:nvSpPr>
          <p:cNvPr id="6" name="矩形 5">
            <a:extLst>
              <a:ext uri="{FF2B5EF4-FFF2-40B4-BE49-F238E27FC236}">
                <a16:creationId xmlns:a16="http://schemas.microsoft.com/office/drawing/2014/main" id="{99A861F3-1BF5-4FA4-A7CE-A93F6E99B7C4}"/>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p:sp>
        <p:nvSpPr>
          <p:cNvPr id="8" name="矩形: 圆角 7">
            <a:extLst>
              <a:ext uri="{FF2B5EF4-FFF2-40B4-BE49-F238E27FC236}">
                <a16:creationId xmlns:a16="http://schemas.microsoft.com/office/drawing/2014/main" id="{52A34BB9-AF98-4059-90BF-08F2547F3DF6}"/>
              </a:ext>
            </a:extLst>
          </p:cNvPr>
          <p:cNvSpPr/>
          <p:nvPr/>
        </p:nvSpPr>
        <p:spPr>
          <a:xfrm>
            <a:off x="482193" y="1340903"/>
            <a:ext cx="3024092" cy="572634"/>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E0BBC2B7-47B9-498D-888C-C8A48BCF43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66089" y="990380"/>
            <a:ext cx="1065715" cy="1065715"/>
          </a:xfrm>
          <a:prstGeom prst="rect">
            <a:avLst/>
          </a:prstGeom>
        </p:spPr>
      </p:pic>
      <p:sp>
        <p:nvSpPr>
          <p:cNvPr id="10" name="矩形 9">
            <a:extLst>
              <a:ext uri="{FF2B5EF4-FFF2-40B4-BE49-F238E27FC236}">
                <a16:creationId xmlns:a16="http://schemas.microsoft.com/office/drawing/2014/main" id="{E092BF94-217F-4009-98A5-48A413422F21}"/>
              </a:ext>
            </a:extLst>
          </p:cNvPr>
          <p:cNvSpPr/>
          <p:nvPr/>
        </p:nvSpPr>
        <p:spPr>
          <a:xfrm>
            <a:off x="611560" y="1322054"/>
            <a:ext cx="2403222" cy="499624"/>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使用模型的例子</a:t>
            </a:r>
          </a:p>
        </p:txBody>
      </p:sp>
      <p:pic>
        <p:nvPicPr>
          <p:cNvPr id="14" name="图片 13">
            <a:extLst>
              <a:ext uri="{FF2B5EF4-FFF2-40B4-BE49-F238E27FC236}">
                <a16:creationId xmlns:a16="http://schemas.microsoft.com/office/drawing/2014/main" id="{F8B7B32E-50A3-421A-BF44-16655CB7BB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448" y="4969094"/>
            <a:ext cx="1498661" cy="1353406"/>
          </a:xfrm>
          <a:prstGeom prst="rect">
            <a:avLst/>
          </a:prstGeom>
        </p:spPr>
      </p:pic>
      <p:pic>
        <p:nvPicPr>
          <p:cNvPr id="16" name="图片 15">
            <a:extLst>
              <a:ext uri="{FF2B5EF4-FFF2-40B4-BE49-F238E27FC236}">
                <a16:creationId xmlns:a16="http://schemas.microsoft.com/office/drawing/2014/main" id="{FA20C062-49A6-441E-90ED-3575FCC93D3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88894" y="5101501"/>
            <a:ext cx="1038750" cy="1088592"/>
          </a:xfrm>
          <a:prstGeom prst="rect">
            <a:avLst/>
          </a:prstGeom>
        </p:spPr>
      </p:pic>
      <p:sp>
        <p:nvSpPr>
          <p:cNvPr id="17" name="文本框 16">
            <a:extLst>
              <a:ext uri="{FF2B5EF4-FFF2-40B4-BE49-F238E27FC236}">
                <a16:creationId xmlns:a16="http://schemas.microsoft.com/office/drawing/2014/main" id="{5E62AE79-5E6E-4F3A-AF55-16D27C8D10D6}"/>
              </a:ext>
            </a:extLst>
          </p:cNvPr>
          <p:cNvSpPr txBox="1"/>
          <p:nvPr/>
        </p:nvSpPr>
        <p:spPr>
          <a:xfrm>
            <a:off x="4572000" y="3689755"/>
            <a:ext cx="522312"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VS</a:t>
            </a:r>
            <a:endParaRPr lang="zh-CN" altLang="en-US" dirty="0">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D45ECCD9-F41E-4365-9FD9-1DE130726301}"/>
              </a:ext>
            </a:extLst>
          </p:cNvPr>
          <p:cNvSpPr txBox="1"/>
          <p:nvPr/>
        </p:nvSpPr>
        <p:spPr>
          <a:xfrm>
            <a:off x="4518354" y="5582822"/>
            <a:ext cx="522312"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VS</a:t>
            </a:r>
            <a:endParaRPr lang="zh-CN" altLang="en-US"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5"/>
          <a:stretch>
            <a:fillRect/>
          </a:stretch>
        </p:blipFill>
        <p:spPr>
          <a:xfrm>
            <a:off x="2207585" y="3099569"/>
            <a:ext cx="1820059" cy="1475785"/>
          </a:xfrm>
          <a:prstGeom prst="rect">
            <a:avLst/>
          </a:prstGeom>
        </p:spPr>
      </p:pic>
      <p:pic>
        <p:nvPicPr>
          <p:cNvPr id="4" name="图片 3"/>
          <p:cNvPicPr>
            <a:picLocks noChangeAspect="1"/>
          </p:cNvPicPr>
          <p:nvPr/>
        </p:nvPicPr>
        <p:blipFill>
          <a:blip r:embed="rId6"/>
          <a:stretch>
            <a:fillRect/>
          </a:stretch>
        </p:blipFill>
        <p:spPr>
          <a:xfrm>
            <a:off x="5544687" y="3034834"/>
            <a:ext cx="2053851" cy="1590818"/>
          </a:xfrm>
          <a:prstGeom prst="rect">
            <a:avLst/>
          </a:prstGeom>
        </p:spPr>
      </p:pic>
    </p:spTree>
    <p:extLst>
      <p:ext uri="{BB962C8B-B14F-4D97-AF65-F5344CB8AC3E}">
        <p14:creationId xmlns:p14="http://schemas.microsoft.com/office/powerpoint/2010/main" val="540058078"/>
      </p:ext>
    </p:extLst>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par>
                                <p:cTn id="8" presetID="53" presetClass="entr" presetSubtype="16"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 calcmode="lin" valueType="num">
                                      <p:cBhvr>
                                        <p:cTn id="10" dur="500" fill="hold"/>
                                        <p:tgtEl>
                                          <p:spTgt spid="9"/>
                                        </p:tgtEl>
                                        <p:attrNameLst>
                                          <p:attrName>ppt_w</p:attrName>
                                        </p:attrNameLst>
                                      </p:cBhvr>
                                      <p:tavLst>
                                        <p:tav tm="0">
                                          <p:val>
                                            <p:fltVal val="0"/>
                                          </p:val>
                                        </p:tav>
                                        <p:tav tm="100000">
                                          <p:val>
                                            <p:strVal val="#ppt_w"/>
                                          </p:val>
                                        </p:tav>
                                      </p:tavLst>
                                    </p:anim>
                                    <p:anim calcmode="lin" valueType="num">
                                      <p:cBhvr>
                                        <p:cTn id="11" dur="500" fill="hold"/>
                                        <p:tgtEl>
                                          <p:spTgt spid="9"/>
                                        </p:tgtEl>
                                        <p:attrNameLst>
                                          <p:attrName>ppt_h</p:attrName>
                                        </p:attrNameLst>
                                      </p:cBhvr>
                                      <p:tavLst>
                                        <p:tav tm="0">
                                          <p:val>
                                            <p:fltVal val="0"/>
                                          </p:val>
                                        </p:tav>
                                        <p:tav tm="100000">
                                          <p:val>
                                            <p:strVal val="#ppt_h"/>
                                          </p:val>
                                        </p:tav>
                                      </p:tavLst>
                                    </p:anim>
                                    <p:animEffect transition="in" filter="fade">
                                      <p:cBhvr>
                                        <p:cTn id="12" dur="500"/>
                                        <p:tgtEl>
                                          <p:spTgt spid="9"/>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nodeType="clickEffect">
                                  <p:stCondLst>
                                    <p:cond delay="0"/>
                                  </p:stCondLst>
                                  <p:childTnLst>
                                    <p:set>
                                      <p:cBhvr>
                                        <p:cTn id="20" dur="1" fill="hold">
                                          <p:stCondLst>
                                            <p:cond delay="0"/>
                                          </p:stCondLst>
                                        </p:cTn>
                                        <p:tgtEl>
                                          <p:spTgt spid="29698">
                                            <p:txEl>
                                              <p:pRg st="0" end="0"/>
                                            </p:txEl>
                                          </p:spTgt>
                                        </p:tgtEl>
                                        <p:attrNameLst>
                                          <p:attrName>style.visibility</p:attrName>
                                        </p:attrNameLst>
                                      </p:cBhvr>
                                      <p:to>
                                        <p:strVal val="visible"/>
                                      </p:to>
                                    </p:set>
                                    <p:animEffect transition="in" filter="strips(downRight)">
                                      <p:cBhvr>
                                        <p:cTn id="21" dur="500"/>
                                        <p:tgtEl>
                                          <p:spTgt spid="29698">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nodeType="clickEffect">
                                  <p:stCondLst>
                                    <p:cond delay="0"/>
                                  </p:stCondLst>
                                  <p:childTnLst>
                                    <p:set>
                                      <p:cBhvr>
                                        <p:cTn id="25" dur="1" fill="hold">
                                          <p:stCondLst>
                                            <p:cond delay="0"/>
                                          </p:stCondLst>
                                        </p:cTn>
                                        <p:tgtEl>
                                          <p:spTgt spid="29698">
                                            <p:txEl>
                                              <p:pRg st="1" end="1"/>
                                            </p:txEl>
                                          </p:spTgt>
                                        </p:tgtEl>
                                        <p:attrNameLst>
                                          <p:attrName>style.visibility</p:attrName>
                                        </p:attrNameLst>
                                      </p:cBhvr>
                                      <p:to>
                                        <p:strVal val="visible"/>
                                      </p:to>
                                    </p:set>
                                    <p:animEffect transition="in" filter="strips(downRight)">
                                      <p:cBhvr>
                                        <p:cTn id="26" dur="500"/>
                                        <p:tgtEl>
                                          <p:spTgt spid="29698">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randombar(horizontal)">
                                      <p:cBhvr>
                                        <p:cTn id="31"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6" fill="hold" nodeType="clickEffect">
                                  <p:stCondLst>
                                    <p:cond delay="0"/>
                                  </p:stCondLst>
                                  <p:childTnLst>
                                    <p:set>
                                      <p:cBhvr>
                                        <p:cTn id="35" dur="1" fill="hold">
                                          <p:stCondLst>
                                            <p:cond delay="0"/>
                                          </p:stCondLst>
                                        </p:cTn>
                                        <p:tgtEl>
                                          <p:spTgt spid="29698">
                                            <p:txEl>
                                              <p:pRg st="3" end="3"/>
                                            </p:txEl>
                                          </p:spTgt>
                                        </p:tgtEl>
                                        <p:attrNameLst>
                                          <p:attrName>style.visibility</p:attrName>
                                        </p:attrNameLst>
                                      </p:cBhvr>
                                      <p:to>
                                        <p:strVal val="visible"/>
                                      </p:to>
                                    </p:set>
                                    <p:animEffect transition="in" filter="strips(downRight)">
                                      <p:cBhvr>
                                        <p:cTn id="36" dur="500"/>
                                        <p:tgtEl>
                                          <p:spTgt spid="29698">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randombar(horizontal)">
                                      <p:cBhvr>
                                        <p:cTn id="41"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500" fill="hold"/>
                                        <p:tgtEl>
                                          <p:spTgt spid="16"/>
                                        </p:tgtEl>
                                        <p:attrNameLst>
                                          <p:attrName>ppt_x</p:attrName>
                                        </p:attrNameLst>
                                      </p:cBhvr>
                                      <p:tavLst>
                                        <p:tav tm="0">
                                          <p:val>
                                            <p:strVal val="#ppt_x"/>
                                          </p:val>
                                        </p:tav>
                                        <p:tav tm="100000">
                                          <p:val>
                                            <p:strVal val="#ppt_x"/>
                                          </p:val>
                                        </p:tav>
                                      </p:tavLst>
                                    </p:anim>
                                    <p:anim calcmode="lin" valueType="num">
                                      <p:cBhvr additive="base">
                                        <p:cTn id="47" dur="500" fill="hold"/>
                                        <p:tgtEl>
                                          <p:spTgt spid="16"/>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ppt_x"/>
                                          </p:val>
                                        </p:tav>
                                        <p:tav tm="100000">
                                          <p:val>
                                            <p:strVal val="#ppt_x"/>
                                          </p:val>
                                        </p:tav>
                                      </p:tavLst>
                                    </p:anim>
                                    <p:anim calcmode="lin" valueType="num">
                                      <p:cBhvr additive="base">
                                        <p:cTn id="5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P spid="17" grpId="0"/>
      <p:bldP spid="19"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Grp="1" noChangeArrowheads="1"/>
          </p:cNvSpPr>
          <p:nvPr>
            <p:ph type="body" idx="4294967295"/>
          </p:nvPr>
        </p:nvSpPr>
        <p:spPr>
          <a:xfrm>
            <a:off x="496392" y="1034504"/>
            <a:ext cx="8108056" cy="5202807"/>
          </a:xfrm>
        </p:spPr>
        <p:txBody>
          <a:bodyPr/>
          <a:lstStyle/>
          <a:p>
            <a:pPr marL="342900" lvl="2" indent="-342900" eaLnBrk="1" hangingPunct="1">
              <a:lnSpc>
                <a:spcPct val="150000"/>
              </a:lnSpc>
              <a:spcBef>
                <a:spcPct val="0"/>
              </a:spcBef>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经济学的模型（数学模型</a:t>
            </a:r>
            <a:r>
              <a:rPr lang="zh-CN" altLang="en-US"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lvl="1" eaLnBrk="1" hangingPunct="1">
              <a:lnSpc>
                <a:spcPct val="200000"/>
              </a:lnSpc>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一般由三组方程组成：</a:t>
            </a:r>
            <a:r>
              <a:rPr lang="zh-CN" altLang="en-US" sz="1800" dirty="0">
                <a:solidFill>
                  <a:srgbClr val="BB1528"/>
                </a:solidFill>
                <a:latin typeface="微软雅黑" panose="020B0503020204020204" pitchFamily="34" charset="-122"/>
                <a:ea typeface="微软雅黑" panose="020B0503020204020204" pitchFamily="34" charset="-122"/>
              </a:rPr>
              <a:t>定义方程、行为方程</a:t>
            </a:r>
            <a:r>
              <a:rPr lang="zh-CN" altLang="en-US" sz="1800" dirty="0">
                <a:latin typeface="微软雅黑" panose="020B0503020204020204" pitchFamily="34" charset="-122"/>
                <a:ea typeface="微软雅黑" panose="020B0503020204020204" pitchFamily="34" charset="-122"/>
              </a:rPr>
              <a:t>（定义式）、</a:t>
            </a:r>
            <a:r>
              <a:rPr lang="zh-CN" altLang="en-US" sz="1800" dirty="0">
                <a:solidFill>
                  <a:srgbClr val="BB1528"/>
                </a:solidFill>
                <a:latin typeface="微软雅黑" panose="020B0503020204020204" pitchFamily="34" charset="-122"/>
                <a:ea typeface="微软雅黑" panose="020B0503020204020204" pitchFamily="34" charset="-122"/>
              </a:rPr>
              <a:t>条件方程</a:t>
            </a:r>
            <a:r>
              <a:rPr lang="zh-CN" altLang="en-US" sz="1800" dirty="0">
                <a:latin typeface="微软雅黑" panose="020B0503020204020204" pitchFamily="34" charset="-122"/>
                <a:ea typeface="微软雅黑" panose="020B0503020204020204" pitchFamily="34" charset="-122"/>
              </a:rPr>
              <a:t>（均衡方程）</a:t>
            </a:r>
            <a:endParaRPr lang="en-US" altLang="zh-CN" sz="1800" dirty="0">
              <a:latin typeface="微软雅黑" panose="020B0503020204020204" pitchFamily="34" charset="-122"/>
              <a:ea typeface="微软雅黑" panose="020B0503020204020204" pitchFamily="34" charset="-122"/>
            </a:endParaRPr>
          </a:p>
          <a:p>
            <a:pPr lvl="1" eaLnBrk="1" hangingPunct="1">
              <a:lnSpc>
                <a:spcPct val="200000"/>
              </a:lnSpc>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方程里包括外生变量和内生变量</a:t>
            </a:r>
            <a:endParaRPr lang="en-US" altLang="zh-CN" sz="1800" dirty="0">
              <a:latin typeface="微软雅黑" panose="020B0503020204020204" pitchFamily="34" charset="-122"/>
              <a:ea typeface="微软雅黑" panose="020B0503020204020204" pitchFamily="34" charset="-122"/>
            </a:endParaRPr>
          </a:p>
          <a:p>
            <a:pPr lvl="1" eaLnBrk="1" hangingPunct="1">
              <a:lnSpc>
                <a:spcPct val="200000"/>
              </a:lnSpc>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经济学的理论就是对方程求解的过程</a:t>
            </a:r>
            <a:endParaRPr lang="en-US" altLang="zh-CN" sz="1800" dirty="0">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Ø"/>
            </a:pPr>
            <a:endParaRPr lang="zh-CN" altLang="en-US" sz="1800" dirty="0">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Ø"/>
            </a:pPr>
            <a:endParaRPr lang="zh-CN" altLang="en-US" sz="1800" dirty="0">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Ø"/>
            </a:pPr>
            <a:endParaRPr lang="en-US" altLang="zh-CN" sz="1800" dirty="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08DD7961-2C27-4AB0-930B-A331758CD981}"/>
              </a:ext>
            </a:extLst>
          </p:cNvPr>
          <p:cNvSpPr/>
          <p:nvPr/>
        </p:nvSpPr>
        <p:spPr>
          <a:xfrm>
            <a:off x="467544" y="548680"/>
            <a:ext cx="323838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四、经济模型的结构 </a:t>
            </a:r>
          </a:p>
        </p:txBody>
      </p:sp>
      <p:sp>
        <p:nvSpPr>
          <p:cNvPr id="9" name="矩形 8">
            <a:extLst>
              <a:ext uri="{FF2B5EF4-FFF2-40B4-BE49-F238E27FC236}">
                <a16:creationId xmlns:a16="http://schemas.microsoft.com/office/drawing/2014/main" id="{35F1EDBB-F56B-4852-903A-B36A62272AAE}"/>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p:spTree>
    <p:extLst>
      <p:ext uri="{BB962C8B-B14F-4D97-AF65-F5344CB8AC3E}">
        <p14:creationId xmlns:p14="http://schemas.microsoft.com/office/powerpoint/2010/main" val="3689945060"/>
      </p:ext>
    </p:extLst>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62">
                                            <p:txEl>
                                              <p:pRg st="0" end="0"/>
                                            </p:txEl>
                                          </p:spTgt>
                                        </p:tgtEl>
                                        <p:attrNameLst>
                                          <p:attrName>style.visibility</p:attrName>
                                        </p:attrNameLst>
                                      </p:cBhvr>
                                      <p:to>
                                        <p:strVal val="visible"/>
                                      </p:to>
                                    </p:set>
                                    <p:animEffect transition="in" filter="wipe(left)">
                                      <p:cBhvr>
                                        <p:cTn id="12" dur="500"/>
                                        <p:tgtEl>
                                          <p:spTgt spid="4096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962">
                                            <p:txEl>
                                              <p:pRg st="1" end="1"/>
                                            </p:txEl>
                                          </p:spTgt>
                                        </p:tgtEl>
                                        <p:attrNameLst>
                                          <p:attrName>style.visibility</p:attrName>
                                        </p:attrNameLst>
                                      </p:cBhvr>
                                      <p:to>
                                        <p:strVal val="visible"/>
                                      </p:to>
                                    </p:set>
                                    <p:animEffect transition="in" filter="wipe(left)">
                                      <p:cBhvr>
                                        <p:cTn id="17" dur="500"/>
                                        <p:tgtEl>
                                          <p:spTgt spid="4096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0962">
                                            <p:txEl>
                                              <p:pRg st="2" end="2"/>
                                            </p:txEl>
                                          </p:spTgt>
                                        </p:tgtEl>
                                        <p:attrNameLst>
                                          <p:attrName>style.visibility</p:attrName>
                                        </p:attrNameLst>
                                      </p:cBhvr>
                                      <p:to>
                                        <p:strVal val="visible"/>
                                      </p:to>
                                    </p:set>
                                    <p:animEffect transition="in" filter="wipe(left)">
                                      <p:cBhvr>
                                        <p:cTn id="22" dur="500"/>
                                        <p:tgtEl>
                                          <p:spTgt spid="4096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0962">
                                            <p:txEl>
                                              <p:pRg st="3" end="3"/>
                                            </p:txEl>
                                          </p:spTgt>
                                        </p:tgtEl>
                                        <p:attrNameLst>
                                          <p:attrName>style.visibility</p:attrName>
                                        </p:attrNameLst>
                                      </p:cBhvr>
                                      <p:to>
                                        <p:strVal val="visible"/>
                                      </p:to>
                                    </p:set>
                                    <p:animEffect transition="in" filter="wipe(left)">
                                      <p:cBhvr>
                                        <p:cTn id="27" dur="500"/>
                                        <p:tgtEl>
                                          <p:spTgt spid="4096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uiExpand="1" build="p" autoUpdateAnimBg="0"/>
      <p:bldP spid="8"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4360" y="620688"/>
            <a:ext cx="8435280" cy="5544616"/>
          </a:xfrm>
        </p:spPr>
        <p:txBody>
          <a:bodyPr>
            <a:normAutofit fontScale="92500"/>
          </a:bodyPr>
          <a:lstStyle/>
          <a:p>
            <a:pPr>
              <a:lnSpc>
                <a:spcPct val="150000"/>
              </a:lnSpc>
            </a:pPr>
            <a:r>
              <a:rPr lang="zh-CN" altLang="en-US" sz="2800" b="0" dirty="0">
                <a:solidFill>
                  <a:srgbClr val="BB1528"/>
                </a:solidFill>
                <a:latin typeface="微软雅黑" panose="020B0503020204020204" pitchFamily="34" charset="-122"/>
                <a:ea typeface="微软雅黑" panose="020B0503020204020204" pitchFamily="34" charset="-122"/>
              </a:rPr>
              <a:t>行为方程</a:t>
            </a:r>
            <a:r>
              <a:rPr lang="zh-CN" altLang="en-US" sz="2800" b="0" dirty="0">
                <a:solidFill>
                  <a:schemeClr val="tx1"/>
                </a:solidFill>
                <a:latin typeface="微软雅黑" panose="020B0503020204020204" pitchFamily="34" charset="-122"/>
                <a:ea typeface="微软雅黑" panose="020B0503020204020204" pitchFamily="34" charset="-122"/>
              </a:rPr>
              <a:t>是指用公式表达一个变量受其他变量的影响。在经济学中，它常常从个体最优化决策中推导，譬如：随着价格上升，商品需求量下降。</a:t>
            </a:r>
          </a:p>
          <a:p>
            <a:pPr>
              <a:lnSpc>
                <a:spcPct val="150000"/>
              </a:lnSpc>
            </a:pPr>
            <a:r>
              <a:rPr lang="zh-CN" altLang="en-US" sz="2800" b="0" dirty="0">
                <a:solidFill>
                  <a:srgbClr val="BB1528"/>
                </a:solidFill>
                <a:latin typeface="微软雅黑" panose="020B0503020204020204" pitchFamily="34" charset="-122"/>
                <a:ea typeface="微软雅黑" panose="020B0503020204020204" pitchFamily="34" charset="-122"/>
              </a:rPr>
              <a:t>定义方程</a:t>
            </a:r>
            <a:r>
              <a:rPr lang="zh-CN" altLang="en-US" sz="2800" b="0" dirty="0">
                <a:solidFill>
                  <a:schemeClr val="tx1"/>
                </a:solidFill>
                <a:latin typeface="微软雅黑" panose="020B0503020204020204" pitchFamily="34" charset="-122"/>
                <a:ea typeface="微软雅黑" panose="020B0503020204020204" pitchFamily="34" charset="-122"/>
              </a:rPr>
              <a:t>是指用公式表达一个概念或变量的含义。性质上是恒等式，譬如市场需求等于个人需求之和。</a:t>
            </a:r>
          </a:p>
          <a:p>
            <a:pPr>
              <a:lnSpc>
                <a:spcPct val="150000"/>
              </a:lnSpc>
            </a:pPr>
            <a:r>
              <a:rPr lang="zh-CN" altLang="en-US" sz="2800" b="0" dirty="0">
                <a:solidFill>
                  <a:srgbClr val="BB1528"/>
                </a:solidFill>
                <a:latin typeface="微软雅黑" panose="020B0503020204020204" pitchFamily="34" charset="-122"/>
                <a:ea typeface="微软雅黑" panose="020B0503020204020204" pitchFamily="34" charset="-122"/>
              </a:rPr>
              <a:t>条件方程</a:t>
            </a:r>
            <a:r>
              <a:rPr lang="zh-CN" altLang="en-US" sz="2800" b="0" dirty="0">
                <a:solidFill>
                  <a:schemeClr val="tx1"/>
                </a:solidFill>
                <a:latin typeface="微软雅黑" panose="020B0503020204020204" pitchFamily="34" charset="-122"/>
                <a:ea typeface="微软雅黑" panose="020B0503020204020204" pitchFamily="34" charset="-122"/>
              </a:rPr>
              <a:t>在很多情况下是描述均衡的条件，譬如，供求模型中，需求量等于供给量时，出现均衡。</a:t>
            </a:r>
            <a:endParaRPr lang="en-US" altLang="zh-CN" sz="2800" b="0" dirty="0">
              <a:solidFill>
                <a:schemeClr val="tx1"/>
              </a:solidFill>
              <a:latin typeface="微软雅黑" panose="020B0503020204020204" pitchFamily="34" charset="-122"/>
              <a:ea typeface="微软雅黑" panose="020B0503020204020204" pitchFamily="34" charset="-122"/>
            </a:endParaRPr>
          </a:p>
          <a:p>
            <a:pPr lvl="2">
              <a:lnSpc>
                <a:spcPct val="150000"/>
              </a:lnSpc>
            </a:pPr>
            <a:r>
              <a:rPr lang="zh-CN" altLang="en-US" sz="2000" dirty="0">
                <a:latin typeface="微软雅黑" panose="020B0503020204020204" pitchFamily="34" charset="-122"/>
                <a:ea typeface="微软雅黑" panose="020B0503020204020204" pitchFamily="34" charset="-122"/>
              </a:rPr>
              <a:t>均衡条件与恒等式不是一回事。因为在某一时间，经济偏离均衡是可能的。而恒等式必须在所有时候都成立，它是一种定义。</a:t>
            </a:r>
          </a:p>
          <a:p>
            <a:pPr lvl="2"/>
            <a:endParaRPr lang="en-US" altLang="zh-CN" sz="2000" b="0" dirty="0">
              <a:solidFill>
                <a:schemeClr val="tx1"/>
              </a:solidFill>
              <a:latin typeface="微软雅黑" panose="020B0503020204020204" pitchFamily="34" charset="-122"/>
              <a:ea typeface="微软雅黑" panose="020B0503020204020204" pitchFamily="34" charset="-122"/>
            </a:endParaRPr>
          </a:p>
          <a:p>
            <a:pPr lvl="3"/>
            <a:endParaRPr lang="zh-CN" altLang="en-US" sz="1600" b="0" dirty="0">
              <a:solidFill>
                <a:schemeClr val="tx1"/>
              </a:solidFill>
              <a:latin typeface="微软雅黑" panose="020B0503020204020204" pitchFamily="34" charset="-122"/>
              <a:ea typeface="微软雅黑" panose="020B0503020204020204" pitchFamily="34" charset="-122"/>
            </a:endParaRPr>
          </a:p>
          <a:p>
            <a:endParaRPr lang="zh-CN" altLang="en-US" dirty="0"/>
          </a:p>
        </p:txBody>
      </p:sp>
    </p:spTree>
    <p:extLst>
      <p:ext uri="{BB962C8B-B14F-4D97-AF65-F5344CB8AC3E}">
        <p14:creationId xmlns:p14="http://schemas.microsoft.com/office/powerpoint/2010/main" val="17569680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六边形 11"/>
          <p:cNvSpPr/>
          <p:nvPr/>
        </p:nvSpPr>
        <p:spPr bwMode="auto">
          <a:xfrm>
            <a:off x="6292942" y="3328741"/>
            <a:ext cx="2409203" cy="1456069"/>
          </a:xfrm>
          <a:prstGeom prst="hexagon">
            <a:avLst/>
          </a:prstGeom>
          <a:solidFill>
            <a:srgbClr val="FFC000">
              <a:alpha val="40000"/>
            </a:srgbClr>
          </a:solidFill>
          <a:ln>
            <a:noFill/>
          </a:ln>
          <a:effec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 name="右箭头标注 8"/>
          <p:cNvSpPr/>
          <p:nvPr/>
        </p:nvSpPr>
        <p:spPr bwMode="auto">
          <a:xfrm>
            <a:off x="2764904" y="2882430"/>
            <a:ext cx="3319264" cy="2376264"/>
          </a:xfrm>
          <a:prstGeom prst="rightArrowCallout">
            <a:avLst>
              <a:gd name="adj1" fmla="val 20896"/>
              <a:gd name="adj2" fmla="val 25000"/>
              <a:gd name="adj3" fmla="val 25000"/>
              <a:gd name="adj4" fmla="val 64977"/>
            </a:avLst>
          </a:prstGeom>
          <a:solidFill>
            <a:srgbClr val="FFC000">
              <a:alpha val="40000"/>
            </a:srgbClr>
          </a:solidFill>
          <a:ln>
            <a:noFill/>
          </a:ln>
          <a:effec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4" name="波形 13"/>
          <p:cNvSpPr/>
          <p:nvPr/>
        </p:nvSpPr>
        <p:spPr bwMode="auto">
          <a:xfrm>
            <a:off x="5263559" y="4733147"/>
            <a:ext cx="1154685" cy="648072"/>
          </a:xfrm>
          <a:prstGeom prst="wave">
            <a:avLst/>
          </a:prstGeom>
          <a:solidFill>
            <a:srgbClr val="FFC000">
              <a:alpha val="37000"/>
            </a:srgbClr>
          </a:solidFill>
          <a:ln>
            <a:noFill/>
          </a:ln>
          <a:effec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7" name="矩形 6"/>
          <p:cNvSpPr/>
          <p:nvPr/>
        </p:nvSpPr>
        <p:spPr>
          <a:xfrm>
            <a:off x="611560" y="3228945"/>
            <a:ext cx="2153344" cy="400110"/>
          </a:xfrm>
          <a:prstGeom prst="rect">
            <a:avLst/>
          </a:prstGeom>
        </p:spPr>
        <p:txBody>
          <a:bodyPr wrap="square">
            <a:spAutoFit/>
          </a:bodyPr>
          <a:lstStyle/>
          <a:p>
            <a:pPr marL="342900" indent="-342900" eaLnBrk="1" hangingPunct="1">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行为方程</a:t>
            </a:r>
          </a:p>
        </p:txBody>
      </p:sp>
      <p:sp>
        <p:nvSpPr>
          <p:cNvPr id="10" name="矩形 9"/>
          <p:cNvSpPr/>
          <p:nvPr/>
        </p:nvSpPr>
        <p:spPr>
          <a:xfrm>
            <a:off x="611560" y="4627417"/>
            <a:ext cx="2153344" cy="400110"/>
          </a:xfrm>
          <a:prstGeom prst="rect">
            <a:avLst/>
          </a:prstGeom>
        </p:spPr>
        <p:txBody>
          <a:bodyPr wrap="square">
            <a:spAutoFit/>
          </a:bodyPr>
          <a:lstStyle/>
          <a:p>
            <a:pPr marL="342900" indent="-342900" eaLnBrk="1" hangingPunct="1">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均衡条件</a:t>
            </a:r>
          </a:p>
        </p:txBody>
      </p:sp>
      <p:sp>
        <p:nvSpPr>
          <p:cNvPr id="13" name="矩形 12"/>
          <p:cNvSpPr/>
          <p:nvPr/>
        </p:nvSpPr>
        <p:spPr>
          <a:xfrm>
            <a:off x="5374624" y="4824731"/>
            <a:ext cx="646331" cy="369332"/>
          </a:xfrm>
          <a:prstGeom prst="rect">
            <a:avLst/>
          </a:prstGeom>
        </p:spPr>
        <p:txBody>
          <a:bodyPr wrap="none">
            <a:spAutoFit/>
          </a:bodyPr>
          <a:lstStyle/>
          <a:p>
            <a:pPr marL="0" lvl="2" algn="ctr" eaLnBrk="1" hangingPunct="1"/>
            <a:r>
              <a:rPr lang="zh-CN" altLang="en-US" dirty="0">
                <a:solidFill>
                  <a:srgbClr val="000000"/>
                </a:solidFill>
                <a:latin typeface="微软雅黑" panose="020B0503020204020204" pitchFamily="34" charset="-122"/>
                <a:ea typeface="微软雅黑" panose="020B0503020204020204" pitchFamily="34" charset="-122"/>
              </a:rPr>
              <a:t>求解</a:t>
            </a:r>
            <a:endParaRPr lang="en-US" altLang="zh-CN" dirty="0">
              <a:solidFill>
                <a:srgbClr val="000000"/>
              </a:solidFill>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7B6E2C5B-2E2F-4B99-9372-A1DD8BD731F5}"/>
              </a:ext>
            </a:extLst>
          </p:cNvPr>
          <p:cNvSpPr/>
          <p:nvPr/>
        </p:nvSpPr>
        <p:spPr>
          <a:xfrm>
            <a:off x="467544" y="548680"/>
            <a:ext cx="323838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四、经济模型的结构 </a:t>
            </a:r>
          </a:p>
        </p:txBody>
      </p:sp>
      <p:sp>
        <p:nvSpPr>
          <p:cNvPr id="16" name="矩形 15">
            <a:extLst>
              <a:ext uri="{FF2B5EF4-FFF2-40B4-BE49-F238E27FC236}">
                <a16:creationId xmlns:a16="http://schemas.microsoft.com/office/drawing/2014/main" id="{930CC59E-A298-4F22-A669-942F8BFB4BC2}"/>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17D7A9E0-9AB4-4AE7-937F-640B27FABE54}"/>
                  </a:ext>
                </a:extLst>
              </p:cNvPr>
              <p:cNvSpPr txBox="1"/>
              <p:nvPr/>
            </p:nvSpPr>
            <p:spPr>
              <a:xfrm>
                <a:off x="2771800" y="3185348"/>
                <a:ext cx="2153344" cy="374270"/>
              </a:xfrm>
              <a:prstGeom prst="rect">
                <a:avLst/>
              </a:prstGeom>
              <a:solidFill>
                <a:schemeClr val="bg1">
                  <a:lumMod val="75000"/>
                </a:schemeClr>
              </a:solidFill>
            </p:spPr>
            <p:txBody>
              <a:bodyPr wrap="square" rtlCol="0">
                <a:spAutoFit/>
              </a:bodyPr>
              <a:lstStyle/>
              <a:p>
                <a14:m>
                  <m:oMath xmlns:m="http://schemas.openxmlformats.org/officeDocument/2006/math">
                    <m:sSup>
                      <m:sSupPr>
                        <m:ctrlPr>
                          <a:rPr lang="pt-BR" altLang="zh-CN" i="1" smtClean="0">
                            <a:solidFill>
                              <a:schemeClr val="tx1">
                                <a:lumMod val="95000"/>
                                <a:lumOff val="5000"/>
                              </a:schemeClr>
                            </a:solidFill>
                            <a:latin typeface="Cambria Math" panose="02040503050406030204" pitchFamily="18" charset="0"/>
                          </a:rPr>
                        </m:ctrlPr>
                      </m:sSupPr>
                      <m:e>
                        <m:r>
                          <a:rPr lang="en-US" altLang="zh-CN" b="0" i="1" smtClean="0">
                            <a:solidFill>
                              <a:schemeClr val="tx1">
                                <a:lumMod val="95000"/>
                                <a:lumOff val="5000"/>
                              </a:schemeClr>
                            </a:solidFill>
                            <a:latin typeface="Cambria Math" panose="02040503050406030204" pitchFamily="18" charset="0"/>
                          </a:rPr>
                          <m:t>𝑄</m:t>
                        </m:r>
                      </m:e>
                      <m:sup>
                        <m:r>
                          <a:rPr lang="en-US" altLang="zh-CN" b="0" i="1" smtClean="0">
                            <a:solidFill>
                              <a:schemeClr val="tx1">
                                <a:lumMod val="95000"/>
                                <a:lumOff val="5000"/>
                              </a:schemeClr>
                            </a:solidFill>
                            <a:latin typeface="Cambria Math" panose="02040503050406030204" pitchFamily="18" charset="0"/>
                          </a:rPr>
                          <m:t>𝑑</m:t>
                        </m:r>
                        <m:r>
                          <a:rPr lang="en-US" altLang="zh-CN" b="0" i="1" smtClean="0">
                            <a:solidFill>
                              <a:schemeClr val="tx1">
                                <a:lumMod val="95000"/>
                                <a:lumOff val="5000"/>
                              </a:schemeClr>
                            </a:solidFill>
                            <a:latin typeface="Cambria Math" panose="02040503050406030204" pitchFamily="18" charset="0"/>
                          </a:rPr>
                          <m:t> </m:t>
                        </m:r>
                      </m:sup>
                    </m:sSup>
                    <m:r>
                      <a:rPr lang="en-US" altLang="zh-CN" b="0" i="1" smtClean="0">
                        <a:solidFill>
                          <a:schemeClr val="tx1">
                            <a:lumMod val="95000"/>
                            <a:lumOff val="5000"/>
                          </a:schemeClr>
                        </a:solidFill>
                        <a:latin typeface="Cambria Math" panose="02040503050406030204" pitchFamily="18" charset="0"/>
                      </a:rPr>
                      <m:t>=</m:t>
                    </m:r>
                  </m:oMath>
                </a14:m>
                <a:r>
                  <a:rPr lang="en-US" altLang="zh-CN" dirty="0">
                    <a:solidFill>
                      <a:schemeClr val="tx1">
                        <a:lumMod val="95000"/>
                        <a:lumOff val="5000"/>
                      </a:schemeClr>
                    </a:solidFill>
                  </a:rPr>
                  <a:t> </a:t>
                </a:r>
                <a14:m>
                  <m:oMath xmlns:m="http://schemas.openxmlformats.org/officeDocument/2006/math">
                    <m:r>
                      <a:rPr lang="el-GR" altLang="zh-CN" i="1">
                        <a:solidFill>
                          <a:schemeClr val="tx1">
                            <a:lumMod val="95000"/>
                            <a:lumOff val="5000"/>
                          </a:schemeClr>
                        </a:solidFill>
                        <a:latin typeface="Cambria Math" panose="02040503050406030204" pitchFamily="18" charset="0"/>
                      </a:rPr>
                      <m:t>𝛼</m:t>
                    </m:r>
                    <m:r>
                      <a:rPr lang="en-US" altLang="zh-CN" i="1">
                        <a:solidFill>
                          <a:schemeClr val="tx1">
                            <a:lumMod val="95000"/>
                            <a:lumOff val="5000"/>
                          </a:schemeClr>
                        </a:solidFill>
                        <a:latin typeface="Cambria Math" panose="02040503050406030204" pitchFamily="18" charset="0"/>
                      </a:rPr>
                      <m:t>−</m:t>
                    </m:r>
                    <m:r>
                      <a:rPr lang="el-GR" altLang="zh-CN" i="1">
                        <a:solidFill>
                          <a:schemeClr val="tx1">
                            <a:lumMod val="95000"/>
                            <a:lumOff val="5000"/>
                          </a:schemeClr>
                        </a:solidFill>
                        <a:latin typeface="Cambria Math" panose="02040503050406030204" pitchFamily="18" charset="0"/>
                      </a:rPr>
                      <m:t>𝛽</m:t>
                    </m:r>
                    <m:r>
                      <m:rPr>
                        <m:sty m:val="p"/>
                      </m:rPr>
                      <a:rPr lang="en-US" altLang="zh-CN" b="0" i="0" smtClean="0">
                        <a:solidFill>
                          <a:schemeClr val="tx1">
                            <a:lumMod val="95000"/>
                            <a:lumOff val="5000"/>
                          </a:schemeClr>
                        </a:solidFill>
                        <a:latin typeface="Cambria Math" panose="02040503050406030204" pitchFamily="18" charset="0"/>
                      </a:rPr>
                      <m:t>P</m:t>
                    </m:r>
                    <m:r>
                      <a:rPr lang="en-US" altLang="zh-CN" b="0" i="0" smtClean="0">
                        <a:solidFill>
                          <a:schemeClr val="tx1">
                            <a:lumMod val="95000"/>
                            <a:lumOff val="5000"/>
                          </a:schemeClr>
                        </a:solidFill>
                        <a:latin typeface="Cambria Math" panose="02040503050406030204" pitchFamily="18" charset="0"/>
                      </a:rPr>
                      <m:t>+</m:t>
                    </m:r>
                    <m:r>
                      <a:rPr lang="en-US" altLang="zh-CN">
                        <a:solidFill>
                          <a:schemeClr val="tx1">
                            <a:lumMod val="95000"/>
                            <a:lumOff val="5000"/>
                          </a:schemeClr>
                        </a:solidFill>
                        <a:latin typeface="Cambria Math" panose="02040503050406030204" pitchFamily="18" charset="0"/>
                      </a:rPr>
                      <m:t>𝜂</m:t>
                    </m:r>
                    <m:r>
                      <m:rPr>
                        <m:sty m:val="p"/>
                      </m:rPr>
                      <a:rPr lang="en-US" altLang="zh-CN">
                        <a:solidFill>
                          <a:schemeClr val="tx1">
                            <a:lumMod val="95000"/>
                            <a:lumOff val="5000"/>
                          </a:schemeClr>
                        </a:solidFill>
                        <a:latin typeface="Cambria Math" panose="02040503050406030204" pitchFamily="18" charset="0"/>
                      </a:rPr>
                      <m:t>m</m:t>
                    </m:r>
                  </m:oMath>
                </a14:m>
                <a:endParaRPr lang="zh-CN" altLang="en-US" dirty="0">
                  <a:solidFill>
                    <a:schemeClr val="tx1">
                      <a:lumMod val="95000"/>
                      <a:lumOff val="5000"/>
                    </a:schemeClr>
                  </a:solidFill>
                </a:endParaRPr>
              </a:p>
            </p:txBody>
          </p:sp>
        </mc:Choice>
        <mc:Fallback xmlns="">
          <p:sp>
            <p:nvSpPr>
              <p:cNvPr id="8" name="文本框 7">
                <a:extLst>
                  <a:ext uri="{FF2B5EF4-FFF2-40B4-BE49-F238E27FC236}">
                    <a16:creationId xmlns:a16="http://schemas.microsoft.com/office/drawing/2014/main" id="{17D7A9E0-9AB4-4AE7-937F-640B27FABE54}"/>
                  </a:ext>
                </a:extLst>
              </p:cNvPr>
              <p:cNvSpPr txBox="1">
                <a:spLocks noRot="1" noChangeAspect="1" noMove="1" noResize="1" noEditPoints="1" noAdjustHandles="1" noChangeArrowheads="1" noChangeShapeType="1" noTextEdit="1"/>
              </p:cNvSpPr>
              <p:nvPr/>
            </p:nvSpPr>
            <p:spPr>
              <a:xfrm>
                <a:off x="2771800" y="3185348"/>
                <a:ext cx="2153344" cy="374270"/>
              </a:xfrm>
              <a:prstGeom prst="rect">
                <a:avLst/>
              </a:prstGeom>
              <a:blipFill>
                <a:blip r:embed="rId2"/>
                <a:stretch>
                  <a:fillRect l="-567" b="-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A72E426A-3955-4283-9FF5-C35E870B9253}"/>
                  </a:ext>
                </a:extLst>
              </p:cNvPr>
              <p:cNvSpPr txBox="1"/>
              <p:nvPr/>
            </p:nvSpPr>
            <p:spPr>
              <a:xfrm>
                <a:off x="2764904" y="3885540"/>
                <a:ext cx="2160241" cy="369332"/>
              </a:xfrm>
              <a:prstGeom prst="rect">
                <a:avLst/>
              </a:prstGeom>
              <a:solidFill>
                <a:schemeClr val="bg1">
                  <a:lumMod val="75000"/>
                </a:schemeClr>
              </a:solidFill>
            </p:spPr>
            <p:txBody>
              <a:bodyPr wrap="square" rtlCol="0">
                <a:spAutoFit/>
              </a:bodyPr>
              <a:lstStyle/>
              <a:p>
                <a14:m>
                  <m:oMath xmlns:m="http://schemas.openxmlformats.org/officeDocument/2006/math">
                    <m:sSup>
                      <m:sSupPr>
                        <m:ctrlPr>
                          <a:rPr lang="pt-BR" altLang="zh-CN" i="1" smtClean="0">
                            <a:solidFill>
                              <a:schemeClr val="tx1">
                                <a:lumMod val="95000"/>
                                <a:lumOff val="5000"/>
                              </a:schemeClr>
                            </a:solidFill>
                            <a:latin typeface="Cambria Math" panose="02040503050406030204" pitchFamily="18" charset="0"/>
                          </a:rPr>
                        </m:ctrlPr>
                      </m:sSupPr>
                      <m:e>
                        <m:r>
                          <a:rPr lang="en-US" altLang="zh-CN" b="0" i="1" smtClean="0">
                            <a:solidFill>
                              <a:schemeClr val="tx1">
                                <a:lumMod val="95000"/>
                                <a:lumOff val="5000"/>
                              </a:schemeClr>
                            </a:solidFill>
                            <a:latin typeface="Cambria Math" panose="02040503050406030204" pitchFamily="18" charset="0"/>
                          </a:rPr>
                          <m:t>𝑄</m:t>
                        </m:r>
                      </m:e>
                      <m:sup>
                        <m:r>
                          <a:rPr lang="en-US" altLang="zh-CN" b="0" i="1" smtClean="0">
                            <a:solidFill>
                              <a:schemeClr val="tx1">
                                <a:lumMod val="95000"/>
                                <a:lumOff val="5000"/>
                              </a:schemeClr>
                            </a:solidFill>
                            <a:latin typeface="Cambria Math" panose="02040503050406030204" pitchFamily="18" charset="0"/>
                          </a:rPr>
                          <m:t>8 </m:t>
                        </m:r>
                      </m:sup>
                    </m:sSup>
                    <m:r>
                      <a:rPr lang="en-US" altLang="zh-CN" b="0" i="1" smtClean="0">
                        <a:solidFill>
                          <a:schemeClr val="tx1">
                            <a:lumMod val="95000"/>
                            <a:lumOff val="5000"/>
                          </a:schemeClr>
                        </a:solidFill>
                        <a:latin typeface="Cambria Math" panose="02040503050406030204" pitchFamily="18" charset="0"/>
                      </a:rPr>
                      <m:t>=</m:t>
                    </m:r>
                  </m:oMath>
                </a14:m>
                <a:r>
                  <a:rPr lang="en-US" altLang="zh-CN" dirty="0">
                    <a:solidFill>
                      <a:schemeClr val="tx1">
                        <a:lumMod val="95000"/>
                        <a:lumOff val="5000"/>
                      </a:schemeClr>
                    </a:solidFill>
                  </a:rPr>
                  <a:t> </a:t>
                </a:r>
                <a14:m>
                  <m:oMath xmlns:m="http://schemas.openxmlformats.org/officeDocument/2006/math">
                    <m:r>
                      <a:rPr lang="en-US" altLang="zh-CN" i="1" smtClean="0">
                        <a:solidFill>
                          <a:schemeClr val="tx1">
                            <a:lumMod val="95000"/>
                            <a:lumOff val="5000"/>
                          </a:schemeClr>
                        </a:solidFill>
                        <a:latin typeface="Cambria Math" panose="02040503050406030204" pitchFamily="18" charset="0"/>
                      </a:rPr>
                      <m:t>𝑦</m:t>
                    </m:r>
                    <m:r>
                      <a:rPr lang="en-US" altLang="zh-CN" b="0" i="0" smtClean="0">
                        <a:solidFill>
                          <a:schemeClr val="tx1">
                            <a:lumMod val="95000"/>
                            <a:lumOff val="5000"/>
                          </a:schemeClr>
                        </a:solidFill>
                        <a:latin typeface="Cambria Math" panose="02040503050406030204" pitchFamily="18" charset="0"/>
                      </a:rPr>
                      <m:t>+</m:t>
                    </m:r>
                    <m:r>
                      <a:rPr lang="en-US" altLang="zh-CN" b="0" i="0" smtClean="0">
                        <a:solidFill>
                          <a:schemeClr val="tx1">
                            <a:lumMod val="95000"/>
                            <a:lumOff val="5000"/>
                          </a:schemeClr>
                        </a:solidFill>
                        <a:latin typeface="Cambria Math" panose="02040503050406030204" pitchFamily="18" charset="0"/>
                      </a:rPr>
                      <m:t>𝛿</m:t>
                    </m:r>
                    <m:r>
                      <m:rPr>
                        <m:sty m:val="p"/>
                      </m:rPr>
                      <a:rPr lang="en-US" altLang="zh-CN" b="0" i="0" smtClean="0">
                        <a:solidFill>
                          <a:schemeClr val="tx1">
                            <a:lumMod val="95000"/>
                            <a:lumOff val="5000"/>
                          </a:schemeClr>
                        </a:solidFill>
                        <a:latin typeface="Cambria Math" panose="02040503050406030204" pitchFamily="18" charset="0"/>
                      </a:rPr>
                      <m:t>m</m:t>
                    </m:r>
                  </m:oMath>
                </a14:m>
                <a:endParaRPr lang="zh-CN" altLang="en-US" dirty="0">
                  <a:solidFill>
                    <a:schemeClr val="tx1">
                      <a:lumMod val="95000"/>
                      <a:lumOff val="5000"/>
                    </a:schemeClr>
                  </a:solidFill>
                </a:endParaRPr>
              </a:p>
            </p:txBody>
          </p:sp>
        </mc:Choice>
        <mc:Fallback xmlns="">
          <p:sp>
            <p:nvSpPr>
              <p:cNvPr id="19" name="文本框 18">
                <a:extLst>
                  <a:ext uri="{FF2B5EF4-FFF2-40B4-BE49-F238E27FC236}">
                    <a16:creationId xmlns:a16="http://schemas.microsoft.com/office/drawing/2014/main" id="{A72E426A-3955-4283-9FF5-C35E870B9253}"/>
                  </a:ext>
                </a:extLst>
              </p:cNvPr>
              <p:cNvSpPr txBox="1">
                <a:spLocks noRot="1" noChangeAspect="1" noMove="1" noResize="1" noEditPoints="1" noAdjustHandles="1" noChangeArrowheads="1" noChangeShapeType="1" noTextEdit="1"/>
              </p:cNvSpPr>
              <p:nvPr/>
            </p:nvSpPr>
            <p:spPr>
              <a:xfrm>
                <a:off x="2764904" y="3885540"/>
                <a:ext cx="2160241" cy="369332"/>
              </a:xfrm>
              <a:prstGeom prst="rect">
                <a:avLst/>
              </a:prstGeom>
              <a:blipFill>
                <a:blip r:embed="rId3"/>
                <a:stretch>
                  <a:fillRect l="-565" b="-11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38EBD07F-D27F-4333-AFCC-EB05F10D5E12}"/>
                  </a:ext>
                </a:extLst>
              </p:cNvPr>
              <p:cNvSpPr txBox="1"/>
              <p:nvPr/>
            </p:nvSpPr>
            <p:spPr>
              <a:xfrm>
                <a:off x="2771799" y="4619306"/>
                <a:ext cx="2160241" cy="374270"/>
              </a:xfrm>
              <a:prstGeom prst="rect">
                <a:avLst/>
              </a:prstGeom>
              <a:solidFill>
                <a:schemeClr val="bg1">
                  <a:lumMod val="75000"/>
                </a:schemeClr>
              </a:solidFill>
            </p:spPr>
            <p:txBody>
              <a:bodyPr wrap="square" rtlCol="0">
                <a:spAutoFit/>
              </a:bodyPr>
              <a:lstStyle/>
              <a:p>
                <a:pPr/>
                <a14:m>
                  <m:oMathPara xmlns:m="http://schemas.openxmlformats.org/officeDocument/2006/math">
                    <m:oMathParaPr>
                      <m:jc m:val="left"/>
                    </m:oMathParaPr>
                    <m:oMath xmlns:m="http://schemas.openxmlformats.org/officeDocument/2006/math">
                      <m:sSup>
                        <m:sSupPr>
                          <m:ctrlPr>
                            <a:rPr lang="pt-BR" altLang="zh-CN" i="1" smtClean="0">
                              <a:solidFill>
                                <a:schemeClr val="tx1">
                                  <a:lumMod val="95000"/>
                                  <a:lumOff val="5000"/>
                                </a:schemeClr>
                              </a:solidFill>
                              <a:latin typeface="Cambria Math" panose="02040503050406030204" pitchFamily="18" charset="0"/>
                            </a:rPr>
                          </m:ctrlPr>
                        </m:sSupPr>
                        <m:e>
                          <m:r>
                            <a:rPr lang="en-US" altLang="zh-CN" b="0" i="1" smtClean="0">
                              <a:solidFill>
                                <a:schemeClr val="tx1">
                                  <a:lumMod val="95000"/>
                                  <a:lumOff val="5000"/>
                                </a:schemeClr>
                              </a:solidFill>
                              <a:latin typeface="Cambria Math" panose="02040503050406030204" pitchFamily="18" charset="0"/>
                            </a:rPr>
                            <m:t>𝑄</m:t>
                          </m:r>
                        </m:e>
                        <m:sup>
                          <m:r>
                            <a:rPr lang="en-US" altLang="zh-CN" b="0" i="1" smtClean="0">
                              <a:solidFill>
                                <a:schemeClr val="tx1">
                                  <a:lumMod val="95000"/>
                                  <a:lumOff val="5000"/>
                                </a:schemeClr>
                              </a:solidFill>
                              <a:latin typeface="Cambria Math" panose="02040503050406030204" pitchFamily="18" charset="0"/>
                            </a:rPr>
                            <m:t>𝑑</m:t>
                          </m:r>
                          <m:r>
                            <a:rPr lang="en-US" altLang="zh-CN" b="0" i="1" smtClean="0">
                              <a:solidFill>
                                <a:schemeClr val="tx1">
                                  <a:lumMod val="95000"/>
                                  <a:lumOff val="5000"/>
                                </a:schemeClr>
                              </a:solidFill>
                              <a:latin typeface="Cambria Math" panose="02040503050406030204" pitchFamily="18" charset="0"/>
                            </a:rPr>
                            <m:t> </m:t>
                          </m:r>
                        </m:sup>
                      </m:sSup>
                      <m:r>
                        <a:rPr lang="en-US" altLang="zh-CN" b="0" i="1" smtClean="0">
                          <a:solidFill>
                            <a:schemeClr val="tx1">
                              <a:lumMod val="95000"/>
                              <a:lumOff val="5000"/>
                            </a:schemeClr>
                          </a:solidFill>
                          <a:latin typeface="Cambria Math" panose="02040503050406030204" pitchFamily="18" charset="0"/>
                        </a:rPr>
                        <m:t>=</m:t>
                      </m:r>
                      <m:sSup>
                        <m:sSupPr>
                          <m:ctrlPr>
                            <a:rPr lang="pt-BR" altLang="zh-CN" i="1">
                              <a:solidFill>
                                <a:schemeClr val="tx1">
                                  <a:lumMod val="95000"/>
                                  <a:lumOff val="5000"/>
                                </a:schemeClr>
                              </a:solidFill>
                              <a:latin typeface="Cambria Math" panose="02040503050406030204" pitchFamily="18" charset="0"/>
                            </a:rPr>
                          </m:ctrlPr>
                        </m:sSupPr>
                        <m:e>
                          <m:r>
                            <a:rPr lang="en-US" altLang="zh-CN" i="1">
                              <a:solidFill>
                                <a:schemeClr val="tx1">
                                  <a:lumMod val="95000"/>
                                  <a:lumOff val="5000"/>
                                </a:schemeClr>
                              </a:solidFill>
                              <a:latin typeface="Cambria Math" panose="02040503050406030204" pitchFamily="18" charset="0"/>
                            </a:rPr>
                            <m:t>𝑄</m:t>
                          </m:r>
                        </m:e>
                        <m:sup>
                          <m:r>
                            <a:rPr lang="en-US" altLang="zh-CN" i="1">
                              <a:solidFill>
                                <a:schemeClr val="tx1">
                                  <a:lumMod val="95000"/>
                                  <a:lumOff val="5000"/>
                                </a:schemeClr>
                              </a:solidFill>
                              <a:latin typeface="Cambria Math" panose="02040503050406030204" pitchFamily="18" charset="0"/>
                            </a:rPr>
                            <m:t>8 </m:t>
                          </m:r>
                        </m:sup>
                      </m:sSup>
                    </m:oMath>
                  </m:oMathPara>
                </a14:m>
                <a:endParaRPr lang="zh-CN" altLang="en-US" dirty="0">
                  <a:solidFill>
                    <a:schemeClr val="tx1">
                      <a:lumMod val="95000"/>
                      <a:lumOff val="5000"/>
                    </a:schemeClr>
                  </a:solidFill>
                </a:endParaRPr>
              </a:p>
            </p:txBody>
          </p:sp>
        </mc:Choice>
        <mc:Fallback xmlns="">
          <p:sp>
            <p:nvSpPr>
              <p:cNvPr id="20" name="文本框 19">
                <a:extLst>
                  <a:ext uri="{FF2B5EF4-FFF2-40B4-BE49-F238E27FC236}">
                    <a16:creationId xmlns:a16="http://schemas.microsoft.com/office/drawing/2014/main" id="{38EBD07F-D27F-4333-AFCC-EB05F10D5E12}"/>
                  </a:ext>
                </a:extLst>
              </p:cNvPr>
              <p:cNvSpPr txBox="1">
                <a:spLocks noRot="1" noChangeAspect="1" noMove="1" noResize="1" noEditPoints="1" noAdjustHandles="1" noChangeArrowheads="1" noChangeShapeType="1" noTextEdit="1"/>
              </p:cNvSpPr>
              <p:nvPr/>
            </p:nvSpPr>
            <p:spPr>
              <a:xfrm>
                <a:off x="2771799" y="4619306"/>
                <a:ext cx="2160241" cy="374270"/>
              </a:xfrm>
              <a:prstGeom prst="rect">
                <a:avLst/>
              </a:prstGeom>
              <a:blipFill>
                <a:blip r:embed="rId4"/>
                <a:stretch>
                  <a:fillRect l="-565" b="-11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024A912A-3DFD-493A-9CAE-5D285FADB47D}"/>
                  </a:ext>
                </a:extLst>
              </p:cNvPr>
              <p:cNvSpPr txBox="1"/>
              <p:nvPr/>
            </p:nvSpPr>
            <p:spPr>
              <a:xfrm>
                <a:off x="5690001" y="3771602"/>
                <a:ext cx="3607296" cy="6575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altLang="zh-CN" b="0" i="0" spc="150" dirty="0" smtClean="0">
                          <a:solidFill>
                            <a:srgbClr val="000000"/>
                          </a:solidFill>
                          <a:latin typeface="微软雅黑" panose="020B0503020204020204" pitchFamily="34" charset="-122"/>
                          <a:ea typeface="微软雅黑" panose="020B0503020204020204" pitchFamily="34" charset="-122"/>
                        </a:rPr>
                        <m:t>P</m:t>
                      </m:r>
                      <m:r>
                        <m:rPr>
                          <m:nor/>
                        </m:rPr>
                        <a:rPr lang="en-US" altLang="zh-CN" b="0" i="0" spc="150" baseline="-25000" dirty="0" smtClean="0">
                          <a:solidFill>
                            <a:srgbClr val="000000"/>
                          </a:solidFill>
                          <a:latin typeface="微软雅黑" panose="020B0503020204020204" pitchFamily="34" charset="-122"/>
                          <a:ea typeface="微软雅黑" panose="020B0503020204020204" pitchFamily="34" charset="-122"/>
                        </a:rPr>
                        <m:t>E</m:t>
                      </m:r>
                      <m:r>
                        <a:rPr lang="en-US" altLang="zh-CN" i="1" smtClean="0">
                          <a:latin typeface="Cambria Math" panose="02040503050406030204" pitchFamily="18" charset="0"/>
                        </a:rPr>
                        <m:t>=</m:t>
                      </m:r>
                      <m:f>
                        <m:fPr>
                          <m:ctrlPr>
                            <a:rPr lang="en-US" altLang="zh-CN" i="1" smtClean="0">
                              <a:latin typeface="Cambria Math" panose="02040503050406030204" pitchFamily="18" charset="0"/>
                            </a:rPr>
                          </m:ctrlPr>
                        </m:fPr>
                        <m:num>
                          <m:r>
                            <a:rPr lang="el-GR" altLang="zh-CN" i="1">
                              <a:latin typeface="Cambria Math" panose="02040503050406030204" pitchFamily="18" charset="0"/>
                            </a:rPr>
                            <m:t>𝛼</m:t>
                          </m:r>
                          <m:r>
                            <a:rPr lang="en-US" altLang="zh-CN" b="0" i="1" smtClean="0">
                              <a:latin typeface="Cambria Math" panose="02040503050406030204" pitchFamily="18" charset="0"/>
                            </a:rPr>
                            <m:t>+</m:t>
                          </m:r>
                          <m:r>
                            <a:rPr lang="en-US" altLang="zh-CN">
                              <a:latin typeface="Cambria Math" panose="02040503050406030204" pitchFamily="18" charset="0"/>
                            </a:rPr>
                            <m:t>𝜂</m:t>
                          </m:r>
                          <m:r>
                            <m:rPr>
                              <m:sty m:val="p"/>
                            </m:rPr>
                            <a:rPr lang="en-US" altLang="zh-CN">
                              <a:latin typeface="Cambria Math" panose="02040503050406030204" pitchFamily="18" charset="0"/>
                            </a:rPr>
                            <m:t>m</m:t>
                          </m:r>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Y</m:t>
                          </m:r>
                        </m:num>
                        <m:den>
                          <m:r>
                            <a:rPr lang="el-GR" altLang="zh-CN" i="1">
                              <a:latin typeface="Cambria Math" panose="02040503050406030204" pitchFamily="18" charset="0"/>
                            </a:rPr>
                            <m:t>𝛽</m:t>
                          </m:r>
                          <m:r>
                            <a:rPr lang="en-US" altLang="zh-CN" b="0" i="1" smtClean="0">
                              <a:latin typeface="Cambria Math" panose="02040503050406030204" pitchFamily="18" charset="0"/>
                            </a:rPr>
                            <m:t>+</m:t>
                          </m:r>
                          <m:r>
                            <a:rPr lang="en-US" altLang="zh-CN">
                              <a:latin typeface="Cambria Math" panose="02040503050406030204" pitchFamily="18" charset="0"/>
                            </a:rPr>
                            <m:t>𝛿</m:t>
                          </m:r>
                        </m:den>
                      </m:f>
                    </m:oMath>
                  </m:oMathPara>
                </a14:m>
                <a:endParaRPr lang="zh-CN" altLang="en-US" dirty="0"/>
              </a:p>
            </p:txBody>
          </p:sp>
        </mc:Choice>
        <mc:Fallback xmlns="">
          <p:sp>
            <p:nvSpPr>
              <p:cNvPr id="21" name="文本框 20">
                <a:extLst>
                  <a:ext uri="{FF2B5EF4-FFF2-40B4-BE49-F238E27FC236}">
                    <a16:creationId xmlns:a16="http://schemas.microsoft.com/office/drawing/2014/main" id="{024A912A-3DFD-493A-9CAE-5D285FADB47D}"/>
                  </a:ext>
                </a:extLst>
              </p:cNvPr>
              <p:cNvSpPr txBox="1">
                <a:spLocks noRot="1" noChangeAspect="1" noMove="1" noResize="1" noEditPoints="1" noAdjustHandles="1" noChangeArrowheads="1" noChangeShapeType="1" noTextEdit="1"/>
              </p:cNvSpPr>
              <p:nvPr/>
            </p:nvSpPr>
            <p:spPr>
              <a:xfrm>
                <a:off x="5690001" y="3771602"/>
                <a:ext cx="3607296" cy="657552"/>
              </a:xfrm>
              <a:prstGeom prst="rect">
                <a:avLst/>
              </a:prstGeom>
              <a:blipFill>
                <a:blip r:embed="rId5"/>
                <a:stretch>
                  <a:fillRect/>
                </a:stretch>
              </a:blipFill>
            </p:spPr>
            <p:txBody>
              <a:bodyPr/>
              <a:lstStyle/>
              <a:p>
                <a:r>
                  <a:rPr lang="zh-CN" altLang="en-US">
                    <a:noFill/>
                  </a:rPr>
                  <a:t> </a:t>
                </a:r>
              </a:p>
            </p:txBody>
          </p:sp>
        </mc:Fallback>
      </mc:AlternateContent>
      <p:sp>
        <p:nvSpPr>
          <p:cNvPr id="22" name="矩形 21">
            <a:extLst>
              <a:ext uri="{FF2B5EF4-FFF2-40B4-BE49-F238E27FC236}">
                <a16:creationId xmlns:a16="http://schemas.microsoft.com/office/drawing/2014/main" id="{9FE16FD4-B040-4BFD-9E49-F5FAD480425C}"/>
              </a:ext>
            </a:extLst>
          </p:cNvPr>
          <p:cNvSpPr/>
          <p:nvPr/>
        </p:nvSpPr>
        <p:spPr>
          <a:xfrm>
            <a:off x="712372" y="1487339"/>
            <a:ext cx="6091876" cy="875251"/>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片 22">
            <a:extLst>
              <a:ext uri="{FF2B5EF4-FFF2-40B4-BE49-F238E27FC236}">
                <a16:creationId xmlns:a16="http://schemas.microsoft.com/office/drawing/2014/main" id="{55B7514A-1D7F-4FD8-8964-1E4FFE6BA0F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274746" y="1599306"/>
            <a:ext cx="875251" cy="875251"/>
          </a:xfrm>
          <a:prstGeom prst="rect">
            <a:avLst/>
          </a:prstGeom>
        </p:spPr>
      </p:pic>
      <p:pic>
        <p:nvPicPr>
          <p:cNvPr id="24" name="图片 23">
            <a:extLst>
              <a:ext uri="{FF2B5EF4-FFF2-40B4-BE49-F238E27FC236}">
                <a16:creationId xmlns:a16="http://schemas.microsoft.com/office/drawing/2014/main" id="{250FD0A6-2555-42A2-BD55-3AFC198629C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233388" y="1924964"/>
            <a:ext cx="570860" cy="570860"/>
          </a:xfrm>
          <a:prstGeom prst="rect">
            <a:avLst/>
          </a:prstGeom>
        </p:spPr>
      </p:pic>
      <p:sp>
        <p:nvSpPr>
          <p:cNvPr id="40962" name="Rectangle 3"/>
          <p:cNvSpPr>
            <a:spLocks noGrp="1" noChangeArrowheads="1"/>
          </p:cNvSpPr>
          <p:nvPr>
            <p:ph type="body" idx="4294967295"/>
          </p:nvPr>
        </p:nvSpPr>
        <p:spPr>
          <a:xfrm>
            <a:off x="1165685" y="1723660"/>
            <a:ext cx="7546032" cy="646955"/>
          </a:xfrm>
        </p:spPr>
        <p:txBody>
          <a:bodyPr/>
          <a:lstStyle/>
          <a:p>
            <a:pPr marL="342900" lvl="2" indent="-342900" eaLnBrk="1" hangingPunct="1">
              <a:spcBef>
                <a:spcPct val="0"/>
              </a:spcBef>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经济学模型的一个例子：供求均衡模型</a:t>
            </a: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98450136"/>
      </p:ext>
    </p:extLst>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randombar(horizontal)">
                                      <p:cBhvr>
                                        <p:cTn id="7" dur="500"/>
                                        <p:tgtEl>
                                          <p:spTgt spid="22"/>
                                        </p:tgtEl>
                                      </p:cBhvr>
                                    </p:animEffect>
                                  </p:childTnLst>
                                </p:cTn>
                              </p:par>
                              <p:par>
                                <p:cTn id="8" presetID="53" presetClass="entr" presetSubtype="16"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 calcmode="lin" valueType="num">
                                      <p:cBhvr>
                                        <p:cTn id="10" dur="500" fill="hold"/>
                                        <p:tgtEl>
                                          <p:spTgt spid="23"/>
                                        </p:tgtEl>
                                        <p:attrNameLst>
                                          <p:attrName>ppt_w</p:attrName>
                                        </p:attrNameLst>
                                      </p:cBhvr>
                                      <p:tavLst>
                                        <p:tav tm="0">
                                          <p:val>
                                            <p:fltVal val="0"/>
                                          </p:val>
                                        </p:tav>
                                        <p:tav tm="100000">
                                          <p:val>
                                            <p:strVal val="#ppt_w"/>
                                          </p:val>
                                        </p:tav>
                                      </p:tavLst>
                                    </p:anim>
                                    <p:anim calcmode="lin" valueType="num">
                                      <p:cBhvr>
                                        <p:cTn id="11" dur="500" fill="hold"/>
                                        <p:tgtEl>
                                          <p:spTgt spid="23"/>
                                        </p:tgtEl>
                                        <p:attrNameLst>
                                          <p:attrName>ppt_h</p:attrName>
                                        </p:attrNameLst>
                                      </p:cBhvr>
                                      <p:tavLst>
                                        <p:tav tm="0">
                                          <p:val>
                                            <p:fltVal val="0"/>
                                          </p:val>
                                        </p:tav>
                                        <p:tav tm="100000">
                                          <p:val>
                                            <p:strVal val="#ppt_h"/>
                                          </p:val>
                                        </p:tav>
                                      </p:tavLst>
                                    </p:anim>
                                    <p:animEffect transition="in" filter="fade">
                                      <p:cBhvr>
                                        <p:cTn id="12" dur="500"/>
                                        <p:tgtEl>
                                          <p:spTgt spid="23"/>
                                        </p:tgtEl>
                                      </p:cBhvr>
                                    </p:animEffect>
                                  </p:childTnLst>
                                </p:cTn>
                              </p:par>
                              <p:par>
                                <p:cTn id="13" presetID="53" presetClass="entr" presetSubtype="16"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p:cTn id="15" dur="500" fill="hold"/>
                                        <p:tgtEl>
                                          <p:spTgt spid="24"/>
                                        </p:tgtEl>
                                        <p:attrNameLst>
                                          <p:attrName>ppt_w</p:attrName>
                                        </p:attrNameLst>
                                      </p:cBhvr>
                                      <p:tavLst>
                                        <p:tav tm="0">
                                          <p:val>
                                            <p:fltVal val="0"/>
                                          </p:val>
                                        </p:tav>
                                        <p:tav tm="100000">
                                          <p:val>
                                            <p:strVal val="#ppt_w"/>
                                          </p:val>
                                        </p:tav>
                                      </p:tavLst>
                                    </p:anim>
                                    <p:anim calcmode="lin" valueType="num">
                                      <p:cBhvr>
                                        <p:cTn id="16" dur="500" fill="hold"/>
                                        <p:tgtEl>
                                          <p:spTgt spid="24"/>
                                        </p:tgtEl>
                                        <p:attrNameLst>
                                          <p:attrName>ppt_h</p:attrName>
                                        </p:attrNameLst>
                                      </p:cBhvr>
                                      <p:tavLst>
                                        <p:tav tm="0">
                                          <p:val>
                                            <p:fltVal val="0"/>
                                          </p:val>
                                        </p:tav>
                                        <p:tav tm="100000">
                                          <p:val>
                                            <p:strVal val="#ppt_h"/>
                                          </p:val>
                                        </p:tav>
                                      </p:tavLst>
                                    </p:anim>
                                    <p:animEffect transition="in" filter="fade">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0962">
                                            <p:txEl>
                                              <p:pRg st="0" end="0"/>
                                            </p:txEl>
                                          </p:spTgt>
                                        </p:tgtEl>
                                        <p:attrNameLst>
                                          <p:attrName>style.visibility</p:attrName>
                                        </p:attrNameLst>
                                      </p:cBhvr>
                                      <p:to>
                                        <p:strVal val="visible"/>
                                      </p:to>
                                    </p:set>
                                    <p:animEffect transition="in" filter="wipe(left)">
                                      <p:cBhvr>
                                        <p:cTn id="22" dur="500"/>
                                        <p:tgtEl>
                                          <p:spTgt spid="4096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left)">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500"/>
                                        <p:tgtEl>
                                          <p:spTgt spid="10"/>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left)">
                                      <p:cBhvr>
                                        <p:cTn id="44" dur="5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wipe(left)">
                                      <p:cBhvr>
                                        <p:cTn id="49" dur="500"/>
                                        <p:tgtEl>
                                          <p:spTgt spid="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left)">
                                      <p:cBhvr>
                                        <p:cTn id="54" dur="500"/>
                                        <p:tgtEl>
                                          <p:spTgt spid="13"/>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14" presetClass="entr" presetSubtype="10" fill="hold" grpId="0"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randombar(horizontal)">
                                      <p:cBhvr>
                                        <p:cTn id="62" dur="500"/>
                                        <p:tgtEl>
                                          <p:spTgt spid="12"/>
                                        </p:tgtEl>
                                      </p:cBhvr>
                                    </p:animEffect>
                                  </p:childTnLst>
                                </p:cTn>
                              </p:par>
                              <p:par>
                                <p:cTn id="63" presetID="14" presetClass="entr" presetSubtype="1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randombar(horizontal)">
                                      <p:cBhvr>
                                        <p:cTn id="6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9" grpId="0" animBg="1"/>
      <p:bldP spid="14" grpId="0" animBg="1"/>
      <p:bldP spid="7" grpId="0"/>
      <p:bldP spid="10" grpId="0"/>
      <p:bldP spid="13" grpId="0"/>
      <p:bldP spid="8" grpId="0" animBg="1"/>
      <p:bldP spid="19" grpId="0" animBg="1"/>
      <p:bldP spid="20" grpId="0" animBg="1"/>
      <p:bldP spid="21" grpId="0"/>
      <p:bldP spid="22" grpId="0" animBg="1"/>
      <p:bldP spid="40962"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右箭头标注 19"/>
          <p:cNvSpPr/>
          <p:nvPr/>
        </p:nvSpPr>
        <p:spPr bwMode="auto">
          <a:xfrm>
            <a:off x="2792680" y="3063518"/>
            <a:ext cx="3607296" cy="2376264"/>
          </a:xfrm>
          <a:prstGeom prst="rightArrowCallout">
            <a:avLst/>
          </a:prstGeom>
          <a:solidFill>
            <a:srgbClr val="FFC000">
              <a:alpha val="40000"/>
            </a:srgbClr>
          </a:solidFill>
          <a:ln>
            <a:noFill/>
          </a:ln>
          <a:effec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 name="矩形 6"/>
          <p:cNvSpPr/>
          <p:nvPr/>
        </p:nvSpPr>
        <p:spPr>
          <a:xfrm>
            <a:off x="702019" y="3320250"/>
            <a:ext cx="2153344" cy="400110"/>
          </a:xfrm>
          <a:prstGeom prst="rect">
            <a:avLst/>
          </a:prstGeom>
        </p:spPr>
        <p:txBody>
          <a:bodyPr wrap="square">
            <a:spAutoFit/>
          </a:bodyPr>
          <a:lstStyle/>
          <a:p>
            <a:pPr marL="342900" indent="-342900" eaLnBrk="1" hangingPunct="1">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行为方程</a:t>
            </a:r>
          </a:p>
        </p:txBody>
      </p:sp>
      <p:sp>
        <p:nvSpPr>
          <p:cNvPr id="10" name="矩形 9"/>
          <p:cNvSpPr/>
          <p:nvPr/>
        </p:nvSpPr>
        <p:spPr>
          <a:xfrm>
            <a:off x="611560" y="4888161"/>
            <a:ext cx="2153344" cy="400110"/>
          </a:xfrm>
          <a:prstGeom prst="rect">
            <a:avLst/>
          </a:prstGeom>
        </p:spPr>
        <p:txBody>
          <a:bodyPr wrap="square">
            <a:spAutoFit/>
          </a:bodyPr>
          <a:lstStyle/>
          <a:p>
            <a:pPr marL="457200" indent="-457200" eaLnBrk="1" hangingPunct="1">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均衡条件</a:t>
            </a:r>
          </a:p>
        </p:txBody>
      </p:sp>
      <p:grpSp>
        <p:nvGrpSpPr>
          <p:cNvPr id="2" name="组合 1">
            <a:extLst>
              <a:ext uri="{FF2B5EF4-FFF2-40B4-BE49-F238E27FC236}">
                <a16:creationId xmlns:a16="http://schemas.microsoft.com/office/drawing/2014/main" id="{E496D4A2-48A1-42F0-9239-4B8097E495D3}"/>
              </a:ext>
            </a:extLst>
          </p:cNvPr>
          <p:cNvGrpSpPr/>
          <p:nvPr/>
        </p:nvGrpSpPr>
        <p:grpSpPr>
          <a:xfrm>
            <a:off x="5462179" y="4966204"/>
            <a:ext cx="1154685" cy="648072"/>
            <a:chOff x="6476472" y="3746353"/>
            <a:chExt cx="1154685" cy="648072"/>
          </a:xfrm>
        </p:grpSpPr>
        <p:sp>
          <p:nvSpPr>
            <p:cNvPr id="14" name="波形 13"/>
            <p:cNvSpPr/>
            <p:nvPr/>
          </p:nvSpPr>
          <p:spPr bwMode="auto">
            <a:xfrm>
              <a:off x="6476472" y="3746353"/>
              <a:ext cx="1154685" cy="648072"/>
            </a:xfrm>
            <a:prstGeom prst="wave">
              <a:avLst/>
            </a:prstGeom>
            <a:solidFill>
              <a:srgbClr val="FFC000">
                <a:alpha val="37000"/>
              </a:srgbClr>
            </a:solidFill>
            <a:ln>
              <a:noFill/>
            </a:ln>
            <a:effec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3" name="矩形 12"/>
            <p:cNvSpPr/>
            <p:nvPr/>
          </p:nvSpPr>
          <p:spPr>
            <a:xfrm>
              <a:off x="6602408" y="3852910"/>
              <a:ext cx="646331" cy="369332"/>
            </a:xfrm>
            <a:prstGeom prst="rect">
              <a:avLst/>
            </a:prstGeom>
          </p:spPr>
          <p:txBody>
            <a:bodyPr wrap="none">
              <a:spAutoFit/>
            </a:bodyPr>
            <a:lstStyle/>
            <a:p>
              <a:pPr marL="0" lvl="1" indent="-457200" eaLnBrk="1" hangingPunct="1"/>
              <a:r>
                <a:rPr lang="zh-CN" altLang="en-US" dirty="0">
                  <a:solidFill>
                    <a:srgbClr val="000000"/>
                  </a:solidFill>
                  <a:latin typeface="微软雅黑" panose="020B0503020204020204" pitchFamily="34" charset="-122"/>
                  <a:ea typeface="微软雅黑" panose="020B0503020204020204" pitchFamily="34" charset="-122"/>
                </a:rPr>
                <a:t>求解</a:t>
              </a:r>
              <a:endParaRPr lang="en-US" altLang="zh-CN" dirty="0">
                <a:solidFill>
                  <a:srgbClr val="000000"/>
                </a:solidFill>
                <a:latin typeface="微软雅黑" panose="020B0503020204020204" pitchFamily="34" charset="-122"/>
                <a:ea typeface="微软雅黑" panose="020B0503020204020204" pitchFamily="34" charset="-122"/>
              </a:endParaRPr>
            </a:p>
          </p:txBody>
        </p:sp>
      </p:grpSp>
      <p:sp>
        <p:nvSpPr>
          <p:cNvPr id="19" name="矩形 18"/>
          <p:cNvSpPr/>
          <p:nvPr/>
        </p:nvSpPr>
        <p:spPr>
          <a:xfrm>
            <a:off x="7092280" y="5103605"/>
            <a:ext cx="110799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蛛网模型</a:t>
            </a:r>
          </a:p>
        </p:txBody>
      </p:sp>
      <p:sp>
        <p:nvSpPr>
          <p:cNvPr id="21" name="矩形 20">
            <a:extLst>
              <a:ext uri="{FF2B5EF4-FFF2-40B4-BE49-F238E27FC236}">
                <a16:creationId xmlns:a16="http://schemas.microsoft.com/office/drawing/2014/main" id="{61D3F290-13B1-44E6-9945-62004AE4BABC}"/>
              </a:ext>
            </a:extLst>
          </p:cNvPr>
          <p:cNvSpPr/>
          <p:nvPr/>
        </p:nvSpPr>
        <p:spPr>
          <a:xfrm>
            <a:off x="467544" y="548680"/>
            <a:ext cx="323838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四、经济模型的结构 </a:t>
            </a:r>
          </a:p>
        </p:txBody>
      </p:sp>
      <p:sp>
        <p:nvSpPr>
          <p:cNvPr id="22" name="矩形 21">
            <a:extLst>
              <a:ext uri="{FF2B5EF4-FFF2-40B4-BE49-F238E27FC236}">
                <a16:creationId xmlns:a16="http://schemas.microsoft.com/office/drawing/2014/main" id="{8FC5DD17-5946-4BBC-8D8A-BCC230A8A7A8}"/>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879A37CE-1FB2-45B6-B01D-BD08A8BC79F5}"/>
                  </a:ext>
                </a:extLst>
              </p:cNvPr>
              <p:cNvSpPr txBox="1"/>
              <p:nvPr/>
            </p:nvSpPr>
            <p:spPr>
              <a:xfrm>
                <a:off x="2792680" y="3173934"/>
                <a:ext cx="2355384" cy="559769"/>
              </a:xfrm>
              <a:prstGeom prst="rect">
                <a:avLst/>
              </a:prstGeom>
              <a:solidFill>
                <a:schemeClr val="bg1">
                  <a:lumMod val="75000"/>
                </a:schemeClr>
              </a:solidFill>
            </p:spPr>
            <p:txBody>
              <a:bodyPr wrap="square" rtlCol="0">
                <a:spAutoFit/>
              </a:bodyPr>
              <a:lstStyle/>
              <a:p>
                <a14:m>
                  <m:oMath xmlns:m="http://schemas.openxmlformats.org/officeDocument/2006/math">
                    <m:sSup>
                      <m:sSupPr>
                        <m:ctrlPr>
                          <a:rPr lang="pt-BR" altLang="zh-CN" i="1" smtClean="0">
                            <a:solidFill>
                              <a:schemeClr val="tx1">
                                <a:lumMod val="95000"/>
                                <a:lumOff val="5000"/>
                              </a:schemeClr>
                            </a:solidFill>
                            <a:latin typeface="Cambria Math" panose="02040503050406030204" pitchFamily="18" charset="0"/>
                          </a:rPr>
                        </m:ctrlPr>
                      </m:sSupPr>
                      <m:e>
                        <m:r>
                          <a:rPr lang="en-US" altLang="zh-CN" i="1">
                            <a:solidFill>
                              <a:schemeClr val="tx1">
                                <a:lumMod val="95000"/>
                                <a:lumOff val="5000"/>
                              </a:schemeClr>
                            </a:solidFill>
                            <a:latin typeface="Cambria Math" panose="02040503050406030204" pitchFamily="18" charset="0"/>
                          </a:rPr>
                          <m:t>𝑄</m:t>
                        </m:r>
                      </m:e>
                      <m:sup>
                        <m:r>
                          <a:rPr lang="en-US" altLang="zh-CN" i="1">
                            <a:solidFill>
                              <a:schemeClr val="tx1">
                                <a:lumMod val="95000"/>
                                <a:lumOff val="5000"/>
                              </a:schemeClr>
                            </a:solidFill>
                            <a:latin typeface="Cambria Math" panose="02040503050406030204" pitchFamily="18" charset="0"/>
                          </a:rPr>
                          <m:t> </m:t>
                        </m:r>
                      </m:sup>
                    </m:sSup>
                    <m:m>
                      <m:mPr>
                        <m:mcs>
                          <m:mc>
                            <m:mcPr>
                              <m:count m:val="1"/>
                              <m:mcJc m:val="center"/>
                            </m:mcPr>
                          </m:mc>
                        </m:mcs>
                        <m:ctrlPr>
                          <a:rPr lang="pt-BR" altLang="zh-CN" i="1">
                            <a:solidFill>
                              <a:schemeClr val="tx1">
                                <a:lumMod val="95000"/>
                                <a:lumOff val="5000"/>
                              </a:schemeClr>
                            </a:solidFill>
                            <a:latin typeface="Cambria Math" panose="02040503050406030204" pitchFamily="18" charset="0"/>
                          </a:rPr>
                        </m:ctrlPr>
                      </m:mPr>
                      <m:mr>
                        <m:e>
                          <m:r>
                            <m:rPr>
                              <m:brk m:alnAt="7"/>
                            </m:rPr>
                            <a:rPr lang="en-US" altLang="zh-CN" i="1">
                              <a:solidFill>
                                <a:schemeClr val="tx1">
                                  <a:lumMod val="95000"/>
                                  <a:lumOff val="5000"/>
                                </a:schemeClr>
                              </a:solidFill>
                              <a:latin typeface="Cambria Math" panose="02040503050406030204" pitchFamily="18" charset="0"/>
                            </a:rPr>
                            <m:t>𝑑</m:t>
                          </m:r>
                        </m:e>
                      </m:mr>
                      <m:mr>
                        <m:e>
                          <m:r>
                            <a:rPr lang="en-US" altLang="zh-CN" i="1">
                              <a:solidFill>
                                <a:schemeClr val="tx1">
                                  <a:lumMod val="95000"/>
                                  <a:lumOff val="5000"/>
                                </a:schemeClr>
                              </a:solidFill>
                              <a:latin typeface="Cambria Math" panose="02040503050406030204" pitchFamily="18" charset="0"/>
                            </a:rPr>
                            <m:t>𝑡</m:t>
                          </m:r>
                        </m:e>
                      </m:mr>
                    </m:m>
                    <m:r>
                      <a:rPr lang="en-US" altLang="zh-CN" b="0" i="1" smtClean="0">
                        <a:solidFill>
                          <a:schemeClr val="tx1">
                            <a:lumMod val="95000"/>
                            <a:lumOff val="5000"/>
                          </a:schemeClr>
                        </a:solidFill>
                        <a:latin typeface="Cambria Math" panose="02040503050406030204" pitchFamily="18" charset="0"/>
                      </a:rPr>
                      <m:t>=</m:t>
                    </m:r>
                  </m:oMath>
                </a14:m>
                <a:r>
                  <a:rPr lang="en-US" altLang="zh-CN" dirty="0">
                    <a:solidFill>
                      <a:schemeClr val="tx1">
                        <a:lumMod val="95000"/>
                        <a:lumOff val="5000"/>
                      </a:schemeClr>
                    </a:solidFill>
                  </a:rPr>
                  <a:t> </a:t>
                </a:r>
                <a14:m>
                  <m:oMath xmlns:m="http://schemas.openxmlformats.org/officeDocument/2006/math">
                    <m:r>
                      <a:rPr lang="el-GR" altLang="zh-CN" i="1">
                        <a:solidFill>
                          <a:schemeClr val="tx1">
                            <a:lumMod val="95000"/>
                            <a:lumOff val="5000"/>
                          </a:schemeClr>
                        </a:solidFill>
                        <a:latin typeface="Cambria Math" panose="02040503050406030204" pitchFamily="18" charset="0"/>
                      </a:rPr>
                      <m:t>𝛼</m:t>
                    </m:r>
                    <m:r>
                      <a:rPr lang="en-US" altLang="zh-CN" i="1">
                        <a:solidFill>
                          <a:schemeClr val="tx1">
                            <a:lumMod val="95000"/>
                            <a:lumOff val="5000"/>
                          </a:schemeClr>
                        </a:solidFill>
                        <a:latin typeface="Cambria Math" panose="02040503050406030204" pitchFamily="18" charset="0"/>
                      </a:rPr>
                      <m:t>−</m:t>
                    </m:r>
                    <m:r>
                      <a:rPr lang="el-GR" altLang="zh-CN" i="1">
                        <a:solidFill>
                          <a:schemeClr val="tx1">
                            <a:lumMod val="95000"/>
                            <a:lumOff val="5000"/>
                          </a:schemeClr>
                        </a:solidFill>
                        <a:latin typeface="Cambria Math" panose="02040503050406030204" pitchFamily="18" charset="0"/>
                      </a:rPr>
                      <m:t>𝛽</m:t>
                    </m:r>
                    <m:r>
                      <m:rPr>
                        <m:nor/>
                      </m:rPr>
                      <a:rPr lang="en-US" altLang="zh-CN" spc="150" dirty="0">
                        <a:solidFill>
                          <a:schemeClr val="tx1">
                            <a:lumMod val="95000"/>
                            <a:lumOff val="5000"/>
                          </a:schemeClr>
                        </a:solidFill>
                        <a:latin typeface="微软雅黑" panose="020B0503020204020204" pitchFamily="34" charset="-122"/>
                        <a:ea typeface="微软雅黑" panose="020B0503020204020204" pitchFamily="34" charset="-122"/>
                      </a:rPr>
                      <m:t>P</m:t>
                    </m:r>
                    <m:r>
                      <m:rPr>
                        <m:nor/>
                      </m:rPr>
                      <a:rPr lang="en-US" altLang="zh-CN" b="0" i="0" spc="150" baseline="-25000" dirty="0" smtClean="0">
                        <a:solidFill>
                          <a:schemeClr val="tx1">
                            <a:lumMod val="95000"/>
                            <a:lumOff val="5000"/>
                          </a:schemeClr>
                        </a:solidFill>
                        <a:latin typeface="微软雅黑" panose="020B0503020204020204" pitchFamily="34" charset="-122"/>
                        <a:ea typeface="微软雅黑" panose="020B0503020204020204" pitchFamily="34" charset="-122"/>
                      </a:rPr>
                      <m:t>t</m:t>
                    </m:r>
                  </m:oMath>
                </a14:m>
                <a:endParaRPr lang="zh-CN" altLang="en-US" dirty="0">
                  <a:solidFill>
                    <a:schemeClr val="tx1">
                      <a:lumMod val="95000"/>
                      <a:lumOff val="5000"/>
                    </a:schemeClr>
                  </a:solidFill>
                </a:endParaRPr>
              </a:p>
            </p:txBody>
          </p:sp>
        </mc:Choice>
        <mc:Fallback xmlns="">
          <p:sp>
            <p:nvSpPr>
              <p:cNvPr id="23" name="文本框 22">
                <a:extLst>
                  <a:ext uri="{FF2B5EF4-FFF2-40B4-BE49-F238E27FC236}">
                    <a16:creationId xmlns:a16="http://schemas.microsoft.com/office/drawing/2014/main" id="{879A37CE-1FB2-45B6-B01D-BD08A8BC79F5}"/>
                  </a:ext>
                </a:extLst>
              </p:cNvPr>
              <p:cNvSpPr txBox="1">
                <a:spLocks noRot="1" noChangeAspect="1" noMove="1" noResize="1" noEditPoints="1" noAdjustHandles="1" noChangeArrowheads="1" noChangeShapeType="1" noTextEdit="1"/>
              </p:cNvSpPr>
              <p:nvPr/>
            </p:nvSpPr>
            <p:spPr>
              <a:xfrm>
                <a:off x="2792680" y="3173934"/>
                <a:ext cx="2355384" cy="559769"/>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786033DB-6804-442C-B865-8DA4921ED096}"/>
                  </a:ext>
                </a:extLst>
              </p:cNvPr>
              <p:cNvSpPr txBox="1"/>
              <p:nvPr/>
            </p:nvSpPr>
            <p:spPr>
              <a:xfrm>
                <a:off x="2792680" y="3914544"/>
                <a:ext cx="2355384" cy="576312"/>
              </a:xfrm>
              <a:prstGeom prst="rect">
                <a:avLst/>
              </a:prstGeom>
              <a:solidFill>
                <a:schemeClr val="bg1">
                  <a:lumMod val="75000"/>
                </a:schemeClr>
              </a:solidFill>
            </p:spPr>
            <p:txBody>
              <a:bodyPr wrap="square" rtlCol="0">
                <a:spAutoFit/>
              </a:bodyPr>
              <a:lstStyle/>
              <a:p>
                <a14:m>
                  <m:oMath xmlns:m="http://schemas.openxmlformats.org/officeDocument/2006/math">
                    <m:sSup>
                      <m:sSupPr>
                        <m:ctrlPr>
                          <a:rPr lang="pt-BR" altLang="zh-CN" i="1" smtClean="0">
                            <a:solidFill>
                              <a:schemeClr val="tx1">
                                <a:lumMod val="95000"/>
                                <a:lumOff val="5000"/>
                              </a:schemeClr>
                            </a:solidFill>
                            <a:latin typeface="Cambria Math" panose="02040503050406030204" pitchFamily="18" charset="0"/>
                          </a:rPr>
                        </m:ctrlPr>
                      </m:sSupPr>
                      <m:e>
                        <m:r>
                          <a:rPr lang="en-US" altLang="zh-CN" b="0" i="1" smtClean="0">
                            <a:solidFill>
                              <a:schemeClr val="tx1">
                                <a:lumMod val="95000"/>
                                <a:lumOff val="5000"/>
                              </a:schemeClr>
                            </a:solidFill>
                            <a:latin typeface="Cambria Math" panose="02040503050406030204" pitchFamily="18" charset="0"/>
                          </a:rPr>
                          <m:t>𝑄</m:t>
                        </m:r>
                      </m:e>
                      <m:sup>
                        <m:r>
                          <a:rPr lang="en-US" altLang="zh-CN" b="0" i="1" smtClean="0">
                            <a:solidFill>
                              <a:schemeClr val="tx1">
                                <a:lumMod val="95000"/>
                                <a:lumOff val="5000"/>
                              </a:schemeClr>
                            </a:solidFill>
                            <a:latin typeface="Cambria Math" panose="02040503050406030204" pitchFamily="18" charset="0"/>
                          </a:rPr>
                          <m:t> </m:t>
                        </m:r>
                      </m:sup>
                    </m:sSup>
                    <m:m>
                      <m:mPr>
                        <m:mcs>
                          <m:mc>
                            <m:mcPr>
                              <m:count m:val="1"/>
                              <m:mcJc m:val="center"/>
                            </m:mcPr>
                          </m:mc>
                        </m:mcs>
                        <m:ctrlPr>
                          <a:rPr lang="pt-BR" altLang="zh-CN" i="1" smtClean="0">
                            <a:solidFill>
                              <a:schemeClr val="tx1">
                                <a:lumMod val="95000"/>
                                <a:lumOff val="5000"/>
                              </a:schemeClr>
                            </a:solidFill>
                            <a:latin typeface="Cambria Math" panose="02040503050406030204" pitchFamily="18" charset="0"/>
                          </a:rPr>
                        </m:ctrlPr>
                      </m:mPr>
                      <m:mr>
                        <m:e>
                          <m:r>
                            <m:rPr>
                              <m:brk m:alnAt="7"/>
                            </m:rPr>
                            <a:rPr lang="en-US" altLang="zh-CN" b="0" i="1" smtClean="0">
                              <a:solidFill>
                                <a:schemeClr val="tx1">
                                  <a:lumMod val="95000"/>
                                  <a:lumOff val="5000"/>
                                </a:schemeClr>
                              </a:solidFill>
                              <a:latin typeface="Cambria Math" panose="02040503050406030204" pitchFamily="18" charset="0"/>
                            </a:rPr>
                            <m:t>8</m:t>
                          </m:r>
                        </m:e>
                      </m:mr>
                      <m:mr>
                        <m:e>
                          <m:r>
                            <a:rPr lang="en-US" altLang="zh-CN" b="0" i="1" smtClean="0">
                              <a:solidFill>
                                <a:schemeClr val="tx1">
                                  <a:lumMod val="95000"/>
                                  <a:lumOff val="5000"/>
                                </a:schemeClr>
                              </a:solidFill>
                              <a:latin typeface="Cambria Math" panose="02040503050406030204" pitchFamily="18" charset="0"/>
                            </a:rPr>
                            <m:t>𝑡</m:t>
                          </m:r>
                        </m:e>
                      </m:mr>
                    </m:m>
                    <m:r>
                      <a:rPr lang="en-US" altLang="zh-CN" b="0" i="1" smtClean="0">
                        <a:solidFill>
                          <a:schemeClr val="tx1">
                            <a:lumMod val="95000"/>
                            <a:lumOff val="5000"/>
                          </a:schemeClr>
                        </a:solidFill>
                        <a:latin typeface="Cambria Math" panose="02040503050406030204" pitchFamily="18" charset="0"/>
                      </a:rPr>
                      <m:t>=−</m:t>
                    </m:r>
                  </m:oMath>
                </a14:m>
                <a:r>
                  <a:rPr lang="en-US" altLang="zh-CN" dirty="0">
                    <a:solidFill>
                      <a:schemeClr val="tx1">
                        <a:lumMod val="95000"/>
                        <a:lumOff val="5000"/>
                      </a:schemeClr>
                    </a:solidFill>
                  </a:rPr>
                  <a:t> </a:t>
                </a:r>
                <a14:m>
                  <m:oMath xmlns:m="http://schemas.openxmlformats.org/officeDocument/2006/math">
                    <m:r>
                      <a:rPr lang="en-US" altLang="zh-CN" i="1" smtClean="0">
                        <a:solidFill>
                          <a:schemeClr val="tx1">
                            <a:lumMod val="95000"/>
                            <a:lumOff val="5000"/>
                          </a:schemeClr>
                        </a:solidFill>
                        <a:latin typeface="Cambria Math" panose="02040503050406030204" pitchFamily="18" charset="0"/>
                      </a:rPr>
                      <m:t>𝑦</m:t>
                    </m:r>
                    <m:r>
                      <a:rPr lang="en-US" altLang="zh-CN" b="0" i="0" smtClean="0">
                        <a:solidFill>
                          <a:schemeClr val="tx1">
                            <a:lumMod val="95000"/>
                            <a:lumOff val="5000"/>
                          </a:schemeClr>
                        </a:solidFill>
                        <a:latin typeface="Cambria Math" panose="02040503050406030204" pitchFamily="18" charset="0"/>
                      </a:rPr>
                      <m:t>+</m:t>
                    </m:r>
                    <m:r>
                      <a:rPr lang="en-US" altLang="zh-CN" b="0" i="0" smtClean="0">
                        <a:solidFill>
                          <a:schemeClr val="tx1">
                            <a:lumMod val="95000"/>
                            <a:lumOff val="5000"/>
                          </a:schemeClr>
                        </a:solidFill>
                        <a:latin typeface="Cambria Math" panose="02040503050406030204" pitchFamily="18" charset="0"/>
                      </a:rPr>
                      <m:t>𝛿</m:t>
                    </m:r>
                    <m:r>
                      <m:rPr>
                        <m:nor/>
                      </m:rPr>
                      <a:rPr lang="en-US" altLang="zh-CN" spc="150" dirty="0">
                        <a:solidFill>
                          <a:schemeClr val="tx1">
                            <a:lumMod val="95000"/>
                            <a:lumOff val="5000"/>
                          </a:schemeClr>
                        </a:solidFill>
                        <a:latin typeface="微软雅黑" panose="020B0503020204020204" pitchFamily="34" charset="-122"/>
                        <a:ea typeface="微软雅黑" panose="020B0503020204020204" pitchFamily="34" charset="-122"/>
                      </a:rPr>
                      <m:t>P</m:t>
                    </m:r>
                    <m:r>
                      <m:rPr>
                        <m:nor/>
                      </m:rPr>
                      <a:rPr lang="en-US" altLang="zh-CN" b="0" i="0" spc="150" baseline="-25000" dirty="0" smtClean="0">
                        <a:solidFill>
                          <a:schemeClr val="tx1">
                            <a:lumMod val="95000"/>
                            <a:lumOff val="5000"/>
                          </a:schemeClr>
                        </a:solidFill>
                        <a:latin typeface="微软雅黑" panose="020B0503020204020204" pitchFamily="34" charset="-122"/>
                        <a:ea typeface="微软雅黑" panose="020B0503020204020204" pitchFamily="34" charset="-122"/>
                      </a:rPr>
                      <m:t>t</m:t>
                    </m:r>
                    <m:r>
                      <m:rPr>
                        <m:nor/>
                      </m:rPr>
                      <a:rPr lang="en-US" altLang="zh-CN" b="0" i="0" spc="150" baseline="-25000" dirty="0" smtClean="0">
                        <a:solidFill>
                          <a:schemeClr val="tx1">
                            <a:lumMod val="95000"/>
                            <a:lumOff val="5000"/>
                          </a:schemeClr>
                        </a:solidFill>
                        <a:latin typeface="微软雅黑" panose="020B0503020204020204" pitchFamily="34" charset="-122"/>
                        <a:ea typeface="微软雅黑" panose="020B0503020204020204" pitchFamily="34" charset="-122"/>
                      </a:rPr>
                      <m:t>−1</m:t>
                    </m:r>
                  </m:oMath>
                </a14:m>
                <a:endParaRPr lang="zh-CN" altLang="en-US" dirty="0">
                  <a:solidFill>
                    <a:schemeClr val="tx1">
                      <a:lumMod val="95000"/>
                      <a:lumOff val="5000"/>
                    </a:schemeClr>
                  </a:solidFill>
                </a:endParaRPr>
              </a:p>
            </p:txBody>
          </p:sp>
        </mc:Choice>
        <mc:Fallback xmlns="">
          <p:sp>
            <p:nvSpPr>
              <p:cNvPr id="24" name="文本框 23">
                <a:extLst>
                  <a:ext uri="{FF2B5EF4-FFF2-40B4-BE49-F238E27FC236}">
                    <a16:creationId xmlns:a16="http://schemas.microsoft.com/office/drawing/2014/main" id="{786033DB-6804-442C-B865-8DA4921ED096}"/>
                  </a:ext>
                </a:extLst>
              </p:cNvPr>
              <p:cNvSpPr txBox="1">
                <a:spLocks noRot="1" noChangeAspect="1" noMove="1" noResize="1" noEditPoints="1" noAdjustHandles="1" noChangeArrowheads="1" noChangeShapeType="1" noTextEdit="1"/>
              </p:cNvSpPr>
              <p:nvPr/>
            </p:nvSpPr>
            <p:spPr>
              <a:xfrm>
                <a:off x="2792680" y="3914544"/>
                <a:ext cx="2355384" cy="57631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2D7DD441-1EF4-4F90-8872-F5B1F511F199}"/>
                  </a:ext>
                </a:extLst>
              </p:cNvPr>
              <p:cNvSpPr txBox="1"/>
              <p:nvPr/>
            </p:nvSpPr>
            <p:spPr>
              <a:xfrm>
                <a:off x="2792680" y="4725633"/>
                <a:ext cx="2355384" cy="578107"/>
              </a:xfrm>
              <a:prstGeom prst="rect">
                <a:avLst/>
              </a:prstGeom>
              <a:solidFill>
                <a:schemeClr val="bg1">
                  <a:lumMod val="75000"/>
                </a:schemeClr>
              </a:solidFill>
            </p:spPr>
            <p:txBody>
              <a:bodyPr wrap="square" rtlCol="0">
                <a:spAutoFit/>
              </a:bodyPr>
              <a:lstStyle/>
              <a:p>
                <a14:m>
                  <m:oMath xmlns:m="http://schemas.openxmlformats.org/officeDocument/2006/math">
                    <m:sSup>
                      <m:sSupPr>
                        <m:ctrlPr>
                          <a:rPr lang="pt-BR" altLang="zh-CN" i="1" smtClean="0">
                            <a:solidFill>
                              <a:schemeClr val="tx1">
                                <a:lumMod val="95000"/>
                                <a:lumOff val="5000"/>
                              </a:schemeClr>
                            </a:solidFill>
                            <a:latin typeface="Cambria Math" panose="02040503050406030204" pitchFamily="18" charset="0"/>
                          </a:rPr>
                        </m:ctrlPr>
                      </m:sSupPr>
                      <m:e>
                        <m:r>
                          <a:rPr lang="en-US" altLang="zh-CN" b="0" i="1" smtClean="0">
                            <a:solidFill>
                              <a:schemeClr val="tx1">
                                <a:lumMod val="95000"/>
                                <a:lumOff val="5000"/>
                              </a:schemeClr>
                            </a:solidFill>
                            <a:latin typeface="Cambria Math" panose="02040503050406030204" pitchFamily="18" charset="0"/>
                          </a:rPr>
                          <m:t>𝑄</m:t>
                        </m:r>
                      </m:e>
                      <m:sup>
                        <m:r>
                          <a:rPr lang="en-US" altLang="zh-CN" b="0" i="1" smtClean="0">
                            <a:solidFill>
                              <a:schemeClr val="tx1">
                                <a:lumMod val="95000"/>
                                <a:lumOff val="5000"/>
                              </a:schemeClr>
                            </a:solidFill>
                            <a:latin typeface="Cambria Math" panose="02040503050406030204" pitchFamily="18" charset="0"/>
                          </a:rPr>
                          <m:t> </m:t>
                        </m:r>
                      </m:sup>
                    </m:sSup>
                    <m:m>
                      <m:mPr>
                        <m:mcs>
                          <m:mc>
                            <m:mcPr>
                              <m:count m:val="1"/>
                              <m:mcJc m:val="center"/>
                            </m:mcPr>
                          </m:mc>
                        </m:mcs>
                        <m:ctrlPr>
                          <a:rPr lang="pt-BR" altLang="zh-CN" i="1" smtClean="0">
                            <a:solidFill>
                              <a:schemeClr val="tx1">
                                <a:lumMod val="95000"/>
                                <a:lumOff val="5000"/>
                              </a:schemeClr>
                            </a:solidFill>
                            <a:latin typeface="Cambria Math" panose="02040503050406030204" pitchFamily="18" charset="0"/>
                          </a:rPr>
                        </m:ctrlPr>
                      </m:mPr>
                      <m:mr>
                        <m:e>
                          <m:r>
                            <m:rPr>
                              <m:brk m:alnAt="7"/>
                            </m:rPr>
                            <a:rPr lang="en-US" altLang="zh-CN" i="1">
                              <a:solidFill>
                                <a:schemeClr val="tx1">
                                  <a:lumMod val="95000"/>
                                  <a:lumOff val="5000"/>
                                </a:schemeClr>
                              </a:solidFill>
                              <a:latin typeface="Cambria Math" panose="02040503050406030204" pitchFamily="18" charset="0"/>
                            </a:rPr>
                            <m:t>𝑑</m:t>
                          </m:r>
                        </m:e>
                      </m:mr>
                      <m:mr>
                        <m:e>
                          <m:r>
                            <a:rPr lang="en-US" altLang="zh-CN" i="1">
                              <a:solidFill>
                                <a:schemeClr val="tx1">
                                  <a:lumMod val="95000"/>
                                  <a:lumOff val="5000"/>
                                </a:schemeClr>
                              </a:solidFill>
                              <a:latin typeface="Cambria Math" panose="02040503050406030204" pitchFamily="18" charset="0"/>
                            </a:rPr>
                            <m:t>𝑡</m:t>
                          </m:r>
                        </m:e>
                      </m:mr>
                    </m:m>
                    <m:r>
                      <a:rPr lang="en-US" altLang="zh-CN" b="0" i="1" smtClean="0">
                        <a:solidFill>
                          <a:schemeClr val="tx1">
                            <a:lumMod val="95000"/>
                            <a:lumOff val="5000"/>
                          </a:schemeClr>
                        </a:solidFill>
                        <a:latin typeface="Cambria Math" panose="02040503050406030204" pitchFamily="18" charset="0"/>
                      </a:rPr>
                      <m:t>=</m:t>
                    </m:r>
                  </m:oMath>
                </a14:m>
                <a:r>
                  <a:rPr lang="pt-BR" altLang="zh-CN" dirty="0">
                    <a:solidFill>
                      <a:schemeClr val="tx1">
                        <a:lumMod val="95000"/>
                        <a:lumOff val="5000"/>
                      </a:schemeClr>
                    </a:solidFill>
                  </a:rPr>
                  <a:t> </a:t>
                </a:r>
                <a14:m>
                  <m:oMath xmlns:m="http://schemas.openxmlformats.org/officeDocument/2006/math">
                    <m:sSup>
                      <m:sSupPr>
                        <m:ctrlPr>
                          <a:rPr lang="pt-BR" altLang="zh-CN" i="1" smtClean="0">
                            <a:solidFill>
                              <a:schemeClr val="tx1">
                                <a:lumMod val="95000"/>
                                <a:lumOff val="5000"/>
                              </a:schemeClr>
                            </a:solidFill>
                            <a:latin typeface="Cambria Math" panose="02040503050406030204" pitchFamily="18" charset="0"/>
                          </a:rPr>
                        </m:ctrlPr>
                      </m:sSupPr>
                      <m:e>
                        <m:r>
                          <a:rPr lang="en-US" altLang="zh-CN" i="1">
                            <a:solidFill>
                              <a:schemeClr val="tx1">
                                <a:lumMod val="95000"/>
                                <a:lumOff val="5000"/>
                              </a:schemeClr>
                            </a:solidFill>
                            <a:latin typeface="Cambria Math" panose="02040503050406030204" pitchFamily="18" charset="0"/>
                          </a:rPr>
                          <m:t>𝑄</m:t>
                        </m:r>
                      </m:e>
                      <m:sup>
                        <m:r>
                          <a:rPr lang="en-US" altLang="zh-CN" i="1">
                            <a:solidFill>
                              <a:schemeClr val="tx1">
                                <a:lumMod val="95000"/>
                                <a:lumOff val="5000"/>
                              </a:schemeClr>
                            </a:solidFill>
                            <a:latin typeface="Cambria Math" panose="02040503050406030204" pitchFamily="18" charset="0"/>
                          </a:rPr>
                          <m:t> </m:t>
                        </m:r>
                      </m:sup>
                    </m:sSup>
                    <m:m>
                      <m:mPr>
                        <m:mcs>
                          <m:mc>
                            <m:mcPr>
                              <m:count m:val="1"/>
                              <m:mcJc m:val="center"/>
                            </m:mcPr>
                          </m:mc>
                        </m:mcs>
                        <m:ctrlPr>
                          <a:rPr lang="pt-BR" altLang="zh-CN" i="1" smtClean="0">
                            <a:solidFill>
                              <a:schemeClr val="tx1">
                                <a:lumMod val="95000"/>
                                <a:lumOff val="5000"/>
                              </a:schemeClr>
                            </a:solidFill>
                            <a:latin typeface="Cambria Math" panose="02040503050406030204" pitchFamily="18" charset="0"/>
                          </a:rPr>
                        </m:ctrlPr>
                      </m:mPr>
                      <m:mr>
                        <m:e>
                          <m:r>
                            <m:rPr>
                              <m:brk m:alnAt="7"/>
                            </m:rPr>
                            <a:rPr lang="en-US" altLang="zh-CN" b="0" i="1" smtClean="0">
                              <a:solidFill>
                                <a:schemeClr val="tx1">
                                  <a:lumMod val="95000"/>
                                  <a:lumOff val="5000"/>
                                </a:schemeClr>
                              </a:solidFill>
                              <a:latin typeface="Cambria Math" panose="02040503050406030204" pitchFamily="18" charset="0"/>
                            </a:rPr>
                            <m:t>8</m:t>
                          </m:r>
                        </m:e>
                      </m:mr>
                      <m:mr>
                        <m:e>
                          <m:r>
                            <a:rPr lang="en-US" altLang="zh-CN" i="1">
                              <a:solidFill>
                                <a:schemeClr val="tx1">
                                  <a:lumMod val="95000"/>
                                  <a:lumOff val="5000"/>
                                </a:schemeClr>
                              </a:solidFill>
                              <a:latin typeface="Cambria Math" panose="02040503050406030204" pitchFamily="18" charset="0"/>
                            </a:rPr>
                            <m:t>𝑡</m:t>
                          </m:r>
                        </m:e>
                      </m:mr>
                    </m:m>
                  </m:oMath>
                </a14:m>
                <a:endParaRPr lang="zh-CN" altLang="en-US" dirty="0">
                  <a:solidFill>
                    <a:schemeClr val="tx1">
                      <a:lumMod val="95000"/>
                      <a:lumOff val="5000"/>
                    </a:schemeClr>
                  </a:solidFill>
                </a:endParaRPr>
              </a:p>
            </p:txBody>
          </p:sp>
        </mc:Choice>
        <mc:Fallback xmlns="">
          <p:sp>
            <p:nvSpPr>
              <p:cNvPr id="25" name="文本框 24">
                <a:extLst>
                  <a:ext uri="{FF2B5EF4-FFF2-40B4-BE49-F238E27FC236}">
                    <a16:creationId xmlns:a16="http://schemas.microsoft.com/office/drawing/2014/main" id="{2D7DD441-1EF4-4F90-8872-F5B1F511F199}"/>
                  </a:ext>
                </a:extLst>
              </p:cNvPr>
              <p:cNvSpPr txBox="1">
                <a:spLocks noRot="1" noChangeAspect="1" noMove="1" noResize="1" noEditPoints="1" noAdjustHandles="1" noChangeArrowheads="1" noChangeShapeType="1" noTextEdit="1"/>
              </p:cNvSpPr>
              <p:nvPr/>
            </p:nvSpPr>
            <p:spPr>
              <a:xfrm>
                <a:off x="2792680" y="4725633"/>
                <a:ext cx="2355384" cy="578107"/>
              </a:xfrm>
              <a:prstGeom prst="rect">
                <a:avLst/>
              </a:prstGeom>
              <a:blipFill>
                <a:blip r:embed="rId5"/>
                <a:stretch>
                  <a:fillRect/>
                </a:stretch>
              </a:blipFill>
            </p:spPr>
            <p:txBody>
              <a:bodyPr/>
              <a:lstStyle/>
              <a:p>
                <a:r>
                  <a:rPr lang="zh-CN" altLang="en-US">
                    <a:noFill/>
                  </a:rPr>
                  <a:t> </a:t>
                </a:r>
              </a:p>
            </p:txBody>
          </p:sp>
        </mc:Fallback>
      </mc:AlternateContent>
      <p:sp>
        <p:nvSpPr>
          <p:cNvPr id="27" name="矩形 26">
            <a:extLst>
              <a:ext uri="{FF2B5EF4-FFF2-40B4-BE49-F238E27FC236}">
                <a16:creationId xmlns:a16="http://schemas.microsoft.com/office/drawing/2014/main" id="{F80B1A59-903E-43E2-8AE6-B476F3C1F257}"/>
              </a:ext>
            </a:extLst>
          </p:cNvPr>
          <p:cNvSpPr/>
          <p:nvPr/>
        </p:nvSpPr>
        <p:spPr>
          <a:xfrm>
            <a:off x="712371" y="1487339"/>
            <a:ext cx="6536367" cy="875251"/>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8" name="图片 27">
            <a:extLst>
              <a:ext uri="{FF2B5EF4-FFF2-40B4-BE49-F238E27FC236}">
                <a16:creationId xmlns:a16="http://schemas.microsoft.com/office/drawing/2014/main" id="{52724879-313E-4135-AEAA-6B804C64FC9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274746" y="1599306"/>
            <a:ext cx="875251" cy="875251"/>
          </a:xfrm>
          <a:prstGeom prst="rect">
            <a:avLst/>
          </a:prstGeom>
        </p:spPr>
      </p:pic>
      <p:pic>
        <p:nvPicPr>
          <p:cNvPr id="29" name="图片 28">
            <a:extLst>
              <a:ext uri="{FF2B5EF4-FFF2-40B4-BE49-F238E27FC236}">
                <a16:creationId xmlns:a16="http://schemas.microsoft.com/office/drawing/2014/main" id="{32137C56-09C9-490B-A62C-0D0C676BA8A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677878" y="1899104"/>
            <a:ext cx="570860" cy="570860"/>
          </a:xfrm>
          <a:prstGeom prst="rect">
            <a:avLst/>
          </a:prstGeom>
        </p:spPr>
      </p:pic>
      <p:sp>
        <p:nvSpPr>
          <p:cNvPr id="30" name="Rectangle 3">
            <a:extLst>
              <a:ext uri="{FF2B5EF4-FFF2-40B4-BE49-F238E27FC236}">
                <a16:creationId xmlns:a16="http://schemas.microsoft.com/office/drawing/2014/main" id="{54EECF85-8D2B-4CB2-81D8-3DBFF1121F2B}"/>
              </a:ext>
            </a:extLst>
          </p:cNvPr>
          <p:cNvSpPr txBox="1">
            <a:spLocks noChangeArrowheads="1"/>
          </p:cNvSpPr>
          <p:nvPr/>
        </p:nvSpPr>
        <p:spPr bwMode="auto">
          <a:xfrm>
            <a:off x="1021733" y="1698941"/>
            <a:ext cx="7546032" cy="429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2" indent="-342900" eaLnBrk="1" hangingPunct="1">
              <a:spcBef>
                <a:spcPct val="0"/>
              </a:spcBef>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经济学模型的另外一个例子：一个动态经济模型</a:t>
            </a:r>
          </a:p>
        </p:txBody>
      </p:sp>
      <p:sp>
        <p:nvSpPr>
          <p:cNvPr id="32" name="六边形 31">
            <a:extLst>
              <a:ext uri="{FF2B5EF4-FFF2-40B4-BE49-F238E27FC236}">
                <a16:creationId xmlns:a16="http://schemas.microsoft.com/office/drawing/2014/main" id="{EC8DDAF7-FFCE-437C-B7D5-9E206F7F9616}"/>
              </a:ext>
            </a:extLst>
          </p:cNvPr>
          <p:cNvSpPr/>
          <p:nvPr/>
        </p:nvSpPr>
        <p:spPr bwMode="auto">
          <a:xfrm>
            <a:off x="6486255" y="3452061"/>
            <a:ext cx="2409203" cy="1456069"/>
          </a:xfrm>
          <a:prstGeom prst="hexagon">
            <a:avLst/>
          </a:prstGeom>
          <a:solidFill>
            <a:srgbClr val="FFC000">
              <a:alpha val="40000"/>
            </a:srgbClr>
          </a:solidFill>
          <a:ln>
            <a:noFill/>
          </a:ln>
          <a:effec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8" name="矩形 17"/>
          <p:cNvSpPr/>
          <p:nvPr/>
        </p:nvSpPr>
        <p:spPr>
          <a:xfrm>
            <a:off x="6697626" y="3755256"/>
            <a:ext cx="2167789" cy="923330"/>
          </a:xfrm>
          <a:prstGeom prst="rect">
            <a:avLst/>
          </a:prstGeom>
        </p:spPr>
        <p:txBody>
          <a:bodyPr wrap="square">
            <a:spAutoFit/>
          </a:bodyPr>
          <a:lstStyle/>
          <a:p>
            <a:pPr eaLnBrk="1" hangingPunct="1"/>
            <a:r>
              <a:rPr lang="zh-CN" altLang="en-US" dirty="0">
                <a:latin typeface="微软雅黑" panose="020B0503020204020204" pitchFamily="34" charset="-122"/>
                <a:ea typeface="微软雅黑" panose="020B0503020204020204" pitchFamily="34" charset="-122"/>
              </a:rPr>
              <a:t>结果是动态的，是否均衡取决于供给和需求弹性的比较</a:t>
            </a:r>
          </a:p>
        </p:txBody>
      </p:sp>
    </p:spTree>
    <p:extLst>
      <p:ext uri="{BB962C8B-B14F-4D97-AF65-F5344CB8AC3E}">
        <p14:creationId xmlns:p14="http://schemas.microsoft.com/office/powerpoint/2010/main" val="4105171501"/>
      </p:ext>
    </p:extLst>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randombar(horizontal)">
                                      <p:cBhvr>
                                        <p:cTn id="7" dur="500"/>
                                        <p:tgtEl>
                                          <p:spTgt spid="27"/>
                                        </p:tgtEl>
                                      </p:cBhvr>
                                    </p:animEffect>
                                  </p:childTnLst>
                                </p:cTn>
                              </p:par>
                              <p:par>
                                <p:cTn id="8" presetID="53" presetClass="entr" presetSubtype="16"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 calcmode="lin" valueType="num">
                                      <p:cBhvr>
                                        <p:cTn id="10" dur="500" fill="hold"/>
                                        <p:tgtEl>
                                          <p:spTgt spid="28"/>
                                        </p:tgtEl>
                                        <p:attrNameLst>
                                          <p:attrName>ppt_w</p:attrName>
                                        </p:attrNameLst>
                                      </p:cBhvr>
                                      <p:tavLst>
                                        <p:tav tm="0">
                                          <p:val>
                                            <p:fltVal val="0"/>
                                          </p:val>
                                        </p:tav>
                                        <p:tav tm="100000">
                                          <p:val>
                                            <p:strVal val="#ppt_w"/>
                                          </p:val>
                                        </p:tav>
                                      </p:tavLst>
                                    </p:anim>
                                    <p:anim calcmode="lin" valueType="num">
                                      <p:cBhvr>
                                        <p:cTn id="11" dur="500" fill="hold"/>
                                        <p:tgtEl>
                                          <p:spTgt spid="28"/>
                                        </p:tgtEl>
                                        <p:attrNameLst>
                                          <p:attrName>ppt_h</p:attrName>
                                        </p:attrNameLst>
                                      </p:cBhvr>
                                      <p:tavLst>
                                        <p:tav tm="0">
                                          <p:val>
                                            <p:fltVal val="0"/>
                                          </p:val>
                                        </p:tav>
                                        <p:tav tm="100000">
                                          <p:val>
                                            <p:strVal val="#ppt_h"/>
                                          </p:val>
                                        </p:tav>
                                      </p:tavLst>
                                    </p:anim>
                                    <p:animEffect transition="in" filter="fade">
                                      <p:cBhvr>
                                        <p:cTn id="12" dur="500"/>
                                        <p:tgtEl>
                                          <p:spTgt spid="28"/>
                                        </p:tgtEl>
                                      </p:cBhvr>
                                    </p:animEffect>
                                  </p:childTnLst>
                                </p:cTn>
                              </p:par>
                              <p:par>
                                <p:cTn id="13" presetID="53" presetClass="entr" presetSubtype="16"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p:cTn id="15" dur="500" fill="hold"/>
                                        <p:tgtEl>
                                          <p:spTgt spid="29"/>
                                        </p:tgtEl>
                                        <p:attrNameLst>
                                          <p:attrName>ppt_w</p:attrName>
                                        </p:attrNameLst>
                                      </p:cBhvr>
                                      <p:tavLst>
                                        <p:tav tm="0">
                                          <p:val>
                                            <p:fltVal val="0"/>
                                          </p:val>
                                        </p:tav>
                                        <p:tav tm="100000">
                                          <p:val>
                                            <p:strVal val="#ppt_w"/>
                                          </p:val>
                                        </p:tav>
                                      </p:tavLst>
                                    </p:anim>
                                    <p:anim calcmode="lin" valueType="num">
                                      <p:cBhvr>
                                        <p:cTn id="16" dur="500" fill="hold"/>
                                        <p:tgtEl>
                                          <p:spTgt spid="29"/>
                                        </p:tgtEl>
                                        <p:attrNameLst>
                                          <p:attrName>ppt_h</p:attrName>
                                        </p:attrNameLst>
                                      </p:cBhvr>
                                      <p:tavLst>
                                        <p:tav tm="0">
                                          <p:val>
                                            <p:fltVal val="0"/>
                                          </p:val>
                                        </p:tav>
                                        <p:tav tm="100000">
                                          <p:val>
                                            <p:strVal val="#ppt_h"/>
                                          </p:val>
                                        </p:tav>
                                      </p:tavLst>
                                    </p:anim>
                                    <p:animEffect transition="in" filter="fade">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
                                            <p:txEl>
                                              <p:pRg st="0" end="0"/>
                                            </p:txEl>
                                          </p:spTgt>
                                        </p:tgtEl>
                                        <p:attrNameLst>
                                          <p:attrName>style.visibility</p:attrName>
                                        </p:attrNameLst>
                                      </p:cBhvr>
                                      <p:to>
                                        <p:strVal val="visible"/>
                                      </p:to>
                                    </p:set>
                                    <p:animEffect transition="in" filter="wipe(left)">
                                      <p:cBhvr>
                                        <p:cTn id="22" dur="500"/>
                                        <p:tgtEl>
                                          <p:spTgt spid="3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left)">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childTnLst>
                                </p:cTn>
                              </p:par>
                            </p:childTnLst>
                          </p:cTn>
                        </p:par>
                        <p:par>
                          <p:cTn id="42" fill="hold">
                            <p:stCondLst>
                              <p:cond delay="0"/>
                            </p:stCondLst>
                            <p:childTnLst>
                              <p:par>
                                <p:cTn id="43" presetID="22" presetClass="entr" presetSubtype="8" fill="hold" grpId="0" nodeType="after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left)">
                                      <p:cBhvr>
                                        <p:cTn id="45" dur="5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wipe(left)">
                                      <p:cBhvr>
                                        <p:cTn id="50" dur="500"/>
                                        <p:tgtEl>
                                          <p:spTgt spid="20"/>
                                        </p:tgtEl>
                                      </p:cBhvr>
                                    </p:animEffect>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randombar(horizontal)">
                                      <p:cBhvr>
                                        <p:cTn id="55" dur="500"/>
                                        <p:tgtEl>
                                          <p:spTgt spid="2"/>
                                        </p:tgtEl>
                                      </p:cBhvr>
                                    </p:animEffect>
                                  </p:childTnLst>
                                </p:cTn>
                              </p:par>
                            </p:childTnLst>
                          </p:cTn>
                        </p:par>
                      </p:childTnLst>
                    </p:cTn>
                  </p:par>
                  <p:par>
                    <p:cTn id="56" fill="hold">
                      <p:stCondLst>
                        <p:cond delay="indefinite"/>
                      </p:stCondLst>
                      <p:childTnLst>
                        <p:par>
                          <p:cTn id="57" fill="hold">
                            <p:stCondLst>
                              <p:cond delay="0"/>
                            </p:stCondLst>
                            <p:childTnLst>
                              <p:par>
                                <p:cTn id="58" presetID="14" presetClass="entr" presetSubtype="10" fill="hold" grpId="0" nodeType="click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randombar(horizontal)">
                                      <p:cBhvr>
                                        <p:cTn id="60" dur="500"/>
                                        <p:tgtEl>
                                          <p:spTgt spid="32"/>
                                        </p:tgtEl>
                                      </p:cBhvr>
                                    </p:animEffect>
                                  </p:childTnLst>
                                </p:cTn>
                              </p:par>
                              <p:par>
                                <p:cTn id="61" presetID="14" presetClass="entr" presetSubtype="10"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randombar(horizontal)">
                                      <p:cBhvr>
                                        <p:cTn id="63" dur="500"/>
                                        <p:tgtEl>
                                          <p:spTgt spid="18"/>
                                        </p:tgtEl>
                                      </p:cBhvr>
                                    </p:animEffect>
                                  </p:childTnLst>
                                </p:cTn>
                              </p:par>
                            </p:childTnLst>
                          </p:cTn>
                        </p:par>
                        <p:par>
                          <p:cTn id="64" fill="hold">
                            <p:stCondLst>
                              <p:cond delay="500"/>
                            </p:stCondLst>
                            <p:childTnLst>
                              <p:par>
                                <p:cTn id="65" presetID="22" presetClass="entr" presetSubtype="8" fill="hold" grpId="0" nodeType="after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wipe(left)">
                                      <p:cBhvr>
                                        <p:cTn id="6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7" grpId="0"/>
      <p:bldP spid="10" grpId="0"/>
      <p:bldP spid="19" grpId="0"/>
      <p:bldP spid="23" grpId="0" animBg="1"/>
      <p:bldP spid="24" grpId="0" animBg="1"/>
      <p:bldP spid="25" grpId="0" animBg="1"/>
      <p:bldP spid="27" grpId="0" animBg="1"/>
      <p:bldP spid="30" grpId="0" build="p"/>
      <p:bldP spid="32" grpId="0" animBg="1"/>
      <p:bldP spid="1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467544" y="3070514"/>
            <a:ext cx="8028384" cy="3616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3" indent="-285750" eaLnBrk="1" hangingPunct="1">
              <a:lnSpc>
                <a:spcPct val="150000"/>
              </a:lnSpc>
              <a:spcBef>
                <a:spcPct val="0"/>
              </a:spcBef>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这是一个早期的理论，目前不再成立。其错误在于假设错误。</a:t>
            </a:r>
          </a:p>
          <a:p>
            <a:pPr marL="742950" lvl="3" indent="-285750" eaLnBrk="1" hangingPunct="1">
              <a:lnSpc>
                <a:spcPct val="150000"/>
              </a:lnSpc>
              <a:spcBef>
                <a:spcPct val="0"/>
              </a:spcBef>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对一个理性的决策者而言，“发散”和“封闭”是不可思议的，“收敛”花费了长时间，也不可思议。</a:t>
            </a:r>
          </a:p>
          <a:p>
            <a:pPr marL="742950" lvl="3" indent="-285750" eaLnBrk="1" hangingPunct="1">
              <a:lnSpc>
                <a:spcPct val="150000"/>
              </a:lnSpc>
              <a:spcBef>
                <a:spcPct val="0"/>
              </a:spcBef>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对理性决策者而言，尤其是考虑到理性预期，收敛是瞬间的。既然收敛是瞬间的，就不存在收敛这个过程。想象一下这个问题：今年西瓜价格大跌，瓜农亏本。请问明年西瓜价格是什么状态？前提是，瓜农是现代化的农场组织。</a:t>
            </a:r>
          </a:p>
          <a:p>
            <a:pPr marL="742950" lvl="3" indent="-285750" eaLnBrk="1" hangingPunct="1">
              <a:lnSpc>
                <a:spcPct val="150000"/>
              </a:lnSpc>
              <a:spcBef>
                <a:spcPct val="0"/>
              </a:spcBef>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换言之，对刚进入市场经济的瓜农而言，有可能存在蛛网模型。但是对于学习这门课程的你们而言，不存在。</a:t>
            </a:r>
          </a:p>
          <a:p>
            <a:pPr marL="742950" lvl="3" indent="-285750" eaLnBrk="1" hangingPunct="1">
              <a:lnSpc>
                <a:spcPct val="150000"/>
              </a:lnSpc>
              <a:spcBef>
                <a:spcPct val="0"/>
              </a:spcBef>
              <a:buFont typeface="Wingdings" panose="05000000000000000000" pitchFamily="2" charset="2"/>
              <a:buChar char="Ø"/>
            </a:pPr>
            <a:endParaRPr lang="en-US" altLang="zh-CN" sz="1600" dirty="0">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2E7CB089-EA8E-4C88-B4A7-144A348FA7FD}"/>
              </a:ext>
            </a:extLst>
          </p:cNvPr>
          <p:cNvSpPr/>
          <p:nvPr/>
        </p:nvSpPr>
        <p:spPr>
          <a:xfrm>
            <a:off x="6804248" y="0"/>
            <a:ext cx="2199641"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市场均衡 </a:t>
            </a:r>
          </a:p>
        </p:txBody>
      </p:sp>
      <p:sp>
        <p:nvSpPr>
          <p:cNvPr id="6" name="矩形 5">
            <a:extLst>
              <a:ext uri="{FF2B5EF4-FFF2-40B4-BE49-F238E27FC236}">
                <a16:creationId xmlns:a16="http://schemas.microsoft.com/office/drawing/2014/main" id="{DCEF75DB-51D9-43FF-8D66-A6F2B1E04564}"/>
              </a:ext>
            </a:extLst>
          </p:cNvPr>
          <p:cNvSpPr/>
          <p:nvPr/>
        </p:nvSpPr>
        <p:spPr>
          <a:xfrm>
            <a:off x="3081370" y="2751056"/>
            <a:ext cx="2954655" cy="369332"/>
          </a:xfrm>
          <a:prstGeom prst="rect">
            <a:avLst/>
          </a:prstGeom>
        </p:spPr>
        <p:txBody>
          <a:bodyPr wrap="none">
            <a:spAutoFit/>
          </a:bodyPr>
          <a:lstStyle/>
          <a:p>
            <a:pPr marL="457200" lvl="3" algn="ctr" eaLnBrk="1" hangingPunct="1"/>
            <a:r>
              <a:rPr lang="zh-CN" altLang="en-US" dirty="0">
                <a:latin typeface="微软雅黑" panose="020B0503020204020204" pitchFamily="34" charset="-122"/>
                <a:ea typeface="微软雅黑" panose="020B0503020204020204" pitchFamily="34" charset="-122"/>
              </a:rPr>
              <a:t>蛛网模型的几点说明：</a:t>
            </a:r>
            <a:endParaRPr lang="en-US" altLang="zh-CN" dirty="0">
              <a:latin typeface="微软雅黑" panose="020B0503020204020204" pitchFamily="34" charset="-122"/>
              <a:ea typeface="微软雅黑" panose="020B0503020204020204" pitchFamily="34" charset="-122"/>
            </a:endParaRPr>
          </a:p>
        </p:txBody>
      </p:sp>
      <p:grpSp>
        <p:nvGrpSpPr>
          <p:cNvPr id="139" name="组合 138">
            <a:extLst>
              <a:ext uri="{FF2B5EF4-FFF2-40B4-BE49-F238E27FC236}">
                <a16:creationId xmlns:a16="http://schemas.microsoft.com/office/drawing/2014/main" id="{A259245C-920B-4029-B33E-1C1129C10E77}"/>
              </a:ext>
            </a:extLst>
          </p:cNvPr>
          <p:cNvGrpSpPr/>
          <p:nvPr/>
        </p:nvGrpSpPr>
        <p:grpSpPr>
          <a:xfrm>
            <a:off x="830535" y="260648"/>
            <a:ext cx="2241875" cy="2134603"/>
            <a:chOff x="817958" y="1348684"/>
            <a:chExt cx="3989804" cy="3982561"/>
          </a:xfrm>
        </p:grpSpPr>
        <p:cxnSp>
          <p:nvCxnSpPr>
            <p:cNvPr id="140" name="直接箭头连接符 5">
              <a:extLst>
                <a:ext uri="{FF2B5EF4-FFF2-40B4-BE49-F238E27FC236}">
                  <a16:creationId xmlns:a16="http://schemas.microsoft.com/office/drawing/2014/main" id="{8FBE2B84-B281-4FCC-B540-470E3CBE0614}"/>
                </a:ext>
              </a:extLst>
            </p:cNvPr>
            <p:cNvCxnSpPr>
              <a:cxnSpLocks noChangeShapeType="1"/>
            </p:cNvCxnSpPr>
            <p:nvPr/>
          </p:nvCxnSpPr>
          <p:spPr bwMode="auto">
            <a:xfrm>
              <a:off x="1131780" y="5014338"/>
              <a:ext cx="3675982" cy="27217"/>
            </a:xfrm>
            <a:prstGeom prst="straightConnector1">
              <a:avLst/>
            </a:prstGeom>
            <a:noFill/>
            <a:ln w="12700">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141" name="直接箭头连接符 10">
              <a:extLst>
                <a:ext uri="{FF2B5EF4-FFF2-40B4-BE49-F238E27FC236}">
                  <a16:creationId xmlns:a16="http://schemas.microsoft.com/office/drawing/2014/main" id="{50E755FA-EE52-473E-99CC-1023E1C75F5C}"/>
                </a:ext>
              </a:extLst>
            </p:cNvPr>
            <p:cNvCxnSpPr>
              <a:cxnSpLocks noChangeShapeType="1"/>
            </p:cNvCxnSpPr>
            <p:nvPr/>
          </p:nvCxnSpPr>
          <p:spPr bwMode="auto">
            <a:xfrm rot="5400000" flipH="1" flipV="1">
              <a:off x="-597007" y="3286125"/>
              <a:ext cx="3459162" cy="1587"/>
            </a:xfrm>
            <a:prstGeom prst="straightConnector1">
              <a:avLst/>
            </a:prstGeom>
            <a:noFill/>
            <a:ln w="12700">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142" name="直接连接符 13">
              <a:extLst>
                <a:ext uri="{FF2B5EF4-FFF2-40B4-BE49-F238E27FC236}">
                  <a16:creationId xmlns:a16="http://schemas.microsoft.com/office/drawing/2014/main" id="{1D677F47-D5EC-41C9-A3D5-54A6E4E53562}"/>
                </a:ext>
              </a:extLst>
            </p:cNvPr>
            <p:cNvCxnSpPr>
              <a:cxnSpLocks noChangeShapeType="1"/>
            </p:cNvCxnSpPr>
            <p:nvPr/>
          </p:nvCxnSpPr>
          <p:spPr bwMode="auto">
            <a:xfrm flipV="1">
              <a:off x="1473743" y="1557337"/>
              <a:ext cx="2522193" cy="2819291"/>
            </a:xfrm>
            <a:prstGeom prst="line">
              <a:avLst/>
            </a:prstGeom>
            <a:noFill/>
            <a:ln w="28575">
              <a:solidFill>
                <a:schemeClr val="accent2"/>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143" name="直接连接符 16">
              <a:extLst>
                <a:ext uri="{FF2B5EF4-FFF2-40B4-BE49-F238E27FC236}">
                  <a16:creationId xmlns:a16="http://schemas.microsoft.com/office/drawing/2014/main" id="{8E0C54F3-F05F-4952-AC75-C77416CE63A5}"/>
                </a:ext>
              </a:extLst>
            </p:cNvPr>
            <p:cNvCxnSpPr>
              <a:cxnSpLocks noChangeShapeType="1"/>
            </p:cNvCxnSpPr>
            <p:nvPr/>
          </p:nvCxnSpPr>
          <p:spPr bwMode="auto">
            <a:xfrm>
              <a:off x="1477190" y="1793174"/>
              <a:ext cx="3094810" cy="2810121"/>
            </a:xfrm>
            <a:prstGeom prst="line">
              <a:avLst/>
            </a:prstGeom>
            <a:noFill/>
            <a:ln w="28575">
              <a:solidFill>
                <a:schemeClr val="accent2"/>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144" name="直接连接符 19">
              <a:extLst>
                <a:ext uri="{FF2B5EF4-FFF2-40B4-BE49-F238E27FC236}">
                  <a16:creationId xmlns:a16="http://schemas.microsoft.com/office/drawing/2014/main" id="{D39D061C-15FC-4F58-A047-44FC169C9400}"/>
                </a:ext>
              </a:extLst>
            </p:cNvPr>
            <p:cNvCxnSpPr>
              <a:cxnSpLocks noChangeShapeType="1"/>
            </p:cNvCxnSpPr>
            <p:nvPr/>
          </p:nvCxnSpPr>
          <p:spPr bwMode="auto">
            <a:xfrm flipV="1">
              <a:off x="1149567" y="2924392"/>
              <a:ext cx="1600327" cy="3293"/>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145" name="直接连接符 21">
              <a:extLst>
                <a:ext uri="{FF2B5EF4-FFF2-40B4-BE49-F238E27FC236}">
                  <a16:creationId xmlns:a16="http://schemas.microsoft.com/office/drawing/2014/main" id="{B59FF56D-E9AC-4C02-8929-7830E6F0E816}"/>
                </a:ext>
              </a:extLst>
            </p:cNvPr>
            <p:cNvCxnSpPr>
              <a:cxnSpLocks noChangeShapeType="1"/>
            </p:cNvCxnSpPr>
            <p:nvPr/>
          </p:nvCxnSpPr>
          <p:spPr bwMode="auto">
            <a:xfrm>
              <a:off x="2762029" y="2924394"/>
              <a:ext cx="0" cy="2089944"/>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146" name="直接连接符 23">
              <a:extLst>
                <a:ext uri="{FF2B5EF4-FFF2-40B4-BE49-F238E27FC236}">
                  <a16:creationId xmlns:a16="http://schemas.microsoft.com/office/drawing/2014/main" id="{0BBCCD74-F912-433F-B172-99FDFCEF2477}"/>
                </a:ext>
              </a:extLst>
            </p:cNvPr>
            <p:cNvCxnSpPr>
              <a:cxnSpLocks noChangeShapeType="1"/>
            </p:cNvCxnSpPr>
            <p:nvPr/>
          </p:nvCxnSpPr>
          <p:spPr bwMode="auto">
            <a:xfrm>
              <a:off x="1133473" y="3598435"/>
              <a:ext cx="2358407" cy="0"/>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147" name="直接连接符 146">
              <a:extLst>
                <a:ext uri="{FF2B5EF4-FFF2-40B4-BE49-F238E27FC236}">
                  <a16:creationId xmlns:a16="http://schemas.microsoft.com/office/drawing/2014/main" id="{65D27D14-674B-4982-964F-35F4D0C60C3F}"/>
                </a:ext>
              </a:extLst>
            </p:cNvPr>
            <p:cNvCxnSpPr>
              <a:cxnSpLocks noChangeShapeType="1"/>
            </p:cNvCxnSpPr>
            <p:nvPr/>
          </p:nvCxnSpPr>
          <p:spPr bwMode="auto">
            <a:xfrm>
              <a:off x="3258684" y="2378999"/>
              <a:ext cx="17172" cy="2672538"/>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148" name="直接连接符 147">
              <a:extLst>
                <a:ext uri="{FF2B5EF4-FFF2-40B4-BE49-F238E27FC236}">
                  <a16:creationId xmlns:a16="http://schemas.microsoft.com/office/drawing/2014/main" id="{4DD6AEAB-1573-404E-8031-CA34B8040834}"/>
                </a:ext>
              </a:extLst>
            </p:cNvPr>
            <p:cNvCxnSpPr>
              <a:cxnSpLocks noChangeShapeType="1"/>
            </p:cNvCxnSpPr>
            <p:nvPr/>
          </p:nvCxnSpPr>
          <p:spPr bwMode="auto">
            <a:xfrm>
              <a:off x="2122487" y="2397706"/>
              <a:ext cx="17463" cy="2653719"/>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149" name="直接连接符 45">
              <a:extLst>
                <a:ext uri="{FF2B5EF4-FFF2-40B4-BE49-F238E27FC236}">
                  <a16:creationId xmlns:a16="http://schemas.microsoft.com/office/drawing/2014/main" id="{5D2E4CAD-C7C9-49A4-AFD4-CB2FC932A104}"/>
                </a:ext>
              </a:extLst>
            </p:cNvPr>
            <p:cNvCxnSpPr>
              <a:cxnSpLocks noChangeShapeType="1"/>
            </p:cNvCxnSpPr>
            <p:nvPr/>
          </p:nvCxnSpPr>
          <p:spPr bwMode="auto">
            <a:xfrm>
              <a:off x="1131780" y="2087220"/>
              <a:ext cx="2360100" cy="0"/>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150" name="直接连接符 19">
              <a:extLst>
                <a:ext uri="{FF2B5EF4-FFF2-40B4-BE49-F238E27FC236}">
                  <a16:creationId xmlns:a16="http://schemas.microsoft.com/office/drawing/2014/main" id="{781094FB-7A38-4D7C-A3FE-11147F2C7101}"/>
                </a:ext>
              </a:extLst>
            </p:cNvPr>
            <p:cNvCxnSpPr>
              <a:cxnSpLocks noChangeShapeType="1"/>
            </p:cNvCxnSpPr>
            <p:nvPr/>
          </p:nvCxnSpPr>
          <p:spPr bwMode="auto">
            <a:xfrm flipV="1">
              <a:off x="1132604" y="2378999"/>
              <a:ext cx="2131845" cy="1648"/>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sp>
          <p:nvSpPr>
            <p:cNvPr id="151" name="文本框 150">
              <a:extLst>
                <a:ext uri="{FF2B5EF4-FFF2-40B4-BE49-F238E27FC236}">
                  <a16:creationId xmlns:a16="http://schemas.microsoft.com/office/drawing/2014/main" id="{1033ED3B-D1D0-431C-8FDC-D749898E7B0C}"/>
                </a:ext>
              </a:extLst>
            </p:cNvPr>
            <p:cNvSpPr txBox="1"/>
            <p:nvPr/>
          </p:nvSpPr>
          <p:spPr>
            <a:xfrm>
              <a:off x="827584" y="1557336"/>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P</a:t>
              </a:r>
              <a:endParaRPr lang="zh-CN" altLang="en-US" sz="1200" dirty="0">
                <a:latin typeface="微软雅黑" panose="020B0503020204020204" pitchFamily="34" charset="-122"/>
                <a:ea typeface="微软雅黑" panose="020B0503020204020204" pitchFamily="34" charset="-122"/>
              </a:endParaRPr>
            </a:p>
          </p:txBody>
        </p:sp>
        <p:cxnSp>
          <p:nvCxnSpPr>
            <p:cNvPr id="152" name="直接连接符 151">
              <a:extLst>
                <a:ext uri="{FF2B5EF4-FFF2-40B4-BE49-F238E27FC236}">
                  <a16:creationId xmlns:a16="http://schemas.microsoft.com/office/drawing/2014/main" id="{054B5B99-5FE2-4D1D-9492-2DE416E1B9E9}"/>
                </a:ext>
              </a:extLst>
            </p:cNvPr>
            <p:cNvCxnSpPr>
              <a:cxnSpLocks noChangeShapeType="1"/>
            </p:cNvCxnSpPr>
            <p:nvPr/>
          </p:nvCxnSpPr>
          <p:spPr bwMode="auto">
            <a:xfrm>
              <a:off x="3515557" y="2110850"/>
              <a:ext cx="19993" cy="2925493"/>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sp>
          <p:nvSpPr>
            <p:cNvPr id="153" name="文本框 152">
              <a:extLst>
                <a:ext uri="{FF2B5EF4-FFF2-40B4-BE49-F238E27FC236}">
                  <a16:creationId xmlns:a16="http://schemas.microsoft.com/office/drawing/2014/main" id="{BAB95C2B-8716-4B01-9077-C0C3681B7D2A}"/>
                </a:ext>
              </a:extLst>
            </p:cNvPr>
            <p:cNvSpPr txBox="1"/>
            <p:nvPr/>
          </p:nvSpPr>
          <p:spPr>
            <a:xfrm>
              <a:off x="866249" y="4931332"/>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0</a:t>
              </a:r>
              <a:endParaRPr lang="zh-CN" altLang="en-US" sz="12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54" name="文本框 153">
                  <a:extLst>
                    <a:ext uri="{FF2B5EF4-FFF2-40B4-BE49-F238E27FC236}">
                      <a16:creationId xmlns:a16="http://schemas.microsoft.com/office/drawing/2014/main" id="{DEC83953-DB36-4F15-94E6-E7A409B5FDAB}"/>
                    </a:ext>
                  </a:extLst>
                </p:cNvPr>
                <p:cNvSpPr txBox="1"/>
                <p:nvPr/>
              </p:nvSpPr>
              <p:spPr>
                <a:xfrm>
                  <a:off x="834202" y="3524021"/>
                  <a:ext cx="200144" cy="2903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𝑃</m:t>
                            </m:r>
                          </m:e>
                          <m:sub>
                            <m:r>
                              <a:rPr lang="en-US" altLang="zh-CN" sz="1200" b="0" i="1" smtClean="0">
                                <a:latin typeface="Cambria Math" panose="02040503050406030204" pitchFamily="18" charset="0"/>
                                <a:ea typeface="微软雅黑" panose="020B0503020204020204" pitchFamily="34" charset="-122"/>
                              </a:rPr>
                              <m:t>1</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154" name="文本框 153">
                  <a:extLst>
                    <a:ext uri="{FF2B5EF4-FFF2-40B4-BE49-F238E27FC236}">
                      <a16:creationId xmlns:a16="http://schemas.microsoft.com/office/drawing/2014/main" id="{DEC83953-DB36-4F15-94E6-E7A409B5FDAB}"/>
                    </a:ext>
                  </a:extLst>
                </p:cNvPr>
                <p:cNvSpPr txBox="1">
                  <a:spLocks noRot="1" noChangeAspect="1" noMove="1" noResize="1" noEditPoints="1" noAdjustHandles="1" noChangeArrowheads="1" noChangeShapeType="1" noTextEdit="1"/>
                </p:cNvSpPr>
                <p:nvPr/>
              </p:nvSpPr>
              <p:spPr>
                <a:xfrm>
                  <a:off x="834202" y="3524021"/>
                  <a:ext cx="200144" cy="290391"/>
                </a:xfrm>
                <a:prstGeom prst="rect">
                  <a:avLst/>
                </a:prstGeom>
                <a:blipFill>
                  <a:blip r:embed="rId2"/>
                  <a:stretch>
                    <a:fillRect r="-105556" b="-65385"/>
                  </a:stretch>
                </a:blipFill>
              </p:spPr>
              <p:txBody>
                <a:bodyPr/>
                <a:lstStyle/>
                <a:p>
                  <a:r>
                    <a:rPr lang="zh-CN" altLang="en-US">
                      <a:noFill/>
                    </a:rPr>
                    <a:t> </a:t>
                  </a:r>
                </a:p>
              </p:txBody>
            </p:sp>
          </mc:Fallback>
        </mc:AlternateContent>
        <p:sp>
          <p:nvSpPr>
            <p:cNvPr id="155" name="文本框 154">
              <a:extLst>
                <a:ext uri="{FF2B5EF4-FFF2-40B4-BE49-F238E27FC236}">
                  <a16:creationId xmlns:a16="http://schemas.microsoft.com/office/drawing/2014/main" id="{4F450919-ABD3-4722-BC05-C252C974CF57}"/>
                </a:ext>
              </a:extLst>
            </p:cNvPr>
            <p:cNvSpPr txBox="1"/>
            <p:nvPr/>
          </p:nvSpPr>
          <p:spPr>
            <a:xfrm>
              <a:off x="1585431" y="2056093"/>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F</a:t>
              </a:r>
              <a:endParaRPr lang="zh-CN" altLang="en-US" sz="1200" dirty="0">
                <a:latin typeface="微软雅黑" panose="020B0503020204020204" pitchFamily="34" charset="-122"/>
                <a:ea typeface="微软雅黑" panose="020B0503020204020204" pitchFamily="34" charset="-122"/>
              </a:endParaRPr>
            </a:p>
          </p:txBody>
        </p:sp>
        <p:sp>
          <p:nvSpPr>
            <p:cNvPr id="156" name="文本框 155">
              <a:extLst>
                <a:ext uri="{FF2B5EF4-FFF2-40B4-BE49-F238E27FC236}">
                  <a16:creationId xmlns:a16="http://schemas.microsoft.com/office/drawing/2014/main" id="{6AC6AED6-4CAE-4928-97DA-693D9A182C0F}"/>
                </a:ext>
              </a:extLst>
            </p:cNvPr>
            <p:cNvSpPr txBox="1"/>
            <p:nvPr/>
          </p:nvSpPr>
          <p:spPr>
            <a:xfrm>
              <a:off x="4045395" y="1348684"/>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S</a:t>
              </a:r>
              <a:endParaRPr lang="zh-CN" altLang="en-US" sz="1200" dirty="0">
                <a:latin typeface="微软雅黑" panose="020B0503020204020204" pitchFamily="34" charset="-122"/>
                <a:ea typeface="微软雅黑" panose="020B0503020204020204" pitchFamily="34" charset="-122"/>
              </a:endParaRPr>
            </a:p>
          </p:txBody>
        </p:sp>
        <p:sp>
          <p:nvSpPr>
            <p:cNvPr id="157" name="文本框 156">
              <a:extLst>
                <a:ext uri="{FF2B5EF4-FFF2-40B4-BE49-F238E27FC236}">
                  <a16:creationId xmlns:a16="http://schemas.microsoft.com/office/drawing/2014/main" id="{C611389C-93FB-4169-91C9-A37570FD07BF}"/>
                </a:ext>
              </a:extLst>
            </p:cNvPr>
            <p:cNvSpPr txBox="1"/>
            <p:nvPr/>
          </p:nvSpPr>
          <p:spPr>
            <a:xfrm>
              <a:off x="3252273" y="1604121"/>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A</a:t>
              </a:r>
              <a:endParaRPr lang="zh-CN" altLang="en-US" sz="1200" dirty="0">
                <a:latin typeface="微软雅黑" panose="020B0503020204020204" pitchFamily="34" charset="-122"/>
                <a:ea typeface="微软雅黑" panose="020B0503020204020204" pitchFamily="34" charset="-122"/>
              </a:endParaRPr>
            </a:p>
          </p:txBody>
        </p:sp>
        <p:sp>
          <p:nvSpPr>
            <p:cNvPr id="158" name="文本框 157">
              <a:extLst>
                <a:ext uri="{FF2B5EF4-FFF2-40B4-BE49-F238E27FC236}">
                  <a16:creationId xmlns:a16="http://schemas.microsoft.com/office/drawing/2014/main" id="{853A4886-B74F-4202-BD7E-C588BBE25D4C}"/>
                </a:ext>
              </a:extLst>
            </p:cNvPr>
            <p:cNvSpPr txBox="1"/>
            <p:nvPr/>
          </p:nvSpPr>
          <p:spPr>
            <a:xfrm>
              <a:off x="2965293" y="1986251"/>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G</a:t>
              </a:r>
              <a:endParaRPr lang="zh-CN" altLang="en-US" sz="1200" dirty="0">
                <a:latin typeface="微软雅黑" panose="020B0503020204020204" pitchFamily="34" charset="-122"/>
                <a:ea typeface="微软雅黑" panose="020B0503020204020204" pitchFamily="34" charset="-122"/>
              </a:endParaRPr>
            </a:p>
          </p:txBody>
        </p:sp>
        <p:sp>
          <p:nvSpPr>
            <p:cNvPr id="159" name="文本框 158">
              <a:extLst>
                <a:ext uri="{FF2B5EF4-FFF2-40B4-BE49-F238E27FC236}">
                  <a16:creationId xmlns:a16="http://schemas.microsoft.com/office/drawing/2014/main" id="{F6FF2A34-2B9F-444E-9EBB-07AAA4C0AAA2}"/>
                </a:ext>
              </a:extLst>
            </p:cNvPr>
            <p:cNvSpPr txBox="1"/>
            <p:nvPr/>
          </p:nvSpPr>
          <p:spPr>
            <a:xfrm>
              <a:off x="2818396" y="2725505"/>
              <a:ext cx="318200" cy="51680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E</a:t>
              </a:r>
              <a:endParaRPr lang="zh-CN" altLang="en-US" sz="1200" dirty="0">
                <a:latin typeface="微软雅黑" panose="020B0503020204020204" pitchFamily="34" charset="-122"/>
                <a:ea typeface="微软雅黑" panose="020B0503020204020204" pitchFamily="34" charset="-122"/>
              </a:endParaRPr>
            </a:p>
          </p:txBody>
        </p:sp>
        <p:sp>
          <p:nvSpPr>
            <p:cNvPr id="160" name="文本框 159">
              <a:extLst>
                <a:ext uri="{FF2B5EF4-FFF2-40B4-BE49-F238E27FC236}">
                  <a16:creationId xmlns:a16="http://schemas.microsoft.com/office/drawing/2014/main" id="{C9A5D208-7A83-4A2A-876E-9347942ED847}"/>
                </a:ext>
              </a:extLst>
            </p:cNvPr>
            <p:cNvSpPr txBox="1"/>
            <p:nvPr/>
          </p:nvSpPr>
          <p:spPr>
            <a:xfrm>
              <a:off x="1737734" y="3163523"/>
              <a:ext cx="312866" cy="51680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C</a:t>
              </a:r>
              <a:endParaRPr lang="zh-CN" altLang="en-US" sz="1200" dirty="0">
                <a:latin typeface="微软雅黑" panose="020B0503020204020204" pitchFamily="34" charset="-122"/>
                <a:ea typeface="微软雅黑" panose="020B0503020204020204" pitchFamily="34" charset="-122"/>
              </a:endParaRPr>
            </a:p>
          </p:txBody>
        </p:sp>
        <p:sp>
          <p:nvSpPr>
            <p:cNvPr id="161" name="文本框 160">
              <a:extLst>
                <a:ext uri="{FF2B5EF4-FFF2-40B4-BE49-F238E27FC236}">
                  <a16:creationId xmlns:a16="http://schemas.microsoft.com/office/drawing/2014/main" id="{B117679F-393F-4D2A-A76E-DF7F1039E52E}"/>
                </a:ext>
              </a:extLst>
            </p:cNvPr>
            <p:cNvSpPr txBox="1"/>
            <p:nvPr/>
          </p:nvSpPr>
          <p:spPr>
            <a:xfrm>
              <a:off x="4548041" y="4378849"/>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D</a:t>
              </a:r>
              <a:endParaRPr lang="zh-CN" altLang="en-US" sz="1200" dirty="0">
                <a:latin typeface="微软雅黑" panose="020B0503020204020204" pitchFamily="34" charset="-122"/>
                <a:ea typeface="微软雅黑" panose="020B0503020204020204" pitchFamily="34" charset="-122"/>
              </a:endParaRPr>
            </a:p>
          </p:txBody>
        </p:sp>
        <p:sp>
          <p:nvSpPr>
            <p:cNvPr id="162" name="文本框 161">
              <a:extLst>
                <a:ext uri="{FF2B5EF4-FFF2-40B4-BE49-F238E27FC236}">
                  <a16:creationId xmlns:a16="http://schemas.microsoft.com/office/drawing/2014/main" id="{9D786F7D-DEE6-47C2-91C3-6E3D1A6AEAA4}"/>
                </a:ext>
              </a:extLst>
            </p:cNvPr>
            <p:cNvSpPr txBox="1"/>
            <p:nvPr/>
          </p:nvSpPr>
          <p:spPr>
            <a:xfrm>
              <a:off x="3615912" y="3339355"/>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B</a:t>
              </a:r>
              <a:endParaRPr lang="zh-CN" altLang="en-US" sz="1200" dirty="0">
                <a:latin typeface="微软雅黑" panose="020B0503020204020204" pitchFamily="34" charset="-122"/>
                <a:ea typeface="微软雅黑" panose="020B0503020204020204" pitchFamily="34" charset="-122"/>
              </a:endParaRPr>
            </a:p>
          </p:txBody>
        </p:sp>
        <p:sp>
          <p:nvSpPr>
            <p:cNvPr id="163" name="文本框 162">
              <a:extLst>
                <a:ext uri="{FF2B5EF4-FFF2-40B4-BE49-F238E27FC236}">
                  <a16:creationId xmlns:a16="http://schemas.microsoft.com/office/drawing/2014/main" id="{A2DE071A-BD07-424B-A7D3-43D5066A1411}"/>
                </a:ext>
              </a:extLst>
            </p:cNvPr>
            <p:cNvSpPr txBox="1"/>
            <p:nvPr/>
          </p:nvSpPr>
          <p:spPr>
            <a:xfrm>
              <a:off x="4572000" y="5040854"/>
              <a:ext cx="200145"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Q</a:t>
              </a:r>
              <a:endParaRPr lang="zh-CN" altLang="en-US" sz="12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64" name="文本框 163">
                  <a:extLst>
                    <a:ext uri="{FF2B5EF4-FFF2-40B4-BE49-F238E27FC236}">
                      <a16:creationId xmlns:a16="http://schemas.microsoft.com/office/drawing/2014/main" id="{4918F4F4-149C-4E80-95CA-3EC500A12D2D}"/>
                    </a:ext>
                  </a:extLst>
                </p:cNvPr>
                <p:cNvSpPr txBox="1"/>
                <p:nvPr/>
              </p:nvSpPr>
              <p:spPr>
                <a:xfrm>
                  <a:off x="827584" y="2754685"/>
                  <a:ext cx="200144" cy="2903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𝑃</m:t>
                            </m:r>
                          </m:e>
                          <m:sub>
                            <m:r>
                              <a:rPr lang="en-US" altLang="zh-CN" sz="1200" b="0" i="1" smtClean="0">
                                <a:latin typeface="Cambria Math" panose="02040503050406030204" pitchFamily="18" charset="0"/>
                                <a:ea typeface="微软雅黑" panose="020B0503020204020204" pitchFamily="34" charset="-122"/>
                              </a:rPr>
                              <m:t>𝐸</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164" name="文本框 163">
                  <a:extLst>
                    <a:ext uri="{FF2B5EF4-FFF2-40B4-BE49-F238E27FC236}">
                      <a16:creationId xmlns:a16="http://schemas.microsoft.com/office/drawing/2014/main" id="{4918F4F4-149C-4E80-95CA-3EC500A12D2D}"/>
                    </a:ext>
                  </a:extLst>
                </p:cNvPr>
                <p:cNvSpPr txBox="1">
                  <a:spLocks noRot="1" noChangeAspect="1" noMove="1" noResize="1" noEditPoints="1" noAdjustHandles="1" noChangeArrowheads="1" noChangeShapeType="1" noTextEdit="1"/>
                </p:cNvSpPr>
                <p:nvPr/>
              </p:nvSpPr>
              <p:spPr>
                <a:xfrm>
                  <a:off x="827584" y="2754685"/>
                  <a:ext cx="200144" cy="290391"/>
                </a:xfrm>
                <a:prstGeom prst="rect">
                  <a:avLst/>
                </a:prstGeom>
                <a:blipFill>
                  <a:blip r:embed="rId3"/>
                  <a:stretch>
                    <a:fillRect r="-110526" b="-6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5" name="文本框 164">
                  <a:extLst>
                    <a:ext uri="{FF2B5EF4-FFF2-40B4-BE49-F238E27FC236}">
                      <a16:creationId xmlns:a16="http://schemas.microsoft.com/office/drawing/2014/main" id="{6ABA5858-9D43-4F50-AB09-3F48EDC28F5B}"/>
                    </a:ext>
                  </a:extLst>
                </p:cNvPr>
                <p:cNvSpPr txBox="1"/>
                <p:nvPr/>
              </p:nvSpPr>
              <p:spPr>
                <a:xfrm>
                  <a:off x="817958" y="2301376"/>
                  <a:ext cx="200144" cy="2903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𝑃</m:t>
                            </m:r>
                          </m:e>
                          <m:sub>
                            <m:r>
                              <a:rPr lang="en-US" altLang="zh-CN" sz="1200" b="0" i="1" smtClean="0">
                                <a:latin typeface="Cambria Math" panose="02040503050406030204" pitchFamily="18" charset="0"/>
                                <a:ea typeface="微软雅黑" panose="020B0503020204020204" pitchFamily="34" charset="-122"/>
                              </a:rPr>
                              <m:t>2</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165" name="文本框 164">
                  <a:extLst>
                    <a:ext uri="{FF2B5EF4-FFF2-40B4-BE49-F238E27FC236}">
                      <a16:creationId xmlns:a16="http://schemas.microsoft.com/office/drawing/2014/main" id="{6ABA5858-9D43-4F50-AB09-3F48EDC28F5B}"/>
                    </a:ext>
                  </a:extLst>
                </p:cNvPr>
                <p:cNvSpPr txBox="1">
                  <a:spLocks noRot="1" noChangeAspect="1" noMove="1" noResize="1" noEditPoints="1" noAdjustHandles="1" noChangeArrowheads="1" noChangeShapeType="1" noTextEdit="1"/>
                </p:cNvSpPr>
                <p:nvPr/>
              </p:nvSpPr>
              <p:spPr>
                <a:xfrm>
                  <a:off x="817958" y="2301376"/>
                  <a:ext cx="200144" cy="290391"/>
                </a:xfrm>
                <a:prstGeom prst="rect">
                  <a:avLst/>
                </a:prstGeom>
                <a:blipFill>
                  <a:blip r:embed="rId4"/>
                  <a:stretch>
                    <a:fillRect r="-100000" b="-68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6" name="文本框 165">
                  <a:extLst>
                    <a:ext uri="{FF2B5EF4-FFF2-40B4-BE49-F238E27FC236}">
                      <a16:creationId xmlns:a16="http://schemas.microsoft.com/office/drawing/2014/main" id="{28C17C06-FAE5-436F-80B3-002471799A71}"/>
                    </a:ext>
                  </a:extLst>
                </p:cNvPr>
                <p:cNvSpPr txBox="1"/>
                <p:nvPr/>
              </p:nvSpPr>
              <p:spPr>
                <a:xfrm>
                  <a:off x="825040" y="1890716"/>
                  <a:ext cx="200144" cy="2903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𝑃</m:t>
                            </m:r>
                          </m:e>
                          <m:sub>
                            <m:r>
                              <a:rPr lang="en-US" altLang="zh-CN" sz="1200" b="0" i="1" smtClean="0">
                                <a:latin typeface="Cambria Math" panose="02040503050406030204" pitchFamily="18" charset="0"/>
                                <a:ea typeface="微软雅黑" panose="020B0503020204020204" pitchFamily="34" charset="-122"/>
                              </a:rPr>
                              <m:t>0</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166" name="文本框 165">
                  <a:extLst>
                    <a:ext uri="{FF2B5EF4-FFF2-40B4-BE49-F238E27FC236}">
                      <a16:creationId xmlns:a16="http://schemas.microsoft.com/office/drawing/2014/main" id="{28C17C06-FAE5-436F-80B3-002471799A71}"/>
                    </a:ext>
                  </a:extLst>
                </p:cNvPr>
                <p:cNvSpPr txBox="1">
                  <a:spLocks noRot="1" noChangeAspect="1" noMove="1" noResize="1" noEditPoints="1" noAdjustHandles="1" noChangeArrowheads="1" noChangeShapeType="1" noTextEdit="1"/>
                </p:cNvSpPr>
                <p:nvPr/>
              </p:nvSpPr>
              <p:spPr>
                <a:xfrm>
                  <a:off x="825040" y="1890716"/>
                  <a:ext cx="200144" cy="290391"/>
                </a:xfrm>
                <a:prstGeom prst="rect">
                  <a:avLst/>
                </a:prstGeom>
                <a:blipFill>
                  <a:blip r:embed="rId5"/>
                  <a:stretch>
                    <a:fillRect r="-111111" b="-6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7" name="文本框 166">
                  <a:extLst>
                    <a:ext uri="{FF2B5EF4-FFF2-40B4-BE49-F238E27FC236}">
                      <a16:creationId xmlns:a16="http://schemas.microsoft.com/office/drawing/2014/main" id="{F21AA04A-0188-4E50-896B-AB5F914CA3C6}"/>
                    </a:ext>
                  </a:extLst>
                </p:cNvPr>
                <p:cNvSpPr txBox="1"/>
                <p:nvPr/>
              </p:nvSpPr>
              <p:spPr>
                <a:xfrm>
                  <a:off x="1945963" y="4906914"/>
                  <a:ext cx="200144" cy="2903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𝑄</m:t>
                            </m:r>
                          </m:e>
                          <m:sub>
                            <m:r>
                              <a:rPr lang="en-US" altLang="zh-CN" sz="1200" b="0" i="1" smtClean="0">
                                <a:latin typeface="Cambria Math" panose="02040503050406030204" pitchFamily="18" charset="0"/>
                                <a:ea typeface="微软雅黑" panose="020B0503020204020204" pitchFamily="34" charset="-122"/>
                              </a:rPr>
                              <m:t>2</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167" name="文本框 166">
                  <a:extLst>
                    <a:ext uri="{FF2B5EF4-FFF2-40B4-BE49-F238E27FC236}">
                      <a16:creationId xmlns:a16="http://schemas.microsoft.com/office/drawing/2014/main" id="{F21AA04A-0188-4E50-896B-AB5F914CA3C6}"/>
                    </a:ext>
                  </a:extLst>
                </p:cNvPr>
                <p:cNvSpPr txBox="1">
                  <a:spLocks noRot="1" noChangeAspect="1" noMove="1" noResize="1" noEditPoints="1" noAdjustHandles="1" noChangeArrowheads="1" noChangeShapeType="1" noTextEdit="1"/>
                </p:cNvSpPr>
                <p:nvPr/>
              </p:nvSpPr>
              <p:spPr>
                <a:xfrm>
                  <a:off x="1945963" y="4906914"/>
                  <a:ext cx="200144" cy="290391"/>
                </a:xfrm>
                <a:prstGeom prst="rect">
                  <a:avLst/>
                </a:prstGeom>
                <a:blipFill>
                  <a:blip r:embed="rId6"/>
                  <a:stretch>
                    <a:fillRect l="-10526" r="-115789" b="-8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8" name="文本框 167">
                  <a:extLst>
                    <a:ext uri="{FF2B5EF4-FFF2-40B4-BE49-F238E27FC236}">
                      <a16:creationId xmlns:a16="http://schemas.microsoft.com/office/drawing/2014/main" id="{5B5B17BA-5E05-4956-80FD-92F56AD37F9F}"/>
                    </a:ext>
                  </a:extLst>
                </p:cNvPr>
                <p:cNvSpPr txBox="1"/>
                <p:nvPr/>
              </p:nvSpPr>
              <p:spPr>
                <a:xfrm>
                  <a:off x="2571576" y="4918706"/>
                  <a:ext cx="200144" cy="2903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𝑄</m:t>
                            </m:r>
                          </m:e>
                          <m:sub>
                            <m:r>
                              <a:rPr lang="en-US" altLang="zh-CN" sz="1200" b="0" i="1" smtClean="0">
                                <a:latin typeface="Cambria Math" panose="02040503050406030204" pitchFamily="18" charset="0"/>
                                <a:ea typeface="微软雅黑" panose="020B0503020204020204" pitchFamily="34" charset="-122"/>
                              </a:rPr>
                              <m:t>𝐸</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168" name="文本框 167">
                  <a:extLst>
                    <a:ext uri="{FF2B5EF4-FFF2-40B4-BE49-F238E27FC236}">
                      <a16:creationId xmlns:a16="http://schemas.microsoft.com/office/drawing/2014/main" id="{5B5B17BA-5E05-4956-80FD-92F56AD37F9F}"/>
                    </a:ext>
                  </a:extLst>
                </p:cNvPr>
                <p:cNvSpPr txBox="1">
                  <a:spLocks noRot="1" noChangeAspect="1" noMove="1" noResize="1" noEditPoints="1" noAdjustHandles="1" noChangeArrowheads="1" noChangeShapeType="1" noTextEdit="1"/>
                </p:cNvSpPr>
                <p:nvPr/>
              </p:nvSpPr>
              <p:spPr>
                <a:xfrm>
                  <a:off x="2571576" y="4918706"/>
                  <a:ext cx="200144" cy="290391"/>
                </a:xfrm>
                <a:prstGeom prst="rect">
                  <a:avLst/>
                </a:prstGeom>
                <a:blipFill>
                  <a:blip r:embed="rId7"/>
                  <a:stretch>
                    <a:fillRect l="-11111" r="-138889" b="-8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9" name="文本框 168">
                  <a:extLst>
                    <a:ext uri="{FF2B5EF4-FFF2-40B4-BE49-F238E27FC236}">
                      <a16:creationId xmlns:a16="http://schemas.microsoft.com/office/drawing/2014/main" id="{F6D726A5-FDC2-4C39-899D-2A72DC13D8F3}"/>
                    </a:ext>
                  </a:extLst>
                </p:cNvPr>
                <p:cNvSpPr txBox="1"/>
                <p:nvPr/>
              </p:nvSpPr>
              <p:spPr>
                <a:xfrm>
                  <a:off x="3086071" y="4918706"/>
                  <a:ext cx="200144" cy="2903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𝑄</m:t>
                            </m:r>
                          </m:e>
                          <m:sub>
                            <m:r>
                              <a:rPr lang="en-US" altLang="zh-CN" sz="1200" b="0" i="1" smtClean="0">
                                <a:latin typeface="Cambria Math" panose="02040503050406030204" pitchFamily="18" charset="0"/>
                                <a:ea typeface="微软雅黑" panose="020B0503020204020204" pitchFamily="34" charset="-122"/>
                              </a:rPr>
                              <m:t>3</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169" name="文本框 168">
                  <a:extLst>
                    <a:ext uri="{FF2B5EF4-FFF2-40B4-BE49-F238E27FC236}">
                      <a16:creationId xmlns:a16="http://schemas.microsoft.com/office/drawing/2014/main" id="{F6D726A5-FDC2-4C39-899D-2A72DC13D8F3}"/>
                    </a:ext>
                  </a:extLst>
                </p:cNvPr>
                <p:cNvSpPr txBox="1">
                  <a:spLocks noRot="1" noChangeAspect="1" noMove="1" noResize="1" noEditPoints="1" noAdjustHandles="1" noChangeArrowheads="1" noChangeShapeType="1" noTextEdit="1"/>
                </p:cNvSpPr>
                <p:nvPr/>
              </p:nvSpPr>
              <p:spPr>
                <a:xfrm>
                  <a:off x="3086071" y="4918706"/>
                  <a:ext cx="200144" cy="290391"/>
                </a:xfrm>
                <a:prstGeom prst="rect">
                  <a:avLst/>
                </a:prstGeom>
                <a:blipFill>
                  <a:blip r:embed="rId8"/>
                  <a:stretch>
                    <a:fillRect l="-5263" r="-121053" b="-8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0" name="文本框 169">
                  <a:extLst>
                    <a:ext uri="{FF2B5EF4-FFF2-40B4-BE49-F238E27FC236}">
                      <a16:creationId xmlns:a16="http://schemas.microsoft.com/office/drawing/2014/main" id="{8B19DECB-7EB3-4993-8CBD-02F9F48AD74C}"/>
                    </a:ext>
                  </a:extLst>
                </p:cNvPr>
                <p:cNvSpPr txBox="1"/>
                <p:nvPr/>
              </p:nvSpPr>
              <p:spPr>
                <a:xfrm>
                  <a:off x="3452746" y="4924961"/>
                  <a:ext cx="200144" cy="2903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𝑄</m:t>
                            </m:r>
                          </m:e>
                          <m:sub>
                            <m:r>
                              <a:rPr lang="en-US" altLang="zh-CN" sz="1200" b="0" i="1" smtClean="0">
                                <a:latin typeface="Cambria Math" panose="02040503050406030204" pitchFamily="18" charset="0"/>
                                <a:ea typeface="微软雅黑" panose="020B0503020204020204" pitchFamily="34" charset="-122"/>
                              </a:rPr>
                              <m:t>1</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170" name="文本框 169">
                  <a:extLst>
                    <a:ext uri="{FF2B5EF4-FFF2-40B4-BE49-F238E27FC236}">
                      <a16:creationId xmlns:a16="http://schemas.microsoft.com/office/drawing/2014/main" id="{8B19DECB-7EB3-4993-8CBD-02F9F48AD74C}"/>
                    </a:ext>
                  </a:extLst>
                </p:cNvPr>
                <p:cNvSpPr txBox="1">
                  <a:spLocks noRot="1" noChangeAspect="1" noMove="1" noResize="1" noEditPoints="1" noAdjustHandles="1" noChangeArrowheads="1" noChangeShapeType="1" noTextEdit="1"/>
                </p:cNvSpPr>
                <p:nvPr/>
              </p:nvSpPr>
              <p:spPr>
                <a:xfrm>
                  <a:off x="3452746" y="4924961"/>
                  <a:ext cx="200144" cy="290391"/>
                </a:xfrm>
                <a:prstGeom prst="rect">
                  <a:avLst/>
                </a:prstGeom>
                <a:blipFill>
                  <a:blip r:embed="rId9"/>
                  <a:stretch>
                    <a:fillRect l="-10526" r="-110526" b="-80769"/>
                  </a:stretch>
                </a:blipFill>
              </p:spPr>
              <p:txBody>
                <a:bodyPr/>
                <a:lstStyle/>
                <a:p>
                  <a:r>
                    <a:rPr lang="zh-CN" altLang="en-US">
                      <a:noFill/>
                    </a:rPr>
                    <a:t> </a:t>
                  </a:r>
                </a:p>
              </p:txBody>
            </p:sp>
          </mc:Fallback>
        </mc:AlternateContent>
        <p:cxnSp>
          <p:nvCxnSpPr>
            <p:cNvPr id="171" name="直接箭头连接符 170">
              <a:extLst>
                <a:ext uri="{FF2B5EF4-FFF2-40B4-BE49-F238E27FC236}">
                  <a16:creationId xmlns:a16="http://schemas.microsoft.com/office/drawing/2014/main" id="{75343442-BB50-4E5B-816B-7C612D8CA921}"/>
                </a:ext>
              </a:extLst>
            </p:cNvPr>
            <p:cNvCxnSpPr/>
            <p:nvPr/>
          </p:nvCxnSpPr>
          <p:spPr bwMode="auto">
            <a:xfrm>
              <a:off x="2198526" y="2378999"/>
              <a:ext cx="914400" cy="914400"/>
            </a:xfrm>
            <a:prstGeom prst="straightConnector1">
              <a:avLst/>
            </a:prstGeom>
            <a:solidFill>
              <a:srgbClr val="FF00FF"/>
            </a:solidFill>
            <a:ln>
              <a:noFill/>
              <a:tailEnd type="triangle"/>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2" name="直接箭头连接符 171">
              <a:extLst>
                <a:ext uri="{FF2B5EF4-FFF2-40B4-BE49-F238E27FC236}">
                  <a16:creationId xmlns:a16="http://schemas.microsoft.com/office/drawing/2014/main" id="{EFF15E98-334C-4FFD-9BD4-F14301AC53BA}"/>
                </a:ext>
              </a:extLst>
            </p:cNvPr>
            <p:cNvCxnSpPr>
              <a:cxnSpLocks/>
            </p:cNvCxnSpPr>
            <p:nvPr/>
          </p:nvCxnSpPr>
          <p:spPr bwMode="auto">
            <a:xfrm>
              <a:off x="2127462" y="2378999"/>
              <a:ext cx="69093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73" name="直接箭头连接符 172">
              <a:extLst>
                <a:ext uri="{FF2B5EF4-FFF2-40B4-BE49-F238E27FC236}">
                  <a16:creationId xmlns:a16="http://schemas.microsoft.com/office/drawing/2014/main" id="{EE6BAE03-E4BB-438B-BF6E-7F3977CF11F5}"/>
                </a:ext>
              </a:extLst>
            </p:cNvPr>
            <p:cNvCxnSpPr>
              <a:cxnSpLocks/>
            </p:cNvCxnSpPr>
            <p:nvPr/>
          </p:nvCxnSpPr>
          <p:spPr bwMode="auto">
            <a:xfrm>
              <a:off x="1818012" y="2087220"/>
              <a:ext cx="100038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74" name="直接连接符 173">
              <a:extLst>
                <a:ext uri="{FF2B5EF4-FFF2-40B4-BE49-F238E27FC236}">
                  <a16:creationId xmlns:a16="http://schemas.microsoft.com/office/drawing/2014/main" id="{D2881E62-AD6F-4F30-8521-E1E2BFA2CD41}"/>
                </a:ext>
              </a:extLst>
            </p:cNvPr>
            <p:cNvCxnSpPr/>
            <p:nvPr/>
          </p:nvCxnSpPr>
          <p:spPr bwMode="auto">
            <a:xfrm>
              <a:off x="1791425" y="2102614"/>
              <a:ext cx="914399" cy="914400"/>
            </a:xfrm>
            <a:prstGeom prst="line">
              <a:avLst/>
            </a:prstGeom>
            <a:solidFill>
              <a:srgbClr val="FF00FF"/>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5" name="直接连接符 174">
              <a:extLst>
                <a:ext uri="{FF2B5EF4-FFF2-40B4-BE49-F238E27FC236}">
                  <a16:creationId xmlns:a16="http://schemas.microsoft.com/office/drawing/2014/main" id="{629E49D1-170A-4E2A-B40D-C1FC2393878A}"/>
                </a:ext>
              </a:extLst>
            </p:cNvPr>
            <p:cNvCxnSpPr>
              <a:cxnSpLocks/>
            </p:cNvCxnSpPr>
            <p:nvPr/>
          </p:nvCxnSpPr>
          <p:spPr bwMode="auto">
            <a:xfrm>
              <a:off x="1842748" y="2085783"/>
              <a:ext cx="1673862" cy="1666"/>
            </a:xfrm>
            <a:prstGeom prst="line">
              <a:avLst/>
            </a:prstGeom>
            <a:ln w="19050"/>
          </p:spPr>
          <p:style>
            <a:lnRef idx="1">
              <a:schemeClr val="dk1"/>
            </a:lnRef>
            <a:fillRef idx="0">
              <a:schemeClr val="dk1"/>
            </a:fillRef>
            <a:effectRef idx="0">
              <a:schemeClr val="dk1"/>
            </a:effectRef>
            <a:fontRef idx="minor">
              <a:schemeClr val="tx1"/>
            </a:fontRef>
          </p:style>
        </p:cxnSp>
        <p:cxnSp>
          <p:nvCxnSpPr>
            <p:cNvPr id="176" name="直接连接符 175">
              <a:extLst>
                <a:ext uri="{FF2B5EF4-FFF2-40B4-BE49-F238E27FC236}">
                  <a16:creationId xmlns:a16="http://schemas.microsoft.com/office/drawing/2014/main" id="{1A18BBB5-B1B0-47B2-88F4-CC5E9E2A7AF1}"/>
                </a:ext>
              </a:extLst>
            </p:cNvPr>
            <p:cNvCxnSpPr>
              <a:cxnSpLocks/>
            </p:cNvCxnSpPr>
            <p:nvPr/>
          </p:nvCxnSpPr>
          <p:spPr bwMode="auto">
            <a:xfrm>
              <a:off x="3512479" y="2105638"/>
              <a:ext cx="11407" cy="1503476"/>
            </a:xfrm>
            <a:prstGeom prst="line">
              <a:avLst/>
            </a:prstGeom>
            <a:ln w="19050"/>
          </p:spPr>
          <p:style>
            <a:lnRef idx="1">
              <a:schemeClr val="dk1"/>
            </a:lnRef>
            <a:fillRef idx="0">
              <a:schemeClr val="dk1"/>
            </a:fillRef>
            <a:effectRef idx="0">
              <a:schemeClr val="dk1"/>
            </a:effectRef>
            <a:fontRef idx="minor">
              <a:schemeClr val="tx1"/>
            </a:fontRef>
          </p:style>
        </p:cxnSp>
        <p:cxnSp>
          <p:nvCxnSpPr>
            <p:cNvPr id="177" name="直接连接符 176">
              <a:extLst>
                <a:ext uri="{FF2B5EF4-FFF2-40B4-BE49-F238E27FC236}">
                  <a16:creationId xmlns:a16="http://schemas.microsoft.com/office/drawing/2014/main" id="{918EACAD-1199-4CFE-884E-13E239336DE9}"/>
                </a:ext>
              </a:extLst>
            </p:cNvPr>
            <p:cNvCxnSpPr>
              <a:cxnSpLocks/>
            </p:cNvCxnSpPr>
            <p:nvPr/>
          </p:nvCxnSpPr>
          <p:spPr bwMode="auto">
            <a:xfrm>
              <a:off x="2122487" y="2377325"/>
              <a:ext cx="1132603" cy="4988"/>
            </a:xfrm>
            <a:prstGeom prst="line">
              <a:avLst/>
            </a:prstGeom>
            <a:ln w="19050"/>
          </p:spPr>
          <p:style>
            <a:lnRef idx="1">
              <a:schemeClr val="dk1"/>
            </a:lnRef>
            <a:fillRef idx="0">
              <a:schemeClr val="dk1"/>
            </a:fillRef>
            <a:effectRef idx="0">
              <a:schemeClr val="dk1"/>
            </a:effectRef>
            <a:fontRef idx="minor">
              <a:schemeClr val="tx1"/>
            </a:fontRef>
          </p:style>
        </p:cxnSp>
        <p:cxnSp>
          <p:nvCxnSpPr>
            <p:cNvPr id="178" name="直接连接符 177">
              <a:extLst>
                <a:ext uri="{FF2B5EF4-FFF2-40B4-BE49-F238E27FC236}">
                  <a16:creationId xmlns:a16="http://schemas.microsoft.com/office/drawing/2014/main" id="{5BC8A5E1-8649-42DB-AF01-8254EF0AC40B}"/>
                </a:ext>
              </a:extLst>
            </p:cNvPr>
            <p:cNvCxnSpPr>
              <a:cxnSpLocks/>
            </p:cNvCxnSpPr>
            <p:nvPr/>
          </p:nvCxnSpPr>
          <p:spPr bwMode="auto">
            <a:xfrm>
              <a:off x="3252426" y="2372279"/>
              <a:ext cx="16619" cy="1236835"/>
            </a:xfrm>
            <a:prstGeom prst="line">
              <a:avLst/>
            </a:prstGeom>
            <a:ln w="19050"/>
          </p:spPr>
          <p:style>
            <a:lnRef idx="1">
              <a:schemeClr val="dk1"/>
            </a:lnRef>
            <a:fillRef idx="0">
              <a:schemeClr val="dk1"/>
            </a:fillRef>
            <a:effectRef idx="0">
              <a:schemeClr val="dk1"/>
            </a:effectRef>
            <a:fontRef idx="minor">
              <a:schemeClr val="tx1"/>
            </a:fontRef>
          </p:style>
        </p:cxnSp>
        <p:cxnSp>
          <p:nvCxnSpPr>
            <p:cNvPr id="179" name="直接连接符 178">
              <a:extLst>
                <a:ext uri="{FF2B5EF4-FFF2-40B4-BE49-F238E27FC236}">
                  <a16:creationId xmlns:a16="http://schemas.microsoft.com/office/drawing/2014/main" id="{29C16DDA-9D7A-4A1A-93F7-4F472C45503B}"/>
                </a:ext>
              </a:extLst>
            </p:cNvPr>
            <p:cNvCxnSpPr>
              <a:cxnSpLocks/>
            </p:cNvCxnSpPr>
            <p:nvPr/>
          </p:nvCxnSpPr>
          <p:spPr bwMode="auto">
            <a:xfrm>
              <a:off x="2128132" y="3593474"/>
              <a:ext cx="1132603" cy="4988"/>
            </a:xfrm>
            <a:prstGeom prst="line">
              <a:avLst/>
            </a:prstGeom>
            <a:ln w="19050"/>
          </p:spPr>
          <p:style>
            <a:lnRef idx="1">
              <a:schemeClr val="dk1"/>
            </a:lnRef>
            <a:fillRef idx="0">
              <a:schemeClr val="dk1"/>
            </a:fillRef>
            <a:effectRef idx="0">
              <a:schemeClr val="dk1"/>
            </a:effectRef>
            <a:fontRef idx="minor">
              <a:schemeClr val="tx1"/>
            </a:fontRef>
          </p:style>
        </p:cxnSp>
        <p:cxnSp>
          <p:nvCxnSpPr>
            <p:cNvPr id="180" name="直接连接符 179">
              <a:extLst>
                <a:ext uri="{FF2B5EF4-FFF2-40B4-BE49-F238E27FC236}">
                  <a16:creationId xmlns:a16="http://schemas.microsoft.com/office/drawing/2014/main" id="{D3B5B908-209C-47E8-94BF-05D7A354B412}"/>
                </a:ext>
              </a:extLst>
            </p:cNvPr>
            <p:cNvCxnSpPr>
              <a:cxnSpLocks/>
            </p:cNvCxnSpPr>
            <p:nvPr/>
          </p:nvCxnSpPr>
          <p:spPr bwMode="auto">
            <a:xfrm>
              <a:off x="2115785" y="2370072"/>
              <a:ext cx="16619" cy="1236835"/>
            </a:xfrm>
            <a:prstGeom prst="line">
              <a:avLst/>
            </a:prstGeom>
            <a:ln w="19050"/>
          </p:spPr>
          <p:style>
            <a:lnRef idx="1">
              <a:schemeClr val="dk1"/>
            </a:lnRef>
            <a:fillRef idx="0">
              <a:schemeClr val="dk1"/>
            </a:fillRef>
            <a:effectRef idx="0">
              <a:schemeClr val="dk1"/>
            </a:effectRef>
            <a:fontRef idx="minor">
              <a:schemeClr val="tx1"/>
            </a:fontRef>
          </p:style>
        </p:cxnSp>
        <p:cxnSp>
          <p:nvCxnSpPr>
            <p:cNvPr id="181" name="直接箭头连接符 180">
              <a:extLst>
                <a:ext uri="{FF2B5EF4-FFF2-40B4-BE49-F238E27FC236}">
                  <a16:creationId xmlns:a16="http://schemas.microsoft.com/office/drawing/2014/main" id="{A97CF991-0729-4427-BED6-7FA09BD07586}"/>
                </a:ext>
              </a:extLst>
            </p:cNvPr>
            <p:cNvCxnSpPr>
              <a:cxnSpLocks/>
            </p:cNvCxnSpPr>
            <p:nvPr/>
          </p:nvCxnSpPr>
          <p:spPr bwMode="auto">
            <a:xfrm>
              <a:off x="3512479" y="2105369"/>
              <a:ext cx="11407" cy="86161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82" name="直接箭头连接符 181">
              <a:extLst>
                <a:ext uri="{FF2B5EF4-FFF2-40B4-BE49-F238E27FC236}">
                  <a16:creationId xmlns:a16="http://schemas.microsoft.com/office/drawing/2014/main" id="{B06FCDEF-CA29-4B5A-8EB3-0D6CB10BB295}"/>
                </a:ext>
              </a:extLst>
            </p:cNvPr>
            <p:cNvCxnSpPr>
              <a:cxnSpLocks/>
            </p:cNvCxnSpPr>
            <p:nvPr/>
          </p:nvCxnSpPr>
          <p:spPr bwMode="auto">
            <a:xfrm>
              <a:off x="3254839" y="2382313"/>
              <a:ext cx="8879" cy="67065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83" name="直接箭头连接符 182">
              <a:extLst>
                <a:ext uri="{FF2B5EF4-FFF2-40B4-BE49-F238E27FC236}">
                  <a16:creationId xmlns:a16="http://schemas.microsoft.com/office/drawing/2014/main" id="{798C4370-C531-4D37-9826-E4CFE49B9548}"/>
                </a:ext>
              </a:extLst>
            </p:cNvPr>
            <p:cNvCxnSpPr>
              <a:cxnSpLocks/>
            </p:cNvCxnSpPr>
            <p:nvPr/>
          </p:nvCxnSpPr>
          <p:spPr bwMode="auto">
            <a:xfrm flipH="1" flipV="1">
              <a:off x="2679680" y="3593476"/>
              <a:ext cx="853454" cy="666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84" name="直接箭头连接符 183">
              <a:extLst>
                <a:ext uri="{FF2B5EF4-FFF2-40B4-BE49-F238E27FC236}">
                  <a16:creationId xmlns:a16="http://schemas.microsoft.com/office/drawing/2014/main" id="{1714FE56-64D9-49D3-9D1B-2F5E3B12E970}"/>
                </a:ext>
              </a:extLst>
            </p:cNvPr>
            <p:cNvCxnSpPr>
              <a:cxnSpLocks/>
            </p:cNvCxnSpPr>
            <p:nvPr/>
          </p:nvCxnSpPr>
          <p:spPr bwMode="auto">
            <a:xfrm flipH="1" flipV="1">
              <a:off x="2122487" y="2912058"/>
              <a:ext cx="6649" cy="68200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grpSp>
        <p:nvGrpSpPr>
          <p:cNvPr id="185" name="组合 184">
            <a:extLst>
              <a:ext uri="{FF2B5EF4-FFF2-40B4-BE49-F238E27FC236}">
                <a16:creationId xmlns:a16="http://schemas.microsoft.com/office/drawing/2014/main" id="{FF6E3757-63B1-4CC8-B353-0091DA938431}"/>
              </a:ext>
            </a:extLst>
          </p:cNvPr>
          <p:cNvGrpSpPr/>
          <p:nvPr/>
        </p:nvGrpSpPr>
        <p:grpSpPr>
          <a:xfrm>
            <a:off x="6135566" y="428978"/>
            <a:ext cx="2292434" cy="2069698"/>
            <a:chOff x="727979" y="1557336"/>
            <a:chExt cx="4079783" cy="3861466"/>
          </a:xfrm>
        </p:grpSpPr>
        <p:cxnSp>
          <p:nvCxnSpPr>
            <p:cNvPr id="186" name="直接箭头连接符 5">
              <a:extLst>
                <a:ext uri="{FF2B5EF4-FFF2-40B4-BE49-F238E27FC236}">
                  <a16:creationId xmlns:a16="http://schemas.microsoft.com/office/drawing/2014/main" id="{1A8A4620-66B0-45B0-8510-790DFE457272}"/>
                </a:ext>
              </a:extLst>
            </p:cNvPr>
            <p:cNvCxnSpPr>
              <a:cxnSpLocks noChangeShapeType="1"/>
            </p:cNvCxnSpPr>
            <p:nvPr/>
          </p:nvCxnSpPr>
          <p:spPr bwMode="auto">
            <a:xfrm>
              <a:off x="1131780" y="5014338"/>
              <a:ext cx="3675982" cy="27217"/>
            </a:xfrm>
            <a:prstGeom prst="straightConnector1">
              <a:avLst/>
            </a:prstGeom>
            <a:noFill/>
            <a:ln w="12700">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187" name="直接箭头连接符 10">
              <a:extLst>
                <a:ext uri="{FF2B5EF4-FFF2-40B4-BE49-F238E27FC236}">
                  <a16:creationId xmlns:a16="http://schemas.microsoft.com/office/drawing/2014/main" id="{CC98E624-3E8F-42ED-890B-C892099EBCFB}"/>
                </a:ext>
              </a:extLst>
            </p:cNvPr>
            <p:cNvCxnSpPr>
              <a:cxnSpLocks noChangeShapeType="1"/>
            </p:cNvCxnSpPr>
            <p:nvPr/>
          </p:nvCxnSpPr>
          <p:spPr bwMode="auto">
            <a:xfrm rot="5400000" flipH="1" flipV="1">
              <a:off x="-597007" y="3286125"/>
              <a:ext cx="3459162" cy="1587"/>
            </a:xfrm>
            <a:prstGeom prst="straightConnector1">
              <a:avLst/>
            </a:prstGeom>
            <a:noFill/>
            <a:ln w="12700">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188" name="直接连接符 19">
              <a:extLst>
                <a:ext uri="{FF2B5EF4-FFF2-40B4-BE49-F238E27FC236}">
                  <a16:creationId xmlns:a16="http://schemas.microsoft.com/office/drawing/2014/main" id="{BB96F84F-61AB-4DD4-BA82-30338BBE99AC}"/>
                </a:ext>
              </a:extLst>
            </p:cNvPr>
            <p:cNvCxnSpPr>
              <a:cxnSpLocks noChangeShapeType="1"/>
            </p:cNvCxnSpPr>
            <p:nvPr/>
          </p:nvCxnSpPr>
          <p:spPr bwMode="auto">
            <a:xfrm flipV="1">
              <a:off x="1149568" y="3470909"/>
              <a:ext cx="1600326" cy="3293"/>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189" name="直接连接符 21">
              <a:extLst>
                <a:ext uri="{FF2B5EF4-FFF2-40B4-BE49-F238E27FC236}">
                  <a16:creationId xmlns:a16="http://schemas.microsoft.com/office/drawing/2014/main" id="{A22181B3-D37E-40D5-BCBF-01EB697271EE}"/>
                </a:ext>
              </a:extLst>
            </p:cNvPr>
            <p:cNvCxnSpPr>
              <a:cxnSpLocks noChangeShapeType="1"/>
            </p:cNvCxnSpPr>
            <p:nvPr/>
          </p:nvCxnSpPr>
          <p:spPr bwMode="auto">
            <a:xfrm>
              <a:off x="2835486" y="3470909"/>
              <a:ext cx="0" cy="1644132"/>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190" name="直接连接符 23">
              <a:extLst>
                <a:ext uri="{FF2B5EF4-FFF2-40B4-BE49-F238E27FC236}">
                  <a16:creationId xmlns:a16="http://schemas.microsoft.com/office/drawing/2014/main" id="{B5339EA8-118F-4E7E-BC7D-C796F03A947B}"/>
                </a:ext>
              </a:extLst>
            </p:cNvPr>
            <p:cNvCxnSpPr>
              <a:cxnSpLocks noChangeShapeType="1"/>
            </p:cNvCxnSpPr>
            <p:nvPr/>
          </p:nvCxnSpPr>
          <p:spPr bwMode="auto">
            <a:xfrm>
              <a:off x="1133472" y="4094206"/>
              <a:ext cx="2358407" cy="0"/>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191" name="直接连接符 190">
              <a:extLst>
                <a:ext uri="{FF2B5EF4-FFF2-40B4-BE49-F238E27FC236}">
                  <a16:creationId xmlns:a16="http://schemas.microsoft.com/office/drawing/2014/main" id="{E6856401-9DCA-44F0-94C2-936D68DF75B5}"/>
                </a:ext>
              </a:extLst>
            </p:cNvPr>
            <p:cNvCxnSpPr>
              <a:cxnSpLocks noChangeShapeType="1"/>
            </p:cNvCxnSpPr>
            <p:nvPr/>
          </p:nvCxnSpPr>
          <p:spPr bwMode="auto">
            <a:xfrm>
              <a:off x="2090249" y="2823602"/>
              <a:ext cx="28509" cy="2218939"/>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192" name="直接连接符 19">
              <a:extLst>
                <a:ext uri="{FF2B5EF4-FFF2-40B4-BE49-F238E27FC236}">
                  <a16:creationId xmlns:a16="http://schemas.microsoft.com/office/drawing/2014/main" id="{E06DCFDF-D73B-4190-A9A3-76500E8FEBD5}"/>
                </a:ext>
              </a:extLst>
            </p:cNvPr>
            <p:cNvCxnSpPr>
              <a:cxnSpLocks noChangeShapeType="1"/>
            </p:cNvCxnSpPr>
            <p:nvPr/>
          </p:nvCxnSpPr>
          <p:spPr bwMode="auto">
            <a:xfrm flipV="1">
              <a:off x="1132604" y="2818279"/>
              <a:ext cx="2131845" cy="1647"/>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sp>
          <p:nvSpPr>
            <p:cNvPr id="193" name="文本框 192">
              <a:extLst>
                <a:ext uri="{FF2B5EF4-FFF2-40B4-BE49-F238E27FC236}">
                  <a16:creationId xmlns:a16="http://schemas.microsoft.com/office/drawing/2014/main" id="{C86AD16F-66B9-42A9-A2EE-E6DB4357E055}"/>
                </a:ext>
              </a:extLst>
            </p:cNvPr>
            <p:cNvSpPr txBox="1"/>
            <p:nvPr/>
          </p:nvSpPr>
          <p:spPr>
            <a:xfrm>
              <a:off x="827584" y="1557336"/>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P</a:t>
              </a:r>
              <a:endParaRPr lang="zh-CN" altLang="en-US" sz="1200" dirty="0">
                <a:latin typeface="微软雅黑" panose="020B0503020204020204" pitchFamily="34" charset="-122"/>
                <a:ea typeface="微软雅黑" panose="020B0503020204020204" pitchFamily="34" charset="-122"/>
              </a:endParaRPr>
            </a:p>
          </p:txBody>
        </p:sp>
        <p:cxnSp>
          <p:nvCxnSpPr>
            <p:cNvPr id="194" name="直接连接符 193">
              <a:extLst>
                <a:ext uri="{FF2B5EF4-FFF2-40B4-BE49-F238E27FC236}">
                  <a16:creationId xmlns:a16="http://schemas.microsoft.com/office/drawing/2014/main" id="{9B1BB3CD-1463-4E34-B360-4858333C84E8}"/>
                </a:ext>
              </a:extLst>
            </p:cNvPr>
            <p:cNvCxnSpPr>
              <a:cxnSpLocks noChangeShapeType="1"/>
            </p:cNvCxnSpPr>
            <p:nvPr/>
          </p:nvCxnSpPr>
          <p:spPr bwMode="auto">
            <a:xfrm flipH="1">
              <a:off x="3546851" y="2868521"/>
              <a:ext cx="2883" cy="2173746"/>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sp>
          <p:nvSpPr>
            <p:cNvPr id="195" name="文本框 194">
              <a:extLst>
                <a:ext uri="{FF2B5EF4-FFF2-40B4-BE49-F238E27FC236}">
                  <a16:creationId xmlns:a16="http://schemas.microsoft.com/office/drawing/2014/main" id="{5E188624-ED5A-4073-8904-2A65706B19BB}"/>
                </a:ext>
              </a:extLst>
            </p:cNvPr>
            <p:cNvSpPr txBox="1"/>
            <p:nvPr/>
          </p:nvSpPr>
          <p:spPr>
            <a:xfrm>
              <a:off x="866249" y="4931332"/>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0</a:t>
              </a:r>
              <a:endParaRPr lang="zh-CN" altLang="en-US" sz="12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96" name="文本框 195">
                  <a:extLst>
                    <a:ext uri="{FF2B5EF4-FFF2-40B4-BE49-F238E27FC236}">
                      <a16:creationId xmlns:a16="http://schemas.microsoft.com/office/drawing/2014/main" id="{E4641BDC-083D-484C-AA6A-EB4C3616F737}"/>
                    </a:ext>
                  </a:extLst>
                </p:cNvPr>
                <p:cNvSpPr txBox="1"/>
                <p:nvPr/>
              </p:nvSpPr>
              <p:spPr>
                <a:xfrm>
                  <a:off x="754564" y="3874840"/>
                  <a:ext cx="200144" cy="2903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𝑃</m:t>
                            </m:r>
                          </m:e>
                          <m:sub>
                            <m:r>
                              <a:rPr lang="en-US" altLang="zh-CN" sz="1200" b="0" i="1" smtClean="0">
                                <a:latin typeface="Cambria Math" panose="02040503050406030204" pitchFamily="18" charset="0"/>
                                <a:ea typeface="微软雅黑" panose="020B0503020204020204" pitchFamily="34" charset="-122"/>
                              </a:rPr>
                              <m:t>1</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196" name="文本框 195">
                  <a:extLst>
                    <a:ext uri="{FF2B5EF4-FFF2-40B4-BE49-F238E27FC236}">
                      <a16:creationId xmlns:a16="http://schemas.microsoft.com/office/drawing/2014/main" id="{E4641BDC-083D-484C-AA6A-EB4C3616F737}"/>
                    </a:ext>
                  </a:extLst>
                </p:cNvPr>
                <p:cNvSpPr txBox="1">
                  <a:spLocks noRot="1" noChangeAspect="1" noMove="1" noResize="1" noEditPoints="1" noAdjustHandles="1" noChangeArrowheads="1" noChangeShapeType="1" noTextEdit="1"/>
                </p:cNvSpPr>
                <p:nvPr/>
              </p:nvSpPr>
              <p:spPr>
                <a:xfrm>
                  <a:off x="754564" y="3874840"/>
                  <a:ext cx="200144" cy="290391"/>
                </a:xfrm>
                <a:prstGeom prst="rect">
                  <a:avLst/>
                </a:prstGeom>
                <a:blipFill>
                  <a:blip r:embed="rId2"/>
                  <a:stretch>
                    <a:fillRect r="-105556" b="-65385"/>
                  </a:stretch>
                </a:blipFill>
              </p:spPr>
              <p:txBody>
                <a:bodyPr/>
                <a:lstStyle/>
                <a:p>
                  <a:r>
                    <a:rPr lang="zh-CN" altLang="en-US">
                      <a:noFill/>
                    </a:rPr>
                    <a:t> </a:t>
                  </a:r>
                </a:p>
              </p:txBody>
            </p:sp>
          </mc:Fallback>
        </mc:AlternateContent>
        <p:sp>
          <p:nvSpPr>
            <p:cNvPr id="197" name="文本框 196">
              <a:extLst>
                <a:ext uri="{FF2B5EF4-FFF2-40B4-BE49-F238E27FC236}">
                  <a16:creationId xmlns:a16="http://schemas.microsoft.com/office/drawing/2014/main" id="{A008C0A2-82E7-4669-835A-4BE776240C65}"/>
                </a:ext>
              </a:extLst>
            </p:cNvPr>
            <p:cNvSpPr txBox="1"/>
            <p:nvPr/>
          </p:nvSpPr>
          <p:spPr>
            <a:xfrm>
              <a:off x="1987562" y="2401764"/>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F</a:t>
              </a:r>
              <a:endParaRPr lang="zh-CN" altLang="en-US" sz="1200" dirty="0">
                <a:latin typeface="微软雅黑" panose="020B0503020204020204" pitchFamily="34" charset="-122"/>
                <a:ea typeface="微软雅黑" panose="020B0503020204020204" pitchFamily="34" charset="-122"/>
              </a:endParaRPr>
            </a:p>
          </p:txBody>
        </p:sp>
        <p:sp>
          <p:nvSpPr>
            <p:cNvPr id="198" name="文本框 197">
              <a:extLst>
                <a:ext uri="{FF2B5EF4-FFF2-40B4-BE49-F238E27FC236}">
                  <a16:creationId xmlns:a16="http://schemas.microsoft.com/office/drawing/2014/main" id="{16139B4D-7033-4A90-8DF5-737067CC567C}"/>
                </a:ext>
              </a:extLst>
            </p:cNvPr>
            <p:cNvSpPr txBox="1"/>
            <p:nvPr/>
          </p:nvSpPr>
          <p:spPr>
            <a:xfrm>
              <a:off x="3950138" y="2343752"/>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S</a:t>
              </a:r>
              <a:endParaRPr lang="zh-CN" altLang="en-US" sz="1200" dirty="0">
                <a:latin typeface="微软雅黑" panose="020B0503020204020204" pitchFamily="34" charset="-122"/>
                <a:ea typeface="微软雅黑" panose="020B0503020204020204" pitchFamily="34" charset="-122"/>
              </a:endParaRPr>
            </a:p>
          </p:txBody>
        </p:sp>
        <p:sp>
          <p:nvSpPr>
            <p:cNvPr id="199" name="文本框 198">
              <a:extLst>
                <a:ext uri="{FF2B5EF4-FFF2-40B4-BE49-F238E27FC236}">
                  <a16:creationId xmlns:a16="http://schemas.microsoft.com/office/drawing/2014/main" id="{D485B76E-90D6-4E4B-8736-FD3626435367}"/>
                </a:ext>
              </a:extLst>
            </p:cNvPr>
            <p:cNvSpPr txBox="1"/>
            <p:nvPr/>
          </p:nvSpPr>
          <p:spPr>
            <a:xfrm>
              <a:off x="3263808" y="2343931"/>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A</a:t>
              </a:r>
              <a:endParaRPr lang="zh-CN" altLang="en-US" sz="1200" dirty="0">
                <a:latin typeface="微软雅黑" panose="020B0503020204020204" pitchFamily="34" charset="-122"/>
                <a:ea typeface="微软雅黑" panose="020B0503020204020204" pitchFamily="34" charset="-122"/>
              </a:endParaRPr>
            </a:p>
          </p:txBody>
        </p:sp>
        <p:sp>
          <p:nvSpPr>
            <p:cNvPr id="200" name="文本框 199">
              <a:extLst>
                <a:ext uri="{FF2B5EF4-FFF2-40B4-BE49-F238E27FC236}">
                  <a16:creationId xmlns:a16="http://schemas.microsoft.com/office/drawing/2014/main" id="{5C9A0A06-3627-4C4E-B8DA-146394ABFC17}"/>
                </a:ext>
              </a:extLst>
            </p:cNvPr>
            <p:cNvSpPr txBox="1"/>
            <p:nvPr/>
          </p:nvSpPr>
          <p:spPr>
            <a:xfrm>
              <a:off x="2851396" y="3193876"/>
              <a:ext cx="318200" cy="51680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E</a:t>
              </a:r>
              <a:endParaRPr lang="zh-CN" altLang="en-US" sz="1200" dirty="0">
                <a:latin typeface="微软雅黑" panose="020B0503020204020204" pitchFamily="34" charset="-122"/>
                <a:ea typeface="微软雅黑" panose="020B0503020204020204" pitchFamily="34" charset="-122"/>
              </a:endParaRPr>
            </a:p>
          </p:txBody>
        </p:sp>
        <p:sp>
          <p:nvSpPr>
            <p:cNvPr id="201" name="文本框 200">
              <a:extLst>
                <a:ext uri="{FF2B5EF4-FFF2-40B4-BE49-F238E27FC236}">
                  <a16:creationId xmlns:a16="http://schemas.microsoft.com/office/drawing/2014/main" id="{BB9034B8-0A55-4BF9-B0E3-FF8BA653C549}"/>
                </a:ext>
              </a:extLst>
            </p:cNvPr>
            <p:cNvSpPr txBox="1"/>
            <p:nvPr/>
          </p:nvSpPr>
          <p:spPr>
            <a:xfrm>
              <a:off x="1481094" y="4033028"/>
              <a:ext cx="312867" cy="51680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C</a:t>
              </a:r>
              <a:endParaRPr lang="zh-CN" altLang="en-US" sz="1200" dirty="0">
                <a:latin typeface="微软雅黑" panose="020B0503020204020204" pitchFamily="34" charset="-122"/>
                <a:ea typeface="微软雅黑" panose="020B0503020204020204" pitchFamily="34" charset="-122"/>
              </a:endParaRPr>
            </a:p>
          </p:txBody>
        </p:sp>
        <p:sp>
          <p:nvSpPr>
            <p:cNvPr id="202" name="文本框 201">
              <a:extLst>
                <a:ext uri="{FF2B5EF4-FFF2-40B4-BE49-F238E27FC236}">
                  <a16:creationId xmlns:a16="http://schemas.microsoft.com/office/drawing/2014/main" id="{3AA45535-F728-4F8C-850F-35394E70B4C6}"/>
                </a:ext>
              </a:extLst>
            </p:cNvPr>
            <p:cNvSpPr txBox="1"/>
            <p:nvPr/>
          </p:nvSpPr>
          <p:spPr>
            <a:xfrm>
              <a:off x="4011819" y="4368046"/>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D</a:t>
              </a:r>
              <a:endParaRPr lang="zh-CN" altLang="en-US" sz="1200" dirty="0">
                <a:latin typeface="微软雅黑" panose="020B0503020204020204" pitchFamily="34" charset="-122"/>
                <a:ea typeface="微软雅黑" panose="020B0503020204020204" pitchFamily="34" charset="-122"/>
              </a:endParaRPr>
            </a:p>
          </p:txBody>
        </p:sp>
        <p:sp>
          <p:nvSpPr>
            <p:cNvPr id="203" name="文本框 202">
              <a:extLst>
                <a:ext uri="{FF2B5EF4-FFF2-40B4-BE49-F238E27FC236}">
                  <a16:creationId xmlns:a16="http://schemas.microsoft.com/office/drawing/2014/main" id="{24A256D3-5EA1-41FF-9AC7-CBE363BEF491}"/>
                </a:ext>
              </a:extLst>
            </p:cNvPr>
            <p:cNvSpPr txBox="1"/>
            <p:nvPr/>
          </p:nvSpPr>
          <p:spPr>
            <a:xfrm>
              <a:off x="3590229" y="3839256"/>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B</a:t>
              </a:r>
              <a:endParaRPr lang="zh-CN" altLang="en-US" sz="1200" dirty="0">
                <a:latin typeface="微软雅黑" panose="020B0503020204020204" pitchFamily="34" charset="-122"/>
                <a:ea typeface="微软雅黑" panose="020B0503020204020204" pitchFamily="34" charset="-122"/>
              </a:endParaRPr>
            </a:p>
          </p:txBody>
        </p:sp>
        <p:sp>
          <p:nvSpPr>
            <p:cNvPr id="204" name="文本框 203">
              <a:extLst>
                <a:ext uri="{FF2B5EF4-FFF2-40B4-BE49-F238E27FC236}">
                  <a16:creationId xmlns:a16="http://schemas.microsoft.com/office/drawing/2014/main" id="{313CC785-CE9D-45B3-8969-903E48EA5FD1}"/>
                </a:ext>
              </a:extLst>
            </p:cNvPr>
            <p:cNvSpPr txBox="1"/>
            <p:nvPr/>
          </p:nvSpPr>
          <p:spPr>
            <a:xfrm>
              <a:off x="4471927" y="5016560"/>
              <a:ext cx="200146"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Q</a:t>
              </a:r>
              <a:endParaRPr lang="zh-CN" altLang="en-US" sz="12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05" name="文本框 204">
                  <a:extLst>
                    <a:ext uri="{FF2B5EF4-FFF2-40B4-BE49-F238E27FC236}">
                      <a16:creationId xmlns:a16="http://schemas.microsoft.com/office/drawing/2014/main" id="{12129137-08EC-4B40-A62C-C03B07F10579}"/>
                    </a:ext>
                  </a:extLst>
                </p:cNvPr>
                <p:cNvSpPr txBox="1"/>
                <p:nvPr/>
              </p:nvSpPr>
              <p:spPr>
                <a:xfrm>
                  <a:off x="727979" y="3228799"/>
                  <a:ext cx="200144" cy="2903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𝑃</m:t>
                            </m:r>
                          </m:e>
                          <m:sub>
                            <m:r>
                              <a:rPr lang="en-US" altLang="zh-CN" sz="1200" b="0" i="1" smtClean="0">
                                <a:latin typeface="Cambria Math" panose="02040503050406030204" pitchFamily="18" charset="0"/>
                                <a:ea typeface="微软雅黑" panose="020B0503020204020204" pitchFamily="34" charset="-122"/>
                              </a:rPr>
                              <m:t>𝐸</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205" name="文本框 204">
                  <a:extLst>
                    <a:ext uri="{FF2B5EF4-FFF2-40B4-BE49-F238E27FC236}">
                      <a16:creationId xmlns:a16="http://schemas.microsoft.com/office/drawing/2014/main" id="{12129137-08EC-4B40-A62C-C03B07F10579}"/>
                    </a:ext>
                  </a:extLst>
                </p:cNvPr>
                <p:cNvSpPr txBox="1">
                  <a:spLocks noRot="1" noChangeAspect="1" noMove="1" noResize="1" noEditPoints="1" noAdjustHandles="1" noChangeArrowheads="1" noChangeShapeType="1" noTextEdit="1"/>
                </p:cNvSpPr>
                <p:nvPr/>
              </p:nvSpPr>
              <p:spPr>
                <a:xfrm>
                  <a:off x="727979" y="3228799"/>
                  <a:ext cx="200144" cy="290391"/>
                </a:xfrm>
                <a:prstGeom prst="rect">
                  <a:avLst/>
                </a:prstGeom>
                <a:blipFill>
                  <a:blip r:embed="rId10"/>
                  <a:stretch>
                    <a:fillRect r="-115789" b="-6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6" name="文本框 205">
                  <a:extLst>
                    <a:ext uri="{FF2B5EF4-FFF2-40B4-BE49-F238E27FC236}">
                      <a16:creationId xmlns:a16="http://schemas.microsoft.com/office/drawing/2014/main" id="{BA4DEB9B-2C8B-444D-A910-17D3D367E2D6}"/>
                    </a:ext>
                  </a:extLst>
                </p:cNvPr>
                <p:cNvSpPr txBox="1"/>
                <p:nvPr/>
              </p:nvSpPr>
              <p:spPr>
                <a:xfrm>
                  <a:off x="735986" y="2596989"/>
                  <a:ext cx="200144" cy="2903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𝑃</m:t>
                            </m:r>
                          </m:e>
                          <m:sub>
                            <m:r>
                              <a:rPr lang="en-US" altLang="zh-CN" sz="1200" b="0" i="1" smtClean="0">
                                <a:latin typeface="Cambria Math" panose="02040503050406030204" pitchFamily="18" charset="0"/>
                                <a:ea typeface="微软雅黑" panose="020B0503020204020204" pitchFamily="34" charset="-122"/>
                              </a:rPr>
                              <m:t>0</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206" name="文本框 205">
                  <a:extLst>
                    <a:ext uri="{FF2B5EF4-FFF2-40B4-BE49-F238E27FC236}">
                      <a16:creationId xmlns:a16="http://schemas.microsoft.com/office/drawing/2014/main" id="{BA4DEB9B-2C8B-444D-A910-17D3D367E2D6}"/>
                    </a:ext>
                  </a:extLst>
                </p:cNvPr>
                <p:cNvSpPr txBox="1">
                  <a:spLocks noRot="1" noChangeAspect="1" noMove="1" noResize="1" noEditPoints="1" noAdjustHandles="1" noChangeArrowheads="1" noChangeShapeType="1" noTextEdit="1"/>
                </p:cNvSpPr>
                <p:nvPr/>
              </p:nvSpPr>
              <p:spPr>
                <a:xfrm>
                  <a:off x="735986" y="2596989"/>
                  <a:ext cx="200144" cy="290391"/>
                </a:xfrm>
                <a:prstGeom prst="rect">
                  <a:avLst/>
                </a:prstGeom>
                <a:blipFill>
                  <a:blip r:embed="rId11"/>
                  <a:stretch>
                    <a:fillRect r="-100000" b="-68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7" name="文本框 206">
                  <a:extLst>
                    <a:ext uri="{FF2B5EF4-FFF2-40B4-BE49-F238E27FC236}">
                      <a16:creationId xmlns:a16="http://schemas.microsoft.com/office/drawing/2014/main" id="{8BA16414-BDFB-4E45-983E-FD8B60CE31E5}"/>
                    </a:ext>
                  </a:extLst>
                </p:cNvPr>
                <p:cNvSpPr txBox="1"/>
                <p:nvPr/>
              </p:nvSpPr>
              <p:spPr>
                <a:xfrm>
                  <a:off x="1920319" y="4913562"/>
                  <a:ext cx="200144" cy="2903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𝑄</m:t>
                            </m:r>
                          </m:e>
                          <m:sub>
                            <m:r>
                              <a:rPr lang="en-US" altLang="zh-CN" sz="1200" b="0" i="1" smtClean="0">
                                <a:latin typeface="Cambria Math" panose="02040503050406030204" pitchFamily="18" charset="0"/>
                                <a:ea typeface="微软雅黑" panose="020B0503020204020204" pitchFamily="34" charset="-122"/>
                              </a:rPr>
                              <m:t>2</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207" name="文本框 206">
                  <a:extLst>
                    <a:ext uri="{FF2B5EF4-FFF2-40B4-BE49-F238E27FC236}">
                      <a16:creationId xmlns:a16="http://schemas.microsoft.com/office/drawing/2014/main" id="{8BA16414-BDFB-4E45-983E-FD8B60CE31E5}"/>
                    </a:ext>
                  </a:extLst>
                </p:cNvPr>
                <p:cNvSpPr txBox="1">
                  <a:spLocks noRot="1" noChangeAspect="1" noMove="1" noResize="1" noEditPoints="1" noAdjustHandles="1" noChangeArrowheads="1" noChangeShapeType="1" noTextEdit="1"/>
                </p:cNvSpPr>
                <p:nvPr/>
              </p:nvSpPr>
              <p:spPr>
                <a:xfrm>
                  <a:off x="1920319" y="4913562"/>
                  <a:ext cx="200144" cy="290391"/>
                </a:xfrm>
                <a:prstGeom prst="rect">
                  <a:avLst/>
                </a:prstGeom>
                <a:blipFill>
                  <a:blip r:embed="rId12"/>
                  <a:stretch>
                    <a:fillRect l="-5263" r="-121053" b="-8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8" name="文本框 207">
                  <a:extLst>
                    <a:ext uri="{FF2B5EF4-FFF2-40B4-BE49-F238E27FC236}">
                      <a16:creationId xmlns:a16="http://schemas.microsoft.com/office/drawing/2014/main" id="{020AC086-4FC8-41CA-B13E-7179CCECE22C}"/>
                    </a:ext>
                  </a:extLst>
                </p:cNvPr>
                <p:cNvSpPr txBox="1"/>
                <p:nvPr/>
              </p:nvSpPr>
              <p:spPr>
                <a:xfrm>
                  <a:off x="2575910" y="4887182"/>
                  <a:ext cx="200144" cy="2903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𝑄</m:t>
                            </m:r>
                          </m:e>
                          <m:sub>
                            <m:r>
                              <a:rPr lang="en-US" altLang="zh-CN" sz="1200" b="0" i="1" smtClean="0">
                                <a:latin typeface="Cambria Math" panose="02040503050406030204" pitchFamily="18" charset="0"/>
                                <a:ea typeface="微软雅黑" panose="020B0503020204020204" pitchFamily="34" charset="-122"/>
                              </a:rPr>
                              <m:t>𝐸</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208" name="文本框 207">
                  <a:extLst>
                    <a:ext uri="{FF2B5EF4-FFF2-40B4-BE49-F238E27FC236}">
                      <a16:creationId xmlns:a16="http://schemas.microsoft.com/office/drawing/2014/main" id="{020AC086-4FC8-41CA-B13E-7179CCECE22C}"/>
                    </a:ext>
                  </a:extLst>
                </p:cNvPr>
                <p:cNvSpPr txBox="1">
                  <a:spLocks noRot="1" noChangeAspect="1" noMove="1" noResize="1" noEditPoints="1" noAdjustHandles="1" noChangeArrowheads="1" noChangeShapeType="1" noTextEdit="1"/>
                </p:cNvSpPr>
                <p:nvPr/>
              </p:nvSpPr>
              <p:spPr>
                <a:xfrm>
                  <a:off x="2575910" y="4887182"/>
                  <a:ext cx="200144" cy="290391"/>
                </a:xfrm>
                <a:prstGeom prst="rect">
                  <a:avLst/>
                </a:prstGeom>
                <a:blipFill>
                  <a:blip r:embed="rId13"/>
                  <a:stretch>
                    <a:fillRect l="-11111" r="-138889" b="-8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9" name="文本框 208">
                  <a:extLst>
                    <a:ext uri="{FF2B5EF4-FFF2-40B4-BE49-F238E27FC236}">
                      <a16:creationId xmlns:a16="http://schemas.microsoft.com/office/drawing/2014/main" id="{6E81B9EF-72D2-4619-AEC3-5DB3E2274C65}"/>
                    </a:ext>
                  </a:extLst>
                </p:cNvPr>
                <p:cNvSpPr txBox="1"/>
                <p:nvPr/>
              </p:nvSpPr>
              <p:spPr>
                <a:xfrm>
                  <a:off x="3330881" y="4902001"/>
                  <a:ext cx="200144" cy="5168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𝑄</m:t>
                            </m:r>
                          </m:e>
                          <m:sub>
                            <m:r>
                              <a:rPr lang="en-US" altLang="zh-CN" sz="1200" b="0" i="1" smtClean="0">
                                <a:latin typeface="Cambria Math" panose="02040503050406030204" pitchFamily="18" charset="0"/>
                                <a:ea typeface="微软雅黑" panose="020B0503020204020204" pitchFamily="34" charset="-122"/>
                              </a:rPr>
                              <m:t>1</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209" name="文本框 208">
                  <a:extLst>
                    <a:ext uri="{FF2B5EF4-FFF2-40B4-BE49-F238E27FC236}">
                      <a16:creationId xmlns:a16="http://schemas.microsoft.com/office/drawing/2014/main" id="{6E81B9EF-72D2-4619-AEC3-5DB3E2274C65}"/>
                    </a:ext>
                  </a:extLst>
                </p:cNvPr>
                <p:cNvSpPr txBox="1">
                  <a:spLocks noRot="1" noChangeAspect="1" noMove="1" noResize="1" noEditPoints="1" noAdjustHandles="1" noChangeArrowheads="1" noChangeShapeType="1" noTextEdit="1"/>
                </p:cNvSpPr>
                <p:nvPr/>
              </p:nvSpPr>
              <p:spPr>
                <a:xfrm>
                  <a:off x="3330881" y="4902001"/>
                  <a:ext cx="200144" cy="516801"/>
                </a:xfrm>
                <a:prstGeom prst="rect">
                  <a:avLst/>
                </a:prstGeom>
                <a:blipFill>
                  <a:blip r:embed="rId9"/>
                  <a:stretch>
                    <a:fillRect l="-5263" r="-115789" b="-2174"/>
                  </a:stretch>
                </a:blipFill>
              </p:spPr>
              <p:txBody>
                <a:bodyPr/>
                <a:lstStyle/>
                <a:p>
                  <a:r>
                    <a:rPr lang="zh-CN" altLang="en-US">
                      <a:noFill/>
                    </a:rPr>
                    <a:t> </a:t>
                  </a:r>
                </a:p>
              </p:txBody>
            </p:sp>
          </mc:Fallback>
        </mc:AlternateContent>
        <p:cxnSp>
          <p:nvCxnSpPr>
            <p:cNvPr id="210" name="直接箭头连接符 209">
              <a:extLst>
                <a:ext uri="{FF2B5EF4-FFF2-40B4-BE49-F238E27FC236}">
                  <a16:creationId xmlns:a16="http://schemas.microsoft.com/office/drawing/2014/main" id="{721CE9E6-CB3F-406C-9DD3-E00BF50D2BF5}"/>
                </a:ext>
              </a:extLst>
            </p:cNvPr>
            <p:cNvCxnSpPr/>
            <p:nvPr/>
          </p:nvCxnSpPr>
          <p:spPr bwMode="auto">
            <a:xfrm>
              <a:off x="2198526" y="2378999"/>
              <a:ext cx="914400" cy="914400"/>
            </a:xfrm>
            <a:prstGeom prst="straightConnector1">
              <a:avLst/>
            </a:prstGeom>
            <a:solidFill>
              <a:srgbClr val="FF00FF"/>
            </a:solidFill>
            <a:ln>
              <a:noFill/>
              <a:tailEnd type="triangle"/>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1" name="直接连接符 210">
              <a:extLst>
                <a:ext uri="{FF2B5EF4-FFF2-40B4-BE49-F238E27FC236}">
                  <a16:creationId xmlns:a16="http://schemas.microsoft.com/office/drawing/2014/main" id="{D7C0FB9E-9DB4-4A21-9ECA-7CE72A7A0B5C}"/>
                </a:ext>
              </a:extLst>
            </p:cNvPr>
            <p:cNvCxnSpPr/>
            <p:nvPr/>
          </p:nvCxnSpPr>
          <p:spPr bwMode="auto">
            <a:xfrm>
              <a:off x="1791425" y="2102614"/>
              <a:ext cx="914399" cy="914400"/>
            </a:xfrm>
            <a:prstGeom prst="line">
              <a:avLst/>
            </a:prstGeom>
            <a:solidFill>
              <a:srgbClr val="FF00FF"/>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2" name="直接连接符 211">
              <a:extLst>
                <a:ext uri="{FF2B5EF4-FFF2-40B4-BE49-F238E27FC236}">
                  <a16:creationId xmlns:a16="http://schemas.microsoft.com/office/drawing/2014/main" id="{144BBEC2-9AEA-41FA-9ADB-7E7603FE90AF}"/>
                </a:ext>
              </a:extLst>
            </p:cNvPr>
            <p:cNvCxnSpPr>
              <a:cxnSpLocks/>
            </p:cNvCxnSpPr>
            <p:nvPr/>
          </p:nvCxnSpPr>
          <p:spPr bwMode="auto">
            <a:xfrm>
              <a:off x="3531024" y="2786543"/>
              <a:ext cx="18039" cy="1298776"/>
            </a:xfrm>
            <a:prstGeom prst="line">
              <a:avLst/>
            </a:prstGeom>
            <a:ln w="19050"/>
          </p:spPr>
          <p:style>
            <a:lnRef idx="1">
              <a:schemeClr val="dk1"/>
            </a:lnRef>
            <a:fillRef idx="0">
              <a:schemeClr val="dk1"/>
            </a:fillRef>
            <a:effectRef idx="0">
              <a:schemeClr val="dk1"/>
            </a:effectRef>
            <a:fontRef idx="minor">
              <a:schemeClr val="tx1"/>
            </a:fontRef>
          </p:style>
        </p:cxnSp>
        <p:cxnSp>
          <p:nvCxnSpPr>
            <p:cNvPr id="213" name="直接连接符 212">
              <a:extLst>
                <a:ext uri="{FF2B5EF4-FFF2-40B4-BE49-F238E27FC236}">
                  <a16:creationId xmlns:a16="http://schemas.microsoft.com/office/drawing/2014/main" id="{1F0A602B-7755-4F8A-B488-900C5801D071}"/>
                </a:ext>
              </a:extLst>
            </p:cNvPr>
            <p:cNvCxnSpPr>
              <a:cxnSpLocks/>
            </p:cNvCxnSpPr>
            <p:nvPr/>
          </p:nvCxnSpPr>
          <p:spPr bwMode="auto">
            <a:xfrm flipH="1" flipV="1">
              <a:off x="2104108" y="2862597"/>
              <a:ext cx="125" cy="1237891"/>
            </a:xfrm>
            <a:prstGeom prst="line">
              <a:avLst/>
            </a:prstGeom>
            <a:ln w="19050"/>
          </p:spPr>
          <p:style>
            <a:lnRef idx="1">
              <a:schemeClr val="dk1"/>
            </a:lnRef>
            <a:fillRef idx="0">
              <a:schemeClr val="dk1"/>
            </a:fillRef>
            <a:effectRef idx="0">
              <a:schemeClr val="dk1"/>
            </a:effectRef>
            <a:fontRef idx="minor">
              <a:schemeClr val="tx1"/>
            </a:fontRef>
          </p:style>
        </p:cxnSp>
        <p:cxnSp>
          <p:nvCxnSpPr>
            <p:cNvPr id="214" name="直接连接符 213">
              <a:extLst>
                <a:ext uri="{FF2B5EF4-FFF2-40B4-BE49-F238E27FC236}">
                  <a16:creationId xmlns:a16="http://schemas.microsoft.com/office/drawing/2014/main" id="{77040D58-8F3A-4D36-A335-5DA97215FAEB}"/>
                </a:ext>
              </a:extLst>
            </p:cNvPr>
            <p:cNvCxnSpPr>
              <a:cxnSpLocks/>
            </p:cNvCxnSpPr>
            <p:nvPr/>
          </p:nvCxnSpPr>
          <p:spPr bwMode="auto">
            <a:xfrm>
              <a:off x="2107530" y="4087790"/>
              <a:ext cx="1441533" cy="10377"/>
            </a:xfrm>
            <a:prstGeom prst="line">
              <a:avLst/>
            </a:prstGeom>
            <a:ln w="19050"/>
          </p:spPr>
          <p:style>
            <a:lnRef idx="1">
              <a:schemeClr val="dk1"/>
            </a:lnRef>
            <a:fillRef idx="0">
              <a:schemeClr val="dk1"/>
            </a:fillRef>
            <a:effectRef idx="0">
              <a:schemeClr val="dk1"/>
            </a:effectRef>
            <a:fontRef idx="minor">
              <a:schemeClr val="tx1"/>
            </a:fontRef>
          </p:style>
        </p:cxnSp>
        <p:cxnSp>
          <p:nvCxnSpPr>
            <p:cNvPr id="215" name="直接箭头连接符 214">
              <a:extLst>
                <a:ext uri="{FF2B5EF4-FFF2-40B4-BE49-F238E27FC236}">
                  <a16:creationId xmlns:a16="http://schemas.microsoft.com/office/drawing/2014/main" id="{52DA818A-F619-41A3-A1CC-AFC3F9A36CEF}"/>
                </a:ext>
              </a:extLst>
            </p:cNvPr>
            <p:cNvCxnSpPr>
              <a:cxnSpLocks/>
            </p:cNvCxnSpPr>
            <p:nvPr/>
          </p:nvCxnSpPr>
          <p:spPr bwMode="auto">
            <a:xfrm>
              <a:off x="3531025" y="2832487"/>
              <a:ext cx="0" cy="52090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16" name="直接箭头连接符 215">
              <a:extLst>
                <a:ext uri="{FF2B5EF4-FFF2-40B4-BE49-F238E27FC236}">
                  <a16:creationId xmlns:a16="http://schemas.microsoft.com/office/drawing/2014/main" id="{86099BCA-DEA5-4AA2-83DC-953CB69343B1}"/>
                </a:ext>
              </a:extLst>
            </p:cNvPr>
            <p:cNvCxnSpPr>
              <a:cxnSpLocks/>
            </p:cNvCxnSpPr>
            <p:nvPr/>
          </p:nvCxnSpPr>
          <p:spPr bwMode="auto">
            <a:xfrm>
              <a:off x="2126791" y="2815412"/>
              <a:ext cx="784891" cy="5414"/>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17" name="直接箭头连接符 216">
              <a:extLst>
                <a:ext uri="{FF2B5EF4-FFF2-40B4-BE49-F238E27FC236}">
                  <a16:creationId xmlns:a16="http://schemas.microsoft.com/office/drawing/2014/main" id="{68D39C7E-7274-4F8E-8CDB-000A6441731E}"/>
                </a:ext>
              </a:extLst>
            </p:cNvPr>
            <p:cNvCxnSpPr>
              <a:cxnSpLocks/>
            </p:cNvCxnSpPr>
            <p:nvPr/>
          </p:nvCxnSpPr>
          <p:spPr bwMode="auto">
            <a:xfrm flipH="1" flipV="1">
              <a:off x="2625860" y="4084952"/>
              <a:ext cx="853455" cy="666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18" name="直接箭头连接符 217">
              <a:extLst>
                <a:ext uri="{FF2B5EF4-FFF2-40B4-BE49-F238E27FC236}">
                  <a16:creationId xmlns:a16="http://schemas.microsoft.com/office/drawing/2014/main" id="{63248C64-3951-4DF9-915D-EE8A49EA7664}"/>
                </a:ext>
              </a:extLst>
            </p:cNvPr>
            <p:cNvCxnSpPr>
              <a:cxnSpLocks/>
            </p:cNvCxnSpPr>
            <p:nvPr/>
          </p:nvCxnSpPr>
          <p:spPr bwMode="auto">
            <a:xfrm flipH="1" flipV="1">
              <a:off x="2095206" y="3383378"/>
              <a:ext cx="6649" cy="68200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19" name="直接连接符 13">
              <a:extLst>
                <a:ext uri="{FF2B5EF4-FFF2-40B4-BE49-F238E27FC236}">
                  <a16:creationId xmlns:a16="http://schemas.microsoft.com/office/drawing/2014/main" id="{0A9F6DB2-2483-4652-A4FA-EE5E6D9D61FC}"/>
                </a:ext>
              </a:extLst>
            </p:cNvPr>
            <p:cNvCxnSpPr>
              <a:cxnSpLocks noChangeShapeType="1"/>
              <a:endCxn id="198" idx="0"/>
            </p:cNvCxnSpPr>
            <p:nvPr/>
          </p:nvCxnSpPr>
          <p:spPr bwMode="auto">
            <a:xfrm flipV="1">
              <a:off x="1458766" y="2343752"/>
              <a:ext cx="2591444" cy="2350144"/>
            </a:xfrm>
            <a:prstGeom prst="line">
              <a:avLst/>
            </a:prstGeom>
            <a:noFill/>
            <a:ln w="28575">
              <a:solidFill>
                <a:schemeClr val="accent2"/>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221" name="直接连接符 220">
              <a:extLst>
                <a:ext uri="{FF2B5EF4-FFF2-40B4-BE49-F238E27FC236}">
                  <a16:creationId xmlns:a16="http://schemas.microsoft.com/office/drawing/2014/main" id="{14C8B7B5-24E9-4AB5-98AF-027ADC08F288}"/>
                </a:ext>
              </a:extLst>
            </p:cNvPr>
            <p:cNvCxnSpPr>
              <a:cxnSpLocks/>
            </p:cNvCxnSpPr>
            <p:nvPr/>
          </p:nvCxnSpPr>
          <p:spPr bwMode="auto">
            <a:xfrm flipV="1">
              <a:off x="2058879" y="2807022"/>
              <a:ext cx="1490184" cy="5468"/>
            </a:xfrm>
            <a:prstGeom prst="line">
              <a:avLst/>
            </a:prstGeom>
            <a:ln w="19050"/>
          </p:spPr>
          <p:style>
            <a:lnRef idx="1">
              <a:schemeClr val="dk1"/>
            </a:lnRef>
            <a:fillRef idx="0">
              <a:schemeClr val="dk1"/>
            </a:fillRef>
            <a:effectRef idx="0">
              <a:schemeClr val="dk1"/>
            </a:effectRef>
            <a:fontRef idx="minor">
              <a:schemeClr val="tx1"/>
            </a:fontRef>
          </p:style>
        </p:cxnSp>
        <p:cxnSp>
          <p:nvCxnSpPr>
            <p:cNvPr id="220" name="直接连接符 16">
              <a:extLst>
                <a:ext uri="{FF2B5EF4-FFF2-40B4-BE49-F238E27FC236}">
                  <a16:creationId xmlns:a16="http://schemas.microsoft.com/office/drawing/2014/main" id="{D47301CE-AFD3-42D4-B89E-F3E99194E6D7}"/>
                </a:ext>
              </a:extLst>
            </p:cNvPr>
            <p:cNvCxnSpPr>
              <a:cxnSpLocks noChangeShapeType="1"/>
            </p:cNvCxnSpPr>
            <p:nvPr/>
          </p:nvCxnSpPr>
          <p:spPr bwMode="auto">
            <a:xfrm>
              <a:off x="1500932" y="2306598"/>
              <a:ext cx="2543051" cy="2242718"/>
            </a:xfrm>
            <a:prstGeom prst="line">
              <a:avLst/>
            </a:prstGeom>
            <a:noFill/>
            <a:ln w="28575">
              <a:solidFill>
                <a:schemeClr val="accent2"/>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pSp>
      <p:grpSp>
        <p:nvGrpSpPr>
          <p:cNvPr id="222" name="组合 221">
            <a:extLst>
              <a:ext uri="{FF2B5EF4-FFF2-40B4-BE49-F238E27FC236}">
                <a16:creationId xmlns:a16="http://schemas.microsoft.com/office/drawing/2014/main" id="{E510F2E8-AD83-4178-AAF4-2439ADC436BD}"/>
              </a:ext>
            </a:extLst>
          </p:cNvPr>
          <p:cNvGrpSpPr/>
          <p:nvPr/>
        </p:nvGrpSpPr>
        <p:grpSpPr>
          <a:xfrm>
            <a:off x="3419872" y="309634"/>
            <a:ext cx="2348130" cy="2230650"/>
            <a:chOff x="628858" y="1380509"/>
            <a:chExt cx="4178904" cy="4161757"/>
          </a:xfrm>
        </p:grpSpPr>
        <p:cxnSp>
          <p:nvCxnSpPr>
            <p:cNvPr id="223" name="直接箭头连接符 5">
              <a:extLst>
                <a:ext uri="{FF2B5EF4-FFF2-40B4-BE49-F238E27FC236}">
                  <a16:creationId xmlns:a16="http://schemas.microsoft.com/office/drawing/2014/main" id="{200FE838-C802-4EC7-A54D-9D22C0F7A288}"/>
                </a:ext>
              </a:extLst>
            </p:cNvPr>
            <p:cNvCxnSpPr>
              <a:cxnSpLocks noChangeShapeType="1"/>
            </p:cNvCxnSpPr>
            <p:nvPr/>
          </p:nvCxnSpPr>
          <p:spPr bwMode="auto">
            <a:xfrm>
              <a:off x="1131779" y="5014338"/>
              <a:ext cx="3675983" cy="27217"/>
            </a:xfrm>
            <a:prstGeom prst="straightConnector1">
              <a:avLst/>
            </a:prstGeom>
            <a:noFill/>
            <a:ln w="12700">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224" name="直接箭头连接符 10">
              <a:extLst>
                <a:ext uri="{FF2B5EF4-FFF2-40B4-BE49-F238E27FC236}">
                  <a16:creationId xmlns:a16="http://schemas.microsoft.com/office/drawing/2014/main" id="{E2FDA3C8-B7FD-4EB5-B368-DDCBFFEECB02}"/>
                </a:ext>
              </a:extLst>
            </p:cNvPr>
            <p:cNvCxnSpPr>
              <a:cxnSpLocks noChangeShapeType="1"/>
            </p:cNvCxnSpPr>
            <p:nvPr/>
          </p:nvCxnSpPr>
          <p:spPr bwMode="auto">
            <a:xfrm rot="5400000" flipH="1" flipV="1">
              <a:off x="-597007" y="3286125"/>
              <a:ext cx="3459162" cy="1587"/>
            </a:xfrm>
            <a:prstGeom prst="straightConnector1">
              <a:avLst/>
            </a:prstGeom>
            <a:noFill/>
            <a:ln w="12700">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225" name="直接连接符 19">
              <a:extLst>
                <a:ext uri="{FF2B5EF4-FFF2-40B4-BE49-F238E27FC236}">
                  <a16:creationId xmlns:a16="http://schemas.microsoft.com/office/drawing/2014/main" id="{C8EAC949-A69B-4664-B262-5E42F72C9DAC}"/>
                </a:ext>
              </a:extLst>
            </p:cNvPr>
            <p:cNvCxnSpPr>
              <a:cxnSpLocks noChangeShapeType="1"/>
            </p:cNvCxnSpPr>
            <p:nvPr/>
          </p:nvCxnSpPr>
          <p:spPr bwMode="auto">
            <a:xfrm flipV="1">
              <a:off x="1123646" y="3249584"/>
              <a:ext cx="1678712" cy="27002"/>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226" name="直接连接符 21">
              <a:extLst>
                <a:ext uri="{FF2B5EF4-FFF2-40B4-BE49-F238E27FC236}">
                  <a16:creationId xmlns:a16="http://schemas.microsoft.com/office/drawing/2014/main" id="{F935CC6B-59DA-4A70-90A4-0F85453892FB}"/>
                </a:ext>
              </a:extLst>
            </p:cNvPr>
            <p:cNvCxnSpPr>
              <a:cxnSpLocks noChangeShapeType="1"/>
            </p:cNvCxnSpPr>
            <p:nvPr/>
          </p:nvCxnSpPr>
          <p:spPr bwMode="auto">
            <a:xfrm>
              <a:off x="2960646" y="3280370"/>
              <a:ext cx="0" cy="1740126"/>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227" name="直接连接符 23">
              <a:extLst>
                <a:ext uri="{FF2B5EF4-FFF2-40B4-BE49-F238E27FC236}">
                  <a16:creationId xmlns:a16="http://schemas.microsoft.com/office/drawing/2014/main" id="{E0DD1DB2-CB98-43D0-B0FF-1CF970167180}"/>
                </a:ext>
              </a:extLst>
            </p:cNvPr>
            <p:cNvCxnSpPr>
              <a:cxnSpLocks noChangeShapeType="1"/>
            </p:cNvCxnSpPr>
            <p:nvPr/>
          </p:nvCxnSpPr>
          <p:spPr bwMode="auto">
            <a:xfrm>
              <a:off x="1138302" y="3912506"/>
              <a:ext cx="2358407" cy="0"/>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228" name="直接连接符 227">
              <a:extLst>
                <a:ext uri="{FF2B5EF4-FFF2-40B4-BE49-F238E27FC236}">
                  <a16:creationId xmlns:a16="http://schemas.microsoft.com/office/drawing/2014/main" id="{A87F16C2-FA72-45B0-A20D-A25444055C38}"/>
                </a:ext>
              </a:extLst>
            </p:cNvPr>
            <p:cNvCxnSpPr>
              <a:cxnSpLocks noChangeShapeType="1"/>
            </p:cNvCxnSpPr>
            <p:nvPr/>
          </p:nvCxnSpPr>
          <p:spPr bwMode="auto">
            <a:xfrm flipH="1">
              <a:off x="1880707" y="2204303"/>
              <a:ext cx="16539" cy="2810035"/>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229" name="直接连接符 45">
              <a:extLst>
                <a:ext uri="{FF2B5EF4-FFF2-40B4-BE49-F238E27FC236}">
                  <a16:creationId xmlns:a16="http://schemas.microsoft.com/office/drawing/2014/main" id="{725E8489-EDB0-412E-87C1-9D0B7E8750DB}"/>
                </a:ext>
              </a:extLst>
            </p:cNvPr>
            <p:cNvCxnSpPr>
              <a:cxnSpLocks noChangeShapeType="1"/>
            </p:cNvCxnSpPr>
            <p:nvPr/>
          </p:nvCxnSpPr>
          <p:spPr bwMode="auto">
            <a:xfrm>
              <a:off x="1123646" y="2198560"/>
              <a:ext cx="2360099" cy="0"/>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230" name="直接连接符 19">
              <a:extLst>
                <a:ext uri="{FF2B5EF4-FFF2-40B4-BE49-F238E27FC236}">
                  <a16:creationId xmlns:a16="http://schemas.microsoft.com/office/drawing/2014/main" id="{6F9E1A19-27BF-436A-9C28-8136CD52D1FF}"/>
                </a:ext>
              </a:extLst>
            </p:cNvPr>
            <p:cNvCxnSpPr>
              <a:cxnSpLocks noChangeShapeType="1"/>
            </p:cNvCxnSpPr>
            <p:nvPr/>
          </p:nvCxnSpPr>
          <p:spPr bwMode="auto">
            <a:xfrm flipV="1">
              <a:off x="1127622" y="2853273"/>
              <a:ext cx="2379770" cy="17691"/>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sp>
          <p:nvSpPr>
            <p:cNvPr id="231" name="文本框 230">
              <a:extLst>
                <a:ext uri="{FF2B5EF4-FFF2-40B4-BE49-F238E27FC236}">
                  <a16:creationId xmlns:a16="http://schemas.microsoft.com/office/drawing/2014/main" id="{1E7AC2C5-BC5D-4A2C-9883-6070FA3C9127}"/>
                </a:ext>
              </a:extLst>
            </p:cNvPr>
            <p:cNvSpPr txBox="1"/>
            <p:nvPr/>
          </p:nvSpPr>
          <p:spPr>
            <a:xfrm>
              <a:off x="748637" y="1380509"/>
              <a:ext cx="279092" cy="51680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P</a:t>
              </a:r>
              <a:endParaRPr lang="zh-CN" altLang="en-US" sz="1200" dirty="0">
                <a:latin typeface="微软雅黑" panose="020B0503020204020204" pitchFamily="34" charset="-122"/>
                <a:ea typeface="微软雅黑" panose="020B0503020204020204" pitchFamily="34" charset="-122"/>
              </a:endParaRPr>
            </a:p>
          </p:txBody>
        </p:sp>
        <p:cxnSp>
          <p:nvCxnSpPr>
            <p:cNvPr id="232" name="直接连接符 231">
              <a:extLst>
                <a:ext uri="{FF2B5EF4-FFF2-40B4-BE49-F238E27FC236}">
                  <a16:creationId xmlns:a16="http://schemas.microsoft.com/office/drawing/2014/main" id="{48BDA53B-8F64-4017-B4D9-7E2B2E3BE797}"/>
                </a:ext>
              </a:extLst>
            </p:cNvPr>
            <p:cNvCxnSpPr>
              <a:cxnSpLocks noChangeShapeType="1"/>
            </p:cNvCxnSpPr>
            <p:nvPr/>
          </p:nvCxnSpPr>
          <p:spPr bwMode="auto">
            <a:xfrm>
              <a:off x="3632998" y="2867122"/>
              <a:ext cx="9066" cy="2173224"/>
            </a:xfrm>
            <a:prstGeom prst="line">
              <a:avLst/>
            </a:prstGeom>
            <a:noFill/>
            <a:ln w="12700">
              <a:solidFill>
                <a:srgbClr val="7F7F7F"/>
              </a:solidFill>
              <a:prstDash val="lgDash"/>
              <a:round/>
              <a:headEnd/>
              <a:tailEnd/>
            </a:ln>
            <a:extLst>
              <a:ext uri="{909E8E84-426E-40DD-AFC4-6F175D3DCCD1}">
                <a14:hiddenFill xmlns:a14="http://schemas.microsoft.com/office/drawing/2010/main">
                  <a:noFill/>
                </a14:hiddenFill>
              </a:ext>
            </a:extLst>
          </p:spPr>
        </p:cxnSp>
        <p:sp>
          <p:nvSpPr>
            <p:cNvPr id="233" name="文本框 232">
              <a:extLst>
                <a:ext uri="{FF2B5EF4-FFF2-40B4-BE49-F238E27FC236}">
                  <a16:creationId xmlns:a16="http://schemas.microsoft.com/office/drawing/2014/main" id="{09012E9F-87E6-4DE8-A99E-295139E42315}"/>
                </a:ext>
              </a:extLst>
            </p:cNvPr>
            <p:cNvSpPr txBox="1"/>
            <p:nvPr/>
          </p:nvSpPr>
          <p:spPr>
            <a:xfrm>
              <a:off x="866249" y="4931332"/>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0</a:t>
              </a:r>
              <a:endParaRPr lang="zh-CN" altLang="en-US" sz="12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34" name="文本框 233">
                  <a:extLst>
                    <a:ext uri="{FF2B5EF4-FFF2-40B4-BE49-F238E27FC236}">
                      <a16:creationId xmlns:a16="http://schemas.microsoft.com/office/drawing/2014/main" id="{C2C30227-C81F-4CE5-821F-C6899A7B0B65}"/>
                    </a:ext>
                  </a:extLst>
                </p:cNvPr>
                <p:cNvSpPr txBox="1"/>
                <p:nvPr/>
              </p:nvSpPr>
              <p:spPr>
                <a:xfrm>
                  <a:off x="687287" y="3524020"/>
                  <a:ext cx="347059" cy="5168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𝑃</m:t>
                            </m:r>
                          </m:e>
                          <m:sub>
                            <m:r>
                              <a:rPr lang="en-US" altLang="zh-CN" sz="1200" b="0" i="1" smtClean="0">
                                <a:latin typeface="Cambria Math" panose="02040503050406030204" pitchFamily="18" charset="0"/>
                                <a:ea typeface="微软雅黑" panose="020B0503020204020204" pitchFamily="34" charset="-122"/>
                              </a:rPr>
                              <m:t>1</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234" name="文本框 233">
                  <a:extLst>
                    <a:ext uri="{FF2B5EF4-FFF2-40B4-BE49-F238E27FC236}">
                      <a16:creationId xmlns:a16="http://schemas.microsoft.com/office/drawing/2014/main" id="{C2C30227-C81F-4CE5-821F-C6899A7B0B65}"/>
                    </a:ext>
                  </a:extLst>
                </p:cNvPr>
                <p:cNvSpPr txBox="1">
                  <a:spLocks noRot="1" noChangeAspect="1" noMove="1" noResize="1" noEditPoints="1" noAdjustHandles="1" noChangeArrowheads="1" noChangeShapeType="1" noTextEdit="1"/>
                </p:cNvSpPr>
                <p:nvPr/>
              </p:nvSpPr>
              <p:spPr>
                <a:xfrm>
                  <a:off x="687287" y="3524020"/>
                  <a:ext cx="347059" cy="516801"/>
                </a:xfrm>
                <a:prstGeom prst="rect">
                  <a:avLst/>
                </a:prstGeom>
                <a:blipFill>
                  <a:blip r:embed="rId14"/>
                  <a:stretch>
                    <a:fillRect r="-34375"/>
                  </a:stretch>
                </a:blipFill>
              </p:spPr>
              <p:txBody>
                <a:bodyPr/>
                <a:lstStyle/>
                <a:p>
                  <a:r>
                    <a:rPr lang="zh-CN" altLang="en-US">
                      <a:noFill/>
                    </a:rPr>
                    <a:t> </a:t>
                  </a:r>
                </a:p>
              </p:txBody>
            </p:sp>
          </mc:Fallback>
        </mc:AlternateContent>
        <p:sp>
          <p:nvSpPr>
            <p:cNvPr id="235" name="文本框 234">
              <a:extLst>
                <a:ext uri="{FF2B5EF4-FFF2-40B4-BE49-F238E27FC236}">
                  <a16:creationId xmlns:a16="http://schemas.microsoft.com/office/drawing/2014/main" id="{4DA63B7E-2C29-4CC6-AEA3-B1E317C9AB47}"/>
                </a:ext>
              </a:extLst>
            </p:cNvPr>
            <p:cNvSpPr txBox="1"/>
            <p:nvPr/>
          </p:nvSpPr>
          <p:spPr>
            <a:xfrm>
              <a:off x="1837258" y="1709821"/>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F</a:t>
              </a:r>
              <a:endParaRPr lang="zh-CN" altLang="en-US" sz="1200" dirty="0">
                <a:latin typeface="微软雅黑" panose="020B0503020204020204" pitchFamily="34" charset="-122"/>
                <a:ea typeface="微软雅黑" panose="020B0503020204020204" pitchFamily="34" charset="-122"/>
              </a:endParaRPr>
            </a:p>
          </p:txBody>
        </p:sp>
        <p:sp>
          <p:nvSpPr>
            <p:cNvPr id="236" name="文本框 235">
              <a:extLst>
                <a:ext uri="{FF2B5EF4-FFF2-40B4-BE49-F238E27FC236}">
                  <a16:creationId xmlns:a16="http://schemas.microsoft.com/office/drawing/2014/main" id="{568CAC58-E63F-49BD-B563-85EB73BC61FC}"/>
                </a:ext>
              </a:extLst>
            </p:cNvPr>
            <p:cNvSpPr txBox="1"/>
            <p:nvPr/>
          </p:nvSpPr>
          <p:spPr>
            <a:xfrm>
              <a:off x="4593249" y="1911930"/>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S</a:t>
              </a:r>
              <a:endParaRPr lang="zh-CN" altLang="en-US" sz="1200" dirty="0">
                <a:latin typeface="微软雅黑" panose="020B0503020204020204" pitchFamily="34" charset="-122"/>
                <a:ea typeface="微软雅黑" panose="020B0503020204020204" pitchFamily="34" charset="-122"/>
              </a:endParaRPr>
            </a:p>
          </p:txBody>
        </p:sp>
        <p:sp>
          <p:nvSpPr>
            <p:cNvPr id="237" name="文本框 236">
              <a:extLst>
                <a:ext uri="{FF2B5EF4-FFF2-40B4-BE49-F238E27FC236}">
                  <a16:creationId xmlns:a16="http://schemas.microsoft.com/office/drawing/2014/main" id="{ECCAF947-7451-4CBC-A8A9-861C834AFF22}"/>
                </a:ext>
              </a:extLst>
            </p:cNvPr>
            <p:cNvSpPr txBox="1"/>
            <p:nvPr/>
          </p:nvSpPr>
          <p:spPr>
            <a:xfrm>
              <a:off x="3252426" y="2380398"/>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A</a:t>
              </a:r>
              <a:endParaRPr lang="zh-CN" altLang="en-US" sz="1200" dirty="0">
                <a:latin typeface="微软雅黑" panose="020B0503020204020204" pitchFamily="34" charset="-122"/>
                <a:ea typeface="微软雅黑" panose="020B0503020204020204" pitchFamily="34" charset="-122"/>
              </a:endParaRPr>
            </a:p>
          </p:txBody>
        </p:sp>
        <p:sp>
          <p:nvSpPr>
            <p:cNvPr id="238" name="文本框 237">
              <a:extLst>
                <a:ext uri="{FF2B5EF4-FFF2-40B4-BE49-F238E27FC236}">
                  <a16:creationId xmlns:a16="http://schemas.microsoft.com/office/drawing/2014/main" id="{475DEBA1-2399-4F15-B281-EC185F110E51}"/>
                </a:ext>
              </a:extLst>
            </p:cNvPr>
            <p:cNvSpPr txBox="1"/>
            <p:nvPr/>
          </p:nvSpPr>
          <p:spPr>
            <a:xfrm>
              <a:off x="3062091" y="3040553"/>
              <a:ext cx="318200" cy="51680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E</a:t>
              </a:r>
              <a:endParaRPr lang="zh-CN" altLang="en-US" sz="1200" dirty="0">
                <a:latin typeface="微软雅黑" panose="020B0503020204020204" pitchFamily="34" charset="-122"/>
                <a:ea typeface="微软雅黑" panose="020B0503020204020204" pitchFamily="34" charset="-122"/>
              </a:endParaRPr>
            </a:p>
          </p:txBody>
        </p:sp>
        <p:sp>
          <p:nvSpPr>
            <p:cNvPr id="239" name="文本框 238">
              <a:extLst>
                <a:ext uri="{FF2B5EF4-FFF2-40B4-BE49-F238E27FC236}">
                  <a16:creationId xmlns:a16="http://schemas.microsoft.com/office/drawing/2014/main" id="{8BAD9ED5-AA1F-42E8-B70C-FD067543D5C1}"/>
                </a:ext>
              </a:extLst>
            </p:cNvPr>
            <p:cNvSpPr txBox="1"/>
            <p:nvPr/>
          </p:nvSpPr>
          <p:spPr>
            <a:xfrm>
              <a:off x="1840214" y="3847706"/>
              <a:ext cx="312867" cy="51680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C</a:t>
              </a:r>
              <a:endParaRPr lang="zh-CN" altLang="en-US" sz="1200" dirty="0">
                <a:latin typeface="微软雅黑" panose="020B0503020204020204" pitchFamily="34" charset="-122"/>
                <a:ea typeface="微软雅黑" panose="020B0503020204020204" pitchFamily="34" charset="-122"/>
              </a:endParaRPr>
            </a:p>
          </p:txBody>
        </p:sp>
        <p:sp>
          <p:nvSpPr>
            <p:cNvPr id="240" name="文本框 239">
              <a:extLst>
                <a:ext uri="{FF2B5EF4-FFF2-40B4-BE49-F238E27FC236}">
                  <a16:creationId xmlns:a16="http://schemas.microsoft.com/office/drawing/2014/main" id="{FDC6483B-83A5-40A8-9ACB-3B215A735CA2}"/>
                </a:ext>
              </a:extLst>
            </p:cNvPr>
            <p:cNvSpPr txBox="1"/>
            <p:nvPr/>
          </p:nvSpPr>
          <p:spPr>
            <a:xfrm>
              <a:off x="4324784" y="4484008"/>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D</a:t>
              </a:r>
              <a:endParaRPr lang="zh-CN" altLang="en-US" sz="1200" dirty="0">
                <a:latin typeface="微软雅黑" panose="020B0503020204020204" pitchFamily="34" charset="-122"/>
                <a:ea typeface="微软雅黑" panose="020B0503020204020204" pitchFamily="34" charset="-122"/>
              </a:endParaRPr>
            </a:p>
          </p:txBody>
        </p:sp>
        <p:sp>
          <p:nvSpPr>
            <p:cNvPr id="241" name="文本框 240">
              <a:extLst>
                <a:ext uri="{FF2B5EF4-FFF2-40B4-BE49-F238E27FC236}">
                  <a16:creationId xmlns:a16="http://schemas.microsoft.com/office/drawing/2014/main" id="{8B8C9248-CBB8-4640-BDCC-8BFFE5A90506}"/>
                </a:ext>
              </a:extLst>
            </p:cNvPr>
            <p:cNvSpPr txBox="1"/>
            <p:nvPr/>
          </p:nvSpPr>
          <p:spPr>
            <a:xfrm>
              <a:off x="3665377" y="3609320"/>
              <a:ext cx="200144"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B</a:t>
              </a:r>
              <a:endParaRPr lang="zh-CN" altLang="en-US" sz="1200" dirty="0">
                <a:latin typeface="微软雅黑" panose="020B0503020204020204" pitchFamily="34" charset="-122"/>
                <a:ea typeface="微软雅黑" panose="020B0503020204020204" pitchFamily="34" charset="-122"/>
              </a:endParaRPr>
            </a:p>
          </p:txBody>
        </p:sp>
        <p:sp>
          <p:nvSpPr>
            <p:cNvPr id="242" name="文本框 241">
              <a:extLst>
                <a:ext uri="{FF2B5EF4-FFF2-40B4-BE49-F238E27FC236}">
                  <a16:creationId xmlns:a16="http://schemas.microsoft.com/office/drawing/2014/main" id="{00418123-E1C6-492B-8956-6E087975A245}"/>
                </a:ext>
              </a:extLst>
            </p:cNvPr>
            <p:cNvSpPr txBox="1"/>
            <p:nvPr/>
          </p:nvSpPr>
          <p:spPr>
            <a:xfrm>
              <a:off x="4433119" y="5003005"/>
              <a:ext cx="200146" cy="290391"/>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Q</a:t>
              </a:r>
              <a:endParaRPr lang="zh-CN" altLang="en-US" sz="12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43" name="文本框 242">
                  <a:extLst>
                    <a:ext uri="{FF2B5EF4-FFF2-40B4-BE49-F238E27FC236}">
                      <a16:creationId xmlns:a16="http://schemas.microsoft.com/office/drawing/2014/main" id="{B474F240-7BEE-4A4E-99F1-5696B26BD186}"/>
                    </a:ext>
                  </a:extLst>
                </p:cNvPr>
                <p:cNvSpPr txBox="1"/>
                <p:nvPr/>
              </p:nvSpPr>
              <p:spPr>
                <a:xfrm>
                  <a:off x="628858" y="3003825"/>
                  <a:ext cx="444343" cy="5168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𝑃</m:t>
                            </m:r>
                          </m:e>
                          <m:sub>
                            <m:r>
                              <a:rPr lang="en-US" altLang="zh-CN" sz="1200" b="0" i="1" smtClean="0">
                                <a:latin typeface="Cambria Math" panose="02040503050406030204" pitchFamily="18" charset="0"/>
                                <a:ea typeface="微软雅黑" panose="020B0503020204020204" pitchFamily="34" charset="-122"/>
                              </a:rPr>
                              <m:t>𝐸</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243" name="文本框 242">
                  <a:extLst>
                    <a:ext uri="{FF2B5EF4-FFF2-40B4-BE49-F238E27FC236}">
                      <a16:creationId xmlns:a16="http://schemas.microsoft.com/office/drawing/2014/main" id="{B474F240-7BEE-4A4E-99F1-5696B26BD186}"/>
                    </a:ext>
                  </a:extLst>
                </p:cNvPr>
                <p:cNvSpPr txBox="1">
                  <a:spLocks noRot="1" noChangeAspect="1" noMove="1" noResize="1" noEditPoints="1" noAdjustHandles="1" noChangeArrowheads="1" noChangeShapeType="1" noTextEdit="1"/>
                </p:cNvSpPr>
                <p:nvPr/>
              </p:nvSpPr>
              <p:spPr>
                <a:xfrm>
                  <a:off x="628858" y="3003825"/>
                  <a:ext cx="444343" cy="516801"/>
                </a:xfrm>
                <a:prstGeom prst="rect">
                  <a:avLst/>
                </a:prstGeom>
                <a:blipFill>
                  <a:blip r:embed="rId15"/>
                  <a:stretch>
                    <a:fillRect r="-121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4" name="文本框 243">
                  <a:extLst>
                    <a:ext uri="{FF2B5EF4-FFF2-40B4-BE49-F238E27FC236}">
                      <a16:creationId xmlns:a16="http://schemas.microsoft.com/office/drawing/2014/main" id="{60F510B7-2DF3-4722-9B88-E21B34309908}"/>
                    </a:ext>
                  </a:extLst>
                </p:cNvPr>
                <p:cNvSpPr txBox="1"/>
                <p:nvPr/>
              </p:nvSpPr>
              <p:spPr>
                <a:xfrm>
                  <a:off x="665354" y="1919203"/>
                  <a:ext cx="330815" cy="5168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𝑃</m:t>
                            </m:r>
                          </m:e>
                          <m:sub>
                            <m:r>
                              <a:rPr lang="en-US" altLang="zh-CN" sz="1200" b="0" i="1" smtClean="0">
                                <a:latin typeface="Cambria Math" panose="02040503050406030204" pitchFamily="18" charset="0"/>
                                <a:ea typeface="微软雅黑" panose="020B0503020204020204" pitchFamily="34" charset="-122"/>
                              </a:rPr>
                              <m:t>2</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244" name="文本框 243">
                  <a:extLst>
                    <a:ext uri="{FF2B5EF4-FFF2-40B4-BE49-F238E27FC236}">
                      <a16:creationId xmlns:a16="http://schemas.microsoft.com/office/drawing/2014/main" id="{60F510B7-2DF3-4722-9B88-E21B34309908}"/>
                    </a:ext>
                  </a:extLst>
                </p:cNvPr>
                <p:cNvSpPr txBox="1">
                  <a:spLocks noRot="1" noChangeAspect="1" noMove="1" noResize="1" noEditPoints="1" noAdjustHandles="1" noChangeArrowheads="1" noChangeShapeType="1" noTextEdit="1"/>
                </p:cNvSpPr>
                <p:nvPr/>
              </p:nvSpPr>
              <p:spPr>
                <a:xfrm>
                  <a:off x="665354" y="1919203"/>
                  <a:ext cx="330815" cy="516801"/>
                </a:xfrm>
                <a:prstGeom prst="rect">
                  <a:avLst/>
                </a:prstGeom>
                <a:blipFill>
                  <a:blip r:embed="rId16"/>
                  <a:stretch>
                    <a:fillRect r="-419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5" name="文本框 244">
                  <a:extLst>
                    <a:ext uri="{FF2B5EF4-FFF2-40B4-BE49-F238E27FC236}">
                      <a16:creationId xmlns:a16="http://schemas.microsoft.com/office/drawing/2014/main" id="{FC9731E7-C462-409D-A248-C9BF51391FB0}"/>
                    </a:ext>
                  </a:extLst>
                </p:cNvPr>
                <p:cNvSpPr txBox="1"/>
                <p:nvPr/>
              </p:nvSpPr>
              <p:spPr>
                <a:xfrm>
                  <a:off x="657313" y="2601752"/>
                  <a:ext cx="326145" cy="5168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𝑃</m:t>
                            </m:r>
                          </m:e>
                          <m:sub>
                            <m:r>
                              <a:rPr lang="en-US" altLang="zh-CN" sz="1200" b="0" i="1" smtClean="0">
                                <a:latin typeface="Cambria Math" panose="02040503050406030204" pitchFamily="18" charset="0"/>
                                <a:ea typeface="微软雅黑" panose="020B0503020204020204" pitchFamily="34" charset="-122"/>
                              </a:rPr>
                              <m:t>0</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245" name="文本框 244">
                  <a:extLst>
                    <a:ext uri="{FF2B5EF4-FFF2-40B4-BE49-F238E27FC236}">
                      <a16:creationId xmlns:a16="http://schemas.microsoft.com/office/drawing/2014/main" id="{FC9731E7-C462-409D-A248-C9BF51391FB0}"/>
                    </a:ext>
                  </a:extLst>
                </p:cNvPr>
                <p:cNvSpPr txBox="1">
                  <a:spLocks noRot="1" noChangeAspect="1" noMove="1" noResize="1" noEditPoints="1" noAdjustHandles="1" noChangeArrowheads="1" noChangeShapeType="1" noTextEdit="1"/>
                </p:cNvSpPr>
                <p:nvPr/>
              </p:nvSpPr>
              <p:spPr>
                <a:xfrm>
                  <a:off x="657313" y="2601752"/>
                  <a:ext cx="326145" cy="516801"/>
                </a:xfrm>
                <a:prstGeom prst="rect">
                  <a:avLst/>
                </a:prstGeom>
                <a:blipFill>
                  <a:blip r:embed="rId17"/>
                  <a:stretch>
                    <a:fillRect r="-4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6" name="文本框 245">
                  <a:extLst>
                    <a:ext uri="{FF2B5EF4-FFF2-40B4-BE49-F238E27FC236}">
                      <a16:creationId xmlns:a16="http://schemas.microsoft.com/office/drawing/2014/main" id="{FB44C793-A8FD-40D5-9688-DBFC4094D15C}"/>
                    </a:ext>
                  </a:extLst>
                </p:cNvPr>
                <p:cNvSpPr txBox="1"/>
                <p:nvPr/>
              </p:nvSpPr>
              <p:spPr>
                <a:xfrm>
                  <a:off x="1673329" y="4934347"/>
                  <a:ext cx="200144" cy="2903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𝑄</m:t>
                            </m:r>
                          </m:e>
                          <m:sub>
                            <m:r>
                              <a:rPr lang="en-US" altLang="zh-CN" sz="1200" b="0" i="1" smtClean="0">
                                <a:latin typeface="Cambria Math" panose="02040503050406030204" pitchFamily="18" charset="0"/>
                                <a:ea typeface="微软雅黑" panose="020B0503020204020204" pitchFamily="34" charset="-122"/>
                              </a:rPr>
                              <m:t>2</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246" name="文本框 245">
                  <a:extLst>
                    <a:ext uri="{FF2B5EF4-FFF2-40B4-BE49-F238E27FC236}">
                      <a16:creationId xmlns:a16="http://schemas.microsoft.com/office/drawing/2014/main" id="{FB44C793-A8FD-40D5-9688-DBFC4094D15C}"/>
                    </a:ext>
                  </a:extLst>
                </p:cNvPr>
                <p:cNvSpPr txBox="1">
                  <a:spLocks noRot="1" noChangeAspect="1" noMove="1" noResize="1" noEditPoints="1" noAdjustHandles="1" noChangeArrowheads="1" noChangeShapeType="1" noTextEdit="1"/>
                </p:cNvSpPr>
                <p:nvPr/>
              </p:nvSpPr>
              <p:spPr>
                <a:xfrm>
                  <a:off x="1673329" y="4934347"/>
                  <a:ext cx="200144" cy="290391"/>
                </a:xfrm>
                <a:prstGeom prst="rect">
                  <a:avLst/>
                </a:prstGeom>
                <a:blipFill>
                  <a:blip r:embed="rId12"/>
                  <a:stretch>
                    <a:fillRect l="-5263" r="-121053" b="-8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7" name="文本框 246">
                  <a:extLst>
                    <a:ext uri="{FF2B5EF4-FFF2-40B4-BE49-F238E27FC236}">
                      <a16:creationId xmlns:a16="http://schemas.microsoft.com/office/drawing/2014/main" id="{0C2E2E89-BC18-4372-813C-07E43117FE15}"/>
                    </a:ext>
                  </a:extLst>
                </p:cNvPr>
                <p:cNvSpPr txBox="1"/>
                <p:nvPr/>
              </p:nvSpPr>
              <p:spPr>
                <a:xfrm>
                  <a:off x="2741818" y="4930662"/>
                  <a:ext cx="200144" cy="5168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𝑄</m:t>
                            </m:r>
                          </m:e>
                          <m:sub>
                            <m:r>
                              <a:rPr lang="en-US" altLang="zh-CN" sz="1200" b="0" i="1" smtClean="0">
                                <a:latin typeface="Cambria Math" panose="02040503050406030204" pitchFamily="18" charset="0"/>
                                <a:ea typeface="微软雅黑" panose="020B0503020204020204" pitchFamily="34" charset="-122"/>
                              </a:rPr>
                              <m:t>𝐸</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247" name="文本框 246">
                  <a:extLst>
                    <a:ext uri="{FF2B5EF4-FFF2-40B4-BE49-F238E27FC236}">
                      <a16:creationId xmlns:a16="http://schemas.microsoft.com/office/drawing/2014/main" id="{0C2E2E89-BC18-4372-813C-07E43117FE15}"/>
                    </a:ext>
                  </a:extLst>
                </p:cNvPr>
                <p:cNvSpPr txBox="1">
                  <a:spLocks noRot="1" noChangeAspect="1" noMove="1" noResize="1" noEditPoints="1" noAdjustHandles="1" noChangeArrowheads="1" noChangeShapeType="1" noTextEdit="1"/>
                </p:cNvSpPr>
                <p:nvPr/>
              </p:nvSpPr>
              <p:spPr>
                <a:xfrm>
                  <a:off x="2741818" y="4930662"/>
                  <a:ext cx="200144" cy="516801"/>
                </a:xfrm>
                <a:prstGeom prst="rect">
                  <a:avLst/>
                </a:prstGeom>
                <a:blipFill>
                  <a:blip r:embed="rId7"/>
                  <a:stretch>
                    <a:fillRect l="-11111" r="-138889" b="-2222"/>
                  </a:stretch>
                </a:blipFill>
              </p:spPr>
              <p:txBody>
                <a:bodyPr/>
                <a:lstStyle/>
                <a:p>
                  <a:r>
                    <a:rPr lang="zh-CN" altLang="en-US">
                      <a:noFill/>
                    </a:rPr>
                    <a:t> </a:t>
                  </a:r>
                </a:p>
              </p:txBody>
            </p:sp>
          </mc:Fallback>
        </mc:AlternateContent>
        <p:sp>
          <p:nvSpPr>
            <p:cNvPr id="248" name="文本框 247">
              <a:extLst>
                <a:ext uri="{FF2B5EF4-FFF2-40B4-BE49-F238E27FC236}">
                  <a16:creationId xmlns:a16="http://schemas.microsoft.com/office/drawing/2014/main" id="{F419389E-3244-43B3-8F30-E0E654AB60BB}"/>
                </a:ext>
              </a:extLst>
            </p:cNvPr>
            <p:cNvSpPr txBox="1"/>
            <p:nvPr/>
          </p:nvSpPr>
          <p:spPr>
            <a:xfrm>
              <a:off x="3078251" y="5025465"/>
              <a:ext cx="200144" cy="516801"/>
            </a:xfrm>
            <a:prstGeom prst="rect">
              <a:avLst/>
            </a:prstGeom>
            <a:noFill/>
          </p:spPr>
          <p:txBody>
            <a:bodyPr wrap="square" rtlCol="0">
              <a:spAutoFit/>
            </a:bodyPr>
            <a:lstStyle/>
            <a:p>
              <a:endParaRPr lang="zh-CN" altLang="en-US" sz="12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49" name="文本框 248">
                  <a:extLst>
                    <a:ext uri="{FF2B5EF4-FFF2-40B4-BE49-F238E27FC236}">
                      <a16:creationId xmlns:a16="http://schemas.microsoft.com/office/drawing/2014/main" id="{4ADE92E4-E8C3-41E6-85DE-9048E1FC9226}"/>
                    </a:ext>
                  </a:extLst>
                </p:cNvPr>
                <p:cNvSpPr txBox="1"/>
                <p:nvPr/>
              </p:nvSpPr>
              <p:spPr>
                <a:xfrm>
                  <a:off x="3402262" y="4923048"/>
                  <a:ext cx="200144" cy="2903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200" i="1" smtClean="0">
                                <a:latin typeface="Cambria Math" panose="02040503050406030204" pitchFamily="18" charset="0"/>
                                <a:ea typeface="微软雅黑" panose="020B0503020204020204" pitchFamily="34" charset="-122"/>
                              </a:rPr>
                            </m:ctrlPr>
                          </m:sSubPr>
                          <m:e>
                            <m:r>
                              <a:rPr lang="en-US" altLang="zh-CN" sz="1200" b="0" i="1" smtClean="0">
                                <a:latin typeface="Cambria Math" panose="02040503050406030204" pitchFamily="18" charset="0"/>
                                <a:ea typeface="微软雅黑" panose="020B0503020204020204" pitchFamily="34" charset="-122"/>
                              </a:rPr>
                              <m:t>𝑄</m:t>
                            </m:r>
                          </m:e>
                          <m:sub>
                            <m:r>
                              <a:rPr lang="en-US" altLang="zh-CN" sz="1200" b="0" i="1" smtClean="0">
                                <a:latin typeface="Cambria Math" panose="02040503050406030204" pitchFamily="18" charset="0"/>
                                <a:ea typeface="微软雅黑" panose="020B0503020204020204" pitchFamily="34" charset="-122"/>
                              </a:rPr>
                              <m:t>1</m:t>
                            </m:r>
                          </m:sub>
                        </m:sSub>
                      </m:oMath>
                    </m:oMathPara>
                  </a14:m>
                  <a:endParaRPr lang="zh-CN" altLang="en-US" sz="1200" dirty="0">
                    <a:latin typeface="微软雅黑" panose="020B0503020204020204" pitchFamily="34" charset="-122"/>
                    <a:ea typeface="微软雅黑" panose="020B0503020204020204" pitchFamily="34" charset="-122"/>
                  </a:endParaRPr>
                </a:p>
              </p:txBody>
            </p:sp>
          </mc:Choice>
          <mc:Fallback xmlns="">
            <p:sp>
              <p:nvSpPr>
                <p:cNvPr id="249" name="文本框 248">
                  <a:extLst>
                    <a:ext uri="{FF2B5EF4-FFF2-40B4-BE49-F238E27FC236}">
                      <a16:creationId xmlns:a16="http://schemas.microsoft.com/office/drawing/2014/main" id="{4ADE92E4-E8C3-41E6-85DE-9048E1FC9226}"/>
                    </a:ext>
                  </a:extLst>
                </p:cNvPr>
                <p:cNvSpPr txBox="1">
                  <a:spLocks noRot="1" noChangeAspect="1" noMove="1" noResize="1" noEditPoints="1" noAdjustHandles="1" noChangeArrowheads="1" noChangeShapeType="1" noTextEdit="1"/>
                </p:cNvSpPr>
                <p:nvPr/>
              </p:nvSpPr>
              <p:spPr>
                <a:xfrm>
                  <a:off x="3402262" y="4923048"/>
                  <a:ext cx="200144" cy="290391"/>
                </a:xfrm>
                <a:prstGeom prst="rect">
                  <a:avLst/>
                </a:prstGeom>
                <a:blipFill>
                  <a:blip r:embed="rId9"/>
                  <a:stretch>
                    <a:fillRect l="-11111" r="-122222" b="-80769"/>
                  </a:stretch>
                </a:blipFill>
              </p:spPr>
              <p:txBody>
                <a:bodyPr/>
                <a:lstStyle/>
                <a:p>
                  <a:r>
                    <a:rPr lang="zh-CN" altLang="en-US">
                      <a:noFill/>
                    </a:rPr>
                    <a:t> </a:t>
                  </a:r>
                </a:p>
              </p:txBody>
            </p:sp>
          </mc:Fallback>
        </mc:AlternateContent>
        <p:cxnSp>
          <p:nvCxnSpPr>
            <p:cNvPr id="250" name="直接箭头连接符 249">
              <a:extLst>
                <a:ext uri="{FF2B5EF4-FFF2-40B4-BE49-F238E27FC236}">
                  <a16:creationId xmlns:a16="http://schemas.microsoft.com/office/drawing/2014/main" id="{D901BD3E-DE2B-4024-A4F0-F4C712022CA8}"/>
                </a:ext>
              </a:extLst>
            </p:cNvPr>
            <p:cNvCxnSpPr/>
            <p:nvPr/>
          </p:nvCxnSpPr>
          <p:spPr bwMode="auto">
            <a:xfrm>
              <a:off x="2198526" y="2378999"/>
              <a:ext cx="914400" cy="914400"/>
            </a:xfrm>
            <a:prstGeom prst="straightConnector1">
              <a:avLst/>
            </a:prstGeom>
            <a:solidFill>
              <a:srgbClr val="FF00FF"/>
            </a:solidFill>
            <a:ln>
              <a:noFill/>
              <a:tailEnd type="triangle"/>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1" name="直接箭头连接符 250">
              <a:extLst>
                <a:ext uri="{FF2B5EF4-FFF2-40B4-BE49-F238E27FC236}">
                  <a16:creationId xmlns:a16="http://schemas.microsoft.com/office/drawing/2014/main" id="{EEAA3905-756F-43D6-96CE-7DB932CA1073}"/>
                </a:ext>
              </a:extLst>
            </p:cNvPr>
            <p:cNvCxnSpPr>
              <a:cxnSpLocks/>
            </p:cNvCxnSpPr>
            <p:nvPr/>
          </p:nvCxnSpPr>
          <p:spPr bwMode="auto">
            <a:xfrm>
              <a:off x="1880707" y="2195377"/>
              <a:ext cx="1000385"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52" name="直接连接符 251">
              <a:extLst>
                <a:ext uri="{FF2B5EF4-FFF2-40B4-BE49-F238E27FC236}">
                  <a16:creationId xmlns:a16="http://schemas.microsoft.com/office/drawing/2014/main" id="{13379A2C-1D54-4315-A14D-3A0FE8EF7DD5}"/>
                </a:ext>
              </a:extLst>
            </p:cNvPr>
            <p:cNvCxnSpPr/>
            <p:nvPr/>
          </p:nvCxnSpPr>
          <p:spPr bwMode="auto">
            <a:xfrm>
              <a:off x="1791425" y="2102614"/>
              <a:ext cx="914399" cy="914400"/>
            </a:xfrm>
            <a:prstGeom prst="line">
              <a:avLst/>
            </a:prstGeom>
            <a:solidFill>
              <a:srgbClr val="FF00FF"/>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3" name="直接连接符 252">
              <a:extLst>
                <a:ext uri="{FF2B5EF4-FFF2-40B4-BE49-F238E27FC236}">
                  <a16:creationId xmlns:a16="http://schemas.microsoft.com/office/drawing/2014/main" id="{1CFFC332-044C-4191-A341-62A9E49BE438}"/>
                </a:ext>
              </a:extLst>
            </p:cNvPr>
            <p:cNvCxnSpPr>
              <a:cxnSpLocks/>
            </p:cNvCxnSpPr>
            <p:nvPr/>
          </p:nvCxnSpPr>
          <p:spPr bwMode="auto">
            <a:xfrm flipV="1">
              <a:off x="1888975" y="2189427"/>
              <a:ext cx="1723574" cy="11900"/>
            </a:xfrm>
            <a:prstGeom prst="line">
              <a:avLst/>
            </a:prstGeom>
            <a:ln w="19050"/>
          </p:spPr>
          <p:style>
            <a:lnRef idx="1">
              <a:schemeClr val="dk1"/>
            </a:lnRef>
            <a:fillRef idx="0">
              <a:schemeClr val="dk1"/>
            </a:fillRef>
            <a:effectRef idx="0">
              <a:schemeClr val="dk1"/>
            </a:effectRef>
            <a:fontRef idx="minor">
              <a:schemeClr val="tx1"/>
            </a:fontRef>
          </p:style>
        </p:cxnSp>
        <p:cxnSp>
          <p:nvCxnSpPr>
            <p:cNvPr id="254" name="直接连接符 253">
              <a:extLst>
                <a:ext uri="{FF2B5EF4-FFF2-40B4-BE49-F238E27FC236}">
                  <a16:creationId xmlns:a16="http://schemas.microsoft.com/office/drawing/2014/main" id="{3CECEA7F-A0CC-4889-8593-14CCC01E077D}"/>
                </a:ext>
              </a:extLst>
            </p:cNvPr>
            <p:cNvCxnSpPr>
              <a:cxnSpLocks/>
            </p:cNvCxnSpPr>
            <p:nvPr/>
          </p:nvCxnSpPr>
          <p:spPr bwMode="auto">
            <a:xfrm>
              <a:off x="3631613" y="2867122"/>
              <a:ext cx="5574" cy="1067876"/>
            </a:xfrm>
            <a:prstGeom prst="line">
              <a:avLst/>
            </a:prstGeom>
            <a:ln w="19050"/>
          </p:spPr>
          <p:style>
            <a:lnRef idx="1">
              <a:schemeClr val="dk1"/>
            </a:lnRef>
            <a:fillRef idx="0">
              <a:schemeClr val="dk1"/>
            </a:fillRef>
            <a:effectRef idx="0">
              <a:schemeClr val="dk1"/>
            </a:effectRef>
            <a:fontRef idx="minor">
              <a:schemeClr val="tx1"/>
            </a:fontRef>
          </p:style>
        </p:cxnSp>
        <p:cxnSp>
          <p:nvCxnSpPr>
            <p:cNvPr id="255" name="直接连接符 254">
              <a:extLst>
                <a:ext uri="{FF2B5EF4-FFF2-40B4-BE49-F238E27FC236}">
                  <a16:creationId xmlns:a16="http://schemas.microsoft.com/office/drawing/2014/main" id="{4E71A537-02AC-4070-9487-432B3727126E}"/>
                </a:ext>
              </a:extLst>
            </p:cNvPr>
            <p:cNvCxnSpPr>
              <a:cxnSpLocks/>
            </p:cNvCxnSpPr>
            <p:nvPr/>
          </p:nvCxnSpPr>
          <p:spPr bwMode="auto">
            <a:xfrm flipV="1">
              <a:off x="1897977" y="3918033"/>
              <a:ext cx="1375648" cy="3953"/>
            </a:xfrm>
            <a:prstGeom prst="line">
              <a:avLst/>
            </a:prstGeom>
            <a:ln w="19050"/>
          </p:spPr>
          <p:style>
            <a:lnRef idx="1">
              <a:schemeClr val="dk1"/>
            </a:lnRef>
            <a:fillRef idx="0">
              <a:schemeClr val="dk1"/>
            </a:fillRef>
            <a:effectRef idx="0">
              <a:schemeClr val="dk1"/>
            </a:effectRef>
            <a:fontRef idx="minor">
              <a:schemeClr val="tx1"/>
            </a:fontRef>
          </p:style>
        </p:cxnSp>
        <p:cxnSp>
          <p:nvCxnSpPr>
            <p:cNvPr id="256" name="直接连接符 255">
              <a:extLst>
                <a:ext uri="{FF2B5EF4-FFF2-40B4-BE49-F238E27FC236}">
                  <a16:creationId xmlns:a16="http://schemas.microsoft.com/office/drawing/2014/main" id="{B11BA00C-6554-4EE1-978B-0B5987E75493}"/>
                </a:ext>
              </a:extLst>
            </p:cNvPr>
            <p:cNvCxnSpPr>
              <a:cxnSpLocks/>
            </p:cNvCxnSpPr>
            <p:nvPr/>
          </p:nvCxnSpPr>
          <p:spPr bwMode="auto">
            <a:xfrm flipH="1">
              <a:off x="1893250" y="2209292"/>
              <a:ext cx="2557" cy="1738523"/>
            </a:xfrm>
            <a:prstGeom prst="line">
              <a:avLst/>
            </a:prstGeom>
            <a:ln w="19050"/>
          </p:spPr>
          <p:style>
            <a:lnRef idx="1">
              <a:schemeClr val="dk1"/>
            </a:lnRef>
            <a:fillRef idx="0">
              <a:schemeClr val="dk1"/>
            </a:fillRef>
            <a:effectRef idx="0">
              <a:schemeClr val="dk1"/>
            </a:effectRef>
            <a:fontRef idx="minor">
              <a:schemeClr val="tx1"/>
            </a:fontRef>
          </p:style>
        </p:cxnSp>
        <p:cxnSp>
          <p:nvCxnSpPr>
            <p:cNvPr id="257" name="直接箭头连接符 256">
              <a:extLst>
                <a:ext uri="{FF2B5EF4-FFF2-40B4-BE49-F238E27FC236}">
                  <a16:creationId xmlns:a16="http://schemas.microsoft.com/office/drawing/2014/main" id="{582D5FAC-81C1-45A3-944A-BB47113B5B40}"/>
                </a:ext>
              </a:extLst>
            </p:cNvPr>
            <p:cNvCxnSpPr>
              <a:cxnSpLocks/>
            </p:cNvCxnSpPr>
            <p:nvPr/>
          </p:nvCxnSpPr>
          <p:spPr bwMode="auto">
            <a:xfrm>
              <a:off x="3630718" y="2883383"/>
              <a:ext cx="0" cy="41018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58" name="直接箭头连接符 257">
              <a:extLst>
                <a:ext uri="{FF2B5EF4-FFF2-40B4-BE49-F238E27FC236}">
                  <a16:creationId xmlns:a16="http://schemas.microsoft.com/office/drawing/2014/main" id="{137A472E-CBB5-45AC-A05F-3ECB82115DF3}"/>
                </a:ext>
              </a:extLst>
            </p:cNvPr>
            <p:cNvCxnSpPr>
              <a:cxnSpLocks/>
            </p:cNvCxnSpPr>
            <p:nvPr/>
          </p:nvCxnSpPr>
          <p:spPr bwMode="auto">
            <a:xfrm flipH="1">
              <a:off x="2655596" y="3919706"/>
              <a:ext cx="976471"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59" name="直接箭头连接符 258">
              <a:extLst>
                <a:ext uri="{FF2B5EF4-FFF2-40B4-BE49-F238E27FC236}">
                  <a16:creationId xmlns:a16="http://schemas.microsoft.com/office/drawing/2014/main" id="{D94ABEE1-BF91-44CE-8E9E-FB2CCECFF40F}"/>
                </a:ext>
              </a:extLst>
            </p:cNvPr>
            <p:cNvCxnSpPr>
              <a:cxnSpLocks/>
            </p:cNvCxnSpPr>
            <p:nvPr/>
          </p:nvCxnSpPr>
          <p:spPr bwMode="auto">
            <a:xfrm flipV="1">
              <a:off x="1897977" y="2950400"/>
              <a:ext cx="1776" cy="94491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60" name="直接连接符 16">
              <a:extLst>
                <a:ext uri="{FF2B5EF4-FFF2-40B4-BE49-F238E27FC236}">
                  <a16:creationId xmlns:a16="http://schemas.microsoft.com/office/drawing/2014/main" id="{36A1F417-9E32-437B-B456-F3795945C72D}"/>
                </a:ext>
              </a:extLst>
            </p:cNvPr>
            <p:cNvCxnSpPr>
              <a:cxnSpLocks noChangeShapeType="1"/>
            </p:cNvCxnSpPr>
            <p:nvPr/>
          </p:nvCxnSpPr>
          <p:spPr bwMode="auto">
            <a:xfrm>
              <a:off x="1664549" y="1961355"/>
              <a:ext cx="2717390" cy="2707885"/>
            </a:xfrm>
            <a:prstGeom prst="line">
              <a:avLst/>
            </a:prstGeom>
            <a:noFill/>
            <a:ln w="28575">
              <a:solidFill>
                <a:schemeClr val="accent2"/>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261" name="直接连接符 13">
              <a:extLst>
                <a:ext uri="{FF2B5EF4-FFF2-40B4-BE49-F238E27FC236}">
                  <a16:creationId xmlns:a16="http://schemas.microsoft.com/office/drawing/2014/main" id="{BEF7B76B-61AE-4E76-A343-D5F68F3F1E93}"/>
                </a:ext>
              </a:extLst>
            </p:cNvPr>
            <p:cNvCxnSpPr>
              <a:cxnSpLocks noChangeShapeType="1"/>
            </p:cNvCxnSpPr>
            <p:nvPr/>
          </p:nvCxnSpPr>
          <p:spPr bwMode="auto">
            <a:xfrm flipV="1">
              <a:off x="1665281" y="2239609"/>
              <a:ext cx="2987082" cy="1840526"/>
            </a:xfrm>
            <a:prstGeom prst="line">
              <a:avLst/>
            </a:prstGeom>
            <a:noFill/>
            <a:ln w="28575">
              <a:solidFill>
                <a:schemeClr val="accent2"/>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pSp>
      <p:sp>
        <p:nvSpPr>
          <p:cNvPr id="263" name="文本框 262">
            <a:extLst>
              <a:ext uri="{FF2B5EF4-FFF2-40B4-BE49-F238E27FC236}">
                <a16:creationId xmlns:a16="http://schemas.microsoft.com/office/drawing/2014/main" id="{8A536D27-BF2E-48DE-ABAC-6A01A8DEBD5A}"/>
              </a:ext>
            </a:extLst>
          </p:cNvPr>
          <p:cNvSpPr txBox="1"/>
          <p:nvPr/>
        </p:nvSpPr>
        <p:spPr>
          <a:xfrm>
            <a:off x="1082209" y="2420888"/>
            <a:ext cx="1445014" cy="276999"/>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a</a:t>
            </a:r>
            <a:r>
              <a:rPr lang="zh-CN" altLang="en-US" sz="1200" dirty="0">
                <a:latin typeface="微软雅黑" panose="020B0503020204020204" pitchFamily="34" charset="-122"/>
                <a:ea typeface="微软雅黑" panose="020B0503020204020204" pitchFamily="34" charset="-122"/>
              </a:rPr>
              <a:t>）收敛型蛛网</a:t>
            </a:r>
          </a:p>
        </p:txBody>
      </p:sp>
      <p:sp>
        <p:nvSpPr>
          <p:cNvPr id="265" name="文本框 264">
            <a:extLst>
              <a:ext uri="{FF2B5EF4-FFF2-40B4-BE49-F238E27FC236}">
                <a16:creationId xmlns:a16="http://schemas.microsoft.com/office/drawing/2014/main" id="{CA07253F-D8E5-4A71-A2D1-7EB119A49313}"/>
              </a:ext>
            </a:extLst>
          </p:cNvPr>
          <p:cNvSpPr txBox="1"/>
          <p:nvPr/>
        </p:nvSpPr>
        <p:spPr>
          <a:xfrm>
            <a:off x="3858104" y="2426312"/>
            <a:ext cx="1445014" cy="276999"/>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b</a:t>
            </a:r>
            <a:r>
              <a:rPr lang="zh-CN" altLang="en-US" sz="1200" dirty="0">
                <a:latin typeface="微软雅黑" panose="020B0503020204020204" pitchFamily="34" charset="-122"/>
                <a:ea typeface="微软雅黑" panose="020B0503020204020204" pitchFamily="34" charset="-122"/>
              </a:rPr>
              <a:t>）发散型蛛网</a:t>
            </a:r>
          </a:p>
        </p:txBody>
      </p:sp>
      <p:sp>
        <p:nvSpPr>
          <p:cNvPr id="266" name="文本框 265">
            <a:extLst>
              <a:ext uri="{FF2B5EF4-FFF2-40B4-BE49-F238E27FC236}">
                <a16:creationId xmlns:a16="http://schemas.microsoft.com/office/drawing/2014/main" id="{F7424541-4410-41A2-969E-92548D9EA09C}"/>
              </a:ext>
            </a:extLst>
          </p:cNvPr>
          <p:cNvSpPr txBox="1"/>
          <p:nvPr/>
        </p:nvSpPr>
        <p:spPr>
          <a:xfrm>
            <a:off x="6451413" y="2432668"/>
            <a:ext cx="1445014" cy="276999"/>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c</a:t>
            </a:r>
            <a:r>
              <a:rPr lang="zh-CN" altLang="en-US" sz="1200" dirty="0">
                <a:latin typeface="微软雅黑" panose="020B0503020204020204" pitchFamily="34" charset="-122"/>
                <a:ea typeface="微软雅黑" panose="020B0503020204020204" pitchFamily="34" charset="-122"/>
              </a:rPr>
              <a:t>）封闭型蛛网</a:t>
            </a:r>
          </a:p>
        </p:txBody>
      </p:sp>
    </p:spTree>
    <p:extLst>
      <p:ext uri="{BB962C8B-B14F-4D97-AF65-F5344CB8AC3E}">
        <p14:creationId xmlns:p14="http://schemas.microsoft.com/office/powerpoint/2010/main" val="1872645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9"/>
                                        </p:tgtEl>
                                        <p:attrNameLst>
                                          <p:attrName>style.visibility</p:attrName>
                                        </p:attrNameLst>
                                      </p:cBhvr>
                                      <p:to>
                                        <p:strVal val="visible"/>
                                      </p:to>
                                    </p:set>
                                    <p:animEffect transition="in" filter="wipe(down)">
                                      <p:cBhvr>
                                        <p:cTn id="7" dur="500"/>
                                        <p:tgtEl>
                                          <p:spTgt spid="139"/>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263"/>
                                        </p:tgtEl>
                                        <p:attrNameLst>
                                          <p:attrName>style.visibility</p:attrName>
                                        </p:attrNameLst>
                                      </p:cBhvr>
                                      <p:to>
                                        <p:strVal val="visible"/>
                                      </p:to>
                                    </p:set>
                                    <p:animEffect transition="in" filter="randombar(horizontal)">
                                      <p:cBhvr>
                                        <p:cTn id="11" dur="500"/>
                                        <p:tgtEl>
                                          <p:spTgt spid="263"/>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222"/>
                                        </p:tgtEl>
                                        <p:attrNameLst>
                                          <p:attrName>style.visibility</p:attrName>
                                        </p:attrNameLst>
                                      </p:cBhvr>
                                      <p:to>
                                        <p:strVal val="visible"/>
                                      </p:to>
                                    </p:set>
                                    <p:animEffect transition="in" filter="wipe(down)">
                                      <p:cBhvr>
                                        <p:cTn id="15" dur="500"/>
                                        <p:tgtEl>
                                          <p:spTgt spid="222"/>
                                        </p:tgtEl>
                                      </p:cBhvr>
                                    </p:animEffect>
                                  </p:childTnLst>
                                </p:cTn>
                              </p:par>
                            </p:childTnLst>
                          </p:cTn>
                        </p:par>
                        <p:par>
                          <p:cTn id="16" fill="hold">
                            <p:stCondLst>
                              <p:cond delay="1500"/>
                            </p:stCondLst>
                            <p:childTnLst>
                              <p:par>
                                <p:cTn id="17" presetID="14" presetClass="entr" presetSubtype="10" fill="hold" grpId="0" nodeType="afterEffect">
                                  <p:stCondLst>
                                    <p:cond delay="0"/>
                                  </p:stCondLst>
                                  <p:childTnLst>
                                    <p:set>
                                      <p:cBhvr>
                                        <p:cTn id="18" dur="1" fill="hold">
                                          <p:stCondLst>
                                            <p:cond delay="0"/>
                                          </p:stCondLst>
                                        </p:cTn>
                                        <p:tgtEl>
                                          <p:spTgt spid="265"/>
                                        </p:tgtEl>
                                        <p:attrNameLst>
                                          <p:attrName>style.visibility</p:attrName>
                                        </p:attrNameLst>
                                      </p:cBhvr>
                                      <p:to>
                                        <p:strVal val="visible"/>
                                      </p:to>
                                    </p:set>
                                    <p:animEffect transition="in" filter="randombar(horizontal)">
                                      <p:cBhvr>
                                        <p:cTn id="19" dur="500"/>
                                        <p:tgtEl>
                                          <p:spTgt spid="265"/>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185"/>
                                        </p:tgtEl>
                                        <p:attrNameLst>
                                          <p:attrName>style.visibility</p:attrName>
                                        </p:attrNameLst>
                                      </p:cBhvr>
                                      <p:to>
                                        <p:strVal val="visible"/>
                                      </p:to>
                                    </p:set>
                                    <p:animEffect transition="in" filter="wipe(down)">
                                      <p:cBhvr>
                                        <p:cTn id="23" dur="500"/>
                                        <p:tgtEl>
                                          <p:spTgt spid="185"/>
                                        </p:tgtEl>
                                      </p:cBhvr>
                                    </p:animEffect>
                                  </p:childTnLst>
                                </p:cTn>
                              </p:par>
                            </p:childTnLst>
                          </p:cTn>
                        </p:par>
                        <p:par>
                          <p:cTn id="24" fill="hold">
                            <p:stCondLst>
                              <p:cond delay="2500"/>
                            </p:stCondLst>
                            <p:childTnLst>
                              <p:par>
                                <p:cTn id="25" presetID="14" presetClass="entr" presetSubtype="10" fill="hold" grpId="0" nodeType="afterEffect">
                                  <p:stCondLst>
                                    <p:cond delay="0"/>
                                  </p:stCondLst>
                                  <p:childTnLst>
                                    <p:set>
                                      <p:cBhvr>
                                        <p:cTn id="26" dur="1" fill="hold">
                                          <p:stCondLst>
                                            <p:cond delay="0"/>
                                          </p:stCondLst>
                                        </p:cTn>
                                        <p:tgtEl>
                                          <p:spTgt spid="266"/>
                                        </p:tgtEl>
                                        <p:attrNameLst>
                                          <p:attrName>style.visibility</p:attrName>
                                        </p:attrNameLst>
                                      </p:cBhvr>
                                      <p:to>
                                        <p:strVal val="visible"/>
                                      </p:to>
                                    </p:set>
                                    <p:animEffect transition="in" filter="randombar(horizontal)">
                                      <p:cBhvr>
                                        <p:cTn id="27" dur="500"/>
                                        <p:tgtEl>
                                          <p:spTgt spid="26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animEffect transition="in" filter="wipe(left)">
                                      <p:cBhvr>
                                        <p:cTn id="37" dur="500"/>
                                        <p:tgtEl>
                                          <p:spTgt spid="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
                                            <p:txEl>
                                              <p:pRg st="1" end="1"/>
                                            </p:txEl>
                                          </p:spTgt>
                                        </p:tgtEl>
                                        <p:attrNameLst>
                                          <p:attrName>style.visibility</p:attrName>
                                        </p:attrNameLst>
                                      </p:cBhvr>
                                      <p:to>
                                        <p:strVal val="visible"/>
                                      </p:to>
                                    </p:set>
                                    <p:animEffect transition="in" filter="wipe(left)">
                                      <p:cBhvr>
                                        <p:cTn id="42" dur="500"/>
                                        <p:tgtEl>
                                          <p:spTgt spid="5">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
                                            <p:txEl>
                                              <p:pRg st="2" end="2"/>
                                            </p:txEl>
                                          </p:spTgt>
                                        </p:tgtEl>
                                        <p:attrNameLst>
                                          <p:attrName>style.visibility</p:attrName>
                                        </p:attrNameLst>
                                      </p:cBhvr>
                                      <p:to>
                                        <p:strVal val="visible"/>
                                      </p:to>
                                    </p:set>
                                    <p:animEffect transition="in" filter="wipe(left)">
                                      <p:cBhvr>
                                        <p:cTn id="47" dur="500"/>
                                        <p:tgtEl>
                                          <p:spTgt spid="5">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
                                            <p:txEl>
                                              <p:pRg st="3" end="3"/>
                                            </p:txEl>
                                          </p:spTgt>
                                        </p:tgtEl>
                                        <p:attrNameLst>
                                          <p:attrName>style.visibility</p:attrName>
                                        </p:attrNameLst>
                                      </p:cBhvr>
                                      <p:to>
                                        <p:strVal val="visible"/>
                                      </p:to>
                                    </p:set>
                                    <p:animEffect transition="in" filter="wipe(left)">
                                      <p:cBhvr>
                                        <p:cTn id="5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63" grpId="0"/>
      <p:bldP spid="265" grpId="0"/>
      <p:bldP spid="26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D27843F-C8C8-4131-BFDC-E49DAECFC098}"/>
              </a:ext>
            </a:extLst>
          </p:cNvPr>
          <p:cNvSpPr/>
          <p:nvPr/>
        </p:nvSpPr>
        <p:spPr>
          <a:xfrm>
            <a:off x="3027397" y="555665"/>
            <a:ext cx="2954655" cy="646331"/>
          </a:xfrm>
          <a:prstGeom prst="rect">
            <a:avLst/>
          </a:prstGeom>
        </p:spPr>
        <p:txBody>
          <a:bodyPr wrap="none">
            <a:spAutoFit/>
          </a:bodyPr>
          <a:lstStyle/>
          <a:p>
            <a:r>
              <a:rPr lang="zh-CN" altLang="en-US" sz="3600" b="1" dirty="0">
                <a:latin typeface="微软雅黑" panose="020B0503020204020204" pitchFamily="34" charset="-122"/>
                <a:ea typeface="微软雅黑" panose="020B0503020204020204" pitchFamily="34" charset="-122"/>
                <a:cs typeface="+mj-cs"/>
              </a:rPr>
              <a:t>第四节	弹性</a:t>
            </a:r>
          </a:p>
        </p:txBody>
      </p:sp>
      <p:sp>
        <p:nvSpPr>
          <p:cNvPr id="3" name="MH_Other_1">
            <a:extLst>
              <a:ext uri="{FF2B5EF4-FFF2-40B4-BE49-F238E27FC236}">
                <a16:creationId xmlns:a16="http://schemas.microsoft.com/office/drawing/2014/main" id="{E49827CC-25A7-41B2-867D-685134B4A529}"/>
              </a:ext>
            </a:extLst>
          </p:cNvPr>
          <p:cNvSpPr>
            <a:spLocks/>
          </p:cNvSpPr>
          <p:nvPr>
            <p:custDataLst>
              <p:tags r:id="rId1"/>
            </p:custDataLst>
          </p:nvPr>
        </p:nvSpPr>
        <p:spPr bwMode="gray">
          <a:xfrm>
            <a:off x="3130972" y="1826682"/>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2"/>
            </p:custDataLst>
          </p:nvPr>
        </p:nvSpPr>
        <p:spPr bwMode="gray">
          <a:xfrm>
            <a:off x="3062709" y="1525057"/>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5" name="MH_Other_2">
            <a:extLst>
              <a:ext uri="{FF2B5EF4-FFF2-40B4-BE49-F238E27FC236}">
                <a16:creationId xmlns:a16="http://schemas.microsoft.com/office/drawing/2014/main" id="{DB311A0E-78D0-4766-B201-6B5608EF753D}"/>
              </a:ext>
            </a:extLst>
          </p:cNvPr>
          <p:cNvSpPr>
            <a:spLocks/>
          </p:cNvSpPr>
          <p:nvPr>
            <p:custDataLst>
              <p:tags r:id="rId3"/>
            </p:custDataLst>
          </p:nvPr>
        </p:nvSpPr>
        <p:spPr bwMode="gray">
          <a:xfrm>
            <a:off x="3130972" y="3130685"/>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6" name="MH_SubTitle_2">
            <a:extLst>
              <a:ext uri="{FF2B5EF4-FFF2-40B4-BE49-F238E27FC236}">
                <a16:creationId xmlns:a16="http://schemas.microsoft.com/office/drawing/2014/main" id="{324FEB12-6B52-4D2F-B5C9-D9A603800236}"/>
              </a:ext>
            </a:extLst>
          </p:cNvPr>
          <p:cNvSpPr>
            <a:spLocks noChangeArrowheads="1"/>
          </p:cNvSpPr>
          <p:nvPr>
            <p:custDataLst>
              <p:tags r:id="rId4"/>
            </p:custDataLst>
          </p:nvPr>
        </p:nvSpPr>
        <p:spPr bwMode="gray">
          <a:xfrm>
            <a:off x="3062709" y="2829060"/>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7" name="MH_Other_3">
            <a:extLst>
              <a:ext uri="{FF2B5EF4-FFF2-40B4-BE49-F238E27FC236}">
                <a16:creationId xmlns:a16="http://schemas.microsoft.com/office/drawing/2014/main" id="{9F9167DD-6270-4A4E-9E47-20FB88C3F048}"/>
              </a:ext>
            </a:extLst>
          </p:cNvPr>
          <p:cNvSpPr>
            <a:spLocks/>
          </p:cNvSpPr>
          <p:nvPr>
            <p:custDataLst>
              <p:tags r:id="rId5"/>
            </p:custDataLst>
          </p:nvPr>
        </p:nvSpPr>
        <p:spPr bwMode="gray">
          <a:xfrm>
            <a:off x="3130972" y="4360488"/>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8" name="MH_SubTitle_3">
            <a:extLst>
              <a:ext uri="{FF2B5EF4-FFF2-40B4-BE49-F238E27FC236}">
                <a16:creationId xmlns:a16="http://schemas.microsoft.com/office/drawing/2014/main" id="{3FEC77B5-DB98-453D-BDBC-6598DEA48C49}"/>
              </a:ext>
            </a:extLst>
          </p:cNvPr>
          <p:cNvSpPr>
            <a:spLocks noChangeArrowheads="1"/>
          </p:cNvSpPr>
          <p:nvPr>
            <p:custDataLst>
              <p:tags r:id="rId6"/>
            </p:custDataLst>
          </p:nvPr>
        </p:nvSpPr>
        <p:spPr bwMode="gray">
          <a:xfrm>
            <a:off x="3062709" y="4058863"/>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9" name="MH_Other_4">
            <a:extLst>
              <a:ext uri="{FF2B5EF4-FFF2-40B4-BE49-F238E27FC236}">
                <a16:creationId xmlns:a16="http://schemas.microsoft.com/office/drawing/2014/main" id="{49EAC476-10C1-4DAF-AEAB-4D58FAA0C0DE}"/>
              </a:ext>
            </a:extLst>
          </p:cNvPr>
          <p:cNvSpPr>
            <a:spLocks/>
          </p:cNvSpPr>
          <p:nvPr>
            <p:custDataLst>
              <p:tags r:id="rId7"/>
            </p:custDataLst>
          </p:nvPr>
        </p:nvSpPr>
        <p:spPr bwMode="gray">
          <a:xfrm>
            <a:off x="3130972" y="5662351"/>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0" name="MH_SubTitle_4">
            <a:extLst>
              <a:ext uri="{FF2B5EF4-FFF2-40B4-BE49-F238E27FC236}">
                <a16:creationId xmlns:a16="http://schemas.microsoft.com/office/drawing/2014/main" id="{906C2589-D3EE-4ADE-A5EC-65B915A21062}"/>
              </a:ext>
            </a:extLst>
          </p:cNvPr>
          <p:cNvSpPr>
            <a:spLocks noChangeArrowheads="1"/>
          </p:cNvSpPr>
          <p:nvPr>
            <p:custDataLst>
              <p:tags r:id="rId8"/>
            </p:custDataLst>
          </p:nvPr>
        </p:nvSpPr>
        <p:spPr bwMode="gray">
          <a:xfrm>
            <a:off x="3062709" y="5362314"/>
            <a:ext cx="1158875" cy="354012"/>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四</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1" name="MH_Other_5">
            <a:extLst>
              <a:ext uri="{FF2B5EF4-FFF2-40B4-BE49-F238E27FC236}">
                <a16:creationId xmlns:a16="http://schemas.microsoft.com/office/drawing/2014/main" id="{25D06B7F-7DCD-4D03-A450-0AAC55A41525}"/>
              </a:ext>
            </a:extLst>
          </p:cNvPr>
          <p:cNvCxnSpPr>
            <a:stCxn id="4" idx="2"/>
            <a:endCxn id="6" idx="0"/>
          </p:cNvCxnSpPr>
          <p:nvPr>
            <p:custDataLst>
              <p:tags r:id="rId9"/>
            </p:custDataLst>
          </p:nvPr>
        </p:nvCxnSpPr>
        <p:spPr>
          <a:xfrm>
            <a:off x="3642147" y="1880657"/>
            <a:ext cx="0" cy="948403"/>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2" name="MH_Other_6">
            <a:extLst>
              <a:ext uri="{FF2B5EF4-FFF2-40B4-BE49-F238E27FC236}">
                <a16:creationId xmlns:a16="http://schemas.microsoft.com/office/drawing/2014/main" id="{B30D78AD-B3DA-44A6-A5F6-F28D02655A40}"/>
              </a:ext>
            </a:extLst>
          </p:cNvPr>
          <p:cNvCxnSpPr>
            <a:stCxn id="6" idx="2"/>
            <a:endCxn id="8" idx="0"/>
          </p:cNvCxnSpPr>
          <p:nvPr>
            <p:custDataLst>
              <p:tags r:id="rId10"/>
            </p:custDataLst>
          </p:nvPr>
        </p:nvCxnSpPr>
        <p:spPr>
          <a:xfrm>
            <a:off x="3642147" y="3184660"/>
            <a:ext cx="0" cy="874203"/>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3" name="MH_Other_7">
            <a:extLst>
              <a:ext uri="{FF2B5EF4-FFF2-40B4-BE49-F238E27FC236}">
                <a16:creationId xmlns:a16="http://schemas.microsoft.com/office/drawing/2014/main" id="{DF653FE5-3B26-45B8-A03B-DDBD47BE3AA3}"/>
              </a:ext>
            </a:extLst>
          </p:cNvPr>
          <p:cNvCxnSpPr>
            <a:stCxn id="8" idx="2"/>
            <a:endCxn id="10" idx="0"/>
          </p:cNvCxnSpPr>
          <p:nvPr>
            <p:custDataLst>
              <p:tags r:id="rId11"/>
            </p:custDataLst>
          </p:nvPr>
        </p:nvCxnSpPr>
        <p:spPr>
          <a:xfrm>
            <a:off x="3642147" y="4414463"/>
            <a:ext cx="0" cy="947851"/>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7" name="矩形 16">
            <a:extLst>
              <a:ext uri="{FF2B5EF4-FFF2-40B4-BE49-F238E27FC236}">
                <a16:creationId xmlns:a16="http://schemas.microsoft.com/office/drawing/2014/main" id="{66A93A4A-F736-4CF5-82B6-87D5F4B7E4E5}"/>
              </a:ext>
            </a:extLst>
          </p:cNvPr>
          <p:cNvSpPr/>
          <p:nvPr/>
        </p:nvSpPr>
        <p:spPr>
          <a:xfrm>
            <a:off x="4427984" y="1484784"/>
            <a:ext cx="1819729"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弹性的概念</a:t>
            </a:r>
          </a:p>
        </p:txBody>
      </p:sp>
      <p:sp>
        <p:nvSpPr>
          <p:cNvPr id="18" name="矩形 17">
            <a:extLst>
              <a:ext uri="{FF2B5EF4-FFF2-40B4-BE49-F238E27FC236}">
                <a16:creationId xmlns:a16="http://schemas.microsoft.com/office/drawing/2014/main" id="{6BA99CA7-A4CC-4245-BA58-DB89FA49F037}"/>
              </a:ext>
            </a:extLst>
          </p:cNvPr>
          <p:cNvSpPr/>
          <p:nvPr/>
        </p:nvSpPr>
        <p:spPr>
          <a:xfrm>
            <a:off x="4424189" y="2801770"/>
            <a:ext cx="2473754"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需求的价格弹性</a:t>
            </a:r>
          </a:p>
        </p:txBody>
      </p:sp>
      <p:sp>
        <p:nvSpPr>
          <p:cNvPr id="19" name="矩形 18">
            <a:extLst>
              <a:ext uri="{FF2B5EF4-FFF2-40B4-BE49-F238E27FC236}">
                <a16:creationId xmlns:a16="http://schemas.microsoft.com/office/drawing/2014/main" id="{018105B0-EC74-4F50-9B33-7F18FF6C04E7}"/>
              </a:ext>
            </a:extLst>
          </p:cNvPr>
          <p:cNvSpPr/>
          <p:nvPr/>
        </p:nvSpPr>
        <p:spPr>
          <a:xfrm>
            <a:off x="4424189" y="4044555"/>
            <a:ext cx="2146742"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其他需求弹性</a:t>
            </a:r>
          </a:p>
        </p:txBody>
      </p:sp>
      <p:sp>
        <p:nvSpPr>
          <p:cNvPr id="20" name="矩形 19">
            <a:extLst>
              <a:ext uri="{FF2B5EF4-FFF2-40B4-BE49-F238E27FC236}">
                <a16:creationId xmlns:a16="http://schemas.microsoft.com/office/drawing/2014/main" id="{E52AEF20-C2D6-4C68-8E54-0EF930AB28A2}"/>
              </a:ext>
            </a:extLst>
          </p:cNvPr>
          <p:cNvSpPr/>
          <p:nvPr/>
        </p:nvSpPr>
        <p:spPr>
          <a:xfrm>
            <a:off x="4424189" y="5308487"/>
            <a:ext cx="1492716" cy="461665"/>
          </a:xfrm>
          <a:prstGeom prst="rect">
            <a:avLst/>
          </a:prstGeom>
        </p:spPr>
        <p:txBody>
          <a:bodyPr wrap="none">
            <a:spAutoFit/>
          </a:bodyPr>
          <a:lstStyle/>
          <a:p>
            <a:pPr>
              <a:buFontTx/>
              <a:buNone/>
            </a:pPr>
            <a:r>
              <a:rPr lang="zh-CN" altLang="en-US" sz="2400" spc="150" dirty="0">
                <a:latin typeface="微软雅黑" panose="020B0503020204020204" pitchFamily="34" charset="-122"/>
                <a:ea typeface="微软雅黑" panose="020B0503020204020204" pitchFamily="34" charset="-122"/>
              </a:rPr>
              <a:t>供给弹性</a:t>
            </a:r>
          </a:p>
        </p:txBody>
      </p:sp>
    </p:spTree>
    <p:extLst>
      <p:ext uri="{BB962C8B-B14F-4D97-AF65-F5344CB8AC3E}">
        <p14:creationId xmlns:p14="http://schemas.microsoft.com/office/powerpoint/2010/main" val="188263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8" dur="500"/>
                                        <p:tgtEl>
                                          <p:spTgt spid="17"/>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up)">
                                      <p:cBhvr>
                                        <p:cTn id="30" dur="500"/>
                                        <p:tgtEl>
                                          <p:spTgt spid="6"/>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left)">
                                      <p:cBhvr>
                                        <p:cTn id="33" dur="500"/>
                                        <p:tgtEl>
                                          <p:spTgt spid="18"/>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up)">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up)">
                                      <p:cBhvr>
                                        <p:cTn id="42" dur="500"/>
                                        <p:tgtEl>
                                          <p:spTgt spid="7"/>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up)">
                                      <p:cBhvr>
                                        <p:cTn id="45" dur="500"/>
                                        <p:tgtEl>
                                          <p:spTgt spid="8"/>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500"/>
                                        <p:tgtEl>
                                          <p:spTgt spid="19"/>
                                        </p:tgtEl>
                                      </p:cBhvr>
                                    </p:animEffect>
                                  </p:childTnLst>
                                </p:cTn>
                              </p:par>
                            </p:childTnLst>
                          </p:cTn>
                        </p:par>
                        <p:par>
                          <p:cTn id="49" fill="hold">
                            <p:stCondLst>
                              <p:cond delay="500"/>
                            </p:stCondLst>
                            <p:childTnLst>
                              <p:par>
                                <p:cTn id="50" presetID="22" presetClass="entr" presetSubtype="1" fill="hold" nodeType="after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up)">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up)">
                                      <p:cBhvr>
                                        <p:cTn id="57" dur="500"/>
                                        <p:tgtEl>
                                          <p:spTgt spid="9"/>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wipe(up)">
                                      <p:cBhvr>
                                        <p:cTn id="60" dur="500"/>
                                        <p:tgtEl>
                                          <p:spTgt spid="10"/>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wipe(left)">
                                      <p:cBhvr>
                                        <p:cTn id="6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P spid="8" grpId="0" animBg="1"/>
      <p:bldP spid="9" grpId="0" animBg="1"/>
      <p:bldP spid="10" grpId="0" animBg="1"/>
      <p:bldP spid="17" grpId="0"/>
      <p:bldP spid="18" grpId="0"/>
      <p:bldP spid="19" grpId="0"/>
      <p:bldP spid="20"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noChangeArrowheads="1"/>
          </p:cNvSpPr>
          <p:nvPr>
            <p:ph type="body" idx="4294967295"/>
          </p:nvPr>
        </p:nvSpPr>
        <p:spPr>
          <a:xfrm>
            <a:off x="467544" y="779512"/>
            <a:ext cx="8229600" cy="2735064"/>
          </a:xfrm>
        </p:spPr>
        <p:txBody>
          <a:bodyPr/>
          <a:lstStyle/>
          <a:p>
            <a:pPr marL="342900" lvl="2" indent="-342900" eaLnBrk="1" hangingPunct="1">
              <a:lnSpc>
                <a:spcPct val="300000"/>
              </a:lnSpc>
              <a:spcBef>
                <a:spcPct val="0"/>
              </a:spcBef>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弹性定义</a:t>
            </a:r>
            <a:endParaRPr lang="en-US" altLang="zh-CN" sz="2000" dirty="0">
              <a:latin typeface="微软雅黑" panose="020B0503020204020204" pitchFamily="34" charset="-122"/>
              <a:ea typeface="微软雅黑" panose="020B0503020204020204" pitchFamily="34" charset="-122"/>
            </a:endParaRPr>
          </a:p>
          <a:p>
            <a:pPr marL="914400" lvl="3" indent="-457200" eaLnBrk="1" hangingPunct="1">
              <a:lnSpc>
                <a:spcPct val="300000"/>
              </a:lnSpc>
              <a:spcBef>
                <a:spcPct val="0"/>
              </a:spcBef>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衡量一个经济量相应于另外一个经济量变动的敏感程度的指标。</a:t>
            </a:r>
            <a:endParaRPr lang="en-US" altLang="zh-CN" dirty="0">
              <a:latin typeface="微软雅黑" panose="020B0503020204020204" pitchFamily="34" charset="-122"/>
              <a:ea typeface="微软雅黑" panose="020B0503020204020204" pitchFamily="34" charset="-122"/>
            </a:endParaRPr>
          </a:p>
          <a:p>
            <a:pPr marL="914400" lvl="3" indent="-457200" eaLnBrk="1" hangingPunct="1">
              <a:lnSpc>
                <a:spcPct val="300000"/>
              </a:lnSpc>
              <a:spcBef>
                <a:spcPct val="0"/>
              </a:spcBef>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用百分比的比值衡量。（</a:t>
            </a:r>
            <a:r>
              <a:rPr lang="en-US" altLang="zh-CN" dirty="0">
                <a:latin typeface="微软雅黑" panose="020B0503020204020204" pitchFamily="34" charset="-122"/>
                <a:ea typeface="微软雅黑" panose="020B0503020204020204" pitchFamily="34" charset="-122"/>
                <a:sym typeface="Wingdings" panose="05000000000000000000" pitchFamily="2" charset="2"/>
              </a:rPr>
              <a:t></a:t>
            </a:r>
            <a:r>
              <a:rPr lang="zh-CN" altLang="en-US" dirty="0">
                <a:latin typeface="微软雅黑" panose="020B0503020204020204" pitchFamily="34" charset="-122"/>
                <a:ea typeface="微软雅黑" panose="020B0503020204020204" pitchFamily="34" charset="-122"/>
                <a:sym typeface="Wingdings" panose="05000000000000000000" pitchFamily="2" charset="2"/>
              </a:rPr>
              <a:t>不是斜率概念</a:t>
            </a:r>
            <a:r>
              <a:rPr lang="en-US" altLang="zh-CN" dirty="0">
                <a:latin typeface="微软雅黑" panose="020B0503020204020204" pitchFamily="34" charset="-122"/>
                <a:ea typeface="微软雅黑" panose="020B0503020204020204" pitchFamily="34" charset="-122"/>
                <a:sym typeface="Wingdings" panose="05000000000000000000" pitchFamily="2" charset="2"/>
              </a:rPr>
              <a:t></a:t>
            </a:r>
            <a:r>
              <a:rPr lang="zh-CN" altLang="en-US" dirty="0">
                <a:latin typeface="微软雅黑" panose="020B0503020204020204" pitchFamily="34" charset="-122"/>
                <a:ea typeface="微软雅黑" panose="020B0503020204020204" pitchFamily="34" charset="-122"/>
                <a:sym typeface="Wingdings" panose="05000000000000000000" pitchFamily="2" charset="2"/>
              </a:rPr>
              <a:t>相对于斜率概念的好处是，回避了计量单位的干扰</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914400" lvl="3" indent="-457200" eaLnBrk="1" hangingPunct="1">
              <a:lnSpc>
                <a:spcPct val="300000"/>
              </a:lnSpc>
              <a:spcBef>
                <a:spcPct val="0"/>
              </a:spcBef>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用定义方程（定义式）表达的弹性定义是：</a:t>
            </a:r>
            <a:endParaRPr lang="en-US" altLang="zh-CN"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E3FCBA1B-73CC-46CE-85D9-838173FEC65D}"/>
              </a:ext>
            </a:extLst>
          </p:cNvPr>
          <p:cNvSpPr/>
          <p:nvPr/>
        </p:nvSpPr>
        <p:spPr>
          <a:xfrm>
            <a:off x="467544" y="548680"/>
            <a:ext cx="258436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一、弹性的概念 </a:t>
            </a:r>
          </a:p>
        </p:txBody>
      </p:sp>
      <p:sp>
        <p:nvSpPr>
          <p:cNvPr id="7" name="矩形 6">
            <a:extLst>
              <a:ext uri="{FF2B5EF4-FFF2-40B4-BE49-F238E27FC236}">
                <a16:creationId xmlns:a16="http://schemas.microsoft.com/office/drawing/2014/main" id="{CF82BE1C-6C5E-43E0-99BE-7CA879869741}"/>
              </a:ext>
            </a:extLst>
          </p:cNvPr>
          <p:cNvSpPr/>
          <p:nvPr/>
        </p:nvSpPr>
        <p:spPr>
          <a:xfrm>
            <a:off x="7261793"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弹性 </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CA10468-8842-46B6-988C-BC068588ED4B}"/>
                  </a:ext>
                </a:extLst>
              </p:cNvPr>
              <p:cNvSpPr txBox="1"/>
              <p:nvPr/>
            </p:nvSpPr>
            <p:spPr>
              <a:xfrm>
                <a:off x="3707904" y="5389964"/>
                <a:ext cx="2232248" cy="659924"/>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弹性系数</a:t>
                </a:r>
                <a:r>
                  <a:rPr lang="en-US" altLang="zh-CN" sz="2000" dirty="0">
                    <a:latin typeface="微软雅黑" panose="020B0503020204020204" pitchFamily="34" charset="-122"/>
                    <a:ea typeface="微软雅黑" panose="020B0503020204020204" pitchFamily="34" charset="-122"/>
                  </a:rPr>
                  <a:t>=</a:t>
                </a:r>
                <a14:m>
                  <m:oMath xmlns:m="http://schemas.openxmlformats.org/officeDocument/2006/math">
                    <m:f>
                      <m:fPr>
                        <m:ctrlPr>
                          <a:rPr lang="en-US" altLang="zh-CN" sz="2000" i="1" smtClean="0">
                            <a:latin typeface="Cambria Math" panose="02040503050406030204" pitchFamily="18" charset="0"/>
                            <a:ea typeface="微软雅黑" panose="020B0503020204020204" pitchFamily="34" charset="-122"/>
                          </a:rPr>
                        </m:ctrlPr>
                      </m:fPr>
                      <m:num>
                        <m:r>
                          <m:rPr>
                            <m:nor/>
                          </m:rPr>
                          <a:rPr lang="zh-CN" altLang="en-US" sz="2000" kern="0" dirty="0">
                            <a:latin typeface="宋体" panose="02010600030101010101" pitchFamily="2" charset="-122"/>
                          </a:rPr>
                          <m:t>△</m:t>
                        </m:r>
                        <m:r>
                          <m:rPr>
                            <m:sty m:val="p"/>
                          </m:rPr>
                          <a:rPr lang="en-US" altLang="zh-CN" sz="2000" i="1">
                            <a:latin typeface="Cambria Math" panose="02040503050406030204" pitchFamily="18" charset="0"/>
                            <a:ea typeface="微软雅黑" panose="020B0503020204020204" pitchFamily="34" charset="-122"/>
                          </a:rPr>
                          <m:t>y</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𝑦</m:t>
                        </m:r>
                      </m:num>
                      <m:den>
                        <m:r>
                          <m:rPr>
                            <m:nor/>
                          </m:rPr>
                          <a:rPr lang="zh-CN" altLang="en-US" sz="2000" kern="0" dirty="0">
                            <a:latin typeface="宋体" panose="02010600030101010101" pitchFamily="2" charset="-122"/>
                          </a:rPr>
                          <m:t>△</m:t>
                        </m:r>
                        <m:r>
                          <a:rPr lang="en-US" altLang="zh-CN" sz="2000" b="0" i="1" smtClean="0">
                            <a:latin typeface="Cambria Math" panose="02040503050406030204" pitchFamily="18" charset="0"/>
                            <a:ea typeface="微软雅黑" panose="020B0503020204020204" pitchFamily="34" charset="-122"/>
                          </a:rPr>
                          <m:t>𝑥</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𝑥</m:t>
                        </m:r>
                      </m:den>
                    </m:f>
                  </m:oMath>
                </a14:m>
                <a:endParaRPr lang="zh-CN" altLang="en-US" sz="2000" dirty="0">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FCA10468-8842-46B6-988C-BC068588ED4B}"/>
                  </a:ext>
                </a:extLst>
              </p:cNvPr>
              <p:cNvSpPr txBox="1">
                <a:spLocks noRot="1" noChangeAspect="1" noMove="1" noResize="1" noEditPoints="1" noAdjustHandles="1" noChangeArrowheads="1" noChangeShapeType="1" noTextEdit="1"/>
              </p:cNvSpPr>
              <p:nvPr/>
            </p:nvSpPr>
            <p:spPr>
              <a:xfrm>
                <a:off x="3707904" y="5389964"/>
                <a:ext cx="2232248" cy="659924"/>
              </a:xfrm>
              <a:prstGeom prst="rect">
                <a:avLst/>
              </a:prstGeom>
              <a:blipFill>
                <a:blip r:embed="rId2"/>
                <a:stretch>
                  <a:fillRect l="-2732"/>
                </a:stretch>
              </a:blipFill>
            </p:spPr>
            <p:txBody>
              <a:bodyPr/>
              <a:lstStyle/>
              <a:p>
                <a:r>
                  <a:rPr lang="zh-CN" altLang="en-US">
                    <a:noFill/>
                  </a:rPr>
                  <a:t> </a:t>
                </a:r>
              </a:p>
            </p:txBody>
          </p:sp>
        </mc:Fallback>
      </mc:AlternateContent>
    </p:spTree>
  </p:cSld>
  <p:clrMapOvr>
    <a:masterClrMapping/>
  </p:clrMapOvr>
  <p:transition>
    <p:push/>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10">
                                            <p:txEl>
                                              <p:pRg st="0" end="0"/>
                                            </p:txEl>
                                          </p:spTgt>
                                        </p:tgtEl>
                                        <p:attrNameLst>
                                          <p:attrName>style.visibility</p:attrName>
                                        </p:attrNameLst>
                                      </p:cBhvr>
                                      <p:to>
                                        <p:strVal val="visible"/>
                                      </p:to>
                                    </p:set>
                                    <p:animEffect transition="in" filter="wipe(left)">
                                      <p:cBhvr>
                                        <p:cTn id="12" dur="500"/>
                                        <p:tgtEl>
                                          <p:spTgt spid="430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10">
                                            <p:txEl>
                                              <p:pRg st="1" end="1"/>
                                            </p:txEl>
                                          </p:spTgt>
                                        </p:tgtEl>
                                        <p:attrNameLst>
                                          <p:attrName>style.visibility</p:attrName>
                                        </p:attrNameLst>
                                      </p:cBhvr>
                                      <p:to>
                                        <p:strVal val="visible"/>
                                      </p:to>
                                    </p:set>
                                    <p:animEffect transition="in" filter="wipe(left)">
                                      <p:cBhvr>
                                        <p:cTn id="17" dur="500"/>
                                        <p:tgtEl>
                                          <p:spTgt spid="4301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3010">
                                            <p:txEl>
                                              <p:pRg st="2" end="2"/>
                                            </p:txEl>
                                          </p:spTgt>
                                        </p:tgtEl>
                                        <p:attrNameLst>
                                          <p:attrName>style.visibility</p:attrName>
                                        </p:attrNameLst>
                                      </p:cBhvr>
                                      <p:to>
                                        <p:strVal val="visible"/>
                                      </p:to>
                                    </p:set>
                                    <p:animEffect transition="in" filter="wipe(left)">
                                      <p:cBhvr>
                                        <p:cTn id="22" dur="500"/>
                                        <p:tgtEl>
                                          <p:spTgt spid="4301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3010">
                                            <p:txEl>
                                              <p:pRg st="3" end="3"/>
                                            </p:txEl>
                                          </p:spTgt>
                                        </p:tgtEl>
                                        <p:attrNameLst>
                                          <p:attrName>style.visibility</p:attrName>
                                        </p:attrNameLst>
                                      </p:cBhvr>
                                      <p:to>
                                        <p:strVal val="visible"/>
                                      </p:to>
                                    </p:set>
                                    <p:animEffect transition="in" filter="wipe(left)">
                                      <p:cBhvr>
                                        <p:cTn id="27" dur="500"/>
                                        <p:tgtEl>
                                          <p:spTgt spid="43010">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3">
                                            <p:txEl>
                                              <p:pRg st="0" end="0"/>
                                            </p:txEl>
                                          </p:spTgt>
                                        </p:tgtEl>
                                        <p:attrNameLst>
                                          <p:attrName>style.visibility</p:attrName>
                                        </p:attrNameLst>
                                      </p:cBhvr>
                                      <p:to>
                                        <p:strVal val="visible"/>
                                      </p:to>
                                    </p:set>
                                    <p:anim calcmode="lin" valueType="num">
                                      <p:cBhvr>
                                        <p:cTn id="32"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33"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3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uiExpand="1" build="p" autoUpdateAnimBg="0"/>
      <p:bldP spid="6"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noChangeArrowheads="1"/>
          </p:cNvSpPr>
          <p:nvPr>
            <p:ph type="body" idx="4294967295"/>
          </p:nvPr>
        </p:nvSpPr>
        <p:spPr>
          <a:xfrm>
            <a:off x="1181944" y="3290444"/>
            <a:ext cx="8549282" cy="3456285"/>
          </a:xfrm>
        </p:spPr>
        <p:txBody>
          <a:bodyPr/>
          <a:lstStyle/>
          <a:p>
            <a:pPr marL="342900" lvl="2" indent="-342900" eaLnBrk="1" hangingPunct="1">
              <a:lnSpc>
                <a:spcPct val="200000"/>
              </a:lnSpc>
              <a:spcBef>
                <a:spcPct val="0"/>
              </a:spcBef>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公式（定义方程）</a:t>
            </a:r>
            <a:endParaRPr lang="en-US" altLang="zh-CN" sz="2000" dirty="0">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Ø"/>
            </a:pPr>
            <a:r>
              <a:rPr lang="zh-CN" altLang="en-US" sz="2000" b="0" dirty="0">
                <a:solidFill>
                  <a:schemeClr val="tx1"/>
                </a:solidFill>
                <a:latin typeface="微软雅黑" panose="020B0503020204020204" pitchFamily="34" charset="-122"/>
                <a:ea typeface="微软雅黑" panose="020B0503020204020204" pitchFamily="34" charset="-122"/>
              </a:rPr>
              <a:t>需求价格弹性</a:t>
            </a:r>
            <a:r>
              <a:rPr lang="en-US" altLang="zh-CN" sz="2000" b="0" dirty="0">
                <a:solidFill>
                  <a:schemeClr val="tx1"/>
                </a:solidFill>
                <a:latin typeface="微软雅黑" panose="020B0503020204020204" pitchFamily="34" charset="-122"/>
                <a:ea typeface="微软雅黑" panose="020B0503020204020204" pitchFamily="34" charset="-122"/>
              </a:rPr>
              <a:t>=</a:t>
            </a:r>
            <a:r>
              <a:rPr lang="zh-CN" altLang="en-US" sz="2000" b="0" dirty="0">
                <a:solidFill>
                  <a:schemeClr val="tx1"/>
                </a:solidFill>
                <a:latin typeface="微软雅黑" panose="020B0503020204020204" pitchFamily="34" charset="-122"/>
                <a:ea typeface="微软雅黑" panose="020B0503020204020204" pitchFamily="34" charset="-122"/>
              </a:rPr>
              <a:t>需求量变动百分比</a:t>
            </a:r>
            <a:r>
              <a:rPr lang="en-US" altLang="zh-CN" sz="2000" b="0" dirty="0">
                <a:solidFill>
                  <a:schemeClr val="tx1"/>
                </a:solidFill>
                <a:latin typeface="微软雅黑" panose="020B0503020204020204" pitchFamily="34" charset="-122"/>
                <a:ea typeface="微软雅黑" panose="020B0503020204020204" pitchFamily="34" charset="-122"/>
              </a:rPr>
              <a:t>/</a:t>
            </a:r>
            <a:r>
              <a:rPr lang="zh-CN" altLang="en-US" sz="2000" b="0" dirty="0">
                <a:solidFill>
                  <a:schemeClr val="tx1"/>
                </a:solidFill>
                <a:latin typeface="微软雅黑" panose="020B0503020204020204" pitchFamily="34" charset="-122"/>
                <a:ea typeface="微软雅黑" panose="020B0503020204020204" pitchFamily="34" charset="-122"/>
              </a:rPr>
              <a:t>价格变动百分比</a:t>
            </a:r>
            <a:endParaRPr lang="en-US" altLang="zh-CN" sz="2000" b="0" dirty="0">
              <a:solidFill>
                <a:schemeClr val="tx1"/>
              </a:solidFill>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Ø"/>
            </a:pPr>
            <a:r>
              <a:rPr lang="zh-CN" altLang="en-US" sz="2000" b="0" dirty="0">
                <a:solidFill>
                  <a:schemeClr val="tx1"/>
                </a:solidFill>
                <a:latin typeface="微软雅黑" panose="020B0503020204020204" pitchFamily="34" charset="-122"/>
                <a:ea typeface="微软雅黑" panose="020B0503020204020204" pitchFamily="34" charset="-122"/>
              </a:rPr>
              <a:t>即</a:t>
            </a:r>
            <a:endParaRPr lang="zh-CN" altLang="en-US" sz="1600" b="0" dirty="0">
              <a:solidFill>
                <a:schemeClr val="tx1"/>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C99E9264-C73A-425D-A46B-78A41A7DD3BD}"/>
              </a:ext>
            </a:extLst>
          </p:cNvPr>
          <p:cNvSpPr/>
          <p:nvPr/>
        </p:nvSpPr>
        <p:spPr>
          <a:xfrm>
            <a:off x="467544" y="548680"/>
            <a:ext cx="323838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二、需求的价格弹性 </a:t>
            </a:r>
          </a:p>
        </p:txBody>
      </p:sp>
      <p:sp>
        <p:nvSpPr>
          <p:cNvPr id="7" name="矩形 6">
            <a:extLst>
              <a:ext uri="{FF2B5EF4-FFF2-40B4-BE49-F238E27FC236}">
                <a16:creationId xmlns:a16="http://schemas.microsoft.com/office/drawing/2014/main" id="{49DA3463-397B-46C8-9D60-B3E335B99E8D}"/>
              </a:ext>
            </a:extLst>
          </p:cNvPr>
          <p:cNvSpPr/>
          <p:nvPr/>
        </p:nvSpPr>
        <p:spPr>
          <a:xfrm>
            <a:off x="7261793"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弹性 </a:t>
            </a:r>
          </a:p>
        </p:txBody>
      </p:sp>
      <p:grpSp>
        <p:nvGrpSpPr>
          <p:cNvPr id="9" name="组合 8">
            <a:extLst>
              <a:ext uri="{FF2B5EF4-FFF2-40B4-BE49-F238E27FC236}">
                <a16:creationId xmlns:a16="http://schemas.microsoft.com/office/drawing/2014/main" id="{4B853096-810F-416B-AC20-783B39628DB0}"/>
              </a:ext>
            </a:extLst>
          </p:cNvPr>
          <p:cNvGrpSpPr/>
          <p:nvPr/>
        </p:nvGrpSpPr>
        <p:grpSpPr>
          <a:xfrm>
            <a:off x="467544" y="1268759"/>
            <a:ext cx="8192278" cy="1763271"/>
            <a:chOff x="467544" y="1268760"/>
            <a:chExt cx="8192278" cy="1306490"/>
          </a:xfrm>
        </p:grpSpPr>
        <p:sp>
          <p:nvSpPr>
            <p:cNvPr id="10" name="矩形 9">
              <a:extLst>
                <a:ext uri="{FF2B5EF4-FFF2-40B4-BE49-F238E27FC236}">
                  <a16:creationId xmlns:a16="http://schemas.microsoft.com/office/drawing/2014/main" id="{E2210436-2D0E-4532-825B-A3A50A167165}"/>
                </a:ext>
              </a:extLst>
            </p:cNvPr>
            <p:cNvSpPr/>
            <p:nvPr/>
          </p:nvSpPr>
          <p:spPr>
            <a:xfrm>
              <a:off x="467544" y="1268760"/>
              <a:ext cx="8192278" cy="130649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4EF6D4BB-619B-49A6-B225-D0BB63D0FA00}"/>
                </a:ext>
              </a:extLst>
            </p:cNvPr>
            <p:cNvSpPr/>
            <p:nvPr/>
          </p:nvSpPr>
          <p:spPr>
            <a:xfrm>
              <a:off x="538031" y="1342300"/>
              <a:ext cx="8051305" cy="115941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a:extLst>
              <a:ext uri="{FF2B5EF4-FFF2-40B4-BE49-F238E27FC236}">
                <a16:creationId xmlns:a16="http://schemas.microsoft.com/office/drawing/2014/main" id="{C47599FD-26E9-4AE1-AF22-258086CC02D2}"/>
              </a:ext>
            </a:extLst>
          </p:cNvPr>
          <p:cNvSpPr/>
          <p:nvPr/>
        </p:nvSpPr>
        <p:spPr>
          <a:xfrm>
            <a:off x="1455236" y="1920484"/>
            <a:ext cx="7128792" cy="874407"/>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需求量对价格变化的敏感性。在一个特定时期内，一种商品需求量相对变动相应于该商品价格相对变动的反应程度。</a:t>
            </a:r>
          </a:p>
        </p:txBody>
      </p:sp>
      <p:sp>
        <p:nvSpPr>
          <p:cNvPr id="13" name="矩形 12">
            <a:extLst>
              <a:ext uri="{FF2B5EF4-FFF2-40B4-BE49-F238E27FC236}">
                <a16:creationId xmlns:a16="http://schemas.microsoft.com/office/drawing/2014/main" id="{C1F4B85D-9A1D-4D5B-9F9F-3E5369C563A0}"/>
              </a:ext>
            </a:extLst>
          </p:cNvPr>
          <p:cNvSpPr/>
          <p:nvPr/>
        </p:nvSpPr>
        <p:spPr>
          <a:xfrm>
            <a:off x="1181944" y="1520270"/>
            <a:ext cx="1082348" cy="400110"/>
          </a:xfrm>
          <a:prstGeom prst="rect">
            <a:avLst/>
          </a:prstGeom>
        </p:spPr>
        <p:txBody>
          <a:bodyPr wrap="none">
            <a:spAutoFit/>
          </a:bodyPr>
          <a:lstStyle/>
          <a:p>
            <a:pPr marL="342900" indent="-342900">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定义</a:t>
            </a:r>
          </a:p>
        </p:txBody>
      </p:sp>
      <p:pic>
        <p:nvPicPr>
          <p:cNvPr id="14" name="图片 13">
            <a:extLst>
              <a:ext uri="{FF2B5EF4-FFF2-40B4-BE49-F238E27FC236}">
                <a16:creationId xmlns:a16="http://schemas.microsoft.com/office/drawing/2014/main" id="{F6A877AB-42ED-4548-9E9A-1EA86B050D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1904" y="1441158"/>
            <a:ext cx="448444" cy="448444"/>
          </a:xfrm>
          <a:prstGeom prst="rect">
            <a:avLst/>
          </a:prstGeom>
          <a:effectLst>
            <a:innerShdw blurRad="114300">
              <a:prstClr val="black"/>
            </a:innerShdw>
          </a:effectLst>
        </p:spPr>
      </p:pic>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852DA781-1C01-47BB-A059-0D0CA62352D4}"/>
                  </a:ext>
                </a:extLst>
              </p:cNvPr>
              <p:cNvSpPr txBox="1"/>
              <p:nvPr/>
            </p:nvSpPr>
            <p:spPr>
              <a:xfrm>
                <a:off x="4067944" y="5192680"/>
                <a:ext cx="2232248" cy="659924"/>
              </a:xfrm>
              <a:prstGeom prst="rect">
                <a:avLst/>
              </a:prstGeom>
              <a:noFill/>
            </p:spPr>
            <p:txBody>
              <a:bodyPr wrap="square" rtlCol="0">
                <a:spAutoFit/>
              </a:bodyPr>
              <a:lstStyle/>
              <a:p>
                <a14:m>
                  <m:oMath xmlns:m="http://schemas.openxmlformats.org/officeDocument/2006/math">
                    <m:r>
                      <m:rPr>
                        <m:nor/>
                      </m:rPr>
                      <a:rPr lang="en-US" altLang="zh-CN" sz="2000" spc="150" dirty="0">
                        <a:solidFill>
                          <a:srgbClr val="000000"/>
                        </a:solidFill>
                        <a:latin typeface="Cambria Math" panose="02040503050406030204" pitchFamily="18" charset="0"/>
                        <a:ea typeface="微软雅黑" panose="020B0503020204020204" pitchFamily="34" charset="-122"/>
                      </a:rPr>
                      <m:t>E</m:t>
                    </m:r>
                    <m:r>
                      <m:rPr>
                        <m:nor/>
                      </m:rPr>
                      <a:rPr lang="en-US" altLang="zh-CN" sz="2000" b="0" i="0" spc="150" baseline="-25000" dirty="0" smtClean="0">
                        <a:solidFill>
                          <a:srgbClr val="000000"/>
                        </a:solidFill>
                        <a:latin typeface="微软雅黑" panose="020B0503020204020204" pitchFamily="34" charset="-122"/>
                        <a:ea typeface="微软雅黑" panose="020B0503020204020204" pitchFamily="34" charset="-122"/>
                      </a:rPr>
                      <m:t>p</m:t>
                    </m:r>
                    <m:r>
                      <a:rPr lang="en-US" altLang="zh-CN" sz="2000" i="1" spc="150" baseline="-25000" dirty="0">
                        <a:solidFill>
                          <a:srgbClr val="000000"/>
                        </a:solidFill>
                        <a:latin typeface="Cambria Math" panose="02040503050406030204" pitchFamily="18" charset="0"/>
                        <a:ea typeface="微软雅黑" panose="020B0503020204020204" pitchFamily="34" charset="-122"/>
                      </a:rPr>
                      <m:t> </m:t>
                    </m:r>
                  </m:oMath>
                </a14:m>
                <a:r>
                  <a:rPr lang="en-US" altLang="zh-CN" sz="2000" dirty="0">
                    <a:latin typeface="微软雅黑" panose="020B0503020204020204" pitchFamily="34" charset="-122"/>
                    <a:ea typeface="微软雅黑" panose="020B0503020204020204" pitchFamily="34" charset="-122"/>
                  </a:rPr>
                  <a:t>=</a:t>
                </a:r>
                <a14:m>
                  <m:oMath xmlns:m="http://schemas.openxmlformats.org/officeDocument/2006/math">
                    <m:f>
                      <m:fPr>
                        <m:ctrlPr>
                          <a:rPr lang="en-US" altLang="zh-CN" sz="2000" i="1" smtClean="0">
                            <a:latin typeface="Cambria Math" panose="02040503050406030204" pitchFamily="18" charset="0"/>
                            <a:ea typeface="微软雅黑" panose="020B0503020204020204" pitchFamily="34" charset="-122"/>
                          </a:rPr>
                        </m:ctrlPr>
                      </m:fPr>
                      <m:num>
                        <m:r>
                          <m:rPr>
                            <m:nor/>
                          </m:rPr>
                          <a:rPr lang="zh-CN" altLang="en-US" sz="2000" kern="0" dirty="0">
                            <a:latin typeface="宋体" panose="02010600030101010101" pitchFamily="2" charset="-122"/>
                          </a:rPr>
                          <m:t>△</m:t>
                        </m:r>
                        <m:r>
                          <a:rPr lang="en-US" altLang="zh-CN" sz="2000" b="0" i="1" kern="0" dirty="0" smtClean="0">
                            <a:latin typeface="Cambria Math" panose="02040503050406030204" pitchFamily="18" charset="0"/>
                          </a:rPr>
                          <m:t>𝑄</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𝑄</m:t>
                        </m:r>
                      </m:num>
                      <m:den>
                        <m:r>
                          <m:rPr>
                            <m:nor/>
                          </m:rPr>
                          <a:rPr lang="zh-CN" altLang="en-US" sz="2000" kern="0" dirty="0">
                            <a:latin typeface="宋体" panose="02010600030101010101" pitchFamily="2" charset="-122"/>
                          </a:rPr>
                          <m:t>△</m:t>
                        </m:r>
                        <m:r>
                          <a:rPr lang="en-US" altLang="zh-CN" sz="2000" b="0" i="1" kern="0" dirty="0" smtClean="0">
                            <a:latin typeface="Cambria Math" panose="02040503050406030204" pitchFamily="18" charset="0"/>
                          </a:rPr>
                          <m:t>𝑃</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𝑃</m:t>
                        </m:r>
                      </m:den>
                    </m:f>
                  </m:oMath>
                </a14:m>
                <a:endParaRPr lang="zh-CN" altLang="en-US" sz="2000" dirty="0">
                  <a:latin typeface="微软雅黑" panose="020B0503020204020204" pitchFamily="34" charset="-122"/>
                  <a:ea typeface="微软雅黑" panose="020B0503020204020204" pitchFamily="34" charset="-122"/>
                </a:endParaRPr>
              </a:p>
            </p:txBody>
          </p:sp>
        </mc:Choice>
        <mc:Fallback xmlns="">
          <p:sp>
            <p:nvSpPr>
              <p:cNvPr id="16" name="文本框 15">
                <a:extLst>
                  <a:ext uri="{FF2B5EF4-FFF2-40B4-BE49-F238E27FC236}">
                    <a16:creationId xmlns:a16="http://schemas.microsoft.com/office/drawing/2014/main" id="{852DA781-1C01-47BB-A059-0D0CA62352D4}"/>
                  </a:ext>
                </a:extLst>
              </p:cNvPr>
              <p:cNvSpPr txBox="1">
                <a:spLocks noRot="1" noChangeAspect="1" noMove="1" noResize="1" noEditPoints="1" noAdjustHandles="1" noChangeArrowheads="1" noChangeShapeType="1" noTextEdit="1"/>
              </p:cNvSpPr>
              <p:nvPr/>
            </p:nvSpPr>
            <p:spPr>
              <a:xfrm>
                <a:off x="4067944" y="5192680"/>
                <a:ext cx="2232248" cy="659924"/>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54357274"/>
      </p:ext>
    </p:extLst>
  </p:cSld>
  <p:clrMapOvr>
    <a:masterClrMapping/>
  </p:clrMapOvr>
  <p:transition>
    <p:push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p:cTn id="16" dur="500" fill="hold"/>
                                        <p:tgtEl>
                                          <p:spTgt spid="14"/>
                                        </p:tgtEl>
                                        <p:attrNameLst>
                                          <p:attrName>ppt_w</p:attrName>
                                        </p:attrNameLst>
                                      </p:cBhvr>
                                      <p:tavLst>
                                        <p:tav tm="0">
                                          <p:val>
                                            <p:fltVal val="0"/>
                                          </p:val>
                                        </p:tav>
                                        <p:tav tm="100000">
                                          <p:val>
                                            <p:strVal val="#ppt_w"/>
                                          </p:val>
                                        </p:tav>
                                      </p:tavLst>
                                    </p:anim>
                                    <p:anim calcmode="lin" valueType="num">
                                      <p:cBhvr>
                                        <p:cTn id="17" dur="500" fill="hold"/>
                                        <p:tgtEl>
                                          <p:spTgt spid="14"/>
                                        </p:tgtEl>
                                        <p:attrNameLst>
                                          <p:attrName>ppt_h</p:attrName>
                                        </p:attrNameLst>
                                      </p:cBhvr>
                                      <p:tavLst>
                                        <p:tav tm="0">
                                          <p:val>
                                            <p:fltVal val="0"/>
                                          </p:val>
                                        </p:tav>
                                        <p:tav tm="100000">
                                          <p:val>
                                            <p:strVal val="#ppt_h"/>
                                          </p:val>
                                        </p:tav>
                                      </p:tavLst>
                                    </p:anim>
                                    <p:animEffect transition="in" filter="fade">
                                      <p:cBhvr>
                                        <p:cTn id="18" dur="500"/>
                                        <p:tgtEl>
                                          <p:spTgt spid="14"/>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4034">
                                            <p:txEl>
                                              <p:pRg st="0" end="0"/>
                                            </p:txEl>
                                          </p:spTgt>
                                        </p:tgtEl>
                                        <p:attrNameLst>
                                          <p:attrName>style.visibility</p:attrName>
                                        </p:attrNameLst>
                                      </p:cBhvr>
                                      <p:to>
                                        <p:strVal val="visible"/>
                                      </p:to>
                                    </p:set>
                                    <p:animEffect transition="in" filter="wipe(left)">
                                      <p:cBhvr>
                                        <p:cTn id="31" dur="500"/>
                                        <p:tgtEl>
                                          <p:spTgt spid="44034">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4034">
                                            <p:txEl>
                                              <p:pRg st="1" end="1"/>
                                            </p:txEl>
                                          </p:spTgt>
                                        </p:tgtEl>
                                        <p:attrNameLst>
                                          <p:attrName>style.visibility</p:attrName>
                                        </p:attrNameLst>
                                      </p:cBhvr>
                                      <p:to>
                                        <p:strVal val="visible"/>
                                      </p:to>
                                    </p:set>
                                    <p:animEffect transition="in" filter="wipe(left)">
                                      <p:cBhvr>
                                        <p:cTn id="36" dur="500"/>
                                        <p:tgtEl>
                                          <p:spTgt spid="44034">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44034">
                                            <p:txEl>
                                              <p:pRg st="2" end="2"/>
                                            </p:txEl>
                                          </p:spTgt>
                                        </p:tgtEl>
                                        <p:attrNameLst>
                                          <p:attrName>style.visibility</p:attrName>
                                        </p:attrNameLst>
                                      </p:cBhvr>
                                      <p:to>
                                        <p:strVal val="visible"/>
                                      </p:to>
                                    </p:set>
                                    <p:animEffect transition="in" filter="wipe(left)">
                                      <p:cBhvr>
                                        <p:cTn id="41" dur="500"/>
                                        <p:tgtEl>
                                          <p:spTgt spid="44034">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 calcmode="lin" valueType="num">
                                      <p:cBhvr>
                                        <p:cTn id="46" dur="500" fill="hold"/>
                                        <p:tgtEl>
                                          <p:spTgt spid="16"/>
                                        </p:tgtEl>
                                        <p:attrNameLst>
                                          <p:attrName>ppt_w</p:attrName>
                                        </p:attrNameLst>
                                      </p:cBhvr>
                                      <p:tavLst>
                                        <p:tav tm="0">
                                          <p:val>
                                            <p:fltVal val="0"/>
                                          </p:val>
                                        </p:tav>
                                        <p:tav tm="100000">
                                          <p:val>
                                            <p:strVal val="#ppt_w"/>
                                          </p:val>
                                        </p:tav>
                                      </p:tavLst>
                                    </p:anim>
                                    <p:anim calcmode="lin" valueType="num">
                                      <p:cBhvr>
                                        <p:cTn id="47" dur="500" fill="hold"/>
                                        <p:tgtEl>
                                          <p:spTgt spid="16"/>
                                        </p:tgtEl>
                                        <p:attrNameLst>
                                          <p:attrName>ppt_h</p:attrName>
                                        </p:attrNameLst>
                                      </p:cBhvr>
                                      <p:tavLst>
                                        <p:tav tm="0">
                                          <p:val>
                                            <p:fltVal val="0"/>
                                          </p:val>
                                        </p:tav>
                                        <p:tav tm="100000">
                                          <p:val>
                                            <p:strVal val="#ppt_h"/>
                                          </p:val>
                                        </p:tav>
                                      </p:tavLst>
                                    </p:anim>
                                    <p:animEffect transition="in" filter="fade">
                                      <p:cBhvr>
                                        <p:cTn id="4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uiExpand="1" build="p" autoUpdateAnimBg="0"/>
      <p:bldP spid="6" grpId="0" animBg="1"/>
      <p:bldP spid="12" grpId="0"/>
      <p:bldP spid="13" grpId="0"/>
      <p:bldP spid="1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noChangeArrowheads="1"/>
          </p:cNvSpPr>
          <p:nvPr>
            <p:ph type="body" idx="4294967295"/>
          </p:nvPr>
        </p:nvSpPr>
        <p:spPr>
          <a:xfrm>
            <a:off x="179388" y="1341438"/>
            <a:ext cx="8229600" cy="1230312"/>
          </a:xfrm>
        </p:spPr>
        <p:txBody>
          <a:bodyPr/>
          <a:lstStyle/>
          <a:p>
            <a:pPr marL="342900" lvl="2" indent="-342900" eaLnBrk="1" hangingPunct="1">
              <a:lnSpc>
                <a:spcPct val="150000"/>
              </a:lnSpc>
              <a:spcBef>
                <a:spcPct val="0"/>
              </a:spcBef>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需求的价格弹性的类型</a:t>
            </a:r>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p:grpSp>
        <p:nvGrpSpPr>
          <p:cNvPr id="50212" name="组合 90"/>
          <p:cNvGrpSpPr>
            <a:grpSpLocks/>
          </p:cNvGrpSpPr>
          <p:nvPr/>
        </p:nvGrpSpPr>
        <p:grpSpPr bwMode="auto">
          <a:xfrm>
            <a:off x="1535235" y="2060575"/>
            <a:ext cx="1684642" cy="1682113"/>
            <a:chOff x="0" y="0"/>
            <a:chExt cx="1825043" cy="2041919"/>
          </a:xfrm>
        </p:grpSpPr>
        <p:grpSp>
          <p:nvGrpSpPr>
            <p:cNvPr id="50214" name="组合 44"/>
            <p:cNvGrpSpPr>
              <a:grpSpLocks/>
            </p:cNvGrpSpPr>
            <p:nvPr/>
          </p:nvGrpSpPr>
          <p:grpSpPr bwMode="auto">
            <a:xfrm>
              <a:off x="0" y="0"/>
              <a:ext cx="1714512" cy="1783566"/>
              <a:chOff x="0" y="0"/>
              <a:chExt cx="1714512" cy="1783566"/>
            </a:xfrm>
          </p:grpSpPr>
          <p:grpSp>
            <p:nvGrpSpPr>
              <p:cNvPr id="50216" name="组合 26"/>
              <p:cNvGrpSpPr>
                <a:grpSpLocks/>
              </p:cNvGrpSpPr>
              <p:nvPr/>
            </p:nvGrpSpPr>
            <p:grpSpPr bwMode="auto">
              <a:xfrm>
                <a:off x="0" y="0"/>
                <a:ext cx="1714512" cy="1783566"/>
                <a:chOff x="0" y="0"/>
                <a:chExt cx="1714512" cy="1783566"/>
              </a:xfrm>
            </p:grpSpPr>
            <p:grpSp>
              <p:nvGrpSpPr>
                <p:cNvPr id="50218" name="组合 18"/>
                <p:cNvGrpSpPr>
                  <a:grpSpLocks/>
                </p:cNvGrpSpPr>
                <p:nvPr/>
              </p:nvGrpSpPr>
              <p:grpSpPr bwMode="auto">
                <a:xfrm>
                  <a:off x="284958" y="0"/>
                  <a:ext cx="1429554" cy="1429554"/>
                  <a:chOff x="0" y="0"/>
                  <a:chExt cx="1429554" cy="1429554"/>
                </a:xfrm>
              </p:grpSpPr>
              <p:cxnSp>
                <p:nvCxnSpPr>
                  <p:cNvPr id="50225" name="直接箭头连接符 54"/>
                  <p:cNvCxnSpPr>
                    <a:cxnSpLocks noChangeShapeType="1"/>
                  </p:cNvCxnSpPr>
                  <p:nvPr/>
                </p:nvCxnSpPr>
                <p:spPr bwMode="auto">
                  <a:xfrm>
                    <a:off x="398" y="1427958"/>
                    <a:ext cx="1429156" cy="192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0226" name="直接箭头连接符 55"/>
                  <p:cNvCxnSpPr>
                    <a:cxnSpLocks noChangeShapeType="1"/>
                  </p:cNvCxnSpPr>
                  <p:nvPr/>
                </p:nvCxnSpPr>
                <p:spPr bwMode="auto">
                  <a:xfrm rot="5400000" flipH="1" flipV="1">
                    <a:off x="-713691" y="714083"/>
                    <a:ext cx="1429885" cy="1719"/>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0227" name="直接连接符 56"/>
                  <p:cNvCxnSpPr>
                    <a:cxnSpLocks noChangeShapeType="1"/>
                  </p:cNvCxnSpPr>
                  <p:nvPr/>
                </p:nvCxnSpPr>
                <p:spPr bwMode="auto">
                  <a:xfrm rot="5400000">
                    <a:off x="180180" y="820071"/>
                    <a:ext cx="1214054" cy="1720"/>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50228" name="直接连接符 57"/>
                  <p:cNvCxnSpPr>
                    <a:cxnSpLocks noChangeShapeType="1"/>
                  </p:cNvCxnSpPr>
                  <p:nvPr/>
                </p:nvCxnSpPr>
                <p:spPr bwMode="auto">
                  <a:xfrm>
                    <a:off x="398" y="499110"/>
                    <a:ext cx="785950" cy="192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0229" name="直接连接符 58"/>
                  <p:cNvCxnSpPr>
                    <a:cxnSpLocks noChangeShapeType="1"/>
                  </p:cNvCxnSpPr>
                  <p:nvPr/>
                </p:nvCxnSpPr>
                <p:spPr bwMode="auto">
                  <a:xfrm>
                    <a:off x="398" y="928847"/>
                    <a:ext cx="785950" cy="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graphicFrame>
              <p:nvGraphicFramePr>
                <p:cNvPr id="50219" name="Object 13"/>
                <p:cNvGraphicFramePr>
                  <a:graphicFrameLocks noChangeAspect="1"/>
                </p:cNvGraphicFramePr>
                <p:nvPr/>
              </p:nvGraphicFramePr>
              <p:xfrm>
                <a:off x="71438" y="1427966"/>
                <a:ext cx="177800" cy="247650"/>
              </p:xfrm>
              <a:graphic>
                <a:graphicData uri="http://schemas.openxmlformats.org/presentationml/2006/ole">
                  <mc:AlternateContent xmlns:mc="http://schemas.openxmlformats.org/markup-compatibility/2006">
                    <mc:Choice xmlns:v="urn:schemas-microsoft-com:vml" Requires="v">
                      <p:oleObj spid="_x0000_s180093" r:id="rId3" imgW="127665" imgH="178731" progId="">
                        <p:embed/>
                      </p:oleObj>
                    </mc:Choice>
                    <mc:Fallback>
                      <p:oleObj r:id="rId3" imgW="127665" imgH="178731" progId="">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8" y="1427966"/>
                              <a:ext cx="1778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220" name="Object 14"/>
                <p:cNvGraphicFramePr>
                  <a:graphicFrameLocks noChangeAspect="1"/>
                </p:cNvGraphicFramePr>
                <p:nvPr>
                  <p:extLst>
                    <p:ext uri="{D42A27DB-BD31-4B8C-83A1-F6EECF244321}">
                      <p14:modId xmlns:p14="http://schemas.microsoft.com/office/powerpoint/2010/main" val="4136645604"/>
                    </p:ext>
                  </p:extLst>
                </p:nvPr>
              </p:nvGraphicFramePr>
              <p:xfrm>
                <a:off x="928694" y="1499404"/>
                <a:ext cx="355600" cy="247650"/>
              </p:xfrm>
              <a:graphic>
                <a:graphicData uri="http://schemas.openxmlformats.org/presentationml/2006/ole">
                  <mc:AlternateContent xmlns:mc="http://schemas.openxmlformats.org/markup-compatibility/2006">
                    <mc:Choice xmlns:v="urn:schemas-microsoft-com:vml" Requires="v">
                      <p:oleObj spid="_x0000_s180094" r:id="rId5" imgW="254885" imgH="178420" progId="">
                        <p:embed/>
                      </p:oleObj>
                    </mc:Choice>
                    <mc:Fallback>
                      <p:oleObj r:id="rId5" imgW="254885" imgH="178420" progId="">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8694" y="1499404"/>
                              <a:ext cx="3556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221" name="Object 15"/>
                <p:cNvGraphicFramePr>
                  <a:graphicFrameLocks noChangeAspect="1"/>
                </p:cNvGraphicFramePr>
                <p:nvPr/>
              </p:nvGraphicFramePr>
              <p:xfrm>
                <a:off x="0" y="785024"/>
                <a:ext cx="247650" cy="247650"/>
              </p:xfrm>
              <a:graphic>
                <a:graphicData uri="http://schemas.openxmlformats.org/presentationml/2006/ole">
                  <mc:AlternateContent xmlns:mc="http://schemas.openxmlformats.org/markup-compatibility/2006">
                    <mc:Choice xmlns:v="urn:schemas-microsoft-com:vml" Requires="v">
                      <p:oleObj spid="_x0000_s180095" r:id="rId7" imgW="178731" imgH="178731" progId="">
                        <p:embed/>
                      </p:oleObj>
                    </mc:Choice>
                    <mc:Fallback>
                      <p:oleObj r:id="rId7" imgW="178731" imgH="178731" progId="">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785024"/>
                              <a:ext cx="24765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222" name="Object 16"/>
                <p:cNvGraphicFramePr>
                  <a:graphicFrameLocks noChangeAspect="1"/>
                </p:cNvGraphicFramePr>
                <p:nvPr/>
              </p:nvGraphicFramePr>
              <p:xfrm>
                <a:off x="0" y="427834"/>
                <a:ext cx="230187" cy="230187"/>
              </p:xfrm>
              <a:graphic>
                <a:graphicData uri="http://schemas.openxmlformats.org/presentationml/2006/ole">
                  <mc:AlternateContent xmlns:mc="http://schemas.openxmlformats.org/markup-compatibility/2006">
                    <mc:Choice xmlns:v="urn:schemas-microsoft-com:vml" Requires="v">
                      <p:oleObj spid="_x0000_s180096" r:id="rId9" imgW="166037" imgH="166037" progId="">
                        <p:embed/>
                      </p:oleObj>
                    </mc:Choice>
                    <mc:Fallback>
                      <p:oleObj r:id="rId9" imgW="166037" imgH="166037" progId="">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427834"/>
                              <a:ext cx="230187"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223" name="Object 17"/>
                <p:cNvGraphicFramePr>
                  <a:graphicFrameLocks noChangeAspect="1"/>
                </p:cNvGraphicFramePr>
                <p:nvPr/>
              </p:nvGraphicFramePr>
              <p:xfrm>
                <a:off x="1500198" y="1499404"/>
                <a:ext cx="212725" cy="284162"/>
              </p:xfrm>
              <a:graphic>
                <a:graphicData uri="http://schemas.openxmlformats.org/presentationml/2006/ole">
                  <mc:AlternateContent xmlns:mc="http://schemas.openxmlformats.org/markup-compatibility/2006">
                    <mc:Choice xmlns:v="urn:schemas-microsoft-com:vml" Requires="v">
                      <p:oleObj spid="_x0000_s180097" r:id="rId11" imgW="153332" imgH="204442" progId="">
                        <p:embed/>
                      </p:oleObj>
                    </mc:Choice>
                    <mc:Fallback>
                      <p:oleObj r:id="rId11" imgW="153332" imgH="204442" progId="">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00198" y="1499404"/>
                              <a:ext cx="212725"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224" name="Object 18"/>
                <p:cNvGraphicFramePr>
                  <a:graphicFrameLocks noChangeAspect="1"/>
                </p:cNvGraphicFramePr>
                <p:nvPr/>
              </p:nvGraphicFramePr>
              <p:xfrm>
                <a:off x="0" y="70644"/>
                <a:ext cx="212725" cy="230187"/>
              </p:xfrm>
              <a:graphic>
                <a:graphicData uri="http://schemas.openxmlformats.org/presentationml/2006/ole">
                  <mc:AlternateContent xmlns:mc="http://schemas.openxmlformats.org/markup-compatibility/2006">
                    <mc:Choice xmlns:v="urn:schemas-microsoft-com:vml" Requires="v">
                      <p:oleObj spid="_x0000_s180098" r:id="rId13" imgW="153332" imgH="166109" progId="">
                        <p:embed/>
                      </p:oleObj>
                    </mc:Choice>
                    <mc:Fallback>
                      <p:oleObj r:id="rId13" imgW="153332" imgH="166109" progId="">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70644"/>
                              <a:ext cx="212725"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50217" name="Object 19"/>
              <p:cNvGraphicFramePr>
                <a:graphicFrameLocks noChangeAspect="1"/>
              </p:cNvGraphicFramePr>
              <p:nvPr/>
            </p:nvGraphicFramePr>
            <p:xfrm>
              <a:off x="1143008" y="70644"/>
              <a:ext cx="230187" cy="230187"/>
            </p:xfrm>
            <a:graphic>
              <a:graphicData uri="http://schemas.openxmlformats.org/presentationml/2006/ole">
                <mc:AlternateContent xmlns:mc="http://schemas.openxmlformats.org/markup-compatibility/2006">
                  <mc:Choice xmlns:v="urn:schemas-microsoft-com:vml" Requires="v">
                    <p:oleObj spid="_x0000_s180099" r:id="rId15" imgW="166037" imgH="166037" progId="">
                      <p:embed/>
                    </p:oleObj>
                  </mc:Choice>
                  <mc:Fallback>
                    <p:oleObj r:id="rId15" imgW="166037" imgH="166037" progId="">
                      <p:embed/>
                      <p:pic>
                        <p:nvPicPr>
                          <p:cNvPr id="0"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43008" y="70644"/>
                            <a:ext cx="230187"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0215" name="TextBox 89"/>
            <p:cNvSpPr txBox="1">
              <a:spLocks noChangeArrowheads="1"/>
            </p:cNvSpPr>
            <p:nvPr/>
          </p:nvSpPr>
          <p:spPr bwMode="auto">
            <a:xfrm>
              <a:off x="171452" y="1668308"/>
              <a:ext cx="1653591" cy="373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spc="150" dirty="0">
                  <a:solidFill>
                    <a:srgbClr val="000000"/>
                  </a:solidFill>
                  <a:latin typeface="微软雅黑" panose="020B0503020204020204" pitchFamily="34" charset="-122"/>
                  <a:ea typeface="微软雅黑" panose="020B0503020204020204" pitchFamily="34" charset="-122"/>
                </a:rPr>
                <a:t>(a) </a:t>
              </a:r>
              <a:r>
                <a:rPr lang="zh-CN" altLang="en-US" sz="1400" b="0" spc="150" dirty="0">
                  <a:solidFill>
                    <a:srgbClr val="000000"/>
                  </a:solidFill>
                  <a:latin typeface="微软雅黑" panose="020B0503020204020204" pitchFamily="34" charset="-122"/>
                  <a:ea typeface="微软雅黑" panose="020B0503020204020204" pitchFamily="34" charset="-122"/>
                </a:rPr>
                <a:t>完全无弹性</a:t>
              </a:r>
            </a:p>
          </p:txBody>
        </p:sp>
      </p:grpSp>
      <p:cxnSp>
        <p:nvCxnSpPr>
          <p:cNvPr id="50213" name="直接箭头连接符 182"/>
          <p:cNvCxnSpPr>
            <a:cxnSpLocks noChangeShapeType="1"/>
          </p:cNvCxnSpPr>
          <p:nvPr/>
        </p:nvCxnSpPr>
        <p:spPr bwMode="auto">
          <a:xfrm rot="5400000" flipH="1" flipV="1">
            <a:off x="1197769" y="2677318"/>
            <a:ext cx="412750" cy="1588"/>
          </a:xfrm>
          <a:prstGeom prst="straightConnector1">
            <a:avLst/>
          </a:prstGeom>
          <a:noFill/>
          <a:ln w="9525">
            <a:solidFill>
              <a:srgbClr val="A7C804"/>
            </a:solidFill>
            <a:round/>
            <a:headEnd/>
            <a:tailEnd type="stealth" w="med" len="lg"/>
          </a:ln>
          <a:extLst>
            <a:ext uri="{909E8E84-426E-40DD-AFC4-6F175D3DCCD1}">
              <a14:hiddenFill xmlns:a14="http://schemas.microsoft.com/office/drawing/2010/main">
                <a:noFill/>
              </a14:hiddenFill>
            </a:ext>
          </a:extLst>
        </p:spPr>
      </p:cxnSp>
      <p:grpSp>
        <p:nvGrpSpPr>
          <p:cNvPr id="50190" name="组合 177"/>
          <p:cNvGrpSpPr>
            <a:grpSpLocks/>
          </p:cNvGrpSpPr>
          <p:nvPr/>
        </p:nvGrpSpPr>
        <p:grpSpPr bwMode="auto">
          <a:xfrm>
            <a:off x="1547813" y="4005263"/>
            <a:ext cx="1643063" cy="1928632"/>
            <a:chOff x="0" y="0"/>
            <a:chExt cx="1714512" cy="2233224"/>
          </a:xfrm>
        </p:grpSpPr>
        <p:grpSp>
          <p:nvGrpSpPr>
            <p:cNvPr id="50192" name="组合 125"/>
            <p:cNvGrpSpPr>
              <a:grpSpLocks/>
            </p:cNvGrpSpPr>
            <p:nvPr/>
          </p:nvGrpSpPr>
          <p:grpSpPr bwMode="auto">
            <a:xfrm>
              <a:off x="0" y="0"/>
              <a:ext cx="1714512" cy="2233224"/>
              <a:chOff x="0" y="0"/>
              <a:chExt cx="1714512" cy="2233224"/>
            </a:xfrm>
          </p:grpSpPr>
          <p:grpSp>
            <p:nvGrpSpPr>
              <p:cNvPr id="50196" name="组合 44"/>
              <p:cNvGrpSpPr>
                <a:grpSpLocks/>
              </p:cNvGrpSpPr>
              <p:nvPr/>
            </p:nvGrpSpPr>
            <p:grpSpPr bwMode="auto">
              <a:xfrm>
                <a:off x="0" y="0"/>
                <a:ext cx="1714512" cy="1784360"/>
                <a:chOff x="0" y="0"/>
                <a:chExt cx="1714512" cy="1784360"/>
              </a:xfrm>
            </p:grpSpPr>
            <p:grpSp>
              <p:nvGrpSpPr>
                <p:cNvPr id="50198" name="组合 26"/>
                <p:cNvGrpSpPr>
                  <a:grpSpLocks/>
                </p:cNvGrpSpPr>
                <p:nvPr/>
              </p:nvGrpSpPr>
              <p:grpSpPr bwMode="auto">
                <a:xfrm>
                  <a:off x="0" y="0"/>
                  <a:ext cx="1714512" cy="1784360"/>
                  <a:chOff x="0" y="0"/>
                  <a:chExt cx="1714512" cy="1784360"/>
                </a:xfrm>
              </p:grpSpPr>
              <p:grpSp>
                <p:nvGrpSpPr>
                  <p:cNvPr id="50200" name="组合 18"/>
                  <p:cNvGrpSpPr>
                    <a:grpSpLocks/>
                  </p:cNvGrpSpPr>
                  <p:nvPr/>
                </p:nvGrpSpPr>
                <p:grpSpPr bwMode="auto">
                  <a:xfrm>
                    <a:off x="284958" y="794"/>
                    <a:ext cx="1429554" cy="1429554"/>
                    <a:chOff x="0" y="0"/>
                    <a:chExt cx="1429554" cy="1429554"/>
                  </a:xfrm>
                </p:grpSpPr>
                <p:cxnSp>
                  <p:nvCxnSpPr>
                    <p:cNvPr id="50207" name="直接箭头连接符 137"/>
                    <p:cNvCxnSpPr>
                      <a:cxnSpLocks noChangeShapeType="1"/>
                    </p:cNvCxnSpPr>
                    <p:nvPr/>
                  </p:nvCxnSpPr>
                  <p:spPr bwMode="auto">
                    <a:xfrm>
                      <a:off x="-35" y="1427499"/>
                      <a:ext cx="1429588" cy="183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0208" name="直接箭头连接符 138"/>
                    <p:cNvCxnSpPr>
                      <a:cxnSpLocks noChangeShapeType="1"/>
                    </p:cNvCxnSpPr>
                    <p:nvPr/>
                  </p:nvCxnSpPr>
                  <p:spPr bwMode="auto">
                    <a:xfrm rot="5400000" flipH="1" flipV="1">
                      <a:off x="-714273" y="713443"/>
                      <a:ext cx="1430131" cy="165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0209" name="直接连接符 139"/>
                    <p:cNvCxnSpPr>
                      <a:cxnSpLocks noChangeShapeType="1"/>
                    </p:cNvCxnSpPr>
                    <p:nvPr/>
                  </p:nvCxnSpPr>
                  <p:spPr bwMode="auto">
                    <a:xfrm rot="16200000" flipH="1">
                      <a:off x="285300" y="427364"/>
                      <a:ext cx="930136" cy="500273"/>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50210" name="直接连接符 140"/>
                    <p:cNvCxnSpPr>
                      <a:cxnSpLocks noChangeShapeType="1"/>
                    </p:cNvCxnSpPr>
                    <p:nvPr/>
                  </p:nvCxnSpPr>
                  <p:spPr bwMode="auto">
                    <a:xfrm>
                      <a:off x="-35" y="499200"/>
                      <a:ext cx="644392" cy="1839"/>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0211" name="直接连接符 141"/>
                    <p:cNvCxnSpPr>
                      <a:cxnSpLocks noChangeShapeType="1"/>
                    </p:cNvCxnSpPr>
                    <p:nvPr/>
                  </p:nvCxnSpPr>
                  <p:spPr bwMode="auto">
                    <a:xfrm>
                      <a:off x="-35" y="927504"/>
                      <a:ext cx="858084" cy="183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graphicFrame>
                <p:nvGraphicFramePr>
                  <p:cNvPr id="50201" name="Object 34"/>
                  <p:cNvGraphicFramePr>
                    <a:graphicFrameLocks noChangeAspect="1"/>
                  </p:cNvGraphicFramePr>
                  <p:nvPr/>
                </p:nvGraphicFramePr>
                <p:xfrm>
                  <a:off x="71438" y="1428760"/>
                  <a:ext cx="177800" cy="247650"/>
                </p:xfrm>
                <a:graphic>
                  <a:graphicData uri="http://schemas.openxmlformats.org/presentationml/2006/ole">
                    <mc:AlternateContent xmlns:mc="http://schemas.openxmlformats.org/markup-compatibility/2006">
                      <mc:Choice xmlns:v="urn:schemas-microsoft-com:vml" Requires="v">
                        <p:oleObj spid="_x0000_s180100" r:id="rId17" imgW="127665" imgH="178731" progId="">
                          <p:embed/>
                        </p:oleObj>
                      </mc:Choice>
                      <mc:Fallback>
                        <p:oleObj r:id="rId17" imgW="127665" imgH="178731" progId="">
                          <p:embed/>
                          <p:pic>
                            <p:nvPicPr>
                              <p:cNvPr id="0"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8" y="1428760"/>
                                <a:ext cx="1778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202" name="Object 35"/>
                  <p:cNvGraphicFramePr>
                    <a:graphicFrameLocks noChangeAspect="1"/>
                  </p:cNvGraphicFramePr>
                  <p:nvPr/>
                </p:nvGraphicFramePr>
                <p:xfrm>
                  <a:off x="1071570" y="1500198"/>
                  <a:ext cx="355600" cy="247650"/>
                </p:xfrm>
                <a:graphic>
                  <a:graphicData uri="http://schemas.openxmlformats.org/presentationml/2006/ole">
                    <mc:AlternateContent xmlns:mc="http://schemas.openxmlformats.org/markup-compatibility/2006">
                      <mc:Choice xmlns:v="urn:schemas-microsoft-com:vml" Requires="v">
                        <p:oleObj spid="_x0000_s180101" r:id="rId18" imgW="254885" imgH="178420" progId="">
                          <p:embed/>
                        </p:oleObj>
                      </mc:Choice>
                      <mc:Fallback>
                        <p:oleObj r:id="rId18" imgW="254885" imgH="178420" progId="">
                          <p:embed/>
                          <p:pic>
                            <p:nvPicPr>
                              <p:cNvPr id="0" name="Object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1570" y="1500198"/>
                                <a:ext cx="3556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203" name="Object 36"/>
                  <p:cNvGraphicFramePr>
                    <a:graphicFrameLocks noChangeAspect="1"/>
                  </p:cNvGraphicFramePr>
                  <p:nvPr/>
                </p:nvGraphicFramePr>
                <p:xfrm>
                  <a:off x="0" y="785818"/>
                  <a:ext cx="247650" cy="247650"/>
                </p:xfrm>
                <a:graphic>
                  <a:graphicData uri="http://schemas.openxmlformats.org/presentationml/2006/ole">
                    <mc:AlternateContent xmlns:mc="http://schemas.openxmlformats.org/markup-compatibility/2006">
                      <mc:Choice xmlns:v="urn:schemas-microsoft-com:vml" Requires="v">
                        <p:oleObj spid="_x0000_s180102" r:id="rId19" imgW="178731" imgH="178731" progId="">
                          <p:embed/>
                        </p:oleObj>
                      </mc:Choice>
                      <mc:Fallback>
                        <p:oleObj r:id="rId19" imgW="178731" imgH="178731" progId="">
                          <p:embed/>
                          <p:pic>
                            <p:nvPicPr>
                              <p:cNvPr id="0" name="Object 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785818"/>
                                <a:ext cx="24765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204" name="Object 37"/>
                  <p:cNvGraphicFramePr>
                    <a:graphicFrameLocks noChangeAspect="1"/>
                  </p:cNvGraphicFramePr>
                  <p:nvPr/>
                </p:nvGraphicFramePr>
                <p:xfrm>
                  <a:off x="0" y="428628"/>
                  <a:ext cx="230187" cy="230187"/>
                </p:xfrm>
                <a:graphic>
                  <a:graphicData uri="http://schemas.openxmlformats.org/presentationml/2006/ole">
                    <mc:AlternateContent xmlns:mc="http://schemas.openxmlformats.org/markup-compatibility/2006">
                      <mc:Choice xmlns:v="urn:schemas-microsoft-com:vml" Requires="v">
                        <p:oleObj spid="_x0000_s180103" r:id="rId20" imgW="166037" imgH="166037" progId="">
                          <p:embed/>
                        </p:oleObj>
                      </mc:Choice>
                      <mc:Fallback>
                        <p:oleObj r:id="rId20" imgW="166037" imgH="166037" progId="">
                          <p:embed/>
                          <p:pic>
                            <p:nvPicPr>
                              <p:cNvPr id="0" name="Object 3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428628"/>
                                <a:ext cx="230187"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205" name="Object 38"/>
                  <p:cNvGraphicFramePr>
                    <a:graphicFrameLocks noChangeAspect="1"/>
                  </p:cNvGraphicFramePr>
                  <p:nvPr>
                    <p:extLst>
                      <p:ext uri="{D42A27DB-BD31-4B8C-83A1-F6EECF244321}">
                        <p14:modId xmlns:p14="http://schemas.microsoft.com/office/powerpoint/2010/main" val="1125757007"/>
                      </p:ext>
                    </p:extLst>
                  </p:nvPr>
                </p:nvGraphicFramePr>
                <p:xfrm>
                  <a:off x="1500198" y="1500198"/>
                  <a:ext cx="212725" cy="284162"/>
                </p:xfrm>
                <a:graphic>
                  <a:graphicData uri="http://schemas.openxmlformats.org/presentationml/2006/ole">
                    <mc:AlternateContent xmlns:mc="http://schemas.openxmlformats.org/markup-compatibility/2006">
                      <mc:Choice xmlns:v="urn:schemas-microsoft-com:vml" Requires="v">
                        <p:oleObj spid="_x0000_s180104" r:id="rId21" imgW="153332" imgH="204442" progId="">
                          <p:embed/>
                        </p:oleObj>
                      </mc:Choice>
                      <mc:Fallback>
                        <p:oleObj r:id="rId21" imgW="153332" imgH="204442" progId="">
                          <p:embed/>
                          <p:pic>
                            <p:nvPicPr>
                              <p:cNvPr id="0" name="Object 3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00198" y="1500198"/>
                                <a:ext cx="212725"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206" name="Object 39"/>
                  <p:cNvGraphicFramePr>
                    <a:graphicFrameLocks noChangeAspect="1"/>
                  </p:cNvGraphicFramePr>
                  <p:nvPr/>
                </p:nvGraphicFramePr>
                <p:xfrm>
                  <a:off x="0" y="0"/>
                  <a:ext cx="212725" cy="230187"/>
                </p:xfrm>
                <a:graphic>
                  <a:graphicData uri="http://schemas.openxmlformats.org/presentationml/2006/ole">
                    <mc:AlternateContent xmlns:mc="http://schemas.openxmlformats.org/markup-compatibility/2006">
                      <mc:Choice xmlns:v="urn:schemas-microsoft-com:vml" Requires="v">
                        <p:oleObj spid="_x0000_s180105" r:id="rId22" imgW="153332" imgH="166109" progId="">
                          <p:embed/>
                        </p:oleObj>
                      </mc:Choice>
                      <mc:Fallback>
                        <p:oleObj r:id="rId22" imgW="153332" imgH="166109" progId="">
                          <p:embed/>
                          <p:pic>
                            <p:nvPicPr>
                              <p:cNvPr id="0" name="Object 3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212725"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50199" name="Object 40"/>
                <p:cNvGraphicFramePr>
                  <a:graphicFrameLocks noChangeAspect="1"/>
                </p:cNvGraphicFramePr>
                <p:nvPr/>
              </p:nvGraphicFramePr>
              <p:xfrm>
                <a:off x="1357322" y="1000132"/>
                <a:ext cx="230187" cy="230187"/>
              </p:xfrm>
              <a:graphic>
                <a:graphicData uri="http://schemas.openxmlformats.org/presentationml/2006/ole">
                  <mc:AlternateContent xmlns:mc="http://schemas.openxmlformats.org/markup-compatibility/2006">
                    <mc:Choice xmlns:v="urn:schemas-microsoft-com:vml" Requires="v">
                      <p:oleObj spid="_x0000_s180106" r:id="rId23" imgW="166037" imgH="166037" progId="">
                        <p:embed/>
                      </p:oleObj>
                    </mc:Choice>
                    <mc:Fallback>
                      <p:oleObj r:id="rId23" imgW="166037" imgH="166037" progId="">
                        <p:embed/>
                        <p:pic>
                          <p:nvPicPr>
                            <p:cNvPr id="0" name="Object 4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57322" y="1000132"/>
                              <a:ext cx="230187"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0197" name="TextBox 127"/>
              <p:cNvSpPr txBox="1">
                <a:spLocks noChangeArrowheads="1"/>
              </p:cNvSpPr>
              <p:nvPr/>
            </p:nvSpPr>
            <p:spPr bwMode="auto">
              <a:xfrm>
                <a:off x="152019" y="1876839"/>
                <a:ext cx="1402066" cy="356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None/>
                </a:pPr>
                <a:r>
                  <a:rPr lang="en-US" altLang="zh-CN" sz="1400" b="0" spc="150" dirty="0">
                    <a:solidFill>
                      <a:srgbClr val="000000"/>
                    </a:solidFill>
                    <a:latin typeface="微软雅黑" panose="020B0503020204020204" pitchFamily="34" charset="-122"/>
                    <a:ea typeface="微软雅黑" panose="020B0503020204020204" pitchFamily="34" charset="-122"/>
                  </a:rPr>
                  <a:t>(b) </a:t>
                </a:r>
                <a:r>
                  <a:rPr lang="zh-CN" altLang="en-US" sz="1400" b="0" spc="150" dirty="0">
                    <a:solidFill>
                      <a:srgbClr val="000000"/>
                    </a:solidFill>
                    <a:latin typeface="微软雅黑" panose="020B0503020204020204" pitchFamily="34" charset="-122"/>
                    <a:ea typeface="微软雅黑" panose="020B0503020204020204" pitchFamily="34" charset="-122"/>
                  </a:rPr>
                  <a:t>缺乏弹性</a:t>
                </a:r>
              </a:p>
            </p:txBody>
          </p:sp>
        </p:grpSp>
        <p:cxnSp>
          <p:nvCxnSpPr>
            <p:cNvPr id="50193" name="直接连接符 167"/>
            <p:cNvCxnSpPr>
              <a:cxnSpLocks noChangeShapeType="1"/>
            </p:cNvCxnSpPr>
            <p:nvPr/>
          </p:nvCxnSpPr>
          <p:spPr bwMode="auto">
            <a:xfrm rot="5400000">
              <a:off x="463411" y="964229"/>
              <a:ext cx="930137" cy="165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0194" name="直接连接符 169"/>
            <p:cNvCxnSpPr>
              <a:cxnSpLocks noChangeShapeType="1"/>
            </p:cNvCxnSpPr>
            <p:nvPr/>
          </p:nvCxnSpPr>
          <p:spPr bwMode="auto">
            <a:xfrm rot="5400000">
              <a:off x="893832" y="1177462"/>
              <a:ext cx="499994" cy="165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50195" name="Object 44"/>
            <p:cNvGraphicFramePr>
              <a:graphicFrameLocks noChangeAspect="1"/>
            </p:cNvGraphicFramePr>
            <p:nvPr/>
          </p:nvGraphicFramePr>
          <p:xfrm>
            <a:off x="714380" y="1500198"/>
            <a:ext cx="266700" cy="249238"/>
          </p:xfrm>
          <a:graphic>
            <a:graphicData uri="http://schemas.openxmlformats.org/presentationml/2006/ole">
              <mc:AlternateContent xmlns:mc="http://schemas.openxmlformats.org/markup-compatibility/2006">
                <mc:Choice xmlns:v="urn:schemas-microsoft-com:vml" Requires="v">
                  <p:oleObj spid="_x0000_s180107" r:id="rId24" imgW="191497" imgH="178731" progId="">
                    <p:embed/>
                  </p:oleObj>
                </mc:Choice>
                <mc:Fallback>
                  <p:oleObj r:id="rId24" imgW="191497" imgH="178731" progId="">
                    <p:embed/>
                    <p:pic>
                      <p:nvPicPr>
                        <p:cNvPr id="0" name="Object 4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14380" y="1500198"/>
                          <a:ext cx="266700" cy="24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cxnSp>
        <p:nvCxnSpPr>
          <p:cNvPr id="50191" name="直接箭头连接符 179"/>
          <p:cNvCxnSpPr>
            <a:cxnSpLocks noChangeShapeType="1"/>
          </p:cNvCxnSpPr>
          <p:nvPr/>
        </p:nvCxnSpPr>
        <p:spPr bwMode="auto">
          <a:xfrm rot="10800000">
            <a:off x="2232025" y="5548312"/>
            <a:ext cx="547687" cy="0"/>
          </a:xfrm>
          <a:prstGeom prst="straightConnector1">
            <a:avLst/>
          </a:prstGeom>
          <a:noFill/>
          <a:ln w="9525">
            <a:solidFill>
              <a:srgbClr val="A7C804"/>
            </a:solidFill>
            <a:round/>
            <a:headEnd/>
            <a:tailEnd type="stealth" w="med" len="lg"/>
          </a:ln>
          <a:extLst>
            <a:ext uri="{909E8E84-426E-40DD-AFC4-6F175D3DCCD1}">
              <a14:hiddenFill xmlns:a14="http://schemas.microsoft.com/office/drawing/2010/main">
                <a:noFill/>
              </a14:hiddenFill>
            </a:ext>
          </a:extLst>
        </p:spPr>
      </p:cxnSp>
      <p:cxnSp>
        <p:nvCxnSpPr>
          <p:cNvPr id="50189" name="直接箭头连接符 224"/>
          <p:cNvCxnSpPr>
            <a:cxnSpLocks noChangeShapeType="1"/>
          </p:cNvCxnSpPr>
          <p:nvPr/>
        </p:nvCxnSpPr>
        <p:spPr bwMode="auto">
          <a:xfrm rot="5400000" flipH="1" flipV="1">
            <a:off x="1285875" y="4643432"/>
            <a:ext cx="382588" cy="1587"/>
          </a:xfrm>
          <a:prstGeom prst="straightConnector1">
            <a:avLst/>
          </a:prstGeom>
          <a:noFill/>
          <a:ln w="9525">
            <a:solidFill>
              <a:srgbClr val="A7C804"/>
            </a:solidFill>
            <a:round/>
            <a:headEnd/>
            <a:tailEnd type="stealth" w="med" len="lg"/>
          </a:ln>
          <a:extLst>
            <a:ext uri="{909E8E84-426E-40DD-AFC4-6F175D3DCCD1}">
              <a14:hiddenFill xmlns:a14="http://schemas.microsoft.com/office/drawing/2010/main">
                <a:noFill/>
              </a14:hiddenFill>
            </a:ext>
          </a:extLst>
        </p:spPr>
      </p:cxnSp>
      <p:grpSp>
        <p:nvGrpSpPr>
          <p:cNvPr id="45103" name="组合 9"/>
          <p:cNvGrpSpPr>
            <a:grpSpLocks/>
          </p:cNvGrpSpPr>
          <p:nvPr/>
        </p:nvGrpSpPr>
        <p:grpSpPr bwMode="auto">
          <a:xfrm>
            <a:off x="3381253" y="2156086"/>
            <a:ext cx="4429125" cy="1225549"/>
            <a:chOff x="0" y="0"/>
            <a:chExt cx="4357686" cy="931673"/>
          </a:xfrm>
          <a:solidFill>
            <a:srgbClr val="F3C97F"/>
          </a:solidFill>
        </p:grpSpPr>
        <p:sp>
          <p:nvSpPr>
            <p:cNvPr id="50186" name="圆角矩形 50"/>
            <p:cNvSpPr>
              <a:spLocks noChangeArrowheads="1"/>
            </p:cNvSpPr>
            <p:nvPr/>
          </p:nvSpPr>
          <p:spPr bwMode="auto">
            <a:xfrm>
              <a:off x="0" y="0"/>
              <a:ext cx="4357686" cy="928676"/>
            </a:xfrm>
            <a:prstGeom prst="roundRect">
              <a:avLst>
                <a:gd name="adj" fmla="val 16667"/>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50187" name="TextBox 3"/>
            <p:cNvSpPr txBox="1">
              <a:spLocks noChangeArrowheads="1"/>
            </p:cNvSpPr>
            <p:nvPr/>
          </p:nvSpPr>
          <p:spPr bwMode="auto">
            <a:xfrm>
              <a:off x="38099" y="71448"/>
              <a:ext cx="4319587" cy="86022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spcBef>
                  <a:spcPct val="0"/>
                </a:spcBef>
                <a:buFont typeface="Wingdings" panose="05000000000000000000" pitchFamily="2" charset="2"/>
                <a:buChar char="Ø"/>
              </a:pPr>
              <a:r>
                <a:rPr lang="zh-CN" altLang="en-US" sz="2000" b="0" spc="150" dirty="0">
                  <a:solidFill>
                    <a:srgbClr val="000000"/>
                  </a:solidFill>
                  <a:latin typeface="微软雅黑" panose="020B0503020204020204" pitchFamily="34" charset="-122"/>
                  <a:ea typeface="微软雅黑" panose="020B0503020204020204" pitchFamily="34" charset="-122"/>
                </a:rPr>
                <a:t>需求完全无弹性表明，商品价格的任何变动都不会引起需求量的改变，需求量变动完全无弹性。</a:t>
              </a:r>
            </a:p>
            <a:p>
              <a:pPr eaLnBrk="1" hangingPunct="1">
                <a:spcBef>
                  <a:spcPct val="0"/>
                </a:spcBef>
                <a:buFontTx/>
                <a:buNone/>
              </a:pPr>
              <a:endParaRPr lang="zh-CN" altLang="en-US" sz="2000" b="0" dirty="0">
                <a:solidFill>
                  <a:schemeClr val="tx1"/>
                </a:solidFill>
              </a:endParaRPr>
            </a:p>
          </p:txBody>
        </p:sp>
      </p:grpSp>
      <p:grpSp>
        <p:nvGrpSpPr>
          <p:cNvPr id="45106" name="组合 52"/>
          <p:cNvGrpSpPr>
            <a:grpSpLocks/>
          </p:cNvGrpSpPr>
          <p:nvPr/>
        </p:nvGrpSpPr>
        <p:grpSpPr bwMode="auto">
          <a:xfrm>
            <a:off x="3419977" y="4154611"/>
            <a:ext cx="4429125" cy="1428750"/>
            <a:chOff x="0" y="0"/>
            <a:chExt cx="4357686" cy="1178723"/>
          </a:xfrm>
          <a:solidFill>
            <a:srgbClr val="F3C97F"/>
          </a:solidFill>
        </p:grpSpPr>
        <p:sp>
          <p:nvSpPr>
            <p:cNvPr id="50184" name="圆角矩形 53"/>
            <p:cNvSpPr>
              <a:spLocks noChangeArrowheads="1"/>
            </p:cNvSpPr>
            <p:nvPr/>
          </p:nvSpPr>
          <p:spPr bwMode="auto">
            <a:xfrm>
              <a:off x="0" y="0"/>
              <a:ext cx="4357686" cy="1178723"/>
            </a:xfrm>
            <a:prstGeom prst="roundRect">
              <a:avLst>
                <a:gd name="adj" fmla="val 16667"/>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50185" name="TextBox 3"/>
            <p:cNvSpPr txBox="1">
              <a:spLocks noChangeArrowheads="1"/>
            </p:cNvSpPr>
            <p:nvPr/>
          </p:nvSpPr>
          <p:spPr bwMode="auto">
            <a:xfrm>
              <a:off x="38099" y="71449"/>
              <a:ext cx="4319587" cy="109184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spcBef>
                  <a:spcPct val="0"/>
                </a:spcBef>
                <a:buFont typeface="Wingdings" panose="05000000000000000000" pitchFamily="2" charset="2"/>
                <a:buChar char="Ø"/>
              </a:pPr>
              <a:r>
                <a:rPr lang="zh-CN" altLang="en-US" sz="2000" b="0" spc="150" dirty="0">
                  <a:solidFill>
                    <a:srgbClr val="000000"/>
                  </a:solidFill>
                  <a:latin typeface="微软雅黑" panose="020B0503020204020204" pitchFamily="34" charset="-122"/>
                  <a:ea typeface="微软雅黑" panose="020B0503020204020204" pitchFamily="34" charset="-122"/>
                </a:rPr>
                <a:t>需求缺乏弹性，这表明商品价格变动</a:t>
              </a:r>
              <a:r>
                <a:rPr lang="en-US" altLang="zh-CN" sz="2000" b="0" spc="150" dirty="0">
                  <a:solidFill>
                    <a:srgbClr val="000000"/>
                  </a:solidFill>
                  <a:latin typeface="微软雅黑" panose="020B0503020204020204" pitchFamily="34" charset="-122"/>
                  <a:ea typeface="微软雅黑" panose="020B0503020204020204" pitchFamily="34" charset="-122"/>
                </a:rPr>
                <a:t>1%</a:t>
              </a:r>
              <a:r>
                <a:rPr lang="zh-CN" altLang="en-US" sz="2000" b="0" spc="150" dirty="0">
                  <a:solidFill>
                    <a:srgbClr val="000000"/>
                  </a:solidFill>
                  <a:latin typeface="微软雅黑" panose="020B0503020204020204" pitchFamily="34" charset="-122"/>
                  <a:ea typeface="微软雅黑" panose="020B0503020204020204" pitchFamily="34" charset="-122"/>
                </a:rPr>
                <a:t>，需求量变动小于</a:t>
              </a:r>
              <a:r>
                <a:rPr lang="en-US" altLang="zh-CN" sz="2000" b="0" spc="150" dirty="0">
                  <a:solidFill>
                    <a:srgbClr val="000000"/>
                  </a:solidFill>
                  <a:latin typeface="微软雅黑" panose="020B0503020204020204" pitchFamily="34" charset="-122"/>
                  <a:ea typeface="微软雅黑" panose="020B0503020204020204" pitchFamily="34" charset="-122"/>
                </a:rPr>
                <a:t>1%</a:t>
              </a:r>
              <a:r>
                <a:rPr lang="zh-CN" altLang="en-US" sz="2000" b="0" spc="150" dirty="0">
                  <a:solidFill>
                    <a:srgbClr val="000000"/>
                  </a:solidFill>
                  <a:latin typeface="微软雅黑" panose="020B0503020204020204" pitchFamily="34" charset="-122"/>
                  <a:ea typeface="微软雅黑" panose="020B0503020204020204" pitchFamily="34" charset="-122"/>
                </a:rPr>
                <a:t>，即相对于价格变动，需求量变动不敏感</a:t>
              </a:r>
              <a:r>
                <a:rPr lang="zh-CN" altLang="en-US" sz="2000" b="0" dirty="0">
                  <a:solidFill>
                    <a:schemeClr val="tx1"/>
                  </a:solidFill>
                </a:rPr>
                <a:t>。</a:t>
              </a:r>
            </a:p>
          </p:txBody>
        </p:sp>
      </p:grpSp>
      <p:sp>
        <p:nvSpPr>
          <p:cNvPr id="55" name="矩形 54">
            <a:extLst>
              <a:ext uri="{FF2B5EF4-FFF2-40B4-BE49-F238E27FC236}">
                <a16:creationId xmlns:a16="http://schemas.microsoft.com/office/drawing/2014/main" id="{E8CE5138-5529-4F15-BF73-60A9E7E54809}"/>
              </a:ext>
            </a:extLst>
          </p:cNvPr>
          <p:cNvSpPr/>
          <p:nvPr/>
        </p:nvSpPr>
        <p:spPr>
          <a:xfrm>
            <a:off x="467544" y="548680"/>
            <a:ext cx="323838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二、需求的价格弹性 </a:t>
            </a:r>
          </a:p>
        </p:txBody>
      </p:sp>
      <p:sp>
        <p:nvSpPr>
          <p:cNvPr id="56" name="矩形 55">
            <a:extLst>
              <a:ext uri="{FF2B5EF4-FFF2-40B4-BE49-F238E27FC236}">
                <a16:creationId xmlns:a16="http://schemas.microsoft.com/office/drawing/2014/main" id="{18DFC226-07CC-4497-915E-10B3B7DC1251}"/>
              </a:ext>
            </a:extLst>
          </p:cNvPr>
          <p:cNvSpPr/>
          <p:nvPr/>
        </p:nvSpPr>
        <p:spPr>
          <a:xfrm>
            <a:off x="7261793"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弹性 </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5058">
                                            <p:txEl>
                                              <p:pRg st="0" end="0"/>
                                            </p:txEl>
                                          </p:spTgt>
                                        </p:tgtEl>
                                        <p:attrNameLst>
                                          <p:attrName>style.visibility</p:attrName>
                                        </p:attrNameLst>
                                      </p:cBhvr>
                                      <p:to>
                                        <p:strVal val="visible"/>
                                      </p:to>
                                    </p:set>
                                    <p:animEffect transition="in" filter="strips(downRight)">
                                      <p:cBhvr>
                                        <p:cTn id="7" dur="500"/>
                                        <p:tgtEl>
                                          <p:spTgt spid="450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0212"/>
                                        </p:tgtEl>
                                        <p:attrNameLst>
                                          <p:attrName>style.visibility</p:attrName>
                                        </p:attrNameLst>
                                      </p:cBhvr>
                                      <p:to>
                                        <p:strVal val="visible"/>
                                      </p:to>
                                    </p:set>
                                    <p:animEffect transition="in" filter="randombar(horizontal)">
                                      <p:cBhvr>
                                        <p:cTn id="12" dur="500"/>
                                        <p:tgtEl>
                                          <p:spTgt spid="502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0213"/>
                                        </p:tgtEl>
                                        <p:attrNameLst>
                                          <p:attrName>style.visibility</p:attrName>
                                        </p:attrNameLst>
                                      </p:cBhvr>
                                      <p:to>
                                        <p:strVal val="visible"/>
                                      </p:to>
                                    </p:set>
                                    <p:animEffect transition="in" filter="wipe(down)">
                                      <p:cBhvr>
                                        <p:cTn id="17" dur="500"/>
                                        <p:tgtEl>
                                          <p:spTgt spid="502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5103"/>
                                        </p:tgtEl>
                                        <p:attrNameLst>
                                          <p:attrName>style.visibility</p:attrName>
                                        </p:attrNameLst>
                                      </p:cBhvr>
                                      <p:to>
                                        <p:strVal val="visible"/>
                                      </p:to>
                                    </p:set>
                                    <p:animEffect transition="in" filter="wipe(up)">
                                      <p:cBhvr>
                                        <p:cTn id="22" dur="500"/>
                                        <p:tgtEl>
                                          <p:spTgt spid="45103"/>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50190"/>
                                        </p:tgtEl>
                                        <p:attrNameLst>
                                          <p:attrName>style.visibility</p:attrName>
                                        </p:attrNameLst>
                                      </p:cBhvr>
                                      <p:to>
                                        <p:strVal val="visible"/>
                                      </p:to>
                                    </p:set>
                                    <p:animEffect transition="in" filter="randombar(horizontal)">
                                      <p:cBhvr>
                                        <p:cTn id="27" dur="500"/>
                                        <p:tgtEl>
                                          <p:spTgt spid="5019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50191"/>
                                        </p:tgtEl>
                                        <p:attrNameLst>
                                          <p:attrName>style.visibility</p:attrName>
                                        </p:attrNameLst>
                                      </p:cBhvr>
                                      <p:to>
                                        <p:strVal val="visible"/>
                                      </p:to>
                                    </p:set>
                                    <p:animEffect transition="in" filter="wipe(right)">
                                      <p:cBhvr>
                                        <p:cTn id="32" dur="500"/>
                                        <p:tgtEl>
                                          <p:spTgt spid="5019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50189"/>
                                        </p:tgtEl>
                                        <p:attrNameLst>
                                          <p:attrName>style.visibility</p:attrName>
                                        </p:attrNameLst>
                                      </p:cBhvr>
                                      <p:to>
                                        <p:strVal val="visible"/>
                                      </p:to>
                                    </p:set>
                                    <p:animEffect transition="in" filter="wipe(down)">
                                      <p:cBhvr>
                                        <p:cTn id="37" dur="500"/>
                                        <p:tgtEl>
                                          <p:spTgt spid="5018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45106"/>
                                        </p:tgtEl>
                                        <p:attrNameLst>
                                          <p:attrName>style.visibility</p:attrName>
                                        </p:attrNameLst>
                                      </p:cBhvr>
                                      <p:to>
                                        <p:strVal val="visible"/>
                                      </p:to>
                                    </p:set>
                                    <p:animEffect transition="in" filter="wipe(up)">
                                      <p:cBhvr>
                                        <p:cTn id="42" dur="500"/>
                                        <p:tgtEl>
                                          <p:spTgt spid="45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uiExpand="1" build="p"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083" name="组合 91"/>
          <p:cNvGrpSpPr>
            <a:grpSpLocks/>
          </p:cNvGrpSpPr>
          <p:nvPr/>
        </p:nvGrpSpPr>
        <p:grpSpPr bwMode="auto">
          <a:xfrm>
            <a:off x="6033050" y="2205038"/>
            <a:ext cx="1501775" cy="1780186"/>
            <a:chOff x="0" y="0"/>
            <a:chExt cx="1730385" cy="2072896"/>
          </a:xfrm>
        </p:grpSpPr>
        <p:grpSp>
          <p:nvGrpSpPr>
            <p:cNvPr id="51264" name="组合 44"/>
            <p:cNvGrpSpPr>
              <a:grpSpLocks/>
            </p:cNvGrpSpPr>
            <p:nvPr/>
          </p:nvGrpSpPr>
          <p:grpSpPr bwMode="auto">
            <a:xfrm>
              <a:off x="0" y="0"/>
              <a:ext cx="1730385" cy="1784360"/>
              <a:chOff x="0" y="0"/>
              <a:chExt cx="1730385" cy="1784360"/>
            </a:xfrm>
          </p:grpSpPr>
          <p:grpSp>
            <p:nvGrpSpPr>
              <p:cNvPr id="51266" name="组合 26"/>
              <p:cNvGrpSpPr>
                <a:grpSpLocks/>
              </p:cNvGrpSpPr>
              <p:nvPr/>
            </p:nvGrpSpPr>
            <p:grpSpPr bwMode="auto">
              <a:xfrm>
                <a:off x="0" y="0"/>
                <a:ext cx="1714512" cy="1784360"/>
                <a:chOff x="0" y="0"/>
                <a:chExt cx="1714512" cy="1784360"/>
              </a:xfrm>
            </p:grpSpPr>
            <p:grpSp>
              <p:nvGrpSpPr>
                <p:cNvPr id="51268" name="组合 18"/>
                <p:cNvGrpSpPr>
                  <a:grpSpLocks/>
                </p:cNvGrpSpPr>
                <p:nvPr/>
              </p:nvGrpSpPr>
              <p:grpSpPr bwMode="auto">
                <a:xfrm>
                  <a:off x="284958" y="794"/>
                  <a:ext cx="1429554" cy="1429554"/>
                  <a:chOff x="0" y="0"/>
                  <a:chExt cx="1429554" cy="1429554"/>
                </a:xfrm>
              </p:grpSpPr>
              <p:cxnSp>
                <p:nvCxnSpPr>
                  <p:cNvPr id="51273" name="直接箭头连接符 103"/>
                  <p:cNvCxnSpPr>
                    <a:cxnSpLocks noChangeShapeType="1"/>
                  </p:cNvCxnSpPr>
                  <p:nvPr/>
                </p:nvCxnSpPr>
                <p:spPr bwMode="auto">
                  <a:xfrm>
                    <a:off x="693" y="1428117"/>
                    <a:ext cx="1428253" cy="1849"/>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1274" name="直接箭头连接符 104"/>
                  <p:cNvCxnSpPr>
                    <a:cxnSpLocks noChangeShapeType="1"/>
                  </p:cNvCxnSpPr>
                  <p:nvPr/>
                </p:nvCxnSpPr>
                <p:spPr bwMode="auto">
                  <a:xfrm rot="5400000" flipH="1" flipV="1">
                    <a:off x="-713772" y="713671"/>
                    <a:ext cx="1430760" cy="1832"/>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1275" name="直接连接符 105"/>
                  <p:cNvCxnSpPr>
                    <a:cxnSpLocks noChangeShapeType="1"/>
                  </p:cNvCxnSpPr>
                  <p:nvPr/>
                </p:nvCxnSpPr>
                <p:spPr bwMode="auto">
                  <a:xfrm rot="10800000">
                    <a:off x="693" y="927167"/>
                    <a:ext cx="1356841" cy="1848"/>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pSp>
            <p:graphicFrame>
              <p:nvGraphicFramePr>
                <p:cNvPr id="51269" name="Object 10"/>
                <p:cNvGraphicFramePr>
                  <a:graphicFrameLocks noChangeAspect="1"/>
                </p:cNvGraphicFramePr>
                <p:nvPr/>
              </p:nvGraphicFramePr>
              <p:xfrm>
                <a:off x="71438" y="1428760"/>
                <a:ext cx="177800" cy="247650"/>
              </p:xfrm>
              <a:graphic>
                <a:graphicData uri="http://schemas.openxmlformats.org/presentationml/2006/ole">
                  <mc:AlternateContent xmlns:mc="http://schemas.openxmlformats.org/markup-compatibility/2006">
                    <mc:Choice xmlns:v="urn:schemas-microsoft-com:vml" Requires="v">
                      <p:oleObj spid="_x0000_s185224" r:id="rId3" imgW="127665" imgH="178731" progId="">
                        <p:embed/>
                      </p:oleObj>
                    </mc:Choice>
                    <mc:Fallback>
                      <p:oleObj r:id="rId3" imgW="127665" imgH="178731" progId="">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8" y="1428760"/>
                              <a:ext cx="1778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70" name="Object 11"/>
                <p:cNvGraphicFramePr>
                  <a:graphicFrameLocks noChangeAspect="1"/>
                </p:cNvGraphicFramePr>
                <p:nvPr/>
              </p:nvGraphicFramePr>
              <p:xfrm>
                <a:off x="0" y="785818"/>
                <a:ext cx="247650" cy="247650"/>
              </p:xfrm>
              <a:graphic>
                <a:graphicData uri="http://schemas.openxmlformats.org/presentationml/2006/ole">
                  <mc:AlternateContent xmlns:mc="http://schemas.openxmlformats.org/markup-compatibility/2006">
                    <mc:Choice xmlns:v="urn:schemas-microsoft-com:vml" Requires="v">
                      <p:oleObj spid="_x0000_s185225" r:id="rId5" imgW="178731" imgH="178731" progId="">
                        <p:embed/>
                      </p:oleObj>
                    </mc:Choice>
                    <mc:Fallback>
                      <p:oleObj r:id="rId5" imgW="178731" imgH="178731" progId="">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785818"/>
                              <a:ext cx="24765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71" name="Object 12"/>
                <p:cNvGraphicFramePr>
                  <a:graphicFrameLocks noChangeAspect="1"/>
                </p:cNvGraphicFramePr>
                <p:nvPr/>
              </p:nvGraphicFramePr>
              <p:xfrm>
                <a:off x="1500198" y="1500198"/>
                <a:ext cx="212725" cy="284162"/>
              </p:xfrm>
              <a:graphic>
                <a:graphicData uri="http://schemas.openxmlformats.org/presentationml/2006/ole">
                  <mc:AlternateContent xmlns:mc="http://schemas.openxmlformats.org/markup-compatibility/2006">
                    <mc:Choice xmlns:v="urn:schemas-microsoft-com:vml" Requires="v">
                      <p:oleObj spid="_x0000_s185226" r:id="rId7" imgW="153332" imgH="204442" progId="">
                        <p:embed/>
                      </p:oleObj>
                    </mc:Choice>
                    <mc:Fallback>
                      <p:oleObj r:id="rId7" imgW="153332" imgH="204442" progId="">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00198" y="1500198"/>
                              <a:ext cx="212725"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72" name="Object 13"/>
                <p:cNvGraphicFramePr>
                  <a:graphicFrameLocks noChangeAspect="1"/>
                </p:cNvGraphicFramePr>
                <p:nvPr/>
              </p:nvGraphicFramePr>
              <p:xfrm>
                <a:off x="0" y="0"/>
                <a:ext cx="212725" cy="230187"/>
              </p:xfrm>
              <a:graphic>
                <a:graphicData uri="http://schemas.openxmlformats.org/presentationml/2006/ole">
                  <mc:AlternateContent xmlns:mc="http://schemas.openxmlformats.org/markup-compatibility/2006">
                    <mc:Choice xmlns:v="urn:schemas-microsoft-com:vml" Requires="v">
                      <p:oleObj spid="_x0000_s185227" r:id="rId9" imgW="153332" imgH="166109" progId="">
                        <p:embed/>
                      </p:oleObj>
                    </mc:Choice>
                    <mc:Fallback>
                      <p:oleObj r:id="rId9" imgW="153332" imgH="166109" progId="">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212725"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51267" name="Object 14"/>
              <p:cNvGraphicFramePr>
                <a:graphicFrameLocks noChangeAspect="1"/>
              </p:cNvGraphicFramePr>
              <p:nvPr/>
            </p:nvGraphicFramePr>
            <p:xfrm>
              <a:off x="1500198" y="642942"/>
              <a:ext cx="230187" cy="230187"/>
            </p:xfrm>
            <a:graphic>
              <a:graphicData uri="http://schemas.openxmlformats.org/presentationml/2006/ole">
                <mc:AlternateContent xmlns:mc="http://schemas.openxmlformats.org/markup-compatibility/2006">
                  <mc:Choice xmlns:v="urn:schemas-microsoft-com:vml" Requires="v">
                    <p:oleObj spid="_x0000_s185228" r:id="rId11" imgW="166037" imgH="166037" progId="">
                      <p:embed/>
                    </p:oleObj>
                  </mc:Choice>
                  <mc:Fallback>
                    <p:oleObj r:id="rId11" imgW="166037" imgH="166037" progId="">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00198" y="642942"/>
                            <a:ext cx="230187"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1265" name="TextBox 93"/>
            <p:cNvSpPr txBox="1">
              <a:spLocks noChangeArrowheads="1"/>
            </p:cNvSpPr>
            <p:nvPr/>
          </p:nvSpPr>
          <p:spPr bwMode="auto">
            <a:xfrm>
              <a:off x="285752" y="1714512"/>
              <a:ext cx="1356084" cy="358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dirty="0">
                  <a:solidFill>
                    <a:schemeClr val="tx1"/>
                  </a:solidFill>
                  <a:latin typeface="微软雅黑" panose="020B0503020204020204" pitchFamily="34" charset="-122"/>
                  <a:ea typeface="微软雅黑" panose="020B0503020204020204" pitchFamily="34" charset="-122"/>
                </a:rPr>
                <a:t>(e) </a:t>
              </a:r>
              <a:r>
                <a:rPr lang="zh-CN" altLang="en-US" sz="1400" b="0" dirty="0">
                  <a:solidFill>
                    <a:schemeClr val="tx1"/>
                  </a:solidFill>
                  <a:latin typeface="微软雅黑" panose="020B0503020204020204" pitchFamily="34" charset="-122"/>
                  <a:ea typeface="微软雅黑" panose="020B0503020204020204" pitchFamily="34" charset="-122"/>
                </a:rPr>
                <a:t>无限弹性</a:t>
              </a:r>
            </a:p>
          </p:txBody>
        </p:sp>
      </p:grpSp>
      <p:grpSp>
        <p:nvGrpSpPr>
          <p:cNvPr id="3" name="组合 2">
            <a:extLst>
              <a:ext uri="{FF2B5EF4-FFF2-40B4-BE49-F238E27FC236}">
                <a16:creationId xmlns:a16="http://schemas.microsoft.com/office/drawing/2014/main" id="{B11B26B7-9D67-46F0-AABF-137B4ED39B64}"/>
              </a:ext>
            </a:extLst>
          </p:cNvPr>
          <p:cNvGrpSpPr/>
          <p:nvPr/>
        </p:nvGrpSpPr>
        <p:grpSpPr>
          <a:xfrm>
            <a:off x="945850" y="1628775"/>
            <a:ext cx="2076775" cy="2419155"/>
            <a:chOff x="1037900" y="1628775"/>
            <a:chExt cx="2076775" cy="2419155"/>
          </a:xfrm>
        </p:grpSpPr>
        <p:grpSp>
          <p:nvGrpSpPr>
            <p:cNvPr id="2" name="组合 1">
              <a:extLst>
                <a:ext uri="{FF2B5EF4-FFF2-40B4-BE49-F238E27FC236}">
                  <a16:creationId xmlns:a16="http://schemas.microsoft.com/office/drawing/2014/main" id="{1138919B-5A4F-4E69-80A6-732110F4CD0C}"/>
                </a:ext>
              </a:extLst>
            </p:cNvPr>
            <p:cNvGrpSpPr/>
            <p:nvPr/>
          </p:nvGrpSpPr>
          <p:grpSpPr>
            <a:xfrm>
              <a:off x="1037900" y="2234936"/>
              <a:ext cx="1592401" cy="1812994"/>
              <a:chOff x="1037900" y="2234936"/>
              <a:chExt cx="1592401" cy="1812994"/>
            </a:xfrm>
          </p:grpSpPr>
          <p:cxnSp>
            <p:nvCxnSpPr>
              <p:cNvPr id="51240" name="直接连接符 191"/>
              <p:cNvCxnSpPr>
                <a:cxnSpLocks noChangeShapeType="1"/>
              </p:cNvCxnSpPr>
              <p:nvPr/>
            </p:nvCxnSpPr>
            <p:spPr bwMode="auto">
              <a:xfrm rot="5400000">
                <a:off x="1770856" y="3161507"/>
                <a:ext cx="392113" cy="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51241" name="Object 18"/>
              <p:cNvGraphicFramePr>
                <a:graphicFrameLocks noChangeAspect="1"/>
              </p:cNvGraphicFramePr>
              <p:nvPr>
                <p:extLst>
                  <p:ext uri="{D42A27DB-BD31-4B8C-83A1-F6EECF244321}">
                    <p14:modId xmlns:p14="http://schemas.microsoft.com/office/powerpoint/2010/main" val="784710271"/>
                  </p:ext>
                </p:extLst>
              </p:nvPr>
            </p:nvGraphicFramePr>
            <p:xfrm>
              <a:off x="1436000" y="3414261"/>
              <a:ext cx="247705" cy="195929"/>
            </p:xfrm>
            <a:graphic>
              <a:graphicData uri="http://schemas.openxmlformats.org/presentationml/2006/ole">
                <mc:AlternateContent xmlns:mc="http://schemas.openxmlformats.org/markup-compatibility/2006">
                  <mc:Choice xmlns:v="urn:schemas-microsoft-com:vml" Requires="v">
                    <p:oleObj spid="_x0000_s185229" r:id="rId13" imgW="191497" imgH="178731" progId="">
                      <p:embed/>
                    </p:oleObj>
                  </mc:Choice>
                  <mc:Fallback>
                    <p:oleObj r:id="rId13" imgW="191497" imgH="178731" progId="">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36000" y="3414261"/>
                            <a:ext cx="247705" cy="195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51243" name="直接连接符 189"/>
              <p:cNvCxnSpPr>
                <a:cxnSpLocks noChangeShapeType="1"/>
              </p:cNvCxnSpPr>
              <p:nvPr/>
            </p:nvCxnSpPr>
            <p:spPr bwMode="auto">
              <a:xfrm rot="5400000">
                <a:off x="1269202" y="2993226"/>
                <a:ext cx="730250"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nvGrpSpPr>
              <p:cNvPr id="51245" name="组合 108"/>
              <p:cNvGrpSpPr>
                <a:grpSpLocks/>
              </p:cNvGrpSpPr>
              <p:nvPr/>
            </p:nvGrpSpPr>
            <p:grpSpPr bwMode="auto">
              <a:xfrm>
                <a:off x="1037900" y="2234936"/>
                <a:ext cx="1592401" cy="1812994"/>
                <a:chOff x="0" y="0"/>
                <a:chExt cx="1714512" cy="2306276"/>
              </a:xfrm>
            </p:grpSpPr>
            <p:grpSp>
              <p:nvGrpSpPr>
                <p:cNvPr id="51249" name="组合 44"/>
                <p:cNvGrpSpPr>
                  <a:grpSpLocks/>
                </p:cNvGrpSpPr>
                <p:nvPr/>
              </p:nvGrpSpPr>
              <p:grpSpPr bwMode="auto">
                <a:xfrm>
                  <a:off x="0" y="0"/>
                  <a:ext cx="1714512" cy="1784360"/>
                  <a:chOff x="0" y="0"/>
                  <a:chExt cx="1714512" cy="1784360"/>
                </a:xfrm>
              </p:grpSpPr>
              <p:grpSp>
                <p:nvGrpSpPr>
                  <p:cNvPr id="51251" name="组合 26"/>
                  <p:cNvGrpSpPr>
                    <a:grpSpLocks/>
                  </p:cNvGrpSpPr>
                  <p:nvPr/>
                </p:nvGrpSpPr>
                <p:grpSpPr bwMode="auto">
                  <a:xfrm>
                    <a:off x="0" y="0"/>
                    <a:ext cx="1714512" cy="1784360"/>
                    <a:chOff x="0" y="0"/>
                    <a:chExt cx="1714512" cy="1784360"/>
                  </a:xfrm>
                </p:grpSpPr>
                <p:grpSp>
                  <p:nvGrpSpPr>
                    <p:cNvPr id="51253" name="组合 18"/>
                    <p:cNvGrpSpPr>
                      <a:grpSpLocks/>
                    </p:cNvGrpSpPr>
                    <p:nvPr/>
                  </p:nvGrpSpPr>
                  <p:grpSpPr bwMode="auto">
                    <a:xfrm>
                      <a:off x="284958" y="794"/>
                      <a:ext cx="1429554" cy="1429554"/>
                      <a:chOff x="0" y="0"/>
                      <a:chExt cx="1429554" cy="1429554"/>
                    </a:xfrm>
                  </p:grpSpPr>
                  <p:cxnSp>
                    <p:nvCxnSpPr>
                      <p:cNvPr id="51260" name="直接箭头连接符 120"/>
                      <p:cNvCxnSpPr>
                        <a:cxnSpLocks noChangeShapeType="1"/>
                      </p:cNvCxnSpPr>
                      <p:nvPr/>
                    </p:nvCxnSpPr>
                    <p:spPr bwMode="auto">
                      <a:xfrm>
                        <a:off x="834" y="1427280"/>
                        <a:ext cx="1428921" cy="2019"/>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1261" name="直接箭头连接符 121"/>
                      <p:cNvCxnSpPr>
                        <a:cxnSpLocks noChangeShapeType="1"/>
                      </p:cNvCxnSpPr>
                      <p:nvPr/>
                    </p:nvCxnSpPr>
                    <p:spPr bwMode="auto">
                      <a:xfrm rot="5400000" flipH="1" flipV="1">
                        <a:off x="-713189" y="713559"/>
                        <a:ext cx="1429756" cy="1709"/>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1262" name="直接连接符 123"/>
                      <p:cNvCxnSpPr>
                        <a:cxnSpLocks noChangeShapeType="1"/>
                      </p:cNvCxnSpPr>
                      <p:nvPr/>
                    </p:nvCxnSpPr>
                    <p:spPr bwMode="auto">
                      <a:xfrm>
                        <a:off x="834" y="498342"/>
                        <a:ext cx="357230" cy="2019"/>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1263" name="直接连接符 124"/>
                      <p:cNvCxnSpPr>
                        <a:cxnSpLocks noChangeShapeType="1"/>
                      </p:cNvCxnSpPr>
                      <p:nvPr/>
                    </p:nvCxnSpPr>
                    <p:spPr bwMode="auto">
                      <a:xfrm>
                        <a:off x="834" y="928480"/>
                        <a:ext cx="714460" cy="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graphicFrame>
                  <p:nvGraphicFramePr>
                    <p:cNvPr id="51254" name="Object 30"/>
                    <p:cNvGraphicFramePr>
                      <a:graphicFrameLocks noChangeAspect="1"/>
                    </p:cNvGraphicFramePr>
                    <p:nvPr/>
                  </p:nvGraphicFramePr>
                  <p:xfrm>
                    <a:off x="71438" y="1428760"/>
                    <a:ext cx="177800" cy="247650"/>
                  </p:xfrm>
                  <a:graphic>
                    <a:graphicData uri="http://schemas.openxmlformats.org/presentationml/2006/ole">
                      <mc:AlternateContent xmlns:mc="http://schemas.openxmlformats.org/markup-compatibility/2006">
                        <mc:Choice xmlns:v="urn:schemas-microsoft-com:vml" Requires="v">
                          <p:oleObj spid="_x0000_s185230" r:id="rId15" imgW="127665" imgH="178731" progId="">
                            <p:embed/>
                          </p:oleObj>
                        </mc:Choice>
                        <mc:Fallback>
                          <p:oleObj r:id="rId15" imgW="127665" imgH="178731" progId="">
                            <p:embed/>
                            <p:pic>
                              <p:nvPicPr>
                                <p:cNvPr id="0"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8" y="1428760"/>
                                  <a:ext cx="1778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55" name="Object 31"/>
                    <p:cNvGraphicFramePr>
                      <a:graphicFrameLocks noChangeAspect="1"/>
                    </p:cNvGraphicFramePr>
                    <p:nvPr/>
                  </p:nvGraphicFramePr>
                  <p:xfrm>
                    <a:off x="928694" y="1500198"/>
                    <a:ext cx="355600" cy="247650"/>
                  </p:xfrm>
                  <a:graphic>
                    <a:graphicData uri="http://schemas.openxmlformats.org/presentationml/2006/ole">
                      <mc:AlternateContent xmlns:mc="http://schemas.openxmlformats.org/markup-compatibility/2006">
                        <mc:Choice xmlns:v="urn:schemas-microsoft-com:vml" Requires="v">
                          <p:oleObj spid="_x0000_s185231" r:id="rId16" imgW="254885" imgH="178420" progId="">
                            <p:embed/>
                          </p:oleObj>
                        </mc:Choice>
                        <mc:Fallback>
                          <p:oleObj r:id="rId16" imgW="254885" imgH="178420" progId="">
                            <p:embed/>
                            <p:pic>
                              <p:nvPicPr>
                                <p:cNvPr id="0" name="Object 3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28694" y="1500198"/>
                                  <a:ext cx="3556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56" name="Object 32"/>
                    <p:cNvGraphicFramePr>
                      <a:graphicFrameLocks noChangeAspect="1"/>
                    </p:cNvGraphicFramePr>
                    <p:nvPr/>
                  </p:nvGraphicFramePr>
                  <p:xfrm>
                    <a:off x="0" y="785818"/>
                    <a:ext cx="247650" cy="247650"/>
                  </p:xfrm>
                  <a:graphic>
                    <a:graphicData uri="http://schemas.openxmlformats.org/presentationml/2006/ole">
                      <mc:AlternateContent xmlns:mc="http://schemas.openxmlformats.org/markup-compatibility/2006">
                        <mc:Choice xmlns:v="urn:schemas-microsoft-com:vml" Requires="v">
                          <p:oleObj spid="_x0000_s185232" r:id="rId18" imgW="178731" imgH="178731" progId="">
                            <p:embed/>
                          </p:oleObj>
                        </mc:Choice>
                        <mc:Fallback>
                          <p:oleObj r:id="rId18" imgW="178731" imgH="178731" progId="">
                            <p:embed/>
                            <p:pic>
                              <p:nvPicPr>
                                <p:cNvPr id="0" name="Object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785818"/>
                                  <a:ext cx="24765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57" name="Object 33"/>
                    <p:cNvGraphicFramePr>
                      <a:graphicFrameLocks noChangeAspect="1"/>
                    </p:cNvGraphicFramePr>
                    <p:nvPr/>
                  </p:nvGraphicFramePr>
                  <p:xfrm>
                    <a:off x="0" y="428628"/>
                    <a:ext cx="230187" cy="230187"/>
                  </p:xfrm>
                  <a:graphic>
                    <a:graphicData uri="http://schemas.openxmlformats.org/presentationml/2006/ole">
                      <mc:AlternateContent xmlns:mc="http://schemas.openxmlformats.org/markup-compatibility/2006">
                        <mc:Choice xmlns:v="urn:schemas-microsoft-com:vml" Requires="v">
                          <p:oleObj spid="_x0000_s185233" r:id="rId19" imgW="166037" imgH="166037" progId="">
                            <p:embed/>
                          </p:oleObj>
                        </mc:Choice>
                        <mc:Fallback>
                          <p:oleObj r:id="rId19" imgW="166037" imgH="166037" progId="">
                            <p:embed/>
                            <p:pic>
                              <p:nvPicPr>
                                <p:cNvPr id="0" name="Object 3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428628"/>
                                  <a:ext cx="230187"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58" name="Object 34"/>
                    <p:cNvGraphicFramePr>
                      <a:graphicFrameLocks noChangeAspect="1"/>
                    </p:cNvGraphicFramePr>
                    <p:nvPr/>
                  </p:nvGraphicFramePr>
                  <p:xfrm>
                    <a:off x="1500198" y="1500198"/>
                    <a:ext cx="212725" cy="284162"/>
                  </p:xfrm>
                  <a:graphic>
                    <a:graphicData uri="http://schemas.openxmlformats.org/presentationml/2006/ole">
                      <mc:AlternateContent xmlns:mc="http://schemas.openxmlformats.org/markup-compatibility/2006">
                        <mc:Choice xmlns:v="urn:schemas-microsoft-com:vml" Requires="v">
                          <p:oleObj spid="_x0000_s185234" r:id="rId21" imgW="153332" imgH="204442" progId="">
                            <p:embed/>
                          </p:oleObj>
                        </mc:Choice>
                        <mc:Fallback>
                          <p:oleObj r:id="rId21" imgW="153332" imgH="204442" progId="">
                            <p:embed/>
                            <p:pic>
                              <p:nvPicPr>
                                <p:cNvPr id="0" name="Object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00198" y="1500198"/>
                                  <a:ext cx="212725"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59" name="Object 35"/>
                    <p:cNvGraphicFramePr>
                      <a:graphicFrameLocks noChangeAspect="1"/>
                    </p:cNvGraphicFramePr>
                    <p:nvPr/>
                  </p:nvGraphicFramePr>
                  <p:xfrm>
                    <a:off x="0" y="0"/>
                    <a:ext cx="212725" cy="230187"/>
                  </p:xfrm>
                  <a:graphic>
                    <a:graphicData uri="http://schemas.openxmlformats.org/presentationml/2006/ole">
                      <mc:AlternateContent xmlns:mc="http://schemas.openxmlformats.org/markup-compatibility/2006">
                        <mc:Choice xmlns:v="urn:schemas-microsoft-com:vml" Requires="v">
                          <p:oleObj spid="_x0000_s185235" r:id="rId22" imgW="153332" imgH="166109" progId="">
                            <p:embed/>
                          </p:oleObj>
                        </mc:Choice>
                        <mc:Fallback>
                          <p:oleObj r:id="rId22" imgW="153332" imgH="166109" progId="">
                            <p:embed/>
                            <p:pic>
                              <p:nvPicPr>
                                <p:cNvPr id="0" name="Object 3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212725"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51252" name="Object 36"/>
                  <p:cNvGraphicFramePr>
                    <a:graphicFrameLocks noChangeAspect="1"/>
                  </p:cNvGraphicFramePr>
                  <p:nvPr/>
                </p:nvGraphicFramePr>
                <p:xfrm>
                  <a:off x="1357322" y="1071570"/>
                  <a:ext cx="230187" cy="230187"/>
                </p:xfrm>
                <a:graphic>
                  <a:graphicData uri="http://schemas.openxmlformats.org/presentationml/2006/ole">
                    <mc:AlternateContent xmlns:mc="http://schemas.openxmlformats.org/markup-compatibility/2006">
                      <mc:Choice xmlns:v="urn:schemas-microsoft-com:vml" Requires="v">
                        <p:oleObj spid="_x0000_s185236" r:id="rId23" imgW="166037" imgH="166037" progId="">
                          <p:embed/>
                        </p:oleObj>
                      </mc:Choice>
                      <mc:Fallback>
                        <p:oleObj r:id="rId23" imgW="166037" imgH="166037" progId="">
                          <p:embed/>
                          <p:pic>
                            <p:nvPicPr>
                              <p:cNvPr id="0" name="Object 3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57322" y="1071570"/>
                                <a:ext cx="230187"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1250" name="TextBox 110"/>
                <p:cNvSpPr txBox="1">
                  <a:spLocks noChangeArrowheads="1"/>
                </p:cNvSpPr>
                <p:nvPr/>
              </p:nvSpPr>
              <p:spPr bwMode="auto">
                <a:xfrm>
                  <a:off x="302010" y="1914758"/>
                  <a:ext cx="1253368" cy="391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dirty="0">
                      <a:solidFill>
                        <a:schemeClr val="tx1"/>
                      </a:solidFill>
                      <a:latin typeface="微软雅黑" panose="020B0503020204020204" pitchFamily="34" charset="-122"/>
                      <a:ea typeface="微软雅黑" panose="020B0503020204020204" pitchFamily="34" charset="-122"/>
                    </a:rPr>
                    <a:t>(c) </a:t>
                  </a:r>
                  <a:r>
                    <a:rPr lang="zh-CN" altLang="en-US" sz="1400" b="0" dirty="0">
                      <a:solidFill>
                        <a:schemeClr val="tx1"/>
                      </a:solidFill>
                      <a:latin typeface="微软雅黑" panose="020B0503020204020204" pitchFamily="34" charset="-122"/>
                      <a:ea typeface="微软雅黑" panose="020B0503020204020204" pitchFamily="34" charset="-122"/>
                    </a:rPr>
                    <a:t>单位弹性</a:t>
                  </a:r>
                </a:p>
              </p:txBody>
            </p:sp>
          </p:grpSp>
        </p:grpSp>
        <p:sp>
          <p:nvSpPr>
            <p:cNvPr id="51246" name="弧形 184"/>
            <p:cNvSpPr>
              <a:spLocks noChangeArrowheads="1"/>
            </p:cNvSpPr>
            <p:nvPr/>
          </p:nvSpPr>
          <p:spPr bwMode="auto">
            <a:xfrm rot="12067961">
              <a:off x="1622425" y="1628775"/>
              <a:ext cx="1492250" cy="1419225"/>
            </a:xfrm>
            <a:custGeom>
              <a:avLst/>
              <a:gdLst>
                <a:gd name="T0" fmla="*/ 496056 w 1606681"/>
                <a:gd name="T1" fmla="*/ 68647 h 1805371"/>
                <a:gd name="T2" fmla="*/ 803341 w 1606681"/>
                <a:gd name="T3" fmla="*/ 902686 h 1805371"/>
                <a:gd name="T4" fmla="*/ 1528720 w 1606681"/>
                <a:gd name="T5" fmla="*/ 514768 h 1805371"/>
                <a:gd name="T6" fmla="*/ 11796480 60000 65536"/>
                <a:gd name="T7" fmla="*/ 17694720 60000 65536"/>
                <a:gd name="T8" fmla="*/ 5898240 60000 65536"/>
                <a:gd name="T9" fmla="*/ 496056 w 1606681"/>
                <a:gd name="T10" fmla="*/ 0 h 1805371"/>
                <a:gd name="T11" fmla="*/ 1528720 w 1606681"/>
                <a:gd name="T12" fmla="*/ 514768 h 1805371"/>
              </a:gdLst>
              <a:ahLst/>
              <a:cxnLst>
                <a:cxn ang="T6">
                  <a:pos x="T0" y="T1"/>
                </a:cxn>
                <a:cxn ang="T7">
                  <a:pos x="T2" y="T3"/>
                </a:cxn>
                <a:cxn ang="T8">
                  <a:pos x="T4" y="T5"/>
                </a:cxn>
              </a:cxnLst>
              <a:rect l="T9" t="T10" r="T11" b="T12"/>
              <a:pathLst>
                <a:path w="1606681" h="1805371" stroke="0">
                  <a:moveTo>
                    <a:pt x="496056" y="68647"/>
                  </a:moveTo>
                  <a:lnTo>
                    <a:pt x="496056" y="68647"/>
                  </a:lnTo>
                  <a:cubicBezTo>
                    <a:pt x="593481" y="23325"/>
                    <a:pt x="697895" y="0"/>
                    <a:pt x="803340" y="0"/>
                  </a:cubicBezTo>
                  <a:cubicBezTo>
                    <a:pt x="1113258" y="0"/>
                    <a:pt x="1395536" y="200319"/>
                    <a:pt x="1528719" y="514768"/>
                  </a:cubicBezTo>
                  <a:lnTo>
                    <a:pt x="803341" y="902686"/>
                  </a:lnTo>
                  <a:lnTo>
                    <a:pt x="496056" y="68647"/>
                  </a:lnTo>
                  <a:close/>
                </a:path>
                <a:path w="1606681" h="1805371" fill="none">
                  <a:moveTo>
                    <a:pt x="496056" y="68647"/>
                  </a:moveTo>
                  <a:lnTo>
                    <a:pt x="496056" y="68647"/>
                  </a:lnTo>
                  <a:cubicBezTo>
                    <a:pt x="593481" y="23325"/>
                    <a:pt x="697895" y="0"/>
                    <a:pt x="803340" y="0"/>
                  </a:cubicBezTo>
                  <a:cubicBezTo>
                    <a:pt x="1113258" y="0"/>
                    <a:pt x="1395536" y="200319"/>
                    <a:pt x="1528719" y="514768"/>
                  </a:cubicBezTo>
                </a:path>
              </a:pathLst>
            </a:custGeom>
            <a:noFill/>
            <a:ln w="38100" cmpd="sng">
              <a:solidFill>
                <a:srgbClr val="2D2D8A"/>
              </a:solidFill>
              <a:miter lim="800000"/>
              <a:headEnd/>
              <a:tailEnd/>
            </a:ln>
            <a:effectLst>
              <a:outerShdw dist="23000" dir="5400000" algn="ctr" rotWithShape="0">
                <a:srgbClr val="000000">
                  <a:alpha val="28998"/>
                </a:srgbClr>
              </a:outerShdw>
            </a:effectLst>
            <a:extLst>
              <a:ext uri="{909E8E84-426E-40DD-AFC4-6F175D3DCCD1}">
                <a14:hiddenFill xmlns:a14="http://schemas.microsoft.com/office/drawing/2010/main">
                  <a:solidFill>
                    <a:srgbClr val="FFFFFF"/>
                  </a:solidFill>
                </a14:hiddenFill>
              </a:ext>
            </a:extLst>
          </p:spPr>
          <p:txBody>
            <a:bodyPr anchor="ctr"/>
            <a:lstStyle/>
            <a:p>
              <a:endParaRPr lang="zh-CN" altLang="en-US"/>
            </a:p>
          </p:txBody>
        </p:sp>
      </p:grpSp>
      <p:cxnSp>
        <p:nvCxnSpPr>
          <p:cNvPr id="51247" name="直接箭头连接符 195"/>
          <p:cNvCxnSpPr>
            <a:cxnSpLocks noChangeShapeType="1"/>
          </p:cNvCxnSpPr>
          <p:nvPr/>
        </p:nvCxnSpPr>
        <p:spPr bwMode="auto">
          <a:xfrm rot="5400000" flipH="1" flipV="1">
            <a:off x="654868" y="2796377"/>
            <a:ext cx="449263" cy="0"/>
          </a:xfrm>
          <a:prstGeom prst="straightConnector1">
            <a:avLst/>
          </a:prstGeom>
          <a:noFill/>
          <a:ln w="9525">
            <a:solidFill>
              <a:srgbClr val="A7C804"/>
            </a:solidFill>
            <a:round/>
            <a:headEnd/>
            <a:tailEnd type="stealth" w="med" len="lg"/>
          </a:ln>
          <a:extLst>
            <a:ext uri="{909E8E84-426E-40DD-AFC4-6F175D3DCCD1}">
              <a14:hiddenFill xmlns:a14="http://schemas.microsoft.com/office/drawing/2010/main">
                <a:noFill/>
              </a14:hiddenFill>
            </a:ext>
          </a:extLst>
        </p:spPr>
      </p:cxnSp>
      <p:cxnSp>
        <p:nvCxnSpPr>
          <p:cNvPr id="51248" name="直接箭头连接符 198"/>
          <p:cNvCxnSpPr>
            <a:cxnSpLocks noChangeShapeType="1"/>
          </p:cNvCxnSpPr>
          <p:nvPr/>
        </p:nvCxnSpPr>
        <p:spPr bwMode="auto">
          <a:xfrm rot="10800000">
            <a:off x="1409725" y="3638550"/>
            <a:ext cx="598488" cy="1588"/>
          </a:xfrm>
          <a:prstGeom prst="straightConnector1">
            <a:avLst/>
          </a:prstGeom>
          <a:noFill/>
          <a:ln w="9525">
            <a:solidFill>
              <a:srgbClr val="A7C804"/>
            </a:solidFill>
            <a:round/>
            <a:headEnd/>
            <a:tailEnd type="stealth" w="med" len="lg"/>
          </a:ln>
          <a:extLst>
            <a:ext uri="{909E8E84-426E-40DD-AFC4-6F175D3DCCD1}">
              <a14:hiddenFill xmlns:a14="http://schemas.microsoft.com/office/drawing/2010/main">
                <a:noFill/>
              </a14:hiddenFill>
            </a:ext>
          </a:extLst>
        </p:spPr>
      </p:cxnSp>
      <p:grpSp>
        <p:nvGrpSpPr>
          <p:cNvPr id="51216" name="组合 215"/>
          <p:cNvGrpSpPr>
            <a:grpSpLocks/>
          </p:cNvGrpSpPr>
          <p:nvPr/>
        </p:nvGrpSpPr>
        <p:grpSpPr bwMode="auto">
          <a:xfrm>
            <a:off x="3557257" y="2205038"/>
            <a:ext cx="1493665" cy="1850408"/>
            <a:chOff x="0" y="0"/>
            <a:chExt cx="1792883" cy="2215752"/>
          </a:xfrm>
        </p:grpSpPr>
        <p:cxnSp>
          <p:nvCxnSpPr>
            <p:cNvPr id="51219" name="直接连接符 212"/>
            <p:cNvCxnSpPr>
              <a:cxnSpLocks noChangeShapeType="1"/>
            </p:cNvCxnSpPr>
            <p:nvPr/>
          </p:nvCxnSpPr>
          <p:spPr bwMode="auto">
            <a:xfrm rot="5400000">
              <a:off x="1107485" y="1178570"/>
              <a:ext cx="499945" cy="190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nvGrpSpPr>
            <p:cNvPr id="51220" name="组合 214"/>
            <p:cNvGrpSpPr>
              <a:grpSpLocks/>
            </p:cNvGrpSpPr>
            <p:nvPr/>
          </p:nvGrpSpPr>
          <p:grpSpPr bwMode="auto">
            <a:xfrm>
              <a:off x="0" y="0"/>
              <a:ext cx="1792883" cy="2215752"/>
              <a:chOff x="0" y="0"/>
              <a:chExt cx="1792883" cy="2215752"/>
            </a:xfrm>
          </p:grpSpPr>
          <p:grpSp>
            <p:nvGrpSpPr>
              <p:cNvPr id="51221" name="组合 142"/>
              <p:cNvGrpSpPr>
                <a:grpSpLocks/>
              </p:cNvGrpSpPr>
              <p:nvPr/>
            </p:nvGrpSpPr>
            <p:grpSpPr bwMode="auto">
              <a:xfrm>
                <a:off x="0" y="0"/>
                <a:ext cx="1792883" cy="2215752"/>
                <a:chOff x="0" y="0"/>
                <a:chExt cx="1792883" cy="2215752"/>
              </a:xfrm>
            </p:grpSpPr>
            <p:grpSp>
              <p:nvGrpSpPr>
                <p:cNvPr id="51224" name="组合 44"/>
                <p:cNvGrpSpPr>
                  <a:grpSpLocks/>
                </p:cNvGrpSpPr>
                <p:nvPr/>
              </p:nvGrpSpPr>
              <p:grpSpPr bwMode="auto">
                <a:xfrm>
                  <a:off x="0" y="0"/>
                  <a:ext cx="1730385" cy="1784360"/>
                  <a:chOff x="0" y="0"/>
                  <a:chExt cx="1730385" cy="1784360"/>
                </a:xfrm>
              </p:grpSpPr>
              <p:grpSp>
                <p:nvGrpSpPr>
                  <p:cNvPr id="51226" name="组合 26"/>
                  <p:cNvGrpSpPr>
                    <a:grpSpLocks/>
                  </p:cNvGrpSpPr>
                  <p:nvPr/>
                </p:nvGrpSpPr>
                <p:grpSpPr bwMode="auto">
                  <a:xfrm>
                    <a:off x="0" y="0"/>
                    <a:ext cx="1714512" cy="1784360"/>
                    <a:chOff x="0" y="0"/>
                    <a:chExt cx="1714512" cy="1784360"/>
                  </a:xfrm>
                </p:grpSpPr>
                <p:grpSp>
                  <p:nvGrpSpPr>
                    <p:cNvPr id="51228" name="组合 18"/>
                    <p:cNvGrpSpPr>
                      <a:grpSpLocks/>
                    </p:cNvGrpSpPr>
                    <p:nvPr/>
                  </p:nvGrpSpPr>
                  <p:grpSpPr bwMode="auto">
                    <a:xfrm>
                      <a:off x="284958" y="794"/>
                      <a:ext cx="1429554" cy="1429554"/>
                      <a:chOff x="0" y="0"/>
                      <a:chExt cx="1429554" cy="1429554"/>
                    </a:xfrm>
                  </p:grpSpPr>
                  <p:cxnSp>
                    <p:nvCxnSpPr>
                      <p:cNvPr id="51235" name="直接箭头连接符 154"/>
                      <p:cNvCxnSpPr>
                        <a:cxnSpLocks noChangeShapeType="1"/>
                      </p:cNvCxnSpPr>
                      <p:nvPr/>
                    </p:nvCxnSpPr>
                    <p:spPr bwMode="auto">
                      <a:xfrm>
                        <a:off x="-481" y="1426808"/>
                        <a:ext cx="1430647" cy="1900"/>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1236" name="直接箭头连接符 155"/>
                      <p:cNvCxnSpPr>
                        <a:cxnSpLocks noChangeShapeType="1"/>
                      </p:cNvCxnSpPr>
                      <p:nvPr/>
                    </p:nvCxnSpPr>
                    <p:spPr bwMode="auto">
                      <a:xfrm rot="5400000" flipH="1" flipV="1">
                        <a:off x="-714278" y="713003"/>
                        <a:ext cx="1429503" cy="190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1237" name="直接连接符 156"/>
                      <p:cNvCxnSpPr>
                        <a:cxnSpLocks noChangeShapeType="1"/>
                      </p:cNvCxnSpPr>
                      <p:nvPr/>
                    </p:nvCxnSpPr>
                    <p:spPr bwMode="auto">
                      <a:xfrm>
                        <a:off x="285649" y="354681"/>
                        <a:ext cx="1144518" cy="786987"/>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51238" name="直接连接符 157"/>
                      <p:cNvCxnSpPr>
                        <a:cxnSpLocks noChangeShapeType="1"/>
                      </p:cNvCxnSpPr>
                      <p:nvPr/>
                    </p:nvCxnSpPr>
                    <p:spPr bwMode="auto">
                      <a:xfrm>
                        <a:off x="-481" y="499152"/>
                        <a:ext cx="501680" cy="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1239" name="直接连接符 158"/>
                      <p:cNvCxnSpPr>
                        <a:cxnSpLocks noChangeShapeType="1"/>
                      </p:cNvCxnSpPr>
                      <p:nvPr/>
                    </p:nvCxnSpPr>
                    <p:spPr bwMode="auto">
                      <a:xfrm>
                        <a:off x="-481" y="926862"/>
                        <a:ext cx="1073939" cy="1902"/>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graphicFrame>
                  <p:nvGraphicFramePr>
                    <p:cNvPr id="51229" name="Object 54"/>
                    <p:cNvGraphicFramePr>
                      <a:graphicFrameLocks noChangeAspect="1"/>
                    </p:cNvGraphicFramePr>
                    <p:nvPr/>
                  </p:nvGraphicFramePr>
                  <p:xfrm>
                    <a:off x="71438" y="1428760"/>
                    <a:ext cx="177800" cy="247650"/>
                  </p:xfrm>
                  <a:graphic>
                    <a:graphicData uri="http://schemas.openxmlformats.org/presentationml/2006/ole">
                      <mc:AlternateContent xmlns:mc="http://schemas.openxmlformats.org/markup-compatibility/2006">
                        <mc:Choice xmlns:v="urn:schemas-microsoft-com:vml" Requires="v">
                          <p:oleObj spid="_x0000_s185237" r:id="rId24" imgW="127665" imgH="178731" progId="">
                            <p:embed/>
                          </p:oleObj>
                        </mc:Choice>
                        <mc:Fallback>
                          <p:oleObj r:id="rId24" imgW="127665" imgH="178731" progId="">
                            <p:embed/>
                            <p:pic>
                              <p:nvPicPr>
                                <p:cNvPr id="0" name="Object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8" y="1428760"/>
                                  <a:ext cx="1778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30" name="Object 55"/>
                    <p:cNvGraphicFramePr>
                      <a:graphicFrameLocks noChangeAspect="1"/>
                    </p:cNvGraphicFramePr>
                    <p:nvPr/>
                  </p:nvGraphicFramePr>
                  <p:xfrm>
                    <a:off x="1143008" y="1500198"/>
                    <a:ext cx="355600" cy="247650"/>
                  </p:xfrm>
                  <a:graphic>
                    <a:graphicData uri="http://schemas.openxmlformats.org/presentationml/2006/ole">
                      <mc:AlternateContent xmlns:mc="http://schemas.openxmlformats.org/markup-compatibility/2006">
                        <mc:Choice xmlns:v="urn:schemas-microsoft-com:vml" Requires="v">
                          <p:oleObj spid="_x0000_s185238" r:id="rId25" imgW="254885" imgH="178420" progId="">
                            <p:embed/>
                          </p:oleObj>
                        </mc:Choice>
                        <mc:Fallback>
                          <p:oleObj r:id="rId25" imgW="254885" imgH="178420" progId="">
                            <p:embed/>
                            <p:pic>
                              <p:nvPicPr>
                                <p:cNvPr id="0" name="Object 5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43008" y="1500198"/>
                                  <a:ext cx="3556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31" name="Object 56"/>
                    <p:cNvGraphicFramePr>
                      <a:graphicFrameLocks noChangeAspect="1"/>
                    </p:cNvGraphicFramePr>
                    <p:nvPr/>
                  </p:nvGraphicFramePr>
                  <p:xfrm>
                    <a:off x="0" y="785818"/>
                    <a:ext cx="247650" cy="247650"/>
                  </p:xfrm>
                  <a:graphic>
                    <a:graphicData uri="http://schemas.openxmlformats.org/presentationml/2006/ole">
                      <mc:AlternateContent xmlns:mc="http://schemas.openxmlformats.org/markup-compatibility/2006">
                        <mc:Choice xmlns:v="urn:schemas-microsoft-com:vml" Requires="v">
                          <p:oleObj spid="_x0000_s185239" r:id="rId26" imgW="178731" imgH="178731" progId="">
                            <p:embed/>
                          </p:oleObj>
                        </mc:Choice>
                        <mc:Fallback>
                          <p:oleObj r:id="rId26" imgW="178731" imgH="178731" progId="">
                            <p:embed/>
                            <p:pic>
                              <p:nvPicPr>
                                <p:cNvPr id="0" name="Object 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785818"/>
                                  <a:ext cx="24765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32" name="Object 57"/>
                    <p:cNvGraphicFramePr>
                      <a:graphicFrameLocks noChangeAspect="1"/>
                    </p:cNvGraphicFramePr>
                    <p:nvPr/>
                  </p:nvGraphicFramePr>
                  <p:xfrm>
                    <a:off x="0" y="428628"/>
                    <a:ext cx="230187" cy="230187"/>
                  </p:xfrm>
                  <a:graphic>
                    <a:graphicData uri="http://schemas.openxmlformats.org/presentationml/2006/ole">
                      <mc:AlternateContent xmlns:mc="http://schemas.openxmlformats.org/markup-compatibility/2006">
                        <mc:Choice xmlns:v="urn:schemas-microsoft-com:vml" Requires="v">
                          <p:oleObj spid="_x0000_s185240" r:id="rId27" imgW="166037" imgH="166037" progId="">
                            <p:embed/>
                          </p:oleObj>
                        </mc:Choice>
                        <mc:Fallback>
                          <p:oleObj r:id="rId27" imgW="166037" imgH="166037" progId="">
                            <p:embed/>
                            <p:pic>
                              <p:nvPicPr>
                                <p:cNvPr id="0" name="Object 5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428628"/>
                                  <a:ext cx="230187"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33" name="Object 58"/>
                    <p:cNvGraphicFramePr>
                      <a:graphicFrameLocks noChangeAspect="1"/>
                    </p:cNvGraphicFramePr>
                    <p:nvPr/>
                  </p:nvGraphicFramePr>
                  <p:xfrm>
                    <a:off x="1500198" y="1500198"/>
                    <a:ext cx="212725" cy="284162"/>
                  </p:xfrm>
                  <a:graphic>
                    <a:graphicData uri="http://schemas.openxmlformats.org/presentationml/2006/ole">
                      <mc:AlternateContent xmlns:mc="http://schemas.openxmlformats.org/markup-compatibility/2006">
                        <mc:Choice xmlns:v="urn:schemas-microsoft-com:vml" Requires="v">
                          <p:oleObj spid="_x0000_s185241" r:id="rId28" imgW="153332" imgH="204442" progId="">
                            <p:embed/>
                          </p:oleObj>
                        </mc:Choice>
                        <mc:Fallback>
                          <p:oleObj r:id="rId28" imgW="153332" imgH="204442" progId="">
                            <p:embed/>
                            <p:pic>
                              <p:nvPicPr>
                                <p:cNvPr id="0" name="Object 5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00198" y="1500198"/>
                                  <a:ext cx="212725"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34" name="Object 59"/>
                    <p:cNvGraphicFramePr>
                      <a:graphicFrameLocks noChangeAspect="1"/>
                    </p:cNvGraphicFramePr>
                    <p:nvPr/>
                  </p:nvGraphicFramePr>
                  <p:xfrm>
                    <a:off x="0" y="0"/>
                    <a:ext cx="212725" cy="230187"/>
                  </p:xfrm>
                  <a:graphic>
                    <a:graphicData uri="http://schemas.openxmlformats.org/presentationml/2006/ole">
                      <mc:AlternateContent xmlns:mc="http://schemas.openxmlformats.org/markup-compatibility/2006">
                        <mc:Choice xmlns:v="urn:schemas-microsoft-com:vml" Requires="v">
                          <p:oleObj spid="_x0000_s185242" r:id="rId29" imgW="153332" imgH="166109" progId="">
                            <p:embed/>
                          </p:oleObj>
                        </mc:Choice>
                        <mc:Fallback>
                          <p:oleObj r:id="rId29" imgW="153332" imgH="166109" progId="">
                            <p:embed/>
                            <p:pic>
                              <p:nvPicPr>
                                <p:cNvPr id="0" name="Object 5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212725"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51227" name="Object 60"/>
                  <p:cNvGraphicFramePr>
                    <a:graphicFrameLocks noChangeAspect="1"/>
                  </p:cNvGraphicFramePr>
                  <p:nvPr/>
                </p:nvGraphicFramePr>
                <p:xfrm>
                  <a:off x="1500198" y="500066"/>
                  <a:ext cx="230187" cy="230187"/>
                </p:xfrm>
                <a:graphic>
                  <a:graphicData uri="http://schemas.openxmlformats.org/presentationml/2006/ole">
                    <mc:AlternateContent xmlns:mc="http://schemas.openxmlformats.org/markup-compatibility/2006">
                      <mc:Choice xmlns:v="urn:schemas-microsoft-com:vml" Requires="v">
                        <p:oleObj spid="_x0000_s185243" r:id="rId30" imgW="166037" imgH="166037" progId="">
                          <p:embed/>
                        </p:oleObj>
                      </mc:Choice>
                      <mc:Fallback>
                        <p:oleObj r:id="rId30" imgW="166037" imgH="166037" progId="">
                          <p:embed/>
                          <p:pic>
                            <p:nvPicPr>
                              <p:cNvPr id="0" name="Object 6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00198" y="500066"/>
                                <a:ext cx="230187"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1225" name="TextBox 144"/>
                <p:cNvSpPr txBox="1">
                  <a:spLocks noChangeArrowheads="1"/>
                </p:cNvSpPr>
                <p:nvPr/>
              </p:nvSpPr>
              <p:spPr bwMode="auto">
                <a:xfrm>
                  <a:off x="364798" y="1847208"/>
                  <a:ext cx="1428085" cy="368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dirty="0">
                      <a:solidFill>
                        <a:schemeClr val="tx1"/>
                      </a:solidFill>
                      <a:latin typeface="微软雅黑" panose="020B0503020204020204" pitchFamily="34" charset="-122"/>
                      <a:ea typeface="微软雅黑" panose="020B0503020204020204" pitchFamily="34" charset="-122"/>
                    </a:rPr>
                    <a:t>(d) </a:t>
                  </a:r>
                  <a:r>
                    <a:rPr lang="zh-CN" altLang="en-US" sz="1400" b="0" dirty="0">
                      <a:solidFill>
                        <a:schemeClr val="tx1"/>
                      </a:solidFill>
                      <a:latin typeface="微软雅黑" panose="020B0503020204020204" pitchFamily="34" charset="-122"/>
                      <a:ea typeface="微软雅黑" panose="020B0503020204020204" pitchFamily="34" charset="-122"/>
                    </a:rPr>
                    <a:t>富有弹性</a:t>
                  </a:r>
                </a:p>
              </p:txBody>
            </p:sp>
          </p:grpSp>
          <p:cxnSp>
            <p:nvCxnSpPr>
              <p:cNvPr id="51222" name="直接连接符 210"/>
              <p:cNvCxnSpPr>
                <a:cxnSpLocks noChangeShapeType="1"/>
              </p:cNvCxnSpPr>
              <p:nvPr/>
            </p:nvCxnSpPr>
            <p:spPr bwMode="auto">
              <a:xfrm rot="5400000">
                <a:off x="249846" y="963771"/>
                <a:ext cx="929556" cy="190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51223" name="Object 63"/>
              <p:cNvGraphicFramePr>
                <a:graphicFrameLocks noChangeAspect="1"/>
              </p:cNvGraphicFramePr>
              <p:nvPr/>
            </p:nvGraphicFramePr>
            <p:xfrm>
              <a:off x="642942" y="1500198"/>
              <a:ext cx="266700" cy="249238"/>
            </p:xfrm>
            <a:graphic>
              <a:graphicData uri="http://schemas.openxmlformats.org/presentationml/2006/ole">
                <mc:AlternateContent xmlns:mc="http://schemas.openxmlformats.org/markup-compatibility/2006">
                  <mc:Choice xmlns:v="urn:schemas-microsoft-com:vml" Requires="v">
                    <p:oleObj spid="_x0000_s185244" r:id="rId31" imgW="191497" imgH="178731" progId="">
                      <p:embed/>
                    </p:oleObj>
                  </mc:Choice>
                  <mc:Fallback>
                    <p:oleObj r:id="rId31" imgW="191497" imgH="178731" progId="">
                      <p:embed/>
                      <p:pic>
                        <p:nvPicPr>
                          <p:cNvPr id="0" name="Object 63"/>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42942" y="1500198"/>
                            <a:ext cx="266700" cy="24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cxnSp>
        <p:nvCxnSpPr>
          <p:cNvPr id="51217" name="直接箭头连接符 217"/>
          <p:cNvCxnSpPr>
            <a:cxnSpLocks noChangeShapeType="1"/>
          </p:cNvCxnSpPr>
          <p:nvPr/>
        </p:nvCxnSpPr>
        <p:spPr bwMode="auto">
          <a:xfrm rot="5400000" flipH="1" flipV="1">
            <a:off x="3289118" y="2771775"/>
            <a:ext cx="417512" cy="1590"/>
          </a:xfrm>
          <a:prstGeom prst="straightConnector1">
            <a:avLst/>
          </a:prstGeom>
          <a:noFill/>
          <a:ln w="9525">
            <a:solidFill>
              <a:srgbClr val="A7C804"/>
            </a:solidFill>
            <a:round/>
            <a:headEnd/>
            <a:tailEnd type="stealth" w="med" len="lg"/>
          </a:ln>
          <a:extLst>
            <a:ext uri="{909E8E84-426E-40DD-AFC4-6F175D3DCCD1}">
              <a14:hiddenFill xmlns:a14="http://schemas.microsoft.com/office/drawing/2010/main">
                <a:noFill/>
              </a14:hiddenFill>
            </a:ext>
          </a:extLst>
        </p:spPr>
      </p:cxnSp>
      <p:cxnSp>
        <p:nvCxnSpPr>
          <p:cNvPr id="51218" name="直接箭头连接符 219"/>
          <p:cNvCxnSpPr>
            <a:cxnSpLocks noChangeShapeType="1"/>
          </p:cNvCxnSpPr>
          <p:nvPr/>
        </p:nvCxnSpPr>
        <p:spPr bwMode="auto">
          <a:xfrm rot="10800000">
            <a:off x="4151822" y="3697287"/>
            <a:ext cx="476754" cy="0"/>
          </a:xfrm>
          <a:prstGeom prst="straightConnector1">
            <a:avLst/>
          </a:prstGeom>
          <a:noFill/>
          <a:ln w="9525">
            <a:solidFill>
              <a:srgbClr val="A7C804"/>
            </a:solidFill>
            <a:round/>
            <a:headEnd/>
            <a:tailEnd type="stealth" w="med" len="lg"/>
          </a:ln>
          <a:extLst>
            <a:ext uri="{909E8E84-426E-40DD-AFC4-6F175D3DCCD1}">
              <a14:hiddenFill xmlns:a14="http://schemas.microsoft.com/office/drawing/2010/main">
                <a:noFill/>
              </a14:hiddenFill>
            </a:ext>
          </a:extLst>
        </p:spPr>
      </p:cxnSp>
      <p:grpSp>
        <p:nvGrpSpPr>
          <p:cNvPr id="46146" name="组合 9"/>
          <p:cNvGrpSpPr>
            <a:grpSpLocks/>
          </p:cNvGrpSpPr>
          <p:nvPr/>
        </p:nvGrpSpPr>
        <p:grpSpPr bwMode="auto">
          <a:xfrm>
            <a:off x="457201" y="4133851"/>
            <a:ext cx="2448644" cy="1408821"/>
            <a:chOff x="0" y="0"/>
            <a:chExt cx="4357686" cy="938364"/>
          </a:xfrm>
          <a:solidFill>
            <a:srgbClr val="F3C97F"/>
          </a:solidFill>
        </p:grpSpPr>
        <p:sp>
          <p:nvSpPr>
            <p:cNvPr id="51214" name="圆角矩形 70"/>
            <p:cNvSpPr>
              <a:spLocks noChangeArrowheads="1"/>
            </p:cNvSpPr>
            <p:nvPr/>
          </p:nvSpPr>
          <p:spPr bwMode="auto">
            <a:xfrm>
              <a:off x="0" y="0"/>
              <a:ext cx="4357686" cy="928701"/>
            </a:xfrm>
            <a:prstGeom prst="roundRect">
              <a:avLst>
                <a:gd name="adj" fmla="val 16667"/>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51215" name="TextBox 3"/>
            <p:cNvSpPr txBox="1">
              <a:spLocks noChangeArrowheads="1"/>
            </p:cNvSpPr>
            <p:nvPr/>
          </p:nvSpPr>
          <p:spPr bwMode="auto">
            <a:xfrm>
              <a:off x="38098" y="71448"/>
              <a:ext cx="4319588" cy="86691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285750" indent="-28575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需求为单位弹性时，价格每变动</a:t>
              </a:r>
              <a:r>
                <a:rPr lang="en-US" altLang="zh-CN" sz="1800" b="0" spc="150" dirty="0">
                  <a:solidFill>
                    <a:srgbClr val="000000"/>
                  </a:solidFill>
                  <a:latin typeface="微软雅黑" panose="020B0503020204020204" pitchFamily="34" charset="-122"/>
                  <a:ea typeface="微软雅黑" panose="020B0503020204020204" pitchFamily="34" charset="-122"/>
                </a:rPr>
                <a:t>1%</a:t>
              </a:r>
              <a:r>
                <a:rPr lang="zh-CN" altLang="en-US" sz="1800" b="0" spc="150" dirty="0">
                  <a:solidFill>
                    <a:srgbClr val="000000"/>
                  </a:solidFill>
                  <a:latin typeface="微软雅黑" panose="020B0503020204020204" pitchFamily="34" charset="-122"/>
                  <a:ea typeface="微软雅黑" panose="020B0503020204020204" pitchFamily="34" charset="-122"/>
                </a:rPr>
                <a:t>，需求量恰好也变动</a:t>
              </a:r>
              <a:r>
                <a:rPr lang="en-US" altLang="zh-CN" sz="1800" b="0" spc="150" dirty="0">
                  <a:solidFill>
                    <a:srgbClr val="000000"/>
                  </a:solidFill>
                  <a:latin typeface="微软雅黑" panose="020B0503020204020204" pitchFamily="34" charset="-122"/>
                  <a:ea typeface="微软雅黑" panose="020B0503020204020204" pitchFamily="34" charset="-122"/>
                </a:rPr>
                <a:t>1%</a:t>
              </a:r>
              <a:r>
                <a:rPr lang="zh-CN" altLang="en-US" sz="1800" b="0" spc="150" dirty="0">
                  <a:solidFill>
                    <a:srgbClr val="000000"/>
                  </a:solidFill>
                  <a:latin typeface="微软雅黑" panose="020B0503020204020204" pitchFamily="34" charset="-122"/>
                  <a:ea typeface="微软雅黑" panose="020B0503020204020204" pitchFamily="34" charset="-122"/>
                </a:rPr>
                <a:t>。</a:t>
              </a:r>
            </a:p>
          </p:txBody>
        </p:sp>
      </p:grpSp>
      <p:grpSp>
        <p:nvGrpSpPr>
          <p:cNvPr id="46149" name="组合 72"/>
          <p:cNvGrpSpPr>
            <a:grpSpLocks/>
          </p:cNvGrpSpPr>
          <p:nvPr/>
        </p:nvGrpSpPr>
        <p:grpSpPr bwMode="auto">
          <a:xfrm>
            <a:off x="5809408" y="4107794"/>
            <a:ext cx="2877391" cy="1431703"/>
            <a:chOff x="0" y="0"/>
            <a:chExt cx="4357686" cy="1178723"/>
          </a:xfrm>
          <a:solidFill>
            <a:srgbClr val="F3C97F"/>
          </a:solidFill>
        </p:grpSpPr>
        <p:sp>
          <p:nvSpPr>
            <p:cNvPr id="51212" name="圆角矩形 73"/>
            <p:cNvSpPr>
              <a:spLocks noChangeArrowheads="1"/>
            </p:cNvSpPr>
            <p:nvPr/>
          </p:nvSpPr>
          <p:spPr bwMode="auto">
            <a:xfrm>
              <a:off x="0" y="0"/>
              <a:ext cx="4357686" cy="1178723"/>
            </a:xfrm>
            <a:prstGeom prst="roundRect">
              <a:avLst>
                <a:gd name="adj" fmla="val 16667"/>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51213" name="TextBox 3"/>
            <p:cNvSpPr txBox="1">
              <a:spLocks noChangeArrowheads="1"/>
            </p:cNvSpPr>
            <p:nvPr/>
          </p:nvSpPr>
          <p:spPr bwMode="auto">
            <a:xfrm>
              <a:off x="38099" y="71448"/>
              <a:ext cx="4319587" cy="75598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285750" indent="-28575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需求具有无限弹性指，价格的轻微变动会导致需求量急剧变动。</a:t>
              </a:r>
            </a:p>
          </p:txBody>
        </p:sp>
      </p:grpSp>
      <p:grpSp>
        <p:nvGrpSpPr>
          <p:cNvPr id="46152" name="组合 9"/>
          <p:cNvGrpSpPr>
            <a:grpSpLocks/>
          </p:cNvGrpSpPr>
          <p:nvPr/>
        </p:nvGrpSpPr>
        <p:grpSpPr bwMode="auto">
          <a:xfrm>
            <a:off x="3054584" y="4110035"/>
            <a:ext cx="2632796" cy="2169944"/>
            <a:chOff x="0" y="0"/>
            <a:chExt cx="4357686" cy="1118471"/>
          </a:xfrm>
          <a:solidFill>
            <a:srgbClr val="F3C97F"/>
          </a:solidFill>
        </p:grpSpPr>
        <p:sp>
          <p:nvSpPr>
            <p:cNvPr id="51210" name="圆角矩形 76"/>
            <p:cNvSpPr>
              <a:spLocks noChangeArrowheads="1"/>
            </p:cNvSpPr>
            <p:nvPr/>
          </p:nvSpPr>
          <p:spPr bwMode="auto">
            <a:xfrm>
              <a:off x="0" y="0"/>
              <a:ext cx="4357686" cy="1010271"/>
            </a:xfrm>
            <a:prstGeom prst="roundRect">
              <a:avLst>
                <a:gd name="adj" fmla="val 16667"/>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51211" name="TextBox 3"/>
            <p:cNvSpPr txBox="1">
              <a:spLocks noChangeArrowheads="1"/>
            </p:cNvSpPr>
            <p:nvPr/>
          </p:nvSpPr>
          <p:spPr bwMode="auto">
            <a:xfrm>
              <a:off x="38098" y="71449"/>
              <a:ext cx="4319588" cy="104702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需求富有弹性时，商品价格变动</a:t>
              </a:r>
              <a:r>
                <a:rPr lang="en-US" altLang="zh-CN" sz="1800" b="0" spc="150" dirty="0">
                  <a:solidFill>
                    <a:srgbClr val="000000"/>
                  </a:solidFill>
                  <a:latin typeface="微软雅黑" panose="020B0503020204020204" pitchFamily="34" charset="-122"/>
                  <a:ea typeface="微软雅黑" panose="020B0503020204020204" pitchFamily="34" charset="-122"/>
                </a:rPr>
                <a:t>1%</a:t>
              </a:r>
              <a:r>
                <a:rPr lang="zh-CN" altLang="en-US" sz="1800" b="0" spc="150" dirty="0">
                  <a:solidFill>
                    <a:srgbClr val="000000"/>
                  </a:solidFill>
                  <a:latin typeface="微软雅黑" panose="020B0503020204020204" pitchFamily="34" charset="-122"/>
                  <a:ea typeface="微软雅黑" panose="020B0503020204020204" pitchFamily="34" charset="-122"/>
                </a:rPr>
                <a:t>，需求量变动大于</a:t>
              </a:r>
              <a:r>
                <a:rPr lang="en-US" altLang="zh-CN" sz="1800" b="0" spc="150" dirty="0">
                  <a:solidFill>
                    <a:srgbClr val="000000"/>
                  </a:solidFill>
                  <a:latin typeface="微软雅黑" panose="020B0503020204020204" pitchFamily="34" charset="-122"/>
                  <a:ea typeface="微软雅黑" panose="020B0503020204020204" pitchFamily="34" charset="-122"/>
                </a:rPr>
                <a:t>1%</a:t>
              </a:r>
              <a:r>
                <a:rPr lang="zh-CN" altLang="en-US" sz="1800" b="0" spc="150" dirty="0">
                  <a:solidFill>
                    <a:srgbClr val="000000"/>
                  </a:solidFill>
                  <a:latin typeface="微软雅黑" panose="020B0503020204020204" pitchFamily="34" charset="-122"/>
                  <a:ea typeface="微软雅黑" panose="020B0503020204020204" pitchFamily="34" charset="-122"/>
                </a:rPr>
                <a:t>，即相对于价格变动需求量变动更加敏感。</a:t>
              </a:r>
            </a:p>
            <a:p>
              <a:pPr eaLnBrk="1" hangingPunct="1">
                <a:spcBef>
                  <a:spcPct val="0"/>
                </a:spcBef>
                <a:buFontTx/>
                <a:buBlip>
                  <a:blip r:embed="rId33"/>
                </a:buBlip>
              </a:pPr>
              <a:endParaRPr lang="zh-CN" altLang="en-US" sz="1800" b="0" dirty="0">
                <a:solidFill>
                  <a:schemeClr val="bg1"/>
                </a:solidFill>
              </a:endParaRPr>
            </a:p>
          </p:txBody>
        </p:sp>
      </p:grpSp>
      <p:sp>
        <p:nvSpPr>
          <p:cNvPr id="78" name="矩形 77">
            <a:extLst>
              <a:ext uri="{FF2B5EF4-FFF2-40B4-BE49-F238E27FC236}">
                <a16:creationId xmlns:a16="http://schemas.microsoft.com/office/drawing/2014/main" id="{4C8E3CD2-6E4B-4426-B1EB-1E3C6AB5648B}"/>
              </a:ext>
            </a:extLst>
          </p:cNvPr>
          <p:cNvSpPr/>
          <p:nvPr/>
        </p:nvSpPr>
        <p:spPr>
          <a:xfrm>
            <a:off x="467544" y="548680"/>
            <a:ext cx="323838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二、需求的价格弹性 </a:t>
            </a:r>
          </a:p>
        </p:txBody>
      </p:sp>
      <p:sp>
        <p:nvSpPr>
          <p:cNvPr id="79" name="矩形 78">
            <a:extLst>
              <a:ext uri="{FF2B5EF4-FFF2-40B4-BE49-F238E27FC236}">
                <a16:creationId xmlns:a16="http://schemas.microsoft.com/office/drawing/2014/main" id="{5887338E-B516-4405-8191-A0DF8B27D192}"/>
              </a:ext>
            </a:extLst>
          </p:cNvPr>
          <p:cNvSpPr/>
          <p:nvPr/>
        </p:nvSpPr>
        <p:spPr>
          <a:xfrm>
            <a:off x="7261793"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弹性 </a:t>
            </a:r>
          </a:p>
        </p:txBody>
      </p:sp>
      <p:sp>
        <p:nvSpPr>
          <p:cNvPr id="80" name="Rectangle 3">
            <a:extLst>
              <a:ext uri="{FF2B5EF4-FFF2-40B4-BE49-F238E27FC236}">
                <a16:creationId xmlns:a16="http://schemas.microsoft.com/office/drawing/2014/main" id="{E1AE6FB9-31FD-4520-A8A8-20B6DD4F991A}"/>
              </a:ext>
            </a:extLst>
          </p:cNvPr>
          <p:cNvSpPr txBox="1">
            <a:spLocks noChangeArrowheads="1"/>
          </p:cNvSpPr>
          <p:nvPr/>
        </p:nvSpPr>
        <p:spPr bwMode="auto">
          <a:xfrm>
            <a:off x="331788" y="1420089"/>
            <a:ext cx="3339278" cy="486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2" indent="-342900" eaLnBrk="1" hangingPunct="1">
              <a:lnSpc>
                <a:spcPct val="150000"/>
              </a:lnSpc>
              <a:spcBef>
                <a:spcPct val="0"/>
              </a:spcBef>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需求的价格弹性的类型</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80">
                                            <p:txEl>
                                              <p:pRg st="0" end="0"/>
                                            </p:txEl>
                                          </p:spTgt>
                                        </p:tgtEl>
                                        <p:attrNameLst>
                                          <p:attrName>style.visibility</p:attrName>
                                        </p:attrNameLst>
                                      </p:cBhvr>
                                      <p:to>
                                        <p:strVal val="visible"/>
                                      </p:to>
                                    </p:set>
                                    <p:animEffect transition="in" filter="strips(downRight)">
                                      <p:cBhvr>
                                        <p:cTn id="7" dur="500"/>
                                        <p:tgtEl>
                                          <p:spTgt spid="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2" fill="hold" nodeType="clickEffect">
                                  <p:stCondLst>
                                    <p:cond delay="0"/>
                                  </p:stCondLst>
                                  <p:childTnLst>
                                    <p:set>
                                      <p:cBhvr>
                                        <p:cTn id="18" dur="1" fill="hold">
                                          <p:stCondLst>
                                            <p:cond delay="0"/>
                                          </p:stCondLst>
                                        </p:cTn>
                                        <p:tgtEl>
                                          <p:spTgt spid="51248"/>
                                        </p:tgtEl>
                                        <p:attrNameLst>
                                          <p:attrName>style.visibility</p:attrName>
                                        </p:attrNameLst>
                                      </p:cBhvr>
                                      <p:to>
                                        <p:strVal val="visible"/>
                                      </p:to>
                                    </p:set>
                                    <p:animEffect transition="in" filter="wipe(right)">
                                      <p:cBhvr>
                                        <p:cTn id="19" dur="500"/>
                                        <p:tgtEl>
                                          <p:spTgt spid="5124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51247"/>
                                        </p:tgtEl>
                                        <p:attrNameLst>
                                          <p:attrName>style.visibility</p:attrName>
                                        </p:attrNameLst>
                                      </p:cBhvr>
                                      <p:to>
                                        <p:strVal val="visible"/>
                                      </p:to>
                                    </p:set>
                                    <p:animEffect transition="in" filter="wipe(down)">
                                      <p:cBhvr>
                                        <p:cTn id="24" dur="500"/>
                                        <p:tgtEl>
                                          <p:spTgt spid="51247"/>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6146"/>
                                        </p:tgtEl>
                                        <p:attrNameLst>
                                          <p:attrName>style.visibility</p:attrName>
                                        </p:attrNameLst>
                                      </p:cBhvr>
                                      <p:to>
                                        <p:strVal val="visible"/>
                                      </p:to>
                                    </p:set>
                                    <p:animEffect transition="in" filter="randombar(horizontal)">
                                      <p:cBhvr>
                                        <p:cTn id="29" dur="500"/>
                                        <p:tgtEl>
                                          <p:spTgt spid="46146"/>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51216"/>
                                        </p:tgtEl>
                                        <p:attrNameLst>
                                          <p:attrName>style.visibility</p:attrName>
                                        </p:attrNameLst>
                                      </p:cBhvr>
                                      <p:to>
                                        <p:strVal val="visible"/>
                                      </p:to>
                                    </p:set>
                                    <p:animEffect transition="in" filter="fade">
                                      <p:cBhvr>
                                        <p:cTn id="34" dur="1000"/>
                                        <p:tgtEl>
                                          <p:spTgt spid="51216"/>
                                        </p:tgtEl>
                                      </p:cBhvr>
                                    </p:animEffect>
                                    <p:anim calcmode="lin" valueType="num">
                                      <p:cBhvr>
                                        <p:cTn id="35" dur="1000" fill="hold"/>
                                        <p:tgtEl>
                                          <p:spTgt spid="51216"/>
                                        </p:tgtEl>
                                        <p:attrNameLst>
                                          <p:attrName>ppt_x</p:attrName>
                                        </p:attrNameLst>
                                      </p:cBhvr>
                                      <p:tavLst>
                                        <p:tav tm="0">
                                          <p:val>
                                            <p:strVal val="#ppt_x"/>
                                          </p:val>
                                        </p:tav>
                                        <p:tav tm="100000">
                                          <p:val>
                                            <p:strVal val="#ppt_x"/>
                                          </p:val>
                                        </p:tav>
                                      </p:tavLst>
                                    </p:anim>
                                    <p:anim calcmode="lin" valueType="num">
                                      <p:cBhvr>
                                        <p:cTn id="36" dur="1000" fill="hold"/>
                                        <p:tgtEl>
                                          <p:spTgt spid="51216"/>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2" fill="hold" nodeType="clickEffect">
                                  <p:stCondLst>
                                    <p:cond delay="0"/>
                                  </p:stCondLst>
                                  <p:childTnLst>
                                    <p:set>
                                      <p:cBhvr>
                                        <p:cTn id="40" dur="1" fill="hold">
                                          <p:stCondLst>
                                            <p:cond delay="0"/>
                                          </p:stCondLst>
                                        </p:cTn>
                                        <p:tgtEl>
                                          <p:spTgt spid="51218"/>
                                        </p:tgtEl>
                                        <p:attrNameLst>
                                          <p:attrName>style.visibility</p:attrName>
                                        </p:attrNameLst>
                                      </p:cBhvr>
                                      <p:to>
                                        <p:strVal val="visible"/>
                                      </p:to>
                                    </p:set>
                                    <p:animEffect transition="in" filter="wipe(right)">
                                      <p:cBhvr>
                                        <p:cTn id="41" dur="500"/>
                                        <p:tgtEl>
                                          <p:spTgt spid="5121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51217"/>
                                        </p:tgtEl>
                                        <p:attrNameLst>
                                          <p:attrName>style.visibility</p:attrName>
                                        </p:attrNameLst>
                                      </p:cBhvr>
                                      <p:to>
                                        <p:strVal val="visible"/>
                                      </p:to>
                                    </p:set>
                                    <p:animEffect transition="in" filter="wipe(down)">
                                      <p:cBhvr>
                                        <p:cTn id="46" dur="500"/>
                                        <p:tgtEl>
                                          <p:spTgt spid="51217"/>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46152"/>
                                        </p:tgtEl>
                                        <p:attrNameLst>
                                          <p:attrName>style.visibility</p:attrName>
                                        </p:attrNameLst>
                                      </p:cBhvr>
                                      <p:to>
                                        <p:strVal val="visible"/>
                                      </p:to>
                                    </p:set>
                                    <p:animEffect transition="in" filter="randombar(horizontal)">
                                      <p:cBhvr>
                                        <p:cTn id="51" dur="500"/>
                                        <p:tgtEl>
                                          <p:spTgt spid="46152"/>
                                        </p:tgtEl>
                                      </p:cBhvr>
                                    </p:animEffect>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46083"/>
                                        </p:tgtEl>
                                        <p:attrNameLst>
                                          <p:attrName>style.visibility</p:attrName>
                                        </p:attrNameLst>
                                      </p:cBhvr>
                                      <p:to>
                                        <p:strVal val="visible"/>
                                      </p:to>
                                    </p:set>
                                    <p:animEffect transition="in" filter="fade">
                                      <p:cBhvr>
                                        <p:cTn id="56" dur="1000"/>
                                        <p:tgtEl>
                                          <p:spTgt spid="46083"/>
                                        </p:tgtEl>
                                      </p:cBhvr>
                                    </p:animEffect>
                                    <p:anim calcmode="lin" valueType="num">
                                      <p:cBhvr>
                                        <p:cTn id="57" dur="1000" fill="hold"/>
                                        <p:tgtEl>
                                          <p:spTgt spid="46083"/>
                                        </p:tgtEl>
                                        <p:attrNameLst>
                                          <p:attrName>ppt_x</p:attrName>
                                        </p:attrNameLst>
                                      </p:cBhvr>
                                      <p:tavLst>
                                        <p:tav tm="0">
                                          <p:val>
                                            <p:strVal val="#ppt_x"/>
                                          </p:val>
                                        </p:tav>
                                        <p:tav tm="100000">
                                          <p:val>
                                            <p:strVal val="#ppt_x"/>
                                          </p:val>
                                        </p:tav>
                                      </p:tavLst>
                                    </p:anim>
                                    <p:anim calcmode="lin" valueType="num">
                                      <p:cBhvr>
                                        <p:cTn id="58" dur="1000" fill="hold"/>
                                        <p:tgtEl>
                                          <p:spTgt spid="46083"/>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nodeType="clickEffect">
                                  <p:stCondLst>
                                    <p:cond delay="0"/>
                                  </p:stCondLst>
                                  <p:childTnLst>
                                    <p:set>
                                      <p:cBhvr>
                                        <p:cTn id="62" dur="1" fill="hold">
                                          <p:stCondLst>
                                            <p:cond delay="0"/>
                                          </p:stCondLst>
                                        </p:cTn>
                                        <p:tgtEl>
                                          <p:spTgt spid="46149"/>
                                        </p:tgtEl>
                                        <p:attrNameLst>
                                          <p:attrName>style.visibility</p:attrName>
                                        </p:attrNameLst>
                                      </p:cBhvr>
                                      <p:to>
                                        <p:strVal val="visible"/>
                                      </p:to>
                                    </p:set>
                                    <p:animEffect transition="in" filter="randombar(horizontal)">
                                      <p:cBhvr>
                                        <p:cTn id="63" dur="500"/>
                                        <p:tgtEl>
                                          <p:spTgt spid="46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uiExpand="1" build="p"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699317A-9253-4BBE-B88B-D26FCF8E5A02}"/>
              </a:ext>
            </a:extLst>
          </p:cNvPr>
          <p:cNvSpPr/>
          <p:nvPr/>
        </p:nvSpPr>
        <p:spPr>
          <a:xfrm>
            <a:off x="611217" y="1742660"/>
            <a:ext cx="2281394" cy="313932"/>
          </a:xfrm>
          <a:prstGeom prst="rect">
            <a:avLst/>
          </a:prstGeom>
        </p:spPr>
        <p:txBody>
          <a:bodyPr wrap="none">
            <a:spAutoFit/>
          </a:bodyPr>
          <a:lstStyle/>
          <a:p>
            <a:pPr marL="342900" indent="-342900">
              <a:lnSpc>
                <a:spcPct val="80000"/>
              </a:lnSpc>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商品的重要程度</a:t>
            </a:r>
          </a:p>
        </p:txBody>
      </p:sp>
      <p:sp>
        <p:nvSpPr>
          <p:cNvPr id="5" name="标注: 线形(带边框和强调线) 4">
            <a:extLst>
              <a:ext uri="{FF2B5EF4-FFF2-40B4-BE49-F238E27FC236}">
                <a16:creationId xmlns:a16="http://schemas.microsoft.com/office/drawing/2014/main" id="{AAB944D5-A5BA-4F05-AE5A-6D9811B678F2}"/>
              </a:ext>
            </a:extLst>
          </p:cNvPr>
          <p:cNvSpPr/>
          <p:nvPr/>
        </p:nvSpPr>
        <p:spPr>
          <a:xfrm>
            <a:off x="4572000" y="1340768"/>
            <a:ext cx="3900195" cy="1247033"/>
          </a:xfrm>
          <a:prstGeom prst="accentBorderCallout1">
            <a:avLst>
              <a:gd name="adj1" fmla="val 18750"/>
              <a:gd name="adj2" fmla="val -8333"/>
              <a:gd name="adj3" fmla="val 45018"/>
              <a:gd name="adj4" fmla="val -43478"/>
            </a:avLst>
          </a:prstGeom>
          <a:solidFill>
            <a:srgbClr val="BB1528"/>
          </a:solidFill>
          <a:ln>
            <a:solidFill>
              <a:srgbClr val="BB15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sz="1400" spc="150" dirty="0">
                <a:solidFill>
                  <a:schemeClr val="bg1"/>
                </a:solidFill>
                <a:latin typeface="微软雅黑" panose="020B0503020204020204" pitchFamily="34" charset="-122"/>
                <a:ea typeface="微软雅黑" panose="020B0503020204020204" pitchFamily="34" charset="-122"/>
              </a:rPr>
              <a:t>一种商品越重要，价格提高之后，消费者越不愿意调整对该商品的需求量，因而其需求的价格弹性系数就越小；相反，商品越无关紧要，需求价格弹性系数就越大。</a:t>
            </a:r>
          </a:p>
        </p:txBody>
      </p:sp>
      <p:sp>
        <p:nvSpPr>
          <p:cNvPr id="42" name="矩形 41">
            <a:extLst>
              <a:ext uri="{FF2B5EF4-FFF2-40B4-BE49-F238E27FC236}">
                <a16:creationId xmlns:a16="http://schemas.microsoft.com/office/drawing/2014/main" id="{56BEB393-18C9-48B3-892F-6C4E74325086}"/>
              </a:ext>
            </a:extLst>
          </p:cNvPr>
          <p:cNvSpPr/>
          <p:nvPr/>
        </p:nvSpPr>
        <p:spPr>
          <a:xfrm>
            <a:off x="611217" y="2693765"/>
            <a:ext cx="2531462" cy="313932"/>
          </a:xfrm>
          <a:prstGeom prst="rect">
            <a:avLst/>
          </a:prstGeom>
        </p:spPr>
        <p:txBody>
          <a:bodyPr wrap="none">
            <a:spAutoFit/>
          </a:bodyPr>
          <a:lstStyle/>
          <a:p>
            <a:pPr marL="342900" indent="-342900">
              <a:lnSpc>
                <a:spcPct val="80000"/>
              </a:lnSpc>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商品可替代的程度</a:t>
            </a:r>
          </a:p>
        </p:txBody>
      </p:sp>
      <p:sp>
        <p:nvSpPr>
          <p:cNvPr id="43" name="标注: 线形(带边框和强调线) 42">
            <a:extLst>
              <a:ext uri="{FF2B5EF4-FFF2-40B4-BE49-F238E27FC236}">
                <a16:creationId xmlns:a16="http://schemas.microsoft.com/office/drawing/2014/main" id="{CA4FBBCD-F4CF-417A-AFFB-EFC51E34B0F8}"/>
              </a:ext>
            </a:extLst>
          </p:cNvPr>
          <p:cNvSpPr/>
          <p:nvPr/>
        </p:nvSpPr>
        <p:spPr>
          <a:xfrm>
            <a:off x="4571999" y="2713026"/>
            <a:ext cx="3900195" cy="978932"/>
          </a:xfrm>
          <a:prstGeom prst="accentBorderCallout1">
            <a:avLst>
              <a:gd name="adj1" fmla="val 18750"/>
              <a:gd name="adj2" fmla="val -8333"/>
              <a:gd name="adj3" fmla="val 11871"/>
              <a:gd name="adj4" fmla="val -38335"/>
            </a:avLst>
          </a:prstGeom>
          <a:solidFill>
            <a:srgbClr val="BB1528"/>
          </a:solidFill>
          <a:ln>
            <a:solidFill>
              <a:srgbClr val="BB15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sz="1400" spc="150" dirty="0">
                <a:solidFill>
                  <a:schemeClr val="bg1"/>
                </a:solidFill>
                <a:latin typeface="微软雅黑" panose="020B0503020204020204" pitchFamily="34" charset="-122"/>
                <a:ea typeface="微软雅黑" panose="020B0503020204020204" pitchFamily="34" charset="-122"/>
              </a:rPr>
              <a:t>一般来说，一种商品的替代品越多，相近程度越高，越容易被替代，该商品的需求弹性系数就越大。</a:t>
            </a:r>
          </a:p>
        </p:txBody>
      </p:sp>
      <p:sp>
        <p:nvSpPr>
          <p:cNvPr id="6" name="矩形 5">
            <a:extLst>
              <a:ext uri="{FF2B5EF4-FFF2-40B4-BE49-F238E27FC236}">
                <a16:creationId xmlns:a16="http://schemas.microsoft.com/office/drawing/2014/main" id="{63306558-2496-43D6-8CAF-5B19BC766222}"/>
              </a:ext>
            </a:extLst>
          </p:cNvPr>
          <p:cNvSpPr/>
          <p:nvPr/>
        </p:nvSpPr>
        <p:spPr>
          <a:xfrm>
            <a:off x="611217" y="3896978"/>
            <a:ext cx="2736647" cy="535531"/>
          </a:xfrm>
          <a:prstGeom prst="rect">
            <a:avLst/>
          </a:prstGeom>
        </p:spPr>
        <p:txBody>
          <a:bodyPr wrap="square">
            <a:spAutoFit/>
          </a:bodyPr>
          <a:lstStyle/>
          <a:p>
            <a:pPr marL="342900" indent="-342900">
              <a:lnSpc>
                <a:spcPct val="80000"/>
              </a:lnSpc>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商品的消费支出占总支出的比重</a:t>
            </a:r>
          </a:p>
        </p:txBody>
      </p:sp>
      <p:sp>
        <p:nvSpPr>
          <p:cNvPr id="46" name="标注: 线形(带边框和强调线) 45">
            <a:extLst>
              <a:ext uri="{FF2B5EF4-FFF2-40B4-BE49-F238E27FC236}">
                <a16:creationId xmlns:a16="http://schemas.microsoft.com/office/drawing/2014/main" id="{D62DE9BD-DD7A-4A79-BFE1-294A6B834E45}"/>
              </a:ext>
            </a:extLst>
          </p:cNvPr>
          <p:cNvSpPr/>
          <p:nvPr/>
        </p:nvSpPr>
        <p:spPr>
          <a:xfrm>
            <a:off x="4571998" y="3814454"/>
            <a:ext cx="3900195" cy="1118569"/>
          </a:xfrm>
          <a:prstGeom prst="accentBorderCallout1">
            <a:avLst>
              <a:gd name="adj1" fmla="val 18750"/>
              <a:gd name="adj2" fmla="val -8333"/>
              <a:gd name="adj3" fmla="val 22090"/>
              <a:gd name="adj4" fmla="val -37836"/>
            </a:avLst>
          </a:prstGeom>
          <a:solidFill>
            <a:srgbClr val="BB1528"/>
          </a:solidFill>
          <a:ln>
            <a:solidFill>
              <a:srgbClr val="BB15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sz="1400" spc="150" dirty="0">
                <a:solidFill>
                  <a:schemeClr val="bg1"/>
                </a:solidFill>
                <a:latin typeface="微软雅黑" panose="020B0503020204020204" pitchFamily="34" charset="-122"/>
                <a:ea typeface="微软雅黑" panose="020B0503020204020204" pitchFamily="34" charset="-122"/>
              </a:rPr>
              <a:t>一般而言，一种商品在消费支出中所占比重越小，该商品的需求价格弹性就越小；相反，商品在消费支出中所占的比重越大，该商品的需求价格弹性就越大。</a:t>
            </a:r>
          </a:p>
        </p:txBody>
      </p:sp>
      <p:sp>
        <p:nvSpPr>
          <p:cNvPr id="7" name="矩形 6">
            <a:extLst>
              <a:ext uri="{FF2B5EF4-FFF2-40B4-BE49-F238E27FC236}">
                <a16:creationId xmlns:a16="http://schemas.microsoft.com/office/drawing/2014/main" id="{9C24C86B-2EBA-45F8-9AD4-C1243D749AFA}"/>
              </a:ext>
            </a:extLst>
          </p:cNvPr>
          <p:cNvSpPr/>
          <p:nvPr/>
        </p:nvSpPr>
        <p:spPr>
          <a:xfrm>
            <a:off x="611217" y="5088701"/>
            <a:ext cx="2281394" cy="313932"/>
          </a:xfrm>
          <a:prstGeom prst="rect">
            <a:avLst/>
          </a:prstGeom>
        </p:spPr>
        <p:txBody>
          <a:bodyPr wrap="none">
            <a:spAutoFit/>
          </a:bodyPr>
          <a:lstStyle/>
          <a:p>
            <a:pPr marL="342900" indent="-342900">
              <a:lnSpc>
                <a:spcPct val="80000"/>
              </a:lnSpc>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调整时间的长短</a:t>
            </a:r>
          </a:p>
        </p:txBody>
      </p:sp>
      <p:sp>
        <p:nvSpPr>
          <p:cNvPr id="82" name="标注: 线形(带边框和强调线) 81">
            <a:extLst>
              <a:ext uri="{FF2B5EF4-FFF2-40B4-BE49-F238E27FC236}">
                <a16:creationId xmlns:a16="http://schemas.microsoft.com/office/drawing/2014/main" id="{59222FB5-4E4D-4297-8882-A74BE279CEFD}"/>
              </a:ext>
            </a:extLst>
          </p:cNvPr>
          <p:cNvSpPr/>
          <p:nvPr/>
        </p:nvSpPr>
        <p:spPr>
          <a:xfrm>
            <a:off x="4571997" y="5088701"/>
            <a:ext cx="3900196" cy="671371"/>
          </a:xfrm>
          <a:prstGeom prst="accentBorderCallout1">
            <a:avLst>
              <a:gd name="adj1" fmla="val 18750"/>
              <a:gd name="adj2" fmla="val -8333"/>
              <a:gd name="adj3" fmla="val 19107"/>
              <a:gd name="adj4" fmla="val -44125"/>
            </a:avLst>
          </a:prstGeom>
          <a:solidFill>
            <a:srgbClr val="BB1528"/>
          </a:solidFill>
          <a:ln>
            <a:solidFill>
              <a:srgbClr val="BB15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sz="1400" spc="150" dirty="0">
                <a:solidFill>
                  <a:schemeClr val="bg1"/>
                </a:solidFill>
                <a:latin typeface="微软雅黑" panose="020B0503020204020204" pitchFamily="34" charset="-122"/>
                <a:ea typeface="微软雅黑" panose="020B0503020204020204" pitchFamily="34" charset="-122"/>
              </a:rPr>
              <a:t>消费者调整时间越短，需求价格弹性就越小；相反，调整时间越长，需求价格弹性就越大。</a:t>
            </a:r>
          </a:p>
        </p:txBody>
      </p:sp>
      <p:sp>
        <p:nvSpPr>
          <p:cNvPr id="16" name="矩形 15">
            <a:extLst>
              <a:ext uri="{FF2B5EF4-FFF2-40B4-BE49-F238E27FC236}">
                <a16:creationId xmlns:a16="http://schemas.microsoft.com/office/drawing/2014/main" id="{A00478BB-D130-4000-BE7D-7B9C4A10A586}"/>
              </a:ext>
            </a:extLst>
          </p:cNvPr>
          <p:cNvSpPr/>
          <p:nvPr/>
        </p:nvSpPr>
        <p:spPr>
          <a:xfrm>
            <a:off x="467544" y="548680"/>
            <a:ext cx="323838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二、需求的价格弹性 </a:t>
            </a:r>
          </a:p>
        </p:txBody>
      </p:sp>
      <p:sp>
        <p:nvSpPr>
          <p:cNvPr id="17" name="矩形 16">
            <a:extLst>
              <a:ext uri="{FF2B5EF4-FFF2-40B4-BE49-F238E27FC236}">
                <a16:creationId xmlns:a16="http://schemas.microsoft.com/office/drawing/2014/main" id="{1F6D5F31-2D7C-4AB2-A58B-3F930B740E26}"/>
              </a:ext>
            </a:extLst>
          </p:cNvPr>
          <p:cNvSpPr/>
          <p:nvPr/>
        </p:nvSpPr>
        <p:spPr>
          <a:xfrm>
            <a:off x="7261793"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弹性 </a:t>
            </a:r>
          </a:p>
        </p:txBody>
      </p:sp>
      <p:sp>
        <p:nvSpPr>
          <p:cNvPr id="12" name="Rectangle 3">
            <a:extLst>
              <a:ext uri="{FF2B5EF4-FFF2-40B4-BE49-F238E27FC236}">
                <a16:creationId xmlns:a16="http://schemas.microsoft.com/office/drawing/2014/main" id="{E1AE6FB9-31FD-4520-A8A8-20B6DD4F991A}"/>
              </a:ext>
            </a:extLst>
          </p:cNvPr>
          <p:cNvSpPr txBox="1">
            <a:spLocks noChangeArrowheads="1"/>
          </p:cNvSpPr>
          <p:nvPr/>
        </p:nvSpPr>
        <p:spPr bwMode="auto">
          <a:xfrm>
            <a:off x="467544" y="919207"/>
            <a:ext cx="3339278" cy="486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2" indent="-342900" eaLnBrk="1" hangingPunct="1">
              <a:lnSpc>
                <a:spcPct val="150000"/>
              </a:lnSpc>
              <a:spcBef>
                <a:spcPct val="0"/>
              </a:spcBef>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影响弹性大小的因素</a:t>
            </a:r>
          </a:p>
        </p:txBody>
      </p:sp>
    </p:spTree>
    <p:extLst>
      <p:ext uri="{BB962C8B-B14F-4D97-AF65-F5344CB8AC3E}">
        <p14:creationId xmlns:p14="http://schemas.microsoft.com/office/powerpoint/2010/main" val="1905199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wipe(left)">
                                      <p:cBhvr>
                                        <p:cTn id="16" dur="500"/>
                                        <p:tgtEl>
                                          <p:spTgt spid="42"/>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wipe(left)">
                                      <p:cBhvr>
                                        <p:cTn id="20" dur="500"/>
                                        <p:tgtEl>
                                          <p:spTgt spid="4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46"/>
                                        </p:tgtEl>
                                        <p:attrNameLst>
                                          <p:attrName>style.visibility</p:attrName>
                                        </p:attrNameLst>
                                      </p:cBhvr>
                                      <p:to>
                                        <p:strVal val="visible"/>
                                      </p:to>
                                    </p:set>
                                    <p:animEffect transition="in" filter="wipe(left)">
                                      <p:cBhvr>
                                        <p:cTn id="29" dur="500"/>
                                        <p:tgtEl>
                                          <p:spTgt spid="4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500"/>
                                        <p:tgtEl>
                                          <p:spTgt spid="7"/>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82"/>
                                        </p:tgtEl>
                                        <p:attrNameLst>
                                          <p:attrName>style.visibility</p:attrName>
                                        </p:attrNameLst>
                                      </p:cBhvr>
                                      <p:to>
                                        <p:strVal val="visible"/>
                                      </p:to>
                                    </p:set>
                                    <p:animEffect transition="in" filter="wipe(left)">
                                      <p:cBhvr>
                                        <p:cTn id="38" dur="500"/>
                                        <p:tgtEl>
                                          <p:spTgt spid="82"/>
                                        </p:tgtEl>
                                      </p:cBhvr>
                                    </p:animEffect>
                                  </p:childTnLst>
                                </p:cTn>
                              </p:par>
                            </p:childTnLst>
                          </p:cTn>
                        </p:par>
                      </p:childTnLst>
                    </p:cTn>
                  </p:par>
                  <p:par>
                    <p:cTn id="39" fill="hold">
                      <p:stCondLst>
                        <p:cond delay="indefinite"/>
                      </p:stCondLst>
                      <p:childTnLst>
                        <p:par>
                          <p:cTn id="40" fill="hold">
                            <p:stCondLst>
                              <p:cond delay="0"/>
                            </p:stCondLst>
                            <p:childTnLst>
                              <p:par>
                                <p:cTn id="41" presetID="18" presetClass="entr" presetSubtype="6" fill="hold" grpId="0" nodeType="clickEffect">
                                  <p:stCondLst>
                                    <p:cond delay="0"/>
                                  </p:stCondLst>
                                  <p:childTnLst>
                                    <p:set>
                                      <p:cBhvr>
                                        <p:cTn id="42" dur="1" fill="hold">
                                          <p:stCondLst>
                                            <p:cond delay="0"/>
                                          </p:stCondLst>
                                        </p:cTn>
                                        <p:tgtEl>
                                          <p:spTgt spid="12">
                                            <p:txEl>
                                              <p:pRg st="0" end="0"/>
                                            </p:txEl>
                                          </p:spTgt>
                                        </p:tgtEl>
                                        <p:attrNameLst>
                                          <p:attrName>style.visibility</p:attrName>
                                        </p:attrNameLst>
                                      </p:cBhvr>
                                      <p:to>
                                        <p:strVal val="visible"/>
                                      </p:to>
                                    </p:set>
                                    <p:animEffect transition="in" filter="strips(downRight)">
                                      <p:cBhvr>
                                        <p:cTn id="43"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42" grpId="0"/>
      <p:bldP spid="43" grpId="0" animBg="1"/>
      <p:bldP spid="6" grpId="0"/>
      <p:bldP spid="46" grpId="0" animBg="1"/>
      <p:bldP spid="7" grpId="0"/>
      <p:bldP spid="82" grpId="0" animBg="1"/>
      <p:bldP spid="12" grpId="0" uiExpand="1" build="p"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noChangeArrowheads="1"/>
          </p:cNvSpPr>
          <p:nvPr>
            <p:ph type="body" idx="4294967295"/>
          </p:nvPr>
        </p:nvSpPr>
        <p:spPr>
          <a:xfrm>
            <a:off x="676899" y="1742013"/>
            <a:ext cx="8229600" cy="4784725"/>
          </a:xfrm>
        </p:spPr>
        <p:txBody>
          <a:bodyPr/>
          <a:lstStyle/>
          <a:p>
            <a:pPr marL="342900" lvl="2" indent="-342900" eaLnBrk="1" hangingPunct="1">
              <a:lnSpc>
                <a:spcPct val="150000"/>
              </a:lnSpc>
              <a:spcBef>
                <a:spcPct val="0"/>
              </a:spcBef>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弧弹性</a:t>
            </a:r>
            <a:endParaRPr lang="en-US" altLang="zh-CN" sz="2000" spc="150" dirty="0">
              <a:solidFill>
                <a:srgbClr val="000000"/>
              </a:solidFill>
              <a:latin typeface="微软雅黑" panose="020B0503020204020204" pitchFamily="34" charset="-122"/>
              <a:ea typeface="微软雅黑" panose="020B0503020204020204" pitchFamily="34" charset="-122"/>
            </a:endParaRPr>
          </a:p>
          <a:p>
            <a:pPr lvl="2" eaLnBrk="1" hangingPunct="1">
              <a:buFont typeface="Wingdings" panose="05000000000000000000" pitchFamily="2" charset="2"/>
              <a:buChar char="u"/>
            </a:pPr>
            <a:endParaRPr lang="en-US" altLang="zh-CN" sz="2800" dirty="0"/>
          </a:p>
          <a:p>
            <a:pPr lvl="2" eaLnBrk="1" hangingPunct="1">
              <a:buFont typeface="Wingdings" panose="05000000000000000000" pitchFamily="2" charset="2"/>
              <a:buChar char="u"/>
            </a:pPr>
            <a:endParaRPr lang="en-US" altLang="zh-CN" sz="2800" dirty="0"/>
          </a:p>
          <a:p>
            <a:pPr marL="914400" lvl="2" indent="0" eaLnBrk="1" hangingPunct="1">
              <a:buNone/>
            </a:pPr>
            <a:endParaRPr lang="zh-CN" altLang="en-US" sz="2800" dirty="0"/>
          </a:p>
          <a:p>
            <a:pPr marL="342900" lvl="2" indent="-342900" eaLnBrk="1" hangingPunct="1">
              <a:lnSpc>
                <a:spcPct val="150000"/>
              </a:lnSpc>
              <a:spcBef>
                <a:spcPct val="0"/>
              </a:spcBef>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点弹性</a:t>
            </a:r>
            <a:endParaRPr lang="en-US" altLang="zh-CN" sz="2000" spc="150" dirty="0">
              <a:solidFill>
                <a:srgbClr val="000000"/>
              </a:solidFill>
              <a:latin typeface="微软雅黑" panose="020B0503020204020204" pitchFamily="34" charset="-122"/>
              <a:ea typeface="微软雅黑" panose="020B0503020204020204" pitchFamily="34" charset="-122"/>
            </a:endParaRPr>
          </a:p>
          <a:p>
            <a:pPr lvl="2" eaLnBrk="1" hangingPunct="1"/>
            <a:endParaRPr lang="en-US" altLang="zh-CN" sz="2800" dirty="0"/>
          </a:p>
        </p:txBody>
      </p:sp>
      <p:sp>
        <p:nvSpPr>
          <p:cNvPr id="13" name="矩形 12">
            <a:extLst>
              <a:ext uri="{FF2B5EF4-FFF2-40B4-BE49-F238E27FC236}">
                <a16:creationId xmlns:a16="http://schemas.microsoft.com/office/drawing/2014/main" id="{C38F8A8A-2E12-48F8-9433-5E63E405CE8B}"/>
              </a:ext>
            </a:extLst>
          </p:cNvPr>
          <p:cNvSpPr/>
          <p:nvPr/>
        </p:nvSpPr>
        <p:spPr>
          <a:xfrm>
            <a:off x="467544" y="548680"/>
            <a:ext cx="323838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二、需求的价格弹性 </a:t>
            </a:r>
          </a:p>
        </p:txBody>
      </p:sp>
      <p:sp>
        <p:nvSpPr>
          <p:cNvPr id="14" name="矩形 13">
            <a:extLst>
              <a:ext uri="{FF2B5EF4-FFF2-40B4-BE49-F238E27FC236}">
                <a16:creationId xmlns:a16="http://schemas.microsoft.com/office/drawing/2014/main" id="{BED3B7D3-5AC7-428B-B52E-37E6F31E65F7}"/>
              </a:ext>
            </a:extLst>
          </p:cNvPr>
          <p:cNvSpPr/>
          <p:nvPr/>
        </p:nvSpPr>
        <p:spPr>
          <a:xfrm>
            <a:off x="7261793"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弹性 </a:t>
            </a:r>
          </a:p>
        </p:txBody>
      </p:sp>
      <p:grpSp>
        <p:nvGrpSpPr>
          <p:cNvPr id="15" name="组合 9">
            <a:extLst>
              <a:ext uri="{FF2B5EF4-FFF2-40B4-BE49-F238E27FC236}">
                <a16:creationId xmlns:a16="http://schemas.microsoft.com/office/drawing/2014/main" id="{AB8734F7-6D39-4013-A5AC-5C3409A134FB}"/>
              </a:ext>
            </a:extLst>
          </p:cNvPr>
          <p:cNvGrpSpPr>
            <a:grpSpLocks/>
          </p:cNvGrpSpPr>
          <p:nvPr/>
        </p:nvGrpSpPr>
        <p:grpSpPr bwMode="auto">
          <a:xfrm>
            <a:off x="5126153" y="4147223"/>
            <a:ext cx="3626523" cy="1200329"/>
            <a:chOff x="32518" y="0"/>
            <a:chExt cx="4416743" cy="1214454"/>
          </a:xfrm>
        </p:grpSpPr>
        <p:sp>
          <p:nvSpPr>
            <p:cNvPr id="16" name="圆角矩形 22">
              <a:extLst>
                <a:ext uri="{FF2B5EF4-FFF2-40B4-BE49-F238E27FC236}">
                  <a16:creationId xmlns:a16="http://schemas.microsoft.com/office/drawing/2014/main" id="{A93A0137-649A-4E9A-944D-A4C20EDEAD4B}"/>
                </a:ext>
              </a:extLst>
            </p:cNvPr>
            <p:cNvSpPr>
              <a:spLocks noChangeArrowheads="1"/>
            </p:cNvSpPr>
            <p:nvPr/>
          </p:nvSpPr>
          <p:spPr bwMode="auto">
            <a:xfrm>
              <a:off x="32518" y="0"/>
              <a:ext cx="4357356" cy="1214454"/>
            </a:xfrm>
            <a:prstGeom prst="roundRect">
              <a:avLst>
                <a:gd name="adj" fmla="val 16667"/>
              </a:avLst>
            </a:prstGeom>
            <a:noFill/>
            <a:ln w="19050">
              <a:solidFill>
                <a:schemeClr val="accent3">
                  <a:lumMod val="65000"/>
                </a:schemeClr>
              </a:solidFill>
              <a:round/>
              <a:headEnd/>
              <a:tailEnd/>
            </a:ln>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rgbClr val="000000"/>
                </a:solidFill>
              </a:endParaRPr>
            </a:p>
          </p:txBody>
        </p:sp>
        <p:sp>
          <p:nvSpPr>
            <p:cNvPr id="17" name="TextBox 3">
              <a:extLst>
                <a:ext uri="{FF2B5EF4-FFF2-40B4-BE49-F238E27FC236}">
                  <a16:creationId xmlns:a16="http://schemas.microsoft.com/office/drawing/2014/main" id="{D5000994-4115-466B-B091-08DA033C0127}"/>
                </a:ext>
              </a:extLst>
            </p:cNvPr>
            <p:cNvSpPr txBox="1">
              <a:spLocks noChangeArrowheads="1"/>
            </p:cNvSpPr>
            <p:nvPr/>
          </p:nvSpPr>
          <p:spPr bwMode="auto">
            <a:xfrm>
              <a:off x="129674" y="89853"/>
              <a:ext cx="4319587" cy="518882"/>
            </a:xfrm>
            <a:prstGeom prst="rect">
              <a:avLst/>
            </a:prstGeom>
            <a:noFill/>
            <a:ln w="9525">
              <a:noFill/>
              <a:miter lim="800000"/>
              <a:headEnd/>
              <a:tailEnd/>
            </a:ln>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285750" indent="-28575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需求价格的点弹性系数只与需求曲线上该点处的性质相关。</a:t>
              </a:r>
            </a:p>
          </p:txBody>
        </p:sp>
      </p:grpSp>
      <p:grpSp>
        <p:nvGrpSpPr>
          <p:cNvPr id="18" name="组合 9">
            <a:extLst>
              <a:ext uri="{FF2B5EF4-FFF2-40B4-BE49-F238E27FC236}">
                <a16:creationId xmlns:a16="http://schemas.microsoft.com/office/drawing/2014/main" id="{399C7119-2D73-48B4-8F1E-0289725E9228}"/>
              </a:ext>
            </a:extLst>
          </p:cNvPr>
          <p:cNvGrpSpPr>
            <a:grpSpLocks/>
          </p:cNvGrpSpPr>
          <p:nvPr/>
        </p:nvGrpSpPr>
        <p:grpSpPr bwMode="auto">
          <a:xfrm>
            <a:off x="5110648" y="1810114"/>
            <a:ext cx="3577761" cy="1990416"/>
            <a:chOff x="32518" y="0"/>
            <a:chExt cx="4357356" cy="1591776"/>
          </a:xfrm>
        </p:grpSpPr>
        <p:sp>
          <p:nvSpPr>
            <p:cNvPr id="19" name="圆角矩形 22">
              <a:extLst>
                <a:ext uri="{FF2B5EF4-FFF2-40B4-BE49-F238E27FC236}">
                  <a16:creationId xmlns:a16="http://schemas.microsoft.com/office/drawing/2014/main" id="{E1FA350C-4849-4A5F-A179-A995DCAF8E4E}"/>
                </a:ext>
              </a:extLst>
            </p:cNvPr>
            <p:cNvSpPr>
              <a:spLocks noChangeArrowheads="1"/>
            </p:cNvSpPr>
            <p:nvPr/>
          </p:nvSpPr>
          <p:spPr bwMode="auto">
            <a:xfrm>
              <a:off x="32518" y="0"/>
              <a:ext cx="4357356" cy="1214454"/>
            </a:xfrm>
            <a:prstGeom prst="roundRect">
              <a:avLst>
                <a:gd name="adj" fmla="val 16667"/>
              </a:avLst>
            </a:prstGeom>
            <a:noFill/>
            <a:ln w="28575">
              <a:solidFill>
                <a:schemeClr val="accent3">
                  <a:lumMod val="65000"/>
                </a:schemeClr>
              </a:solidFill>
              <a:round/>
              <a:headEnd/>
              <a:tailEnd/>
            </a:ln>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rgbClr val="000000"/>
                </a:solidFill>
              </a:endParaRPr>
            </a:p>
          </p:txBody>
        </p:sp>
        <p:sp>
          <p:nvSpPr>
            <p:cNvPr id="20" name="TextBox 3">
              <a:extLst>
                <a:ext uri="{FF2B5EF4-FFF2-40B4-BE49-F238E27FC236}">
                  <a16:creationId xmlns:a16="http://schemas.microsoft.com/office/drawing/2014/main" id="{152E898E-F093-4CAE-8456-5CEAC135FAD6}"/>
                </a:ext>
              </a:extLst>
            </p:cNvPr>
            <p:cNvSpPr txBox="1">
              <a:spLocks noChangeArrowheads="1"/>
            </p:cNvSpPr>
            <p:nvPr/>
          </p:nvSpPr>
          <p:spPr bwMode="auto">
            <a:xfrm>
              <a:off x="51402" y="143107"/>
              <a:ext cx="4319586" cy="144866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285750" indent="-28575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需求价格的弧弹性反映了需求曲线上两点之间那一段弧的弹性，弹性系数只与价格变动的起点和终点相关。</a:t>
              </a:r>
            </a:p>
          </p:txBody>
        </p:sp>
      </p:gr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4D0893C8-1347-4246-ABBC-4A4806834ED7}"/>
                  </a:ext>
                </a:extLst>
              </p:cNvPr>
              <p:cNvSpPr txBox="1"/>
              <p:nvPr/>
            </p:nvSpPr>
            <p:spPr>
              <a:xfrm>
                <a:off x="692592" y="2794083"/>
                <a:ext cx="4433561" cy="634917"/>
              </a:xfrm>
              <a:prstGeom prst="rect">
                <a:avLst/>
              </a:prstGeom>
              <a:noFill/>
            </p:spPr>
            <p:txBody>
              <a:bodyPr wrap="square" rtlCol="0">
                <a:spAutoFit/>
              </a:bodyPr>
              <a:lstStyle/>
              <a:p>
                <a:r>
                  <a:rPr lang="zh-CN" altLang="en-US" sz="2000" spc="150" dirty="0">
                    <a:solidFill>
                      <a:srgbClr val="000000"/>
                    </a:solidFill>
                    <a:latin typeface="微软雅黑" panose="020B0503020204020204" pitchFamily="34" charset="-122"/>
                    <a:ea typeface="微软雅黑" panose="020B0503020204020204" pitchFamily="34" charset="-122"/>
                  </a:rPr>
                  <a:t>弧</a:t>
                </a:r>
                <a14:m>
                  <m:oMath xmlns:m="http://schemas.openxmlformats.org/officeDocument/2006/math">
                    <m:r>
                      <m:rPr>
                        <m:nor/>
                      </m:rPr>
                      <a:rPr lang="en-US" altLang="zh-CN" sz="2000" spc="150" dirty="0" smtClean="0">
                        <a:solidFill>
                          <a:srgbClr val="000000"/>
                        </a:solidFill>
                        <a:latin typeface="Cambria Math" panose="02040503050406030204" pitchFamily="18" charset="0"/>
                        <a:ea typeface="微软雅黑" panose="020B0503020204020204" pitchFamily="34" charset="-122"/>
                      </a:rPr>
                      <m:t>E</m:t>
                    </m:r>
                    <m:r>
                      <m:rPr>
                        <m:nor/>
                      </m:rPr>
                      <a:rPr lang="en-US" altLang="zh-CN" sz="2000" b="0" i="0" spc="150" baseline="-25000" dirty="0" smtClean="0">
                        <a:solidFill>
                          <a:srgbClr val="000000"/>
                        </a:solidFill>
                        <a:latin typeface="微软雅黑" panose="020B0503020204020204" pitchFamily="34" charset="-122"/>
                        <a:ea typeface="微软雅黑" panose="020B0503020204020204" pitchFamily="34" charset="-122"/>
                      </a:rPr>
                      <m:t>p</m:t>
                    </m:r>
                    <m:r>
                      <a:rPr lang="en-US" altLang="zh-CN" sz="2000" i="1" spc="150" baseline="-25000" dirty="0">
                        <a:solidFill>
                          <a:srgbClr val="000000"/>
                        </a:solidFill>
                        <a:latin typeface="Cambria Math" panose="02040503050406030204" pitchFamily="18" charset="0"/>
                        <a:ea typeface="微软雅黑" panose="020B0503020204020204" pitchFamily="34" charset="-122"/>
                      </a:rPr>
                      <m:t> </m:t>
                    </m:r>
                  </m:oMath>
                </a14:m>
                <a:r>
                  <a:rPr lang="en-US" altLang="zh-CN" sz="2000" dirty="0">
                    <a:latin typeface="微软雅黑" panose="020B0503020204020204" pitchFamily="34" charset="-122"/>
                    <a:ea typeface="微软雅黑" panose="020B0503020204020204" pitchFamily="34" charset="-122"/>
                  </a:rPr>
                  <a:t>=-</a:t>
                </a:r>
                <a14:m>
                  <m:oMath xmlns:m="http://schemas.openxmlformats.org/officeDocument/2006/math">
                    <m:f>
                      <m:fPr>
                        <m:ctrlPr>
                          <a:rPr lang="en-US" altLang="zh-CN" sz="2000" i="1" smtClean="0">
                            <a:latin typeface="Cambria Math" panose="02040503050406030204" pitchFamily="18" charset="0"/>
                            <a:ea typeface="微软雅黑" panose="020B0503020204020204" pitchFamily="34" charset="-122"/>
                          </a:rPr>
                        </m:ctrlPr>
                      </m:fPr>
                      <m:num>
                        <m:r>
                          <a:rPr lang="zh-CN" altLang="en-US" sz="2000" kern="0" dirty="0">
                            <a:latin typeface="Cambria Math" panose="02040503050406030204" pitchFamily="18" charset="0"/>
                          </a:rPr>
                          <m:t>△</m:t>
                        </m:r>
                        <m:r>
                          <a:rPr lang="en-US" altLang="zh-CN" sz="2000" b="0" i="1" kern="0" dirty="0" smtClean="0">
                            <a:latin typeface="Cambria Math" panose="02040503050406030204" pitchFamily="18" charset="0"/>
                          </a:rPr>
                          <m:t>𝑄</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𝑄</m:t>
                        </m:r>
                      </m:num>
                      <m:den>
                        <m:r>
                          <a:rPr lang="zh-CN" altLang="en-US" sz="2000" kern="0" dirty="0">
                            <a:latin typeface="Cambria Math" panose="02040503050406030204" pitchFamily="18" charset="0"/>
                          </a:rPr>
                          <m:t>△</m:t>
                        </m:r>
                        <m:r>
                          <a:rPr lang="en-US" altLang="zh-CN" sz="2000" b="0" i="1" kern="0" dirty="0" smtClean="0">
                            <a:latin typeface="Cambria Math" panose="02040503050406030204" pitchFamily="18" charset="0"/>
                          </a:rPr>
                          <m:t>𝑃</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𝑃</m:t>
                        </m:r>
                      </m:den>
                    </m:f>
                    <m:r>
                      <m:rPr>
                        <m:nor/>
                      </m:rPr>
                      <a:rPr lang="en-US" altLang="zh-CN" sz="2000" dirty="0">
                        <a:latin typeface="微软雅黑" panose="020B0503020204020204" pitchFamily="34" charset="-122"/>
                        <a:ea typeface="微软雅黑" panose="020B0503020204020204" pitchFamily="34" charset="-122"/>
                      </a:rPr>
                      <m:t>=−</m:t>
                    </m:r>
                    <m:f>
                      <m:fPr>
                        <m:ctrlPr>
                          <a:rPr lang="en-US" altLang="zh-CN" sz="2000" i="1" dirty="0" smtClean="0">
                            <a:latin typeface="Cambria Math" panose="02040503050406030204" pitchFamily="18" charset="0"/>
                            <a:ea typeface="微软雅黑" panose="020B0503020204020204" pitchFamily="34" charset="-122"/>
                          </a:rPr>
                        </m:ctrlPr>
                      </m:fPr>
                      <m:num>
                        <m:m>
                          <m:mPr>
                            <m:mcs>
                              <m:mc>
                                <m:mcPr>
                                  <m:count m:val="3"/>
                                  <m:mcJc m:val="center"/>
                                </m:mcPr>
                              </m:mc>
                            </m:mcs>
                            <m:ctrlPr>
                              <a:rPr lang="en-US" altLang="zh-CN" sz="2000" i="1" dirty="0" smtClean="0">
                                <a:latin typeface="Cambria Math" panose="02040503050406030204" pitchFamily="18" charset="0"/>
                                <a:ea typeface="微软雅黑" panose="020B0503020204020204" pitchFamily="34" charset="-122"/>
                              </a:rPr>
                            </m:ctrlPr>
                          </m:mPr>
                          <m:mr>
                            <m:e>
                              <m:r>
                                <m:rPr>
                                  <m:nor/>
                                </m:rPr>
                                <a:rPr lang="en-US" altLang="zh-CN" sz="2000" dirty="0">
                                  <a:latin typeface="Cambria Math" panose="02040503050406030204" pitchFamily="18" charset="0"/>
                                  <a:ea typeface="微软雅黑" panose="020B0503020204020204" pitchFamily="34" charset="-122"/>
                                </a:rPr>
                                <m:t>Q</m:t>
                              </m:r>
                              <m:r>
                                <m:rPr>
                                  <m:nor/>
                                </m:rPr>
                                <a:rPr lang="en-US" altLang="zh-CN" sz="2000" spc="150" baseline="-25000" dirty="0">
                                  <a:solidFill>
                                    <a:srgbClr val="000000"/>
                                  </a:solidFill>
                                  <a:latin typeface="微软雅黑" panose="020B0503020204020204" pitchFamily="34" charset="-122"/>
                                  <a:ea typeface="微软雅黑" panose="020B0503020204020204" pitchFamily="34" charset="-122"/>
                                </a:rPr>
                                <m:t>2</m:t>
                              </m:r>
                            </m:e>
                            <m:e>
                              <m:r>
                                <a:rPr lang="en-US" altLang="zh-CN" sz="2000" b="0" i="1" dirty="0" smtClean="0">
                                  <a:latin typeface="Cambria Math" panose="02040503050406030204" pitchFamily="18" charset="0"/>
                                  <a:ea typeface="微软雅黑" panose="020B0503020204020204" pitchFamily="34" charset="-122"/>
                                </a:rPr>
                                <m:t>−</m:t>
                              </m:r>
                            </m:e>
                            <m:e>
                              <m:r>
                                <m:rPr>
                                  <m:nor/>
                                </m:rPr>
                                <a:rPr lang="en-US" altLang="zh-CN" sz="2000" dirty="0">
                                  <a:latin typeface="Cambria Math" panose="02040503050406030204" pitchFamily="18" charset="0"/>
                                  <a:ea typeface="微软雅黑" panose="020B0503020204020204" pitchFamily="34" charset="-122"/>
                                </a:rPr>
                                <m:t>Q</m:t>
                              </m:r>
                              <m:r>
                                <m:rPr>
                                  <m:nor/>
                                </m:rPr>
                                <a:rPr lang="en-US" altLang="zh-CN" sz="2000" spc="150" baseline="-25000" dirty="0">
                                  <a:solidFill>
                                    <a:srgbClr val="000000"/>
                                  </a:solidFill>
                                  <a:latin typeface="微软雅黑" panose="020B0503020204020204" pitchFamily="34" charset="-122"/>
                                  <a:ea typeface="微软雅黑" panose="020B0503020204020204" pitchFamily="34" charset="-122"/>
                                </a:rPr>
                                <m:t>1</m:t>
                              </m:r>
                            </m:e>
                          </m:mr>
                        </m:m>
                      </m:num>
                      <m:den>
                        <m:m>
                          <m:mPr>
                            <m:mcs>
                              <m:mc>
                                <m:mcPr>
                                  <m:count m:val="3"/>
                                  <m:mcJc m:val="center"/>
                                </m:mcPr>
                              </m:mc>
                            </m:mcs>
                            <m:ctrlPr>
                              <a:rPr lang="en-US" altLang="zh-CN" sz="2000" i="1" dirty="0" smtClean="0">
                                <a:latin typeface="Cambria Math" panose="02040503050406030204" pitchFamily="18" charset="0"/>
                                <a:ea typeface="微软雅黑" panose="020B0503020204020204" pitchFamily="34" charset="-122"/>
                              </a:rPr>
                            </m:ctrlPr>
                          </m:mPr>
                          <m:mr>
                            <m:e>
                              <m:r>
                                <m:rPr>
                                  <m:nor/>
                                </m:rPr>
                                <a:rPr lang="en-US" altLang="zh-CN" sz="2000" dirty="0">
                                  <a:latin typeface="Cambria Math" panose="02040503050406030204" pitchFamily="18" charset="0"/>
                                  <a:ea typeface="微软雅黑" panose="020B0503020204020204" pitchFamily="34" charset="-122"/>
                                </a:rPr>
                                <m:t>Q</m:t>
                              </m:r>
                              <m:r>
                                <m:rPr>
                                  <m:nor/>
                                </m:rPr>
                                <a:rPr lang="en-US" altLang="zh-CN" sz="2000" spc="150" baseline="-25000" dirty="0">
                                  <a:solidFill>
                                    <a:srgbClr val="000000"/>
                                  </a:solidFill>
                                  <a:latin typeface="微软雅黑" panose="020B0503020204020204" pitchFamily="34" charset="-122"/>
                                  <a:ea typeface="微软雅黑" panose="020B0503020204020204" pitchFamily="34" charset="-122"/>
                                </a:rPr>
                                <m:t>2</m:t>
                              </m:r>
                            </m:e>
                            <m:e>
                              <m:r>
                                <a:rPr lang="en-US" altLang="zh-CN" sz="2000" b="0" i="1" dirty="0" smtClean="0">
                                  <a:latin typeface="Cambria Math" panose="02040503050406030204" pitchFamily="18" charset="0"/>
                                  <a:ea typeface="微软雅黑" panose="020B0503020204020204" pitchFamily="34" charset="-122"/>
                                </a:rPr>
                                <m:t>+</m:t>
                              </m:r>
                            </m:e>
                            <m:e>
                              <m:r>
                                <m:rPr>
                                  <m:nor/>
                                </m:rPr>
                                <a:rPr lang="en-US" altLang="zh-CN" sz="2000" dirty="0">
                                  <a:latin typeface="Cambria Math" panose="02040503050406030204" pitchFamily="18" charset="0"/>
                                  <a:ea typeface="微软雅黑" panose="020B0503020204020204" pitchFamily="34" charset="-122"/>
                                </a:rPr>
                                <m:t>Q</m:t>
                              </m:r>
                              <m:r>
                                <m:rPr>
                                  <m:nor/>
                                </m:rPr>
                                <a:rPr lang="en-US" altLang="zh-CN" sz="2000" spc="150" baseline="-25000" dirty="0">
                                  <a:solidFill>
                                    <a:srgbClr val="000000"/>
                                  </a:solidFill>
                                  <a:latin typeface="微软雅黑" panose="020B0503020204020204" pitchFamily="34" charset="-122"/>
                                  <a:ea typeface="微软雅黑" panose="020B0503020204020204" pitchFamily="34" charset="-122"/>
                                </a:rPr>
                                <m:t>1</m:t>
                              </m:r>
                            </m:e>
                          </m:mr>
                        </m:m>
                      </m:den>
                    </m:f>
                    <m:r>
                      <a:rPr lang="en-US" altLang="zh-CN" sz="2000" b="0" i="1" dirty="0" smtClean="0">
                        <a:latin typeface="Cambria Math" panose="02040503050406030204" pitchFamily="18" charset="0"/>
                        <a:ea typeface="微软雅黑" panose="020B0503020204020204" pitchFamily="34" charset="-122"/>
                      </a:rPr>
                      <m:t>/</m:t>
                    </m:r>
                    <m:f>
                      <m:fPr>
                        <m:ctrlPr>
                          <a:rPr lang="en-US" altLang="zh-CN" sz="2000" i="1" dirty="0">
                            <a:latin typeface="Cambria Math" panose="02040503050406030204" pitchFamily="18" charset="0"/>
                            <a:ea typeface="微软雅黑" panose="020B0503020204020204" pitchFamily="34" charset="-122"/>
                          </a:rPr>
                        </m:ctrlPr>
                      </m:fPr>
                      <m:num>
                        <m:m>
                          <m:mPr>
                            <m:mcs>
                              <m:mc>
                                <m:mcPr>
                                  <m:count m:val="3"/>
                                  <m:mcJc m:val="center"/>
                                </m:mcPr>
                              </m:mc>
                            </m:mcs>
                            <m:ctrlPr>
                              <a:rPr lang="en-US" altLang="zh-CN" sz="2000" i="1" dirty="0">
                                <a:latin typeface="Cambria Math" panose="02040503050406030204" pitchFamily="18" charset="0"/>
                                <a:ea typeface="微软雅黑" panose="020B0503020204020204" pitchFamily="34" charset="-122"/>
                              </a:rPr>
                            </m:ctrlPr>
                          </m:mPr>
                          <m:mr>
                            <m:e>
                              <m:r>
                                <m:rPr>
                                  <m:nor/>
                                </m:rPr>
                                <a:rPr lang="en-US" altLang="zh-CN" sz="2000" b="0" i="0" dirty="0" smtClean="0">
                                  <a:latin typeface="Cambria Math" panose="02040503050406030204" pitchFamily="18" charset="0"/>
                                  <a:ea typeface="微软雅黑" panose="020B0503020204020204" pitchFamily="34" charset="-122"/>
                                </a:rPr>
                                <m:t>P</m:t>
                              </m:r>
                              <m:r>
                                <m:rPr>
                                  <m:nor/>
                                </m:rPr>
                                <a:rPr lang="en-US" altLang="zh-CN" sz="2000" spc="150" baseline="-25000" dirty="0">
                                  <a:solidFill>
                                    <a:srgbClr val="000000"/>
                                  </a:solidFill>
                                  <a:latin typeface="微软雅黑" panose="020B0503020204020204" pitchFamily="34" charset="-122"/>
                                  <a:ea typeface="微软雅黑" panose="020B0503020204020204" pitchFamily="34" charset="-122"/>
                                </a:rPr>
                                <m:t>2</m:t>
                              </m:r>
                            </m:e>
                            <m:e>
                              <m:r>
                                <a:rPr lang="en-US" altLang="zh-CN" sz="2000" i="1" dirty="0">
                                  <a:latin typeface="Cambria Math" panose="02040503050406030204" pitchFamily="18" charset="0"/>
                                  <a:ea typeface="微软雅黑" panose="020B0503020204020204" pitchFamily="34" charset="-122"/>
                                </a:rPr>
                                <m:t>−</m:t>
                              </m:r>
                            </m:e>
                            <m:e>
                              <m:r>
                                <m:rPr>
                                  <m:nor/>
                                </m:rPr>
                                <a:rPr lang="en-US" altLang="zh-CN" sz="2000" b="0" i="0" dirty="0" smtClean="0">
                                  <a:latin typeface="Cambria Math" panose="02040503050406030204" pitchFamily="18" charset="0"/>
                                  <a:ea typeface="微软雅黑" panose="020B0503020204020204" pitchFamily="34" charset="-122"/>
                                </a:rPr>
                                <m:t>P</m:t>
                              </m:r>
                              <m:r>
                                <m:rPr>
                                  <m:nor/>
                                </m:rPr>
                                <a:rPr lang="en-US" altLang="zh-CN" sz="2000" spc="150" baseline="-25000" dirty="0">
                                  <a:solidFill>
                                    <a:srgbClr val="000000"/>
                                  </a:solidFill>
                                  <a:latin typeface="微软雅黑" panose="020B0503020204020204" pitchFamily="34" charset="-122"/>
                                  <a:ea typeface="微软雅黑" panose="020B0503020204020204" pitchFamily="34" charset="-122"/>
                                </a:rPr>
                                <m:t>1</m:t>
                              </m:r>
                            </m:e>
                          </m:mr>
                        </m:m>
                      </m:num>
                      <m:den>
                        <m:m>
                          <m:mPr>
                            <m:mcs>
                              <m:mc>
                                <m:mcPr>
                                  <m:count m:val="3"/>
                                  <m:mcJc m:val="center"/>
                                </m:mcPr>
                              </m:mc>
                            </m:mcs>
                            <m:ctrlPr>
                              <a:rPr lang="en-US" altLang="zh-CN" sz="2000" i="1" dirty="0">
                                <a:latin typeface="Cambria Math" panose="02040503050406030204" pitchFamily="18" charset="0"/>
                                <a:ea typeface="微软雅黑" panose="020B0503020204020204" pitchFamily="34" charset="-122"/>
                              </a:rPr>
                            </m:ctrlPr>
                          </m:mPr>
                          <m:mr>
                            <m:e>
                              <m:r>
                                <m:rPr>
                                  <m:nor/>
                                </m:rPr>
                                <a:rPr lang="en-US" altLang="zh-CN" sz="2000" b="0" i="0" dirty="0" smtClean="0">
                                  <a:latin typeface="Cambria Math" panose="02040503050406030204" pitchFamily="18" charset="0"/>
                                  <a:ea typeface="微软雅黑" panose="020B0503020204020204" pitchFamily="34" charset="-122"/>
                                </a:rPr>
                                <m:t>P</m:t>
                              </m:r>
                              <m:r>
                                <m:rPr>
                                  <m:nor/>
                                </m:rPr>
                                <a:rPr lang="en-US" altLang="zh-CN" sz="2000" spc="150" baseline="-25000" dirty="0">
                                  <a:solidFill>
                                    <a:srgbClr val="000000"/>
                                  </a:solidFill>
                                  <a:latin typeface="微软雅黑" panose="020B0503020204020204" pitchFamily="34" charset="-122"/>
                                  <a:ea typeface="微软雅黑" panose="020B0503020204020204" pitchFamily="34" charset="-122"/>
                                </a:rPr>
                                <m:t>2</m:t>
                              </m:r>
                            </m:e>
                            <m:e>
                              <m:r>
                                <a:rPr lang="en-US" altLang="zh-CN" sz="2000" i="1" dirty="0">
                                  <a:latin typeface="Cambria Math" panose="02040503050406030204" pitchFamily="18" charset="0"/>
                                  <a:ea typeface="微软雅黑" panose="020B0503020204020204" pitchFamily="34" charset="-122"/>
                                </a:rPr>
                                <m:t>+</m:t>
                              </m:r>
                            </m:e>
                            <m:e>
                              <m:r>
                                <m:rPr>
                                  <m:nor/>
                                </m:rPr>
                                <a:rPr lang="en-US" altLang="zh-CN" sz="2000" b="0" i="0" dirty="0" smtClean="0">
                                  <a:latin typeface="Cambria Math" panose="02040503050406030204" pitchFamily="18" charset="0"/>
                                  <a:ea typeface="微软雅黑" panose="020B0503020204020204" pitchFamily="34" charset="-122"/>
                                </a:rPr>
                                <m:t>P</m:t>
                              </m:r>
                              <m:r>
                                <m:rPr>
                                  <m:nor/>
                                </m:rPr>
                                <a:rPr lang="en-US" altLang="zh-CN" sz="2000" spc="150" baseline="-25000" dirty="0">
                                  <a:solidFill>
                                    <a:srgbClr val="000000"/>
                                  </a:solidFill>
                                  <a:latin typeface="微软雅黑" panose="020B0503020204020204" pitchFamily="34" charset="-122"/>
                                  <a:ea typeface="微软雅黑" panose="020B0503020204020204" pitchFamily="34" charset="-122"/>
                                </a:rPr>
                                <m:t>1</m:t>
                              </m:r>
                            </m:e>
                          </m:mr>
                        </m:m>
                      </m:den>
                    </m:f>
                  </m:oMath>
                </a14:m>
                <a:endParaRPr lang="zh-CN" altLang="en-US" sz="2000" dirty="0">
                  <a:latin typeface="微软雅黑" panose="020B0503020204020204" pitchFamily="34" charset="-122"/>
                  <a:ea typeface="微软雅黑" panose="020B0503020204020204" pitchFamily="34" charset="-122"/>
                </a:endParaRPr>
              </a:p>
            </p:txBody>
          </p:sp>
        </mc:Choice>
        <mc:Fallback xmlns="">
          <p:sp>
            <p:nvSpPr>
              <p:cNvPr id="21" name="文本框 20">
                <a:extLst>
                  <a:ext uri="{FF2B5EF4-FFF2-40B4-BE49-F238E27FC236}">
                    <a16:creationId xmlns:a16="http://schemas.microsoft.com/office/drawing/2014/main" id="{4D0893C8-1347-4246-ABBC-4A4806834ED7}"/>
                  </a:ext>
                </a:extLst>
              </p:cNvPr>
              <p:cNvSpPr txBox="1">
                <a:spLocks noRot="1" noChangeAspect="1" noMove="1" noResize="1" noEditPoints="1" noAdjustHandles="1" noChangeArrowheads="1" noChangeShapeType="1" noTextEdit="1"/>
              </p:cNvSpPr>
              <p:nvPr/>
            </p:nvSpPr>
            <p:spPr>
              <a:xfrm>
                <a:off x="692592" y="2794083"/>
                <a:ext cx="4433561" cy="634917"/>
              </a:xfrm>
              <a:prstGeom prst="rect">
                <a:avLst/>
              </a:prstGeom>
              <a:blipFill>
                <a:blip r:embed="rId3"/>
                <a:stretch>
                  <a:fillRect l="-15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D8F8DA0-B8AF-418E-9F49-94605D3D58E1}"/>
                  </a:ext>
                </a:extLst>
              </p:cNvPr>
              <p:cNvSpPr txBox="1"/>
              <p:nvPr/>
            </p:nvSpPr>
            <p:spPr>
              <a:xfrm>
                <a:off x="1386948" y="4689359"/>
                <a:ext cx="3329068" cy="604012"/>
              </a:xfrm>
              <a:prstGeom prst="rect">
                <a:avLst/>
              </a:prstGeom>
              <a:noFill/>
            </p:spPr>
            <p:txBody>
              <a:bodyPr wrap="square" rtlCol="0">
                <a:spAutoFit/>
              </a:bodyPr>
              <a:lstStyle/>
              <a:p>
                <a:r>
                  <a:rPr lang="zh-CN" altLang="en-US" sz="2000" spc="150" dirty="0">
                    <a:solidFill>
                      <a:srgbClr val="000000"/>
                    </a:solidFill>
                    <a:latin typeface="微软雅黑" panose="020B0503020204020204" pitchFamily="34" charset="-122"/>
                    <a:ea typeface="微软雅黑" panose="020B0503020204020204" pitchFamily="34" charset="-122"/>
                  </a:rPr>
                  <a:t>点</a:t>
                </a:r>
                <a14:m>
                  <m:oMath xmlns:m="http://schemas.openxmlformats.org/officeDocument/2006/math">
                    <m:r>
                      <m:rPr>
                        <m:nor/>
                      </m:rPr>
                      <a:rPr lang="en-US" altLang="zh-CN" sz="2000" spc="150" dirty="0" smtClean="0">
                        <a:solidFill>
                          <a:srgbClr val="000000"/>
                        </a:solidFill>
                        <a:latin typeface="Cambria Math" panose="02040503050406030204" pitchFamily="18" charset="0"/>
                        <a:ea typeface="微软雅黑" panose="020B0503020204020204" pitchFamily="34" charset="-122"/>
                      </a:rPr>
                      <m:t>E</m:t>
                    </m:r>
                    <m:r>
                      <m:rPr>
                        <m:nor/>
                      </m:rPr>
                      <a:rPr lang="en-US" altLang="zh-CN" sz="2000" b="0" i="0" spc="150" baseline="-25000" dirty="0" smtClean="0">
                        <a:solidFill>
                          <a:srgbClr val="000000"/>
                        </a:solidFill>
                        <a:latin typeface="微软雅黑" panose="020B0503020204020204" pitchFamily="34" charset="-122"/>
                        <a:ea typeface="微软雅黑" panose="020B0503020204020204" pitchFamily="34" charset="-122"/>
                      </a:rPr>
                      <m:t>p</m:t>
                    </m:r>
                    <m:r>
                      <a:rPr lang="en-US" altLang="zh-CN" sz="2000" i="1" spc="150" baseline="-25000" dirty="0">
                        <a:solidFill>
                          <a:srgbClr val="000000"/>
                        </a:solidFill>
                        <a:latin typeface="Cambria Math" panose="02040503050406030204" pitchFamily="18" charset="0"/>
                        <a:ea typeface="微软雅黑" panose="020B0503020204020204" pitchFamily="34" charset="-122"/>
                      </a:rPr>
                      <m:t> </m:t>
                    </m:r>
                  </m:oMath>
                </a14:m>
                <a:r>
                  <a:rPr lang="en-US" altLang="zh-CN" sz="2000" dirty="0">
                    <a:latin typeface="微软雅黑" panose="020B0503020204020204" pitchFamily="34" charset="-122"/>
                    <a:ea typeface="微软雅黑" panose="020B0503020204020204" pitchFamily="34" charset="-122"/>
                  </a:rPr>
                  <a:t>=-</a:t>
                </a:r>
                <a14:m>
                  <m:oMath xmlns:m="http://schemas.openxmlformats.org/officeDocument/2006/math">
                    <m:limLow>
                      <m:limLowPr>
                        <m:ctrlPr>
                          <a:rPr lang="zh-CN" altLang="en-US" sz="2000" i="1" spc="150" dirty="0">
                            <a:solidFill>
                              <a:srgbClr val="000000"/>
                            </a:solidFill>
                            <a:latin typeface="Cambria Math" panose="02040503050406030204" pitchFamily="18" charset="0"/>
                          </a:rPr>
                        </m:ctrlPr>
                      </m:limLowPr>
                      <m:e>
                        <m:r>
                          <m:rPr>
                            <m:sty m:val="p"/>
                          </m:rPr>
                          <a:rPr lang="zh-CN" altLang="en-US" sz="2000" spc="150" dirty="0">
                            <a:solidFill>
                              <a:srgbClr val="000000"/>
                            </a:solidFill>
                            <a:latin typeface="Cambria Math" panose="02040503050406030204" pitchFamily="18" charset="0"/>
                          </a:rPr>
                          <m:t>lim</m:t>
                        </m:r>
                      </m:e>
                      <m:lim>
                        <m:r>
                          <m:rPr>
                            <m:sty m:val="p"/>
                          </m:rPr>
                          <a:rPr lang="zh-CN" altLang="en-US" sz="2000" spc="150" dirty="0">
                            <a:solidFill>
                              <a:srgbClr val="000000"/>
                            </a:solidFill>
                            <a:latin typeface="Cambria Math" panose="02040503050406030204" pitchFamily="18" charset="0"/>
                          </a:rPr>
                          <m:t>Δ</m:t>
                        </m:r>
                        <m:r>
                          <a:rPr lang="zh-CN" altLang="en-US" sz="2000" i="1" spc="150" dirty="0">
                            <a:solidFill>
                              <a:srgbClr val="000000"/>
                            </a:solidFill>
                            <a:latin typeface="Cambria Math" panose="02040503050406030204" pitchFamily="18" charset="0"/>
                          </a:rPr>
                          <m:t>𝑝</m:t>
                        </m:r>
                        <m:r>
                          <a:rPr lang="zh-CN" altLang="en-US" sz="2000" spc="150" dirty="0">
                            <a:solidFill>
                              <a:srgbClr val="000000"/>
                            </a:solidFill>
                            <a:latin typeface="Cambria Math" panose="02040503050406030204" pitchFamily="18" charset="0"/>
                          </a:rPr>
                          <m:t>→0</m:t>
                        </m:r>
                      </m:lim>
                    </m:limLow>
                    <m:f>
                      <m:fPr>
                        <m:ctrlPr>
                          <a:rPr lang="en-US" altLang="zh-CN" sz="2000" i="1" smtClean="0">
                            <a:latin typeface="Cambria Math" panose="02040503050406030204" pitchFamily="18" charset="0"/>
                            <a:ea typeface="微软雅黑" panose="020B0503020204020204" pitchFamily="34" charset="-122"/>
                          </a:rPr>
                        </m:ctrlPr>
                      </m:fPr>
                      <m:num>
                        <m:r>
                          <a:rPr lang="zh-CN" altLang="en-US" sz="2000" kern="0" dirty="0">
                            <a:latin typeface="Cambria Math" panose="02040503050406030204" pitchFamily="18" charset="0"/>
                          </a:rPr>
                          <m:t>△</m:t>
                        </m:r>
                        <m:r>
                          <a:rPr lang="en-US" altLang="zh-CN" sz="2000" b="0" i="1" kern="0" dirty="0" smtClean="0">
                            <a:latin typeface="Cambria Math" panose="02040503050406030204" pitchFamily="18" charset="0"/>
                          </a:rPr>
                          <m:t>𝑄</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𝑄</m:t>
                        </m:r>
                      </m:num>
                      <m:den>
                        <m:r>
                          <a:rPr lang="zh-CN" altLang="en-US" sz="2000" kern="0" dirty="0">
                            <a:latin typeface="Cambria Math" panose="02040503050406030204" pitchFamily="18" charset="0"/>
                          </a:rPr>
                          <m:t>△</m:t>
                        </m:r>
                        <m:r>
                          <a:rPr lang="en-US" altLang="zh-CN" sz="2000" b="0" i="1" kern="0" dirty="0" smtClean="0">
                            <a:latin typeface="Cambria Math" panose="02040503050406030204" pitchFamily="18" charset="0"/>
                          </a:rPr>
                          <m:t>𝑃</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𝑃</m:t>
                        </m:r>
                      </m:den>
                    </m:f>
                    <m:r>
                      <m:rPr>
                        <m:nor/>
                      </m:rPr>
                      <a:rPr lang="en-US" altLang="zh-CN" sz="2000" dirty="0">
                        <a:latin typeface="微软雅黑" panose="020B0503020204020204" pitchFamily="34" charset="-122"/>
                        <a:ea typeface="微软雅黑" panose="020B0503020204020204" pitchFamily="34" charset="-122"/>
                      </a:rPr>
                      <m:t>=−</m:t>
                    </m:r>
                    <m:f>
                      <m:fPr>
                        <m:ctrlPr>
                          <a:rPr lang="en-US" altLang="zh-CN" sz="2000" i="1" dirty="0" smtClean="0">
                            <a:latin typeface="Cambria Math" panose="02040503050406030204" pitchFamily="18" charset="0"/>
                            <a:ea typeface="微软雅黑" panose="020B0503020204020204" pitchFamily="34" charset="-122"/>
                          </a:rPr>
                        </m:ctrlPr>
                      </m:fPr>
                      <m:num>
                        <m:r>
                          <m:rPr>
                            <m:sty m:val="p"/>
                          </m:rPr>
                          <a:rPr lang="en-US" altLang="zh-CN" sz="2000" i="1" dirty="0">
                            <a:latin typeface="Cambria Math" panose="02040503050406030204" pitchFamily="18" charset="0"/>
                            <a:ea typeface="微软雅黑" panose="020B0503020204020204" pitchFamily="34" charset="-122"/>
                          </a:rPr>
                          <m:t>d</m:t>
                        </m:r>
                        <m:r>
                          <a:rPr lang="en-US" altLang="zh-CN" sz="2000" b="0" i="1" dirty="0" smtClean="0">
                            <a:latin typeface="Cambria Math" panose="02040503050406030204" pitchFamily="18" charset="0"/>
                            <a:ea typeface="微软雅黑" panose="020B0503020204020204" pitchFamily="34" charset="-122"/>
                          </a:rPr>
                          <m:t>𝑄</m:t>
                        </m:r>
                      </m:num>
                      <m:den>
                        <m:r>
                          <a:rPr lang="en-US" altLang="zh-CN" sz="2000" b="0" i="1" dirty="0" smtClean="0">
                            <a:latin typeface="Cambria Math" panose="02040503050406030204" pitchFamily="18" charset="0"/>
                            <a:ea typeface="微软雅黑" panose="020B0503020204020204" pitchFamily="34" charset="-122"/>
                          </a:rPr>
                          <m:t>𝑑𝑃</m:t>
                        </m:r>
                      </m:den>
                    </m:f>
                    <m:r>
                      <a:rPr lang="en-US" altLang="zh-CN" sz="2000" i="1" dirty="0">
                        <a:latin typeface="Cambria Math" panose="02040503050406030204" pitchFamily="18" charset="0"/>
                        <a:ea typeface="微软雅黑" panose="020B0503020204020204" pitchFamily="34" charset="-122"/>
                      </a:rPr>
                      <m:t>·</m:t>
                    </m:r>
                    <m:f>
                      <m:fPr>
                        <m:ctrlPr>
                          <a:rPr lang="en-US" altLang="zh-CN" sz="2000" i="1" dirty="0">
                            <a:latin typeface="Cambria Math" panose="02040503050406030204" pitchFamily="18" charset="0"/>
                            <a:ea typeface="微软雅黑" panose="020B0503020204020204" pitchFamily="34" charset="-122"/>
                          </a:rPr>
                        </m:ctrlPr>
                      </m:fPr>
                      <m:num>
                        <m:r>
                          <a:rPr lang="en-US" altLang="zh-CN" sz="2000" i="1" dirty="0" smtClean="0">
                            <a:latin typeface="Cambria Math" panose="02040503050406030204" pitchFamily="18" charset="0"/>
                            <a:ea typeface="微软雅黑" panose="020B0503020204020204" pitchFamily="34" charset="-122"/>
                          </a:rPr>
                          <m:t>𝑃</m:t>
                        </m:r>
                      </m:num>
                      <m:den>
                        <m:r>
                          <a:rPr lang="en-US" altLang="zh-CN" sz="2000" b="0" i="1" dirty="0" smtClean="0">
                            <a:latin typeface="Cambria Math" panose="02040503050406030204" pitchFamily="18" charset="0"/>
                            <a:ea typeface="微软雅黑" panose="020B0503020204020204" pitchFamily="34" charset="-122"/>
                          </a:rPr>
                          <m:t>𝑄</m:t>
                        </m:r>
                      </m:den>
                    </m:f>
                  </m:oMath>
                </a14:m>
                <a:endParaRPr lang="zh-CN" altLang="en-US" sz="2000" dirty="0">
                  <a:latin typeface="微软雅黑" panose="020B0503020204020204" pitchFamily="34" charset="-122"/>
                  <a:ea typeface="微软雅黑" panose="020B0503020204020204" pitchFamily="34" charset="-122"/>
                </a:endParaRPr>
              </a:p>
            </p:txBody>
          </p:sp>
        </mc:Choice>
        <mc:Fallback xmlns="">
          <p:sp>
            <p:nvSpPr>
              <p:cNvPr id="22" name="文本框 21">
                <a:extLst>
                  <a:ext uri="{FF2B5EF4-FFF2-40B4-BE49-F238E27FC236}">
                    <a16:creationId xmlns:a16="http://schemas.microsoft.com/office/drawing/2014/main" id="{6D8F8DA0-B8AF-418E-9F49-94605D3D58E1}"/>
                  </a:ext>
                </a:extLst>
              </p:cNvPr>
              <p:cNvSpPr txBox="1">
                <a:spLocks noRot="1" noChangeAspect="1" noMove="1" noResize="1" noEditPoints="1" noAdjustHandles="1" noChangeArrowheads="1" noChangeShapeType="1" noTextEdit="1"/>
              </p:cNvSpPr>
              <p:nvPr/>
            </p:nvSpPr>
            <p:spPr>
              <a:xfrm>
                <a:off x="1386948" y="4689359"/>
                <a:ext cx="3329068" cy="604012"/>
              </a:xfrm>
              <a:prstGeom prst="rect">
                <a:avLst/>
              </a:prstGeom>
              <a:blipFill>
                <a:blip r:embed="rId4"/>
                <a:stretch>
                  <a:fillRect l="-2015"/>
                </a:stretch>
              </a:blipFill>
            </p:spPr>
            <p:txBody>
              <a:bodyPr/>
              <a:lstStyle/>
              <a:p>
                <a:r>
                  <a:rPr lang="zh-CN" altLang="en-US">
                    <a:noFill/>
                  </a:rPr>
                  <a:t> </a:t>
                </a:r>
              </a:p>
            </p:txBody>
          </p:sp>
        </mc:Fallback>
      </mc:AlternateContent>
    </p:spTree>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8130">
                                            <p:txEl>
                                              <p:pRg st="0" end="0"/>
                                            </p:txEl>
                                          </p:spTgt>
                                        </p:tgtEl>
                                        <p:attrNameLst>
                                          <p:attrName>style.visibility</p:attrName>
                                        </p:attrNameLst>
                                      </p:cBhvr>
                                      <p:to>
                                        <p:strVal val="visible"/>
                                      </p:to>
                                    </p:set>
                                    <p:animEffect transition="in" filter="strips(downRight)">
                                      <p:cBhvr>
                                        <p:cTn id="7" dur="500"/>
                                        <p:tgtEl>
                                          <p:spTgt spid="481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 calcmode="lin" valueType="num">
                                      <p:cBhvr>
                                        <p:cTn id="12" dur="500" fill="hold"/>
                                        <p:tgtEl>
                                          <p:spTgt spid="21"/>
                                        </p:tgtEl>
                                        <p:attrNameLst>
                                          <p:attrName>ppt_w</p:attrName>
                                        </p:attrNameLst>
                                      </p:cBhvr>
                                      <p:tavLst>
                                        <p:tav tm="0">
                                          <p:val>
                                            <p:fltVal val="0"/>
                                          </p:val>
                                        </p:tav>
                                        <p:tav tm="100000">
                                          <p:val>
                                            <p:strVal val="#ppt_w"/>
                                          </p:val>
                                        </p:tav>
                                      </p:tavLst>
                                    </p:anim>
                                    <p:anim calcmode="lin" valueType="num">
                                      <p:cBhvr>
                                        <p:cTn id="13" dur="500" fill="hold"/>
                                        <p:tgtEl>
                                          <p:spTgt spid="21"/>
                                        </p:tgtEl>
                                        <p:attrNameLst>
                                          <p:attrName>ppt_h</p:attrName>
                                        </p:attrNameLst>
                                      </p:cBhvr>
                                      <p:tavLst>
                                        <p:tav tm="0">
                                          <p:val>
                                            <p:fltVal val="0"/>
                                          </p:val>
                                        </p:tav>
                                        <p:tav tm="100000">
                                          <p:val>
                                            <p:strVal val="#ppt_h"/>
                                          </p:val>
                                        </p:tav>
                                      </p:tavLst>
                                    </p:anim>
                                    <p:animEffect transition="in" filter="fade">
                                      <p:cBhvr>
                                        <p:cTn id="14" dur="500"/>
                                        <p:tgtEl>
                                          <p:spTgt spid="21"/>
                                        </p:tgtEl>
                                      </p:cBhvr>
                                    </p:animEffect>
                                  </p:childTnLst>
                                </p:cTn>
                              </p:par>
                            </p:childTnLst>
                          </p:cTn>
                        </p:par>
                        <p:par>
                          <p:cTn id="15" fill="hold">
                            <p:stCondLst>
                              <p:cond delay="500"/>
                            </p:stCondLst>
                            <p:childTnLst>
                              <p:par>
                                <p:cTn id="16" presetID="22" presetClass="entr" presetSubtype="1" fill="hold" nodeType="after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wipe(up)">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48130">
                                            <p:txEl>
                                              <p:pRg st="4" end="4"/>
                                            </p:txEl>
                                          </p:spTgt>
                                        </p:tgtEl>
                                        <p:attrNameLst>
                                          <p:attrName>style.visibility</p:attrName>
                                        </p:attrNameLst>
                                      </p:cBhvr>
                                      <p:to>
                                        <p:strVal val="visible"/>
                                      </p:to>
                                    </p:set>
                                    <p:animEffect transition="in" filter="strips(downRight)">
                                      <p:cBhvr>
                                        <p:cTn id="23" dur="500"/>
                                        <p:tgtEl>
                                          <p:spTgt spid="48130">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 calcmode="lin" valueType="num">
                                      <p:cBhvr>
                                        <p:cTn id="28" dur="500" fill="hold"/>
                                        <p:tgtEl>
                                          <p:spTgt spid="22"/>
                                        </p:tgtEl>
                                        <p:attrNameLst>
                                          <p:attrName>ppt_w</p:attrName>
                                        </p:attrNameLst>
                                      </p:cBhvr>
                                      <p:tavLst>
                                        <p:tav tm="0">
                                          <p:val>
                                            <p:fltVal val="0"/>
                                          </p:val>
                                        </p:tav>
                                        <p:tav tm="100000">
                                          <p:val>
                                            <p:strVal val="#ppt_w"/>
                                          </p:val>
                                        </p:tav>
                                      </p:tavLst>
                                    </p:anim>
                                    <p:anim calcmode="lin" valueType="num">
                                      <p:cBhvr>
                                        <p:cTn id="29" dur="500" fill="hold"/>
                                        <p:tgtEl>
                                          <p:spTgt spid="22"/>
                                        </p:tgtEl>
                                        <p:attrNameLst>
                                          <p:attrName>ppt_h</p:attrName>
                                        </p:attrNameLst>
                                      </p:cBhvr>
                                      <p:tavLst>
                                        <p:tav tm="0">
                                          <p:val>
                                            <p:fltVal val="0"/>
                                          </p:val>
                                        </p:tav>
                                        <p:tav tm="100000">
                                          <p:val>
                                            <p:strVal val="#ppt_h"/>
                                          </p:val>
                                        </p:tav>
                                      </p:tavLst>
                                    </p:anim>
                                    <p:animEffect transition="in" filter="fade">
                                      <p:cBhvr>
                                        <p:cTn id="30" dur="500"/>
                                        <p:tgtEl>
                                          <p:spTgt spid="22"/>
                                        </p:tgtEl>
                                      </p:cBhvr>
                                    </p:animEffect>
                                  </p:childTnLst>
                                </p:cTn>
                              </p:par>
                            </p:childTnLst>
                          </p:cTn>
                        </p:par>
                        <p:par>
                          <p:cTn id="31" fill="hold">
                            <p:stCondLst>
                              <p:cond delay="500"/>
                            </p:stCondLst>
                            <p:childTnLst>
                              <p:par>
                                <p:cTn id="32" presetID="22" presetClass="entr" presetSubtype="1" fill="hold" nodeType="after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up)">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uiExpand="1" build="p" autoUpdateAnimBg="0"/>
      <p:bldP spid="21" grpId="0"/>
      <p:bldP spid="2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type="body" idx="4294967295"/>
          </p:nvPr>
        </p:nvSpPr>
        <p:spPr>
          <a:xfrm>
            <a:off x="428088" y="1224672"/>
            <a:ext cx="4095493" cy="606812"/>
          </a:xfrm>
        </p:spPr>
        <p:txBody>
          <a:bodyPr/>
          <a:lstStyle/>
          <a:p>
            <a:pPr marL="342900" lvl="2" indent="-342900" eaLnBrk="1" hangingPunct="1">
              <a:lnSpc>
                <a:spcPct val="150000"/>
              </a:lnSpc>
              <a:spcBef>
                <a:spcPct val="0"/>
              </a:spcBef>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线性需求曲线上的弹性变化</a:t>
            </a:r>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p:grpSp>
        <p:nvGrpSpPr>
          <p:cNvPr id="49155" name="组合 19"/>
          <p:cNvGrpSpPr>
            <a:grpSpLocks/>
          </p:cNvGrpSpPr>
          <p:nvPr/>
        </p:nvGrpSpPr>
        <p:grpSpPr bwMode="auto">
          <a:xfrm>
            <a:off x="683568" y="2904059"/>
            <a:ext cx="4002088" cy="2620962"/>
            <a:chOff x="0" y="1"/>
            <a:chExt cx="4002088" cy="2620962"/>
          </a:xfrm>
        </p:grpSpPr>
        <p:cxnSp>
          <p:nvCxnSpPr>
            <p:cNvPr id="54280" name="直接连接符 25"/>
            <p:cNvCxnSpPr>
              <a:cxnSpLocks noChangeShapeType="1"/>
              <a:stCxn id="54285" idx="2"/>
            </p:cNvCxnSpPr>
            <p:nvPr/>
          </p:nvCxnSpPr>
          <p:spPr bwMode="auto">
            <a:xfrm rot="10800000" flipH="1">
              <a:off x="1741488" y="550863"/>
              <a:ext cx="615950" cy="681037"/>
            </a:xfrm>
            <a:prstGeom prst="line">
              <a:avLst/>
            </a:prstGeom>
            <a:noFill/>
            <a:ln w="9525">
              <a:solidFill>
                <a:srgbClr val="7F7F7F"/>
              </a:solidFill>
              <a:round/>
              <a:headEnd/>
              <a:tailEnd/>
            </a:ln>
            <a:extLst>
              <a:ext uri="{909E8E84-426E-40DD-AFC4-6F175D3DCCD1}">
                <a14:hiddenFill xmlns:a14="http://schemas.microsoft.com/office/drawing/2010/main">
                  <a:noFill/>
                </a14:hiddenFill>
              </a:ext>
            </a:extLst>
          </p:spPr>
        </p:cxnSp>
        <p:grpSp>
          <p:nvGrpSpPr>
            <p:cNvPr id="54281" name="组合 30"/>
            <p:cNvGrpSpPr>
              <a:grpSpLocks/>
            </p:cNvGrpSpPr>
            <p:nvPr/>
          </p:nvGrpSpPr>
          <p:grpSpPr bwMode="auto">
            <a:xfrm>
              <a:off x="0" y="1"/>
              <a:ext cx="4002088" cy="2620962"/>
              <a:chOff x="0" y="1"/>
              <a:chExt cx="4001322" cy="2621209"/>
            </a:xfrm>
          </p:grpSpPr>
          <p:grpSp>
            <p:nvGrpSpPr>
              <p:cNvPr id="54282" name="组合 11"/>
              <p:cNvGrpSpPr>
                <a:grpSpLocks/>
              </p:cNvGrpSpPr>
              <p:nvPr/>
            </p:nvGrpSpPr>
            <p:grpSpPr bwMode="auto">
              <a:xfrm>
                <a:off x="285694" y="1"/>
                <a:ext cx="3715628" cy="2214772"/>
                <a:chOff x="-58" y="1"/>
                <a:chExt cx="3715628" cy="2214772"/>
              </a:xfrm>
            </p:grpSpPr>
            <p:cxnSp>
              <p:nvCxnSpPr>
                <p:cNvPr id="54292" name="直接箭头连接符 5"/>
                <p:cNvCxnSpPr>
                  <a:cxnSpLocks noChangeShapeType="1"/>
                </p:cNvCxnSpPr>
                <p:nvPr/>
              </p:nvCxnSpPr>
              <p:spPr bwMode="auto">
                <a:xfrm>
                  <a:off x="1531" y="2213184"/>
                  <a:ext cx="3714039"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4293" name="直接箭头连接符 7"/>
                <p:cNvCxnSpPr>
                  <a:cxnSpLocks noChangeShapeType="1"/>
                </p:cNvCxnSpPr>
                <p:nvPr/>
              </p:nvCxnSpPr>
              <p:spPr bwMode="auto">
                <a:xfrm rot="5400000" flipH="1" flipV="1">
                  <a:off x="-1106650" y="1106593"/>
                  <a:ext cx="2214772"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4294" name="直接连接符 9"/>
                <p:cNvCxnSpPr>
                  <a:cxnSpLocks noChangeShapeType="1"/>
                </p:cNvCxnSpPr>
                <p:nvPr/>
              </p:nvCxnSpPr>
              <p:spPr bwMode="auto">
                <a:xfrm>
                  <a:off x="1531" y="284190"/>
                  <a:ext cx="3071224" cy="1928994"/>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pSp>
          <p:grpSp>
            <p:nvGrpSpPr>
              <p:cNvPr id="54283" name="组合 29"/>
              <p:cNvGrpSpPr>
                <a:grpSpLocks/>
              </p:cNvGrpSpPr>
              <p:nvPr/>
            </p:nvGrpSpPr>
            <p:grpSpPr bwMode="auto">
              <a:xfrm>
                <a:off x="0" y="51031"/>
                <a:ext cx="3998939" cy="2570179"/>
                <a:chOff x="0" y="0"/>
                <a:chExt cx="3998939" cy="2570179"/>
              </a:xfrm>
            </p:grpSpPr>
            <p:sp>
              <p:nvSpPr>
                <p:cNvPr id="54284" name="右大括号 18"/>
                <p:cNvSpPr>
                  <a:spLocks/>
                </p:cNvSpPr>
                <p:nvPr/>
              </p:nvSpPr>
              <p:spPr bwMode="auto">
                <a:xfrm rot="-3470013">
                  <a:off x="2528369" y="649384"/>
                  <a:ext cx="203219" cy="1866542"/>
                </a:xfrm>
                <a:prstGeom prst="rightBrace">
                  <a:avLst>
                    <a:gd name="adj1" fmla="val 8334"/>
                    <a:gd name="adj2" fmla="val 50000"/>
                  </a:avLst>
                </a:prstGeom>
                <a:noFill/>
                <a:ln w="9525">
                  <a:solidFill>
                    <a:srgbClr val="7F7F7F"/>
                  </a:solidFill>
                  <a:round/>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54285" name="右大括号 20"/>
                <p:cNvSpPr>
                  <a:spLocks/>
                </p:cNvSpPr>
                <p:nvPr/>
              </p:nvSpPr>
              <p:spPr bwMode="auto">
                <a:xfrm rot="-3470013">
                  <a:off x="962596" y="-229397"/>
                  <a:ext cx="233384" cy="1710997"/>
                </a:xfrm>
                <a:prstGeom prst="rightBrace">
                  <a:avLst>
                    <a:gd name="adj1" fmla="val 8349"/>
                    <a:gd name="adj2" fmla="val 50000"/>
                  </a:avLst>
                </a:prstGeom>
                <a:noFill/>
                <a:ln w="9525">
                  <a:solidFill>
                    <a:srgbClr val="7F7F7F"/>
                  </a:solidFill>
                  <a:round/>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graphicFrame>
              <p:nvGraphicFramePr>
                <p:cNvPr id="54286" name="Object 13"/>
                <p:cNvGraphicFramePr>
                  <a:graphicFrameLocks noChangeAspect="1"/>
                </p:cNvGraphicFramePr>
                <p:nvPr/>
              </p:nvGraphicFramePr>
              <p:xfrm>
                <a:off x="0" y="2214578"/>
                <a:ext cx="212725" cy="247650"/>
              </p:xfrm>
              <a:graphic>
                <a:graphicData uri="http://schemas.openxmlformats.org/presentationml/2006/ole">
                  <mc:AlternateContent xmlns:mc="http://schemas.openxmlformats.org/markup-compatibility/2006">
                    <mc:Choice xmlns:v="urn:schemas-microsoft-com:vml" Requires="v">
                      <p:oleObj spid="_x0000_s201729" r:id="rId4" imgW="153198" imgH="178731" progId="">
                        <p:embed/>
                      </p:oleObj>
                    </mc:Choice>
                    <mc:Fallback>
                      <p:oleObj r:id="rId4" imgW="153198" imgH="178731" progId="">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214578"/>
                              <a:ext cx="212725"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287" name="Object 14"/>
                <p:cNvGraphicFramePr>
                  <a:graphicFrameLocks noChangeAspect="1"/>
                </p:cNvGraphicFramePr>
                <p:nvPr/>
              </p:nvGraphicFramePr>
              <p:xfrm>
                <a:off x="0" y="0"/>
                <a:ext cx="212725" cy="230188"/>
              </p:xfrm>
              <a:graphic>
                <a:graphicData uri="http://schemas.openxmlformats.org/presentationml/2006/ole">
                  <mc:AlternateContent xmlns:mc="http://schemas.openxmlformats.org/markup-compatibility/2006">
                    <mc:Choice xmlns:v="urn:schemas-microsoft-com:vml" Requires="v">
                      <p:oleObj spid="_x0000_s201730" r:id="rId6" imgW="153332" imgH="166109" progId="">
                        <p:embed/>
                      </p:oleObj>
                    </mc:Choice>
                    <mc:Fallback>
                      <p:oleObj r:id="rId6" imgW="153332" imgH="166109" progId="">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212725"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288" name="Object 15"/>
                <p:cNvGraphicFramePr>
                  <a:graphicFrameLocks noChangeAspect="1"/>
                </p:cNvGraphicFramePr>
                <p:nvPr/>
              </p:nvGraphicFramePr>
              <p:xfrm>
                <a:off x="3786214" y="2286016"/>
                <a:ext cx="212725" cy="284163"/>
              </p:xfrm>
              <a:graphic>
                <a:graphicData uri="http://schemas.openxmlformats.org/presentationml/2006/ole">
                  <mc:AlternateContent xmlns:mc="http://schemas.openxmlformats.org/markup-compatibility/2006">
                    <mc:Choice xmlns:v="urn:schemas-microsoft-com:vml" Requires="v">
                      <p:oleObj spid="_x0000_s201731" r:id="rId8" imgW="153332" imgH="204442" progId="">
                        <p:embed/>
                      </p:oleObj>
                    </mc:Choice>
                    <mc:Fallback>
                      <p:oleObj r:id="rId8" imgW="153332" imgH="204442" progId="">
                        <p:embed/>
                        <p:pic>
                          <p:nvPicPr>
                            <p:cNvPr id="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86214" y="2286016"/>
                              <a:ext cx="212725"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4289" name="TextBox 26"/>
                <p:cNvSpPr txBox="1">
                  <a:spLocks noChangeArrowheads="1"/>
                </p:cNvSpPr>
                <p:nvPr/>
              </p:nvSpPr>
              <p:spPr bwMode="auto">
                <a:xfrm>
                  <a:off x="1143008" y="285752"/>
                  <a:ext cx="11192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0" dirty="0">
                      <a:solidFill>
                        <a:schemeClr val="tx1"/>
                      </a:solidFill>
                    </a:rPr>
                    <a:t>弹性大于</a:t>
                  </a:r>
                  <a:r>
                    <a:rPr lang="en-US" altLang="zh-CN" sz="1600" b="0" dirty="0">
                      <a:solidFill>
                        <a:schemeClr val="tx1"/>
                      </a:solidFill>
                    </a:rPr>
                    <a:t>1</a:t>
                  </a:r>
                  <a:endParaRPr lang="zh-CN" altLang="en-US" sz="1600" b="0" dirty="0">
                    <a:solidFill>
                      <a:schemeClr val="tx1"/>
                    </a:solidFill>
                  </a:endParaRPr>
                </a:p>
              </p:txBody>
            </p:sp>
            <p:sp>
              <p:nvSpPr>
                <p:cNvPr id="54290" name="TextBox 27"/>
                <p:cNvSpPr txBox="1">
                  <a:spLocks noChangeArrowheads="1"/>
                </p:cNvSpPr>
                <p:nvPr/>
              </p:nvSpPr>
              <p:spPr bwMode="auto">
                <a:xfrm>
                  <a:off x="2286016" y="357190"/>
                  <a:ext cx="11192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0">
                      <a:solidFill>
                        <a:schemeClr val="tx1"/>
                      </a:solidFill>
                    </a:rPr>
                    <a:t>弹性等于</a:t>
                  </a:r>
                  <a:r>
                    <a:rPr lang="en-US" altLang="zh-CN" sz="1600" b="0">
                      <a:solidFill>
                        <a:schemeClr val="tx1"/>
                      </a:solidFill>
                    </a:rPr>
                    <a:t>1</a:t>
                  </a:r>
                  <a:endParaRPr lang="zh-CN" altLang="en-US" sz="1600" b="0">
                    <a:solidFill>
                      <a:schemeClr val="tx1"/>
                    </a:solidFill>
                  </a:endParaRPr>
                </a:p>
              </p:txBody>
            </p:sp>
            <p:sp>
              <p:nvSpPr>
                <p:cNvPr id="54291" name="TextBox 28"/>
                <p:cNvSpPr txBox="1">
                  <a:spLocks noChangeArrowheads="1"/>
                </p:cNvSpPr>
                <p:nvPr/>
              </p:nvSpPr>
              <p:spPr bwMode="auto">
                <a:xfrm>
                  <a:off x="2643206" y="1143008"/>
                  <a:ext cx="11192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0">
                      <a:solidFill>
                        <a:schemeClr val="tx1"/>
                      </a:solidFill>
                    </a:rPr>
                    <a:t>弹性小于</a:t>
                  </a:r>
                  <a:r>
                    <a:rPr lang="en-US" altLang="zh-CN" sz="1600" b="0">
                      <a:solidFill>
                        <a:schemeClr val="tx1"/>
                      </a:solidFill>
                    </a:rPr>
                    <a:t>1</a:t>
                  </a:r>
                  <a:endParaRPr lang="zh-CN" altLang="en-US" sz="1600" b="0">
                    <a:solidFill>
                      <a:schemeClr val="tx1"/>
                    </a:solidFill>
                  </a:endParaRPr>
                </a:p>
              </p:txBody>
            </p:sp>
          </p:grpSp>
        </p:grpSp>
      </p:grpSp>
      <p:grpSp>
        <p:nvGrpSpPr>
          <p:cNvPr id="49171" name="组合 9"/>
          <p:cNvGrpSpPr>
            <a:grpSpLocks/>
          </p:cNvGrpSpPr>
          <p:nvPr/>
        </p:nvGrpSpPr>
        <p:grpSpPr bwMode="auto">
          <a:xfrm>
            <a:off x="4926527" y="3343851"/>
            <a:ext cx="3626523" cy="2161072"/>
            <a:chOff x="32518" y="0"/>
            <a:chExt cx="4416743" cy="1214454"/>
          </a:xfrm>
        </p:grpSpPr>
        <p:sp>
          <p:nvSpPr>
            <p:cNvPr id="54278" name="圆角矩形 22"/>
            <p:cNvSpPr>
              <a:spLocks noChangeArrowheads="1"/>
            </p:cNvSpPr>
            <p:nvPr/>
          </p:nvSpPr>
          <p:spPr bwMode="auto">
            <a:xfrm>
              <a:off x="32518" y="0"/>
              <a:ext cx="4357356" cy="1214454"/>
            </a:xfrm>
            <a:prstGeom prst="roundRect">
              <a:avLst>
                <a:gd name="adj" fmla="val 16667"/>
              </a:avLst>
            </a:prstGeom>
            <a:noFill/>
            <a:ln w="19050">
              <a:solidFill>
                <a:schemeClr val="accent3">
                  <a:lumMod val="65000"/>
                </a:schemeClr>
              </a:solidFill>
              <a:round/>
              <a:headEnd/>
              <a:tailEnd/>
            </a:ln>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rgbClr val="000000"/>
                </a:solidFill>
              </a:endParaRPr>
            </a:p>
          </p:txBody>
        </p:sp>
        <p:sp>
          <p:nvSpPr>
            <p:cNvPr id="54279" name="TextBox 3"/>
            <p:cNvSpPr txBox="1">
              <a:spLocks noChangeArrowheads="1"/>
            </p:cNvSpPr>
            <p:nvPr/>
          </p:nvSpPr>
          <p:spPr bwMode="auto">
            <a:xfrm>
              <a:off x="129674" y="89853"/>
              <a:ext cx="4319587" cy="1009983"/>
            </a:xfrm>
            <a:prstGeom prst="rect">
              <a:avLst/>
            </a:prstGeom>
            <a:noFill/>
            <a:ln w="9525">
              <a:noFill/>
              <a:miter lim="800000"/>
              <a:headEnd/>
              <a:tailEnd/>
            </a:ln>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285750" indent="-28575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需求曲线是一条直线，随着价格由低到高，需求的价格弹性由缺乏弹性、单位弹性逐渐变动到富有弹性。</a:t>
              </a:r>
              <a:endParaRPr lang="en-US" altLang="zh-CN" sz="1800" b="0" spc="150" dirty="0">
                <a:solidFill>
                  <a:srgbClr val="000000"/>
                </a:solidFill>
                <a:latin typeface="微软雅黑" panose="020B0503020204020204" pitchFamily="34" charset="-122"/>
                <a:ea typeface="微软雅黑" panose="020B0503020204020204" pitchFamily="34" charset="-122"/>
              </a:endParaRPr>
            </a:p>
            <a:p>
              <a:pPr marL="285750" indent="-28575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其中，该线段中点处的需求价格弹性为单位弹性。</a:t>
              </a:r>
            </a:p>
          </p:txBody>
        </p:sp>
      </p:grpSp>
      <p:grpSp>
        <p:nvGrpSpPr>
          <p:cNvPr id="23" name="组合 9"/>
          <p:cNvGrpSpPr>
            <a:grpSpLocks/>
          </p:cNvGrpSpPr>
          <p:nvPr/>
        </p:nvGrpSpPr>
        <p:grpSpPr bwMode="auto">
          <a:xfrm>
            <a:off x="4926527" y="2050000"/>
            <a:ext cx="3577761" cy="1041904"/>
            <a:chOff x="32518" y="0"/>
            <a:chExt cx="4357356" cy="1257467"/>
          </a:xfrm>
        </p:grpSpPr>
        <p:sp>
          <p:nvSpPr>
            <p:cNvPr id="24" name="圆角矩形 22"/>
            <p:cNvSpPr>
              <a:spLocks noChangeArrowheads="1"/>
            </p:cNvSpPr>
            <p:nvPr/>
          </p:nvSpPr>
          <p:spPr bwMode="auto">
            <a:xfrm>
              <a:off x="32518" y="0"/>
              <a:ext cx="4357356" cy="1214454"/>
            </a:xfrm>
            <a:prstGeom prst="roundRect">
              <a:avLst>
                <a:gd name="adj" fmla="val 16667"/>
              </a:avLst>
            </a:prstGeom>
            <a:noFill/>
            <a:ln w="28575">
              <a:solidFill>
                <a:schemeClr val="accent3">
                  <a:lumMod val="65000"/>
                </a:schemeClr>
              </a:solidFill>
              <a:round/>
              <a:headEnd/>
              <a:tailEnd/>
            </a:ln>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rgbClr val="000000"/>
                </a:solidFill>
              </a:endParaRPr>
            </a:p>
          </p:txBody>
        </p:sp>
        <p:sp>
          <p:nvSpPr>
            <p:cNvPr id="25" name="TextBox 3"/>
            <p:cNvSpPr txBox="1">
              <a:spLocks noChangeArrowheads="1"/>
            </p:cNvSpPr>
            <p:nvPr/>
          </p:nvSpPr>
          <p:spPr bwMode="auto">
            <a:xfrm>
              <a:off x="51402" y="143107"/>
              <a:ext cx="4319587" cy="111436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285750" indent="-28575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可以证明，直线需求曲线上的点弹性为：</a:t>
              </a:r>
              <a:endParaRPr lang="en-US" altLang="zh-CN" sz="1800" b="0" spc="150" dirty="0">
                <a:solidFill>
                  <a:srgbClr val="000000"/>
                </a:solidFill>
                <a:latin typeface="微软雅黑" panose="020B0503020204020204" pitchFamily="34" charset="-122"/>
                <a:ea typeface="微软雅黑" panose="020B0503020204020204" pitchFamily="34" charset="-122"/>
              </a:endParaRPr>
            </a:p>
            <a:p>
              <a:pPr algn="ctr" eaLnBrk="1" hangingPunct="1">
                <a:spcBef>
                  <a:spcPct val="0"/>
                </a:spcBef>
                <a:buNone/>
              </a:pPr>
              <a:r>
                <a:rPr lang="en-US" altLang="zh-CN" sz="1800" b="0" spc="150" dirty="0">
                  <a:solidFill>
                    <a:srgbClr val="000000"/>
                  </a:solidFill>
                  <a:latin typeface="微软雅黑" panose="020B0503020204020204" pitchFamily="34" charset="-122"/>
                  <a:ea typeface="微软雅黑" panose="020B0503020204020204" pitchFamily="34" charset="-122"/>
                </a:rPr>
                <a:t>E = BC/AB</a:t>
              </a:r>
              <a:endParaRPr lang="zh-CN" altLang="en-US" sz="1800" b="0" spc="150" dirty="0">
                <a:solidFill>
                  <a:srgbClr val="000000"/>
                </a:solidFill>
                <a:latin typeface="微软雅黑" panose="020B0503020204020204" pitchFamily="34" charset="-122"/>
                <a:ea typeface="微软雅黑" panose="020B0503020204020204" pitchFamily="34" charset="-122"/>
              </a:endParaRPr>
            </a:p>
          </p:txBody>
        </p:sp>
      </p:grpSp>
      <p:grpSp>
        <p:nvGrpSpPr>
          <p:cNvPr id="3" name="组合 2">
            <a:extLst>
              <a:ext uri="{FF2B5EF4-FFF2-40B4-BE49-F238E27FC236}">
                <a16:creationId xmlns:a16="http://schemas.microsoft.com/office/drawing/2014/main" id="{B2FC8EC1-B861-46D8-9721-983B2450E656}"/>
              </a:ext>
            </a:extLst>
          </p:cNvPr>
          <p:cNvGrpSpPr/>
          <p:nvPr/>
        </p:nvGrpSpPr>
        <p:grpSpPr>
          <a:xfrm>
            <a:off x="877315" y="2898984"/>
            <a:ext cx="3313837" cy="2610703"/>
            <a:chOff x="1166993" y="2711588"/>
            <a:chExt cx="3313837" cy="2610703"/>
          </a:xfrm>
        </p:grpSpPr>
        <p:sp>
          <p:nvSpPr>
            <p:cNvPr id="2" name="矩形 1"/>
            <p:cNvSpPr/>
            <p:nvPr/>
          </p:nvSpPr>
          <p:spPr>
            <a:xfrm>
              <a:off x="2805013" y="4405533"/>
              <a:ext cx="338554" cy="369332"/>
            </a:xfrm>
            <a:prstGeom prst="rect">
              <a:avLst/>
            </a:prstGeom>
          </p:spPr>
          <p:txBody>
            <a:bodyPr wrap="none">
              <a:spAutoFit/>
            </a:bodyPr>
            <a:lstStyle/>
            <a:p>
              <a:r>
                <a:rPr lang="en-US" altLang="zh-CN" dirty="0"/>
                <a:t>B</a:t>
              </a:r>
              <a:endParaRPr lang="zh-CN" altLang="en-US" dirty="0"/>
            </a:p>
          </p:txBody>
        </p:sp>
        <p:sp>
          <p:nvSpPr>
            <p:cNvPr id="28" name="矩形 27"/>
            <p:cNvSpPr/>
            <p:nvPr/>
          </p:nvSpPr>
          <p:spPr>
            <a:xfrm>
              <a:off x="4036880" y="4952959"/>
              <a:ext cx="351378" cy="369332"/>
            </a:xfrm>
            <a:prstGeom prst="rect">
              <a:avLst/>
            </a:prstGeom>
          </p:spPr>
          <p:txBody>
            <a:bodyPr wrap="none">
              <a:spAutoFit/>
            </a:bodyPr>
            <a:lstStyle/>
            <a:p>
              <a:r>
                <a:rPr lang="en-US" altLang="zh-CN" dirty="0"/>
                <a:t>C</a:t>
              </a:r>
              <a:endParaRPr lang="zh-CN" altLang="en-US" dirty="0"/>
            </a:p>
          </p:txBody>
        </p:sp>
        <p:sp>
          <p:nvSpPr>
            <p:cNvPr id="29" name="矩形 28"/>
            <p:cNvSpPr/>
            <p:nvPr/>
          </p:nvSpPr>
          <p:spPr>
            <a:xfrm>
              <a:off x="1287626" y="2711588"/>
              <a:ext cx="338554" cy="369332"/>
            </a:xfrm>
            <a:prstGeom prst="rect">
              <a:avLst/>
            </a:prstGeom>
          </p:spPr>
          <p:txBody>
            <a:bodyPr wrap="none">
              <a:spAutoFit/>
            </a:bodyPr>
            <a:lstStyle/>
            <a:p>
              <a:r>
                <a:rPr lang="en-US" altLang="zh-CN" dirty="0">
                  <a:solidFill>
                    <a:srgbClr val="000000"/>
                  </a:solidFill>
                </a:rPr>
                <a:t>A</a:t>
              </a:r>
              <a:endParaRPr lang="zh-CN" altLang="en-US" dirty="0"/>
            </a:p>
          </p:txBody>
        </p:sp>
        <p:sp>
          <p:nvSpPr>
            <p:cNvPr id="5" name="椭圆 4"/>
            <p:cNvSpPr/>
            <p:nvPr/>
          </p:nvSpPr>
          <p:spPr bwMode="auto">
            <a:xfrm>
              <a:off x="1166993" y="2990346"/>
              <a:ext cx="209516" cy="166109"/>
            </a:xfrm>
            <a:prstGeom prst="ellipse">
              <a:avLst/>
            </a:prstGeom>
            <a:solidFill>
              <a:srgbClr val="C00000"/>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5" name="椭圆 34"/>
            <p:cNvSpPr/>
            <p:nvPr/>
          </p:nvSpPr>
          <p:spPr bwMode="auto">
            <a:xfrm>
              <a:off x="3119633" y="4200214"/>
              <a:ext cx="209516" cy="166109"/>
            </a:xfrm>
            <a:prstGeom prst="ellipse">
              <a:avLst/>
            </a:prstGeom>
            <a:solidFill>
              <a:srgbClr val="C00000"/>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6" name="椭圆 35"/>
            <p:cNvSpPr/>
            <p:nvPr/>
          </p:nvSpPr>
          <p:spPr bwMode="auto">
            <a:xfrm>
              <a:off x="4271314" y="4829431"/>
              <a:ext cx="209516" cy="166109"/>
            </a:xfrm>
            <a:prstGeom prst="ellipse">
              <a:avLst/>
            </a:prstGeom>
            <a:solidFill>
              <a:srgbClr val="C00000"/>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7" name="椭圆 36"/>
            <p:cNvSpPr/>
            <p:nvPr/>
          </p:nvSpPr>
          <p:spPr bwMode="auto">
            <a:xfrm>
              <a:off x="2621868" y="3891648"/>
              <a:ext cx="209516" cy="166109"/>
            </a:xfrm>
            <a:prstGeom prst="ellipse">
              <a:avLst/>
            </a:prstGeom>
            <a:solidFill>
              <a:srgbClr val="C00000"/>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sp>
        <p:nvSpPr>
          <p:cNvPr id="33" name="矩形 32">
            <a:extLst>
              <a:ext uri="{FF2B5EF4-FFF2-40B4-BE49-F238E27FC236}">
                <a16:creationId xmlns:a16="http://schemas.microsoft.com/office/drawing/2014/main" id="{0470D34D-2755-42DB-9F50-A93C8DCFB6E7}"/>
              </a:ext>
            </a:extLst>
          </p:cNvPr>
          <p:cNvSpPr/>
          <p:nvPr/>
        </p:nvSpPr>
        <p:spPr>
          <a:xfrm>
            <a:off x="467544" y="548680"/>
            <a:ext cx="323838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二、需求的价格弹性 </a:t>
            </a:r>
          </a:p>
        </p:txBody>
      </p:sp>
      <p:sp>
        <p:nvSpPr>
          <p:cNvPr id="34" name="矩形 33">
            <a:extLst>
              <a:ext uri="{FF2B5EF4-FFF2-40B4-BE49-F238E27FC236}">
                <a16:creationId xmlns:a16="http://schemas.microsoft.com/office/drawing/2014/main" id="{1DA0143E-FA24-47A3-802B-C4EE8EA40434}"/>
              </a:ext>
            </a:extLst>
          </p:cNvPr>
          <p:cNvSpPr/>
          <p:nvPr/>
        </p:nvSpPr>
        <p:spPr>
          <a:xfrm>
            <a:off x="7261793"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弹性 </a:t>
            </a:r>
          </a:p>
        </p:txBody>
      </p:sp>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54">
                                            <p:txEl>
                                              <p:pRg st="0" end="0"/>
                                            </p:txEl>
                                          </p:spTgt>
                                        </p:tgtEl>
                                        <p:attrNameLst>
                                          <p:attrName>style.visibility</p:attrName>
                                        </p:attrNameLst>
                                      </p:cBhvr>
                                      <p:to>
                                        <p:strVal val="visible"/>
                                      </p:to>
                                    </p:set>
                                    <p:animEffect transition="in" filter="wipe(left)">
                                      <p:cBhvr>
                                        <p:cTn id="7" dur="500"/>
                                        <p:tgtEl>
                                          <p:spTgt spid="491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9155"/>
                                        </p:tgtEl>
                                        <p:attrNameLst>
                                          <p:attrName>style.visibility</p:attrName>
                                        </p:attrNameLst>
                                      </p:cBhvr>
                                      <p:to>
                                        <p:strVal val="visible"/>
                                      </p:to>
                                    </p:set>
                                    <p:animEffect transition="in" filter="randombar(horizontal)">
                                      <p:cBhvr>
                                        <p:cTn id="12" dur="500"/>
                                        <p:tgtEl>
                                          <p:spTgt spid="4915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randombar(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up)">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49171"/>
                                        </p:tgtEl>
                                        <p:attrNameLst>
                                          <p:attrName>style.visibility</p:attrName>
                                        </p:attrNameLst>
                                      </p:cBhvr>
                                      <p:to>
                                        <p:strVal val="visible"/>
                                      </p:to>
                                    </p:set>
                                    <p:animEffect transition="in" filter="wipe(up)">
                                      <p:cBhvr>
                                        <p:cTn id="27" dur="500"/>
                                        <p:tgtEl>
                                          <p:spTgt spid="49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type="body" idx="4294967295"/>
          </p:nvPr>
        </p:nvSpPr>
        <p:spPr>
          <a:xfrm>
            <a:off x="652886" y="1341438"/>
            <a:ext cx="8229600" cy="4784725"/>
          </a:xfrm>
        </p:spPr>
        <p:txBody>
          <a:bodyPr/>
          <a:lstStyle/>
          <a:p>
            <a:pPr marL="342900" lvl="2" indent="-342900" eaLnBrk="1" hangingPunct="1">
              <a:lnSpc>
                <a:spcPct val="200000"/>
              </a:lnSpc>
              <a:spcBef>
                <a:spcPct val="0"/>
              </a:spcBef>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需求的收入弹性</a:t>
            </a:r>
            <a:endParaRPr lang="en-US" altLang="zh-CN" sz="2000" spc="150" dirty="0">
              <a:solidFill>
                <a:srgbClr val="000000"/>
              </a:solidFill>
              <a:latin typeface="微软雅黑" panose="020B0503020204020204" pitchFamily="34" charset="-122"/>
              <a:ea typeface="微软雅黑" panose="020B0503020204020204" pitchFamily="34" charset="-122"/>
            </a:endParaRPr>
          </a:p>
          <a:p>
            <a:pPr marL="742950" lvl="3" indent="-285750" eaLnBrk="1" hangingPunct="1">
              <a:lnSpc>
                <a:spcPct val="200000"/>
              </a:lnSpc>
              <a:spcBef>
                <a:spcPct val="0"/>
              </a:spcBef>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定义</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742950" lvl="3" indent="-285750" eaLnBrk="1" hangingPunct="1">
              <a:lnSpc>
                <a:spcPct val="200000"/>
              </a:lnSpc>
              <a:spcBef>
                <a:spcPct val="0"/>
              </a:spcBef>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公式</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457200" lvl="3" indent="0" eaLnBrk="1" hangingPunct="1">
              <a:lnSpc>
                <a:spcPct val="200000"/>
              </a:lnSpc>
              <a:spcBef>
                <a:spcPct val="0"/>
              </a:spcBef>
              <a:buNone/>
            </a:pP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742950" lvl="3" indent="-285750" eaLnBrk="1" hangingPunct="1">
              <a:lnSpc>
                <a:spcPct val="200000"/>
              </a:lnSpc>
              <a:spcBef>
                <a:spcPct val="0"/>
              </a:spcBef>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分类</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914400" lvl="4" indent="0" eaLnBrk="1" hangingPunct="1">
              <a:lnSpc>
                <a:spcPct val="200000"/>
              </a:lnSpc>
              <a:spcBef>
                <a:spcPct val="0"/>
              </a:spcBef>
              <a:buNone/>
            </a:pPr>
            <a:r>
              <a:rPr lang="zh-CN" altLang="en-US" sz="1800" spc="150" dirty="0">
                <a:solidFill>
                  <a:srgbClr val="000000"/>
                </a:solidFill>
                <a:latin typeface="微软雅黑" panose="020B0503020204020204" pitchFamily="34" charset="-122"/>
                <a:ea typeface="微软雅黑" panose="020B0503020204020204" pitchFamily="34" charset="-122"/>
              </a:rPr>
              <a:t>奢侈品</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914400" lvl="4" indent="0" eaLnBrk="1" hangingPunct="1">
              <a:lnSpc>
                <a:spcPct val="200000"/>
              </a:lnSpc>
              <a:spcBef>
                <a:spcPct val="0"/>
              </a:spcBef>
              <a:buNone/>
            </a:pPr>
            <a:r>
              <a:rPr lang="zh-CN" altLang="en-US" sz="1800" spc="150" dirty="0">
                <a:solidFill>
                  <a:srgbClr val="000000"/>
                </a:solidFill>
                <a:latin typeface="微软雅黑" panose="020B0503020204020204" pitchFamily="34" charset="-122"/>
                <a:ea typeface="微软雅黑" panose="020B0503020204020204" pitchFamily="34" charset="-122"/>
              </a:rPr>
              <a:t>必需品</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914400" lvl="4" indent="0" eaLnBrk="1" hangingPunct="1">
              <a:lnSpc>
                <a:spcPct val="200000"/>
              </a:lnSpc>
              <a:spcBef>
                <a:spcPct val="0"/>
              </a:spcBef>
              <a:buNone/>
            </a:pPr>
            <a:r>
              <a:rPr lang="zh-CN" altLang="en-US" sz="1800" spc="150" dirty="0">
                <a:solidFill>
                  <a:srgbClr val="000000"/>
                </a:solidFill>
                <a:latin typeface="微软雅黑" panose="020B0503020204020204" pitchFamily="34" charset="-122"/>
                <a:ea typeface="微软雅黑" panose="020B0503020204020204" pitchFamily="34" charset="-122"/>
              </a:rPr>
              <a:t>低档品</a:t>
            </a:r>
            <a:endParaRPr lang="en-US" altLang="zh-CN" sz="1600" spc="150" dirty="0">
              <a:solidFill>
                <a:srgbClr val="000000"/>
              </a:solidFill>
              <a:latin typeface="微软雅黑" panose="020B0503020204020204" pitchFamily="34" charset="-122"/>
              <a:ea typeface="微软雅黑" panose="020B0503020204020204" pitchFamily="34" charset="-122"/>
            </a:endParaRPr>
          </a:p>
        </p:txBody>
      </p:sp>
      <p:grpSp>
        <p:nvGrpSpPr>
          <p:cNvPr id="50180" name="组合 9"/>
          <p:cNvGrpSpPr>
            <a:grpSpLocks/>
          </p:cNvGrpSpPr>
          <p:nvPr/>
        </p:nvGrpSpPr>
        <p:grpSpPr bwMode="auto">
          <a:xfrm>
            <a:off x="4066974" y="1715991"/>
            <a:ext cx="4429125" cy="1713009"/>
            <a:chOff x="0" y="0"/>
            <a:chExt cx="4357686" cy="636642"/>
          </a:xfrm>
        </p:grpSpPr>
        <p:sp>
          <p:nvSpPr>
            <p:cNvPr id="55305" name="圆角矩形 7"/>
            <p:cNvSpPr>
              <a:spLocks noChangeArrowheads="1"/>
            </p:cNvSpPr>
            <p:nvPr/>
          </p:nvSpPr>
          <p:spPr bwMode="auto">
            <a:xfrm>
              <a:off x="0" y="0"/>
              <a:ext cx="4357686" cy="636642"/>
            </a:xfrm>
            <a:prstGeom prst="roundRect">
              <a:avLst>
                <a:gd name="adj" fmla="val 16667"/>
              </a:avLst>
            </a:prstGeom>
            <a:noFill/>
            <a:ln w="9525">
              <a:solidFill>
                <a:srgbClr val="000000"/>
              </a:solidFill>
              <a:round/>
              <a:headEnd/>
              <a:tailEnd/>
            </a:ln>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55306" name="TextBox 3"/>
            <p:cNvSpPr txBox="1">
              <a:spLocks noChangeArrowheads="1"/>
            </p:cNvSpPr>
            <p:nvPr/>
          </p:nvSpPr>
          <p:spPr bwMode="auto">
            <a:xfrm>
              <a:off x="38099" y="71448"/>
              <a:ext cx="4319587" cy="560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285750" indent="-28575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需求的收入弹性简称为收入弹性，表示在一定时期内，消费者对某种商品需求量的相对变动相应于消费者收入相对变动的反应程度。</a:t>
              </a:r>
            </a:p>
            <a:p>
              <a:pPr eaLnBrk="1" hangingPunct="1">
                <a:spcBef>
                  <a:spcPct val="0"/>
                </a:spcBef>
                <a:buFontTx/>
                <a:buNone/>
              </a:pPr>
              <a:endParaRPr lang="zh-CN" altLang="en-US" sz="2000" b="0" dirty="0">
                <a:solidFill>
                  <a:schemeClr val="bg1"/>
                </a:solidFill>
              </a:endParaRPr>
            </a:p>
          </p:txBody>
        </p:sp>
      </p:grpSp>
      <p:grpSp>
        <p:nvGrpSpPr>
          <p:cNvPr id="50183" name="组合 9"/>
          <p:cNvGrpSpPr>
            <a:grpSpLocks/>
          </p:cNvGrpSpPr>
          <p:nvPr/>
        </p:nvGrpSpPr>
        <p:grpSpPr bwMode="auto">
          <a:xfrm>
            <a:off x="4105698" y="3733800"/>
            <a:ext cx="4429125" cy="2212975"/>
            <a:chOff x="0" y="0"/>
            <a:chExt cx="4357686" cy="905970"/>
          </a:xfrm>
        </p:grpSpPr>
        <p:sp>
          <p:nvSpPr>
            <p:cNvPr id="55303" name="圆角矩形 10"/>
            <p:cNvSpPr>
              <a:spLocks noChangeArrowheads="1"/>
            </p:cNvSpPr>
            <p:nvPr/>
          </p:nvSpPr>
          <p:spPr bwMode="auto">
            <a:xfrm>
              <a:off x="0" y="0"/>
              <a:ext cx="4357686" cy="905970"/>
            </a:xfrm>
            <a:prstGeom prst="roundRect">
              <a:avLst>
                <a:gd name="adj" fmla="val 16667"/>
              </a:avLst>
            </a:prstGeom>
            <a:noFill/>
            <a:ln w="9525">
              <a:solidFill>
                <a:srgbClr val="000000"/>
              </a:solidFill>
              <a:round/>
              <a:headEnd/>
              <a:tailEnd/>
            </a:ln>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55304" name="TextBox 3"/>
            <p:cNvSpPr txBox="1">
              <a:spLocks noChangeArrowheads="1"/>
            </p:cNvSpPr>
            <p:nvPr/>
          </p:nvSpPr>
          <p:spPr bwMode="auto">
            <a:xfrm>
              <a:off x="38099" y="71448"/>
              <a:ext cx="4319587" cy="718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285750" indent="-28575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如果商品为奢侈品，收入弹性系数大于</a:t>
              </a:r>
              <a:r>
                <a:rPr lang="en-US" altLang="zh-CN" sz="1800" b="0" spc="150" dirty="0">
                  <a:solidFill>
                    <a:srgbClr val="000000"/>
                  </a:solidFill>
                  <a:latin typeface="微软雅黑" panose="020B0503020204020204" pitchFamily="34" charset="-122"/>
                  <a:ea typeface="微软雅黑" panose="020B0503020204020204" pitchFamily="34" charset="-122"/>
                </a:rPr>
                <a:t>1</a:t>
              </a:r>
              <a:r>
                <a:rPr lang="zh-CN" altLang="en-US" sz="1800" b="0" spc="150" dirty="0">
                  <a:solidFill>
                    <a:srgbClr val="000000"/>
                  </a:solidFill>
                  <a:latin typeface="微软雅黑" panose="020B0503020204020204" pitchFamily="34" charset="-122"/>
                  <a:ea typeface="微软雅黑" panose="020B0503020204020204" pitchFamily="34" charset="-122"/>
                </a:rPr>
                <a:t>。</a:t>
              </a:r>
              <a:endParaRPr lang="en-US" altLang="zh-CN" sz="1800" b="0" spc="150" dirty="0">
                <a:solidFill>
                  <a:srgbClr val="000000"/>
                </a:solidFill>
                <a:latin typeface="微软雅黑" panose="020B0503020204020204" pitchFamily="34" charset="-122"/>
                <a:ea typeface="微软雅黑" panose="020B0503020204020204" pitchFamily="34" charset="-122"/>
              </a:endParaRPr>
            </a:p>
            <a:p>
              <a:pPr marL="285750" indent="-28575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如果商品为必需品，收入弹性系数大于零小于</a:t>
              </a:r>
              <a:r>
                <a:rPr lang="en-US" altLang="zh-CN" sz="1800" b="0" spc="150" dirty="0">
                  <a:solidFill>
                    <a:srgbClr val="000000"/>
                  </a:solidFill>
                  <a:latin typeface="微软雅黑" panose="020B0503020204020204" pitchFamily="34" charset="-122"/>
                  <a:ea typeface="微软雅黑" panose="020B0503020204020204" pitchFamily="34" charset="-122"/>
                </a:rPr>
                <a:t>1</a:t>
              </a:r>
              <a:r>
                <a:rPr lang="zh-CN" altLang="en-US" sz="1800" b="0" spc="150" dirty="0">
                  <a:solidFill>
                    <a:srgbClr val="000000"/>
                  </a:solidFill>
                  <a:latin typeface="微软雅黑" panose="020B0503020204020204" pitchFamily="34" charset="-122"/>
                  <a:ea typeface="微软雅黑" panose="020B0503020204020204" pitchFamily="34" charset="-122"/>
                </a:rPr>
                <a:t>。</a:t>
              </a:r>
              <a:endParaRPr lang="en-US" altLang="zh-CN" sz="1800" b="0" spc="150" dirty="0">
                <a:solidFill>
                  <a:srgbClr val="000000"/>
                </a:solidFill>
                <a:latin typeface="微软雅黑" panose="020B0503020204020204" pitchFamily="34" charset="-122"/>
                <a:ea typeface="微软雅黑" panose="020B0503020204020204" pitchFamily="34" charset="-122"/>
              </a:endParaRPr>
            </a:p>
            <a:p>
              <a:pPr marL="285750" indent="-28575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如果商品为低档品，收入弹性系数为负值。</a:t>
              </a:r>
            </a:p>
          </p:txBody>
        </p:sp>
      </p:grpSp>
      <p:sp>
        <p:nvSpPr>
          <p:cNvPr id="12" name="矩形 11">
            <a:extLst>
              <a:ext uri="{FF2B5EF4-FFF2-40B4-BE49-F238E27FC236}">
                <a16:creationId xmlns:a16="http://schemas.microsoft.com/office/drawing/2014/main" id="{1E8C7F2C-15FD-4888-A243-3FA35D4DEB1C}"/>
              </a:ext>
            </a:extLst>
          </p:cNvPr>
          <p:cNvSpPr/>
          <p:nvPr/>
        </p:nvSpPr>
        <p:spPr>
          <a:xfrm>
            <a:off x="467544" y="548680"/>
            <a:ext cx="291137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三、其他需求弹性 </a:t>
            </a:r>
          </a:p>
        </p:txBody>
      </p:sp>
      <p:sp>
        <p:nvSpPr>
          <p:cNvPr id="13" name="矩形 12">
            <a:extLst>
              <a:ext uri="{FF2B5EF4-FFF2-40B4-BE49-F238E27FC236}">
                <a16:creationId xmlns:a16="http://schemas.microsoft.com/office/drawing/2014/main" id="{644FEC58-437E-480E-9B81-1A571C991047}"/>
              </a:ext>
            </a:extLst>
          </p:cNvPr>
          <p:cNvSpPr/>
          <p:nvPr/>
        </p:nvSpPr>
        <p:spPr>
          <a:xfrm>
            <a:off x="7261793"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弹性 </a:t>
            </a: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25DB6615-1A66-4A90-9E27-F464E967DCED}"/>
                  </a:ext>
                </a:extLst>
              </p:cNvPr>
              <p:cNvSpPr txBox="1"/>
              <p:nvPr/>
            </p:nvSpPr>
            <p:spPr>
              <a:xfrm>
                <a:off x="1533177" y="3090853"/>
                <a:ext cx="2462759" cy="579326"/>
              </a:xfrm>
              <a:prstGeom prst="rect">
                <a:avLst/>
              </a:prstGeom>
              <a:noFill/>
            </p:spPr>
            <p:txBody>
              <a:bodyPr wrap="square" rtlCol="0">
                <a:spAutoFit/>
              </a:bodyPr>
              <a:lstStyle/>
              <a:p>
                <a14:m>
                  <m:oMath xmlns:m="http://schemas.openxmlformats.org/officeDocument/2006/math">
                    <m:r>
                      <m:rPr>
                        <m:nor/>
                      </m:rPr>
                      <a:rPr lang="en-US" altLang="zh-CN" sz="2000" spc="150" dirty="0" smtClean="0">
                        <a:solidFill>
                          <a:srgbClr val="000000"/>
                        </a:solidFill>
                        <a:latin typeface="Cambria Math" panose="02040503050406030204" pitchFamily="18" charset="0"/>
                        <a:ea typeface="微软雅黑" panose="020B0503020204020204" pitchFamily="34" charset="-122"/>
                      </a:rPr>
                      <m:t>E</m:t>
                    </m:r>
                    <m:r>
                      <m:rPr>
                        <m:sty m:val="p"/>
                      </m:rPr>
                      <a:rPr lang="en-US" altLang="zh-CN" sz="2000" b="0" i="1" spc="150" baseline="-25000" dirty="0">
                        <a:solidFill>
                          <a:srgbClr val="000000"/>
                        </a:solidFill>
                        <a:latin typeface="Cambria Math" panose="02040503050406030204" pitchFamily="18" charset="0"/>
                        <a:ea typeface="微软雅黑" panose="020B0503020204020204" pitchFamily="34" charset="-122"/>
                      </a:rPr>
                      <m:t>m</m:t>
                    </m:r>
                    <m:r>
                      <a:rPr lang="en-US" altLang="zh-CN" sz="2000" i="1" spc="150" baseline="-25000" dirty="0">
                        <a:solidFill>
                          <a:srgbClr val="000000"/>
                        </a:solidFill>
                        <a:latin typeface="Cambria Math" panose="02040503050406030204" pitchFamily="18" charset="0"/>
                        <a:ea typeface="微软雅黑" panose="020B0503020204020204" pitchFamily="34" charset="-122"/>
                      </a:rPr>
                      <m:t> </m:t>
                    </m:r>
                  </m:oMath>
                </a14:m>
                <a:r>
                  <a:rPr lang="en-US" altLang="zh-CN" sz="2000" dirty="0">
                    <a:latin typeface="微软雅黑" panose="020B0503020204020204" pitchFamily="34" charset="-122"/>
                    <a:ea typeface="微软雅黑" panose="020B0503020204020204" pitchFamily="34" charset="-122"/>
                  </a:rPr>
                  <a:t>=</a:t>
                </a:r>
                <a14:m>
                  <m:oMath xmlns:m="http://schemas.openxmlformats.org/officeDocument/2006/math">
                    <m:f>
                      <m:fPr>
                        <m:ctrlPr>
                          <a:rPr lang="en-US" altLang="zh-CN" sz="2000" i="1" smtClean="0">
                            <a:latin typeface="Cambria Math" panose="02040503050406030204" pitchFamily="18" charset="0"/>
                            <a:ea typeface="微软雅黑" panose="020B0503020204020204" pitchFamily="34" charset="-122"/>
                          </a:rPr>
                        </m:ctrlPr>
                      </m:fPr>
                      <m:num>
                        <m:r>
                          <a:rPr lang="zh-CN" altLang="en-US" sz="2000" kern="0" dirty="0">
                            <a:latin typeface="Cambria Math" panose="02040503050406030204" pitchFamily="18" charset="0"/>
                          </a:rPr>
                          <m:t>△</m:t>
                        </m:r>
                        <m:r>
                          <a:rPr lang="en-US" altLang="zh-CN" sz="2000" b="0" i="1" kern="0" dirty="0" smtClean="0">
                            <a:latin typeface="Cambria Math" panose="02040503050406030204" pitchFamily="18" charset="0"/>
                          </a:rPr>
                          <m:t>𝑄</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𝑄</m:t>
                        </m:r>
                      </m:num>
                      <m:den>
                        <m:r>
                          <a:rPr lang="zh-CN" altLang="en-US" sz="2000" kern="0" dirty="0">
                            <a:latin typeface="Cambria Math" panose="02040503050406030204" pitchFamily="18" charset="0"/>
                          </a:rPr>
                          <m:t>△</m:t>
                        </m:r>
                        <m:r>
                          <a:rPr lang="en-US" altLang="zh-CN" sz="2000" b="0" i="1" kern="0" dirty="0" smtClean="0">
                            <a:latin typeface="Cambria Math" panose="02040503050406030204" pitchFamily="18" charset="0"/>
                          </a:rPr>
                          <m:t>𝑚</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𝑚</m:t>
                        </m:r>
                      </m:den>
                    </m:f>
                    <m:r>
                      <m:rPr>
                        <m:nor/>
                      </m:rPr>
                      <a:rPr lang="en-US" altLang="zh-CN" sz="2000" dirty="0">
                        <a:latin typeface="微软雅黑" panose="020B0503020204020204" pitchFamily="34" charset="-122"/>
                        <a:ea typeface="微软雅黑" panose="020B0503020204020204" pitchFamily="34" charset="-122"/>
                      </a:rPr>
                      <m:t>=</m:t>
                    </m:r>
                    <m:f>
                      <m:fPr>
                        <m:ctrlPr>
                          <a:rPr lang="en-US" altLang="zh-CN" sz="2000" i="1" dirty="0" smtClean="0">
                            <a:latin typeface="Cambria Math" panose="02040503050406030204" pitchFamily="18" charset="0"/>
                            <a:ea typeface="微软雅黑" panose="020B0503020204020204" pitchFamily="34" charset="-122"/>
                          </a:rPr>
                        </m:ctrlPr>
                      </m:fPr>
                      <m:num>
                        <m:r>
                          <a:rPr lang="zh-CN" altLang="en-US" sz="2000" kern="0" dirty="0">
                            <a:latin typeface="Cambria Math" panose="02040503050406030204" pitchFamily="18" charset="0"/>
                          </a:rPr>
                          <m:t>△</m:t>
                        </m:r>
                        <m:r>
                          <a:rPr lang="en-US" altLang="zh-CN" sz="2000" i="1" kern="0" dirty="0">
                            <a:latin typeface="Cambria Math" panose="02040503050406030204" pitchFamily="18" charset="0"/>
                          </a:rPr>
                          <m:t>𝑄</m:t>
                        </m:r>
                      </m:num>
                      <m:den>
                        <m:r>
                          <a:rPr lang="zh-CN" altLang="en-US" sz="2000" kern="0" dirty="0">
                            <a:latin typeface="Cambria Math" panose="02040503050406030204" pitchFamily="18" charset="0"/>
                          </a:rPr>
                          <m:t>△</m:t>
                        </m:r>
                        <m:r>
                          <a:rPr lang="en-US" altLang="zh-CN" sz="2000" b="0" i="1" kern="0" dirty="0" smtClean="0">
                            <a:latin typeface="Cambria Math" panose="02040503050406030204" pitchFamily="18" charset="0"/>
                          </a:rPr>
                          <m:t>𝑚</m:t>
                        </m:r>
                      </m:den>
                    </m:f>
                    <m:r>
                      <a:rPr lang="en-US" altLang="zh-CN" sz="2000" i="1" dirty="0">
                        <a:latin typeface="Cambria Math" panose="02040503050406030204" pitchFamily="18" charset="0"/>
                        <a:ea typeface="微软雅黑" panose="020B0503020204020204" pitchFamily="34" charset="-122"/>
                      </a:rPr>
                      <m:t>·</m:t>
                    </m:r>
                    <m:f>
                      <m:fPr>
                        <m:ctrlPr>
                          <a:rPr lang="en-US" altLang="zh-CN" sz="2000" i="1" dirty="0">
                            <a:latin typeface="Cambria Math" panose="02040503050406030204" pitchFamily="18" charset="0"/>
                            <a:ea typeface="微软雅黑" panose="020B0503020204020204" pitchFamily="34" charset="-122"/>
                          </a:rPr>
                        </m:ctrlPr>
                      </m:fPr>
                      <m:num>
                        <m:r>
                          <a:rPr lang="en-US" altLang="zh-CN" sz="2000" b="0" i="1" dirty="0" smtClean="0">
                            <a:latin typeface="Cambria Math" panose="02040503050406030204" pitchFamily="18" charset="0"/>
                            <a:ea typeface="微软雅黑" panose="020B0503020204020204" pitchFamily="34" charset="-122"/>
                          </a:rPr>
                          <m:t>𝑚</m:t>
                        </m:r>
                      </m:num>
                      <m:den>
                        <m:r>
                          <a:rPr lang="en-US" altLang="zh-CN" sz="2000" b="0" i="1" dirty="0" smtClean="0">
                            <a:latin typeface="Cambria Math" panose="02040503050406030204" pitchFamily="18" charset="0"/>
                            <a:ea typeface="微软雅黑" panose="020B0503020204020204" pitchFamily="34" charset="-122"/>
                          </a:rPr>
                          <m:t>𝑄</m:t>
                        </m:r>
                      </m:den>
                    </m:f>
                  </m:oMath>
                </a14:m>
                <a:endParaRPr lang="zh-CN" altLang="en-US" sz="2000" dirty="0">
                  <a:latin typeface="微软雅黑" panose="020B0503020204020204" pitchFamily="34" charset="-122"/>
                  <a:ea typeface="微软雅黑" panose="020B0503020204020204" pitchFamily="34" charset="-122"/>
                </a:endParaRPr>
              </a:p>
            </p:txBody>
          </p:sp>
        </mc:Choice>
        <mc:Fallback xmlns="">
          <p:sp>
            <p:nvSpPr>
              <p:cNvPr id="14" name="文本框 13">
                <a:extLst>
                  <a:ext uri="{FF2B5EF4-FFF2-40B4-BE49-F238E27FC236}">
                    <a16:creationId xmlns:a16="http://schemas.microsoft.com/office/drawing/2014/main" id="{25DB6615-1A66-4A90-9E27-F464E967DCED}"/>
                  </a:ext>
                </a:extLst>
              </p:cNvPr>
              <p:cNvSpPr txBox="1">
                <a:spLocks noRot="1" noChangeAspect="1" noMove="1" noResize="1" noEditPoints="1" noAdjustHandles="1" noChangeArrowheads="1" noChangeShapeType="1" noTextEdit="1"/>
              </p:cNvSpPr>
              <p:nvPr/>
            </p:nvSpPr>
            <p:spPr>
              <a:xfrm>
                <a:off x="1533177" y="3090853"/>
                <a:ext cx="2462759" cy="579326"/>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transition>
    <p:cover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50178">
                                            <p:txEl>
                                              <p:pRg st="0" end="0"/>
                                            </p:txEl>
                                          </p:spTgt>
                                        </p:tgtEl>
                                        <p:attrNameLst>
                                          <p:attrName>style.visibility</p:attrName>
                                        </p:attrNameLst>
                                      </p:cBhvr>
                                      <p:to>
                                        <p:strVal val="visible"/>
                                      </p:to>
                                    </p:set>
                                    <p:anim calcmode="lin" valueType="num">
                                      <p:cBhvr additive="base">
                                        <p:cTn id="12" dur="500"/>
                                        <p:tgtEl>
                                          <p:spTgt spid="50178">
                                            <p:txEl>
                                              <p:pRg st="0" end="0"/>
                                            </p:txEl>
                                          </p:spTgt>
                                        </p:tgtEl>
                                        <p:attrNameLst>
                                          <p:attrName>ppt_y</p:attrName>
                                        </p:attrNameLst>
                                      </p:cBhvr>
                                      <p:tavLst>
                                        <p:tav tm="0">
                                          <p:val>
                                            <p:strVal val="#ppt_y+#ppt_h*1.125000"/>
                                          </p:val>
                                        </p:tav>
                                        <p:tav tm="100000">
                                          <p:val>
                                            <p:strVal val="#ppt_y"/>
                                          </p:val>
                                        </p:tav>
                                      </p:tavLst>
                                    </p:anim>
                                    <p:animEffect transition="in" filter="wipe(up)">
                                      <p:cBhvr>
                                        <p:cTn id="13" dur="500"/>
                                        <p:tgtEl>
                                          <p:spTgt spid="50178">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50178">
                                            <p:txEl>
                                              <p:pRg st="1" end="1"/>
                                            </p:txEl>
                                          </p:spTgt>
                                        </p:tgtEl>
                                        <p:attrNameLst>
                                          <p:attrName>style.visibility</p:attrName>
                                        </p:attrNameLst>
                                      </p:cBhvr>
                                      <p:to>
                                        <p:strVal val="visible"/>
                                      </p:to>
                                    </p:set>
                                    <p:animEffect transition="in" filter="wipe(up)">
                                      <p:cBhvr>
                                        <p:cTn id="18" dur="500"/>
                                        <p:tgtEl>
                                          <p:spTgt spid="50178">
                                            <p:txEl>
                                              <p:pRg st="1" end="1"/>
                                            </p:txEl>
                                          </p:spTgt>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50180"/>
                                        </p:tgtEl>
                                        <p:attrNameLst>
                                          <p:attrName>style.visibility</p:attrName>
                                        </p:attrNameLst>
                                      </p:cBhvr>
                                      <p:to>
                                        <p:strVal val="visible"/>
                                      </p:to>
                                    </p:set>
                                    <p:animEffect transition="in" filter="wipe(up)">
                                      <p:cBhvr>
                                        <p:cTn id="22" dur="500"/>
                                        <p:tgtEl>
                                          <p:spTgt spid="5018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0178">
                                            <p:txEl>
                                              <p:pRg st="2" end="2"/>
                                            </p:txEl>
                                          </p:spTgt>
                                        </p:tgtEl>
                                        <p:attrNameLst>
                                          <p:attrName>style.visibility</p:attrName>
                                        </p:attrNameLst>
                                      </p:cBhvr>
                                      <p:to>
                                        <p:strVal val="visible"/>
                                      </p:to>
                                    </p:set>
                                    <p:animEffect transition="in" filter="wipe(up)">
                                      <p:cBhvr>
                                        <p:cTn id="27" dur="500"/>
                                        <p:tgtEl>
                                          <p:spTgt spid="50178">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p:cTn id="32" dur="500" fill="hold"/>
                                        <p:tgtEl>
                                          <p:spTgt spid="14"/>
                                        </p:tgtEl>
                                        <p:attrNameLst>
                                          <p:attrName>ppt_w</p:attrName>
                                        </p:attrNameLst>
                                      </p:cBhvr>
                                      <p:tavLst>
                                        <p:tav tm="0">
                                          <p:val>
                                            <p:fltVal val="0"/>
                                          </p:val>
                                        </p:tav>
                                        <p:tav tm="100000">
                                          <p:val>
                                            <p:strVal val="#ppt_w"/>
                                          </p:val>
                                        </p:tav>
                                      </p:tavLst>
                                    </p:anim>
                                    <p:anim calcmode="lin" valueType="num">
                                      <p:cBhvr>
                                        <p:cTn id="33" dur="500" fill="hold"/>
                                        <p:tgtEl>
                                          <p:spTgt spid="14"/>
                                        </p:tgtEl>
                                        <p:attrNameLst>
                                          <p:attrName>ppt_h</p:attrName>
                                        </p:attrNameLst>
                                      </p:cBhvr>
                                      <p:tavLst>
                                        <p:tav tm="0">
                                          <p:val>
                                            <p:fltVal val="0"/>
                                          </p:val>
                                        </p:tav>
                                        <p:tav tm="100000">
                                          <p:val>
                                            <p:strVal val="#ppt_h"/>
                                          </p:val>
                                        </p:tav>
                                      </p:tavLst>
                                    </p:anim>
                                    <p:animEffect transition="in" filter="fade">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grpId="0" nodeType="clickEffect">
                                  <p:stCondLst>
                                    <p:cond delay="0"/>
                                  </p:stCondLst>
                                  <p:childTnLst>
                                    <p:set>
                                      <p:cBhvr>
                                        <p:cTn id="38" dur="1" fill="hold">
                                          <p:stCondLst>
                                            <p:cond delay="0"/>
                                          </p:stCondLst>
                                        </p:cTn>
                                        <p:tgtEl>
                                          <p:spTgt spid="50178">
                                            <p:txEl>
                                              <p:pRg st="4" end="4"/>
                                            </p:txEl>
                                          </p:spTgt>
                                        </p:tgtEl>
                                        <p:attrNameLst>
                                          <p:attrName>style.visibility</p:attrName>
                                        </p:attrNameLst>
                                      </p:cBhvr>
                                      <p:to>
                                        <p:strVal val="visible"/>
                                      </p:to>
                                    </p:set>
                                    <p:animEffect transition="in" filter="slide(fromBottom)">
                                      <p:cBhvr>
                                        <p:cTn id="39" dur="500"/>
                                        <p:tgtEl>
                                          <p:spTgt spid="50178">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50178">
                                            <p:txEl>
                                              <p:pRg st="5" end="5"/>
                                            </p:txEl>
                                          </p:spTgt>
                                        </p:tgtEl>
                                        <p:attrNameLst>
                                          <p:attrName>style.visibility</p:attrName>
                                        </p:attrNameLst>
                                      </p:cBhvr>
                                      <p:to>
                                        <p:strVal val="visible"/>
                                      </p:to>
                                    </p:set>
                                    <p:animEffect transition="in" filter="wipe(up)">
                                      <p:cBhvr>
                                        <p:cTn id="44" dur="500"/>
                                        <p:tgtEl>
                                          <p:spTgt spid="50178">
                                            <p:txEl>
                                              <p:pRg st="5" end="5"/>
                                            </p:txEl>
                                          </p:spTgt>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50178">
                                            <p:txEl>
                                              <p:pRg st="6" end="6"/>
                                            </p:txEl>
                                          </p:spTgt>
                                        </p:tgtEl>
                                        <p:attrNameLst>
                                          <p:attrName>style.visibility</p:attrName>
                                        </p:attrNameLst>
                                      </p:cBhvr>
                                      <p:to>
                                        <p:strVal val="visible"/>
                                      </p:to>
                                    </p:set>
                                    <p:animEffect transition="in" filter="wipe(up)">
                                      <p:cBhvr>
                                        <p:cTn id="47" dur="500"/>
                                        <p:tgtEl>
                                          <p:spTgt spid="50178">
                                            <p:txEl>
                                              <p:pRg st="6" end="6"/>
                                            </p:txEl>
                                          </p:spTgt>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50178">
                                            <p:txEl>
                                              <p:pRg st="7" end="7"/>
                                            </p:txEl>
                                          </p:spTgt>
                                        </p:tgtEl>
                                        <p:attrNameLst>
                                          <p:attrName>style.visibility</p:attrName>
                                        </p:attrNameLst>
                                      </p:cBhvr>
                                      <p:to>
                                        <p:strVal val="visible"/>
                                      </p:to>
                                    </p:set>
                                    <p:animEffect transition="in" filter="wipe(up)">
                                      <p:cBhvr>
                                        <p:cTn id="50" dur="500"/>
                                        <p:tgtEl>
                                          <p:spTgt spid="50178">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50183"/>
                                        </p:tgtEl>
                                        <p:attrNameLst>
                                          <p:attrName>style.visibility</p:attrName>
                                        </p:attrNameLst>
                                      </p:cBhvr>
                                      <p:to>
                                        <p:strVal val="visible"/>
                                      </p:to>
                                    </p:set>
                                    <p:animEffect transition="in" filter="wipe(up)">
                                      <p:cBhvr>
                                        <p:cTn id="55" dur="500"/>
                                        <p:tgtEl>
                                          <p:spTgt spid="50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uiExpand="1" build="p" autoUpdateAnimBg="0"/>
      <p:bldP spid="12" grpId="0" animBg="1"/>
      <p:bldP spid="1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3F6BEC-C49A-4ED7-9D3F-24F95D703E8A}"/>
              </a:ext>
            </a:extLst>
          </p:cNvPr>
          <p:cNvSpPr>
            <a:spLocks noGrp="1"/>
          </p:cNvSpPr>
          <p:nvPr>
            <p:ph type="title"/>
          </p:nvPr>
        </p:nvSpPr>
        <p:spPr/>
        <p:txBody>
          <a:bodyPr/>
          <a:lstStyle/>
          <a:p>
            <a:r>
              <a:rPr lang="zh-CN" altLang="en-US" sz="2800" dirty="0">
                <a:solidFill>
                  <a:srgbClr val="BB1528"/>
                </a:solidFill>
              </a:rPr>
              <a:t>需求价格弹性的应用：</a:t>
            </a:r>
            <a:r>
              <a:rPr lang="zh-CN" altLang="en-US" sz="2800" dirty="0"/>
              <a:t>关于减少吸毒的政策选择</a:t>
            </a:r>
          </a:p>
        </p:txBody>
      </p:sp>
      <p:sp>
        <p:nvSpPr>
          <p:cNvPr id="3" name="内容占位符 2">
            <a:extLst>
              <a:ext uri="{FF2B5EF4-FFF2-40B4-BE49-F238E27FC236}">
                <a16:creationId xmlns:a16="http://schemas.microsoft.com/office/drawing/2014/main" id="{2EAD7E18-D5FC-4274-B566-5B2ED0A93E1E}"/>
              </a:ext>
            </a:extLst>
          </p:cNvPr>
          <p:cNvSpPr>
            <a:spLocks noGrp="1"/>
          </p:cNvSpPr>
          <p:nvPr>
            <p:ph idx="1"/>
          </p:nvPr>
        </p:nvSpPr>
        <p:spPr/>
        <p:txBody>
          <a:bodyPr/>
          <a:lstStyle/>
          <a:p>
            <a:pPr>
              <a:lnSpc>
                <a:spcPct val="150000"/>
              </a:lnSpc>
            </a:pPr>
            <a:r>
              <a:rPr lang="zh-CN" altLang="en-US" sz="2400" b="0" dirty="0">
                <a:solidFill>
                  <a:schemeClr val="tx1"/>
                </a:solidFill>
                <a:latin typeface="微软雅黑" panose="020B0503020204020204" pitchFamily="34" charset="-122"/>
                <a:ea typeface="微软雅黑" panose="020B0503020204020204" pitchFamily="34" charset="-122"/>
              </a:rPr>
              <a:t>使用毒品的一个不利影响是犯罪：吸毒上瘾的人往往会有暴力犯罪，以得到吸毒所需要的钱</a:t>
            </a:r>
          </a:p>
          <a:p>
            <a:pPr>
              <a:lnSpc>
                <a:spcPct val="150000"/>
              </a:lnSpc>
            </a:pPr>
            <a:r>
              <a:rPr lang="zh-CN" altLang="en-US" sz="2400" b="0" dirty="0">
                <a:solidFill>
                  <a:schemeClr val="tx1"/>
                </a:solidFill>
                <a:latin typeface="微软雅黑" panose="020B0503020204020204" pitchFamily="34" charset="-122"/>
                <a:ea typeface="微软雅黑" panose="020B0503020204020204" pitchFamily="34" charset="-122"/>
              </a:rPr>
              <a:t>可以比较两种旨在减少吸毒的政策，并观察它们对与毒品相关的犯罪的影响  </a:t>
            </a:r>
          </a:p>
          <a:p>
            <a:pPr>
              <a:lnSpc>
                <a:spcPct val="150000"/>
              </a:lnSpc>
            </a:pPr>
            <a:r>
              <a:rPr lang="zh-CN" altLang="en-US" sz="2400" b="0" dirty="0">
                <a:solidFill>
                  <a:schemeClr val="tx1"/>
                </a:solidFill>
                <a:latin typeface="微软雅黑" panose="020B0503020204020204" pitchFamily="34" charset="-122"/>
                <a:ea typeface="微软雅黑" panose="020B0503020204020204" pitchFamily="34" charset="-122"/>
              </a:rPr>
              <a:t>为简化起见，假定与毒品相关的犯罪的货币价值等于购买毒品的总支出  </a:t>
            </a:r>
          </a:p>
          <a:p>
            <a:pPr>
              <a:lnSpc>
                <a:spcPct val="150000"/>
              </a:lnSpc>
            </a:pPr>
            <a:r>
              <a:rPr lang="zh-CN" altLang="en-US" sz="2400" b="0" dirty="0">
                <a:solidFill>
                  <a:schemeClr val="tx1"/>
                </a:solidFill>
                <a:latin typeface="微软雅黑" panose="020B0503020204020204" pitchFamily="34" charset="-122"/>
                <a:ea typeface="微软雅黑" panose="020B0503020204020204" pitchFamily="34" charset="-122"/>
              </a:rPr>
              <a:t>由于吸毒成瘾，其对毒品的需求是缺乏弹性的</a:t>
            </a:r>
          </a:p>
          <a:p>
            <a:endParaRPr lang="zh-CN" altLang="en-US" dirty="0"/>
          </a:p>
        </p:txBody>
      </p:sp>
    </p:spTree>
    <p:extLst>
      <p:ext uri="{BB962C8B-B14F-4D97-AF65-F5344CB8AC3E}">
        <p14:creationId xmlns:p14="http://schemas.microsoft.com/office/powerpoint/2010/main" val="8963654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826" name="Group 2">
            <a:extLst>
              <a:ext uri="{FF2B5EF4-FFF2-40B4-BE49-F238E27FC236}">
                <a16:creationId xmlns:a16="http://schemas.microsoft.com/office/drawing/2014/main" id="{B5A830C3-20E7-41B6-A47F-C8DBC206B38E}"/>
              </a:ext>
            </a:extLst>
          </p:cNvPr>
          <p:cNvGrpSpPr>
            <a:grpSpLocks/>
          </p:cNvGrpSpPr>
          <p:nvPr/>
        </p:nvGrpSpPr>
        <p:grpSpPr bwMode="auto">
          <a:xfrm>
            <a:off x="5359400" y="2085975"/>
            <a:ext cx="1490663" cy="3128963"/>
            <a:chOff x="0" y="0"/>
            <a:chExt cx="939" cy="1971"/>
          </a:xfrm>
        </p:grpSpPr>
        <p:sp>
          <p:nvSpPr>
            <p:cNvPr id="77870" name="Line 17">
              <a:extLst>
                <a:ext uri="{FF2B5EF4-FFF2-40B4-BE49-F238E27FC236}">
                  <a16:creationId xmlns:a16="http://schemas.microsoft.com/office/drawing/2014/main" id="{3AEBDC06-0DDB-491B-BD05-26039FDCC500}"/>
                </a:ext>
              </a:extLst>
            </p:cNvPr>
            <p:cNvSpPr>
              <a:spLocks noChangeShapeType="1"/>
            </p:cNvSpPr>
            <p:nvPr/>
          </p:nvSpPr>
          <p:spPr bwMode="auto">
            <a:xfrm>
              <a:off x="178" y="252"/>
              <a:ext cx="761" cy="1719"/>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71" name="Text Box 18">
              <a:extLst>
                <a:ext uri="{FF2B5EF4-FFF2-40B4-BE49-F238E27FC236}">
                  <a16:creationId xmlns:a16="http://schemas.microsoft.com/office/drawing/2014/main" id="{5FE9EAFE-9809-4995-BEC3-499C9463B24D}"/>
                </a:ext>
              </a:extLst>
            </p:cNvPr>
            <p:cNvSpPr txBox="1">
              <a:spLocks noChangeArrowheads="1"/>
            </p:cNvSpPr>
            <p:nvPr/>
          </p:nvSpPr>
          <p:spPr bwMode="auto">
            <a:xfrm>
              <a:off x="0" y="0"/>
              <a:ext cx="4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en-US" altLang="zh-CN" sz="2400" i="1">
                  <a:solidFill>
                    <a:srgbClr val="000066"/>
                  </a:solidFill>
                  <a:latin typeface="Times New Roman" panose="02020603050405020304" pitchFamily="18" charset="0"/>
                </a:rPr>
                <a:t>D</a:t>
              </a:r>
              <a:r>
                <a:rPr lang="en-US" altLang="zh-CN" sz="2400" baseline="-25000">
                  <a:solidFill>
                    <a:srgbClr val="000066"/>
                  </a:solidFill>
                  <a:latin typeface="Times New Roman" panose="02020603050405020304" pitchFamily="18" charset="0"/>
                </a:rPr>
                <a:t>1</a:t>
              </a:r>
            </a:p>
          </p:txBody>
        </p:sp>
      </p:grpSp>
      <p:sp>
        <p:nvSpPr>
          <p:cNvPr id="77827" name="FlagCount" hidden="1">
            <a:hlinkClick r:id="rId3" action="ppaction://hlinkfile"/>
            <a:extLst>
              <a:ext uri="{FF2B5EF4-FFF2-40B4-BE49-F238E27FC236}">
                <a16:creationId xmlns:a16="http://schemas.microsoft.com/office/drawing/2014/main" id="{B6409CCC-F0CD-4DFD-9056-D1CB5E0675FB}"/>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FontTx/>
              <a:buNone/>
            </a:pPr>
            <a:r>
              <a:rPr lang="en-US" altLang="zh-CN" sz="1400">
                <a:solidFill>
                  <a:srgbClr val="000066"/>
                </a:solidFill>
                <a:latin typeface="Tahoma" panose="020B0604030504040204" pitchFamily="34" charset="0"/>
              </a:rPr>
              <a:t>0</a:t>
            </a:r>
          </a:p>
        </p:txBody>
      </p:sp>
      <p:grpSp>
        <p:nvGrpSpPr>
          <p:cNvPr id="77828" name="Group 7">
            <a:extLst>
              <a:ext uri="{FF2B5EF4-FFF2-40B4-BE49-F238E27FC236}">
                <a16:creationId xmlns:a16="http://schemas.microsoft.com/office/drawing/2014/main" id="{82D26597-558F-4942-B29C-DCADB9097D6D}"/>
              </a:ext>
            </a:extLst>
          </p:cNvPr>
          <p:cNvGrpSpPr>
            <a:grpSpLocks/>
          </p:cNvGrpSpPr>
          <p:nvPr/>
        </p:nvGrpSpPr>
        <p:grpSpPr bwMode="auto">
          <a:xfrm>
            <a:off x="3276601" y="1649413"/>
            <a:ext cx="5348288" cy="4408487"/>
            <a:chOff x="321" y="0"/>
            <a:chExt cx="3369" cy="2777"/>
          </a:xfrm>
        </p:grpSpPr>
        <p:grpSp>
          <p:nvGrpSpPr>
            <p:cNvPr id="77865" name="Group 8">
              <a:extLst>
                <a:ext uri="{FF2B5EF4-FFF2-40B4-BE49-F238E27FC236}">
                  <a16:creationId xmlns:a16="http://schemas.microsoft.com/office/drawing/2014/main" id="{9980FFE4-50F6-48E5-9821-82A0F336C07D}"/>
                </a:ext>
              </a:extLst>
            </p:cNvPr>
            <p:cNvGrpSpPr>
              <a:grpSpLocks/>
            </p:cNvGrpSpPr>
            <p:nvPr/>
          </p:nvGrpSpPr>
          <p:grpSpPr bwMode="auto">
            <a:xfrm>
              <a:off x="870" y="62"/>
              <a:ext cx="2750" cy="2433"/>
              <a:chOff x="0" y="0"/>
              <a:chExt cx="2116" cy="2027"/>
            </a:xfrm>
          </p:grpSpPr>
          <p:sp>
            <p:nvSpPr>
              <p:cNvPr id="77868" name="Line 6">
                <a:extLst>
                  <a:ext uri="{FF2B5EF4-FFF2-40B4-BE49-F238E27FC236}">
                    <a16:creationId xmlns:a16="http://schemas.microsoft.com/office/drawing/2014/main" id="{9DB518B0-3C71-4824-8F01-E1C38A94A2B2}"/>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69" name="Line 7">
                <a:extLst>
                  <a:ext uri="{FF2B5EF4-FFF2-40B4-BE49-F238E27FC236}">
                    <a16:creationId xmlns:a16="http://schemas.microsoft.com/office/drawing/2014/main" id="{532721A8-03EC-4983-A755-0AA241A2A674}"/>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7866" name="Text Box 8">
              <a:extLst>
                <a:ext uri="{FF2B5EF4-FFF2-40B4-BE49-F238E27FC236}">
                  <a16:creationId xmlns:a16="http://schemas.microsoft.com/office/drawing/2014/main" id="{CCA25DA3-E5A9-4D91-9BCE-CCEB050E8A10}"/>
                </a:ext>
              </a:extLst>
            </p:cNvPr>
            <p:cNvSpPr txBox="1">
              <a:spLocks noChangeArrowheads="1"/>
            </p:cNvSpPr>
            <p:nvPr/>
          </p:nvSpPr>
          <p:spPr bwMode="auto">
            <a:xfrm>
              <a:off x="321" y="0"/>
              <a:ext cx="533"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dirty="0">
                  <a:solidFill>
                    <a:srgbClr val="000066"/>
                  </a:solidFill>
                  <a:latin typeface="Times New Roman" panose="02020603050405020304" pitchFamily="18" charset="0"/>
                </a:rPr>
                <a:t>毒品价格</a:t>
              </a:r>
            </a:p>
          </p:txBody>
        </p:sp>
        <p:sp>
          <p:nvSpPr>
            <p:cNvPr id="77867" name="Text Box 9">
              <a:extLst>
                <a:ext uri="{FF2B5EF4-FFF2-40B4-BE49-F238E27FC236}">
                  <a16:creationId xmlns:a16="http://schemas.microsoft.com/office/drawing/2014/main" id="{DEC3B360-DACA-41CA-AC41-67309E7672CD}"/>
                </a:ext>
              </a:extLst>
            </p:cNvPr>
            <p:cNvSpPr txBox="1">
              <a:spLocks noChangeArrowheads="1"/>
            </p:cNvSpPr>
            <p:nvPr/>
          </p:nvSpPr>
          <p:spPr bwMode="auto">
            <a:xfrm>
              <a:off x="2755" y="2489"/>
              <a:ext cx="93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solidFill>
                    <a:srgbClr val="000066"/>
                  </a:solidFill>
                  <a:latin typeface="Times New Roman" panose="02020603050405020304" pitchFamily="18" charset="0"/>
                </a:rPr>
                <a:t>毒品数量</a:t>
              </a:r>
            </a:p>
          </p:txBody>
        </p:sp>
      </p:grpSp>
      <p:grpSp>
        <p:nvGrpSpPr>
          <p:cNvPr id="77829" name="Group 13">
            <a:extLst>
              <a:ext uri="{FF2B5EF4-FFF2-40B4-BE49-F238E27FC236}">
                <a16:creationId xmlns:a16="http://schemas.microsoft.com/office/drawing/2014/main" id="{0F142D6D-E81A-49CD-949F-45DDC0D0753E}"/>
              </a:ext>
            </a:extLst>
          </p:cNvPr>
          <p:cNvGrpSpPr>
            <a:grpSpLocks/>
          </p:cNvGrpSpPr>
          <p:nvPr/>
        </p:nvGrpSpPr>
        <p:grpSpPr bwMode="auto">
          <a:xfrm>
            <a:off x="5830888" y="2398713"/>
            <a:ext cx="2371725" cy="2224087"/>
            <a:chOff x="0" y="0"/>
            <a:chExt cx="1494" cy="1401"/>
          </a:xfrm>
        </p:grpSpPr>
        <p:sp>
          <p:nvSpPr>
            <p:cNvPr id="77863" name="Line 11">
              <a:extLst>
                <a:ext uri="{FF2B5EF4-FFF2-40B4-BE49-F238E27FC236}">
                  <a16:creationId xmlns:a16="http://schemas.microsoft.com/office/drawing/2014/main" id="{8CE4C67B-B50F-4E18-BE4A-6B56C00203DA}"/>
                </a:ext>
              </a:extLst>
            </p:cNvPr>
            <p:cNvSpPr>
              <a:spLocks noChangeShapeType="1"/>
            </p:cNvSpPr>
            <p:nvPr/>
          </p:nvSpPr>
          <p:spPr bwMode="auto">
            <a:xfrm flipV="1">
              <a:off x="0" y="194"/>
              <a:ext cx="1198" cy="1207"/>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64" name="Text Box 12">
              <a:extLst>
                <a:ext uri="{FF2B5EF4-FFF2-40B4-BE49-F238E27FC236}">
                  <a16:creationId xmlns:a16="http://schemas.microsoft.com/office/drawing/2014/main" id="{550AC5E2-B07E-46BD-9723-EC30FDCA0639}"/>
                </a:ext>
              </a:extLst>
            </p:cNvPr>
            <p:cNvSpPr txBox="1">
              <a:spLocks noChangeArrowheads="1"/>
            </p:cNvSpPr>
            <p:nvPr/>
          </p:nvSpPr>
          <p:spPr bwMode="auto">
            <a:xfrm>
              <a:off x="1137" y="0"/>
              <a:ext cx="3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en-US" altLang="zh-CN" sz="2400" i="1">
                  <a:solidFill>
                    <a:srgbClr val="000066"/>
                  </a:solidFill>
                  <a:latin typeface="Times New Roman" panose="02020603050405020304" pitchFamily="18" charset="0"/>
                </a:rPr>
                <a:t>S</a:t>
              </a:r>
              <a:r>
                <a:rPr lang="en-US" altLang="zh-CN" sz="2400" baseline="-25000">
                  <a:solidFill>
                    <a:srgbClr val="000066"/>
                  </a:solidFill>
                  <a:latin typeface="Times New Roman" panose="02020603050405020304" pitchFamily="18" charset="0"/>
                </a:rPr>
                <a:t>1</a:t>
              </a:r>
            </a:p>
          </p:txBody>
        </p:sp>
      </p:grpSp>
      <p:grpSp>
        <p:nvGrpSpPr>
          <p:cNvPr id="6" name="Group 16">
            <a:extLst>
              <a:ext uri="{FF2B5EF4-FFF2-40B4-BE49-F238E27FC236}">
                <a16:creationId xmlns:a16="http://schemas.microsoft.com/office/drawing/2014/main" id="{36291577-6DB8-4ECA-A073-D3D3835472E9}"/>
              </a:ext>
            </a:extLst>
          </p:cNvPr>
          <p:cNvGrpSpPr>
            <a:grpSpLocks/>
          </p:cNvGrpSpPr>
          <p:nvPr/>
        </p:nvGrpSpPr>
        <p:grpSpPr bwMode="auto">
          <a:xfrm>
            <a:off x="4776788" y="1916113"/>
            <a:ext cx="2362200" cy="2297112"/>
            <a:chOff x="0" y="0"/>
            <a:chExt cx="1488" cy="1447"/>
          </a:xfrm>
        </p:grpSpPr>
        <p:sp>
          <p:nvSpPr>
            <p:cNvPr id="77861" name="Line 14">
              <a:extLst>
                <a:ext uri="{FF2B5EF4-FFF2-40B4-BE49-F238E27FC236}">
                  <a16:creationId xmlns:a16="http://schemas.microsoft.com/office/drawing/2014/main" id="{3FF373AA-6A4A-40A4-8351-D993EACCFD5D}"/>
                </a:ext>
              </a:extLst>
            </p:cNvPr>
            <p:cNvSpPr>
              <a:spLocks noChangeShapeType="1"/>
            </p:cNvSpPr>
            <p:nvPr/>
          </p:nvSpPr>
          <p:spPr bwMode="auto">
            <a:xfrm flipV="1">
              <a:off x="0" y="240"/>
              <a:ext cx="1198" cy="1207"/>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62" name="Text Box 15">
              <a:extLst>
                <a:ext uri="{FF2B5EF4-FFF2-40B4-BE49-F238E27FC236}">
                  <a16:creationId xmlns:a16="http://schemas.microsoft.com/office/drawing/2014/main" id="{1F958A7A-E9BE-4F0F-9102-7A9BB764EF9C}"/>
                </a:ext>
              </a:extLst>
            </p:cNvPr>
            <p:cNvSpPr txBox="1">
              <a:spLocks noChangeArrowheads="1"/>
            </p:cNvSpPr>
            <p:nvPr/>
          </p:nvSpPr>
          <p:spPr bwMode="auto">
            <a:xfrm>
              <a:off x="1075" y="0"/>
              <a:ext cx="4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en-US" altLang="zh-CN" sz="2400" i="1">
                  <a:solidFill>
                    <a:srgbClr val="000066"/>
                  </a:solidFill>
                  <a:latin typeface="Times New Roman" panose="02020603050405020304" pitchFamily="18" charset="0"/>
                </a:rPr>
                <a:t>S</a:t>
              </a:r>
              <a:r>
                <a:rPr lang="en-US" altLang="zh-CN" sz="2400" baseline="-25000">
                  <a:solidFill>
                    <a:srgbClr val="000066"/>
                  </a:solidFill>
                  <a:latin typeface="Times New Roman" panose="02020603050405020304" pitchFamily="18" charset="0"/>
                </a:rPr>
                <a:t>2</a:t>
              </a:r>
            </a:p>
          </p:txBody>
        </p:sp>
      </p:grpSp>
      <p:grpSp>
        <p:nvGrpSpPr>
          <p:cNvPr id="77831" name="Group 19">
            <a:extLst>
              <a:ext uri="{FF2B5EF4-FFF2-40B4-BE49-F238E27FC236}">
                <a16:creationId xmlns:a16="http://schemas.microsoft.com/office/drawing/2014/main" id="{0B92CEA1-448B-4413-9C8F-926DE6DBF79C}"/>
              </a:ext>
            </a:extLst>
          </p:cNvPr>
          <p:cNvGrpSpPr>
            <a:grpSpLocks/>
          </p:cNvGrpSpPr>
          <p:nvPr/>
        </p:nvGrpSpPr>
        <p:grpSpPr bwMode="auto">
          <a:xfrm>
            <a:off x="3543300" y="3862388"/>
            <a:ext cx="3084513" cy="2201862"/>
            <a:chOff x="0" y="0"/>
            <a:chExt cx="1943" cy="1387"/>
          </a:xfrm>
        </p:grpSpPr>
        <p:sp>
          <p:nvSpPr>
            <p:cNvPr id="77855" name="Text Box 20">
              <a:extLst>
                <a:ext uri="{FF2B5EF4-FFF2-40B4-BE49-F238E27FC236}">
                  <a16:creationId xmlns:a16="http://schemas.microsoft.com/office/drawing/2014/main" id="{DF376F29-CF6C-4529-BD14-87007367706E}"/>
                </a:ext>
              </a:extLst>
            </p:cNvPr>
            <p:cNvSpPr txBox="1">
              <a:spLocks noChangeArrowheads="1"/>
            </p:cNvSpPr>
            <p:nvPr/>
          </p:nvSpPr>
          <p:spPr bwMode="auto">
            <a:xfrm>
              <a:off x="0" y="0"/>
              <a:ext cx="3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solidFill>
                    <a:srgbClr val="000066"/>
                  </a:solidFill>
                  <a:latin typeface="Times New Roman" panose="02020603050405020304" pitchFamily="18" charset="0"/>
                </a:rPr>
                <a:t>P</a:t>
              </a:r>
              <a:r>
                <a:rPr lang="en-US" altLang="zh-CN" sz="2400" baseline="-25000">
                  <a:solidFill>
                    <a:srgbClr val="000066"/>
                  </a:solidFill>
                  <a:latin typeface="Times New Roman" panose="02020603050405020304" pitchFamily="18" charset="0"/>
                </a:rPr>
                <a:t>1</a:t>
              </a:r>
            </a:p>
          </p:txBody>
        </p:sp>
        <p:sp>
          <p:nvSpPr>
            <p:cNvPr id="77856" name="Text Box 21">
              <a:extLst>
                <a:ext uri="{FF2B5EF4-FFF2-40B4-BE49-F238E27FC236}">
                  <a16:creationId xmlns:a16="http://schemas.microsoft.com/office/drawing/2014/main" id="{AB163269-BF5A-4DC5-825C-B9123402C49D}"/>
                </a:ext>
              </a:extLst>
            </p:cNvPr>
            <p:cNvSpPr txBox="1">
              <a:spLocks noChangeArrowheads="1"/>
            </p:cNvSpPr>
            <p:nvPr/>
          </p:nvSpPr>
          <p:spPr bwMode="auto">
            <a:xfrm>
              <a:off x="1598" y="1099"/>
              <a:ext cx="3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en-US" altLang="zh-CN" sz="2400" i="1">
                  <a:solidFill>
                    <a:srgbClr val="000066"/>
                  </a:solidFill>
                  <a:latin typeface="Times New Roman" panose="02020603050405020304" pitchFamily="18" charset="0"/>
                </a:rPr>
                <a:t>Q</a:t>
              </a:r>
              <a:r>
                <a:rPr lang="en-US" altLang="zh-CN" sz="2400" baseline="-25000">
                  <a:solidFill>
                    <a:srgbClr val="000066"/>
                  </a:solidFill>
                  <a:latin typeface="Times New Roman" panose="02020603050405020304" pitchFamily="18" charset="0"/>
                </a:rPr>
                <a:t>1</a:t>
              </a:r>
            </a:p>
          </p:txBody>
        </p:sp>
        <p:grpSp>
          <p:nvGrpSpPr>
            <p:cNvPr id="77857" name="Group 22">
              <a:extLst>
                <a:ext uri="{FF2B5EF4-FFF2-40B4-BE49-F238E27FC236}">
                  <a16:creationId xmlns:a16="http://schemas.microsoft.com/office/drawing/2014/main" id="{B015BD7E-E1F3-4C07-B881-892D27665B93}"/>
                </a:ext>
              </a:extLst>
            </p:cNvPr>
            <p:cNvGrpSpPr>
              <a:grpSpLocks/>
            </p:cNvGrpSpPr>
            <p:nvPr/>
          </p:nvGrpSpPr>
          <p:grpSpPr bwMode="auto">
            <a:xfrm>
              <a:off x="385" y="146"/>
              <a:ext cx="1387" cy="955"/>
              <a:chOff x="0" y="0"/>
              <a:chExt cx="795" cy="646"/>
            </a:xfrm>
          </p:grpSpPr>
          <p:sp>
            <p:nvSpPr>
              <p:cNvPr id="77859" name="Line 23">
                <a:extLst>
                  <a:ext uri="{FF2B5EF4-FFF2-40B4-BE49-F238E27FC236}">
                    <a16:creationId xmlns:a16="http://schemas.microsoft.com/office/drawing/2014/main" id="{78ACE4CD-B941-4422-BFBC-5209F3617C0A}"/>
                  </a:ext>
                </a:extLst>
              </p:cNvPr>
              <p:cNvSpPr>
                <a:spLocks noChangeShapeType="1"/>
              </p:cNvSpPr>
              <p:nvPr/>
            </p:nvSpPr>
            <p:spPr bwMode="auto">
              <a:xfrm>
                <a:off x="0" y="0"/>
                <a:ext cx="795" cy="0"/>
              </a:xfrm>
              <a:prstGeom prst="line">
                <a:avLst/>
              </a:prstGeom>
              <a:noFill/>
              <a:ln w="9525">
                <a:solidFill>
                  <a:srgbClr val="777777"/>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60" name="Line 24">
                <a:extLst>
                  <a:ext uri="{FF2B5EF4-FFF2-40B4-BE49-F238E27FC236}">
                    <a16:creationId xmlns:a16="http://schemas.microsoft.com/office/drawing/2014/main" id="{00C4D80E-52A8-49A9-8AD9-642682818917}"/>
                  </a:ext>
                </a:extLst>
              </p:cNvPr>
              <p:cNvSpPr>
                <a:spLocks noChangeShapeType="1"/>
              </p:cNvSpPr>
              <p:nvPr/>
            </p:nvSpPr>
            <p:spPr bwMode="auto">
              <a:xfrm>
                <a:off x="795" y="1"/>
                <a:ext cx="0" cy="645"/>
              </a:xfrm>
              <a:prstGeom prst="line">
                <a:avLst/>
              </a:prstGeom>
              <a:noFill/>
              <a:ln w="9525">
                <a:solidFill>
                  <a:srgbClr val="777777"/>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7858" name="Oval 25">
              <a:extLst>
                <a:ext uri="{FF2B5EF4-FFF2-40B4-BE49-F238E27FC236}">
                  <a16:creationId xmlns:a16="http://schemas.microsoft.com/office/drawing/2014/main" id="{43B2A946-CDE0-44B3-BAEF-D8DB11DD7C73}"/>
                </a:ext>
              </a:extLst>
            </p:cNvPr>
            <p:cNvSpPr>
              <a:spLocks noChangeArrowheads="1"/>
            </p:cNvSpPr>
            <p:nvPr/>
          </p:nvSpPr>
          <p:spPr bwMode="auto">
            <a:xfrm>
              <a:off x="1731" y="102"/>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FontTx/>
                <a:buNone/>
              </a:pPr>
              <a:endParaRPr lang="en-US" altLang="zh-CN" sz="1800" b="0">
                <a:solidFill>
                  <a:srgbClr val="000066"/>
                </a:solidFill>
                <a:latin typeface="Times New Roman" panose="02020603050405020304" pitchFamily="18" charset="0"/>
              </a:endParaRPr>
            </a:p>
          </p:txBody>
        </p:sp>
      </p:grpSp>
      <p:grpSp>
        <p:nvGrpSpPr>
          <p:cNvPr id="9" name="Group 26">
            <a:extLst>
              <a:ext uri="{FF2B5EF4-FFF2-40B4-BE49-F238E27FC236}">
                <a16:creationId xmlns:a16="http://schemas.microsoft.com/office/drawing/2014/main" id="{A6703EAC-5F02-4A89-8696-B603916E4FAA}"/>
              </a:ext>
            </a:extLst>
          </p:cNvPr>
          <p:cNvGrpSpPr>
            <a:grpSpLocks/>
          </p:cNvGrpSpPr>
          <p:nvPr/>
        </p:nvGrpSpPr>
        <p:grpSpPr bwMode="auto">
          <a:xfrm>
            <a:off x="3567113" y="2851150"/>
            <a:ext cx="2627312" cy="3216275"/>
            <a:chOff x="0" y="0"/>
            <a:chExt cx="1655" cy="2026"/>
          </a:xfrm>
        </p:grpSpPr>
        <p:sp>
          <p:nvSpPr>
            <p:cNvPr id="77849" name="Text Box 27">
              <a:extLst>
                <a:ext uri="{FF2B5EF4-FFF2-40B4-BE49-F238E27FC236}">
                  <a16:creationId xmlns:a16="http://schemas.microsoft.com/office/drawing/2014/main" id="{7F918025-1C92-49BA-8345-7A1DBB74609F}"/>
                </a:ext>
              </a:extLst>
            </p:cNvPr>
            <p:cNvSpPr txBox="1">
              <a:spLocks noChangeArrowheads="1"/>
            </p:cNvSpPr>
            <p:nvPr/>
          </p:nvSpPr>
          <p:spPr bwMode="auto">
            <a:xfrm>
              <a:off x="0" y="0"/>
              <a:ext cx="3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solidFill>
                    <a:srgbClr val="000066"/>
                  </a:solidFill>
                  <a:latin typeface="Times New Roman" panose="02020603050405020304" pitchFamily="18" charset="0"/>
                </a:rPr>
                <a:t>P</a:t>
              </a:r>
              <a:r>
                <a:rPr lang="en-US" altLang="zh-CN" sz="2400" baseline="-25000">
                  <a:solidFill>
                    <a:srgbClr val="000066"/>
                  </a:solidFill>
                  <a:latin typeface="Times New Roman" panose="02020603050405020304" pitchFamily="18" charset="0"/>
                </a:rPr>
                <a:t>2</a:t>
              </a:r>
            </a:p>
          </p:txBody>
        </p:sp>
        <p:sp>
          <p:nvSpPr>
            <p:cNvPr id="77850" name="Text Box 28">
              <a:extLst>
                <a:ext uri="{FF2B5EF4-FFF2-40B4-BE49-F238E27FC236}">
                  <a16:creationId xmlns:a16="http://schemas.microsoft.com/office/drawing/2014/main" id="{7ACB5FB0-009E-4655-AF33-04BA87E0123A}"/>
                </a:ext>
              </a:extLst>
            </p:cNvPr>
            <p:cNvSpPr txBox="1">
              <a:spLocks noChangeArrowheads="1"/>
            </p:cNvSpPr>
            <p:nvPr/>
          </p:nvSpPr>
          <p:spPr bwMode="auto">
            <a:xfrm>
              <a:off x="1285" y="1738"/>
              <a:ext cx="37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en-US" altLang="zh-CN" sz="2400" i="1">
                  <a:solidFill>
                    <a:srgbClr val="000066"/>
                  </a:solidFill>
                  <a:latin typeface="Times New Roman" panose="02020603050405020304" pitchFamily="18" charset="0"/>
                </a:rPr>
                <a:t>Q</a:t>
              </a:r>
              <a:r>
                <a:rPr lang="en-US" altLang="zh-CN" sz="2400" baseline="-25000">
                  <a:solidFill>
                    <a:srgbClr val="000066"/>
                  </a:solidFill>
                  <a:latin typeface="Times New Roman" panose="02020603050405020304" pitchFamily="18" charset="0"/>
                </a:rPr>
                <a:t>2</a:t>
              </a:r>
            </a:p>
          </p:txBody>
        </p:sp>
        <p:grpSp>
          <p:nvGrpSpPr>
            <p:cNvPr id="77851" name="Group 29">
              <a:extLst>
                <a:ext uri="{FF2B5EF4-FFF2-40B4-BE49-F238E27FC236}">
                  <a16:creationId xmlns:a16="http://schemas.microsoft.com/office/drawing/2014/main" id="{5164F203-CAC2-40D2-99BE-8168E624F9F9}"/>
                </a:ext>
              </a:extLst>
            </p:cNvPr>
            <p:cNvGrpSpPr>
              <a:grpSpLocks/>
            </p:cNvGrpSpPr>
            <p:nvPr/>
          </p:nvGrpSpPr>
          <p:grpSpPr bwMode="auto">
            <a:xfrm>
              <a:off x="371" y="145"/>
              <a:ext cx="1100" cy="1589"/>
              <a:chOff x="0" y="0"/>
              <a:chExt cx="795" cy="646"/>
            </a:xfrm>
          </p:grpSpPr>
          <p:sp>
            <p:nvSpPr>
              <p:cNvPr id="77853" name="Line 30">
                <a:extLst>
                  <a:ext uri="{FF2B5EF4-FFF2-40B4-BE49-F238E27FC236}">
                    <a16:creationId xmlns:a16="http://schemas.microsoft.com/office/drawing/2014/main" id="{BDBADADD-37EB-42FC-AB74-4E6595C5901C}"/>
                  </a:ext>
                </a:extLst>
              </p:cNvPr>
              <p:cNvSpPr>
                <a:spLocks noChangeShapeType="1"/>
              </p:cNvSpPr>
              <p:nvPr/>
            </p:nvSpPr>
            <p:spPr bwMode="auto">
              <a:xfrm>
                <a:off x="0" y="0"/>
                <a:ext cx="795" cy="0"/>
              </a:xfrm>
              <a:prstGeom prst="line">
                <a:avLst/>
              </a:prstGeom>
              <a:noFill/>
              <a:ln w="9525">
                <a:solidFill>
                  <a:srgbClr val="777777"/>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54" name="Line 31">
                <a:extLst>
                  <a:ext uri="{FF2B5EF4-FFF2-40B4-BE49-F238E27FC236}">
                    <a16:creationId xmlns:a16="http://schemas.microsoft.com/office/drawing/2014/main" id="{46569980-9B4E-458D-A742-A48602BB4DEE}"/>
                  </a:ext>
                </a:extLst>
              </p:cNvPr>
              <p:cNvSpPr>
                <a:spLocks noChangeShapeType="1"/>
              </p:cNvSpPr>
              <p:nvPr/>
            </p:nvSpPr>
            <p:spPr bwMode="auto">
              <a:xfrm>
                <a:off x="795" y="1"/>
                <a:ext cx="0" cy="645"/>
              </a:xfrm>
              <a:prstGeom prst="line">
                <a:avLst/>
              </a:prstGeom>
              <a:noFill/>
              <a:ln w="9525">
                <a:solidFill>
                  <a:srgbClr val="777777"/>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7852" name="Oval 32">
              <a:extLst>
                <a:ext uri="{FF2B5EF4-FFF2-40B4-BE49-F238E27FC236}">
                  <a16:creationId xmlns:a16="http://schemas.microsoft.com/office/drawing/2014/main" id="{287A7681-73E6-49FF-A864-382D0BBED764}"/>
                </a:ext>
              </a:extLst>
            </p:cNvPr>
            <p:cNvSpPr>
              <a:spLocks noChangeArrowheads="1"/>
            </p:cNvSpPr>
            <p:nvPr/>
          </p:nvSpPr>
          <p:spPr bwMode="auto">
            <a:xfrm>
              <a:off x="1431" y="98"/>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FontTx/>
                <a:buNone/>
              </a:pPr>
              <a:endParaRPr lang="en-US" altLang="zh-CN" sz="1800" b="0">
                <a:solidFill>
                  <a:srgbClr val="000066"/>
                </a:solidFill>
                <a:latin typeface="Times New Roman" panose="02020603050405020304" pitchFamily="18" charset="0"/>
              </a:endParaRPr>
            </a:p>
          </p:txBody>
        </p:sp>
      </p:grpSp>
      <p:sp>
        <p:nvSpPr>
          <p:cNvPr id="65569" name="Line 33">
            <a:extLst>
              <a:ext uri="{FF2B5EF4-FFF2-40B4-BE49-F238E27FC236}">
                <a16:creationId xmlns:a16="http://schemas.microsoft.com/office/drawing/2014/main" id="{6E7F95C8-2FE0-40D2-A1A0-D22F09C8AEE1}"/>
              </a:ext>
            </a:extLst>
          </p:cNvPr>
          <p:cNvSpPr>
            <a:spLocks noChangeShapeType="1"/>
          </p:cNvSpPr>
          <p:nvPr/>
        </p:nvSpPr>
        <p:spPr bwMode="auto">
          <a:xfrm flipH="1">
            <a:off x="6334125" y="2746375"/>
            <a:ext cx="1203325" cy="0"/>
          </a:xfrm>
          <a:prstGeom prst="line">
            <a:avLst/>
          </a:prstGeom>
          <a:noFill/>
          <a:ln w="38100">
            <a:solidFill>
              <a:srgbClr val="00808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65570" name="Line 34">
            <a:extLst>
              <a:ext uri="{FF2B5EF4-FFF2-40B4-BE49-F238E27FC236}">
                <a16:creationId xmlns:a16="http://schemas.microsoft.com/office/drawing/2014/main" id="{DA88249A-2876-4759-955E-F1A653C1C797}"/>
              </a:ext>
            </a:extLst>
          </p:cNvPr>
          <p:cNvSpPr>
            <a:spLocks noChangeShapeType="1"/>
          </p:cNvSpPr>
          <p:nvPr/>
        </p:nvSpPr>
        <p:spPr bwMode="auto">
          <a:xfrm flipH="1">
            <a:off x="5902325" y="5608638"/>
            <a:ext cx="447675" cy="0"/>
          </a:xfrm>
          <a:prstGeom prst="line">
            <a:avLst/>
          </a:prstGeom>
          <a:noFill/>
          <a:ln w="38100">
            <a:solidFill>
              <a:srgbClr val="00808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65571" name="Line 35">
            <a:extLst>
              <a:ext uri="{FF2B5EF4-FFF2-40B4-BE49-F238E27FC236}">
                <a16:creationId xmlns:a16="http://schemas.microsoft.com/office/drawing/2014/main" id="{D1216D33-7066-4F2D-AA41-2BC966DC2B6B}"/>
              </a:ext>
            </a:extLst>
          </p:cNvPr>
          <p:cNvSpPr>
            <a:spLocks noChangeShapeType="1"/>
          </p:cNvSpPr>
          <p:nvPr/>
        </p:nvSpPr>
        <p:spPr bwMode="auto">
          <a:xfrm rot="5400000" flipH="1">
            <a:off x="3654425" y="3582988"/>
            <a:ext cx="1004888" cy="4762"/>
          </a:xfrm>
          <a:prstGeom prst="line">
            <a:avLst/>
          </a:prstGeom>
          <a:noFill/>
          <a:ln w="38100">
            <a:solidFill>
              <a:srgbClr val="00808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65572" name="Text Box 36">
            <a:extLst>
              <a:ext uri="{FF2B5EF4-FFF2-40B4-BE49-F238E27FC236}">
                <a16:creationId xmlns:a16="http://schemas.microsoft.com/office/drawing/2014/main" id="{2E958756-EE38-4CD4-8B0E-24878E1CFDCB}"/>
              </a:ext>
            </a:extLst>
          </p:cNvPr>
          <p:cNvSpPr txBox="1">
            <a:spLocks noChangeArrowheads="1"/>
          </p:cNvSpPr>
          <p:nvPr/>
        </p:nvSpPr>
        <p:spPr bwMode="auto">
          <a:xfrm>
            <a:off x="395536" y="1484313"/>
            <a:ext cx="255562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FontTx/>
              <a:buNone/>
            </a:pPr>
            <a:r>
              <a:rPr lang="zh-CN" altLang="en-US" b="0" dirty="0">
                <a:solidFill>
                  <a:srgbClr val="000066"/>
                </a:solidFill>
                <a:latin typeface="Times New Roman" panose="02020603050405020304" pitchFamily="18" charset="0"/>
              </a:rPr>
              <a:t>禁毒减少了毒品供给</a:t>
            </a:r>
          </a:p>
        </p:txBody>
      </p:sp>
      <p:sp>
        <p:nvSpPr>
          <p:cNvPr id="65573" name="Text Box 37">
            <a:extLst>
              <a:ext uri="{FF2B5EF4-FFF2-40B4-BE49-F238E27FC236}">
                <a16:creationId xmlns:a16="http://schemas.microsoft.com/office/drawing/2014/main" id="{1E07225F-2F61-41B6-BA79-878F433DBFC2}"/>
              </a:ext>
            </a:extLst>
          </p:cNvPr>
          <p:cNvSpPr txBox="1">
            <a:spLocks noChangeArrowheads="1"/>
          </p:cNvSpPr>
          <p:nvPr/>
        </p:nvSpPr>
        <p:spPr bwMode="auto">
          <a:xfrm>
            <a:off x="762000" y="2514600"/>
            <a:ext cx="2351088"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zh-CN" altLang="en-US" sz="2400" b="0" dirty="0">
                <a:solidFill>
                  <a:srgbClr val="000066"/>
                </a:solidFill>
                <a:latin typeface="Times New Roman" panose="02020603050405020304" pitchFamily="18" charset="0"/>
              </a:rPr>
              <a:t>由于毒品的需求是缺乏弹性的，毒品价格提高的比例会大于毒品使用减少的比例</a:t>
            </a:r>
          </a:p>
        </p:txBody>
      </p:sp>
      <p:sp>
        <p:nvSpPr>
          <p:cNvPr id="65574" name="Text Box 38">
            <a:extLst>
              <a:ext uri="{FF2B5EF4-FFF2-40B4-BE49-F238E27FC236}">
                <a16:creationId xmlns:a16="http://schemas.microsoft.com/office/drawing/2014/main" id="{76544F79-22A3-4135-B09C-647A8D933975}"/>
              </a:ext>
            </a:extLst>
          </p:cNvPr>
          <p:cNvSpPr txBox="1">
            <a:spLocks noChangeArrowheads="1"/>
          </p:cNvSpPr>
          <p:nvPr/>
        </p:nvSpPr>
        <p:spPr bwMode="auto">
          <a:xfrm>
            <a:off x="323850" y="4581525"/>
            <a:ext cx="2627313"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zh-CN" altLang="en-US" sz="2400" b="0" dirty="0">
                <a:solidFill>
                  <a:srgbClr val="000066"/>
                </a:solidFill>
                <a:latin typeface="Times New Roman" panose="02020603050405020304" pitchFamily="18" charset="0"/>
              </a:rPr>
              <a:t>结果：在毒品上的总支出和与毒品相关的犯罪都会增加</a:t>
            </a:r>
          </a:p>
        </p:txBody>
      </p:sp>
      <p:sp>
        <p:nvSpPr>
          <p:cNvPr id="65575" name="Rectangle 39">
            <a:extLst>
              <a:ext uri="{FF2B5EF4-FFF2-40B4-BE49-F238E27FC236}">
                <a16:creationId xmlns:a16="http://schemas.microsoft.com/office/drawing/2014/main" id="{351B780E-0DC2-4398-AB7D-6F5565DE9559}"/>
              </a:ext>
            </a:extLst>
          </p:cNvPr>
          <p:cNvSpPr>
            <a:spLocks noChangeArrowheads="1"/>
          </p:cNvSpPr>
          <p:nvPr/>
        </p:nvSpPr>
        <p:spPr bwMode="auto">
          <a:xfrm>
            <a:off x="4157663" y="4097338"/>
            <a:ext cx="2190750" cy="1500187"/>
          </a:xfrm>
          <a:prstGeom prst="rect">
            <a:avLst/>
          </a:prstGeom>
          <a:solidFill>
            <a:srgbClr val="FF0000">
              <a:alpha val="3607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FontTx/>
              <a:buNone/>
            </a:pPr>
            <a:endParaRPr lang="en-US" altLang="zh-CN" sz="1800" b="0">
              <a:solidFill>
                <a:srgbClr val="000066"/>
              </a:solidFill>
              <a:latin typeface="Times New Roman" panose="02020603050405020304" pitchFamily="18" charset="0"/>
            </a:endParaRPr>
          </a:p>
        </p:txBody>
      </p:sp>
      <p:grpSp>
        <p:nvGrpSpPr>
          <p:cNvPr id="11" name="Group 40">
            <a:extLst>
              <a:ext uri="{FF2B5EF4-FFF2-40B4-BE49-F238E27FC236}">
                <a16:creationId xmlns:a16="http://schemas.microsoft.com/office/drawing/2014/main" id="{7C7DAA07-A5CA-47AB-A728-3E5FEA975721}"/>
              </a:ext>
            </a:extLst>
          </p:cNvPr>
          <p:cNvGrpSpPr>
            <a:grpSpLocks/>
          </p:cNvGrpSpPr>
          <p:nvPr/>
        </p:nvGrpSpPr>
        <p:grpSpPr bwMode="auto">
          <a:xfrm>
            <a:off x="4167188" y="1268413"/>
            <a:ext cx="2951162" cy="4329112"/>
            <a:chOff x="0" y="0"/>
            <a:chExt cx="1859" cy="2727"/>
          </a:xfrm>
        </p:grpSpPr>
        <p:sp>
          <p:nvSpPr>
            <p:cNvPr id="77845" name="Rectangle 40">
              <a:extLst>
                <a:ext uri="{FF2B5EF4-FFF2-40B4-BE49-F238E27FC236}">
                  <a16:creationId xmlns:a16="http://schemas.microsoft.com/office/drawing/2014/main" id="{3F18B887-00EB-4837-BB4C-8A26BF0CE4EC}"/>
                </a:ext>
              </a:extLst>
            </p:cNvPr>
            <p:cNvSpPr>
              <a:spLocks noChangeArrowheads="1"/>
            </p:cNvSpPr>
            <p:nvPr/>
          </p:nvSpPr>
          <p:spPr bwMode="auto">
            <a:xfrm>
              <a:off x="0" y="1151"/>
              <a:ext cx="1092" cy="1576"/>
            </a:xfrm>
            <a:prstGeom prst="rect">
              <a:avLst/>
            </a:prstGeom>
            <a:solidFill>
              <a:srgbClr val="FFFF00">
                <a:alpha val="3607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FontTx/>
                <a:buNone/>
              </a:pPr>
              <a:endParaRPr lang="en-US" altLang="zh-CN" sz="1800" b="0">
                <a:solidFill>
                  <a:srgbClr val="000066"/>
                </a:solidFill>
                <a:latin typeface="Times New Roman" panose="02020603050405020304" pitchFamily="18" charset="0"/>
              </a:endParaRPr>
            </a:p>
          </p:txBody>
        </p:sp>
        <p:grpSp>
          <p:nvGrpSpPr>
            <p:cNvPr id="77846" name="Group 42">
              <a:extLst>
                <a:ext uri="{FF2B5EF4-FFF2-40B4-BE49-F238E27FC236}">
                  <a16:creationId xmlns:a16="http://schemas.microsoft.com/office/drawing/2014/main" id="{115C5B48-E30F-453E-ABE3-A8976272B382}"/>
                </a:ext>
              </a:extLst>
            </p:cNvPr>
            <p:cNvGrpSpPr>
              <a:grpSpLocks/>
            </p:cNvGrpSpPr>
            <p:nvPr/>
          </p:nvGrpSpPr>
          <p:grpSpPr bwMode="auto">
            <a:xfrm>
              <a:off x="143" y="0"/>
              <a:ext cx="1716" cy="1231"/>
              <a:chOff x="0" y="0"/>
              <a:chExt cx="1716" cy="1231"/>
            </a:xfrm>
          </p:grpSpPr>
          <p:sp>
            <p:nvSpPr>
              <p:cNvPr id="77847" name="Text Box 42">
                <a:extLst>
                  <a:ext uri="{FF2B5EF4-FFF2-40B4-BE49-F238E27FC236}">
                    <a16:creationId xmlns:a16="http://schemas.microsoft.com/office/drawing/2014/main" id="{741F11FE-D7DD-42B0-8612-DB6DC8C7F72F}"/>
                  </a:ext>
                </a:extLst>
              </p:cNvPr>
              <p:cNvSpPr txBox="1">
                <a:spLocks noChangeArrowheads="1"/>
              </p:cNvSpPr>
              <p:nvPr/>
            </p:nvSpPr>
            <p:spPr bwMode="auto">
              <a:xfrm>
                <a:off x="0" y="0"/>
                <a:ext cx="1716" cy="523"/>
              </a:xfrm>
              <a:prstGeom prst="rect">
                <a:avLst/>
              </a:prstGeom>
              <a:solidFill>
                <a:srgbClr val="FFFF00">
                  <a:alpha val="3607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FontTx/>
                  <a:buNone/>
                </a:pPr>
                <a:r>
                  <a:rPr lang="zh-CN" altLang="en-US" sz="2400" b="0">
                    <a:solidFill>
                      <a:srgbClr val="000066"/>
                    </a:solidFill>
                    <a:latin typeface="Times New Roman" panose="02020603050405020304" pitchFamily="18" charset="0"/>
                  </a:rPr>
                  <a:t>与毒品相关的犯罪的新价值</a:t>
                </a:r>
              </a:p>
            </p:txBody>
          </p:sp>
          <p:sp>
            <p:nvSpPr>
              <p:cNvPr id="77848" name="Line 43">
                <a:extLst>
                  <a:ext uri="{FF2B5EF4-FFF2-40B4-BE49-F238E27FC236}">
                    <a16:creationId xmlns:a16="http://schemas.microsoft.com/office/drawing/2014/main" id="{C42A7B48-5CC5-4A3F-95DD-671077604BBB}"/>
                  </a:ext>
                </a:extLst>
              </p:cNvPr>
              <p:cNvSpPr>
                <a:spLocks noChangeShapeType="1"/>
              </p:cNvSpPr>
              <p:nvPr/>
            </p:nvSpPr>
            <p:spPr bwMode="auto">
              <a:xfrm flipH="1">
                <a:off x="313" y="528"/>
                <a:ext cx="74" cy="7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 name="Group 45">
            <a:extLst>
              <a:ext uri="{FF2B5EF4-FFF2-40B4-BE49-F238E27FC236}">
                <a16:creationId xmlns:a16="http://schemas.microsoft.com/office/drawing/2014/main" id="{BE3A2635-1744-4036-B648-2A4F171DD00D}"/>
              </a:ext>
            </a:extLst>
          </p:cNvPr>
          <p:cNvGrpSpPr>
            <a:grpSpLocks/>
          </p:cNvGrpSpPr>
          <p:nvPr/>
        </p:nvGrpSpPr>
        <p:grpSpPr bwMode="auto">
          <a:xfrm>
            <a:off x="6273800" y="3732213"/>
            <a:ext cx="2541588" cy="1200150"/>
            <a:chOff x="0" y="0"/>
            <a:chExt cx="1601" cy="756"/>
          </a:xfrm>
        </p:grpSpPr>
        <p:sp>
          <p:nvSpPr>
            <p:cNvPr id="77843" name="Text Box 41">
              <a:extLst>
                <a:ext uri="{FF2B5EF4-FFF2-40B4-BE49-F238E27FC236}">
                  <a16:creationId xmlns:a16="http://schemas.microsoft.com/office/drawing/2014/main" id="{D2107610-0E4D-47C2-9478-5B482121E14A}"/>
                </a:ext>
              </a:extLst>
            </p:cNvPr>
            <p:cNvSpPr txBox="1">
              <a:spLocks noChangeArrowheads="1"/>
            </p:cNvSpPr>
            <p:nvPr/>
          </p:nvSpPr>
          <p:spPr bwMode="auto">
            <a:xfrm>
              <a:off x="515" y="0"/>
              <a:ext cx="1086" cy="756"/>
            </a:xfrm>
            <a:prstGeom prst="rect">
              <a:avLst/>
            </a:prstGeom>
            <a:solidFill>
              <a:srgbClr val="FF0000">
                <a:alpha val="3607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FontTx/>
                <a:buNone/>
              </a:pPr>
              <a:r>
                <a:rPr lang="zh-CN" altLang="en-US" sz="2400" b="0">
                  <a:solidFill>
                    <a:srgbClr val="000066"/>
                  </a:solidFill>
                  <a:latin typeface="Times New Roman" panose="02020603050405020304" pitchFamily="18" charset="0"/>
                </a:rPr>
                <a:t>与毒品相关的犯罪的最初价值</a:t>
              </a:r>
            </a:p>
          </p:txBody>
        </p:sp>
        <p:sp>
          <p:nvSpPr>
            <p:cNvPr id="77844" name="Line 44">
              <a:extLst>
                <a:ext uri="{FF2B5EF4-FFF2-40B4-BE49-F238E27FC236}">
                  <a16:creationId xmlns:a16="http://schemas.microsoft.com/office/drawing/2014/main" id="{DB337248-EC11-4B53-B065-75B8057E1AAE}"/>
                </a:ext>
              </a:extLst>
            </p:cNvPr>
            <p:cNvSpPr>
              <a:spLocks noChangeShapeType="1"/>
            </p:cNvSpPr>
            <p:nvPr/>
          </p:nvSpPr>
          <p:spPr bwMode="auto">
            <a:xfrm flipV="1">
              <a:off x="0" y="456"/>
              <a:ext cx="509"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7842" name="Title 1">
            <a:extLst>
              <a:ext uri="{FF2B5EF4-FFF2-40B4-BE49-F238E27FC236}">
                <a16:creationId xmlns:a16="http://schemas.microsoft.com/office/drawing/2014/main" id="{EE9F6528-F902-49B8-B249-770DC8EBA419}"/>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dirty="0">
                <a:solidFill>
                  <a:srgbClr val="000066"/>
                </a:solidFill>
                <a:latin typeface="Arial" panose="020B0604020202020204" pitchFamily="34" charset="0"/>
              </a:rPr>
              <a:t>政策</a:t>
            </a:r>
            <a:r>
              <a:rPr lang="en-US" altLang="zh-CN" sz="3200" b="0" dirty="0">
                <a:solidFill>
                  <a:srgbClr val="000066"/>
                </a:solidFill>
                <a:latin typeface="Arial" panose="020B0604020202020204" pitchFamily="34" charset="0"/>
              </a:rPr>
              <a:t>1</a:t>
            </a:r>
            <a:r>
              <a:rPr lang="zh-CN" altLang="en-US" sz="3200" b="0" dirty="0">
                <a:solidFill>
                  <a:srgbClr val="000066"/>
                </a:solidFill>
                <a:latin typeface="Arial" panose="020B0604020202020204" pitchFamily="34" charset="0"/>
              </a:rPr>
              <a:t>：打击毒品供给来禁毒</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5575"/>
                                        </p:tgtEl>
                                        <p:attrNameLst>
                                          <p:attrName>style.visibility</p:attrName>
                                        </p:attrNameLst>
                                      </p:cBhvr>
                                      <p:to>
                                        <p:strVal val="visible"/>
                                      </p:to>
                                    </p:set>
                                    <p:animEffect transition="in" filter="dissolve">
                                      <p:cBhvr>
                                        <p:cTn id="7" dur="500"/>
                                        <p:tgtEl>
                                          <p:spTgt spid="65575"/>
                                        </p:tgtEl>
                                      </p:cBhvr>
                                    </p:animEffect>
                                  </p:childTnLst>
                                </p:cTn>
                              </p:par>
                              <p:par>
                                <p:cTn id="8" presetID="9"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dissolve">
                                      <p:cBhvr>
                                        <p:cTn id="10" dur="500"/>
                                        <p:tgtEl>
                                          <p:spTgt spid="1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5572"/>
                                        </p:tgtEl>
                                        <p:attrNameLst>
                                          <p:attrName>style.visibility</p:attrName>
                                        </p:attrNameLst>
                                      </p:cBhvr>
                                      <p:to>
                                        <p:strVal val="visible"/>
                                      </p:to>
                                    </p:set>
                                    <p:animEffect transition="in" filter="wipe(left)">
                                      <p:cBhvr>
                                        <p:cTn id="15" dur="500"/>
                                        <p:tgtEl>
                                          <p:spTgt spid="6557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2" fill="hold" nodeType="clickEffect">
                                  <p:stCondLst>
                                    <p:cond delay="0"/>
                                  </p:stCondLst>
                                  <p:childTnLst>
                                    <p:set>
                                      <p:cBhvr>
                                        <p:cTn id="19" dur="1" fill="hold">
                                          <p:stCondLst>
                                            <p:cond delay="0"/>
                                          </p:stCondLst>
                                        </p:cTn>
                                        <p:tgtEl>
                                          <p:spTgt spid="65569"/>
                                        </p:tgtEl>
                                        <p:attrNameLst>
                                          <p:attrName>style.visibility</p:attrName>
                                        </p:attrNameLst>
                                      </p:cBhvr>
                                      <p:to>
                                        <p:strVal val="visible"/>
                                      </p:to>
                                    </p:set>
                                    <p:animEffect transition="in" filter="wipe(right)">
                                      <p:cBhvr>
                                        <p:cTn id="20" dur="500"/>
                                        <p:tgtEl>
                                          <p:spTgt spid="65569"/>
                                        </p:tgtEl>
                                      </p:cBhvr>
                                    </p:animEffect>
                                  </p:childTnLst>
                                </p:cTn>
                              </p:par>
                            </p:childTnLst>
                          </p:cTn>
                        </p:par>
                        <p:par>
                          <p:cTn id="21" fill="hold" nodeType="afterGroup">
                            <p:stCondLst>
                              <p:cond delay="500"/>
                            </p:stCondLst>
                            <p:childTnLst>
                              <p:par>
                                <p:cTn id="22" presetID="18" presetClass="entr" presetSubtype="3"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strips(upRight)">
                                      <p:cBhvr>
                                        <p:cTn id="24" dur="500"/>
                                        <p:tgtEl>
                                          <p:spTgt spid="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5573"/>
                                        </p:tgtEl>
                                        <p:attrNameLst>
                                          <p:attrName>style.visibility</p:attrName>
                                        </p:attrNameLst>
                                      </p:cBhvr>
                                      <p:to>
                                        <p:strVal val="visible"/>
                                      </p:to>
                                    </p:set>
                                    <p:animEffect transition="in" filter="wipe(left)">
                                      <p:cBhvr>
                                        <p:cTn id="29" dur="500"/>
                                        <p:tgtEl>
                                          <p:spTgt spid="6557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4" fill="hold" nodeType="clickEffect">
                                  <p:stCondLst>
                                    <p:cond delay="0"/>
                                  </p:stCondLst>
                                  <p:childTnLst>
                                    <p:set>
                                      <p:cBhvr>
                                        <p:cTn id="33" dur="1" fill="hold">
                                          <p:stCondLst>
                                            <p:cond delay="0"/>
                                          </p:stCondLst>
                                        </p:cTn>
                                        <p:tgtEl>
                                          <p:spTgt spid="65571"/>
                                        </p:tgtEl>
                                        <p:attrNameLst>
                                          <p:attrName>style.visibility</p:attrName>
                                        </p:attrNameLst>
                                      </p:cBhvr>
                                      <p:to>
                                        <p:strVal val="visible"/>
                                      </p:to>
                                    </p:set>
                                    <p:animEffect transition="in" filter="wipe(down)">
                                      <p:cBhvr>
                                        <p:cTn id="34" dur="500"/>
                                        <p:tgtEl>
                                          <p:spTgt spid="65571"/>
                                        </p:tgtEl>
                                      </p:cBhvr>
                                    </p:animEffect>
                                  </p:childTnLst>
                                </p:cTn>
                              </p:par>
                            </p:childTnLst>
                          </p:cTn>
                        </p:par>
                        <p:par>
                          <p:cTn id="35" fill="hold" nodeType="afterGroup">
                            <p:stCondLst>
                              <p:cond delay="500"/>
                            </p:stCondLst>
                            <p:childTnLst>
                              <p:par>
                                <p:cTn id="36" presetID="18" presetClass="entr" presetSubtype="6" fill="hold" nodeType="after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strips(downRight)">
                                      <p:cBhvr>
                                        <p:cTn id="38" dur="500"/>
                                        <p:tgtEl>
                                          <p:spTgt spid="9"/>
                                        </p:tgtEl>
                                      </p:cBhvr>
                                    </p:animEffect>
                                  </p:childTnLst>
                                </p:cTn>
                              </p:par>
                            </p:childTnLst>
                          </p:cTn>
                        </p:par>
                        <p:par>
                          <p:cTn id="39" fill="hold" nodeType="afterGroup">
                            <p:stCondLst>
                              <p:cond delay="1000"/>
                            </p:stCondLst>
                            <p:childTnLst>
                              <p:par>
                                <p:cTn id="40" presetID="22" presetClass="entr" presetSubtype="2" fill="hold" nodeType="afterEffect">
                                  <p:stCondLst>
                                    <p:cond delay="0"/>
                                  </p:stCondLst>
                                  <p:childTnLst>
                                    <p:set>
                                      <p:cBhvr>
                                        <p:cTn id="41" dur="1" fill="hold">
                                          <p:stCondLst>
                                            <p:cond delay="0"/>
                                          </p:stCondLst>
                                        </p:cTn>
                                        <p:tgtEl>
                                          <p:spTgt spid="65570"/>
                                        </p:tgtEl>
                                        <p:attrNameLst>
                                          <p:attrName>style.visibility</p:attrName>
                                        </p:attrNameLst>
                                      </p:cBhvr>
                                      <p:to>
                                        <p:strVal val="visible"/>
                                      </p:to>
                                    </p:set>
                                    <p:animEffect transition="in" filter="wipe(right)">
                                      <p:cBhvr>
                                        <p:cTn id="42" dur="500"/>
                                        <p:tgtEl>
                                          <p:spTgt spid="6557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dissolve">
                                      <p:cBhvr>
                                        <p:cTn id="47" dur="500"/>
                                        <p:tgtEl>
                                          <p:spTgt spid="11"/>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65574"/>
                                        </p:tgtEl>
                                        <p:attrNameLst>
                                          <p:attrName>style.visibility</p:attrName>
                                        </p:attrNameLst>
                                      </p:cBhvr>
                                      <p:to>
                                        <p:strVal val="visible"/>
                                      </p:to>
                                    </p:set>
                                    <p:animEffect transition="in" filter="wipe(left)">
                                      <p:cBhvr>
                                        <p:cTn id="50" dur="500"/>
                                        <p:tgtEl>
                                          <p:spTgt spid="655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72" grpId="0" autoUpdateAnimBg="0"/>
      <p:bldP spid="65573" grpId="0" autoUpdateAnimBg="0"/>
      <p:bldP spid="65574" grpId="0" autoUpdateAnimBg="0"/>
      <p:bldP spid="65575" grpId="0" animBg="1"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FlagCount" hidden="1">
            <a:hlinkClick r:id="rId2" action="ppaction://hlinkfile"/>
            <a:extLst>
              <a:ext uri="{FF2B5EF4-FFF2-40B4-BE49-F238E27FC236}">
                <a16:creationId xmlns:a16="http://schemas.microsoft.com/office/drawing/2014/main" id="{422261BE-E627-4AF0-A462-09E2D4E50783}"/>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FontTx/>
              <a:buNone/>
            </a:pPr>
            <a:r>
              <a:rPr lang="en-US" altLang="zh-CN" sz="1400">
                <a:solidFill>
                  <a:srgbClr val="000066"/>
                </a:solidFill>
                <a:latin typeface="Tahoma" panose="020B0604030504040204" pitchFamily="34" charset="0"/>
              </a:rPr>
              <a:t>0</a:t>
            </a:r>
          </a:p>
        </p:txBody>
      </p:sp>
      <p:grpSp>
        <p:nvGrpSpPr>
          <p:cNvPr id="79875" name="Group 4">
            <a:extLst>
              <a:ext uri="{FF2B5EF4-FFF2-40B4-BE49-F238E27FC236}">
                <a16:creationId xmlns:a16="http://schemas.microsoft.com/office/drawing/2014/main" id="{03BBA1CB-DB1F-44C6-ACB6-94D91C6F85CC}"/>
              </a:ext>
            </a:extLst>
          </p:cNvPr>
          <p:cNvGrpSpPr>
            <a:grpSpLocks/>
          </p:cNvGrpSpPr>
          <p:nvPr/>
        </p:nvGrpSpPr>
        <p:grpSpPr bwMode="auto">
          <a:xfrm>
            <a:off x="2767013" y="1751013"/>
            <a:ext cx="5857875" cy="4408487"/>
            <a:chOff x="0" y="0"/>
            <a:chExt cx="3690" cy="2777"/>
          </a:xfrm>
        </p:grpSpPr>
        <p:grpSp>
          <p:nvGrpSpPr>
            <p:cNvPr id="79914" name="Group 5">
              <a:extLst>
                <a:ext uri="{FF2B5EF4-FFF2-40B4-BE49-F238E27FC236}">
                  <a16:creationId xmlns:a16="http://schemas.microsoft.com/office/drawing/2014/main" id="{81AA3D2E-33D6-44CF-8D6F-E3610E77949E}"/>
                </a:ext>
              </a:extLst>
            </p:cNvPr>
            <p:cNvGrpSpPr>
              <a:grpSpLocks/>
            </p:cNvGrpSpPr>
            <p:nvPr/>
          </p:nvGrpSpPr>
          <p:grpSpPr bwMode="auto">
            <a:xfrm>
              <a:off x="870" y="62"/>
              <a:ext cx="2750" cy="2433"/>
              <a:chOff x="0" y="0"/>
              <a:chExt cx="2116" cy="2027"/>
            </a:xfrm>
          </p:grpSpPr>
          <p:sp>
            <p:nvSpPr>
              <p:cNvPr id="79917" name="Line 6">
                <a:extLst>
                  <a:ext uri="{FF2B5EF4-FFF2-40B4-BE49-F238E27FC236}">
                    <a16:creationId xmlns:a16="http://schemas.microsoft.com/office/drawing/2014/main" id="{9D24E0A9-5566-437D-9603-F768E04B49BA}"/>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18" name="Line 7">
                <a:extLst>
                  <a:ext uri="{FF2B5EF4-FFF2-40B4-BE49-F238E27FC236}">
                    <a16:creationId xmlns:a16="http://schemas.microsoft.com/office/drawing/2014/main" id="{9C4A9DDE-BB5D-41CB-8CC8-2761DAD32893}"/>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9915" name="Text Box 8">
              <a:extLst>
                <a:ext uri="{FF2B5EF4-FFF2-40B4-BE49-F238E27FC236}">
                  <a16:creationId xmlns:a16="http://schemas.microsoft.com/office/drawing/2014/main" id="{6ED530B6-B6B8-4A52-B010-4C428D44588C}"/>
                </a:ext>
              </a:extLst>
            </p:cNvPr>
            <p:cNvSpPr txBox="1">
              <a:spLocks noChangeArrowheads="1"/>
            </p:cNvSpPr>
            <p:nvPr/>
          </p:nvSpPr>
          <p:spPr bwMode="auto">
            <a:xfrm>
              <a:off x="0" y="0"/>
              <a:ext cx="85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zh-CN" altLang="en-US" sz="2400" b="0">
                  <a:solidFill>
                    <a:srgbClr val="000066"/>
                  </a:solidFill>
                  <a:latin typeface="Times New Roman" panose="02020603050405020304" pitchFamily="18" charset="0"/>
                </a:rPr>
                <a:t>毒品价格</a:t>
              </a:r>
            </a:p>
          </p:txBody>
        </p:sp>
        <p:sp>
          <p:nvSpPr>
            <p:cNvPr id="79916" name="Text Box 9">
              <a:extLst>
                <a:ext uri="{FF2B5EF4-FFF2-40B4-BE49-F238E27FC236}">
                  <a16:creationId xmlns:a16="http://schemas.microsoft.com/office/drawing/2014/main" id="{0073E22C-53D1-4B07-97F1-4C2A85493F82}"/>
                </a:ext>
              </a:extLst>
            </p:cNvPr>
            <p:cNvSpPr txBox="1">
              <a:spLocks noChangeArrowheads="1"/>
            </p:cNvSpPr>
            <p:nvPr/>
          </p:nvSpPr>
          <p:spPr bwMode="auto">
            <a:xfrm>
              <a:off x="2755" y="2489"/>
              <a:ext cx="93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solidFill>
                    <a:srgbClr val="000066"/>
                  </a:solidFill>
                  <a:latin typeface="Times New Roman" panose="02020603050405020304" pitchFamily="18" charset="0"/>
                </a:rPr>
                <a:t>毒品数量</a:t>
              </a:r>
            </a:p>
          </p:txBody>
        </p:sp>
      </p:grpSp>
      <p:grpSp>
        <p:nvGrpSpPr>
          <p:cNvPr id="79876" name="Group 10">
            <a:extLst>
              <a:ext uri="{FF2B5EF4-FFF2-40B4-BE49-F238E27FC236}">
                <a16:creationId xmlns:a16="http://schemas.microsoft.com/office/drawing/2014/main" id="{7E285B03-E9AD-473A-B5D1-9A66477CA6DD}"/>
              </a:ext>
            </a:extLst>
          </p:cNvPr>
          <p:cNvGrpSpPr>
            <a:grpSpLocks/>
          </p:cNvGrpSpPr>
          <p:nvPr/>
        </p:nvGrpSpPr>
        <p:grpSpPr bwMode="auto">
          <a:xfrm>
            <a:off x="5470525" y="2441575"/>
            <a:ext cx="1490663" cy="3128963"/>
            <a:chOff x="0" y="0"/>
            <a:chExt cx="939" cy="1971"/>
          </a:xfrm>
        </p:grpSpPr>
        <p:sp>
          <p:nvSpPr>
            <p:cNvPr id="79912" name="Line 11">
              <a:extLst>
                <a:ext uri="{FF2B5EF4-FFF2-40B4-BE49-F238E27FC236}">
                  <a16:creationId xmlns:a16="http://schemas.microsoft.com/office/drawing/2014/main" id="{48203F94-04D6-431F-8F8C-08F148F8D6B2}"/>
                </a:ext>
              </a:extLst>
            </p:cNvPr>
            <p:cNvSpPr>
              <a:spLocks noChangeShapeType="1"/>
            </p:cNvSpPr>
            <p:nvPr/>
          </p:nvSpPr>
          <p:spPr bwMode="auto">
            <a:xfrm>
              <a:off x="178" y="252"/>
              <a:ext cx="761" cy="1719"/>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13" name="Text Box 12">
              <a:extLst>
                <a:ext uri="{FF2B5EF4-FFF2-40B4-BE49-F238E27FC236}">
                  <a16:creationId xmlns:a16="http://schemas.microsoft.com/office/drawing/2014/main" id="{2B02DA0B-9E4D-4D7F-A86C-66CD78A7284A}"/>
                </a:ext>
              </a:extLst>
            </p:cNvPr>
            <p:cNvSpPr txBox="1">
              <a:spLocks noChangeArrowheads="1"/>
            </p:cNvSpPr>
            <p:nvPr/>
          </p:nvSpPr>
          <p:spPr bwMode="auto">
            <a:xfrm>
              <a:off x="0" y="0"/>
              <a:ext cx="4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en-US" altLang="zh-CN" sz="2400" i="1">
                  <a:solidFill>
                    <a:srgbClr val="000066"/>
                  </a:solidFill>
                  <a:latin typeface="Times New Roman" panose="02020603050405020304" pitchFamily="18" charset="0"/>
                </a:rPr>
                <a:t>D</a:t>
              </a:r>
              <a:r>
                <a:rPr lang="en-US" altLang="zh-CN" sz="2400" baseline="-25000">
                  <a:solidFill>
                    <a:srgbClr val="000066"/>
                  </a:solidFill>
                  <a:latin typeface="Times New Roman" panose="02020603050405020304" pitchFamily="18" charset="0"/>
                </a:rPr>
                <a:t>1</a:t>
              </a:r>
            </a:p>
          </p:txBody>
        </p:sp>
      </p:grpSp>
      <p:grpSp>
        <p:nvGrpSpPr>
          <p:cNvPr id="79877" name="Group 13">
            <a:extLst>
              <a:ext uri="{FF2B5EF4-FFF2-40B4-BE49-F238E27FC236}">
                <a16:creationId xmlns:a16="http://schemas.microsoft.com/office/drawing/2014/main" id="{F41DB548-3E79-4F04-8176-754A04A5B956}"/>
              </a:ext>
            </a:extLst>
          </p:cNvPr>
          <p:cNvGrpSpPr>
            <a:grpSpLocks/>
          </p:cNvGrpSpPr>
          <p:nvPr/>
        </p:nvGrpSpPr>
        <p:grpSpPr bwMode="auto">
          <a:xfrm>
            <a:off x="5491163" y="2841625"/>
            <a:ext cx="2371725" cy="2224088"/>
            <a:chOff x="0" y="0"/>
            <a:chExt cx="1494" cy="1401"/>
          </a:xfrm>
        </p:grpSpPr>
        <p:sp>
          <p:nvSpPr>
            <p:cNvPr id="79910" name="Line 14">
              <a:extLst>
                <a:ext uri="{FF2B5EF4-FFF2-40B4-BE49-F238E27FC236}">
                  <a16:creationId xmlns:a16="http://schemas.microsoft.com/office/drawing/2014/main" id="{D2918371-0A6B-49E1-B367-F4340CC41EFB}"/>
                </a:ext>
              </a:extLst>
            </p:cNvPr>
            <p:cNvSpPr>
              <a:spLocks noChangeShapeType="1"/>
            </p:cNvSpPr>
            <p:nvPr/>
          </p:nvSpPr>
          <p:spPr bwMode="auto">
            <a:xfrm flipV="1">
              <a:off x="0" y="194"/>
              <a:ext cx="1198" cy="1207"/>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11" name="Text Box 15">
              <a:extLst>
                <a:ext uri="{FF2B5EF4-FFF2-40B4-BE49-F238E27FC236}">
                  <a16:creationId xmlns:a16="http://schemas.microsoft.com/office/drawing/2014/main" id="{464BB158-1D66-4161-B5DD-1500FD537A77}"/>
                </a:ext>
              </a:extLst>
            </p:cNvPr>
            <p:cNvSpPr txBox="1">
              <a:spLocks noChangeArrowheads="1"/>
            </p:cNvSpPr>
            <p:nvPr/>
          </p:nvSpPr>
          <p:spPr bwMode="auto">
            <a:xfrm>
              <a:off x="1137" y="0"/>
              <a:ext cx="3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en-US" altLang="zh-CN" sz="2400" i="1">
                  <a:solidFill>
                    <a:srgbClr val="000066"/>
                  </a:solidFill>
                  <a:latin typeface="Times New Roman" panose="02020603050405020304" pitchFamily="18" charset="0"/>
                </a:rPr>
                <a:t>S</a:t>
              </a:r>
              <a:endParaRPr lang="en-US" altLang="zh-CN" sz="2400" baseline="-25000">
                <a:solidFill>
                  <a:srgbClr val="000066"/>
                </a:solidFill>
                <a:latin typeface="Times New Roman" panose="02020603050405020304" pitchFamily="18" charset="0"/>
              </a:endParaRPr>
            </a:p>
          </p:txBody>
        </p:sp>
      </p:grpSp>
      <p:grpSp>
        <p:nvGrpSpPr>
          <p:cNvPr id="79878" name="Group 16">
            <a:extLst>
              <a:ext uri="{FF2B5EF4-FFF2-40B4-BE49-F238E27FC236}">
                <a16:creationId xmlns:a16="http://schemas.microsoft.com/office/drawing/2014/main" id="{93A7A80F-6A20-45A9-8177-D999D90A10AA}"/>
              </a:ext>
            </a:extLst>
          </p:cNvPr>
          <p:cNvGrpSpPr>
            <a:grpSpLocks/>
          </p:cNvGrpSpPr>
          <p:nvPr/>
        </p:nvGrpSpPr>
        <p:grpSpPr bwMode="auto">
          <a:xfrm>
            <a:off x="3543300" y="3963988"/>
            <a:ext cx="3084513" cy="2201862"/>
            <a:chOff x="0" y="0"/>
            <a:chExt cx="1943" cy="1387"/>
          </a:xfrm>
        </p:grpSpPr>
        <p:sp>
          <p:nvSpPr>
            <p:cNvPr id="79904" name="Text Box 17">
              <a:extLst>
                <a:ext uri="{FF2B5EF4-FFF2-40B4-BE49-F238E27FC236}">
                  <a16:creationId xmlns:a16="http://schemas.microsoft.com/office/drawing/2014/main" id="{D672A649-1C6C-43DA-92B6-4F822DF8EFC0}"/>
                </a:ext>
              </a:extLst>
            </p:cNvPr>
            <p:cNvSpPr txBox="1">
              <a:spLocks noChangeArrowheads="1"/>
            </p:cNvSpPr>
            <p:nvPr/>
          </p:nvSpPr>
          <p:spPr bwMode="auto">
            <a:xfrm>
              <a:off x="0" y="0"/>
              <a:ext cx="3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solidFill>
                    <a:srgbClr val="000066"/>
                  </a:solidFill>
                  <a:latin typeface="Times New Roman" panose="02020603050405020304" pitchFamily="18" charset="0"/>
                </a:rPr>
                <a:t>P</a:t>
              </a:r>
              <a:r>
                <a:rPr lang="en-US" altLang="zh-CN" sz="2400" baseline="-25000">
                  <a:solidFill>
                    <a:srgbClr val="000066"/>
                  </a:solidFill>
                  <a:latin typeface="Times New Roman" panose="02020603050405020304" pitchFamily="18" charset="0"/>
                </a:rPr>
                <a:t>1</a:t>
              </a:r>
            </a:p>
          </p:txBody>
        </p:sp>
        <p:sp>
          <p:nvSpPr>
            <p:cNvPr id="79905" name="Text Box 18">
              <a:extLst>
                <a:ext uri="{FF2B5EF4-FFF2-40B4-BE49-F238E27FC236}">
                  <a16:creationId xmlns:a16="http://schemas.microsoft.com/office/drawing/2014/main" id="{D1E7E50B-E21C-4AC3-A351-99D2E2EFD9F1}"/>
                </a:ext>
              </a:extLst>
            </p:cNvPr>
            <p:cNvSpPr txBox="1">
              <a:spLocks noChangeArrowheads="1"/>
            </p:cNvSpPr>
            <p:nvPr/>
          </p:nvSpPr>
          <p:spPr bwMode="auto">
            <a:xfrm>
              <a:off x="1598" y="1099"/>
              <a:ext cx="3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en-US" altLang="zh-CN" sz="2400" i="1">
                  <a:solidFill>
                    <a:srgbClr val="000066"/>
                  </a:solidFill>
                  <a:latin typeface="Times New Roman" panose="02020603050405020304" pitchFamily="18" charset="0"/>
                </a:rPr>
                <a:t>Q</a:t>
              </a:r>
              <a:r>
                <a:rPr lang="en-US" altLang="zh-CN" sz="2400" baseline="-25000">
                  <a:solidFill>
                    <a:srgbClr val="000066"/>
                  </a:solidFill>
                  <a:latin typeface="Times New Roman" panose="02020603050405020304" pitchFamily="18" charset="0"/>
                </a:rPr>
                <a:t>1</a:t>
              </a:r>
            </a:p>
          </p:txBody>
        </p:sp>
        <p:grpSp>
          <p:nvGrpSpPr>
            <p:cNvPr id="79906" name="Group 19">
              <a:extLst>
                <a:ext uri="{FF2B5EF4-FFF2-40B4-BE49-F238E27FC236}">
                  <a16:creationId xmlns:a16="http://schemas.microsoft.com/office/drawing/2014/main" id="{0FDFC1DB-901B-498A-B67F-9D5E7FBC8D7D}"/>
                </a:ext>
              </a:extLst>
            </p:cNvPr>
            <p:cNvGrpSpPr>
              <a:grpSpLocks/>
            </p:cNvGrpSpPr>
            <p:nvPr/>
          </p:nvGrpSpPr>
          <p:grpSpPr bwMode="auto">
            <a:xfrm>
              <a:off x="385" y="146"/>
              <a:ext cx="1387" cy="955"/>
              <a:chOff x="0" y="0"/>
              <a:chExt cx="795" cy="646"/>
            </a:xfrm>
          </p:grpSpPr>
          <p:sp>
            <p:nvSpPr>
              <p:cNvPr id="79908" name="Line 20">
                <a:extLst>
                  <a:ext uri="{FF2B5EF4-FFF2-40B4-BE49-F238E27FC236}">
                    <a16:creationId xmlns:a16="http://schemas.microsoft.com/office/drawing/2014/main" id="{6BC94470-F7B4-4A99-BE7C-62786BA85BAF}"/>
                  </a:ext>
                </a:extLst>
              </p:cNvPr>
              <p:cNvSpPr>
                <a:spLocks noChangeShapeType="1"/>
              </p:cNvSpPr>
              <p:nvPr/>
            </p:nvSpPr>
            <p:spPr bwMode="auto">
              <a:xfrm>
                <a:off x="0" y="0"/>
                <a:ext cx="795" cy="0"/>
              </a:xfrm>
              <a:prstGeom prst="line">
                <a:avLst/>
              </a:prstGeom>
              <a:noFill/>
              <a:ln w="9525">
                <a:solidFill>
                  <a:srgbClr val="777777"/>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09" name="Line 21">
                <a:extLst>
                  <a:ext uri="{FF2B5EF4-FFF2-40B4-BE49-F238E27FC236}">
                    <a16:creationId xmlns:a16="http://schemas.microsoft.com/office/drawing/2014/main" id="{2CB64727-039C-401B-8246-1389204A0F5B}"/>
                  </a:ext>
                </a:extLst>
              </p:cNvPr>
              <p:cNvSpPr>
                <a:spLocks noChangeShapeType="1"/>
              </p:cNvSpPr>
              <p:nvPr/>
            </p:nvSpPr>
            <p:spPr bwMode="auto">
              <a:xfrm>
                <a:off x="795" y="1"/>
                <a:ext cx="0" cy="645"/>
              </a:xfrm>
              <a:prstGeom prst="line">
                <a:avLst/>
              </a:prstGeom>
              <a:noFill/>
              <a:ln w="9525">
                <a:solidFill>
                  <a:srgbClr val="777777"/>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9907" name="Oval 22">
              <a:extLst>
                <a:ext uri="{FF2B5EF4-FFF2-40B4-BE49-F238E27FC236}">
                  <a16:creationId xmlns:a16="http://schemas.microsoft.com/office/drawing/2014/main" id="{706D8233-E230-4DBE-B1C5-1AD134C40CDF}"/>
                </a:ext>
              </a:extLst>
            </p:cNvPr>
            <p:cNvSpPr>
              <a:spLocks noChangeArrowheads="1"/>
            </p:cNvSpPr>
            <p:nvPr/>
          </p:nvSpPr>
          <p:spPr bwMode="auto">
            <a:xfrm>
              <a:off x="1731" y="102"/>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FontTx/>
                <a:buNone/>
              </a:pPr>
              <a:endParaRPr lang="en-US" altLang="zh-CN" sz="1800" b="0">
                <a:solidFill>
                  <a:srgbClr val="000066"/>
                </a:solidFill>
                <a:latin typeface="Times New Roman" panose="02020603050405020304" pitchFamily="18" charset="0"/>
              </a:endParaRPr>
            </a:p>
          </p:txBody>
        </p:sp>
      </p:grpSp>
      <p:grpSp>
        <p:nvGrpSpPr>
          <p:cNvPr id="8" name="Group 23">
            <a:extLst>
              <a:ext uri="{FF2B5EF4-FFF2-40B4-BE49-F238E27FC236}">
                <a16:creationId xmlns:a16="http://schemas.microsoft.com/office/drawing/2014/main" id="{AF0173E0-D7DB-4D8E-9C65-3F7A4ED72081}"/>
              </a:ext>
            </a:extLst>
          </p:cNvPr>
          <p:cNvGrpSpPr>
            <a:grpSpLocks/>
          </p:cNvGrpSpPr>
          <p:nvPr/>
        </p:nvGrpSpPr>
        <p:grpSpPr bwMode="auto">
          <a:xfrm>
            <a:off x="4613275" y="2438400"/>
            <a:ext cx="1474788" cy="3125788"/>
            <a:chOff x="0" y="0"/>
            <a:chExt cx="929" cy="1969"/>
          </a:xfrm>
        </p:grpSpPr>
        <p:sp>
          <p:nvSpPr>
            <p:cNvPr id="79902" name="Line 24">
              <a:extLst>
                <a:ext uri="{FF2B5EF4-FFF2-40B4-BE49-F238E27FC236}">
                  <a16:creationId xmlns:a16="http://schemas.microsoft.com/office/drawing/2014/main" id="{E2A9A1E8-F960-41DA-B788-FF6BAB80FF18}"/>
                </a:ext>
              </a:extLst>
            </p:cNvPr>
            <p:cNvSpPr>
              <a:spLocks noChangeShapeType="1"/>
            </p:cNvSpPr>
            <p:nvPr/>
          </p:nvSpPr>
          <p:spPr bwMode="auto">
            <a:xfrm>
              <a:off x="168" y="250"/>
              <a:ext cx="761" cy="1719"/>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03" name="Text Box 25">
              <a:extLst>
                <a:ext uri="{FF2B5EF4-FFF2-40B4-BE49-F238E27FC236}">
                  <a16:creationId xmlns:a16="http://schemas.microsoft.com/office/drawing/2014/main" id="{A85CA2AA-1B66-4684-AE87-08533F980179}"/>
                </a:ext>
              </a:extLst>
            </p:cNvPr>
            <p:cNvSpPr txBox="1">
              <a:spLocks noChangeArrowheads="1"/>
            </p:cNvSpPr>
            <p:nvPr/>
          </p:nvSpPr>
          <p:spPr bwMode="auto">
            <a:xfrm>
              <a:off x="0" y="0"/>
              <a:ext cx="4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en-US" altLang="zh-CN" sz="2400" i="1">
                  <a:solidFill>
                    <a:srgbClr val="000066"/>
                  </a:solidFill>
                  <a:latin typeface="Times New Roman" panose="02020603050405020304" pitchFamily="18" charset="0"/>
                </a:rPr>
                <a:t>D</a:t>
              </a:r>
              <a:r>
                <a:rPr lang="en-US" altLang="zh-CN" sz="2400" baseline="-25000">
                  <a:solidFill>
                    <a:srgbClr val="000066"/>
                  </a:solidFill>
                  <a:latin typeface="Times New Roman" panose="02020603050405020304" pitchFamily="18" charset="0"/>
                </a:rPr>
                <a:t>2</a:t>
              </a:r>
            </a:p>
          </p:txBody>
        </p:sp>
      </p:grpSp>
      <p:grpSp>
        <p:nvGrpSpPr>
          <p:cNvPr id="9" name="Group 26">
            <a:extLst>
              <a:ext uri="{FF2B5EF4-FFF2-40B4-BE49-F238E27FC236}">
                <a16:creationId xmlns:a16="http://schemas.microsoft.com/office/drawing/2014/main" id="{E3DEB8C1-522A-4A78-9060-78826CEB5EEF}"/>
              </a:ext>
            </a:extLst>
          </p:cNvPr>
          <p:cNvGrpSpPr>
            <a:grpSpLocks/>
          </p:cNvGrpSpPr>
          <p:nvPr/>
        </p:nvGrpSpPr>
        <p:grpSpPr bwMode="auto">
          <a:xfrm>
            <a:off x="3533775" y="4557713"/>
            <a:ext cx="2492375" cy="1603375"/>
            <a:chOff x="0" y="0"/>
            <a:chExt cx="1570" cy="1010"/>
          </a:xfrm>
        </p:grpSpPr>
        <p:sp>
          <p:nvSpPr>
            <p:cNvPr id="79896" name="Text Box 27">
              <a:extLst>
                <a:ext uri="{FF2B5EF4-FFF2-40B4-BE49-F238E27FC236}">
                  <a16:creationId xmlns:a16="http://schemas.microsoft.com/office/drawing/2014/main" id="{2DD9B912-2ABD-496C-94B7-5B4477F536CB}"/>
                </a:ext>
              </a:extLst>
            </p:cNvPr>
            <p:cNvSpPr txBox="1">
              <a:spLocks noChangeArrowheads="1"/>
            </p:cNvSpPr>
            <p:nvPr/>
          </p:nvSpPr>
          <p:spPr bwMode="auto">
            <a:xfrm>
              <a:off x="0" y="0"/>
              <a:ext cx="3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solidFill>
                    <a:srgbClr val="000066"/>
                  </a:solidFill>
                  <a:latin typeface="Times New Roman" panose="02020603050405020304" pitchFamily="18" charset="0"/>
                </a:rPr>
                <a:t>P</a:t>
              </a:r>
              <a:r>
                <a:rPr lang="en-US" altLang="zh-CN" sz="2400" baseline="-25000">
                  <a:solidFill>
                    <a:srgbClr val="000066"/>
                  </a:solidFill>
                  <a:latin typeface="Times New Roman" panose="02020603050405020304" pitchFamily="18" charset="0"/>
                </a:rPr>
                <a:t>2</a:t>
              </a:r>
            </a:p>
          </p:txBody>
        </p:sp>
        <p:sp>
          <p:nvSpPr>
            <p:cNvPr id="79897" name="Text Box 28">
              <a:extLst>
                <a:ext uri="{FF2B5EF4-FFF2-40B4-BE49-F238E27FC236}">
                  <a16:creationId xmlns:a16="http://schemas.microsoft.com/office/drawing/2014/main" id="{8F93A425-D0E4-4C6C-A002-4958036C246F}"/>
                </a:ext>
              </a:extLst>
            </p:cNvPr>
            <p:cNvSpPr txBox="1">
              <a:spLocks noChangeArrowheads="1"/>
            </p:cNvSpPr>
            <p:nvPr/>
          </p:nvSpPr>
          <p:spPr bwMode="auto">
            <a:xfrm>
              <a:off x="1200" y="722"/>
              <a:ext cx="37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en-US" altLang="zh-CN" sz="2400" i="1">
                  <a:solidFill>
                    <a:srgbClr val="000066"/>
                  </a:solidFill>
                  <a:latin typeface="Times New Roman" panose="02020603050405020304" pitchFamily="18" charset="0"/>
                </a:rPr>
                <a:t>Q</a:t>
              </a:r>
              <a:r>
                <a:rPr lang="en-US" altLang="zh-CN" sz="2400" baseline="-25000">
                  <a:solidFill>
                    <a:srgbClr val="000066"/>
                  </a:solidFill>
                  <a:latin typeface="Times New Roman" panose="02020603050405020304" pitchFamily="18" charset="0"/>
                </a:rPr>
                <a:t>2</a:t>
              </a:r>
            </a:p>
          </p:txBody>
        </p:sp>
        <p:grpSp>
          <p:nvGrpSpPr>
            <p:cNvPr id="79898" name="Group 29">
              <a:extLst>
                <a:ext uri="{FF2B5EF4-FFF2-40B4-BE49-F238E27FC236}">
                  <a16:creationId xmlns:a16="http://schemas.microsoft.com/office/drawing/2014/main" id="{EDBD7806-13E4-4E6D-AC7C-120C4801F398}"/>
                </a:ext>
              </a:extLst>
            </p:cNvPr>
            <p:cNvGrpSpPr>
              <a:grpSpLocks/>
            </p:cNvGrpSpPr>
            <p:nvPr/>
          </p:nvGrpSpPr>
          <p:grpSpPr bwMode="auto">
            <a:xfrm>
              <a:off x="381" y="147"/>
              <a:ext cx="1006" cy="583"/>
              <a:chOff x="0" y="0"/>
              <a:chExt cx="795" cy="646"/>
            </a:xfrm>
          </p:grpSpPr>
          <p:sp>
            <p:nvSpPr>
              <p:cNvPr id="79900" name="Line 30">
                <a:extLst>
                  <a:ext uri="{FF2B5EF4-FFF2-40B4-BE49-F238E27FC236}">
                    <a16:creationId xmlns:a16="http://schemas.microsoft.com/office/drawing/2014/main" id="{72CA7E39-6702-470A-A6D8-D94D8D7C2ECE}"/>
                  </a:ext>
                </a:extLst>
              </p:cNvPr>
              <p:cNvSpPr>
                <a:spLocks noChangeShapeType="1"/>
              </p:cNvSpPr>
              <p:nvPr/>
            </p:nvSpPr>
            <p:spPr bwMode="auto">
              <a:xfrm>
                <a:off x="0" y="0"/>
                <a:ext cx="795" cy="0"/>
              </a:xfrm>
              <a:prstGeom prst="line">
                <a:avLst/>
              </a:prstGeom>
              <a:noFill/>
              <a:ln w="9525">
                <a:solidFill>
                  <a:srgbClr val="777777"/>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01" name="Line 31">
                <a:extLst>
                  <a:ext uri="{FF2B5EF4-FFF2-40B4-BE49-F238E27FC236}">
                    <a16:creationId xmlns:a16="http://schemas.microsoft.com/office/drawing/2014/main" id="{FBF5DFDC-A8B0-4E57-9E5B-9264EA6FDE98}"/>
                  </a:ext>
                </a:extLst>
              </p:cNvPr>
              <p:cNvSpPr>
                <a:spLocks noChangeShapeType="1"/>
              </p:cNvSpPr>
              <p:nvPr/>
            </p:nvSpPr>
            <p:spPr bwMode="auto">
              <a:xfrm>
                <a:off x="795" y="1"/>
                <a:ext cx="0" cy="645"/>
              </a:xfrm>
              <a:prstGeom prst="line">
                <a:avLst/>
              </a:prstGeom>
              <a:noFill/>
              <a:ln w="9525">
                <a:solidFill>
                  <a:srgbClr val="777777"/>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9899" name="Oval 32">
              <a:extLst>
                <a:ext uri="{FF2B5EF4-FFF2-40B4-BE49-F238E27FC236}">
                  <a16:creationId xmlns:a16="http://schemas.microsoft.com/office/drawing/2014/main" id="{47361464-8B04-419A-AFD6-88971554BDEE}"/>
                </a:ext>
              </a:extLst>
            </p:cNvPr>
            <p:cNvSpPr>
              <a:spLocks noChangeArrowheads="1"/>
            </p:cNvSpPr>
            <p:nvPr/>
          </p:nvSpPr>
          <p:spPr bwMode="auto">
            <a:xfrm>
              <a:off x="1344" y="10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FontTx/>
                <a:buNone/>
              </a:pPr>
              <a:endParaRPr lang="en-US" altLang="zh-CN" sz="1800" b="0">
                <a:solidFill>
                  <a:srgbClr val="000066"/>
                </a:solidFill>
                <a:latin typeface="Times New Roman" panose="02020603050405020304" pitchFamily="18" charset="0"/>
              </a:endParaRPr>
            </a:p>
          </p:txBody>
        </p:sp>
      </p:grpSp>
      <p:sp>
        <p:nvSpPr>
          <p:cNvPr id="67617" name="Line 33">
            <a:extLst>
              <a:ext uri="{FF2B5EF4-FFF2-40B4-BE49-F238E27FC236}">
                <a16:creationId xmlns:a16="http://schemas.microsoft.com/office/drawing/2014/main" id="{79918258-5354-4857-9295-D7C846BD2B68}"/>
              </a:ext>
            </a:extLst>
          </p:cNvPr>
          <p:cNvSpPr>
            <a:spLocks noChangeShapeType="1"/>
          </p:cNvSpPr>
          <p:nvPr/>
        </p:nvSpPr>
        <p:spPr bwMode="auto">
          <a:xfrm flipH="1">
            <a:off x="5068888" y="3162300"/>
            <a:ext cx="755650" cy="0"/>
          </a:xfrm>
          <a:prstGeom prst="line">
            <a:avLst/>
          </a:prstGeom>
          <a:noFill/>
          <a:ln w="38100">
            <a:solidFill>
              <a:srgbClr val="00808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67618" name="Line 34">
            <a:extLst>
              <a:ext uri="{FF2B5EF4-FFF2-40B4-BE49-F238E27FC236}">
                <a16:creationId xmlns:a16="http://schemas.microsoft.com/office/drawing/2014/main" id="{0B0F2BEF-1900-435F-B411-89D268074E60}"/>
              </a:ext>
            </a:extLst>
          </p:cNvPr>
          <p:cNvSpPr>
            <a:spLocks noChangeShapeType="1"/>
          </p:cNvSpPr>
          <p:nvPr/>
        </p:nvSpPr>
        <p:spPr bwMode="auto">
          <a:xfrm flipH="1">
            <a:off x="5754688" y="5710238"/>
            <a:ext cx="595312" cy="0"/>
          </a:xfrm>
          <a:prstGeom prst="line">
            <a:avLst/>
          </a:prstGeom>
          <a:noFill/>
          <a:ln w="38100">
            <a:solidFill>
              <a:srgbClr val="00808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67619" name="Line 35">
            <a:extLst>
              <a:ext uri="{FF2B5EF4-FFF2-40B4-BE49-F238E27FC236}">
                <a16:creationId xmlns:a16="http://schemas.microsoft.com/office/drawing/2014/main" id="{C47E7D15-546E-4C0F-8643-2E13E266FB4F}"/>
              </a:ext>
            </a:extLst>
          </p:cNvPr>
          <p:cNvSpPr>
            <a:spLocks noChangeShapeType="1"/>
          </p:cNvSpPr>
          <p:nvPr/>
        </p:nvSpPr>
        <p:spPr bwMode="auto">
          <a:xfrm rot="16200000" flipH="1">
            <a:off x="3861593" y="4501357"/>
            <a:ext cx="595313" cy="0"/>
          </a:xfrm>
          <a:prstGeom prst="line">
            <a:avLst/>
          </a:prstGeom>
          <a:noFill/>
          <a:ln w="38100">
            <a:solidFill>
              <a:srgbClr val="00808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67620" name="Text Box 36">
            <a:extLst>
              <a:ext uri="{FF2B5EF4-FFF2-40B4-BE49-F238E27FC236}">
                <a16:creationId xmlns:a16="http://schemas.microsoft.com/office/drawing/2014/main" id="{746AD16E-8F67-4409-8D2F-F700F0A09506}"/>
              </a:ext>
            </a:extLst>
          </p:cNvPr>
          <p:cNvSpPr txBox="1">
            <a:spLocks noChangeArrowheads="1"/>
          </p:cNvSpPr>
          <p:nvPr/>
        </p:nvSpPr>
        <p:spPr bwMode="auto">
          <a:xfrm>
            <a:off x="423863" y="1406525"/>
            <a:ext cx="22034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zh-CN" altLang="en-US" b="0" dirty="0">
                <a:solidFill>
                  <a:srgbClr val="000066"/>
                </a:solidFill>
                <a:latin typeface="Times New Roman" panose="02020603050405020304" pitchFamily="18" charset="0"/>
              </a:rPr>
              <a:t>教育减少对毒品的需求</a:t>
            </a:r>
          </a:p>
        </p:txBody>
      </p:sp>
      <p:sp>
        <p:nvSpPr>
          <p:cNvPr id="67621" name="Text Box 37">
            <a:extLst>
              <a:ext uri="{FF2B5EF4-FFF2-40B4-BE49-F238E27FC236}">
                <a16:creationId xmlns:a16="http://schemas.microsoft.com/office/drawing/2014/main" id="{888BAD1B-22B0-48AD-9154-40180CE1FAEC}"/>
              </a:ext>
            </a:extLst>
          </p:cNvPr>
          <p:cNvSpPr txBox="1">
            <a:spLocks noChangeArrowheads="1"/>
          </p:cNvSpPr>
          <p:nvPr/>
        </p:nvSpPr>
        <p:spPr bwMode="auto">
          <a:xfrm>
            <a:off x="611188" y="2565400"/>
            <a:ext cx="18002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zh-CN" altLang="en-US" sz="2400" b="0">
                <a:solidFill>
                  <a:srgbClr val="000066"/>
                </a:solidFill>
                <a:latin typeface="Times New Roman" panose="02020603050405020304" pitchFamily="18" charset="0"/>
              </a:rPr>
              <a:t>价格与需求量都下降</a:t>
            </a:r>
          </a:p>
        </p:txBody>
      </p:sp>
      <p:sp>
        <p:nvSpPr>
          <p:cNvPr id="67622" name="Text Box 38">
            <a:extLst>
              <a:ext uri="{FF2B5EF4-FFF2-40B4-BE49-F238E27FC236}">
                <a16:creationId xmlns:a16="http://schemas.microsoft.com/office/drawing/2014/main" id="{6BAFAD30-48FD-412E-A904-82518DB53323}"/>
              </a:ext>
            </a:extLst>
          </p:cNvPr>
          <p:cNvSpPr txBox="1">
            <a:spLocks noChangeArrowheads="1"/>
          </p:cNvSpPr>
          <p:nvPr/>
        </p:nvSpPr>
        <p:spPr bwMode="auto">
          <a:xfrm>
            <a:off x="539750" y="3573463"/>
            <a:ext cx="198755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zh-CN" altLang="en-US" sz="2400" b="0" dirty="0">
                <a:solidFill>
                  <a:srgbClr val="000066"/>
                </a:solidFill>
                <a:latin typeface="Times New Roman" panose="02020603050405020304" pitchFamily="18" charset="0"/>
              </a:rPr>
              <a:t>结果：在毒品上的总支出和与毒品相关的犯罪都减少了</a:t>
            </a:r>
          </a:p>
        </p:txBody>
      </p:sp>
      <p:sp>
        <p:nvSpPr>
          <p:cNvPr id="79887" name="Rectangle 39">
            <a:extLst>
              <a:ext uri="{FF2B5EF4-FFF2-40B4-BE49-F238E27FC236}">
                <a16:creationId xmlns:a16="http://schemas.microsoft.com/office/drawing/2014/main" id="{298AC23C-DD5A-4E5B-B992-61D1E1019977}"/>
              </a:ext>
            </a:extLst>
          </p:cNvPr>
          <p:cNvSpPr>
            <a:spLocks noChangeArrowheads="1"/>
          </p:cNvSpPr>
          <p:nvPr/>
        </p:nvSpPr>
        <p:spPr bwMode="auto">
          <a:xfrm>
            <a:off x="4157663" y="4198938"/>
            <a:ext cx="2190750" cy="1500187"/>
          </a:xfrm>
          <a:prstGeom prst="rect">
            <a:avLst/>
          </a:prstGeom>
          <a:solidFill>
            <a:srgbClr val="FF0000">
              <a:alpha val="3607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FontTx/>
              <a:buNone/>
            </a:pPr>
            <a:endParaRPr lang="en-US" altLang="zh-CN" sz="1800" b="0">
              <a:solidFill>
                <a:srgbClr val="000066"/>
              </a:solidFill>
              <a:latin typeface="Times New Roman" panose="02020603050405020304" pitchFamily="18" charset="0"/>
            </a:endParaRPr>
          </a:p>
        </p:txBody>
      </p:sp>
      <p:sp>
        <p:nvSpPr>
          <p:cNvPr id="67627" name="Rectangle 44">
            <a:extLst>
              <a:ext uri="{FF2B5EF4-FFF2-40B4-BE49-F238E27FC236}">
                <a16:creationId xmlns:a16="http://schemas.microsoft.com/office/drawing/2014/main" id="{3CBCA834-2A19-4F63-8966-7E6CA2826D97}"/>
              </a:ext>
            </a:extLst>
          </p:cNvPr>
          <p:cNvSpPr>
            <a:spLocks noChangeArrowheads="1"/>
          </p:cNvSpPr>
          <p:nvPr/>
        </p:nvSpPr>
        <p:spPr bwMode="auto">
          <a:xfrm>
            <a:off x="4167188" y="4800600"/>
            <a:ext cx="1573212" cy="89852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FontTx/>
              <a:buNone/>
            </a:pPr>
            <a:endParaRPr lang="en-US" altLang="zh-CN" sz="1800" b="0">
              <a:solidFill>
                <a:srgbClr val="000066"/>
              </a:solidFill>
              <a:latin typeface="Times New Roman" panose="02020603050405020304" pitchFamily="18" charset="0"/>
            </a:endParaRPr>
          </a:p>
        </p:txBody>
      </p:sp>
      <p:grpSp>
        <p:nvGrpSpPr>
          <p:cNvPr id="79889" name="Group 40">
            <a:extLst>
              <a:ext uri="{FF2B5EF4-FFF2-40B4-BE49-F238E27FC236}">
                <a16:creationId xmlns:a16="http://schemas.microsoft.com/office/drawing/2014/main" id="{826FED33-F947-48AF-A491-5D2CC204AF13}"/>
              </a:ext>
            </a:extLst>
          </p:cNvPr>
          <p:cNvGrpSpPr>
            <a:grpSpLocks/>
          </p:cNvGrpSpPr>
          <p:nvPr/>
        </p:nvGrpSpPr>
        <p:grpSpPr bwMode="auto">
          <a:xfrm>
            <a:off x="6273800" y="3833813"/>
            <a:ext cx="2541588" cy="1200150"/>
            <a:chOff x="0" y="0"/>
            <a:chExt cx="1601" cy="756"/>
          </a:xfrm>
        </p:grpSpPr>
        <p:sp>
          <p:nvSpPr>
            <p:cNvPr id="79894" name="Text Box 41">
              <a:extLst>
                <a:ext uri="{FF2B5EF4-FFF2-40B4-BE49-F238E27FC236}">
                  <a16:creationId xmlns:a16="http://schemas.microsoft.com/office/drawing/2014/main" id="{8B886849-B361-492E-B01C-2546AAAD5415}"/>
                </a:ext>
              </a:extLst>
            </p:cNvPr>
            <p:cNvSpPr txBox="1">
              <a:spLocks noChangeArrowheads="1"/>
            </p:cNvSpPr>
            <p:nvPr/>
          </p:nvSpPr>
          <p:spPr bwMode="auto">
            <a:xfrm>
              <a:off x="515" y="0"/>
              <a:ext cx="1086" cy="756"/>
            </a:xfrm>
            <a:prstGeom prst="rect">
              <a:avLst/>
            </a:prstGeom>
            <a:solidFill>
              <a:srgbClr val="FF0000">
                <a:alpha val="3607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FontTx/>
                <a:buNone/>
              </a:pPr>
              <a:r>
                <a:rPr lang="zh-CN" altLang="en-US" sz="2400" b="0">
                  <a:solidFill>
                    <a:srgbClr val="000066"/>
                  </a:solidFill>
                  <a:latin typeface="Times New Roman" panose="02020603050405020304" pitchFamily="18" charset="0"/>
                </a:rPr>
                <a:t>与毒品相关的犯罪的最初价值</a:t>
              </a:r>
            </a:p>
          </p:txBody>
        </p:sp>
        <p:sp>
          <p:nvSpPr>
            <p:cNvPr id="79895" name="Line 42">
              <a:extLst>
                <a:ext uri="{FF2B5EF4-FFF2-40B4-BE49-F238E27FC236}">
                  <a16:creationId xmlns:a16="http://schemas.microsoft.com/office/drawing/2014/main" id="{A9E3EBCE-A0BB-46C7-B9C2-4142CFD7BCA1}"/>
                </a:ext>
              </a:extLst>
            </p:cNvPr>
            <p:cNvSpPr>
              <a:spLocks noChangeShapeType="1"/>
            </p:cNvSpPr>
            <p:nvPr/>
          </p:nvSpPr>
          <p:spPr bwMode="auto">
            <a:xfrm flipV="1">
              <a:off x="0" y="456"/>
              <a:ext cx="509"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 name="Group 44">
            <a:extLst>
              <a:ext uri="{FF2B5EF4-FFF2-40B4-BE49-F238E27FC236}">
                <a16:creationId xmlns:a16="http://schemas.microsoft.com/office/drawing/2014/main" id="{56212F65-BF80-4546-BC2E-FC37754B8202}"/>
              </a:ext>
            </a:extLst>
          </p:cNvPr>
          <p:cNvGrpSpPr>
            <a:grpSpLocks/>
          </p:cNvGrpSpPr>
          <p:nvPr/>
        </p:nvGrpSpPr>
        <p:grpSpPr bwMode="auto">
          <a:xfrm>
            <a:off x="4394200" y="1370013"/>
            <a:ext cx="2724150" cy="3516312"/>
            <a:chOff x="0" y="0"/>
            <a:chExt cx="1716" cy="2215"/>
          </a:xfrm>
        </p:grpSpPr>
        <p:sp>
          <p:nvSpPr>
            <p:cNvPr id="79892" name="Text Box 46">
              <a:extLst>
                <a:ext uri="{FF2B5EF4-FFF2-40B4-BE49-F238E27FC236}">
                  <a16:creationId xmlns:a16="http://schemas.microsoft.com/office/drawing/2014/main" id="{C9D959AE-67B0-4965-A87A-C3653A5EBBB8}"/>
                </a:ext>
              </a:extLst>
            </p:cNvPr>
            <p:cNvSpPr txBox="1">
              <a:spLocks noChangeArrowheads="1"/>
            </p:cNvSpPr>
            <p:nvPr/>
          </p:nvSpPr>
          <p:spPr bwMode="auto">
            <a:xfrm>
              <a:off x="0" y="0"/>
              <a:ext cx="1716" cy="523"/>
            </a:xfrm>
            <a:prstGeom prst="rect">
              <a:avLst/>
            </a:prstGeom>
            <a:solidFill>
              <a:srgbClr val="FFFF00">
                <a:alpha val="3607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FontTx/>
                <a:buNone/>
              </a:pPr>
              <a:r>
                <a:rPr lang="zh-CN" altLang="en-US" sz="2400" b="0">
                  <a:solidFill>
                    <a:srgbClr val="000066"/>
                  </a:solidFill>
                  <a:latin typeface="Times New Roman" panose="02020603050405020304" pitchFamily="18" charset="0"/>
                </a:rPr>
                <a:t>与毒品相关的犯罪的新价值</a:t>
              </a:r>
            </a:p>
          </p:txBody>
        </p:sp>
        <p:sp>
          <p:nvSpPr>
            <p:cNvPr id="79893" name="Line 47">
              <a:extLst>
                <a:ext uri="{FF2B5EF4-FFF2-40B4-BE49-F238E27FC236}">
                  <a16:creationId xmlns:a16="http://schemas.microsoft.com/office/drawing/2014/main" id="{BB1EFBCD-1BBD-45F0-B5BB-2ABD5AD48F3C}"/>
                </a:ext>
              </a:extLst>
            </p:cNvPr>
            <p:cNvSpPr>
              <a:spLocks noChangeShapeType="1"/>
            </p:cNvSpPr>
            <p:nvPr/>
          </p:nvSpPr>
          <p:spPr bwMode="auto">
            <a:xfrm flipH="1">
              <a:off x="352" y="514"/>
              <a:ext cx="376" cy="170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9891" name="Title 1">
            <a:extLst>
              <a:ext uri="{FF2B5EF4-FFF2-40B4-BE49-F238E27FC236}">
                <a16:creationId xmlns:a16="http://schemas.microsoft.com/office/drawing/2014/main" id="{2F0C7457-A815-4671-81CE-F103E74860AE}"/>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a:solidFill>
                  <a:srgbClr val="000066"/>
                </a:solidFill>
                <a:latin typeface="Arial" panose="020B0604020202020204" pitchFamily="34" charset="0"/>
              </a:rPr>
              <a:t>政策</a:t>
            </a:r>
            <a:r>
              <a:rPr lang="en-US" altLang="zh-CN" sz="3200" b="0">
                <a:solidFill>
                  <a:srgbClr val="000066"/>
                </a:solidFill>
                <a:latin typeface="Arial" panose="020B0604020202020204" pitchFamily="34" charset="0"/>
              </a:rPr>
              <a:t>2</a:t>
            </a:r>
            <a:r>
              <a:rPr lang="zh-CN" altLang="en-US" sz="3200" b="0">
                <a:solidFill>
                  <a:srgbClr val="000066"/>
                </a:solidFill>
                <a:latin typeface="Arial" panose="020B0604020202020204" pitchFamily="34" charset="0"/>
              </a:rPr>
              <a:t>：吸毒危害性的教育</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7620"/>
                                        </p:tgtEl>
                                        <p:attrNameLst>
                                          <p:attrName>style.visibility</p:attrName>
                                        </p:attrNameLst>
                                      </p:cBhvr>
                                      <p:to>
                                        <p:strVal val="visible"/>
                                      </p:to>
                                    </p:set>
                                    <p:animEffect transition="in" filter="wipe(left)">
                                      <p:cBhvr>
                                        <p:cTn id="7" dur="500"/>
                                        <p:tgtEl>
                                          <p:spTgt spid="676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67617"/>
                                        </p:tgtEl>
                                        <p:attrNameLst>
                                          <p:attrName>style.visibility</p:attrName>
                                        </p:attrNameLst>
                                      </p:cBhvr>
                                      <p:to>
                                        <p:strVal val="visible"/>
                                      </p:to>
                                    </p:set>
                                    <p:animEffect transition="in" filter="wipe(right)">
                                      <p:cBhvr>
                                        <p:cTn id="12" dur="500"/>
                                        <p:tgtEl>
                                          <p:spTgt spid="67617"/>
                                        </p:tgtEl>
                                      </p:cBhvr>
                                    </p:animEffect>
                                  </p:childTnLst>
                                </p:cTn>
                              </p:par>
                            </p:childTnLst>
                          </p:cTn>
                        </p:par>
                        <p:par>
                          <p:cTn id="13" fill="hold" nodeType="afterGroup">
                            <p:stCondLst>
                              <p:cond delay="500"/>
                            </p:stCondLst>
                            <p:childTnLst>
                              <p:par>
                                <p:cTn id="14" presetID="18" presetClass="entr" presetSubtype="6"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strips(downRight)">
                                      <p:cBhvr>
                                        <p:cTn id="16" dur="500"/>
                                        <p:tgtEl>
                                          <p:spTgt spid="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7621"/>
                                        </p:tgtEl>
                                        <p:attrNameLst>
                                          <p:attrName>style.visibility</p:attrName>
                                        </p:attrNameLst>
                                      </p:cBhvr>
                                      <p:to>
                                        <p:strVal val="visible"/>
                                      </p:to>
                                    </p:set>
                                    <p:animEffect transition="in" filter="wipe(left)">
                                      <p:cBhvr>
                                        <p:cTn id="21" dur="500"/>
                                        <p:tgtEl>
                                          <p:spTgt spid="6762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67619"/>
                                        </p:tgtEl>
                                        <p:attrNameLst>
                                          <p:attrName>style.visibility</p:attrName>
                                        </p:attrNameLst>
                                      </p:cBhvr>
                                      <p:to>
                                        <p:strVal val="visible"/>
                                      </p:to>
                                    </p:set>
                                    <p:animEffect transition="in" filter="wipe(up)">
                                      <p:cBhvr>
                                        <p:cTn id="26" dur="500"/>
                                        <p:tgtEl>
                                          <p:spTgt spid="67619"/>
                                        </p:tgtEl>
                                      </p:cBhvr>
                                    </p:animEffect>
                                  </p:childTnLst>
                                </p:cTn>
                              </p:par>
                            </p:childTnLst>
                          </p:cTn>
                        </p:par>
                        <p:par>
                          <p:cTn id="27" fill="hold" nodeType="afterGroup">
                            <p:stCondLst>
                              <p:cond delay="500"/>
                            </p:stCondLst>
                            <p:childTnLst>
                              <p:par>
                                <p:cTn id="28" presetID="18" presetClass="entr" presetSubtype="6"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strips(downRight)">
                                      <p:cBhvr>
                                        <p:cTn id="30" dur="500"/>
                                        <p:tgtEl>
                                          <p:spTgt spid="9"/>
                                        </p:tgtEl>
                                      </p:cBhvr>
                                    </p:animEffect>
                                  </p:childTnLst>
                                </p:cTn>
                              </p:par>
                            </p:childTnLst>
                          </p:cTn>
                        </p:par>
                        <p:par>
                          <p:cTn id="31" fill="hold" nodeType="afterGroup">
                            <p:stCondLst>
                              <p:cond delay="1000"/>
                            </p:stCondLst>
                            <p:childTnLst>
                              <p:par>
                                <p:cTn id="32" presetID="22" presetClass="entr" presetSubtype="2" fill="hold" nodeType="afterEffect">
                                  <p:stCondLst>
                                    <p:cond delay="0"/>
                                  </p:stCondLst>
                                  <p:childTnLst>
                                    <p:set>
                                      <p:cBhvr>
                                        <p:cTn id="33" dur="1" fill="hold">
                                          <p:stCondLst>
                                            <p:cond delay="0"/>
                                          </p:stCondLst>
                                        </p:cTn>
                                        <p:tgtEl>
                                          <p:spTgt spid="67618"/>
                                        </p:tgtEl>
                                        <p:attrNameLst>
                                          <p:attrName>style.visibility</p:attrName>
                                        </p:attrNameLst>
                                      </p:cBhvr>
                                      <p:to>
                                        <p:strVal val="visible"/>
                                      </p:to>
                                    </p:set>
                                    <p:animEffect transition="in" filter="wipe(right)">
                                      <p:cBhvr>
                                        <p:cTn id="34" dur="500"/>
                                        <p:tgtEl>
                                          <p:spTgt spid="6761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dissolve">
                                      <p:cBhvr>
                                        <p:cTn id="39" dur="500"/>
                                        <p:tgtEl>
                                          <p:spTgt spid="12"/>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67627"/>
                                        </p:tgtEl>
                                        <p:attrNameLst>
                                          <p:attrName>style.visibility</p:attrName>
                                        </p:attrNameLst>
                                      </p:cBhvr>
                                      <p:to>
                                        <p:strVal val="visible"/>
                                      </p:to>
                                    </p:set>
                                    <p:animEffect transition="in" filter="dissolve">
                                      <p:cBhvr>
                                        <p:cTn id="42" dur="500"/>
                                        <p:tgtEl>
                                          <p:spTgt spid="67627"/>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67622"/>
                                        </p:tgtEl>
                                        <p:attrNameLst>
                                          <p:attrName>style.visibility</p:attrName>
                                        </p:attrNameLst>
                                      </p:cBhvr>
                                      <p:to>
                                        <p:strVal val="visible"/>
                                      </p:to>
                                    </p:set>
                                    <p:animEffect transition="in" filter="wipe(left)">
                                      <p:cBhvr>
                                        <p:cTn id="45" dur="500"/>
                                        <p:tgtEl>
                                          <p:spTgt spid="676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20" grpId="0" autoUpdateAnimBg="0"/>
      <p:bldP spid="67621" grpId="0" autoUpdateAnimBg="0"/>
      <p:bldP spid="67622" grpId="0" autoUpdateAnimBg="0"/>
      <p:bldP spid="67627"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a:spLocks noGrp="1" noChangeArrowheads="1"/>
          </p:cNvSpPr>
          <p:nvPr>
            <p:ph type="body" idx="4294967295"/>
          </p:nvPr>
        </p:nvSpPr>
        <p:spPr>
          <a:xfrm>
            <a:off x="757861" y="1196752"/>
            <a:ext cx="8229600" cy="4784725"/>
          </a:xfrm>
        </p:spPr>
        <p:txBody>
          <a:bodyPr/>
          <a:lstStyle/>
          <a:p>
            <a:pPr marL="342900" lvl="2" indent="-342900" eaLnBrk="1" hangingPunct="1">
              <a:lnSpc>
                <a:spcPct val="200000"/>
              </a:lnSpc>
              <a:spcBef>
                <a:spcPct val="0"/>
              </a:spcBef>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需求的交叉弹性</a:t>
            </a:r>
            <a:endParaRPr lang="en-US" altLang="zh-CN" sz="2000" spc="150" dirty="0">
              <a:solidFill>
                <a:srgbClr val="000000"/>
              </a:solidFill>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定义</a:t>
            </a:r>
            <a:endParaRPr lang="en-US" altLang="zh-CN" sz="2000" spc="150" dirty="0">
              <a:solidFill>
                <a:srgbClr val="000000"/>
              </a:solidFill>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公式</a:t>
            </a:r>
            <a:endParaRPr lang="en-US" altLang="zh-CN" sz="2000" spc="150" dirty="0">
              <a:solidFill>
                <a:srgbClr val="000000"/>
              </a:solidFill>
              <a:latin typeface="微软雅黑" panose="020B0503020204020204" pitchFamily="34" charset="-122"/>
              <a:ea typeface="微软雅黑" panose="020B0503020204020204" pitchFamily="34" charset="-122"/>
            </a:endParaRPr>
          </a:p>
          <a:p>
            <a:pPr lvl="1" eaLnBrk="1" hangingPunct="1">
              <a:lnSpc>
                <a:spcPct val="200000"/>
              </a:lnSpc>
            </a:pPr>
            <a:endParaRPr lang="en-US" altLang="zh-CN" sz="2000" spc="150" dirty="0">
              <a:solidFill>
                <a:srgbClr val="000000"/>
              </a:solidFill>
              <a:latin typeface="微软雅黑" panose="020B0503020204020204" pitchFamily="34" charset="-122"/>
              <a:ea typeface="微软雅黑" panose="020B0503020204020204" pitchFamily="34" charset="-122"/>
            </a:endParaRPr>
          </a:p>
          <a:p>
            <a:pPr lvl="1" eaLnBrk="1" hangingPunct="1">
              <a:lnSpc>
                <a:spcPct val="200000"/>
              </a:lnSpc>
              <a:buFont typeface="Wingdings" panose="05000000000000000000" pitchFamily="2" charset="2"/>
              <a:buChar char="Ø"/>
            </a:pPr>
            <a:r>
              <a:rPr lang="zh-CN" altLang="en-US" sz="2000" spc="150" dirty="0">
                <a:solidFill>
                  <a:srgbClr val="000000"/>
                </a:solidFill>
                <a:latin typeface="微软雅黑" panose="020B0503020204020204" pitchFamily="34" charset="-122"/>
                <a:ea typeface="微软雅黑" panose="020B0503020204020204" pitchFamily="34" charset="-122"/>
              </a:rPr>
              <a:t>分类</a:t>
            </a:r>
            <a:endParaRPr lang="en-US" altLang="zh-CN" sz="2000" spc="150" dirty="0">
              <a:solidFill>
                <a:srgbClr val="000000"/>
              </a:solidFill>
              <a:latin typeface="微软雅黑" panose="020B0503020204020204" pitchFamily="34" charset="-122"/>
              <a:ea typeface="微软雅黑" panose="020B0503020204020204" pitchFamily="34" charset="-122"/>
            </a:endParaRPr>
          </a:p>
          <a:p>
            <a:pPr marL="914400" lvl="2" indent="0" eaLnBrk="1" hangingPunct="1">
              <a:lnSpc>
                <a:spcPct val="200000"/>
              </a:lnSpc>
              <a:buFontTx/>
              <a:buNone/>
            </a:pPr>
            <a:r>
              <a:rPr lang="zh-CN" altLang="en-US" sz="1800" spc="150" dirty="0">
                <a:solidFill>
                  <a:srgbClr val="000000"/>
                </a:solidFill>
                <a:latin typeface="微软雅黑" panose="020B0503020204020204" pitchFamily="34" charset="-122"/>
                <a:ea typeface="微软雅黑" panose="020B0503020204020204" pitchFamily="34" charset="-122"/>
              </a:rPr>
              <a:t>替代关系</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914400" lvl="2" indent="0" eaLnBrk="1" hangingPunct="1">
              <a:lnSpc>
                <a:spcPct val="200000"/>
              </a:lnSpc>
              <a:buFontTx/>
              <a:buNone/>
            </a:pPr>
            <a:r>
              <a:rPr lang="zh-CN" altLang="en-US" sz="1800" spc="150" dirty="0">
                <a:solidFill>
                  <a:srgbClr val="000000"/>
                </a:solidFill>
                <a:latin typeface="微软雅黑" panose="020B0503020204020204" pitchFamily="34" charset="-122"/>
                <a:ea typeface="微软雅黑" panose="020B0503020204020204" pitchFamily="34" charset="-122"/>
              </a:rPr>
              <a:t>互补关系</a:t>
            </a:r>
            <a:endParaRPr lang="en-US" altLang="zh-CN" sz="2200" spc="150" dirty="0">
              <a:solidFill>
                <a:srgbClr val="000000"/>
              </a:solidFill>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35FE5BB5-11FC-4F14-95DE-97FC3C3C0632}"/>
              </a:ext>
            </a:extLst>
          </p:cNvPr>
          <p:cNvSpPr/>
          <p:nvPr/>
        </p:nvSpPr>
        <p:spPr>
          <a:xfrm>
            <a:off x="467544" y="548680"/>
            <a:ext cx="291137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三、其他需求弹性 </a:t>
            </a:r>
          </a:p>
        </p:txBody>
      </p:sp>
      <p:sp>
        <p:nvSpPr>
          <p:cNvPr id="13" name="矩形 12">
            <a:extLst>
              <a:ext uri="{FF2B5EF4-FFF2-40B4-BE49-F238E27FC236}">
                <a16:creationId xmlns:a16="http://schemas.microsoft.com/office/drawing/2014/main" id="{92F822EF-7C75-4BC1-9420-03F3728421D6}"/>
              </a:ext>
            </a:extLst>
          </p:cNvPr>
          <p:cNvSpPr/>
          <p:nvPr/>
        </p:nvSpPr>
        <p:spPr>
          <a:xfrm>
            <a:off x="7261793"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弹性 </a:t>
            </a:r>
          </a:p>
        </p:txBody>
      </p:sp>
      <p:grpSp>
        <p:nvGrpSpPr>
          <p:cNvPr id="14" name="组合 9">
            <a:extLst>
              <a:ext uri="{FF2B5EF4-FFF2-40B4-BE49-F238E27FC236}">
                <a16:creationId xmlns:a16="http://schemas.microsoft.com/office/drawing/2014/main" id="{5009380F-81B1-44E3-A0DB-1A44BC9C3F0D}"/>
              </a:ext>
            </a:extLst>
          </p:cNvPr>
          <p:cNvGrpSpPr>
            <a:grpSpLocks/>
          </p:cNvGrpSpPr>
          <p:nvPr/>
        </p:nvGrpSpPr>
        <p:grpSpPr bwMode="auto">
          <a:xfrm>
            <a:off x="4066974" y="1823957"/>
            <a:ext cx="4429125" cy="2026034"/>
            <a:chOff x="0" y="0"/>
            <a:chExt cx="4357686" cy="709048"/>
          </a:xfrm>
        </p:grpSpPr>
        <p:sp>
          <p:nvSpPr>
            <p:cNvPr id="15" name="圆角矩形 7">
              <a:extLst>
                <a:ext uri="{FF2B5EF4-FFF2-40B4-BE49-F238E27FC236}">
                  <a16:creationId xmlns:a16="http://schemas.microsoft.com/office/drawing/2014/main" id="{38AABADF-EF49-4F09-BB0C-C8645924135D}"/>
                </a:ext>
              </a:extLst>
            </p:cNvPr>
            <p:cNvSpPr>
              <a:spLocks noChangeArrowheads="1"/>
            </p:cNvSpPr>
            <p:nvPr/>
          </p:nvSpPr>
          <p:spPr bwMode="auto">
            <a:xfrm>
              <a:off x="0" y="0"/>
              <a:ext cx="4357686" cy="636642"/>
            </a:xfrm>
            <a:prstGeom prst="roundRect">
              <a:avLst>
                <a:gd name="adj" fmla="val 16667"/>
              </a:avLst>
            </a:prstGeom>
            <a:noFill/>
            <a:ln w="9525">
              <a:solidFill>
                <a:srgbClr val="000000"/>
              </a:solidFill>
              <a:round/>
              <a:headEnd/>
              <a:tailEnd/>
            </a:ln>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16" name="TextBox 3">
              <a:extLst>
                <a:ext uri="{FF2B5EF4-FFF2-40B4-BE49-F238E27FC236}">
                  <a16:creationId xmlns:a16="http://schemas.microsoft.com/office/drawing/2014/main" id="{BD7046AA-BE21-4516-A438-84737878ADB5}"/>
                </a:ext>
              </a:extLst>
            </p:cNvPr>
            <p:cNvSpPr txBox="1">
              <a:spLocks noChangeArrowheads="1"/>
            </p:cNvSpPr>
            <p:nvPr/>
          </p:nvSpPr>
          <p:spPr bwMode="auto">
            <a:xfrm>
              <a:off x="38099" y="71448"/>
              <a:ext cx="4319587" cy="63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285750" indent="-28575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需求的交叉价格弹性简称为需求的交叉弹性，表示一定时期内，相应于相关的另外一种商品价格的相对变动，一种商品需求量相对变动的敏感程度。</a:t>
              </a:r>
            </a:p>
          </p:txBody>
        </p:sp>
      </p:grpSp>
      <p:grpSp>
        <p:nvGrpSpPr>
          <p:cNvPr id="17" name="组合 9">
            <a:extLst>
              <a:ext uri="{FF2B5EF4-FFF2-40B4-BE49-F238E27FC236}">
                <a16:creationId xmlns:a16="http://schemas.microsoft.com/office/drawing/2014/main" id="{8A1846D1-EC24-4C1B-9F15-7D4603CC430C}"/>
              </a:ext>
            </a:extLst>
          </p:cNvPr>
          <p:cNvGrpSpPr>
            <a:grpSpLocks/>
          </p:cNvGrpSpPr>
          <p:nvPr/>
        </p:nvGrpSpPr>
        <p:grpSpPr bwMode="auto">
          <a:xfrm>
            <a:off x="4032875" y="4404737"/>
            <a:ext cx="4429125" cy="1510959"/>
            <a:chOff x="0" y="0"/>
            <a:chExt cx="4357686" cy="905970"/>
          </a:xfrm>
        </p:grpSpPr>
        <p:sp>
          <p:nvSpPr>
            <p:cNvPr id="18" name="圆角矩形 10">
              <a:extLst>
                <a:ext uri="{FF2B5EF4-FFF2-40B4-BE49-F238E27FC236}">
                  <a16:creationId xmlns:a16="http://schemas.microsoft.com/office/drawing/2014/main" id="{C55BCDF0-4C1D-4965-9E29-7033BAE00BCC}"/>
                </a:ext>
              </a:extLst>
            </p:cNvPr>
            <p:cNvSpPr>
              <a:spLocks noChangeArrowheads="1"/>
            </p:cNvSpPr>
            <p:nvPr/>
          </p:nvSpPr>
          <p:spPr bwMode="auto">
            <a:xfrm>
              <a:off x="0" y="0"/>
              <a:ext cx="4357686" cy="905970"/>
            </a:xfrm>
            <a:prstGeom prst="roundRect">
              <a:avLst>
                <a:gd name="adj" fmla="val 16667"/>
              </a:avLst>
            </a:prstGeom>
            <a:noFill/>
            <a:ln w="9525">
              <a:solidFill>
                <a:srgbClr val="000000"/>
              </a:solidFill>
              <a:round/>
              <a:headEnd/>
              <a:tailEnd/>
            </a:ln>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19" name="TextBox 3">
              <a:extLst>
                <a:ext uri="{FF2B5EF4-FFF2-40B4-BE49-F238E27FC236}">
                  <a16:creationId xmlns:a16="http://schemas.microsoft.com/office/drawing/2014/main" id="{73720645-C49E-4EF4-8380-0F9CEC009E19}"/>
                </a:ext>
              </a:extLst>
            </p:cNvPr>
            <p:cNvSpPr txBox="1">
              <a:spLocks noChangeArrowheads="1"/>
            </p:cNvSpPr>
            <p:nvPr/>
          </p:nvSpPr>
          <p:spPr bwMode="auto">
            <a:xfrm>
              <a:off x="38099" y="71448"/>
              <a:ext cx="4319587" cy="737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285750" indent="-28575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交叉价格弹性系数大于零，表明两种商品之间存在替代关系。</a:t>
              </a:r>
            </a:p>
            <a:p>
              <a:pPr marL="285750" indent="-28575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交叉价格弹性系数小于零，表明两种商品之间存在互补关系。</a:t>
              </a:r>
            </a:p>
          </p:txBody>
        </p:sp>
      </p:gr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C86E7FC3-C569-44B1-904D-E2602F712D7C}"/>
                  </a:ext>
                </a:extLst>
              </p:cNvPr>
              <p:cNvSpPr txBox="1"/>
              <p:nvPr/>
            </p:nvSpPr>
            <p:spPr>
              <a:xfrm>
                <a:off x="1403648" y="3252738"/>
                <a:ext cx="2702050" cy="621389"/>
              </a:xfrm>
              <a:prstGeom prst="rect">
                <a:avLst/>
              </a:prstGeom>
              <a:noFill/>
            </p:spPr>
            <p:txBody>
              <a:bodyPr wrap="square" rtlCol="0">
                <a:spAutoFit/>
              </a:bodyPr>
              <a:lstStyle/>
              <a:p>
                <a14:m>
                  <m:oMath xmlns:m="http://schemas.openxmlformats.org/officeDocument/2006/math">
                    <m:r>
                      <m:rPr>
                        <m:nor/>
                      </m:rPr>
                      <a:rPr lang="en-US" altLang="zh-CN" sz="2000" spc="150" dirty="0" smtClean="0">
                        <a:solidFill>
                          <a:srgbClr val="000000"/>
                        </a:solidFill>
                        <a:latin typeface="Cambria Math" panose="02040503050406030204" pitchFamily="18" charset="0"/>
                        <a:ea typeface="微软雅黑" panose="020B0503020204020204" pitchFamily="34" charset="-122"/>
                      </a:rPr>
                      <m:t>E</m:t>
                    </m:r>
                    <m:r>
                      <m:rPr>
                        <m:sty m:val="p"/>
                      </m:rPr>
                      <a:rPr lang="en-US" altLang="zh-CN" sz="2000" b="0" i="1" spc="150" baseline="-25000" dirty="0">
                        <a:solidFill>
                          <a:srgbClr val="000000"/>
                        </a:solidFill>
                        <a:latin typeface="Cambria Math" panose="02040503050406030204" pitchFamily="18" charset="0"/>
                        <a:ea typeface="微软雅黑" panose="020B0503020204020204" pitchFamily="34" charset="-122"/>
                      </a:rPr>
                      <m:t>c</m:t>
                    </m:r>
                    <m:r>
                      <a:rPr lang="en-US" altLang="zh-CN" sz="2000" i="1" spc="150" baseline="-25000" dirty="0">
                        <a:solidFill>
                          <a:srgbClr val="000000"/>
                        </a:solidFill>
                        <a:latin typeface="Cambria Math" panose="02040503050406030204" pitchFamily="18" charset="0"/>
                        <a:ea typeface="微软雅黑" panose="020B0503020204020204" pitchFamily="34" charset="-122"/>
                      </a:rPr>
                      <m:t> </m:t>
                    </m:r>
                  </m:oMath>
                </a14:m>
                <a:r>
                  <a:rPr lang="en-US" altLang="zh-CN" sz="2000" dirty="0">
                    <a:latin typeface="微软雅黑" panose="020B0503020204020204" pitchFamily="34" charset="-122"/>
                    <a:ea typeface="微软雅黑" panose="020B0503020204020204" pitchFamily="34" charset="-122"/>
                  </a:rPr>
                  <a:t>=</a:t>
                </a:r>
                <a14:m>
                  <m:oMath xmlns:m="http://schemas.openxmlformats.org/officeDocument/2006/math">
                    <m:f>
                      <m:fPr>
                        <m:ctrlPr>
                          <a:rPr lang="en-US" altLang="zh-CN" sz="2000" i="1" smtClean="0">
                            <a:latin typeface="Cambria Math" panose="02040503050406030204" pitchFamily="18" charset="0"/>
                            <a:ea typeface="微软雅黑" panose="020B0503020204020204" pitchFamily="34" charset="-122"/>
                          </a:rPr>
                        </m:ctrlPr>
                      </m:fPr>
                      <m:num>
                        <m:r>
                          <a:rPr lang="zh-CN" altLang="en-US" sz="2000" kern="0" dirty="0">
                            <a:latin typeface="Cambria Math" panose="02040503050406030204" pitchFamily="18" charset="0"/>
                          </a:rPr>
                          <m:t>△</m:t>
                        </m:r>
                        <m:sSup>
                          <m:sSupPr>
                            <m:ctrlPr>
                              <a:rPr lang="en-US" altLang="zh-CN" sz="2000" b="0" i="1" kern="0" dirty="0" smtClean="0">
                                <a:latin typeface="Cambria Math" panose="02040503050406030204" pitchFamily="18" charset="0"/>
                              </a:rPr>
                            </m:ctrlPr>
                          </m:sSupPr>
                          <m:e>
                            <m:r>
                              <a:rPr lang="en-US" altLang="zh-CN" sz="2000" b="0" i="1" kern="0" dirty="0" smtClean="0">
                                <a:latin typeface="Cambria Math" panose="02040503050406030204" pitchFamily="18" charset="0"/>
                              </a:rPr>
                              <m:t>𝑄</m:t>
                            </m:r>
                          </m:e>
                          <m:sup>
                            <m:r>
                              <a:rPr lang="en-US" altLang="zh-CN" sz="2000" b="0" i="1" kern="0" dirty="0" smtClean="0">
                                <a:latin typeface="Cambria Math" panose="02040503050406030204" pitchFamily="18" charset="0"/>
                              </a:rPr>
                              <m:t>𝐴</m:t>
                            </m:r>
                          </m:sup>
                        </m:sSup>
                        <m:r>
                          <a:rPr lang="en-US" altLang="zh-CN" sz="2000" b="0" i="1" smtClean="0">
                            <a:latin typeface="Cambria Math" panose="02040503050406030204" pitchFamily="18" charset="0"/>
                            <a:ea typeface="微软雅黑" panose="020B0503020204020204" pitchFamily="34" charset="-122"/>
                          </a:rPr>
                          <m:t>/</m:t>
                        </m:r>
                        <m:sSup>
                          <m:sSupPr>
                            <m:ctrlPr>
                              <a:rPr lang="en-US" altLang="zh-CN" sz="2000" i="1" kern="0" dirty="0">
                                <a:latin typeface="Cambria Math" panose="02040503050406030204" pitchFamily="18" charset="0"/>
                              </a:rPr>
                            </m:ctrlPr>
                          </m:sSupPr>
                          <m:e>
                            <m:r>
                              <a:rPr lang="en-US" altLang="zh-CN" sz="2000" i="1" kern="0" dirty="0">
                                <a:latin typeface="Cambria Math" panose="02040503050406030204" pitchFamily="18" charset="0"/>
                              </a:rPr>
                              <m:t>𝑄</m:t>
                            </m:r>
                          </m:e>
                          <m:sup>
                            <m:r>
                              <a:rPr lang="en-US" altLang="zh-CN" sz="2000" i="1" kern="0" dirty="0">
                                <a:latin typeface="Cambria Math" panose="02040503050406030204" pitchFamily="18" charset="0"/>
                              </a:rPr>
                              <m:t>𝐴</m:t>
                            </m:r>
                          </m:sup>
                        </m:sSup>
                      </m:num>
                      <m:den>
                        <m:r>
                          <a:rPr lang="zh-CN" altLang="en-US" sz="2000" kern="0" dirty="0">
                            <a:latin typeface="Cambria Math" panose="02040503050406030204" pitchFamily="18" charset="0"/>
                          </a:rPr>
                          <m:t>△</m:t>
                        </m:r>
                        <m:sSup>
                          <m:sSupPr>
                            <m:ctrlPr>
                              <a:rPr lang="en-US" altLang="zh-CN" sz="2000" i="1" kern="0" dirty="0">
                                <a:latin typeface="Cambria Math" panose="02040503050406030204" pitchFamily="18" charset="0"/>
                              </a:rPr>
                            </m:ctrlPr>
                          </m:sSupPr>
                          <m:e>
                            <m:r>
                              <a:rPr lang="en-US" altLang="zh-CN" sz="2000" b="0" i="1" kern="0" dirty="0" smtClean="0">
                                <a:latin typeface="Cambria Math" panose="02040503050406030204" pitchFamily="18" charset="0"/>
                              </a:rPr>
                              <m:t>𝑃</m:t>
                            </m:r>
                          </m:e>
                          <m:sup>
                            <m:r>
                              <a:rPr lang="en-US" altLang="zh-CN" sz="2000" b="0" i="1" kern="0" dirty="0" smtClean="0">
                                <a:latin typeface="Cambria Math" panose="02040503050406030204" pitchFamily="18" charset="0"/>
                              </a:rPr>
                              <m:t>𝐵</m:t>
                            </m:r>
                          </m:sup>
                        </m:sSup>
                        <m:r>
                          <a:rPr lang="en-US" altLang="zh-CN" sz="2000" b="0" i="1" smtClean="0">
                            <a:latin typeface="Cambria Math" panose="02040503050406030204" pitchFamily="18" charset="0"/>
                            <a:ea typeface="微软雅黑" panose="020B0503020204020204" pitchFamily="34" charset="-122"/>
                          </a:rPr>
                          <m:t>/</m:t>
                        </m:r>
                        <m:sSup>
                          <m:sSupPr>
                            <m:ctrlPr>
                              <a:rPr lang="en-US" altLang="zh-CN" sz="2000" i="1" kern="0" dirty="0">
                                <a:latin typeface="Cambria Math" panose="02040503050406030204" pitchFamily="18" charset="0"/>
                              </a:rPr>
                            </m:ctrlPr>
                          </m:sSupPr>
                          <m:e>
                            <m:r>
                              <a:rPr lang="en-US" altLang="zh-CN" sz="2000" i="1" kern="0" dirty="0">
                                <a:latin typeface="Cambria Math" panose="02040503050406030204" pitchFamily="18" charset="0"/>
                              </a:rPr>
                              <m:t>𝑃</m:t>
                            </m:r>
                          </m:e>
                          <m:sup>
                            <m:r>
                              <a:rPr lang="en-US" altLang="zh-CN" sz="2000" i="1" kern="0" dirty="0">
                                <a:latin typeface="Cambria Math" panose="02040503050406030204" pitchFamily="18" charset="0"/>
                              </a:rPr>
                              <m:t>𝐵</m:t>
                            </m:r>
                          </m:sup>
                        </m:sSup>
                      </m:den>
                    </m:f>
                    <m:r>
                      <m:rPr>
                        <m:nor/>
                      </m:rPr>
                      <a:rPr lang="en-US" altLang="zh-CN" sz="2000" dirty="0">
                        <a:latin typeface="微软雅黑" panose="020B0503020204020204" pitchFamily="34" charset="-122"/>
                        <a:ea typeface="微软雅黑" panose="020B0503020204020204" pitchFamily="34" charset="-122"/>
                      </a:rPr>
                      <m:t>=</m:t>
                    </m:r>
                    <m:f>
                      <m:fPr>
                        <m:ctrlPr>
                          <a:rPr lang="en-US" altLang="zh-CN" sz="2000" i="1" dirty="0" smtClean="0">
                            <a:latin typeface="Cambria Math" panose="02040503050406030204" pitchFamily="18" charset="0"/>
                            <a:ea typeface="微软雅黑" panose="020B0503020204020204" pitchFamily="34" charset="-122"/>
                          </a:rPr>
                        </m:ctrlPr>
                      </m:fPr>
                      <m:num>
                        <m:r>
                          <a:rPr lang="zh-CN" altLang="en-US" sz="2000" kern="0" dirty="0">
                            <a:latin typeface="Cambria Math" panose="02040503050406030204" pitchFamily="18" charset="0"/>
                          </a:rPr>
                          <m:t>△</m:t>
                        </m:r>
                        <m:sSup>
                          <m:sSupPr>
                            <m:ctrlPr>
                              <a:rPr lang="en-US" altLang="zh-CN" sz="2000" i="1" kern="0" dirty="0">
                                <a:latin typeface="Cambria Math" panose="02040503050406030204" pitchFamily="18" charset="0"/>
                              </a:rPr>
                            </m:ctrlPr>
                          </m:sSupPr>
                          <m:e>
                            <m:r>
                              <a:rPr lang="en-US" altLang="zh-CN" sz="2000" i="1" kern="0" dirty="0">
                                <a:latin typeface="Cambria Math" panose="02040503050406030204" pitchFamily="18" charset="0"/>
                              </a:rPr>
                              <m:t>𝑄</m:t>
                            </m:r>
                          </m:e>
                          <m:sup>
                            <m:r>
                              <a:rPr lang="en-US" altLang="zh-CN" sz="2000" i="1" kern="0" dirty="0">
                                <a:latin typeface="Cambria Math" panose="02040503050406030204" pitchFamily="18" charset="0"/>
                              </a:rPr>
                              <m:t>𝐴</m:t>
                            </m:r>
                          </m:sup>
                        </m:sSup>
                      </m:num>
                      <m:den>
                        <m:r>
                          <a:rPr lang="zh-CN" altLang="en-US" sz="2000" kern="0" dirty="0">
                            <a:latin typeface="Cambria Math" panose="02040503050406030204" pitchFamily="18" charset="0"/>
                          </a:rPr>
                          <m:t>△</m:t>
                        </m:r>
                        <m:sSup>
                          <m:sSupPr>
                            <m:ctrlPr>
                              <a:rPr lang="en-US" altLang="zh-CN" sz="2000" i="1" kern="0" dirty="0">
                                <a:latin typeface="Cambria Math" panose="02040503050406030204" pitchFamily="18" charset="0"/>
                              </a:rPr>
                            </m:ctrlPr>
                          </m:sSupPr>
                          <m:e>
                            <m:r>
                              <a:rPr lang="en-US" altLang="zh-CN" sz="2000" i="1" kern="0" dirty="0">
                                <a:latin typeface="Cambria Math" panose="02040503050406030204" pitchFamily="18" charset="0"/>
                              </a:rPr>
                              <m:t>𝑃</m:t>
                            </m:r>
                          </m:e>
                          <m:sup>
                            <m:r>
                              <a:rPr lang="en-US" altLang="zh-CN" sz="2000" i="1" kern="0" dirty="0">
                                <a:latin typeface="Cambria Math" panose="02040503050406030204" pitchFamily="18" charset="0"/>
                              </a:rPr>
                              <m:t>𝐵</m:t>
                            </m:r>
                          </m:sup>
                        </m:sSup>
                      </m:den>
                    </m:f>
                    <m:r>
                      <a:rPr lang="en-US" altLang="zh-CN" sz="2000" i="1" dirty="0">
                        <a:latin typeface="Cambria Math" panose="02040503050406030204" pitchFamily="18" charset="0"/>
                        <a:ea typeface="微软雅黑" panose="020B0503020204020204" pitchFamily="34" charset="-122"/>
                      </a:rPr>
                      <m:t>·</m:t>
                    </m:r>
                    <m:f>
                      <m:fPr>
                        <m:ctrlPr>
                          <a:rPr lang="en-US" altLang="zh-CN" sz="2000" i="1" dirty="0">
                            <a:latin typeface="Cambria Math" panose="02040503050406030204" pitchFamily="18" charset="0"/>
                            <a:ea typeface="微软雅黑" panose="020B0503020204020204" pitchFamily="34" charset="-122"/>
                          </a:rPr>
                        </m:ctrlPr>
                      </m:fPr>
                      <m:num>
                        <m:sSup>
                          <m:sSupPr>
                            <m:ctrlPr>
                              <a:rPr lang="en-US" altLang="zh-CN" sz="2000" i="1" kern="0" dirty="0">
                                <a:latin typeface="Cambria Math" panose="02040503050406030204" pitchFamily="18" charset="0"/>
                              </a:rPr>
                            </m:ctrlPr>
                          </m:sSupPr>
                          <m:e>
                            <m:r>
                              <a:rPr lang="en-US" altLang="zh-CN" sz="2000" i="1" kern="0" dirty="0">
                                <a:latin typeface="Cambria Math" panose="02040503050406030204" pitchFamily="18" charset="0"/>
                              </a:rPr>
                              <m:t>𝑃</m:t>
                            </m:r>
                          </m:e>
                          <m:sup>
                            <m:r>
                              <a:rPr lang="en-US" altLang="zh-CN" sz="2000" i="1" kern="0" dirty="0">
                                <a:latin typeface="Cambria Math" panose="02040503050406030204" pitchFamily="18" charset="0"/>
                              </a:rPr>
                              <m:t>𝐵</m:t>
                            </m:r>
                          </m:sup>
                        </m:sSup>
                      </m:num>
                      <m:den>
                        <m:sSup>
                          <m:sSupPr>
                            <m:ctrlPr>
                              <a:rPr lang="en-US" altLang="zh-CN" sz="2000" i="1" kern="0" dirty="0">
                                <a:latin typeface="Cambria Math" panose="02040503050406030204" pitchFamily="18" charset="0"/>
                              </a:rPr>
                            </m:ctrlPr>
                          </m:sSupPr>
                          <m:e>
                            <m:r>
                              <a:rPr lang="en-US" altLang="zh-CN" sz="2000" i="1" kern="0" dirty="0">
                                <a:latin typeface="Cambria Math" panose="02040503050406030204" pitchFamily="18" charset="0"/>
                              </a:rPr>
                              <m:t>𝑄</m:t>
                            </m:r>
                          </m:e>
                          <m:sup>
                            <m:r>
                              <a:rPr lang="en-US" altLang="zh-CN" sz="2000" i="1" kern="0" dirty="0">
                                <a:latin typeface="Cambria Math" panose="02040503050406030204" pitchFamily="18" charset="0"/>
                              </a:rPr>
                              <m:t>𝐴</m:t>
                            </m:r>
                          </m:sup>
                        </m:sSup>
                      </m:den>
                    </m:f>
                  </m:oMath>
                </a14:m>
                <a:endParaRPr lang="zh-CN" altLang="en-US" sz="2000" dirty="0">
                  <a:latin typeface="微软雅黑" panose="020B0503020204020204" pitchFamily="34" charset="-122"/>
                  <a:ea typeface="微软雅黑" panose="020B0503020204020204" pitchFamily="34" charset="-122"/>
                </a:endParaRPr>
              </a:p>
            </p:txBody>
          </p:sp>
        </mc:Choice>
        <mc:Fallback xmlns="">
          <p:sp>
            <p:nvSpPr>
              <p:cNvPr id="20" name="文本框 19">
                <a:extLst>
                  <a:ext uri="{FF2B5EF4-FFF2-40B4-BE49-F238E27FC236}">
                    <a16:creationId xmlns:a16="http://schemas.microsoft.com/office/drawing/2014/main" id="{C86E7FC3-C569-44B1-904D-E2602F712D7C}"/>
                  </a:ext>
                </a:extLst>
              </p:cNvPr>
              <p:cNvSpPr txBox="1">
                <a:spLocks noRot="1" noChangeAspect="1" noMove="1" noResize="1" noEditPoints="1" noAdjustHandles="1" noChangeArrowheads="1" noChangeShapeType="1" noTextEdit="1"/>
              </p:cNvSpPr>
              <p:nvPr/>
            </p:nvSpPr>
            <p:spPr>
              <a:xfrm>
                <a:off x="1403648" y="3252738"/>
                <a:ext cx="2702050" cy="621389"/>
              </a:xfrm>
              <a:prstGeom prst="rect">
                <a:avLst/>
              </a:prstGeom>
              <a:blipFill>
                <a:blip r:embed="rId2"/>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02">
                                            <p:txEl>
                                              <p:pRg st="0" end="0"/>
                                            </p:txEl>
                                          </p:spTgt>
                                        </p:tgtEl>
                                        <p:attrNameLst>
                                          <p:attrName>style.visibility</p:attrName>
                                        </p:attrNameLst>
                                      </p:cBhvr>
                                      <p:to>
                                        <p:strVal val="visible"/>
                                      </p:to>
                                    </p:set>
                                    <p:animEffect transition="in" filter="wipe(left)">
                                      <p:cBhvr>
                                        <p:cTn id="7" dur="500"/>
                                        <p:tgtEl>
                                          <p:spTgt spid="512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202">
                                            <p:txEl>
                                              <p:pRg st="1" end="1"/>
                                            </p:txEl>
                                          </p:spTgt>
                                        </p:tgtEl>
                                        <p:attrNameLst>
                                          <p:attrName>style.visibility</p:attrName>
                                        </p:attrNameLst>
                                      </p:cBhvr>
                                      <p:to>
                                        <p:strVal val="visible"/>
                                      </p:to>
                                    </p:set>
                                    <p:animEffect transition="in" filter="wipe(left)">
                                      <p:cBhvr>
                                        <p:cTn id="12" dur="500"/>
                                        <p:tgtEl>
                                          <p:spTgt spid="51202">
                                            <p:txEl>
                                              <p:pRg st="1" end="1"/>
                                            </p:txEl>
                                          </p:spTgt>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up)">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1202">
                                            <p:txEl>
                                              <p:pRg st="2" end="2"/>
                                            </p:txEl>
                                          </p:spTgt>
                                        </p:tgtEl>
                                        <p:attrNameLst>
                                          <p:attrName>style.visibility</p:attrName>
                                        </p:attrNameLst>
                                      </p:cBhvr>
                                      <p:to>
                                        <p:strVal val="visible"/>
                                      </p:to>
                                    </p:set>
                                    <p:animEffect transition="in" filter="wipe(left)">
                                      <p:cBhvr>
                                        <p:cTn id="21" dur="500"/>
                                        <p:tgtEl>
                                          <p:spTgt spid="51202">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 calcmode="lin" valueType="num">
                                      <p:cBhvr>
                                        <p:cTn id="26" dur="500" fill="hold"/>
                                        <p:tgtEl>
                                          <p:spTgt spid="20"/>
                                        </p:tgtEl>
                                        <p:attrNameLst>
                                          <p:attrName>ppt_w</p:attrName>
                                        </p:attrNameLst>
                                      </p:cBhvr>
                                      <p:tavLst>
                                        <p:tav tm="0">
                                          <p:val>
                                            <p:fltVal val="0"/>
                                          </p:val>
                                        </p:tav>
                                        <p:tav tm="100000">
                                          <p:val>
                                            <p:strVal val="#ppt_w"/>
                                          </p:val>
                                        </p:tav>
                                      </p:tavLst>
                                    </p:anim>
                                    <p:anim calcmode="lin" valueType="num">
                                      <p:cBhvr>
                                        <p:cTn id="27" dur="500" fill="hold"/>
                                        <p:tgtEl>
                                          <p:spTgt spid="20"/>
                                        </p:tgtEl>
                                        <p:attrNameLst>
                                          <p:attrName>ppt_h</p:attrName>
                                        </p:attrNameLst>
                                      </p:cBhvr>
                                      <p:tavLst>
                                        <p:tav tm="0">
                                          <p:val>
                                            <p:fltVal val="0"/>
                                          </p:val>
                                        </p:tav>
                                        <p:tav tm="100000">
                                          <p:val>
                                            <p:strVal val="#ppt_h"/>
                                          </p:val>
                                        </p:tav>
                                      </p:tavLst>
                                    </p:anim>
                                    <p:animEffect transition="in" filter="fade">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1202">
                                            <p:txEl>
                                              <p:pRg st="4" end="4"/>
                                            </p:txEl>
                                          </p:spTgt>
                                        </p:tgtEl>
                                        <p:attrNameLst>
                                          <p:attrName>style.visibility</p:attrName>
                                        </p:attrNameLst>
                                      </p:cBhvr>
                                      <p:to>
                                        <p:strVal val="visible"/>
                                      </p:to>
                                    </p:set>
                                    <p:animEffect transition="in" filter="wipe(left)">
                                      <p:cBhvr>
                                        <p:cTn id="33" dur="500"/>
                                        <p:tgtEl>
                                          <p:spTgt spid="51202">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51202">
                                            <p:txEl>
                                              <p:pRg st="5" end="5"/>
                                            </p:txEl>
                                          </p:spTgt>
                                        </p:tgtEl>
                                        <p:attrNameLst>
                                          <p:attrName>style.visibility</p:attrName>
                                        </p:attrNameLst>
                                      </p:cBhvr>
                                      <p:to>
                                        <p:strVal val="visible"/>
                                      </p:to>
                                    </p:set>
                                    <p:animEffect transition="in" filter="wipe(left)">
                                      <p:cBhvr>
                                        <p:cTn id="38" dur="500"/>
                                        <p:tgtEl>
                                          <p:spTgt spid="51202">
                                            <p:txEl>
                                              <p:pRg st="5" end="5"/>
                                            </p:txEl>
                                          </p:spTgt>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51202">
                                            <p:txEl>
                                              <p:pRg st="6" end="6"/>
                                            </p:txEl>
                                          </p:spTgt>
                                        </p:tgtEl>
                                        <p:attrNameLst>
                                          <p:attrName>style.visibility</p:attrName>
                                        </p:attrNameLst>
                                      </p:cBhvr>
                                      <p:to>
                                        <p:strVal val="visible"/>
                                      </p:to>
                                    </p:set>
                                    <p:animEffect transition="in" filter="wipe(left)">
                                      <p:cBhvr>
                                        <p:cTn id="41" dur="500"/>
                                        <p:tgtEl>
                                          <p:spTgt spid="51202">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wipe(up)">
                                      <p:cBhvr>
                                        <p:cTn id="4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uiExpand="1" build="p" autoUpdateAnimBg="0"/>
      <p:bldP spid="2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p:cNvSpPr>
            <a:spLocks noGrp="1" noChangeArrowheads="1"/>
          </p:cNvSpPr>
          <p:nvPr>
            <p:ph type="body" idx="4294967295"/>
          </p:nvPr>
        </p:nvSpPr>
        <p:spPr>
          <a:xfrm>
            <a:off x="971600" y="1340768"/>
            <a:ext cx="7608888" cy="4784725"/>
          </a:xfrm>
        </p:spPr>
        <p:txBody>
          <a:bodyPr/>
          <a:lstStyle/>
          <a:p>
            <a:pPr marL="342900" lvl="2" indent="-342900" eaLnBrk="1" hangingPunct="1">
              <a:lnSpc>
                <a:spcPct val="150000"/>
              </a:lnSpc>
              <a:spcBef>
                <a:spcPct val="0"/>
              </a:spcBef>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定义</a:t>
            </a:r>
            <a:endParaRPr lang="en-US" altLang="zh-CN" sz="2000" spc="150" dirty="0">
              <a:solidFill>
                <a:srgbClr val="000000"/>
              </a:solidFill>
              <a:latin typeface="微软雅黑" panose="020B0503020204020204" pitchFamily="34" charset="-122"/>
              <a:ea typeface="微软雅黑" panose="020B0503020204020204" pitchFamily="34" charset="-122"/>
            </a:endParaRPr>
          </a:p>
          <a:p>
            <a:pPr marL="800100" lvl="3" indent="-342900" eaLnBrk="1" hangingPunct="1">
              <a:lnSpc>
                <a:spcPct val="150000"/>
              </a:lnSpc>
              <a:spcBef>
                <a:spcPct val="0"/>
              </a:spcBef>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供给的价格弹性简称为供给弹性，表示在一定时期内相应于商品价格的相对变动，一种商品供给量相对变动的敏感程度。</a:t>
            </a:r>
            <a:endParaRPr lang="en-US" altLang="zh-CN" sz="2000" spc="150" dirty="0">
              <a:solidFill>
                <a:srgbClr val="000000"/>
              </a:solidFill>
              <a:latin typeface="微软雅黑" panose="020B0503020204020204" pitchFamily="34" charset="-122"/>
              <a:ea typeface="微软雅黑" panose="020B0503020204020204" pitchFamily="34" charset="-122"/>
            </a:endParaRPr>
          </a:p>
          <a:p>
            <a:pPr marL="342900" lvl="2" indent="-342900" eaLnBrk="1" hangingPunct="1">
              <a:lnSpc>
                <a:spcPct val="150000"/>
              </a:lnSpc>
              <a:spcBef>
                <a:spcPct val="0"/>
              </a:spcBef>
              <a:buFont typeface="Wingdings" panose="05000000000000000000" pitchFamily="2" charset="2"/>
              <a:buChar char="u"/>
            </a:pPr>
            <a:endParaRPr lang="en-US" altLang="zh-CN" sz="2000" spc="150" dirty="0">
              <a:solidFill>
                <a:srgbClr val="000000"/>
              </a:solidFill>
              <a:latin typeface="微软雅黑" panose="020B0503020204020204" pitchFamily="34" charset="-122"/>
              <a:ea typeface="微软雅黑" panose="020B0503020204020204" pitchFamily="34" charset="-122"/>
            </a:endParaRPr>
          </a:p>
          <a:p>
            <a:pPr marL="342900" lvl="2" indent="-342900" eaLnBrk="1" hangingPunct="1">
              <a:lnSpc>
                <a:spcPct val="150000"/>
              </a:lnSpc>
              <a:spcBef>
                <a:spcPct val="0"/>
              </a:spcBef>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公式</a:t>
            </a:r>
            <a:endParaRPr lang="en-US" altLang="zh-CN" sz="2000" spc="150" dirty="0">
              <a:solidFill>
                <a:srgbClr val="000000"/>
              </a:solidFill>
              <a:latin typeface="微软雅黑" panose="020B0503020204020204" pitchFamily="34" charset="-122"/>
              <a:ea typeface="微软雅黑" panose="020B0503020204020204" pitchFamily="34" charset="-122"/>
            </a:endParaRPr>
          </a:p>
          <a:p>
            <a:pPr lvl="2" eaLnBrk="1" hangingPunct="1"/>
            <a:endParaRPr lang="en-US" altLang="zh-CN" sz="2800" dirty="0"/>
          </a:p>
          <a:p>
            <a:pPr marL="914400" lvl="2" indent="0" eaLnBrk="1" hangingPunct="1">
              <a:buNone/>
            </a:pPr>
            <a:endParaRPr lang="en-US" altLang="zh-CN" sz="2800" dirty="0"/>
          </a:p>
        </p:txBody>
      </p:sp>
      <p:sp>
        <p:nvSpPr>
          <p:cNvPr id="9" name="矩形 8">
            <a:extLst>
              <a:ext uri="{FF2B5EF4-FFF2-40B4-BE49-F238E27FC236}">
                <a16:creationId xmlns:a16="http://schemas.microsoft.com/office/drawing/2014/main" id="{62E18F2F-209F-42DC-81FD-4ADC34A1B3E6}"/>
              </a:ext>
            </a:extLst>
          </p:cNvPr>
          <p:cNvSpPr/>
          <p:nvPr/>
        </p:nvSpPr>
        <p:spPr>
          <a:xfrm>
            <a:off x="467544" y="548680"/>
            <a:ext cx="2257349"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四、供给弹性 </a:t>
            </a:r>
          </a:p>
        </p:txBody>
      </p:sp>
      <p:sp>
        <p:nvSpPr>
          <p:cNvPr id="10" name="矩形 9">
            <a:extLst>
              <a:ext uri="{FF2B5EF4-FFF2-40B4-BE49-F238E27FC236}">
                <a16:creationId xmlns:a16="http://schemas.microsoft.com/office/drawing/2014/main" id="{8BEF392A-F771-4D49-A882-44F95A7B5C7E}"/>
              </a:ext>
            </a:extLst>
          </p:cNvPr>
          <p:cNvSpPr/>
          <p:nvPr/>
        </p:nvSpPr>
        <p:spPr>
          <a:xfrm>
            <a:off x="7261793"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弹性 </a:t>
            </a:r>
          </a:p>
        </p:txBody>
      </p:sp>
      <p:pic>
        <p:nvPicPr>
          <p:cNvPr id="14" name="图片 13">
            <a:extLst>
              <a:ext uri="{FF2B5EF4-FFF2-40B4-BE49-F238E27FC236}">
                <a16:creationId xmlns:a16="http://schemas.microsoft.com/office/drawing/2014/main" id="{A5FF67C3-C2C8-41F2-B9DE-A1E99416A35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8156"/>
          <a:stretch/>
        </p:blipFill>
        <p:spPr>
          <a:xfrm flipH="1">
            <a:off x="2375427" y="3692064"/>
            <a:ext cx="1332477" cy="2571888"/>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837E8BED-5BAF-4E4B-99A7-C97A4C2967E9}"/>
                  </a:ext>
                </a:extLst>
              </p:cNvPr>
              <p:cNvSpPr txBox="1"/>
              <p:nvPr/>
            </p:nvSpPr>
            <p:spPr>
              <a:xfrm>
                <a:off x="3995936" y="4149080"/>
                <a:ext cx="2702050" cy="596125"/>
              </a:xfrm>
              <a:prstGeom prst="rect">
                <a:avLst/>
              </a:prstGeom>
              <a:noFill/>
            </p:spPr>
            <p:txBody>
              <a:bodyPr wrap="square" rtlCol="0">
                <a:spAutoFit/>
              </a:bodyPr>
              <a:lstStyle/>
              <a:p>
                <a14:m>
                  <m:oMath xmlns:m="http://schemas.openxmlformats.org/officeDocument/2006/math">
                    <m:r>
                      <m:rPr>
                        <m:nor/>
                      </m:rPr>
                      <a:rPr lang="en-US" altLang="zh-CN" sz="2000" spc="150" dirty="0" smtClean="0">
                        <a:solidFill>
                          <a:srgbClr val="000000"/>
                        </a:solidFill>
                        <a:latin typeface="Cambria Math" panose="02040503050406030204" pitchFamily="18" charset="0"/>
                        <a:ea typeface="微软雅黑" panose="020B0503020204020204" pitchFamily="34" charset="-122"/>
                      </a:rPr>
                      <m:t>E</m:t>
                    </m:r>
                    <m:r>
                      <a:rPr lang="en-US" altLang="zh-CN" sz="2000" b="0" i="1" spc="150" baseline="-25000" dirty="0" smtClean="0">
                        <a:solidFill>
                          <a:srgbClr val="000000"/>
                        </a:solidFill>
                        <a:latin typeface="Cambria Math" panose="02040503050406030204" pitchFamily="18" charset="0"/>
                        <a:ea typeface="微软雅黑" panose="020B0503020204020204" pitchFamily="34" charset="-122"/>
                      </a:rPr>
                      <m:t>𝑠</m:t>
                    </m:r>
                    <m:r>
                      <a:rPr lang="en-US" altLang="zh-CN" sz="2000" i="1" spc="150" baseline="-25000" dirty="0">
                        <a:solidFill>
                          <a:srgbClr val="000000"/>
                        </a:solidFill>
                        <a:latin typeface="Cambria Math" panose="02040503050406030204" pitchFamily="18" charset="0"/>
                        <a:ea typeface="微软雅黑" panose="020B0503020204020204" pitchFamily="34" charset="-122"/>
                      </a:rPr>
                      <m:t> </m:t>
                    </m:r>
                  </m:oMath>
                </a14:m>
                <a:r>
                  <a:rPr lang="en-US" altLang="zh-CN" sz="2000" dirty="0">
                    <a:latin typeface="微软雅黑" panose="020B0503020204020204" pitchFamily="34" charset="-122"/>
                    <a:ea typeface="微软雅黑" panose="020B0503020204020204" pitchFamily="34" charset="-122"/>
                  </a:rPr>
                  <a:t>=</a:t>
                </a:r>
                <a14:m>
                  <m:oMath xmlns:m="http://schemas.openxmlformats.org/officeDocument/2006/math">
                    <m:f>
                      <m:fPr>
                        <m:ctrlPr>
                          <a:rPr lang="en-US" altLang="zh-CN" sz="2000" i="1" smtClean="0">
                            <a:latin typeface="Cambria Math" panose="02040503050406030204" pitchFamily="18" charset="0"/>
                            <a:ea typeface="微软雅黑" panose="020B0503020204020204" pitchFamily="34" charset="-122"/>
                          </a:rPr>
                        </m:ctrlPr>
                      </m:fPr>
                      <m:num>
                        <m:r>
                          <a:rPr lang="zh-CN" altLang="en-US" sz="2000" kern="0" dirty="0">
                            <a:latin typeface="Cambria Math" panose="02040503050406030204" pitchFamily="18" charset="0"/>
                          </a:rPr>
                          <m:t>△</m:t>
                        </m:r>
                        <m:sSup>
                          <m:sSupPr>
                            <m:ctrlPr>
                              <a:rPr lang="en-US" altLang="zh-CN" sz="2000" b="0" i="1" kern="0" dirty="0" smtClean="0">
                                <a:latin typeface="Cambria Math" panose="02040503050406030204" pitchFamily="18" charset="0"/>
                              </a:rPr>
                            </m:ctrlPr>
                          </m:sSupPr>
                          <m:e>
                            <m:r>
                              <a:rPr lang="en-US" altLang="zh-CN" sz="2000" b="0" i="1" kern="0" dirty="0" smtClean="0">
                                <a:latin typeface="Cambria Math" panose="02040503050406030204" pitchFamily="18" charset="0"/>
                              </a:rPr>
                              <m:t>𝑄</m:t>
                            </m:r>
                          </m:e>
                          <m:sup>
                            <m:r>
                              <a:rPr lang="en-US" altLang="zh-CN" sz="2000" b="0" i="1" kern="0" dirty="0" smtClean="0">
                                <a:latin typeface="Cambria Math" panose="02040503050406030204" pitchFamily="18" charset="0"/>
                              </a:rPr>
                              <m:t>𝑠</m:t>
                            </m:r>
                          </m:sup>
                        </m:sSup>
                        <m:r>
                          <a:rPr lang="en-US" altLang="zh-CN" sz="2000" b="0" i="1" smtClean="0">
                            <a:latin typeface="Cambria Math" panose="02040503050406030204" pitchFamily="18" charset="0"/>
                            <a:ea typeface="微软雅黑" panose="020B0503020204020204" pitchFamily="34" charset="-122"/>
                          </a:rPr>
                          <m:t>/</m:t>
                        </m:r>
                        <m:sSup>
                          <m:sSupPr>
                            <m:ctrlPr>
                              <a:rPr lang="en-US" altLang="zh-CN" sz="2000" i="1" kern="0" dirty="0">
                                <a:latin typeface="Cambria Math" panose="02040503050406030204" pitchFamily="18" charset="0"/>
                              </a:rPr>
                            </m:ctrlPr>
                          </m:sSupPr>
                          <m:e>
                            <m:r>
                              <a:rPr lang="en-US" altLang="zh-CN" sz="2000" i="1" kern="0" dirty="0">
                                <a:latin typeface="Cambria Math" panose="02040503050406030204" pitchFamily="18" charset="0"/>
                              </a:rPr>
                              <m:t>𝑄</m:t>
                            </m:r>
                          </m:e>
                          <m:sup>
                            <m:r>
                              <a:rPr lang="en-US" altLang="zh-CN" sz="2000" i="1" kern="0" dirty="0">
                                <a:latin typeface="Cambria Math" panose="02040503050406030204" pitchFamily="18" charset="0"/>
                              </a:rPr>
                              <m:t>𝑠</m:t>
                            </m:r>
                          </m:sup>
                        </m:sSup>
                      </m:num>
                      <m:den>
                        <m:r>
                          <a:rPr lang="zh-CN" altLang="en-US" sz="2000" kern="0" dirty="0">
                            <a:latin typeface="Cambria Math" panose="02040503050406030204" pitchFamily="18" charset="0"/>
                          </a:rPr>
                          <m:t>△</m:t>
                        </m:r>
                        <m:r>
                          <a:rPr lang="en-US" altLang="zh-CN" sz="2000" b="0" i="1" kern="0" dirty="0" smtClean="0">
                            <a:latin typeface="Cambria Math" panose="02040503050406030204" pitchFamily="18" charset="0"/>
                          </a:rPr>
                          <m:t>𝑃</m:t>
                        </m:r>
                        <m:r>
                          <a:rPr lang="en-US" altLang="zh-CN" sz="2000" b="0" i="1" smtClean="0">
                            <a:latin typeface="Cambria Math" panose="02040503050406030204" pitchFamily="18" charset="0"/>
                            <a:ea typeface="微软雅黑" panose="020B0503020204020204" pitchFamily="34" charset="-122"/>
                          </a:rPr>
                          <m:t>/</m:t>
                        </m:r>
                        <m:r>
                          <a:rPr lang="en-US" altLang="zh-CN" sz="2000" b="0" i="1" smtClean="0">
                            <a:latin typeface="Cambria Math" panose="02040503050406030204" pitchFamily="18" charset="0"/>
                            <a:ea typeface="微软雅黑" panose="020B0503020204020204" pitchFamily="34" charset="-122"/>
                          </a:rPr>
                          <m:t>𝑃</m:t>
                        </m:r>
                      </m:den>
                    </m:f>
                    <m:r>
                      <m:rPr>
                        <m:nor/>
                      </m:rPr>
                      <a:rPr lang="en-US" altLang="zh-CN" sz="2000" dirty="0">
                        <a:latin typeface="微软雅黑" panose="020B0503020204020204" pitchFamily="34" charset="-122"/>
                        <a:ea typeface="微软雅黑" panose="020B0503020204020204" pitchFamily="34" charset="-122"/>
                      </a:rPr>
                      <m:t>=</m:t>
                    </m:r>
                    <m:f>
                      <m:fPr>
                        <m:ctrlPr>
                          <a:rPr lang="en-US" altLang="zh-CN" sz="2000" i="1" dirty="0" smtClean="0">
                            <a:latin typeface="Cambria Math" panose="02040503050406030204" pitchFamily="18" charset="0"/>
                            <a:ea typeface="微软雅黑" panose="020B0503020204020204" pitchFamily="34" charset="-122"/>
                          </a:rPr>
                        </m:ctrlPr>
                      </m:fPr>
                      <m:num>
                        <m:r>
                          <a:rPr lang="zh-CN" altLang="en-US" sz="2000" kern="0" dirty="0">
                            <a:latin typeface="Cambria Math" panose="02040503050406030204" pitchFamily="18" charset="0"/>
                          </a:rPr>
                          <m:t>△</m:t>
                        </m:r>
                        <m:sSup>
                          <m:sSupPr>
                            <m:ctrlPr>
                              <a:rPr lang="en-US" altLang="zh-CN" sz="2000" i="1" kern="0" dirty="0">
                                <a:latin typeface="Cambria Math" panose="02040503050406030204" pitchFamily="18" charset="0"/>
                              </a:rPr>
                            </m:ctrlPr>
                          </m:sSupPr>
                          <m:e>
                            <m:r>
                              <a:rPr lang="en-US" altLang="zh-CN" sz="2000" i="1" kern="0" dirty="0">
                                <a:latin typeface="Cambria Math" panose="02040503050406030204" pitchFamily="18" charset="0"/>
                              </a:rPr>
                              <m:t>𝑄</m:t>
                            </m:r>
                          </m:e>
                          <m:sup>
                            <m:r>
                              <a:rPr lang="en-US" altLang="zh-CN" sz="2000" b="0" i="1" kern="0" dirty="0" smtClean="0">
                                <a:latin typeface="Cambria Math" panose="02040503050406030204" pitchFamily="18" charset="0"/>
                              </a:rPr>
                              <m:t>𝑠</m:t>
                            </m:r>
                          </m:sup>
                        </m:sSup>
                      </m:num>
                      <m:den>
                        <m:r>
                          <a:rPr lang="zh-CN" altLang="en-US" sz="2000" kern="0" dirty="0">
                            <a:latin typeface="Cambria Math" panose="02040503050406030204" pitchFamily="18" charset="0"/>
                          </a:rPr>
                          <m:t>△</m:t>
                        </m:r>
                        <m:r>
                          <a:rPr lang="en-US" altLang="zh-CN" sz="2000" b="0" i="1" kern="0" dirty="0" smtClean="0">
                            <a:latin typeface="Cambria Math" panose="02040503050406030204" pitchFamily="18" charset="0"/>
                          </a:rPr>
                          <m:t>𝑃</m:t>
                        </m:r>
                      </m:den>
                    </m:f>
                    <m:r>
                      <a:rPr lang="en-US" altLang="zh-CN" sz="2000" i="1" dirty="0">
                        <a:latin typeface="Cambria Math" panose="02040503050406030204" pitchFamily="18" charset="0"/>
                        <a:ea typeface="微软雅黑" panose="020B0503020204020204" pitchFamily="34" charset="-122"/>
                      </a:rPr>
                      <m:t>·</m:t>
                    </m:r>
                    <m:f>
                      <m:fPr>
                        <m:ctrlPr>
                          <a:rPr lang="en-US" altLang="zh-CN" sz="2000" i="1" dirty="0">
                            <a:latin typeface="Cambria Math" panose="02040503050406030204" pitchFamily="18" charset="0"/>
                            <a:ea typeface="微软雅黑" panose="020B0503020204020204" pitchFamily="34" charset="-122"/>
                          </a:rPr>
                        </m:ctrlPr>
                      </m:fPr>
                      <m:num>
                        <m:r>
                          <a:rPr lang="en-US" altLang="zh-CN" sz="2000" b="0" i="1" dirty="0" smtClean="0">
                            <a:latin typeface="Cambria Math" panose="02040503050406030204" pitchFamily="18" charset="0"/>
                            <a:ea typeface="微软雅黑" panose="020B0503020204020204" pitchFamily="34" charset="-122"/>
                          </a:rPr>
                          <m:t>𝑃</m:t>
                        </m:r>
                      </m:num>
                      <m:den>
                        <m:sSup>
                          <m:sSupPr>
                            <m:ctrlPr>
                              <a:rPr lang="en-US" altLang="zh-CN" sz="2000" i="1" kern="0" dirty="0">
                                <a:latin typeface="Cambria Math" panose="02040503050406030204" pitchFamily="18" charset="0"/>
                              </a:rPr>
                            </m:ctrlPr>
                          </m:sSupPr>
                          <m:e>
                            <m:r>
                              <a:rPr lang="en-US" altLang="zh-CN" sz="2000" i="1" kern="0" dirty="0">
                                <a:latin typeface="Cambria Math" panose="02040503050406030204" pitchFamily="18" charset="0"/>
                              </a:rPr>
                              <m:t>𝑄</m:t>
                            </m:r>
                          </m:e>
                          <m:sup>
                            <m:r>
                              <a:rPr lang="en-US" altLang="zh-CN" sz="2000" b="0" i="1" kern="0" dirty="0" smtClean="0">
                                <a:latin typeface="Cambria Math" panose="02040503050406030204" pitchFamily="18" charset="0"/>
                              </a:rPr>
                              <m:t>𝑆</m:t>
                            </m:r>
                          </m:sup>
                        </m:sSup>
                      </m:den>
                    </m:f>
                  </m:oMath>
                </a14:m>
                <a:endParaRPr lang="zh-CN" altLang="en-US" sz="2000" dirty="0">
                  <a:latin typeface="微软雅黑" panose="020B0503020204020204" pitchFamily="34" charset="-122"/>
                  <a:ea typeface="微软雅黑" panose="020B0503020204020204" pitchFamily="34" charset="-122"/>
                </a:endParaRPr>
              </a:p>
            </p:txBody>
          </p:sp>
        </mc:Choice>
        <mc:Fallback xmlns="">
          <p:sp>
            <p:nvSpPr>
              <p:cNvPr id="15" name="文本框 14">
                <a:extLst>
                  <a:ext uri="{FF2B5EF4-FFF2-40B4-BE49-F238E27FC236}">
                    <a16:creationId xmlns:a16="http://schemas.microsoft.com/office/drawing/2014/main" id="{837E8BED-5BAF-4E4B-99A7-C97A4C2967E9}"/>
                  </a:ext>
                </a:extLst>
              </p:cNvPr>
              <p:cNvSpPr txBox="1">
                <a:spLocks noRot="1" noChangeAspect="1" noMove="1" noResize="1" noEditPoints="1" noAdjustHandles="1" noChangeArrowheads="1" noChangeShapeType="1" noTextEdit="1"/>
              </p:cNvSpPr>
              <p:nvPr/>
            </p:nvSpPr>
            <p:spPr>
              <a:xfrm>
                <a:off x="3995936" y="4149080"/>
                <a:ext cx="2702050" cy="596125"/>
              </a:xfrm>
              <a:prstGeom prst="rect">
                <a:avLst/>
              </a:prstGeom>
              <a:blipFill>
                <a:blip r:embed="rId3"/>
                <a:stretch>
                  <a:fillRect b="-1031"/>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52226">
                                            <p:txEl>
                                              <p:pRg st="0" end="0"/>
                                            </p:txEl>
                                          </p:spTgt>
                                        </p:tgtEl>
                                        <p:attrNameLst>
                                          <p:attrName>style.visibility</p:attrName>
                                        </p:attrNameLst>
                                      </p:cBhvr>
                                      <p:to>
                                        <p:strVal val="visible"/>
                                      </p:to>
                                    </p:set>
                                    <p:animEffect transition="in" filter="strips(downRight)">
                                      <p:cBhvr>
                                        <p:cTn id="12" dur="500"/>
                                        <p:tgtEl>
                                          <p:spTgt spid="52226">
                                            <p:txEl>
                                              <p:pRg st="0" end="0"/>
                                            </p:txEl>
                                          </p:spTgt>
                                        </p:tgtEl>
                                      </p:cBhvr>
                                    </p:animEffect>
                                  </p:childTnLst>
                                </p:cTn>
                              </p:par>
                              <p:par>
                                <p:cTn id="13" presetID="18" presetClass="entr" presetSubtype="6" fill="hold" grpId="0" nodeType="withEffect">
                                  <p:stCondLst>
                                    <p:cond delay="0"/>
                                  </p:stCondLst>
                                  <p:childTnLst>
                                    <p:set>
                                      <p:cBhvr>
                                        <p:cTn id="14" dur="1" fill="hold">
                                          <p:stCondLst>
                                            <p:cond delay="0"/>
                                          </p:stCondLst>
                                        </p:cTn>
                                        <p:tgtEl>
                                          <p:spTgt spid="52226">
                                            <p:txEl>
                                              <p:pRg st="1" end="1"/>
                                            </p:txEl>
                                          </p:spTgt>
                                        </p:tgtEl>
                                        <p:attrNameLst>
                                          <p:attrName>style.visibility</p:attrName>
                                        </p:attrNameLst>
                                      </p:cBhvr>
                                      <p:to>
                                        <p:strVal val="visible"/>
                                      </p:to>
                                    </p:set>
                                    <p:animEffect transition="in" filter="strips(downRight)">
                                      <p:cBhvr>
                                        <p:cTn id="15" dur="500"/>
                                        <p:tgtEl>
                                          <p:spTgt spid="52226">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6" fill="hold" grpId="0" nodeType="clickEffect">
                                  <p:stCondLst>
                                    <p:cond delay="0"/>
                                  </p:stCondLst>
                                  <p:childTnLst>
                                    <p:set>
                                      <p:cBhvr>
                                        <p:cTn id="19" dur="1" fill="hold">
                                          <p:stCondLst>
                                            <p:cond delay="0"/>
                                          </p:stCondLst>
                                        </p:cTn>
                                        <p:tgtEl>
                                          <p:spTgt spid="52226">
                                            <p:txEl>
                                              <p:pRg st="3" end="3"/>
                                            </p:txEl>
                                          </p:spTgt>
                                        </p:tgtEl>
                                        <p:attrNameLst>
                                          <p:attrName>style.visibility</p:attrName>
                                        </p:attrNameLst>
                                      </p:cBhvr>
                                      <p:to>
                                        <p:strVal val="visible"/>
                                      </p:to>
                                    </p:set>
                                    <p:animEffect transition="in" filter="strips(downRight)">
                                      <p:cBhvr>
                                        <p:cTn id="20" dur="500"/>
                                        <p:tgtEl>
                                          <p:spTgt spid="52226">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randombar(horizontal)">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p:cTn id="30" dur="500" fill="hold"/>
                                        <p:tgtEl>
                                          <p:spTgt spid="15"/>
                                        </p:tgtEl>
                                        <p:attrNameLst>
                                          <p:attrName>ppt_w</p:attrName>
                                        </p:attrNameLst>
                                      </p:cBhvr>
                                      <p:tavLst>
                                        <p:tav tm="0">
                                          <p:val>
                                            <p:fltVal val="0"/>
                                          </p:val>
                                        </p:tav>
                                        <p:tav tm="100000">
                                          <p:val>
                                            <p:strVal val="#ppt_w"/>
                                          </p:val>
                                        </p:tav>
                                      </p:tavLst>
                                    </p:anim>
                                    <p:anim calcmode="lin" valueType="num">
                                      <p:cBhvr>
                                        <p:cTn id="31" dur="500" fill="hold"/>
                                        <p:tgtEl>
                                          <p:spTgt spid="15"/>
                                        </p:tgtEl>
                                        <p:attrNameLst>
                                          <p:attrName>ppt_h</p:attrName>
                                        </p:attrNameLst>
                                      </p:cBhvr>
                                      <p:tavLst>
                                        <p:tav tm="0">
                                          <p:val>
                                            <p:fltVal val="0"/>
                                          </p:val>
                                        </p:tav>
                                        <p:tav tm="100000">
                                          <p:val>
                                            <p:strVal val="#ppt_h"/>
                                          </p:val>
                                        </p:tav>
                                      </p:tavLst>
                                    </p:anim>
                                    <p:animEffect transition="in" filter="fade">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uiExpand="1" build="p" autoUpdateAnimBg="0"/>
      <p:bldP spid="9" grpId="0" animBg="1"/>
      <p:bldP spid="1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type="body" idx="4294967295"/>
          </p:nvPr>
        </p:nvSpPr>
        <p:spPr>
          <a:xfrm>
            <a:off x="325033" y="1178198"/>
            <a:ext cx="2627063" cy="513759"/>
          </a:xfrm>
        </p:spPr>
        <p:txBody>
          <a:bodyPr/>
          <a:lstStyle/>
          <a:p>
            <a:pPr marL="342900" lvl="2" indent="-342900" eaLnBrk="1" hangingPunct="1">
              <a:lnSpc>
                <a:spcPct val="150000"/>
              </a:lnSpc>
              <a:spcBef>
                <a:spcPct val="0"/>
              </a:spcBef>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供给弹性的分类</a:t>
            </a:r>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p:grpSp>
        <p:nvGrpSpPr>
          <p:cNvPr id="58404" name="组合 90"/>
          <p:cNvGrpSpPr>
            <a:grpSpLocks/>
          </p:cNvGrpSpPr>
          <p:nvPr/>
        </p:nvGrpSpPr>
        <p:grpSpPr bwMode="auto">
          <a:xfrm>
            <a:off x="1309045" y="1939667"/>
            <a:ext cx="2518446" cy="2162372"/>
            <a:chOff x="0" y="0"/>
            <a:chExt cx="1714512" cy="1998116"/>
          </a:xfrm>
        </p:grpSpPr>
        <p:grpSp>
          <p:nvGrpSpPr>
            <p:cNvPr id="58406" name="组合 44"/>
            <p:cNvGrpSpPr>
              <a:grpSpLocks/>
            </p:cNvGrpSpPr>
            <p:nvPr/>
          </p:nvGrpSpPr>
          <p:grpSpPr bwMode="auto">
            <a:xfrm>
              <a:off x="0" y="0"/>
              <a:ext cx="1714512" cy="1783566"/>
              <a:chOff x="0" y="0"/>
              <a:chExt cx="1714512" cy="1783566"/>
            </a:xfrm>
          </p:grpSpPr>
          <p:grpSp>
            <p:nvGrpSpPr>
              <p:cNvPr id="58408" name="组合 26"/>
              <p:cNvGrpSpPr>
                <a:grpSpLocks/>
              </p:cNvGrpSpPr>
              <p:nvPr/>
            </p:nvGrpSpPr>
            <p:grpSpPr bwMode="auto">
              <a:xfrm>
                <a:off x="0" y="0"/>
                <a:ext cx="1714512" cy="1783566"/>
                <a:chOff x="0" y="0"/>
                <a:chExt cx="1714512" cy="1783566"/>
              </a:xfrm>
            </p:grpSpPr>
            <p:grpSp>
              <p:nvGrpSpPr>
                <p:cNvPr id="58410" name="组合 18"/>
                <p:cNvGrpSpPr>
                  <a:grpSpLocks/>
                </p:cNvGrpSpPr>
                <p:nvPr/>
              </p:nvGrpSpPr>
              <p:grpSpPr bwMode="auto">
                <a:xfrm>
                  <a:off x="284958" y="0"/>
                  <a:ext cx="1429554" cy="1429554"/>
                  <a:chOff x="0" y="0"/>
                  <a:chExt cx="1429554" cy="1429554"/>
                </a:xfrm>
              </p:grpSpPr>
              <p:cxnSp>
                <p:nvCxnSpPr>
                  <p:cNvPr id="58417" name="直接箭头连接符 95"/>
                  <p:cNvCxnSpPr>
                    <a:cxnSpLocks noChangeShapeType="1"/>
                  </p:cNvCxnSpPr>
                  <p:nvPr/>
                </p:nvCxnSpPr>
                <p:spPr bwMode="auto">
                  <a:xfrm>
                    <a:off x="794" y="1427062"/>
                    <a:ext cx="1428760" cy="210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8418" name="直接箭头连接符 96"/>
                  <p:cNvCxnSpPr>
                    <a:cxnSpLocks noChangeShapeType="1"/>
                  </p:cNvCxnSpPr>
                  <p:nvPr/>
                </p:nvCxnSpPr>
                <p:spPr bwMode="auto">
                  <a:xfrm rot="5400000" flipH="1" flipV="1">
                    <a:off x="-714567" y="713808"/>
                    <a:ext cx="1429169" cy="1553"/>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8419" name="直接连接符 97"/>
                  <p:cNvCxnSpPr>
                    <a:cxnSpLocks noChangeShapeType="1"/>
                  </p:cNvCxnSpPr>
                  <p:nvPr/>
                </p:nvCxnSpPr>
                <p:spPr bwMode="auto">
                  <a:xfrm rot="5400000">
                    <a:off x="180302" y="819198"/>
                    <a:ext cx="1214161" cy="1553"/>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58420" name="直接连接符 57"/>
                  <p:cNvCxnSpPr>
                    <a:cxnSpLocks noChangeShapeType="1"/>
                  </p:cNvCxnSpPr>
                  <p:nvPr/>
                </p:nvCxnSpPr>
                <p:spPr bwMode="auto">
                  <a:xfrm>
                    <a:off x="794" y="499577"/>
                    <a:ext cx="785818" cy="210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8421" name="直接连接符 99"/>
                  <p:cNvCxnSpPr>
                    <a:cxnSpLocks noChangeShapeType="1"/>
                  </p:cNvCxnSpPr>
                  <p:nvPr/>
                </p:nvCxnSpPr>
                <p:spPr bwMode="auto">
                  <a:xfrm>
                    <a:off x="794" y="927484"/>
                    <a:ext cx="785818" cy="2109"/>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graphicFrame>
              <p:nvGraphicFramePr>
                <p:cNvPr id="58411" name="Object 13"/>
                <p:cNvGraphicFramePr>
                  <a:graphicFrameLocks noChangeAspect="1"/>
                </p:cNvGraphicFramePr>
                <p:nvPr/>
              </p:nvGraphicFramePr>
              <p:xfrm>
                <a:off x="71438" y="1427966"/>
                <a:ext cx="177800" cy="247650"/>
              </p:xfrm>
              <a:graphic>
                <a:graphicData uri="http://schemas.openxmlformats.org/presentationml/2006/ole">
                  <mc:AlternateContent xmlns:mc="http://schemas.openxmlformats.org/markup-compatibility/2006">
                    <mc:Choice xmlns:v="urn:schemas-microsoft-com:vml" Requires="v">
                      <p:oleObj spid="_x0000_s178060" r:id="rId3" imgW="127665" imgH="178731" progId="">
                        <p:embed/>
                      </p:oleObj>
                    </mc:Choice>
                    <mc:Fallback>
                      <p:oleObj r:id="rId3" imgW="127665" imgH="178731" progId="">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8" y="1427966"/>
                              <a:ext cx="1778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412" name="Object 14"/>
                <p:cNvGraphicFramePr>
                  <a:graphicFrameLocks noChangeAspect="1"/>
                </p:cNvGraphicFramePr>
                <p:nvPr>
                  <p:extLst>
                    <p:ext uri="{D42A27DB-BD31-4B8C-83A1-F6EECF244321}">
                      <p14:modId xmlns:p14="http://schemas.microsoft.com/office/powerpoint/2010/main" val="3452742092"/>
                    </p:ext>
                  </p:extLst>
                </p:nvPr>
              </p:nvGraphicFramePr>
              <p:xfrm>
                <a:off x="928694" y="1463954"/>
                <a:ext cx="355600" cy="247650"/>
              </p:xfrm>
              <a:graphic>
                <a:graphicData uri="http://schemas.openxmlformats.org/presentationml/2006/ole">
                  <mc:AlternateContent xmlns:mc="http://schemas.openxmlformats.org/markup-compatibility/2006">
                    <mc:Choice xmlns:v="urn:schemas-microsoft-com:vml" Requires="v">
                      <p:oleObj spid="_x0000_s178061" r:id="rId5" imgW="254885" imgH="178420" progId="">
                        <p:embed/>
                      </p:oleObj>
                    </mc:Choice>
                    <mc:Fallback>
                      <p:oleObj r:id="rId5" imgW="254885" imgH="178420" progId="">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8694" y="1463954"/>
                              <a:ext cx="3556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413" name="Object 15"/>
                <p:cNvGraphicFramePr>
                  <a:graphicFrameLocks noChangeAspect="1"/>
                </p:cNvGraphicFramePr>
                <p:nvPr/>
              </p:nvGraphicFramePr>
              <p:xfrm>
                <a:off x="0" y="785024"/>
                <a:ext cx="247650" cy="247650"/>
              </p:xfrm>
              <a:graphic>
                <a:graphicData uri="http://schemas.openxmlformats.org/presentationml/2006/ole">
                  <mc:AlternateContent xmlns:mc="http://schemas.openxmlformats.org/markup-compatibility/2006">
                    <mc:Choice xmlns:v="urn:schemas-microsoft-com:vml" Requires="v">
                      <p:oleObj spid="_x0000_s178062" r:id="rId7" imgW="178731" imgH="178731" progId="">
                        <p:embed/>
                      </p:oleObj>
                    </mc:Choice>
                    <mc:Fallback>
                      <p:oleObj r:id="rId7" imgW="178731" imgH="178731" progId="">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785024"/>
                              <a:ext cx="24765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414" name="Object 16"/>
                <p:cNvGraphicFramePr>
                  <a:graphicFrameLocks noChangeAspect="1"/>
                </p:cNvGraphicFramePr>
                <p:nvPr/>
              </p:nvGraphicFramePr>
              <p:xfrm>
                <a:off x="0" y="427834"/>
                <a:ext cx="230187" cy="230187"/>
              </p:xfrm>
              <a:graphic>
                <a:graphicData uri="http://schemas.openxmlformats.org/presentationml/2006/ole">
                  <mc:AlternateContent xmlns:mc="http://schemas.openxmlformats.org/markup-compatibility/2006">
                    <mc:Choice xmlns:v="urn:schemas-microsoft-com:vml" Requires="v">
                      <p:oleObj spid="_x0000_s178063" r:id="rId9" imgW="166037" imgH="166037" progId="">
                        <p:embed/>
                      </p:oleObj>
                    </mc:Choice>
                    <mc:Fallback>
                      <p:oleObj r:id="rId9" imgW="166037" imgH="166037" progId="">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427834"/>
                              <a:ext cx="230187"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415" name="Object 17"/>
                <p:cNvGraphicFramePr>
                  <a:graphicFrameLocks noChangeAspect="1"/>
                </p:cNvGraphicFramePr>
                <p:nvPr/>
              </p:nvGraphicFramePr>
              <p:xfrm>
                <a:off x="1500198" y="1499404"/>
                <a:ext cx="212725" cy="284162"/>
              </p:xfrm>
              <a:graphic>
                <a:graphicData uri="http://schemas.openxmlformats.org/presentationml/2006/ole">
                  <mc:AlternateContent xmlns:mc="http://schemas.openxmlformats.org/markup-compatibility/2006">
                    <mc:Choice xmlns:v="urn:schemas-microsoft-com:vml" Requires="v">
                      <p:oleObj spid="_x0000_s178064" r:id="rId11" imgW="153332" imgH="204442" progId="">
                        <p:embed/>
                      </p:oleObj>
                    </mc:Choice>
                    <mc:Fallback>
                      <p:oleObj r:id="rId11" imgW="153332" imgH="204442" progId="">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00198" y="1499404"/>
                              <a:ext cx="212725"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416" name="Object 18"/>
                <p:cNvGraphicFramePr>
                  <a:graphicFrameLocks noChangeAspect="1"/>
                </p:cNvGraphicFramePr>
                <p:nvPr/>
              </p:nvGraphicFramePr>
              <p:xfrm>
                <a:off x="0" y="70644"/>
                <a:ext cx="212725" cy="230187"/>
              </p:xfrm>
              <a:graphic>
                <a:graphicData uri="http://schemas.openxmlformats.org/presentationml/2006/ole">
                  <mc:AlternateContent xmlns:mc="http://schemas.openxmlformats.org/markup-compatibility/2006">
                    <mc:Choice xmlns:v="urn:schemas-microsoft-com:vml" Requires="v">
                      <p:oleObj spid="_x0000_s178065" r:id="rId13" imgW="153332" imgH="166109" progId="">
                        <p:embed/>
                      </p:oleObj>
                    </mc:Choice>
                    <mc:Fallback>
                      <p:oleObj r:id="rId13" imgW="153332" imgH="166109" progId="">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70644"/>
                              <a:ext cx="212725"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58409" name="Object 19"/>
              <p:cNvGraphicFramePr>
                <a:graphicFrameLocks noChangeAspect="1"/>
              </p:cNvGraphicFramePr>
              <p:nvPr/>
            </p:nvGraphicFramePr>
            <p:xfrm>
              <a:off x="1160911" y="62132"/>
              <a:ext cx="194670" cy="246723"/>
            </p:xfrm>
            <a:graphic>
              <a:graphicData uri="http://schemas.openxmlformats.org/presentationml/2006/ole">
                <mc:AlternateContent xmlns:mc="http://schemas.openxmlformats.org/markup-compatibility/2006">
                  <mc:Choice xmlns:v="urn:schemas-microsoft-com:vml" Requires="v">
                    <p:oleObj spid="_x0000_s178066" r:id="rId15" imgW="140493" imgH="178809" progId="">
                      <p:embed/>
                    </p:oleObj>
                  </mc:Choice>
                  <mc:Fallback>
                    <p:oleObj r:id="rId15" imgW="140493" imgH="178809" progId="">
                      <p:embed/>
                      <p:pic>
                        <p:nvPicPr>
                          <p:cNvPr id="0"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60911" y="62132"/>
                            <a:ext cx="194670" cy="246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8407" name="TextBox 85"/>
            <p:cNvSpPr txBox="1">
              <a:spLocks noChangeArrowheads="1"/>
            </p:cNvSpPr>
            <p:nvPr/>
          </p:nvSpPr>
          <p:spPr bwMode="auto">
            <a:xfrm>
              <a:off x="285752" y="1713718"/>
              <a:ext cx="921272" cy="28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dirty="0">
                  <a:solidFill>
                    <a:schemeClr val="tx1"/>
                  </a:solidFill>
                  <a:latin typeface="微软雅黑" panose="020B0503020204020204" pitchFamily="34" charset="-122"/>
                  <a:ea typeface="微软雅黑" panose="020B0503020204020204" pitchFamily="34" charset="-122"/>
                </a:rPr>
                <a:t>(a) </a:t>
              </a:r>
              <a:r>
                <a:rPr lang="zh-CN" altLang="en-US" sz="1400" b="0" dirty="0">
                  <a:solidFill>
                    <a:schemeClr val="tx1"/>
                  </a:solidFill>
                  <a:latin typeface="微软雅黑" panose="020B0503020204020204" pitchFamily="34" charset="-122"/>
                  <a:ea typeface="微软雅黑" panose="020B0503020204020204" pitchFamily="34" charset="-122"/>
                </a:rPr>
                <a:t>完全无弹性</a:t>
              </a:r>
            </a:p>
          </p:txBody>
        </p:sp>
      </p:grpSp>
      <p:grpSp>
        <p:nvGrpSpPr>
          <p:cNvPr id="10" name="组合 9">
            <a:extLst>
              <a:ext uri="{FF2B5EF4-FFF2-40B4-BE49-F238E27FC236}">
                <a16:creationId xmlns:a16="http://schemas.microsoft.com/office/drawing/2014/main" id="{0A1196D7-1B43-4AAC-89D8-54E954AA4DA4}"/>
              </a:ext>
            </a:extLst>
          </p:cNvPr>
          <p:cNvGrpSpPr/>
          <p:nvPr/>
        </p:nvGrpSpPr>
        <p:grpSpPr>
          <a:xfrm>
            <a:off x="4847064" y="1872408"/>
            <a:ext cx="2520642" cy="2277040"/>
            <a:chOff x="4847064" y="1872408"/>
            <a:chExt cx="2520642" cy="2277040"/>
          </a:xfrm>
        </p:grpSpPr>
        <p:grpSp>
          <p:nvGrpSpPr>
            <p:cNvPr id="9" name="组合 8">
              <a:extLst>
                <a:ext uri="{FF2B5EF4-FFF2-40B4-BE49-F238E27FC236}">
                  <a16:creationId xmlns:a16="http://schemas.microsoft.com/office/drawing/2014/main" id="{83CD29DB-A998-4D78-BDA0-1B3A6660D6D1}"/>
                </a:ext>
              </a:extLst>
            </p:cNvPr>
            <p:cNvGrpSpPr/>
            <p:nvPr/>
          </p:nvGrpSpPr>
          <p:grpSpPr>
            <a:xfrm>
              <a:off x="4847064" y="1872408"/>
              <a:ext cx="2520642" cy="2277040"/>
              <a:chOff x="4847064" y="1872408"/>
              <a:chExt cx="2520642" cy="2277040"/>
            </a:xfrm>
          </p:grpSpPr>
          <p:cxnSp>
            <p:nvCxnSpPr>
              <p:cNvPr id="58385" name="直接连接符 15"/>
              <p:cNvCxnSpPr>
                <a:cxnSpLocks noChangeShapeType="1"/>
              </p:cNvCxnSpPr>
              <p:nvPr/>
            </p:nvCxnSpPr>
            <p:spPr bwMode="auto">
              <a:xfrm rot="5400000">
                <a:off x="5990993" y="3241382"/>
                <a:ext cx="465365" cy="25095"/>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nvGrpSpPr>
              <p:cNvPr id="58384" name="组合 125"/>
              <p:cNvGrpSpPr>
                <a:grpSpLocks/>
              </p:cNvGrpSpPr>
              <p:nvPr/>
            </p:nvGrpSpPr>
            <p:grpSpPr bwMode="auto">
              <a:xfrm>
                <a:off x="4847064" y="1872408"/>
                <a:ext cx="2520642" cy="2277040"/>
                <a:chOff x="0" y="-191537"/>
                <a:chExt cx="1714512" cy="2286550"/>
              </a:xfrm>
            </p:grpSpPr>
            <p:grpSp>
              <p:nvGrpSpPr>
                <p:cNvPr id="58388" name="组合 44"/>
                <p:cNvGrpSpPr>
                  <a:grpSpLocks/>
                </p:cNvGrpSpPr>
                <p:nvPr/>
              </p:nvGrpSpPr>
              <p:grpSpPr bwMode="auto">
                <a:xfrm>
                  <a:off x="0" y="-191537"/>
                  <a:ext cx="1714512" cy="1975897"/>
                  <a:chOff x="0" y="-191537"/>
                  <a:chExt cx="1714512" cy="1975897"/>
                </a:xfrm>
              </p:grpSpPr>
              <p:grpSp>
                <p:nvGrpSpPr>
                  <p:cNvPr id="58390" name="组合 26"/>
                  <p:cNvGrpSpPr>
                    <a:grpSpLocks/>
                  </p:cNvGrpSpPr>
                  <p:nvPr/>
                </p:nvGrpSpPr>
                <p:grpSpPr bwMode="auto">
                  <a:xfrm>
                    <a:off x="0" y="-191537"/>
                    <a:ext cx="1714512" cy="1975897"/>
                    <a:chOff x="0" y="-191537"/>
                    <a:chExt cx="1714512" cy="1975897"/>
                  </a:xfrm>
                </p:grpSpPr>
                <p:grpSp>
                  <p:nvGrpSpPr>
                    <p:cNvPr id="58392" name="组合 18"/>
                    <p:cNvGrpSpPr>
                      <a:grpSpLocks/>
                    </p:cNvGrpSpPr>
                    <p:nvPr/>
                  </p:nvGrpSpPr>
                  <p:grpSpPr bwMode="auto">
                    <a:xfrm>
                      <a:off x="276467" y="-191537"/>
                      <a:ext cx="1438045" cy="1620953"/>
                      <a:chOff x="-8491" y="-192331"/>
                      <a:chExt cx="1438045" cy="1620953"/>
                    </a:xfrm>
                  </p:grpSpPr>
                  <p:cxnSp>
                    <p:nvCxnSpPr>
                      <p:cNvPr id="58399" name="直接箭头连接符 29"/>
                      <p:cNvCxnSpPr>
                        <a:cxnSpLocks noChangeShapeType="1"/>
                      </p:cNvCxnSpPr>
                      <p:nvPr/>
                    </p:nvCxnSpPr>
                    <p:spPr bwMode="auto">
                      <a:xfrm>
                        <a:off x="2039" y="1426330"/>
                        <a:ext cx="1427515" cy="2291"/>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8400" name="直接箭头连接符 30"/>
                      <p:cNvCxnSpPr>
                        <a:cxnSpLocks noChangeShapeType="1"/>
                      </p:cNvCxnSpPr>
                      <p:nvPr/>
                    </p:nvCxnSpPr>
                    <p:spPr bwMode="auto">
                      <a:xfrm flipH="1" flipV="1">
                        <a:off x="-8491" y="-192331"/>
                        <a:ext cx="8978" cy="1620953"/>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8401" name="直接连接符 31"/>
                      <p:cNvCxnSpPr>
                        <a:cxnSpLocks noChangeShapeType="1"/>
                      </p:cNvCxnSpPr>
                      <p:nvPr/>
                    </p:nvCxnSpPr>
                    <p:spPr bwMode="auto">
                      <a:xfrm flipH="1">
                        <a:off x="380640" y="294704"/>
                        <a:ext cx="705995" cy="1131626"/>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58402" name="直接连接符 32"/>
                      <p:cNvCxnSpPr>
                        <a:cxnSpLocks noChangeShapeType="1"/>
                      </p:cNvCxnSpPr>
                      <p:nvPr/>
                    </p:nvCxnSpPr>
                    <p:spPr bwMode="auto">
                      <a:xfrm>
                        <a:off x="2039" y="498585"/>
                        <a:ext cx="937195" cy="18326"/>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8403" name="直接连接符 33"/>
                      <p:cNvCxnSpPr>
                        <a:cxnSpLocks noChangeShapeType="1"/>
                      </p:cNvCxnSpPr>
                      <p:nvPr/>
                    </p:nvCxnSpPr>
                    <p:spPr bwMode="auto">
                      <a:xfrm>
                        <a:off x="2039" y="926951"/>
                        <a:ext cx="657898" cy="3207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graphicFrame>
                  <p:nvGraphicFramePr>
                    <p:cNvPr id="58393" name="Object 34"/>
                    <p:cNvGraphicFramePr>
                      <a:graphicFrameLocks noChangeAspect="1"/>
                    </p:cNvGraphicFramePr>
                    <p:nvPr/>
                  </p:nvGraphicFramePr>
                  <p:xfrm>
                    <a:off x="71438" y="1428760"/>
                    <a:ext cx="177800" cy="247650"/>
                  </p:xfrm>
                  <a:graphic>
                    <a:graphicData uri="http://schemas.openxmlformats.org/presentationml/2006/ole">
                      <mc:AlternateContent xmlns:mc="http://schemas.openxmlformats.org/markup-compatibility/2006">
                        <mc:Choice xmlns:v="urn:schemas-microsoft-com:vml" Requires="v">
                          <p:oleObj spid="_x0000_s178067" r:id="rId17" imgW="127665" imgH="178731" progId="">
                            <p:embed/>
                          </p:oleObj>
                        </mc:Choice>
                        <mc:Fallback>
                          <p:oleObj r:id="rId17" imgW="127665" imgH="178731" progId="">
                            <p:embed/>
                            <p:pic>
                              <p:nvPicPr>
                                <p:cNvPr id="0"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8" y="1428760"/>
                                  <a:ext cx="1778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394" name="Object 35"/>
                    <p:cNvGraphicFramePr>
                      <a:graphicFrameLocks noChangeAspect="1"/>
                    </p:cNvGraphicFramePr>
                    <p:nvPr/>
                  </p:nvGraphicFramePr>
                  <p:xfrm>
                    <a:off x="1071570" y="1500198"/>
                    <a:ext cx="355600" cy="247650"/>
                  </p:xfrm>
                  <a:graphic>
                    <a:graphicData uri="http://schemas.openxmlformats.org/presentationml/2006/ole">
                      <mc:AlternateContent xmlns:mc="http://schemas.openxmlformats.org/markup-compatibility/2006">
                        <mc:Choice xmlns:v="urn:schemas-microsoft-com:vml" Requires="v">
                          <p:oleObj spid="_x0000_s178068" r:id="rId18" imgW="254885" imgH="178420" progId="">
                            <p:embed/>
                          </p:oleObj>
                        </mc:Choice>
                        <mc:Fallback>
                          <p:oleObj r:id="rId18" imgW="254885" imgH="178420" progId="">
                            <p:embed/>
                            <p:pic>
                              <p:nvPicPr>
                                <p:cNvPr id="0" name="Object 3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71570" y="1500198"/>
                                  <a:ext cx="3556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395" name="Object 36"/>
                    <p:cNvGraphicFramePr>
                      <a:graphicFrameLocks noChangeAspect="1"/>
                    </p:cNvGraphicFramePr>
                    <p:nvPr/>
                  </p:nvGraphicFramePr>
                  <p:xfrm>
                    <a:off x="0" y="785818"/>
                    <a:ext cx="247650" cy="247650"/>
                  </p:xfrm>
                  <a:graphic>
                    <a:graphicData uri="http://schemas.openxmlformats.org/presentationml/2006/ole">
                      <mc:AlternateContent xmlns:mc="http://schemas.openxmlformats.org/markup-compatibility/2006">
                        <mc:Choice xmlns:v="urn:schemas-microsoft-com:vml" Requires="v">
                          <p:oleObj spid="_x0000_s178069" r:id="rId20" imgW="178731" imgH="178731" progId="">
                            <p:embed/>
                          </p:oleObj>
                        </mc:Choice>
                        <mc:Fallback>
                          <p:oleObj r:id="rId20" imgW="178731" imgH="178731" progId="">
                            <p:embed/>
                            <p:pic>
                              <p:nvPicPr>
                                <p:cNvPr id="0" name="Object 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785818"/>
                                  <a:ext cx="24765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396" name="Object 37"/>
                    <p:cNvGraphicFramePr>
                      <a:graphicFrameLocks noChangeAspect="1"/>
                    </p:cNvGraphicFramePr>
                    <p:nvPr/>
                  </p:nvGraphicFramePr>
                  <p:xfrm>
                    <a:off x="0" y="428628"/>
                    <a:ext cx="230187" cy="230187"/>
                  </p:xfrm>
                  <a:graphic>
                    <a:graphicData uri="http://schemas.openxmlformats.org/presentationml/2006/ole">
                      <mc:AlternateContent xmlns:mc="http://schemas.openxmlformats.org/markup-compatibility/2006">
                        <mc:Choice xmlns:v="urn:schemas-microsoft-com:vml" Requires="v">
                          <p:oleObj spid="_x0000_s178070" r:id="rId21" imgW="166037" imgH="166037" progId="">
                            <p:embed/>
                          </p:oleObj>
                        </mc:Choice>
                        <mc:Fallback>
                          <p:oleObj r:id="rId21" imgW="166037" imgH="166037" progId="">
                            <p:embed/>
                            <p:pic>
                              <p:nvPicPr>
                                <p:cNvPr id="0" name="Object 3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428628"/>
                                  <a:ext cx="230187"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397" name="Object 38"/>
                    <p:cNvGraphicFramePr>
                      <a:graphicFrameLocks noChangeAspect="1"/>
                    </p:cNvGraphicFramePr>
                    <p:nvPr/>
                  </p:nvGraphicFramePr>
                  <p:xfrm>
                    <a:off x="1500198" y="1500198"/>
                    <a:ext cx="212725" cy="284162"/>
                  </p:xfrm>
                  <a:graphic>
                    <a:graphicData uri="http://schemas.openxmlformats.org/presentationml/2006/ole">
                      <mc:AlternateContent xmlns:mc="http://schemas.openxmlformats.org/markup-compatibility/2006">
                        <mc:Choice xmlns:v="urn:schemas-microsoft-com:vml" Requires="v">
                          <p:oleObj spid="_x0000_s178071" r:id="rId22" imgW="153332" imgH="204442" progId="">
                            <p:embed/>
                          </p:oleObj>
                        </mc:Choice>
                        <mc:Fallback>
                          <p:oleObj r:id="rId22" imgW="153332" imgH="204442" progId="">
                            <p:embed/>
                            <p:pic>
                              <p:nvPicPr>
                                <p:cNvPr id="0" name="Object 3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00198" y="1500198"/>
                                  <a:ext cx="212725"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398" name="Object 39"/>
                    <p:cNvGraphicFramePr>
                      <a:graphicFrameLocks noChangeAspect="1"/>
                    </p:cNvGraphicFramePr>
                    <p:nvPr/>
                  </p:nvGraphicFramePr>
                  <p:xfrm>
                    <a:off x="0" y="0"/>
                    <a:ext cx="212725" cy="230187"/>
                  </p:xfrm>
                  <a:graphic>
                    <a:graphicData uri="http://schemas.openxmlformats.org/presentationml/2006/ole">
                      <mc:AlternateContent xmlns:mc="http://schemas.openxmlformats.org/markup-compatibility/2006">
                        <mc:Choice xmlns:v="urn:schemas-microsoft-com:vml" Requires="v">
                          <p:oleObj spid="_x0000_s178072" r:id="rId23" imgW="153332" imgH="166109" progId="">
                            <p:embed/>
                          </p:oleObj>
                        </mc:Choice>
                        <mc:Fallback>
                          <p:oleObj r:id="rId23" imgW="153332" imgH="166109" progId="">
                            <p:embed/>
                            <p:pic>
                              <p:nvPicPr>
                                <p:cNvPr id="0" name="Object 3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212725"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58391" name="Object 40"/>
                  <p:cNvGraphicFramePr>
                    <a:graphicFrameLocks noChangeAspect="1"/>
                  </p:cNvGraphicFramePr>
                  <p:nvPr/>
                </p:nvGraphicFramePr>
                <p:xfrm>
                  <a:off x="1154237" y="147923"/>
                  <a:ext cx="195256" cy="246537"/>
                </p:xfrm>
                <a:graphic>
                  <a:graphicData uri="http://schemas.openxmlformats.org/presentationml/2006/ole">
                    <mc:AlternateContent xmlns:mc="http://schemas.openxmlformats.org/markup-compatibility/2006">
                      <mc:Choice xmlns:v="urn:schemas-microsoft-com:vml" Requires="v">
                        <p:oleObj spid="_x0000_s178073" r:id="rId24" imgW="140493" imgH="178809" progId="">
                          <p:embed/>
                        </p:oleObj>
                      </mc:Choice>
                      <mc:Fallback>
                        <p:oleObj r:id="rId24" imgW="140493" imgH="178809" progId="">
                          <p:embed/>
                          <p:pic>
                            <p:nvPicPr>
                              <p:cNvPr id="0" name="Object 40"/>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154237" y="147923"/>
                                <a:ext cx="195256" cy="246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8389" name="TextBox 19"/>
                <p:cNvSpPr txBox="1">
                  <a:spLocks noChangeArrowheads="1"/>
                </p:cNvSpPr>
                <p:nvPr/>
              </p:nvSpPr>
              <p:spPr bwMode="auto">
                <a:xfrm>
                  <a:off x="440116" y="1785950"/>
                  <a:ext cx="809254" cy="30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dirty="0">
                      <a:solidFill>
                        <a:schemeClr val="tx1"/>
                      </a:solidFill>
                      <a:latin typeface="微软雅黑" panose="020B0503020204020204" pitchFamily="34" charset="-122"/>
                      <a:ea typeface="微软雅黑" panose="020B0503020204020204" pitchFamily="34" charset="-122"/>
                    </a:rPr>
                    <a:t>(b) </a:t>
                  </a:r>
                  <a:r>
                    <a:rPr lang="zh-CN" altLang="en-US" sz="1400" b="0" dirty="0">
                      <a:solidFill>
                        <a:schemeClr val="tx1"/>
                      </a:solidFill>
                      <a:latin typeface="微软雅黑" panose="020B0503020204020204" pitchFamily="34" charset="-122"/>
                      <a:ea typeface="微软雅黑" panose="020B0503020204020204" pitchFamily="34" charset="-122"/>
                    </a:rPr>
                    <a:t>缺乏弹性</a:t>
                  </a:r>
                </a:p>
              </p:txBody>
            </p:sp>
          </p:grpSp>
          <p:cxnSp>
            <p:nvCxnSpPr>
              <p:cNvPr id="58386" name="直接连接符 16"/>
              <p:cNvCxnSpPr>
                <a:cxnSpLocks noChangeShapeType="1"/>
              </p:cNvCxnSpPr>
              <p:nvPr/>
            </p:nvCxnSpPr>
            <p:spPr bwMode="auto">
              <a:xfrm rot="5400000">
                <a:off x="6205435" y="3020113"/>
                <a:ext cx="882825" cy="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graphicFrame>
          <p:nvGraphicFramePr>
            <p:cNvPr id="58387" name="Object 44"/>
            <p:cNvGraphicFramePr>
              <a:graphicFrameLocks noChangeAspect="1"/>
            </p:cNvGraphicFramePr>
            <p:nvPr>
              <p:extLst>
                <p:ext uri="{D42A27DB-BD31-4B8C-83A1-F6EECF244321}">
                  <p14:modId xmlns:p14="http://schemas.microsoft.com/office/powerpoint/2010/main" val="1142171478"/>
                </p:ext>
              </p:extLst>
            </p:nvPr>
          </p:nvGraphicFramePr>
          <p:xfrm>
            <a:off x="5830885" y="3557503"/>
            <a:ext cx="524002" cy="247148"/>
          </p:xfrm>
          <a:graphic>
            <a:graphicData uri="http://schemas.openxmlformats.org/presentationml/2006/ole">
              <mc:AlternateContent xmlns:mc="http://schemas.openxmlformats.org/markup-compatibility/2006">
                <mc:Choice xmlns:v="urn:schemas-microsoft-com:vml" Requires="v">
                  <p:oleObj spid="_x0000_s178074" r:id="rId26" imgW="254885" imgH="178420" progId="">
                    <p:embed/>
                  </p:oleObj>
                </mc:Choice>
                <mc:Fallback>
                  <p:oleObj r:id="rId26" imgW="254885" imgH="178420" progId="">
                    <p:embed/>
                    <p:pic>
                      <p:nvPicPr>
                        <p:cNvPr id="0" name="Object 44"/>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830885" y="3557503"/>
                          <a:ext cx="524002" cy="247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5" name="矩形 54">
            <a:extLst>
              <a:ext uri="{FF2B5EF4-FFF2-40B4-BE49-F238E27FC236}">
                <a16:creationId xmlns:a16="http://schemas.microsoft.com/office/drawing/2014/main" id="{BFFF5AB0-39CE-4C1A-AAC8-1F1C8707E974}"/>
              </a:ext>
            </a:extLst>
          </p:cNvPr>
          <p:cNvSpPr/>
          <p:nvPr/>
        </p:nvSpPr>
        <p:spPr>
          <a:xfrm>
            <a:off x="467544" y="548680"/>
            <a:ext cx="2257349"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四、供给弹性 </a:t>
            </a:r>
          </a:p>
        </p:txBody>
      </p:sp>
      <p:sp>
        <p:nvSpPr>
          <p:cNvPr id="56" name="矩形 55">
            <a:extLst>
              <a:ext uri="{FF2B5EF4-FFF2-40B4-BE49-F238E27FC236}">
                <a16:creationId xmlns:a16="http://schemas.microsoft.com/office/drawing/2014/main" id="{9D9FF776-322A-4B4F-B24B-F8176030D354}"/>
              </a:ext>
            </a:extLst>
          </p:cNvPr>
          <p:cNvSpPr/>
          <p:nvPr/>
        </p:nvSpPr>
        <p:spPr>
          <a:xfrm>
            <a:off x="7261793"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弹性 </a:t>
            </a:r>
          </a:p>
        </p:txBody>
      </p:sp>
      <p:grpSp>
        <p:nvGrpSpPr>
          <p:cNvPr id="57" name="组合 9">
            <a:extLst>
              <a:ext uri="{FF2B5EF4-FFF2-40B4-BE49-F238E27FC236}">
                <a16:creationId xmlns:a16="http://schemas.microsoft.com/office/drawing/2014/main" id="{B93FF72F-7E81-4763-930E-9DD9BE03E8BB}"/>
              </a:ext>
            </a:extLst>
          </p:cNvPr>
          <p:cNvGrpSpPr>
            <a:grpSpLocks/>
          </p:cNvGrpSpPr>
          <p:nvPr/>
        </p:nvGrpSpPr>
        <p:grpSpPr bwMode="auto">
          <a:xfrm>
            <a:off x="796329" y="4436005"/>
            <a:ext cx="3649288" cy="1441267"/>
            <a:chOff x="0" y="0"/>
            <a:chExt cx="4357686" cy="636642"/>
          </a:xfrm>
        </p:grpSpPr>
        <p:sp>
          <p:nvSpPr>
            <p:cNvPr id="58" name="圆角矩形 7">
              <a:extLst>
                <a:ext uri="{FF2B5EF4-FFF2-40B4-BE49-F238E27FC236}">
                  <a16:creationId xmlns:a16="http://schemas.microsoft.com/office/drawing/2014/main" id="{268CA3DA-2D8C-4D69-A88F-7A4BAA580C74}"/>
                </a:ext>
              </a:extLst>
            </p:cNvPr>
            <p:cNvSpPr>
              <a:spLocks noChangeArrowheads="1"/>
            </p:cNvSpPr>
            <p:nvPr/>
          </p:nvSpPr>
          <p:spPr bwMode="auto">
            <a:xfrm>
              <a:off x="0" y="0"/>
              <a:ext cx="4357686" cy="636642"/>
            </a:xfrm>
            <a:prstGeom prst="roundRect">
              <a:avLst>
                <a:gd name="adj" fmla="val 16667"/>
              </a:avLst>
            </a:prstGeom>
            <a:noFill/>
            <a:ln w="9525">
              <a:solidFill>
                <a:srgbClr val="000000"/>
              </a:solidFill>
              <a:round/>
              <a:headEnd/>
              <a:tailEnd/>
            </a:ln>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59" name="TextBox 3">
              <a:extLst>
                <a:ext uri="{FF2B5EF4-FFF2-40B4-BE49-F238E27FC236}">
                  <a16:creationId xmlns:a16="http://schemas.microsoft.com/office/drawing/2014/main" id="{E5EEAE8E-3BB2-447F-9F3E-CEB1DFC9C79A}"/>
                </a:ext>
              </a:extLst>
            </p:cNvPr>
            <p:cNvSpPr txBox="1">
              <a:spLocks noChangeArrowheads="1"/>
            </p:cNvSpPr>
            <p:nvPr/>
          </p:nvSpPr>
          <p:spPr bwMode="auto">
            <a:xfrm>
              <a:off x="38099" y="71448"/>
              <a:ext cx="4319587" cy="420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285750" indent="-28575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供给完全无弹性指，商品价格的任何变动都不会引起商品供给量的改变，供给完全无弹性。</a:t>
              </a:r>
            </a:p>
            <a:p>
              <a:pPr marL="285750" indent="-285750" eaLnBrk="1" hangingPunct="1">
                <a:spcBef>
                  <a:spcPct val="0"/>
                </a:spcBef>
                <a:buFont typeface="Wingdings" panose="05000000000000000000" pitchFamily="2" charset="2"/>
                <a:buChar char="Ø"/>
              </a:pPr>
              <a:endParaRPr lang="zh-CN" altLang="en-US" sz="1800" b="0" spc="150" dirty="0">
                <a:solidFill>
                  <a:srgbClr val="000000"/>
                </a:solidFill>
                <a:latin typeface="微软雅黑" panose="020B0503020204020204" pitchFamily="34" charset="-122"/>
                <a:ea typeface="微软雅黑" panose="020B0503020204020204" pitchFamily="34" charset="-122"/>
              </a:endParaRPr>
            </a:p>
          </p:txBody>
        </p:sp>
      </p:grpSp>
      <p:grpSp>
        <p:nvGrpSpPr>
          <p:cNvPr id="60" name="组合 9">
            <a:extLst>
              <a:ext uri="{FF2B5EF4-FFF2-40B4-BE49-F238E27FC236}">
                <a16:creationId xmlns:a16="http://schemas.microsoft.com/office/drawing/2014/main" id="{AC2047B6-BEF6-4A42-A9D4-0C742B906C62}"/>
              </a:ext>
            </a:extLst>
          </p:cNvPr>
          <p:cNvGrpSpPr>
            <a:grpSpLocks/>
          </p:cNvGrpSpPr>
          <p:nvPr/>
        </p:nvGrpSpPr>
        <p:grpSpPr bwMode="auto">
          <a:xfrm>
            <a:off x="4756237" y="4436005"/>
            <a:ext cx="3505349" cy="1438986"/>
            <a:chOff x="0" y="0"/>
            <a:chExt cx="4357686" cy="905970"/>
          </a:xfrm>
        </p:grpSpPr>
        <p:sp>
          <p:nvSpPr>
            <p:cNvPr id="61" name="圆角矩形 10">
              <a:extLst>
                <a:ext uri="{FF2B5EF4-FFF2-40B4-BE49-F238E27FC236}">
                  <a16:creationId xmlns:a16="http://schemas.microsoft.com/office/drawing/2014/main" id="{248CFE18-4805-41D2-9BE4-190F54B2E19D}"/>
                </a:ext>
              </a:extLst>
            </p:cNvPr>
            <p:cNvSpPr>
              <a:spLocks noChangeArrowheads="1"/>
            </p:cNvSpPr>
            <p:nvPr/>
          </p:nvSpPr>
          <p:spPr bwMode="auto">
            <a:xfrm>
              <a:off x="0" y="0"/>
              <a:ext cx="4357686" cy="905970"/>
            </a:xfrm>
            <a:prstGeom prst="roundRect">
              <a:avLst>
                <a:gd name="adj" fmla="val 16667"/>
              </a:avLst>
            </a:prstGeom>
            <a:noFill/>
            <a:ln w="9525">
              <a:solidFill>
                <a:srgbClr val="000000"/>
              </a:solidFill>
              <a:round/>
              <a:headEnd/>
              <a:tailEnd/>
            </a:ln>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62" name="TextBox 3">
              <a:extLst>
                <a:ext uri="{FF2B5EF4-FFF2-40B4-BE49-F238E27FC236}">
                  <a16:creationId xmlns:a16="http://schemas.microsoft.com/office/drawing/2014/main" id="{21954436-E2C3-4286-8040-95EC6880B6A9}"/>
                </a:ext>
              </a:extLst>
            </p:cNvPr>
            <p:cNvSpPr txBox="1">
              <a:spLocks noChangeArrowheads="1"/>
            </p:cNvSpPr>
            <p:nvPr/>
          </p:nvSpPr>
          <p:spPr bwMode="auto">
            <a:xfrm>
              <a:off x="38099" y="71448"/>
              <a:ext cx="4319587" cy="567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285750" indent="-28575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供给缺乏弹性指，价格变动</a:t>
              </a:r>
              <a:r>
                <a:rPr lang="en-US" altLang="zh-CN" sz="1800" b="0" spc="150" dirty="0">
                  <a:solidFill>
                    <a:srgbClr val="000000"/>
                  </a:solidFill>
                  <a:latin typeface="微软雅黑" panose="020B0503020204020204" pitchFamily="34" charset="-122"/>
                  <a:ea typeface="微软雅黑" panose="020B0503020204020204" pitchFamily="34" charset="-122"/>
                </a:rPr>
                <a:t>1%</a:t>
              </a:r>
              <a:r>
                <a:rPr lang="zh-CN" altLang="en-US" sz="1800" b="0" spc="150" dirty="0">
                  <a:solidFill>
                    <a:srgbClr val="000000"/>
                  </a:solidFill>
                  <a:latin typeface="微软雅黑" panose="020B0503020204020204" pitchFamily="34" charset="-122"/>
                  <a:ea typeface="微软雅黑" panose="020B0503020204020204" pitchFamily="34" charset="-122"/>
                </a:rPr>
                <a:t>，供给量的变动小于</a:t>
              </a:r>
              <a:r>
                <a:rPr lang="en-US" altLang="zh-CN" sz="1800" b="0" spc="150" dirty="0">
                  <a:solidFill>
                    <a:srgbClr val="000000"/>
                  </a:solidFill>
                  <a:latin typeface="微软雅黑" panose="020B0503020204020204" pitchFamily="34" charset="-122"/>
                  <a:ea typeface="微软雅黑" panose="020B0503020204020204" pitchFamily="34" charset="-122"/>
                </a:rPr>
                <a:t>1%</a:t>
              </a:r>
              <a:r>
                <a:rPr lang="zh-CN" altLang="en-US" sz="1800" b="0" spc="150" dirty="0">
                  <a:solidFill>
                    <a:srgbClr val="000000"/>
                  </a:solidFill>
                  <a:latin typeface="微软雅黑" panose="020B0503020204020204" pitchFamily="34" charset="-122"/>
                  <a:ea typeface="微软雅黑" panose="020B0503020204020204" pitchFamily="34" charset="-122"/>
                </a:rPr>
                <a:t>，即相对于价格变动，供给量不敏感。</a:t>
              </a:r>
            </a:p>
          </p:txBody>
        </p:sp>
      </p:grpSp>
      <p:sp>
        <p:nvSpPr>
          <p:cNvPr id="6" name="箭头: 下 5">
            <a:extLst>
              <a:ext uri="{FF2B5EF4-FFF2-40B4-BE49-F238E27FC236}">
                <a16:creationId xmlns:a16="http://schemas.microsoft.com/office/drawing/2014/main" id="{FD5B2C83-5E17-43AC-99D5-63E7ABC5F848}"/>
              </a:ext>
            </a:extLst>
          </p:cNvPr>
          <p:cNvSpPr/>
          <p:nvPr/>
        </p:nvSpPr>
        <p:spPr bwMode="auto">
          <a:xfrm rot="10800000">
            <a:off x="1083884" y="2480305"/>
            <a:ext cx="109404" cy="506730"/>
          </a:xfrm>
          <a:prstGeom prst="downArrow">
            <a:avLst/>
          </a:prstGeom>
          <a:solidFill>
            <a:schemeClr val="accent3">
              <a:lumMod val="50000"/>
            </a:schemeClr>
          </a:solidFill>
          <a:ln>
            <a:noFill/>
          </a:ln>
          <a:effec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68" name="箭头: 下 67">
            <a:extLst>
              <a:ext uri="{FF2B5EF4-FFF2-40B4-BE49-F238E27FC236}">
                <a16:creationId xmlns:a16="http://schemas.microsoft.com/office/drawing/2014/main" id="{88490EA8-F57D-48C4-8522-29D759B07FEC}"/>
              </a:ext>
            </a:extLst>
          </p:cNvPr>
          <p:cNvSpPr/>
          <p:nvPr/>
        </p:nvSpPr>
        <p:spPr bwMode="auto">
          <a:xfrm rot="10800000">
            <a:off x="4646833" y="2525362"/>
            <a:ext cx="109404" cy="506730"/>
          </a:xfrm>
          <a:prstGeom prst="downArrow">
            <a:avLst/>
          </a:prstGeom>
          <a:solidFill>
            <a:schemeClr val="accent3">
              <a:lumMod val="50000"/>
            </a:schemeClr>
          </a:solidFill>
          <a:ln>
            <a:noFill/>
          </a:ln>
          <a:effec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7" name="箭头: 下 6">
            <a:extLst>
              <a:ext uri="{FF2B5EF4-FFF2-40B4-BE49-F238E27FC236}">
                <a16:creationId xmlns:a16="http://schemas.microsoft.com/office/drawing/2014/main" id="{357C6337-E107-4E47-AC6C-E109E8F37426}"/>
              </a:ext>
            </a:extLst>
          </p:cNvPr>
          <p:cNvSpPr/>
          <p:nvPr/>
        </p:nvSpPr>
        <p:spPr bwMode="auto">
          <a:xfrm rot="16200000">
            <a:off x="6306069" y="3349448"/>
            <a:ext cx="97636" cy="977032"/>
          </a:xfrm>
          <a:prstGeom prst="downArrow">
            <a:avLst/>
          </a:prstGeom>
          <a:solidFill>
            <a:schemeClr val="accent3">
              <a:lumMod val="50000"/>
            </a:schemeClr>
          </a:solidFill>
          <a:ln>
            <a:noFill/>
          </a:ln>
          <a:effec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250">
                                            <p:txEl>
                                              <p:pRg st="0" end="0"/>
                                            </p:txEl>
                                          </p:spTgt>
                                        </p:tgtEl>
                                        <p:attrNameLst>
                                          <p:attrName>style.visibility</p:attrName>
                                        </p:attrNameLst>
                                      </p:cBhvr>
                                      <p:to>
                                        <p:strVal val="visible"/>
                                      </p:to>
                                    </p:set>
                                    <p:animEffect transition="in" filter="wipe(left)">
                                      <p:cBhvr>
                                        <p:cTn id="7" dur="500"/>
                                        <p:tgtEl>
                                          <p:spTgt spid="532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8404"/>
                                        </p:tgtEl>
                                        <p:attrNameLst>
                                          <p:attrName>style.visibility</p:attrName>
                                        </p:attrNameLst>
                                      </p:cBhvr>
                                      <p:to>
                                        <p:strVal val="visible"/>
                                      </p:to>
                                    </p:set>
                                    <p:animEffect transition="in" filter="randombar(horizontal)">
                                      <p:cBhvr>
                                        <p:cTn id="12" dur="500"/>
                                        <p:tgtEl>
                                          <p:spTgt spid="5840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randombar(horizont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8"/>
                                        </p:tgtEl>
                                        <p:attrNameLst>
                                          <p:attrName>style.visibility</p:attrName>
                                        </p:attrNameLst>
                                      </p:cBhvr>
                                      <p:to>
                                        <p:strVal val="visible"/>
                                      </p:to>
                                    </p:set>
                                    <p:animEffect transition="in" filter="wipe(down)">
                                      <p:cBhvr>
                                        <p:cTn id="27" dur="500"/>
                                        <p:tgtEl>
                                          <p:spTgt spid="6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wipe(up)">
                                      <p:cBhvr>
                                        <p:cTn id="37" dur="500"/>
                                        <p:tgtEl>
                                          <p:spTgt spid="5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60"/>
                                        </p:tgtEl>
                                        <p:attrNameLst>
                                          <p:attrName>style.visibility</p:attrName>
                                        </p:attrNameLst>
                                      </p:cBhvr>
                                      <p:to>
                                        <p:strVal val="visible"/>
                                      </p:to>
                                    </p:set>
                                    <p:animEffect transition="in" filter="wipe(up)">
                                      <p:cBhvr>
                                        <p:cTn id="42"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build="p"/>
      <p:bldP spid="6" grpId="0" animBg="1"/>
      <p:bldP spid="68" grpId="0" animBg="1"/>
      <p:bldP spid="7"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275" name="组合 91"/>
          <p:cNvGrpSpPr>
            <a:grpSpLocks/>
          </p:cNvGrpSpPr>
          <p:nvPr/>
        </p:nvGrpSpPr>
        <p:grpSpPr bwMode="auto">
          <a:xfrm>
            <a:off x="6202361" y="1863395"/>
            <a:ext cx="1994333" cy="2055023"/>
            <a:chOff x="0" y="0"/>
            <a:chExt cx="1712923" cy="2142961"/>
          </a:xfrm>
        </p:grpSpPr>
        <p:grpSp>
          <p:nvGrpSpPr>
            <p:cNvPr id="59457" name="组合 44"/>
            <p:cNvGrpSpPr>
              <a:grpSpLocks/>
            </p:cNvGrpSpPr>
            <p:nvPr/>
          </p:nvGrpSpPr>
          <p:grpSpPr bwMode="auto">
            <a:xfrm>
              <a:off x="0" y="0"/>
              <a:ext cx="1712923" cy="1784360"/>
              <a:chOff x="0" y="0"/>
              <a:chExt cx="1712923" cy="1784360"/>
            </a:xfrm>
          </p:grpSpPr>
          <p:grpSp>
            <p:nvGrpSpPr>
              <p:cNvPr id="59459" name="组合 26"/>
              <p:cNvGrpSpPr>
                <a:grpSpLocks/>
              </p:cNvGrpSpPr>
              <p:nvPr/>
            </p:nvGrpSpPr>
            <p:grpSpPr bwMode="auto">
              <a:xfrm>
                <a:off x="0" y="0"/>
                <a:ext cx="1712923" cy="1784360"/>
                <a:chOff x="0" y="0"/>
                <a:chExt cx="1712923" cy="1784360"/>
              </a:xfrm>
            </p:grpSpPr>
            <p:grpSp>
              <p:nvGrpSpPr>
                <p:cNvPr id="59461" name="组合 18"/>
                <p:cNvGrpSpPr>
                  <a:grpSpLocks/>
                </p:cNvGrpSpPr>
                <p:nvPr/>
              </p:nvGrpSpPr>
              <p:grpSpPr bwMode="auto">
                <a:xfrm>
                  <a:off x="261938" y="0"/>
                  <a:ext cx="1428762" cy="1430141"/>
                  <a:chOff x="0" y="-1"/>
                  <a:chExt cx="1428762" cy="1430141"/>
                </a:xfrm>
              </p:grpSpPr>
              <p:cxnSp>
                <p:nvCxnSpPr>
                  <p:cNvPr id="59466" name="直接箭头连接符 109"/>
                  <p:cNvCxnSpPr>
                    <a:cxnSpLocks noChangeShapeType="1"/>
                  </p:cNvCxnSpPr>
                  <p:nvPr/>
                </p:nvCxnSpPr>
                <p:spPr bwMode="auto">
                  <a:xfrm>
                    <a:off x="0" y="1419573"/>
                    <a:ext cx="1428762" cy="192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9467" name="直接箭头连接符 110"/>
                  <p:cNvCxnSpPr>
                    <a:cxnSpLocks noChangeShapeType="1"/>
                  </p:cNvCxnSpPr>
                  <p:nvPr/>
                </p:nvCxnSpPr>
                <p:spPr bwMode="auto">
                  <a:xfrm rot="5400000" flipH="1" flipV="1">
                    <a:off x="-714276" y="714276"/>
                    <a:ext cx="1430141"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9468" name="直接连接符 111"/>
                  <p:cNvCxnSpPr>
                    <a:cxnSpLocks noChangeShapeType="1"/>
                  </p:cNvCxnSpPr>
                  <p:nvPr/>
                </p:nvCxnSpPr>
                <p:spPr bwMode="auto">
                  <a:xfrm rot="10800000">
                    <a:off x="23814" y="954068"/>
                    <a:ext cx="1357323" cy="0"/>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pSp>
            <p:graphicFrame>
              <p:nvGraphicFramePr>
                <p:cNvPr id="59462" name="Object 10"/>
                <p:cNvGraphicFramePr>
                  <a:graphicFrameLocks noChangeAspect="1"/>
                </p:cNvGraphicFramePr>
                <p:nvPr/>
              </p:nvGraphicFramePr>
              <p:xfrm>
                <a:off x="71438" y="1428760"/>
                <a:ext cx="177800" cy="247650"/>
              </p:xfrm>
              <a:graphic>
                <a:graphicData uri="http://schemas.openxmlformats.org/presentationml/2006/ole">
                  <mc:AlternateContent xmlns:mc="http://schemas.openxmlformats.org/markup-compatibility/2006">
                    <mc:Choice xmlns:v="urn:schemas-microsoft-com:vml" Requires="v">
                      <p:oleObj spid="_x0000_s186228" r:id="rId3" imgW="127665" imgH="178731" progId="">
                        <p:embed/>
                      </p:oleObj>
                    </mc:Choice>
                    <mc:Fallback>
                      <p:oleObj r:id="rId3" imgW="127665" imgH="178731" progId="">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8" y="1428760"/>
                              <a:ext cx="1778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463" name="Object 11"/>
                <p:cNvGraphicFramePr>
                  <a:graphicFrameLocks noChangeAspect="1"/>
                </p:cNvGraphicFramePr>
                <p:nvPr/>
              </p:nvGraphicFramePr>
              <p:xfrm>
                <a:off x="0" y="785818"/>
                <a:ext cx="247650" cy="247650"/>
              </p:xfrm>
              <a:graphic>
                <a:graphicData uri="http://schemas.openxmlformats.org/presentationml/2006/ole">
                  <mc:AlternateContent xmlns:mc="http://schemas.openxmlformats.org/markup-compatibility/2006">
                    <mc:Choice xmlns:v="urn:schemas-microsoft-com:vml" Requires="v">
                      <p:oleObj spid="_x0000_s186229" r:id="rId5" imgW="178731" imgH="178731" progId="">
                        <p:embed/>
                      </p:oleObj>
                    </mc:Choice>
                    <mc:Fallback>
                      <p:oleObj r:id="rId5" imgW="178731" imgH="178731" progId="">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785818"/>
                              <a:ext cx="24765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464" name="Object 12"/>
                <p:cNvGraphicFramePr>
                  <a:graphicFrameLocks noChangeAspect="1"/>
                </p:cNvGraphicFramePr>
                <p:nvPr/>
              </p:nvGraphicFramePr>
              <p:xfrm>
                <a:off x="1500198" y="1500198"/>
                <a:ext cx="212725" cy="284162"/>
              </p:xfrm>
              <a:graphic>
                <a:graphicData uri="http://schemas.openxmlformats.org/presentationml/2006/ole">
                  <mc:AlternateContent xmlns:mc="http://schemas.openxmlformats.org/markup-compatibility/2006">
                    <mc:Choice xmlns:v="urn:schemas-microsoft-com:vml" Requires="v">
                      <p:oleObj spid="_x0000_s186230" r:id="rId7" imgW="153332" imgH="204442" progId="">
                        <p:embed/>
                      </p:oleObj>
                    </mc:Choice>
                    <mc:Fallback>
                      <p:oleObj r:id="rId7" imgW="153332" imgH="204442" progId="">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00198" y="1500198"/>
                              <a:ext cx="212725"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465" name="Object 13"/>
                <p:cNvGraphicFramePr>
                  <a:graphicFrameLocks noChangeAspect="1"/>
                </p:cNvGraphicFramePr>
                <p:nvPr/>
              </p:nvGraphicFramePr>
              <p:xfrm>
                <a:off x="0" y="0"/>
                <a:ext cx="212725" cy="230187"/>
              </p:xfrm>
              <a:graphic>
                <a:graphicData uri="http://schemas.openxmlformats.org/presentationml/2006/ole">
                  <mc:AlternateContent xmlns:mc="http://schemas.openxmlformats.org/markup-compatibility/2006">
                    <mc:Choice xmlns:v="urn:schemas-microsoft-com:vml" Requires="v">
                      <p:oleObj spid="_x0000_s186231" r:id="rId9" imgW="153332" imgH="166109" progId="">
                        <p:embed/>
                      </p:oleObj>
                    </mc:Choice>
                    <mc:Fallback>
                      <p:oleObj r:id="rId9" imgW="153332" imgH="166109" progId="">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212725"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59460" name="Object 14"/>
              <p:cNvGraphicFramePr>
                <a:graphicFrameLocks noChangeAspect="1"/>
              </p:cNvGraphicFramePr>
              <p:nvPr/>
            </p:nvGraphicFramePr>
            <p:xfrm>
              <a:off x="1516324" y="635208"/>
              <a:ext cx="196046" cy="248491"/>
            </p:xfrm>
            <a:graphic>
              <a:graphicData uri="http://schemas.openxmlformats.org/presentationml/2006/ole">
                <mc:AlternateContent xmlns:mc="http://schemas.openxmlformats.org/markup-compatibility/2006">
                  <mc:Choice xmlns:v="urn:schemas-microsoft-com:vml" Requires="v">
                    <p:oleObj spid="_x0000_s186232" r:id="rId11" imgW="140493" imgH="178809" progId="">
                      <p:embed/>
                    </p:oleObj>
                  </mc:Choice>
                  <mc:Fallback>
                    <p:oleObj r:id="rId11" imgW="140493" imgH="178809" progId="">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16324" y="635208"/>
                            <a:ext cx="196046" cy="248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9458" name="TextBox 101"/>
            <p:cNvSpPr txBox="1">
              <a:spLocks noChangeArrowheads="1"/>
            </p:cNvSpPr>
            <p:nvPr/>
          </p:nvSpPr>
          <p:spPr bwMode="auto">
            <a:xfrm>
              <a:off x="285752" y="1822014"/>
              <a:ext cx="1010855" cy="320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dirty="0">
                  <a:solidFill>
                    <a:schemeClr val="tx1"/>
                  </a:solidFill>
                  <a:latin typeface="微软雅黑" panose="020B0503020204020204" pitchFamily="34" charset="-122"/>
                  <a:ea typeface="微软雅黑" panose="020B0503020204020204" pitchFamily="34" charset="-122"/>
                </a:rPr>
                <a:t>(e) </a:t>
              </a:r>
              <a:r>
                <a:rPr lang="zh-CN" altLang="en-US" sz="1400" b="0" dirty="0">
                  <a:solidFill>
                    <a:schemeClr val="tx1"/>
                  </a:solidFill>
                  <a:latin typeface="微软雅黑" panose="020B0503020204020204" pitchFamily="34" charset="-122"/>
                  <a:ea typeface="微软雅黑" panose="020B0503020204020204" pitchFamily="34" charset="-122"/>
                </a:rPr>
                <a:t>无限弹性</a:t>
              </a:r>
            </a:p>
          </p:txBody>
        </p:sp>
      </p:grpSp>
      <p:grpSp>
        <p:nvGrpSpPr>
          <p:cNvPr id="59433" name="组合 215"/>
          <p:cNvGrpSpPr>
            <a:grpSpLocks/>
          </p:cNvGrpSpPr>
          <p:nvPr/>
        </p:nvGrpSpPr>
        <p:grpSpPr bwMode="auto">
          <a:xfrm>
            <a:off x="3300179" y="1816331"/>
            <a:ext cx="2633109" cy="2112169"/>
            <a:chOff x="0" y="0"/>
            <a:chExt cx="2125863" cy="2174204"/>
          </a:xfrm>
        </p:grpSpPr>
        <p:cxnSp>
          <p:nvCxnSpPr>
            <p:cNvPr id="59436" name="直接连接符 37"/>
            <p:cNvCxnSpPr>
              <a:cxnSpLocks noChangeShapeType="1"/>
            </p:cNvCxnSpPr>
            <p:nvPr/>
          </p:nvCxnSpPr>
          <p:spPr bwMode="auto">
            <a:xfrm rot="5400000">
              <a:off x="399320" y="1222505"/>
              <a:ext cx="458126" cy="1492"/>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nvGrpSpPr>
            <p:cNvPr id="59437" name="组合 214"/>
            <p:cNvGrpSpPr>
              <a:grpSpLocks/>
            </p:cNvGrpSpPr>
            <p:nvPr/>
          </p:nvGrpSpPr>
          <p:grpSpPr bwMode="auto">
            <a:xfrm>
              <a:off x="0" y="0"/>
              <a:ext cx="2125863" cy="2174204"/>
              <a:chOff x="0" y="0"/>
              <a:chExt cx="2125863" cy="2174204"/>
            </a:xfrm>
          </p:grpSpPr>
          <p:grpSp>
            <p:nvGrpSpPr>
              <p:cNvPr id="59438" name="组合 142"/>
              <p:cNvGrpSpPr>
                <a:grpSpLocks/>
              </p:cNvGrpSpPr>
              <p:nvPr/>
            </p:nvGrpSpPr>
            <p:grpSpPr bwMode="auto">
              <a:xfrm>
                <a:off x="0" y="0"/>
                <a:ext cx="2125863" cy="2174204"/>
                <a:chOff x="0" y="0"/>
                <a:chExt cx="2125863" cy="2174204"/>
              </a:xfrm>
            </p:grpSpPr>
            <p:grpSp>
              <p:nvGrpSpPr>
                <p:cNvPr id="59441" name="组合 44"/>
                <p:cNvGrpSpPr>
                  <a:grpSpLocks/>
                </p:cNvGrpSpPr>
                <p:nvPr/>
              </p:nvGrpSpPr>
              <p:grpSpPr bwMode="auto">
                <a:xfrm>
                  <a:off x="0" y="0"/>
                  <a:ext cx="2125863" cy="1813865"/>
                  <a:chOff x="0" y="0"/>
                  <a:chExt cx="2125863" cy="1813865"/>
                </a:xfrm>
              </p:grpSpPr>
              <p:grpSp>
                <p:nvGrpSpPr>
                  <p:cNvPr id="59443" name="组合 26"/>
                  <p:cNvGrpSpPr>
                    <a:grpSpLocks/>
                  </p:cNvGrpSpPr>
                  <p:nvPr/>
                </p:nvGrpSpPr>
                <p:grpSpPr bwMode="auto">
                  <a:xfrm>
                    <a:off x="0" y="0"/>
                    <a:ext cx="2125863" cy="1813865"/>
                    <a:chOff x="0" y="0"/>
                    <a:chExt cx="2125863" cy="1813865"/>
                  </a:xfrm>
                </p:grpSpPr>
                <p:grpSp>
                  <p:nvGrpSpPr>
                    <p:cNvPr id="59445" name="组合 18"/>
                    <p:cNvGrpSpPr>
                      <a:grpSpLocks/>
                    </p:cNvGrpSpPr>
                    <p:nvPr/>
                  </p:nvGrpSpPr>
                  <p:grpSpPr bwMode="auto">
                    <a:xfrm>
                      <a:off x="284958" y="794"/>
                      <a:ext cx="1788781" cy="1452423"/>
                      <a:chOff x="0" y="0"/>
                      <a:chExt cx="1788781" cy="1452423"/>
                    </a:xfrm>
                  </p:grpSpPr>
                  <p:cxnSp>
                    <p:nvCxnSpPr>
                      <p:cNvPr id="59452" name="直接箭头连接符 53"/>
                      <p:cNvCxnSpPr>
                        <a:cxnSpLocks noChangeShapeType="1"/>
                      </p:cNvCxnSpPr>
                      <p:nvPr/>
                    </p:nvCxnSpPr>
                    <p:spPr bwMode="auto">
                      <a:xfrm>
                        <a:off x="952" y="1426809"/>
                        <a:ext cx="1787723" cy="24713"/>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9453" name="直接箭头连接符 54"/>
                      <p:cNvCxnSpPr>
                        <a:cxnSpLocks noChangeShapeType="1"/>
                      </p:cNvCxnSpPr>
                      <p:nvPr/>
                    </p:nvCxnSpPr>
                    <p:spPr bwMode="auto">
                      <a:xfrm rot="5400000" flipH="1" flipV="1">
                        <a:off x="-714545" y="713212"/>
                        <a:ext cx="1429504" cy="1492"/>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9454" name="直接连接符 55"/>
                      <p:cNvCxnSpPr>
                        <a:cxnSpLocks noChangeShapeType="1"/>
                      </p:cNvCxnSpPr>
                      <p:nvPr/>
                    </p:nvCxnSpPr>
                    <p:spPr bwMode="auto">
                      <a:xfrm flipV="1">
                        <a:off x="21844" y="457331"/>
                        <a:ext cx="1605668" cy="587390"/>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59455" name="直接连接符 56"/>
                      <p:cNvCxnSpPr>
                        <a:cxnSpLocks noChangeShapeType="1"/>
                      </p:cNvCxnSpPr>
                      <p:nvPr/>
                    </p:nvCxnSpPr>
                    <p:spPr bwMode="auto">
                      <a:xfrm>
                        <a:off x="952" y="499152"/>
                        <a:ext cx="1386307" cy="3421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9456" name="直接连接符 57"/>
                      <p:cNvCxnSpPr>
                        <a:cxnSpLocks noChangeShapeType="1"/>
                      </p:cNvCxnSpPr>
                      <p:nvPr/>
                    </p:nvCxnSpPr>
                    <p:spPr bwMode="auto">
                      <a:xfrm flipV="1">
                        <a:off x="952" y="915457"/>
                        <a:ext cx="341727" cy="11406"/>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graphicFrame>
                  <p:nvGraphicFramePr>
                    <p:cNvPr id="59446" name="Object 29"/>
                    <p:cNvGraphicFramePr>
                      <a:graphicFrameLocks noChangeAspect="1"/>
                    </p:cNvGraphicFramePr>
                    <p:nvPr/>
                  </p:nvGraphicFramePr>
                  <p:xfrm>
                    <a:off x="71438" y="1428760"/>
                    <a:ext cx="177800" cy="247650"/>
                  </p:xfrm>
                  <a:graphic>
                    <a:graphicData uri="http://schemas.openxmlformats.org/presentationml/2006/ole">
                      <mc:AlternateContent xmlns:mc="http://schemas.openxmlformats.org/markup-compatibility/2006">
                        <mc:Choice xmlns:v="urn:schemas-microsoft-com:vml" Requires="v">
                          <p:oleObj spid="_x0000_s186233" r:id="rId13" imgW="127665" imgH="178731" progId="">
                            <p:embed/>
                          </p:oleObj>
                        </mc:Choice>
                        <mc:Fallback>
                          <p:oleObj r:id="rId13" imgW="127665" imgH="178731" progId="">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8" y="1428760"/>
                                  <a:ext cx="1778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447" name="Object 30"/>
                    <p:cNvGraphicFramePr>
                      <a:graphicFrameLocks noChangeAspect="1"/>
                    </p:cNvGraphicFramePr>
                    <p:nvPr/>
                  </p:nvGraphicFramePr>
                  <p:xfrm>
                    <a:off x="1431334" y="1529703"/>
                    <a:ext cx="355600" cy="247650"/>
                  </p:xfrm>
                  <a:graphic>
                    <a:graphicData uri="http://schemas.openxmlformats.org/presentationml/2006/ole">
                      <mc:AlternateContent xmlns:mc="http://schemas.openxmlformats.org/markup-compatibility/2006">
                        <mc:Choice xmlns:v="urn:schemas-microsoft-com:vml" Requires="v">
                          <p:oleObj spid="_x0000_s186234" r:id="rId14" imgW="254885" imgH="178420" progId="">
                            <p:embed/>
                          </p:oleObj>
                        </mc:Choice>
                        <mc:Fallback>
                          <p:oleObj r:id="rId14" imgW="254885" imgH="178420" progId="">
                            <p:embed/>
                            <p:pic>
                              <p:nvPicPr>
                                <p:cNvPr id="0" name="Object 3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31334" y="1529703"/>
                                  <a:ext cx="3556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448" name="Object 31"/>
                    <p:cNvGraphicFramePr>
                      <a:graphicFrameLocks noChangeAspect="1"/>
                    </p:cNvGraphicFramePr>
                    <p:nvPr/>
                  </p:nvGraphicFramePr>
                  <p:xfrm>
                    <a:off x="0" y="785818"/>
                    <a:ext cx="247650" cy="247650"/>
                  </p:xfrm>
                  <a:graphic>
                    <a:graphicData uri="http://schemas.openxmlformats.org/presentationml/2006/ole">
                      <mc:AlternateContent xmlns:mc="http://schemas.openxmlformats.org/markup-compatibility/2006">
                        <mc:Choice xmlns:v="urn:schemas-microsoft-com:vml" Requires="v">
                          <p:oleObj spid="_x0000_s186235" r:id="rId16" imgW="178731" imgH="178731" progId="">
                            <p:embed/>
                          </p:oleObj>
                        </mc:Choice>
                        <mc:Fallback>
                          <p:oleObj r:id="rId16" imgW="178731" imgH="178731" progId="">
                            <p:embed/>
                            <p:pic>
                              <p:nvPicPr>
                                <p:cNvPr id="0" name="Object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785818"/>
                                  <a:ext cx="24765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449" name="Object 32"/>
                    <p:cNvGraphicFramePr>
                      <a:graphicFrameLocks noChangeAspect="1"/>
                    </p:cNvGraphicFramePr>
                    <p:nvPr/>
                  </p:nvGraphicFramePr>
                  <p:xfrm>
                    <a:off x="0" y="428628"/>
                    <a:ext cx="230187" cy="230187"/>
                  </p:xfrm>
                  <a:graphic>
                    <a:graphicData uri="http://schemas.openxmlformats.org/presentationml/2006/ole">
                      <mc:AlternateContent xmlns:mc="http://schemas.openxmlformats.org/markup-compatibility/2006">
                        <mc:Choice xmlns:v="urn:schemas-microsoft-com:vml" Requires="v">
                          <p:oleObj spid="_x0000_s186236" r:id="rId17" imgW="166037" imgH="166037" progId="">
                            <p:embed/>
                          </p:oleObj>
                        </mc:Choice>
                        <mc:Fallback>
                          <p:oleObj r:id="rId17" imgW="166037" imgH="166037" progId="">
                            <p:embed/>
                            <p:pic>
                              <p:nvPicPr>
                                <p:cNvPr id="0" name="Object 3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428628"/>
                                  <a:ext cx="230187"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450" name="Object 33"/>
                    <p:cNvGraphicFramePr>
                      <a:graphicFrameLocks noChangeAspect="1"/>
                    </p:cNvGraphicFramePr>
                    <p:nvPr/>
                  </p:nvGraphicFramePr>
                  <p:xfrm>
                    <a:off x="1913138" y="1529703"/>
                    <a:ext cx="212725" cy="284162"/>
                  </p:xfrm>
                  <a:graphic>
                    <a:graphicData uri="http://schemas.openxmlformats.org/presentationml/2006/ole">
                      <mc:AlternateContent xmlns:mc="http://schemas.openxmlformats.org/markup-compatibility/2006">
                        <mc:Choice xmlns:v="urn:schemas-microsoft-com:vml" Requires="v">
                          <p:oleObj spid="_x0000_s186237" r:id="rId19" imgW="153332" imgH="204442" progId="">
                            <p:embed/>
                          </p:oleObj>
                        </mc:Choice>
                        <mc:Fallback>
                          <p:oleObj r:id="rId19" imgW="153332" imgH="204442" progId="">
                            <p:embed/>
                            <p:pic>
                              <p:nvPicPr>
                                <p:cNvPr id="0"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13138" y="1529703"/>
                                  <a:ext cx="212725"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451" name="Object 34"/>
                    <p:cNvGraphicFramePr>
                      <a:graphicFrameLocks noChangeAspect="1"/>
                    </p:cNvGraphicFramePr>
                    <p:nvPr/>
                  </p:nvGraphicFramePr>
                  <p:xfrm>
                    <a:off x="0" y="0"/>
                    <a:ext cx="212725" cy="230187"/>
                  </p:xfrm>
                  <a:graphic>
                    <a:graphicData uri="http://schemas.openxmlformats.org/presentationml/2006/ole">
                      <mc:AlternateContent xmlns:mc="http://schemas.openxmlformats.org/markup-compatibility/2006">
                        <mc:Choice xmlns:v="urn:schemas-microsoft-com:vml" Requires="v">
                          <p:oleObj spid="_x0000_s186238" r:id="rId20" imgW="153332" imgH="166109" progId="">
                            <p:embed/>
                          </p:oleObj>
                        </mc:Choice>
                        <mc:Fallback>
                          <p:oleObj r:id="rId20" imgW="153332" imgH="166109" progId="">
                            <p:embed/>
                            <p:pic>
                              <p:nvPicPr>
                                <p:cNvPr id="0" name="Object 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212725"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59444" name="Object 35"/>
                  <p:cNvGraphicFramePr>
                    <a:graphicFrameLocks noChangeAspect="1"/>
                  </p:cNvGraphicFramePr>
                  <p:nvPr/>
                </p:nvGraphicFramePr>
                <p:xfrm>
                  <a:off x="1338347" y="171103"/>
                  <a:ext cx="194506" cy="246450"/>
                </p:xfrm>
                <a:graphic>
                  <a:graphicData uri="http://schemas.openxmlformats.org/presentationml/2006/ole">
                    <mc:AlternateContent xmlns:mc="http://schemas.openxmlformats.org/markup-compatibility/2006">
                      <mc:Choice xmlns:v="urn:schemas-microsoft-com:vml" Requires="v">
                        <p:oleObj spid="_x0000_s186239" r:id="rId21" imgW="140493" imgH="178809" progId="">
                          <p:embed/>
                        </p:oleObj>
                      </mc:Choice>
                      <mc:Fallback>
                        <p:oleObj r:id="rId21" imgW="140493" imgH="178809" progId="">
                          <p:embed/>
                          <p:pic>
                            <p:nvPicPr>
                              <p:cNvPr id="0" name="Object 3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338347" y="171103"/>
                                <a:ext cx="194506" cy="24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9442" name="TextBox 43"/>
                <p:cNvSpPr txBox="1">
                  <a:spLocks noChangeArrowheads="1"/>
                </p:cNvSpPr>
                <p:nvPr/>
              </p:nvSpPr>
              <p:spPr bwMode="auto">
                <a:xfrm>
                  <a:off x="357190" y="1857388"/>
                  <a:ext cx="960554" cy="316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dirty="0">
                      <a:solidFill>
                        <a:schemeClr val="tx1"/>
                      </a:solidFill>
                      <a:latin typeface="微软雅黑" panose="020B0503020204020204" pitchFamily="34" charset="-122"/>
                      <a:ea typeface="微软雅黑" panose="020B0503020204020204" pitchFamily="34" charset="-122"/>
                    </a:rPr>
                    <a:t>(d) </a:t>
                  </a:r>
                  <a:r>
                    <a:rPr lang="zh-CN" altLang="en-US" sz="1400" b="0" dirty="0">
                      <a:solidFill>
                        <a:schemeClr val="tx1"/>
                      </a:solidFill>
                      <a:latin typeface="微软雅黑" panose="020B0503020204020204" pitchFamily="34" charset="-122"/>
                      <a:ea typeface="微软雅黑" panose="020B0503020204020204" pitchFamily="34" charset="-122"/>
                    </a:rPr>
                    <a:t>富有弹性</a:t>
                  </a:r>
                </a:p>
              </p:txBody>
            </p:sp>
          </p:grpSp>
          <p:cxnSp>
            <p:nvCxnSpPr>
              <p:cNvPr id="59439" name="直接连接符 40"/>
              <p:cNvCxnSpPr>
                <a:cxnSpLocks noChangeShapeType="1"/>
              </p:cNvCxnSpPr>
              <p:nvPr/>
            </p:nvCxnSpPr>
            <p:spPr bwMode="auto">
              <a:xfrm rot="16200000" flipH="1">
                <a:off x="1246401" y="961867"/>
                <a:ext cx="851619" cy="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59440" name="Object 38"/>
              <p:cNvGraphicFramePr>
                <a:graphicFrameLocks noChangeAspect="1"/>
              </p:cNvGraphicFramePr>
              <p:nvPr/>
            </p:nvGraphicFramePr>
            <p:xfrm>
              <a:off x="597987" y="1500792"/>
              <a:ext cx="356891" cy="248150"/>
            </p:xfrm>
            <a:graphic>
              <a:graphicData uri="http://schemas.openxmlformats.org/presentationml/2006/ole">
                <mc:AlternateContent xmlns:mc="http://schemas.openxmlformats.org/markup-compatibility/2006">
                  <mc:Choice xmlns:v="urn:schemas-microsoft-com:vml" Requires="v">
                    <p:oleObj spid="_x0000_s186240" r:id="rId23" imgW="254885" imgH="178420" progId="">
                      <p:embed/>
                    </p:oleObj>
                  </mc:Choice>
                  <mc:Fallback>
                    <p:oleObj r:id="rId23" imgW="254885" imgH="178420" progId="">
                      <p:embed/>
                      <p:pic>
                        <p:nvPicPr>
                          <p:cNvPr id="0" name="Object 3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97987" y="1500792"/>
                            <a:ext cx="356891" cy="24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54313" name="组合 145"/>
          <p:cNvGrpSpPr>
            <a:grpSpLocks/>
          </p:cNvGrpSpPr>
          <p:nvPr/>
        </p:nvGrpSpPr>
        <p:grpSpPr bwMode="auto">
          <a:xfrm>
            <a:off x="917461" y="1975106"/>
            <a:ext cx="2241673" cy="1899700"/>
            <a:chOff x="70883" y="0"/>
            <a:chExt cx="1784176" cy="1904048"/>
          </a:xfrm>
        </p:grpSpPr>
        <p:grpSp>
          <p:nvGrpSpPr>
            <p:cNvPr id="59408" name="组合 204"/>
            <p:cNvGrpSpPr>
              <a:grpSpLocks/>
            </p:cNvGrpSpPr>
            <p:nvPr/>
          </p:nvGrpSpPr>
          <p:grpSpPr bwMode="auto">
            <a:xfrm>
              <a:off x="70883" y="0"/>
              <a:ext cx="1784176" cy="1904048"/>
              <a:chOff x="71438" y="0"/>
              <a:chExt cx="1798153" cy="2216488"/>
            </a:xfrm>
          </p:grpSpPr>
          <p:cxnSp>
            <p:nvCxnSpPr>
              <p:cNvPr id="59410" name="直接连接符 58"/>
              <p:cNvCxnSpPr>
                <a:cxnSpLocks noChangeShapeType="1"/>
              </p:cNvCxnSpPr>
              <p:nvPr/>
            </p:nvCxnSpPr>
            <p:spPr bwMode="auto">
              <a:xfrm rot="5400000">
                <a:off x="686855" y="1224908"/>
                <a:ext cx="500317" cy="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59411" name="Object 44"/>
              <p:cNvGraphicFramePr>
                <a:graphicFrameLocks noChangeAspect="1"/>
              </p:cNvGraphicFramePr>
              <p:nvPr/>
            </p:nvGraphicFramePr>
            <p:xfrm>
              <a:off x="792894" y="1474245"/>
              <a:ext cx="356785" cy="249479"/>
            </p:xfrm>
            <a:graphic>
              <a:graphicData uri="http://schemas.openxmlformats.org/presentationml/2006/ole">
                <mc:AlternateContent xmlns:mc="http://schemas.openxmlformats.org/markup-compatibility/2006">
                  <mc:Choice xmlns:v="urn:schemas-microsoft-com:vml" Requires="v">
                    <p:oleObj spid="_x0000_s186241" r:id="rId25" imgW="254885" imgH="178420" progId="">
                      <p:embed/>
                    </p:oleObj>
                  </mc:Choice>
                  <mc:Fallback>
                    <p:oleObj r:id="rId25" imgW="254885" imgH="178420" progId="">
                      <p:embed/>
                      <p:pic>
                        <p:nvPicPr>
                          <p:cNvPr id="0" name="Object 4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92894" y="1474245"/>
                            <a:ext cx="356785" cy="249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9412" name="组合 203"/>
              <p:cNvGrpSpPr>
                <a:grpSpLocks/>
              </p:cNvGrpSpPr>
              <p:nvPr/>
            </p:nvGrpSpPr>
            <p:grpSpPr bwMode="auto">
              <a:xfrm>
                <a:off x="71438" y="0"/>
                <a:ext cx="1798153" cy="2216488"/>
                <a:chOff x="71438" y="0"/>
                <a:chExt cx="1798153" cy="2216488"/>
              </a:xfrm>
            </p:grpSpPr>
            <p:cxnSp>
              <p:nvCxnSpPr>
                <p:cNvPr id="59413" name="直接连接符 61"/>
                <p:cNvCxnSpPr>
                  <a:cxnSpLocks noChangeShapeType="1"/>
                </p:cNvCxnSpPr>
                <p:nvPr/>
              </p:nvCxnSpPr>
              <p:spPr bwMode="auto">
                <a:xfrm rot="5400000">
                  <a:off x="904464" y="940582"/>
                  <a:ext cx="929469" cy="1482"/>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nvGrpSpPr>
                <p:cNvPr id="59415" name="组合 108"/>
                <p:cNvGrpSpPr>
                  <a:grpSpLocks/>
                </p:cNvGrpSpPr>
                <p:nvPr/>
              </p:nvGrpSpPr>
              <p:grpSpPr bwMode="auto">
                <a:xfrm>
                  <a:off x="71438" y="0"/>
                  <a:ext cx="1798153" cy="2216488"/>
                  <a:chOff x="0" y="0"/>
                  <a:chExt cx="1798153" cy="2216488"/>
                </a:xfrm>
              </p:grpSpPr>
              <p:grpSp>
                <p:nvGrpSpPr>
                  <p:cNvPr id="59418" name="组合 44"/>
                  <p:cNvGrpSpPr>
                    <a:grpSpLocks/>
                  </p:cNvGrpSpPr>
                  <p:nvPr/>
                </p:nvGrpSpPr>
                <p:grpSpPr bwMode="auto">
                  <a:xfrm>
                    <a:off x="0" y="0"/>
                    <a:ext cx="1798153" cy="1758407"/>
                    <a:chOff x="0" y="0"/>
                    <a:chExt cx="1798153" cy="1758407"/>
                  </a:xfrm>
                </p:grpSpPr>
                <p:grpSp>
                  <p:nvGrpSpPr>
                    <p:cNvPr id="59420" name="组合 26"/>
                    <p:cNvGrpSpPr>
                      <a:grpSpLocks/>
                    </p:cNvGrpSpPr>
                    <p:nvPr/>
                  </p:nvGrpSpPr>
                  <p:grpSpPr bwMode="auto">
                    <a:xfrm>
                      <a:off x="0" y="0"/>
                      <a:ext cx="1798153" cy="1758407"/>
                      <a:chOff x="0" y="0"/>
                      <a:chExt cx="1798153" cy="1758407"/>
                    </a:xfrm>
                  </p:grpSpPr>
                  <p:grpSp>
                    <p:nvGrpSpPr>
                      <p:cNvPr id="59422" name="组合 18"/>
                      <p:cNvGrpSpPr>
                        <a:grpSpLocks/>
                      </p:cNvGrpSpPr>
                      <p:nvPr/>
                    </p:nvGrpSpPr>
                    <p:grpSpPr bwMode="auto">
                      <a:xfrm>
                        <a:off x="284958" y="794"/>
                        <a:ext cx="1429554" cy="1429554"/>
                        <a:chOff x="0" y="0"/>
                        <a:chExt cx="1429554" cy="1429554"/>
                      </a:xfrm>
                    </p:grpSpPr>
                    <p:cxnSp>
                      <p:nvCxnSpPr>
                        <p:cNvPr id="59429" name="直接箭头连接符 78"/>
                        <p:cNvCxnSpPr>
                          <a:cxnSpLocks noChangeShapeType="1"/>
                        </p:cNvCxnSpPr>
                        <p:nvPr/>
                      </p:nvCxnSpPr>
                      <p:spPr bwMode="auto">
                        <a:xfrm>
                          <a:off x="917" y="1426836"/>
                          <a:ext cx="1429250" cy="2156"/>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9430" name="直接箭头连接符 79"/>
                        <p:cNvCxnSpPr>
                          <a:cxnSpLocks noChangeShapeType="1"/>
                        </p:cNvCxnSpPr>
                        <p:nvPr/>
                      </p:nvCxnSpPr>
                      <p:spPr bwMode="auto">
                        <a:xfrm rot="5400000" flipH="1" flipV="1">
                          <a:off x="-714717" y="713358"/>
                          <a:ext cx="1429785" cy="1483"/>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59431" name="直接连接符 80"/>
                        <p:cNvCxnSpPr>
                          <a:cxnSpLocks noChangeShapeType="1"/>
                        </p:cNvCxnSpPr>
                        <p:nvPr/>
                      </p:nvCxnSpPr>
                      <p:spPr bwMode="auto">
                        <a:xfrm flipV="1">
                          <a:off x="917" y="475801"/>
                          <a:ext cx="1083798" cy="23723"/>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59432" name="直接连接符 81"/>
                        <p:cNvCxnSpPr>
                          <a:cxnSpLocks noChangeShapeType="1"/>
                        </p:cNvCxnSpPr>
                        <p:nvPr/>
                      </p:nvCxnSpPr>
                      <p:spPr bwMode="auto">
                        <a:xfrm flipV="1">
                          <a:off x="917" y="889857"/>
                          <a:ext cx="579706" cy="36662"/>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graphicFrame>
                    <p:nvGraphicFramePr>
                      <p:cNvPr id="59423" name="Object 56"/>
                      <p:cNvGraphicFramePr>
                        <a:graphicFrameLocks noChangeAspect="1"/>
                      </p:cNvGraphicFramePr>
                      <p:nvPr/>
                    </p:nvGraphicFramePr>
                    <p:xfrm>
                      <a:off x="71438" y="1428760"/>
                      <a:ext cx="177800" cy="247650"/>
                    </p:xfrm>
                    <a:graphic>
                      <a:graphicData uri="http://schemas.openxmlformats.org/presentationml/2006/ole">
                        <mc:AlternateContent xmlns:mc="http://schemas.openxmlformats.org/markup-compatibility/2006">
                          <mc:Choice xmlns:v="urn:schemas-microsoft-com:vml" Requires="v">
                            <p:oleObj spid="_x0000_s186242" r:id="rId27" imgW="127665" imgH="178731" progId="">
                              <p:embed/>
                            </p:oleObj>
                          </mc:Choice>
                          <mc:Fallback>
                            <p:oleObj r:id="rId27" imgW="127665" imgH="178731" progId="">
                              <p:embed/>
                              <p:pic>
                                <p:nvPicPr>
                                  <p:cNvPr id="0" name="Object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8" y="1428760"/>
                                    <a:ext cx="1778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424" name="Object 57"/>
                      <p:cNvGraphicFramePr>
                        <a:graphicFrameLocks noChangeAspect="1"/>
                      </p:cNvGraphicFramePr>
                      <p:nvPr/>
                    </p:nvGraphicFramePr>
                    <p:xfrm>
                      <a:off x="1153442" y="1474245"/>
                      <a:ext cx="355600" cy="247650"/>
                    </p:xfrm>
                    <a:graphic>
                      <a:graphicData uri="http://schemas.openxmlformats.org/presentationml/2006/ole">
                        <mc:AlternateContent xmlns:mc="http://schemas.openxmlformats.org/markup-compatibility/2006">
                          <mc:Choice xmlns:v="urn:schemas-microsoft-com:vml" Requires="v">
                            <p:oleObj spid="_x0000_s186243" r:id="rId28" imgW="254885" imgH="178420" progId="">
                              <p:embed/>
                            </p:oleObj>
                          </mc:Choice>
                          <mc:Fallback>
                            <p:oleObj r:id="rId28" imgW="254885" imgH="178420" progId="">
                              <p:embed/>
                              <p:pic>
                                <p:nvPicPr>
                                  <p:cNvPr id="0" name="Object 5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153442" y="1474245"/>
                                    <a:ext cx="3556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425" name="Object 58"/>
                      <p:cNvGraphicFramePr>
                        <a:graphicFrameLocks noChangeAspect="1"/>
                      </p:cNvGraphicFramePr>
                      <p:nvPr/>
                    </p:nvGraphicFramePr>
                    <p:xfrm>
                      <a:off x="0" y="785818"/>
                      <a:ext cx="247650" cy="247650"/>
                    </p:xfrm>
                    <a:graphic>
                      <a:graphicData uri="http://schemas.openxmlformats.org/presentationml/2006/ole">
                        <mc:AlternateContent xmlns:mc="http://schemas.openxmlformats.org/markup-compatibility/2006">
                          <mc:Choice xmlns:v="urn:schemas-microsoft-com:vml" Requires="v">
                            <p:oleObj spid="_x0000_s186244" r:id="rId30" imgW="178731" imgH="178731" progId="">
                              <p:embed/>
                            </p:oleObj>
                          </mc:Choice>
                          <mc:Fallback>
                            <p:oleObj r:id="rId30" imgW="178731" imgH="178731" progId="">
                              <p:embed/>
                              <p:pic>
                                <p:nvPicPr>
                                  <p:cNvPr id="0" name="Object 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785818"/>
                                    <a:ext cx="24765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426" name="Object 59"/>
                      <p:cNvGraphicFramePr>
                        <a:graphicFrameLocks noChangeAspect="1"/>
                      </p:cNvGraphicFramePr>
                      <p:nvPr/>
                    </p:nvGraphicFramePr>
                    <p:xfrm>
                      <a:off x="0" y="428628"/>
                      <a:ext cx="230187" cy="230187"/>
                    </p:xfrm>
                    <a:graphic>
                      <a:graphicData uri="http://schemas.openxmlformats.org/presentationml/2006/ole">
                        <mc:AlternateContent xmlns:mc="http://schemas.openxmlformats.org/markup-compatibility/2006">
                          <mc:Choice xmlns:v="urn:schemas-microsoft-com:vml" Requires="v">
                            <p:oleObj spid="_x0000_s186245" r:id="rId31" imgW="166037" imgH="166037" progId="">
                              <p:embed/>
                            </p:oleObj>
                          </mc:Choice>
                          <mc:Fallback>
                            <p:oleObj r:id="rId31" imgW="166037" imgH="166037" progId="">
                              <p:embed/>
                              <p:pic>
                                <p:nvPicPr>
                                  <p:cNvPr id="0" name="Object 5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428628"/>
                                    <a:ext cx="230187"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427" name="Object 60"/>
                      <p:cNvGraphicFramePr>
                        <a:graphicFrameLocks noChangeAspect="1"/>
                      </p:cNvGraphicFramePr>
                      <p:nvPr/>
                    </p:nvGraphicFramePr>
                    <p:xfrm>
                      <a:off x="1585428" y="1474245"/>
                      <a:ext cx="212725" cy="284162"/>
                    </p:xfrm>
                    <a:graphic>
                      <a:graphicData uri="http://schemas.openxmlformats.org/presentationml/2006/ole">
                        <mc:AlternateContent xmlns:mc="http://schemas.openxmlformats.org/markup-compatibility/2006">
                          <mc:Choice xmlns:v="urn:schemas-microsoft-com:vml" Requires="v">
                            <p:oleObj spid="_x0000_s186246" r:id="rId32" imgW="153332" imgH="204442" progId="">
                              <p:embed/>
                            </p:oleObj>
                          </mc:Choice>
                          <mc:Fallback>
                            <p:oleObj r:id="rId32" imgW="153332" imgH="204442" progId="">
                              <p:embed/>
                              <p:pic>
                                <p:nvPicPr>
                                  <p:cNvPr id="0" name="Object 6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85428" y="1474245"/>
                                    <a:ext cx="212725"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428" name="Object 61"/>
                      <p:cNvGraphicFramePr>
                        <a:graphicFrameLocks noChangeAspect="1"/>
                      </p:cNvGraphicFramePr>
                      <p:nvPr/>
                    </p:nvGraphicFramePr>
                    <p:xfrm>
                      <a:off x="0" y="0"/>
                      <a:ext cx="212725" cy="230187"/>
                    </p:xfrm>
                    <a:graphic>
                      <a:graphicData uri="http://schemas.openxmlformats.org/presentationml/2006/ole">
                        <mc:AlternateContent xmlns:mc="http://schemas.openxmlformats.org/markup-compatibility/2006">
                          <mc:Choice xmlns:v="urn:schemas-microsoft-com:vml" Requires="v">
                            <p:oleObj spid="_x0000_s186247" r:id="rId33" imgW="153332" imgH="166109" progId="">
                              <p:embed/>
                            </p:oleObj>
                          </mc:Choice>
                          <mc:Fallback>
                            <p:oleObj r:id="rId33" imgW="153332" imgH="166109" progId="">
                              <p:embed/>
                              <p:pic>
                                <p:nvPicPr>
                                  <p:cNvPr id="0" name="Object 6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212725"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59421" name="Object 62"/>
                    <p:cNvGraphicFramePr>
                      <a:graphicFrameLocks noChangeAspect="1"/>
                    </p:cNvGraphicFramePr>
                    <p:nvPr/>
                  </p:nvGraphicFramePr>
                  <p:xfrm>
                    <a:off x="1153442" y="143678"/>
                    <a:ext cx="195192" cy="247631"/>
                  </p:xfrm>
                  <a:graphic>
                    <a:graphicData uri="http://schemas.openxmlformats.org/presentationml/2006/ole">
                      <mc:AlternateContent xmlns:mc="http://schemas.openxmlformats.org/markup-compatibility/2006">
                        <mc:Choice xmlns:v="urn:schemas-microsoft-com:vml" Requires="v">
                          <p:oleObj spid="_x0000_s186248" r:id="rId34" imgW="140493" imgH="178809" progId="">
                            <p:embed/>
                          </p:oleObj>
                        </mc:Choice>
                        <mc:Fallback>
                          <p:oleObj r:id="rId34" imgW="140493" imgH="178809" progId="">
                            <p:embed/>
                            <p:pic>
                              <p:nvPicPr>
                                <p:cNvPr id="0" name="Object 62"/>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1153442" y="143678"/>
                                  <a:ext cx="195192" cy="247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9419" name="TextBox 68"/>
                  <p:cNvSpPr txBox="1">
                    <a:spLocks noChangeArrowheads="1"/>
                  </p:cNvSpPr>
                  <p:nvPr/>
                </p:nvSpPr>
                <p:spPr bwMode="auto">
                  <a:xfrm>
                    <a:off x="285752" y="1857387"/>
                    <a:ext cx="933781" cy="359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b="0" dirty="0">
                        <a:solidFill>
                          <a:schemeClr val="tx1"/>
                        </a:solidFill>
                        <a:latin typeface="微软雅黑" panose="020B0503020204020204" pitchFamily="34" charset="-122"/>
                        <a:ea typeface="微软雅黑" panose="020B0503020204020204" pitchFamily="34" charset="-122"/>
                      </a:rPr>
                      <a:t>(c) </a:t>
                    </a:r>
                    <a:r>
                      <a:rPr lang="zh-CN" altLang="en-US" sz="1400" b="0" dirty="0">
                        <a:solidFill>
                          <a:schemeClr val="tx1"/>
                        </a:solidFill>
                        <a:latin typeface="微软雅黑" panose="020B0503020204020204" pitchFamily="34" charset="-122"/>
                        <a:ea typeface="微软雅黑" panose="020B0503020204020204" pitchFamily="34" charset="-122"/>
                      </a:rPr>
                      <a:t>单位弹性</a:t>
                    </a:r>
                  </a:p>
                </p:txBody>
              </p:sp>
            </p:grpSp>
          </p:grpSp>
        </p:grpSp>
        <p:cxnSp>
          <p:nvCxnSpPr>
            <p:cNvPr id="59409" name="直接连接符 125"/>
            <p:cNvCxnSpPr>
              <a:cxnSpLocks noChangeShapeType="1"/>
            </p:cNvCxnSpPr>
            <p:nvPr/>
          </p:nvCxnSpPr>
          <p:spPr bwMode="auto">
            <a:xfrm flipV="1">
              <a:off x="357478" y="266767"/>
              <a:ext cx="1215130" cy="928127"/>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pSp>
      <p:sp>
        <p:nvSpPr>
          <p:cNvPr id="79" name="Rectangle 3">
            <a:extLst>
              <a:ext uri="{FF2B5EF4-FFF2-40B4-BE49-F238E27FC236}">
                <a16:creationId xmlns:a16="http://schemas.microsoft.com/office/drawing/2014/main" id="{3F3E67BE-6764-413F-866A-80D50ED82D46}"/>
              </a:ext>
            </a:extLst>
          </p:cNvPr>
          <p:cNvSpPr txBox="1">
            <a:spLocks noChangeArrowheads="1"/>
          </p:cNvSpPr>
          <p:nvPr/>
        </p:nvSpPr>
        <p:spPr bwMode="auto">
          <a:xfrm>
            <a:off x="325033" y="1178198"/>
            <a:ext cx="2627063" cy="513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2" indent="-342900" eaLnBrk="1" hangingPunct="1">
              <a:lnSpc>
                <a:spcPct val="150000"/>
              </a:lnSpc>
              <a:spcBef>
                <a:spcPct val="0"/>
              </a:spcBef>
              <a:buFont typeface="Wingdings" panose="05000000000000000000" pitchFamily="2" charset="2"/>
              <a:buChar char="u"/>
            </a:pPr>
            <a:r>
              <a:rPr lang="zh-CN" altLang="en-US" sz="2000" spc="150" dirty="0">
                <a:solidFill>
                  <a:srgbClr val="000000"/>
                </a:solidFill>
                <a:latin typeface="微软雅黑" panose="020B0503020204020204" pitchFamily="34" charset="-122"/>
                <a:ea typeface="微软雅黑" panose="020B0503020204020204" pitchFamily="34" charset="-122"/>
              </a:rPr>
              <a:t>供给弹性的分类</a:t>
            </a:r>
          </a:p>
        </p:txBody>
      </p:sp>
      <p:sp>
        <p:nvSpPr>
          <p:cNvPr id="80" name="矩形 79">
            <a:extLst>
              <a:ext uri="{FF2B5EF4-FFF2-40B4-BE49-F238E27FC236}">
                <a16:creationId xmlns:a16="http://schemas.microsoft.com/office/drawing/2014/main" id="{5469DC24-26D2-4853-80AF-13BCBE996746}"/>
              </a:ext>
            </a:extLst>
          </p:cNvPr>
          <p:cNvSpPr/>
          <p:nvPr/>
        </p:nvSpPr>
        <p:spPr>
          <a:xfrm>
            <a:off x="467544" y="548680"/>
            <a:ext cx="2257349"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四、供给弹性 </a:t>
            </a:r>
          </a:p>
        </p:txBody>
      </p:sp>
      <p:sp>
        <p:nvSpPr>
          <p:cNvPr id="81" name="矩形 80">
            <a:extLst>
              <a:ext uri="{FF2B5EF4-FFF2-40B4-BE49-F238E27FC236}">
                <a16:creationId xmlns:a16="http://schemas.microsoft.com/office/drawing/2014/main" id="{E44A3354-5355-443A-B840-A130938E4588}"/>
              </a:ext>
            </a:extLst>
          </p:cNvPr>
          <p:cNvSpPr/>
          <p:nvPr/>
        </p:nvSpPr>
        <p:spPr>
          <a:xfrm>
            <a:off x="7261793"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弹性 </a:t>
            </a:r>
          </a:p>
        </p:txBody>
      </p:sp>
      <p:grpSp>
        <p:nvGrpSpPr>
          <p:cNvPr id="82" name="组合 9">
            <a:extLst>
              <a:ext uri="{FF2B5EF4-FFF2-40B4-BE49-F238E27FC236}">
                <a16:creationId xmlns:a16="http://schemas.microsoft.com/office/drawing/2014/main" id="{F5A4BC29-0302-4BFA-B1F0-2187BBC2B364}"/>
              </a:ext>
            </a:extLst>
          </p:cNvPr>
          <p:cNvGrpSpPr>
            <a:grpSpLocks/>
          </p:cNvGrpSpPr>
          <p:nvPr/>
        </p:nvGrpSpPr>
        <p:grpSpPr bwMode="auto">
          <a:xfrm>
            <a:off x="677806" y="4085684"/>
            <a:ext cx="2320195" cy="1990734"/>
            <a:chOff x="0" y="0"/>
            <a:chExt cx="4357686" cy="636642"/>
          </a:xfrm>
        </p:grpSpPr>
        <p:sp>
          <p:nvSpPr>
            <p:cNvPr id="83" name="圆角矩形 7">
              <a:extLst>
                <a:ext uri="{FF2B5EF4-FFF2-40B4-BE49-F238E27FC236}">
                  <a16:creationId xmlns:a16="http://schemas.microsoft.com/office/drawing/2014/main" id="{4F683100-AA8A-4D9A-BF43-3A4EFDB1F4AE}"/>
                </a:ext>
              </a:extLst>
            </p:cNvPr>
            <p:cNvSpPr>
              <a:spLocks noChangeArrowheads="1"/>
            </p:cNvSpPr>
            <p:nvPr/>
          </p:nvSpPr>
          <p:spPr bwMode="auto">
            <a:xfrm>
              <a:off x="0" y="0"/>
              <a:ext cx="4357686" cy="636642"/>
            </a:xfrm>
            <a:prstGeom prst="roundRect">
              <a:avLst>
                <a:gd name="adj" fmla="val 16667"/>
              </a:avLst>
            </a:prstGeom>
            <a:noFill/>
            <a:ln w="9525">
              <a:solidFill>
                <a:srgbClr val="000000"/>
              </a:solidFill>
              <a:round/>
              <a:headEnd/>
              <a:tailEnd/>
            </a:ln>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84" name="TextBox 3">
              <a:extLst>
                <a:ext uri="{FF2B5EF4-FFF2-40B4-BE49-F238E27FC236}">
                  <a16:creationId xmlns:a16="http://schemas.microsoft.com/office/drawing/2014/main" id="{A96B7861-4113-4AF7-A1D7-DE4544F4C199}"/>
                </a:ext>
              </a:extLst>
            </p:cNvPr>
            <p:cNvSpPr txBox="1">
              <a:spLocks noChangeArrowheads="1"/>
            </p:cNvSpPr>
            <p:nvPr/>
          </p:nvSpPr>
          <p:spPr bwMode="auto">
            <a:xfrm>
              <a:off x="38099" y="71448"/>
              <a:ext cx="4319587" cy="28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285750" indent="-28575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供给为单位弹性指，价格变动</a:t>
              </a:r>
              <a:r>
                <a:rPr lang="en-US" altLang="zh-CN" sz="1800" b="0" spc="150" dirty="0">
                  <a:solidFill>
                    <a:srgbClr val="000000"/>
                  </a:solidFill>
                  <a:latin typeface="微软雅黑" panose="020B0503020204020204" pitchFamily="34" charset="-122"/>
                  <a:ea typeface="微软雅黑" panose="020B0503020204020204" pitchFamily="34" charset="-122"/>
                </a:rPr>
                <a:t>1%</a:t>
              </a:r>
              <a:r>
                <a:rPr lang="zh-CN" altLang="en-US" sz="1800" b="0" spc="150" dirty="0">
                  <a:solidFill>
                    <a:srgbClr val="000000"/>
                  </a:solidFill>
                  <a:latin typeface="微软雅黑" panose="020B0503020204020204" pitchFamily="34" charset="-122"/>
                  <a:ea typeface="微软雅黑" panose="020B0503020204020204" pitchFamily="34" charset="-122"/>
                </a:rPr>
                <a:t>，供给量也会随之变动</a:t>
              </a:r>
              <a:r>
                <a:rPr lang="en-US" altLang="zh-CN" sz="1800" b="0" spc="150" dirty="0">
                  <a:solidFill>
                    <a:srgbClr val="000000"/>
                  </a:solidFill>
                  <a:latin typeface="微软雅黑" panose="020B0503020204020204" pitchFamily="34" charset="-122"/>
                  <a:ea typeface="微软雅黑" panose="020B0503020204020204" pitchFamily="34" charset="-122"/>
                </a:rPr>
                <a:t>1%</a:t>
              </a:r>
              <a:r>
                <a:rPr lang="zh-CN" altLang="en-US" sz="1800" b="0" spc="150" dirty="0">
                  <a:solidFill>
                    <a:srgbClr val="000000"/>
                  </a:solidFill>
                  <a:latin typeface="微软雅黑" panose="020B0503020204020204" pitchFamily="34" charset="-122"/>
                  <a:ea typeface="微软雅黑" panose="020B0503020204020204" pitchFamily="34" charset="-122"/>
                </a:rPr>
                <a:t>。</a:t>
              </a:r>
            </a:p>
          </p:txBody>
        </p:sp>
      </p:grpSp>
      <p:grpSp>
        <p:nvGrpSpPr>
          <p:cNvPr id="94" name="组合 9">
            <a:extLst>
              <a:ext uri="{FF2B5EF4-FFF2-40B4-BE49-F238E27FC236}">
                <a16:creationId xmlns:a16="http://schemas.microsoft.com/office/drawing/2014/main" id="{50BFCED5-9C39-4151-AC02-0BB1AA6A1037}"/>
              </a:ext>
            </a:extLst>
          </p:cNvPr>
          <p:cNvGrpSpPr>
            <a:grpSpLocks/>
          </p:cNvGrpSpPr>
          <p:nvPr/>
        </p:nvGrpSpPr>
        <p:grpSpPr bwMode="auto">
          <a:xfrm>
            <a:off x="3267075" y="4060626"/>
            <a:ext cx="2666213" cy="2819529"/>
            <a:chOff x="256737" y="-16410"/>
            <a:chExt cx="4357687" cy="907401"/>
          </a:xfrm>
        </p:grpSpPr>
        <p:sp>
          <p:nvSpPr>
            <p:cNvPr id="95" name="圆角矩形 7">
              <a:extLst>
                <a:ext uri="{FF2B5EF4-FFF2-40B4-BE49-F238E27FC236}">
                  <a16:creationId xmlns:a16="http://schemas.microsoft.com/office/drawing/2014/main" id="{4679A285-8009-46C5-8276-9332ADBFE89F}"/>
                </a:ext>
              </a:extLst>
            </p:cNvPr>
            <p:cNvSpPr>
              <a:spLocks noChangeArrowheads="1"/>
            </p:cNvSpPr>
            <p:nvPr/>
          </p:nvSpPr>
          <p:spPr bwMode="auto">
            <a:xfrm>
              <a:off x="256737" y="-16410"/>
              <a:ext cx="4357687" cy="636642"/>
            </a:xfrm>
            <a:prstGeom prst="roundRect">
              <a:avLst>
                <a:gd name="adj" fmla="val 16667"/>
              </a:avLst>
            </a:prstGeom>
            <a:noFill/>
            <a:ln w="9525">
              <a:solidFill>
                <a:srgbClr val="000000"/>
              </a:solidFill>
              <a:round/>
              <a:headEnd/>
              <a:tailEnd/>
            </a:ln>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96" name="TextBox 3">
              <a:extLst>
                <a:ext uri="{FF2B5EF4-FFF2-40B4-BE49-F238E27FC236}">
                  <a16:creationId xmlns:a16="http://schemas.microsoft.com/office/drawing/2014/main" id="{6C30D5BF-BF8A-4527-A7ED-EC742E62234D}"/>
                </a:ext>
              </a:extLst>
            </p:cNvPr>
            <p:cNvSpPr txBox="1">
              <a:spLocks noChangeArrowheads="1"/>
            </p:cNvSpPr>
            <p:nvPr/>
          </p:nvSpPr>
          <p:spPr bwMode="auto">
            <a:xfrm>
              <a:off x="294836" y="55037"/>
              <a:ext cx="4319586" cy="83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285750" indent="-28575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供给富有弹性指，商品价格变动</a:t>
              </a:r>
              <a:r>
                <a:rPr lang="en-US" altLang="zh-CN" sz="1800" b="0" spc="150" dirty="0">
                  <a:solidFill>
                    <a:srgbClr val="000000"/>
                  </a:solidFill>
                  <a:latin typeface="微软雅黑" panose="020B0503020204020204" pitchFamily="34" charset="-122"/>
                  <a:ea typeface="微软雅黑" panose="020B0503020204020204" pitchFamily="34" charset="-122"/>
                </a:rPr>
                <a:t>1%</a:t>
              </a:r>
              <a:r>
                <a:rPr lang="zh-CN" altLang="en-US" sz="1800" b="0" spc="150" dirty="0">
                  <a:solidFill>
                    <a:srgbClr val="000000"/>
                  </a:solidFill>
                  <a:latin typeface="微软雅黑" panose="020B0503020204020204" pitchFamily="34" charset="-122"/>
                  <a:ea typeface="微软雅黑" panose="020B0503020204020204" pitchFamily="34" charset="-122"/>
                </a:rPr>
                <a:t>，供给量的变动会超过</a:t>
              </a:r>
              <a:r>
                <a:rPr lang="en-US" altLang="zh-CN" sz="1800" b="0" spc="150" dirty="0">
                  <a:solidFill>
                    <a:srgbClr val="000000"/>
                  </a:solidFill>
                  <a:latin typeface="微软雅黑" panose="020B0503020204020204" pitchFamily="34" charset="-122"/>
                  <a:ea typeface="微软雅黑" panose="020B0503020204020204" pitchFamily="34" charset="-122"/>
                </a:rPr>
                <a:t>1%</a:t>
              </a:r>
              <a:r>
                <a:rPr lang="zh-CN" altLang="en-US" sz="1800" b="0" spc="150" dirty="0">
                  <a:solidFill>
                    <a:srgbClr val="000000"/>
                  </a:solidFill>
                  <a:latin typeface="微软雅黑" panose="020B0503020204020204" pitchFamily="34" charset="-122"/>
                  <a:ea typeface="微软雅黑" panose="020B0503020204020204" pitchFamily="34" charset="-122"/>
                </a:rPr>
                <a:t>，供给量相应于价格的变动更为敏感。</a:t>
              </a:r>
            </a:p>
          </p:txBody>
        </p:sp>
      </p:grpSp>
      <p:grpSp>
        <p:nvGrpSpPr>
          <p:cNvPr id="125" name="组合 9">
            <a:extLst>
              <a:ext uri="{FF2B5EF4-FFF2-40B4-BE49-F238E27FC236}">
                <a16:creationId xmlns:a16="http://schemas.microsoft.com/office/drawing/2014/main" id="{B6D90895-5AB3-4609-9EC1-EAF2623D9EC7}"/>
              </a:ext>
            </a:extLst>
          </p:cNvPr>
          <p:cNvGrpSpPr>
            <a:grpSpLocks/>
          </p:cNvGrpSpPr>
          <p:nvPr/>
        </p:nvGrpSpPr>
        <p:grpSpPr bwMode="auto">
          <a:xfrm>
            <a:off x="6202361" y="4060626"/>
            <a:ext cx="2540552" cy="1970252"/>
            <a:chOff x="0" y="0"/>
            <a:chExt cx="4357686" cy="636642"/>
          </a:xfrm>
        </p:grpSpPr>
        <p:sp>
          <p:nvSpPr>
            <p:cNvPr id="126" name="圆角矩形 7">
              <a:extLst>
                <a:ext uri="{FF2B5EF4-FFF2-40B4-BE49-F238E27FC236}">
                  <a16:creationId xmlns:a16="http://schemas.microsoft.com/office/drawing/2014/main" id="{994784CC-30A0-44FC-87AF-6650E818DBC1}"/>
                </a:ext>
              </a:extLst>
            </p:cNvPr>
            <p:cNvSpPr>
              <a:spLocks noChangeArrowheads="1"/>
            </p:cNvSpPr>
            <p:nvPr/>
          </p:nvSpPr>
          <p:spPr bwMode="auto">
            <a:xfrm>
              <a:off x="0" y="0"/>
              <a:ext cx="4357686" cy="636642"/>
            </a:xfrm>
            <a:prstGeom prst="roundRect">
              <a:avLst>
                <a:gd name="adj" fmla="val 16667"/>
              </a:avLst>
            </a:prstGeom>
            <a:noFill/>
            <a:ln w="9525">
              <a:solidFill>
                <a:srgbClr val="000000"/>
              </a:solidFill>
              <a:round/>
              <a:headEnd/>
              <a:tailEnd/>
            </a:ln>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127" name="TextBox 3">
              <a:extLst>
                <a:ext uri="{FF2B5EF4-FFF2-40B4-BE49-F238E27FC236}">
                  <a16:creationId xmlns:a16="http://schemas.microsoft.com/office/drawing/2014/main" id="{4922E62B-31A8-4244-AFA3-93327AFE2F96}"/>
                </a:ext>
              </a:extLst>
            </p:cNvPr>
            <p:cNvSpPr txBox="1">
              <a:spLocks noChangeArrowheads="1"/>
            </p:cNvSpPr>
            <p:nvPr/>
          </p:nvSpPr>
          <p:spPr bwMode="auto">
            <a:xfrm>
              <a:off x="38099" y="71448"/>
              <a:ext cx="4319587" cy="459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285750" indent="-28575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 供给具有完全弹性指，价格的轻微变动会导致供给量急剧变动，以至于弹性系数为无穷大。</a:t>
              </a:r>
            </a:p>
          </p:txBody>
        </p:sp>
      </p:grpSp>
      <p:sp>
        <p:nvSpPr>
          <p:cNvPr id="128" name="箭头: 下 127">
            <a:extLst>
              <a:ext uri="{FF2B5EF4-FFF2-40B4-BE49-F238E27FC236}">
                <a16:creationId xmlns:a16="http://schemas.microsoft.com/office/drawing/2014/main" id="{C7C2C97C-BB99-4BA0-91D7-957C6BD2DFC8}"/>
              </a:ext>
            </a:extLst>
          </p:cNvPr>
          <p:cNvSpPr/>
          <p:nvPr/>
        </p:nvSpPr>
        <p:spPr bwMode="auto">
          <a:xfrm rot="10800000">
            <a:off x="776137" y="2365900"/>
            <a:ext cx="100635" cy="466114"/>
          </a:xfrm>
          <a:prstGeom prst="downArrow">
            <a:avLst/>
          </a:prstGeom>
          <a:solidFill>
            <a:schemeClr val="accent3">
              <a:lumMod val="50000"/>
            </a:schemeClr>
          </a:solidFill>
          <a:ln>
            <a:noFill/>
          </a:ln>
          <a:effec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29" name="箭头: 下 128">
            <a:extLst>
              <a:ext uri="{FF2B5EF4-FFF2-40B4-BE49-F238E27FC236}">
                <a16:creationId xmlns:a16="http://schemas.microsoft.com/office/drawing/2014/main" id="{99AD48F4-A0C5-4A35-816E-62CDDEC79514}"/>
              </a:ext>
            </a:extLst>
          </p:cNvPr>
          <p:cNvSpPr/>
          <p:nvPr/>
        </p:nvSpPr>
        <p:spPr bwMode="auto">
          <a:xfrm rot="16200000">
            <a:off x="1937155" y="3019408"/>
            <a:ext cx="97636" cy="977032"/>
          </a:xfrm>
          <a:prstGeom prst="downArrow">
            <a:avLst/>
          </a:prstGeom>
          <a:solidFill>
            <a:schemeClr val="accent3">
              <a:lumMod val="50000"/>
            </a:schemeClr>
          </a:solidFill>
          <a:ln>
            <a:noFill/>
          </a:ln>
          <a:effec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30" name="箭头: 下 129">
            <a:extLst>
              <a:ext uri="{FF2B5EF4-FFF2-40B4-BE49-F238E27FC236}">
                <a16:creationId xmlns:a16="http://schemas.microsoft.com/office/drawing/2014/main" id="{76DCEAA2-C6D0-49D4-968E-AB0B79CEDE3D}"/>
              </a:ext>
            </a:extLst>
          </p:cNvPr>
          <p:cNvSpPr/>
          <p:nvPr/>
        </p:nvSpPr>
        <p:spPr bwMode="auto">
          <a:xfrm rot="16200000">
            <a:off x="4634446" y="3071044"/>
            <a:ext cx="97636" cy="977032"/>
          </a:xfrm>
          <a:prstGeom prst="downArrow">
            <a:avLst/>
          </a:prstGeom>
          <a:solidFill>
            <a:schemeClr val="accent3">
              <a:lumMod val="50000"/>
            </a:schemeClr>
          </a:solidFill>
          <a:ln>
            <a:noFill/>
          </a:ln>
          <a:effec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31" name="箭头: 下 130">
            <a:extLst>
              <a:ext uri="{FF2B5EF4-FFF2-40B4-BE49-F238E27FC236}">
                <a16:creationId xmlns:a16="http://schemas.microsoft.com/office/drawing/2014/main" id="{316D7AF2-08EA-4617-9720-E53DEA87ABFC}"/>
              </a:ext>
            </a:extLst>
          </p:cNvPr>
          <p:cNvSpPr/>
          <p:nvPr/>
        </p:nvSpPr>
        <p:spPr bwMode="auto">
          <a:xfrm rot="10800000">
            <a:off x="3187422" y="2269595"/>
            <a:ext cx="100635" cy="466114"/>
          </a:xfrm>
          <a:prstGeom prst="downArrow">
            <a:avLst/>
          </a:prstGeom>
          <a:solidFill>
            <a:schemeClr val="accent3">
              <a:lumMod val="50000"/>
            </a:schemeClr>
          </a:solidFill>
          <a:ln>
            <a:noFill/>
          </a:ln>
          <a:effec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
                                            <p:txEl>
                                              <p:pRg st="0" end="0"/>
                                            </p:txEl>
                                          </p:spTgt>
                                        </p:tgtEl>
                                        <p:attrNameLst>
                                          <p:attrName>style.visibility</p:attrName>
                                        </p:attrNameLst>
                                      </p:cBhvr>
                                      <p:to>
                                        <p:strVal val="visible"/>
                                      </p:to>
                                    </p:set>
                                    <p:animEffect transition="in" filter="wipe(left)">
                                      <p:cBhvr>
                                        <p:cTn id="7" dur="500"/>
                                        <p:tgtEl>
                                          <p:spTgt spid="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4313"/>
                                        </p:tgtEl>
                                        <p:attrNameLst>
                                          <p:attrName>style.visibility</p:attrName>
                                        </p:attrNameLst>
                                      </p:cBhvr>
                                      <p:to>
                                        <p:strVal val="visible"/>
                                      </p:to>
                                    </p:set>
                                    <p:animEffect transition="in" filter="randombar(horizontal)">
                                      <p:cBhvr>
                                        <p:cTn id="12" dur="500"/>
                                        <p:tgtEl>
                                          <p:spTgt spid="543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8"/>
                                        </p:tgtEl>
                                        <p:attrNameLst>
                                          <p:attrName>style.visibility</p:attrName>
                                        </p:attrNameLst>
                                      </p:cBhvr>
                                      <p:to>
                                        <p:strVal val="visible"/>
                                      </p:to>
                                    </p:set>
                                    <p:animEffect transition="in" filter="wipe(down)">
                                      <p:cBhvr>
                                        <p:cTn id="17" dur="500"/>
                                        <p:tgtEl>
                                          <p:spTgt spid="1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9"/>
                                        </p:tgtEl>
                                        <p:attrNameLst>
                                          <p:attrName>style.visibility</p:attrName>
                                        </p:attrNameLst>
                                      </p:cBhvr>
                                      <p:to>
                                        <p:strVal val="visible"/>
                                      </p:to>
                                    </p:set>
                                    <p:animEffect transition="in" filter="wipe(left)">
                                      <p:cBhvr>
                                        <p:cTn id="22" dur="500"/>
                                        <p:tgtEl>
                                          <p:spTgt spid="1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82"/>
                                        </p:tgtEl>
                                        <p:attrNameLst>
                                          <p:attrName>style.visibility</p:attrName>
                                        </p:attrNameLst>
                                      </p:cBhvr>
                                      <p:to>
                                        <p:strVal val="visible"/>
                                      </p:to>
                                    </p:set>
                                    <p:animEffect transition="in" filter="wipe(up)">
                                      <p:cBhvr>
                                        <p:cTn id="27" dur="500"/>
                                        <p:tgtEl>
                                          <p:spTgt spid="82"/>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59433"/>
                                        </p:tgtEl>
                                        <p:attrNameLst>
                                          <p:attrName>style.visibility</p:attrName>
                                        </p:attrNameLst>
                                      </p:cBhvr>
                                      <p:to>
                                        <p:strVal val="visible"/>
                                      </p:to>
                                    </p:set>
                                    <p:animEffect transition="in" filter="randombar(horizontal)">
                                      <p:cBhvr>
                                        <p:cTn id="32" dur="500"/>
                                        <p:tgtEl>
                                          <p:spTgt spid="5943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31"/>
                                        </p:tgtEl>
                                        <p:attrNameLst>
                                          <p:attrName>style.visibility</p:attrName>
                                        </p:attrNameLst>
                                      </p:cBhvr>
                                      <p:to>
                                        <p:strVal val="visible"/>
                                      </p:to>
                                    </p:set>
                                    <p:animEffect transition="in" filter="wipe(down)">
                                      <p:cBhvr>
                                        <p:cTn id="37" dur="500"/>
                                        <p:tgtEl>
                                          <p:spTgt spid="13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0"/>
                                        </p:tgtEl>
                                        <p:attrNameLst>
                                          <p:attrName>style.visibility</p:attrName>
                                        </p:attrNameLst>
                                      </p:cBhvr>
                                      <p:to>
                                        <p:strVal val="visible"/>
                                      </p:to>
                                    </p:set>
                                    <p:animEffect transition="in" filter="wipe(left)">
                                      <p:cBhvr>
                                        <p:cTn id="42" dur="500"/>
                                        <p:tgtEl>
                                          <p:spTgt spid="13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94"/>
                                        </p:tgtEl>
                                        <p:attrNameLst>
                                          <p:attrName>style.visibility</p:attrName>
                                        </p:attrNameLst>
                                      </p:cBhvr>
                                      <p:to>
                                        <p:strVal val="visible"/>
                                      </p:to>
                                    </p:set>
                                    <p:animEffect transition="in" filter="wipe(up)">
                                      <p:cBhvr>
                                        <p:cTn id="47" dur="500"/>
                                        <p:tgtEl>
                                          <p:spTgt spid="94"/>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nodeType="clickEffect">
                                  <p:stCondLst>
                                    <p:cond delay="0"/>
                                  </p:stCondLst>
                                  <p:childTnLst>
                                    <p:set>
                                      <p:cBhvr>
                                        <p:cTn id="51" dur="1" fill="hold">
                                          <p:stCondLst>
                                            <p:cond delay="0"/>
                                          </p:stCondLst>
                                        </p:cTn>
                                        <p:tgtEl>
                                          <p:spTgt spid="54275"/>
                                        </p:tgtEl>
                                        <p:attrNameLst>
                                          <p:attrName>style.visibility</p:attrName>
                                        </p:attrNameLst>
                                      </p:cBhvr>
                                      <p:to>
                                        <p:strVal val="visible"/>
                                      </p:to>
                                    </p:set>
                                    <p:animEffect transition="in" filter="randombar(horizontal)">
                                      <p:cBhvr>
                                        <p:cTn id="52" dur="500"/>
                                        <p:tgtEl>
                                          <p:spTgt spid="5427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125"/>
                                        </p:tgtEl>
                                        <p:attrNameLst>
                                          <p:attrName>style.visibility</p:attrName>
                                        </p:attrNameLst>
                                      </p:cBhvr>
                                      <p:to>
                                        <p:strVal val="visible"/>
                                      </p:to>
                                    </p:set>
                                    <p:animEffect transition="in" filter="wipe(up)">
                                      <p:cBhvr>
                                        <p:cTn id="57"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build="p"/>
      <p:bldP spid="128" grpId="0" animBg="1"/>
      <p:bldP spid="129" grpId="0" animBg="1"/>
      <p:bldP spid="130" grpId="0" animBg="1"/>
      <p:bldP spid="131"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FD701A9D-B437-4365-8EAE-39596CD5F811}"/>
              </a:ext>
            </a:extLst>
          </p:cNvPr>
          <p:cNvGrpSpPr/>
          <p:nvPr/>
        </p:nvGrpSpPr>
        <p:grpSpPr>
          <a:xfrm>
            <a:off x="458213" y="1235589"/>
            <a:ext cx="1809531" cy="514350"/>
            <a:chOff x="458213" y="1296677"/>
            <a:chExt cx="2893707" cy="514350"/>
          </a:xfrm>
        </p:grpSpPr>
        <p:sp>
          <p:nvSpPr>
            <p:cNvPr id="19"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58213" y="1296677"/>
              <a:ext cx="2893707"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lvl="0" algn="ctr">
                <a:defRPr/>
              </a:pPr>
              <a:r>
                <a:rPr lang="zh-CN" altLang="en-US" spc="150" dirty="0">
                  <a:solidFill>
                    <a:srgbClr val="000000"/>
                  </a:solidFill>
                  <a:latin typeface="微软雅黑" panose="020B0503020204020204" pitchFamily="34" charset="-122"/>
                  <a:ea typeface="微软雅黑" panose="020B0503020204020204" pitchFamily="34" charset="-122"/>
                </a:rPr>
                <a:t>影响因素</a:t>
              </a:r>
            </a:p>
          </p:txBody>
        </p:sp>
        <p:sp>
          <p:nvSpPr>
            <p:cNvPr id="20"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3159832" y="1353827"/>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472C4">
                    <a:lumMod val="75000"/>
                  </a:srgbClr>
                </a:solidFill>
                <a:effectLst/>
                <a:uLnTx/>
                <a:uFillTx/>
                <a:latin typeface="Calibri" panose="020F0502020204030204"/>
                <a:ea typeface="맑은 고딕" panose="020B0503020000020004" pitchFamily="34" charset="-127"/>
                <a:cs typeface="+mn-cs"/>
              </a:endParaRPr>
            </a:p>
          </p:txBody>
        </p:sp>
      </p:grpSp>
      <p:sp>
        <p:nvSpPr>
          <p:cNvPr id="3" name="矩形 2">
            <a:extLst>
              <a:ext uri="{FF2B5EF4-FFF2-40B4-BE49-F238E27FC236}">
                <a16:creationId xmlns:a16="http://schemas.microsoft.com/office/drawing/2014/main" id="{DC352424-0443-43CC-9DB7-D6B00F0C4B2E}"/>
              </a:ext>
            </a:extLst>
          </p:cNvPr>
          <p:cNvSpPr/>
          <p:nvPr/>
        </p:nvSpPr>
        <p:spPr>
          <a:xfrm>
            <a:off x="467544" y="1975183"/>
            <a:ext cx="8470209" cy="1936236"/>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sz="1600" spc="150" dirty="0">
                <a:solidFill>
                  <a:srgbClr val="000000"/>
                </a:solidFill>
                <a:latin typeface="微软雅黑" panose="020B0503020204020204" pitchFamily="34" charset="-122"/>
                <a:ea typeface="微软雅黑" panose="020B0503020204020204" pitchFamily="34" charset="-122"/>
              </a:rPr>
              <a:t>生产者调整供给的时间</a:t>
            </a:r>
            <a:endParaRPr lang="en-US" altLang="zh-CN" sz="1600" spc="150" dirty="0">
              <a:solidFill>
                <a:srgbClr val="000000"/>
              </a:solidFill>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sz="1600" spc="150" dirty="0">
                <a:solidFill>
                  <a:srgbClr val="000000"/>
                </a:solidFill>
                <a:latin typeface="微软雅黑" panose="020B0503020204020204" pitchFamily="34" charset="-122"/>
                <a:ea typeface="微软雅黑" panose="020B0503020204020204" pitchFamily="34" charset="-122"/>
              </a:rPr>
              <a:t>供给是以生产为基础的，任何产品的生产都需要一定的周期。当商品价格发生变化时，生产者能够进行供给调整的时间越短，供给量变动就越小，因而供给弹性也就越小。</a:t>
            </a:r>
          </a:p>
          <a:p>
            <a:pPr marL="285750" indent="-285750">
              <a:lnSpc>
                <a:spcPct val="150000"/>
              </a:lnSpc>
              <a:buFont typeface="Wingdings" panose="05000000000000000000" pitchFamily="2" charset="2"/>
              <a:buChar char="Ø"/>
            </a:pPr>
            <a:endParaRPr lang="zh-CN" altLang="en-US" sz="1600" spc="150" dirty="0">
              <a:solidFill>
                <a:srgbClr val="000000"/>
              </a:solidFill>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EBFA84D5-7FCB-4DC8-86CD-9DB4E3F5446D}"/>
              </a:ext>
            </a:extLst>
          </p:cNvPr>
          <p:cNvSpPr/>
          <p:nvPr/>
        </p:nvSpPr>
        <p:spPr>
          <a:xfrm>
            <a:off x="467544" y="548680"/>
            <a:ext cx="2257349"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四、供给弹性 </a:t>
            </a:r>
          </a:p>
        </p:txBody>
      </p:sp>
      <p:sp>
        <p:nvSpPr>
          <p:cNvPr id="14" name="矩形 13">
            <a:extLst>
              <a:ext uri="{FF2B5EF4-FFF2-40B4-BE49-F238E27FC236}">
                <a16:creationId xmlns:a16="http://schemas.microsoft.com/office/drawing/2014/main" id="{FCCFAB3C-7072-45CE-BA52-D0BBECB333C5}"/>
              </a:ext>
            </a:extLst>
          </p:cNvPr>
          <p:cNvSpPr/>
          <p:nvPr/>
        </p:nvSpPr>
        <p:spPr>
          <a:xfrm>
            <a:off x="7261793" y="0"/>
            <a:ext cx="1611339"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弹性 </a:t>
            </a:r>
          </a:p>
        </p:txBody>
      </p:sp>
      <p:sp>
        <p:nvSpPr>
          <p:cNvPr id="16" name="矩形 15">
            <a:extLst>
              <a:ext uri="{FF2B5EF4-FFF2-40B4-BE49-F238E27FC236}">
                <a16:creationId xmlns:a16="http://schemas.microsoft.com/office/drawing/2014/main" id="{469EF6E5-E0B9-47A4-A09F-0315FDF530F9}"/>
              </a:ext>
            </a:extLst>
          </p:cNvPr>
          <p:cNvSpPr/>
          <p:nvPr/>
        </p:nvSpPr>
        <p:spPr>
          <a:xfrm>
            <a:off x="494278" y="3471729"/>
            <a:ext cx="8470209" cy="1936236"/>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sz="1600" spc="150" dirty="0">
                <a:solidFill>
                  <a:srgbClr val="000000"/>
                </a:solidFill>
                <a:latin typeface="微软雅黑" panose="020B0503020204020204" pitchFamily="34" charset="-122"/>
                <a:ea typeface="微软雅黑" panose="020B0503020204020204" pitchFamily="34" charset="-122"/>
              </a:rPr>
              <a:t>生产者使用的生产技术类型</a:t>
            </a:r>
          </a:p>
          <a:p>
            <a:pPr marL="742950" lvl="1" indent="-285750">
              <a:lnSpc>
                <a:spcPct val="150000"/>
              </a:lnSpc>
              <a:buFont typeface="Arial" panose="020B0604020202020204" pitchFamily="34" charset="0"/>
              <a:buChar char="•"/>
            </a:pPr>
            <a:r>
              <a:rPr lang="zh-CN" altLang="en-US" sz="1600" spc="150" dirty="0">
                <a:solidFill>
                  <a:srgbClr val="000000"/>
                </a:solidFill>
                <a:latin typeface="微软雅黑" panose="020B0503020204020204" pitchFamily="34" charset="-122"/>
                <a:ea typeface="微软雅黑" panose="020B0503020204020204" pitchFamily="34" charset="-122"/>
              </a:rPr>
              <a:t>一般而言，生产技术越复杂，技术越先进，机器设备占用越多，生产周期越长，相应于价格变动，生产者调整供给量的难度就越大，供给的价格弹性就越小。</a:t>
            </a:r>
          </a:p>
          <a:p>
            <a:pPr marL="285750" indent="-285750">
              <a:lnSpc>
                <a:spcPct val="150000"/>
              </a:lnSpc>
              <a:buFont typeface="Wingdings" panose="05000000000000000000" pitchFamily="2" charset="2"/>
              <a:buChar char="Ø"/>
            </a:pPr>
            <a:endParaRPr lang="zh-CN" altLang="en-US" sz="1600" spc="150" dirty="0">
              <a:solidFill>
                <a:srgbClr val="000000"/>
              </a:solidFill>
              <a:latin typeface="微软雅黑" panose="020B0503020204020204" pitchFamily="34" charset="-122"/>
              <a:ea typeface="微软雅黑" panose="020B0503020204020204" pitchFamily="34" charset="-122"/>
            </a:endParaRPr>
          </a:p>
        </p:txBody>
      </p:sp>
      <p:sp>
        <p:nvSpPr>
          <p:cNvPr id="17" name="矩形 16">
            <a:extLst>
              <a:ext uri="{FF2B5EF4-FFF2-40B4-BE49-F238E27FC236}">
                <a16:creationId xmlns:a16="http://schemas.microsoft.com/office/drawing/2014/main" id="{1111179B-D1F8-464B-A4D5-A171FF73399A}"/>
              </a:ext>
            </a:extLst>
          </p:cNvPr>
          <p:cNvSpPr/>
          <p:nvPr/>
        </p:nvSpPr>
        <p:spPr>
          <a:xfrm>
            <a:off x="494278" y="4946270"/>
            <a:ext cx="8649722" cy="1566904"/>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sz="1600" spc="150" dirty="0">
                <a:solidFill>
                  <a:srgbClr val="000000"/>
                </a:solidFill>
                <a:latin typeface="微软雅黑" panose="020B0503020204020204" pitchFamily="34" charset="-122"/>
                <a:ea typeface="微软雅黑" panose="020B0503020204020204" pitchFamily="34" charset="-122"/>
              </a:rPr>
              <a:t>现有生产能力的利用程度</a:t>
            </a:r>
          </a:p>
          <a:p>
            <a:pPr marL="742950" lvl="1" indent="-285750">
              <a:lnSpc>
                <a:spcPct val="150000"/>
              </a:lnSpc>
              <a:buFont typeface="Arial" panose="020B0604020202020204" pitchFamily="34" charset="0"/>
              <a:buChar char="•"/>
            </a:pPr>
            <a:r>
              <a:rPr lang="zh-CN" altLang="en-US" sz="1600" spc="150" dirty="0">
                <a:solidFill>
                  <a:srgbClr val="000000"/>
                </a:solidFill>
                <a:latin typeface="微软雅黑" panose="020B0503020204020204" pitchFamily="34" charset="-122"/>
                <a:ea typeface="微软雅黑" panose="020B0503020204020204" pitchFamily="34" charset="-122"/>
              </a:rPr>
              <a:t>对一个生产者而言，如果拥有过剩的生产能力，那么面对价格的变动，特别是价格的升高，调整供给量就更加容易，因而供给弹性就更大。</a:t>
            </a:r>
          </a:p>
          <a:p>
            <a:pPr marL="285750" indent="-285750">
              <a:lnSpc>
                <a:spcPct val="150000"/>
              </a:lnSpc>
              <a:buFont typeface="Wingdings" panose="05000000000000000000" pitchFamily="2" charset="2"/>
              <a:buChar char="Ø"/>
            </a:pPr>
            <a:endParaRPr lang="zh-CN" altLang="en-US" sz="1600" spc="150"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7257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
                                            <p:txEl>
                                              <p:pRg st="0" end="0"/>
                                            </p:txEl>
                                          </p:spTgt>
                                        </p:tgtEl>
                                        <p:attrNameLst>
                                          <p:attrName>style.visibility</p:attrName>
                                        </p:attrNameLst>
                                      </p:cBhvr>
                                      <p:to>
                                        <p:strVal val="visible"/>
                                      </p:to>
                                    </p:set>
                                    <p:animEffect transition="in" filter="wipe(left)">
                                      <p:cBhvr>
                                        <p:cTn id="22" dur="500"/>
                                        <p:tgtEl>
                                          <p:spTgt spid="1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
                                            <p:txEl>
                                              <p:pRg st="1" end="1"/>
                                            </p:txEl>
                                          </p:spTgt>
                                        </p:tgtEl>
                                        <p:attrNameLst>
                                          <p:attrName>style.visibility</p:attrName>
                                        </p:attrNameLst>
                                      </p:cBhvr>
                                      <p:to>
                                        <p:strVal val="visible"/>
                                      </p:to>
                                    </p:set>
                                    <p:animEffect transition="in" filter="wipe(left)">
                                      <p:cBhvr>
                                        <p:cTn id="27" dur="500"/>
                                        <p:tgtEl>
                                          <p:spTgt spid="16">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7">
                                            <p:txEl>
                                              <p:pRg st="0" end="0"/>
                                            </p:txEl>
                                          </p:spTgt>
                                        </p:tgtEl>
                                        <p:attrNameLst>
                                          <p:attrName>style.visibility</p:attrName>
                                        </p:attrNameLst>
                                      </p:cBhvr>
                                      <p:to>
                                        <p:strVal val="visible"/>
                                      </p:to>
                                    </p:set>
                                    <p:animEffect transition="in" filter="wipe(left)">
                                      <p:cBhvr>
                                        <p:cTn id="32" dur="500"/>
                                        <p:tgtEl>
                                          <p:spTgt spid="1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7">
                                            <p:txEl>
                                              <p:pRg st="1" end="1"/>
                                            </p:txEl>
                                          </p:spTgt>
                                        </p:tgtEl>
                                        <p:attrNameLst>
                                          <p:attrName>style.visibility</p:attrName>
                                        </p:attrNameLst>
                                      </p:cBhvr>
                                      <p:to>
                                        <p:strVal val="visible"/>
                                      </p:to>
                                    </p:set>
                                    <p:animEffect transition="in" filter="wipe(left)">
                                      <p:cBhvr>
                                        <p:cTn id="37" dur="500"/>
                                        <p:tgtEl>
                                          <p:spTgt spid="1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D27843F-C8C8-4131-BFDC-E49DAECFC098}"/>
              </a:ext>
            </a:extLst>
          </p:cNvPr>
          <p:cNvSpPr/>
          <p:nvPr/>
        </p:nvSpPr>
        <p:spPr>
          <a:xfrm>
            <a:off x="1524729" y="733048"/>
            <a:ext cx="6186309" cy="646331"/>
          </a:xfrm>
          <a:prstGeom prst="rect">
            <a:avLst/>
          </a:prstGeom>
        </p:spPr>
        <p:txBody>
          <a:bodyPr wrap="none">
            <a:spAutoFit/>
          </a:bodyPr>
          <a:lstStyle/>
          <a:p>
            <a:r>
              <a:rPr lang="zh-CN" altLang="en-US" sz="3600" b="1" dirty="0">
                <a:latin typeface="微软雅黑" panose="020B0503020204020204" pitchFamily="34" charset="-122"/>
                <a:ea typeface="微软雅黑" panose="020B0503020204020204" pitchFamily="34" charset="-122"/>
                <a:cs typeface="+mj-cs"/>
              </a:rPr>
              <a:t>第五节	供求分析的应用实例</a:t>
            </a:r>
          </a:p>
        </p:txBody>
      </p:sp>
      <p:sp>
        <p:nvSpPr>
          <p:cNvPr id="3" name="MH_Other_1">
            <a:extLst>
              <a:ext uri="{FF2B5EF4-FFF2-40B4-BE49-F238E27FC236}">
                <a16:creationId xmlns:a16="http://schemas.microsoft.com/office/drawing/2014/main" id="{E49827CC-25A7-41B2-867D-685134B4A529}"/>
              </a:ext>
            </a:extLst>
          </p:cNvPr>
          <p:cNvSpPr>
            <a:spLocks/>
          </p:cNvSpPr>
          <p:nvPr>
            <p:custDataLst>
              <p:tags r:id="rId1"/>
            </p:custDataLst>
          </p:nvPr>
        </p:nvSpPr>
        <p:spPr bwMode="gray">
          <a:xfrm>
            <a:off x="2554908" y="2612233"/>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2"/>
            </p:custDataLst>
          </p:nvPr>
        </p:nvSpPr>
        <p:spPr bwMode="gray">
          <a:xfrm>
            <a:off x="2486645" y="2310608"/>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5" name="MH_Other_2">
            <a:extLst>
              <a:ext uri="{FF2B5EF4-FFF2-40B4-BE49-F238E27FC236}">
                <a16:creationId xmlns:a16="http://schemas.microsoft.com/office/drawing/2014/main" id="{DB311A0E-78D0-4766-B201-6B5608EF753D}"/>
              </a:ext>
            </a:extLst>
          </p:cNvPr>
          <p:cNvSpPr>
            <a:spLocks/>
          </p:cNvSpPr>
          <p:nvPr>
            <p:custDataLst>
              <p:tags r:id="rId3"/>
            </p:custDataLst>
          </p:nvPr>
        </p:nvSpPr>
        <p:spPr bwMode="gray">
          <a:xfrm>
            <a:off x="2554908" y="3901931"/>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6" name="MH_SubTitle_2">
            <a:extLst>
              <a:ext uri="{FF2B5EF4-FFF2-40B4-BE49-F238E27FC236}">
                <a16:creationId xmlns:a16="http://schemas.microsoft.com/office/drawing/2014/main" id="{324FEB12-6B52-4D2F-B5C9-D9A603800236}"/>
              </a:ext>
            </a:extLst>
          </p:cNvPr>
          <p:cNvSpPr>
            <a:spLocks noChangeArrowheads="1"/>
          </p:cNvSpPr>
          <p:nvPr>
            <p:custDataLst>
              <p:tags r:id="rId4"/>
            </p:custDataLst>
          </p:nvPr>
        </p:nvSpPr>
        <p:spPr bwMode="gray">
          <a:xfrm>
            <a:off x="2486645" y="3600306"/>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7" name="MH_Other_3">
            <a:extLst>
              <a:ext uri="{FF2B5EF4-FFF2-40B4-BE49-F238E27FC236}">
                <a16:creationId xmlns:a16="http://schemas.microsoft.com/office/drawing/2014/main" id="{9F9167DD-6270-4A4E-9E47-20FB88C3F048}"/>
              </a:ext>
            </a:extLst>
          </p:cNvPr>
          <p:cNvSpPr>
            <a:spLocks/>
          </p:cNvSpPr>
          <p:nvPr>
            <p:custDataLst>
              <p:tags r:id="rId5"/>
            </p:custDataLst>
          </p:nvPr>
        </p:nvSpPr>
        <p:spPr bwMode="gray">
          <a:xfrm>
            <a:off x="2554908" y="5056733"/>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8" name="MH_SubTitle_3">
            <a:extLst>
              <a:ext uri="{FF2B5EF4-FFF2-40B4-BE49-F238E27FC236}">
                <a16:creationId xmlns:a16="http://schemas.microsoft.com/office/drawing/2014/main" id="{3FEC77B5-DB98-453D-BDBC-6598DEA48C49}"/>
              </a:ext>
            </a:extLst>
          </p:cNvPr>
          <p:cNvSpPr>
            <a:spLocks noChangeArrowheads="1"/>
          </p:cNvSpPr>
          <p:nvPr>
            <p:custDataLst>
              <p:tags r:id="rId6"/>
            </p:custDataLst>
          </p:nvPr>
        </p:nvSpPr>
        <p:spPr bwMode="gray">
          <a:xfrm>
            <a:off x="2486645" y="4755108"/>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1" name="MH_Other_5">
            <a:extLst>
              <a:ext uri="{FF2B5EF4-FFF2-40B4-BE49-F238E27FC236}">
                <a16:creationId xmlns:a16="http://schemas.microsoft.com/office/drawing/2014/main" id="{25D06B7F-7DCD-4D03-A450-0AAC55A41525}"/>
              </a:ext>
            </a:extLst>
          </p:cNvPr>
          <p:cNvCxnSpPr>
            <a:cxnSpLocks/>
            <a:stCxn id="4" idx="2"/>
            <a:endCxn id="6" idx="0"/>
          </p:cNvCxnSpPr>
          <p:nvPr>
            <p:custDataLst>
              <p:tags r:id="rId7"/>
            </p:custDataLst>
          </p:nvPr>
        </p:nvCxnSpPr>
        <p:spPr>
          <a:xfrm>
            <a:off x="3066083" y="2666208"/>
            <a:ext cx="0" cy="934098"/>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2" name="MH_Other_6">
            <a:extLst>
              <a:ext uri="{FF2B5EF4-FFF2-40B4-BE49-F238E27FC236}">
                <a16:creationId xmlns:a16="http://schemas.microsoft.com/office/drawing/2014/main" id="{B30D78AD-B3DA-44A6-A5F6-F28D02655A40}"/>
              </a:ext>
            </a:extLst>
          </p:cNvPr>
          <p:cNvCxnSpPr>
            <a:stCxn id="6" idx="2"/>
            <a:endCxn id="8" idx="0"/>
          </p:cNvCxnSpPr>
          <p:nvPr>
            <p:custDataLst>
              <p:tags r:id="rId8"/>
            </p:custDataLst>
          </p:nvPr>
        </p:nvCxnSpPr>
        <p:spPr>
          <a:xfrm>
            <a:off x="3066083" y="3955906"/>
            <a:ext cx="0" cy="799202"/>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7" name="矩形 16">
            <a:extLst>
              <a:ext uri="{FF2B5EF4-FFF2-40B4-BE49-F238E27FC236}">
                <a16:creationId xmlns:a16="http://schemas.microsoft.com/office/drawing/2014/main" id="{66A93A4A-F736-4CF5-82B6-87D5F4B7E4E5}"/>
              </a:ext>
            </a:extLst>
          </p:cNvPr>
          <p:cNvSpPr/>
          <p:nvPr/>
        </p:nvSpPr>
        <p:spPr>
          <a:xfrm>
            <a:off x="3851920" y="2270335"/>
            <a:ext cx="3127779"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支持价格和限制价格</a:t>
            </a:r>
          </a:p>
        </p:txBody>
      </p:sp>
      <p:sp>
        <p:nvSpPr>
          <p:cNvPr id="18" name="矩形 17">
            <a:extLst>
              <a:ext uri="{FF2B5EF4-FFF2-40B4-BE49-F238E27FC236}">
                <a16:creationId xmlns:a16="http://schemas.microsoft.com/office/drawing/2014/main" id="{6BA99CA7-A4CC-4245-BA58-DB89FA49F037}"/>
              </a:ext>
            </a:extLst>
          </p:cNvPr>
          <p:cNvSpPr/>
          <p:nvPr/>
        </p:nvSpPr>
        <p:spPr>
          <a:xfrm>
            <a:off x="3848125" y="3573016"/>
            <a:ext cx="2146742"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税收效应分析</a:t>
            </a:r>
          </a:p>
        </p:txBody>
      </p:sp>
      <p:sp>
        <p:nvSpPr>
          <p:cNvPr id="19" name="矩形 18">
            <a:extLst>
              <a:ext uri="{FF2B5EF4-FFF2-40B4-BE49-F238E27FC236}">
                <a16:creationId xmlns:a16="http://schemas.microsoft.com/office/drawing/2014/main" id="{018105B0-EC74-4F50-9B33-7F18FF6C04E7}"/>
              </a:ext>
            </a:extLst>
          </p:cNvPr>
          <p:cNvSpPr/>
          <p:nvPr/>
        </p:nvSpPr>
        <p:spPr>
          <a:xfrm>
            <a:off x="3848125" y="4740800"/>
            <a:ext cx="1819729"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弹性和收入</a:t>
            </a:r>
          </a:p>
        </p:txBody>
      </p:sp>
    </p:spTree>
    <p:extLst>
      <p:ext uri="{BB962C8B-B14F-4D97-AF65-F5344CB8AC3E}">
        <p14:creationId xmlns:p14="http://schemas.microsoft.com/office/powerpoint/2010/main" val="2152943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8" dur="500"/>
                                        <p:tgtEl>
                                          <p:spTgt spid="17"/>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up)">
                                      <p:cBhvr>
                                        <p:cTn id="30" dur="500"/>
                                        <p:tgtEl>
                                          <p:spTgt spid="6"/>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left)">
                                      <p:cBhvr>
                                        <p:cTn id="33" dur="500"/>
                                        <p:tgtEl>
                                          <p:spTgt spid="18"/>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up)">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up)">
                                      <p:cBhvr>
                                        <p:cTn id="42" dur="500"/>
                                        <p:tgtEl>
                                          <p:spTgt spid="7"/>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up)">
                                      <p:cBhvr>
                                        <p:cTn id="45" dur="500"/>
                                        <p:tgtEl>
                                          <p:spTgt spid="8"/>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P spid="8" grpId="0" animBg="1"/>
      <p:bldP spid="17" grpId="0"/>
      <p:bldP spid="18" grpId="0"/>
      <p:bldP spid="19"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type="body" idx="4294967295"/>
          </p:nvPr>
        </p:nvSpPr>
        <p:spPr>
          <a:xfrm>
            <a:off x="426448" y="1055831"/>
            <a:ext cx="1857380" cy="382586"/>
          </a:xfrm>
        </p:spPr>
        <p:txBody>
          <a:bodyPr/>
          <a:lstStyle/>
          <a:p>
            <a:pPr marL="0" lvl="2" indent="-285750">
              <a:lnSpc>
                <a:spcPct val="150000"/>
              </a:lnSpc>
              <a:spcBef>
                <a:spcPct val="0"/>
              </a:spcBef>
              <a:buFont typeface="Wingdings" panose="05000000000000000000" pitchFamily="2" charset="2"/>
              <a:buChar char="u"/>
            </a:pPr>
            <a:r>
              <a:rPr lang="zh-CN" altLang="en-US" sz="1800" spc="150" dirty="0">
                <a:solidFill>
                  <a:srgbClr val="000000"/>
                </a:solidFill>
                <a:latin typeface="微软雅黑" panose="020B0503020204020204" pitchFamily="34" charset="-122"/>
                <a:ea typeface="微软雅黑" panose="020B0503020204020204" pitchFamily="34" charset="-122"/>
              </a:rPr>
              <a:t>支持价格</a:t>
            </a:r>
            <a:endParaRPr lang="en-US" altLang="zh-CN" sz="2400" spc="150" dirty="0">
              <a:solidFill>
                <a:srgbClr val="000000"/>
              </a:solidFill>
              <a:latin typeface="微软雅黑" panose="020B0503020204020204" pitchFamily="34" charset="-122"/>
              <a:ea typeface="微软雅黑" panose="020B0503020204020204" pitchFamily="34" charset="-122"/>
            </a:endParaRPr>
          </a:p>
        </p:txBody>
      </p:sp>
      <p:grpSp>
        <p:nvGrpSpPr>
          <p:cNvPr id="62467" name="组合 43"/>
          <p:cNvGrpSpPr>
            <a:grpSpLocks/>
          </p:cNvGrpSpPr>
          <p:nvPr/>
        </p:nvGrpSpPr>
        <p:grpSpPr bwMode="auto">
          <a:xfrm>
            <a:off x="4429125" y="1177970"/>
            <a:ext cx="4114800" cy="3713162"/>
            <a:chOff x="0" y="0"/>
            <a:chExt cx="4114800" cy="3713162"/>
          </a:xfrm>
        </p:grpSpPr>
        <p:grpSp>
          <p:nvGrpSpPr>
            <p:cNvPr id="62472" name="组合 43"/>
            <p:cNvGrpSpPr>
              <a:grpSpLocks/>
            </p:cNvGrpSpPr>
            <p:nvPr/>
          </p:nvGrpSpPr>
          <p:grpSpPr bwMode="auto">
            <a:xfrm>
              <a:off x="0" y="1052512"/>
              <a:ext cx="3070225" cy="511175"/>
              <a:chOff x="0" y="0"/>
              <a:chExt cx="3070224" cy="511323"/>
            </a:xfrm>
          </p:grpSpPr>
          <p:grpSp>
            <p:nvGrpSpPr>
              <p:cNvPr id="62503" name="组合 36"/>
              <p:cNvGrpSpPr>
                <a:grpSpLocks/>
              </p:cNvGrpSpPr>
              <p:nvPr/>
            </p:nvGrpSpPr>
            <p:grpSpPr bwMode="auto">
              <a:xfrm>
                <a:off x="0" y="204834"/>
                <a:ext cx="2643188" cy="306489"/>
                <a:chOff x="0" y="0"/>
                <a:chExt cx="2643188" cy="306489"/>
              </a:xfrm>
            </p:grpSpPr>
            <p:cxnSp>
              <p:nvCxnSpPr>
                <p:cNvPr id="62506" name="直接连接符 17"/>
                <p:cNvCxnSpPr>
                  <a:cxnSpLocks noChangeShapeType="1"/>
                </p:cNvCxnSpPr>
                <p:nvPr/>
              </p:nvCxnSpPr>
              <p:spPr bwMode="auto">
                <a:xfrm>
                  <a:off x="285750" y="66707"/>
                  <a:ext cx="2357436"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2507" name="Object 7"/>
                <p:cNvGraphicFramePr>
                  <a:graphicFrameLocks noChangeAspect="1"/>
                </p:cNvGraphicFramePr>
                <p:nvPr/>
              </p:nvGraphicFramePr>
              <p:xfrm>
                <a:off x="0" y="0"/>
                <a:ext cx="212724" cy="306489"/>
              </p:xfrm>
              <a:graphic>
                <a:graphicData uri="http://schemas.openxmlformats.org/presentationml/2006/ole">
                  <mc:AlternateContent xmlns:mc="http://schemas.openxmlformats.org/markup-compatibility/2006">
                    <mc:Choice xmlns:v="urn:schemas-microsoft-com:vml" Requires="v">
                      <p:oleObj spid="_x0000_s177056" r:id="rId3" imgW="153131" imgH="229697" progId="">
                        <p:embed/>
                      </p:oleObj>
                    </mc:Choice>
                    <mc:Fallback>
                      <p:oleObj r:id="rId3" imgW="153131" imgH="229697" progId="">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12724" cy="306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62504" name="Object 8"/>
              <p:cNvGraphicFramePr>
                <a:graphicFrameLocks noChangeAspect="1"/>
              </p:cNvGraphicFramePr>
              <p:nvPr/>
            </p:nvGraphicFramePr>
            <p:xfrm>
              <a:off x="1000125" y="0"/>
              <a:ext cx="212724" cy="220004"/>
            </p:xfrm>
            <a:graphic>
              <a:graphicData uri="http://schemas.openxmlformats.org/presentationml/2006/ole">
                <mc:AlternateContent xmlns:mc="http://schemas.openxmlformats.org/markup-compatibility/2006">
                  <mc:Choice xmlns:v="urn:schemas-microsoft-com:vml" Requires="v">
                    <p:oleObj spid="_x0000_s177057" r:id="rId5" imgW="153332" imgH="166109" progId="">
                      <p:embed/>
                    </p:oleObj>
                  </mc:Choice>
                  <mc:Fallback>
                    <p:oleObj r:id="rId5" imgW="153332" imgH="166109" progId="">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0125" y="0"/>
                            <a:ext cx="212724" cy="220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505" name="Object 9"/>
              <p:cNvGraphicFramePr>
                <a:graphicFrameLocks noChangeAspect="1"/>
              </p:cNvGraphicFramePr>
              <p:nvPr/>
            </p:nvGraphicFramePr>
            <p:xfrm>
              <a:off x="2857500" y="204834"/>
              <a:ext cx="212724" cy="220005"/>
            </p:xfrm>
            <a:graphic>
              <a:graphicData uri="http://schemas.openxmlformats.org/presentationml/2006/ole">
                <mc:AlternateContent xmlns:mc="http://schemas.openxmlformats.org/markup-compatibility/2006">
                  <mc:Choice xmlns:v="urn:schemas-microsoft-com:vml" Requires="v">
                    <p:oleObj spid="_x0000_s177058" r:id="rId7" imgW="153332" imgH="166109" progId="">
                      <p:embed/>
                    </p:oleObj>
                  </mc:Choice>
                  <mc:Fallback>
                    <p:oleObj r:id="rId7" imgW="153332" imgH="166109" progId="">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57500" y="204834"/>
                            <a:ext cx="212724" cy="220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2473" name="组合 38"/>
            <p:cNvGrpSpPr>
              <a:grpSpLocks/>
            </p:cNvGrpSpPr>
            <p:nvPr/>
          </p:nvGrpSpPr>
          <p:grpSpPr bwMode="auto">
            <a:xfrm>
              <a:off x="2571750" y="1323975"/>
              <a:ext cx="284163" cy="2371725"/>
              <a:chOff x="0" y="0"/>
              <a:chExt cx="284160" cy="2372496"/>
            </a:xfrm>
          </p:grpSpPr>
          <p:cxnSp>
            <p:nvCxnSpPr>
              <p:cNvPr id="62501" name="直接连接符 25"/>
              <p:cNvCxnSpPr>
                <a:cxnSpLocks noChangeShapeType="1"/>
              </p:cNvCxnSpPr>
              <p:nvPr/>
            </p:nvCxnSpPr>
            <p:spPr bwMode="auto">
              <a:xfrm rot="16200000" flipH="1">
                <a:off x="-882973" y="954404"/>
                <a:ext cx="1980256" cy="7143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2502" name="Object 12"/>
              <p:cNvGraphicFramePr>
                <a:graphicFrameLocks noChangeAspect="1"/>
              </p:cNvGraphicFramePr>
              <p:nvPr/>
            </p:nvGraphicFramePr>
            <p:xfrm>
              <a:off x="0" y="2049317"/>
              <a:ext cx="284160" cy="323179"/>
            </p:xfrm>
            <a:graphic>
              <a:graphicData uri="http://schemas.openxmlformats.org/presentationml/2006/ole">
                <mc:AlternateContent xmlns:mc="http://schemas.openxmlformats.org/markup-compatibility/2006">
                  <mc:Choice xmlns:v="urn:schemas-microsoft-com:vml" Requires="v">
                    <p:oleObj spid="_x0000_s177059" r:id="rId9" imgW="204086" imgH="242352" progId="">
                      <p:embed/>
                    </p:oleObj>
                  </mc:Choice>
                  <mc:Fallback>
                    <p:oleObj r:id="rId9" imgW="204086" imgH="242352" progId="">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2049317"/>
                            <a:ext cx="284160" cy="323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2474" name="组合 42"/>
            <p:cNvGrpSpPr>
              <a:grpSpLocks/>
            </p:cNvGrpSpPr>
            <p:nvPr/>
          </p:nvGrpSpPr>
          <p:grpSpPr bwMode="auto">
            <a:xfrm>
              <a:off x="0" y="0"/>
              <a:ext cx="4114800" cy="3713162"/>
              <a:chOff x="0" y="0"/>
              <a:chExt cx="4114800" cy="3713162"/>
            </a:xfrm>
          </p:grpSpPr>
          <p:grpSp>
            <p:nvGrpSpPr>
              <p:cNvPr id="62475" name="组合 37"/>
              <p:cNvGrpSpPr>
                <a:grpSpLocks/>
              </p:cNvGrpSpPr>
              <p:nvPr/>
            </p:nvGrpSpPr>
            <p:grpSpPr bwMode="auto">
              <a:xfrm>
                <a:off x="785813" y="1323975"/>
                <a:ext cx="301625" cy="2371725"/>
                <a:chOff x="0" y="0"/>
                <a:chExt cx="301623" cy="2372498"/>
              </a:xfrm>
            </p:grpSpPr>
            <p:cxnSp>
              <p:nvCxnSpPr>
                <p:cNvPr id="62499" name="直接连接符 32"/>
                <p:cNvCxnSpPr>
                  <a:cxnSpLocks noChangeShapeType="1"/>
                </p:cNvCxnSpPr>
                <p:nvPr/>
              </p:nvCxnSpPr>
              <p:spPr bwMode="auto">
                <a:xfrm rot="16200000" flipH="1">
                  <a:off x="-754384" y="981394"/>
                  <a:ext cx="1962789" cy="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2500" name="Object 16"/>
                <p:cNvGraphicFramePr>
                  <a:graphicFrameLocks noChangeAspect="1"/>
                </p:cNvGraphicFramePr>
                <p:nvPr/>
              </p:nvGraphicFramePr>
              <p:xfrm>
                <a:off x="0" y="2049318"/>
                <a:ext cx="301623" cy="323180"/>
              </p:xfrm>
              <a:graphic>
                <a:graphicData uri="http://schemas.openxmlformats.org/presentationml/2006/ole">
                  <mc:AlternateContent xmlns:mc="http://schemas.openxmlformats.org/markup-compatibility/2006">
                    <mc:Choice xmlns:v="urn:schemas-microsoft-com:vml" Requires="v">
                      <p:oleObj spid="_x0000_s177060" r:id="rId11" imgW="216747" imgH="242246" progId="">
                        <p:embed/>
                      </p:oleObj>
                    </mc:Choice>
                    <mc:Fallback>
                      <p:oleObj r:id="rId11" imgW="216747" imgH="242246" progId="">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2049318"/>
                              <a:ext cx="301623" cy="323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2476" name="组合 41"/>
              <p:cNvGrpSpPr>
                <a:grpSpLocks/>
              </p:cNvGrpSpPr>
              <p:nvPr/>
            </p:nvGrpSpPr>
            <p:grpSpPr bwMode="auto">
              <a:xfrm>
                <a:off x="0" y="0"/>
                <a:ext cx="4114800" cy="3713162"/>
                <a:chOff x="0" y="0"/>
                <a:chExt cx="4114800" cy="3713162"/>
              </a:xfrm>
            </p:grpSpPr>
            <p:grpSp>
              <p:nvGrpSpPr>
                <p:cNvPr id="62477" name="组合 34"/>
                <p:cNvGrpSpPr>
                  <a:grpSpLocks/>
                </p:cNvGrpSpPr>
                <p:nvPr/>
              </p:nvGrpSpPr>
              <p:grpSpPr bwMode="auto">
                <a:xfrm>
                  <a:off x="0" y="642937"/>
                  <a:ext cx="3643313" cy="3070225"/>
                  <a:chOff x="0" y="0"/>
                  <a:chExt cx="3643313" cy="3070225"/>
                </a:xfrm>
              </p:grpSpPr>
              <p:cxnSp>
                <p:nvCxnSpPr>
                  <p:cNvPr id="62494" name="直接箭头连接符 7"/>
                  <p:cNvCxnSpPr>
                    <a:cxnSpLocks noChangeShapeType="1"/>
                  </p:cNvCxnSpPr>
                  <p:nvPr/>
                </p:nvCxnSpPr>
                <p:spPr bwMode="auto">
                  <a:xfrm rot="5400000" flipH="1" flipV="1">
                    <a:off x="-1046163" y="1330326"/>
                    <a:ext cx="2662236"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62495" name="直接箭头连接符 5"/>
                  <p:cNvCxnSpPr>
                    <a:cxnSpLocks noChangeShapeType="1"/>
                  </p:cNvCxnSpPr>
                  <p:nvPr/>
                </p:nvCxnSpPr>
                <p:spPr bwMode="auto">
                  <a:xfrm>
                    <a:off x="285750" y="2660650"/>
                    <a:ext cx="3357562"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graphicFrame>
                <p:nvGraphicFramePr>
                  <p:cNvPr id="62496" name="Object 21"/>
                  <p:cNvGraphicFramePr>
                    <a:graphicFrameLocks noChangeAspect="1"/>
                  </p:cNvGraphicFramePr>
                  <p:nvPr/>
                </p:nvGraphicFramePr>
                <p:xfrm>
                  <a:off x="0" y="2730355"/>
                  <a:ext cx="212724" cy="236695"/>
                </p:xfrm>
                <a:graphic>
                  <a:graphicData uri="http://schemas.openxmlformats.org/presentationml/2006/ole">
                    <mc:AlternateContent xmlns:mc="http://schemas.openxmlformats.org/markup-compatibility/2006">
                      <mc:Choice xmlns:v="urn:schemas-microsoft-com:vml" Requires="v">
                        <p:oleObj spid="_x0000_s177061" r:id="rId13" imgW="153198" imgH="178731" progId="">
                          <p:embed/>
                        </p:oleObj>
                      </mc:Choice>
                      <mc:Fallback>
                        <p:oleObj r:id="rId13" imgW="153198" imgH="178731" progId="">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2730355"/>
                                <a:ext cx="212724" cy="236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97" name="Object 22"/>
                  <p:cNvGraphicFramePr>
                    <a:graphicFrameLocks noChangeAspect="1"/>
                  </p:cNvGraphicFramePr>
                  <p:nvPr/>
                </p:nvGraphicFramePr>
                <p:xfrm>
                  <a:off x="0" y="135797"/>
                  <a:ext cx="212724" cy="220004"/>
                </p:xfrm>
                <a:graphic>
                  <a:graphicData uri="http://schemas.openxmlformats.org/presentationml/2006/ole">
                    <mc:AlternateContent xmlns:mc="http://schemas.openxmlformats.org/markup-compatibility/2006">
                      <mc:Choice xmlns:v="urn:schemas-microsoft-com:vml" Requires="v">
                        <p:oleObj spid="_x0000_s177062" r:id="rId15" imgW="153332" imgH="166109" progId="">
                          <p:embed/>
                        </p:oleObj>
                      </mc:Choice>
                      <mc:Fallback>
                        <p:oleObj r:id="rId15" imgW="153332" imgH="166109" progId="">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135797"/>
                                <a:ext cx="212724" cy="220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98" name="Object 23"/>
                  <p:cNvGraphicFramePr>
                    <a:graphicFrameLocks noChangeAspect="1"/>
                  </p:cNvGraphicFramePr>
                  <p:nvPr/>
                </p:nvGraphicFramePr>
                <p:xfrm>
                  <a:off x="3429000" y="2798632"/>
                  <a:ext cx="212724" cy="271593"/>
                </p:xfrm>
                <a:graphic>
                  <a:graphicData uri="http://schemas.openxmlformats.org/presentationml/2006/ole">
                    <mc:AlternateContent xmlns:mc="http://schemas.openxmlformats.org/markup-compatibility/2006">
                      <mc:Choice xmlns:v="urn:schemas-microsoft-com:vml" Requires="v">
                        <p:oleObj spid="_x0000_s177063" r:id="rId17" imgW="153332" imgH="204442" progId="">
                          <p:embed/>
                        </p:oleObj>
                      </mc:Choice>
                      <mc:Fallback>
                        <p:oleObj r:id="rId17" imgW="153332" imgH="204442" progId="">
                          <p:embed/>
                          <p:pic>
                            <p:nvPicPr>
                              <p:cNvPr id="0" name="Object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29000" y="2798632"/>
                                <a:ext cx="212724" cy="271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2478" name="组合 35"/>
                <p:cNvGrpSpPr>
                  <a:grpSpLocks/>
                </p:cNvGrpSpPr>
                <p:nvPr/>
              </p:nvGrpSpPr>
              <p:grpSpPr bwMode="auto">
                <a:xfrm>
                  <a:off x="0" y="779462"/>
                  <a:ext cx="3409950" cy="2900363"/>
                  <a:chOff x="0" y="0"/>
                  <a:chExt cx="3409949" cy="2901047"/>
                </a:xfrm>
              </p:grpSpPr>
              <p:cxnSp>
                <p:nvCxnSpPr>
                  <p:cNvPr id="62485" name="直接连接符 19"/>
                  <p:cNvCxnSpPr>
                    <a:cxnSpLocks noChangeShapeType="1"/>
                  </p:cNvCxnSpPr>
                  <p:nvPr/>
                </p:nvCxnSpPr>
                <p:spPr bwMode="auto">
                  <a:xfrm rot="5400000">
                    <a:off x="1101558" y="1841929"/>
                    <a:ext cx="1367159"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62486" name="直接连接符 11"/>
                  <p:cNvCxnSpPr>
                    <a:cxnSpLocks noChangeShapeType="1"/>
                  </p:cNvCxnSpPr>
                  <p:nvPr/>
                </p:nvCxnSpPr>
                <p:spPr bwMode="auto">
                  <a:xfrm flipV="1">
                    <a:off x="642937" y="203249"/>
                    <a:ext cx="2500312" cy="1775243"/>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62487" name="直接连接符 13"/>
                  <p:cNvCxnSpPr>
                    <a:cxnSpLocks noChangeShapeType="1"/>
                  </p:cNvCxnSpPr>
                  <p:nvPr/>
                </p:nvCxnSpPr>
                <p:spPr bwMode="auto">
                  <a:xfrm>
                    <a:off x="571500" y="203249"/>
                    <a:ext cx="2357436" cy="1843521"/>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62488" name="直接连接符 21"/>
                  <p:cNvCxnSpPr>
                    <a:cxnSpLocks noChangeShapeType="1"/>
                  </p:cNvCxnSpPr>
                  <p:nvPr/>
                </p:nvCxnSpPr>
                <p:spPr bwMode="auto">
                  <a:xfrm rot="10800000" flipV="1">
                    <a:off x="285750" y="1159149"/>
                    <a:ext cx="1500187" cy="6827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2489" name="Object 29"/>
                  <p:cNvGraphicFramePr>
                    <a:graphicFrameLocks noChangeAspect="1"/>
                  </p:cNvGraphicFramePr>
                  <p:nvPr/>
                </p:nvGraphicFramePr>
                <p:xfrm>
                  <a:off x="0" y="1092445"/>
                  <a:ext cx="266698" cy="306489"/>
                </p:xfrm>
                <a:graphic>
                  <a:graphicData uri="http://schemas.openxmlformats.org/presentationml/2006/ole">
                    <mc:AlternateContent xmlns:mc="http://schemas.openxmlformats.org/markup-compatibility/2006">
                      <mc:Choice xmlns:v="urn:schemas-microsoft-com:vml" Requires="v">
                        <p:oleObj spid="_x0000_s177064" r:id="rId19" imgW="191414" imgH="229697" progId="">
                          <p:embed/>
                        </p:oleObj>
                      </mc:Choice>
                      <mc:Fallback>
                        <p:oleObj r:id="rId19" imgW="191414" imgH="229697" progId="">
                          <p:embed/>
                          <p:pic>
                            <p:nvPicPr>
                              <p:cNvPr id="0" name="Object 2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0" y="1092445"/>
                                <a:ext cx="266698" cy="306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90" name="Object 30"/>
                  <p:cNvGraphicFramePr>
                    <a:graphicFrameLocks noChangeAspect="1"/>
                  </p:cNvGraphicFramePr>
                  <p:nvPr/>
                </p:nvGraphicFramePr>
                <p:xfrm>
                  <a:off x="3214688" y="0"/>
                  <a:ext cx="195261" cy="236695"/>
                </p:xfrm>
                <a:graphic>
                  <a:graphicData uri="http://schemas.openxmlformats.org/presentationml/2006/ole">
                    <mc:AlternateContent xmlns:mc="http://schemas.openxmlformats.org/markup-compatibility/2006">
                      <mc:Choice xmlns:v="urn:schemas-microsoft-com:vml" Requires="v">
                        <p:oleObj spid="_x0000_s177065" r:id="rId21" imgW="140493" imgH="178809" progId="">
                          <p:embed/>
                        </p:oleObj>
                      </mc:Choice>
                      <mc:Fallback>
                        <p:oleObj r:id="rId21" imgW="140493" imgH="178809" progId="">
                          <p:embed/>
                          <p:pic>
                            <p:nvPicPr>
                              <p:cNvPr id="0" name="Object 3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214688" y="0"/>
                                <a:ext cx="195261" cy="236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91" name="Object 31"/>
                  <p:cNvGraphicFramePr>
                    <a:graphicFrameLocks noChangeAspect="1"/>
                  </p:cNvGraphicFramePr>
                  <p:nvPr/>
                </p:nvGraphicFramePr>
                <p:xfrm>
                  <a:off x="1928813" y="1092445"/>
                  <a:ext cx="212724" cy="220004"/>
                </p:xfrm>
                <a:graphic>
                  <a:graphicData uri="http://schemas.openxmlformats.org/presentationml/2006/ole">
                    <mc:AlternateContent xmlns:mc="http://schemas.openxmlformats.org/markup-compatibility/2006">
                      <mc:Choice xmlns:v="urn:schemas-microsoft-com:vml" Requires="v">
                        <p:oleObj spid="_x0000_s177066" r:id="rId23" imgW="153332" imgH="166109" progId="">
                          <p:embed/>
                        </p:oleObj>
                      </mc:Choice>
                      <mc:Fallback>
                        <p:oleObj r:id="rId23" imgW="153332" imgH="166109" progId="">
                          <p:embed/>
                          <p:pic>
                            <p:nvPicPr>
                              <p:cNvPr id="0" name="Object 3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928813" y="1092445"/>
                                <a:ext cx="212724" cy="220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92" name="Object 32"/>
                  <p:cNvGraphicFramePr>
                    <a:graphicFrameLocks noChangeAspect="1"/>
                  </p:cNvGraphicFramePr>
                  <p:nvPr/>
                </p:nvGraphicFramePr>
                <p:xfrm>
                  <a:off x="3000375" y="1980057"/>
                  <a:ext cx="230185" cy="220004"/>
                </p:xfrm>
                <a:graphic>
                  <a:graphicData uri="http://schemas.openxmlformats.org/presentationml/2006/ole">
                    <mc:AlternateContent xmlns:mc="http://schemas.openxmlformats.org/markup-compatibility/2006">
                      <mc:Choice xmlns:v="urn:schemas-microsoft-com:vml" Requires="v">
                        <p:oleObj spid="_x0000_s177067" r:id="rId25" imgW="166037" imgH="166037" progId="">
                          <p:embed/>
                        </p:oleObj>
                      </mc:Choice>
                      <mc:Fallback>
                        <p:oleObj r:id="rId25" imgW="166037" imgH="166037" progId="">
                          <p:embed/>
                          <p:pic>
                            <p:nvPicPr>
                              <p:cNvPr id="0" name="Object 3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000375" y="1980057"/>
                                <a:ext cx="230185" cy="220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93" name="Object 33"/>
                  <p:cNvGraphicFramePr>
                    <a:graphicFrameLocks noChangeAspect="1"/>
                  </p:cNvGraphicFramePr>
                  <p:nvPr/>
                </p:nvGraphicFramePr>
                <p:xfrm>
                  <a:off x="1643063" y="2594558"/>
                  <a:ext cx="301623" cy="306489"/>
                </p:xfrm>
                <a:graphic>
                  <a:graphicData uri="http://schemas.openxmlformats.org/presentationml/2006/ole">
                    <mc:AlternateContent xmlns:mc="http://schemas.openxmlformats.org/markup-compatibility/2006">
                      <mc:Choice xmlns:v="urn:schemas-microsoft-com:vml" Requires="v">
                        <p:oleObj spid="_x0000_s177068" r:id="rId27" imgW="216747" imgH="229496" progId="">
                          <p:embed/>
                        </p:oleObj>
                      </mc:Choice>
                      <mc:Fallback>
                        <p:oleObj r:id="rId27" imgW="216747" imgH="229496" progId="">
                          <p:embed/>
                          <p:pic>
                            <p:nvPicPr>
                              <p:cNvPr id="0" name="Object 3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643063" y="2594558"/>
                                <a:ext cx="301623" cy="306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2479" name="组合 41"/>
                <p:cNvGrpSpPr>
                  <a:grpSpLocks/>
                </p:cNvGrpSpPr>
                <p:nvPr/>
              </p:nvGrpSpPr>
              <p:grpSpPr bwMode="auto">
                <a:xfrm>
                  <a:off x="214313" y="0"/>
                  <a:ext cx="2794000" cy="1917700"/>
                  <a:chOff x="0" y="0"/>
                  <a:chExt cx="2794003" cy="1917692"/>
                </a:xfrm>
              </p:grpSpPr>
              <p:cxnSp>
                <p:nvCxnSpPr>
                  <p:cNvPr id="62483" name="直接连接符 30"/>
                  <p:cNvCxnSpPr>
                    <a:cxnSpLocks noChangeShapeType="1"/>
                  </p:cNvCxnSpPr>
                  <p:nvPr/>
                </p:nvCxnSpPr>
                <p:spPr bwMode="auto">
                  <a:xfrm flipV="1">
                    <a:off x="-1" y="142874"/>
                    <a:ext cx="2500316" cy="1774817"/>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aphicFrame>
                <p:nvGraphicFramePr>
                  <p:cNvPr id="62484" name="Object 36"/>
                  <p:cNvGraphicFramePr>
                    <a:graphicFrameLocks noChangeAspect="1"/>
                  </p:cNvGraphicFramePr>
                  <p:nvPr/>
                </p:nvGraphicFramePr>
                <p:xfrm>
                  <a:off x="2546353" y="0"/>
                  <a:ext cx="247650" cy="236537"/>
                </p:xfrm>
                <a:graphic>
                  <a:graphicData uri="http://schemas.openxmlformats.org/presentationml/2006/ole">
                    <mc:AlternateContent xmlns:mc="http://schemas.openxmlformats.org/markup-compatibility/2006">
                      <mc:Choice xmlns:v="urn:schemas-microsoft-com:vml" Requires="v">
                        <p:oleObj spid="_x0000_s177069" r:id="rId29" imgW="178731" imgH="178731" progId="">
                          <p:embed/>
                        </p:oleObj>
                      </mc:Choice>
                      <mc:Fallback>
                        <p:oleObj r:id="rId29" imgW="178731" imgH="178731" progId="">
                          <p:embed/>
                          <p:pic>
                            <p:nvPicPr>
                              <p:cNvPr id="0" name="Object 3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546353" y="0"/>
                                <a:ext cx="247650" cy="236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2480" name="组合 42"/>
                <p:cNvGrpSpPr>
                  <a:grpSpLocks/>
                </p:cNvGrpSpPr>
                <p:nvPr/>
              </p:nvGrpSpPr>
              <p:grpSpPr bwMode="auto">
                <a:xfrm>
                  <a:off x="1500188" y="428625"/>
                  <a:ext cx="2614612" cy="2078037"/>
                  <a:chOff x="0" y="0"/>
                  <a:chExt cx="2614606" cy="2078043"/>
                </a:xfrm>
              </p:grpSpPr>
              <p:cxnSp>
                <p:nvCxnSpPr>
                  <p:cNvPr id="62481" name="直接连接符 29"/>
                  <p:cNvCxnSpPr>
                    <a:cxnSpLocks noChangeShapeType="1"/>
                  </p:cNvCxnSpPr>
                  <p:nvPr/>
                </p:nvCxnSpPr>
                <p:spPr bwMode="auto">
                  <a:xfrm>
                    <a:off x="-1" y="0"/>
                    <a:ext cx="2357433" cy="1843092"/>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aphicFrame>
                <p:nvGraphicFramePr>
                  <p:cNvPr id="62482" name="Object 39"/>
                  <p:cNvGraphicFramePr>
                    <a:graphicFrameLocks noChangeAspect="1"/>
                  </p:cNvGraphicFramePr>
                  <p:nvPr/>
                </p:nvGraphicFramePr>
                <p:xfrm>
                  <a:off x="2330444" y="1857381"/>
                  <a:ext cx="284162" cy="220662"/>
                </p:xfrm>
                <a:graphic>
                  <a:graphicData uri="http://schemas.openxmlformats.org/presentationml/2006/ole">
                    <mc:AlternateContent xmlns:mc="http://schemas.openxmlformats.org/markup-compatibility/2006">
                      <mc:Choice xmlns:v="urn:schemas-microsoft-com:vml" Requires="v">
                        <p:oleObj spid="_x0000_s177070" r:id="rId31" imgW="204353" imgH="166037" progId="">
                          <p:embed/>
                        </p:oleObj>
                      </mc:Choice>
                      <mc:Fallback>
                        <p:oleObj r:id="rId31" imgW="204353" imgH="166037" progId="">
                          <p:embed/>
                          <p:pic>
                            <p:nvPicPr>
                              <p:cNvPr id="0" name="Object 39"/>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330444" y="1857381"/>
                                <a:ext cx="284162" cy="220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grpSp>
      <p:grpSp>
        <p:nvGrpSpPr>
          <p:cNvPr id="17" name="组合 16">
            <a:extLst>
              <a:ext uri="{FF2B5EF4-FFF2-40B4-BE49-F238E27FC236}">
                <a16:creationId xmlns:a16="http://schemas.microsoft.com/office/drawing/2014/main" id="{8FA18A31-58A9-4D55-B7E4-0EC054BB7AE7}"/>
              </a:ext>
            </a:extLst>
          </p:cNvPr>
          <p:cNvGrpSpPr/>
          <p:nvPr/>
        </p:nvGrpSpPr>
        <p:grpSpPr>
          <a:xfrm>
            <a:off x="1047786" y="4958391"/>
            <a:ext cx="4468777" cy="1113256"/>
            <a:chOff x="1047786" y="4958391"/>
            <a:chExt cx="4544975" cy="1113256"/>
          </a:xfrm>
        </p:grpSpPr>
        <p:sp>
          <p:nvSpPr>
            <p:cNvPr id="45" name="右箭头标注 44"/>
            <p:cNvSpPr/>
            <p:nvPr/>
          </p:nvSpPr>
          <p:spPr bwMode="auto">
            <a:xfrm>
              <a:off x="1047786" y="4958391"/>
              <a:ext cx="4544975" cy="1113256"/>
            </a:xfrm>
            <a:prstGeom prst="rightArrowCallout">
              <a:avLst>
                <a:gd name="adj1" fmla="val 17128"/>
                <a:gd name="adj2" fmla="val 19867"/>
                <a:gd name="adj3" fmla="val 37834"/>
                <a:gd name="adj4" fmla="val 67465"/>
              </a:avLst>
            </a:prstGeom>
            <a:noFill/>
            <a:ln w="28575">
              <a:solidFill>
                <a:schemeClr val="accent3">
                  <a:lumMod val="50000"/>
                </a:schemeClr>
              </a:solidFill>
            </a:ln>
            <a:effec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44" name="Rectangle 3"/>
            <p:cNvSpPr txBox="1">
              <a:spLocks noChangeArrowheads="1"/>
            </p:cNvSpPr>
            <p:nvPr/>
          </p:nvSpPr>
          <p:spPr bwMode="auto">
            <a:xfrm>
              <a:off x="1475656" y="5027766"/>
              <a:ext cx="2368237" cy="690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50000"/>
                </a:lnSpc>
              </a:pPr>
              <a:r>
                <a:rPr lang="zh-CN" altLang="en-US" sz="1800" b="0" dirty="0">
                  <a:solidFill>
                    <a:srgbClr val="C00000"/>
                  </a:solidFill>
                  <a:latin typeface="微软雅黑" panose="020B0503020204020204" pitchFamily="34" charset="-122"/>
                  <a:ea typeface="微软雅黑" panose="020B0503020204020204" pitchFamily="34" charset="-122"/>
                </a:rPr>
                <a:t>均衡价格</a:t>
              </a:r>
              <a:r>
                <a:rPr lang="en-US" altLang="zh-CN" sz="1800" b="0" dirty="0">
                  <a:solidFill>
                    <a:srgbClr val="C00000"/>
                  </a:solidFill>
                  <a:latin typeface="微软雅黑" panose="020B0503020204020204" pitchFamily="34" charset="-122"/>
                  <a:ea typeface="微软雅黑" panose="020B0503020204020204" pitchFamily="34" charset="-122"/>
                </a:rPr>
                <a:t>——E</a:t>
              </a:r>
            </a:p>
            <a:p>
              <a:pPr eaLnBrk="1" hangingPunct="1">
                <a:lnSpc>
                  <a:spcPct val="150000"/>
                </a:lnSpc>
              </a:pPr>
              <a:r>
                <a:rPr lang="zh-CN" altLang="en-US" sz="1800" b="0" dirty="0">
                  <a:solidFill>
                    <a:srgbClr val="C00000"/>
                  </a:solidFill>
                  <a:latin typeface="微软雅黑" panose="020B0503020204020204" pitchFamily="34" charset="-122"/>
                  <a:ea typeface="微软雅黑" panose="020B0503020204020204" pitchFamily="34" charset="-122"/>
                </a:rPr>
                <a:t>支持价格</a:t>
              </a:r>
              <a:r>
                <a:rPr lang="en-US" altLang="zh-CN" sz="1800" b="0" dirty="0">
                  <a:solidFill>
                    <a:srgbClr val="C00000"/>
                  </a:solidFill>
                  <a:latin typeface="微软雅黑" panose="020B0503020204020204" pitchFamily="34" charset="-122"/>
                  <a:ea typeface="微软雅黑" panose="020B0503020204020204" pitchFamily="34" charset="-122"/>
                </a:rPr>
                <a:t>——P</a:t>
              </a:r>
              <a:r>
                <a:rPr lang="en-US" altLang="zh-CN" sz="1800" b="0" baseline="-25000" dirty="0">
                  <a:solidFill>
                    <a:srgbClr val="C00000"/>
                  </a:solidFill>
                </a:rPr>
                <a:t>1</a:t>
              </a:r>
              <a:endParaRPr lang="en-US" altLang="zh-CN" sz="2000" b="0" baseline="-25000" dirty="0">
                <a:solidFill>
                  <a:srgbClr val="C00000"/>
                </a:solidFill>
              </a:endParaRPr>
            </a:p>
          </p:txBody>
        </p:sp>
      </p:grpSp>
      <p:sp>
        <p:nvSpPr>
          <p:cNvPr id="2" name="矩形 1"/>
          <p:cNvSpPr/>
          <p:nvPr/>
        </p:nvSpPr>
        <p:spPr>
          <a:xfrm>
            <a:off x="5564534" y="5314004"/>
            <a:ext cx="1455738" cy="369332"/>
          </a:xfrm>
          <a:prstGeom prst="rect">
            <a:avLst/>
          </a:prstGeom>
          <a:solidFill>
            <a:schemeClr val="bg2">
              <a:lumMod val="40000"/>
              <a:lumOff val="60000"/>
            </a:schemeClr>
          </a:solidFill>
        </p:spPr>
        <p:txBody>
          <a:bodyPr wrap="square">
            <a:spAutoFit/>
          </a:bodyPr>
          <a:lstStyle/>
          <a:p>
            <a:pPr algn="ctr" eaLnBrk="1" hangingPunct="1"/>
            <a:r>
              <a:rPr lang="zh-CN" altLang="en-US" dirty="0">
                <a:latin typeface="微软雅黑" panose="020B0503020204020204" pitchFamily="34" charset="-122"/>
                <a:ea typeface="微软雅黑" panose="020B0503020204020204" pitchFamily="34" charset="-122"/>
              </a:rPr>
              <a:t>产品过剩</a:t>
            </a:r>
            <a:endParaRPr lang="en-US" altLang="zh-CN" dirty="0">
              <a:latin typeface="微软雅黑" panose="020B0503020204020204" pitchFamily="34" charset="-122"/>
              <a:ea typeface="微软雅黑" panose="020B0503020204020204" pitchFamily="34" charset="-122"/>
            </a:endParaRPr>
          </a:p>
        </p:txBody>
      </p:sp>
      <p:sp>
        <p:nvSpPr>
          <p:cNvPr id="4" name="右中括号 3"/>
          <p:cNvSpPr/>
          <p:nvPr/>
        </p:nvSpPr>
        <p:spPr bwMode="auto">
          <a:xfrm rot="5400000">
            <a:off x="6058563" y="4001507"/>
            <a:ext cx="454341" cy="1573156"/>
          </a:xfrm>
          <a:prstGeom prst="rightBracket">
            <a:avLst/>
          </a:prstGeom>
          <a:noFill/>
          <a:ln>
            <a:solidFill>
              <a:schemeClr val="tx1"/>
            </a:solidFill>
          </a:ln>
          <a:effec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6" name="直接箭头连接符 5"/>
          <p:cNvCxnSpPr>
            <a:cxnSpLocks/>
            <a:stCxn id="2" idx="0"/>
            <a:endCxn id="4" idx="2"/>
          </p:cNvCxnSpPr>
          <p:nvPr/>
        </p:nvCxnSpPr>
        <p:spPr bwMode="auto">
          <a:xfrm flipH="1" flipV="1">
            <a:off x="6285734" y="5015256"/>
            <a:ext cx="6669" cy="298748"/>
          </a:xfrm>
          <a:prstGeom prst="straightConnector1">
            <a:avLst/>
          </a:prstGeom>
          <a:solidFill>
            <a:srgbClr val="FF00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矩形 47">
            <a:extLst>
              <a:ext uri="{FF2B5EF4-FFF2-40B4-BE49-F238E27FC236}">
                <a16:creationId xmlns:a16="http://schemas.microsoft.com/office/drawing/2014/main" id="{8DE34809-A18B-469B-89FF-04C69E0CA2BB}"/>
              </a:ext>
            </a:extLst>
          </p:cNvPr>
          <p:cNvSpPr/>
          <p:nvPr/>
        </p:nvSpPr>
        <p:spPr>
          <a:xfrm>
            <a:off x="467544" y="548680"/>
            <a:ext cx="389241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一、支持价格和限制价格 </a:t>
            </a:r>
          </a:p>
        </p:txBody>
      </p:sp>
      <p:sp>
        <p:nvSpPr>
          <p:cNvPr id="49" name="矩形 48">
            <a:extLst>
              <a:ext uri="{FF2B5EF4-FFF2-40B4-BE49-F238E27FC236}">
                <a16:creationId xmlns:a16="http://schemas.microsoft.com/office/drawing/2014/main" id="{87C5FB19-0AD8-4852-A5DB-9CBAC9295EB7}"/>
              </a:ext>
            </a:extLst>
          </p:cNvPr>
          <p:cNvSpPr/>
          <p:nvPr/>
        </p:nvSpPr>
        <p:spPr>
          <a:xfrm>
            <a:off x="5738974" y="0"/>
            <a:ext cx="3381054"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第五节 供求分析的应用实例</a:t>
            </a:r>
          </a:p>
        </p:txBody>
      </p:sp>
      <p:sp>
        <p:nvSpPr>
          <p:cNvPr id="5" name="矩形 4">
            <a:extLst>
              <a:ext uri="{FF2B5EF4-FFF2-40B4-BE49-F238E27FC236}">
                <a16:creationId xmlns:a16="http://schemas.microsoft.com/office/drawing/2014/main" id="{E97295EC-DEE1-4EF0-8CDE-E5686A8733AA}"/>
              </a:ext>
            </a:extLst>
          </p:cNvPr>
          <p:cNvSpPr/>
          <p:nvPr/>
        </p:nvSpPr>
        <p:spPr>
          <a:xfrm>
            <a:off x="38131" y="1483903"/>
            <a:ext cx="4084636" cy="458908"/>
          </a:xfrm>
          <a:prstGeom prst="rect">
            <a:avLst/>
          </a:prstGeom>
        </p:spPr>
        <p:txBody>
          <a:bodyPr wrap="square">
            <a:spAutoFit/>
          </a:bodyPr>
          <a:lstStyle/>
          <a:p>
            <a:pPr marL="857250" lvl="1" indent="-342900">
              <a:lnSpc>
                <a:spcPct val="1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定义</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51" name="矩形 50">
            <a:extLst>
              <a:ext uri="{FF2B5EF4-FFF2-40B4-BE49-F238E27FC236}">
                <a16:creationId xmlns:a16="http://schemas.microsoft.com/office/drawing/2014/main" id="{63790869-3605-4199-B7AB-F72DBD919ED1}"/>
              </a:ext>
            </a:extLst>
          </p:cNvPr>
          <p:cNvSpPr/>
          <p:nvPr/>
        </p:nvSpPr>
        <p:spPr>
          <a:xfrm>
            <a:off x="95482" y="3418224"/>
            <a:ext cx="4572000" cy="458908"/>
          </a:xfrm>
          <a:prstGeom prst="rect">
            <a:avLst/>
          </a:prstGeom>
        </p:spPr>
        <p:txBody>
          <a:bodyPr>
            <a:spAutoFit/>
          </a:bodyPr>
          <a:lstStyle/>
          <a:p>
            <a:pPr lvl="1">
              <a:lnSpc>
                <a:spcPct val="1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作用</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97224275-F60F-42CD-88CF-4E888277510D}"/>
              </a:ext>
            </a:extLst>
          </p:cNvPr>
          <p:cNvSpPr/>
          <p:nvPr/>
        </p:nvSpPr>
        <p:spPr>
          <a:xfrm>
            <a:off x="-36142" y="1805073"/>
            <a:ext cx="4400549" cy="1705403"/>
          </a:xfrm>
          <a:prstGeom prst="rect">
            <a:avLst/>
          </a:prstGeom>
        </p:spPr>
        <p:txBody>
          <a:bodyPr wrap="square">
            <a:spAutoFit/>
          </a:bodyPr>
          <a:lstStyle/>
          <a:p>
            <a:pPr marL="971550" lvl="2">
              <a:lnSpc>
                <a:spcPct val="150000"/>
              </a:lnSpc>
            </a:pPr>
            <a:r>
              <a:rPr lang="zh-CN" altLang="en-US" spc="150" dirty="0">
                <a:solidFill>
                  <a:srgbClr val="000000"/>
                </a:solidFill>
                <a:latin typeface="微软雅黑" panose="020B0503020204020204" pitchFamily="34" charset="-122"/>
                <a:ea typeface="微软雅黑" panose="020B0503020204020204" pitchFamily="34" charset="-122"/>
              </a:rPr>
              <a:t>支持价格又称最低限价，指政府为了支持某一产品的生产而对该产品的价格规定的一个高于均衡价格的最低价格。</a:t>
            </a:r>
          </a:p>
        </p:txBody>
      </p:sp>
      <p:sp>
        <p:nvSpPr>
          <p:cNvPr id="8" name="矩形 7">
            <a:extLst>
              <a:ext uri="{FF2B5EF4-FFF2-40B4-BE49-F238E27FC236}">
                <a16:creationId xmlns:a16="http://schemas.microsoft.com/office/drawing/2014/main" id="{13D2B165-D18E-4176-BFFD-13724035683C}"/>
              </a:ext>
            </a:extLst>
          </p:cNvPr>
          <p:cNvSpPr/>
          <p:nvPr/>
        </p:nvSpPr>
        <p:spPr>
          <a:xfrm>
            <a:off x="33068" y="3799720"/>
            <a:ext cx="4572000" cy="996555"/>
          </a:xfrm>
          <a:prstGeom prst="rect">
            <a:avLst/>
          </a:prstGeom>
        </p:spPr>
        <p:txBody>
          <a:bodyPr>
            <a:spAutoFit/>
          </a:bodyPr>
          <a:lstStyle/>
          <a:p>
            <a:pPr lvl="2">
              <a:lnSpc>
                <a:spcPct val="150000"/>
              </a:lnSpc>
            </a:pPr>
            <a:r>
              <a:rPr lang="zh-CN" altLang="en-US" spc="150" dirty="0">
                <a:solidFill>
                  <a:srgbClr val="000000"/>
                </a:solidFill>
                <a:latin typeface="微软雅黑" panose="020B0503020204020204" pitchFamily="34" charset="-122"/>
                <a:ea typeface="微软雅黑" panose="020B0503020204020204" pitchFamily="34" charset="-122"/>
              </a:rPr>
              <a:t>维持了较高价格</a:t>
            </a:r>
            <a:endParaRPr lang="en-US" altLang="zh-CN" spc="150" dirty="0">
              <a:solidFill>
                <a:srgbClr val="000000"/>
              </a:solidFill>
              <a:latin typeface="微软雅黑" panose="020B0503020204020204" pitchFamily="34" charset="-122"/>
              <a:ea typeface="微软雅黑" panose="020B0503020204020204" pitchFamily="34" charset="-122"/>
            </a:endParaRPr>
          </a:p>
          <a:p>
            <a:pPr lvl="2">
              <a:lnSpc>
                <a:spcPct val="150000"/>
              </a:lnSpc>
            </a:pPr>
            <a:r>
              <a:rPr lang="zh-CN" altLang="en-US" spc="150" dirty="0">
                <a:solidFill>
                  <a:srgbClr val="000000"/>
                </a:solidFill>
                <a:latin typeface="微软雅黑" panose="020B0503020204020204" pitchFamily="34" charset="-122"/>
                <a:ea typeface="微软雅黑" panose="020B0503020204020204" pitchFamily="34" charset="-122"/>
              </a:rPr>
              <a:t>产生过剩</a:t>
            </a:r>
            <a:endParaRPr lang="en-US" altLang="zh-CN" sz="2400" spc="15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cover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346">
                                            <p:txEl>
                                              <p:pRg st="0" end="0"/>
                                            </p:txEl>
                                          </p:spTgt>
                                        </p:tgtEl>
                                        <p:attrNameLst>
                                          <p:attrName>style.visibility</p:attrName>
                                        </p:attrNameLst>
                                      </p:cBhvr>
                                      <p:to>
                                        <p:strVal val="visible"/>
                                      </p:to>
                                    </p:set>
                                    <p:animEffect transition="in" filter="wipe(left)">
                                      <p:cBhvr>
                                        <p:cTn id="12" dur="500"/>
                                        <p:tgtEl>
                                          <p:spTgt spid="5734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par>
                                <p:cTn id="18" presetID="14" presetClass="entr" presetSubtype="10" fill="hold" nodeType="withEffect">
                                  <p:stCondLst>
                                    <p:cond delay="0"/>
                                  </p:stCondLst>
                                  <p:childTnLst>
                                    <p:set>
                                      <p:cBhvr>
                                        <p:cTn id="19" dur="1" fill="hold">
                                          <p:stCondLst>
                                            <p:cond delay="0"/>
                                          </p:stCondLst>
                                        </p:cTn>
                                        <p:tgtEl>
                                          <p:spTgt spid="62467"/>
                                        </p:tgtEl>
                                        <p:attrNameLst>
                                          <p:attrName>style.visibility</p:attrName>
                                        </p:attrNameLst>
                                      </p:cBhvr>
                                      <p:to>
                                        <p:strVal val="visible"/>
                                      </p:to>
                                    </p:set>
                                    <p:animEffect transition="in" filter="randombar(horizontal)">
                                      <p:cBhvr>
                                        <p:cTn id="20" dur="750"/>
                                        <p:tgtEl>
                                          <p:spTgt spid="6246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wipe(left)">
                                      <p:cBhvr>
                                        <p:cTn id="25" dur="500"/>
                                        <p:tgtEl>
                                          <p:spTgt spid="7">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1"/>
                                        </p:tgtEl>
                                        <p:attrNameLst>
                                          <p:attrName>style.visibility</p:attrName>
                                        </p:attrNameLst>
                                      </p:cBhvr>
                                      <p:to>
                                        <p:strVal val="visible"/>
                                      </p:to>
                                    </p:set>
                                    <p:animEffect transition="in" filter="wipe(left)">
                                      <p:cBhvr>
                                        <p:cTn id="30" dur="500"/>
                                        <p:tgtEl>
                                          <p:spTgt spid="5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animEffect transition="in" filter="wipe(left)">
                                      <p:cBhvr>
                                        <p:cTn id="35" dur="500"/>
                                        <p:tgtEl>
                                          <p:spTgt spid="8">
                                            <p:txEl>
                                              <p:pRg st="0" end="0"/>
                                            </p:txEl>
                                          </p:spTgt>
                                        </p:tgtEl>
                                      </p:cBhvr>
                                    </p:animEffect>
                                  </p:childTnLst>
                                </p:cTn>
                              </p:par>
                              <p:par>
                                <p:cTn id="36" presetID="22" presetClass="entr" presetSubtype="8" fill="hold" nodeType="withEffect">
                                  <p:stCondLst>
                                    <p:cond delay="0"/>
                                  </p:stCondLst>
                                  <p:childTnLst>
                                    <p:set>
                                      <p:cBhvr>
                                        <p:cTn id="37" dur="1" fill="hold">
                                          <p:stCondLst>
                                            <p:cond delay="0"/>
                                          </p:stCondLst>
                                        </p:cTn>
                                        <p:tgtEl>
                                          <p:spTgt spid="8">
                                            <p:txEl>
                                              <p:pRg st="1" end="1"/>
                                            </p:txEl>
                                          </p:spTgt>
                                        </p:tgtEl>
                                        <p:attrNameLst>
                                          <p:attrName>style.visibility</p:attrName>
                                        </p:attrNameLst>
                                      </p:cBhvr>
                                      <p:to>
                                        <p:strVal val="visible"/>
                                      </p:to>
                                    </p:set>
                                    <p:animEffect transition="in" filter="wipe(left)">
                                      <p:cBhvr>
                                        <p:cTn id="38" dur="500"/>
                                        <p:tgtEl>
                                          <p:spTgt spid="8">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wipe(up)">
                                      <p:cBhvr>
                                        <p:cTn id="43" dur="500"/>
                                        <p:tgtEl>
                                          <p:spTgt spid="4"/>
                                        </p:tgtEl>
                                      </p:cBhvr>
                                    </p:animEffect>
                                  </p:childTnLst>
                                </p:cTn>
                              </p:par>
                            </p:childTnLst>
                          </p:cTn>
                        </p:par>
                        <p:par>
                          <p:cTn id="44" fill="hold">
                            <p:stCondLst>
                              <p:cond delay="500"/>
                            </p:stCondLst>
                            <p:childTnLst>
                              <p:par>
                                <p:cTn id="45" presetID="22" presetClass="entr" presetSubtype="1" fill="hold" nodeType="after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up)">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randombar(horizontal)">
                                      <p:cBhvr>
                                        <p:cTn id="52" dur="500"/>
                                        <p:tgtEl>
                                          <p:spTgt spid="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left)">
                                      <p:cBhvr>
                                        <p:cTn id="5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build="p"/>
      <p:bldP spid="2" grpId="0" animBg="1"/>
      <p:bldP spid="4" grpId="0" animBg="1"/>
      <p:bldP spid="48" grpId="0" animBg="1"/>
      <p:bldP spid="5" grpId="0"/>
      <p:bldP spid="51"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a:spLocks noGrp="1" noChangeArrowheads="1"/>
          </p:cNvSpPr>
          <p:nvPr>
            <p:ph type="body" idx="4294967295"/>
          </p:nvPr>
        </p:nvSpPr>
        <p:spPr>
          <a:xfrm>
            <a:off x="584199" y="1341438"/>
            <a:ext cx="7680325" cy="4784725"/>
          </a:xfrm>
        </p:spPr>
        <p:txBody>
          <a:bodyPr/>
          <a:lstStyle/>
          <a:p>
            <a:pPr marL="285750" lvl="2" indent="-285750" eaLnBrk="1" hangingPunct="1">
              <a:lnSpc>
                <a:spcPct val="150000"/>
              </a:lnSpc>
              <a:spcBef>
                <a:spcPct val="0"/>
              </a:spcBef>
              <a:buFont typeface="Wingdings" panose="05000000000000000000" pitchFamily="2" charset="2"/>
              <a:buChar char="u"/>
            </a:pPr>
            <a:r>
              <a:rPr lang="zh-CN" altLang="en-US" sz="1800" spc="150" dirty="0">
                <a:solidFill>
                  <a:srgbClr val="000000"/>
                </a:solidFill>
                <a:latin typeface="微软雅黑" panose="020B0503020204020204" pitchFamily="34" charset="-122"/>
                <a:ea typeface="微软雅黑" panose="020B0503020204020204" pitchFamily="34" charset="-122"/>
              </a:rPr>
              <a:t>限制价格</a:t>
            </a:r>
            <a:endParaRPr lang="en-US" altLang="zh-CN" sz="1800" spc="150" dirty="0">
              <a:solidFill>
                <a:srgbClr val="000000"/>
              </a:solidFill>
              <a:latin typeface="微软雅黑" panose="020B0503020204020204" pitchFamily="34" charset="-122"/>
              <a:ea typeface="微软雅黑" panose="020B0503020204020204" pitchFamily="34" charset="-122"/>
            </a:endParaRPr>
          </a:p>
        </p:txBody>
      </p:sp>
      <p:grpSp>
        <p:nvGrpSpPr>
          <p:cNvPr id="63491" name="组合 45"/>
          <p:cNvGrpSpPr>
            <a:grpSpLocks/>
          </p:cNvGrpSpPr>
          <p:nvPr/>
        </p:nvGrpSpPr>
        <p:grpSpPr bwMode="auto">
          <a:xfrm>
            <a:off x="4572000" y="1557338"/>
            <a:ext cx="4014788" cy="3070225"/>
            <a:chOff x="0" y="0"/>
            <a:chExt cx="4014787" cy="3070225"/>
          </a:xfrm>
        </p:grpSpPr>
        <p:grpSp>
          <p:nvGrpSpPr>
            <p:cNvPr id="63496" name="组合 39"/>
            <p:cNvGrpSpPr>
              <a:grpSpLocks/>
            </p:cNvGrpSpPr>
            <p:nvPr/>
          </p:nvGrpSpPr>
          <p:grpSpPr bwMode="auto">
            <a:xfrm>
              <a:off x="6350" y="614363"/>
              <a:ext cx="1192212" cy="2438400"/>
              <a:chOff x="0" y="0"/>
              <a:chExt cx="1192137" cy="2439014"/>
            </a:xfrm>
          </p:grpSpPr>
          <p:cxnSp>
            <p:nvCxnSpPr>
              <p:cNvPr id="63522" name="直接连接符 29"/>
              <p:cNvCxnSpPr>
                <a:cxnSpLocks noChangeShapeType="1"/>
              </p:cNvCxnSpPr>
              <p:nvPr/>
            </p:nvCxnSpPr>
            <p:spPr bwMode="auto">
              <a:xfrm rot="5400000">
                <a:off x="115563" y="1051195"/>
                <a:ext cx="1980110" cy="77783"/>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nvGrpSpPr>
              <p:cNvPr id="63523" name="组合 36"/>
              <p:cNvGrpSpPr>
                <a:grpSpLocks/>
              </p:cNvGrpSpPr>
              <p:nvPr/>
            </p:nvGrpSpPr>
            <p:grpSpPr bwMode="auto">
              <a:xfrm>
                <a:off x="0" y="0"/>
                <a:ext cx="1192137" cy="2439014"/>
                <a:chOff x="0" y="0"/>
                <a:chExt cx="1192137" cy="2439014"/>
              </a:xfrm>
            </p:grpSpPr>
            <p:cxnSp>
              <p:nvCxnSpPr>
                <p:cNvPr id="63524" name="直接连接符 17"/>
                <p:cNvCxnSpPr>
                  <a:cxnSpLocks noChangeShapeType="1"/>
                </p:cNvCxnSpPr>
                <p:nvPr/>
              </p:nvCxnSpPr>
              <p:spPr bwMode="auto">
                <a:xfrm>
                  <a:off x="320655" y="68279"/>
                  <a:ext cx="863546" cy="3175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3525" name="Object 8"/>
                <p:cNvGraphicFramePr>
                  <a:graphicFrameLocks noChangeAspect="1"/>
                </p:cNvGraphicFramePr>
                <p:nvPr/>
              </p:nvGraphicFramePr>
              <p:xfrm>
                <a:off x="0" y="0"/>
                <a:ext cx="252720" cy="306465"/>
              </p:xfrm>
              <a:graphic>
                <a:graphicData uri="http://schemas.openxmlformats.org/presentationml/2006/ole">
                  <mc:AlternateContent xmlns:mc="http://schemas.openxmlformats.org/markup-compatibility/2006">
                    <mc:Choice xmlns:v="urn:schemas-microsoft-com:vml" Requires="v">
                      <p:oleObj spid="_x0000_s187955" r:id="rId3" imgW="165820" imgH="229597" progId="">
                        <p:embed/>
                      </p:oleObj>
                    </mc:Choice>
                    <mc:Fallback>
                      <p:oleObj r:id="rId3" imgW="165820" imgH="229597" progId="">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52720" cy="306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526" name="Object 9"/>
                <p:cNvGraphicFramePr>
                  <a:graphicFrameLocks noChangeAspect="1"/>
                </p:cNvGraphicFramePr>
                <p:nvPr/>
              </p:nvGraphicFramePr>
              <p:xfrm>
                <a:off x="880160" y="2115083"/>
                <a:ext cx="311977" cy="323931"/>
              </p:xfrm>
              <a:graphic>
                <a:graphicData uri="http://schemas.openxmlformats.org/presentationml/2006/ole">
                  <mc:AlternateContent xmlns:mc="http://schemas.openxmlformats.org/markup-compatibility/2006">
                    <mc:Choice xmlns:v="urn:schemas-microsoft-com:vml" Requires="v">
                      <p:oleObj spid="_x0000_s187956" r:id="rId5" imgW="204086" imgH="242352" progId="">
                        <p:embed/>
                      </p:oleObj>
                    </mc:Choice>
                    <mc:Fallback>
                      <p:oleObj r:id="rId5" imgW="204086" imgH="242352" progId="">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0160" y="2115083"/>
                              <a:ext cx="311977" cy="323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63497" name="组合 34"/>
            <p:cNvGrpSpPr>
              <a:grpSpLocks/>
            </p:cNvGrpSpPr>
            <p:nvPr/>
          </p:nvGrpSpPr>
          <p:grpSpPr bwMode="auto">
            <a:xfrm>
              <a:off x="14287" y="0"/>
              <a:ext cx="4000500" cy="3070225"/>
              <a:chOff x="0" y="0"/>
              <a:chExt cx="3999961" cy="3070225"/>
            </a:xfrm>
          </p:grpSpPr>
          <p:cxnSp>
            <p:nvCxnSpPr>
              <p:cNvPr id="63506" name="直接连接符 19"/>
              <p:cNvCxnSpPr>
                <a:cxnSpLocks noChangeShapeType="1"/>
              </p:cNvCxnSpPr>
              <p:nvPr/>
            </p:nvCxnSpPr>
            <p:spPr bwMode="auto">
              <a:xfrm rot="5400000">
                <a:off x="1277673" y="1979612"/>
                <a:ext cx="1365250" cy="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nvGrpSpPr>
              <p:cNvPr id="63507" name="组合 33"/>
              <p:cNvGrpSpPr>
                <a:grpSpLocks/>
              </p:cNvGrpSpPr>
              <p:nvPr/>
            </p:nvGrpSpPr>
            <p:grpSpPr bwMode="auto">
              <a:xfrm>
                <a:off x="0" y="0"/>
                <a:ext cx="3999961" cy="3070225"/>
                <a:chOff x="0" y="0"/>
                <a:chExt cx="3999961" cy="3070225"/>
              </a:xfrm>
            </p:grpSpPr>
            <p:graphicFrame>
              <p:nvGraphicFramePr>
                <p:cNvPr id="63508" name="Object 13"/>
                <p:cNvGraphicFramePr>
                  <a:graphicFrameLocks noChangeAspect="1"/>
                </p:cNvGraphicFramePr>
                <p:nvPr/>
              </p:nvGraphicFramePr>
              <p:xfrm>
                <a:off x="3271940" y="357280"/>
                <a:ext cx="214375" cy="236695"/>
              </p:xfrm>
              <a:graphic>
                <a:graphicData uri="http://schemas.openxmlformats.org/presentationml/2006/ole">
                  <mc:AlternateContent xmlns:mc="http://schemas.openxmlformats.org/markup-compatibility/2006">
                    <mc:Choice xmlns:v="urn:schemas-microsoft-com:vml" Requires="v">
                      <p:oleObj spid="_x0000_s187957" r:id="rId7" imgW="140493" imgH="178809" progId="">
                        <p:embed/>
                      </p:oleObj>
                    </mc:Choice>
                    <mc:Fallback>
                      <p:oleObj r:id="rId7" imgW="140493" imgH="178809" progId="">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1940" y="357280"/>
                              <a:ext cx="214375" cy="236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509" name="Object 14"/>
                <p:cNvGraphicFramePr>
                  <a:graphicFrameLocks noChangeAspect="1"/>
                </p:cNvGraphicFramePr>
                <p:nvPr/>
              </p:nvGraphicFramePr>
              <p:xfrm>
                <a:off x="3294086" y="2115854"/>
                <a:ext cx="252719" cy="220004"/>
              </p:xfrm>
              <a:graphic>
                <a:graphicData uri="http://schemas.openxmlformats.org/presentationml/2006/ole">
                  <mc:AlternateContent xmlns:mc="http://schemas.openxmlformats.org/markup-compatibility/2006">
                    <mc:Choice xmlns:v="urn:schemas-microsoft-com:vml" Requires="v">
                      <p:oleObj spid="_x0000_s187958" r:id="rId9" imgW="166037" imgH="166037" progId="">
                        <p:embed/>
                      </p:oleObj>
                    </mc:Choice>
                    <mc:Fallback>
                      <p:oleObj r:id="rId9" imgW="166037" imgH="166037" progId="">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94086" y="2115854"/>
                              <a:ext cx="252719" cy="220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3510" name="组合 32"/>
                <p:cNvGrpSpPr>
                  <a:grpSpLocks/>
                </p:cNvGrpSpPr>
                <p:nvPr/>
              </p:nvGrpSpPr>
              <p:grpSpPr bwMode="auto">
                <a:xfrm>
                  <a:off x="0" y="0"/>
                  <a:ext cx="3999961" cy="3070225"/>
                  <a:chOff x="0" y="0"/>
                  <a:chExt cx="3999961" cy="3070225"/>
                </a:xfrm>
              </p:grpSpPr>
              <p:cxnSp>
                <p:nvCxnSpPr>
                  <p:cNvPr id="63511" name="直接箭头连接符 21"/>
                  <p:cNvCxnSpPr>
                    <a:cxnSpLocks noChangeShapeType="1"/>
                  </p:cNvCxnSpPr>
                  <p:nvPr/>
                </p:nvCxnSpPr>
                <p:spPr bwMode="auto">
                  <a:xfrm rot="5400000" flipH="1" flipV="1">
                    <a:off x="-1017629" y="1330325"/>
                    <a:ext cx="2662237"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63512" name="直接箭头连接符 23"/>
                  <p:cNvCxnSpPr>
                    <a:cxnSpLocks noChangeShapeType="1"/>
                  </p:cNvCxnSpPr>
                  <p:nvPr/>
                </p:nvCxnSpPr>
                <p:spPr bwMode="auto">
                  <a:xfrm>
                    <a:off x="312696" y="2662237"/>
                    <a:ext cx="3687265" cy="0"/>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63513" name="直接连接符 24"/>
                  <p:cNvCxnSpPr>
                    <a:cxnSpLocks noChangeShapeType="1"/>
                  </p:cNvCxnSpPr>
                  <p:nvPr/>
                </p:nvCxnSpPr>
                <p:spPr bwMode="auto">
                  <a:xfrm flipV="1">
                    <a:off x="704756" y="500062"/>
                    <a:ext cx="2495213" cy="1616075"/>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63514" name="直接连接符 25"/>
                  <p:cNvCxnSpPr>
                    <a:cxnSpLocks noChangeShapeType="1"/>
                  </p:cNvCxnSpPr>
                  <p:nvPr/>
                </p:nvCxnSpPr>
                <p:spPr bwMode="auto">
                  <a:xfrm>
                    <a:off x="626978" y="341312"/>
                    <a:ext cx="2588864" cy="1843088"/>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63515" name="直接连接符 27"/>
                  <p:cNvCxnSpPr>
                    <a:cxnSpLocks noChangeShapeType="1"/>
                  </p:cNvCxnSpPr>
                  <p:nvPr/>
                </p:nvCxnSpPr>
                <p:spPr bwMode="auto">
                  <a:xfrm rot="10800000">
                    <a:off x="298411" y="1285875"/>
                    <a:ext cx="1661888" cy="11112"/>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3516" name="Object 21"/>
                  <p:cNvGraphicFramePr>
                    <a:graphicFrameLocks noChangeAspect="1"/>
                  </p:cNvGraphicFramePr>
                  <p:nvPr/>
                </p:nvGraphicFramePr>
                <p:xfrm>
                  <a:off x="0" y="2730355"/>
                  <a:ext cx="233547" cy="236695"/>
                </p:xfrm>
                <a:graphic>
                  <a:graphicData uri="http://schemas.openxmlformats.org/presentationml/2006/ole">
                    <mc:AlternateContent xmlns:mc="http://schemas.openxmlformats.org/markup-compatibility/2006">
                      <mc:Choice xmlns:v="urn:schemas-microsoft-com:vml" Requires="v">
                        <p:oleObj spid="_x0000_s187959" r:id="rId11" imgW="153198" imgH="178731" progId="">
                          <p:embed/>
                        </p:oleObj>
                      </mc:Choice>
                      <mc:Fallback>
                        <p:oleObj r:id="rId11" imgW="153198" imgH="178731" progId="">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2730355"/>
                                <a:ext cx="233547" cy="236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517" name="Object 22"/>
                  <p:cNvGraphicFramePr>
                    <a:graphicFrameLocks noChangeAspect="1"/>
                  </p:cNvGraphicFramePr>
                  <p:nvPr/>
                </p:nvGraphicFramePr>
                <p:xfrm>
                  <a:off x="0" y="135797"/>
                  <a:ext cx="233547" cy="220004"/>
                </p:xfrm>
                <a:graphic>
                  <a:graphicData uri="http://schemas.openxmlformats.org/presentationml/2006/ole">
                    <mc:AlternateContent xmlns:mc="http://schemas.openxmlformats.org/markup-compatibility/2006">
                      <mc:Choice xmlns:v="urn:schemas-microsoft-com:vml" Requires="v">
                        <p:oleObj spid="_x0000_s187960" r:id="rId13" imgW="153332" imgH="166109" progId="">
                          <p:embed/>
                        </p:oleObj>
                      </mc:Choice>
                      <mc:Fallback>
                        <p:oleObj r:id="rId13" imgW="153332" imgH="166109" progId="">
                          <p:embed/>
                          <p:pic>
                            <p:nvPicPr>
                              <p:cNvPr id="0"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135797"/>
                                <a:ext cx="233547" cy="220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518" name="Object 23"/>
                  <p:cNvGraphicFramePr>
                    <a:graphicFrameLocks noChangeAspect="1"/>
                  </p:cNvGraphicFramePr>
                  <p:nvPr/>
                </p:nvGraphicFramePr>
                <p:xfrm>
                  <a:off x="3764669" y="2798632"/>
                  <a:ext cx="233547" cy="271593"/>
                </p:xfrm>
                <a:graphic>
                  <a:graphicData uri="http://schemas.openxmlformats.org/presentationml/2006/ole">
                    <mc:AlternateContent xmlns:mc="http://schemas.openxmlformats.org/markup-compatibility/2006">
                      <mc:Choice xmlns:v="urn:schemas-microsoft-com:vml" Requires="v">
                        <p:oleObj spid="_x0000_s187961" r:id="rId15" imgW="153332" imgH="204442" progId="">
                          <p:embed/>
                        </p:oleObj>
                      </mc:Choice>
                      <mc:Fallback>
                        <p:oleObj r:id="rId15" imgW="153332" imgH="204442" progId="">
                          <p:embed/>
                          <p:pic>
                            <p:nvPicPr>
                              <p:cNvPr id="0"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64669" y="2798632"/>
                                <a:ext cx="233547" cy="271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519" name="Object 24"/>
                  <p:cNvGraphicFramePr>
                    <a:graphicFrameLocks noChangeAspect="1"/>
                  </p:cNvGraphicFramePr>
                  <p:nvPr/>
                </p:nvGraphicFramePr>
                <p:xfrm>
                  <a:off x="0" y="1228242"/>
                  <a:ext cx="292806" cy="306489"/>
                </p:xfrm>
                <a:graphic>
                  <a:graphicData uri="http://schemas.openxmlformats.org/presentationml/2006/ole">
                    <mc:AlternateContent xmlns:mc="http://schemas.openxmlformats.org/markup-compatibility/2006">
                      <mc:Choice xmlns:v="urn:schemas-microsoft-com:vml" Requires="v">
                        <p:oleObj spid="_x0000_s187962" r:id="rId17" imgW="191414" imgH="229697" progId="">
                          <p:embed/>
                        </p:oleObj>
                      </mc:Choice>
                      <mc:Fallback>
                        <p:oleObj r:id="rId17" imgW="191414" imgH="229697" progId="">
                          <p:embed/>
                          <p:pic>
                            <p:nvPicPr>
                              <p:cNvPr id="0" name="Object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1228242"/>
                                <a:ext cx="292806" cy="306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520" name="Object 25"/>
                  <p:cNvGraphicFramePr>
                    <a:graphicFrameLocks noChangeAspect="1"/>
                  </p:cNvGraphicFramePr>
                  <p:nvPr/>
                </p:nvGraphicFramePr>
                <p:xfrm>
                  <a:off x="2117626" y="1228242"/>
                  <a:ext cx="233547" cy="220004"/>
                </p:xfrm>
                <a:graphic>
                  <a:graphicData uri="http://schemas.openxmlformats.org/presentationml/2006/ole">
                    <mc:AlternateContent xmlns:mc="http://schemas.openxmlformats.org/markup-compatibility/2006">
                      <mc:Choice xmlns:v="urn:schemas-microsoft-com:vml" Requires="v">
                        <p:oleObj spid="_x0000_s187963" r:id="rId19" imgW="153332" imgH="166109" progId="">
                          <p:embed/>
                        </p:oleObj>
                      </mc:Choice>
                      <mc:Fallback>
                        <p:oleObj r:id="rId19" imgW="153332" imgH="166109" progId="">
                          <p:embed/>
                          <p:pic>
                            <p:nvPicPr>
                              <p:cNvPr id="0" name="Object 2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17626" y="1228242"/>
                                <a:ext cx="233547" cy="220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521" name="Object 26"/>
                  <p:cNvGraphicFramePr>
                    <a:graphicFrameLocks noChangeAspect="1"/>
                  </p:cNvGraphicFramePr>
                  <p:nvPr/>
                </p:nvGraphicFramePr>
                <p:xfrm>
                  <a:off x="1803904" y="2730355"/>
                  <a:ext cx="331149" cy="306489"/>
                </p:xfrm>
                <a:graphic>
                  <a:graphicData uri="http://schemas.openxmlformats.org/presentationml/2006/ole">
                    <mc:AlternateContent xmlns:mc="http://schemas.openxmlformats.org/markup-compatibility/2006">
                      <mc:Choice xmlns:v="urn:schemas-microsoft-com:vml" Requires="v">
                        <p:oleObj spid="_x0000_s187964" r:id="rId21" imgW="216747" imgH="229496" progId="">
                          <p:embed/>
                        </p:oleObj>
                      </mc:Choice>
                      <mc:Fallback>
                        <p:oleObj r:id="rId21" imgW="216747" imgH="229496" progId="">
                          <p:embed/>
                          <p:pic>
                            <p:nvPicPr>
                              <p:cNvPr id="0" name="Object 2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803904" y="2730355"/>
                                <a:ext cx="331149" cy="306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grpSp>
          <p:nvGrpSpPr>
            <p:cNvPr id="63498" name="组合 37"/>
            <p:cNvGrpSpPr>
              <a:grpSpLocks/>
            </p:cNvGrpSpPr>
            <p:nvPr/>
          </p:nvGrpSpPr>
          <p:grpSpPr bwMode="auto">
            <a:xfrm>
              <a:off x="2706687" y="1857375"/>
              <a:ext cx="455613" cy="1195388"/>
              <a:chOff x="0" y="0"/>
              <a:chExt cx="454920" cy="1196161"/>
            </a:xfrm>
          </p:grpSpPr>
          <p:cxnSp>
            <p:nvCxnSpPr>
              <p:cNvPr id="63504" name="直接连接符 28"/>
              <p:cNvCxnSpPr>
                <a:cxnSpLocks noChangeShapeType="1"/>
              </p:cNvCxnSpPr>
              <p:nvPr/>
            </p:nvCxnSpPr>
            <p:spPr bwMode="auto">
              <a:xfrm rot="16200000" flipH="1">
                <a:off x="-410651" y="410651"/>
                <a:ext cx="837153" cy="15851"/>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3505" name="Object 29"/>
              <p:cNvGraphicFramePr>
                <a:graphicFrameLocks noChangeAspect="1"/>
              </p:cNvGraphicFramePr>
              <p:nvPr/>
            </p:nvGraphicFramePr>
            <p:xfrm>
              <a:off x="122029" y="872230"/>
              <a:ext cx="332891" cy="323931"/>
            </p:xfrm>
            <a:graphic>
              <a:graphicData uri="http://schemas.openxmlformats.org/presentationml/2006/ole">
                <mc:AlternateContent xmlns:mc="http://schemas.openxmlformats.org/markup-compatibility/2006">
                  <mc:Choice xmlns:v="urn:schemas-microsoft-com:vml" Requires="v">
                    <p:oleObj spid="_x0000_s187965" r:id="rId23" imgW="216747" imgH="242246" progId="">
                      <p:embed/>
                    </p:oleObj>
                  </mc:Choice>
                  <mc:Fallback>
                    <p:oleObj r:id="rId23" imgW="216747" imgH="242246" progId="">
                      <p:embed/>
                      <p:pic>
                        <p:nvPicPr>
                          <p:cNvPr id="0" name="Object 2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22029" y="872230"/>
                            <a:ext cx="332891" cy="323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3499" name="组合 35"/>
            <p:cNvGrpSpPr>
              <a:grpSpLocks/>
            </p:cNvGrpSpPr>
            <p:nvPr/>
          </p:nvGrpSpPr>
          <p:grpSpPr bwMode="auto">
            <a:xfrm>
              <a:off x="0" y="1643063"/>
              <a:ext cx="2997200" cy="377825"/>
              <a:chOff x="0" y="0"/>
              <a:chExt cx="2997791" cy="377920"/>
            </a:xfrm>
          </p:grpSpPr>
          <p:graphicFrame>
            <p:nvGraphicFramePr>
              <p:cNvPr id="63500" name="Object 31"/>
              <p:cNvGraphicFramePr>
                <a:graphicFrameLocks noChangeAspect="1"/>
              </p:cNvGraphicFramePr>
              <p:nvPr/>
            </p:nvGraphicFramePr>
            <p:xfrm>
              <a:off x="784306" y="0"/>
              <a:ext cx="271891" cy="219130"/>
            </p:xfrm>
            <a:graphic>
              <a:graphicData uri="http://schemas.openxmlformats.org/presentationml/2006/ole">
                <mc:AlternateContent xmlns:mc="http://schemas.openxmlformats.org/markup-compatibility/2006">
                  <mc:Choice xmlns:v="urn:schemas-microsoft-com:vml" Requires="v">
                    <p:oleObj spid="_x0000_s187966" r:id="rId25" imgW="178731" imgH="165964" progId="">
                      <p:embed/>
                    </p:oleObj>
                  </mc:Choice>
                  <mc:Fallback>
                    <p:oleObj r:id="rId25" imgW="178731" imgH="165964" progId="">
                      <p:embed/>
                      <p:pic>
                        <p:nvPicPr>
                          <p:cNvPr id="0" name="Object 3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84306" y="0"/>
                            <a:ext cx="271891" cy="219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501" name="Object 32"/>
              <p:cNvGraphicFramePr>
                <a:graphicFrameLocks noChangeAspect="1"/>
              </p:cNvGraphicFramePr>
              <p:nvPr/>
            </p:nvGraphicFramePr>
            <p:xfrm>
              <a:off x="2745071" y="0"/>
              <a:ext cx="252720" cy="236597"/>
            </p:xfrm>
            <a:graphic>
              <a:graphicData uri="http://schemas.openxmlformats.org/presentationml/2006/ole">
                <mc:AlternateContent xmlns:mc="http://schemas.openxmlformats.org/markup-compatibility/2006">
                  <mc:Choice xmlns:v="urn:schemas-microsoft-com:vml" Requires="v">
                    <p:oleObj spid="_x0000_s187967" r:id="rId27" imgW="165964" imgH="178731" progId="">
                      <p:embed/>
                    </p:oleObj>
                  </mc:Choice>
                  <mc:Fallback>
                    <p:oleObj r:id="rId27" imgW="165964" imgH="178731" progId="">
                      <p:embed/>
                      <p:pic>
                        <p:nvPicPr>
                          <p:cNvPr id="0" name="Object 32"/>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745071" y="0"/>
                            <a:ext cx="252720" cy="236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63502" name="直接连接符 38"/>
              <p:cNvCxnSpPr>
                <a:cxnSpLocks noChangeShapeType="1"/>
              </p:cNvCxnSpPr>
              <p:nvPr/>
            </p:nvCxnSpPr>
            <p:spPr bwMode="auto">
              <a:xfrm rot="10800000">
                <a:off x="314387" y="214366"/>
                <a:ext cx="2353138"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3503" name="Object 34"/>
              <p:cNvGraphicFramePr>
                <a:graphicFrameLocks noChangeAspect="1"/>
              </p:cNvGraphicFramePr>
              <p:nvPr/>
            </p:nvGraphicFramePr>
            <p:xfrm>
              <a:off x="0" y="71456"/>
              <a:ext cx="252720" cy="306464"/>
            </p:xfrm>
            <a:graphic>
              <a:graphicData uri="http://schemas.openxmlformats.org/presentationml/2006/ole">
                <mc:AlternateContent xmlns:mc="http://schemas.openxmlformats.org/markup-compatibility/2006">
                  <mc:Choice xmlns:v="urn:schemas-microsoft-com:vml" Requires="v">
                    <p:oleObj spid="_x0000_s187968" r:id="rId29" imgW="165820" imgH="229597" progId="">
                      <p:embed/>
                    </p:oleObj>
                  </mc:Choice>
                  <mc:Fallback>
                    <p:oleObj r:id="rId29" imgW="165820" imgH="229597" progId="">
                      <p:embed/>
                      <p:pic>
                        <p:nvPicPr>
                          <p:cNvPr id="0" name="Object 34"/>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0" y="71456"/>
                            <a:ext cx="252720" cy="30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46" name="矩形 45">
            <a:extLst>
              <a:ext uri="{FF2B5EF4-FFF2-40B4-BE49-F238E27FC236}">
                <a16:creationId xmlns:a16="http://schemas.microsoft.com/office/drawing/2014/main" id="{63BF0E37-13C8-4FFF-823E-A608A154681A}"/>
              </a:ext>
            </a:extLst>
          </p:cNvPr>
          <p:cNvSpPr/>
          <p:nvPr/>
        </p:nvSpPr>
        <p:spPr>
          <a:xfrm>
            <a:off x="467544" y="548680"/>
            <a:ext cx="389241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一、支持价格和限制价格 </a:t>
            </a:r>
          </a:p>
        </p:txBody>
      </p:sp>
      <p:sp>
        <p:nvSpPr>
          <p:cNvPr id="47" name="矩形 46">
            <a:extLst>
              <a:ext uri="{FF2B5EF4-FFF2-40B4-BE49-F238E27FC236}">
                <a16:creationId xmlns:a16="http://schemas.microsoft.com/office/drawing/2014/main" id="{01410953-16D1-45F8-9AC1-7883EC238FEA}"/>
              </a:ext>
            </a:extLst>
          </p:cNvPr>
          <p:cNvSpPr/>
          <p:nvPr/>
        </p:nvSpPr>
        <p:spPr>
          <a:xfrm>
            <a:off x="5738974" y="0"/>
            <a:ext cx="3381054"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第五节 供求分析的应用实例</a:t>
            </a:r>
          </a:p>
        </p:txBody>
      </p:sp>
      <p:grpSp>
        <p:nvGrpSpPr>
          <p:cNvPr id="49" name="组合 9">
            <a:extLst>
              <a:ext uri="{FF2B5EF4-FFF2-40B4-BE49-F238E27FC236}">
                <a16:creationId xmlns:a16="http://schemas.microsoft.com/office/drawing/2014/main" id="{F7D8DD4B-E43C-4A99-8B08-E64CE7743230}"/>
              </a:ext>
            </a:extLst>
          </p:cNvPr>
          <p:cNvGrpSpPr>
            <a:grpSpLocks/>
          </p:cNvGrpSpPr>
          <p:nvPr/>
        </p:nvGrpSpPr>
        <p:grpSpPr bwMode="auto">
          <a:xfrm>
            <a:off x="639872" y="2438996"/>
            <a:ext cx="3649261" cy="1741883"/>
            <a:chOff x="0" y="0"/>
            <a:chExt cx="4357686" cy="721071"/>
          </a:xfrm>
        </p:grpSpPr>
        <p:sp>
          <p:nvSpPr>
            <p:cNvPr id="50" name="圆角矩形 7">
              <a:extLst>
                <a:ext uri="{FF2B5EF4-FFF2-40B4-BE49-F238E27FC236}">
                  <a16:creationId xmlns:a16="http://schemas.microsoft.com/office/drawing/2014/main" id="{443F2BA1-0827-44A7-AD23-213C160CE3B2}"/>
                </a:ext>
              </a:extLst>
            </p:cNvPr>
            <p:cNvSpPr>
              <a:spLocks noChangeArrowheads="1"/>
            </p:cNvSpPr>
            <p:nvPr/>
          </p:nvSpPr>
          <p:spPr bwMode="auto">
            <a:xfrm>
              <a:off x="0" y="0"/>
              <a:ext cx="4357686" cy="636642"/>
            </a:xfrm>
            <a:prstGeom prst="roundRect">
              <a:avLst>
                <a:gd name="adj" fmla="val 16667"/>
              </a:avLst>
            </a:prstGeom>
            <a:noFill/>
            <a:ln w="9525">
              <a:solidFill>
                <a:srgbClr val="000000"/>
              </a:solidFill>
              <a:round/>
              <a:headEnd/>
              <a:tailEnd/>
            </a:ln>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sp>
          <p:nvSpPr>
            <p:cNvPr id="51" name="TextBox 3">
              <a:extLst>
                <a:ext uri="{FF2B5EF4-FFF2-40B4-BE49-F238E27FC236}">
                  <a16:creationId xmlns:a16="http://schemas.microsoft.com/office/drawing/2014/main" id="{82626FFD-11ED-4C15-9484-E0B4F4562184}"/>
                </a:ext>
              </a:extLst>
            </p:cNvPr>
            <p:cNvSpPr txBox="1">
              <a:spLocks noChangeArrowheads="1"/>
            </p:cNvSpPr>
            <p:nvPr/>
          </p:nvSpPr>
          <p:spPr bwMode="auto">
            <a:xfrm>
              <a:off x="38098" y="71448"/>
              <a:ext cx="4319588" cy="649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285750" indent="-285750" eaLnBrk="1" hangingPunct="1">
                <a:spcBef>
                  <a:spcPct val="0"/>
                </a:spcBef>
                <a:buFont typeface="Wingdings" panose="05000000000000000000" pitchFamily="2" charset="2"/>
                <a:buChar char="Ø"/>
              </a:pPr>
              <a:r>
                <a:rPr lang="zh-CN" altLang="en-US" sz="1800" b="0" spc="150" dirty="0">
                  <a:solidFill>
                    <a:srgbClr val="000000"/>
                  </a:solidFill>
                  <a:latin typeface="微软雅黑" panose="020B0503020204020204" pitchFamily="34" charset="-122"/>
                  <a:ea typeface="微软雅黑" panose="020B0503020204020204" pitchFamily="34" charset="-122"/>
                </a:rPr>
                <a:t>限制价格又称最高限价，指政府为了防止某种商品的市场定价过高而规定的低于市场均衡价格的价格。</a:t>
              </a:r>
            </a:p>
          </p:txBody>
        </p:sp>
      </p:grpSp>
      <p:grpSp>
        <p:nvGrpSpPr>
          <p:cNvPr id="57" name="组合 56">
            <a:extLst>
              <a:ext uri="{FF2B5EF4-FFF2-40B4-BE49-F238E27FC236}">
                <a16:creationId xmlns:a16="http://schemas.microsoft.com/office/drawing/2014/main" id="{A51206F7-F008-421E-9F48-464C48B4EA93}"/>
              </a:ext>
            </a:extLst>
          </p:cNvPr>
          <p:cNvGrpSpPr/>
          <p:nvPr/>
        </p:nvGrpSpPr>
        <p:grpSpPr>
          <a:xfrm>
            <a:off x="1047786" y="4686884"/>
            <a:ext cx="4713250" cy="1113256"/>
            <a:chOff x="1047786" y="4958391"/>
            <a:chExt cx="4544975" cy="1113256"/>
          </a:xfrm>
        </p:grpSpPr>
        <p:sp>
          <p:nvSpPr>
            <p:cNvPr id="58" name="右箭头标注 44">
              <a:extLst>
                <a:ext uri="{FF2B5EF4-FFF2-40B4-BE49-F238E27FC236}">
                  <a16:creationId xmlns:a16="http://schemas.microsoft.com/office/drawing/2014/main" id="{2183907B-E1C2-47D6-939A-5B9781552ED9}"/>
                </a:ext>
              </a:extLst>
            </p:cNvPr>
            <p:cNvSpPr/>
            <p:nvPr/>
          </p:nvSpPr>
          <p:spPr bwMode="auto">
            <a:xfrm>
              <a:off x="1047786" y="4958391"/>
              <a:ext cx="4544975" cy="1113256"/>
            </a:xfrm>
            <a:prstGeom prst="rightArrowCallout">
              <a:avLst>
                <a:gd name="adj1" fmla="val 21235"/>
                <a:gd name="adj2" fmla="val 16445"/>
                <a:gd name="adj3" fmla="val 37834"/>
                <a:gd name="adj4" fmla="val 67465"/>
              </a:avLst>
            </a:prstGeom>
            <a:noFill/>
            <a:ln w="28575">
              <a:solidFill>
                <a:schemeClr val="accent3">
                  <a:lumMod val="50000"/>
                </a:schemeClr>
              </a:solidFill>
            </a:ln>
            <a:effec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59" name="Rectangle 3">
              <a:extLst>
                <a:ext uri="{FF2B5EF4-FFF2-40B4-BE49-F238E27FC236}">
                  <a16:creationId xmlns:a16="http://schemas.microsoft.com/office/drawing/2014/main" id="{B3D6F538-E584-4BD7-BFEB-39496A2838E6}"/>
                </a:ext>
              </a:extLst>
            </p:cNvPr>
            <p:cNvSpPr txBox="1">
              <a:spLocks noChangeArrowheads="1"/>
            </p:cNvSpPr>
            <p:nvPr/>
          </p:nvSpPr>
          <p:spPr bwMode="auto">
            <a:xfrm>
              <a:off x="1475656" y="5027766"/>
              <a:ext cx="2368237" cy="690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50000"/>
                </a:lnSpc>
              </a:pPr>
              <a:r>
                <a:rPr lang="zh-CN" altLang="en-US" sz="1800" b="0" dirty="0">
                  <a:solidFill>
                    <a:srgbClr val="C00000"/>
                  </a:solidFill>
                  <a:latin typeface="微软雅黑" panose="020B0503020204020204" pitchFamily="34" charset="-122"/>
                  <a:ea typeface="微软雅黑" panose="020B0503020204020204" pitchFamily="34" charset="-122"/>
                </a:rPr>
                <a:t>均衡价格</a:t>
              </a:r>
              <a:r>
                <a:rPr lang="en-US" altLang="zh-CN" sz="1800" b="0" dirty="0">
                  <a:solidFill>
                    <a:srgbClr val="C00000"/>
                  </a:solidFill>
                  <a:latin typeface="微软雅黑" panose="020B0503020204020204" pitchFamily="34" charset="-122"/>
                  <a:ea typeface="微软雅黑" panose="020B0503020204020204" pitchFamily="34" charset="-122"/>
                </a:rPr>
                <a:t>——E</a:t>
              </a:r>
            </a:p>
            <a:p>
              <a:pPr eaLnBrk="1" hangingPunct="1">
                <a:lnSpc>
                  <a:spcPct val="150000"/>
                </a:lnSpc>
              </a:pPr>
              <a:r>
                <a:rPr lang="zh-CN" altLang="en-US" sz="1800" b="0" dirty="0">
                  <a:solidFill>
                    <a:srgbClr val="C00000"/>
                  </a:solidFill>
                  <a:latin typeface="微软雅黑" panose="020B0503020204020204" pitchFamily="34" charset="-122"/>
                  <a:ea typeface="微软雅黑" panose="020B0503020204020204" pitchFamily="34" charset="-122"/>
                </a:rPr>
                <a:t>支持价格</a:t>
              </a:r>
              <a:r>
                <a:rPr lang="en-US" altLang="zh-CN" sz="1800" b="0" dirty="0">
                  <a:solidFill>
                    <a:srgbClr val="C00000"/>
                  </a:solidFill>
                  <a:latin typeface="微软雅黑" panose="020B0503020204020204" pitchFamily="34" charset="-122"/>
                  <a:ea typeface="微软雅黑" panose="020B0503020204020204" pitchFamily="34" charset="-122"/>
                </a:rPr>
                <a:t>——P</a:t>
              </a:r>
              <a:r>
                <a:rPr lang="en-US" altLang="zh-CN" sz="1800" b="0" baseline="-25000" dirty="0">
                  <a:solidFill>
                    <a:srgbClr val="C00000"/>
                  </a:solidFill>
                </a:rPr>
                <a:t>2</a:t>
              </a:r>
              <a:endParaRPr lang="en-US" altLang="zh-CN" sz="2000" b="0" baseline="-25000" dirty="0">
                <a:solidFill>
                  <a:srgbClr val="C00000"/>
                </a:solidFill>
              </a:endParaRPr>
            </a:p>
          </p:txBody>
        </p:sp>
      </p:grpSp>
      <p:sp>
        <p:nvSpPr>
          <p:cNvPr id="60" name="矩形 59">
            <a:extLst>
              <a:ext uri="{FF2B5EF4-FFF2-40B4-BE49-F238E27FC236}">
                <a16:creationId xmlns:a16="http://schemas.microsoft.com/office/drawing/2014/main" id="{69F74AE3-259D-4C77-8838-A383FEFB2A80}"/>
              </a:ext>
            </a:extLst>
          </p:cNvPr>
          <p:cNvSpPr/>
          <p:nvPr/>
        </p:nvSpPr>
        <p:spPr>
          <a:xfrm>
            <a:off x="5852566" y="5081170"/>
            <a:ext cx="1455738" cy="369332"/>
          </a:xfrm>
          <a:prstGeom prst="rect">
            <a:avLst/>
          </a:prstGeom>
          <a:solidFill>
            <a:schemeClr val="bg2">
              <a:lumMod val="40000"/>
              <a:lumOff val="60000"/>
            </a:schemeClr>
          </a:solidFill>
          <a:ln>
            <a:solidFill>
              <a:srgbClr val="C00000"/>
            </a:solidFill>
          </a:ln>
        </p:spPr>
        <p:txBody>
          <a:bodyPr wrap="square">
            <a:spAutoFit/>
          </a:bodyPr>
          <a:lstStyle/>
          <a:p>
            <a:pPr algn="ctr" eaLnBrk="1" hangingPunct="1"/>
            <a:r>
              <a:rPr lang="zh-CN" altLang="en-US" dirty="0">
                <a:latin typeface="微软雅黑" panose="020B0503020204020204" pitchFamily="34" charset="-122"/>
                <a:ea typeface="微软雅黑" panose="020B0503020204020204" pitchFamily="34" charset="-122"/>
              </a:rPr>
              <a:t>产品短缺</a:t>
            </a:r>
            <a:endParaRPr lang="en-US" altLang="zh-CN" dirty="0">
              <a:latin typeface="微软雅黑" panose="020B0503020204020204" pitchFamily="34" charset="-122"/>
              <a:ea typeface="微软雅黑" panose="020B0503020204020204" pitchFamily="34" charset="-122"/>
            </a:endParaRPr>
          </a:p>
        </p:txBody>
      </p:sp>
      <p:sp>
        <p:nvSpPr>
          <p:cNvPr id="61" name="右中括号 60">
            <a:extLst>
              <a:ext uri="{FF2B5EF4-FFF2-40B4-BE49-F238E27FC236}">
                <a16:creationId xmlns:a16="http://schemas.microsoft.com/office/drawing/2014/main" id="{EB4EFA6B-E85C-41FA-9BAC-222CDF145CC2}"/>
              </a:ext>
            </a:extLst>
          </p:cNvPr>
          <p:cNvSpPr/>
          <p:nvPr/>
        </p:nvSpPr>
        <p:spPr bwMode="auto">
          <a:xfrm rot="5400000">
            <a:off x="6479088" y="3596887"/>
            <a:ext cx="180022" cy="2139887"/>
          </a:xfrm>
          <a:prstGeom prst="rightBracket">
            <a:avLst>
              <a:gd name="adj" fmla="val 0"/>
            </a:avLst>
          </a:prstGeom>
          <a:noFill/>
          <a:ln>
            <a:solidFill>
              <a:schemeClr val="tx1"/>
            </a:solidFill>
          </a:ln>
          <a:effectLst/>
        </p:spPr>
        <p:txBody>
          <a:bodyPr vert="horz" wrap="square" lIns="90170" tIns="46990" rIns="90170" bIns="4699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62" name="直接箭头连接符 61">
            <a:extLst>
              <a:ext uri="{FF2B5EF4-FFF2-40B4-BE49-F238E27FC236}">
                <a16:creationId xmlns:a16="http://schemas.microsoft.com/office/drawing/2014/main" id="{CAB4B221-2029-49E9-B58E-F8CBEC6A060E}"/>
              </a:ext>
            </a:extLst>
          </p:cNvPr>
          <p:cNvCxnSpPr>
            <a:cxnSpLocks/>
            <a:stCxn id="60" idx="0"/>
            <a:endCxn id="61" idx="2"/>
          </p:cNvCxnSpPr>
          <p:nvPr/>
        </p:nvCxnSpPr>
        <p:spPr bwMode="auto">
          <a:xfrm flipH="1" flipV="1">
            <a:off x="6569099" y="4756842"/>
            <a:ext cx="11336" cy="324328"/>
          </a:xfrm>
          <a:prstGeom prst="straightConnector1">
            <a:avLst/>
          </a:prstGeom>
          <a:solidFill>
            <a:srgbClr val="FF00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cover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370">
                                            <p:txEl>
                                              <p:pRg st="0" end="0"/>
                                            </p:txEl>
                                          </p:spTgt>
                                        </p:tgtEl>
                                        <p:attrNameLst>
                                          <p:attrName>style.visibility</p:attrName>
                                        </p:attrNameLst>
                                      </p:cBhvr>
                                      <p:to>
                                        <p:strVal val="visible"/>
                                      </p:to>
                                    </p:set>
                                    <p:animEffect transition="in" filter="wipe(left)">
                                      <p:cBhvr>
                                        <p:cTn id="7" dur="500"/>
                                        <p:tgtEl>
                                          <p:spTgt spid="583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wipe(up)">
                                      <p:cBhvr>
                                        <p:cTn id="12" dur="500"/>
                                        <p:tgtEl>
                                          <p:spTgt spid="49"/>
                                        </p:tgtEl>
                                      </p:cBhvr>
                                    </p:animEffect>
                                  </p:childTnLst>
                                </p:cTn>
                              </p:par>
                              <p:par>
                                <p:cTn id="13" presetID="14" presetClass="entr" presetSubtype="10" fill="hold" nodeType="withEffect">
                                  <p:stCondLst>
                                    <p:cond delay="0"/>
                                  </p:stCondLst>
                                  <p:childTnLst>
                                    <p:set>
                                      <p:cBhvr>
                                        <p:cTn id="14" dur="1" fill="hold">
                                          <p:stCondLst>
                                            <p:cond delay="0"/>
                                          </p:stCondLst>
                                        </p:cTn>
                                        <p:tgtEl>
                                          <p:spTgt spid="63491"/>
                                        </p:tgtEl>
                                        <p:attrNameLst>
                                          <p:attrName>style.visibility</p:attrName>
                                        </p:attrNameLst>
                                      </p:cBhvr>
                                      <p:to>
                                        <p:strVal val="visible"/>
                                      </p:to>
                                    </p:set>
                                    <p:animEffect transition="in" filter="randombar(horizontal)">
                                      <p:cBhvr>
                                        <p:cTn id="15" dur="750"/>
                                        <p:tgtEl>
                                          <p:spTgt spid="6349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61"/>
                                        </p:tgtEl>
                                        <p:attrNameLst>
                                          <p:attrName>style.visibility</p:attrName>
                                        </p:attrNameLst>
                                      </p:cBhvr>
                                      <p:to>
                                        <p:strVal val="visible"/>
                                      </p:to>
                                    </p:set>
                                    <p:animEffect transition="in" filter="wipe(up)">
                                      <p:cBhvr>
                                        <p:cTn id="20" dur="500"/>
                                        <p:tgtEl>
                                          <p:spTgt spid="61"/>
                                        </p:tgtEl>
                                      </p:cBhvr>
                                    </p:animEffect>
                                  </p:childTnLst>
                                </p:cTn>
                              </p:par>
                            </p:childTnLst>
                          </p:cTn>
                        </p:par>
                        <p:par>
                          <p:cTn id="21" fill="hold">
                            <p:stCondLst>
                              <p:cond delay="500"/>
                            </p:stCondLst>
                            <p:childTnLst>
                              <p:par>
                                <p:cTn id="22" presetID="22" presetClass="entr" presetSubtype="1" fill="hold" nodeType="afterEffect">
                                  <p:stCondLst>
                                    <p:cond delay="0"/>
                                  </p:stCondLst>
                                  <p:childTnLst>
                                    <p:set>
                                      <p:cBhvr>
                                        <p:cTn id="23" dur="1" fill="hold">
                                          <p:stCondLst>
                                            <p:cond delay="0"/>
                                          </p:stCondLst>
                                        </p:cTn>
                                        <p:tgtEl>
                                          <p:spTgt spid="62"/>
                                        </p:tgtEl>
                                        <p:attrNameLst>
                                          <p:attrName>style.visibility</p:attrName>
                                        </p:attrNameLst>
                                      </p:cBhvr>
                                      <p:to>
                                        <p:strVal val="visible"/>
                                      </p:to>
                                    </p:set>
                                    <p:animEffect transition="in" filter="wipe(up)">
                                      <p:cBhvr>
                                        <p:cTn id="24" dur="500"/>
                                        <p:tgtEl>
                                          <p:spTgt spid="62"/>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60"/>
                                        </p:tgtEl>
                                        <p:attrNameLst>
                                          <p:attrName>style.visibility</p:attrName>
                                        </p:attrNameLst>
                                      </p:cBhvr>
                                      <p:to>
                                        <p:strVal val="visible"/>
                                      </p:to>
                                    </p:set>
                                    <p:animEffect transition="in" filter="randombar(horizontal)">
                                      <p:cBhvr>
                                        <p:cTn id="29" dur="500"/>
                                        <p:tgtEl>
                                          <p:spTgt spid="6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57"/>
                                        </p:tgtEl>
                                        <p:attrNameLst>
                                          <p:attrName>style.visibility</p:attrName>
                                        </p:attrNameLst>
                                      </p:cBhvr>
                                      <p:to>
                                        <p:strVal val="visible"/>
                                      </p:to>
                                    </p:set>
                                    <p:animEffect transition="in" filter="wipe(left)">
                                      <p:cBhvr>
                                        <p:cTn id="34"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build="p"/>
      <p:bldP spid="60" grpId="0" animBg="1"/>
      <p:bldP spid="61"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noChangeArrowheads="1"/>
          </p:cNvSpPr>
          <p:nvPr>
            <p:ph type="body" idx="4294967295"/>
          </p:nvPr>
        </p:nvSpPr>
        <p:spPr>
          <a:xfrm>
            <a:off x="1103731" y="1258742"/>
            <a:ext cx="2738131" cy="3643067"/>
          </a:xfrm>
        </p:spPr>
        <p:txBody>
          <a:bodyPr/>
          <a:lstStyle/>
          <a:p>
            <a:pPr marL="285750" lvl="2" indent="-285750" eaLnBrk="1" hangingPunct="1">
              <a:lnSpc>
                <a:spcPct val="150000"/>
              </a:lnSpc>
              <a:spcBef>
                <a:spcPct val="0"/>
              </a:spcBef>
              <a:buFont typeface="Wingdings" panose="05000000000000000000" pitchFamily="2" charset="2"/>
              <a:buChar char="u"/>
            </a:pPr>
            <a:r>
              <a:rPr lang="zh-CN" altLang="en-US" sz="1800" spc="150" dirty="0">
                <a:solidFill>
                  <a:srgbClr val="000000"/>
                </a:solidFill>
                <a:latin typeface="微软雅黑" panose="020B0503020204020204" pitchFamily="34" charset="-122"/>
                <a:ea typeface="微软雅黑" panose="020B0503020204020204" pitchFamily="34" charset="-122"/>
              </a:rPr>
              <a:t>向销售商征税</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征税前状况</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lvl="2" eaLnBrk="1" hangingPunct="1">
              <a:buFont typeface="Arial" panose="020B0604020202020204" pitchFamily="34" charset="0"/>
              <a:buChar char="•"/>
            </a:pPr>
            <a:r>
              <a:rPr lang="en-US" altLang="zh-CN" sz="1800" spc="150" dirty="0">
                <a:solidFill>
                  <a:srgbClr val="000000"/>
                </a:solidFill>
                <a:latin typeface="微软雅黑" panose="020B0503020204020204" pitchFamily="34" charset="-122"/>
                <a:ea typeface="微软雅黑" panose="020B0503020204020204" pitchFamily="34" charset="-122"/>
              </a:rPr>
              <a:t>P=</a:t>
            </a:r>
            <a:r>
              <a:rPr lang="en-US" altLang="zh-CN" sz="1800" dirty="0"/>
              <a:t> P</a:t>
            </a:r>
            <a:r>
              <a:rPr lang="en-US" altLang="zh-CN" sz="1800" baseline="-25000" dirty="0"/>
              <a:t>E</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lvl="2" eaLnBrk="1" hangingPunct="1">
              <a:buFont typeface="Arial" panose="020B0604020202020204" pitchFamily="34" charset="0"/>
              <a:buChar char="•"/>
            </a:pPr>
            <a:r>
              <a:rPr lang="en-US" altLang="zh-CN" sz="1800" spc="150" dirty="0">
                <a:solidFill>
                  <a:srgbClr val="000000"/>
                </a:solidFill>
                <a:latin typeface="微软雅黑" panose="020B0503020204020204" pitchFamily="34" charset="-122"/>
                <a:ea typeface="微软雅黑" panose="020B0503020204020204" pitchFamily="34" charset="-122"/>
              </a:rPr>
              <a:t>Q=</a:t>
            </a:r>
            <a:r>
              <a:rPr lang="en-US" altLang="zh-CN" sz="1800" dirty="0"/>
              <a:t> Q</a:t>
            </a:r>
            <a:r>
              <a:rPr lang="en-US" altLang="zh-CN" sz="1800" baseline="-25000" dirty="0"/>
              <a:t>E</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征税后状况</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lvl="2" eaLnBrk="1" hangingPunct="1">
              <a:buFont typeface="Arial" panose="020B0604020202020204" pitchFamily="34" charset="0"/>
              <a:buChar char="•"/>
            </a:pPr>
            <a:r>
              <a:rPr lang="en-US" altLang="zh-CN" sz="1800" spc="150" dirty="0">
                <a:solidFill>
                  <a:srgbClr val="000000"/>
                </a:solidFill>
                <a:latin typeface="微软雅黑" panose="020B0503020204020204" pitchFamily="34" charset="-122"/>
                <a:ea typeface="微软雅黑" panose="020B0503020204020204" pitchFamily="34" charset="-122"/>
              </a:rPr>
              <a:t>P=</a:t>
            </a:r>
            <a:r>
              <a:rPr lang="en-US" altLang="zh-CN" sz="1800" dirty="0"/>
              <a:t> P</a:t>
            </a:r>
            <a:r>
              <a:rPr lang="en-US" altLang="zh-CN" sz="1800" baseline="-25000" dirty="0"/>
              <a:t>E</a:t>
            </a:r>
            <a:r>
              <a:rPr lang="zh-CN" altLang="en-US" sz="1800" dirty="0"/>
              <a:t>’</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lvl="2" eaLnBrk="1" hangingPunct="1">
              <a:buFont typeface="Arial" panose="020B0604020202020204" pitchFamily="34" charset="0"/>
              <a:buChar char="•"/>
            </a:pPr>
            <a:r>
              <a:rPr lang="en-US" altLang="zh-CN" sz="1800" spc="150" dirty="0">
                <a:solidFill>
                  <a:srgbClr val="000000"/>
                </a:solidFill>
                <a:latin typeface="微软雅黑" panose="020B0503020204020204" pitchFamily="34" charset="-122"/>
                <a:ea typeface="微软雅黑" panose="020B0503020204020204" pitchFamily="34" charset="-122"/>
              </a:rPr>
              <a:t>Q=</a:t>
            </a:r>
            <a:r>
              <a:rPr lang="en-US" altLang="zh-CN" sz="1800" dirty="0"/>
              <a:t> Q</a:t>
            </a:r>
            <a:r>
              <a:rPr lang="en-US" altLang="zh-CN" sz="1800" baseline="-25000" dirty="0"/>
              <a:t>E</a:t>
            </a:r>
            <a:r>
              <a:rPr lang="zh-CN" altLang="en-US" sz="1800" dirty="0"/>
              <a:t>’</a:t>
            </a:r>
            <a:endParaRPr lang="en-US" altLang="zh-CN" sz="1800" spc="150" dirty="0">
              <a:solidFill>
                <a:srgbClr val="000000"/>
              </a:solidFill>
              <a:latin typeface="微软雅黑" panose="020B0503020204020204" pitchFamily="34" charset="-122"/>
              <a:ea typeface="微软雅黑" panose="020B0503020204020204" pitchFamily="34" charset="-122"/>
            </a:endParaRPr>
          </a:p>
        </p:txBody>
      </p:sp>
      <p:grpSp>
        <p:nvGrpSpPr>
          <p:cNvPr id="59395" name="组合 39"/>
          <p:cNvGrpSpPr>
            <a:grpSpLocks/>
          </p:cNvGrpSpPr>
          <p:nvPr/>
        </p:nvGrpSpPr>
        <p:grpSpPr bwMode="auto">
          <a:xfrm>
            <a:off x="4138166" y="1844824"/>
            <a:ext cx="4000500" cy="3352800"/>
            <a:chOff x="0" y="0"/>
            <a:chExt cx="3999960" cy="3352800"/>
          </a:xfrm>
        </p:grpSpPr>
        <p:graphicFrame>
          <p:nvGraphicFramePr>
            <p:cNvPr id="64533" name="Object 4"/>
            <p:cNvGraphicFramePr>
              <a:graphicFrameLocks noChangeAspect="1"/>
            </p:cNvGraphicFramePr>
            <p:nvPr/>
          </p:nvGraphicFramePr>
          <p:xfrm>
            <a:off x="2843231" y="1470881"/>
            <a:ext cx="233547" cy="238550"/>
          </p:xfrm>
          <a:graphic>
            <a:graphicData uri="http://schemas.openxmlformats.org/presentationml/2006/ole">
              <mc:AlternateContent xmlns:mc="http://schemas.openxmlformats.org/markup-compatibility/2006">
                <mc:Choice xmlns:v="urn:schemas-microsoft-com:vml" Requires="v">
                  <p:oleObj spid="_x0000_s196884" r:id="rId4" imgW="153332" imgH="166109" progId="">
                    <p:embed/>
                  </p:oleObj>
                </mc:Choice>
                <mc:Fallback>
                  <p:oleObj r:id="rId4" imgW="153332" imgH="166109"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3231" y="1470881"/>
                          <a:ext cx="233547" cy="23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4534" name="组合 38"/>
            <p:cNvGrpSpPr>
              <a:grpSpLocks/>
            </p:cNvGrpSpPr>
            <p:nvPr/>
          </p:nvGrpSpPr>
          <p:grpSpPr bwMode="auto">
            <a:xfrm>
              <a:off x="0" y="0"/>
              <a:ext cx="3999960" cy="3352800"/>
              <a:chOff x="0" y="0"/>
              <a:chExt cx="3999960" cy="3352800"/>
            </a:xfrm>
          </p:grpSpPr>
          <p:cxnSp>
            <p:nvCxnSpPr>
              <p:cNvPr id="64535" name="直接连接符 33"/>
              <p:cNvCxnSpPr>
                <a:cxnSpLocks noChangeShapeType="1"/>
              </p:cNvCxnSpPr>
              <p:nvPr/>
            </p:nvCxnSpPr>
            <p:spPr bwMode="auto">
              <a:xfrm flipV="1">
                <a:off x="1342844" y="928688"/>
                <a:ext cx="2214264" cy="1536700"/>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64536" name="直接箭头连接符 24"/>
              <p:cNvCxnSpPr>
                <a:cxnSpLocks noChangeShapeType="1"/>
              </p:cNvCxnSpPr>
              <p:nvPr/>
            </p:nvCxnSpPr>
            <p:spPr bwMode="auto">
              <a:xfrm rot="5400000" flipH="1" flipV="1">
                <a:off x="-1129554" y="1442244"/>
                <a:ext cx="2886075"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64537" name="直接箭头连接符 26"/>
              <p:cNvCxnSpPr>
                <a:cxnSpLocks noChangeShapeType="1"/>
              </p:cNvCxnSpPr>
              <p:nvPr/>
            </p:nvCxnSpPr>
            <p:spPr bwMode="auto">
              <a:xfrm>
                <a:off x="314283" y="2886075"/>
                <a:ext cx="3685677"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64538" name="直接连接符 28"/>
              <p:cNvCxnSpPr>
                <a:cxnSpLocks noChangeShapeType="1"/>
              </p:cNvCxnSpPr>
              <p:nvPr/>
            </p:nvCxnSpPr>
            <p:spPr bwMode="auto">
              <a:xfrm>
                <a:off x="1199988" y="153988"/>
                <a:ext cx="2230137" cy="2076450"/>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64539" name="直接连接符 30"/>
              <p:cNvCxnSpPr>
                <a:cxnSpLocks noChangeShapeType="1"/>
              </p:cNvCxnSpPr>
              <p:nvPr/>
            </p:nvCxnSpPr>
            <p:spPr bwMode="auto">
              <a:xfrm rot="10800000" flipV="1">
                <a:off x="271426" y="1549400"/>
                <a:ext cx="2357119" cy="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64540" name="直接连接符 31"/>
              <p:cNvCxnSpPr>
                <a:cxnSpLocks noChangeShapeType="1"/>
              </p:cNvCxnSpPr>
              <p:nvPr/>
            </p:nvCxnSpPr>
            <p:spPr bwMode="auto">
              <a:xfrm rot="16200000" flipH="1">
                <a:off x="2018142" y="2231232"/>
                <a:ext cx="1371600" cy="7936"/>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4541" name="Object 12"/>
              <p:cNvGraphicFramePr>
                <a:graphicFrameLocks noChangeAspect="1"/>
              </p:cNvGraphicFramePr>
              <p:nvPr>
                <p:extLst>
                  <p:ext uri="{D42A27DB-BD31-4B8C-83A1-F6EECF244321}">
                    <p14:modId xmlns:p14="http://schemas.microsoft.com/office/powerpoint/2010/main" val="1638528216"/>
                  </p:ext>
                </p:extLst>
              </p:nvPr>
            </p:nvGraphicFramePr>
            <p:xfrm>
              <a:off x="124949" y="2800337"/>
              <a:ext cx="233547" cy="256648"/>
            </p:xfrm>
            <a:graphic>
              <a:graphicData uri="http://schemas.openxmlformats.org/presentationml/2006/ole">
                <mc:AlternateContent xmlns:mc="http://schemas.openxmlformats.org/markup-compatibility/2006">
                  <mc:Choice xmlns:v="urn:schemas-microsoft-com:vml" Requires="v">
                    <p:oleObj spid="_x0000_s196885" r:id="rId6" imgW="153198" imgH="178731" progId="">
                      <p:embed/>
                    </p:oleObj>
                  </mc:Choice>
                  <mc:Fallback>
                    <p:oleObj r:id="rId6" imgW="153198" imgH="178731" progId="">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4949" y="2800337"/>
                            <a:ext cx="233547" cy="256648"/>
                          </a:xfrm>
                          <a:prstGeom prst="rect">
                            <a:avLst/>
                          </a:prstGeom>
                          <a:noFill/>
                          <a:ln>
                            <a:noFill/>
                          </a:ln>
                          <a:effectLst/>
                        </p:spPr>
                      </p:pic>
                    </p:oleObj>
                  </mc:Fallback>
                </mc:AlternateContent>
              </a:graphicData>
            </a:graphic>
          </p:graphicFrame>
          <p:graphicFrame>
            <p:nvGraphicFramePr>
              <p:cNvPr id="64542" name="Object 13"/>
              <p:cNvGraphicFramePr>
                <a:graphicFrameLocks noChangeAspect="1"/>
              </p:cNvGraphicFramePr>
              <p:nvPr/>
            </p:nvGraphicFramePr>
            <p:xfrm>
              <a:off x="0" y="146007"/>
              <a:ext cx="233547" cy="238550"/>
            </p:xfrm>
            <a:graphic>
              <a:graphicData uri="http://schemas.openxmlformats.org/presentationml/2006/ole">
                <mc:AlternateContent xmlns:mc="http://schemas.openxmlformats.org/markup-compatibility/2006">
                  <mc:Choice xmlns:v="urn:schemas-microsoft-com:vml" Requires="v">
                    <p:oleObj spid="_x0000_s196886" r:id="rId8" imgW="153332" imgH="166109" progId="">
                      <p:embed/>
                    </p:oleObj>
                  </mc:Choice>
                  <mc:Fallback>
                    <p:oleObj r:id="rId8" imgW="153332" imgH="166109" progId="">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146007"/>
                            <a:ext cx="233547" cy="23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543" name="Object 14"/>
              <p:cNvGraphicFramePr>
                <a:graphicFrameLocks noChangeAspect="1"/>
              </p:cNvGraphicFramePr>
              <p:nvPr/>
            </p:nvGraphicFramePr>
            <p:xfrm>
              <a:off x="3764668" y="3033315"/>
              <a:ext cx="233547" cy="294487"/>
            </p:xfrm>
            <a:graphic>
              <a:graphicData uri="http://schemas.openxmlformats.org/presentationml/2006/ole">
                <mc:AlternateContent xmlns:mc="http://schemas.openxmlformats.org/markup-compatibility/2006">
                  <mc:Choice xmlns:v="urn:schemas-microsoft-com:vml" Requires="v">
                    <p:oleObj spid="_x0000_s196887" r:id="rId10" imgW="153332" imgH="204442" progId="">
                      <p:embed/>
                    </p:oleObj>
                  </mc:Choice>
                  <mc:Fallback>
                    <p:oleObj r:id="rId10" imgW="153332" imgH="204442" progId="">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64668" y="3033315"/>
                            <a:ext cx="233547" cy="294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544" name="Object 15"/>
              <p:cNvGraphicFramePr>
                <a:graphicFrameLocks noChangeAspect="1"/>
              </p:cNvGraphicFramePr>
              <p:nvPr/>
            </p:nvGraphicFramePr>
            <p:xfrm>
              <a:off x="0" y="1330544"/>
              <a:ext cx="292805" cy="332326"/>
            </p:xfrm>
            <a:graphic>
              <a:graphicData uri="http://schemas.openxmlformats.org/presentationml/2006/ole">
                <mc:AlternateContent xmlns:mc="http://schemas.openxmlformats.org/markup-compatibility/2006">
                  <mc:Choice xmlns:v="urn:schemas-microsoft-com:vml" Requires="v">
                    <p:oleObj spid="_x0000_s196888" r:id="rId12" imgW="191414" imgH="229697" progId="">
                      <p:embed/>
                    </p:oleObj>
                  </mc:Choice>
                  <mc:Fallback>
                    <p:oleObj r:id="rId12" imgW="191414" imgH="229697" progId="">
                      <p:embed/>
                      <p:pic>
                        <p:nvPicPr>
                          <p:cNvPr id="0"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1330544"/>
                            <a:ext cx="292805" cy="332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545" name="Object 16"/>
              <p:cNvGraphicFramePr>
                <a:graphicFrameLocks noChangeAspect="1"/>
              </p:cNvGraphicFramePr>
              <p:nvPr/>
            </p:nvGraphicFramePr>
            <p:xfrm>
              <a:off x="3557745" y="851044"/>
              <a:ext cx="212765" cy="256542"/>
            </p:xfrm>
            <a:graphic>
              <a:graphicData uri="http://schemas.openxmlformats.org/presentationml/2006/ole">
                <mc:AlternateContent xmlns:mc="http://schemas.openxmlformats.org/markup-compatibility/2006">
                  <mc:Choice xmlns:v="urn:schemas-microsoft-com:vml" Requires="v">
                    <p:oleObj spid="_x0000_s196889" r:id="rId14" imgW="140493" imgH="178809" progId="">
                      <p:embed/>
                    </p:oleObj>
                  </mc:Choice>
                  <mc:Fallback>
                    <p:oleObj r:id="rId14" imgW="140493" imgH="178809" progId="">
                      <p:embed/>
                      <p:pic>
                        <p:nvPicPr>
                          <p:cNvPr id="0"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57745" y="851044"/>
                            <a:ext cx="212765" cy="256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546" name="Object 17"/>
              <p:cNvGraphicFramePr>
                <a:graphicFrameLocks noChangeAspect="1"/>
              </p:cNvGraphicFramePr>
              <p:nvPr/>
            </p:nvGraphicFramePr>
            <p:xfrm>
              <a:off x="3294085" y="2292980"/>
              <a:ext cx="252718" cy="238550"/>
            </p:xfrm>
            <a:graphic>
              <a:graphicData uri="http://schemas.openxmlformats.org/presentationml/2006/ole">
                <mc:AlternateContent xmlns:mc="http://schemas.openxmlformats.org/markup-compatibility/2006">
                  <mc:Choice xmlns:v="urn:schemas-microsoft-com:vml" Requires="v">
                    <p:oleObj spid="_x0000_s196890" r:id="rId16" imgW="166037" imgH="166037" progId="">
                      <p:embed/>
                    </p:oleObj>
                  </mc:Choice>
                  <mc:Fallback>
                    <p:oleObj r:id="rId16" imgW="166037" imgH="166037" progId="">
                      <p:embed/>
                      <p:pic>
                        <p:nvPicPr>
                          <p:cNvPr id="0"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94085" y="2292980"/>
                            <a:ext cx="252718" cy="23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547" name="Object 18"/>
              <p:cNvGraphicFramePr>
                <a:graphicFrameLocks noChangeAspect="1"/>
              </p:cNvGraphicFramePr>
              <p:nvPr/>
            </p:nvGraphicFramePr>
            <p:xfrm>
              <a:off x="2557426" y="3020474"/>
              <a:ext cx="331149" cy="332326"/>
            </p:xfrm>
            <a:graphic>
              <a:graphicData uri="http://schemas.openxmlformats.org/presentationml/2006/ole">
                <mc:AlternateContent xmlns:mc="http://schemas.openxmlformats.org/markup-compatibility/2006">
                  <mc:Choice xmlns:v="urn:schemas-microsoft-com:vml" Requires="v">
                    <p:oleObj spid="_x0000_s196891" r:id="rId18" imgW="216747" imgH="229496" progId="">
                      <p:embed/>
                    </p:oleObj>
                  </mc:Choice>
                  <mc:Fallback>
                    <p:oleObj r:id="rId18" imgW="216747" imgH="229496" progId="">
                      <p:embed/>
                      <p:pic>
                        <p:nvPicPr>
                          <p:cNvPr id="0" name="Object 1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557426" y="3020474"/>
                            <a:ext cx="331149" cy="332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59411" name="组合 41"/>
          <p:cNvGrpSpPr>
            <a:grpSpLocks/>
          </p:cNvGrpSpPr>
          <p:nvPr/>
        </p:nvGrpSpPr>
        <p:grpSpPr bwMode="auto">
          <a:xfrm>
            <a:off x="4138166" y="2492524"/>
            <a:ext cx="2292350" cy="2733675"/>
            <a:chOff x="0" y="0"/>
            <a:chExt cx="2292782" cy="2734169"/>
          </a:xfrm>
        </p:grpSpPr>
        <p:cxnSp>
          <p:nvCxnSpPr>
            <p:cNvPr id="64524" name="直接连接符 17"/>
            <p:cNvCxnSpPr>
              <a:cxnSpLocks noChangeShapeType="1"/>
            </p:cNvCxnSpPr>
            <p:nvPr/>
          </p:nvCxnSpPr>
          <p:spPr bwMode="auto">
            <a:xfrm>
              <a:off x="385835" y="77802"/>
              <a:ext cx="1529051" cy="34931"/>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64525" name="直接连接符 32"/>
            <p:cNvCxnSpPr>
              <a:cxnSpLocks noChangeShapeType="1"/>
            </p:cNvCxnSpPr>
            <p:nvPr/>
          </p:nvCxnSpPr>
          <p:spPr bwMode="auto">
            <a:xfrm rot="5400000">
              <a:off x="758182" y="1161466"/>
              <a:ext cx="2091116" cy="7939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4526" name="Object 22"/>
            <p:cNvGraphicFramePr>
              <a:graphicFrameLocks noChangeAspect="1"/>
            </p:cNvGraphicFramePr>
            <p:nvPr/>
          </p:nvGraphicFramePr>
          <p:xfrm>
            <a:off x="15879" y="46487"/>
            <a:ext cx="293742" cy="332299"/>
          </p:xfrm>
          <a:graphic>
            <a:graphicData uri="http://schemas.openxmlformats.org/presentationml/2006/ole">
              <mc:AlternateContent xmlns:mc="http://schemas.openxmlformats.org/markup-compatibility/2006">
                <mc:Choice xmlns:v="urn:schemas-microsoft-com:vml" Requires="v">
                  <p:oleObj spid="_x0000_s196892" r:id="rId20" imgW="191414" imgH="229697" progId="">
                    <p:embed/>
                  </p:oleObj>
                </mc:Choice>
                <mc:Fallback>
                  <p:oleObj r:id="rId20" imgW="191414" imgH="229697" progId="">
                    <p:embed/>
                    <p:pic>
                      <p:nvPicPr>
                        <p:cNvPr id="0" name="Object 2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5879" y="46487"/>
                          <a:ext cx="293742" cy="332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527" name="Object 23"/>
            <p:cNvGraphicFramePr>
              <a:graphicFrameLocks noChangeAspect="1"/>
            </p:cNvGraphicFramePr>
            <p:nvPr/>
          </p:nvGraphicFramePr>
          <p:xfrm>
            <a:off x="1886313" y="1472114"/>
            <a:ext cx="231818" cy="237602"/>
          </p:xfrm>
          <a:graphic>
            <a:graphicData uri="http://schemas.openxmlformats.org/presentationml/2006/ole">
              <mc:AlternateContent xmlns:mc="http://schemas.openxmlformats.org/markup-compatibility/2006">
                <mc:Choice xmlns:v="urn:schemas-microsoft-com:vml" Requires="v">
                  <p:oleObj spid="_x0000_s196893" r:id="rId22" imgW="153332" imgH="166109" progId="">
                    <p:embed/>
                  </p:oleObj>
                </mc:Choice>
                <mc:Fallback>
                  <p:oleObj r:id="rId22" imgW="153332" imgH="166109" progId="">
                    <p:embed/>
                    <p:pic>
                      <p:nvPicPr>
                        <p:cNvPr id="0" name="Object 2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886313" y="1472114"/>
                          <a:ext cx="231818" cy="237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528" name="Object 24"/>
            <p:cNvGraphicFramePr>
              <a:graphicFrameLocks noChangeAspect="1"/>
            </p:cNvGraphicFramePr>
            <p:nvPr/>
          </p:nvGraphicFramePr>
          <p:xfrm>
            <a:off x="1957765" y="697317"/>
            <a:ext cx="233407" cy="241046"/>
          </p:xfrm>
          <a:graphic>
            <a:graphicData uri="http://schemas.openxmlformats.org/presentationml/2006/ole">
              <mc:AlternateContent xmlns:mc="http://schemas.openxmlformats.org/markup-compatibility/2006">
                <mc:Choice xmlns:v="urn:schemas-microsoft-com:vml" Requires="v">
                  <p:oleObj spid="_x0000_s196894" r:id="rId24" imgW="153332" imgH="166109" progId="">
                    <p:embed/>
                  </p:oleObj>
                </mc:Choice>
                <mc:Fallback>
                  <p:oleObj r:id="rId24" imgW="153332" imgH="166109" progId="">
                    <p:embed/>
                    <p:pic>
                      <p:nvPicPr>
                        <p:cNvPr id="0" name="Object 2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957765" y="697317"/>
                          <a:ext cx="233407" cy="241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529" name="Object 25"/>
            <p:cNvGraphicFramePr>
              <a:graphicFrameLocks noChangeAspect="1"/>
            </p:cNvGraphicFramePr>
            <p:nvPr/>
          </p:nvGraphicFramePr>
          <p:xfrm>
            <a:off x="1600508" y="2401869"/>
            <a:ext cx="331850" cy="332300"/>
          </p:xfrm>
          <a:graphic>
            <a:graphicData uri="http://schemas.openxmlformats.org/presentationml/2006/ole">
              <mc:AlternateContent xmlns:mc="http://schemas.openxmlformats.org/markup-compatibility/2006">
                <mc:Choice xmlns:v="urn:schemas-microsoft-com:vml" Requires="v">
                  <p:oleObj spid="_x0000_s196895" r:id="rId26" imgW="216747" imgH="229496" progId="">
                    <p:embed/>
                  </p:oleObj>
                </mc:Choice>
                <mc:Fallback>
                  <p:oleObj r:id="rId26" imgW="216747" imgH="229496" progId="">
                    <p:embed/>
                    <p:pic>
                      <p:nvPicPr>
                        <p:cNvPr id="0" name="Object 2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600508" y="2401869"/>
                          <a:ext cx="331850" cy="33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64530" name="直接连接符 6"/>
            <p:cNvCxnSpPr>
              <a:cxnSpLocks noChangeShapeType="1"/>
            </p:cNvCxnSpPr>
            <p:nvPr/>
          </p:nvCxnSpPr>
          <p:spPr bwMode="auto">
            <a:xfrm rot="10800000">
              <a:off x="314384" y="1549680"/>
              <a:ext cx="1429019"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4531" name="Object 27"/>
            <p:cNvGraphicFramePr>
              <a:graphicFrameLocks noChangeAspect="1"/>
            </p:cNvGraphicFramePr>
            <p:nvPr/>
          </p:nvGraphicFramePr>
          <p:xfrm>
            <a:off x="0" y="1239665"/>
            <a:ext cx="311208" cy="332300"/>
          </p:xfrm>
          <a:graphic>
            <a:graphicData uri="http://schemas.openxmlformats.org/presentationml/2006/ole">
              <mc:AlternateContent xmlns:mc="http://schemas.openxmlformats.org/markup-compatibility/2006">
                <mc:Choice xmlns:v="urn:schemas-microsoft-com:vml" Requires="v">
                  <p:oleObj spid="_x0000_s196896" r:id="rId28" imgW="204086" imgH="229597" progId="">
                    <p:embed/>
                  </p:oleObj>
                </mc:Choice>
                <mc:Fallback>
                  <p:oleObj r:id="rId28" imgW="204086" imgH="229597" progId="">
                    <p:embed/>
                    <p:pic>
                      <p:nvPicPr>
                        <p:cNvPr id="0" name="Object 2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0" y="1239665"/>
                          <a:ext cx="311208" cy="33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532" name="Object 28"/>
            <p:cNvGraphicFramePr>
              <a:graphicFrameLocks noChangeAspect="1"/>
            </p:cNvGraphicFramePr>
            <p:nvPr/>
          </p:nvGraphicFramePr>
          <p:xfrm>
            <a:off x="2000627" y="0"/>
            <a:ext cx="292155" cy="239325"/>
          </p:xfrm>
          <a:graphic>
            <a:graphicData uri="http://schemas.openxmlformats.org/presentationml/2006/ole">
              <mc:AlternateContent xmlns:mc="http://schemas.openxmlformats.org/markup-compatibility/2006">
                <mc:Choice xmlns:v="urn:schemas-microsoft-com:vml" Requires="v">
                  <p:oleObj spid="_x0000_s196897" r:id="rId30" imgW="191581" imgH="166037" progId="">
                    <p:embed/>
                  </p:oleObj>
                </mc:Choice>
                <mc:Fallback>
                  <p:oleObj r:id="rId30" imgW="191581" imgH="166037" progId="">
                    <p:embed/>
                    <p:pic>
                      <p:nvPicPr>
                        <p:cNvPr id="0" name="Object 28"/>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000627" y="0"/>
                          <a:ext cx="292155" cy="23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9421" name="组合 40"/>
          <p:cNvGrpSpPr>
            <a:grpSpLocks/>
          </p:cNvGrpSpPr>
          <p:nvPr/>
        </p:nvGrpSpPr>
        <p:grpSpPr bwMode="auto">
          <a:xfrm>
            <a:off x="4716016" y="1628924"/>
            <a:ext cx="2914650" cy="1946275"/>
            <a:chOff x="0" y="0"/>
            <a:chExt cx="2916917" cy="1946275"/>
          </a:xfrm>
        </p:grpSpPr>
        <p:cxnSp>
          <p:nvCxnSpPr>
            <p:cNvPr id="64519" name="直接连接符 22"/>
            <p:cNvCxnSpPr>
              <a:cxnSpLocks noChangeShapeType="1"/>
            </p:cNvCxnSpPr>
            <p:nvPr/>
          </p:nvCxnSpPr>
          <p:spPr bwMode="auto">
            <a:xfrm rot="5400000">
              <a:off x="1403844" y="1204907"/>
              <a:ext cx="1481137"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64520" name="直接连接符 27"/>
            <p:cNvCxnSpPr>
              <a:cxnSpLocks noChangeShapeType="1"/>
            </p:cNvCxnSpPr>
            <p:nvPr/>
          </p:nvCxnSpPr>
          <p:spPr bwMode="auto">
            <a:xfrm flipV="1">
              <a:off x="0" y="155575"/>
              <a:ext cx="2500895" cy="1770063"/>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aphicFrame>
          <p:nvGraphicFramePr>
            <p:cNvPr id="64521" name="Object 32"/>
            <p:cNvGraphicFramePr>
              <a:graphicFrameLocks noChangeAspect="1"/>
            </p:cNvGraphicFramePr>
            <p:nvPr/>
          </p:nvGraphicFramePr>
          <p:xfrm>
            <a:off x="2643815" y="0"/>
            <a:ext cx="273102" cy="256541"/>
          </p:xfrm>
          <a:graphic>
            <a:graphicData uri="http://schemas.openxmlformats.org/presentationml/2006/ole">
              <mc:AlternateContent xmlns:mc="http://schemas.openxmlformats.org/markup-compatibility/2006">
                <mc:Choice xmlns:v="urn:schemas-microsoft-com:vml" Requires="v">
                  <p:oleObj spid="_x0000_s196898" r:id="rId32" imgW="178731" imgH="178731" progId="">
                    <p:embed/>
                  </p:oleObj>
                </mc:Choice>
                <mc:Fallback>
                  <p:oleObj r:id="rId32" imgW="178731" imgH="178731" progId="">
                    <p:embed/>
                    <p:pic>
                      <p:nvPicPr>
                        <p:cNvPr id="0" name="Object 32"/>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643815" y="0"/>
                          <a:ext cx="273102" cy="256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522" name="Object 33"/>
            <p:cNvGraphicFramePr>
              <a:graphicFrameLocks noChangeAspect="1"/>
            </p:cNvGraphicFramePr>
            <p:nvPr/>
          </p:nvGraphicFramePr>
          <p:xfrm>
            <a:off x="2429461" y="1007235"/>
            <a:ext cx="214352" cy="239324"/>
          </p:xfrm>
          <a:graphic>
            <a:graphicData uri="http://schemas.openxmlformats.org/presentationml/2006/ole">
              <mc:AlternateContent xmlns:mc="http://schemas.openxmlformats.org/markup-compatibility/2006">
                <mc:Choice xmlns:v="urn:schemas-microsoft-com:vml" Requires="v">
                  <p:oleObj spid="_x0000_s196899" r:id="rId34" imgW="140554" imgH="166109" progId="">
                    <p:embed/>
                  </p:oleObj>
                </mc:Choice>
                <mc:Fallback>
                  <p:oleObj r:id="rId34" imgW="140554" imgH="166109" progId="">
                    <p:embed/>
                    <p:pic>
                      <p:nvPicPr>
                        <p:cNvPr id="0" name="Object 33"/>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429461" y="1007235"/>
                          <a:ext cx="214352" cy="239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523" name="左大括号 49"/>
            <p:cNvSpPr>
              <a:spLocks/>
            </p:cNvSpPr>
            <p:nvPr/>
          </p:nvSpPr>
          <p:spPr bwMode="auto">
            <a:xfrm rot="10800000">
              <a:off x="2143625" y="465138"/>
              <a:ext cx="142908" cy="1317625"/>
            </a:xfrm>
            <a:prstGeom prst="leftBrace">
              <a:avLst>
                <a:gd name="adj1" fmla="val 8324"/>
                <a:gd name="adj2" fmla="val 50000"/>
              </a:avLst>
            </a:prstGeom>
            <a:noFill/>
            <a:ln w="9525">
              <a:solidFill>
                <a:srgbClr val="7F7F7F"/>
              </a:solidFill>
              <a:round/>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grpSp>
      <p:cxnSp>
        <p:nvCxnSpPr>
          <p:cNvPr id="3" name="直接箭头连接符 2"/>
          <p:cNvCxnSpPr/>
          <p:nvPr/>
        </p:nvCxnSpPr>
        <p:spPr bwMode="auto">
          <a:xfrm flipH="1">
            <a:off x="6095431" y="4997598"/>
            <a:ext cx="5294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直接箭头连接符 41"/>
          <p:cNvCxnSpPr/>
          <p:nvPr/>
        </p:nvCxnSpPr>
        <p:spPr bwMode="auto">
          <a:xfrm flipH="1" flipV="1">
            <a:off x="4611905" y="2642397"/>
            <a:ext cx="8067" cy="6543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矩形 8"/>
          <p:cNvSpPr/>
          <p:nvPr/>
        </p:nvSpPr>
        <p:spPr>
          <a:xfrm>
            <a:off x="1099769" y="3971605"/>
            <a:ext cx="2627785" cy="1034129"/>
          </a:xfrm>
          <a:prstGeom prst="rect">
            <a:avLst/>
          </a:prstGeom>
        </p:spPr>
        <p:txBody>
          <a:bodyPr wrap="square">
            <a:spAutoFit/>
          </a:bodyPr>
          <a:lstStyle/>
          <a:p>
            <a:pPr marL="742950" lvl="1" indent="-285750" eaLnBrk="1" hangingPunct="1">
              <a:spcBef>
                <a:spcPct val="2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比较分析</a:t>
            </a:r>
            <a:endParaRPr lang="en-US" altLang="zh-CN" spc="150" dirty="0">
              <a:solidFill>
                <a:srgbClr val="000000"/>
              </a:solidFill>
              <a:latin typeface="微软雅黑" panose="020B0503020204020204" pitchFamily="34" charset="-122"/>
              <a:ea typeface="微软雅黑" panose="020B0503020204020204" pitchFamily="34" charset="-122"/>
            </a:endParaRPr>
          </a:p>
          <a:p>
            <a:pPr marL="1200150" lvl="2" indent="-285750" eaLnBrk="1" hangingPunct="1">
              <a:spcBef>
                <a:spcPct val="20000"/>
              </a:spcBef>
              <a:buFont typeface="Arial" panose="020B0604020202020204" pitchFamily="34" charset="0"/>
              <a:buChar char="•"/>
            </a:pPr>
            <a:r>
              <a:rPr lang="en-US" altLang="zh-CN" dirty="0"/>
              <a:t>P</a:t>
            </a:r>
            <a:r>
              <a:rPr lang="en-US" altLang="zh-CN" baseline="-25000" dirty="0"/>
              <a:t>E</a:t>
            </a:r>
            <a:r>
              <a:rPr lang="en-US" altLang="zh-CN" dirty="0"/>
              <a:t>’&gt;P</a:t>
            </a:r>
            <a:r>
              <a:rPr lang="en-US" altLang="zh-CN" baseline="-25000" dirty="0"/>
              <a:t>E</a:t>
            </a:r>
            <a:endParaRPr lang="en-US" altLang="zh-CN" spc="150" dirty="0">
              <a:solidFill>
                <a:srgbClr val="000000"/>
              </a:solidFill>
              <a:latin typeface="微软雅黑" panose="020B0503020204020204" pitchFamily="34" charset="-122"/>
              <a:ea typeface="微软雅黑" panose="020B0503020204020204" pitchFamily="34" charset="-122"/>
            </a:endParaRPr>
          </a:p>
          <a:p>
            <a:pPr marL="1200150" lvl="2" indent="-285750" eaLnBrk="1" hangingPunct="1">
              <a:spcBef>
                <a:spcPct val="20000"/>
              </a:spcBef>
              <a:buFont typeface="Arial" panose="020B0604020202020204" pitchFamily="34" charset="0"/>
              <a:buChar char="•"/>
            </a:pPr>
            <a:r>
              <a:rPr lang="en-US" altLang="zh-CN" dirty="0"/>
              <a:t>Q</a:t>
            </a:r>
            <a:r>
              <a:rPr lang="en-US" altLang="zh-CN" baseline="-25000" dirty="0"/>
              <a:t>E</a:t>
            </a:r>
            <a:r>
              <a:rPr lang="en-US" altLang="zh-CN" dirty="0"/>
              <a:t>’&lt;Q</a:t>
            </a:r>
            <a:r>
              <a:rPr lang="en-US" altLang="zh-CN" baseline="-25000" dirty="0"/>
              <a:t>E</a:t>
            </a:r>
          </a:p>
        </p:txBody>
      </p:sp>
      <p:sp>
        <p:nvSpPr>
          <p:cNvPr id="10" name="矩形 9"/>
          <p:cNvSpPr/>
          <p:nvPr/>
        </p:nvSpPr>
        <p:spPr>
          <a:xfrm>
            <a:off x="2030938" y="5076773"/>
            <a:ext cx="4572000" cy="873957"/>
          </a:xfrm>
          <a:prstGeom prst="rect">
            <a:avLst/>
          </a:prstGeom>
        </p:spPr>
        <p:txBody>
          <a:bodyPr>
            <a:spAutoFit/>
          </a:bodyPr>
          <a:lstStyle/>
          <a:p>
            <a:pPr eaLnBrk="1" hangingPunct="1">
              <a:lnSpc>
                <a:spcPct val="150000"/>
              </a:lnSpc>
              <a:buFont typeface="Arial" panose="020B0604020202020204" pitchFamily="34" charset="0"/>
              <a:buChar char="•"/>
            </a:pPr>
            <a:r>
              <a:rPr lang="zh-CN" altLang="en-US" spc="150" dirty="0">
                <a:solidFill>
                  <a:srgbClr val="000000"/>
                </a:solidFill>
                <a:latin typeface="微软雅黑" panose="020B0503020204020204" pitchFamily="34" charset="-122"/>
                <a:ea typeface="微软雅黑" panose="020B0503020204020204" pitchFamily="34" charset="-122"/>
              </a:rPr>
              <a:t>消费者支付</a:t>
            </a:r>
            <a:r>
              <a:rPr lang="en-US" altLang="zh-CN" spc="150" dirty="0">
                <a:solidFill>
                  <a:srgbClr val="000000"/>
                </a:solidFill>
                <a:latin typeface="微软雅黑" panose="020B0503020204020204" pitchFamily="34" charset="-122"/>
                <a:ea typeface="微软雅黑" panose="020B0503020204020204" pitchFamily="34" charset="-122"/>
              </a:rPr>
              <a:t>=</a:t>
            </a:r>
            <a:r>
              <a:rPr lang="en-US" altLang="zh-CN" dirty="0"/>
              <a:t> P</a:t>
            </a:r>
            <a:r>
              <a:rPr lang="en-US" altLang="zh-CN" baseline="-25000" dirty="0"/>
              <a:t>E</a:t>
            </a:r>
            <a:r>
              <a:rPr lang="en-US" altLang="zh-CN" dirty="0"/>
              <a:t>’&gt;P</a:t>
            </a:r>
            <a:r>
              <a:rPr lang="en-US" altLang="zh-CN" baseline="-25000" dirty="0"/>
              <a:t>E</a:t>
            </a:r>
            <a:endParaRPr lang="en-US" altLang="zh-CN" spc="150" dirty="0">
              <a:solidFill>
                <a:srgbClr val="000000"/>
              </a:solidFill>
              <a:latin typeface="微软雅黑" panose="020B0503020204020204" pitchFamily="34" charset="-122"/>
              <a:ea typeface="微软雅黑" panose="020B0503020204020204" pitchFamily="34" charset="-122"/>
            </a:endParaRPr>
          </a:p>
          <a:p>
            <a:pPr eaLnBrk="1" hangingPunct="1">
              <a:lnSpc>
                <a:spcPct val="150000"/>
              </a:lnSpc>
              <a:buFont typeface="Arial" panose="020B0604020202020204" pitchFamily="34" charset="0"/>
              <a:buChar char="•"/>
            </a:pPr>
            <a:r>
              <a:rPr lang="zh-CN" altLang="en-US" spc="150" dirty="0">
                <a:solidFill>
                  <a:srgbClr val="000000"/>
                </a:solidFill>
                <a:latin typeface="微软雅黑" panose="020B0503020204020204" pitchFamily="34" charset="-122"/>
                <a:ea typeface="微软雅黑" panose="020B0503020204020204" pitchFamily="34" charset="-122"/>
              </a:rPr>
              <a:t>生产者所得</a:t>
            </a:r>
            <a:r>
              <a:rPr lang="en-US" altLang="zh-CN" spc="150" dirty="0">
                <a:solidFill>
                  <a:srgbClr val="000000"/>
                </a:solidFill>
                <a:latin typeface="微软雅黑" panose="020B0503020204020204" pitchFamily="34" charset="-122"/>
                <a:ea typeface="微软雅黑" panose="020B0503020204020204" pitchFamily="34" charset="-122"/>
              </a:rPr>
              <a:t>=</a:t>
            </a:r>
            <a:r>
              <a:rPr lang="en-US" altLang="zh-CN" dirty="0"/>
              <a:t> P</a:t>
            </a:r>
            <a:r>
              <a:rPr lang="en-US" altLang="zh-CN" baseline="-25000" dirty="0"/>
              <a:t>E</a:t>
            </a:r>
            <a:r>
              <a:rPr lang="en-US" altLang="zh-CN" dirty="0"/>
              <a:t>’&lt;P</a:t>
            </a:r>
            <a:r>
              <a:rPr lang="en-US" altLang="zh-CN" baseline="-25000" dirty="0"/>
              <a:t>E</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41" name="矩形 40">
            <a:extLst>
              <a:ext uri="{FF2B5EF4-FFF2-40B4-BE49-F238E27FC236}">
                <a16:creationId xmlns:a16="http://schemas.microsoft.com/office/drawing/2014/main" id="{00DEB2BD-6DDF-479E-8AFA-6A926FDBFDC7}"/>
              </a:ext>
            </a:extLst>
          </p:cNvPr>
          <p:cNvSpPr/>
          <p:nvPr/>
        </p:nvSpPr>
        <p:spPr>
          <a:xfrm>
            <a:off x="467544" y="548680"/>
            <a:ext cx="291137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二、税收效应分析</a:t>
            </a:r>
          </a:p>
        </p:txBody>
      </p:sp>
      <p:sp>
        <p:nvSpPr>
          <p:cNvPr id="43" name="矩形 42">
            <a:extLst>
              <a:ext uri="{FF2B5EF4-FFF2-40B4-BE49-F238E27FC236}">
                <a16:creationId xmlns:a16="http://schemas.microsoft.com/office/drawing/2014/main" id="{228FF5C5-4A4E-4664-9656-2C1263ACB628}"/>
              </a:ext>
            </a:extLst>
          </p:cNvPr>
          <p:cNvSpPr/>
          <p:nvPr/>
        </p:nvSpPr>
        <p:spPr>
          <a:xfrm>
            <a:off x="5738974" y="0"/>
            <a:ext cx="3381054"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第五节 供求分析的应用实例</a:t>
            </a:r>
          </a:p>
        </p:txBody>
      </p:sp>
    </p:spTree>
  </p:cSld>
  <p:clrMapOvr>
    <a:masterClrMapping/>
  </p:clrMapOvr>
  <p:transition>
    <p:cover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394">
                                            <p:txEl>
                                              <p:pRg st="0" end="0"/>
                                            </p:txEl>
                                          </p:spTgt>
                                        </p:tgtEl>
                                        <p:attrNameLst>
                                          <p:attrName>style.visibility</p:attrName>
                                        </p:attrNameLst>
                                      </p:cBhvr>
                                      <p:to>
                                        <p:strVal val="visible"/>
                                      </p:to>
                                    </p:set>
                                    <p:animEffect transition="in" filter="wipe(left)">
                                      <p:cBhvr>
                                        <p:cTn id="12" dur="500"/>
                                        <p:tgtEl>
                                          <p:spTgt spid="5939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9394">
                                            <p:txEl>
                                              <p:pRg st="1" end="1"/>
                                            </p:txEl>
                                          </p:spTgt>
                                        </p:tgtEl>
                                        <p:attrNameLst>
                                          <p:attrName>style.visibility</p:attrName>
                                        </p:attrNameLst>
                                      </p:cBhvr>
                                      <p:to>
                                        <p:strVal val="visible"/>
                                      </p:to>
                                    </p:set>
                                    <p:animEffect transition="in" filter="wipe(left)">
                                      <p:cBhvr>
                                        <p:cTn id="17" dur="500"/>
                                        <p:tgtEl>
                                          <p:spTgt spid="5939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59395"/>
                                        </p:tgtEl>
                                        <p:attrNameLst>
                                          <p:attrName>style.visibility</p:attrName>
                                        </p:attrNameLst>
                                      </p:cBhvr>
                                      <p:to>
                                        <p:strVal val="visible"/>
                                      </p:to>
                                    </p:set>
                                    <p:animEffect transition="in" filter="randombar(horizontal)">
                                      <p:cBhvr>
                                        <p:cTn id="22" dur="500"/>
                                        <p:tgtEl>
                                          <p:spTgt spid="5939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9394">
                                            <p:txEl>
                                              <p:pRg st="2" end="2"/>
                                            </p:txEl>
                                          </p:spTgt>
                                        </p:tgtEl>
                                        <p:attrNameLst>
                                          <p:attrName>style.visibility</p:attrName>
                                        </p:attrNameLst>
                                      </p:cBhvr>
                                      <p:to>
                                        <p:strVal val="visible"/>
                                      </p:to>
                                    </p:set>
                                    <p:animEffect transition="in" filter="wipe(left)">
                                      <p:cBhvr>
                                        <p:cTn id="27" dur="500"/>
                                        <p:tgtEl>
                                          <p:spTgt spid="5939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9394">
                                            <p:txEl>
                                              <p:pRg st="3" end="3"/>
                                            </p:txEl>
                                          </p:spTgt>
                                        </p:tgtEl>
                                        <p:attrNameLst>
                                          <p:attrName>style.visibility</p:attrName>
                                        </p:attrNameLst>
                                      </p:cBhvr>
                                      <p:to>
                                        <p:strVal val="visible"/>
                                      </p:to>
                                    </p:set>
                                    <p:animEffect transition="in" filter="wipe(left)">
                                      <p:cBhvr>
                                        <p:cTn id="32" dur="500"/>
                                        <p:tgtEl>
                                          <p:spTgt spid="59394">
                                            <p:txEl>
                                              <p:pRg st="3" end="3"/>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59421"/>
                                        </p:tgtEl>
                                        <p:attrNameLst>
                                          <p:attrName>style.visibility</p:attrName>
                                        </p:attrNameLst>
                                      </p:cBhvr>
                                      <p:to>
                                        <p:strVal val="visible"/>
                                      </p:to>
                                    </p:set>
                                    <p:animEffect transition="in" filter="randombar(horizontal)">
                                      <p:cBhvr>
                                        <p:cTn id="35" dur="500"/>
                                        <p:tgtEl>
                                          <p:spTgt spid="59421"/>
                                        </p:tgtEl>
                                      </p:cBhvr>
                                    </p:animEffect>
                                  </p:childTnLst>
                                </p:cTn>
                              </p:par>
                              <p:par>
                                <p:cTn id="36" presetID="14" presetClass="entr" presetSubtype="10" fill="hold" nodeType="withEffect">
                                  <p:stCondLst>
                                    <p:cond delay="0"/>
                                  </p:stCondLst>
                                  <p:childTnLst>
                                    <p:set>
                                      <p:cBhvr>
                                        <p:cTn id="37" dur="1" fill="hold">
                                          <p:stCondLst>
                                            <p:cond delay="0"/>
                                          </p:stCondLst>
                                        </p:cTn>
                                        <p:tgtEl>
                                          <p:spTgt spid="59411"/>
                                        </p:tgtEl>
                                        <p:attrNameLst>
                                          <p:attrName>style.visibility</p:attrName>
                                        </p:attrNameLst>
                                      </p:cBhvr>
                                      <p:to>
                                        <p:strVal val="visible"/>
                                      </p:to>
                                    </p:set>
                                    <p:animEffect transition="in" filter="randombar(horizontal)">
                                      <p:cBhvr>
                                        <p:cTn id="38" dur="500"/>
                                        <p:tgtEl>
                                          <p:spTgt spid="5941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59394">
                                            <p:txEl>
                                              <p:pRg st="4" end="4"/>
                                            </p:txEl>
                                          </p:spTgt>
                                        </p:tgtEl>
                                        <p:attrNameLst>
                                          <p:attrName>style.visibility</p:attrName>
                                        </p:attrNameLst>
                                      </p:cBhvr>
                                      <p:to>
                                        <p:strVal val="visible"/>
                                      </p:to>
                                    </p:set>
                                    <p:animEffect transition="in" filter="wipe(left)">
                                      <p:cBhvr>
                                        <p:cTn id="43" dur="500"/>
                                        <p:tgtEl>
                                          <p:spTgt spid="59394">
                                            <p:txEl>
                                              <p:pRg st="4" end="4"/>
                                            </p:txEl>
                                          </p:spTgt>
                                        </p:tgtEl>
                                      </p:cBhvr>
                                    </p:animEffect>
                                  </p:childTnLst>
                                </p:cTn>
                              </p:par>
                              <p:par>
                                <p:cTn id="44" presetID="14" presetClass="entr" presetSubtype="10" fill="hold" nodeType="with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randombar(horizontal)">
                                      <p:cBhvr>
                                        <p:cTn id="46" dur="500"/>
                                        <p:tgtEl>
                                          <p:spTgt spid="3"/>
                                        </p:tgtEl>
                                      </p:cBhvr>
                                    </p:animEffect>
                                  </p:childTnLst>
                                </p:cTn>
                              </p:par>
                              <p:par>
                                <p:cTn id="47" presetID="14" presetClass="entr" presetSubtype="10" fill="hold"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randombar(horizontal)">
                                      <p:cBhvr>
                                        <p:cTn id="49" dur="500"/>
                                        <p:tgtEl>
                                          <p:spTgt spid="4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59394">
                                            <p:txEl>
                                              <p:pRg st="5" end="5"/>
                                            </p:txEl>
                                          </p:spTgt>
                                        </p:tgtEl>
                                        <p:attrNameLst>
                                          <p:attrName>style.visibility</p:attrName>
                                        </p:attrNameLst>
                                      </p:cBhvr>
                                      <p:to>
                                        <p:strVal val="visible"/>
                                      </p:to>
                                    </p:set>
                                    <p:animEffect transition="in" filter="wipe(left)">
                                      <p:cBhvr>
                                        <p:cTn id="54" dur="500"/>
                                        <p:tgtEl>
                                          <p:spTgt spid="59394">
                                            <p:txEl>
                                              <p:pRg st="5" end="5"/>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59394">
                                            <p:txEl>
                                              <p:pRg st="6" end="6"/>
                                            </p:txEl>
                                          </p:spTgt>
                                        </p:tgtEl>
                                        <p:attrNameLst>
                                          <p:attrName>style.visibility</p:attrName>
                                        </p:attrNameLst>
                                      </p:cBhvr>
                                      <p:to>
                                        <p:strVal val="visible"/>
                                      </p:to>
                                    </p:set>
                                    <p:animEffect transition="in" filter="wipe(left)">
                                      <p:cBhvr>
                                        <p:cTn id="59" dur="500"/>
                                        <p:tgtEl>
                                          <p:spTgt spid="59394">
                                            <p:txEl>
                                              <p:pRg st="6" end="6"/>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9">
                                            <p:txEl>
                                              <p:pRg st="0" end="0"/>
                                            </p:txEl>
                                          </p:spTgt>
                                        </p:tgtEl>
                                        <p:attrNameLst>
                                          <p:attrName>style.visibility</p:attrName>
                                        </p:attrNameLst>
                                      </p:cBhvr>
                                      <p:to>
                                        <p:strVal val="visible"/>
                                      </p:to>
                                    </p:set>
                                    <p:animEffect transition="in" filter="wipe(left)">
                                      <p:cBhvr>
                                        <p:cTn id="64" dur="500"/>
                                        <p:tgtEl>
                                          <p:spTgt spid="9">
                                            <p:txEl>
                                              <p:pRg st="0" end="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9">
                                            <p:txEl>
                                              <p:pRg st="1" end="1"/>
                                            </p:txEl>
                                          </p:spTgt>
                                        </p:tgtEl>
                                        <p:attrNameLst>
                                          <p:attrName>style.visibility</p:attrName>
                                        </p:attrNameLst>
                                      </p:cBhvr>
                                      <p:to>
                                        <p:strVal val="visible"/>
                                      </p:to>
                                    </p:set>
                                    <p:animEffect transition="in" filter="wipe(left)">
                                      <p:cBhvr>
                                        <p:cTn id="69" dur="500"/>
                                        <p:tgtEl>
                                          <p:spTgt spid="9">
                                            <p:txEl>
                                              <p:pRg st="1" end="1"/>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9">
                                            <p:txEl>
                                              <p:pRg st="2" end="2"/>
                                            </p:txEl>
                                          </p:spTgt>
                                        </p:tgtEl>
                                        <p:attrNameLst>
                                          <p:attrName>style.visibility</p:attrName>
                                        </p:attrNameLst>
                                      </p:cBhvr>
                                      <p:to>
                                        <p:strVal val="visible"/>
                                      </p:to>
                                    </p:set>
                                    <p:animEffect transition="in" filter="wipe(left)">
                                      <p:cBhvr>
                                        <p:cTn id="74" dur="500"/>
                                        <p:tgtEl>
                                          <p:spTgt spid="9">
                                            <p:txEl>
                                              <p:pRg st="2" end="2"/>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10">
                                            <p:txEl>
                                              <p:pRg st="0" end="0"/>
                                            </p:txEl>
                                          </p:spTgt>
                                        </p:tgtEl>
                                        <p:attrNameLst>
                                          <p:attrName>style.visibility</p:attrName>
                                        </p:attrNameLst>
                                      </p:cBhvr>
                                      <p:to>
                                        <p:strVal val="visible"/>
                                      </p:to>
                                    </p:set>
                                    <p:animEffect transition="in" filter="wipe(left)">
                                      <p:cBhvr>
                                        <p:cTn id="79" dur="500"/>
                                        <p:tgtEl>
                                          <p:spTgt spid="10">
                                            <p:txEl>
                                              <p:pRg st="0" end="0"/>
                                            </p:txEl>
                                          </p:spTgt>
                                        </p:tgtEl>
                                      </p:cBhvr>
                                    </p:animEffect>
                                  </p:childTnLst>
                                </p:cTn>
                              </p:par>
                              <p:par>
                                <p:cTn id="80" presetID="22" presetClass="entr" presetSubtype="8" fill="hold" nodeType="withEffect">
                                  <p:stCondLst>
                                    <p:cond delay="0"/>
                                  </p:stCondLst>
                                  <p:childTnLst>
                                    <p:set>
                                      <p:cBhvr>
                                        <p:cTn id="81" dur="1" fill="hold">
                                          <p:stCondLst>
                                            <p:cond delay="0"/>
                                          </p:stCondLst>
                                        </p:cTn>
                                        <p:tgtEl>
                                          <p:spTgt spid="10">
                                            <p:txEl>
                                              <p:pRg st="1" end="1"/>
                                            </p:txEl>
                                          </p:spTgt>
                                        </p:tgtEl>
                                        <p:attrNameLst>
                                          <p:attrName>style.visibility</p:attrName>
                                        </p:attrNameLst>
                                      </p:cBhvr>
                                      <p:to>
                                        <p:strVal val="visible"/>
                                      </p:to>
                                    </p:set>
                                    <p:animEffect transition="in" filter="wipe(left)">
                                      <p:cBhvr>
                                        <p:cTn id="82" dur="5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uiExpand="1" build="p"/>
      <p:bldP spid="41"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419" name="组合 46"/>
          <p:cNvGrpSpPr>
            <a:grpSpLocks/>
          </p:cNvGrpSpPr>
          <p:nvPr/>
        </p:nvGrpSpPr>
        <p:grpSpPr bwMode="auto">
          <a:xfrm>
            <a:off x="4566099" y="1700808"/>
            <a:ext cx="3935522" cy="3643067"/>
            <a:chOff x="0" y="0"/>
            <a:chExt cx="4159445" cy="3806825"/>
          </a:xfrm>
        </p:grpSpPr>
        <p:cxnSp>
          <p:nvCxnSpPr>
            <p:cNvPr id="65563" name="直接连接符 5"/>
            <p:cNvCxnSpPr>
              <a:cxnSpLocks noChangeShapeType="1"/>
            </p:cNvCxnSpPr>
            <p:nvPr/>
          </p:nvCxnSpPr>
          <p:spPr bwMode="auto">
            <a:xfrm flipV="1">
              <a:off x="1217669" y="885825"/>
              <a:ext cx="2303571" cy="1731963"/>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65564" name="直接箭头连接符 30"/>
            <p:cNvCxnSpPr>
              <a:cxnSpLocks noChangeShapeType="1"/>
            </p:cNvCxnSpPr>
            <p:nvPr/>
          </p:nvCxnSpPr>
          <p:spPr bwMode="auto">
            <a:xfrm rot="5400000" flipH="1" flipV="1">
              <a:off x="-1302535" y="1653376"/>
              <a:ext cx="3254375"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65565" name="直接箭头连接符 26"/>
            <p:cNvCxnSpPr>
              <a:cxnSpLocks noChangeShapeType="1"/>
            </p:cNvCxnSpPr>
            <p:nvPr/>
          </p:nvCxnSpPr>
          <p:spPr bwMode="auto">
            <a:xfrm>
              <a:off x="325452" y="3279775"/>
              <a:ext cx="3833993"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65566" name="直接连接符 28"/>
            <p:cNvCxnSpPr>
              <a:cxnSpLocks noChangeShapeType="1"/>
            </p:cNvCxnSpPr>
            <p:nvPr/>
          </p:nvCxnSpPr>
          <p:spPr bwMode="auto">
            <a:xfrm>
              <a:off x="1292286" y="322263"/>
              <a:ext cx="2319446" cy="2339975"/>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65567" name="直接连接符 36"/>
            <p:cNvCxnSpPr>
              <a:cxnSpLocks noChangeShapeType="1"/>
            </p:cNvCxnSpPr>
            <p:nvPr/>
          </p:nvCxnSpPr>
          <p:spPr bwMode="auto">
            <a:xfrm rot="10800000">
              <a:off x="325452" y="1609725"/>
              <a:ext cx="2228954"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65568" name="直接连接符 37"/>
            <p:cNvCxnSpPr>
              <a:cxnSpLocks noChangeShapeType="1"/>
            </p:cNvCxnSpPr>
            <p:nvPr/>
          </p:nvCxnSpPr>
          <p:spPr bwMode="auto">
            <a:xfrm rot="16200000" flipH="1">
              <a:off x="1732877" y="2431255"/>
              <a:ext cx="1676400" cy="3334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5569" name="Object 10"/>
            <p:cNvGraphicFramePr>
              <a:graphicFrameLocks noChangeAspect="1"/>
            </p:cNvGraphicFramePr>
            <p:nvPr>
              <p:extLst>
                <p:ext uri="{D42A27DB-BD31-4B8C-83A1-F6EECF244321}">
                  <p14:modId xmlns:p14="http://schemas.microsoft.com/office/powerpoint/2010/main" val="898020727"/>
                </p:ext>
              </p:extLst>
            </p:nvPr>
          </p:nvGraphicFramePr>
          <p:xfrm>
            <a:off x="80953" y="3180458"/>
            <a:ext cx="227710" cy="271170"/>
          </p:xfrm>
          <a:graphic>
            <a:graphicData uri="http://schemas.openxmlformats.org/presentationml/2006/ole">
              <mc:AlternateContent xmlns:mc="http://schemas.openxmlformats.org/markup-compatibility/2006">
                <mc:Choice xmlns:v="urn:schemas-microsoft-com:vml" Requires="v">
                  <p:oleObj spid="_x0000_s184175" r:id="rId3" imgW="153198" imgH="178731" progId="">
                    <p:embed/>
                  </p:oleObj>
                </mc:Choice>
                <mc:Fallback>
                  <p:oleObj r:id="rId3" imgW="153198" imgH="178731" progId="">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953" y="3180458"/>
                          <a:ext cx="227710" cy="271170"/>
                        </a:xfrm>
                        <a:prstGeom prst="rect">
                          <a:avLst/>
                        </a:prstGeom>
                        <a:noFill/>
                        <a:ln>
                          <a:noFill/>
                        </a:ln>
                        <a:effectLst/>
                      </p:spPr>
                    </p:pic>
                  </p:oleObj>
                </mc:Fallback>
              </mc:AlternateContent>
            </a:graphicData>
          </a:graphic>
        </p:graphicFrame>
        <p:graphicFrame>
          <p:nvGraphicFramePr>
            <p:cNvPr id="65570" name="Object 11"/>
            <p:cNvGraphicFramePr>
              <a:graphicFrameLocks noChangeAspect="1"/>
            </p:cNvGraphicFramePr>
            <p:nvPr/>
          </p:nvGraphicFramePr>
          <p:xfrm>
            <a:off x="29168" y="0"/>
            <a:ext cx="242859" cy="268817"/>
          </p:xfrm>
          <a:graphic>
            <a:graphicData uri="http://schemas.openxmlformats.org/presentationml/2006/ole">
              <mc:AlternateContent xmlns:mc="http://schemas.openxmlformats.org/markup-compatibility/2006">
                <mc:Choice xmlns:v="urn:schemas-microsoft-com:vml" Requires="v">
                  <p:oleObj spid="_x0000_s184176" r:id="rId5" imgW="153332" imgH="166109" progId="">
                    <p:embed/>
                  </p:oleObj>
                </mc:Choice>
                <mc:Fallback>
                  <p:oleObj r:id="rId5" imgW="153332" imgH="166109" progId="">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68" y="0"/>
                          <a:ext cx="242859" cy="26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71" name="Object 12"/>
            <p:cNvGraphicFramePr>
              <a:graphicFrameLocks noChangeAspect="1"/>
            </p:cNvGraphicFramePr>
            <p:nvPr/>
          </p:nvGraphicFramePr>
          <p:xfrm>
            <a:off x="3914772" y="3446804"/>
            <a:ext cx="242859" cy="331852"/>
          </p:xfrm>
          <a:graphic>
            <a:graphicData uri="http://schemas.openxmlformats.org/presentationml/2006/ole">
              <mc:AlternateContent xmlns:mc="http://schemas.openxmlformats.org/markup-compatibility/2006">
                <mc:Choice xmlns:v="urn:schemas-microsoft-com:vml" Requires="v">
                  <p:oleObj spid="_x0000_s184177" r:id="rId7" imgW="153332" imgH="204442" progId="">
                    <p:embed/>
                  </p:oleObj>
                </mc:Choice>
                <mc:Fallback>
                  <p:oleObj r:id="rId7" imgW="153332" imgH="204442" progId="">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14772" y="3446804"/>
                          <a:ext cx="242859" cy="331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72" name="Object 13"/>
            <p:cNvGraphicFramePr>
              <a:graphicFrameLocks noChangeAspect="1"/>
            </p:cNvGraphicFramePr>
            <p:nvPr/>
          </p:nvGraphicFramePr>
          <p:xfrm>
            <a:off x="0" y="1527987"/>
            <a:ext cx="304480" cy="374491"/>
          </p:xfrm>
          <a:graphic>
            <a:graphicData uri="http://schemas.openxmlformats.org/presentationml/2006/ole">
              <mc:AlternateContent xmlns:mc="http://schemas.openxmlformats.org/markup-compatibility/2006">
                <mc:Choice xmlns:v="urn:schemas-microsoft-com:vml" Requires="v">
                  <p:oleObj spid="_x0000_s184178" r:id="rId9" imgW="191414" imgH="229697" progId="">
                    <p:embed/>
                  </p:oleObj>
                </mc:Choice>
                <mc:Fallback>
                  <p:oleObj r:id="rId9" imgW="191414" imgH="229697" progId="">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1527987"/>
                          <a:ext cx="304480" cy="374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73" name="Object 14"/>
            <p:cNvGraphicFramePr>
              <a:graphicFrameLocks noChangeAspect="1"/>
            </p:cNvGraphicFramePr>
            <p:nvPr/>
          </p:nvGraphicFramePr>
          <p:xfrm>
            <a:off x="3521282" y="644007"/>
            <a:ext cx="221249" cy="289092"/>
          </p:xfrm>
          <a:graphic>
            <a:graphicData uri="http://schemas.openxmlformats.org/presentationml/2006/ole">
              <mc:AlternateContent xmlns:mc="http://schemas.openxmlformats.org/markup-compatibility/2006">
                <mc:Choice xmlns:v="urn:schemas-microsoft-com:vml" Requires="v">
                  <p:oleObj spid="_x0000_s184179" r:id="rId11" imgW="140493" imgH="178809" progId="">
                    <p:embed/>
                  </p:oleObj>
                </mc:Choice>
                <mc:Fallback>
                  <p:oleObj r:id="rId11" imgW="140493" imgH="178809" progId="">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21282" y="644007"/>
                          <a:ext cx="221249" cy="289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74" name="Object 15"/>
            <p:cNvGraphicFramePr>
              <a:graphicFrameLocks noChangeAspect="1"/>
            </p:cNvGraphicFramePr>
            <p:nvPr/>
          </p:nvGraphicFramePr>
          <p:xfrm>
            <a:off x="2778280" y="1449017"/>
            <a:ext cx="242859" cy="268817"/>
          </p:xfrm>
          <a:graphic>
            <a:graphicData uri="http://schemas.openxmlformats.org/presentationml/2006/ole">
              <mc:AlternateContent xmlns:mc="http://schemas.openxmlformats.org/markup-compatibility/2006">
                <mc:Choice xmlns:v="urn:schemas-microsoft-com:vml" Requires="v">
                  <p:oleObj spid="_x0000_s184180" r:id="rId13" imgW="153332" imgH="166109" progId="">
                    <p:embed/>
                  </p:oleObj>
                </mc:Choice>
                <mc:Fallback>
                  <p:oleObj r:id="rId13" imgW="153332" imgH="166109" progId="">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78280" y="1449017"/>
                          <a:ext cx="242859" cy="26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75" name="Object 16"/>
            <p:cNvGraphicFramePr>
              <a:graphicFrameLocks noChangeAspect="1"/>
            </p:cNvGraphicFramePr>
            <p:nvPr/>
          </p:nvGraphicFramePr>
          <p:xfrm>
            <a:off x="3669884" y="2576029"/>
            <a:ext cx="262795" cy="268817"/>
          </p:xfrm>
          <a:graphic>
            <a:graphicData uri="http://schemas.openxmlformats.org/presentationml/2006/ole">
              <mc:AlternateContent xmlns:mc="http://schemas.openxmlformats.org/markup-compatibility/2006">
                <mc:Choice xmlns:v="urn:schemas-microsoft-com:vml" Requires="v">
                  <p:oleObj spid="_x0000_s184181" r:id="rId15" imgW="166037" imgH="166037" progId="">
                    <p:embed/>
                  </p:oleObj>
                </mc:Choice>
                <mc:Fallback>
                  <p:oleObj r:id="rId15" imgW="166037" imgH="166037" progId="">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69884" y="2576029"/>
                          <a:ext cx="262795" cy="26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76" name="Object 17"/>
            <p:cNvGraphicFramePr>
              <a:graphicFrameLocks noChangeAspect="1"/>
            </p:cNvGraphicFramePr>
            <p:nvPr/>
          </p:nvGraphicFramePr>
          <p:xfrm>
            <a:off x="2659395" y="3432334"/>
            <a:ext cx="344353" cy="374491"/>
          </p:xfrm>
          <a:graphic>
            <a:graphicData uri="http://schemas.openxmlformats.org/presentationml/2006/ole">
              <mc:AlternateContent xmlns:mc="http://schemas.openxmlformats.org/markup-compatibility/2006">
                <mc:Choice xmlns:v="urn:schemas-microsoft-com:vml" Requires="v">
                  <p:oleObj spid="_x0000_s184182" r:id="rId17" imgW="216747" imgH="229496" progId="">
                    <p:embed/>
                  </p:oleObj>
                </mc:Choice>
                <mc:Fallback>
                  <p:oleObj r:id="rId17" imgW="216747" imgH="229496" progId="">
                    <p:embed/>
                    <p:pic>
                      <p:nvPicPr>
                        <p:cNvPr id="0"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59395" y="3432334"/>
                          <a:ext cx="344353" cy="374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0434" name="组合 55"/>
          <p:cNvGrpSpPr>
            <a:grpSpLocks/>
          </p:cNvGrpSpPr>
          <p:nvPr/>
        </p:nvGrpSpPr>
        <p:grpSpPr bwMode="auto">
          <a:xfrm>
            <a:off x="5580112" y="2832822"/>
            <a:ext cx="2063896" cy="1950666"/>
            <a:chOff x="0" y="0"/>
            <a:chExt cx="2181602" cy="2038781"/>
          </a:xfrm>
        </p:grpSpPr>
        <p:graphicFrame>
          <p:nvGraphicFramePr>
            <p:cNvPr id="65558" name="Object 19"/>
            <p:cNvGraphicFramePr>
              <a:graphicFrameLocks noChangeAspect="1"/>
            </p:cNvGraphicFramePr>
            <p:nvPr/>
          </p:nvGraphicFramePr>
          <p:xfrm>
            <a:off x="1857985" y="1770446"/>
            <a:ext cx="323617" cy="268335"/>
          </p:xfrm>
          <a:graphic>
            <a:graphicData uri="http://schemas.openxmlformats.org/presentationml/2006/ole">
              <mc:AlternateContent xmlns:mc="http://schemas.openxmlformats.org/markup-compatibility/2006">
                <mc:Choice xmlns:v="urn:schemas-microsoft-com:vml" Requires="v">
                  <p:oleObj spid="_x0000_s184183" r:id="rId19" imgW="204353" imgH="166037" progId="">
                    <p:embed/>
                  </p:oleObj>
                </mc:Choice>
                <mc:Fallback>
                  <p:oleObj r:id="rId19" imgW="204353" imgH="166037" progId="">
                    <p:embed/>
                    <p:pic>
                      <p:nvPicPr>
                        <p:cNvPr id="0" name="Object 1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57985" y="1770446"/>
                          <a:ext cx="323617" cy="268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5559" name="组合 47"/>
            <p:cNvGrpSpPr>
              <a:grpSpLocks/>
            </p:cNvGrpSpPr>
            <p:nvPr/>
          </p:nvGrpSpPr>
          <p:grpSpPr bwMode="auto">
            <a:xfrm>
              <a:off x="0" y="0"/>
              <a:ext cx="1857376" cy="1851025"/>
              <a:chOff x="0" y="0"/>
              <a:chExt cx="1857376" cy="1851025"/>
            </a:xfrm>
          </p:grpSpPr>
          <p:cxnSp>
            <p:nvCxnSpPr>
              <p:cNvPr id="65560" name="直接连接符 33"/>
              <p:cNvCxnSpPr>
                <a:cxnSpLocks noChangeShapeType="1"/>
              </p:cNvCxnSpPr>
              <p:nvPr/>
            </p:nvCxnSpPr>
            <p:spPr bwMode="auto">
              <a:xfrm>
                <a:off x="0" y="0"/>
                <a:ext cx="1857696" cy="1851416"/>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aphicFrame>
            <p:nvGraphicFramePr>
              <p:cNvPr id="65561" name="Object 22"/>
              <p:cNvGraphicFramePr>
                <a:graphicFrameLocks noChangeAspect="1"/>
              </p:cNvGraphicFramePr>
              <p:nvPr/>
            </p:nvGraphicFramePr>
            <p:xfrm>
              <a:off x="1560783" y="804436"/>
              <a:ext cx="222899" cy="269689"/>
            </p:xfrm>
            <a:graphic>
              <a:graphicData uri="http://schemas.openxmlformats.org/presentationml/2006/ole">
                <mc:AlternateContent xmlns:mc="http://schemas.openxmlformats.org/markup-compatibility/2006">
                  <mc:Choice xmlns:v="urn:schemas-microsoft-com:vml" Requires="v">
                    <p:oleObj spid="_x0000_s184184" r:id="rId21" imgW="140554" imgH="166109" progId="">
                      <p:embed/>
                    </p:oleObj>
                  </mc:Choice>
                  <mc:Fallback>
                    <p:oleObj r:id="rId21" imgW="140554" imgH="166109" progId="">
                      <p:embed/>
                      <p:pic>
                        <p:nvPicPr>
                          <p:cNvPr id="0" name="Object 2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560783" y="804436"/>
                            <a:ext cx="222899" cy="26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5562" name="左大括号 10"/>
              <p:cNvSpPr>
                <a:spLocks/>
              </p:cNvSpPr>
              <p:nvPr/>
            </p:nvSpPr>
            <p:spPr bwMode="auto">
              <a:xfrm rot="10800000">
                <a:off x="1411531" y="401722"/>
                <a:ext cx="149251" cy="1001925"/>
              </a:xfrm>
              <a:prstGeom prst="leftBrace">
                <a:avLst>
                  <a:gd name="adj1" fmla="val 8329"/>
                  <a:gd name="adj2" fmla="val 50000"/>
                </a:avLst>
              </a:prstGeom>
              <a:noFill/>
              <a:ln w="9525">
                <a:solidFill>
                  <a:srgbClr val="7F7F7F"/>
                </a:solidFill>
                <a:round/>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800" b="0">
                  <a:solidFill>
                    <a:schemeClr val="tx1"/>
                  </a:solidFill>
                </a:endParaRPr>
              </a:p>
            </p:txBody>
          </p:sp>
        </p:grpSp>
      </p:grpSp>
      <p:grpSp>
        <p:nvGrpSpPr>
          <p:cNvPr id="60440" name="组合 54"/>
          <p:cNvGrpSpPr>
            <a:grpSpLocks/>
          </p:cNvGrpSpPr>
          <p:nvPr/>
        </p:nvGrpSpPr>
        <p:grpSpPr bwMode="auto">
          <a:xfrm>
            <a:off x="4520061" y="2468863"/>
            <a:ext cx="2326765" cy="2824212"/>
            <a:chOff x="0" y="0"/>
            <a:chExt cx="2458513" cy="2950491"/>
          </a:xfrm>
        </p:grpSpPr>
        <p:graphicFrame>
          <p:nvGraphicFramePr>
            <p:cNvPr id="65548" name="Object 25"/>
            <p:cNvGraphicFramePr>
              <a:graphicFrameLocks noChangeAspect="1"/>
            </p:cNvGraphicFramePr>
            <p:nvPr/>
          </p:nvGraphicFramePr>
          <p:xfrm>
            <a:off x="1783208" y="805009"/>
            <a:ext cx="242713" cy="271629"/>
          </p:xfrm>
          <a:graphic>
            <a:graphicData uri="http://schemas.openxmlformats.org/presentationml/2006/ole">
              <mc:AlternateContent xmlns:mc="http://schemas.openxmlformats.org/markup-compatibility/2006">
                <mc:Choice xmlns:v="urn:schemas-microsoft-com:vml" Requires="v">
                  <p:oleObj spid="_x0000_s184185" r:id="rId23" imgW="153332" imgH="166109" progId="">
                    <p:embed/>
                  </p:oleObj>
                </mc:Choice>
                <mc:Fallback>
                  <p:oleObj r:id="rId23" imgW="153332" imgH="166109" progId="">
                    <p:embed/>
                    <p:pic>
                      <p:nvPicPr>
                        <p:cNvPr id="0" name="Object 2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783208" y="805009"/>
                          <a:ext cx="242713" cy="271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5549" name="组合 48"/>
            <p:cNvGrpSpPr>
              <a:grpSpLocks/>
            </p:cNvGrpSpPr>
            <p:nvPr/>
          </p:nvGrpSpPr>
          <p:grpSpPr bwMode="auto">
            <a:xfrm>
              <a:off x="0" y="0"/>
              <a:ext cx="2458513" cy="2950491"/>
              <a:chOff x="0" y="0"/>
              <a:chExt cx="2458513" cy="2950491"/>
            </a:xfrm>
          </p:grpSpPr>
          <p:cxnSp>
            <p:nvCxnSpPr>
              <p:cNvPr id="65550" name="直接连接符 28"/>
              <p:cNvCxnSpPr>
                <a:cxnSpLocks noChangeShapeType="1"/>
              </p:cNvCxnSpPr>
              <p:nvPr/>
            </p:nvCxnSpPr>
            <p:spPr bwMode="auto">
              <a:xfrm rot="5400000">
                <a:off x="883271" y="1373669"/>
                <a:ext cx="2214058" cy="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5551" name="Object 28"/>
              <p:cNvGraphicFramePr>
                <a:graphicFrameLocks noChangeAspect="1"/>
              </p:cNvGraphicFramePr>
              <p:nvPr/>
            </p:nvGraphicFramePr>
            <p:xfrm>
              <a:off x="0" y="1207513"/>
              <a:ext cx="305454" cy="374461"/>
            </p:xfrm>
            <a:graphic>
              <a:graphicData uri="http://schemas.openxmlformats.org/presentationml/2006/ole">
                <mc:AlternateContent xmlns:mc="http://schemas.openxmlformats.org/markup-compatibility/2006">
                  <mc:Choice xmlns:v="urn:schemas-microsoft-com:vml" Requires="v">
                    <p:oleObj spid="_x0000_s184186" r:id="rId25" imgW="191414" imgH="229697" progId="">
                      <p:embed/>
                    </p:oleObj>
                  </mc:Choice>
                  <mc:Fallback>
                    <p:oleObj r:id="rId25" imgW="191414" imgH="229697" progId="">
                      <p:embed/>
                      <p:pic>
                        <p:nvPicPr>
                          <p:cNvPr id="0" name="Object 2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0" y="1207513"/>
                            <a:ext cx="305454" cy="374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52" name="Object 29"/>
              <p:cNvGraphicFramePr>
                <a:graphicFrameLocks noChangeAspect="1"/>
              </p:cNvGraphicFramePr>
              <p:nvPr/>
            </p:nvGraphicFramePr>
            <p:xfrm>
              <a:off x="2080409" y="0"/>
              <a:ext cx="241061" cy="267749"/>
            </p:xfrm>
            <a:graphic>
              <a:graphicData uri="http://schemas.openxmlformats.org/presentationml/2006/ole">
                <mc:AlternateContent xmlns:mc="http://schemas.openxmlformats.org/markup-compatibility/2006">
                  <mc:Choice xmlns:v="urn:schemas-microsoft-com:vml" Requires="v">
                    <p:oleObj spid="_x0000_s184187" r:id="rId27" imgW="153332" imgH="166109" progId="">
                      <p:embed/>
                    </p:oleObj>
                  </mc:Choice>
                  <mc:Fallback>
                    <p:oleObj r:id="rId27" imgW="153332" imgH="166109" progId="">
                      <p:embed/>
                      <p:pic>
                        <p:nvPicPr>
                          <p:cNvPr id="0" name="Object 29"/>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080409" y="0"/>
                            <a:ext cx="241061" cy="267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53" name="Object 30"/>
              <p:cNvGraphicFramePr>
                <a:graphicFrameLocks noChangeAspect="1"/>
              </p:cNvGraphicFramePr>
              <p:nvPr/>
            </p:nvGraphicFramePr>
            <p:xfrm>
              <a:off x="1857508" y="2576029"/>
              <a:ext cx="345081" cy="374462"/>
            </p:xfrm>
            <a:graphic>
              <a:graphicData uri="http://schemas.openxmlformats.org/presentationml/2006/ole">
                <mc:AlternateContent xmlns:mc="http://schemas.openxmlformats.org/markup-compatibility/2006">
                  <mc:Choice xmlns:v="urn:schemas-microsoft-com:vml" Requires="v">
                    <p:oleObj spid="_x0000_s184188" r:id="rId29" imgW="216747" imgH="229496" progId="">
                      <p:embed/>
                    </p:oleObj>
                  </mc:Choice>
                  <mc:Fallback>
                    <p:oleObj r:id="rId29" imgW="216747" imgH="229496" progId="">
                      <p:embed/>
                      <p:pic>
                        <p:nvPicPr>
                          <p:cNvPr id="0" name="Object 30"/>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857508" y="2576029"/>
                            <a:ext cx="345081" cy="374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65554" name="直接连接符 12"/>
              <p:cNvCxnSpPr>
                <a:cxnSpLocks noChangeShapeType="1"/>
              </p:cNvCxnSpPr>
              <p:nvPr/>
            </p:nvCxnSpPr>
            <p:spPr bwMode="auto">
              <a:xfrm rot="10800000">
                <a:off x="371396" y="1250666"/>
                <a:ext cx="1634776" cy="3174"/>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5555" name="Object 32"/>
              <p:cNvGraphicFramePr>
                <a:graphicFrameLocks noChangeAspect="1"/>
              </p:cNvGraphicFramePr>
              <p:nvPr/>
            </p:nvGraphicFramePr>
            <p:xfrm>
              <a:off x="0" y="80500"/>
              <a:ext cx="323617" cy="374462"/>
            </p:xfrm>
            <a:graphic>
              <a:graphicData uri="http://schemas.openxmlformats.org/presentationml/2006/ole">
                <mc:AlternateContent xmlns:mc="http://schemas.openxmlformats.org/markup-compatibility/2006">
                  <mc:Choice xmlns:v="urn:schemas-microsoft-com:vml" Requires="v">
                    <p:oleObj spid="_x0000_s184189" r:id="rId31" imgW="204086" imgH="229597" progId="">
                      <p:embed/>
                    </p:oleObj>
                  </mc:Choice>
                  <mc:Fallback>
                    <p:oleObj r:id="rId31" imgW="204086" imgH="229597" progId="">
                      <p:embed/>
                      <p:pic>
                        <p:nvPicPr>
                          <p:cNvPr id="0" name="Object 32"/>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0" y="80500"/>
                            <a:ext cx="323617" cy="374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56" name="Object 33"/>
              <p:cNvGraphicFramePr>
                <a:graphicFrameLocks noChangeAspect="1"/>
              </p:cNvGraphicFramePr>
              <p:nvPr/>
            </p:nvGraphicFramePr>
            <p:xfrm>
              <a:off x="2154709" y="1127012"/>
              <a:ext cx="303804" cy="269690"/>
            </p:xfrm>
            <a:graphic>
              <a:graphicData uri="http://schemas.openxmlformats.org/presentationml/2006/ole">
                <mc:AlternateContent xmlns:mc="http://schemas.openxmlformats.org/markup-compatibility/2006">
                  <mc:Choice xmlns:v="urn:schemas-microsoft-com:vml" Requires="v">
                    <p:oleObj spid="_x0000_s184190" r:id="rId33" imgW="191581" imgH="166037" progId="">
                      <p:embed/>
                    </p:oleObj>
                  </mc:Choice>
                  <mc:Fallback>
                    <p:oleObj r:id="rId33" imgW="191581" imgH="166037" progId="">
                      <p:embed/>
                      <p:pic>
                        <p:nvPicPr>
                          <p:cNvPr id="0" name="Object 33"/>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154709" y="1127012"/>
                            <a:ext cx="303804" cy="269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65557" name="直接连接符 52"/>
              <p:cNvCxnSpPr>
                <a:cxnSpLocks noChangeShapeType="1"/>
              </p:cNvCxnSpPr>
              <p:nvPr/>
            </p:nvCxnSpPr>
            <p:spPr bwMode="auto">
              <a:xfrm rot="10800000">
                <a:off x="371396" y="214263"/>
                <a:ext cx="1634776" cy="158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pSp>
      </p:grpSp>
      <p:grpSp>
        <p:nvGrpSpPr>
          <p:cNvPr id="60451" name="组合 53"/>
          <p:cNvGrpSpPr>
            <a:grpSpLocks/>
          </p:cNvGrpSpPr>
          <p:nvPr/>
        </p:nvGrpSpPr>
        <p:grpSpPr bwMode="auto">
          <a:xfrm>
            <a:off x="4289874" y="2032320"/>
            <a:ext cx="1743946" cy="3213130"/>
            <a:chOff x="0" y="0"/>
            <a:chExt cx="1843087" cy="3358281"/>
          </a:xfrm>
        </p:grpSpPr>
        <p:graphicFrame>
          <p:nvGraphicFramePr>
            <p:cNvPr id="65544" name="Object 36"/>
            <p:cNvGraphicFramePr>
              <a:graphicFrameLocks noChangeAspect="1"/>
            </p:cNvGraphicFramePr>
            <p:nvPr/>
          </p:nvGraphicFramePr>
          <p:xfrm>
            <a:off x="1570037" y="3026493"/>
            <a:ext cx="273050" cy="331788"/>
          </p:xfrm>
          <a:graphic>
            <a:graphicData uri="http://schemas.openxmlformats.org/presentationml/2006/ole">
              <mc:AlternateContent xmlns:mc="http://schemas.openxmlformats.org/markup-compatibility/2006">
                <mc:Choice xmlns:v="urn:schemas-microsoft-com:vml" Requires="v">
                  <p:oleObj spid="_x0000_s184191" r:id="rId35" imgW="178497" imgH="229496" progId="">
                    <p:embed/>
                  </p:oleObj>
                </mc:Choice>
                <mc:Fallback>
                  <p:oleObj r:id="rId35" imgW="178497" imgH="229496" progId="">
                    <p:embed/>
                    <p:pic>
                      <p:nvPicPr>
                        <p:cNvPr id="0" name="Object 36"/>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1570037" y="3026493"/>
                          <a:ext cx="273050" cy="33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65545" name="直接连接符 17"/>
            <p:cNvCxnSpPr>
              <a:cxnSpLocks noChangeShapeType="1"/>
            </p:cNvCxnSpPr>
            <p:nvPr/>
          </p:nvCxnSpPr>
          <p:spPr bwMode="auto">
            <a:xfrm>
              <a:off x="636587" y="160372"/>
              <a:ext cx="1189038"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65546" name="直接连接符 38"/>
            <p:cNvCxnSpPr>
              <a:cxnSpLocks noChangeShapeType="1"/>
            </p:cNvCxnSpPr>
            <p:nvPr/>
          </p:nvCxnSpPr>
          <p:spPr bwMode="auto">
            <a:xfrm rot="16200000" flipH="1">
              <a:off x="466427" y="1522733"/>
              <a:ext cx="2721557" cy="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5547" name="Object 39"/>
            <p:cNvGraphicFramePr>
              <a:graphicFrameLocks noChangeAspect="1"/>
            </p:cNvGraphicFramePr>
            <p:nvPr/>
          </p:nvGraphicFramePr>
          <p:xfrm>
            <a:off x="0" y="0"/>
            <a:ext cx="688511" cy="373879"/>
          </p:xfrm>
          <a:graphic>
            <a:graphicData uri="http://schemas.openxmlformats.org/presentationml/2006/ole">
              <mc:AlternateContent xmlns:mc="http://schemas.openxmlformats.org/markup-compatibility/2006">
                <mc:Choice xmlns:v="urn:schemas-microsoft-com:vml" Requires="v">
                  <p:oleObj spid="_x0000_s184192" r:id="rId37" imgW="433116" imgH="229297" progId="">
                    <p:embed/>
                  </p:oleObj>
                </mc:Choice>
                <mc:Fallback>
                  <p:oleObj r:id="rId37" imgW="433116" imgH="229297" progId="">
                    <p:embed/>
                    <p:pic>
                      <p:nvPicPr>
                        <p:cNvPr id="0" name="Object 39"/>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0" y="0"/>
                          <a:ext cx="688511" cy="37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1" name="Rectangle 3"/>
          <p:cNvSpPr txBox="1">
            <a:spLocks noChangeArrowheads="1"/>
          </p:cNvSpPr>
          <p:nvPr/>
        </p:nvSpPr>
        <p:spPr bwMode="auto">
          <a:xfrm>
            <a:off x="1048901" y="1395648"/>
            <a:ext cx="2361637" cy="3643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2" indent="-285750" eaLnBrk="1" hangingPunct="1">
              <a:spcBef>
                <a:spcPct val="0"/>
              </a:spcBef>
              <a:buFont typeface="Wingdings" panose="05000000000000000000" pitchFamily="2" charset="2"/>
              <a:buChar char="u"/>
            </a:pPr>
            <a:r>
              <a:rPr lang="zh-CN" altLang="en-US" sz="1800" spc="150" dirty="0">
                <a:solidFill>
                  <a:srgbClr val="000000"/>
                </a:solidFill>
                <a:latin typeface="微软雅黑" panose="020B0503020204020204" pitchFamily="34" charset="-122"/>
                <a:ea typeface="微软雅黑" panose="020B0503020204020204" pitchFamily="34" charset="-122"/>
              </a:rPr>
              <a:t>向购买者征税</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征税前状况</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lvl="2" eaLnBrk="1" hangingPunct="1">
              <a:buFont typeface="Arial" panose="020B0604020202020204" pitchFamily="34" charset="0"/>
              <a:buChar char="•"/>
            </a:pPr>
            <a:r>
              <a:rPr lang="en-US" altLang="zh-CN" sz="1800" dirty="0"/>
              <a:t>P=P</a:t>
            </a:r>
            <a:r>
              <a:rPr lang="en-US" altLang="zh-CN" sz="1800" baseline="-25000" dirty="0"/>
              <a:t>E</a:t>
            </a:r>
          </a:p>
          <a:p>
            <a:pPr lvl="2" eaLnBrk="1" hangingPunct="1">
              <a:buFont typeface="Arial" panose="020B0604020202020204" pitchFamily="34" charset="0"/>
              <a:buChar char="•"/>
            </a:pPr>
            <a:r>
              <a:rPr lang="en-US" altLang="zh-CN" sz="1800" dirty="0"/>
              <a:t>Q=Q</a:t>
            </a:r>
            <a:r>
              <a:rPr lang="en-US" altLang="zh-CN" sz="1800" baseline="-25000" dirty="0"/>
              <a:t>E</a:t>
            </a:r>
          </a:p>
          <a:p>
            <a:pPr lvl="1" eaLnBrk="1" hangingPunct="1">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征税后状况</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lvl="2" eaLnBrk="1" hangingPunct="1">
              <a:buFont typeface="Arial" panose="020B0604020202020204" pitchFamily="34" charset="0"/>
              <a:buChar char="•"/>
            </a:pPr>
            <a:r>
              <a:rPr lang="en-US" altLang="zh-CN" sz="1800" dirty="0"/>
              <a:t>P=P</a:t>
            </a:r>
            <a:r>
              <a:rPr lang="en-US" altLang="zh-CN" sz="1800" baseline="-25000" dirty="0"/>
              <a:t>E</a:t>
            </a:r>
            <a:r>
              <a:rPr lang="zh-CN" altLang="en-US" sz="1800" dirty="0"/>
              <a:t>’</a:t>
            </a:r>
            <a:endParaRPr lang="en-US" altLang="zh-CN" sz="1800" dirty="0"/>
          </a:p>
          <a:p>
            <a:pPr lvl="2" eaLnBrk="1" hangingPunct="1">
              <a:buFont typeface="Arial" panose="020B0604020202020204" pitchFamily="34" charset="0"/>
              <a:buChar char="•"/>
            </a:pPr>
            <a:r>
              <a:rPr lang="en-US" altLang="zh-CN" sz="1800" dirty="0"/>
              <a:t>Q=Q</a:t>
            </a:r>
            <a:r>
              <a:rPr lang="en-US" altLang="zh-CN" sz="1800" baseline="-25000" dirty="0"/>
              <a:t>E</a:t>
            </a:r>
            <a:r>
              <a:rPr lang="zh-CN" altLang="en-US" sz="1800" dirty="0"/>
              <a:t>’</a:t>
            </a:r>
            <a:endParaRPr lang="en-US" altLang="zh-CN" sz="1800" dirty="0"/>
          </a:p>
        </p:txBody>
      </p:sp>
      <p:sp>
        <p:nvSpPr>
          <p:cNvPr id="42" name="矩形 41"/>
          <p:cNvSpPr/>
          <p:nvPr/>
        </p:nvSpPr>
        <p:spPr>
          <a:xfrm>
            <a:off x="1505199" y="3850371"/>
            <a:ext cx="2627785" cy="923330"/>
          </a:xfrm>
          <a:prstGeom prst="rect">
            <a:avLst/>
          </a:prstGeom>
        </p:spPr>
        <p:txBody>
          <a:bodyPr wrap="square">
            <a:spAutoFit/>
          </a:bodyPr>
          <a:lstStyle/>
          <a:p>
            <a:pPr marL="285750" indent="-285750" eaLnBrk="1" hangingPunct="1">
              <a:spcBef>
                <a:spcPct val="2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比较分析</a:t>
            </a:r>
            <a:endParaRPr lang="en-US" altLang="zh-CN" spc="150" dirty="0">
              <a:solidFill>
                <a:srgbClr val="000000"/>
              </a:solidFill>
              <a:latin typeface="微软雅黑" panose="020B0503020204020204" pitchFamily="34" charset="-122"/>
              <a:ea typeface="微软雅黑" panose="020B0503020204020204" pitchFamily="34" charset="-122"/>
            </a:endParaRPr>
          </a:p>
          <a:p>
            <a:pPr lvl="1" eaLnBrk="1" hangingPunct="1">
              <a:buFont typeface="Arial" panose="020B0604020202020204" pitchFamily="34" charset="0"/>
              <a:buChar char="•"/>
            </a:pPr>
            <a:r>
              <a:rPr lang="en-US" altLang="zh-CN" dirty="0"/>
              <a:t>P</a:t>
            </a:r>
            <a:r>
              <a:rPr lang="en-US" altLang="zh-CN" baseline="-25000" dirty="0"/>
              <a:t>E</a:t>
            </a:r>
            <a:r>
              <a:rPr lang="en-US" altLang="zh-CN" dirty="0"/>
              <a:t>’&lt;P</a:t>
            </a:r>
            <a:r>
              <a:rPr lang="en-US" altLang="zh-CN" baseline="-25000" dirty="0"/>
              <a:t>E</a:t>
            </a:r>
          </a:p>
          <a:p>
            <a:pPr lvl="1" eaLnBrk="1" hangingPunct="1">
              <a:buFont typeface="Arial" panose="020B0604020202020204" pitchFamily="34" charset="0"/>
              <a:buChar char="•"/>
            </a:pPr>
            <a:r>
              <a:rPr lang="en-US" altLang="zh-CN" dirty="0"/>
              <a:t>Q</a:t>
            </a:r>
            <a:r>
              <a:rPr lang="en-US" altLang="zh-CN" baseline="-25000" dirty="0"/>
              <a:t>E</a:t>
            </a:r>
            <a:r>
              <a:rPr lang="en-US" altLang="zh-CN" dirty="0"/>
              <a:t>’&lt;Q</a:t>
            </a:r>
            <a:r>
              <a:rPr lang="en-US" altLang="zh-CN" baseline="-25000" dirty="0"/>
              <a:t>E</a:t>
            </a:r>
          </a:p>
        </p:txBody>
      </p:sp>
      <p:sp>
        <p:nvSpPr>
          <p:cNvPr id="43" name="矩形 42"/>
          <p:cNvSpPr/>
          <p:nvPr/>
        </p:nvSpPr>
        <p:spPr>
          <a:xfrm>
            <a:off x="1959607" y="4837125"/>
            <a:ext cx="4572000" cy="901272"/>
          </a:xfrm>
          <a:prstGeom prst="rect">
            <a:avLst/>
          </a:prstGeom>
        </p:spPr>
        <p:txBody>
          <a:bodyPr>
            <a:spAutoFit/>
          </a:bodyPr>
          <a:lstStyle/>
          <a:p>
            <a:pPr eaLnBrk="1" hangingPunct="1">
              <a:lnSpc>
                <a:spcPct val="150000"/>
              </a:lnSpc>
              <a:buFont typeface="Arial" panose="020B0604020202020204" pitchFamily="34" charset="0"/>
              <a:buChar char="•"/>
            </a:pPr>
            <a:r>
              <a:rPr lang="zh-CN" altLang="en-US" spc="150" dirty="0">
                <a:solidFill>
                  <a:srgbClr val="000000"/>
                </a:solidFill>
                <a:latin typeface="微软雅黑" panose="020B0503020204020204" pitchFamily="34" charset="-122"/>
                <a:ea typeface="微软雅黑" panose="020B0503020204020204" pitchFamily="34" charset="-122"/>
              </a:rPr>
              <a:t>消费者支付</a:t>
            </a:r>
            <a:r>
              <a:rPr lang="en-US" altLang="zh-CN" dirty="0"/>
              <a:t>=P</a:t>
            </a:r>
            <a:r>
              <a:rPr lang="en-US" altLang="zh-CN" baseline="-25000" dirty="0"/>
              <a:t>E</a:t>
            </a:r>
            <a:r>
              <a:rPr lang="en-US" altLang="zh-CN" dirty="0"/>
              <a:t>’+T&gt;P</a:t>
            </a:r>
            <a:r>
              <a:rPr lang="en-US" altLang="zh-CN" baseline="-25000" dirty="0"/>
              <a:t>E</a:t>
            </a:r>
            <a:endParaRPr lang="en-US" altLang="zh-CN" sz="2800" baseline="-25000" dirty="0"/>
          </a:p>
          <a:p>
            <a:pPr eaLnBrk="1" hangingPunct="1">
              <a:lnSpc>
                <a:spcPct val="150000"/>
              </a:lnSpc>
              <a:buFont typeface="Arial" panose="020B0604020202020204" pitchFamily="34" charset="0"/>
              <a:buChar char="•"/>
            </a:pPr>
            <a:r>
              <a:rPr lang="zh-CN" altLang="en-US" spc="150" dirty="0">
                <a:solidFill>
                  <a:srgbClr val="000000"/>
                </a:solidFill>
                <a:latin typeface="微软雅黑" panose="020B0503020204020204" pitchFamily="34" charset="-122"/>
                <a:ea typeface="微软雅黑" panose="020B0503020204020204" pitchFamily="34" charset="-122"/>
              </a:rPr>
              <a:t>生产者所得</a:t>
            </a:r>
            <a:r>
              <a:rPr lang="en-US" altLang="zh-CN" dirty="0"/>
              <a:t>=P</a:t>
            </a:r>
            <a:r>
              <a:rPr lang="en-US" altLang="zh-CN" baseline="-25000" dirty="0"/>
              <a:t>E</a:t>
            </a:r>
            <a:r>
              <a:rPr lang="en-US" altLang="zh-CN" dirty="0"/>
              <a:t>’&lt;P</a:t>
            </a:r>
            <a:r>
              <a:rPr lang="en-US" altLang="zh-CN" baseline="-25000" dirty="0"/>
              <a:t>E</a:t>
            </a:r>
            <a:endParaRPr lang="en-US" altLang="zh-CN" sz="2800" baseline="-25000" dirty="0"/>
          </a:p>
        </p:txBody>
      </p:sp>
      <p:sp>
        <p:nvSpPr>
          <p:cNvPr id="44" name="矩形 43">
            <a:extLst>
              <a:ext uri="{FF2B5EF4-FFF2-40B4-BE49-F238E27FC236}">
                <a16:creationId xmlns:a16="http://schemas.microsoft.com/office/drawing/2014/main" id="{1295C631-02A7-4CAF-8D85-9DB2273F38D7}"/>
              </a:ext>
            </a:extLst>
          </p:cNvPr>
          <p:cNvSpPr/>
          <p:nvPr/>
        </p:nvSpPr>
        <p:spPr>
          <a:xfrm>
            <a:off x="467544" y="548680"/>
            <a:ext cx="291137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二、税收效应分析</a:t>
            </a:r>
          </a:p>
        </p:txBody>
      </p:sp>
      <p:sp>
        <p:nvSpPr>
          <p:cNvPr id="45" name="矩形 44">
            <a:extLst>
              <a:ext uri="{FF2B5EF4-FFF2-40B4-BE49-F238E27FC236}">
                <a16:creationId xmlns:a16="http://schemas.microsoft.com/office/drawing/2014/main" id="{37D9DDEC-606B-45E1-B52B-4BD19EE3BC3C}"/>
              </a:ext>
            </a:extLst>
          </p:cNvPr>
          <p:cNvSpPr/>
          <p:nvPr/>
        </p:nvSpPr>
        <p:spPr>
          <a:xfrm>
            <a:off x="5738974" y="0"/>
            <a:ext cx="3381054"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第五节 供求分析的应用实例</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
                                            <p:txEl>
                                              <p:pRg st="0" end="0"/>
                                            </p:txEl>
                                          </p:spTgt>
                                        </p:tgtEl>
                                        <p:attrNameLst>
                                          <p:attrName>style.visibility</p:attrName>
                                        </p:attrNameLst>
                                      </p:cBhvr>
                                      <p:to>
                                        <p:strVal val="visible"/>
                                      </p:to>
                                    </p:set>
                                    <p:animEffect transition="in" filter="wipe(left)">
                                      <p:cBhvr>
                                        <p:cTn id="7" dur="500"/>
                                        <p:tgtEl>
                                          <p:spTgt spid="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0419"/>
                                        </p:tgtEl>
                                        <p:attrNameLst>
                                          <p:attrName>style.visibility</p:attrName>
                                        </p:attrNameLst>
                                      </p:cBhvr>
                                      <p:to>
                                        <p:strVal val="visible"/>
                                      </p:to>
                                    </p:set>
                                    <p:animEffect transition="in" filter="randombar(horizontal)">
                                      <p:cBhvr>
                                        <p:cTn id="12" dur="500"/>
                                        <p:tgtEl>
                                          <p:spTgt spid="604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
                                            <p:txEl>
                                              <p:pRg st="1" end="1"/>
                                            </p:txEl>
                                          </p:spTgt>
                                        </p:tgtEl>
                                        <p:attrNameLst>
                                          <p:attrName>style.visibility</p:attrName>
                                        </p:attrNameLst>
                                      </p:cBhvr>
                                      <p:to>
                                        <p:strVal val="visible"/>
                                      </p:to>
                                    </p:set>
                                    <p:animEffect transition="in" filter="wipe(left)">
                                      <p:cBhvr>
                                        <p:cTn id="17" dur="500"/>
                                        <p:tgtEl>
                                          <p:spTgt spid="4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1">
                                            <p:txEl>
                                              <p:pRg st="2" end="2"/>
                                            </p:txEl>
                                          </p:spTgt>
                                        </p:tgtEl>
                                        <p:attrNameLst>
                                          <p:attrName>style.visibility</p:attrName>
                                        </p:attrNameLst>
                                      </p:cBhvr>
                                      <p:to>
                                        <p:strVal val="visible"/>
                                      </p:to>
                                    </p:set>
                                    <p:animEffect transition="in" filter="wipe(left)">
                                      <p:cBhvr>
                                        <p:cTn id="22" dur="500"/>
                                        <p:tgtEl>
                                          <p:spTgt spid="4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1">
                                            <p:txEl>
                                              <p:pRg st="3" end="3"/>
                                            </p:txEl>
                                          </p:spTgt>
                                        </p:tgtEl>
                                        <p:attrNameLst>
                                          <p:attrName>style.visibility</p:attrName>
                                        </p:attrNameLst>
                                      </p:cBhvr>
                                      <p:to>
                                        <p:strVal val="visible"/>
                                      </p:to>
                                    </p:set>
                                    <p:animEffect transition="in" filter="wipe(left)">
                                      <p:cBhvr>
                                        <p:cTn id="27" dur="500"/>
                                        <p:tgtEl>
                                          <p:spTgt spid="4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1">
                                            <p:txEl>
                                              <p:pRg st="4" end="4"/>
                                            </p:txEl>
                                          </p:spTgt>
                                        </p:tgtEl>
                                        <p:attrNameLst>
                                          <p:attrName>style.visibility</p:attrName>
                                        </p:attrNameLst>
                                      </p:cBhvr>
                                      <p:to>
                                        <p:strVal val="visible"/>
                                      </p:to>
                                    </p:set>
                                    <p:animEffect transition="in" filter="wipe(left)">
                                      <p:cBhvr>
                                        <p:cTn id="32" dur="500"/>
                                        <p:tgtEl>
                                          <p:spTgt spid="41">
                                            <p:txEl>
                                              <p:pRg st="4" end="4"/>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60434"/>
                                        </p:tgtEl>
                                        <p:attrNameLst>
                                          <p:attrName>style.visibility</p:attrName>
                                        </p:attrNameLst>
                                      </p:cBhvr>
                                      <p:to>
                                        <p:strVal val="visible"/>
                                      </p:to>
                                    </p:set>
                                    <p:animEffect transition="in" filter="randombar(horizontal)">
                                      <p:cBhvr>
                                        <p:cTn id="35" dur="500"/>
                                        <p:tgtEl>
                                          <p:spTgt spid="60434"/>
                                        </p:tgtEl>
                                      </p:cBhvr>
                                    </p:animEffect>
                                  </p:childTnLst>
                                </p:cTn>
                              </p:par>
                              <p:par>
                                <p:cTn id="36" presetID="14" presetClass="entr" presetSubtype="10" fill="hold" nodeType="withEffect">
                                  <p:stCondLst>
                                    <p:cond delay="0"/>
                                  </p:stCondLst>
                                  <p:childTnLst>
                                    <p:set>
                                      <p:cBhvr>
                                        <p:cTn id="37" dur="1" fill="hold">
                                          <p:stCondLst>
                                            <p:cond delay="0"/>
                                          </p:stCondLst>
                                        </p:cTn>
                                        <p:tgtEl>
                                          <p:spTgt spid="60440"/>
                                        </p:tgtEl>
                                        <p:attrNameLst>
                                          <p:attrName>style.visibility</p:attrName>
                                        </p:attrNameLst>
                                      </p:cBhvr>
                                      <p:to>
                                        <p:strVal val="visible"/>
                                      </p:to>
                                    </p:set>
                                    <p:animEffect transition="in" filter="randombar(horizontal)">
                                      <p:cBhvr>
                                        <p:cTn id="38" dur="500"/>
                                        <p:tgtEl>
                                          <p:spTgt spid="60440"/>
                                        </p:tgtEl>
                                      </p:cBhvr>
                                    </p:animEffect>
                                  </p:childTnLst>
                                </p:cTn>
                              </p:par>
                              <p:par>
                                <p:cTn id="39" presetID="14" presetClass="entr" presetSubtype="10" fill="hold" nodeType="withEffect">
                                  <p:stCondLst>
                                    <p:cond delay="0"/>
                                  </p:stCondLst>
                                  <p:childTnLst>
                                    <p:set>
                                      <p:cBhvr>
                                        <p:cTn id="40" dur="1" fill="hold">
                                          <p:stCondLst>
                                            <p:cond delay="0"/>
                                          </p:stCondLst>
                                        </p:cTn>
                                        <p:tgtEl>
                                          <p:spTgt spid="60451"/>
                                        </p:tgtEl>
                                        <p:attrNameLst>
                                          <p:attrName>style.visibility</p:attrName>
                                        </p:attrNameLst>
                                      </p:cBhvr>
                                      <p:to>
                                        <p:strVal val="visible"/>
                                      </p:to>
                                    </p:set>
                                    <p:animEffect transition="in" filter="randombar(horizontal)">
                                      <p:cBhvr>
                                        <p:cTn id="41" dur="500"/>
                                        <p:tgtEl>
                                          <p:spTgt spid="6045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41">
                                            <p:txEl>
                                              <p:pRg st="5" end="5"/>
                                            </p:txEl>
                                          </p:spTgt>
                                        </p:tgtEl>
                                        <p:attrNameLst>
                                          <p:attrName>style.visibility</p:attrName>
                                        </p:attrNameLst>
                                      </p:cBhvr>
                                      <p:to>
                                        <p:strVal val="visible"/>
                                      </p:to>
                                    </p:set>
                                    <p:animEffect transition="in" filter="wipe(left)">
                                      <p:cBhvr>
                                        <p:cTn id="46" dur="500"/>
                                        <p:tgtEl>
                                          <p:spTgt spid="41">
                                            <p:txEl>
                                              <p:pRg st="5" end="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41">
                                            <p:txEl>
                                              <p:pRg st="6" end="6"/>
                                            </p:txEl>
                                          </p:spTgt>
                                        </p:tgtEl>
                                        <p:attrNameLst>
                                          <p:attrName>style.visibility</p:attrName>
                                        </p:attrNameLst>
                                      </p:cBhvr>
                                      <p:to>
                                        <p:strVal val="visible"/>
                                      </p:to>
                                    </p:set>
                                    <p:animEffect transition="in" filter="wipe(left)">
                                      <p:cBhvr>
                                        <p:cTn id="51" dur="500"/>
                                        <p:tgtEl>
                                          <p:spTgt spid="41">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1000"/>
                                        <p:tgtEl>
                                          <p:spTgt spid="42"/>
                                        </p:tgtEl>
                                      </p:cBhvr>
                                    </p:animEffect>
                                    <p:anim calcmode="lin" valueType="num">
                                      <p:cBhvr>
                                        <p:cTn id="57" dur="1000" fill="hold"/>
                                        <p:tgtEl>
                                          <p:spTgt spid="42"/>
                                        </p:tgtEl>
                                        <p:attrNameLst>
                                          <p:attrName>ppt_x</p:attrName>
                                        </p:attrNameLst>
                                      </p:cBhvr>
                                      <p:tavLst>
                                        <p:tav tm="0">
                                          <p:val>
                                            <p:strVal val="#ppt_x"/>
                                          </p:val>
                                        </p:tav>
                                        <p:tav tm="100000">
                                          <p:val>
                                            <p:strVal val="#ppt_x"/>
                                          </p:val>
                                        </p:tav>
                                      </p:tavLst>
                                    </p:anim>
                                    <p:anim calcmode="lin" valueType="num">
                                      <p:cBhvr>
                                        <p:cTn id="58"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42">
                                            <p:txEl>
                                              <p:pRg st="0" end="0"/>
                                            </p:txEl>
                                          </p:spTgt>
                                        </p:tgtEl>
                                        <p:attrNameLst>
                                          <p:attrName>style.visibility</p:attrName>
                                        </p:attrNameLst>
                                      </p:cBhvr>
                                      <p:to>
                                        <p:strVal val="visible"/>
                                      </p:to>
                                    </p:set>
                                    <p:animEffect transition="in" filter="wipe(left)">
                                      <p:cBhvr>
                                        <p:cTn id="63" dur="500"/>
                                        <p:tgtEl>
                                          <p:spTgt spid="42">
                                            <p:txEl>
                                              <p:pRg st="0" end="0"/>
                                            </p:txEl>
                                          </p:spTgt>
                                        </p:tgtEl>
                                      </p:cBhvr>
                                    </p:animEffect>
                                  </p:childTnLst>
                                </p:cTn>
                              </p:par>
                              <p:par>
                                <p:cTn id="64" presetID="22" presetClass="entr" presetSubtype="8" fill="hold" nodeType="withEffect">
                                  <p:stCondLst>
                                    <p:cond delay="0"/>
                                  </p:stCondLst>
                                  <p:childTnLst>
                                    <p:set>
                                      <p:cBhvr>
                                        <p:cTn id="65" dur="1" fill="hold">
                                          <p:stCondLst>
                                            <p:cond delay="0"/>
                                          </p:stCondLst>
                                        </p:cTn>
                                        <p:tgtEl>
                                          <p:spTgt spid="42">
                                            <p:txEl>
                                              <p:pRg st="1" end="1"/>
                                            </p:txEl>
                                          </p:spTgt>
                                        </p:tgtEl>
                                        <p:attrNameLst>
                                          <p:attrName>style.visibility</p:attrName>
                                        </p:attrNameLst>
                                      </p:cBhvr>
                                      <p:to>
                                        <p:strVal val="visible"/>
                                      </p:to>
                                    </p:set>
                                    <p:animEffect transition="in" filter="wipe(left)">
                                      <p:cBhvr>
                                        <p:cTn id="66" dur="500"/>
                                        <p:tgtEl>
                                          <p:spTgt spid="42">
                                            <p:txEl>
                                              <p:pRg st="1" end="1"/>
                                            </p:txEl>
                                          </p:spTgt>
                                        </p:tgtEl>
                                      </p:cBhvr>
                                    </p:animEffect>
                                  </p:childTnLst>
                                </p:cTn>
                              </p:par>
                              <p:par>
                                <p:cTn id="67" presetID="22" presetClass="entr" presetSubtype="8" fill="hold" nodeType="withEffect">
                                  <p:stCondLst>
                                    <p:cond delay="0"/>
                                  </p:stCondLst>
                                  <p:childTnLst>
                                    <p:set>
                                      <p:cBhvr>
                                        <p:cTn id="68" dur="1" fill="hold">
                                          <p:stCondLst>
                                            <p:cond delay="0"/>
                                          </p:stCondLst>
                                        </p:cTn>
                                        <p:tgtEl>
                                          <p:spTgt spid="42">
                                            <p:txEl>
                                              <p:pRg st="2" end="2"/>
                                            </p:txEl>
                                          </p:spTgt>
                                        </p:tgtEl>
                                        <p:attrNameLst>
                                          <p:attrName>style.visibility</p:attrName>
                                        </p:attrNameLst>
                                      </p:cBhvr>
                                      <p:to>
                                        <p:strVal val="visible"/>
                                      </p:to>
                                    </p:set>
                                    <p:animEffect transition="in" filter="wipe(left)">
                                      <p:cBhvr>
                                        <p:cTn id="69" dur="500"/>
                                        <p:tgtEl>
                                          <p:spTgt spid="42">
                                            <p:txEl>
                                              <p:pRg st="2" end="2"/>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16" presetClass="entr" presetSubtype="21" fill="hold" grpId="0" nodeType="click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barn(inVertical)">
                                      <p:cBhvr>
                                        <p:cTn id="74"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uiExpand="1" build="p" autoUpdateAnimBg="0"/>
      <p:bldP spid="42" grpId="0"/>
      <p:bldP spid="43"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noChangeArrowheads="1"/>
          </p:cNvSpPr>
          <p:nvPr>
            <p:ph type="body" idx="4294967295"/>
          </p:nvPr>
        </p:nvSpPr>
        <p:spPr>
          <a:xfrm>
            <a:off x="863571" y="1010345"/>
            <a:ext cx="3031792" cy="4182821"/>
          </a:xfrm>
        </p:spPr>
        <p:txBody>
          <a:bodyPr/>
          <a:lstStyle/>
          <a:p>
            <a:pPr marL="285750" lvl="2" indent="-285750" eaLnBrk="1" hangingPunct="1">
              <a:lnSpc>
                <a:spcPct val="150000"/>
              </a:lnSpc>
              <a:spcBef>
                <a:spcPct val="0"/>
              </a:spcBef>
              <a:buFont typeface="Wingdings" panose="05000000000000000000" pitchFamily="2" charset="2"/>
              <a:buChar char="u"/>
            </a:pPr>
            <a:r>
              <a:rPr lang="zh-CN" altLang="en-US" sz="1800" spc="150" dirty="0">
                <a:solidFill>
                  <a:srgbClr val="000000"/>
                </a:solidFill>
                <a:latin typeface="微软雅黑" panose="020B0503020204020204" pitchFamily="34" charset="-122"/>
                <a:ea typeface="微软雅黑" panose="020B0503020204020204" pitchFamily="34" charset="-122"/>
              </a:rPr>
              <a:t>不同的需求弹性分析</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征税前状况</a:t>
            </a:r>
            <a:r>
              <a:rPr lang="en-US" altLang="zh-CN" sz="1800" spc="150" dirty="0">
                <a:solidFill>
                  <a:srgbClr val="000000"/>
                </a:solidFill>
                <a:latin typeface="微软雅黑" panose="020B0503020204020204" pitchFamily="34" charset="-122"/>
                <a:ea typeface="微软雅黑" panose="020B0503020204020204" pitchFamily="34" charset="-122"/>
              </a:rPr>
              <a:t>: </a:t>
            </a:r>
            <a:r>
              <a:rPr lang="en-US" altLang="zh-CN" sz="1800" dirty="0"/>
              <a:t>P=P</a:t>
            </a:r>
            <a:r>
              <a:rPr lang="en-US" altLang="zh-CN" sz="1800" baseline="-25000" dirty="0"/>
              <a:t>E</a:t>
            </a:r>
            <a:endParaRPr lang="en-US" altLang="zh-CN" baseline="-25000" dirty="0"/>
          </a:p>
          <a:p>
            <a:pPr lvl="1" eaLnBrk="1" hangingPunct="1">
              <a:lnSpc>
                <a:spcPct val="150000"/>
              </a:lnSpc>
              <a:buFont typeface="Wingdings" panose="05000000000000000000" pitchFamily="2" charset="2"/>
              <a:buChar char="Ø"/>
            </a:pPr>
            <a:endParaRPr lang="en-US" altLang="zh-CN" sz="1800" spc="150" dirty="0">
              <a:solidFill>
                <a:srgbClr val="000000"/>
              </a:solidFill>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征税后状况</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857250" lvl="2" indent="0" eaLnBrk="1" hangingPunct="1">
              <a:lnSpc>
                <a:spcPct val="150000"/>
              </a:lnSpc>
              <a:buNone/>
            </a:pPr>
            <a:r>
              <a:rPr lang="en-US" altLang="zh-CN" sz="1800" dirty="0"/>
              <a:t>D</a:t>
            </a:r>
            <a:r>
              <a:rPr lang="en-US" altLang="zh-CN" sz="1800" baseline="-25000" dirty="0"/>
              <a:t>1</a:t>
            </a:r>
            <a:r>
              <a:rPr lang="en-US" altLang="zh-CN" sz="1800" dirty="0"/>
              <a:t>——P’</a:t>
            </a:r>
            <a:r>
              <a:rPr lang="en-US" altLang="zh-CN" sz="1800" baseline="-25000" dirty="0"/>
              <a:t>1E</a:t>
            </a:r>
            <a:endParaRPr lang="en-US" altLang="zh-CN" sz="1800" dirty="0"/>
          </a:p>
          <a:p>
            <a:pPr marL="857250" lvl="2" indent="0" eaLnBrk="1" hangingPunct="1">
              <a:lnSpc>
                <a:spcPct val="150000"/>
              </a:lnSpc>
              <a:buNone/>
            </a:pPr>
            <a:r>
              <a:rPr lang="en-US" altLang="zh-CN" sz="1800" dirty="0"/>
              <a:t>D</a:t>
            </a:r>
            <a:r>
              <a:rPr lang="en-US" altLang="zh-CN" sz="1800" baseline="-25000" dirty="0"/>
              <a:t>2</a:t>
            </a:r>
            <a:r>
              <a:rPr lang="en-US" altLang="zh-CN" sz="1800" dirty="0"/>
              <a:t>——P’</a:t>
            </a:r>
            <a:r>
              <a:rPr lang="en-US" altLang="zh-CN" sz="1800" baseline="-25000" dirty="0"/>
              <a:t>2E</a:t>
            </a:r>
            <a:endParaRPr lang="en-US" altLang="zh-CN" sz="1800" dirty="0"/>
          </a:p>
          <a:p>
            <a:pPr lvl="1" eaLnBrk="1" hangingPunct="1">
              <a:lnSpc>
                <a:spcPct val="150000"/>
              </a:lnSpc>
              <a:buFont typeface="Wingdings" panose="05000000000000000000" pitchFamily="2" charset="2"/>
              <a:buChar char="Ø"/>
            </a:pPr>
            <a:endParaRPr lang="en-US" altLang="zh-CN" sz="1800" spc="150" dirty="0">
              <a:solidFill>
                <a:srgbClr val="000000"/>
              </a:solidFill>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Char char="Ø"/>
            </a:pPr>
            <a:r>
              <a:rPr lang="zh-CN" altLang="en-US" sz="1800" spc="150" dirty="0">
                <a:solidFill>
                  <a:srgbClr val="000000"/>
                </a:solidFill>
                <a:latin typeface="微软雅黑" panose="020B0503020204020204" pitchFamily="34" charset="-122"/>
                <a:ea typeface="微软雅黑" panose="020B0503020204020204" pitchFamily="34" charset="-122"/>
              </a:rPr>
              <a:t>比较分析</a:t>
            </a:r>
            <a:endParaRPr lang="en-US" altLang="zh-CN" sz="1800" spc="150" dirty="0">
              <a:solidFill>
                <a:srgbClr val="000000"/>
              </a:solidFill>
              <a:latin typeface="微软雅黑" panose="020B0503020204020204" pitchFamily="34" charset="-122"/>
              <a:ea typeface="微软雅黑" panose="020B0503020204020204" pitchFamily="34" charset="-122"/>
            </a:endParaRPr>
          </a:p>
          <a:p>
            <a:pPr marL="857250" lvl="2" indent="0" eaLnBrk="1" hangingPunct="1">
              <a:lnSpc>
                <a:spcPct val="150000"/>
              </a:lnSpc>
              <a:buNone/>
            </a:pPr>
            <a:r>
              <a:rPr lang="en-US" altLang="zh-CN" sz="1800" dirty="0"/>
              <a:t>P’</a:t>
            </a:r>
            <a:r>
              <a:rPr lang="en-US" altLang="zh-CN" sz="1800" baseline="-25000" dirty="0"/>
              <a:t>1E</a:t>
            </a:r>
            <a:r>
              <a:rPr lang="en-US" altLang="zh-CN" sz="1800" dirty="0"/>
              <a:t>&gt; P’</a:t>
            </a:r>
            <a:r>
              <a:rPr lang="en-US" altLang="zh-CN" sz="1800" baseline="-25000" dirty="0"/>
              <a:t>2E</a:t>
            </a:r>
            <a:endParaRPr lang="en-US" altLang="zh-CN" sz="1800" dirty="0"/>
          </a:p>
        </p:txBody>
      </p:sp>
      <p:grpSp>
        <p:nvGrpSpPr>
          <p:cNvPr id="61443" name="组合 79"/>
          <p:cNvGrpSpPr>
            <a:grpSpLocks/>
          </p:cNvGrpSpPr>
          <p:nvPr/>
        </p:nvGrpSpPr>
        <p:grpSpPr bwMode="auto">
          <a:xfrm>
            <a:off x="4685668" y="2276549"/>
            <a:ext cx="2106612" cy="1698625"/>
            <a:chOff x="0" y="0"/>
            <a:chExt cx="2106853" cy="1698619"/>
          </a:xfrm>
        </p:grpSpPr>
        <p:cxnSp>
          <p:nvCxnSpPr>
            <p:cNvPr id="66591" name="直接连接符 80"/>
            <p:cNvCxnSpPr>
              <a:cxnSpLocks noChangeShapeType="1"/>
            </p:cNvCxnSpPr>
            <p:nvPr/>
          </p:nvCxnSpPr>
          <p:spPr bwMode="auto">
            <a:xfrm flipV="1">
              <a:off x="0" y="214311"/>
              <a:ext cx="1800430" cy="1484308"/>
            </a:xfrm>
            <a:prstGeom prst="line">
              <a:avLst/>
            </a:prstGeom>
            <a:noFill/>
            <a:ln w="38100">
              <a:solidFill>
                <a:srgbClr val="2D2D8A"/>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aphicFrame>
          <p:nvGraphicFramePr>
            <p:cNvPr id="66592" name="Object 5"/>
            <p:cNvGraphicFramePr>
              <a:graphicFrameLocks noChangeAspect="1"/>
            </p:cNvGraphicFramePr>
            <p:nvPr/>
          </p:nvGraphicFramePr>
          <p:xfrm>
            <a:off x="1872284" y="0"/>
            <a:ext cx="234569" cy="256541"/>
          </p:xfrm>
          <a:graphic>
            <a:graphicData uri="http://schemas.openxmlformats.org/presentationml/2006/ole">
              <mc:AlternateContent xmlns:mc="http://schemas.openxmlformats.org/markup-compatibility/2006">
                <mc:Choice xmlns:v="urn:schemas-microsoft-com:vml" Requires="v">
                  <p:oleObj spid="_x0000_s195824" r:id="rId3" imgW="178731" imgH="178731" progId="">
                    <p:embed/>
                  </p:oleObj>
                </mc:Choice>
                <mc:Fallback>
                  <p:oleObj r:id="rId3" imgW="178731" imgH="178731" progId="">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2284" y="0"/>
                          <a:ext cx="234569" cy="256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1446" name="组合 82"/>
          <p:cNvGrpSpPr>
            <a:grpSpLocks/>
          </p:cNvGrpSpPr>
          <p:nvPr/>
        </p:nvGrpSpPr>
        <p:grpSpPr bwMode="auto">
          <a:xfrm>
            <a:off x="5188905" y="3140149"/>
            <a:ext cx="2085975" cy="1614488"/>
            <a:chOff x="0" y="0"/>
            <a:chExt cx="2085448" cy="1614344"/>
          </a:xfrm>
        </p:grpSpPr>
        <p:cxnSp>
          <p:nvCxnSpPr>
            <p:cNvPr id="66589" name="直接连接符 83"/>
            <p:cNvCxnSpPr>
              <a:cxnSpLocks noChangeShapeType="1"/>
            </p:cNvCxnSpPr>
            <p:nvPr/>
          </p:nvCxnSpPr>
          <p:spPr bwMode="auto">
            <a:xfrm flipV="1">
              <a:off x="0" y="77781"/>
              <a:ext cx="1901345" cy="1536563"/>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graphicFrame>
          <p:nvGraphicFramePr>
            <p:cNvPr id="66590" name="Object 8"/>
            <p:cNvGraphicFramePr>
              <a:graphicFrameLocks noChangeAspect="1"/>
            </p:cNvGraphicFramePr>
            <p:nvPr/>
          </p:nvGraphicFramePr>
          <p:xfrm>
            <a:off x="1902702" y="0"/>
            <a:ext cx="182746" cy="256542"/>
          </p:xfrm>
          <a:graphic>
            <a:graphicData uri="http://schemas.openxmlformats.org/presentationml/2006/ole">
              <mc:AlternateContent xmlns:mc="http://schemas.openxmlformats.org/markup-compatibility/2006">
                <mc:Choice xmlns:v="urn:schemas-microsoft-com:vml" Requires="v">
                  <p:oleObj spid="_x0000_s195825" r:id="rId5" imgW="140493" imgH="178809" progId="">
                    <p:embed/>
                  </p:oleObj>
                </mc:Choice>
                <mc:Fallback>
                  <p:oleObj r:id="rId5" imgW="140493" imgH="178809" progId="">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2702" y="0"/>
                          <a:ext cx="182746" cy="256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1449" name="组合 85"/>
          <p:cNvGrpSpPr>
            <a:grpSpLocks/>
          </p:cNvGrpSpPr>
          <p:nvPr/>
        </p:nvGrpSpPr>
        <p:grpSpPr bwMode="auto">
          <a:xfrm>
            <a:off x="4036380" y="2132087"/>
            <a:ext cx="3643313" cy="3271205"/>
            <a:chOff x="0" y="0"/>
            <a:chExt cx="3643338" cy="3271587"/>
          </a:xfrm>
        </p:grpSpPr>
        <p:cxnSp>
          <p:nvCxnSpPr>
            <p:cNvPr id="66577" name="直接连接符 86"/>
            <p:cNvCxnSpPr>
              <a:cxnSpLocks noChangeShapeType="1"/>
            </p:cNvCxnSpPr>
            <p:nvPr/>
          </p:nvCxnSpPr>
          <p:spPr bwMode="auto">
            <a:xfrm>
              <a:off x="884243" y="571567"/>
              <a:ext cx="2527318" cy="1262209"/>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66578" name="直接箭头连接符 87"/>
            <p:cNvCxnSpPr>
              <a:cxnSpLocks noChangeShapeType="1"/>
            </p:cNvCxnSpPr>
            <p:nvPr/>
          </p:nvCxnSpPr>
          <p:spPr bwMode="auto">
            <a:xfrm rot="5400000" flipH="1" flipV="1">
              <a:off x="-1137610" y="1539255"/>
              <a:ext cx="2886412" cy="1587"/>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66579" name="直接箭头连接符 88"/>
            <p:cNvCxnSpPr>
              <a:cxnSpLocks noChangeShapeType="1"/>
            </p:cNvCxnSpPr>
            <p:nvPr/>
          </p:nvCxnSpPr>
          <p:spPr bwMode="auto">
            <a:xfrm>
              <a:off x="306389" y="2983260"/>
              <a:ext cx="3167086" cy="1588"/>
            </a:xfrm>
            <a:prstGeom prst="straightConnector1">
              <a:avLst/>
            </a:prstGeom>
            <a:noFill/>
            <a:ln w="9525">
              <a:solidFill>
                <a:srgbClr val="7F7F7F"/>
              </a:solidFill>
              <a:round/>
              <a:headEnd/>
              <a:tailEnd type="stealth" w="med" len="lg"/>
            </a:ln>
            <a:extLst>
              <a:ext uri="{909E8E84-426E-40DD-AFC4-6F175D3DCCD1}">
                <a14:hiddenFill xmlns:a14="http://schemas.microsoft.com/office/drawing/2010/main">
                  <a:noFill/>
                </a14:hiddenFill>
              </a:ext>
            </a:extLst>
          </p:spPr>
        </p:cxnSp>
        <p:cxnSp>
          <p:nvCxnSpPr>
            <p:cNvPr id="66580" name="直接连接符 89"/>
            <p:cNvCxnSpPr>
              <a:cxnSpLocks noChangeShapeType="1"/>
            </p:cNvCxnSpPr>
            <p:nvPr/>
          </p:nvCxnSpPr>
          <p:spPr bwMode="auto">
            <a:xfrm rot="16200000" flipH="1">
              <a:off x="1227814" y="183477"/>
              <a:ext cx="2184655" cy="1817701"/>
            </a:xfrm>
            <a:prstGeom prst="line">
              <a:avLst/>
            </a:prstGeom>
            <a:noFill/>
            <a:ln w="38100">
              <a:solidFill>
                <a:srgbClr val="000000"/>
              </a:solidFill>
              <a:round/>
              <a:headEnd/>
              <a:tailEnd/>
            </a:ln>
            <a:effectLst>
              <a:outerShdw dist="23000" dir="5400000" algn="ctr" rotWithShape="0">
                <a:srgbClr val="000000">
                  <a:alpha val="28998"/>
                </a:srgbClr>
              </a:outerShdw>
            </a:effectLst>
            <a:extLst>
              <a:ext uri="{909E8E84-426E-40DD-AFC4-6F175D3DCCD1}">
                <a14:hiddenFill xmlns:a14="http://schemas.microsoft.com/office/drawing/2010/main">
                  <a:noFill/>
                </a14:hiddenFill>
              </a:ext>
            </a:extLst>
          </p:spPr>
        </p:cxnSp>
        <p:cxnSp>
          <p:nvCxnSpPr>
            <p:cNvPr id="66581" name="直接连接符 90"/>
            <p:cNvCxnSpPr>
              <a:cxnSpLocks noChangeShapeType="1"/>
            </p:cNvCxnSpPr>
            <p:nvPr/>
          </p:nvCxnSpPr>
          <p:spPr bwMode="auto">
            <a:xfrm rot="10800000" flipV="1">
              <a:off x="306389" y="1413040"/>
              <a:ext cx="2247916" cy="69858"/>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6582" name="Object 15"/>
            <p:cNvGraphicFramePr>
              <a:graphicFrameLocks noChangeAspect="1"/>
            </p:cNvGraphicFramePr>
            <p:nvPr>
              <p:extLst>
                <p:ext uri="{D42A27DB-BD31-4B8C-83A1-F6EECF244321}">
                  <p14:modId xmlns:p14="http://schemas.microsoft.com/office/powerpoint/2010/main" val="2286905888"/>
                </p:ext>
              </p:extLst>
            </p:nvPr>
          </p:nvGraphicFramePr>
          <p:xfrm>
            <a:off x="79651" y="2867230"/>
            <a:ext cx="200026" cy="257205"/>
          </p:xfrm>
          <a:graphic>
            <a:graphicData uri="http://schemas.openxmlformats.org/presentationml/2006/ole">
              <mc:AlternateContent xmlns:mc="http://schemas.openxmlformats.org/markup-compatibility/2006">
                <mc:Choice xmlns:v="urn:schemas-microsoft-com:vml" Requires="v">
                  <p:oleObj spid="_x0000_s195826" r:id="rId7" imgW="153198" imgH="178731" progId="">
                    <p:embed/>
                  </p:oleObj>
                </mc:Choice>
                <mc:Fallback>
                  <p:oleObj r:id="rId7" imgW="153198" imgH="178731" progId="">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651" y="2867230"/>
                          <a:ext cx="200026" cy="257205"/>
                        </a:xfrm>
                        <a:prstGeom prst="rect">
                          <a:avLst/>
                        </a:prstGeom>
                        <a:noFill/>
                        <a:ln>
                          <a:noFill/>
                        </a:ln>
                        <a:effectLst/>
                      </p:spPr>
                    </p:pic>
                  </p:oleObj>
                </mc:Fallback>
              </mc:AlternateContent>
            </a:graphicData>
          </a:graphic>
        </p:graphicFrame>
        <p:graphicFrame>
          <p:nvGraphicFramePr>
            <p:cNvPr id="66583" name="Object 16"/>
            <p:cNvGraphicFramePr>
              <a:graphicFrameLocks noChangeAspect="1"/>
            </p:cNvGraphicFramePr>
            <p:nvPr/>
          </p:nvGraphicFramePr>
          <p:xfrm>
            <a:off x="37277" y="242841"/>
            <a:ext cx="200596" cy="238550"/>
          </p:xfrm>
          <a:graphic>
            <a:graphicData uri="http://schemas.openxmlformats.org/presentationml/2006/ole">
              <mc:AlternateContent xmlns:mc="http://schemas.openxmlformats.org/markup-compatibility/2006">
                <mc:Choice xmlns:v="urn:schemas-microsoft-com:vml" Requires="v">
                  <p:oleObj spid="_x0000_s195827" r:id="rId9" imgW="153332" imgH="166109" progId="">
                    <p:embed/>
                  </p:oleObj>
                </mc:Choice>
                <mc:Fallback>
                  <p:oleObj r:id="rId9" imgW="153332" imgH="166109" progId="">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277" y="242841"/>
                          <a:ext cx="200596" cy="23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84" name="Object 17"/>
            <p:cNvGraphicFramePr>
              <a:graphicFrameLocks noChangeAspect="1"/>
            </p:cNvGraphicFramePr>
            <p:nvPr>
              <p:extLst>
                <p:ext uri="{D42A27DB-BD31-4B8C-83A1-F6EECF244321}">
                  <p14:modId xmlns:p14="http://schemas.microsoft.com/office/powerpoint/2010/main" val="2766844120"/>
                </p:ext>
              </p:extLst>
            </p:nvPr>
          </p:nvGraphicFramePr>
          <p:xfrm>
            <a:off x="3313367" y="2977100"/>
            <a:ext cx="200596" cy="294487"/>
          </p:xfrm>
          <a:graphic>
            <a:graphicData uri="http://schemas.openxmlformats.org/presentationml/2006/ole">
              <mc:AlternateContent xmlns:mc="http://schemas.openxmlformats.org/markup-compatibility/2006">
                <mc:Choice xmlns:v="urn:schemas-microsoft-com:vml" Requires="v">
                  <p:oleObj spid="_x0000_s195828" r:id="rId11" imgW="153332" imgH="204442" progId="">
                    <p:embed/>
                  </p:oleObj>
                </mc:Choice>
                <mc:Fallback>
                  <p:oleObj r:id="rId11" imgW="153332" imgH="204442" progId="">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13367" y="2977100"/>
                          <a:ext cx="200596" cy="294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85" name="Object 18"/>
            <p:cNvGraphicFramePr>
              <a:graphicFrameLocks noChangeAspect="1"/>
            </p:cNvGraphicFramePr>
            <p:nvPr/>
          </p:nvGraphicFramePr>
          <p:xfrm>
            <a:off x="0" y="1357320"/>
            <a:ext cx="251493" cy="332326"/>
          </p:xfrm>
          <a:graphic>
            <a:graphicData uri="http://schemas.openxmlformats.org/presentationml/2006/ole">
              <mc:AlternateContent xmlns:mc="http://schemas.openxmlformats.org/markup-compatibility/2006">
                <mc:Choice xmlns:v="urn:schemas-microsoft-com:vml" Requires="v">
                  <p:oleObj spid="_x0000_s195829" r:id="rId13" imgW="191414" imgH="229697" progId="">
                    <p:embed/>
                  </p:oleObj>
                </mc:Choice>
                <mc:Fallback>
                  <p:oleObj r:id="rId13" imgW="191414" imgH="229697" progId="">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1357320"/>
                          <a:ext cx="251493" cy="332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86" name="Object 19"/>
            <p:cNvGraphicFramePr>
              <a:graphicFrameLocks noChangeAspect="1"/>
            </p:cNvGraphicFramePr>
            <p:nvPr/>
          </p:nvGraphicFramePr>
          <p:xfrm>
            <a:off x="2822497" y="1285882"/>
            <a:ext cx="200596" cy="238550"/>
          </p:xfrm>
          <a:graphic>
            <a:graphicData uri="http://schemas.openxmlformats.org/presentationml/2006/ole">
              <mc:AlternateContent xmlns:mc="http://schemas.openxmlformats.org/markup-compatibility/2006">
                <mc:Choice xmlns:v="urn:schemas-microsoft-com:vml" Requires="v">
                  <p:oleObj spid="_x0000_s195830" r:id="rId15" imgW="153332" imgH="166109" progId="">
                    <p:embed/>
                  </p:oleObj>
                </mc:Choice>
                <mc:Fallback>
                  <p:oleObj r:id="rId15" imgW="153332" imgH="166109" progId="">
                    <p:embed/>
                    <p:pic>
                      <p:nvPicPr>
                        <p:cNvPr id="0"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22497" y="1285882"/>
                          <a:ext cx="200596" cy="23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87" name="Object 20"/>
            <p:cNvGraphicFramePr>
              <a:graphicFrameLocks noChangeAspect="1"/>
            </p:cNvGraphicFramePr>
            <p:nvPr/>
          </p:nvGraphicFramePr>
          <p:xfrm>
            <a:off x="3374725" y="1643072"/>
            <a:ext cx="268613" cy="331788"/>
          </p:xfrm>
          <a:graphic>
            <a:graphicData uri="http://schemas.openxmlformats.org/presentationml/2006/ole">
              <mc:AlternateContent xmlns:mc="http://schemas.openxmlformats.org/markup-compatibility/2006">
                <mc:Choice xmlns:v="urn:schemas-microsoft-com:vml" Requires="v">
                  <p:oleObj spid="_x0000_s195831" r:id="rId17" imgW="204086" imgH="229597" progId="">
                    <p:embed/>
                  </p:oleObj>
                </mc:Choice>
                <mc:Fallback>
                  <p:oleObj r:id="rId17" imgW="204086" imgH="229597" progId="">
                    <p:embed/>
                    <p:pic>
                      <p:nvPicPr>
                        <p:cNvPr id="0" name="Object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374725" y="1643072"/>
                          <a:ext cx="268613" cy="33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88" name="Object 21"/>
            <p:cNvGraphicFramePr>
              <a:graphicFrameLocks noChangeAspect="1"/>
            </p:cNvGraphicFramePr>
            <p:nvPr/>
          </p:nvGraphicFramePr>
          <p:xfrm>
            <a:off x="3313367" y="2143138"/>
            <a:ext cx="250887" cy="331788"/>
          </p:xfrm>
          <a:graphic>
            <a:graphicData uri="http://schemas.openxmlformats.org/presentationml/2006/ole">
              <mc:AlternateContent xmlns:mc="http://schemas.openxmlformats.org/markup-compatibility/2006">
                <mc:Choice xmlns:v="urn:schemas-microsoft-com:vml" Requires="v">
                  <p:oleObj spid="_x0000_s195832" r:id="rId19" imgW="191414" imgH="229697" progId="">
                    <p:embed/>
                  </p:oleObj>
                </mc:Choice>
                <mc:Fallback>
                  <p:oleObj r:id="rId19" imgW="191414" imgH="229697" progId="">
                    <p:embed/>
                    <p:pic>
                      <p:nvPicPr>
                        <p:cNvPr id="0" name="Object 2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313367" y="2143138"/>
                          <a:ext cx="250887" cy="33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1462" name="组合 98"/>
          <p:cNvGrpSpPr>
            <a:grpSpLocks/>
          </p:cNvGrpSpPr>
          <p:nvPr/>
        </p:nvGrpSpPr>
        <p:grpSpPr bwMode="auto">
          <a:xfrm>
            <a:off x="4036380" y="2492449"/>
            <a:ext cx="1743075" cy="1785938"/>
            <a:chOff x="0" y="0"/>
            <a:chExt cx="1742580" cy="1785952"/>
          </a:xfrm>
        </p:grpSpPr>
        <p:cxnSp>
          <p:nvCxnSpPr>
            <p:cNvPr id="66573" name="直接连接符 99"/>
            <p:cNvCxnSpPr>
              <a:cxnSpLocks noChangeShapeType="1"/>
            </p:cNvCxnSpPr>
            <p:nvPr/>
          </p:nvCxnSpPr>
          <p:spPr bwMode="auto">
            <a:xfrm rot="16200000" flipH="1">
              <a:off x="1147263" y="1214442"/>
              <a:ext cx="1143009" cy="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6574" name="Object 24"/>
            <p:cNvGraphicFramePr>
              <a:graphicFrameLocks noChangeAspect="1"/>
            </p:cNvGraphicFramePr>
            <p:nvPr/>
          </p:nvGraphicFramePr>
          <p:xfrm>
            <a:off x="1428760" y="0"/>
            <a:ext cx="252251" cy="331788"/>
          </p:xfrm>
          <a:graphic>
            <a:graphicData uri="http://schemas.openxmlformats.org/presentationml/2006/ole">
              <mc:AlternateContent xmlns:mc="http://schemas.openxmlformats.org/markup-compatibility/2006">
                <mc:Choice xmlns:v="urn:schemas-microsoft-com:vml" Requires="v">
                  <p:oleObj spid="_x0000_s195833" r:id="rId21" imgW="191414" imgH="229697" progId="">
                    <p:embed/>
                  </p:oleObj>
                </mc:Choice>
                <mc:Fallback>
                  <p:oleObj r:id="rId21" imgW="191414" imgH="229697" progId="">
                    <p:embed/>
                    <p:pic>
                      <p:nvPicPr>
                        <p:cNvPr id="0" name="Object 2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28760" y="0"/>
                          <a:ext cx="252251" cy="33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66575" name="直接连接符 101"/>
            <p:cNvCxnSpPr>
              <a:cxnSpLocks noChangeShapeType="1"/>
            </p:cNvCxnSpPr>
            <p:nvPr/>
          </p:nvCxnSpPr>
          <p:spPr bwMode="auto">
            <a:xfrm rot="10800000">
              <a:off x="331693" y="642943"/>
              <a:ext cx="1410887" cy="1587"/>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6576" name="Object 26"/>
            <p:cNvGraphicFramePr>
              <a:graphicFrameLocks noChangeAspect="1"/>
            </p:cNvGraphicFramePr>
            <p:nvPr/>
          </p:nvGraphicFramePr>
          <p:xfrm>
            <a:off x="0" y="500066"/>
            <a:ext cx="316336" cy="331788"/>
          </p:xfrm>
          <a:graphic>
            <a:graphicData uri="http://schemas.openxmlformats.org/presentationml/2006/ole">
              <mc:AlternateContent xmlns:mc="http://schemas.openxmlformats.org/markup-compatibility/2006">
                <mc:Choice xmlns:v="urn:schemas-microsoft-com:vml" Requires="v">
                  <p:oleObj spid="_x0000_s195834" r:id="rId23" imgW="242458" imgH="229697" progId="">
                    <p:embed/>
                  </p:oleObj>
                </mc:Choice>
                <mc:Fallback>
                  <p:oleObj r:id="rId23" imgW="242458" imgH="229697" progId="">
                    <p:embed/>
                    <p:pic>
                      <p:nvPicPr>
                        <p:cNvPr id="0" name="Object 2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0" y="500066"/>
                          <a:ext cx="316336" cy="33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1467" name="组合 103"/>
          <p:cNvGrpSpPr>
            <a:grpSpLocks/>
          </p:cNvGrpSpPr>
          <p:nvPr/>
        </p:nvGrpSpPr>
        <p:grpSpPr bwMode="auto">
          <a:xfrm>
            <a:off x="4036380" y="2636912"/>
            <a:ext cx="2465388" cy="1285875"/>
            <a:chOff x="0" y="0"/>
            <a:chExt cx="2465466" cy="1285877"/>
          </a:xfrm>
        </p:grpSpPr>
        <p:cxnSp>
          <p:nvCxnSpPr>
            <p:cNvPr id="66569" name="直接连接符 17"/>
            <p:cNvCxnSpPr>
              <a:cxnSpLocks noChangeShapeType="1"/>
            </p:cNvCxnSpPr>
            <p:nvPr/>
          </p:nvCxnSpPr>
          <p:spPr bwMode="auto">
            <a:xfrm>
              <a:off x="331798" y="182562"/>
              <a:ext cx="1668516" cy="0"/>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cxnSp>
          <p:nvCxnSpPr>
            <p:cNvPr id="66570" name="直接连接符 105"/>
            <p:cNvCxnSpPr>
              <a:cxnSpLocks noChangeShapeType="1"/>
            </p:cNvCxnSpPr>
            <p:nvPr/>
          </p:nvCxnSpPr>
          <p:spPr bwMode="auto">
            <a:xfrm rot="5400000">
              <a:off x="1470876" y="735802"/>
              <a:ext cx="1095377" cy="4762"/>
            </a:xfrm>
            <a:prstGeom prst="line">
              <a:avLst/>
            </a:prstGeom>
            <a:noFill/>
            <a:ln w="9525">
              <a:solidFill>
                <a:srgbClr val="7F7F7F"/>
              </a:solidFill>
              <a:prstDash val="lgDash"/>
              <a:round/>
              <a:headEnd/>
              <a:tailEnd/>
            </a:ln>
            <a:extLst>
              <a:ext uri="{909E8E84-426E-40DD-AFC4-6F175D3DCCD1}">
                <a14:hiddenFill xmlns:a14="http://schemas.microsoft.com/office/drawing/2010/main">
                  <a:noFill/>
                </a14:hiddenFill>
              </a:ext>
            </a:extLst>
          </p:spPr>
        </p:cxnSp>
        <p:graphicFrame>
          <p:nvGraphicFramePr>
            <p:cNvPr id="66571" name="Object 30"/>
            <p:cNvGraphicFramePr>
              <a:graphicFrameLocks noChangeAspect="1"/>
            </p:cNvGraphicFramePr>
            <p:nvPr/>
          </p:nvGraphicFramePr>
          <p:xfrm>
            <a:off x="0" y="0"/>
            <a:ext cx="286338" cy="331788"/>
          </p:xfrm>
          <a:graphic>
            <a:graphicData uri="http://schemas.openxmlformats.org/presentationml/2006/ole">
              <mc:AlternateContent xmlns:mc="http://schemas.openxmlformats.org/markup-compatibility/2006">
                <mc:Choice xmlns:v="urn:schemas-microsoft-com:vml" Requires="v">
                  <p:oleObj spid="_x0000_s195835" r:id="rId25" imgW="216747" imgH="229496" progId="">
                    <p:embed/>
                  </p:oleObj>
                </mc:Choice>
                <mc:Fallback>
                  <p:oleObj r:id="rId25" imgW="216747" imgH="229496" progId="">
                    <p:embed/>
                    <p:pic>
                      <p:nvPicPr>
                        <p:cNvPr id="0" name="Object 3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0" y="0"/>
                          <a:ext cx="286338" cy="33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72" name="Object 31"/>
            <p:cNvGraphicFramePr>
              <a:graphicFrameLocks noChangeAspect="1"/>
            </p:cNvGraphicFramePr>
            <p:nvPr/>
          </p:nvGraphicFramePr>
          <p:xfrm>
            <a:off x="2214579" y="71438"/>
            <a:ext cx="250887" cy="331787"/>
          </p:xfrm>
          <a:graphic>
            <a:graphicData uri="http://schemas.openxmlformats.org/presentationml/2006/ole">
              <mc:AlternateContent xmlns:mc="http://schemas.openxmlformats.org/markup-compatibility/2006">
                <mc:Choice xmlns:v="urn:schemas-microsoft-com:vml" Requires="v">
                  <p:oleObj spid="_x0000_s195836" r:id="rId27" imgW="191414" imgH="229697" progId="">
                    <p:embed/>
                  </p:oleObj>
                </mc:Choice>
                <mc:Fallback>
                  <p:oleObj r:id="rId27" imgW="191414" imgH="229697" progId="">
                    <p:embed/>
                    <p:pic>
                      <p:nvPicPr>
                        <p:cNvPr id="0" name="Object 3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214579" y="71438"/>
                          <a:ext cx="250887" cy="33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4" name="Rectangle 3"/>
          <p:cNvSpPr txBox="1">
            <a:spLocks noChangeArrowheads="1"/>
          </p:cNvSpPr>
          <p:nvPr/>
        </p:nvSpPr>
        <p:spPr bwMode="auto">
          <a:xfrm>
            <a:off x="1109224" y="5454443"/>
            <a:ext cx="5974161" cy="1134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eaLnBrk="1" hangingPunct="1">
              <a:buNone/>
            </a:pPr>
            <a:r>
              <a:rPr lang="zh-CN" altLang="en-US" sz="1800" spc="150" dirty="0">
                <a:solidFill>
                  <a:srgbClr val="000000"/>
                </a:solidFill>
                <a:latin typeface="微软雅黑" panose="020B0503020204020204" pitchFamily="34" charset="-122"/>
                <a:ea typeface="微软雅黑" panose="020B0503020204020204" pitchFamily="34" charset="-122"/>
              </a:rPr>
              <a:t>需求弹性越大，价格上涨越小</a:t>
            </a:r>
            <a:r>
              <a:rPr lang="en-US" altLang="zh-CN" sz="1800"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800"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消费者负担越少，生产者负担越多</a:t>
            </a:r>
            <a:endParaRPr lang="en-US" altLang="zh-CN" sz="1800" spc="150" dirty="0">
              <a:solidFill>
                <a:srgbClr val="000000"/>
              </a:solidFill>
              <a:latin typeface="微软雅黑" panose="020B0503020204020204" pitchFamily="34" charset="-122"/>
              <a:ea typeface="微软雅黑" panose="020B0503020204020204" pitchFamily="34" charset="-122"/>
            </a:endParaRPr>
          </a:p>
        </p:txBody>
      </p:sp>
      <p:sp>
        <p:nvSpPr>
          <p:cNvPr id="35" name="矩形 34">
            <a:extLst>
              <a:ext uri="{FF2B5EF4-FFF2-40B4-BE49-F238E27FC236}">
                <a16:creationId xmlns:a16="http://schemas.microsoft.com/office/drawing/2014/main" id="{F1FD638A-1777-46AD-992A-4F2AD99876AC}"/>
              </a:ext>
            </a:extLst>
          </p:cNvPr>
          <p:cNvSpPr/>
          <p:nvPr/>
        </p:nvSpPr>
        <p:spPr>
          <a:xfrm>
            <a:off x="467544" y="548680"/>
            <a:ext cx="291137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二、税收效应分析</a:t>
            </a:r>
          </a:p>
        </p:txBody>
      </p:sp>
      <p:sp>
        <p:nvSpPr>
          <p:cNvPr id="36" name="矩形 35">
            <a:extLst>
              <a:ext uri="{FF2B5EF4-FFF2-40B4-BE49-F238E27FC236}">
                <a16:creationId xmlns:a16="http://schemas.microsoft.com/office/drawing/2014/main" id="{6F596DCE-F867-4993-98AF-55841315C49D}"/>
              </a:ext>
            </a:extLst>
          </p:cNvPr>
          <p:cNvSpPr/>
          <p:nvPr/>
        </p:nvSpPr>
        <p:spPr>
          <a:xfrm>
            <a:off x="5738974" y="0"/>
            <a:ext cx="3381054"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第五节 供求分析的应用实例</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42">
                                            <p:txEl>
                                              <p:pRg st="0" end="0"/>
                                            </p:txEl>
                                          </p:spTgt>
                                        </p:tgtEl>
                                        <p:attrNameLst>
                                          <p:attrName>style.visibility</p:attrName>
                                        </p:attrNameLst>
                                      </p:cBhvr>
                                      <p:to>
                                        <p:strVal val="visible"/>
                                      </p:to>
                                    </p:set>
                                    <p:animEffect transition="in" filter="wipe(left)">
                                      <p:cBhvr>
                                        <p:cTn id="7" dur="500"/>
                                        <p:tgtEl>
                                          <p:spTgt spid="614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442">
                                            <p:txEl>
                                              <p:pRg st="1" end="1"/>
                                            </p:txEl>
                                          </p:spTgt>
                                        </p:tgtEl>
                                        <p:attrNameLst>
                                          <p:attrName>style.visibility</p:attrName>
                                        </p:attrNameLst>
                                      </p:cBhvr>
                                      <p:to>
                                        <p:strVal val="visible"/>
                                      </p:to>
                                    </p:set>
                                    <p:animEffect transition="in" filter="wipe(left)">
                                      <p:cBhvr>
                                        <p:cTn id="12" dur="500"/>
                                        <p:tgtEl>
                                          <p:spTgt spid="6144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442">
                                            <p:txEl>
                                              <p:pRg st="3" end="3"/>
                                            </p:txEl>
                                          </p:spTgt>
                                        </p:tgtEl>
                                        <p:attrNameLst>
                                          <p:attrName>style.visibility</p:attrName>
                                        </p:attrNameLst>
                                      </p:cBhvr>
                                      <p:to>
                                        <p:strVal val="visible"/>
                                      </p:to>
                                    </p:set>
                                    <p:animEffect transition="in" filter="wipe(left)">
                                      <p:cBhvr>
                                        <p:cTn id="17" dur="500"/>
                                        <p:tgtEl>
                                          <p:spTgt spid="6144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1442">
                                            <p:txEl>
                                              <p:pRg st="4" end="4"/>
                                            </p:txEl>
                                          </p:spTgt>
                                        </p:tgtEl>
                                        <p:attrNameLst>
                                          <p:attrName>style.visibility</p:attrName>
                                        </p:attrNameLst>
                                      </p:cBhvr>
                                      <p:to>
                                        <p:strVal val="visible"/>
                                      </p:to>
                                    </p:set>
                                    <p:animEffect transition="in" filter="wipe(left)">
                                      <p:cBhvr>
                                        <p:cTn id="22" dur="500"/>
                                        <p:tgtEl>
                                          <p:spTgt spid="6144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1442">
                                            <p:txEl>
                                              <p:pRg st="5" end="5"/>
                                            </p:txEl>
                                          </p:spTgt>
                                        </p:tgtEl>
                                        <p:attrNameLst>
                                          <p:attrName>style.visibility</p:attrName>
                                        </p:attrNameLst>
                                      </p:cBhvr>
                                      <p:to>
                                        <p:strVal val="visible"/>
                                      </p:to>
                                    </p:set>
                                    <p:animEffect transition="in" filter="wipe(left)">
                                      <p:cBhvr>
                                        <p:cTn id="27" dur="500"/>
                                        <p:tgtEl>
                                          <p:spTgt spid="6144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1442">
                                            <p:txEl>
                                              <p:pRg st="7" end="7"/>
                                            </p:txEl>
                                          </p:spTgt>
                                        </p:tgtEl>
                                        <p:attrNameLst>
                                          <p:attrName>style.visibility</p:attrName>
                                        </p:attrNameLst>
                                      </p:cBhvr>
                                      <p:to>
                                        <p:strVal val="visible"/>
                                      </p:to>
                                    </p:set>
                                    <p:animEffect transition="in" filter="wipe(left)">
                                      <p:cBhvr>
                                        <p:cTn id="32" dur="500"/>
                                        <p:tgtEl>
                                          <p:spTgt spid="61442">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1442">
                                            <p:txEl>
                                              <p:pRg st="8" end="8"/>
                                            </p:txEl>
                                          </p:spTgt>
                                        </p:tgtEl>
                                        <p:attrNameLst>
                                          <p:attrName>style.visibility</p:attrName>
                                        </p:attrNameLst>
                                      </p:cBhvr>
                                      <p:to>
                                        <p:strVal val="visible"/>
                                      </p:to>
                                    </p:set>
                                    <p:animEffect transition="in" filter="wipe(left)">
                                      <p:cBhvr>
                                        <p:cTn id="37" dur="500"/>
                                        <p:tgtEl>
                                          <p:spTgt spid="61442">
                                            <p:txEl>
                                              <p:pRg st="8" end="8"/>
                                            </p:txEl>
                                          </p:spTgt>
                                        </p:tgtEl>
                                      </p:cBhvr>
                                    </p:animEffect>
                                  </p:childTnLst>
                                </p:cTn>
                              </p:par>
                              <p:par>
                                <p:cTn id="38" presetID="14" presetClass="entr" presetSubtype="10" fill="hold" nodeType="withEffect">
                                  <p:stCondLst>
                                    <p:cond delay="0"/>
                                  </p:stCondLst>
                                  <p:childTnLst>
                                    <p:set>
                                      <p:cBhvr>
                                        <p:cTn id="39" dur="1" fill="hold">
                                          <p:stCondLst>
                                            <p:cond delay="0"/>
                                          </p:stCondLst>
                                        </p:cTn>
                                        <p:tgtEl>
                                          <p:spTgt spid="61449"/>
                                        </p:tgtEl>
                                        <p:attrNameLst>
                                          <p:attrName>style.visibility</p:attrName>
                                        </p:attrNameLst>
                                      </p:cBhvr>
                                      <p:to>
                                        <p:strVal val="visible"/>
                                      </p:to>
                                    </p:set>
                                    <p:animEffect transition="in" filter="randombar(horizontal)">
                                      <p:cBhvr>
                                        <p:cTn id="40" dur="500"/>
                                        <p:tgtEl>
                                          <p:spTgt spid="61449"/>
                                        </p:tgtEl>
                                      </p:cBhvr>
                                    </p:animEffect>
                                  </p:childTnLst>
                                </p:cTn>
                              </p:par>
                              <p:par>
                                <p:cTn id="41" presetID="14" presetClass="entr" presetSubtype="10" fill="hold" nodeType="withEffect">
                                  <p:stCondLst>
                                    <p:cond delay="0"/>
                                  </p:stCondLst>
                                  <p:childTnLst>
                                    <p:set>
                                      <p:cBhvr>
                                        <p:cTn id="42" dur="1" fill="hold">
                                          <p:stCondLst>
                                            <p:cond delay="0"/>
                                          </p:stCondLst>
                                        </p:cTn>
                                        <p:tgtEl>
                                          <p:spTgt spid="61446"/>
                                        </p:tgtEl>
                                        <p:attrNameLst>
                                          <p:attrName>style.visibility</p:attrName>
                                        </p:attrNameLst>
                                      </p:cBhvr>
                                      <p:to>
                                        <p:strVal val="visible"/>
                                      </p:to>
                                    </p:set>
                                    <p:animEffect transition="in" filter="randombar(horizontal)">
                                      <p:cBhvr>
                                        <p:cTn id="43" dur="500"/>
                                        <p:tgtEl>
                                          <p:spTgt spid="6144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4" presetClass="entr" presetSubtype="10" fill="hold" nodeType="clickEffect">
                                  <p:stCondLst>
                                    <p:cond delay="0"/>
                                  </p:stCondLst>
                                  <p:childTnLst>
                                    <p:set>
                                      <p:cBhvr>
                                        <p:cTn id="47" dur="1" fill="hold">
                                          <p:stCondLst>
                                            <p:cond delay="0"/>
                                          </p:stCondLst>
                                        </p:cTn>
                                        <p:tgtEl>
                                          <p:spTgt spid="61443"/>
                                        </p:tgtEl>
                                        <p:attrNameLst>
                                          <p:attrName>style.visibility</p:attrName>
                                        </p:attrNameLst>
                                      </p:cBhvr>
                                      <p:to>
                                        <p:strVal val="visible"/>
                                      </p:to>
                                    </p:set>
                                    <p:animEffect transition="in" filter="randombar(horizontal)">
                                      <p:cBhvr>
                                        <p:cTn id="48" dur="500"/>
                                        <p:tgtEl>
                                          <p:spTgt spid="6144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4" presetClass="entr" presetSubtype="10" fill="hold" nodeType="clickEffect">
                                  <p:stCondLst>
                                    <p:cond delay="0"/>
                                  </p:stCondLst>
                                  <p:childTnLst>
                                    <p:set>
                                      <p:cBhvr>
                                        <p:cTn id="52" dur="1" fill="hold">
                                          <p:stCondLst>
                                            <p:cond delay="0"/>
                                          </p:stCondLst>
                                        </p:cTn>
                                        <p:tgtEl>
                                          <p:spTgt spid="61467"/>
                                        </p:tgtEl>
                                        <p:attrNameLst>
                                          <p:attrName>style.visibility</p:attrName>
                                        </p:attrNameLst>
                                      </p:cBhvr>
                                      <p:to>
                                        <p:strVal val="visible"/>
                                      </p:to>
                                    </p:set>
                                    <p:animEffect transition="in" filter="randombar(horizontal)">
                                      <p:cBhvr>
                                        <p:cTn id="53" dur="500"/>
                                        <p:tgtEl>
                                          <p:spTgt spid="61467"/>
                                        </p:tgtEl>
                                      </p:cBhvr>
                                    </p:animEffect>
                                  </p:childTnLst>
                                </p:cTn>
                              </p:par>
                            </p:childTnLst>
                          </p:cTn>
                        </p:par>
                        <p:par>
                          <p:cTn id="54" fill="hold" nodeType="afterGroup">
                            <p:stCondLst>
                              <p:cond delay="500"/>
                            </p:stCondLst>
                            <p:childTnLst>
                              <p:par>
                                <p:cTn id="55" presetID="14" presetClass="entr" presetSubtype="10" fill="hold" nodeType="afterEffect">
                                  <p:stCondLst>
                                    <p:cond delay="0"/>
                                  </p:stCondLst>
                                  <p:childTnLst>
                                    <p:set>
                                      <p:cBhvr>
                                        <p:cTn id="56" dur="1" fill="hold">
                                          <p:stCondLst>
                                            <p:cond delay="0"/>
                                          </p:stCondLst>
                                        </p:cTn>
                                        <p:tgtEl>
                                          <p:spTgt spid="61462"/>
                                        </p:tgtEl>
                                        <p:attrNameLst>
                                          <p:attrName>style.visibility</p:attrName>
                                        </p:attrNameLst>
                                      </p:cBhvr>
                                      <p:to>
                                        <p:strVal val="visible"/>
                                      </p:to>
                                    </p:set>
                                    <p:animEffect transition="in" filter="randombar(horizontal)">
                                      <p:cBhvr>
                                        <p:cTn id="57" dur="500"/>
                                        <p:tgtEl>
                                          <p:spTgt spid="61462"/>
                                        </p:tgtEl>
                                      </p:cBhvr>
                                    </p:animEffect>
                                  </p:childTnLst>
                                </p:cTn>
                              </p:par>
                            </p:childTnLst>
                          </p:cTn>
                        </p:par>
                      </p:childTnLst>
                    </p:cTn>
                  </p:par>
                  <p:par>
                    <p:cTn id="58" fill="hold">
                      <p:stCondLst>
                        <p:cond delay="indefinite"/>
                      </p:stCondLst>
                      <p:childTnLst>
                        <p:par>
                          <p:cTn id="59" fill="hold">
                            <p:stCondLst>
                              <p:cond delay="0"/>
                            </p:stCondLst>
                            <p:childTnLst>
                              <p:par>
                                <p:cTn id="60" presetID="26" presetClass="entr" presetSubtype="0" fill="hold" grpId="0" nodeType="click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wipe(down)">
                                      <p:cBhvr>
                                        <p:cTn id="62" dur="580">
                                          <p:stCondLst>
                                            <p:cond delay="0"/>
                                          </p:stCondLst>
                                        </p:cTn>
                                        <p:tgtEl>
                                          <p:spTgt spid="34"/>
                                        </p:tgtEl>
                                      </p:cBhvr>
                                    </p:animEffect>
                                    <p:anim calcmode="lin" valueType="num">
                                      <p:cBhvr>
                                        <p:cTn id="63" dur="1822" tmFilter="0,0; 0.14,0.36; 0.43,0.73; 0.71,0.91; 1.0,1.0">
                                          <p:stCondLst>
                                            <p:cond delay="0"/>
                                          </p:stCondLst>
                                        </p:cTn>
                                        <p:tgtEl>
                                          <p:spTgt spid="34"/>
                                        </p:tgtEl>
                                        <p:attrNameLst>
                                          <p:attrName>ppt_x</p:attrName>
                                        </p:attrNameLst>
                                      </p:cBhvr>
                                      <p:tavLst>
                                        <p:tav tm="0">
                                          <p:val>
                                            <p:strVal val="#ppt_x-0.25"/>
                                          </p:val>
                                        </p:tav>
                                        <p:tav tm="100000">
                                          <p:val>
                                            <p:strVal val="#ppt_x"/>
                                          </p:val>
                                        </p:tav>
                                      </p:tavLst>
                                    </p:anim>
                                    <p:anim calcmode="lin" valueType="num">
                                      <p:cBhvr>
                                        <p:cTn id="64" dur="664" tmFilter="0.0,0.0; 0.25,0.07; 0.50,0.2; 0.75,0.467; 1.0,1.0">
                                          <p:stCondLst>
                                            <p:cond delay="0"/>
                                          </p:stCondLst>
                                        </p:cTn>
                                        <p:tgtEl>
                                          <p:spTgt spid="34"/>
                                        </p:tgtEl>
                                        <p:attrNameLst>
                                          <p:attrName>ppt_y</p:attrName>
                                        </p:attrNameLst>
                                      </p:cBhvr>
                                      <p:tavLst>
                                        <p:tav tm="0" fmla="#ppt_y-sin(pi*$)/3">
                                          <p:val>
                                            <p:fltVal val="0.5"/>
                                          </p:val>
                                        </p:tav>
                                        <p:tav tm="100000">
                                          <p:val>
                                            <p:fltVal val="1"/>
                                          </p:val>
                                        </p:tav>
                                      </p:tavLst>
                                    </p:anim>
                                    <p:anim calcmode="lin" valueType="num">
                                      <p:cBhvr>
                                        <p:cTn id="65" dur="664" tmFilter="0, 0; 0.125,0.2665; 0.25,0.4; 0.375,0.465; 0.5,0.5;  0.625,0.535; 0.75,0.6; 0.875,0.7335; 1,1">
                                          <p:stCondLst>
                                            <p:cond delay="664"/>
                                          </p:stCondLst>
                                        </p:cTn>
                                        <p:tgtEl>
                                          <p:spTgt spid="34"/>
                                        </p:tgtEl>
                                        <p:attrNameLst>
                                          <p:attrName>ppt_y</p:attrName>
                                        </p:attrNameLst>
                                      </p:cBhvr>
                                      <p:tavLst>
                                        <p:tav tm="0" fmla="#ppt_y-sin(pi*$)/9">
                                          <p:val>
                                            <p:fltVal val="0"/>
                                          </p:val>
                                        </p:tav>
                                        <p:tav tm="100000">
                                          <p:val>
                                            <p:fltVal val="1"/>
                                          </p:val>
                                        </p:tav>
                                      </p:tavLst>
                                    </p:anim>
                                    <p:anim calcmode="lin" valueType="num">
                                      <p:cBhvr>
                                        <p:cTn id="66" dur="332" tmFilter="0, 0; 0.125,0.2665; 0.25,0.4; 0.375,0.465; 0.5,0.5;  0.625,0.535; 0.75,0.6; 0.875,0.7335; 1,1">
                                          <p:stCondLst>
                                            <p:cond delay="1324"/>
                                          </p:stCondLst>
                                        </p:cTn>
                                        <p:tgtEl>
                                          <p:spTgt spid="34"/>
                                        </p:tgtEl>
                                        <p:attrNameLst>
                                          <p:attrName>ppt_y</p:attrName>
                                        </p:attrNameLst>
                                      </p:cBhvr>
                                      <p:tavLst>
                                        <p:tav tm="0" fmla="#ppt_y-sin(pi*$)/27">
                                          <p:val>
                                            <p:fltVal val="0"/>
                                          </p:val>
                                        </p:tav>
                                        <p:tav tm="100000">
                                          <p:val>
                                            <p:fltVal val="1"/>
                                          </p:val>
                                        </p:tav>
                                      </p:tavLst>
                                    </p:anim>
                                    <p:anim calcmode="lin" valueType="num">
                                      <p:cBhvr>
                                        <p:cTn id="67" dur="164" tmFilter="0, 0; 0.125,0.2665; 0.25,0.4; 0.375,0.465; 0.5,0.5;  0.625,0.535; 0.75,0.6; 0.875,0.7335; 1,1">
                                          <p:stCondLst>
                                            <p:cond delay="1656"/>
                                          </p:stCondLst>
                                        </p:cTn>
                                        <p:tgtEl>
                                          <p:spTgt spid="34"/>
                                        </p:tgtEl>
                                        <p:attrNameLst>
                                          <p:attrName>ppt_y</p:attrName>
                                        </p:attrNameLst>
                                      </p:cBhvr>
                                      <p:tavLst>
                                        <p:tav tm="0" fmla="#ppt_y-sin(pi*$)/81">
                                          <p:val>
                                            <p:fltVal val="0"/>
                                          </p:val>
                                        </p:tav>
                                        <p:tav tm="100000">
                                          <p:val>
                                            <p:fltVal val="1"/>
                                          </p:val>
                                        </p:tav>
                                      </p:tavLst>
                                    </p:anim>
                                    <p:animScale>
                                      <p:cBhvr>
                                        <p:cTn id="68" dur="26">
                                          <p:stCondLst>
                                            <p:cond delay="650"/>
                                          </p:stCondLst>
                                        </p:cTn>
                                        <p:tgtEl>
                                          <p:spTgt spid="34"/>
                                        </p:tgtEl>
                                      </p:cBhvr>
                                      <p:to x="100000" y="60000"/>
                                    </p:animScale>
                                    <p:animScale>
                                      <p:cBhvr>
                                        <p:cTn id="69" dur="166" decel="50000">
                                          <p:stCondLst>
                                            <p:cond delay="676"/>
                                          </p:stCondLst>
                                        </p:cTn>
                                        <p:tgtEl>
                                          <p:spTgt spid="34"/>
                                        </p:tgtEl>
                                      </p:cBhvr>
                                      <p:to x="100000" y="100000"/>
                                    </p:animScale>
                                    <p:animScale>
                                      <p:cBhvr>
                                        <p:cTn id="70" dur="26">
                                          <p:stCondLst>
                                            <p:cond delay="1312"/>
                                          </p:stCondLst>
                                        </p:cTn>
                                        <p:tgtEl>
                                          <p:spTgt spid="34"/>
                                        </p:tgtEl>
                                      </p:cBhvr>
                                      <p:to x="100000" y="80000"/>
                                    </p:animScale>
                                    <p:animScale>
                                      <p:cBhvr>
                                        <p:cTn id="71" dur="166" decel="50000">
                                          <p:stCondLst>
                                            <p:cond delay="1338"/>
                                          </p:stCondLst>
                                        </p:cTn>
                                        <p:tgtEl>
                                          <p:spTgt spid="34"/>
                                        </p:tgtEl>
                                      </p:cBhvr>
                                      <p:to x="100000" y="100000"/>
                                    </p:animScale>
                                    <p:animScale>
                                      <p:cBhvr>
                                        <p:cTn id="72" dur="26">
                                          <p:stCondLst>
                                            <p:cond delay="1642"/>
                                          </p:stCondLst>
                                        </p:cTn>
                                        <p:tgtEl>
                                          <p:spTgt spid="34"/>
                                        </p:tgtEl>
                                      </p:cBhvr>
                                      <p:to x="100000" y="90000"/>
                                    </p:animScale>
                                    <p:animScale>
                                      <p:cBhvr>
                                        <p:cTn id="73" dur="166" decel="50000">
                                          <p:stCondLst>
                                            <p:cond delay="1668"/>
                                          </p:stCondLst>
                                        </p:cTn>
                                        <p:tgtEl>
                                          <p:spTgt spid="34"/>
                                        </p:tgtEl>
                                      </p:cBhvr>
                                      <p:to x="100000" y="100000"/>
                                    </p:animScale>
                                    <p:animScale>
                                      <p:cBhvr>
                                        <p:cTn id="74" dur="26">
                                          <p:stCondLst>
                                            <p:cond delay="1808"/>
                                          </p:stCondLst>
                                        </p:cTn>
                                        <p:tgtEl>
                                          <p:spTgt spid="34"/>
                                        </p:tgtEl>
                                      </p:cBhvr>
                                      <p:to x="100000" y="95000"/>
                                    </p:animScale>
                                    <p:animScale>
                                      <p:cBhvr>
                                        <p:cTn id="75" dur="166" decel="50000">
                                          <p:stCondLst>
                                            <p:cond delay="1834"/>
                                          </p:stCondLst>
                                        </p:cTn>
                                        <p:tgtEl>
                                          <p:spTgt spid="34"/>
                                        </p:tgtEl>
                                      </p:cBhvr>
                                      <p:to x="100000" y="100000"/>
                                    </p:animScale>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34">
                                            <p:txEl>
                                              <p:pRg st="0" end="0"/>
                                            </p:txEl>
                                          </p:spTgt>
                                        </p:tgtEl>
                                        <p:attrNameLst>
                                          <p:attrName>style.visibility</p:attrName>
                                        </p:attrNameLst>
                                      </p:cBhvr>
                                      <p:to>
                                        <p:strVal val="visible"/>
                                      </p:to>
                                    </p:set>
                                    <p:animEffect transition="in" filter="wipe(left)">
                                      <p:cBhvr>
                                        <p:cTn id="80" dur="500"/>
                                        <p:tgtEl>
                                          <p:spTgt spid="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uiExpand="1" build="p" autoUpdateAnimBg="0"/>
      <p:bldP spid="34" grpId="0"/>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1378" name="Rectangle 3"/>
          <p:cNvSpPr>
            <a:spLocks noGrp="1" noChangeArrowheads="1"/>
          </p:cNvSpPr>
          <p:nvPr>
            <p:ph type="body" idx="4294967295"/>
          </p:nvPr>
        </p:nvSpPr>
        <p:spPr/>
        <p:txBody>
          <a:bodyPr/>
          <a:lstStyle/>
          <a:p>
            <a:pPr>
              <a:spcBef>
                <a:spcPct val="55000"/>
              </a:spcBef>
            </a:pPr>
            <a:r>
              <a:rPr lang="zh-CN" altLang="en-US" dirty="0">
                <a:ea typeface="宋体" panose="02010600030101010101" pitchFamily="2" charset="-122"/>
              </a:rPr>
              <a:t>政府对许多物品与劳务征税是为了给国防，公立学校等这类公共项目筹资</a:t>
            </a:r>
            <a:endParaRPr lang="en-US" altLang="zh-CN" dirty="0">
              <a:ea typeface="宋体" panose="02010600030101010101" pitchFamily="2" charset="-122"/>
            </a:endParaRPr>
          </a:p>
          <a:p>
            <a:pPr>
              <a:spcBef>
                <a:spcPct val="55000"/>
              </a:spcBef>
            </a:pPr>
            <a:r>
              <a:rPr lang="zh-CN" altLang="en-US" dirty="0">
                <a:ea typeface="宋体" panose="02010600030101010101" pitchFamily="2" charset="-122"/>
              </a:rPr>
              <a:t>政府能向买者或卖者征税</a:t>
            </a:r>
            <a:endParaRPr lang="en-US" altLang="zh-CN" dirty="0">
              <a:ea typeface="宋体" panose="02010600030101010101" pitchFamily="2" charset="-122"/>
            </a:endParaRPr>
          </a:p>
          <a:p>
            <a:pPr>
              <a:spcBef>
                <a:spcPct val="55000"/>
              </a:spcBef>
            </a:pPr>
            <a:r>
              <a:rPr lang="zh-CN" altLang="en-US" dirty="0">
                <a:ea typeface="宋体" panose="02010600030101010101" pitchFamily="2" charset="-122"/>
              </a:rPr>
              <a:t>税收可以是物品价格的一个比例或者每售出一单位物品需支付一定数量的货币</a:t>
            </a:r>
            <a:endParaRPr lang="en-US" altLang="zh-CN" dirty="0">
              <a:ea typeface="宋体" panose="02010600030101010101" pitchFamily="2" charset="-122"/>
            </a:endParaRPr>
          </a:p>
          <a:p>
            <a:pPr lvl="1"/>
            <a:r>
              <a:rPr lang="zh-CN" altLang="en-US" dirty="0">
                <a:latin typeface="Arial" panose="020B0604020202020204" pitchFamily="34" charset="0"/>
                <a:ea typeface="宋体" panose="02010600030101010101" pitchFamily="2" charset="-122"/>
              </a:rPr>
              <a:t>简化起见，我们仅分析后者</a:t>
            </a:r>
            <a:endParaRPr lang="en-US" altLang="zh-CN" dirty="0">
              <a:latin typeface="Arial" panose="020B0604020202020204" pitchFamily="34" charset="0"/>
              <a:ea typeface="宋体" panose="02010600030101010101" pitchFamily="2" charset="-122"/>
            </a:endParaRPr>
          </a:p>
        </p:txBody>
      </p:sp>
      <p:sp>
        <p:nvSpPr>
          <p:cNvPr id="152579" name="Title 1"/>
          <p:cNvSpPr txBox="1">
            <a:spLocks/>
          </p:cNvSpPr>
          <p:nvPr/>
        </p:nvSpPr>
        <p:spPr bwMode="auto">
          <a:xfrm>
            <a:off x="899592" y="404664"/>
            <a:ext cx="71628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spcBef>
                <a:spcPct val="0"/>
              </a:spcBef>
              <a:buClrTx/>
              <a:buFontTx/>
              <a:buNone/>
            </a:pPr>
            <a:r>
              <a:rPr lang="zh-CN" altLang="en-US" sz="3200" dirty="0">
                <a:latin typeface="Arial" panose="020B0604020202020204" pitchFamily="34" charset="0"/>
              </a:rPr>
              <a:t>税收</a:t>
            </a:r>
          </a:p>
        </p:txBody>
      </p:sp>
    </p:spTree>
    <p:extLst>
      <p:ext uri="{BB962C8B-B14F-4D97-AF65-F5344CB8AC3E}">
        <p14:creationId xmlns:p14="http://schemas.microsoft.com/office/powerpoint/2010/main" val="301957219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1378">
                                            <p:txEl>
                                              <p:pRg st="0" end="0"/>
                                            </p:txEl>
                                          </p:spTgt>
                                        </p:tgtEl>
                                        <p:attrNameLst>
                                          <p:attrName>style.visibility</p:attrName>
                                        </p:attrNameLst>
                                      </p:cBhvr>
                                      <p:to>
                                        <p:strVal val="visible"/>
                                      </p:to>
                                    </p:set>
                                    <p:animEffect transition="in" filter="blinds(horizontal)">
                                      <p:cBhvr>
                                        <p:cTn id="7" dur="500"/>
                                        <p:tgtEl>
                                          <p:spTgt spid="10137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1378">
                                            <p:txEl>
                                              <p:pRg st="1" end="1"/>
                                            </p:txEl>
                                          </p:spTgt>
                                        </p:tgtEl>
                                        <p:attrNameLst>
                                          <p:attrName>style.visibility</p:attrName>
                                        </p:attrNameLst>
                                      </p:cBhvr>
                                      <p:to>
                                        <p:strVal val="visible"/>
                                      </p:to>
                                    </p:set>
                                    <p:animEffect transition="in" filter="blinds(horizontal)">
                                      <p:cBhvr>
                                        <p:cTn id="12" dur="500"/>
                                        <p:tgtEl>
                                          <p:spTgt spid="10137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1378">
                                            <p:txEl>
                                              <p:pRg st="2" end="2"/>
                                            </p:txEl>
                                          </p:spTgt>
                                        </p:tgtEl>
                                        <p:attrNameLst>
                                          <p:attrName>style.visibility</p:attrName>
                                        </p:attrNameLst>
                                      </p:cBhvr>
                                      <p:to>
                                        <p:strVal val="visible"/>
                                      </p:to>
                                    </p:set>
                                    <p:animEffect transition="in" filter="blinds(horizontal)">
                                      <p:cBhvr>
                                        <p:cTn id="17" dur="500"/>
                                        <p:tgtEl>
                                          <p:spTgt spid="10137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1378">
                                            <p:txEl>
                                              <p:pRg st="3" end="3"/>
                                            </p:txEl>
                                          </p:spTgt>
                                        </p:tgtEl>
                                        <p:attrNameLst>
                                          <p:attrName>style.visibility</p:attrName>
                                        </p:attrNameLst>
                                      </p:cBhvr>
                                      <p:to>
                                        <p:strVal val="visible"/>
                                      </p:to>
                                    </p:set>
                                    <p:animEffect transition="in" filter="blinds(horizontal)">
                                      <p:cBhvr>
                                        <p:cTn id="22" dur="500"/>
                                        <p:tgtEl>
                                          <p:spTgt spid="10137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build="p"/>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54626" name="Group 2"/>
          <p:cNvGrpSpPr>
            <a:grpSpLocks/>
          </p:cNvGrpSpPr>
          <p:nvPr/>
        </p:nvGrpSpPr>
        <p:grpSpPr bwMode="auto">
          <a:xfrm>
            <a:off x="5072063" y="2278063"/>
            <a:ext cx="3176587" cy="2274887"/>
            <a:chOff x="0" y="0"/>
            <a:chExt cx="2001" cy="1433"/>
          </a:xfrm>
        </p:grpSpPr>
        <p:sp>
          <p:nvSpPr>
            <p:cNvPr id="154645" name="Line 3"/>
            <p:cNvSpPr>
              <a:spLocks noChangeShapeType="1"/>
            </p:cNvSpPr>
            <p:nvPr/>
          </p:nvSpPr>
          <p:spPr bwMode="auto">
            <a:xfrm flipV="1">
              <a:off x="0" y="210"/>
              <a:ext cx="1696" cy="1223"/>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646" name="Text Box 4"/>
            <p:cNvSpPr txBox="1">
              <a:spLocks noChangeArrowheads="1"/>
            </p:cNvSpPr>
            <p:nvPr/>
          </p:nvSpPr>
          <p:spPr bwMode="auto">
            <a:xfrm>
              <a:off x="1615" y="0"/>
              <a:ext cx="3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S</a:t>
              </a:r>
              <a:r>
                <a:rPr lang="en-US" altLang="zh-CN" sz="2400" baseline="-25000">
                  <a:latin typeface="Arial" panose="020B0604020202020204" pitchFamily="34" charset="0"/>
                </a:rPr>
                <a:t>1</a:t>
              </a:r>
            </a:p>
          </p:txBody>
        </p:sp>
      </p:grpSp>
      <p:sp>
        <p:nvSpPr>
          <p:cNvPr id="39942" name="Rectangle 6"/>
          <p:cNvSpPr>
            <a:spLocks noGrp="1" noChangeArrowheads="1"/>
          </p:cNvSpPr>
          <p:nvPr>
            <p:ph type="body" idx="4294967295"/>
          </p:nvPr>
        </p:nvSpPr>
        <p:spPr>
          <a:xfrm>
            <a:off x="1219200" y="2743200"/>
            <a:ext cx="2057400" cy="1047750"/>
          </a:xfrm>
          <a:solidFill>
            <a:srgbClr val="FFCCCC"/>
          </a:solidFill>
          <a:effectLst>
            <a:outerShdw dist="71842" dir="2700000" algn="ctr" rotWithShape="0">
              <a:schemeClr val="bg2"/>
            </a:outerShdw>
          </a:effectLst>
        </p:spPr>
        <p:txBody>
          <a:bodyPr/>
          <a:lstStyle/>
          <a:p>
            <a:pPr marL="0" indent="0">
              <a:buFont typeface="Wingdings" panose="05000000000000000000" pitchFamily="2" charset="2"/>
              <a:buNone/>
            </a:pPr>
            <a:r>
              <a:rPr lang="zh-CN" altLang="en-US">
                <a:ea typeface="宋体" panose="02010600030101010101" pitchFamily="2" charset="-122"/>
              </a:rPr>
              <a:t>没有税收时的均衡</a:t>
            </a:r>
            <a:endParaRPr lang="en-US" altLang="zh-CN">
              <a:ea typeface="宋体" panose="02010600030101010101" pitchFamily="2" charset="-122"/>
            </a:endParaRPr>
          </a:p>
        </p:txBody>
      </p:sp>
      <p:grpSp>
        <p:nvGrpSpPr>
          <p:cNvPr id="154628" name="Group 7"/>
          <p:cNvGrpSpPr>
            <a:grpSpLocks/>
          </p:cNvGrpSpPr>
          <p:nvPr/>
        </p:nvGrpSpPr>
        <p:grpSpPr bwMode="auto">
          <a:xfrm>
            <a:off x="4360863" y="1757363"/>
            <a:ext cx="4422775" cy="3871912"/>
            <a:chOff x="0" y="0"/>
            <a:chExt cx="2786" cy="2439"/>
          </a:xfrm>
        </p:grpSpPr>
        <p:grpSp>
          <p:nvGrpSpPr>
            <p:cNvPr id="154640" name="Group 8"/>
            <p:cNvGrpSpPr>
              <a:grpSpLocks/>
            </p:cNvGrpSpPr>
            <p:nvPr/>
          </p:nvGrpSpPr>
          <p:grpSpPr bwMode="auto">
            <a:xfrm>
              <a:off x="118" y="252"/>
              <a:ext cx="2409" cy="2049"/>
              <a:chOff x="0" y="0"/>
              <a:chExt cx="2116" cy="2027"/>
            </a:xfrm>
          </p:grpSpPr>
          <p:sp>
            <p:nvSpPr>
              <p:cNvPr id="154643" name="Line 9"/>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644" name="Line 10"/>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4641" name="Text Box 11"/>
            <p:cNvSpPr txBox="1">
              <a:spLocks noChangeArrowheads="1"/>
            </p:cNvSpPr>
            <p:nvPr/>
          </p:nvSpPr>
          <p:spPr bwMode="auto">
            <a:xfrm>
              <a:off x="0" y="0"/>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p>
          </p:txBody>
        </p:sp>
        <p:sp>
          <p:nvSpPr>
            <p:cNvPr id="154642" name="Text Box 12"/>
            <p:cNvSpPr txBox="1">
              <a:spLocks noChangeArrowheads="1"/>
            </p:cNvSpPr>
            <p:nvPr/>
          </p:nvSpPr>
          <p:spPr bwMode="auto">
            <a:xfrm>
              <a:off x="2496" y="2151"/>
              <a:ext cx="2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Q</a:t>
              </a:r>
            </a:p>
          </p:txBody>
        </p:sp>
      </p:grpSp>
      <p:grpSp>
        <p:nvGrpSpPr>
          <p:cNvPr id="154629" name="Group 13"/>
          <p:cNvGrpSpPr>
            <a:grpSpLocks/>
          </p:cNvGrpSpPr>
          <p:nvPr/>
        </p:nvGrpSpPr>
        <p:grpSpPr bwMode="auto">
          <a:xfrm>
            <a:off x="5686425" y="2116138"/>
            <a:ext cx="2730500" cy="2649537"/>
            <a:chOff x="0" y="0"/>
            <a:chExt cx="1720" cy="1669"/>
          </a:xfrm>
        </p:grpSpPr>
        <p:sp>
          <p:nvSpPr>
            <p:cNvPr id="154638" name="Line 14"/>
            <p:cNvSpPr>
              <a:spLocks noChangeShapeType="1"/>
            </p:cNvSpPr>
            <p:nvPr/>
          </p:nvSpPr>
          <p:spPr bwMode="auto">
            <a:xfrm>
              <a:off x="0" y="0"/>
              <a:ext cx="1417" cy="1470"/>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639" name="Text Box 15"/>
            <p:cNvSpPr txBox="1">
              <a:spLocks noChangeArrowheads="1"/>
            </p:cNvSpPr>
            <p:nvPr/>
          </p:nvSpPr>
          <p:spPr bwMode="auto">
            <a:xfrm>
              <a:off x="1334" y="1381"/>
              <a:ext cx="3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D</a:t>
              </a:r>
              <a:r>
                <a:rPr lang="en-US" altLang="zh-CN" sz="2400" baseline="-25000">
                  <a:latin typeface="Arial" panose="020B0604020202020204" pitchFamily="34" charset="0"/>
                </a:rPr>
                <a:t>1</a:t>
              </a:r>
            </a:p>
          </p:txBody>
        </p:sp>
      </p:grpSp>
      <p:grpSp>
        <p:nvGrpSpPr>
          <p:cNvPr id="6" name="Group 16"/>
          <p:cNvGrpSpPr>
            <a:grpSpLocks/>
          </p:cNvGrpSpPr>
          <p:nvPr/>
        </p:nvGrpSpPr>
        <p:grpSpPr bwMode="auto">
          <a:xfrm>
            <a:off x="3382963" y="3105150"/>
            <a:ext cx="3773487" cy="2720975"/>
            <a:chOff x="0" y="0"/>
            <a:chExt cx="2377" cy="1714"/>
          </a:xfrm>
        </p:grpSpPr>
        <p:grpSp>
          <p:nvGrpSpPr>
            <p:cNvPr id="154632" name="Group 17"/>
            <p:cNvGrpSpPr>
              <a:grpSpLocks/>
            </p:cNvGrpSpPr>
            <p:nvPr/>
          </p:nvGrpSpPr>
          <p:grpSpPr bwMode="auto">
            <a:xfrm>
              <a:off x="740" y="119"/>
              <a:ext cx="1425" cy="1333"/>
              <a:chOff x="0" y="0"/>
              <a:chExt cx="795" cy="646"/>
            </a:xfrm>
          </p:grpSpPr>
          <p:sp>
            <p:nvSpPr>
              <p:cNvPr id="154636" name="Line 18"/>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637" name="Line 19"/>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4633" name="Oval 20"/>
            <p:cNvSpPr>
              <a:spLocks noChangeArrowheads="1"/>
            </p:cNvSpPr>
            <p:nvPr/>
          </p:nvSpPr>
          <p:spPr bwMode="auto">
            <a:xfrm>
              <a:off x="2118" y="72"/>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54634" name="Text Box 21"/>
            <p:cNvSpPr txBox="1">
              <a:spLocks noChangeArrowheads="1"/>
            </p:cNvSpPr>
            <p:nvPr/>
          </p:nvSpPr>
          <p:spPr bwMode="auto">
            <a:xfrm>
              <a:off x="0" y="0"/>
              <a:ext cx="7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$10.00</a:t>
              </a:r>
            </a:p>
          </p:txBody>
        </p:sp>
        <p:sp>
          <p:nvSpPr>
            <p:cNvPr id="154635" name="Text Box 22"/>
            <p:cNvSpPr txBox="1">
              <a:spLocks noChangeArrowheads="1"/>
            </p:cNvSpPr>
            <p:nvPr/>
          </p:nvSpPr>
          <p:spPr bwMode="auto">
            <a:xfrm>
              <a:off x="2006" y="1484"/>
              <a:ext cx="3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500</a:t>
              </a:r>
            </a:p>
          </p:txBody>
        </p:sp>
      </p:grpSp>
      <p:sp>
        <p:nvSpPr>
          <p:cNvPr id="154631" name="Title 1"/>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税收</a:t>
            </a:r>
          </a:p>
        </p:txBody>
      </p:sp>
    </p:spTree>
    <p:extLst>
      <p:ext uri="{BB962C8B-B14F-4D97-AF65-F5344CB8AC3E}">
        <p14:creationId xmlns:p14="http://schemas.microsoft.com/office/powerpoint/2010/main" val="5424965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942"/>
                                        </p:tgtEl>
                                        <p:attrNameLst>
                                          <p:attrName>style.visibility</p:attrName>
                                        </p:attrNameLst>
                                      </p:cBhvr>
                                      <p:to>
                                        <p:strVal val="visible"/>
                                      </p:to>
                                    </p:set>
                                    <p:animEffect transition="in" filter="dissolve">
                                      <p:cBhvr>
                                        <p:cTn id="7" dur="500"/>
                                        <p:tgtEl>
                                          <p:spTgt spid="39942"/>
                                        </p:tgtEl>
                                      </p:cBhvr>
                                    </p:animEffect>
                                  </p:childTnLst>
                                </p:cTn>
                              </p:par>
                              <p:par>
                                <p:cTn id="8" presetID="18" presetClass="entr" presetSubtype="6"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strips(downRight)">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2" grpId="0" bldLvl="0" animBg="1"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55650" name="Group 2"/>
          <p:cNvGrpSpPr>
            <a:grpSpLocks/>
          </p:cNvGrpSpPr>
          <p:nvPr/>
        </p:nvGrpSpPr>
        <p:grpSpPr bwMode="auto">
          <a:xfrm>
            <a:off x="5072063" y="2278063"/>
            <a:ext cx="3176587" cy="2274887"/>
            <a:chOff x="0" y="0"/>
            <a:chExt cx="2001" cy="1433"/>
          </a:xfrm>
        </p:grpSpPr>
        <p:sp>
          <p:nvSpPr>
            <p:cNvPr id="155684" name="Line 3"/>
            <p:cNvSpPr>
              <a:spLocks noChangeShapeType="1"/>
            </p:cNvSpPr>
            <p:nvPr/>
          </p:nvSpPr>
          <p:spPr bwMode="auto">
            <a:xfrm flipV="1">
              <a:off x="0" y="210"/>
              <a:ext cx="1696" cy="1223"/>
            </a:xfrm>
            <a:prstGeom prst="line">
              <a:avLst/>
            </a:prstGeom>
            <a:noFill/>
            <a:ln w="38100">
              <a:solidFill>
                <a:srgbClr val="B2B2B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685" name="Text Box 4"/>
            <p:cNvSpPr txBox="1">
              <a:spLocks noChangeArrowheads="1"/>
            </p:cNvSpPr>
            <p:nvPr/>
          </p:nvSpPr>
          <p:spPr bwMode="auto">
            <a:xfrm>
              <a:off x="1615" y="0"/>
              <a:ext cx="3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solidFill>
                    <a:srgbClr val="B2B2B2"/>
                  </a:solidFill>
                  <a:latin typeface="Arial" panose="020B0604020202020204" pitchFamily="34" charset="0"/>
                </a:rPr>
                <a:t>S</a:t>
              </a:r>
              <a:r>
                <a:rPr lang="en-US" altLang="zh-CN" sz="2400" baseline="-25000">
                  <a:solidFill>
                    <a:srgbClr val="B2B2B2"/>
                  </a:solidFill>
                  <a:latin typeface="Arial" panose="020B0604020202020204" pitchFamily="34" charset="0"/>
                </a:rPr>
                <a:t>1</a:t>
              </a:r>
            </a:p>
          </p:txBody>
        </p:sp>
      </p:grpSp>
      <p:grpSp>
        <p:nvGrpSpPr>
          <p:cNvPr id="155651" name="Group 5"/>
          <p:cNvGrpSpPr>
            <a:grpSpLocks/>
          </p:cNvGrpSpPr>
          <p:nvPr/>
        </p:nvGrpSpPr>
        <p:grpSpPr bwMode="auto">
          <a:xfrm>
            <a:off x="5686425" y="2116138"/>
            <a:ext cx="2730500" cy="2649537"/>
            <a:chOff x="0" y="0"/>
            <a:chExt cx="1720" cy="1669"/>
          </a:xfrm>
        </p:grpSpPr>
        <p:sp>
          <p:nvSpPr>
            <p:cNvPr id="155682" name="Line 14"/>
            <p:cNvSpPr>
              <a:spLocks noChangeShapeType="1"/>
            </p:cNvSpPr>
            <p:nvPr/>
          </p:nvSpPr>
          <p:spPr bwMode="auto">
            <a:xfrm>
              <a:off x="0" y="0"/>
              <a:ext cx="1417" cy="1470"/>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683" name="Text Box 15"/>
            <p:cNvSpPr txBox="1">
              <a:spLocks noChangeArrowheads="1"/>
            </p:cNvSpPr>
            <p:nvPr/>
          </p:nvSpPr>
          <p:spPr bwMode="auto">
            <a:xfrm>
              <a:off x="1334" y="1381"/>
              <a:ext cx="3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D</a:t>
              </a:r>
              <a:r>
                <a:rPr lang="en-US" altLang="zh-CN" sz="2400" baseline="-25000">
                  <a:latin typeface="Arial" panose="020B0604020202020204" pitchFamily="34" charset="0"/>
                </a:rPr>
                <a:t>1</a:t>
              </a:r>
            </a:p>
          </p:txBody>
        </p:sp>
      </p:grpSp>
      <p:grpSp>
        <p:nvGrpSpPr>
          <p:cNvPr id="155652" name="Group 8"/>
          <p:cNvGrpSpPr>
            <a:grpSpLocks/>
          </p:cNvGrpSpPr>
          <p:nvPr/>
        </p:nvGrpSpPr>
        <p:grpSpPr bwMode="auto">
          <a:xfrm>
            <a:off x="3382963" y="3105150"/>
            <a:ext cx="3773487" cy="2720975"/>
            <a:chOff x="0" y="0"/>
            <a:chExt cx="2377" cy="1714"/>
          </a:xfrm>
        </p:grpSpPr>
        <p:grpSp>
          <p:nvGrpSpPr>
            <p:cNvPr id="155676" name="Group 9"/>
            <p:cNvGrpSpPr>
              <a:grpSpLocks/>
            </p:cNvGrpSpPr>
            <p:nvPr/>
          </p:nvGrpSpPr>
          <p:grpSpPr bwMode="auto">
            <a:xfrm>
              <a:off x="740" y="119"/>
              <a:ext cx="1425" cy="1333"/>
              <a:chOff x="0" y="0"/>
              <a:chExt cx="795" cy="646"/>
            </a:xfrm>
          </p:grpSpPr>
          <p:sp>
            <p:nvSpPr>
              <p:cNvPr id="155680" name="Line 18"/>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681" name="Line 19"/>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5677" name="Oval 20"/>
            <p:cNvSpPr>
              <a:spLocks noChangeArrowheads="1"/>
            </p:cNvSpPr>
            <p:nvPr/>
          </p:nvSpPr>
          <p:spPr bwMode="auto">
            <a:xfrm>
              <a:off x="2118" y="72"/>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55678" name="Text Box 21"/>
            <p:cNvSpPr txBox="1">
              <a:spLocks noChangeArrowheads="1"/>
            </p:cNvSpPr>
            <p:nvPr/>
          </p:nvSpPr>
          <p:spPr bwMode="auto">
            <a:xfrm>
              <a:off x="0" y="0"/>
              <a:ext cx="7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$10.00</a:t>
              </a:r>
            </a:p>
          </p:txBody>
        </p:sp>
        <p:sp>
          <p:nvSpPr>
            <p:cNvPr id="155679" name="Text Box 22"/>
            <p:cNvSpPr txBox="1">
              <a:spLocks noChangeArrowheads="1"/>
            </p:cNvSpPr>
            <p:nvPr/>
          </p:nvSpPr>
          <p:spPr bwMode="auto">
            <a:xfrm>
              <a:off x="2006" y="1484"/>
              <a:ext cx="3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500</a:t>
              </a:r>
            </a:p>
          </p:txBody>
        </p:sp>
      </p:grpSp>
      <p:sp>
        <p:nvSpPr>
          <p:cNvPr id="40976" name="Rectangle 6"/>
          <p:cNvSpPr>
            <a:spLocks noGrp="1" noChangeArrowheads="1"/>
          </p:cNvSpPr>
          <p:nvPr>
            <p:ph type="body" idx="4294967295"/>
          </p:nvPr>
        </p:nvSpPr>
        <p:spPr>
          <a:xfrm>
            <a:off x="914400" y="2590800"/>
            <a:ext cx="2514600" cy="3576638"/>
          </a:xfrm>
          <a:noFill/>
        </p:spPr>
        <p:txBody>
          <a:bodyPr/>
          <a:lstStyle/>
          <a:p>
            <a:pPr marL="0" indent="0">
              <a:spcBef>
                <a:spcPct val="30000"/>
              </a:spcBef>
              <a:buFont typeface="Wingdings" panose="05000000000000000000" pitchFamily="2" charset="2"/>
              <a:buNone/>
            </a:pPr>
            <a:r>
              <a:rPr lang="zh-CN" altLang="en-US" sz="2000">
                <a:ea typeface="宋体" panose="02010600030101010101" pitchFamily="2" charset="-122"/>
              </a:rPr>
              <a:t>现在买家支付的价格比市场价格要高</a:t>
            </a:r>
            <a:r>
              <a:rPr lang="zh-CN" altLang="ja-JP" sz="2000">
                <a:ea typeface="宋体" panose="02010600030101010101" pitchFamily="2" charset="-122"/>
              </a:rPr>
              <a:t>$1.50</a:t>
            </a:r>
          </a:p>
          <a:p>
            <a:pPr marL="0" indent="0">
              <a:spcBef>
                <a:spcPct val="30000"/>
              </a:spcBef>
              <a:buFont typeface="Wingdings" panose="05000000000000000000" pitchFamily="2" charset="2"/>
              <a:buNone/>
            </a:pPr>
            <a:r>
              <a:rPr lang="zh-CN" altLang="en-US" sz="2000">
                <a:ea typeface="宋体" panose="02010600030101010101" pitchFamily="2" charset="-122"/>
              </a:rPr>
              <a:t>为使买家购买相同多的数量，价格需下降</a:t>
            </a:r>
            <a:r>
              <a:rPr lang="zh-CN" altLang="ja-JP" sz="2000">
                <a:ea typeface="宋体" panose="02010600030101010101" pitchFamily="2" charset="-122"/>
              </a:rPr>
              <a:t>$1.50  </a:t>
            </a:r>
          </a:p>
          <a:p>
            <a:pPr marL="0" indent="0">
              <a:spcBef>
                <a:spcPct val="30000"/>
              </a:spcBef>
              <a:buFont typeface="Wingdings" panose="05000000000000000000" pitchFamily="2" charset="2"/>
              <a:buNone/>
            </a:pPr>
            <a:r>
              <a:rPr lang="zh-CN" altLang="en-US" sz="2000">
                <a:ea typeface="宋体" panose="02010600030101010101" pitchFamily="2" charset="-122"/>
              </a:rPr>
              <a:t>例：要使买家仍愿意购买</a:t>
            </a:r>
            <a:r>
              <a:rPr lang="zh-CN" altLang="ja-JP" sz="2000">
                <a:ea typeface="宋体" panose="02010600030101010101" pitchFamily="2" charset="-122"/>
              </a:rPr>
              <a:t>500</a:t>
            </a:r>
            <a:r>
              <a:rPr lang="zh-CN" altLang="en-US" sz="2000">
                <a:ea typeface="宋体" panose="02010600030101010101" pitchFamily="2" charset="-122"/>
              </a:rPr>
              <a:t>个，市场价格需从</a:t>
            </a:r>
            <a:r>
              <a:rPr lang="en-US" altLang="zh-CN" sz="2000">
                <a:ea typeface="宋体" panose="02010600030101010101" pitchFamily="2" charset="-122"/>
              </a:rPr>
              <a:t> </a:t>
            </a:r>
            <a:r>
              <a:rPr lang="zh-CN" altLang="ja-JP" sz="2000">
                <a:ea typeface="宋体" panose="02010600030101010101" pitchFamily="2" charset="-122"/>
              </a:rPr>
              <a:t>$10.00</a:t>
            </a:r>
            <a:r>
              <a:rPr lang="zh-CN" altLang="en-US" sz="2000">
                <a:ea typeface="宋体" panose="02010600030101010101" pitchFamily="2" charset="-122"/>
              </a:rPr>
              <a:t>下降到</a:t>
            </a:r>
            <a:r>
              <a:rPr lang="zh-CN" altLang="ja-JP" sz="2000">
                <a:ea typeface="宋体" panose="02010600030101010101" pitchFamily="2" charset="-122"/>
              </a:rPr>
              <a:t>$8.50</a:t>
            </a:r>
            <a:endParaRPr lang="en-US" altLang="zh-CN" sz="2000">
              <a:ea typeface="宋体" panose="02010600030101010101" pitchFamily="2" charset="-122"/>
            </a:endParaRPr>
          </a:p>
        </p:txBody>
      </p:sp>
      <p:grpSp>
        <p:nvGrpSpPr>
          <p:cNvPr id="155654" name="Group 17"/>
          <p:cNvGrpSpPr>
            <a:grpSpLocks/>
          </p:cNvGrpSpPr>
          <p:nvPr/>
        </p:nvGrpSpPr>
        <p:grpSpPr bwMode="auto">
          <a:xfrm>
            <a:off x="4360863" y="1757363"/>
            <a:ext cx="4422775" cy="3871912"/>
            <a:chOff x="0" y="0"/>
            <a:chExt cx="2786" cy="2439"/>
          </a:xfrm>
        </p:grpSpPr>
        <p:grpSp>
          <p:nvGrpSpPr>
            <p:cNvPr id="155671" name="Group 18"/>
            <p:cNvGrpSpPr>
              <a:grpSpLocks/>
            </p:cNvGrpSpPr>
            <p:nvPr/>
          </p:nvGrpSpPr>
          <p:grpSpPr bwMode="auto">
            <a:xfrm>
              <a:off x="118" y="252"/>
              <a:ext cx="2409" cy="2049"/>
              <a:chOff x="0" y="0"/>
              <a:chExt cx="2116" cy="2027"/>
            </a:xfrm>
          </p:grpSpPr>
          <p:sp>
            <p:nvSpPr>
              <p:cNvPr id="155674" name="Line 9"/>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675" name="Line 10"/>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5672" name="Text Box 11"/>
            <p:cNvSpPr txBox="1">
              <a:spLocks noChangeArrowheads="1"/>
            </p:cNvSpPr>
            <p:nvPr/>
          </p:nvSpPr>
          <p:spPr bwMode="auto">
            <a:xfrm>
              <a:off x="0" y="0"/>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p>
          </p:txBody>
        </p:sp>
        <p:sp>
          <p:nvSpPr>
            <p:cNvPr id="155673" name="Text Box 12"/>
            <p:cNvSpPr txBox="1">
              <a:spLocks noChangeArrowheads="1"/>
            </p:cNvSpPr>
            <p:nvPr/>
          </p:nvSpPr>
          <p:spPr bwMode="auto">
            <a:xfrm>
              <a:off x="2496" y="2151"/>
              <a:ext cx="2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Q</a:t>
              </a:r>
            </a:p>
          </p:txBody>
        </p:sp>
      </p:grpSp>
      <p:grpSp>
        <p:nvGrpSpPr>
          <p:cNvPr id="8" name="Group 23"/>
          <p:cNvGrpSpPr>
            <a:grpSpLocks/>
          </p:cNvGrpSpPr>
          <p:nvPr/>
        </p:nvGrpSpPr>
        <p:grpSpPr bwMode="auto">
          <a:xfrm>
            <a:off x="5232400" y="2641600"/>
            <a:ext cx="2730500" cy="2649538"/>
            <a:chOff x="0" y="0"/>
            <a:chExt cx="1720" cy="1669"/>
          </a:xfrm>
        </p:grpSpPr>
        <p:sp>
          <p:nvSpPr>
            <p:cNvPr id="155669" name="Line 24"/>
            <p:cNvSpPr>
              <a:spLocks noChangeShapeType="1"/>
            </p:cNvSpPr>
            <p:nvPr/>
          </p:nvSpPr>
          <p:spPr bwMode="auto">
            <a:xfrm>
              <a:off x="0" y="0"/>
              <a:ext cx="1417" cy="1470"/>
            </a:xfrm>
            <a:prstGeom prst="line">
              <a:avLst/>
            </a:prstGeom>
            <a:noFill/>
            <a:ln w="3810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670" name="Text Box 25"/>
            <p:cNvSpPr txBox="1">
              <a:spLocks noChangeArrowheads="1"/>
            </p:cNvSpPr>
            <p:nvPr/>
          </p:nvSpPr>
          <p:spPr bwMode="auto">
            <a:xfrm>
              <a:off x="1334" y="1381"/>
              <a:ext cx="3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D</a:t>
              </a:r>
              <a:r>
                <a:rPr lang="en-US" altLang="zh-CN" sz="2400" baseline="-25000">
                  <a:latin typeface="Arial" panose="020B0604020202020204" pitchFamily="34" charset="0"/>
                </a:rPr>
                <a:t>2</a:t>
              </a:r>
            </a:p>
          </p:txBody>
        </p:sp>
      </p:grpSp>
      <p:sp>
        <p:nvSpPr>
          <p:cNvPr id="155656" name="Text Box 46"/>
          <p:cNvSpPr txBox="1">
            <a:spLocks noChangeArrowheads="1"/>
          </p:cNvSpPr>
          <p:nvPr/>
        </p:nvSpPr>
        <p:spPr bwMode="auto">
          <a:xfrm>
            <a:off x="4926013" y="1416050"/>
            <a:ext cx="376078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600" b="0">
                <a:latin typeface="Arial" panose="020B0604020202020204" pitchFamily="34" charset="0"/>
              </a:rPr>
              <a:t>向买家征收</a:t>
            </a:r>
            <a:r>
              <a:rPr lang="zh-CN" altLang="ja-JP" sz="2600" b="0">
                <a:latin typeface="Arial" panose="020B0604020202020204" pitchFamily="34" charset="0"/>
              </a:rPr>
              <a:t>$1.50</a:t>
            </a:r>
            <a:r>
              <a:rPr lang="zh-CN" altLang="en-US" sz="2600" b="0">
                <a:latin typeface="Arial" panose="020B0604020202020204" pitchFamily="34" charset="0"/>
              </a:rPr>
              <a:t>的税收</a:t>
            </a:r>
            <a:endParaRPr lang="en-US" altLang="zh-CN" sz="2600" b="0">
              <a:latin typeface="Arial" panose="020B0604020202020204" pitchFamily="34" charset="0"/>
            </a:endParaRPr>
          </a:p>
        </p:txBody>
      </p:sp>
      <p:grpSp>
        <p:nvGrpSpPr>
          <p:cNvPr id="9" name="Group 27"/>
          <p:cNvGrpSpPr>
            <a:grpSpLocks/>
          </p:cNvGrpSpPr>
          <p:nvPr/>
        </p:nvGrpSpPr>
        <p:grpSpPr bwMode="auto">
          <a:xfrm>
            <a:off x="3386138" y="4105275"/>
            <a:ext cx="3502025" cy="365125"/>
            <a:chOff x="0" y="0"/>
            <a:chExt cx="2206" cy="230"/>
          </a:xfrm>
        </p:grpSpPr>
        <p:sp>
          <p:nvSpPr>
            <p:cNvPr id="155666" name="Line 18"/>
            <p:cNvSpPr>
              <a:spLocks noChangeShapeType="1"/>
            </p:cNvSpPr>
            <p:nvPr/>
          </p:nvSpPr>
          <p:spPr bwMode="auto">
            <a:xfrm>
              <a:off x="740" y="119"/>
              <a:ext cx="142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667" name="Oval 20"/>
            <p:cNvSpPr>
              <a:spLocks noChangeArrowheads="1"/>
            </p:cNvSpPr>
            <p:nvPr/>
          </p:nvSpPr>
          <p:spPr bwMode="auto">
            <a:xfrm>
              <a:off x="2118" y="72"/>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55668" name="Text Box 21"/>
            <p:cNvSpPr txBox="1">
              <a:spLocks noChangeArrowheads="1"/>
            </p:cNvSpPr>
            <p:nvPr/>
          </p:nvSpPr>
          <p:spPr bwMode="auto">
            <a:xfrm>
              <a:off x="0" y="0"/>
              <a:ext cx="7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$8.50</a:t>
              </a:r>
            </a:p>
          </p:txBody>
        </p:sp>
      </p:grpSp>
      <p:sp>
        <p:nvSpPr>
          <p:cNvPr id="40991" name="Line 42"/>
          <p:cNvSpPr>
            <a:spLocks noChangeShapeType="1"/>
          </p:cNvSpPr>
          <p:nvPr/>
        </p:nvSpPr>
        <p:spPr bwMode="auto">
          <a:xfrm flipV="1">
            <a:off x="4554538" y="3303588"/>
            <a:ext cx="1587" cy="981075"/>
          </a:xfrm>
          <a:prstGeom prst="line">
            <a:avLst/>
          </a:prstGeom>
          <a:noFill/>
          <a:ln w="57150">
            <a:solidFill>
              <a:srgbClr val="FF0000"/>
            </a:solidFill>
            <a:round/>
            <a:headEnd type="triangle" w="lg" len="med"/>
            <a:tailEnd/>
          </a:ln>
          <a:extLst>
            <a:ext uri="{909E8E84-426E-40DD-AFC4-6F175D3DCCD1}">
              <a14:hiddenFill xmlns:a14="http://schemas.microsoft.com/office/drawing/2010/main">
                <a:noFill/>
              </a14:hiddenFill>
            </a:ext>
          </a:extLst>
        </p:spPr>
        <p:txBody>
          <a:bodyPr/>
          <a:lstStyle/>
          <a:p>
            <a:endParaRPr lang="zh-CN" altLang="en-US"/>
          </a:p>
        </p:txBody>
      </p:sp>
      <p:sp>
        <p:nvSpPr>
          <p:cNvPr id="40992" name="Rectangle 6"/>
          <p:cNvSpPr>
            <a:spLocks noChangeArrowheads="1"/>
          </p:cNvSpPr>
          <p:nvPr/>
        </p:nvSpPr>
        <p:spPr bwMode="auto">
          <a:xfrm>
            <a:off x="484188" y="1371600"/>
            <a:ext cx="3692525" cy="990600"/>
          </a:xfrm>
          <a:prstGeom prst="rect">
            <a:avLst/>
          </a:prstGeom>
          <a:solidFill>
            <a:srgbClr val="CCFFCC"/>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lnSpc>
                <a:spcPct val="105000"/>
              </a:lnSpc>
              <a:spcBef>
                <a:spcPct val="45000"/>
              </a:spcBef>
              <a:buClr>
                <a:srgbClr val="339966"/>
              </a:buClr>
              <a:buSzPct val="120000"/>
              <a:buFont typeface="Wingdings" panose="05000000000000000000" pitchFamily="2" charset="2"/>
              <a:buNone/>
            </a:pPr>
            <a:r>
              <a:rPr lang="zh-CN" altLang="en-US" sz="2500" b="0">
                <a:latin typeface="Arial" panose="020B0604020202020204" pitchFamily="34" charset="0"/>
              </a:rPr>
              <a:t>对买家征税使需求曲线向下移动，其幅度为税收量</a:t>
            </a:r>
            <a:r>
              <a:rPr lang="en-US" altLang="zh-CN" sz="2500" b="0">
                <a:latin typeface="Arial" panose="020B0604020202020204" pitchFamily="34" charset="0"/>
              </a:rPr>
              <a:t> </a:t>
            </a:r>
          </a:p>
        </p:txBody>
      </p:sp>
      <p:grpSp>
        <p:nvGrpSpPr>
          <p:cNvPr id="10" name="Group 33"/>
          <p:cNvGrpSpPr>
            <a:grpSpLocks/>
          </p:cNvGrpSpPr>
          <p:nvPr/>
        </p:nvGrpSpPr>
        <p:grpSpPr bwMode="auto">
          <a:xfrm>
            <a:off x="6889750" y="3227388"/>
            <a:ext cx="842963" cy="1058862"/>
            <a:chOff x="0" y="0"/>
            <a:chExt cx="531" cy="667"/>
          </a:xfrm>
        </p:grpSpPr>
        <p:sp>
          <p:nvSpPr>
            <p:cNvPr id="155663" name="AutoShape 43"/>
            <p:cNvSpPr>
              <a:spLocks/>
            </p:cNvSpPr>
            <p:nvPr/>
          </p:nvSpPr>
          <p:spPr bwMode="auto">
            <a:xfrm flipH="1">
              <a:off x="0" y="46"/>
              <a:ext cx="118" cy="621"/>
            </a:xfrm>
            <a:prstGeom prst="leftBrace">
              <a:avLst>
                <a:gd name="adj1" fmla="val 57110"/>
                <a:gd name="adj2" fmla="val 49435"/>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55664" name="Text Box 44"/>
            <p:cNvSpPr txBox="1">
              <a:spLocks noChangeArrowheads="1"/>
            </p:cNvSpPr>
            <p:nvPr/>
          </p:nvSpPr>
          <p:spPr bwMode="auto">
            <a:xfrm>
              <a:off x="89" y="0"/>
              <a:ext cx="44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solidFill>
                    <a:srgbClr val="008000"/>
                  </a:solidFill>
                  <a:latin typeface="Arial" panose="020B0604020202020204" pitchFamily="34" charset="0"/>
                </a:rPr>
                <a:t>税收</a:t>
              </a:r>
              <a:endParaRPr lang="en-US" altLang="zh-CN" sz="2400" b="0">
                <a:solidFill>
                  <a:srgbClr val="008000"/>
                </a:solidFill>
                <a:latin typeface="Arial" panose="020B0604020202020204" pitchFamily="34" charset="0"/>
              </a:endParaRPr>
            </a:p>
          </p:txBody>
        </p:sp>
        <p:sp>
          <p:nvSpPr>
            <p:cNvPr id="155665" name="Line 45"/>
            <p:cNvSpPr>
              <a:spLocks noChangeShapeType="1"/>
            </p:cNvSpPr>
            <p:nvPr/>
          </p:nvSpPr>
          <p:spPr bwMode="auto">
            <a:xfrm flipV="1">
              <a:off x="146" y="232"/>
              <a:ext cx="140" cy="1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997" name="Line 42"/>
          <p:cNvSpPr>
            <a:spLocks noChangeShapeType="1"/>
          </p:cNvSpPr>
          <p:nvPr/>
        </p:nvSpPr>
        <p:spPr bwMode="auto">
          <a:xfrm flipH="1" flipV="1">
            <a:off x="6818313" y="3354388"/>
            <a:ext cx="1587" cy="868362"/>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662" name="Title 1"/>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向买家征税</a:t>
            </a:r>
          </a:p>
        </p:txBody>
      </p:sp>
    </p:spTree>
    <p:extLst>
      <p:ext uri="{BB962C8B-B14F-4D97-AF65-F5344CB8AC3E}">
        <p14:creationId xmlns:p14="http://schemas.microsoft.com/office/powerpoint/2010/main" val="2597172032"/>
      </p:ext>
    </p:extLst>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76">
                                            <p:txEl>
                                              <p:pRg st="0" end="0"/>
                                            </p:txEl>
                                          </p:spTgt>
                                        </p:tgtEl>
                                        <p:attrNameLst>
                                          <p:attrName>style.visibility</p:attrName>
                                        </p:attrNameLst>
                                      </p:cBhvr>
                                      <p:to>
                                        <p:strVal val="visible"/>
                                      </p:to>
                                    </p:set>
                                    <p:animEffect transition="in" filter="wipe(left)">
                                      <p:cBhvr>
                                        <p:cTn id="7" dur="500"/>
                                        <p:tgtEl>
                                          <p:spTgt spid="40976">
                                            <p:txEl>
                                              <p:pRg st="0" end="0"/>
                                            </p:txEl>
                                          </p:spTgt>
                                        </p:tgtEl>
                                      </p:cBhvr>
                                    </p:animEffect>
                                  </p:childTnLst>
                                  <p:subTnLst>
                                    <p:animClr clrSpc="rgb" dir="cw">
                                      <p:cBhvr override="childStyle">
                                        <p:cTn dur="1" fill="hold" display="0" masterRel="nextClick" afterEffect="1"/>
                                        <p:tgtEl>
                                          <p:spTgt spid="40976">
                                            <p:txEl>
                                              <p:pRg st="0" end="0"/>
                                            </p:txEl>
                                          </p:spTgt>
                                        </p:tgtEl>
                                        <p:attrNameLst>
                                          <p:attrName>ppt_c</p:attrName>
                                        </p:attrNameLst>
                                      </p:cBhvr>
                                      <p:to>
                                        <a:srgbClr val="B2B2B2"/>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76">
                                            <p:txEl>
                                              <p:pRg st="1" end="1"/>
                                            </p:txEl>
                                          </p:spTgt>
                                        </p:tgtEl>
                                        <p:attrNameLst>
                                          <p:attrName>style.visibility</p:attrName>
                                        </p:attrNameLst>
                                      </p:cBhvr>
                                      <p:to>
                                        <p:strVal val="visible"/>
                                      </p:to>
                                    </p:set>
                                    <p:animEffect transition="in" filter="wipe(left)">
                                      <p:cBhvr>
                                        <p:cTn id="12" dur="500"/>
                                        <p:tgtEl>
                                          <p:spTgt spid="40976">
                                            <p:txEl>
                                              <p:pRg st="1" end="1"/>
                                            </p:txEl>
                                          </p:spTgt>
                                        </p:tgtEl>
                                      </p:cBhvr>
                                    </p:animEffect>
                                  </p:childTnLst>
                                  <p:subTnLst>
                                    <p:animClr clrSpc="rgb" dir="cw">
                                      <p:cBhvr override="childStyle">
                                        <p:cTn dur="1" fill="hold" display="0" masterRel="nextClick" afterEffect="1"/>
                                        <p:tgtEl>
                                          <p:spTgt spid="40976">
                                            <p:txEl>
                                              <p:pRg st="1" end="1"/>
                                            </p:txEl>
                                          </p:spTgt>
                                        </p:tgtEl>
                                        <p:attrNameLst>
                                          <p:attrName>ppt_c</p:attrName>
                                        </p:attrNameLst>
                                      </p:cBhvr>
                                      <p:to>
                                        <a:srgbClr val="B2B2B2"/>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976">
                                            <p:txEl>
                                              <p:pRg st="2" end="2"/>
                                            </p:txEl>
                                          </p:spTgt>
                                        </p:tgtEl>
                                        <p:attrNameLst>
                                          <p:attrName>style.visibility</p:attrName>
                                        </p:attrNameLst>
                                      </p:cBhvr>
                                      <p:to>
                                        <p:strVal val="visible"/>
                                      </p:to>
                                    </p:set>
                                    <p:animEffect transition="in" filter="wipe(left)">
                                      <p:cBhvr>
                                        <p:cTn id="17" dur="500"/>
                                        <p:tgtEl>
                                          <p:spTgt spid="40976">
                                            <p:txEl>
                                              <p:pRg st="2" end="2"/>
                                            </p:txEl>
                                          </p:spTgt>
                                        </p:tgtEl>
                                      </p:cBhvr>
                                    </p:animEffect>
                                  </p:childTnLst>
                                </p:cTn>
                              </p:par>
                              <p:par>
                                <p:cTn id="18" presetID="22" presetClass="entr" presetSubtype="1" fill="hold" nodeType="withEffect">
                                  <p:stCondLst>
                                    <p:cond delay="0"/>
                                  </p:stCondLst>
                                  <p:childTnLst>
                                    <p:set>
                                      <p:cBhvr>
                                        <p:cTn id="19" dur="1" fill="hold">
                                          <p:stCondLst>
                                            <p:cond delay="0"/>
                                          </p:stCondLst>
                                        </p:cTn>
                                        <p:tgtEl>
                                          <p:spTgt spid="40991"/>
                                        </p:tgtEl>
                                        <p:attrNameLst>
                                          <p:attrName>style.visibility</p:attrName>
                                        </p:attrNameLst>
                                      </p:cBhvr>
                                      <p:to>
                                        <p:strVal val="visible"/>
                                      </p:to>
                                    </p:set>
                                    <p:animEffect transition="in" filter="wipe(up)">
                                      <p:cBhvr>
                                        <p:cTn id="20" dur="500"/>
                                        <p:tgtEl>
                                          <p:spTgt spid="40991"/>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40992"/>
                                        </p:tgtEl>
                                        <p:attrNameLst>
                                          <p:attrName>style.visibility</p:attrName>
                                        </p:attrNameLst>
                                      </p:cBhvr>
                                      <p:to>
                                        <p:strVal val="visible"/>
                                      </p:to>
                                    </p:set>
                                    <p:animEffect transition="in" filter="dissolve">
                                      <p:cBhvr>
                                        <p:cTn id="29" dur="500"/>
                                        <p:tgtEl>
                                          <p:spTgt spid="40992"/>
                                        </p:tgtEl>
                                      </p:cBhvr>
                                    </p:animEffect>
                                  </p:childTnLst>
                                </p:cTn>
                              </p:par>
                              <p:par>
                                <p:cTn id="30" presetID="22" presetClass="entr" presetSubtype="1" fill="hold" nodeType="withEffect">
                                  <p:stCondLst>
                                    <p:cond delay="0"/>
                                  </p:stCondLst>
                                  <p:childTnLst>
                                    <p:set>
                                      <p:cBhvr>
                                        <p:cTn id="31" dur="1" fill="hold">
                                          <p:stCondLst>
                                            <p:cond delay="0"/>
                                          </p:stCondLst>
                                        </p:cTn>
                                        <p:tgtEl>
                                          <p:spTgt spid="40997"/>
                                        </p:tgtEl>
                                        <p:attrNameLst>
                                          <p:attrName>style.visibility</p:attrName>
                                        </p:attrNameLst>
                                      </p:cBhvr>
                                      <p:to>
                                        <p:strVal val="visible"/>
                                      </p:to>
                                    </p:set>
                                    <p:animEffect transition="in" filter="wipe(up)">
                                      <p:cBhvr>
                                        <p:cTn id="32" dur="500"/>
                                        <p:tgtEl>
                                          <p:spTgt spid="40997"/>
                                        </p:tgtEl>
                                      </p:cBhvr>
                                    </p:animEffect>
                                  </p:childTnLst>
                                </p:cTn>
                              </p:par>
                            </p:childTnLst>
                          </p:cTn>
                        </p:par>
                        <p:par>
                          <p:cTn id="33" fill="hold" nodeType="afterGroup">
                            <p:stCondLst>
                              <p:cond delay="500"/>
                            </p:stCondLst>
                            <p:childTnLst>
                              <p:par>
                                <p:cTn id="34" presetID="18" presetClass="entr" presetSubtype="12"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strips(downLeft)">
                                      <p:cBhvr>
                                        <p:cTn id="36" dur="500"/>
                                        <p:tgtEl>
                                          <p:spTgt spid="10"/>
                                        </p:tgtEl>
                                      </p:cBhvr>
                                    </p:animEffect>
                                  </p:childTnLst>
                                </p:cTn>
                              </p:par>
                              <p:par>
                                <p:cTn id="37" presetID="18" presetClass="entr" presetSubtype="6" fill="hold"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strips(downRight)">
                                      <p:cBhvr>
                                        <p:cTn id="3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6" grpId="0" build="p" autoUpdateAnimBg="0"/>
      <p:bldP spid="40992" grpId="0" bldLvl="5" animBg="1"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57698" name="Group 2"/>
          <p:cNvGrpSpPr>
            <a:grpSpLocks/>
          </p:cNvGrpSpPr>
          <p:nvPr/>
        </p:nvGrpSpPr>
        <p:grpSpPr bwMode="auto">
          <a:xfrm>
            <a:off x="5072063" y="2278063"/>
            <a:ext cx="3176587" cy="2274887"/>
            <a:chOff x="0" y="0"/>
            <a:chExt cx="2001" cy="1433"/>
          </a:xfrm>
        </p:grpSpPr>
        <p:sp>
          <p:nvSpPr>
            <p:cNvPr id="157743" name="Line 3"/>
            <p:cNvSpPr>
              <a:spLocks noChangeShapeType="1"/>
            </p:cNvSpPr>
            <p:nvPr/>
          </p:nvSpPr>
          <p:spPr bwMode="auto">
            <a:xfrm flipV="1">
              <a:off x="0" y="210"/>
              <a:ext cx="1696" cy="1223"/>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744" name="Text Box 4"/>
            <p:cNvSpPr txBox="1">
              <a:spLocks noChangeArrowheads="1"/>
            </p:cNvSpPr>
            <p:nvPr/>
          </p:nvSpPr>
          <p:spPr bwMode="auto">
            <a:xfrm>
              <a:off x="1615" y="0"/>
              <a:ext cx="3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S</a:t>
              </a:r>
              <a:r>
                <a:rPr lang="en-US" altLang="zh-CN" sz="2400" baseline="-25000">
                  <a:latin typeface="Arial" panose="020B0604020202020204" pitchFamily="34" charset="0"/>
                </a:rPr>
                <a:t>1</a:t>
              </a:r>
            </a:p>
          </p:txBody>
        </p:sp>
      </p:grpSp>
      <p:grpSp>
        <p:nvGrpSpPr>
          <p:cNvPr id="157699" name="Group 5"/>
          <p:cNvGrpSpPr>
            <a:grpSpLocks/>
          </p:cNvGrpSpPr>
          <p:nvPr/>
        </p:nvGrpSpPr>
        <p:grpSpPr bwMode="auto">
          <a:xfrm>
            <a:off x="5686425" y="2116138"/>
            <a:ext cx="2730500" cy="2649537"/>
            <a:chOff x="0" y="0"/>
            <a:chExt cx="1720" cy="1669"/>
          </a:xfrm>
        </p:grpSpPr>
        <p:sp>
          <p:nvSpPr>
            <p:cNvPr id="157741" name="Line 14"/>
            <p:cNvSpPr>
              <a:spLocks noChangeShapeType="1"/>
            </p:cNvSpPr>
            <p:nvPr/>
          </p:nvSpPr>
          <p:spPr bwMode="auto">
            <a:xfrm>
              <a:off x="0" y="0"/>
              <a:ext cx="1417" cy="1470"/>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742" name="Text Box 15"/>
            <p:cNvSpPr txBox="1">
              <a:spLocks noChangeArrowheads="1"/>
            </p:cNvSpPr>
            <p:nvPr/>
          </p:nvSpPr>
          <p:spPr bwMode="auto">
            <a:xfrm>
              <a:off x="1334" y="1381"/>
              <a:ext cx="3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D</a:t>
              </a:r>
              <a:r>
                <a:rPr lang="en-US" altLang="zh-CN" sz="2400" baseline="-25000">
                  <a:latin typeface="Arial" panose="020B0604020202020204" pitchFamily="34" charset="0"/>
                </a:rPr>
                <a:t>1</a:t>
              </a:r>
            </a:p>
          </p:txBody>
        </p:sp>
      </p:grpSp>
      <p:grpSp>
        <p:nvGrpSpPr>
          <p:cNvPr id="157700" name="Group 8"/>
          <p:cNvGrpSpPr>
            <a:grpSpLocks/>
          </p:cNvGrpSpPr>
          <p:nvPr/>
        </p:nvGrpSpPr>
        <p:grpSpPr bwMode="auto">
          <a:xfrm>
            <a:off x="3382963" y="3105150"/>
            <a:ext cx="3773487" cy="2720975"/>
            <a:chOff x="0" y="0"/>
            <a:chExt cx="2377" cy="1714"/>
          </a:xfrm>
        </p:grpSpPr>
        <p:grpSp>
          <p:nvGrpSpPr>
            <p:cNvPr id="157735" name="Group 9"/>
            <p:cNvGrpSpPr>
              <a:grpSpLocks/>
            </p:cNvGrpSpPr>
            <p:nvPr/>
          </p:nvGrpSpPr>
          <p:grpSpPr bwMode="auto">
            <a:xfrm>
              <a:off x="740" y="119"/>
              <a:ext cx="1425" cy="1333"/>
              <a:chOff x="0" y="0"/>
              <a:chExt cx="795" cy="646"/>
            </a:xfrm>
          </p:grpSpPr>
          <p:sp>
            <p:nvSpPr>
              <p:cNvPr id="157739" name="Line 18"/>
              <p:cNvSpPr>
                <a:spLocks noChangeShapeType="1"/>
              </p:cNvSpPr>
              <p:nvPr/>
            </p:nvSpPr>
            <p:spPr bwMode="auto">
              <a:xfrm>
                <a:off x="0" y="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740" name="Line 19"/>
              <p:cNvSpPr>
                <a:spLocks noChangeShapeType="1"/>
              </p:cNvSpPr>
              <p:nvPr/>
            </p:nvSpPr>
            <p:spPr bwMode="auto">
              <a:xfrm>
                <a:off x="795" y="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7736" name="Oval 20"/>
            <p:cNvSpPr>
              <a:spLocks noChangeArrowheads="1"/>
            </p:cNvSpPr>
            <p:nvPr/>
          </p:nvSpPr>
          <p:spPr bwMode="auto">
            <a:xfrm>
              <a:off x="2118" y="72"/>
              <a:ext cx="88" cy="8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57737" name="Text Box 21"/>
            <p:cNvSpPr txBox="1">
              <a:spLocks noChangeArrowheads="1"/>
            </p:cNvSpPr>
            <p:nvPr/>
          </p:nvSpPr>
          <p:spPr bwMode="auto">
            <a:xfrm>
              <a:off x="0" y="0"/>
              <a:ext cx="7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solidFill>
                    <a:srgbClr val="969696"/>
                  </a:solidFill>
                  <a:latin typeface="Arial" panose="020B0604020202020204" pitchFamily="34" charset="0"/>
                </a:rPr>
                <a:t>$10.00</a:t>
              </a:r>
            </a:p>
          </p:txBody>
        </p:sp>
        <p:sp>
          <p:nvSpPr>
            <p:cNvPr id="157738" name="Text Box 22"/>
            <p:cNvSpPr txBox="1">
              <a:spLocks noChangeArrowheads="1"/>
            </p:cNvSpPr>
            <p:nvPr/>
          </p:nvSpPr>
          <p:spPr bwMode="auto">
            <a:xfrm>
              <a:off x="2006" y="1484"/>
              <a:ext cx="3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solidFill>
                    <a:srgbClr val="969696"/>
                  </a:solidFill>
                  <a:latin typeface="Arial" panose="020B0604020202020204" pitchFamily="34" charset="0"/>
                </a:rPr>
                <a:t>500</a:t>
              </a:r>
            </a:p>
          </p:txBody>
        </p:sp>
      </p:grpSp>
      <p:grpSp>
        <p:nvGrpSpPr>
          <p:cNvPr id="157701" name="Group 16"/>
          <p:cNvGrpSpPr>
            <a:grpSpLocks/>
          </p:cNvGrpSpPr>
          <p:nvPr/>
        </p:nvGrpSpPr>
        <p:grpSpPr bwMode="auto">
          <a:xfrm>
            <a:off x="4360863" y="1757363"/>
            <a:ext cx="4422775" cy="3871912"/>
            <a:chOff x="0" y="0"/>
            <a:chExt cx="2786" cy="2439"/>
          </a:xfrm>
        </p:grpSpPr>
        <p:grpSp>
          <p:nvGrpSpPr>
            <p:cNvPr id="157730" name="Group 17"/>
            <p:cNvGrpSpPr>
              <a:grpSpLocks/>
            </p:cNvGrpSpPr>
            <p:nvPr/>
          </p:nvGrpSpPr>
          <p:grpSpPr bwMode="auto">
            <a:xfrm>
              <a:off x="118" y="252"/>
              <a:ext cx="2409" cy="2049"/>
              <a:chOff x="0" y="0"/>
              <a:chExt cx="2116" cy="2027"/>
            </a:xfrm>
          </p:grpSpPr>
          <p:sp>
            <p:nvSpPr>
              <p:cNvPr id="157733" name="Line 9"/>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734" name="Line 10"/>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7731" name="Text Box 11"/>
            <p:cNvSpPr txBox="1">
              <a:spLocks noChangeArrowheads="1"/>
            </p:cNvSpPr>
            <p:nvPr/>
          </p:nvSpPr>
          <p:spPr bwMode="auto">
            <a:xfrm>
              <a:off x="0" y="0"/>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p>
          </p:txBody>
        </p:sp>
        <p:sp>
          <p:nvSpPr>
            <p:cNvPr id="157732" name="Text Box 12"/>
            <p:cNvSpPr txBox="1">
              <a:spLocks noChangeArrowheads="1"/>
            </p:cNvSpPr>
            <p:nvPr/>
          </p:nvSpPr>
          <p:spPr bwMode="auto">
            <a:xfrm>
              <a:off x="2496" y="2151"/>
              <a:ext cx="2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Q</a:t>
              </a:r>
            </a:p>
          </p:txBody>
        </p:sp>
      </p:grpSp>
      <p:grpSp>
        <p:nvGrpSpPr>
          <p:cNvPr id="157702" name="Group 22"/>
          <p:cNvGrpSpPr>
            <a:grpSpLocks/>
          </p:cNvGrpSpPr>
          <p:nvPr/>
        </p:nvGrpSpPr>
        <p:grpSpPr bwMode="auto">
          <a:xfrm>
            <a:off x="5232400" y="2641600"/>
            <a:ext cx="2730500" cy="2649538"/>
            <a:chOff x="0" y="0"/>
            <a:chExt cx="1720" cy="1669"/>
          </a:xfrm>
        </p:grpSpPr>
        <p:sp>
          <p:nvSpPr>
            <p:cNvPr id="157728" name="Line 24"/>
            <p:cNvSpPr>
              <a:spLocks noChangeShapeType="1"/>
            </p:cNvSpPr>
            <p:nvPr/>
          </p:nvSpPr>
          <p:spPr bwMode="auto">
            <a:xfrm>
              <a:off x="0" y="0"/>
              <a:ext cx="1417" cy="1470"/>
            </a:xfrm>
            <a:prstGeom prst="line">
              <a:avLst/>
            </a:prstGeom>
            <a:noFill/>
            <a:ln w="3810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729" name="Text Box 25"/>
            <p:cNvSpPr txBox="1">
              <a:spLocks noChangeArrowheads="1"/>
            </p:cNvSpPr>
            <p:nvPr/>
          </p:nvSpPr>
          <p:spPr bwMode="auto">
            <a:xfrm>
              <a:off x="1334" y="1381"/>
              <a:ext cx="3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D</a:t>
              </a:r>
              <a:r>
                <a:rPr lang="en-US" altLang="zh-CN" sz="2400" baseline="-25000">
                  <a:latin typeface="Arial" panose="020B0604020202020204" pitchFamily="34" charset="0"/>
                </a:rPr>
                <a:t>2</a:t>
              </a:r>
            </a:p>
          </p:txBody>
        </p:sp>
      </p:grpSp>
      <p:grpSp>
        <p:nvGrpSpPr>
          <p:cNvPr id="9" name="Group 25"/>
          <p:cNvGrpSpPr>
            <a:grpSpLocks/>
          </p:cNvGrpSpPr>
          <p:nvPr/>
        </p:nvGrpSpPr>
        <p:grpSpPr bwMode="auto">
          <a:xfrm>
            <a:off x="2711450" y="2479675"/>
            <a:ext cx="3616325" cy="1552575"/>
            <a:chOff x="0" y="0"/>
            <a:chExt cx="2278" cy="772"/>
          </a:xfrm>
        </p:grpSpPr>
        <p:sp>
          <p:nvSpPr>
            <p:cNvPr id="157721" name="Line 26"/>
            <p:cNvSpPr>
              <a:spLocks noChangeShapeType="1"/>
            </p:cNvSpPr>
            <p:nvPr/>
          </p:nvSpPr>
          <p:spPr bwMode="auto">
            <a:xfrm>
              <a:off x="2234" y="139"/>
              <a:ext cx="0" cy="633"/>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57722" name="Group 27"/>
            <p:cNvGrpSpPr>
              <a:grpSpLocks/>
            </p:cNvGrpSpPr>
            <p:nvPr/>
          </p:nvGrpSpPr>
          <p:grpSpPr bwMode="auto">
            <a:xfrm>
              <a:off x="0" y="0"/>
              <a:ext cx="2278" cy="288"/>
              <a:chOff x="0" y="0"/>
              <a:chExt cx="2278" cy="288"/>
            </a:xfrm>
          </p:grpSpPr>
          <p:grpSp>
            <p:nvGrpSpPr>
              <p:cNvPr id="157723" name="Group 28"/>
              <p:cNvGrpSpPr>
                <a:grpSpLocks/>
              </p:cNvGrpSpPr>
              <p:nvPr/>
            </p:nvGrpSpPr>
            <p:grpSpPr bwMode="auto">
              <a:xfrm>
                <a:off x="413" y="27"/>
                <a:ext cx="1865" cy="230"/>
                <a:chOff x="0" y="0"/>
                <a:chExt cx="1865" cy="230"/>
              </a:xfrm>
            </p:grpSpPr>
            <p:sp>
              <p:nvSpPr>
                <p:cNvPr id="157725" name="Line 36"/>
                <p:cNvSpPr>
                  <a:spLocks noChangeShapeType="1"/>
                </p:cNvSpPr>
                <p:nvPr/>
              </p:nvSpPr>
              <p:spPr bwMode="auto">
                <a:xfrm>
                  <a:off x="753" y="113"/>
                  <a:ext cx="1072"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726" name="Oval 37"/>
                <p:cNvSpPr>
                  <a:spLocks noChangeArrowheads="1"/>
                </p:cNvSpPr>
                <p:nvPr/>
              </p:nvSpPr>
              <p:spPr bwMode="auto">
                <a:xfrm>
                  <a:off x="1777" y="67"/>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57727" name="Text Box 38"/>
                <p:cNvSpPr txBox="1">
                  <a:spLocks noChangeArrowheads="1"/>
                </p:cNvSpPr>
                <p:nvPr/>
              </p:nvSpPr>
              <p:spPr bwMode="auto">
                <a:xfrm>
                  <a:off x="0" y="0"/>
                  <a:ext cx="73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$11.00</a:t>
                  </a:r>
                </a:p>
              </p:txBody>
            </p:sp>
          </p:grpSp>
          <p:sp>
            <p:nvSpPr>
              <p:cNvPr id="157724" name="Text Box 39"/>
              <p:cNvSpPr txBox="1">
                <a:spLocks noChangeArrowheads="1"/>
              </p:cNvSpPr>
              <p:nvPr/>
            </p:nvSpPr>
            <p:spPr bwMode="auto">
              <a:xfrm>
                <a:off x="0" y="0"/>
                <a:ext cx="50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r>
                  <a:rPr lang="en-US" altLang="zh-CN" sz="2400" i="1" baseline="-25000">
                    <a:latin typeface="Arial" panose="020B0604020202020204" pitchFamily="34" charset="0"/>
                  </a:rPr>
                  <a:t>B</a:t>
                </a:r>
                <a:r>
                  <a:rPr lang="en-US" altLang="zh-CN" sz="2400" b="0">
                    <a:latin typeface="Arial" panose="020B0604020202020204" pitchFamily="34" charset="0"/>
                  </a:rPr>
                  <a:t> =</a:t>
                </a:r>
                <a:endParaRPr lang="en-US" altLang="zh-CN" sz="2400" i="1" baseline="-25000">
                  <a:latin typeface="Arial" panose="020B0604020202020204" pitchFamily="34" charset="0"/>
                </a:endParaRPr>
              </a:p>
            </p:txBody>
          </p:sp>
        </p:grpSp>
      </p:grpSp>
      <p:grpSp>
        <p:nvGrpSpPr>
          <p:cNvPr id="12" name="Group 33"/>
          <p:cNvGrpSpPr>
            <a:grpSpLocks/>
          </p:cNvGrpSpPr>
          <p:nvPr/>
        </p:nvGrpSpPr>
        <p:grpSpPr bwMode="auto">
          <a:xfrm>
            <a:off x="2870200" y="3484563"/>
            <a:ext cx="3390900" cy="457200"/>
            <a:chOff x="0" y="0"/>
            <a:chExt cx="2136" cy="288"/>
          </a:xfrm>
        </p:grpSpPr>
        <p:sp>
          <p:nvSpPr>
            <p:cNvPr id="157718" name="Line 32"/>
            <p:cNvSpPr>
              <a:spLocks noChangeShapeType="1"/>
            </p:cNvSpPr>
            <p:nvPr/>
          </p:nvSpPr>
          <p:spPr bwMode="auto">
            <a:xfrm>
              <a:off x="1064" y="143"/>
              <a:ext cx="1072"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719" name="Text Box 34"/>
            <p:cNvSpPr txBox="1">
              <a:spLocks noChangeArrowheads="1"/>
            </p:cNvSpPr>
            <p:nvPr/>
          </p:nvSpPr>
          <p:spPr bwMode="auto">
            <a:xfrm>
              <a:off x="455" y="25"/>
              <a:ext cx="59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$9.50</a:t>
              </a:r>
            </a:p>
          </p:txBody>
        </p:sp>
        <p:sp>
          <p:nvSpPr>
            <p:cNvPr id="157720" name="Text Box 40"/>
            <p:cNvSpPr txBox="1">
              <a:spLocks noChangeArrowheads="1"/>
            </p:cNvSpPr>
            <p:nvPr/>
          </p:nvSpPr>
          <p:spPr bwMode="auto">
            <a:xfrm>
              <a:off x="0" y="0"/>
              <a:ext cx="50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r>
                <a:rPr lang="en-US" altLang="zh-CN" sz="2400" i="1" baseline="-25000">
                  <a:latin typeface="Arial" panose="020B0604020202020204" pitchFamily="34" charset="0"/>
                </a:rPr>
                <a:t>S</a:t>
              </a:r>
              <a:r>
                <a:rPr lang="en-US" altLang="zh-CN" sz="2400" b="0">
                  <a:latin typeface="Arial" panose="020B0604020202020204" pitchFamily="34" charset="0"/>
                </a:rPr>
                <a:t> =</a:t>
              </a:r>
              <a:endParaRPr lang="en-US" altLang="zh-CN" sz="2400" i="1" baseline="-25000">
                <a:latin typeface="Arial" panose="020B0604020202020204" pitchFamily="34" charset="0"/>
              </a:endParaRPr>
            </a:p>
          </p:txBody>
        </p:sp>
      </p:grpSp>
      <p:grpSp>
        <p:nvGrpSpPr>
          <p:cNvPr id="13" name="Group 37"/>
          <p:cNvGrpSpPr>
            <a:grpSpLocks/>
          </p:cNvGrpSpPr>
          <p:nvPr/>
        </p:nvGrpSpPr>
        <p:grpSpPr bwMode="auto">
          <a:xfrm>
            <a:off x="6332538" y="2635250"/>
            <a:ext cx="842962" cy="1058863"/>
            <a:chOff x="0" y="0"/>
            <a:chExt cx="531" cy="667"/>
          </a:xfrm>
        </p:grpSpPr>
        <p:sp>
          <p:nvSpPr>
            <p:cNvPr id="157715" name="AutoShape 43"/>
            <p:cNvSpPr>
              <a:spLocks/>
            </p:cNvSpPr>
            <p:nvPr/>
          </p:nvSpPr>
          <p:spPr bwMode="auto">
            <a:xfrm flipH="1">
              <a:off x="0" y="46"/>
              <a:ext cx="118" cy="621"/>
            </a:xfrm>
            <a:prstGeom prst="leftBrace">
              <a:avLst>
                <a:gd name="adj1" fmla="val 57110"/>
                <a:gd name="adj2" fmla="val 49435"/>
              </a:avLst>
            </a:prstGeom>
            <a:noFill/>
            <a:ln w="31750">
              <a:solidFill>
                <a:srgbClr val="00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57716" name="Text Box 44"/>
            <p:cNvSpPr txBox="1">
              <a:spLocks noChangeArrowheads="1"/>
            </p:cNvSpPr>
            <p:nvPr/>
          </p:nvSpPr>
          <p:spPr bwMode="auto">
            <a:xfrm>
              <a:off x="89" y="0"/>
              <a:ext cx="44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solidFill>
                    <a:srgbClr val="006600"/>
                  </a:solidFill>
                  <a:latin typeface="Arial" panose="020B0604020202020204" pitchFamily="34" charset="0"/>
                </a:rPr>
                <a:t>税收</a:t>
              </a:r>
              <a:endParaRPr lang="en-US" altLang="zh-CN" sz="2400" b="0">
                <a:solidFill>
                  <a:srgbClr val="006600"/>
                </a:solidFill>
                <a:latin typeface="Arial" panose="020B0604020202020204" pitchFamily="34" charset="0"/>
              </a:endParaRPr>
            </a:p>
          </p:txBody>
        </p:sp>
        <p:sp>
          <p:nvSpPr>
            <p:cNvPr id="157717" name="Line 45"/>
            <p:cNvSpPr>
              <a:spLocks noChangeShapeType="1"/>
            </p:cNvSpPr>
            <p:nvPr/>
          </p:nvSpPr>
          <p:spPr bwMode="auto">
            <a:xfrm flipV="1">
              <a:off x="146" y="232"/>
              <a:ext cx="140" cy="1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7706" name="Text Box 46"/>
          <p:cNvSpPr txBox="1">
            <a:spLocks noChangeArrowheads="1"/>
          </p:cNvSpPr>
          <p:nvPr/>
        </p:nvSpPr>
        <p:spPr bwMode="auto">
          <a:xfrm>
            <a:off x="4878388" y="1447800"/>
            <a:ext cx="3884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向买家征收</a:t>
            </a:r>
            <a:r>
              <a:rPr lang="zh-CN" altLang="ja-JP" sz="2400" b="0">
                <a:latin typeface="Arial" panose="020B0604020202020204" pitchFamily="34" charset="0"/>
              </a:rPr>
              <a:t>$1.50</a:t>
            </a:r>
            <a:r>
              <a:rPr lang="zh-CN" altLang="en-US" sz="2400" b="0">
                <a:latin typeface="Arial" panose="020B0604020202020204" pitchFamily="34" charset="0"/>
              </a:rPr>
              <a:t>的税收</a:t>
            </a:r>
            <a:endParaRPr lang="en-US" altLang="zh-CN" sz="2400" b="0">
              <a:latin typeface="Arial" panose="020B0604020202020204" pitchFamily="34" charset="0"/>
            </a:endParaRPr>
          </a:p>
        </p:txBody>
      </p:sp>
      <p:sp>
        <p:nvSpPr>
          <p:cNvPr id="43050" name="Rectangle 47"/>
          <p:cNvSpPr>
            <a:spLocks noChangeArrowheads="1"/>
          </p:cNvSpPr>
          <p:nvPr/>
        </p:nvSpPr>
        <p:spPr bwMode="auto">
          <a:xfrm>
            <a:off x="1066800" y="1447800"/>
            <a:ext cx="1712913" cy="447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lnSpc>
                <a:spcPct val="105000"/>
              </a:lnSpc>
              <a:spcBef>
                <a:spcPct val="45000"/>
              </a:spcBef>
              <a:buClr>
                <a:srgbClr val="00B85C"/>
              </a:buClr>
              <a:buSzPct val="120000"/>
              <a:buFont typeface="Wingdings" panose="05000000000000000000" pitchFamily="2" charset="2"/>
              <a:buNone/>
            </a:pPr>
            <a:r>
              <a:rPr lang="zh-CN" altLang="en-US" sz="2500" b="0" u="sng">
                <a:latin typeface="Arial" panose="020B0604020202020204" pitchFamily="34" charset="0"/>
              </a:rPr>
              <a:t>新均衡</a:t>
            </a:r>
            <a:r>
              <a:rPr lang="zh-CN" altLang="en-US" sz="2500" b="0">
                <a:latin typeface="Arial" panose="020B0604020202020204" pitchFamily="34" charset="0"/>
              </a:rPr>
              <a:t>：</a:t>
            </a:r>
            <a:endParaRPr lang="en-US" altLang="zh-CN" sz="2500" b="0">
              <a:latin typeface="Arial" panose="020B0604020202020204" pitchFamily="34" charset="0"/>
            </a:endParaRPr>
          </a:p>
          <a:p>
            <a:pPr eaLnBrk="1" hangingPunct="1">
              <a:lnSpc>
                <a:spcPct val="105000"/>
              </a:lnSpc>
              <a:spcBef>
                <a:spcPct val="45000"/>
              </a:spcBef>
              <a:buClr>
                <a:srgbClr val="00B85C"/>
              </a:buClr>
              <a:buSzPct val="120000"/>
              <a:buFont typeface="Wingdings" panose="05000000000000000000" pitchFamily="2" charset="2"/>
              <a:buNone/>
            </a:pPr>
            <a:r>
              <a:rPr lang="en-US" altLang="zh-CN" sz="2000" i="1">
                <a:latin typeface="Arial" panose="020B0604020202020204" pitchFamily="34" charset="0"/>
              </a:rPr>
              <a:t>Q</a:t>
            </a:r>
            <a:r>
              <a:rPr lang="en-US" altLang="zh-CN" sz="2000" b="0">
                <a:latin typeface="Arial" panose="020B0604020202020204" pitchFamily="34" charset="0"/>
              </a:rPr>
              <a:t> = 450</a:t>
            </a:r>
          </a:p>
          <a:p>
            <a:pPr eaLnBrk="1" hangingPunct="1">
              <a:lnSpc>
                <a:spcPct val="105000"/>
              </a:lnSpc>
              <a:spcBef>
                <a:spcPct val="45000"/>
              </a:spcBef>
              <a:buClr>
                <a:srgbClr val="00B85C"/>
              </a:buClr>
              <a:buSzPct val="120000"/>
              <a:buFont typeface="Wingdings" panose="05000000000000000000" pitchFamily="2" charset="2"/>
              <a:buNone/>
            </a:pPr>
            <a:r>
              <a:rPr lang="zh-CN" altLang="en-US" sz="2000" b="0">
                <a:latin typeface="Arial" panose="020B0604020202020204" pitchFamily="34" charset="0"/>
              </a:rPr>
              <a:t>卖家得到的价格：</a:t>
            </a:r>
            <a:br>
              <a:rPr lang="en-US" altLang="zh-CN" sz="2000" b="0">
                <a:latin typeface="Arial" panose="020B0604020202020204" pitchFamily="34" charset="0"/>
              </a:rPr>
            </a:br>
            <a:r>
              <a:rPr lang="zh-CN" altLang="ja-JP" sz="2000" i="1">
                <a:latin typeface="Arial" panose="020B0604020202020204" pitchFamily="34" charset="0"/>
              </a:rPr>
              <a:t>P</a:t>
            </a:r>
            <a:r>
              <a:rPr lang="zh-CN" altLang="ja-JP" sz="2000" i="1" baseline="-25000">
                <a:latin typeface="Arial" panose="020B0604020202020204" pitchFamily="34" charset="0"/>
              </a:rPr>
              <a:t>S</a:t>
            </a:r>
            <a:r>
              <a:rPr lang="zh-CN" altLang="ja-JP" sz="2000" b="0">
                <a:latin typeface="Arial" panose="020B0604020202020204" pitchFamily="34" charset="0"/>
              </a:rPr>
              <a:t> = 9.50</a:t>
            </a:r>
          </a:p>
          <a:p>
            <a:pPr eaLnBrk="1" hangingPunct="1">
              <a:lnSpc>
                <a:spcPct val="105000"/>
              </a:lnSpc>
              <a:spcBef>
                <a:spcPct val="45000"/>
              </a:spcBef>
              <a:buClr>
                <a:srgbClr val="00B85C"/>
              </a:buClr>
              <a:buSzPct val="120000"/>
              <a:buFont typeface="Wingdings" panose="05000000000000000000" pitchFamily="2" charset="2"/>
              <a:buNone/>
            </a:pPr>
            <a:r>
              <a:rPr lang="zh-CN" altLang="en-US" sz="2000" b="0">
                <a:latin typeface="Arial" panose="020B0604020202020204" pitchFamily="34" charset="0"/>
              </a:rPr>
              <a:t>买家支付的价格：</a:t>
            </a:r>
            <a:r>
              <a:rPr lang="en-US" altLang="zh-CN" sz="2000" b="0">
                <a:latin typeface="Arial" panose="020B0604020202020204" pitchFamily="34" charset="0"/>
              </a:rPr>
              <a:t> </a:t>
            </a:r>
            <a:br>
              <a:rPr lang="en-US" altLang="zh-CN" sz="2000" b="0">
                <a:latin typeface="Arial" panose="020B0604020202020204" pitchFamily="34" charset="0"/>
              </a:rPr>
            </a:br>
            <a:r>
              <a:rPr lang="zh-CN" altLang="ja-JP" sz="2000" i="1">
                <a:latin typeface="Arial" panose="020B0604020202020204" pitchFamily="34" charset="0"/>
              </a:rPr>
              <a:t>P</a:t>
            </a:r>
            <a:r>
              <a:rPr lang="zh-CN" altLang="ja-JP" sz="2000" i="1" baseline="-25000">
                <a:latin typeface="Arial" panose="020B0604020202020204" pitchFamily="34" charset="0"/>
              </a:rPr>
              <a:t>B</a:t>
            </a:r>
            <a:r>
              <a:rPr lang="zh-CN" altLang="ja-JP" sz="2000" b="0">
                <a:latin typeface="Arial" panose="020B0604020202020204" pitchFamily="34" charset="0"/>
              </a:rPr>
              <a:t> = 11.00</a:t>
            </a:r>
          </a:p>
          <a:p>
            <a:pPr eaLnBrk="1" hangingPunct="1">
              <a:lnSpc>
                <a:spcPct val="105000"/>
              </a:lnSpc>
              <a:spcBef>
                <a:spcPct val="45000"/>
              </a:spcBef>
              <a:buClr>
                <a:srgbClr val="00B85C"/>
              </a:buClr>
              <a:buSzPct val="120000"/>
              <a:buFont typeface="Wingdings" panose="05000000000000000000" pitchFamily="2" charset="2"/>
              <a:buNone/>
            </a:pPr>
            <a:r>
              <a:rPr lang="zh-CN" altLang="en-US" sz="2000" b="0">
                <a:latin typeface="Arial" panose="020B0604020202020204" pitchFamily="34" charset="0"/>
              </a:rPr>
              <a:t>两者之差</a:t>
            </a:r>
            <a:r>
              <a:rPr lang="en-US" altLang="zh-CN" sz="2000" b="0">
                <a:latin typeface="Arial" panose="020B0604020202020204" pitchFamily="34" charset="0"/>
              </a:rPr>
              <a:t> </a:t>
            </a:r>
            <a:br>
              <a:rPr lang="en-US" altLang="zh-CN" sz="2000" b="0">
                <a:latin typeface="Arial" panose="020B0604020202020204" pitchFamily="34" charset="0"/>
              </a:rPr>
            </a:br>
            <a:r>
              <a:rPr lang="en-US" altLang="zh-CN" sz="2000" b="0">
                <a:latin typeface="Arial" panose="020B0604020202020204" pitchFamily="34" charset="0"/>
              </a:rPr>
              <a:t>  </a:t>
            </a:r>
            <a:r>
              <a:rPr lang="zh-CN" altLang="ja-JP" sz="2000" b="0">
                <a:latin typeface="Arial" panose="020B0604020202020204" pitchFamily="34" charset="0"/>
              </a:rPr>
              <a:t>= 1.50 = </a:t>
            </a:r>
            <a:r>
              <a:rPr lang="zh-CN" altLang="en-US" sz="2000" b="0">
                <a:latin typeface="Arial" panose="020B0604020202020204" pitchFamily="34" charset="0"/>
              </a:rPr>
              <a:t>税收</a:t>
            </a:r>
            <a:endParaRPr lang="en-US" altLang="zh-CN" sz="2000" b="0">
              <a:latin typeface="Arial" panose="020B0604020202020204" pitchFamily="34" charset="0"/>
            </a:endParaRPr>
          </a:p>
        </p:txBody>
      </p:sp>
      <p:grpSp>
        <p:nvGrpSpPr>
          <p:cNvPr id="14" name="Group 43"/>
          <p:cNvGrpSpPr>
            <a:grpSpLocks/>
          </p:cNvGrpSpPr>
          <p:nvPr/>
        </p:nvGrpSpPr>
        <p:grpSpPr bwMode="auto">
          <a:xfrm>
            <a:off x="5913438" y="3636963"/>
            <a:ext cx="588962" cy="2189162"/>
            <a:chOff x="0" y="0"/>
            <a:chExt cx="371" cy="1379"/>
          </a:xfrm>
        </p:grpSpPr>
        <p:sp>
          <p:nvSpPr>
            <p:cNvPr id="157711" name="Oval 33"/>
            <p:cNvSpPr>
              <a:spLocks noChangeArrowheads="1"/>
            </p:cNvSpPr>
            <p:nvPr/>
          </p:nvSpPr>
          <p:spPr bwMode="auto">
            <a:xfrm>
              <a:off x="175" y="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nvGrpSpPr>
            <p:cNvPr id="157712" name="Group 45"/>
            <p:cNvGrpSpPr>
              <a:grpSpLocks/>
            </p:cNvGrpSpPr>
            <p:nvPr/>
          </p:nvGrpSpPr>
          <p:grpSpPr bwMode="auto">
            <a:xfrm>
              <a:off x="0" y="53"/>
              <a:ext cx="371" cy="1326"/>
              <a:chOff x="0" y="0"/>
              <a:chExt cx="371" cy="1326"/>
            </a:xfrm>
          </p:grpSpPr>
          <p:sp>
            <p:nvSpPr>
              <p:cNvPr id="157713" name="Line 26"/>
              <p:cNvSpPr>
                <a:spLocks noChangeShapeType="1"/>
              </p:cNvSpPr>
              <p:nvPr/>
            </p:nvSpPr>
            <p:spPr bwMode="auto">
              <a:xfrm>
                <a:off x="215" y="0"/>
                <a:ext cx="0" cy="1063"/>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714" name="Text Box 30"/>
              <p:cNvSpPr txBox="1">
                <a:spLocks noChangeArrowheads="1"/>
              </p:cNvSpPr>
              <p:nvPr/>
            </p:nvSpPr>
            <p:spPr bwMode="auto">
              <a:xfrm>
                <a:off x="0" y="1096"/>
                <a:ext cx="3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450</a:t>
                </a:r>
              </a:p>
            </p:txBody>
          </p:sp>
        </p:grpSp>
      </p:grpSp>
      <p:sp>
        <p:nvSpPr>
          <p:cNvPr id="43056" name="Line 42"/>
          <p:cNvSpPr>
            <a:spLocks noChangeShapeType="1"/>
          </p:cNvSpPr>
          <p:nvPr/>
        </p:nvSpPr>
        <p:spPr bwMode="auto">
          <a:xfrm flipH="1" flipV="1">
            <a:off x="6257925" y="2768600"/>
            <a:ext cx="1588" cy="871538"/>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7710" name="Title 1"/>
          <p:cNvSpPr txBox="1">
            <a:spLocks/>
          </p:cNvSpPr>
          <p:nvPr/>
        </p:nvSpPr>
        <p:spPr bwMode="auto">
          <a:xfrm>
            <a:off x="1042988" y="228600"/>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a:latin typeface="Arial" panose="020B0604020202020204" pitchFamily="34" charset="0"/>
              </a:rPr>
              <a:t>向买家征税</a:t>
            </a:r>
          </a:p>
        </p:txBody>
      </p:sp>
    </p:spTree>
    <p:extLst>
      <p:ext uri="{BB962C8B-B14F-4D97-AF65-F5344CB8AC3E}">
        <p14:creationId xmlns:p14="http://schemas.microsoft.com/office/powerpoint/2010/main" val="1448708264"/>
      </p:ext>
    </p:extLst>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50">
                                            <p:txEl>
                                              <p:pRg st="2" end="2"/>
                                            </p:txEl>
                                          </p:spTgt>
                                        </p:tgtEl>
                                        <p:attrNameLst>
                                          <p:attrName>style.visibility</p:attrName>
                                        </p:attrNameLst>
                                      </p:cBhvr>
                                      <p:to>
                                        <p:strVal val="visible"/>
                                      </p:to>
                                    </p:set>
                                    <p:animEffect transition="in" filter="wipe(left)">
                                      <p:cBhvr>
                                        <p:cTn id="12" dur="500"/>
                                        <p:tgtEl>
                                          <p:spTgt spid="43050">
                                            <p:txEl>
                                              <p:pRg st="2" end="2"/>
                                            </p:txEl>
                                          </p:spTgt>
                                        </p:tgtEl>
                                      </p:cBhvr>
                                    </p:animEffect>
                                  </p:childTnLst>
                                </p:cTn>
                              </p:par>
                              <p:par>
                                <p:cTn id="13" presetID="22" presetClass="entr" presetSubtype="2"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right)">
                                      <p:cBhvr>
                                        <p:cTn id="15" dur="500"/>
                                        <p:tgtEl>
                                          <p:spTgt spid="1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3050">
                                            <p:txEl>
                                              <p:pRg st="3" end="3"/>
                                            </p:txEl>
                                          </p:spTgt>
                                        </p:tgtEl>
                                        <p:attrNameLst>
                                          <p:attrName>style.visibility</p:attrName>
                                        </p:attrNameLst>
                                      </p:cBhvr>
                                      <p:to>
                                        <p:strVal val="visible"/>
                                      </p:to>
                                    </p:set>
                                    <p:animEffect transition="in" filter="wipe(left)">
                                      <p:cBhvr>
                                        <p:cTn id="20" dur="500"/>
                                        <p:tgtEl>
                                          <p:spTgt spid="43050">
                                            <p:txEl>
                                              <p:pRg st="3" end="3"/>
                                            </p:txEl>
                                          </p:spTgt>
                                        </p:tgtEl>
                                      </p:cBhvr>
                                    </p:animEffect>
                                  </p:childTnLst>
                                </p:cTn>
                              </p:par>
                              <p:par>
                                <p:cTn id="21" presetID="18" presetClass="entr" presetSubtype="9"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strips(upLeft)">
                                      <p:cBhvr>
                                        <p:cTn id="23" dur="500"/>
                                        <p:tgtEl>
                                          <p:spTgt spid="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3050">
                                            <p:txEl>
                                              <p:pRg st="4" end="4"/>
                                            </p:txEl>
                                          </p:spTgt>
                                        </p:tgtEl>
                                        <p:attrNameLst>
                                          <p:attrName>style.visibility</p:attrName>
                                        </p:attrNameLst>
                                      </p:cBhvr>
                                      <p:to>
                                        <p:strVal val="visible"/>
                                      </p:to>
                                    </p:set>
                                    <p:animEffect transition="in" filter="wipe(left)">
                                      <p:cBhvr>
                                        <p:cTn id="28" dur="500"/>
                                        <p:tgtEl>
                                          <p:spTgt spid="43050">
                                            <p:txEl>
                                              <p:pRg st="4" end="4"/>
                                            </p:txEl>
                                          </p:spTgt>
                                        </p:tgtEl>
                                      </p:cBhvr>
                                    </p:animEffect>
                                  </p:childTnLst>
                                </p:cTn>
                              </p:par>
                              <p:par>
                                <p:cTn id="29" presetID="22" presetClass="entr" presetSubtype="1" fill="hold" nodeType="withEffect">
                                  <p:stCondLst>
                                    <p:cond delay="0"/>
                                  </p:stCondLst>
                                  <p:childTnLst>
                                    <p:set>
                                      <p:cBhvr>
                                        <p:cTn id="30" dur="1" fill="hold">
                                          <p:stCondLst>
                                            <p:cond delay="0"/>
                                          </p:stCondLst>
                                        </p:cTn>
                                        <p:tgtEl>
                                          <p:spTgt spid="43056"/>
                                        </p:tgtEl>
                                        <p:attrNameLst>
                                          <p:attrName>style.visibility</p:attrName>
                                        </p:attrNameLst>
                                      </p:cBhvr>
                                      <p:to>
                                        <p:strVal val="visible"/>
                                      </p:to>
                                    </p:set>
                                    <p:animEffect transition="in" filter="wipe(up)">
                                      <p:cBhvr>
                                        <p:cTn id="31" dur="500"/>
                                        <p:tgtEl>
                                          <p:spTgt spid="43056"/>
                                        </p:tgtEl>
                                      </p:cBhvr>
                                    </p:animEffect>
                                  </p:childTnLst>
                                </p:cTn>
                              </p:par>
                            </p:childTnLst>
                          </p:cTn>
                        </p:par>
                        <p:par>
                          <p:cTn id="32" fill="hold" nodeType="afterGroup">
                            <p:stCondLst>
                              <p:cond delay="500"/>
                            </p:stCondLst>
                            <p:childTnLst>
                              <p:par>
                                <p:cTn id="33" presetID="18" presetClass="entr" presetSubtype="12"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strips(downLeft)">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50" grpId="0" build="p"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58722" name="Group 2"/>
          <p:cNvGrpSpPr>
            <a:grpSpLocks/>
          </p:cNvGrpSpPr>
          <p:nvPr/>
        </p:nvGrpSpPr>
        <p:grpSpPr bwMode="auto">
          <a:xfrm>
            <a:off x="5913438" y="2711450"/>
            <a:ext cx="588962" cy="3114675"/>
            <a:chOff x="0" y="0"/>
            <a:chExt cx="371" cy="1962"/>
          </a:xfrm>
        </p:grpSpPr>
        <p:sp>
          <p:nvSpPr>
            <p:cNvPr id="158766" name="Line 27"/>
            <p:cNvSpPr>
              <a:spLocks noChangeShapeType="1"/>
            </p:cNvSpPr>
            <p:nvPr/>
          </p:nvSpPr>
          <p:spPr bwMode="auto">
            <a:xfrm>
              <a:off x="215" y="0"/>
              <a:ext cx="0" cy="1699"/>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67" name="Text Box 28"/>
            <p:cNvSpPr txBox="1">
              <a:spLocks noChangeArrowheads="1"/>
            </p:cNvSpPr>
            <p:nvPr/>
          </p:nvSpPr>
          <p:spPr bwMode="auto">
            <a:xfrm>
              <a:off x="0" y="1732"/>
              <a:ext cx="3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450</a:t>
              </a:r>
            </a:p>
          </p:txBody>
        </p:sp>
      </p:grpSp>
      <p:grpSp>
        <p:nvGrpSpPr>
          <p:cNvPr id="158723" name="Group 5"/>
          <p:cNvGrpSpPr>
            <a:grpSpLocks/>
          </p:cNvGrpSpPr>
          <p:nvPr/>
        </p:nvGrpSpPr>
        <p:grpSpPr bwMode="auto">
          <a:xfrm>
            <a:off x="5072063" y="2278063"/>
            <a:ext cx="3176587" cy="2274887"/>
            <a:chOff x="0" y="0"/>
            <a:chExt cx="2001" cy="1433"/>
          </a:xfrm>
        </p:grpSpPr>
        <p:sp>
          <p:nvSpPr>
            <p:cNvPr id="158764" name="Line 3"/>
            <p:cNvSpPr>
              <a:spLocks noChangeShapeType="1"/>
            </p:cNvSpPr>
            <p:nvPr/>
          </p:nvSpPr>
          <p:spPr bwMode="auto">
            <a:xfrm flipV="1">
              <a:off x="0" y="210"/>
              <a:ext cx="1696" cy="1223"/>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65" name="Text Box 4"/>
            <p:cNvSpPr txBox="1">
              <a:spLocks noChangeArrowheads="1"/>
            </p:cNvSpPr>
            <p:nvPr/>
          </p:nvSpPr>
          <p:spPr bwMode="auto">
            <a:xfrm>
              <a:off x="1615" y="0"/>
              <a:ext cx="3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S</a:t>
              </a:r>
              <a:r>
                <a:rPr lang="en-US" altLang="zh-CN" sz="2400" baseline="-25000">
                  <a:latin typeface="Arial" panose="020B0604020202020204" pitchFamily="34" charset="0"/>
                </a:rPr>
                <a:t>1</a:t>
              </a:r>
            </a:p>
          </p:txBody>
        </p:sp>
      </p:grpSp>
      <p:grpSp>
        <p:nvGrpSpPr>
          <p:cNvPr id="158724" name="Group 10"/>
          <p:cNvGrpSpPr>
            <a:grpSpLocks/>
          </p:cNvGrpSpPr>
          <p:nvPr/>
        </p:nvGrpSpPr>
        <p:grpSpPr bwMode="auto">
          <a:xfrm>
            <a:off x="4360863" y="1757363"/>
            <a:ext cx="4422775" cy="3871912"/>
            <a:chOff x="0" y="0"/>
            <a:chExt cx="2786" cy="2439"/>
          </a:xfrm>
        </p:grpSpPr>
        <p:grpSp>
          <p:nvGrpSpPr>
            <p:cNvPr id="158759" name="Group 11"/>
            <p:cNvGrpSpPr>
              <a:grpSpLocks/>
            </p:cNvGrpSpPr>
            <p:nvPr/>
          </p:nvGrpSpPr>
          <p:grpSpPr bwMode="auto">
            <a:xfrm>
              <a:off x="118" y="252"/>
              <a:ext cx="2409" cy="2049"/>
              <a:chOff x="0" y="0"/>
              <a:chExt cx="2116" cy="2027"/>
            </a:xfrm>
          </p:grpSpPr>
          <p:sp>
            <p:nvSpPr>
              <p:cNvPr id="158762" name="Line 9"/>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63" name="Line 10"/>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8760" name="Text Box 11"/>
            <p:cNvSpPr txBox="1">
              <a:spLocks noChangeArrowheads="1"/>
            </p:cNvSpPr>
            <p:nvPr/>
          </p:nvSpPr>
          <p:spPr bwMode="auto">
            <a:xfrm>
              <a:off x="0" y="0"/>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p>
          </p:txBody>
        </p:sp>
        <p:sp>
          <p:nvSpPr>
            <p:cNvPr id="158761" name="Text Box 12"/>
            <p:cNvSpPr txBox="1">
              <a:spLocks noChangeArrowheads="1"/>
            </p:cNvSpPr>
            <p:nvPr/>
          </p:nvSpPr>
          <p:spPr bwMode="auto">
            <a:xfrm>
              <a:off x="2496" y="2151"/>
              <a:ext cx="2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Q</a:t>
              </a:r>
            </a:p>
          </p:txBody>
        </p:sp>
      </p:grpSp>
      <p:grpSp>
        <p:nvGrpSpPr>
          <p:cNvPr id="158725" name="Group 16"/>
          <p:cNvGrpSpPr>
            <a:grpSpLocks/>
          </p:cNvGrpSpPr>
          <p:nvPr/>
        </p:nvGrpSpPr>
        <p:grpSpPr bwMode="auto">
          <a:xfrm>
            <a:off x="5686425" y="2116138"/>
            <a:ext cx="2730500" cy="2649537"/>
            <a:chOff x="0" y="0"/>
            <a:chExt cx="1720" cy="1669"/>
          </a:xfrm>
        </p:grpSpPr>
        <p:sp>
          <p:nvSpPr>
            <p:cNvPr id="158757" name="Line 14"/>
            <p:cNvSpPr>
              <a:spLocks noChangeShapeType="1"/>
            </p:cNvSpPr>
            <p:nvPr/>
          </p:nvSpPr>
          <p:spPr bwMode="auto">
            <a:xfrm>
              <a:off x="0" y="0"/>
              <a:ext cx="1417" cy="1470"/>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58" name="Text Box 15"/>
            <p:cNvSpPr txBox="1">
              <a:spLocks noChangeArrowheads="1"/>
            </p:cNvSpPr>
            <p:nvPr/>
          </p:nvSpPr>
          <p:spPr bwMode="auto">
            <a:xfrm>
              <a:off x="1334" y="1381"/>
              <a:ext cx="3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D</a:t>
              </a:r>
              <a:r>
                <a:rPr lang="en-US" altLang="zh-CN" sz="2400" baseline="-25000">
                  <a:latin typeface="Arial" panose="020B0604020202020204" pitchFamily="34" charset="0"/>
                </a:rPr>
                <a:t>1</a:t>
              </a:r>
            </a:p>
          </p:txBody>
        </p:sp>
      </p:grpSp>
      <p:grpSp>
        <p:nvGrpSpPr>
          <p:cNvPr id="158726" name="Group 19"/>
          <p:cNvGrpSpPr>
            <a:grpSpLocks/>
          </p:cNvGrpSpPr>
          <p:nvPr/>
        </p:nvGrpSpPr>
        <p:grpSpPr bwMode="auto">
          <a:xfrm>
            <a:off x="3382963" y="3105150"/>
            <a:ext cx="3773487" cy="2720975"/>
            <a:chOff x="0" y="0"/>
            <a:chExt cx="2377" cy="1714"/>
          </a:xfrm>
        </p:grpSpPr>
        <p:grpSp>
          <p:nvGrpSpPr>
            <p:cNvPr id="158751" name="Group 20"/>
            <p:cNvGrpSpPr>
              <a:grpSpLocks/>
            </p:cNvGrpSpPr>
            <p:nvPr/>
          </p:nvGrpSpPr>
          <p:grpSpPr bwMode="auto">
            <a:xfrm>
              <a:off x="740" y="119"/>
              <a:ext cx="1425" cy="1333"/>
              <a:chOff x="0" y="0"/>
              <a:chExt cx="795" cy="646"/>
            </a:xfrm>
          </p:grpSpPr>
          <p:sp>
            <p:nvSpPr>
              <p:cNvPr id="158755" name="Line 18"/>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56" name="Line 19"/>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8752" name="Oval 20"/>
            <p:cNvSpPr>
              <a:spLocks noChangeArrowheads="1"/>
            </p:cNvSpPr>
            <p:nvPr/>
          </p:nvSpPr>
          <p:spPr bwMode="auto">
            <a:xfrm>
              <a:off x="2118" y="72"/>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58753" name="Text Box 21"/>
            <p:cNvSpPr txBox="1">
              <a:spLocks noChangeArrowheads="1"/>
            </p:cNvSpPr>
            <p:nvPr/>
          </p:nvSpPr>
          <p:spPr bwMode="auto">
            <a:xfrm>
              <a:off x="0" y="0"/>
              <a:ext cx="7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$10.00</a:t>
              </a:r>
            </a:p>
          </p:txBody>
        </p:sp>
        <p:sp>
          <p:nvSpPr>
            <p:cNvPr id="158754" name="Text Box 22"/>
            <p:cNvSpPr txBox="1">
              <a:spLocks noChangeArrowheads="1"/>
            </p:cNvSpPr>
            <p:nvPr/>
          </p:nvSpPr>
          <p:spPr bwMode="auto">
            <a:xfrm>
              <a:off x="2006" y="1484"/>
              <a:ext cx="3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500</a:t>
              </a:r>
            </a:p>
          </p:txBody>
        </p:sp>
      </p:grpSp>
      <p:grpSp>
        <p:nvGrpSpPr>
          <p:cNvPr id="158727" name="Group 26"/>
          <p:cNvGrpSpPr>
            <a:grpSpLocks/>
          </p:cNvGrpSpPr>
          <p:nvPr/>
        </p:nvGrpSpPr>
        <p:grpSpPr bwMode="auto">
          <a:xfrm>
            <a:off x="5232400" y="2641600"/>
            <a:ext cx="2730500" cy="2649538"/>
            <a:chOff x="0" y="0"/>
            <a:chExt cx="1720" cy="1669"/>
          </a:xfrm>
        </p:grpSpPr>
        <p:sp>
          <p:nvSpPr>
            <p:cNvPr id="158749" name="Line 24"/>
            <p:cNvSpPr>
              <a:spLocks noChangeShapeType="1"/>
            </p:cNvSpPr>
            <p:nvPr/>
          </p:nvSpPr>
          <p:spPr bwMode="auto">
            <a:xfrm>
              <a:off x="0" y="0"/>
              <a:ext cx="1417" cy="1470"/>
            </a:xfrm>
            <a:prstGeom prst="line">
              <a:avLst/>
            </a:prstGeom>
            <a:noFill/>
            <a:ln w="3810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50" name="Text Box 25"/>
            <p:cNvSpPr txBox="1">
              <a:spLocks noChangeArrowheads="1"/>
            </p:cNvSpPr>
            <p:nvPr/>
          </p:nvSpPr>
          <p:spPr bwMode="auto">
            <a:xfrm>
              <a:off x="1334" y="1381"/>
              <a:ext cx="3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D</a:t>
              </a:r>
              <a:r>
                <a:rPr lang="en-US" altLang="zh-CN" sz="2400" baseline="-25000">
                  <a:latin typeface="Arial" panose="020B0604020202020204" pitchFamily="34" charset="0"/>
                </a:rPr>
                <a:t>2</a:t>
              </a:r>
            </a:p>
          </p:txBody>
        </p:sp>
      </p:grpSp>
      <p:grpSp>
        <p:nvGrpSpPr>
          <p:cNvPr id="158728" name="Group 29"/>
          <p:cNvGrpSpPr>
            <a:grpSpLocks/>
          </p:cNvGrpSpPr>
          <p:nvPr/>
        </p:nvGrpSpPr>
        <p:grpSpPr bwMode="auto">
          <a:xfrm>
            <a:off x="2711450" y="2479675"/>
            <a:ext cx="3616325" cy="457200"/>
            <a:chOff x="0" y="0"/>
            <a:chExt cx="2278" cy="288"/>
          </a:xfrm>
        </p:grpSpPr>
        <p:grpSp>
          <p:nvGrpSpPr>
            <p:cNvPr id="158744" name="Group 30"/>
            <p:cNvGrpSpPr>
              <a:grpSpLocks/>
            </p:cNvGrpSpPr>
            <p:nvPr/>
          </p:nvGrpSpPr>
          <p:grpSpPr bwMode="auto">
            <a:xfrm>
              <a:off x="413" y="27"/>
              <a:ext cx="1865" cy="230"/>
              <a:chOff x="0" y="0"/>
              <a:chExt cx="1865" cy="230"/>
            </a:xfrm>
          </p:grpSpPr>
          <p:sp>
            <p:nvSpPr>
              <p:cNvPr id="158746" name="Line 31"/>
              <p:cNvSpPr>
                <a:spLocks noChangeShapeType="1"/>
              </p:cNvSpPr>
              <p:nvPr/>
            </p:nvSpPr>
            <p:spPr bwMode="auto">
              <a:xfrm>
                <a:off x="753" y="113"/>
                <a:ext cx="1072"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47" name="Oval 32"/>
              <p:cNvSpPr>
                <a:spLocks noChangeArrowheads="1"/>
              </p:cNvSpPr>
              <p:nvPr/>
            </p:nvSpPr>
            <p:spPr bwMode="auto">
              <a:xfrm>
                <a:off x="1777" y="67"/>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58748" name="Text Box 33"/>
              <p:cNvSpPr txBox="1">
                <a:spLocks noChangeArrowheads="1"/>
              </p:cNvSpPr>
              <p:nvPr/>
            </p:nvSpPr>
            <p:spPr bwMode="auto">
              <a:xfrm>
                <a:off x="0" y="0"/>
                <a:ext cx="73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$11.00</a:t>
                </a:r>
              </a:p>
            </p:txBody>
          </p:sp>
        </p:grpSp>
        <p:sp>
          <p:nvSpPr>
            <p:cNvPr id="158745" name="Text Box 34"/>
            <p:cNvSpPr txBox="1">
              <a:spLocks noChangeArrowheads="1"/>
            </p:cNvSpPr>
            <p:nvPr/>
          </p:nvSpPr>
          <p:spPr bwMode="auto">
            <a:xfrm>
              <a:off x="0" y="0"/>
              <a:ext cx="50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r>
                <a:rPr lang="en-US" altLang="zh-CN" sz="2400" i="1" baseline="-25000">
                  <a:latin typeface="Arial" panose="020B0604020202020204" pitchFamily="34" charset="0"/>
                </a:rPr>
                <a:t>B</a:t>
              </a:r>
              <a:r>
                <a:rPr lang="en-US" altLang="zh-CN" sz="2400" b="0">
                  <a:latin typeface="Arial" panose="020B0604020202020204" pitchFamily="34" charset="0"/>
                </a:rPr>
                <a:t> =</a:t>
              </a:r>
              <a:endParaRPr lang="en-US" altLang="zh-CN" sz="2400" i="1" baseline="-25000">
                <a:latin typeface="Arial" panose="020B0604020202020204" pitchFamily="34" charset="0"/>
              </a:endParaRPr>
            </a:p>
          </p:txBody>
        </p:sp>
      </p:grpSp>
      <p:grpSp>
        <p:nvGrpSpPr>
          <p:cNvPr id="158729" name="Group 35"/>
          <p:cNvGrpSpPr>
            <a:grpSpLocks/>
          </p:cNvGrpSpPr>
          <p:nvPr/>
        </p:nvGrpSpPr>
        <p:grpSpPr bwMode="auto">
          <a:xfrm>
            <a:off x="2870200" y="3484563"/>
            <a:ext cx="3460750" cy="457200"/>
            <a:chOff x="0" y="0"/>
            <a:chExt cx="2180" cy="288"/>
          </a:xfrm>
        </p:grpSpPr>
        <p:grpSp>
          <p:nvGrpSpPr>
            <p:cNvPr id="158739" name="Group 36"/>
            <p:cNvGrpSpPr>
              <a:grpSpLocks/>
            </p:cNvGrpSpPr>
            <p:nvPr/>
          </p:nvGrpSpPr>
          <p:grpSpPr bwMode="auto">
            <a:xfrm>
              <a:off x="455" y="25"/>
              <a:ext cx="1725" cy="230"/>
              <a:chOff x="0" y="0"/>
              <a:chExt cx="1725" cy="230"/>
            </a:xfrm>
          </p:grpSpPr>
          <p:sp>
            <p:nvSpPr>
              <p:cNvPr id="158741" name="Line 37"/>
              <p:cNvSpPr>
                <a:spLocks noChangeShapeType="1"/>
              </p:cNvSpPr>
              <p:nvPr/>
            </p:nvSpPr>
            <p:spPr bwMode="auto">
              <a:xfrm>
                <a:off x="609" y="118"/>
                <a:ext cx="1072"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42" name="Oval 38"/>
              <p:cNvSpPr>
                <a:spLocks noChangeArrowheads="1"/>
              </p:cNvSpPr>
              <p:nvPr/>
            </p:nvSpPr>
            <p:spPr bwMode="auto">
              <a:xfrm>
                <a:off x="1637" y="71"/>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58743" name="Text Box 39"/>
              <p:cNvSpPr txBox="1">
                <a:spLocks noChangeArrowheads="1"/>
              </p:cNvSpPr>
              <p:nvPr/>
            </p:nvSpPr>
            <p:spPr bwMode="auto">
              <a:xfrm>
                <a:off x="0" y="0"/>
                <a:ext cx="59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$9.50</a:t>
                </a:r>
              </a:p>
            </p:txBody>
          </p:sp>
        </p:grpSp>
        <p:sp>
          <p:nvSpPr>
            <p:cNvPr id="158740" name="Text Box 40"/>
            <p:cNvSpPr txBox="1">
              <a:spLocks noChangeArrowheads="1"/>
            </p:cNvSpPr>
            <p:nvPr/>
          </p:nvSpPr>
          <p:spPr bwMode="auto">
            <a:xfrm>
              <a:off x="0" y="0"/>
              <a:ext cx="50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r>
                <a:rPr lang="en-US" altLang="zh-CN" sz="2400" i="1" baseline="-25000">
                  <a:latin typeface="Arial" panose="020B0604020202020204" pitchFamily="34" charset="0"/>
                </a:rPr>
                <a:t>S</a:t>
              </a:r>
              <a:r>
                <a:rPr lang="en-US" altLang="zh-CN" sz="2400" b="0">
                  <a:latin typeface="Arial" panose="020B0604020202020204" pitchFamily="34" charset="0"/>
                </a:rPr>
                <a:t> =</a:t>
              </a:r>
              <a:endParaRPr lang="en-US" altLang="zh-CN" sz="2400" i="1" baseline="-25000">
                <a:latin typeface="Arial" panose="020B0604020202020204" pitchFamily="34" charset="0"/>
              </a:endParaRPr>
            </a:p>
          </p:txBody>
        </p:sp>
      </p:grpSp>
      <p:grpSp>
        <p:nvGrpSpPr>
          <p:cNvPr id="158730" name="Group 41"/>
          <p:cNvGrpSpPr>
            <a:grpSpLocks/>
          </p:cNvGrpSpPr>
          <p:nvPr/>
        </p:nvGrpSpPr>
        <p:grpSpPr bwMode="auto">
          <a:xfrm>
            <a:off x="6332538" y="2635250"/>
            <a:ext cx="842962" cy="1058863"/>
            <a:chOff x="0" y="0"/>
            <a:chExt cx="531" cy="667"/>
          </a:xfrm>
        </p:grpSpPr>
        <p:sp>
          <p:nvSpPr>
            <p:cNvPr id="158736" name="AutoShape 43"/>
            <p:cNvSpPr>
              <a:spLocks/>
            </p:cNvSpPr>
            <p:nvPr/>
          </p:nvSpPr>
          <p:spPr bwMode="auto">
            <a:xfrm flipH="1">
              <a:off x="0" y="46"/>
              <a:ext cx="118" cy="621"/>
            </a:xfrm>
            <a:prstGeom prst="leftBrace">
              <a:avLst>
                <a:gd name="adj1" fmla="val 57110"/>
                <a:gd name="adj2" fmla="val 49435"/>
              </a:avLst>
            </a:prstGeom>
            <a:noFill/>
            <a:ln w="31750">
              <a:solidFill>
                <a:srgbClr val="00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58737" name="Text Box 44"/>
            <p:cNvSpPr txBox="1">
              <a:spLocks noChangeArrowheads="1"/>
            </p:cNvSpPr>
            <p:nvPr/>
          </p:nvSpPr>
          <p:spPr bwMode="auto">
            <a:xfrm>
              <a:off x="89" y="0"/>
              <a:ext cx="44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solidFill>
                    <a:srgbClr val="006600"/>
                  </a:solidFill>
                  <a:latin typeface="Arial" panose="020B0604020202020204" pitchFamily="34" charset="0"/>
                </a:rPr>
                <a:t>税收</a:t>
              </a:r>
              <a:endParaRPr lang="en-US" altLang="zh-CN" sz="2400" b="0">
                <a:solidFill>
                  <a:srgbClr val="006600"/>
                </a:solidFill>
                <a:latin typeface="Arial" panose="020B0604020202020204" pitchFamily="34" charset="0"/>
              </a:endParaRPr>
            </a:p>
          </p:txBody>
        </p:sp>
        <p:sp>
          <p:nvSpPr>
            <p:cNvPr id="158738" name="Line 45"/>
            <p:cNvSpPr>
              <a:spLocks noChangeShapeType="1"/>
            </p:cNvSpPr>
            <p:nvPr/>
          </p:nvSpPr>
          <p:spPr bwMode="auto">
            <a:xfrm flipV="1">
              <a:off x="146" y="232"/>
              <a:ext cx="140" cy="1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4077" name="Rectangle 48"/>
          <p:cNvSpPr>
            <a:spLocks noChangeArrowheads="1"/>
          </p:cNvSpPr>
          <p:nvPr/>
        </p:nvSpPr>
        <p:spPr bwMode="auto">
          <a:xfrm>
            <a:off x="838200" y="2027238"/>
            <a:ext cx="1887538" cy="384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05000"/>
              </a:lnSpc>
              <a:spcBef>
                <a:spcPct val="30000"/>
              </a:spcBef>
              <a:buClr>
                <a:srgbClr val="00B85C"/>
              </a:buClr>
              <a:buSzPct val="120000"/>
              <a:buFont typeface="Wingdings" panose="05000000000000000000" pitchFamily="2" charset="2"/>
              <a:buNone/>
            </a:pPr>
            <a:r>
              <a:rPr lang="zh-CN" altLang="en-US" sz="2600" b="0">
                <a:latin typeface="Arial" panose="020B0604020202020204" pitchFamily="34" charset="0"/>
              </a:rPr>
              <a:t>在我们的例子中，</a:t>
            </a:r>
            <a:endParaRPr lang="en-US" altLang="zh-CN" sz="2600" b="0">
              <a:latin typeface="Arial" panose="020B0604020202020204" pitchFamily="34" charset="0"/>
            </a:endParaRPr>
          </a:p>
          <a:p>
            <a:pPr eaLnBrk="1" hangingPunct="1">
              <a:lnSpc>
                <a:spcPct val="105000"/>
              </a:lnSpc>
              <a:spcBef>
                <a:spcPct val="30000"/>
              </a:spcBef>
              <a:buClr>
                <a:srgbClr val="00B85C"/>
              </a:buClr>
              <a:buSzPct val="120000"/>
              <a:buFont typeface="Wingdings" panose="05000000000000000000" pitchFamily="2" charset="2"/>
              <a:buNone/>
            </a:pPr>
            <a:r>
              <a:rPr lang="zh-CN" altLang="en-US" sz="2600" b="0">
                <a:solidFill>
                  <a:srgbClr val="FF6600"/>
                </a:solidFill>
                <a:latin typeface="Arial" panose="020B0604020202020204" pitchFamily="34" charset="0"/>
              </a:rPr>
              <a:t>买家支付</a:t>
            </a:r>
            <a:br>
              <a:rPr lang="en-US" altLang="zh-CN" sz="2600" b="0">
                <a:solidFill>
                  <a:srgbClr val="FF6600"/>
                </a:solidFill>
                <a:latin typeface="Arial" panose="020B0604020202020204" pitchFamily="34" charset="0"/>
              </a:rPr>
            </a:br>
            <a:r>
              <a:rPr lang="zh-CN" altLang="ja-JP" sz="2600" b="0">
                <a:solidFill>
                  <a:srgbClr val="FF6600"/>
                </a:solidFill>
                <a:latin typeface="Arial" panose="020B0604020202020204" pitchFamily="34" charset="0"/>
              </a:rPr>
              <a:t>$1.00</a:t>
            </a:r>
            <a:r>
              <a:rPr lang="zh-CN" altLang="en-US" sz="2600" b="0">
                <a:solidFill>
                  <a:srgbClr val="FF6600"/>
                </a:solidFill>
                <a:latin typeface="Arial" panose="020B0604020202020204" pitchFamily="34" charset="0"/>
              </a:rPr>
              <a:t>的税收</a:t>
            </a:r>
            <a:endParaRPr lang="en-US" altLang="zh-CN" sz="2600" b="0">
              <a:solidFill>
                <a:srgbClr val="FF6600"/>
              </a:solidFill>
              <a:latin typeface="Arial" panose="020B0604020202020204" pitchFamily="34" charset="0"/>
            </a:endParaRPr>
          </a:p>
          <a:p>
            <a:pPr eaLnBrk="1" hangingPunct="1">
              <a:lnSpc>
                <a:spcPct val="105000"/>
              </a:lnSpc>
              <a:spcBef>
                <a:spcPct val="30000"/>
              </a:spcBef>
              <a:buClr>
                <a:srgbClr val="00B85C"/>
              </a:buClr>
              <a:buSzPct val="120000"/>
              <a:buFont typeface="Wingdings" panose="05000000000000000000" pitchFamily="2" charset="2"/>
              <a:buNone/>
            </a:pPr>
            <a:r>
              <a:rPr lang="zh-CN" altLang="en-US" sz="2600" b="0">
                <a:solidFill>
                  <a:srgbClr val="990099"/>
                </a:solidFill>
                <a:latin typeface="Arial" panose="020B0604020202020204" pitchFamily="34" charset="0"/>
              </a:rPr>
              <a:t>卖家支付</a:t>
            </a:r>
            <a:br>
              <a:rPr lang="en-US" altLang="zh-CN" sz="2600" b="0">
                <a:solidFill>
                  <a:srgbClr val="990099"/>
                </a:solidFill>
                <a:latin typeface="Arial" panose="020B0604020202020204" pitchFamily="34" charset="0"/>
              </a:rPr>
            </a:br>
            <a:r>
              <a:rPr lang="zh-CN" altLang="ja-JP" sz="2600" b="0">
                <a:solidFill>
                  <a:srgbClr val="990099"/>
                </a:solidFill>
                <a:latin typeface="Arial" panose="020B0604020202020204" pitchFamily="34" charset="0"/>
              </a:rPr>
              <a:t>$0.50 </a:t>
            </a:r>
            <a:r>
              <a:rPr lang="zh-CN" altLang="en-US" sz="2600" b="0">
                <a:solidFill>
                  <a:srgbClr val="990099"/>
                </a:solidFill>
                <a:latin typeface="Arial" panose="020B0604020202020204" pitchFamily="34" charset="0"/>
              </a:rPr>
              <a:t>的税收</a:t>
            </a:r>
            <a:endParaRPr lang="en-US" altLang="zh-CN" sz="2600" b="0">
              <a:solidFill>
                <a:srgbClr val="990099"/>
              </a:solidFill>
              <a:latin typeface="Arial" panose="020B0604020202020204" pitchFamily="34" charset="0"/>
            </a:endParaRPr>
          </a:p>
        </p:txBody>
      </p:sp>
      <p:sp>
        <p:nvSpPr>
          <p:cNvPr id="44078" name="Line 46"/>
          <p:cNvSpPr>
            <a:spLocks noChangeShapeType="1"/>
          </p:cNvSpPr>
          <p:nvPr/>
        </p:nvSpPr>
        <p:spPr bwMode="auto">
          <a:xfrm flipV="1">
            <a:off x="4556125" y="2714625"/>
            <a:ext cx="0" cy="563563"/>
          </a:xfrm>
          <a:prstGeom prst="line">
            <a:avLst/>
          </a:prstGeom>
          <a:noFill/>
          <a:ln w="38100">
            <a:solidFill>
              <a:srgbClr val="FF66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44079" name="Line 47"/>
          <p:cNvSpPr>
            <a:spLocks noChangeShapeType="1"/>
          </p:cNvSpPr>
          <p:nvPr/>
        </p:nvSpPr>
        <p:spPr bwMode="auto">
          <a:xfrm flipV="1">
            <a:off x="4556125" y="3319463"/>
            <a:ext cx="0" cy="388937"/>
          </a:xfrm>
          <a:prstGeom prst="line">
            <a:avLst/>
          </a:prstGeom>
          <a:noFill/>
          <a:ln w="38100">
            <a:solidFill>
              <a:srgbClr val="990099"/>
            </a:solidFill>
            <a:round/>
            <a:headEnd type="triangle" w="lg" len="med"/>
            <a:tailEnd/>
          </a:ln>
          <a:extLst>
            <a:ext uri="{909E8E84-426E-40DD-AFC4-6F175D3DCCD1}">
              <a14:hiddenFill xmlns:a14="http://schemas.microsoft.com/office/drawing/2010/main">
                <a:noFill/>
              </a14:hiddenFill>
            </a:ext>
          </a:extLst>
        </p:spPr>
        <p:txBody>
          <a:bodyPr/>
          <a:lstStyle/>
          <a:p>
            <a:endParaRPr lang="zh-CN" altLang="en-US"/>
          </a:p>
        </p:txBody>
      </p:sp>
      <p:sp>
        <p:nvSpPr>
          <p:cNvPr id="158734" name="Line 41"/>
          <p:cNvSpPr>
            <a:spLocks noChangeShapeType="1"/>
          </p:cNvSpPr>
          <p:nvPr/>
        </p:nvSpPr>
        <p:spPr bwMode="auto">
          <a:xfrm flipH="1" flipV="1">
            <a:off x="6256338" y="2767013"/>
            <a:ext cx="3175" cy="866775"/>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735" name="Title 1"/>
          <p:cNvSpPr txBox="1">
            <a:spLocks/>
          </p:cNvSpPr>
          <p:nvPr/>
        </p:nvSpPr>
        <p:spPr bwMode="auto">
          <a:xfrm>
            <a:off x="1042988" y="228600"/>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a:latin typeface="Arial" panose="020B0604020202020204" pitchFamily="34" charset="0"/>
              </a:rPr>
              <a:t>税收归宿</a:t>
            </a:r>
          </a:p>
        </p:txBody>
      </p:sp>
    </p:spTree>
    <p:extLst>
      <p:ext uri="{BB962C8B-B14F-4D97-AF65-F5344CB8AC3E}">
        <p14:creationId xmlns:p14="http://schemas.microsoft.com/office/powerpoint/2010/main" val="4070291680"/>
      </p:ext>
    </p:extLst>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077">
                                            <p:txEl>
                                              <p:pRg st="0" end="0"/>
                                            </p:txEl>
                                          </p:spTgt>
                                        </p:tgtEl>
                                        <p:attrNameLst>
                                          <p:attrName>style.visibility</p:attrName>
                                        </p:attrNameLst>
                                      </p:cBhvr>
                                      <p:to>
                                        <p:strVal val="visible"/>
                                      </p:to>
                                    </p:set>
                                    <p:animEffect transition="in" filter="wipe(left)">
                                      <p:cBhvr>
                                        <p:cTn id="7" dur="500"/>
                                        <p:tgtEl>
                                          <p:spTgt spid="4407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077">
                                            <p:txEl>
                                              <p:pRg st="1" end="1"/>
                                            </p:txEl>
                                          </p:spTgt>
                                        </p:tgtEl>
                                        <p:attrNameLst>
                                          <p:attrName>style.visibility</p:attrName>
                                        </p:attrNameLst>
                                      </p:cBhvr>
                                      <p:to>
                                        <p:strVal val="visible"/>
                                      </p:to>
                                    </p:set>
                                    <p:animEffect transition="in" filter="wipe(left)">
                                      <p:cBhvr>
                                        <p:cTn id="12" dur="500"/>
                                        <p:tgtEl>
                                          <p:spTgt spid="44077">
                                            <p:txEl>
                                              <p:pRg st="1" end="1"/>
                                            </p:txEl>
                                          </p:spTgt>
                                        </p:tgtEl>
                                      </p:cBhvr>
                                    </p:animEffect>
                                  </p:childTnLst>
                                </p:cTn>
                              </p:par>
                              <p:par>
                                <p:cTn id="13" presetID="17" presetClass="entr" presetSubtype="4" fill="hold" nodeType="withEffect">
                                  <p:stCondLst>
                                    <p:cond delay="0"/>
                                  </p:stCondLst>
                                  <p:childTnLst>
                                    <p:set>
                                      <p:cBhvr>
                                        <p:cTn id="14" dur="1" fill="hold">
                                          <p:stCondLst>
                                            <p:cond delay="0"/>
                                          </p:stCondLst>
                                        </p:cTn>
                                        <p:tgtEl>
                                          <p:spTgt spid="44078"/>
                                        </p:tgtEl>
                                        <p:attrNameLst>
                                          <p:attrName>style.visibility</p:attrName>
                                        </p:attrNameLst>
                                      </p:cBhvr>
                                      <p:to>
                                        <p:strVal val="visible"/>
                                      </p:to>
                                    </p:set>
                                    <p:anim calcmode="lin" valueType="num">
                                      <p:cBhvr>
                                        <p:cTn id="15" dur="500" fill="hold"/>
                                        <p:tgtEl>
                                          <p:spTgt spid="44078"/>
                                        </p:tgtEl>
                                        <p:attrNameLst>
                                          <p:attrName>ppt_x</p:attrName>
                                        </p:attrNameLst>
                                      </p:cBhvr>
                                      <p:tavLst>
                                        <p:tav tm="0">
                                          <p:val>
                                            <p:strVal val="#ppt_x"/>
                                          </p:val>
                                        </p:tav>
                                        <p:tav tm="100000">
                                          <p:val>
                                            <p:strVal val="#ppt_x"/>
                                          </p:val>
                                        </p:tav>
                                      </p:tavLst>
                                    </p:anim>
                                    <p:anim calcmode="lin" valueType="num">
                                      <p:cBhvr>
                                        <p:cTn id="16" dur="500" fill="hold"/>
                                        <p:tgtEl>
                                          <p:spTgt spid="44078"/>
                                        </p:tgtEl>
                                        <p:attrNameLst>
                                          <p:attrName>ppt_y</p:attrName>
                                        </p:attrNameLst>
                                      </p:cBhvr>
                                      <p:tavLst>
                                        <p:tav tm="0">
                                          <p:val>
                                            <p:strVal val="#ppt_y+#ppt_h/2"/>
                                          </p:val>
                                        </p:tav>
                                        <p:tav tm="100000">
                                          <p:val>
                                            <p:strVal val="#ppt_y"/>
                                          </p:val>
                                        </p:tav>
                                      </p:tavLst>
                                    </p:anim>
                                    <p:anim calcmode="lin" valueType="num">
                                      <p:cBhvr>
                                        <p:cTn id="17" dur="500" fill="hold"/>
                                        <p:tgtEl>
                                          <p:spTgt spid="44078"/>
                                        </p:tgtEl>
                                        <p:attrNameLst>
                                          <p:attrName>ppt_w</p:attrName>
                                        </p:attrNameLst>
                                      </p:cBhvr>
                                      <p:tavLst>
                                        <p:tav tm="0">
                                          <p:val>
                                            <p:strVal val="#ppt_w"/>
                                          </p:val>
                                        </p:tav>
                                        <p:tav tm="100000">
                                          <p:val>
                                            <p:strVal val="#ppt_w"/>
                                          </p:val>
                                        </p:tav>
                                      </p:tavLst>
                                    </p:anim>
                                    <p:anim calcmode="lin" valueType="num">
                                      <p:cBhvr>
                                        <p:cTn id="18" dur="500" fill="hold"/>
                                        <p:tgtEl>
                                          <p:spTgt spid="44078"/>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44077">
                                            <p:txEl>
                                              <p:pRg st="2" end="2"/>
                                            </p:txEl>
                                          </p:spTgt>
                                        </p:tgtEl>
                                        <p:attrNameLst>
                                          <p:attrName>style.visibility</p:attrName>
                                        </p:attrNameLst>
                                      </p:cBhvr>
                                      <p:to>
                                        <p:strVal val="visible"/>
                                      </p:to>
                                    </p:set>
                                    <p:animEffect transition="in" filter="wipe(left)">
                                      <p:cBhvr>
                                        <p:cTn id="23" dur="500"/>
                                        <p:tgtEl>
                                          <p:spTgt spid="44077">
                                            <p:txEl>
                                              <p:pRg st="2" end="2"/>
                                            </p:txEl>
                                          </p:spTgt>
                                        </p:tgtEl>
                                      </p:cBhvr>
                                    </p:animEffect>
                                  </p:childTnLst>
                                </p:cTn>
                              </p:par>
                              <p:par>
                                <p:cTn id="24" presetID="17" presetClass="entr" presetSubtype="1" fill="hold" nodeType="withEffect">
                                  <p:stCondLst>
                                    <p:cond delay="0"/>
                                  </p:stCondLst>
                                  <p:childTnLst>
                                    <p:set>
                                      <p:cBhvr>
                                        <p:cTn id="25" dur="1" fill="hold">
                                          <p:stCondLst>
                                            <p:cond delay="0"/>
                                          </p:stCondLst>
                                        </p:cTn>
                                        <p:tgtEl>
                                          <p:spTgt spid="44079"/>
                                        </p:tgtEl>
                                        <p:attrNameLst>
                                          <p:attrName>style.visibility</p:attrName>
                                        </p:attrNameLst>
                                      </p:cBhvr>
                                      <p:to>
                                        <p:strVal val="visible"/>
                                      </p:to>
                                    </p:set>
                                    <p:anim calcmode="lin" valueType="num">
                                      <p:cBhvr>
                                        <p:cTn id="26" dur="500" fill="hold"/>
                                        <p:tgtEl>
                                          <p:spTgt spid="44079"/>
                                        </p:tgtEl>
                                        <p:attrNameLst>
                                          <p:attrName>ppt_x</p:attrName>
                                        </p:attrNameLst>
                                      </p:cBhvr>
                                      <p:tavLst>
                                        <p:tav tm="0">
                                          <p:val>
                                            <p:strVal val="#ppt_x"/>
                                          </p:val>
                                        </p:tav>
                                        <p:tav tm="100000">
                                          <p:val>
                                            <p:strVal val="#ppt_x"/>
                                          </p:val>
                                        </p:tav>
                                      </p:tavLst>
                                    </p:anim>
                                    <p:anim calcmode="lin" valueType="num">
                                      <p:cBhvr>
                                        <p:cTn id="27" dur="500" fill="hold"/>
                                        <p:tgtEl>
                                          <p:spTgt spid="44079"/>
                                        </p:tgtEl>
                                        <p:attrNameLst>
                                          <p:attrName>ppt_y</p:attrName>
                                        </p:attrNameLst>
                                      </p:cBhvr>
                                      <p:tavLst>
                                        <p:tav tm="0">
                                          <p:val>
                                            <p:strVal val="#ppt_y-#ppt_h/2"/>
                                          </p:val>
                                        </p:tav>
                                        <p:tav tm="100000">
                                          <p:val>
                                            <p:strVal val="#ppt_y"/>
                                          </p:val>
                                        </p:tav>
                                      </p:tavLst>
                                    </p:anim>
                                    <p:anim calcmode="lin" valueType="num">
                                      <p:cBhvr>
                                        <p:cTn id="28" dur="500" fill="hold"/>
                                        <p:tgtEl>
                                          <p:spTgt spid="44079"/>
                                        </p:tgtEl>
                                        <p:attrNameLst>
                                          <p:attrName>ppt_w</p:attrName>
                                        </p:attrNameLst>
                                      </p:cBhvr>
                                      <p:tavLst>
                                        <p:tav tm="0">
                                          <p:val>
                                            <p:strVal val="#ppt_w"/>
                                          </p:val>
                                        </p:tav>
                                        <p:tav tm="100000">
                                          <p:val>
                                            <p:strVal val="#ppt_w"/>
                                          </p:val>
                                        </p:tav>
                                      </p:tavLst>
                                    </p:anim>
                                    <p:anim calcmode="lin" valueType="num">
                                      <p:cBhvr>
                                        <p:cTn id="29" dur="500" fill="hold"/>
                                        <p:tgtEl>
                                          <p:spTgt spid="4407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77" grpId="0" build="p"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60770" name="Group 2"/>
          <p:cNvGrpSpPr>
            <a:grpSpLocks/>
          </p:cNvGrpSpPr>
          <p:nvPr/>
        </p:nvGrpSpPr>
        <p:grpSpPr bwMode="auto">
          <a:xfrm>
            <a:off x="5072063" y="2278063"/>
            <a:ext cx="3176587" cy="2274887"/>
            <a:chOff x="0" y="0"/>
            <a:chExt cx="2001" cy="1433"/>
          </a:xfrm>
        </p:grpSpPr>
        <p:sp>
          <p:nvSpPr>
            <p:cNvPr id="160805" name="Line 3"/>
            <p:cNvSpPr>
              <a:spLocks noChangeShapeType="1"/>
            </p:cNvSpPr>
            <p:nvPr/>
          </p:nvSpPr>
          <p:spPr bwMode="auto">
            <a:xfrm flipV="1">
              <a:off x="0" y="210"/>
              <a:ext cx="1696" cy="1223"/>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806" name="Text Box 4"/>
            <p:cNvSpPr txBox="1">
              <a:spLocks noChangeArrowheads="1"/>
            </p:cNvSpPr>
            <p:nvPr/>
          </p:nvSpPr>
          <p:spPr bwMode="auto">
            <a:xfrm>
              <a:off x="1615" y="0"/>
              <a:ext cx="3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S</a:t>
              </a:r>
              <a:r>
                <a:rPr lang="en-US" altLang="zh-CN" sz="2400" baseline="-25000">
                  <a:latin typeface="Arial" panose="020B0604020202020204" pitchFamily="34" charset="0"/>
                </a:rPr>
                <a:t>1</a:t>
              </a:r>
            </a:p>
          </p:txBody>
        </p:sp>
      </p:grpSp>
      <p:grpSp>
        <p:nvGrpSpPr>
          <p:cNvPr id="160771" name="Group 6"/>
          <p:cNvGrpSpPr>
            <a:grpSpLocks/>
          </p:cNvGrpSpPr>
          <p:nvPr/>
        </p:nvGrpSpPr>
        <p:grpSpPr bwMode="auto">
          <a:xfrm>
            <a:off x="4360863" y="1757363"/>
            <a:ext cx="4422775" cy="3871912"/>
            <a:chOff x="0" y="0"/>
            <a:chExt cx="2786" cy="2439"/>
          </a:xfrm>
        </p:grpSpPr>
        <p:grpSp>
          <p:nvGrpSpPr>
            <p:cNvPr id="160800" name="Group 7"/>
            <p:cNvGrpSpPr>
              <a:grpSpLocks/>
            </p:cNvGrpSpPr>
            <p:nvPr/>
          </p:nvGrpSpPr>
          <p:grpSpPr bwMode="auto">
            <a:xfrm>
              <a:off x="118" y="252"/>
              <a:ext cx="2409" cy="2049"/>
              <a:chOff x="0" y="0"/>
              <a:chExt cx="2116" cy="2027"/>
            </a:xfrm>
          </p:grpSpPr>
          <p:sp>
            <p:nvSpPr>
              <p:cNvPr id="160803" name="Line 9"/>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804" name="Line 10"/>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0801" name="Text Box 11"/>
            <p:cNvSpPr txBox="1">
              <a:spLocks noChangeArrowheads="1"/>
            </p:cNvSpPr>
            <p:nvPr/>
          </p:nvSpPr>
          <p:spPr bwMode="auto">
            <a:xfrm>
              <a:off x="0" y="0"/>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p>
          </p:txBody>
        </p:sp>
        <p:sp>
          <p:nvSpPr>
            <p:cNvPr id="160802" name="Text Box 12"/>
            <p:cNvSpPr txBox="1">
              <a:spLocks noChangeArrowheads="1"/>
            </p:cNvSpPr>
            <p:nvPr/>
          </p:nvSpPr>
          <p:spPr bwMode="auto">
            <a:xfrm>
              <a:off x="2496" y="2151"/>
              <a:ext cx="2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Q</a:t>
              </a:r>
            </a:p>
          </p:txBody>
        </p:sp>
      </p:grpSp>
      <p:grpSp>
        <p:nvGrpSpPr>
          <p:cNvPr id="160772" name="Group 12"/>
          <p:cNvGrpSpPr>
            <a:grpSpLocks/>
          </p:cNvGrpSpPr>
          <p:nvPr/>
        </p:nvGrpSpPr>
        <p:grpSpPr bwMode="auto">
          <a:xfrm>
            <a:off x="5686425" y="2116138"/>
            <a:ext cx="2730500" cy="2649537"/>
            <a:chOff x="0" y="0"/>
            <a:chExt cx="1720" cy="1669"/>
          </a:xfrm>
        </p:grpSpPr>
        <p:sp>
          <p:nvSpPr>
            <p:cNvPr id="160798" name="Line 14"/>
            <p:cNvSpPr>
              <a:spLocks noChangeShapeType="1"/>
            </p:cNvSpPr>
            <p:nvPr/>
          </p:nvSpPr>
          <p:spPr bwMode="auto">
            <a:xfrm>
              <a:off x="0" y="0"/>
              <a:ext cx="1417" cy="1470"/>
            </a:xfrm>
            <a:prstGeom prst="line">
              <a:avLst/>
            </a:prstGeom>
            <a:noFill/>
            <a:ln w="38100">
              <a:solidFill>
                <a:srgbClr val="C0C0C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799" name="Text Box 15"/>
            <p:cNvSpPr txBox="1">
              <a:spLocks noChangeArrowheads="1"/>
            </p:cNvSpPr>
            <p:nvPr/>
          </p:nvSpPr>
          <p:spPr bwMode="auto">
            <a:xfrm>
              <a:off x="1334" y="1381"/>
              <a:ext cx="3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solidFill>
                    <a:srgbClr val="C0C0C0"/>
                  </a:solidFill>
                  <a:latin typeface="Arial" panose="020B0604020202020204" pitchFamily="34" charset="0"/>
                </a:rPr>
                <a:t>D</a:t>
              </a:r>
              <a:r>
                <a:rPr lang="en-US" altLang="zh-CN" sz="2400" baseline="-25000">
                  <a:solidFill>
                    <a:srgbClr val="C0C0C0"/>
                  </a:solidFill>
                  <a:latin typeface="Arial" panose="020B0604020202020204" pitchFamily="34" charset="0"/>
                </a:rPr>
                <a:t>1</a:t>
              </a:r>
            </a:p>
          </p:txBody>
        </p:sp>
      </p:grpSp>
      <p:grpSp>
        <p:nvGrpSpPr>
          <p:cNvPr id="160773" name="Group 15"/>
          <p:cNvGrpSpPr>
            <a:grpSpLocks/>
          </p:cNvGrpSpPr>
          <p:nvPr/>
        </p:nvGrpSpPr>
        <p:grpSpPr bwMode="auto">
          <a:xfrm>
            <a:off x="3368675" y="3105150"/>
            <a:ext cx="3773488" cy="2720975"/>
            <a:chOff x="0" y="0"/>
            <a:chExt cx="2377" cy="1714"/>
          </a:xfrm>
        </p:grpSpPr>
        <p:grpSp>
          <p:nvGrpSpPr>
            <p:cNvPr id="160792" name="Group 16"/>
            <p:cNvGrpSpPr>
              <a:grpSpLocks/>
            </p:cNvGrpSpPr>
            <p:nvPr/>
          </p:nvGrpSpPr>
          <p:grpSpPr bwMode="auto">
            <a:xfrm>
              <a:off x="740" y="119"/>
              <a:ext cx="1425" cy="1333"/>
              <a:chOff x="0" y="0"/>
              <a:chExt cx="795" cy="646"/>
            </a:xfrm>
          </p:grpSpPr>
          <p:sp>
            <p:nvSpPr>
              <p:cNvPr id="160796" name="Line 18"/>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797" name="Line 19"/>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0793" name="Oval 20"/>
            <p:cNvSpPr>
              <a:spLocks noChangeArrowheads="1"/>
            </p:cNvSpPr>
            <p:nvPr/>
          </p:nvSpPr>
          <p:spPr bwMode="auto">
            <a:xfrm>
              <a:off x="2118" y="72"/>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60794" name="Text Box 21"/>
            <p:cNvSpPr txBox="1">
              <a:spLocks noChangeArrowheads="1"/>
            </p:cNvSpPr>
            <p:nvPr/>
          </p:nvSpPr>
          <p:spPr bwMode="auto">
            <a:xfrm>
              <a:off x="0" y="0"/>
              <a:ext cx="7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$10.00</a:t>
              </a:r>
            </a:p>
          </p:txBody>
        </p:sp>
        <p:sp>
          <p:nvSpPr>
            <p:cNvPr id="160795" name="Text Box 22"/>
            <p:cNvSpPr txBox="1">
              <a:spLocks noChangeArrowheads="1"/>
            </p:cNvSpPr>
            <p:nvPr/>
          </p:nvSpPr>
          <p:spPr bwMode="auto">
            <a:xfrm>
              <a:off x="2006" y="1484"/>
              <a:ext cx="3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500</a:t>
              </a:r>
            </a:p>
          </p:txBody>
        </p:sp>
      </p:grpSp>
      <p:grpSp>
        <p:nvGrpSpPr>
          <p:cNvPr id="8" name="Group 22"/>
          <p:cNvGrpSpPr>
            <a:grpSpLocks/>
          </p:cNvGrpSpPr>
          <p:nvPr/>
        </p:nvGrpSpPr>
        <p:grpSpPr bwMode="auto">
          <a:xfrm>
            <a:off x="4802188" y="1890713"/>
            <a:ext cx="2600325" cy="1857375"/>
            <a:chOff x="0" y="0"/>
            <a:chExt cx="1638" cy="1170"/>
          </a:xfrm>
        </p:grpSpPr>
        <p:sp>
          <p:nvSpPr>
            <p:cNvPr id="160790" name="Line 28"/>
            <p:cNvSpPr>
              <a:spLocks noChangeShapeType="1"/>
            </p:cNvSpPr>
            <p:nvPr/>
          </p:nvSpPr>
          <p:spPr bwMode="auto">
            <a:xfrm flipV="1">
              <a:off x="0" y="210"/>
              <a:ext cx="1333" cy="960"/>
            </a:xfrm>
            <a:prstGeom prst="line">
              <a:avLst/>
            </a:prstGeom>
            <a:noFill/>
            <a:ln w="3810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791" name="Text Box 29"/>
            <p:cNvSpPr txBox="1">
              <a:spLocks noChangeArrowheads="1"/>
            </p:cNvSpPr>
            <p:nvPr/>
          </p:nvSpPr>
          <p:spPr bwMode="auto">
            <a:xfrm>
              <a:off x="1252" y="0"/>
              <a:ext cx="3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S</a:t>
              </a:r>
              <a:r>
                <a:rPr lang="en-US" altLang="zh-CN" sz="2400" baseline="-25000">
                  <a:latin typeface="Arial" panose="020B0604020202020204" pitchFamily="34" charset="0"/>
                </a:rPr>
                <a:t>2</a:t>
              </a:r>
            </a:p>
          </p:txBody>
        </p:sp>
      </p:grpSp>
      <p:sp>
        <p:nvSpPr>
          <p:cNvPr id="160775" name="Text Box 46"/>
          <p:cNvSpPr txBox="1">
            <a:spLocks noChangeArrowheads="1"/>
          </p:cNvSpPr>
          <p:nvPr/>
        </p:nvSpPr>
        <p:spPr bwMode="auto">
          <a:xfrm>
            <a:off x="4814888" y="1355725"/>
            <a:ext cx="34798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500" b="0">
                <a:latin typeface="Arial" panose="020B0604020202020204" pitchFamily="34" charset="0"/>
              </a:rPr>
              <a:t>向卖家征税</a:t>
            </a:r>
            <a:r>
              <a:rPr lang="zh-CN" altLang="ja-JP" sz="2500" b="0">
                <a:latin typeface="Arial" panose="020B0604020202020204" pitchFamily="34" charset="0"/>
              </a:rPr>
              <a:t>$1.50</a:t>
            </a:r>
            <a:endParaRPr lang="en-US" altLang="zh-CN" sz="2500" b="0">
              <a:latin typeface="Arial" panose="020B0604020202020204" pitchFamily="34" charset="0"/>
            </a:endParaRPr>
          </a:p>
        </p:txBody>
      </p:sp>
      <p:sp>
        <p:nvSpPr>
          <p:cNvPr id="46106" name="Rectangle 6"/>
          <p:cNvSpPr>
            <a:spLocks noChangeArrowheads="1"/>
          </p:cNvSpPr>
          <p:nvPr/>
        </p:nvSpPr>
        <p:spPr bwMode="auto">
          <a:xfrm>
            <a:off x="1066800" y="1524000"/>
            <a:ext cx="22860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05000"/>
              </a:lnSpc>
              <a:spcBef>
                <a:spcPct val="30000"/>
              </a:spcBef>
              <a:buClr>
                <a:srgbClr val="339966"/>
              </a:buClr>
              <a:buSzPct val="120000"/>
              <a:buFont typeface="Wingdings" panose="05000000000000000000" pitchFamily="2" charset="2"/>
              <a:buNone/>
            </a:pPr>
            <a:r>
              <a:rPr lang="zh-CN" altLang="en-US" sz="2400" b="0">
                <a:latin typeface="Arial" panose="020B0604020202020204" pitchFamily="34" charset="0"/>
              </a:rPr>
              <a:t>税收增加了卖家的成本</a:t>
            </a:r>
            <a:r>
              <a:rPr lang="zh-CN" altLang="ja-JP" sz="2400" b="0">
                <a:latin typeface="Arial" panose="020B0604020202020204" pitchFamily="34" charset="0"/>
              </a:rPr>
              <a:t>1.50</a:t>
            </a:r>
          </a:p>
          <a:p>
            <a:pPr eaLnBrk="1" hangingPunct="1">
              <a:lnSpc>
                <a:spcPct val="105000"/>
              </a:lnSpc>
              <a:spcBef>
                <a:spcPct val="30000"/>
              </a:spcBef>
              <a:buClr>
                <a:srgbClr val="339966"/>
              </a:buClr>
              <a:buSzPct val="120000"/>
              <a:buFont typeface="Wingdings" panose="05000000000000000000" pitchFamily="2" charset="2"/>
              <a:buNone/>
            </a:pPr>
            <a:r>
              <a:rPr lang="zh-CN" altLang="en-US" sz="2400" b="0">
                <a:latin typeface="Arial" panose="020B0604020202020204" pitchFamily="34" charset="0"/>
              </a:rPr>
              <a:t>卖家只有在市场价格上升到</a:t>
            </a:r>
            <a:r>
              <a:rPr lang="zh-CN" altLang="ja-JP" sz="2400" b="0">
                <a:latin typeface="Arial" panose="020B0604020202020204" pitchFamily="34" charset="0"/>
              </a:rPr>
              <a:t>11.50</a:t>
            </a:r>
            <a:r>
              <a:rPr lang="zh-CN" altLang="en-US" sz="2400" b="0">
                <a:latin typeface="Arial" panose="020B0604020202020204" pitchFamily="34" charset="0"/>
              </a:rPr>
              <a:t>时才愿意出售</a:t>
            </a:r>
            <a:r>
              <a:rPr lang="zh-CN" altLang="ja-JP" sz="2400" b="0">
                <a:latin typeface="Arial" panose="020B0604020202020204" pitchFamily="34" charset="0"/>
              </a:rPr>
              <a:t>500</a:t>
            </a:r>
            <a:r>
              <a:rPr lang="zh-CN" altLang="en-US" sz="2400" b="0">
                <a:latin typeface="Arial" panose="020B0604020202020204" pitchFamily="34" charset="0"/>
              </a:rPr>
              <a:t>个商品，因为只有如此才能弥补成本的增加</a:t>
            </a:r>
            <a:endParaRPr lang="en-US" altLang="zh-CN" sz="2400" b="0">
              <a:latin typeface="Arial" panose="020B0604020202020204" pitchFamily="34" charset="0"/>
            </a:endParaRPr>
          </a:p>
        </p:txBody>
      </p:sp>
      <p:grpSp>
        <p:nvGrpSpPr>
          <p:cNvPr id="9" name="Group 27"/>
          <p:cNvGrpSpPr>
            <a:grpSpLocks/>
          </p:cNvGrpSpPr>
          <p:nvPr/>
        </p:nvGrpSpPr>
        <p:grpSpPr bwMode="auto">
          <a:xfrm>
            <a:off x="3381375" y="2128838"/>
            <a:ext cx="3505200" cy="1174750"/>
            <a:chOff x="0" y="0"/>
            <a:chExt cx="2208" cy="740"/>
          </a:xfrm>
        </p:grpSpPr>
        <p:sp>
          <p:nvSpPr>
            <p:cNvPr id="160786" name="Line 26"/>
            <p:cNvSpPr>
              <a:spLocks noChangeShapeType="1"/>
            </p:cNvSpPr>
            <p:nvPr/>
          </p:nvSpPr>
          <p:spPr bwMode="auto">
            <a:xfrm>
              <a:off x="2163" y="107"/>
              <a:ext cx="0" cy="633"/>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787" name="Line 18"/>
            <p:cNvSpPr>
              <a:spLocks noChangeShapeType="1"/>
            </p:cNvSpPr>
            <p:nvPr/>
          </p:nvSpPr>
          <p:spPr bwMode="auto">
            <a:xfrm>
              <a:off x="738" y="110"/>
              <a:ext cx="142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788" name="Oval 20"/>
            <p:cNvSpPr>
              <a:spLocks noChangeArrowheads="1"/>
            </p:cNvSpPr>
            <p:nvPr/>
          </p:nvSpPr>
          <p:spPr bwMode="auto">
            <a:xfrm>
              <a:off x="2120" y="66"/>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60789" name="Text Box 21"/>
            <p:cNvSpPr txBox="1">
              <a:spLocks noChangeArrowheads="1"/>
            </p:cNvSpPr>
            <p:nvPr/>
          </p:nvSpPr>
          <p:spPr bwMode="auto">
            <a:xfrm>
              <a:off x="0" y="0"/>
              <a:ext cx="7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$11.50</a:t>
              </a:r>
            </a:p>
          </p:txBody>
        </p:sp>
      </p:grpSp>
      <p:sp>
        <p:nvSpPr>
          <p:cNvPr id="46112" name="Rectangle 6"/>
          <p:cNvSpPr>
            <a:spLocks noChangeArrowheads="1"/>
          </p:cNvSpPr>
          <p:nvPr/>
        </p:nvSpPr>
        <p:spPr bwMode="auto">
          <a:xfrm>
            <a:off x="1157288" y="5334000"/>
            <a:ext cx="3109912" cy="1371600"/>
          </a:xfrm>
          <a:prstGeom prst="rect">
            <a:avLst/>
          </a:prstGeom>
          <a:solidFill>
            <a:srgbClr val="CCFFCC"/>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05000"/>
              </a:lnSpc>
              <a:spcBef>
                <a:spcPct val="45000"/>
              </a:spcBef>
              <a:buClr>
                <a:srgbClr val="339966"/>
              </a:buClr>
              <a:buSzPct val="120000"/>
              <a:buFont typeface="Wingdings" panose="05000000000000000000" pitchFamily="2" charset="2"/>
              <a:buNone/>
            </a:pPr>
            <a:r>
              <a:rPr lang="zh-CN" altLang="en-US" sz="2500" b="0">
                <a:latin typeface="Arial" panose="020B0604020202020204" pitchFamily="34" charset="0"/>
              </a:rPr>
              <a:t>因此，对卖家征税使供给曲线向上移动，移动幅度为税收量</a:t>
            </a:r>
            <a:endParaRPr lang="en-US" altLang="zh-CN" sz="2500" b="0">
              <a:latin typeface="Arial" panose="020B0604020202020204" pitchFamily="34" charset="0"/>
            </a:endParaRPr>
          </a:p>
        </p:txBody>
      </p:sp>
      <p:sp>
        <p:nvSpPr>
          <p:cNvPr id="46113" name="Line 42"/>
          <p:cNvSpPr>
            <a:spLocks noChangeShapeType="1"/>
          </p:cNvSpPr>
          <p:nvPr/>
        </p:nvSpPr>
        <p:spPr bwMode="auto">
          <a:xfrm rot="10800000" flipV="1">
            <a:off x="4554538" y="2314575"/>
            <a:ext cx="1587" cy="981075"/>
          </a:xfrm>
          <a:prstGeom prst="line">
            <a:avLst/>
          </a:prstGeom>
          <a:noFill/>
          <a:ln w="57150">
            <a:solidFill>
              <a:srgbClr val="FF0000"/>
            </a:solidFill>
            <a:round/>
            <a:headEnd type="triangle" w="lg"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10" name="Group 34"/>
          <p:cNvGrpSpPr>
            <a:grpSpLocks/>
          </p:cNvGrpSpPr>
          <p:nvPr/>
        </p:nvGrpSpPr>
        <p:grpSpPr bwMode="auto">
          <a:xfrm>
            <a:off x="6904038" y="2238375"/>
            <a:ext cx="842962" cy="1058863"/>
            <a:chOff x="0" y="0"/>
            <a:chExt cx="531" cy="667"/>
          </a:xfrm>
        </p:grpSpPr>
        <p:sp>
          <p:nvSpPr>
            <p:cNvPr id="160783" name="AutoShape 43"/>
            <p:cNvSpPr>
              <a:spLocks/>
            </p:cNvSpPr>
            <p:nvPr/>
          </p:nvSpPr>
          <p:spPr bwMode="auto">
            <a:xfrm flipH="1">
              <a:off x="0" y="46"/>
              <a:ext cx="118" cy="621"/>
            </a:xfrm>
            <a:prstGeom prst="leftBrace">
              <a:avLst>
                <a:gd name="adj1" fmla="val 57110"/>
                <a:gd name="adj2" fmla="val 49435"/>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60784" name="Text Box 44"/>
            <p:cNvSpPr txBox="1">
              <a:spLocks noChangeArrowheads="1"/>
            </p:cNvSpPr>
            <p:nvPr/>
          </p:nvSpPr>
          <p:spPr bwMode="auto">
            <a:xfrm>
              <a:off x="89" y="0"/>
              <a:ext cx="44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solidFill>
                    <a:srgbClr val="008000"/>
                  </a:solidFill>
                  <a:latin typeface="Arial" panose="020B0604020202020204" pitchFamily="34" charset="0"/>
                </a:rPr>
                <a:t>税收</a:t>
              </a:r>
              <a:endParaRPr lang="en-US" altLang="zh-CN" sz="2400" b="0">
                <a:solidFill>
                  <a:srgbClr val="008000"/>
                </a:solidFill>
                <a:latin typeface="Arial" panose="020B0604020202020204" pitchFamily="34" charset="0"/>
              </a:endParaRPr>
            </a:p>
          </p:txBody>
        </p:sp>
        <p:sp>
          <p:nvSpPr>
            <p:cNvPr id="160785" name="Line 45"/>
            <p:cNvSpPr>
              <a:spLocks noChangeShapeType="1"/>
            </p:cNvSpPr>
            <p:nvPr/>
          </p:nvSpPr>
          <p:spPr bwMode="auto">
            <a:xfrm flipV="1">
              <a:off x="146" y="232"/>
              <a:ext cx="140" cy="1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6118" name="Line 42"/>
          <p:cNvSpPr>
            <a:spLocks noChangeShapeType="1"/>
          </p:cNvSpPr>
          <p:nvPr/>
        </p:nvSpPr>
        <p:spPr bwMode="auto">
          <a:xfrm flipH="1" flipV="1">
            <a:off x="6818313" y="2365375"/>
            <a:ext cx="1587" cy="868363"/>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0782" name="Title 1"/>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向卖家征税</a:t>
            </a:r>
          </a:p>
        </p:txBody>
      </p:sp>
    </p:spTree>
    <p:extLst>
      <p:ext uri="{BB962C8B-B14F-4D97-AF65-F5344CB8AC3E}">
        <p14:creationId xmlns:p14="http://schemas.microsoft.com/office/powerpoint/2010/main" val="39538746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106">
                                            <p:txEl>
                                              <p:pRg st="0" end="0"/>
                                            </p:txEl>
                                          </p:spTgt>
                                        </p:tgtEl>
                                        <p:attrNameLst>
                                          <p:attrName>style.visibility</p:attrName>
                                        </p:attrNameLst>
                                      </p:cBhvr>
                                      <p:to>
                                        <p:strVal val="visible"/>
                                      </p:to>
                                    </p:set>
                                    <p:animEffect transition="in" filter="wipe(left)">
                                      <p:cBhvr>
                                        <p:cTn id="7" dur="500"/>
                                        <p:tgtEl>
                                          <p:spTgt spid="46106">
                                            <p:txEl>
                                              <p:pRg st="0" end="0"/>
                                            </p:txEl>
                                          </p:spTgt>
                                        </p:tgtEl>
                                      </p:cBhvr>
                                    </p:animEffect>
                                  </p:childTnLst>
                                  <p:subTnLst>
                                    <p:animClr clrSpc="rgb" dir="cw">
                                      <p:cBhvr override="childStyle">
                                        <p:cTn dur="1" fill="hold" display="0" masterRel="nextClick" afterEffect="1"/>
                                        <p:tgtEl>
                                          <p:spTgt spid="46106">
                                            <p:txEl>
                                              <p:pRg st="0" end="0"/>
                                            </p:txEl>
                                          </p:spTgt>
                                        </p:tgtEl>
                                        <p:attrNameLst>
                                          <p:attrName>ppt_c</p:attrName>
                                        </p:attrNameLst>
                                      </p:cBhvr>
                                      <p:to>
                                        <a:srgbClr val="B2B2B2"/>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6106">
                                            <p:txEl>
                                              <p:pRg st="1" end="1"/>
                                            </p:txEl>
                                          </p:spTgt>
                                        </p:tgtEl>
                                        <p:attrNameLst>
                                          <p:attrName>style.visibility</p:attrName>
                                        </p:attrNameLst>
                                      </p:cBhvr>
                                      <p:to>
                                        <p:strVal val="visible"/>
                                      </p:to>
                                    </p:set>
                                    <p:animEffect transition="in" filter="wipe(left)">
                                      <p:cBhvr>
                                        <p:cTn id="12" dur="500"/>
                                        <p:tgtEl>
                                          <p:spTgt spid="46106">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46113"/>
                                        </p:tgtEl>
                                        <p:attrNameLst>
                                          <p:attrName>style.visibility</p:attrName>
                                        </p:attrNameLst>
                                      </p:cBhvr>
                                      <p:to>
                                        <p:strVal val="visible"/>
                                      </p:to>
                                    </p:set>
                                    <p:animEffect transition="in" filter="wipe(down)">
                                      <p:cBhvr>
                                        <p:cTn id="15" dur="500"/>
                                        <p:tgtEl>
                                          <p:spTgt spid="46113"/>
                                        </p:tgtEl>
                                      </p:cBhvr>
                                    </p:animEffect>
                                  </p:childTnLst>
                                </p:cTn>
                              </p:par>
                            </p:childTnLst>
                          </p:cTn>
                        </p:par>
                        <p:par>
                          <p:cTn id="16" fill="hold" nodeType="afterGroup">
                            <p:stCondLst>
                              <p:cond delay="500"/>
                            </p:stCondLst>
                            <p:childTnLst>
                              <p:par>
                                <p:cTn id="17" presetID="18" presetClass="entr" presetSubtype="3"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strips(upRight)">
                                      <p:cBhvr>
                                        <p:cTn id="19" dur="500"/>
                                        <p:tgtEl>
                                          <p:spTgt spid="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46112"/>
                                        </p:tgtEl>
                                        <p:attrNameLst>
                                          <p:attrName>style.visibility</p:attrName>
                                        </p:attrNameLst>
                                      </p:cBhvr>
                                      <p:to>
                                        <p:strVal val="visible"/>
                                      </p:to>
                                    </p:set>
                                    <p:animEffect transition="in" filter="dissolve">
                                      <p:cBhvr>
                                        <p:cTn id="24" dur="500"/>
                                        <p:tgtEl>
                                          <p:spTgt spid="46112"/>
                                        </p:tgtEl>
                                      </p:cBhvr>
                                    </p:animEffect>
                                  </p:childTnLst>
                                </p:cTn>
                              </p:par>
                              <p:par>
                                <p:cTn id="25" presetID="22" presetClass="entr" presetSubtype="4" fill="hold" nodeType="withEffect">
                                  <p:stCondLst>
                                    <p:cond delay="0"/>
                                  </p:stCondLst>
                                  <p:childTnLst>
                                    <p:set>
                                      <p:cBhvr>
                                        <p:cTn id="26" dur="1" fill="hold">
                                          <p:stCondLst>
                                            <p:cond delay="0"/>
                                          </p:stCondLst>
                                        </p:cTn>
                                        <p:tgtEl>
                                          <p:spTgt spid="46118"/>
                                        </p:tgtEl>
                                        <p:attrNameLst>
                                          <p:attrName>style.visibility</p:attrName>
                                        </p:attrNameLst>
                                      </p:cBhvr>
                                      <p:to>
                                        <p:strVal val="visible"/>
                                      </p:to>
                                    </p:set>
                                    <p:animEffect transition="in" filter="wipe(down)">
                                      <p:cBhvr>
                                        <p:cTn id="27" dur="500"/>
                                        <p:tgtEl>
                                          <p:spTgt spid="46118"/>
                                        </p:tgtEl>
                                      </p:cBhvr>
                                    </p:animEffect>
                                  </p:childTnLst>
                                </p:cTn>
                              </p:par>
                            </p:childTnLst>
                          </p:cTn>
                        </p:par>
                        <p:par>
                          <p:cTn id="28" fill="hold" nodeType="afterGroup">
                            <p:stCondLst>
                              <p:cond delay="500"/>
                            </p:stCondLst>
                            <p:childTnLst>
                              <p:par>
                                <p:cTn id="29" presetID="18" presetClass="entr" presetSubtype="12" fill="hold"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strips(downLeft)">
                                      <p:cBhvr>
                                        <p:cTn id="31" dur="500"/>
                                        <p:tgtEl>
                                          <p:spTgt spid="10"/>
                                        </p:tgtEl>
                                      </p:cBhvr>
                                    </p:animEffect>
                                  </p:childTnLst>
                                </p:cTn>
                              </p:par>
                            </p:childTnLst>
                          </p:cTn>
                        </p:par>
                        <p:par>
                          <p:cTn id="32" fill="hold" nodeType="afterGroup">
                            <p:stCondLst>
                              <p:cond delay="1000"/>
                            </p:stCondLst>
                            <p:childTnLst>
                              <p:par>
                                <p:cTn id="33" presetID="18" presetClass="entr" presetSubtype="12" fill="hold"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strips(downLeft)">
                                      <p:cBhvr>
                                        <p:cTn id="3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06" grpId="0" build="p" autoUpdateAnimBg="0"/>
      <p:bldP spid="46112" grpId="0" bldLvl="5" animBg="1"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62818" name="Group 2"/>
          <p:cNvGrpSpPr>
            <a:grpSpLocks/>
          </p:cNvGrpSpPr>
          <p:nvPr/>
        </p:nvGrpSpPr>
        <p:grpSpPr bwMode="auto">
          <a:xfrm>
            <a:off x="5072063" y="2278063"/>
            <a:ext cx="3176587" cy="2274887"/>
            <a:chOff x="0" y="0"/>
            <a:chExt cx="2001" cy="1433"/>
          </a:xfrm>
        </p:grpSpPr>
        <p:sp>
          <p:nvSpPr>
            <p:cNvPr id="162861" name="Line 3"/>
            <p:cNvSpPr>
              <a:spLocks noChangeShapeType="1"/>
            </p:cNvSpPr>
            <p:nvPr/>
          </p:nvSpPr>
          <p:spPr bwMode="auto">
            <a:xfrm flipV="1">
              <a:off x="0" y="210"/>
              <a:ext cx="1696" cy="1223"/>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62" name="Text Box 4"/>
            <p:cNvSpPr txBox="1">
              <a:spLocks noChangeArrowheads="1"/>
            </p:cNvSpPr>
            <p:nvPr/>
          </p:nvSpPr>
          <p:spPr bwMode="auto">
            <a:xfrm>
              <a:off x="1615" y="0"/>
              <a:ext cx="3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S</a:t>
              </a:r>
              <a:r>
                <a:rPr lang="en-US" altLang="zh-CN" sz="2400" baseline="-25000">
                  <a:latin typeface="Arial" panose="020B0604020202020204" pitchFamily="34" charset="0"/>
                </a:rPr>
                <a:t>1</a:t>
              </a:r>
            </a:p>
          </p:txBody>
        </p:sp>
      </p:grpSp>
      <p:grpSp>
        <p:nvGrpSpPr>
          <p:cNvPr id="162819" name="Group 6"/>
          <p:cNvGrpSpPr>
            <a:grpSpLocks/>
          </p:cNvGrpSpPr>
          <p:nvPr/>
        </p:nvGrpSpPr>
        <p:grpSpPr bwMode="auto">
          <a:xfrm>
            <a:off x="4360863" y="1757363"/>
            <a:ext cx="4422775" cy="3871912"/>
            <a:chOff x="0" y="0"/>
            <a:chExt cx="2786" cy="2439"/>
          </a:xfrm>
        </p:grpSpPr>
        <p:grpSp>
          <p:nvGrpSpPr>
            <p:cNvPr id="162856" name="Group 7"/>
            <p:cNvGrpSpPr>
              <a:grpSpLocks/>
            </p:cNvGrpSpPr>
            <p:nvPr/>
          </p:nvGrpSpPr>
          <p:grpSpPr bwMode="auto">
            <a:xfrm>
              <a:off x="118" y="252"/>
              <a:ext cx="2409" cy="2049"/>
              <a:chOff x="0" y="0"/>
              <a:chExt cx="2116" cy="2027"/>
            </a:xfrm>
          </p:grpSpPr>
          <p:sp>
            <p:nvSpPr>
              <p:cNvPr id="162859" name="Line 9"/>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60" name="Line 10"/>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2857" name="Text Box 11"/>
            <p:cNvSpPr txBox="1">
              <a:spLocks noChangeArrowheads="1"/>
            </p:cNvSpPr>
            <p:nvPr/>
          </p:nvSpPr>
          <p:spPr bwMode="auto">
            <a:xfrm>
              <a:off x="0" y="0"/>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p>
          </p:txBody>
        </p:sp>
        <p:sp>
          <p:nvSpPr>
            <p:cNvPr id="162858" name="Text Box 12"/>
            <p:cNvSpPr txBox="1">
              <a:spLocks noChangeArrowheads="1"/>
            </p:cNvSpPr>
            <p:nvPr/>
          </p:nvSpPr>
          <p:spPr bwMode="auto">
            <a:xfrm>
              <a:off x="2496" y="2151"/>
              <a:ext cx="2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Q</a:t>
              </a:r>
            </a:p>
          </p:txBody>
        </p:sp>
      </p:grpSp>
      <p:grpSp>
        <p:nvGrpSpPr>
          <p:cNvPr id="162820" name="Group 12"/>
          <p:cNvGrpSpPr>
            <a:grpSpLocks/>
          </p:cNvGrpSpPr>
          <p:nvPr/>
        </p:nvGrpSpPr>
        <p:grpSpPr bwMode="auto">
          <a:xfrm>
            <a:off x="5686425" y="2116138"/>
            <a:ext cx="2730500" cy="2649537"/>
            <a:chOff x="0" y="0"/>
            <a:chExt cx="1720" cy="1669"/>
          </a:xfrm>
        </p:grpSpPr>
        <p:sp>
          <p:nvSpPr>
            <p:cNvPr id="162854" name="Line 14"/>
            <p:cNvSpPr>
              <a:spLocks noChangeShapeType="1"/>
            </p:cNvSpPr>
            <p:nvPr/>
          </p:nvSpPr>
          <p:spPr bwMode="auto">
            <a:xfrm>
              <a:off x="0" y="0"/>
              <a:ext cx="1417" cy="1470"/>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55" name="Text Box 15"/>
            <p:cNvSpPr txBox="1">
              <a:spLocks noChangeArrowheads="1"/>
            </p:cNvSpPr>
            <p:nvPr/>
          </p:nvSpPr>
          <p:spPr bwMode="auto">
            <a:xfrm>
              <a:off x="1334" y="1381"/>
              <a:ext cx="3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D</a:t>
              </a:r>
              <a:r>
                <a:rPr lang="en-US" altLang="zh-CN" sz="2400" baseline="-25000">
                  <a:latin typeface="Arial" panose="020B0604020202020204" pitchFamily="34" charset="0"/>
                </a:rPr>
                <a:t>1</a:t>
              </a:r>
            </a:p>
          </p:txBody>
        </p:sp>
      </p:grpSp>
      <p:grpSp>
        <p:nvGrpSpPr>
          <p:cNvPr id="162821" name="Group 15"/>
          <p:cNvGrpSpPr>
            <a:grpSpLocks/>
          </p:cNvGrpSpPr>
          <p:nvPr/>
        </p:nvGrpSpPr>
        <p:grpSpPr bwMode="auto">
          <a:xfrm>
            <a:off x="3382963" y="3105150"/>
            <a:ext cx="3773487" cy="2720975"/>
            <a:chOff x="0" y="0"/>
            <a:chExt cx="2377" cy="1714"/>
          </a:xfrm>
        </p:grpSpPr>
        <p:grpSp>
          <p:nvGrpSpPr>
            <p:cNvPr id="162848" name="Group 16"/>
            <p:cNvGrpSpPr>
              <a:grpSpLocks/>
            </p:cNvGrpSpPr>
            <p:nvPr/>
          </p:nvGrpSpPr>
          <p:grpSpPr bwMode="auto">
            <a:xfrm>
              <a:off x="740" y="119"/>
              <a:ext cx="1425" cy="1333"/>
              <a:chOff x="0" y="0"/>
              <a:chExt cx="795" cy="646"/>
            </a:xfrm>
          </p:grpSpPr>
          <p:sp>
            <p:nvSpPr>
              <p:cNvPr id="162852" name="Line 18"/>
              <p:cNvSpPr>
                <a:spLocks noChangeShapeType="1"/>
              </p:cNvSpPr>
              <p:nvPr/>
            </p:nvSpPr>
            <p:spPr bwMode="auto">
              <a:xfrm>
                <a:off x="0" y="0"/>
                <a:ext cx="795" cy="0"/>
              </a:xfrm>
              <a:prstGeom prst="line">
                <a:avLst/>
              </a:prstGeom>
              <a:noFill/>
              <a:ln w="9525">
                <a:solidFill>
                  <a:srgbClr val="C0C0C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53" name="Line 19"/>
              <p:cNvSpPr>
                <a:spLocks noChangeShapeType="1"/>
              </p:cNvSpPr>
              <p:nvPr/>
            </p:nvSpPr>
            <p:spPr bwMode="auto">
              <a:xfrm>
                <a:off x="795" y="1"/>
                <a:ext cx="0" cy="645"/>
              </a:xfrm>
              <a:prstGeom prst="line">
                <a:avLst/>
              </a:prstGeom>
              <a:noFill/>
              <a:ln w="9525">
                <a:solidFill>
                  <a:srgbClr val="C0C0C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2849" name="Oval 20"/>
            <p:cNvSpPr>
              <a:spLocks noChangeArrowheads="1"/>
            </p:cNvSpPr>
            <p:nvPr/>
          </p:nvSpPr>
          <p:spPr bwMode="auto">
            <a:xfrm>
              <a:off x="2118" y="72"/>
              <a:ext cx="88" cy="8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62850" name="Text Box 21"/>
            <p:cNvSpPr txBox="1">
              <a:spLocks noChangeArrowheads="1"/>
            </p:cNvSpPr>
            <p:nvPr/>
          </p:nvSpPr>
          <p:spPr bwMode="auto">
            <a:xfrm>
              <a:off x="0" y="0"/>
              <a:ext cx="7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solidFill>
                    <a:srgbClr val="C0C0C0"/>
                  </a:solidFill>
                  <a:latin typeface="Arial" panose="020B0604020202020204" pitchFamily="34" charset="0"/>
                </a:rPr>
                <a:t>$10.00</a:t>
              </a:r>
            </a:p>
          </p:txBody>
        </p:sp>
        <p:sp>
          <p:nvSpPr>
            <p:cNvPr id="162851" name="Text Box 22"/>
            <p:cNvSpPr txBox="1">
              <a:spLocks noChangeArrowheads="1"/>
            </p:cNvSpPr>
            <p:nvPr/>
          </p:nvSpPr>
          <p:spPr bwMode="auto">
            <a:xfrm>
              <a:off x="2006" y="1484"/>
              <a:ext cx="3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solidFill>
                    <a:srgbClr val="C0C0C0"/>
                  </a:solidFill>
                  <a:latin typeface="Arial" panose="020B0604020202020204" pitchFamily="34" charset="0"/>
                </a:rPr>
                <a:t>500</a:t>
              </a:r>
            </a:p>
          </p:txBody>
        </p:sp>
      </p:grpSp>
      <p:grpSp>
        <p:nvGrpSpPr>
          <p:cNvPr id="162822" name="Group 22"/>
          <p:cNvGrpSpPr>
            <a:grpSpLocks/>
          </p:cNvGrpSpPr>
          <p:nvPr/>
        </p:nvGrpSpPr>
        <p:grpSpPr bwMode="auto">
          <a:xfrm>
            <a:off x="4802188" y="1890713"/>
            <a:ext cx="2600325" cy="1857375"/>
            <a:chOff x="0" y="0"/>
            <a:chExt cx="1638" cy="1170"/>
          </a:xfrm>
        </p:grpSpPr>
        <p:sp>
          <p:nvSpPr>
            <p:cNvPr id="162846" name="Line 28"/>
            <p:cNvSpPr>
              <a:spLocks noChangeShapeType="1"/>
            </p:cNvSpPr>
            <p:nvPr/>
          </p:nvSpPr>
          <p:spPr bwMode="auto">
            <a:xfrm flipV="1">
              <a:off x="0" y="210"/>
              <a:ext cx="1333" cy="960"/>
            </a:xfrm>
            <a:prstGeom prst="line">
              <a:avLst/>
            </a:prstGeom>
            <a:noFill/>
            <a:ln w="38100">
              <a:solidFill>
                <a:srgbClr val="A5002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47" name="Text Box 29"/>
            <p:cNvSpPr txBox="1">
              <a:spLocks noChangeArrowheads="1"/>
            </p:cNvSpPr>
            <p:nvPr/>
          </p:nvSpPr>
          <p:spPr bwMode="auto">
            <a:xfrm>
              <a:off x="1252" y="0"/>
              <a:ext cx="3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S</a:t>
              </a:r>
              <a:r>
                <a:rPr lang="en-US" altLang="zh-CN" sz="2400" baseline="-25000">
                  <a:latin typeface="Arial" panose="020B0604020202020204" pitchFamily="34" charset="0"/>
                </a:rPr>
                <a:t>2</a:t>
              </a:r>
            </a:p>
          </p:txBody>
        </p:sp>
      </p:grpSp>
      <p:grpSp>
        <p:nvGrpSpPr>
          <p:cNvPr id="9" name="Group 25"/>
          <p:cNvGrpSpPr>
            <a:grpSpLocks/>
          </p:cNvGrpSpPr>
          <p:nvPr/>
        </p:nvGrpSpPr>
        <p:grpSpPr bwMode="auto">
          <a:xfrm>
            <a:off x="5913438" y="2628900"/>
            <a:ext cx="588962" cy="3197225"/>
            <a:chOff x="0" y="0"/>
            <a:chExt cx="371" cy="2014"/>
          </a:xfrm>
        </p:grpSpPr>
        <p:grpSp>
          <p:nvGrpSpPr>
            <p:cNvPr id="162842" name="Group 26"/>
            <p:cNvGrpSpPr>
              <a:grpSpLocks/>
            </p:cNvGrpSpPr>
            <p:nvPr/>
          </p:nvGrpSpPr>
          <p:grpSpPr bwMode="auto">
            <a:xfrm>
              <a:off x="0" y="52"/>
              <a:ext cx="371" cy="1962"/>
              <a:chOff x="0" y="0"/>
              <a:chExt cx="371" cy="1962"/>
            </a:xfrm>
          </p:grpSpPr>
          <p:sp>
            <p:nvSpPr>
              <p:cNvPr id="162844" name="Line 26"/>
              <p:cNvSpPr>
                <a:spLocks noChangeShapeType="1"/>
              </p:cNvSpPr>
              <p:nvPr/>
            </p:nvSpPr>
            <p:spPr bwMode="auto">
              <a:xfrm>
                <a:off x="215" y="0"/>
                <a:ext cx="0" cy="1699"/>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45" name="Text Box 30"/>
              <p:cNvSpPr txBox="1">
                <a:spLocks noChangeArrowheads="1"/>
              </p:cNvSpPr>
              <p:nvPr/>
            </p:nvSpPr>
            <p:spPr bwMode="auto">
              <a:xfrm>
                <a:off x="0" y="1732"/>
                <a:ext cx="3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450</a:t>
                </a:r>
              </a:p>
            </p:txBody>
          </p:sp>
        </p:grpSp>
        <p:sp>
          <p:nvSpPr>
            <p:cNvPr id="162843" name="Oval 37"/>
            <p:cNvSpPr>
              <a:spLocks noChangeArrowheads="1"/>
            </p:cNvSpPr>
            <p:nvPr/>
          </p:nvSpPr>
          <p:spPr bwMode="auto">
            <a:xfrm>
              <a:off x="173" y="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grpSp>
        <p:nvGrpSpPr>
          <p:cNvPr id="11" name="Group 30"/>
          <p:cNvGrpSpPr>
            <a:grpSpLocks/>
          </p:cNvGrpSpPr>
          <p:nvPr/>
        </p:nvGrpSpPr>
        <p:grpSpPr bwMode="auto">
          <a:xfrm>
            <a:off x="2711450" y="2479675"/>
            <a:ext cx="3552825" cy="457200"/>
            <a:chOff x="0" y="0"/>
            <a:chExt cx="2238" cy="288"/>
          </a:xfrm>
        </p:grpSpPr>
        <p:sp>
          <p:nvSpPr>
            <p:cNvPr id="162839" name="Line 36"/>
            <p:cNvSpPr>
              <a:spLocks noChangeShapeType="1"/>
            </p:cNvSpPr>
            <p:nvPr/>
          </p:nvSpPr>
          <p:spPr bwMode="auto">
            <a:xfrm>
              <a:off x="1166" y="140"/>
              <a:ext cx="1072"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40" name="Text Box 38"/>
            <p:cNvSpPr txBox="1">
              <a:spLocks noChangeArrowheads="1"/>
            </p:cNvSpPr>
            <p:nvPr/>
          </p:nvSpPr>
          <p:spPr bwMode="auto">
            <a:xfrm>
              <a:off x="413" y="27"/>
              <a:ext cx="73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$11.00</a:t>
              </a:r>
            </a:p>
          </p:txBody>
        </p:sp>
        <p:sp>
          <p:nvSpPr>
            <p:cNvPr id="162841" name="Text Box 39"/>
            <p:cNvSpPr txBox="1">
              <a:spLocks noChangeArrowheads="1"/>
            </p:cNvSpPr>
            <p:nvPr/>
          </p:nvSpPr>
          <p:spPr bwMode="auto">
            <a:xfrm>
              <a:off x="0" y="0"/>
              <a:ext cx="50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r>
                <a:rPr lang="en-US" altLang="zh-CN" sz="2400" i="1" baseline="-25000">
                  <a:latin typeface="Arial" panose="020B0604020202020204" pitchFamily="34" charset="0"/>
                </a:rPr>
                <a:t>B</a:t>
              </a:r>
              <a:r>
                <a:rPr lang="en-US" altLang="zh-CN" sz="2400" b="0">
                  <a:latin typeface="Arial" panose="020B0604020202020204" pitchFamily="34" charset="0"/>
                </a:rPr>
                <a:t> =</a:t>
              </a:r>
              <a:endParaRPr lang="en-US" altLang="zh-CN" sz="2400" i="1" baseline="-25000">
                <a:latin typeface="Arial" panose="020B0604020202020204" pitchFamily="34" charset="0"/>
              </a:endParaRPr>
            </a:p>
          </p:txBody>
        </p:sp>
      </p:grpSp>
      <p:grpSp>
        <p:nvGrpSpPr>
          <p:cNvPr id="12" name="Group 34"/>
          <p:cNvGrpSpPr>
            <a:grpSpLocks/>
          </p:cNvGrpSpPr>
          <p:nvPr/>
        </p:nvGrpSpPr>
        <p:grpSpPr bwMode="auto">
          <a:xfrm>
            <a:off x="2870200" y="3484563"/>
            <a:ext cx="3460750" cy="457200"/>
            <a:chOff x="0" y="0"/>
            <a:chExt cx="2180" cy="288"/>
          </a:xfrm>
        </p:grpSpPr>
        <p:grpSp>
          <p:nvGrpSpPr>
            <p:cNvPr id="162834" name="Group 35"/>
            <p:cNvGrpSpPr>
              <a:grpSpLocks/>
            </p:cNvGrpSpPr>
            <p:nvPr/>
          </p:nvGrpSpPr>
          <p:grpSpPr bwMode="auto">
            <a:xfrm>
              <a:off x="455" y="25"/>
              <a:ext cx="1725" cy="230"/>
              <a:chOff x="0" y="0"/>
              <a:chExt cx="1725" cy="230"/>
            </a:xfrm>
          </p:grpSpPr>
          <p:sp>
            <p:nvSpPr>
              <p:cNvPr id="162836" name="Line 32"/>
              <p:cNvSpPr>
                <a:spLocks noChangeShapeType="1"/>
              </p:cNvSpPr>
              <p:nvPr/>
            </p:nvSpPr>
            <p:spPr bwMode="auto">
              <a:xfrm>
                <a:off x="609" y="118"/>
                <a:ext cx="1072"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2837" name="Oval 33"/>
              <p:cNvSpPr>
                <a:spLocks noChangeArrowheads="1"/>
              </p:cNvSpPr>
              <p:nvPr/>
            </p:nvSpPr>
            <p:spPr bwMode="auto">
              <a:xfrm>
                <a:off x="1637" y="71"/>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62838" name="Text Box 34"/>
              <p:cNvSpPr txBox="1">
                <a:spLocks noChangeArrowheads="1"/>
              </p:cNvSpPr>
              <p:nvPr/>
            </p:nvSpPr>
            <p:spPr bwMode="auto">
              <a:xfrm>
                <a:off x="0" y="0"/>
                <a:ext cx="59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$9.50</a:t>
                </a:r>
              </a:p>
            </p:txBody>
          </p:sp>
        </p:grpSp>
        <p:sp>
          <p:nvSpPr>
            <p:cNvPr id="162835" name="Text Box 40"/>
            <p:cNvSpPr txBox="1">
              <a:spLocks noChangeArrowheads="1"/>
            </p:cNvSpPr>
            <p:nvPr/>
          </p:nvSpPr>
          <p:spPr bwMode="auto">
            <a:xfrm>
              <a:off x="0" y="0"/>
              <a:ext cx="50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r>
                <a:rPr lang="en-US" altLang="zh-CN" sz="2400" i="1" baseline="-25000">
                  <a:latin typeface="Arial" panose="020B0604020202020204" pitchFamily="34" charset="0"/>
                </a:rPr>
                <a:t>S</a:t>
              </a:r>
              <a:r>
                <a:rPr lang="en-US" altLang="zh-CN" sz="2400" b="0">
                  <a:latin typeface="Arial" panose="020B0604020202020204" pitchFamily="34" charset="0"/>
                </a:rPr>
                <a:t> =</a:t>
              </a:r>
              <a:endParaRPr lang="en-US" altLang="zh-CN" sz="2400" i="1" baseline="-25000">
                <a:latin typeface="Arial" panose="020B0604020202020204" pitchFamily="34" charset="0"/>
              </a:endParaRPr>
            </a:p>
          </p:txBody>
        </p:sp>
      </p:grpSp>
      <p:sp>
        <p:nvSpPr>
          <p:cNvPr id="48168" name="Line 42"/>
          <p:cNvSpPr>
            <a:spLocks noChangeShapeType="1"/>
          </p:cNvSpPr>
          <p:nvPr/>
        </p:nvSpPr>
        <p:spPr bwMode="auto">
          <a:xfrm flipV="1">
            <a:off x="6254750" y="2767013"/>
            <a:ext cx="1588" cy="874712"/>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4" name="Group 41"/>
          <p:cNvGrpSpPr>
            <a:grpSpLocks/>
          </p:cNvGrpSpPr>
          <p:nvPr/>
        </p:nvGrpSpPr>
        <p:grpSpPr bwMode="auto">
          <a:xfrm>
            <a:off x="6332538" y="2635250"/>
            <a:ext cx="842962" cy="1058863"/>
            <a:chOff x="0" y="0"/>
            <a:chExt cx="531" cy="667"/>
          </a:xfrm>
        </p:grpSpPr>
        <p:sp>
          <p:nvSpPr>
            <p:cNvPr id="162831" name="AutoShape 43"/>
            <p:cNvSpPr>
              <a:spLocks/>
            </p:cNvSpPr>
            <p:nvPr/>
          </p:nvSpPr>
          <p:spPr bwMode="auto">
            <a:xfrm flipH="1">
              <a:off x="0" y="46"/>
              <a:ext cx="118" cy="621"/>
            </a:xfrm>
            <a:prstGeom prst="leftBrace">
              <a:avLst>
                <a:gd name="adj1" fmla="val 57110"/>
                <a:gd name="adj2" fmla="val 49435"/>
              </a:avLst>
            </a:prstGeom>
            <a:noFill/>
            <a:ln w="31750">
              <a:solidFill>
                <a:srgbClr val="00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62832" name="Text Box 44"/>
            <p:cNvSpPr txBox="1">
              <a:spLocks noChangeArrowheads="1"/>
            </p:cNvSpPr>
            <p:nvPr/>
          </p:nvSpPr>
          <p:spPr bwMode="auto">
            <a:xfrm>
              <a:off x="89" y="0"/>
              <a:ext cx="44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solidFill>
                    <a:srgbClr val="006600"/>
                  </a:solidFill>
                  <a:latin typeface="Arial" panose="020B0604020202020204" pitchFamily="34" charset="0"/>
                </a:rPr>
                <a:t>税收</a:t>
              </a:r>
              <a:endParaRPr lang="en-US" altLang="zh-CN" sz="2400" b="0">
                <a:solidFill>
                  <a:srgbClr val="006600"/>
                </a:solidFill>
                <a:latin typeface="Arial" panose="020B0604020202020204" pitchFamily="34" charset="0"/>
              </a:endParaRPr>
            </a:p>
          </p:txBody>
        </p:sp>
        <p:sp>
          <p:nvSpPr>
            <p:cNvPr id="162833" name="Line 45"/>
            <p:cNvSpPr>
              <a:spLocks noChangeShapeType="1"/>
            </p:cNvSpPr>
            <p:nvPr/>
          </p:nvSpPr>
          <p:spPr bwMode="auto">
            <a:xfrm flipV="1">
              <a:off x="146" y="232"/>
              <a:ext cx="140" cy="1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2828" name="Text Box 46"/>
          <p:cNvSpPr txBox="1">
            <a:spLocks noChangeArrowheads="1"/>
          </p:cNvSpPr>
          <p:nvPr/>
        </p:nvSpPr>
        <p:spPr bwMode="auto">
          <a:xfrm>
            <a:off x="4978400" y="1295400"/>
            <a:ext cx="347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向卖家征税</a:t>
            </a:r>
            <a:r>
              <a:rPr lang="en-US" altLang="zh-CN" sz="2400" b="0">
                <a:latin typeface="Arial" panose="020B0604020202020204" pitchFamily="34" charset="0"/>
              </a:rPr>
              <a:t>$1.50</a:t>
            </a:r>
          </a:p>
        </p:txBody>
      </p:sp>
      <p:sp>
        <p:nvSpPr>
          <p:cNvPr id="48174" name="Rectangle 47"/>
          <p:cNvSpPr>
            <a:spLocks noChangeArrowheads="1"/>
          </p:cNvSpPr>
          <p:nvPr/>
        </p:nvSpPr>
        <p:spPr bwMode="auto">
          <a:xfrm>
            <a:off x="1066800" y="1524000"/>
            <a:ext cx="19050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05000"/>
              </a:lnSpc>
              <a:spcBef>
                <a:spcPct val="45000"/>
              </a:spcBef>
              <a:buClr>
                <a:srgbClr val="00B85C"/>
              </a:buClr>
              <a:buSzPct val="120000"/>
              <a:buFont typeface="Wingdings" panose="05000000000000000000" pitchFamily="2" charset="2"/>
              <a:buNone/>
            </a:pPr>
            <a:r>
              <a:rPr lang="zh-CN" altLang="en-US" sz="2500" b="0" u="sng">
                <a:latin typeface="Arial" panose="020B0604020202020204" pitchFamily="34" charset="0"/>
              </a:rPr>
              <a:t>新的均衡：</a:t>
            </a:r>
          </a:p>
          <a:p>
            <a:pPr eaLnBrk="1" hangingPunct="1">
              <a:lnSpc>
                <a:spcPct val="105000"/>
              </a:lnSpc>
              <a:spcBef>
                <a:spcPct val="45000"/>
              </a:spcBef>
              <a:buClr>
                <a:srgbClr val="00B85C"/>
              </a:buClr>
              <a:buSzPct val="120000"/>
              <a:buFont typeface="Wingdings" panose="05000000000000000000" pitchFamily="2" charset="2"/>
              <a:buNone/>
            </a:pPr>
            <a:r>
              <a:rPr lang="en-US" altLang="zh-CN" sz="2500" i="1">
                <a:latin typeface="Arial" panose="020B0604020202020204" pitchFamily="34" charset="0"/>
              </a:rPr>
              <a:t>Q</a:t>
            </a:r>
            <a:r>
              <a:rPr lang="en-US" altLang="zh-CN" sz="2500" b="0">
                <a:latin typeface="Arial" panose="020B0604020202020204" pitchFamily="34" charset="0"/>
              </a:rPr>
              <a:t> = 450</a:t>
            </a:r>
          </a:p>
          <a:p>
            <a:pPr eaLnBrk="1" hangingPunct="1">
              <a:lnSpc>
                <a:spcPct val="105000"/>
              </a:lnSpc>
              <a:spcBef>
                <a:spcPct val="45000"/>
              </a:spcBef>
              <a:buClr>
                <a:srgbClr val="00B85C"/>
              </a:buClr>
              <a:buSzPct val="120000"/>
              <a:buFont typeface="Wingdings" panose="05000000000000000000" pitchFamily="2" charset="2"/>
              <a:buNone/>
            </a:pPr>
            <a:r>
              <a:rPr lang="zh-CN" altLang="en-US" sz="2500" b="0">
                <a:latin typeface="Arial" panose="020B0604020202020204" pitchFamily="34" charset="0"/>
              </a:rPr>
              <a:t>买家支付</a:t>
            </a:r>
            <a:br>
              <a:rPr lang="zh-CN" altLang="en-US" sz="2500" b="0">
                <a:latin typeface="Arial" panose="020B0604020202020204" pitchFamily="34" charset="0"/>
              </a:rPr>
            </a:br>
            <a:r>
              <a:rPr lang="en-US" altLang="zh-CN" sz="2400" i="1">
                <a:latin typeface="Arial" panose="020B0604020202020204" pitchFamily="34" charset="0"/>
              </a:rPr>
              <a:t>P</a:t>
            </a:r>
            <a:r>
              <a:rPr lang="en-US" altLang="zh-CN" sz="2400" i="1" baseline="-25000">
                <a:latin typeface="Arial" panose="020B0604020202020204" pitchFamily="34" charset="0"/>
              </a:rPr>
              <a:t>B</a:t>
            </a:r>
            <a:r>
              <a:rPr lang="en-US" altLang="zh-CN" sz="2500" b="0">
                <a:latin typeface="Arial" panose="020B0604020202020204" pitchFamily="34" charset="0"/>
              </a:rPr>
              <a:t> = 11.00</a:t>
            </a:r>
          </a:p>
          <a:p>
            <a:pPr eaLnBrk="1" hangingPunct="1">
              <a:lnSpc>
                <a:spcPct val="105000"/>
              </a:lnSpc>
              <a:spcBef>
                <a:spcPct val="45000"/>
              </a:spcBef>
              <a:buClr>
                <a:srgbClr val="00B85C"/>
              </a:buClr>
              <a:buSzPct val="120000"/>
              <a:buFont typeface="Wingdings" panose="05000000000000000000" pitchFamily="2" charset="2"/>
              <a:buNone/>
            </a:pPr>
            <a:r>
              <a:rPr lang="zh-CN" altLang="en-US" sz="2500" b="0">
                <a:latin typeface="Arial" panose="020B0604020202020204" pitchFamily="34" charset="0"/>
              </a:rPr>
              <a:t>卖家得到</a:t>
            </a:r>
            <a:br>
              <a:rPr lang="zh-CN" altLang="en-US" sz="2500" b="0">
                <a:latin typeface="Arial" panose="020B0604020202020204" pitchFamily="34" charset="0"/>
              </a:rPr>
            </a:br>
            <a:r>
              <a:rPr lang="en-US" altLang="zh-CN" sz="2400" i="1">
                <a:latin typeface="Arial" panose="020B0604020202020204" pitchFamily="34" charset="0"/>
              </a:rPr>
              <a:t>P</a:t>
            </a:r>
            <a:r>
              <a:rPr lang="en-US" altLang="zh-CN" sz="2400" i="1" baseline="-25000">
                <a:latin typeface="Arial" panose="020B0604020202020204" pitchFamily="34" charset="0"/>
              </a:rPr>
              <a:t>S</a:t>
            </a:r>
            <a:r>
              <a:rPr lang="en-US" altLang="zh-CN" sz="2500" b="0">
                <a:latin typeface="Arial" panose="020B0604020202020204" pitchFamily="34" charset="0"/>
              </a:rPr>
              <a:t> = 9.50</a:t>
            </a:r>
          </a:p>
          <a:p>
            <a:pPr eaLnBrk="1" hangingPunct="1">
              <a:lnSpc>
                <a:spcPct val="105000"/>
              </a:lnSpc>
              <a:spcBef>
                <a:spcPct val="45000"/>
              </a:spcBef>
              <a:buClr>
                <a:srgbClr val="00B85C"/>
              </a:buClr>
              <a:buSzPct val="120000"/>
              <a:buFont typeface="Wingdings" panose="05000000000000000000" pitchFamily="2" charset="2"/>
              <a:buNone/>
            </a:pPr>
            <a:r>
              <a:rPr lang="zh-CN" altLang="en-US" sz="2500" b="0">
                <a:latin typeface="Arial" panose="020B0604020202020204" pitchFamily="34" charset="0"/>
              </a:rPr>
              <a:t>两者之差</a:t>
            </a:r>
            <a:br>
              <a:rPr lang="zh-CN" altLang="en-US" sz="2500" b="0">
                <a:latin typeface="Arial" panose="020B0604020202020204" pitchFamily="34" charset="0"/>
              </a:rPr>
            </a:br>
            <a:r>
              <a:rPr lang="zh-CN" altLang="en-US" sz="2500" b="0">
                <a:latin typeface="Arial" panose="020B0604020202020204" pitchFamily="34" charset="0"/>
              </a:rPr>
              <a:t>  </a:t>
            </a:r>
            <a:r>
              <a:rPr lang="en-US" altLang="zh-CN" sz="2500" b="0">
                <a:latin typeface="Arial" panose="020B0604020202020204" pitchFamily="34" charset="0"/>
              </a:rPr>
              <a:t>= 1.50 = </a:t>
            </a:r>
            <a:r>
              <a:rPr lang="zh-CN" altLang="en-US" sz="2500" b="0">
                <a:latin typeface="Arial" panose="020B0604020202020204" pitchFamily="34" charset="0"/>
              </a:rPr>
              <a:t>税收</a:t>
            </a:r>
          </a:p>
        </p:txBody>
      </p:sp>
      <p:sp>
        <p:nvSpPr>
          <p:cNvPr id="162830" name="Title 1"/>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向卖家征税</a:t>
            </a:r>
          </a:p>
        </p:txBody>
      </p:sp>
    </p:spTree>
    <p:extLst>
      <p:ext uri="{BB962C8B-B14F-4D97-AF65-F5344CB8AC3E}">
        <p14:creationId xmlns:p14="http://schemas.microsoft.com/office/powerpoint/2010/main" val="2784008220"/>
      </p:ext>
    </p:extLst>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8174">
                                            <p:txEl>
                                              <p:pRg st="1" end="1"/>
                                            </p:txEl>
                                          </p:spTgt>
                                        </p:tgtEl>
                                        <p:attrNameLst>
                                          <p:attrName>style.visibility</p:attrName>
                                        </p:attrNameLst>
                                      </p:cBhvr>
                                      <p:to>
                                        <p:strVal val="visible"/>
                                      </p:to>
                                    </p:set>
                                    <p:animEffect transition="in" filter="wipe(left)">
                                      <p:cBhvr>
                                        <p:cTn id="7" dur="500"/>
                                        <p:tgtEl>
                                          <p:spTgt spid="48174">
                                            <p:txEl>
                                              <p:pRg st="1" end="1"/>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500"/>
                                        <p:tgtEl>
                                          <p:spTgt spid="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8174">
                                            <p:txEl>
                                              <p:pRg st="2" end="2"/>
                                            </p:txEl>
                                          </p:spTgt>
                                        </p:tgtEl>
                                        <p:attrNameLst>
                                          <p:attrName>style.visibility</p:attrName>
                                        </p:attrNameLst>
                                      </p:cBhvr>
                                      <p:to>
                                        <p:strVal val="visible"/>
                                      </p:to>
                                    </p:set>
                                    <p:animEffect transition="in" filter="wipe(left)">
                                      <p:cBhvr>
                                        <p:cTn id="15" dur="500"/>
                                        <p:tgtEl>
                                          <p:spTgt spid="48174">
                                            <p:txEl>
                                              <p:pRg st="2" end="2"/>
                                            </p:txEl>
                                          </p:spTgt>
                                        </p:tgtEl>
                                      </p:cBhvr>
                                    </p:animEffect>
                                  </p:childTnLst>
                                </p:cTn>
                              </p:par>
                              <p:par>
                                <p:cTn id="16" presetID="22" presetClass="entr" presetSubtype="2"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right)">
                                      <p:cBhvr>
                                        <p:cTn id="18" dur="500"/>
                                        <p:tgtEl>
                                          <p:spTgt spid="1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48174">
                                            <p:txEl>
                                              <p:pRg st="3" end="3"/>
                                            </p:txEl>
                                          </p:spTgt>
                                        </p:tgtEl>
                                        <p:attrNameLst>
                                          <p:attrName>style.visibility</p:attrName>
                                        </p:attrNameLst>
                                      </p:cBhvr>
                                      <p:to>
                                        <p:strVal val="visible"/>
                                      </p:to>
                                    </p:set>
                                    <p:animEffect transition="in" filter="wipe(left)">
                                      <p:cBhvr>
                                        <p:cTn id="23" dur="500"/>
                                        <p:tgtEl>
                                          <p:spTgt spid="48174">
                                            <p:txEl>
                                              <p:pRg st="3" end="3"/>
                                            </p:txEl>
                                          </p:spTgt>
                                        </p:tgtEl>
                                      </p:cBhvr>
                                    </p:animEffect>
                                  </p:childTnLst>
                                </p:cTn>
                              </p:par>
                              <p:par>
                                <p:cTn id="24" presetID="22" presetClass="entr" presetSubtype="2"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right)">
                                      <p:cBhvr>
                                        <p:cTn id="26" dur="500"/>
                                        <p:tgtEl>
                                          <p:spTgt spid="1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8174">
                                            <p:txEl>
                                              <p:pRg st="4" end="4"/>
                                            </p:txEl>
                                          </p:spTgt>
                                        </p:tgtEl>
                                        <p:attrNameLst>
                                          <p:attrName>style.visibility</p:attrName>
                                        </p:attrNameLst>
                                      </p:cBhvr>
                                      <p:to>
                                        <p:strVal val="visible"/>
                                      </p:to>
                                    </p:set>
                                    <p:animEffect transition="in" filter="wipe(left)">
                                      <p:cBhvr>
                                        <p:cTn id="31" dur="500"/>
                                        <p:tgtEl>
                                          <p:spTgt spid="48174">
                                            <p:txEl>
                                              <p:pRg st="4" end="4"/>
                                            </p:txEl>
                                          </p:spTgt>
                                        </p:tgtEl>
                                      </p:cBhvr>
                                    </p:animEffect>
                                  </p:childTnLst>
                                </p:cTn>
                              </p:par>
                              <p:par>
                                <p:cTn id="32" presetID="22" presetClass="entr" presetSubtype="4" fill="hold" nodeType="withEffect">
                                  <p:stCondLst>
                                    <p:cond delay="0"/>
                                  </p:stCondLst>
                                  <p:childTnLst>
                                    <p:set>
                                      <p:cBhvr>
                                        <p:cTn id="33" dur="1" fill="hold">
                                          <p:stCondLst>
                                            <p:cond delay="0"/>
                                          </p:stCondLst>
                                        </p:cTn>
                                        <p:tgtEl>
                                          <p:spTgt spid="48168"/>
                                        </p:tgtEl>
                                        <p:attrNameLst>
                                          <p:attrName>style.visibility</p:attrName>
                                        </p:attrNameLst>
                                      </p:cBhvr>
                                      <p:to>
                                        <p:strVal val="visible"/>
                                      </p:to>
                                    </p:set>
                                    <p:animEffect transition="in" filter="wipe(down)">
                                      <p:cBhvr>
                                        <p:cTn id="34" dur="500"/>
                                        <p:tgtEl>
                                          <p:spTgt spid="48168"/>
                                        </p:tgtEl>
                                      </p:cBhvr>
                                    </p:animEffect>
                                  </p:childTnLst>
                                </p:cTn>
                              </p:par>
                            </p:childTnLst>
                          </p:cTn>
                        </p:par>
                        <p:par>
                          <p:cTn id="35" fill="hold" nodeType="afterGroup">
                            <p:stCondLst>
                              <p:cond delay="500"/>
                            </p:stCondLst>
                            <p:childTnLst>
                              <p:par>
                                <p:cTn id="36" presetID="18" presetClass="entr" presetSubtype="12" fill="hold"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strips(downLeft)">
                                      <p:cBhvr>
                                        <p:cTn id="3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74" grpId="0" build="p"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63842" name="Group 2"/>
          <p:cNvGrpSpPr>
            <a:grpSpLocks/>
          </p:cNvGrpSpPr>
          <p:nvPr/>
        </p:nvGrpSpPr>
        <p:grpSpPr bwMode="auto">
          <a:xfrm>
            <a:off x="5072063" y="2278063"/>
            <a:ext cx="3176587" cy="2274887"/>
            <a:chOff x="0" y="0"/>
            <a:chExt cx="2001" cy="1433"/>
          </a:xfrm>
        </p:grpSpPr>
        <p:sp>
          <p:nvSpPr>
            <p:cNvPr id="163878" name="Line 3"/>
            <p:cNvSpPr>
              <a:spLocks noChangeShapeType="1"/>
            </p:cNvSpPr>
            <p:nvPr/>
          </p:nvSpPr>
          <p:spPr bwMode="auto">
            <a:xfrm flipV="1">
              <a:off x="0" y="210"/>
              <a:ext cx="1696" cy="1223"/>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79" name="Text Box 4"/>
            <p:cNvSpPr txBox="1">
              <a:spLocks noChangeArrowheads="1"/>
            </p:cNvSpPr>
            <p:nvPr/>
          </p:nvSpPr>
          <p:spPr bwMode="auto">
            <a:xfrm>
              <a:off x="1615" y="0"/>
              <a:ext cx="3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S</a:t>
              </a:r>
              <a:r>
                <a:rPr lang="en-US" altLang="zh-CN" sz="2400" baseline="-25000">
                  <a:latin typeface="Arial" panose="020B0604020202020204" pitchFamily="34" charset="0"/>
                </a:rPr>
                <a:t>1</a:t>
              </a:r>
            </a:p>
          </p:txBody>
        </p:sp>
      </p:grpSp>
      <p:sp>
        <p:nvSpPr>
          <p:cNvPr id="49158" name="Rectangle 6"/>
          <p:cNvSpPr>
            <a:spLocks noGrp="1" noChangeArrowheads="1"/>
          </p:cNvSpPr>
          <p:nvPr>
            <p:ph type="body" idx="4294967295"/>
          </p:nvPr>
        </p:nvSpPr>
        <p:spPr>
          <a:xfrm>
            <a:off x="1066800" y="4572000"/>
            <a:ext cx="3051175" cy="1981200"/>
          </a:xfrm>
          <a:noFill/>
        </p:spPr>
        <p:txBody>
          <a:bodyPr/>
          <a:lstStyle/>
          <a:p>
            <a:pPr marL="0" indent="0">
              <a:buFont typeface="Wingdings" panose="05000000000000000000" pitchFamily="2" charset="2"/>
              <a:buNone/>
            </a:pPr>
            <a:r>
              <a:rPr lang="zh-CN" altLang="en-US" sz="2400">
                <a:ea typeface="宋体" panose="02010600030101010101" pitchFamily="2" charset="-122"/>
              </a:rPr>
              <a:t>在这两种情况下：税收只是买者支付的价格和卖者得到的价格之间打入了一个楔（</a:t>
            </a:r>
            <a:r>
              <a:rPr lang="en-US" altLang="zh-CN" sz="2400">
                <a:ea typeface="宋体" panose="02010600030101010101" pitchFamily="2" charset="-122"/>
              </a:rPr>
              <a:t>xie</a:t>
            </a:r>
            <a:r>
              <a:rPr lang="zh-CN" altLang="en-US" sz="2400">
                <a:ea typeface="宋体" panose="02010600030101010101" pitchFamily="2" charset="-122"/>
              </a:rPr>
              <a:t>）子</a:t>
            </a:r>
            <a:endParaRPr lang="en-US" altLang="zh-CN" sz="2400">
              <a:ea typeface="宋体" panose="02010600030101010101" pitchFamily="2" charset="-122"/>
            </a:endParaRPr>
          </a:p>
        </p:txBody>
      </p:sp>
      <p:grpSp>
        <p:nvGrpSpPr>
          <p:cNvPr id="163844" name="Group 7"/>
          <p:cNvGrpSpPr>
            <a:grpSpLocks/>
          </p:cNvGrpSpPr>
          <p:nvPr/>
        </p:nvGrpSpPr>
        <p:grpSpPr bwMode="auto">
          <a:xfrm>
            <a:off x="4360863" y="1757363"/>
            <a:ext cx="4422775" cy="3871912"/>
            <a:chOff x="0" y="0"/>
            <a:chExt cx="2786" cy="2439"/>
          </a:xfrm>
        </p:grpSpPr>
        <p:grpSp>
          <p:nvGrpSpPr>
            <p:cNvPr id="163873" name="Group 8"/>
            <p:cNvGrpSpPr>
              <a:grpSpLocks/>
            </p:cNvGrpSpPr>
            <p:nvPr/>
          </p:nvGrpSpPr>
          <p:grpSpPr bwMode="auto">
            <a:xfrm>
              <a:off x="118" y="252"/>
              <a:ext cx="2409" cy="2049"/>
              <a:chOff x="0" y="0"/>
              <a:chExt cx="2116" cy="2027"/>
            </a:xfrm>
          </p:grpSpPr>
          <p:sp>
            <p:nvSpPr>
              <p:cNvPr id="163876" name="Line 9"/>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77" name="Line 10"/>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3874" name="Text Box 11"/>
            <p:cNvSpPr txBox="1">
              <a:spLocks noChangeArrowheads="1"/>
            </p:cNvSpPr>
            <p:nvPr/>
          </p:nvSpPr>
          <p:spPr bwMode="auto">
            <a:xfrm>
              <a:off x="0" y="0"/>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p>
          </p:txBody>
        </p:sp>
        <p:sp>
          <p:nvSpPr>
            <p:cNvPr id="163875" name="Text Box 12"/>
            <p:cNvSpPr txBox="1">
              <a:spLocks noChangeArrowheads="1"/>
            </p:cNvSpPr>
            <p:nvPr/>
          </p:nvSpPr>
          <p:spPr bwMode="auto">
            <a:xfrm>
              <a:off x="2496" y="2151"/>
              <a:ext cx="2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Q</a:t>
              </a:r>
            </a:p>
          </p:txBody>
        </p:sp>
      </p:grpSp>
      <p:grpSp>
        <p:nvGrpSpPr>
          <p:cNvPr id="163845" name="Group 13"/>
          <p:cNvGrpSpPr>
            <a:grpSpLocks/>
          </p:cNvGrpSpPr>
          <p:nvPr/>
        </p:nvGrpSpPr>
        <p:grpSpPr bwMode="auto">
          <a:xfrm>
            <a:off x="5686425" y="2116138"/>
            <a:ext cx="2730500" cy="2649537"/>
            <a:chOff x="0" y="0"/>
            <a:chExt cx="1720" cy="1669"/>
          </a:xfrm>
        </p:grpSpPr>
        <p:sp>
          <p:nvSpPr>
            <p:cNvPr id="163871" name="Line 14"/>
            <p:cNvSpPr>
              <a:spLocks noChangeShapeType="1"/>
            </p:cNvSpPr>
            <p:nvPr/>
          </p:nvSpPr>
          <p:spPr bwMode="auto">
            <a:xfrm>
              <a:off x="0" y="0"/>
              <a:ext cx="1417" cy="1470"/>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72" name="Text Box 15"/>
            <p:cNvSpPr txBox="1">
              <a:spLocks noChangeArrowheads="1"/>
            </p:cNvSpPr>
            <p:nvPr/>
          </p:nvSpPr>
          <p:spPr bwMode="auto">
            <a:xfrm>
              <a:off x="1334" y="1381"/>
              <a:ext cx="38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D</a:t>
              </a:r>
              <a:r>
                <a:rPr lang="en-US" altLang="zh-CN" sz="2400" baseline="-25000">
                  <a:latin typeface="Arial" panose="020B0604020202020204" pitchFamily="34" charset="0"/>
                </a:rPr>
                <a:t>1</a:t>
              </a:r>
            </a:p>
          </p:txBody>
        </p:sp>
      </p:grpSp>
      <p:grpSp>
        <p:nvGrpSpPr>
          <p:cNvPr id="163846" name="Group 16"/>
          <p:cNvGrpSpPr>
            <a:grpSpLocks/>
          </p:cNvGrpSpPr>
          <p:nvPr/>
        </p:nvGrpSpPr>
        <p:grpSpPr bwMode="auto">
          <a:xfrm>
            <a:off x="3382963" y="3105150"/>
            <a:ext cx="3773487" cy="2720975"/>
            <a:chOff x="0" y="0"/>
            <a:chExt cx="2377" cy="1714"/>
          </a:xfrm>
        </p:grpSpPr>
        <p:grpSp>
          <p:nvGrpSpPr>
            <p:cNvPr id="163865" name="Group 17"/>
            <p:cNvGrpSpPr>
              <a:grpSpLocks/>
            </p:cNvGrpSpPr>
            <p:nvPr/>
          </p:nvGrpSpPr>
          <p:grpSpPr bwMode="auto">
            <a:xfrm>
              <a:off x="740" y="119"/>
              <a:ext cx="1425" cy="1333"/>
              <a:chOff x="0" y="0"/>
              <a:chExt cx="795" cy="646"/>
            </a:xfrm>
          </p:grpSpPr>
          <p:sp>
            <p:nvSpPr>
              <p:cNvPr id="163869" name="Line 18"/>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70" name="Line 19"/>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3866" name="Oval 20"/>
            <p:cNvSpPr>
              <a:spLocks noChangeArrowheads="1"/>
            </p:cNvSpPr>
            <p:nvPr/>
          </p:nvSpPr>
          <p:spPr bwMode="auto">
            <a:xfrm>
              <a:off x="2118" y="72"/>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63867" name="Text Box 21"/>
            <p:cNvSpPr txBox="1">
              <a:spLocks noChangeArrowheads="1"/>
            </p:cNvSpPr>
            <p:nvPr/>
          </p:nvSpPr>
          <p:spPr bwMode="auto">
            <a:xfrm>
              <a:off x="0" y="0"/>
              <a:ext cx="7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$10.00</a:t>
              </a:r>
            </a:p>
          </p:txBody>
        </p:sp>
        <p:sp>
          <p:nvSpPr>
            <p:cNvPr id="163868" name="Text Box 22"/>
            <p:cNvSpPr txBox="1">
              <a:spLocks noChangeArrowheads="1"/>
            </p:cNvSpPr>
            <p:nvPr/>
          </p:nvSpPr>
          <p:spPr bwMode="auto">
            <a:xfrm>
              <a:off x="2006" y="1484"/>
              <a:ext cx="3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500</a:t>
              </a:r>
            </a:p>
          </p:txBody>
        </p:sp>
      </p:grpSp>
      <p:sp>
        <p:nvSpPr>
          <p:cNvPr id="163847" name="Line 23"/>
          <p:cNvSpPr>
            <a:spLocks noChangeShapeType="1"/>
          </p:cNvSpPr>
          <p:nvPr/>
        </p:nvSpPr>
        <p:spPr bwMode="auto">
          <a:xfrm>
            <a:off x="6254750" y="2711450"/>
            <a:ext cx="0" cy="2697163"/>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48" name="Text Box 27"/>
          <p:cNvSpPr txBox="1">
            <a:spLocks noChangeArrowheads="1"/>
          </p:cNvSpPr>
          <p:nvPr/>
        </p:nvSpPr>
        <p:spPr bwMode="auto">
          <a:xfrm>
            <a:off x="5913438" y="5461000"/>
            <a:ext cx="5889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450</a:t>
            </a:r>
          </a:p>
        </p:txBody>
      </p:sp>
      <p:grpSp>
        <p:nvGrpSpPr>
          <p:cNvPr id="163849" name="Group 25"/>
          <p:cNvGrpSpPr>
            <a:grpSpLocks/>
          </p:cNvGrpSpPr>
          <p:nvPr/>
        </p:nvGrpSpPr>
        <p:grpSpPr bwMode="auto">
          <a:xfrm>
            <a:off x="3592513" y="3524250"/>
            <a:ext cx="2738437" cy="365125"/>
            <a:chOff x="0" y="0"/>
            <a:chExt cx="1725" cy="230"/>
          </a:xfrm>
        </p:grpSpPr>
        <p:sp>
          <p:nvSpPr>
            <p:cNvPr id="163862" name="Line 29"/>
            <p:cNvSpPr>
              <a:spLocks noChangeShapeType="1"/>
            </p:cNvSpPr>
            <p:nvPr/>
          </p:nvSpPr>
          <p:spPr bwMode="auto">
            <a:xfrm>
              <a:off x="609" y="118"/>
              <a:ext cx="1072"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63" name="Oval 30"/>
            <p:cNvSpPr>
              <a:spLocks noChangeArrowheads="1"/>
            </p:cNvSpPr>
            <p:nvPr/>
          </p:nvSpPr>
          <p:spPr bwMode="auto">
            <a:xfrm>
              <a:off x="1637" y="71"/>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63864" name="Text Box 31"/>
            <p:cNvSpPr txBox="1">
              <a:spLocks noChangeArrowheads="1"/>
            </p:cNvSpPr>
            <p:nvPr/>
          </p:nvSpPr>
          <p:spPr bwMode="auto">
            <a:xfrm>
              <a:off x="0" y="0"/>
              <a:ext cx="59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$9.50</a:t>
              </a:r>
            </a:p>
          </p:txBody>
        </p:sp>
      </p:grpSp>
      <p:grpSp>
        <p:nvGrpSpPr>
          <p:cNvPr id="163850" name="Group 29"/>
          <p:cNvGrpSpPr>
            <a:grpSpLocks/>
          </p:cNvGrpSpPr>
          <p:nvPr/>
        </p:nvGrpSpPr>
        <p:grpSpPr bwMode="auto">
          <a:xfrm>
            <a:off x="3367088" y="2522538"/>
            <a:ext cx="2960687" cy="365125"/>
            <a:chOff x="0" y="0"/>
            <a:chExt cx="1865" cy="230"/>
          </a:xfrm>
        </p:grpSpPr>
        <p:sp>
          <p:nvSpPr>
            <p:cNvPr id="163859" name="Line 33"/>
            <p:cNvSpPr>
              <a:spLocks noChangeShapeType="1"/>
            </p:cNvSpPr>
            <p:nvPr/>
          </p:nvSpPr>
          <p:spPr bwMode="auto">
            <a:xfrm>
              <a:off x="753" y="113"/>
              <a:ext cx="1072"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60" name="Oval 34"/>
            <p:cNvSpPr>
              <a:spLocks noChangeArrowheads="1"/>
            </p:cNvSpPr>
            <p:nvPr/>
          </p:nvSpPr>
          <p:spPr bwMode="auto">
            <a:xfrm>
              <a:off x="1777" y="67"/>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63861" name="Text Box 35"/>
            <p:cNvSpPr txBox="1">
              <a:spLocks noChangeArrowheads="1"/>
            </p:cNvSpPr>
            <p:nvPr/>
          </p:nvSpPr>
          <p:spPr bwMode="auto">
            <a:xfrm>
              <a:off x="0" y="0"/>
              <a:ext cx="73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$11.00</a:t>
              </a:r>
            </a:p>
          </p:txBody>
        </p:sp>
      </p:grpSp>
      <p:sp>
        <p:nvSpPr>
          <p:cNvPr id="163851" name="Text Box 36"/>
          <p:cNvSpPr txBox="1">
            <a:spLocks noChangeArrowheads="1"/>
          </p:cNvSpPr>
          <p:nvPr/>
        </p:nvSpPr>
        <p:spPr bwMode="auto">
          <a:xfrm>
            <a:off x="2711450" y="2479675"/>
            <a:ext cx="801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r>
              <a:rPr lang="en-US" altLang="zh-CN" sz="2400" i="1" baseline="-25000">
                <a:latin typeface="Arial" panose="020B0604020202020204" pitchFamily="34" charset="0"/>
              </a:rPr>
              <a:t>B</a:t>
            </a:r>
            <a:r>
              <a:rPr lang="en-US" altLang="zh-CN" sz="2400" b="0">
                <a:latin typeface="Arial" panose="020B0604020202020204" pitchFamily="34" charset="0"/>
              </a:rPr>
              <a:t> =</a:t>
            </a:r>
            <a:endParaRPr lang="en-US" altLang="zh-CN" sz="2400" i="1" baseline="-25000">
              <a:latin typeface="Arial" panose="020B0604020202020204" pitchFamily="34" charset="0"/>
            </a:endParaRPr>
          </a:p>
        </p:txBody>
      </p:sp>
      <p:sp>
        <p:nvSpPr>
          <p:cNvPr id="163852" name="Text Box 37"/>
          <p:cNvSpPr txBox="1">
            <a:spLocks noChangeArrowheads="1"/>
          </p:cNvSpPr>
          <p:nvPr/>
        </p:nvSpPr>
        <p:spPr bwMode="auto">
          <a:xfrm>
            <a:off x="2870200" y="3484563"/>
            <a:ext cx="801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r>
              <a:rPr lang="en-US" altLang="zh-CN" sz="2400" i="1" baseline="-25000">
                <a:latin typeface="Arial" panose="020B0604020202020204" pitchFamily="34" charset="0"/>
              </a:rPr>
              <a:t>S</a:t>
            </a:r>
            <a:r>
              <a:rPr lang="en-US" altLang="zh-CN" sz="2400" b="0">
                <a:latin typeface="Arial" panose="020B0604020202020204" pitchFamily="34" charset="0"/>
              </a:rPr>
              <a:t> =</a:t>
            </a:r>
            <a:endParaRPr lang="en-US" altLang="zh-CN" sz="2400" i="1" baseline="-25000">
              <a:latin typeface="Arial" panose="020B0604020202020204" pitchFamily="34" charset="0"/>
            </a:endParaRPr>
          </a:p>
        </p:txBody>
      </p:sp>
      <p:sp>
        <p:nvSpPr>
          <p:cNvPr id="163853" name="AutoShape 40"/>
          <p:cNvSpPr>
            <a:spLocks/>
          </p:cNvSpPr>
          <p:nvPr/>
        </p:nvSpPr>
        <p:spPr bwMode="auto">
          <a:xfrm flipH="1">
            <a:off x="6332538" y="2708275"/>
            <a:ext cx="187325" cy="985838"/>
          </a:xfrm>
          <a:prstGeom prst="leftBrace">
            <a:avLst>
              <a:gd name="adj1" fmla="val 57110"/>
              <a:gd name="adj2" fmla="val 49435"/>
            </a:avLst>
          </a:prstGeom>
          <a:noFill/>
          <a:ln w="31750">
            <a:solidFill>
              <a:srgbClr val="00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63854" name="Text Box 41"/>
          <p:cNvSpPr txBox="1">
            <a:spLocks noChangeArrowheads="1"/>
          </p:cNvSpPr>
          <p:nvPr/>
        </p:nvSpPr>
        <p:spPr bwMode="auto">
          <a:xfrm>
            <a:off x="6473825" y="2635250"/>
            <a:ext cx="7016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solidFill>
                  <a:srgbClr val="006600"/>
                </a:solidFill>
                <a:latin typeface="Arial" panose="020B0604020202020204" pitchFamily="34" charset="0"/>
              </a:rPr>
              <a:t>税收</a:t>
            </a:r>
            <a:endParaRPr lang="en-US" altLang="zh-CN" sz="2400" b="0">
              <a:solidFill>
                <a:srgbClr val="006600"/>
              </a:solidFill>
              <a:latin typeface="Arial" panose="020B0604020202020204" pitchFamily="34" charset="0"/>
            </a:endParaRPr>
          </a:p>
        </p:txBody>
      </p:sp>
      <p:sp>
        <p:nvSpPr>
          <p:cNvPr id="163855" name="Line 42"/>
          <p:cNvSpPr>
            <a:spLocks noChangeShapeType="1"/>
          </p:cNvSpPr>
          <p:nvPr/>
        </p:nvSpPr>
        <p:spPr bwMode="auto">
          <a:xfrm flipV="1">
            <a:off x="6564313" y="3003550"/>
            <a:ext cx="222250" cy="179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90" name="Rectangle 44"/>
          <p:cNvSpPr>
            <a:spLocks noChangeArrowheads="1"/>
          </p:cNvSpPr>
          <p:nvPr/>
        </p:nvSpPr>
        <p:spPr bwMode="auto">
          <a:xfrm>
            <a:off x="990600" y="1535113"/>
            <a:ext cx="1751013" cy="296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lnSpc>
                <a:spcPct val="105000"/>
              </a:lnSpc>
              <a:spcBef>
                <a:spcPct val="45000"/>
              </a:spcBef>
              <a:buClr>
                <a:srgbClr val="00B85C"/>
              </a:buClr>
              <a:buSzPct val="120000"/>
              <a:buFont typeface="Wingdings" panose="05000000000000000000" pitchFamily="2" charset="2"/>
              <a:buNone/>
            </a:pPr>
            <a:r>
              <a:rPr lang="zh-CN" altLang="en-US" sz="2400" b="0">
                <a:solidFill>
                  <a:srgbClr val="292929"/>
                </a:solidFill>
                <a:latin typeface="Arial" panose="020B0604020202020204" pitchFamily="34" charset="0"/>
              </a:rPr>
              <a:t>无论对买者还是卖者征税，最后的</a:t>
            </a:r>
            <a:r>
              <a:rPr lang="zh-CN" altLang="en-US" sz="2400" b="0">
                <a:solidFill>
                  <a:srgbClr val="FF0000"/>
                </a:solidFill>
                <a:latin typeface="Arial" panose="020B0604020202020204" pitchFamily="34" charset="0"/>
              </a:rPr>
              <a:t>市场价格</a:t>
            </a:r>
            <a:r>
              <a:rPr lang="zh-CN" altLang="en-US" sz="2400" b="0">
                <a:solidFill>
                  <a:srgbClr val="292929"/>
                </a:solidFill>
                <a:latin typeface="Arial" panose="020B0604020202020204" pitchFamily="34" charset="0"/>
              </a:rPr>
              <a:t>，</a:t>
            </a:r>
            <a:r>
              <a:rPr lang="zh-CN" altLang="en-US" sz="2400" b="0">
                <a:solidFill>
                  <a:srgbClr val="FF0000"/>
                </a:solidFill>
                <a:latin typeface="Arial" panose="020B0604020202020204" pitchFamily="34" charset="0"/>
              </a:rPr>
              <a:t>均衡数量</a:t>
            </a:r>
            <a:r>
              <a:rPr lang="zh-CN" altLang="en-US" sz="2400" b="0">
                <a:solidFill>
                  <a:srgbClr val="292929"/>
                </a:solidFill>
                <a:latin typeface="Arial" panose="020B0604020202020204" pitchFamily="34" charset="0"/>
              </a:rPr>
              <a:t>以及</a:t>
            </a:r>
            <a:r>
              <a:rPr lang="zh-CN" altLang="en-US" sz="2400" b="0">
                <a:solidFill>
                  <a:srgbClr val="FF0000"/>
                </a:solidFill>
                <a:latin typeface="Arial" panose="020B0604020202020204" pitchFamily="34" charset="0"/>
              </a:rPr>
              <a:t>税收归宿</a:t>
            </a:r>
            <a:r>
              <a:rPr lang="zh-CN" altLang="en-US" sz="2400" b="0">
                <a:solidFill>
                  <a:srgbClr val="292929"/>
                </a:solidFill>
                <a:latin typeface="Arial" panose="020B0604020202020204" pitchFamily="34" charset="0"/>
              </a:rPr>
              <a:t>都是相同的！</a:t>
            </a:r>
            <a:endParaRPr lang="en-US" altLang="zh-CN" sz="2400" b="0">
              <a:solidFill>
                <a:srgbClr val="292929"/>
              </a:solidFill>
              <a:latin typeface="Arial" panose="020B0604020202020204" pitchFamily="34" charset="0"/>
            </a:endParaRPr>
          </a:p>
        </p:txBody>
      </p:sp>
      <p:sp>
        <p:nvSpPr>
          <p:cNvPr id="163857" name="Line 42"/>
          <p:cNvSpPr>
            <a:spLocks noChangeShapeType="1"/>
          </p:cNvSpPr>
          <p:nvPr/>
        </p:nvSpPr>
        <p:spPr bwMode="auto">
          <a:xfrm flipV="1">
            <a:off x="6254750" y="2767013"/>
            <a:ext cx="1588" cy="874712"/>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58" name="Title 1"/>
          <p:cNvSpPr txBox="1">
            <a:spLocks/>
          </p:cNvSpPr>
          <p:nvPr/>
        </p:nvSpPr>
        <p:spPr bwMode="auto">
          <a:xfrm>
            <a:off x="1042988" y="304800"/>
            <a:ext cx="561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a:latin typeface="Arial" panose="020B0604020202020204" pitchFamily="34" charset="0"/>
              </a:rPr>
              <a:t>向不同主体征税的比较</a:t>
            </a:r>
          </a:p>
        </p:txBody>
      </p:sp>
    </p:spTree>
    <p:extLst>
      <p:ext uri="{BB962C8B-B14F-4D97-AF65-F5344CB8AC3E}">
        <p14:creationId xmlns:p14="http://schemas.microsoft.com/office/powerpoint/2010/main" val="3218157682"/>
      </p:ext>
    </p:extLst>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90"/>
                                        </p:tgtEl>
                                        <p:attrNameLst>
                                          <p:attrName>style.visibility</p:attrName>
                                        </p:attrNameLst>
                                      </p:cBhvr>
                                      <p:to>
                                        <p:strVal val="visible"/>
                                      </p:to>
                                    </p:set>
                                    <p:animEffect transition="in" filter="wipe(left)">
                                      <p:cBhvr>
                                        <p:cTn id="7" dur="500"/>
                                        <p:tgtEl>
                                          <p:spTgt spid="49190"/>
                                        </p:tgtEl>
                                      </p:cBhvr>
                                    </p:animEffect>
                                  </p:childTnLst>
                                  <p:subTnLst>
                                    <p:animClr clrSpc="rgb" dir="cw">
                                      <p:cBhvr override="childStyle">
                                        <p:cTn dur="1" fill="hold" display="0" masterRel="nextClick" afterEffect="1"/>
                                        <p:tgtEl>
                                          <p:spTgt spid="49190"/>
                                        </p:tgtEl>
                                        <p:attrNameLst>
                                          <p:attrName>ppt_c</p:attrName>
                                        </p:attrNameLst>
                                      </p:cBhvr>
                                      <p:to>
                                        <a:schemeClr val="tx1"/>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158">
                                            <p:txEl>
                                              <p:pRg st="0" end="0"/>
                                            </p:txEl>
                                          </p:spTgt>
                                        </p:tgtEl>
                                        <p:attrNameLst>
                                          <p:attrName>style.visibility</p:attrName>
                                        </p:attrNameLst>
                                      </p:cBhvr>
                                      <p:to>
                                        <p:strVal val="visible"/>
                                      </p:to>
                                    </p:set>
                                    <p:animEffect transition="in" filter="wipe(left)">
                                      <p:cBhvr>
                                        <p:cTn id="12" dur="500"/>
                                        <p:tgtEl>
                                          <p:spTgt spid="491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8" grpId="0" build="p" bldLvl="2" autoUpdateAnimBg="0"/>
      <p:bldP spid="49190" grpId="0" bldLvl="5"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5890" name="Rectangle 3"/>
          <p:cNvSpPr>
            <a:spLocks noGrp="1" noChangeArrowheads="1"/>
          </p:cNvSpPr>
          <p:nvPr>
            <p:ph type="body" idx="4294967295"/>
          </p:nvPr>
        </p:nvSpPr>
        <p:spPr>
          <a:xfrm>
            <a:off x="404813" y="1325563"/>
            <a:ext cx="7254875" cy="579437"/>
          </a:xfrm>
        </p:spPr>
        <p:txBody>
          <a:bodyPr/>
          <a:lstStyle/>
          <a:p>
            <a:pPr marL="0" indent="0">
              <a:buFont typeface="Wingdings" panose="05000000000000000000" pitchFamily="2" charset="2"/>
              <a:buNone/>
            </a:pPr>
            <a:r>
              <a:rPr lang="zh-CN" altLang="en-US" u="sng">
                <a:ea typeface="宋体" panose="02010600030101010101" pitchFamily="2" charset="-122"/>
              </a:rPr>
              <a:t>案例</a:t>
            </a:r>
            <a:r>
              <a:rPr lang="en-US" altLang="zh-CN" u="sng">
                <a:ea typeface="宋体" panose="02010600030101010101" pitchFamily="2" charset="-122"/>
              </a:rPr>
              <a:t> </a:t>
            </a:r>
            <a:r>
              <a:rPr lang="zh-CN" altLang="ja-JP" u="sng">
                <a:ea typeface="宋体" panose="02010600030101010101" pitchFamily="2" charset="-122"/>
              </a:rPr>
              <a:t>1:  </a:t>
            </a:r>
            <a:r>
              <a:rPr lang="zh-CN" altLang="en-US" u="sng">
                <a:ea typeface="宋体" panose="02010600030101010101" pitchFamily="2" charset="-122"/>
              </a:rPr>
              <a:t>供给相对于需求更富有弹性</a:t>
            </a:r>
            <a:endParaRPr lang="en-US" altLang="zh-CN" u="sng">
              <a:ea typeface="宋体" panose="02010600030101010101" pitchFamily="2" charset="-122"/>
            </a:endParaRPr>
          </a:p>
        </p:txBody>
      </p:sp>
      <p:grpSp>
        <p:nvGrpSpPr>
          <p:cNvPr id="165891" name="Group 4"/>
          <p:cNvGrpSpPr>
            <a:grpSpLocks/>
          </p:cNvGrpSpPr>
          <p:nvPr/>
        </p:nvGrpSpPr>
        <p:grpSpPr bwMode="auto">
          <a:xfrm>
            <a:off x="3344863" y="1824038"/>
            <a:ext cx="3316287" cy="4108450"/>
            <a:chOff x="0" y="0"/>
            <a:chExt cx="2089" cy="2588"/>
          </a:xfrm>
        </p:grpSpPr>
        <p:grpSp>
          <p:nvGrpSpPr>
            <p:cNvPr id="165935" name="Group 5"/>
            <p:cNvGrpSpPr>
              <a:grpSpLocks/>
            </p:cNvGrpSpPr>
            <p:nvPr/>
          </p:nvGrpSpPr>
          <p:grpSpPr bwMode="auto">
            <a:xfrm>
              <a:off x="107" y="254"/>
              <a:ext cx="1784" cy="2190"/>
              <a:chOff x="0" y="0"/>
              <a:chExt cx="2400" cy="2079"/>
            </a:xfrm>
          </p:grpSpPr>
          <p:sp>
            <p:nvSpPr>
              <p:cNvPr id="165938" name="Line 6"/>
              <p:cNvSpPr>
                <a:spLocks noChangeShapeType="1"/>
              </p:cNvSpPr>
              <p:nvPr/>
            </p:nvSpPr>
            <p:spPr bwMode="auto">
              <a:xfrm>
                <a:off x="0" y="0"/>
                <a:ext cx="0" cy="20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939" name="Line 7"/>
              <p:cNvSpPr>
                <a:spLocks noChangeShapeType="1"/>
              </p:cNvSpPr>
              <p:nvPr/>
            </p:nvSpPr>
            <p:spPr bwMode="auto">
              <a:xfrm>
                <a:off x="0" y="2079"/>
                <a:ext cx="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5936" name="Text Box 8"/>
            <p:cNvSpPr txBox="1">
              <a:spLocks noChangeArrowheads="1"/>
            </p:cNvSpPr>
            <p:nvPr/>
          </p:nvSpPr>
          <p:spPr bwMode="auto">
            <a:xfrm>
              <a:off x="0" y="0"/>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i="1">
                  <a:latin typeface="Arial" panose="020B0604020202020204" pitchFamily="34" charset="0"/>
                </a:rPr>
                <a:t>P</a:t>
              </a:r>
            </a:p>
          </p:txBody>
        </p:sp>
        <p:sp>
          <p:nvSpPr>
            <p:cNvPr id="165937" name="Text Box 9"/>
            <p:cNvSpPr txBox="1">
              <a:spLocks noChangeArrowheads="1"/>
            </p:cNvSpPr>
            <p:nvPr/>
          </p:nvSpPr>
          <p:spPr bwMode="auto">
            <a:xfrm>
              <a:off x="1856" y="2309"/>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i="1">
                  <a:latin typeface="Arial" panose="020B0604020202020204" pitchFamily="34" charset="0"/>
                </a:rPr>
                <a:t>Q</a:t>
              </a:r>
            </a:p>
          </p:txBody>
        </p:sp>
      </p:grpSp>
      <p:grpSp>
        <p:nvGrpSpPr>
          <p:cNvPr id="4" name="Group 10"/>
          <p:cNvGrpSpPr>
            <a:grpSpLocks/>
          </p:cNvGrpSpPr>
          <p:nvPr/>
        </p:nvGrpSpPr>
        <p:grpSpPr bwMode="auto">
          <a:xfrm>
            <a:off x="4413250" y="2360613"/>
            <a:ext cx="1301750" cy="3209925"/>
            <a:chOff x="0" y="0"/>
            <a:chExt cx="820" cy="2022"/>
          </a:xfrm>
        </p:grpSpPr>
        <p:sp>
          <p:nvSpPr>
            <p:cNvPr id="165933" name="Text Box 11"/>
            <p:cNvSpPr txBox="1">
              <a:spLocks noChangeArrowheads="1"/>
            </p:cNvSpPr>
            <p:nvPr/>
          </p:nvSpPr>
          <p:spPr bwMode="auto">
            <a:xfrm>
              <a:off x="587" y="1743"/>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i="1">
                  <a:latin typeface="Arial" panose="020B0604020202020204" pitchFamily="34" charset="0"/>
                </a:rPr>
                <a:t>D</a:t>
              </a:r>
            </a:p>
          </p:txBody>
        </p:sp>
        <p:sp>
          <p:nvSpPr>
            <p:cNvPr id="165934" name="Line 12"/>
            <p:cNvSpPr>
              <a:spLocks noChangeShapeType="1"/>
            </p:cNvSpPr>
            <p:nvPr/>
          </p:nvSpPr>
          <p:spPr bwMode="auto">
            <a:xfrm>
              <a:off x="0" y="0"/>
              <a:ext cx="655" cy="179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13"/>
          <p:cNvGrpSpPr>
            <a:grpSpLocks/>
          </p:cNvGrpSpPr>
          <p:nvPr/>
        </p:nvGrpSpPr>
        <p:grpSpPr bwMode="auto">
          <a:xfrm>
            <a:off x="3708400" y="2620963"/>
            <a:ext cx="2508250" cy="2465387"/>
            <a:chOff x="0" y="0"/>
            <a:chExt cx="1580" cy="1553"/>
          </a:xfrm>
        </p:grpSpPr>
        <p:sp>
          <p:nvSpPr>
            <p:cNvPr id="165931" name="Text Box 14"/>
            <p:cNvSpPr txBox="1">
              <a:spLocks noChangeArrowheads="1"/>
            </p:cNvSpPr>
            <p:nvPr/>
          </p:nvSpPr>
          <p:spPr bwMode="auto">
            <a:xfrm>
              <a:off x="1347" y="0"/>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S</a:t>
              </a:r>
            </a:p>
          </p:txBody>
        </p:sp>
        <p:sp>
          <p:nvSpPr>
            <p:cNvPr id="165932" name="Line 15"/>
            <p:cNvSpPr>
              <a:spLocks noChangeShapeType="1"/>
            </p:cNvSpPr>
            <p:nvPr/>
          </p:nvSpPr>
          <p:spPr bwMode="auto">
            <a:xfrm flipV="1">
              <a:off x="0" y="224"/>
              <a:ext cx="1399" cy="1329"/>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16"/>
          <p:cNvGrpSpPr>
            <a:grpSpLocks/>
          </p:cNvGrpSpPr>
          <p:nvPr/>
        </p:nvGrpSpPr>
        <p:grpSpPr bwMode="auto">
          <a:xfrm>
            <a:off x="3700463" y="3062288"/>
            <a:ext cx="952500" cy="1108075"/>
            <a:chOff x="0" y="0"/>
            <a:chExt cx="600" cy="698"/>
          </a:xfrm>
        </p:grpSpPr>
        <p:sp>
          <p:nvSpPr>
            <p:cNvPr id="165928" name="Line 17"/>
            <p:cNvSpPr>
              <a:spLocks noChangeShapeType="1"/>
            </p:cNvSpPr>
            <p:nvPr/>
          </p:nvSpPr>
          <p:spPr bwMode="auto">
            <a:xfrm flipH="1" flipV="1">
              <a:off x="599" y="0"/>
              <a:ext cx="1" cy="698"/>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929" name="AutoShape 18"/>
            <p:cNvSpPr>
              <a:spLocks/>
            </p:cNvSpPr>
            <p:nvPr/>
          </p:nvSpPr>
          <p:spPr bwMode="auto">
            <a:xfrm>
              <a:off x="427" y="2"/>
              <a:ext cx="118" cy="693"/>
            </a:xfrm>
            <a:prstGeom prst="leftBrace">
              <a:avLst>
                <a:gd name="adj1" fmla="val 63732"/>
                <a:gd name="adj2" fmla="val 4488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65930" name="Text Box 19"/>
            <p:cNvSpPr txBox="1">
              <a:spLocks noChangeArrowheads="1"/>
            </p:cNvSpPr>
            <p:nvPr/>
          </p:nvSpPr>
          <p:spPr bwMode="auto">
            <a:xfrm>
              <a:off x="0" y="155"/>
              <a:ext cx="4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Tax</a:t>
              </a:r>
            </a:p>
          </p:txBody>
        </p:sp>
      </p:grpSp>
      <p:grpSp>
        <p:nvGrpSpPr>
          <p:cNvPr id="7" name="Group 20"/>
          <p:cNvGrpSpPr>
            <a:grpSpLocks/>
          </p:cNvGrpSpPr>
          <p:nvPr/>
        </p:nvGrpSpPr>
        <p:grpSpPr bwMode="auto">
          <a:xfrm>
            <a:off x="371475" y="2727325"/>
            <a:ext cx="3113088" cy="1154113"/>
            <a:chOff x="0" y="0"/>
            <a:chExt cx="1961" cy="727"/>
          </a:xfrm>
        </p:grpSpPr>
        <p:sp>
          <p:nvSpPr>
            <p:cNvPr id="165924" name="AutoShape 21"/>
            <p:cNvSpPr>
              <a:spLocks/>
            </p:cNvSpPr>
            <p:nvPr/>
          </p:nvSpPr>
          <p:spPr bwMode="auto">
            <a:xfrm>
              <a:off x="1820" y="202"/>
              <a:ext cx="141" cy="525"/>
            </a:xfrm>
            <a:prstGeom prst="leftBrace">
              <a:avLst>
                <a:gd name="adj1" fmla="val 60988"/>
                <a:gd name="adj2" fmla="val 50000"/>
              </a:avLst>
            </a:prstGeom>
            <a:noFill/>
            <a:ln w="19050">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nvGrpSpPr>
            <p:cNvPr id="165925" name="Group 22"/>
            <p:cNvGrpSpPr>
              <a:grpSpLocks/>
            </p:cNvGrpSpPr>
            <p:nvPr/>
          </p:nvGrpSpPr>
          <p:grpSpPr bwMode="auto">
            <a:xfrm>
              <a:off x="0" y="0"/>
              <a:ext cx="1792" cy="460"/>
              <a:chOff x="0" y="0"/>
              <a:chExt cx="1792" cy="460"/>
            </a:xfrm>
          </p:grpSpPr>
          <p:sp>
            <p:nvSpPr>
              <p:cNvPr id="165926" name="Line 23"/>
              <p:cNvSpPr>
                <a:spLocks noChangeShapeType="1"/>
              </p:cNvSpPr>
              <p:nvPr/>
            </p:nvSpPr>
            <p:spPr bwMode="auto">
              <a:xfrm>
                <a:off x="1157" y="163"/>
                <a:ext cx="635" cy="2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927" name="Text Box 24"/>
              <p:cNvSpPr txBox="1">
                <a:spLocks noChangeArrowheads="1"/>
              </p:cNvSpPr>
              <p:nvPr/>
            </p:nvSpPr>
            <p:spPr bwMode="auto">
              <a:xfrm>
                <a:off x="0" y="0"/>
                <a:ext cx="1360" cy="23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买者承担的税负</a:t>
                </a:r>
                <a:endParaRPr lang="en-US" altLang="zh-CN" sz="2400" b="0">
                  <a:latin typeface="Arial" panose="020B0604020202020204" pitchFamily="34" charset="0"/>
                </a:endParaRPr>
              </a:p>
            </p:txBody>
          </p:sp>
        </p:grpSp>
      </p:grpSp>
      <p:grpSp>
        <p:nvGrpSpPr>
          <p:cNvPr id="9" name="Group 25"/>
          <p:cNvGrpSpPr>
            <a:grpSpLocks/>
          </p:cNvGrpSpPr>
          <p:nvPr/>
        </p:nvGrpSpPr>
        <p:grpSpPr bwMode="auto">
          <a:xfrm>
            <a:off x="441325" y="3900488"/>
            <a:ext cx="3043238" cy="1168400"/>
            <a:chOff x="0" y="0"/>
            <a:chExt cx="1917" cy="736"/>
          </a:xfrm>
        </p:grpSpPr>
        <p:sp>
          <p:nvSpPr>
            <p:cNvPr id="165920" name="AutoShape 26"/>
            <p:cNvSpPr>
              <a:spLocks/>
            </p:cNvSpPr>
            <p:nvPr/>
          </p:nvSpPr>
          <p:spPr bwMode="auto">
            <a:xfrm>
              <a:off x="1776" y="0"/>
              <a:ext cx="141" cy="177"/>
            </a:xfrm>
            <a:prstGeom prst="leftBrace">
              <a:avLst>
                <a:gd name="adj1" fmla="val 20562"/>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nvGrpSpPr>
            <p:cNvPr id="165921" name="Group 27"/>
            <p:cNvGrpSpPr>
              <a:grpSpLocks/>
            </p:cNvGrpSpPr>
            <p:nvPr/>
          </p:nvGrpSpPr>
          <p:grpSpPr bwMode="auto">
            <a:xfrm>
              <a:off x="0" y="92"/>
              <a:ext cx="1749" cy="644"/>
              <a:chOff x="0" y="0"/>
              <a:chExt cx="1749" cy="644"/>
            </a:xfrm>
          </p:grpSpPr>
          <p:sp>
            <p:nvSpPr>
              <p:cNvPr id="165922" name="Line 28"/>
              <p:cNvSpPr>
                <a:spLocks noChangeShapeType="1"/>
              </p:cNvSpPr>
              <p:nvPr/>
            </p:nvSpPr>
            <p:spPr bwMode="auto">
              <a:xfrm flipH="1">
                <a:off x="1160" y="0"/>
                <a:ext cx="589" cy="4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5923" name="Text Box 29"/>
              <p:cNvSpPr txBox="1">
                <a:spLocks noChangeArrowheads="1"/>
              </p:cNvSpPr>
              <p:nvPr/>
            </p:nvSpPr>
            <p:spPr bwMode="auto">
              <a:xfrm>
                <a:off x="0" y="184"/>
                <a:ext cx="1319" cy="460"/>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卖者承担的税负</a:t>
                </a:r>
                <a:endParaRPr lang="en-US" altLang="zh-CN" sz="2400" b="0">
                  <a:latin typeface="Arial" panose="020B0604020202020204" pitchFamily="34" charset="0"/>
                </a:endParaRPr>
              </a:p>
            </p:txBody>
          </p:sp>
        </p:grpSp>
      </p:grpSp>
      <p:grpSp>
        <p:nvGrpSpPr>
          <p:cNvPr id="11" name="Group 30"/>
          <p:cNvGrpSpPr>
            <a:grpSpLocks/>
          </p:cNvGrpSpPr>
          <p:nvPr/>
        </p:nvGrpSpPr>
        <p:grpSpPr bwMode="auto">
          <a:xfrm>
            <a:off x="112713" y="3684588"/>
            <a:ext cx="4926012" cy="369887"/>
            <a:chOff x="-485" y="0"/>
            <a:chExt cx="3103" cy="233"/>
          </a:xfrm>
        </p:grpSpPr>
        <p:grpSp>
          <p:nvGrpSpPr>
            <p:cNvPr id="165914" name="Group 31"/>
            <p:cNvGrpSpPr>
              <a:grpSpLocks/>
            </p:cNvGrpSpPr>
            <p:nvPr/>
          </p:nvGrpSpPr>
          <p:grpSpPr bwMode="auto">
            <a:xfrm>
              <a:off x="1657" y="86"/>
              <a:ext cx="961" cy="87"/>
              <a:chOff x="0" y="0"/>
              <a:chExt cx="961" cy="87"/>
            </a:xfrm>
          </p:grpSpPr>
          <p:sp>
            <p:nvSpPr>
              <p:cNvPr id="165918" name="Oval 32"/>
              <p:cNvSpPr>
                <a:spLocks noChangeArrowheads="1"/>
              </p:cNvSpPr>
              <p:nvPr/>
            </p:nvSpPr>
            <p:spPr bwMode="auto">
              <a:xfrm>
                <a:off x="873" y="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65919" name="Line 33"/>
              <p:cNvSpPr>
                <a:spLocks noChangeShapeType="1"/>
              </p:cNvSpPr>
              <p:nvPr/>
            </p:nvSpPr>
            <p:spPr bwMode="auto">
              <a:xfrm flipH="1">
                <a:off x="0" y="43"/>
                <a:ext cx="912"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65915" name="Group 34"/>
            <p:cNvGrpSpPr>
              <a:grpSpLocks/>
            </p:cNvGrpSpPr>
            <p:nvPr/>
          </p:nvGrpSpPr>
          <p:grpSpPr bwMode="auto">
            <a:xfrm>
              <a:off x="-485" y="0"/>
              <a:ext cx="2125" cy="233"/>
              <a:chOff x="-485" y="0"/>
              <a:chExt cx="2125" cy="233"/>
            </a:xfrm>
          </p:grpSpPr>
          <p:sp>
            <p:nvSpPr>
              <p:cNvPr id="165916" name="Text Box 35"/>
              <p:cNvSpPr txBox="1">
                <a:spLocks noChangeArrowheads="1"/>
              </p:cNvSpPr>
              <p:nvPr/>
            </p:nvSpPr>
            <p:spPr bwMode="auto">
              <a:xfrm>
                <a:off x="-485" y="0"/>
                <a:ext cx="184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没有税收时的价格</a:t>
                </a:r>
                <a:endParaRPr lang="en-US" altLang="zh-CN" sz="2400" b="0">
                  <a:latin typeface="Arial" panose="020B0604020202020204" pitchFamily="34" charset="0"/>
                </a:endParaRPr>
              </a:p>
            </p:txBody>
          </p:sp>
          <p:sp>
            <p:nvSpPr>
              <p:cNvPr id="165917" name="Line 36"/>
              <p:cNvSpPr>
                <a:spLocks noChangeShapeType="1"/>
              </p:cNvSpPr>
              <p:nvPr/>
            </p:nvSpPr>
            <p:spPr bwMode="auto">
              <a:xfrm flipH="1">
                <a:off x="1247" y="128"/>
                <a:ext cx="3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4" name="Group 37"/>
          <p:cNvGrpSpPr>
            <a:grpSpLocks/>
          </p:cNvGrpSpPr>
          <p:nvPr/>
        </p:nvGrpSpPr>
        <p:grpSpPr bwMode="auto">
          <a:xfrm>
            <a:off x="2570163" y="2530475"/>
            <a:ext cx="2151062" cy="587375"/>
            <a:chOff x="0" y="0"/>
            <a:chExt cx="1355" cy="370"/>
          </a:xfrm>
        </p:grpSpPr>
        <p:grpSp>
          <p:nvGrpSpPr>
            <p:cNvPr id="165908" name="Group 38"/>
            <p:cNvGrpSpPr>
              <a:grpSpLocks/>
            </p:cNvGrpSpPr>
            <p:nvPr/>
          </p:nvGrpSpPr>
          <p:grpSpPr bwMode="auto">
            <a:xfrm>
              <a:off x="587" y="283"/>
              <a:ext cx="768" cy="87"/>
              <a:chOff x="0" y="0"/>
              <a:chExt cx="768" cy="87"/>
            </a:xfrm>
          </p:grpSpPr>
          <p:sp>
            <p:nvSpPr>
              <p:cNvPr id="165912" name="Oval 39"/>
              <p:cNvSpPr>
                <a:spLocks noChangeArrowheads="1"/>
              </p:cNvSpPr>
              <p:nvPr/>
            </p:nvSpPr>
            <p:spPr bwMode="auto">
              <a:xfrm>
                <a:off x="680" y="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65913" name="Line 40"/>
              <p:cNvSpPr>
                <a:spLocks noChangeShapeType="1"/>
              </p:cNvSpPr>
              <p:nvPr/>
            </p:nvSpPr>
            <p:spPr bwMode="auto">
              <a:xfrm flipH="1">
                <a:off x="0" y="45"/>
                <a:ext cx="72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65909" name="Group 41"/>
            <p:cNvGrpSpPr>
              <a:grpSpLocks/>
            </p:cNvGrpSpPr>
            <p:nvPr/>
          </p:nvGrpSpPr>
          <p:grpSpPr bwMode="auto">
            <a:xfrm>
              <a:off x="0" y="0"/>
              <a:ext cx="577" cy="325"/>
              <a:chOff x="0" y="0"/>
              <a:chExt cx="577" cy="325"/>
            </a:xfrm>
          </p:grpSpPr>
          <p:sp>
            <p:nvSpPr>
              <p:cNvPr id="165910" name="Text Box 42"/>
              <p:cNvSpPr txBox="1">
                <a:spLocks noChangeArrowheads="1"/>
              </p:cNvSpPr>
              <p:nvPr/>
            </p:nvSpPr>
            <p:spPr bwMode="auto">
              <a:xfrm>
                <a:off x="0" y="0"/>
                <a:ext cx="40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r>
                  <a:rPr lang="en-US" altLang="zh-CN" sz="2400" i="1" baseline="-25000">
                    <a:latin typeface="Arial" panose="020B0604020202020204" pitchFamily="34" charset="0"/>
                  </a:rPr>
                  <a:t>B</a:t>
                </a:r>
              </a:p>
            </p:txBody>
          </p:sp>
          <p:sp>
            <p:nvSpPr>
              <p:cNvPr id="165911" name="Line 43"/>
              <p:cNvSpPr>
                <a:spLocks noChangeShapeType="1"/>
              </p:cNvSpPr>
              <p:nvPr/>
            </p:nvSpPr>
            <p:spPr bwMode="auto">
              <a:xfrm flipH="1" flipV="1">
                <a:off x="384" y="208"/>
                <a:ext cx="193" cy="1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7" name="Group 44"/>
          <p:cNvGrpSpPr>
            <a:grpSpLocks/>
          </p:cNvGrpSpPr>
          <p:nvPr/>
        </p:nvGrpSpPr>
        <p:grpSpPr bwMode="auto">
          <a:xfrm>
            <a:off x="2881313" y="4119563"/>
            <a:ext cx="1839912" cy="655637"/>
            <a:chOff x="0" y="0"/>
            <a:chExt cx="1159" cy="413"/>
          </a:xfrm>
        </p:grpSpPr>
        <p:grpSp>
          <p:nvGrpSpPr>
            <p:cNvPr id="165902" name="Group 45"/>
            <p:cNvGrpSpPr>
              <a:grpSpLocks/>
            </p:cNvGrpSpPr>
            <p:nvPr/>
          </p:nvGrpSpPr>
          <p:grpSpPr bwMode="auto">
            <a:xfrm>
              <a:off x="398" y="0"/>
              <a:ext cx="761" cy="87"/>
              <a:chOff x="0" y="0"/>
              <a:chExt cx="761" cy="87"/>
            </a:xfrm>
          </p:grpSpPr>
          <p:sp>
            <p:nvSpPr>
              <p:cNvPr id="165906" name="Oval 46"/>
              <p:cNvSpPr>
                <a:spLocks noChangeArrowheads="1"/>
              </p:cNvSpPr>
              <p:nvPr/>
            </p:nvSpPr>
            <p:spPr bwMode="auto">
              <a:xfrm>
                <a:off x="673" y="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65907" name="Line 47"/>
              <p:cNvSpPr>
                <a:spLocks noChangeShapeType="1"/>
              </p:cNvSpPr>
              <p:nvPr/>
            </p:nvSpPr>
            <p:spPr bwMode="auto">
              <a:xfrm flipH="1">
                <a:off x="0" y="43"/>
                <a:ext cx="716"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65903" name="Group 48"/>
            <p:cNvGrpSpPr>
              <a:grpSpLocks/>
            </p:cNvGrpSpPr>
            <p:nvPr/>
          </p:nvGrpSpPr>
          <p:grpSpPr bwMode="auto">
            <a:xfrm>
              <a:off x="0" y="48"/>
              <a:ext cx="384" cy="365"/>
              <a:chOff x="0" y="0"/>
              <a:chExt cx="384" cy="365"/>
            </a:xfrm>
          </p:grpSpPr>
          <p:sp>
            <p:nvSpPr>
              <p:cNvPr id="165904" name="Text Box 49"/>
              <p:cNvSpPr txBox="1">
                <a:spLocks noChangeArrowheads="1"/>
              </p:cNvSpPr>
              <p:nvPr/>
            </p:nvSpPr>
            <p:spPr bwMode="auto">
              <a:xfrm>
                <a:off x="0" y="77"/>
                <a:ext cx="3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r>
                  <a:rPr lang="en-US" altLang="zh-CN" sz="2400" i="1" baseline="-25000">
                    <a:latin typeface="Arial" panose="020B0604020202020204" pitchFamily="34" charset="0"/>
                  </a:rPr>
                  <a:t>S</a:t>
                </a:r>
              </a:p>
            </p:txBody>
          </p:sp>
          <p:sp>
            <p:nvSpPr>
              <p:cNvPr id="165905" name="Line 50"/>
              <p:cNvSpPr>
                <a:spLocks noChangeShapeType="1"/>
              </p:cNvSpPr>
              <p:nvPr/>
            </p:nvSpPr>
            <p:spPr bwMode="auto">
              <a:xfrm flipH="1">
                <a:off x="240" y="0"/>
                <a:ext cx="144" cy="1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55347" name="Rectangle 51"/>
          <p:cNvSpPr>
            <a:spLocks noChangeArrowheads="1"/>
          </p:cNvSpPr>
          <p:nvPr/>
        </p:nvSpPr>
        <p:spPr bwMode="auto">
          <a:xfrm>
            <a:off x="6705600" y="1920875"/>
            <a:ext cx="2100263" cy="3108325"/>
          </a:xfrm>
          <a:prstGeom prst="rect">
            <a:avLst/>
          </a:prstGeom>
          <a:solidFill>
            <a:srgbClr val="FFFFCC"/>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lnSpc>
                <a:spcPct val="105000"/>
              </a:lnSpc>
              <a:buClr>
                <a:srgbClr val="00B85C"/>
              </a:buClr>
              <a:buSzPct val="120000"/>
              <a:buFont typeface="Wingdings" panose="05000000000000000000" pitchFamily="2" charset="2"/>
              <a:buNone/>
            </a:pPr>
            <a:r>
              <a:rPr lang="zh-CN" altLang="en-US" b="0">
                <a:latin typeface="Arial" panose="020B0604020202020204" pitchFamily="34" charset="0"/>
              </a:rPr>
              <a:t>卖者相对于买者更容易离开市场，因此买者承担了大部分税负</a:t>
            </a:r>
            <a:endParaRPr lang="en-US" altLang="zh-CN" b="0">
              <a:latin typeface="Arial" panose="020B0604020202020204" pitchFamily="34" charset="0"/>
            </a:endParaRPr>
          </a:p>
        </p:txBody>
      </p:sp>
      <p:sp>
        <p:nvSpPr>
          <p:cNvPr id="165901" name="Title 1"/>
          <p:cNvSpPr txBox="1">
            <a:spLocks/>
          </p:cNvSpPr>
          <p:nvPr/>
        </p:nvSpPr>
        <p:spPr bwMode="auto">
          <a:xfrm>
            <a:off x="1371600" y="152400"/>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a:latin typeface="Arial" panose="020B0604020202020204" pitchFamily="34" charset="0"/>
              </a:rPr>
              <a:t>弹性与税收归宿</a:t>
            </a:r>
          </a:p>
        </p:txBody>
      </p:sp>
    </p:spTree>
    <p:extLst>
      <p:ext uri="{BB962C8B-B14F-4D97-AF65-F5344CB8AC3E}">
        <p14:creationId xmlns:p14="http://schemas.microsoft.com/office/powerpoint/2010/main" val="119992097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upRight)">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right)">
                                      <p:cBhvr>
                                        <p:cTn id="17" dur="500"/>
                                        <p:tgtEl>
                                          <p:spTgt spid="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12"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trips(downLeft)">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12"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strips(downLeft)">
                                      <p:cBhvr>
                                        <p:cTn id="27" dur="500"/>
                                        <p:tgtEl>
                                          <p:spTgt spid="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9"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strips(upLeft)">
                                      <p:cBhvr>
                                        <p:cTn id="32" dur="500"/>
                                        <p:tgtEl>
                                          <p:spTgt spid="1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dissolve">
                                      <p:cBhvr>
                                        <p:cTn id="37" dur="500"/>
                                        <p:tgtEl>
                                          <p:spTgt spid="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dissolve">
                                      <p:cBhvr>
                                        <p:cTn id="42" dur="500"/>
                                        <p:tgtEl>
                                          <p:spTgt spid="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55347"/>
                                        </p:tgtEl>
                                        <p:attrNameLst>
                                          <p:attrName>style.visibility</p:attrName>
                                        </p:attrNameLst>
                                      </p:cBhvr>
                                      <p:to>
                                        <p:strVal val="visible"/>
                                      </p:to>
                                    </p:set>
                                    <p:animEffect transition="in" filter="dissolve">
                                      <p:cBhvr>
                                        <p:cTn id="47" dur="500"/>
                                        <p:tgtEl>
                                          <p:spTgt spid="553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47" grpId="0" bldLvl="0" animBg="1"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7938" name="Rectangle 3"/>
          <p:cNvSpPr>
            <a:spLocks noGrp="1" noChangeArrowheads="1"/>
          </p:cNvSpPr>
          <p:nvPr>
            <p:ph type="body" idx="4294967295"/>
          </p:nvPr>
        </p:nvSpPr>
        <p:spPr>
          <a:xfrm>
            <a:off x="404813" y="1325563"/>
            <a:ext cx="7254875" cy="579437"/>
          </a:xfrm>
        </p:spPr>
        <p:txBody>
          <a:bodyPr/>
          <a:lstStyle/>
          <a:p>
            <a:pPr marL="0" indent="0">
              <a:buFont typeface="Wingdings" panose="05000000000000000000" pitchFamily="2" charset="2"/>
              <a:buNone/>
            </a:pPr>
            <a:r>
              <a:rPr lang="zh-CN" altLang="en-US" u="sng">
                <a:ea typeface="宋体" panose="02010600030101010101" pitchFamily="2" charset="-122"/>
              </a:rPr>
              <a:t>案例</a:t>
            </a:r>
            <a:r>
              <a:rPr lang="en-US" altLang="zh-CN" u="sng">
                <a:ea typeface="宋体" panose="02010600030101010101" pitchFamily="2" charset="-122"/>
              </a:rPr>
              <a:t> </a:t>
            </a:r>
            <a:r>
              <a:rPr lang="zh-CN" altLang="ja-JP" u="sng">
                <a:ea typeface="宋体" panose="02010600030101010101" pitchFamily="2" charset="-122"/>
              </a:rPr>
              <a:t>2</a:t>
            </a:r>
            <a:r>
              <a:rPr lang="zh-CN" altLang="en-US" u="sng">
                <a:ea typeface="宋体" panose="02010600030101010101" pitchFamily="2" charset="-122"/>
              </a:rPr>
              <a:t>：</a:t>
            </a:r>
            <a:r>
              <a:rPr lang="en-US" altLang="zh-CN" u="sng">
                <a:ea typeface="宋体" panose="02010600030101010101" pitchFamily="2" charset="-122"/>
              </a:rPr>
              <a:t>  </a:t>
            </a:r>
            <a:r>
              <a:rPr lang="zh-CN" altLang="en-US" u="sng">
                <a:ea typeface="宋体" panose="02010600030101010101" pitchFamily="2" charset="-122"/>
              </a:rPr>
              <a:t>需求相对于供给更富有弹性</a:t>
            </a:r>
            <a:endParaRPr lang="en-US" altLang="zh-CN" u="sng">
              <a:ea typeface="宋体" panose="02010600030101010101" pitchFamily="2" charset="-122"/>
            </a:endParaRPr>
          </a:p>
        </p:txBody>
      </p:sp>
      <p:grpSp>
        <p:nvGrpSpPr>
          <p:cNvPr id="167939" name="Group 4"/>
          <p:cNvGrpSpPr>
            <a:grpSpLocks/>
          </p:cNvGrpSpPr>
          <p:nvPr/>
        </p:nvGrpSpPr>
        <p:grpSpPr bwMode="auto">
          <a:xfrm>
            <a:off x="3344863" y="1824038"/>
            <a:ext cx="3316287" cy="4108450"/>
            <a:chOff x="0" y="0"/>
            <a:chExt cx="2089" cy="2588"/>
          </a:xfrm>
        </p:grpSpPr>
        <p:grpSp>
          <p:nvGrpSpPr>
            <p:cNvPr id="167983" name="Group 5"/>
            <p:cNvGrpSpPr>
              <a:grpSpLocks/>
            </p:cNvGrpSpPr>
            <p:nvPr/>
          </p:nvGrpSpPr>
          <p:grpSpPr bwMode="auto">
            <a:xfrm>
              <a:off x="107" y="254"/>
              <a:ext cx="1784" cy="2190"/>
              <a:chOff x="0" y="0"/>
              <a:chExt cx="2400" cy="2079"/>
            </a:xfrm>
          </p:grpSpPr>
          <p:sp>
            <p:nvSpPr>
              <p:cNvPr id="167986" name="Line 6"/>
              <p:cNvSpPr>
                <a:spLocks noChangeShapeType="1"/>
              </p:cNvSpPr>
              <p:nvPr/>
            </p:nvSpPr>
            <p:spPr bwMode="auto">
              <a:xfrm>
                <a:off x="0" y="0"/>
                <a:ext cx="0" cy="20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87" name="Line 7"/>
              <p:cNvSpPr>
                <a:spLocks noChangeShapeType="1"/>
              </p:cNvSpPr>
              <p:nvPr/>
            </p:nvSpPr>
            <p:spPr bwMode="auto">
              <a:xfrm>
                <a:off x="0" y="2079"/>
                <a:ext cx="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7984" name="Text Box 8"/>
            <p:cNvSpPr txBox="1">
              <a:spLocks noChangeArrowheads="1"/>
            </p:cNvSpPr>
            <p:nvPr/>
          </p:nvSpPr>
          <p:spPr bwMode="auto">
            <a:xfrm>
              <a:off x="0" y="0"/>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i="1">
                  <a:latin typeface="Arial" panose="020B0604020202020204" pitchFamily="34" charset="0"/>
                </a:rPr>
                <a:t>P</a:t>
              </a:r>
            </a:p>
          </p:txBody>
        </p:sp>
        <p:sp>
          <p:nvSpPr>
            <p:cNvPr id="167985" name="Text Box 9"/>
            <p:cNvSpPr txBox="1">
              <a:spLocks noChangeArrowheads="1"/>
            </p:cNvSpPr>
            <p:nvPr/>
          </p:nvSpPr>
          <p:spPr bwMode="auto">
            <a:xfrm>
              <a:off x="1856" y="2309"/>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i="1">
                  <a:latin typeface="Arial" panose="020B0604020202020204" pitchFamily="34" charset="0"/>
                </a:rPr>
                <a:t>Q</a:t>
              </a:r>
            </a:p>
          </p:txBody>
        </p:sp>
      </p:grpSp>
      <p:grpSp>
        <p:nvGrpSpPr>
          <p:cNvPr id="4" name="Group 10"/>
          <p:cNvGrpSpPr>
            <a:grpSpLocks/>
          </p:cNvGrpSpPr>
          <p:nvPr/>
        </p:nvGrpSpPr>
        <p:grpSpPr bwMode="auto">
          <a:xfrm>
            <a:off x="4019550" y="2425700"/>
            <a:ext cx="2368550" cy="2889250"/>
            <a:chOff x="0" y="0"/>
            <a:chExt cx="1492" cy="1820"/>
          </a:xfrm>
        </p:grpSpPr>
        <p:sp>
          <p:nvSpPr>
            <p:cNvPr id="167981" name="Text Box 11"/>
            <p:cNvSpPr txBox="1">
              <a:spLocks noChangeArrowheads="1"/>
            </p:cNvSpPr>
            <p:nvPr/>
          </p:nvSpPr>
          <p:spPr bwMode="auto">
            <a:xfrm>
              <a:off x="1259" y="1541"/>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i="1">
                  <a:latin typeface="Arial" panose="020B0604020202020204" pitchFamily="34" charset="0"/>
                </a:rPr>
                <a:t>D</a:t>
              </a:r>
            </a:p>
          </p:txBody>
        </p:sp>
        <p:sp>
          <p:nvSpPr>
            <p:cNvPr id="167982" name="Line 12"/>
            <p:cNvSpPr>
              <a:spLocks noChangeShapeType="1"/>
            </p:cNvSpPr>
            <p:nvPr/>
          </p:nvSpPr>
          <p:spPr bwMode="auto">
            <a:xfrm>
              <a:off x="0" y="0"/>
              <a:ext cx="1324" cy="1606"/>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13"/>
          <p:cNvGrpSpPr>
            <a:grpSpLocks/>
          </p:cNvGrpSpPr>
          <p:nvPr/>
        </p:nvGrpSpPr>
        <p:grpSpPr bwMode="auto">
          <a:xfrm>
            <a:off x="4379913" y="2041525"/>
            <a:ext cx="1425575" cy="3322638"/>
            <a:chOff x="0" y="0"/>
            <a:chExt cx="898" cy="2093"/>
          </a:xfrm>
        </p:grpSpPr>
        <p:sp>
          <p:nvSpPr>
            <p:cNvPr id="167979" name="Text Box 14"/>
            <p:cNvSpPr txBox="1">
              <a:spLocks noChangeArrowheads="1"/>
            </p:cNvSpPr>
            <p:nvPr/>
          </p:nvSpPr>
          <p:spPr bwMode="auto">
            <a:xfrm>
              <a:off x="665" y="0"/>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S</a:t>
              </a:r>
            </a:p>
          </p:txBody>
        </p:sp>
        <p:sp>
          <p:nvSpPr>
            <p:cNvPr id="167980" name="Line 15"/>
            <p:cNvSpPr>
              <a:spLocks noChangeShapeType="1"/>
            </p:cNvSpPr>
            <p:nvPr/>
          </p:nvSpPr>
          <p:spPr bwMode="auto">
            <a:xfrm flipV="1">
              <a:off x="0" y="248"/>
              <a:ext cx="744" cy="1845"/>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16"/>
          <p:cNvGrpSpPr>
            <a:grpSpLocks/>
          </p:cNvGrpSpPr>
          <p:nvPr/>
        </p:nvGrpSpPr>
        <p:grpSpPr bwMode="auto">
          <a:xfrm>
            <a:off x="3792538" y="3316288"/>
            <a:ext cx="955675" cy="1147762"/>
            <a:chOff x="0" y="0"/>
            <a:chExt cx="602" cy="723"/>
          </a:xfrm>
        </p:grpSpPr>
        <p:sp>
          <p:nvSpPr>
            <p:cNvPr id="167976" name="Line 17"/>
            <p:cNvSpPr>
              <a:spLocks noChangeShapeType="1"/>
            </p:cNvSpPr>
            <p:nvPr/>
          </p:nvSpPr>
          <p:spPr bwMode="auto">
            <a:xfrm flipH="1" flipV="1">
              <a:off x="601" y="0"/>
              <a:ext cx="1" cy="698"/>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77" name="AutoShape 18"/>
            <p:cNvSpPr>
              <a:spLocks/>
            </p:cNvSpPr>
            <p:nvPr/>
          </p:nvSpPr>
          <p:spPr bwMode="auto">
            <a:xfrm>
              <a:off x="429" y="2"/>
              <a:ext cx="118" cy="693"/>
            </a:xfrm>
            <a:prstGeom prst="leftBrace">
              <a:avLst>
                <a:gd name="adj1" fmla="val 63732"/>
                <a:gd name="adj2" fmla="val 51806"/>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67978" name="Text Box 19"/>
            <p:cNvSpPr txBox="1">
              <a:spLocks noChangeArrowheads="1"/>
            </p:cNvSpPr>
            <p:nvPr/>
          </p:nvSpPr>
          <p:spPr bwMode="auto">
            <a:xfrm>
              <a:off x="0" y="205"/>
              <a:ext cx="44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税收</a:t>
              </a:r>
              <a:endParaRPr lang="en-US" altLang="zh-CN" sz="2400" b="0">
                <a:latin typeface="Arial" panose="020B0604020202020204" pitchFamily="34" charset="0"/>
              </a:endParaRPr>
            </a:p>
          </p:txBody>
        </p:sp>
      </p:grpSp>
      <p:grpSp>
        <p:nvGrpSpPr>
          <p:cNvPr id="7" name="Group 20"/>
          <p:cNvGrpSpPr>
            <a:grpSpLocks/>
          </p:cNvGrpSpPr>
          <p:nvPr/>
        </p:nvGrpSpPr>
        <p:grpSpPr bwMode="auto">
          <a:xfrm>
            <a:off x="336550" y="2589213"/>
            <a:ext cx="3148013" cy="1098550"/>
            <a:chOff x="0" y="0"/>
            <a:chExt cx="1983" cy="692"/>
          </a:xfrm>
        </p:grpSpPr>
        <p:sp>
          <p:nvSpPr>
            <p:cNvPr id="167972" name="AutoShape 21"/>
            <p:cNvSpPr>
              <a:spLocks/>
            </p:cNvSpPr>
            <p:nvPr/>
          </p:nvSpPr>
          <p:spPr bwMode="auto">
            <a:xfrm>
              <a:off x="1842" y="459"/>
              <a:ext cx="141" cy="233"/>
            </a:xfrm>
            <a:prstGeom prst="leftBrace">
              <a:avLst>
                <a:gd name="adj1" fmla="val 27067"/>
                <a:gd name="adj2" fmla="val 50000"/>
              </a:avLst>
            </a:prstGeom>
            <a:noFill/>
            <a:ln w="19050">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nvGrpSpPr>
            <p:cNvPr id="167973" name="Group 22"/>
            <p:cNvGrpSpPr>
              <a:grpSpLocks/>
            </p:cNvGrpSpPr>
            <p:nvPr/>
          </p:nvGrpSpPr>
          <p:grpSpPr bwMode="auto">
            <a:xfrm>
              <a:off x="0" y="0"/>
              <a:ext cx="1807" cy="570"/>
              <a:chOff x="0" y="0"/>
              <a:chExt cx="1807" cy="570"/>
            </a:xfrm>
          </p:grpSpPr>
          <p:sp>
            <p:nvSpPr>
              <p:cNvPr id="167974" name="Line 23"/>
              <p:cNvSpPr>
                <a:spLocks noChangeShapeType="1"/>
              </p:cNvSpPr>
              <p:nvPr/>
            </p:nvSpPr>
            <p:spPr bwMode="auto">
              <a:xfrm>
                <a:off x="1172" y="273"/>
                <a:ext cx="635" cy="2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75" name="Text Box 24"/>
              <p:cNvSpPr txBox="1">
                <a:spLocks noChangeArrowheads="1"/>
              </p:cNvSpPr>
              <p:nvPr/>
            </p:nvSpPr>
            <p:spPr bwMode="auto">
              <a:xfrm>
                <a:off x="0" y="0"/>
                <a:ext cx="1360" cy="23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买者承担的税负</a:t>
                </a:r>
                <a:endParaRPr lang="en-US" altLang="zh-CN" sz="2400" b="0">
                  <a:latin typeface="Arial" panose="020B0604020202020204" pitchFamily="34" charset="0"/>
                </a:endParaRPr>
              </a:p>
            </p:txBody>
          </p:sp>
        </p:grpSp>
      </p:grpSp>
      <p:grpSp>
        <p:nvGrpSpPr>
          <p:cNvPr id="9" name="Group 25"/>
          <p:cNvGrpSpPr>
            <a:grpSpLocks/>
          </p:cNvGrpSpPr>
          <p:nvPr/>
        </p:nvGrpSpPr>
        <p:grpSpPr bwMode="auto">
          <a:xfrm>
            <a:off x="417513" y="3697288"/>
            <a:ext cx="3067050" cy="1220787"/>
            <a:chOff x="0" y="0"/>
            <a:chExt cx="1932" cy="769"/>
          </a:xfrm>
        </p:grpSpPr>
        <p:sp>
          <p:nvSpPr>
            <p:cNvPr id="167968" name="AutoShape 26"/>
            <p:cNvSpPr>
              <a:spLocks/>
            </p:cNvSpPr>
            <p:nvPr/>
          </p:nvSpPr>
          <p:spPr bwMode="auto">
            <a:xfrm>
              <a:off x="1791" y="0"/>
              <a:ext cx="141" cy="457"/>
            </a:xfrm>
            <a:prstGeom prst="leftBrace">
              <a:avLst>
                <a:gd name="adj1" fmla="val 53089"/>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nvGrpSpPr>
            <p:cNvPr id="167969" name="Group 27"/>
            <p:cNvGrpSpPr>
              <a:grpSpLocks/>
            </p:cNvGrpSpPr>
            <p:nvPr/>
          </p:nvGrpSpPr>
          <p:grpSpPr bwMode="auto">
            <a:xfrm>
              <a:off x="0" y="240"/>
              <a:ext cx="1764" cy="529"/>
              <a:chOff x="0" y="0"/>
              <a:chExt cx="1764" cy="529"/>
            </a:xfrm>
          </p:grpSpPr>
          <p:sp>
            <p:nvSpPr>
              <p:cNvPr id="167970" name="Line 28"/>
              <p:cNvSpPr>
                <a:spLocks noChangeShapeType="1"/>
              </p:cNvSpPr>
              <p:nvPr/>
            </p:nvSpPr>
            <p:spPr bwMode="auto">
              <a:xfrm flipH="1">
                <a:off x="1231" y="0"/>
                <a:ext cx="533"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7971" name="Text Box 29"/>
              <p:cNvSpPr txBox="1">
                <a:spLocks noChangeArrowheads="1"/>
              </p:cNvSpPr>
              <p:nvPr/>
            </p:nvSpPr>
            <p:spPr bwMode="auto">
              <a:xfrm>
                <a:off x="0" y="69"/>
                <a:ext cx="1319" cy="460"/>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卖者承担的税负</a:t>
                </a:r>
                <a:endParaRPr lang="en-US" altLang="zh-CN" sz="2400" b="0">
                  <a:latin typeface="Arial" panose="020B0604020202020204" pitchFamily="34" charset="0"/>
                </a:endParaRPr>
              </a:p>
            </p:txBody>
          </p:sp>
        </p:grpSp>
      </p:grpSp>
      <p:grpSp>
        <p:nvGrpSpPr>
          <p:cNvPr id="11" name="Group 30"/>
          <p:cNvGrpSpPr>
            <a:grpSpLocks/>
          </p:cNvGrpSpPr>
          <p:nvPr/>
        </p:nvGrpSpPr>
        <p:grpSpPr bwMode="auto">
          <a:xfrm>
            <a:off x="277813" y="3490913"/>
            <a:ext cx="4843462" cy="369887"/>
            <a:chOff x="-373" y="0"/>
            <a:chExt cx="3051" cy="233"/>
          </a:xfrm>
        </p:grpSpPr>
        <p:grpSp>
          <p:nvGrpSpPr>
            <p:cNvPr id="167962" name="Group 31"/>
            <p:cNvGrpSpPr>
              <a:grpSpLocks/>
            </p:cNvGrpSpPr>
            <p:nvPr/>
          </p:nvGrpSpPr>
          <p:grpSpPr bwMode="auto">
            <a:xfrm>
              <a:off x="1667" y="84"/>
              <a:ext cx="1011" cy="87"/>
              <a:chOff x="0" y="0"/>
              <a:chExt cx="1011" cy="87"/>
            </a:xfrm>
          </p:grpSpPr>
          <p:sp>
            <p:nvSpPr>
              <p:cNvPr id="167966" name="Oval 32"/>
              <p:cNvSpPr>
                <a:spLocks noChangeArrowheads="1"/>
              </p:cNvSpPr>
              <p:nvPr/>
            </p:nvSpPr>
            <p:spPr bwMode="auto">
              <a:xfrm>
                <a:off x="923" y="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67967" name="Line 33"/>
              <p:cNvSpPr>
                <a:spLocks noChangeShapeType="1"/>
              </p:cNvSpPr>
              <p:nvPr/>
            </p:nvSpPr>
            <p:spPr bwMode="auto">
              <a:xfrm flipH="1">
                <a:off x="0" y="43"/>
                <a:ext cx="962"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67963" name="Group 34"/>
            <p:cNvGrpSpPr>
              <a:grpSpLocks/>
            </p:cNvGrpSpPr>
            <p:nvPr/>
          </p:nvGrpSpPr>
          <p:grpSpPr bwMode="auto">
            <a:xfrm>
              <a:off x="-373" y="0"/>
              <a:ext cx="2013" cy="233"/>
              <a:chOff x="-373" y="0"/>
              <a:chExt cx="2013" cy="233"/>
            </a:xfrm>
          </p:grpSpPr>
          <p:sp>
            <p:nvSpPr>
              <p:cNvPr id="167964" name="Text Box 35"/>
              <p:cNvSpPr txBox="1">
                <a:spLocks noChangeArrowheads="1"/>
              </p:cNvSpPr>
              <p:nvPr/>
            </p:nvSpPr>
            <p:spPr bwMode="auto">
              <a:xfrm>
                <a:off x="-373" y="0"/>
                <a:ext cx="16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没有税收时的价格</a:t>
                </a:r>
                <a:endParaRPr lang="en-US" altLang="zh-CN" sz="2400" b="0">
                  <a:latin typeface="Arial" panose="020B0604020202020204" pitchFamily="34" charset="0"/>
                </a:endParaRPr>
              </a:p>
            </p:txBody>
          </p:sp>
          <p:sp>
            <p:nvSpPr>
              <p:cNvPr id="167965" name="Line 36"/>
              <p:cNvSpPr>
                <a:spLocks noChangeShapeType="1"/>
              </p:cNvSpPr>
              <p:nvPr/>
            </p:nvSpPr>
            <p:spPr bwMode="auto">
              <a:xfrm flipH="1">
                <a:off x="1247" y="128"/>
                <a:ext cx="3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4" name="Group 37"/>
          <p:cNvGrpSpPr>
            <a:grpSpLocks/>
          </p:cNvGrpSpPr>
          <p:nvPr/>
        </p:nvGrpSpPr>
        <p:grpSpPr bwMode="auto">
          <a:xfrm>
            <a:off x="2566988" y="2786063"/>
            <a:ext cx="2249487" cy="593725"/>
            <a:chOff x="0" y="0"/>
            <a:chExt cx="1417" cy="374"/>
          </a:xfrm>
        </p:grpSpPr>
        <p:grpSp>
          <p:nvGrpSpPr>
            <p:cNvPr id="167956" name="Group 38"/>
            <p:cNvGrpSpPr>
              <a:grpSpLocks/>
            </p:cNvGrpSpPr>
            <p:nvPr/>
          </p:nvGrpSpPr>
          <p:grpSpPr bwMode="auto">
            <a:xfrm>
              <a:off x="599" y="287"/>
              <a:ext cx="818" cy="87"/>
              <a:chOff x="0" y="0"/>
              <a:chExt cx="818" cy="87"/>
            </a:xfrm>
          </p:grpSpPr>
          <p:sp>
            <p:nvSpPr>
              <p:cNvPr id="167960" name="Oval 39"/>
              <p:cNvSpPr>
                <a:spLocks noChangeArrowheads="1"/>
              </p:cNvSpPr>
              <p:nvPr/>
            </p:nvSpPr>
            <p:spPr bwMode="auto">
              <a:xfrm>
                <a:off x="730" y="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67961" name="Line 40"/>
              <p:cNvSpPr>
                <a:spLocks noChangeShapeType="1"/>
              </p:cNvSpPr>
              <p:nvPr/>
            </p:nvSpPr>
            <p:spPr bwMode="auto">
              <a:xfrm flipH="1">
                <a:off x="0" y="45"/>
                <a:ext cx="76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67957" name="Group 41"/>
            <p:cNvGrpSpPr>
              <a:grpSpLocks/>
            </p:cNvGrpSpPr>
            <p:nvPr/>
          </p:nvGrpSpPr>
          <p:grpSpPr bwMode="auto">
            <a:xfrm>
              <a:off x="0" y="0"/>
              <a:ext cx="577" cy="325"/>
              <a:chOff x="0" y="0"/>
              <a:chExt cx="577" cy="325"/>
            </a:xfrm>
          </p:grpSpPr>
          <p:sp>
            <p:nvSpPr>
              <p:cNvPr id="167958" name="Text Box 42"/>
              <p:cNvSpPr txBox="1">
                <a:spLocks noChangeArrowheads="1"/>
              </p:cNvSpPr>
              <p:nvPr/>
            </p:nvSpPr>
            <p:spPr bwMode="auto">
              <a:xfrm>
                <a:off x="0" y="0"/>
                <a:ext cx="40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r>
                  <a:rPr lang="en-US" altLang="zh-CN" sz="2400" i="1" baseline="-25000">
                    <a:latin typeface="Arial" panose="020B0604020202020204" pitchFamily="34" charset="0"/>
                  </a:rPr>
                  <a:t>B</a:t>
                </a:r>
              </a:p>
            </p:txBody>
          </p:sp>
          <p:sp>
            <p:nvSpPr>
              <p:cNvPr id="167959" name="Line 43"/>
              <p:cNvSpPr>
                <a:spLocks noChangeShapeType="1"/>
              </p:cNvSpPr>
              <p:nvPr/>
            </p:nvSpPr>
            <p:spPr bwMode="auto">
              <a:xfrm flipH="1" flipV="1">
                <a:off x="384" y="208"/>
                <a:ext cx="193" cy="1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7" name="Group 44"/>
          <p:cNvGrpSpPr>
            <a:grpSpLocks/>
          </p:cNvGrpSpPr>
          <p:nvPr/>
        </p:nvGrpSpPr>
        <p:grpSpPr bwMode="auto">
          <a:xfrm>
            <a:off x="2878138" y="4362450"/>
            <a:ext cx="1943100" cy="661988"/>
            <a:chOff x="0" y="0"/>
            <a:chExt cx="1224" cy="417"/>
          </a:xfrm>
        </p:grpSpPr>
        <p:grpSp>
          <p:nvGrpSpPr>
            <p:cNvPr id="167950" name="Group 45"/>
            <p:cNvGrpSpPr>
              <a:grpSpLocks/>
            </p:cNvGrpSpPr>
            <p:nvPr/>
          </p:nvGrpSpPr>
          <p:grpSpPr bwMode="auto">
            <a:xfrm>
              <a:off x="402" y="0"/>
              <a:ext cx="822" cy="87"/>
              <a:chOff x="0" y="0"/>
              <a:chExt cx="822" cy="87"/>
            </a:xfrm>
          </p:grpSpPr>
          <p:sp>
            <p:nvSpPr>
              <p:cNvPr id="167954" name="Oval 46"/>
              <p:cNvSpPr>
                <a:spLocks noChangeArrowheads="1"/>
              </p:cNvSpPr>
              <p:nvPr/>
            </p:nvSpPr>
            <p:spPr bwMode="auto">
              <a:xfrm>
                <a:off x="734" y="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67955" name="Line 47"/>
              <p:cNvSpPr>
                <a:spLocks noChangeShapeType="1"/>
              </p:cNvSpPr>
              <p:nvPr/>
            </p:nvSpPr>
            <p:spPr bwMode="auto">
              <a:xfrm flipH="1">
                <a:off x="0" y="43"/>
                <a:ext cx="767"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67951" name="Group 48"/>
            <p:cNvGrpSpPr>
              <a:grpSpLocks/>
            </p:cNvGrpSpPr>
            <p:nvPr/>
          </p:nvGrpSpPr>
          <p:grpSpPr bwMode="auto">
            <a:xfrm>
              <a:off x="0" y="52"/>
              <a:ext cx="384" cy="365"/>
              <a:chOff x="0" y="0"/>
              <a:chExt cx="384" cy="365"/>
            </a:xfrm>
          </p:grpSpPr>
          <p:sp>
            <p:nvSpPr>
              <p:cNvPr id="167952" name="Text Box 49"/>
              <p:cNvSpPr txBox="1">
                <a:spLocks noChangeArrowheads="1"/>
              </p:cNvSpPr>
              <p:nvPr/>
            </p:nvSpPr>
            <p:spPr bwMode="auto">
              <a:xfrm>
                <a:off x="0" y="77"/>
                <a:ext cx="3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r>
                  <a:rPr lang="en-US" altLang="zh-CN" sz="2400" i="1" baseline="-25000">
                    <a:latin typeface="Arial" panose="020B0604020202020204" pitchFamily="34" charset="0"/>
                  </a:rPr>
                  <a:t>S</a:t>
                </a:r>
              </a:p>
            </p:txBody>
          </p:sp>
          <p:sp>
            <p:nvSpPr>
              <p:cNvPr id="167953" name="Line 50"/>
              <p:cNvSpPr>
                <a:spLocks noChangeShapeType="1"/>
              </p:cNvSpPr>
              <p:nvPr/>
            </p:nvSpPr>
            <p:spPr bwMode="auto">
              <a:xfrm flipH="1">
                <a:off x="240" y="0"/>
                <a:ext cx="144" cy="1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57395" name="Rectangle 51"/>
          <p:cNvSpPr>
            <a:spLocks noChangeArrowheads="1"/>
          </p:cNvSpPr>
          <p:nvPr/>
        </p:nvSpPr>
        <p:spPr bwMode="auto">
          <a:xfrm>
            <a:off x="6629400" y="2005013"/>
            <a:ext cx="2176463" cy="3176587"/>
          </a:xfrm>
          <a:prstGeom prst="rect">
            <a:avLst/>
          </a:prstGeom>
          <a:solidFill>
            <a:srgbClr val="FFFFCC"/>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lnSpc>
                <a:spcPct val="105000"/>
              </a:lnSpc>
              <a:spcBef>
                <a:spcPct val="25000"/>
              </a:spcBef>
              <a:buClr>
                <a:srgbClr val="00B85C"/>
              </a:buClr>
              <a:buSzPct val="120000"/>
              <a:buFont typeface="Wingdings" panose="05000000000000000000" pitchFamily="2" charset="2"/>
              <a:buNone/>
            </a:pPr>
            <a:r>
              <a:rPr lang="zh-CN" altLang="en-US" b="0">
                <a:latin typeface="Arial" panose="020B0604020202020204" pitchFamily="34" charset="0"/>
              </a:rPr>
              <a:t>买者相对于卖者更容易离开市场，因此卖者承担了大部分的税负</a:t>
            </a:r>
            <a:endParaRPr lang="en-US" altLang="zh-CN" b="0">
              <a:latin typeface="Arial" panose="020B0604020202020204" pitchFamily="34" charset="0"/>
            </a:endParaRPr>
          </a:p>
        </p:txBody>
      </p:sp>
      <p:sp>
        <p:nvSpPr>
          <p:cNvPr id="167949" name="Title 1"/>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弹性与税收归宿</a:t>
            </a:r>
          </a:p>
        </p:txBody>
      </p:sp>
    </p:spTree>
    <p:extLst>
      <p:ext uri="{BB962C8B-B14F-4D97-AF65-F5344CB8AC3E}">
        <p14:creationId xmlns:p14="http://schemas.microsoft.com/office/powerpoint/2010/main" val="259072434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upRight)">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right)">
                                      <p:cBhvr>
                                        <p:cTn id="17" dur="500"/>
                                        <p:tgtEl>
                                          <p:spTgt spid="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12"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trips(downLeft)">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9"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strips(upLeft)">
                                      <p:cBhvr>
                                        <p:cTn id="27" dur="500"/>
                                        <p:tgtEl>
                                          <p:spTgt spid="1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12"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strips(downLeft)">
                                      <p:cBhvr>
                                        <p:cTn id="32" dur="500"/>
                                        <p:tgtEl>
                                          <p:spTgt spid="1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dissolve">
                                      <p:cBhvr>
                                        <p:cTn id="37" dur="500"/>
                                        <p:tgtEl>
                                          <p:spTgt spid="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dissolve">
                                      <p:cBhvr>
                                        <p:cTn id="42" dur="500"/>
                                        <p:tgtEl>
                                          <p:spTgt spid="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57395"/>
                                        </p:tgtEl>
                                        <p:attrNameLst>
                                          <p:attrName>style.visibility</p:attrName>
                                        </p:attrNameLst>
                                      </p:cBhvr>
                                      <p:to>
                                        <p:strVal val="visible"/>
                                      </p:to>
                                    </p:set>
                                    <p:animEffect transition="in" filter="dissolve">
                                      <p:cBhvr>
                                        <p:cTn id="47" dur="500"/>
                                        <p:tgtEl>
                                          <p:spTgt spid="573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95" grpId="0" bldLvl="0" animBg="1"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18" name="Rectangle 3"/>
          <p:cNvSpPr>
            <a:spLocks noGrp="1" noChangeArrowheads="1"/>
          </p:cNvSpPr>
          <p:nvPr>
            <p:ph type="body" idx="4294967295"/>
          </p:nvPr>
        </p:nvSpPr>
        <p:spPr>
          <a:xfrm>
            <a:off x="990600" y="1447800"/>
            <a:ext cx="7764463" cy="4689475"/>
          </a:xfrm>
        </p:spPr>
        <p:txBody>
          <a:bodyPr/>
          <a:lstStyle/>
          <a:p>
            <a:r>
              <a:rPr lang="zh-CN" altLang="en-US" dirty="0">
                <a:ea typeface="宋体" panose="02010600030101010101" pitchFamily="2" charset="-122"/>
              </a:rPr>
              <a:t>在</a:t>
            </a:r>
            <a:r>
              <a:rPr lang="zh-CN" altLang="ja-JP" dirty="0">
                <a:ea typeface="宋体" panose="02010600030101010101" pitchFamily="2" charset="-122"/>
              </a:rPr>
              <a:t>1990</a:t>
            </a:r>
            <a:r>
              <a:rPr lang="zh-CN" altLang="en-US" dirty="0">
                <a:ea typeface="宋体" panose="02010600030101010101" pitchFamily="2" charset="-122"/>
              </a:rPr>
              <a:t>年，美国国会通过了一项针对游艇，私人飞机，皮衣，珠宝和豪华轿车这类物品的新的奢侈品税</a:t>
            </a:r>
            <a:endParaRPr lang="zh-CN" altLang="ja-JP" dirty="0">
              <a:ea typeface="宋体" panose="02010600030101010101" pitchFamily="2" charset="-122"/>
            </a:endParaRPr>
          </a:p>
          <a:p>
            <a:r>
              <a:rPr lang="zh-CN" altLang="en-US" dirty="0">
                <a:ea typeface="宋体" panose="02010600030101010101" pitchFamily="2" charset="-122"/>
              </a:rPr>
              <a:t>税收的目的</a:t>
            </a:r>
            <a:r>
              <a:rPr lang="en-US" altLang="zh-CN" dirty="0">
                <a:ea typeface="宋体" panose="02010600030101010101" pitchFamily="2" charset="-122"/>
              </a:rPr>
              <a:t>: </a:t>
            </a:r>
            <a:r>
              <a:rPr lang="zh-CN" altLang="en-US" dirty="0">
                <a:ea typeface="宋体" panose="02010600030101010101" pitchFamily="2" charset="-122"/>
              </a:rPr>
              <a:t>增加富人的税收</a:t>
            </a:r>
          </a:p>
          <a:p>
            <a:r>
              <a:rPr lang="zh-CN" altLang="en-US" dirty="0">
                <a:ea typeface="宋体" panose="02010600030101010101" pitchFamily="2" charset="-122"/>
              </a:rPr>
              <a:t>这样的税收可以达到目的吗？</a:t>
            </a:r>
            <a:endParaRPr lang="en-US" altLang="zh-CN" dirty="0">
              <a:ea typeface="宋体" panose="02010600030101010101" pitchFamily="2" charset="-122"/>
            </a:endParaRPr>
          </a:p>
        </p:txBody>
      </p:sp>
      <p:sp>
        <p:nvSpPr>
          <p:cNvPr id="169987" name="Title 1"/>
          <p:cNvSpPr txBox="1">
            <a:spLocks/>
          </p:cNvSpPr>
          <p:nvPr/>
        </p:nvSpPr>
        <p:spPr bwMode="auto">
          <a:xfrm>
            <a:off x="1403648" y="620688"/>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dirty="0">
                <a:latin typeface="Arial" panose="020B0604020202020204" pitchFamily="34" charset="0"/>
              </a:rPr>
              <a:t>谁在支付奢侈税</a:t>
            </a:r>
          </a:p>
        </p:txBody>
      </p:sp>
    </p:spTree>
    <p:extLst>
      <p:ext uri="{BB962C8B-B14F-4D97-AF65-F5344CB8AC3E}">
        <p14:creationId xmlns:p14="http://schemas.microsoft.com/office/powerpoint/2010/main" val="388283174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1618">
                                            <p:txEl>
                                              <p:pRg st="0" end="0"/>
                                            </p:txEl>
                                          </p:spTgt>
                                        </p:tgtEl>
                                        <p:attrNameLst>
                                          <p:attrName>style.visibility</p:attrName>
                                        </p:attrNameLst>
                                      </p:cBhvr>
                                      <p:to>
                                        <p:strVal val="visible"/>
                                      </p:to>
                                    </p:set>
                                    <p:animEffect transition="in" filter="blinds(horizontal)">
                                      <p:cBhvr>
                                        <p:cTn id="7" dur="500"/>
                                        <p:tgtEl>
                                          <p:spTgt spid="11161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1618">
                                            <p:txEl>
                                              <p:pRg st="1" end="1"/>
                                            </p:txEl>
                                          </p:spTgt>
                                        </p:tgtEl>
                                        <p:attrNameLst>
                                          <p:attrName>style.visibility</p:attrName>
                                        </p:attrNameLst>
                                      </p:cBhvr>
                                      <p:to>
                                        <p:strVal val="visible"/>
                                      </p:to>
                                    </p:set>
                                    <p:animEffect transition="in" filter="blinds(horizontal)">
                                      <p:cBhvr>
                                        <p:cTn id="12" dur="500"/>
                                        <p:tgtEl>
                                          <p:spTgt spid="11161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1618">
                                            <p:txEl>
                                              <p:pRg st="2" end="2"/>
                                            </p:txEl>
                                          </p:spTgt>
                                        </p:tgtEl>
                                        <p:attrNameLst>
                                          <p:attrName>style.visibility</p:attrName>
                                        </p:attrNameLst>
                                      </p:cBhvr>
                                      <p:to>
                                        <p:strVal val="visible"/>
                                      </p:to>
                                    </p:set>
                                    <p:animEffect transition="in" filter="blinds(horizontal)">
                                      <p:cBhvr>
                                        <p:cTn id="17" dur="500"/>
                                        <p:tgtEl>
                                          <p:spTgt spid="1116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8"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p:cNvSpPr>
            <a:spLocks noGrp="1" noChangeArrowheads="1"/>
          </p:cNvSpPr>
          <p:nvPr>
            <p:ph type="body" idx="4294967295"/>
          </p:nvPr>
        </p:nvSpPr>
        <p:spPr>
          <a:xfrm>
            <a:off x="-108520" y="1412776"/>
            <a:ext cx="8229600" cy="4784725"/>
          </a:xfrm>
        </p:spPr>
        <p:txBody>
          <a:bodyPr/>
          <a:lstStyle/>
          <a:p>
            <a:pPr lvl="2" eaLnBrk="1" hangingPunct="1">
              <a:lnSpc>
                <a:spcPct val="15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需求富有弹性的情况</a:t>
            </a:r>
            <a:endParaRPr lang="en-US" altLang="zh-CN" sz="2000" dirty="0">
              <a:latin typeface="微软雅黑" panose="020B0503020204020204" pitchFamily="34" charset="-122"/>
              <a:ea typeface="微软雅黑" panose="020B0503020204020204" pitchFamily="34" charset="-122"/>
            </a:endParaRPr>
          </a:p>
          <a:p>
            <a:pPr lvl="3" eaLnBrk="1" hangingPunct="1">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富有弹性：∆</a:t>
            </a:r>
            <a:r>
              <a:rPr lang="en-US" altLang="zh-CN" dirty="0">
                <a:latin typeface="微软雅黑" panose="020B0503020204020204" pitchFamily="34" charset="-122"/>
                <a:ea typeface="微软雅黑" panose="020B0503020204020204" pitchFamily="34" charset="-122"/>
              </a:rPr>
              <a:t>P/P &lt; ∆Q/Q </a:t>
            </a:r>
            <a:r>
              <a:rPr lang="zh-CN" altLang="en-US" dirty="0">
                <a:latin typeface="微软雅黑" panose="020B0503020204020204" pitchFamily="34" charset="-122"/>
                <a:ea typeface="微软雅黑" panose="020B0503020204020204" pitchFamily="34" charset="-122"/>
              </a:rPr>
              <a:t>（绝对值）</a:t>
            </a:r>
            <a:endParaRPr lang="en-US" altLang="zh-CN" dirty="0">
              <a:latin typeface="微软雅黑" panose="020B0503020204020204" pitchFamily="34" charset="-122"/>
              <a:ea typeface="微软雅黑" panose="020B0503020204020204" pitchFamily="34" charset="-122"/>
            </a:endParaRPr>
          </a:p>
          <a:p>
            <a:pPr marL="1371600" lvl="3" indent="0" algn="ctr" eaLnBrk="1" hangingPunct="1">
              <a:buNone/>
            </a:pPr>
            <a:r>
              <a:rPr lang="zh-CN" altLang="en-US" sz="2400" dirty="0">
                <a:solidFill>
                  <a:srgbClr val="00B050"/>
                </a:solidFill>
              </a:rPr>
              <a:t>▼</a:t>
            </a:r>
            <a:endParaRPr lang="en-US" altLang="zh-CN" sz="2400" dirty="0">
              <a:solidFill>
                <a:srgbClr val="00B050"/>
              </a:solidFill>
            </a:endParaRPr>
          </a:p>
          <a:p>
            <a:pPr lvl="3" eaLnBrk="1" hangingPunct="1">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薄利多销</a:t>
            </a:r>
            <a:r>
              <a:rPr lang="zh-CN" altLang="en-US" sz="18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dirty="0">
                <a:sym typeface="Wingdings" panose="05000000000000000000" pitchFamily="2" charset="2"/>
              </a:rPr>
              <a:t>       </a:t>
            </a:r>
            <a:r>
              <a:rPr lang="en-US" altLang="zh-CN" dirty="0">
                <a:sym typeface="Wingdings" panose="05000000000000000000" pitchFamily="2" charset="2"/>
              </a:rPr>
              <a:t>P↓Q↑PQ</a:t>
            </a:r>
            <a:r>
              <a:rPr lang="en-US" altLang="zh-CN" dirty="0">
                <a:solidFill>
                  <a:srgbClr val="C00000"/>
                </a:solidFill>
                <a:sym typeface="Wingdings" panose="05000000000000000000" pitchFamily="2" charset="2"/>
              </a:rPr>
              <a:t>↑</a:t>
            </a:r>
            <a:endParaRPr lang="zh-CN" altLang="en-US" sz="2400" dirty="0"/>
          </a:p>
          <a:p>
            <a:pPr lvl="2" eaLnBrk="1" hangingPunct="1">
              <a:lnSpc>
                <a:spcPct val="150000"/>
              </a:lnSpc>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需求缺乏弹性的情况</a:t>
            </a:r>
            <a:endParaRPr lang="en-US" altLang="zh-CN" sz="2000" dirty="0">
              <a:latin typeface="微软雅黑" panose="020B0503020204020204" pitchFamily="34" charset="-122"/>
              <a:ea typeface="微软雅黑" panose="020B0503020204020204" pitchFamily="34" charset="-122"/>
            </a:endParaRPr>
          </a:p>
          <a:p>
            <a:pPr lvl="3" eaLnBrk="1" hangingPunct="1">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缺乏弹性：</a:t>
            </a:r>
            <a:r>
              <a:rPr lang="zh-CN" altLang="en-US" dirty="0"/>
              <a:t>∆</a:t>
            </a:r>
            <a:r>
              <a:rPr lang="en-US" altLang="zh-CN" dirty="0"/>
              <a:t>P/P &gt; ∆Q/Q </a:t>
            </a:r>
            <a:r>
              <a:rPr lang="zh-CN" altLang="en-US" dirty="0">
                <a:latin typeface="微软雅黑" panose="020B0503020204020204" pitchFamily="34" charset="-122"/>
                <a:ea typeface="微软雅黑" panose="020B0503020204020204" pitchFamily="34" charset="-122"/>
              </a:rPr>
              <a:t>（绝对值）</a:t>
            </a:r>
            <a:endParaRPr lang="en-US" altLang="zh-CN" dirty="0">
              <a:latin typeface="微软雅黑" panose="020B0503020204020204" pitchFamily="34" charset="-122"/>
              <a:ea typeface="微软雅黑" panose="020B0503020204020204" pitchFamily="34" charset="-122"/>
            </a:endParaRPr>
          </a:p>
          <a:p>
            <a:pPr marL="1371600" lvl="3" indent="0" algn="ctr" eaLnBrk="1" hangingPunct="1">
              <a:buNone/>
            </a:pPr>
            <a:r>
              <a:rPr lang="zh-CN" altLang="en-US" sz="2400" dirty="0">
                <a:solidFill>
                  <a:srgbClr val="00B050"/>
                </a:solidFill>
              </a:rPr>
              <a:t>▼</a:t>
            </a:r>
            <a:endParaRPr lang="en-US" altLang="zh-CN" sz="2400" dirty="0">
              <a:solidFill>
                <a:srgbClr val="00B050"/>
              </a:solidFill>
            </a:endParaRPr>
          </a:p>
          <a:p>
            <a:pPr lvl="3" eaLnBrk="1" hangingPunct="1">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菜贱伤农</a:t>
            </a:r>
            <a:r>
              <a:rPr lang="en-US" altLang="zh-CN" dirty="0">
                <a:latin typeface="微软雅黑" panose="020B0503020204020204" pitchFamily="34" charset="-122"/>
                <a:ea typeface="微软雅黑" panose="020B0503020204020204" pitchFamily="34" charset="-122"/>
              </a:rPr>
              <a:t>:        </a:t>
            </a:r>
            <a:r>
              <a:rPr lang="en-US" altLang="zh-CN" dirty="0">
                <a:sym typeface="Wingdings" panose="05000000000000000000" pitchFamily="2" charset="2"/>
              </a:rPr>
              <a:t>P↓Q↑PQ</a:t>
            </a:r>
            <a:r>
              <a:rPr lang="en-US" altLang="zh-CN" dirty="0">
                <a:solidFill>
                  <a:srgbClr val="C00000"/>
                </a:solidFill>
                <a:sym typeface="Wingdings" panose="05000000000000000000" pitchFamily="2" charset="2"/>
              </a:rPr>
              <a:t>↓</a:t>
            </a:r>
            <a:endParaRPr lang="en-US" altLang="zh-CN" dirty="0">
              <a:solidFill>
                <a:srgbClr val="C00000"/>
              </a:solidFill>
            </a:endParaRPr>
          </a:p>
          <a:p>
            <a:pPr lvl="3" eaLnBrk="1" hangingPunct="1">
              <a:lnSpc>
                <a:spcPct val="150000"/>
              </a:lnSpc>
            </a:pPr>
            <a:endParaRPr lang="en-US" altLang="zh-CN" sz="2400" dirty="0"/>
          </a:p>
        </p:txBody>
      </p:sp>
      <p:sp>
        <p:nvSpPr>
          <p:cNvPr id="4" name="矩形 3">
            <a:extLst>
              <a:ext uri="{FF2B5EF4-FFF2-40B4-BE49-F238E27FC236}">
                <a16:creationId xmlns:a16="http://schemas.microsoft.com/office/drawing/2014/main" id="{FED174EA-D187-407F-8393-9AB907C404F0}"/>
              </a:ext>
            </a:extLst>
          </p:cNvPr>
          <p:cNvSpPr/>
          <p:nvPr/>
        </p:nvSpPr>
        <p:spPr>
          <a:xfrm>
            <a:off x="467544" y="548680"/>
            <a:ext cx="258436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三、弹性和收入 </a:t>
            </a:r>
          </a:p>
        </p:txBody>
      </p:sp>
      <p:sp>
        <p:nvSpPr>
          <p:cNvPr id="5" name="矩形 4">
            <a:extLst>
              <a:ext uri="{FF2B5EF4-FFF2-40B4-BE49-F238E27FC236}">
                <a16:creationId xmlns:a16="http://schemas.microsoft.com/office/drawing/2014/main" id="{6231900B-9C23-4D38-B723-DF7E41EFAA1F}"/>
              </a:ext>
            </a:extLst>
          </p:cNvPr>
          <p:cNvSpPr/>
          <p:nvPr/>
        </p:nvSpPr>
        <p:spPr>
          <a:xfrm>
            <a:off x="5738974" y="0"/>
            <a:ext cx="3381054"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第五节 供求分析的应用实例</a:t>
            </a:r>
          </a:p>
        </p:txBody>
      </p:sp>
      <p:pic>
        <p:nvPicPr>
          <p:cNvPr id="6" name="图片 5">
            <a:extLst>
              <a:ext uri="{FF2B5EF4-FFF2-40B4-BE49-F238E27FC236}">
                <a16:creationId xmlns:a16="http://schemas.microsoft.com/office/drawing/2014/main" id="{B0D364C8-3594-45B9-9F89-6F75DBD911A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8156"/>
          <a:stretch/>
        </p:blipFill>
        <p:spPr>
          <a:xfrm>
            <a:off x="6300192" y="1844824"/>
            <a:ext cx="1820888" cy="3495420"/>
          </a:xfrm>
          <a:prstGeom prst="rect">
            <a:avLst/>
          </a:prstGeom>
        </p:spPr>
      </p:pic>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62466">
                                            <p:txEl>
                                              <p:pRg st="0" end="0"/>
                                            </p:txEl>
                                          </p:spTgt>
                                        </p:tgtEl>
                                        <p:attrNameLst>
                                          <p:attrName>style.visibility</p:attrName>
                                        </p:attrNameLst>
                                      </p:cBhvr>
                                      <p:to>
                                        <p:strVal val="visible"/>
                                      </p:to>
                                    </p:set>
                                    <p:animEffect transition="in" filter="strips(downRight)">
                                      <p:cBhvr>
                                        <p:cTn id="12" dur="500"/>
                                        <p:tgtEl>
                                          <p:spTgt spid="62466">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randombar(horizontal)">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6" fill="hold" grpId="0" nodeType="clickEffect">
                                  <p:stCondLst>
                                    <p:cond delay="0"/>
                                  </p:stCondLst>
                                  <p:childTnLst>
                                    <p:set>
                                      <p:cBhvr>
                                        <p:cTn id="19" dur="1" fill="hold">
                                          <p:stCondLst>
                                            <p:cond delay="0"/>
                                          </p:stCondLst>
                                        </p:cTn>
                                        <p:tgtEl>
                                          <p:spTgt spid="62466">
                                            <p:txEl>
                                              <p:pRg st="1" end="1"/>
                                            </p:txEl>
                                          </p:spTgt>
                                        </p:tgtEl>
                                        <p:attrNameLst>
                                          <p:attrName>style.visibility</p:attrName>
                                        </p:attrNameLst>
                                      </p:cBhvr>
                                      <p:to>
                                        <p:strVal val="visible"/>
                                      </p:to>
                                    </p:set>
                                    <p:animEffect transition="in" filter="strips(downRight)">
                                      <p:cBhvr>
                                        <p:cTn id="20" dur="500"/>
                                        <p:tgtEl>
                                          <p:spTgt spid="62466">
                                            <p:txEl>
                                              <p:pRg st="1" end="1"/>
                                            </p:txEl>
                                          </p:spTgt>
                                        </p:tgtEl>
                                      </p:cBhvr>
                                    </p:animEffect>
                                  </p:childTnLst>
                                </p:cTn>
                              </p:par>
                            </p:childTnLst>
                          </p:cTn>
                        </p:par>
                        <p:par>
                          <p:cTn id="21" fill="hold">
                            <p:stCondLst>
                              <p:cond delay="500"/>
                            </p:stCondLst>
                            <p:childTnLst>
                              <p:par>
                                <p:cTn id="22" presetID="18" presetClass="entr" presetSubtype="6" fill="hold" grpId="0" nodeType="afterEffect">
                                  <p:stCondLst>
                                    <p:cond delay="0"/>
                                  </p:stCondLst>
                                  <p:childTnLst>
                                    <p:set>
                                      <p:cBhvr>
                                        <p:cTn id="23" dur="1" fill="hold">
                                          <p:stCondLst>
                                            <p:cond delay="0"/>
                                          </p:stCondLst>
                                        </p:cTn>
                                        <p:tgtEl>
                                          <p:spTgt spid="62466">
                                            <p:txEl>
                                              <p:pRg st="2" end="2"/>
                                            </p:txEl>
                                          </p:spTgt>
                                        </p:tgtEl>
                                        <p:attrNameLst>
                                          <p:attrName>style.visibility</p:attrName>
                                        </p:attrNameLst>
                                      </p:cBhvr>
                                      <p:to>
                                        <p:strVal val="visible"/>
                                      </p:to>
                                    </p:set>
                                    <p:animEffect transition="in" filter="strips(downRight)">
                                      <p:cBhvr>
                                        <p:cTn id="24" dur="500"/>
                                        <p:tgtEl>
                                          <p:spTgt spid="62466">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62466">
                                            <p:txEl>
                                              <p:pRg st="3" end="3"/>
                                            </p:txEl>
                                          </p:spTgt>
                                        </p:tgtEl>
                                        <p:attrNameLst>
                                          <p:attrName>style.visibility</p:attrName>
                                        </p:attrNameLst>
                                      </p:cBhvr>
                                      <p:to>
                                        <p:strVal val="visible"/>
                                      </p:to>
                                    </p:set>
                                    <p:animEffect transition="in" filter="slide(fromBottom)">
                                      <p:cBhvr>
                                        <p:cTn id="29" dur="500"/>
                                        <p:tgtEl>
                                          <p:spTgt spid="62466">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8" presetClass="entr" presetSubtype="6" fill="hold" grpId="0" nodeType="clickEffect">
                                  <p:stCondLst>
                                    <p:cond delay="0"/>
                                  </p:stCondLst>
                                  <p:childTnLst>
                                    <p:set>
                                      <p:cBhvr>
                                        <p:cTn id="33" dur="1" fill="hold">
                                          <p:stCondLst>
                                            <p:cond delay="0"/>
                                          </p:stCondLst>
                                        </p:cTn>
                                        <p:tgtEl>
                                          <p:spTgt spid="62466">
                                            <p:txEl>
                                              <p:pRg st="4" end="4"/>
                                            </p:txEl>
                                          </p:spTgt>
                                        </p:tgtEl>
                                        <p:attrNameLst>
                                          <p:attrName>style.visibility</p:attrName>
                                        </p:attrNameLst>
                                      </p:cBhvr>
                                      <p:to>
                                        <p:strVal val="visible"/>
                                      </p:to>
                                    </p:set>
                                    <p:animEffect transition="in" filter="strips(downRight)">
                                      <p:cBhvr>
                                        <p:cTn id="34" dur="500"/>
                                        <p:tgtEl>
                                          <p:spTgt spid="62466">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8" presetClass="entr" presetSubtype="6" fill="hold" grpId="0" nodeType="clickEffect">
                                  <p:stCondLst>
                                    <p:cond delay="0"/>
                                  </p:stCondLst>
                                  <p:childTnLst>
                                    <p:set>
                                      <p:cBhvr>
                                        <p:cTn id="38" dur="1" fill="hold">
                                          <p:stCondLst>
                                            <p:cond delay="0"/>
                                          </p:stCondLst>
                                        </p:cTn>
                                        <p:tgtEl>
                                          <p:spTgt spid="62466">
                                            <p:txEl>
                                              <p:pRg st="5" end="5"/>
                                            </p:txEl>
                                          </p:spTgt>
                                        </p:tgtEl>
                                        <p:attrNameLst>
                                          <p:attrName>style.visibility</p:attrName>
                                        </p:attrNameLst>
                                      </p:cBhvr>
                                      <p:to>
                                        <p:strVal val="visible"/>
                                      </p:to>
                                    </p:set>
                                    <p:animEffect transition="in" filter="strips(downRight)">
                                      <p:cBhvr>
                                        <p:cTn id="39" dur="500"/>
                                        <p:tgtEl>
                                          <p:spTgt spid="62466">
                                            <p:txEl>
                                              <p:pRg st="5" end="5"/>
                                            </p:txEl>
                                          </p:spTgt>
                                        </p:tgtEl>
                                      </p:cBhvr>
                                    </p:animEffect>
                                  </p:childTnLst>
                                </p:cTn>
                              </p:par>
                            </p:childTnLst>
                          </p:cTn>
                        </p:par>
                        <p:par>
                          <p:cTn id="40" fill="hold">
                            <p:stCondLst>
                              <p:cond delay="500"/>
                            </p:stCondLst>
                            <p:childTnLst>
                              <p:par>
                                <p:cTn id="41" presetID="18" presetClass="entr" presetSubtype="6" fill="hold" grpId="0" nodeType="afterEffect">
                                  <p:stCondLst>
                                    <p:cond delay="0"/>
                                  </p:stCondLst>
                                  <p:childTnLst>
                                    <p:set>
                                      <p:cBhvr>
                                        <p:cTn id="42" dur="1" fill="hold">
                                          <p:stCondLst>
                                            <p:cond delay="0"/>
                                          </p:stCondLst>
                                        </p:cTn>
                                        <p:tgtEl>
                                          <p:spTgt spid="62466">
                                            <p:txEl>
                                              <p:pRg st="6" end="6"/>
                                            </p:txEl>
                                          </p:spTgt>
                                        </p:tgtEl>
                                        <p:attrNameLst>
                                          <p:attrName>style.visibility</p:attrName>
                                        </p:attrNameLst>
                                      </p:cBhvr>
                                      <p:to>
                                        <p:strVal val="visible"/>
                                      </p:to>
                                    </p:set>
                                    <p:animEffect transition="in" filter="strips(downRight)">
                                      <p:cBhvr>
                                        <p:cTn id="43" dur="500"/>
                                        <p:tgtEl>
                                          <p:spTgt spid="62466">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8" presetClass="entr" presetSubtype="6" fill="hold" grpId="0" nodeType="clickEffect">
                                  <p:stCondLst>
                                    <p:cond delay="0"/>
                                  </p:stCondLst>
                                  <p:childTnLst>
                                    <p:set>
                                      <p:cBhvr>
                                        <p:cTn id="47" dur="1" fill="hold">
                                          <p:stCondLst>
                                            <p:cond delay="0"/>
                                          </p:stCondLst>
                                        </p:cTn>
                                        <p:tgtEl>
                                          <p:spTgt spid="62466">
                                            <p:txEl>
                                              <p:pRg st="7" end="7"/>
                                            </p:txEl>
                                          </p:spTgt>
                                        </p:tgtEl>
                                        <p:attrNameLst>
                                          <p:attrName>style.visibility</p:attrName>
                                        </p:attrNameLst>
                                      </p:cBhvr>
                                      <p:to>
                                        <p:strVal val="visible"/>
                                      </p:to>
                                    </p:set>
                                    <p:animEffect transition="in" filter="strips(downRight)">
                                      <p:cBhvr>
                                        <p:cTn id="48" dur="500"/>
                                        <p:tgtEl>
                                          <p:spTgt spid="6246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uiExpand="1" build="p" autoUpdateAnimBg="0"/>
      <p:bldP spid="4" grpId="0" animBg="1"/>
    </p:bld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Title 1"/>
          <p:cNvSpPr>
            <a:spLocks noGrp="1" noChangeArrowheads="1"/>
          </p:cNvSpPr>
          <p:nvPr>
            <p:ph type="title" idx="4294967295"/>
          </p:nvPr>
        </p:nvSpPr>
        <p:spPr>
          <a:xfrm>
            <a:off x="1043608" y="404664"/>
            <a:ext cx="6981056" cy="1054224"/>
          </a:xfrm>
        </p:spPr>
        <p:txBody>
          <a:bodyPr anchor="b"/>
          <a:lstStyle/>
          <a:p>
            <a:pPr eaLnBrk="1" hangingPunct="1"/>
            <a:r>
              <a:rPr lang="zh-CN" altLang="en-US" sz="2800" b="1" dirty="0">
                <a:ea typeface="宋体" panose="02010600030101010101" pitchFamily="2" charset="-122"/>
              </a:rPr>
              <a:t>弹性的应用：</a:t>
            </a:r>
            <a:br>
              <a:rPr lang="en-US" altLang="zh-CN" sz="2800" b="1" dirty="0">
                <a:ea typeface="宋体" panose="02010600030101010101" pitchFamily="2" charset="-122"/>
              </a:rPr>
            </a:br>
            <a:r>
              <a:rPr lang="zh-CN" altLang="en-US" sz="2800" b="1" dirty="0">
                <a:ea typeface="宋体" panose="02010600030101010101" pitchFamily="2" charset="-122"/>
              </a:rPr>
              <a:t>需求价格弹性与消费者支出（供给者总收入）</a:t>
            </a:r>
          </a:p>
        </p:txBody>
      </p:sp>
      <p:sp>
        <p:nvSpPr>
          <p:cNvPr id="69635" name="Content Placeholder 2"/>
          <p:cNvSpPr>
            <a:spLocks noGrp="1" noChangeArrowheads="1"/>
          </p:cNvSpPr>
          <p:nvPr>
            <p:ph idx="4294967295"/>
          </p:nvPr>
        </p:nvSpPr>
        <p:spPr>
          <a:xfrm>
            <a:off x="457200" y="1844824"/>
            <a:ext cx="8229600" cy="4281339"/>
          </a:xfrm>
        </p:spPr>
        <p:txBody>
          <a:bodyPr/>
          <a:lstStyle/>
          <a:p>
            <a:pPr marL="447675" indent="-447675" eaLnBrk="1" hangingPunct="1">
              <a:lnSpc>
                <a:spcPct val="95000"/>
              </a:lnSpc>
              <a:spcBef>
                <a:spcPct val="35000"/>
              </a:spcBef>
            </a:pPr>
            <a:r>
              <a:rPr lang="zh-CN" altLang="en-US" sz="2500" dirty="0">
                <a:latin typeface="微软雅黑 Light" panose="020B0502040204020203" pitchFamily="34" charset="-122"/>
                <a:ea typeface="微软雅黑 Light" panose="020B0502040204020203" pitchFamily="34" charset="-122"/>
              </a:rPr>
              <a:t>某一商品的价格水平乘以在该价格上消费者购买的量，就是消费支出总量。</a:t>
            </a:r>
          </a:p>
          <a:p>
            <a:pPr marL="447675" indent="-447675" eaLnBrk="1" hangingPunct="1">
              <a:lnSpc>
                <a:spcPct val="95000"/>
              </a:lnSpc>
              <a:spcBef>
                <a:spcPct val="35000"/>
              </a:spcBef>
            </a:pPr>
            <a:r>
              <a:rPr lang="zh-CN" altLang="en-US" sz="2500" dirty="0">
                <a:latin typeface="微软雅黑 Light" panose="020B0502040204020203" pitchFamily="34" charset="-122"/>
                <a:ea typeface="微软雅黑 Light" panose="020B0502040204020203" pitchFamily="34" charset="-122"/>
              </a:rPr>
              <a:t>价格上升对支出有两种影响：</a:t>
            </a:r>
            <a:endParaRPr lang="zh-CN" altLang="ja-JP" sz="2500" dirty="0">
              <a:latin typeface="微软雅黑 Light" panose="020B0502040204020203" pitchFamily="34" charset="-122"/>
              <a:ea typeface="微软雅黑 Light" panose="020B0502040204020203" pitchFamily="34" charset="-122"/>
            </a:endParaRPr>
          </a:p>
          <a:p>
            <a:pPr marL="889000" lvl="1" indent="-439738" eaLnBrk="1" hangingPunct="1">
              <a:lnSpc>
                <a:spcPct val="105000"/>
              </a:lnSpc>
              <a:spcBef>
                <a:spcPct val="10000"/>
              </a:spcBef>
            </a:pPr>
            <a:r>
              <a:rPr lang="zh-CN" altLang="en-US" sz="2500" dirty="0">
                <a:latin typeface="微软雅黑 Light" panose="020B0502040204020203" pitchFamily="34" charset="-122"/>
                <a:ea typeface="微软雅黑 Light" panose="020B0502040204020203" pitchFamily="34" charset="-122"/>
              </a:rPr>
              <a:t>更高的价格意味着你在买入每单位物品上会有更多的支出</a:t>
            </a:r>
            <a:endParaRPr lang="zh-CN" altLang="ja-JP" sz="2500" dirty="0">
              <a:latin typeface="微软雅黑 Light" panose="020B0502040204020203" pitchFamily="34" charset="-122"/>
              <a:ea typeface="微软雅黑 Light" panose="020B0502040204020203" pitchFamily="34" charset="-122"/>
            </a:endParaRPr>
          </a:p>
          <a:p>
            <a:pPr marL="889000" lvl="1" indent="-439738" eaLnBrk="1" hangingPunct="1">
              <a:lnSpc>
                <a:spcPct val="105000"/>
              </a:lnSpc>
              <a:spcBef>
                <a:spcPct val="10000"/>
              </a:spcBef>
            </a:pPr>
            <a:r>
              <a:rPr lang="zh-CN" altLang="en-US" sz="2500" dirty="0">
                <a:latin typeface="微软雅黑 Light" panose="020B0502040204020203" pitchFamily="34" charset="-122"/>
                <a:ea typeface="微软雅黑 Light" panose="020B0502040204020203" pitchFamily="34" charset="-122"/>
              </a:rPr>
              <a:t>但根据需求定理，你买入物品数量会减少</a:t>
            </a:r>
            <a:endParaRPr lang="zh-CN" altLang="ja-JP" sz="2500" dirty="0">
              <a:latin typeface="微软雅黑 Light" panose="020B0502040204020203" pitchFamily="34" charset="-122"/>
              <a:ea typeface="微软雅黑 Light" panose="020B0502040204020203" pitchFamily="34" charset="-122"/>
            </a:endParaRPr>
          </a:p>
          <a:p>
            <a:pPr marL="447675" indent="-447675" eaLnBrk="1" hangingPunct="1">
              <a:lnSpc>
                <a:spcPct val="95000"/>
              </a:lnSpc>
              <a:spcBef>
                <a:spcPct val="35000"/>
              </a:spcBef>
            </a:pPr>
            <a:r>
              <a:rPr lang="zh-CN" altLang="en-US" sz="2500" dirty="0">
                <a:latin typeface="微软雅黑 Light" panose="020B0502040204020203" pitchFamily="34" charset="-122"/>
                <a:ea typeface="微软雅黑 Light" panose="020B0502040204020203" pitchFamily="34" charset="-122"/>
              </a:rPr>
              <a:t>两种影响哪种更大？这要取决于需求价格弹性</a:t>
            </a:r>
          </a:p>
        </p:txBody>
      </p:sp>
    </p:spTree>
    <p:extLst>
      <p:ext uri="{BB962C8B-B14F-4D97-AF65-F5344CB8AC3E}">
        <p14:creationId xmlns:p14="http://schemas.microsoft.com/office/powerpoint/2010/main" val="40962784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9634"/>
                                        </p:tgtEl>
                                        <p:attrNameLst>
                                          <p:attrName>style.visibility</p:attrName>
                                        </p:attrNameLst>
                                      </p:cBhvr>
                                      <p:to>
                                        <p:strVal val="visible"/>
                                      </p:to>
                                    </p:set>
                                    <p:animEffect transition="in" filter="blinds(horizontal)">
                                      <p:cBhvr>
                                        <p:cTn id="7" dur="500"/>
                                        <p:tgtEl>
                                          <p:spTgt spid="696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9635">
                                            <p:txEl>
                                              <p:pRg st="0" end="0"/>
                                            </p:txEl>
                                          </p:spTgt>
                                        </p:tgtEl>
                                        <p:attrNameLst>
                                          <p:attrName>style.visibility</p:attrName>
                                        </p:attrNameLst>
                                      </p:cBhvr>
                                      <p:to>
                                        <p:strVal val="visible"/>
                                      </p:to>
                                    </p:set>
                                    <p:animEffect transition="in" filter="blinds(horizontal)">
                                      <p:cBhvr>
                                        <p:cTn id="12" dur="500"/>
                                        <p:tgtEl>
                                          <p:spTgt spid="6963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9635">
                                            <p:txEl>
                                              <p:pRg st="1" end="1"/>
                                            </p:txEl>
                                          </p:spTgt>
                                        </p:tgtEl>
                                        <p:attrNameLst>
                                          <p:attrName>style.visibility</p:attrName>
                                        </p:attrNameLst>
                                      </p:cBhvr>
                                      <p:to>
                                        <p:strVal val="visible"/>
                                      </p:to>
                                    </p:set>
                                    <p:animEffect transition="in" filter="blinds(horizontal)">
                                      <p:cBhvr>
                                        <p:cTn id="17" dur="500"/>
                                        <p:tgtEl>
                                          <p:spTgt spid="6963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9635">
                                            <p:txEl>
                                              <p:pRg st="2" end="2"/>
                                            </p:txEl>
                                          </p:spTgt>
                                        </p:tgtEl>
                                        <p:attrNameLst>
                                          <p:attrName>style.visibility</p:attrName>
                                        </p:attrNameLst>
                                      </p:cBhvr>
                                      <p:to>
                                        <p:strVal val="visible"/>
                                      </p:to>
                                    </p:set>
                                    <p:animEffect transition="in" filter="blinds(horizontal)">
                                      <p:cBhvr>
                                        <p:cTn id="22" dur="500"/>
                                        <p:tgtEl>
                                          <p:spTgt spid="69635">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9635">
                                            <p:txEl>
                                              <p:pRg st="3" end="3"/>
                                            </p:txEl>
                                          </p:spTgt>
                                        </p:tgtEl>
                                        <p:attrNameLst>
                                          <p:attrName>style.visibility</p:attrName>
                                        </p:attrNameLst>
                                      </p:cBhvr>
                                      <p:to>
                                        <p:strVal val="visible"/>
                                      </p:to>
                                    </p:set>
                                    <p:animEffect transition="in" filter="blinds(horizontal)">
                                      <p:cBhvr>
                                        <p:cTn id="27" dur="500"/>
                                        <p:tgtEl>
                                          <p:spTgt spid="69635">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9635">
                                            <p:txEl>
                                              <p:pRg st="4" end="4"/>
                                            </p:txEl>
                                          </p:spTgt>
                                        </p:tgtEl>
                                        <p:attrNameLst>
                                          <p:attrName>style.visibility</p:attrName>
                                        </p:attrNameLst>
                                      </p:cBhvr>
                                      <p:to>
                                        <p:strVal val="visible"/>
                                      </p:to>
                                    </p:set>
                                    <p:animEffect transition="in" filter="blinds(horizontal)">
                                      <p:cBhvr>
                                        <p:cTn id="32" dur="500"/>
                                        <p:tgtEl>
                                          <p:spTgt spid="696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p:bldP spid="69635" grpId="0" build="p"/>
    </p:bld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Title 1"/>
          <p:cNvSpPr>
            <a:spLocks noGrp="1" noChangeArrowheads="1"/>
          </p:cNvSpPr>
          <p:nvPr>
            <p:ph type="title" idx="4294967295"/>
          </p:nvPr>
        </p:nvSpPr>
        <p:spPr/>
        <p:txBody>
          <a:bodyPr anchor="b"/>
          <a:lstStyle/>
          <a:p>
            <a:pPr eaLnBrk="1" hangingPunct="1"/>
            <a:r>
              <a:rPr lang="zh-CN" altLang="en-US" sz="2500">
                <a:ea typeface="宋体" panose="02010600030101010101" pitchFamily="2" charset="-122"/>
              </a:rPr>
              <a:t>需求价格弹性与消费者支出（供给者总收入）</a:t>
            </a:r>
          </a:p>
        </p:txBody>
      </p:sp>
      <p:sp>
        <p:nvSpPr>
          <p:cNvPr id="70659" name="Content Placeholder 2"/>
          <p:cNvSpPr>
            <a:spLocks noGrp="1" noChangeArrowheads="1"/>
          </p:cNvSpPr>
          <p:nvPr>
            <p:ph idx="4294967295"/>
          </p:nvPr>
        </p:nvSpPr>
        <p:spPr>
          <a:xfrm>
            <a:off x="1371600" y="2060575"/>
            <a:ext cx="7315200" cy="3673475"/>
          </a:xfrm>
        </p:spPr>
        <p:txBody>
          <a:bodyPr/>
          <a:lstStyle/>
          <a:p>
            <a:pPr marL="447675" indent="-447675" eaLnBrk="1" hangingPunct="1">
              <a:tabLst>
                <a:tab pos="4121150" algn="ctr"/>
              </a:tabLst>
            </a:pPr>
            <a:r>
              <a:rPr lang="zh-CN" altLang="en-US" sz="2600" dirty="0">
                <a:latin typeface="微软雅黑 Light" panose="020B0502040204020203" pitchFamily="34" charset="-122"/>
                <a:ea typeface="微软雅黑 Light" panose="020B0502040204020203" pitchFamily="34" charset="-122"/>
              </a:rPr>
              <a:t>如果需求是有弹性的，那需求价格弹性</a:t>
            </a:r>
            <a:r>
              <a:rPr lang="en-US" altLang="zh-CN" sz="2600" dirty="0">
                <a:latin typeface="微软雅黑 Light" panose="020B0502040204020203" pitchFamily="34" charset="-122"/>
                <a:ea typeface="微软雅黑 Light" panose="020B0502040204020203" pitchFamily="34" charset="-122"/>
              </a:rPr>
              <a:t>&gt; 1</a:t>
            </a:r>
            <a:r>
              <a:rPr lang="zh-CN" altLang="en-US" sz="2600" dirty="0">
                <a:latin typeface="微软雅黑 Light" panose="020B0502040204020203" pitchFamily="34" charset="-122"/>
                <a:ea typeface="微软雅黑 Light" panose="020B0502040204020203" pitchFamily="34" charset="-122"/>
              </a:rPr>
              <a:t>，这意味着需求量变动百分比  </a:t>
            </a:r>
            <a:r>
              <a:rPr lang="en-US" altLang="zh-CN" sz="2600" dirty="0">
                <a:latin typeface="微软雅黑 Light" panose="020B0502040204020203" pitchFamily="34" charset="-122"/>
                <a:ea typeface="微软雅黑 Light" panose="020B0502040204020203" pitchFamily="34" charset="-122"/>
              </a:rPr>
              <a:t>&gt;  </a:t>
            </a:r>
            <a:r>
              <a:rPr lang="zh-CN" altLang="en-US" sz="2600" dirty="0">
                <a:latin typeface="微软雅黑 Light" panose="020B0502040204020203" pitchFamily="34" charset="-122"/>
                <a:ea typeface="微软雅黑 Light" panose="020B0502040204020203" pitchFamily="34" charset="-122"/>
              </a:rPr>
              <a:t>价格变动百分比。</a:t>
            </a:r>
          </a:p>
          <a:p>
            <a:pPr marL="447675" indent="-447675" eaLnBrk="1" hangingPunct="1">
              <a:spcBef>
                <a:spcPct val="55000"/>
              </a:spcBef>
              <a:tabLst>
                <a:tab pos="4121150" algn="ctr"/>
              </a:tabLst>
            </a:pPr>
            <a:r>
              <a:rPr lang="zh-CN" altLang="en-US" sz="2600" dirty="0">
                <a:latin typeface="微软雅黑 Light" panose="020B0502040204020203" pitchFamily="34" charset="-122"/>
                <a:ea typeface="微软雅黑 Light" panose="020B0502040204020203" pitchFamily="34" charset="-122"/>
              </a:rPr>
              <a:t>需求量减少使支出减少的幅度大于价格上升使支出增加的幅度，总支出减少。</a:t>
            </a:r>
            <a:endParaRPr lang="en-US" altLang="zh-CN" sz="2600" dirty="0">
              <a:latin typeface="微软雅黑 Light" panose="020B0502040204020203" pitchFamily="34" charset="-122"/>
              <a:ea typeface="微软雅黑 Light" panose="020B0502040204020203" pitchFamily="34" charset="-122"/>
            </a:endParaRPr>
          </a:p>
          <a:p>
            <a:pPr marL="447675" indent="-447675" eaLnBrk="1" hangingPunct="1">
              <a:spcBef>
                <a:spcPct val="55000"/>
              </a:spcBef>
              <a:tabLst>
                <a:tab pos="4121150" algn="ctr"/>
              </a:tabLst>
            </a:pPr>
            <a:r>
              <a:rPr lang="zh-CN" altLang="en-US" sz="2600" dirty="0">
                <a:latin typeface="微软雅黑 Light" panose="020B0502040204020203" pitchFamily="34" charset="-122"/>
                <a:ea typeface="微软雅黑 Light" panose="020B0502040204020203" pitchFamily="34" charset="-122"/>
              </a:rPr>
              <a:t>可以用两点弧弹性大于</a:t>
            </a:r>
            <a:r>
              <a:rPr lang="en-US" altLang="zh-CN" sz="2600" dirty="0">
                <a:latin typeface="微软雅黑 Light" panose="020B0502040204020203" pitchFamily="34" charset="-122"/>
                <a:ea typeface="微软雅黑 Light" panose="020B0502040204020203" pitchFamily="34" charset="-122"/>
              </a:rPr>
              <a:t>1</a:t>
            </a:r>
            <a:r>
              <a:rPr lang="zh-CN" altLang="en-US" sz="2600" dirty="0">
                <a:latin typeface="微软雅黑 Light" panose="020B0502040204020203" pitchFamily="34" charset="-122"/>
                <a:ea typeface="微软雅黑 Light" panose="020B0502040204020203" pitchFamily="34" charset="-122"/>
              </a:rPr>
              <a:t>来推导出价格提高后，支出减少了（或者说厂商收入减少了）</a:t>
            </a:r>
            <a:endParaRPr lang="zh-CN" altLang="ja-JP" sz="2600" dirty="0">
              <a:latin typeface="微软雅黑 Light" panose="020B0502040204020203" pitchFamily="34" charset="-122"/>
              <a:ea typeface="微软雅黑 Light" panose="020B0502040204020203" pitchFamily="34" charset="-122"/>
            </a:endParaRPr>
          </a:p>
          <a:p>
            <a:pPr marL="447675" indent="-447675" eaLnBrk="1" hangingPunct="1">
              <a:tabLst>
                <a:tab pos="4121150" algn="ctr"/>
              </a:tabLst>
            </a:pPr>
            <a:endParaRPr lang="en-US" altLang="zh-CN" sz="2400" dirty="0">
              <a:ea typeface="宋体" panose="02010600030101010101" pitchFamily="2" charset="-122"/>
            </a:endParaRPr>
          </a:p>
        </p:txBody>
      </p:sp>
      <p:sp>
        <p:nvSpPr>
          <p:cNvPr id="69636" name="Text Box 4">
            <a:extLst>
              <a:ext uri="{FF2B5EF4-FFF2-40B4-BE49-F238E27FC236}">
                <a16:creationId xmlns:a16="http://schemas.microsoft.com/office/drawing/2014/main" id="{052B760F-FD0A-4CAF-8A8E-E8DF0672C98A}"/>
              </a:ext>
            </a:extLst>
          </p:cNvPr>
          <p:cNvSpPr txBox="1">
            <a:spLocks noChangeArrowheads="1"/>
          </p:cNvSpPr>
          <p:nvPr/>
        </p:nvSpPr>
        <p:spPr bwMode="auto">
          <a:xfrm>
            <a:off x="2699792" y="1268760"/>
            <a:ext cx="3086100" cy="496887"/>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lgn="ctr" eaLnBrk="1" hangingPunct="1">
              <a:lnSpc>
                <a:spcPct val="105000"/>
              </a:lnSpc>
              <a:spcBef>
                <a:spcPct val="45000"/>
              </a:spcBef>
              <a:buClr>
                <a:srgbClr val="00B85C"/>
              </a:buClr>
              <a:buSzPct val="120000"/>
              <a:buFont typeface="Wingdings" pitchFamily="2" charset="2"/>
              <a:buNone/>
              <a:defRPr/>
            </a:pPr>
            <a:r>
              <a:rPr lang="zh-CN" altLang="en-US" sz="2700">
                <a:solidFill>
                  <a:srgbClr val="000066"/>
                </a:solidFill>
                <a:latin typeface="Times New Roman" pitchFamily="18" charset="0"/>
              </a:rPr>
              <a:t>支出</a:t>
            </a:r>
            <a:r>
              <a:rPr lang="zh-CN" altLang="ja-JP" sz="2700">
                <a:solidFill>
                  <a:srgbClr val="000066"/>
                </a:solidFill>
                <a:latin typeface="Times New Roman" pitchFamily="18" charset="0"/>
              </a:rPr>
              <a:t>= </a:t>
            </a:r>
            <a:r>
              <a:rPr lang="zh-CN" altLang="ja-JP" sz="2700" b="1" i="1">
                <a:solidFill>
                  <a:srgbClr val="000066"/>
                </a:solidFill>
                <a:latin typeface="Times New Roman" pitchFamily="18" charset="0"/>
              </a:rPr>
              <a:t>P</a:t>
            </a:r>
            <a:r>
              <a:rPr lang="zh-CN" altLang="ja-JP" sz="2700">
                <a:solidFill>
                  <a:srgbClr val="000066"/>
                </a:solidFill>
                <a:latin typeface="Times New Roman" pitchFamily="18" charset="0"/>
              </a:rPr>
              <a:t> x </a:t>
            </a:r>
            <a:r>
              <a:rPr lang="zh-CN" altLang="ja-JP" sz="2700" b="1" i="1">
                <a:solidFill>
                  <a:srgbClr val="000066"/>
                </a:solidFill>
                <a:latin typeface="Times New Roman" pitchFamily="18" charset="0"/>
              </a:rPr>
              <a:t>Q</a:t>
            </a:r>
            <a:r>
              <a:rPr lang="zh-CN" altLang="ja-JP" sz="2700">
                <a:solidFill>
                  <a:srgbClr val="000066"/>
                </a:solidFill>
                <a:latin typeface="Times New Roman" pitchFamily="18" charset="0"/>
              </a:rPr>
              <a:t> </a:t>
            </a:r>
            <a:endParaRPr lang="en-US" altLang="zh-CN" sz="2700">
              <a:solidFill>
                <a:srgbClr val="000066"/>
              </a:solidFill>
              <a:latin typeface="Times New Roman" pitchFamily="18" charset="0"/>
            </a:endParaRPr>
          </a:p>
        </p:txBody>
      </p:sp>
    </p:spTree>
    <p:extLst>
      <p:ext uri="{BB962C8B-B14F-4D97-AF65-F5344CB8AC3E}">
        <p14:creationId xmlns:p14="http://schemas.microsoft.com/office/powerpoint/2010/main" val="2888501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658"/>
                                        </p:tgtEl>
                                        <p:attrNameLst>
                                          <p:attrName>style.visibility</p:attrName>
                                        </p:attrNameLst>
                                      </p:cBhvr>
                                      <p:to>
                                        <p:strVal val="visible"/>
                                      </p:to>
                                    </p:set>
                                    <p:animEffect transition="in" filter="blinds(horizontal)">
                                      <p:cBhvr>
                                        <p:cTn id="7" dur="500"/>
                                        <p:tgtEl>
                                          <p:spTgt spid="706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0659">
                                            <p:txEl>
                                              <p:pRg st="0" end="0"/>
                                            </p:txEl>
                                          </p:spTgt>
                                        </p:tgtEl>
                                        <p:attrNameLst>
                                          <p:attrName>style.visibility</p:attrName>
                                        </p:attrNameLst>
                                      </p:cBhvr>
                                      <p:to>
                                        <p:strVal val="visible"/>
                                      </p:to>
                                    </p:set>
                                    <p:animEffect transition="in" filter="blinds(horizontal)">
                                      <p:cBhvr>
                                        <p:cTn id="12" dur="500"/>
                                        <p:tgtEl>
                                          <p:spTgt spid="7065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0659">
                                            <p:txEl>
                                              <p:pRg st="1" end="1"/>
                                            </p:txEl>
                                          </p:spTgt>
                                        </p:tgtEl>
                                        <p:attrNameLst>
                                          <p:attrName>style.visibility</p:attrName>
                                        </p:attrNameLst>
                                      </p:cBhvr>
                                      <p:to>
                                        <p:strVal val="visible"/>
                                      </p:to>
                                    </p:set>
                                    <p:animEffect transition="in" filter="blinds(horizontal)">
                                      <p:cBhvr>
                                        <p:cTn id="17" dur="500"/>
                                        <p:tgtEl>
                                          <p:spTgt spid="7065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0659">
                                            <p:txEl>
                                              <p:pRg st="2" end="2"/>
                                            </p:txEl>
                                          </p:spTgt>
                                        </p:tgtEl>
                                        <p:attrNameLst>
                                          <p:attrName>style.visibility</p:attrName>
                                        </p:attrNameLst>
                                      </p:cBhvr>
                                      <p:to>
                                        <p:strVal val="visible"/>
                                      </p:to>
                                    </p:set>
                                    <p:animEffect transition="in" filter="blinds(horizontal)">
                                      <p:cBhvr>
                                        <p:cTn id="22" dur="500"/>
                                        <p:tgtEl>
                                          <p:spTgt spid="706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p:bldP spid="70659" grpId="0" build="p"/>
    </p:bld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3"/>
          <p:cNvSpPr>
            <a:spLocks noGrp="1" noChangeArrowheads="1"/>
          </p:cNvSpPr>
          <p:nvPr>
            <p:ph type="body" idx="4294967295"/>
          </p:nvPr>
        </p:nvSpPr>
        <p:spPr>
          <a:xfrm>
            <a:off x="395288" y="1484313"/>
            <a:ext cx="2971800" cy="858837"/>
          </a:xfrm>
        </p:spPr>
        <p:txBody>
          <a:bodyPr/>
          <a:lstStyle/>
          <a:p>
            <a:pPr marL="0" indent="0" eaLnBrk="1" hangingPunct="1">
              <a:buFont typeface="Wingdings" panose="05000000000000000000" pitchFamily="2" charset="2"/>
              <a:buNone/>
            </a:pPr>
            <a:r>
              <a:rPr lang="zh-CN" altLang="en-US" sz="2400">
                <a:ea typeface="宋体" panose="02010600030101010101" pitchFamily="2" charset="-122"/>
              </a:rPr>
              <a:t>富有弹性的需求</a:t>
            </a:r>
            <a:br>
              <a:rPr lang="zh-CN" altLang="en-US" sz="2400">
                <a:ea typeface="宋体" panose="02010600030101010101" pitchFamily="2" charset="-122"/>
              </a:rPr>
            </a:br>
            <a:r>
              <a:rPr lang="zh-CN" altLang="ja-JP" sz="2400">
                <a:ea typeface="宋体" panose="02010600030101010101" pitchFamily="2" charset="-122"/>
              </a:rPr>
              <a:t>(</a:t>
            </a:r>
            <a:r>
              <a:rPr lang="zh-CN" altLang="en-US" sz="2400">
                <a:ea typeface="宋体" panose="02010600030101010101" pitchFamily="2" charset="-122"/>
              </a:rPr>
              <a:t>弹性 </a:t>
            </a:r>
            <a:r>
              <a:rPr lang="zh-CN" altLang="ja-JP" sz="2400">
                <a:ea typeface="宋体" panose="02010600030101010101" pitchFamily="2" charset="-122"/>
              </a:rPr>
              <a:t>= 1.8)</a:t>
            </a:r>
            <a:endParaRPr lang="en-US" altLang="zh-CN" sz="2400">
              <a:ea typeface="宋体" panose="02010600030101010101" pitchFamily="2" charset="-122"/>
            </a:endParaRPr>
          </a:p>
        </p:txBody>
      </p:sp>
      <p:grpSp>
        <p:nvGrpSpPr>
          <p:cNvPr id="68611" name="Group 4"/>
          <p:cNvGrpSpPr>
            <a:grpSpLocks/>
          </p:cNvGrpSpPr>
          <p:nvPr/>
        </p:nvGrpSpPr>
        <p:grpSpPr bwMode="auto">
          <a:xfrm>
            <a:off x="4179888" y="1543050"/>
            <a:ext cx="4449762" cy="3862388"/>
            <a:chOff x="0" y="0"/>
            <a:chExt cx="2803" cy="2433"/>
          </a:xfrm>
        </p:grpSpPr>
        <p:grpSp>
          <p:nvGrpSpPr>
            <p:cNvPr id="68640" name="Group 5"/>
            <p:cNvGrpSpPr>
              <a:grpSpLocks/>
            </p:cNvGrpSpPr>
            <p:nvPr/>
          </p:nvGrpSpPr>
          <p:grpSpPr bwMode="auto">
            <a:xfrm>
              <a:off x="147" y="275"/>
              <a:ext cx="2350" cy="2015"/>
              <a:chOff x="0" y="0"/>
              <a:chExt cx="2116" cy="2027"/>
            </a:xfrm>
          </p:grpSpPr>
          <p:sp>
            <p:nvSpPr>
              <p:cNvPr id="68643" name="Line 6"/>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44" name="Line 7"/>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8641" name="Text Box 8"/>
            <p:cNvSpPr txBox="1">
              <a:spLocks noChangeArrowheads="1"/>
            </p:cNvSpPr>
            <p:nvPr/>
          </p:nvSpPr>
          <p:spPr bwMode="auto">
            <a:xfrm>
              <a:off x="0" y="0"/>
              <a:ext cx="316"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en-US" altLang="zh-CN" sz="2400" i="1">
                  <a:solidFill>
                    <a:srgbClr val="000066"/>
                  </a:solidFill>
                  <a:latin typeface="Times New Roman" panose="02020603050405020304" pitchFamily="18" charset="0"/>
                </a:rPr>
                <a:t>P</a:t>
              </a:r>
            </a:p>
          </p:txBody>
        </p:sp>
        <p:sp>
          <p:nvSpPr>
            <p:cNvPr id="68642" name="Text Box 9"/>
            <p:cNvSpPr txBox="1">
              <a:spLocks noChangeArrowheads="1"/>
            </p:cNvSpPr>
            <p:nvPr/>
          </p:nvSpPr>
          <p:spPr bwMode="auto">
            <a:xfrm>
              <a:off x="2442" y="2146"/>
              <a:ext cx="361"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en-US" altLang="zh-CN" sz="2400" i="1">
                  <a:solidFill>
                    <a:srgbClr val="000066"/>
                  </a:solidFill>
                  <a:latin typeface="Times New Roman" panose="02020603050405020304" pitchFamily="18" charset="0"/>
                </a:rPr>
                <a:t>Q</a:t>
              </a:r>
            </a:p>
          </p:txBody>
        </p:sp>
      </p:grpSp>
      <p:grpSp>
        <p:nvGrpSpPr>
          <p:cNvPr id="68612" name="Group 10"/>
          <p:cNvGrpSpPr>
            <a:grpSpLocks/>
          </p:cNvGrpSpPr>
          <p:nvPr/>
        </p:nvGrpSpPr>
        <p:grpSpPr bwMode="auto">
          <a:xfrm>
            <a:off x="4756150" y="2414588"/>
            <a:ext cx="3905250" cy="1722437"/>
            <a:chOff x="0" y="0"/>
            <a:chExt cx="2460" cy="1085"/>
          </a:xfrm>
        </p:grpSpPr>
        <p:sp>
          <p:nvSpPr>
            <p:cNvPr id="68638" name="Line 11"/>
            <p:cNvSpPr>
              <a:spLocks noChangeShapeType="1"/>
            </p:cNvSpPr>
            <p:nvPr/>
          </p:nvSpPr>
          <p:spPr bwMode="auto">
            <a:xfrm>
              <a:off x="0" y="0"/>
              <a:ext cx="2045" cy="91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39" name="Text Box 12"/>
            <p:cNvSpPr txBox="1">
              <a:spLocks noChangeArrowheads="1"/>
            </p:cNvSpPr>
            <p:nvPr/>
          </p:nvSpPr>
          <p:spPr bwMode="auto">
            <a:xfrm>
              <a:off x="1886" y="797"/>
              <a:ext cx="57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en-US" altLang="zh-CN" sz="2400" i="1">
                  <a:solidFill>
                    <a:srgbClr val="000066"/>
                  </a:solidFill>
                  <a:latin typeface="Times New Roman" panose="02020603050405020304" pitchFamily="18" charset="0"/>
                </a:rPr>
                <a:t>D</a:t>
              </a:r>
            </a:p>
          </p:txBody>
        </p:sp>
      </p:grpSp>
      <p:grpSp>
        <p:nvGrpSpPr>
          <p:cNvPr id="5" name="Group 13"/>
          <p:cNvGrpSpPr>
            <a:grpSpLocks/>
          </p:cNvGrpSpPr>
          <p:nvPr/>
        </p:nvGrpSpPr>
        <p:grpSpPr bwMode="auto">
          <a:xfrm>
            <a:off x="533400" y="2349500"/>
            <a:ext cx="6996113" cy="3275013"/>
            <a:chOff x="66" y="152"/>
            <a:chExt cx="4407" cy="2063"/>
          </a:xfrm>
        </p:grpSpPr>
        <p:sp>
          <p:nvSpPr>
            <p:cNvPr id="68630" name="Rectangle 15"/>
            <p:cNvSpPr>
              <a:spLocks noChangeArrowheads="1"/>
            </p:cNvSpPr>
            <p:nvPr/>
          </p:nvSpPr>
          <p:spPr bwMode="auto">
            <a:xfrm>
              <a:off x="2517" y="910"/>
              <a:ext cx="1779" cy="1020"/>
            </a:xfrm>
            <a:prstGeom prst="rect">
              <a:avLst/>
            </a:prstGeom>
            <a:solidFill>
              <a:srgbClr val="0066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FontTx/>
                <a:buNone/>
              </a:pPr>
              <a:endParaRPr lang="en-US" altLang="zh-CN" sz="1800" b="0">
                <a:solidFill>
                  <a:srgbClr val="000066"/>
                </a:solidFill>
                <a:latin typeface="Times New Roman" panose="02020603050405020304" pitchFamily="18" charset="0"/>
              </a:endParaRPr>
            </a:p>
          </p:txBody>
        </p:sp>
        <p:grpSp>
          <p:nvGrpSpPr>
            <p:cNvPr id="68631" name="Group 15"/>
            <p:cNvGrpSpPr>
              <a:grpSpLocks/>
            </p:cNvGrpSpPr>
            <p:nvPr/>
          </p:nvGrpSpPr>
          <p:grpSpPr bwMode="auto">
            <a:xfrm>
              <a:off x="1959" y="758"/>
              <a:ext cx="2514" cy="1457"/>
              <a:chOff x="0" y="0"/>
              <a:chExt cx="2514" cy="1457"/>
            </a:xfrm>
          </p:grpSpPr>
          <p:sp>
            <p:nvSpPr>
              <p:cNvPr id="68633" name="Text Box 17"/>
              <p:cNvSpPr txBox="1">
                <a:spLocks noChangeArrowheads="1"/>
              </p:cNvSpPr>
              <p:nvPr/>
            </p:nvSpPr>
            <p:spPr bwMode="auto">
              <a:xfrm>
                <a:off x="0" y="0"/>
                <a:ext cx="5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solidFill>
                      <a:srgbClr val="000066"/>
                    </a:solidFill>
                    <a:latin typeface="Times New Roman" panose="02020603050405020304" pitchFamily="18" charset="0"/>
                  </a:rPr>
                  <a:t>$200</a:t>
                </a:r>
                <a:endParaRPr lang="en-US" altLang="zh-CN" sz="2400" b="0" baseline="-25000">
                  <a:solidFill>
                    <a:srgbClr val="000066"/>
                  </a:solidFill>
                  <a:latin typeface="Times New Roman" panose="02020603050405020304" pitchFamily="18" charset="0"/>
                </a:endParaRPr>
              </a:p>
            </p:txBody>
          </p:sp>
          <p:sp>
            <p:nvSpPr>
              <p:cNvPr id="68634" name="Text Box 18"/>
              <p:cNvSpPr txBox="1">
                <a:spLocks noChangeArrowheads="1"/>
              </p:cNvSpPr>
              <p:nvPr/>
            </p:nvSpPr>
            <p:spPr bwMode="auto">
              <a:xfrm>
                <a:off x="2169" y="1169"/>
                <a:ext cx="3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en-US" altLang="zh-CN" sz="2400" b="0">
                    <a:solidFill>
                      <a:srgbClr val="000066"/>
                    </a:solidFill>
                    <a:latin typeface="Times New Roman" panose="02020603050405020304" pitchFamily="18" charset="0"/>
                  </a:rPr>
                  <a:t>12</a:t>
                </a:r>
                <a:endParaRPr lang="en-US" altLang="zh-CN" sz="2400" b="0" baseline="-25000">
                  <a:solidFill>
                    <a:srgbClr val="000066"/>
                  </a:solidFill>
                  <a:latin typeface="Times New Roman" panose="02020603050405020304" pitchFamily="18" charset="0"/>
                </a:endParaRPr>
              </a:p>
            </p:txBody>
          </p:sp>
          <p:grpSp>
            <p:nvGrpSpPr>
              <p:cNvPr id="68635" name="Group 18"/>
              <p:cNvGrpSpPr>
                <a:grpSpLocks/>
              </p:cNvGrpSpPr>
              <p:nvPr/>
            </p:nvGrpSpPr>
            <p:grpSpPr bwMode="auto">
              <a:xfrm>
                <a:off x="565" y="147"/>
                <a:ext cx="1773" cy="1013"/>
                <a:chOff x="0" y="0"/>
                <a:chExt cx="795" cy="646"/>
              </a:xfrm>
            </p:grpSpPr>
            <p:sp>
              <p:nvSpPr>
                <p:cNvPr id="68636" name="Line 20"/>
                <p:cNvSpPr>
                  <a:spLocks noChangeShapeType="1"/>
                </p:cNvSpPr>
                <p:nvPr/>
              </p:nvSpPr>
              <p:spPr bwMode="auto">
                <a:xfrm>
                  <a:off x="0" y="0"/>
                  <a:ext cx="795" cy="0"/>
                </a:xfrm>
                <a:prstGeom prst="line">
                  <a:avLst/>
                </a:prstGeom>
                <a:noFill/>
                <a:ln w="9525">
                  <a:solidFill>
                    <a:srgbClr val="777777"/>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37" name="Line 21"/>
                <p:cNvSpPr>
                  <a:spLocks noChangeShapeType="1"/>
                </p:cNvSpPr>
                <p:nvPr/>
              </p:nvSpPr>
              <p:spPr bwMode="auto">
                <a:xfrm>
                  <a:off x="795" y="1"/>
                  <a:ext cx="0" cy="645"/>
                </a:xfrm>
                <a:prstGeom prst="line">
                  <a:avLst/>
                </a:prstGeom>
                <a:noFill/>
                <a:ln w="9525">
                  <a:solidFill>
                    <a:srgbClr val="777777"/>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0680" name="Rectangle 22">
              <a:extLst>
                <a:ext uri="{FF2B5EF4-FFF2-40B4-BE49-F238E27FC236}">
                  <a16:creationId xmlns:a16="http://schemas.microsoft.com/office/drawing/2014/main" id="{C1EE3295-F723-4B05-887C-53F5BB1190DD}"/>
                </a:ext>
              </a:extLst>
            </p:cNvPr>
            <p:cNvSpPr>
              <a:spLocks noChangeArrowheads="1"/>
            </p:cNvSpPr>
            <p:nvPr/>
          </p:nvSpPr>
          <p:spPr bwMode="auto">
            <a:xfrm>
              <a:off x="66" y="152"/>
              <a:ext cx="1968" cy="584"/>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a:lstStyle/>
            <a:p>
              <a:pPr eaLnBrk="1" hangingPunct="1">
                <a:lnSpc>
                  <a:spcPct val="105000"/>
                </a:lnSpc>
                <a:spcBef>
                  <a:spcPct val="45000"/>
                </a:spcBef>
                <a:buClr>
                  <a:srgbClr val="00B85C"/>
                </a:buClr>
                <a:buSzPct val="120000"/>
                <a:buFont typeface="Wingdings" pitchFamily="2" charset="2"/>
                <a:buNone/>
                <a:defRPr/>
              </a:pPr>
              <a:r>
                <a:rPr lang="zh-CN" altLang="en-US" sz="2400" dirty="0">
                  <a:solidFill>
                    <a:srgbClr val="000066"/>
                  </a:solidFill>
                  <a:latin typeface="Times New Roman" pitchFamily="18" charset="0"/>
                </a:rPr>
                <a:t>如果 </a:t>
              </a:r>
              <a:r>
                <a:rPr lang="zh-CN" altLang="ja-JP" sz="2400" b="1" i="1" dirty="0">
                  <a:solidFill>
                    <a:srgbClr val="000066"/>
                  </a:solidFill>
                  <a:latin typeface="Times New Roman" pitchFamily="18" charset="0"/>
                </a:rPr>
                <a:t>P</a:t>
              </a:r>
              <a:r>
                <a:rPr lang="zh-CN" altLang="ja-JP" sz="2400" dirty="0">
                  <a:solidFill>
                    <a:srgbClr val="000066"/>
                  </a:solidFill>
                  <a:latin typeface="Times New Roman" pitchFamily="18" charset="0"/>
                </a:rPr>
                <a:t> = $200, </a:t>
              </a:r>
              <a:br>
                <a:rPr lang="zh-CN" altLang="ja-JP" sz="2400" dirty="0">
                  <a:solidFill>
                    <a:srgbClr val="000066"/>
                  </a:solidFill>
                  <a:latin typeface="Times New Roman" pitchFamily="18" charset="0"/>
                </a:rPr>
              </a:br>
              <a:r>
                <a:rPr lang="zh-CN" altLang="ja-JP" sz="2400" b="1" i="1" dirty="0">
                  <a:solidFill>
                    <a:srgbClr val="000066"/>
                  </a:solidFill>
                  <a:latin typeface="Times New Roman" pitchFamily="18" charset="0"/>
                </a:rPr>
                <a:t>Q</a:t>
              </a:r>
              <a:r>
                <a:rPr lang="zh-CN" altLang="ja-JP" sz="2400" dirty="0">
                  <a:solidFill>
                    <a:srgbClr val="000066"/>
                  </a:solidFill>
                  <a:latin typeface="Times New Roman" pitchFamily="18" charset="0"/>
                </a:rPr>
                <a:t> = 12 </a:t>
              </a:r>
              <a:r>
                <a:rPr lang="zh-CN" altLang="en-US" sz="2400" dirty="0">
                  <a:solidFill>
                    <a:srgbClr val="000066"/>
                  </a:solidFill>
                  <a:latin typeface="Times New Roman" pitchFamily="18" charset="0"/>
                </a:rPr>
                <a:t>，支出</a:t>
              </a:r>
              <a:r>
                <a:rPr lang="zh-CN" altLang="ja-JP" sz="2400" dirty="0">
                  <a:solidFill>
                    <a:srgbClr val="000066"/>
                  </a:solidFill>
                  <a:latin typeface="Times New Roman" pitchFamily="18" charset="0"/>
                </a:rPr>
                <a:t>= $2400 </a:t>
              </a:r>
              <a:endParaRPr lang="en-US" altLang="zh-CN" sz="2400" dirty="0">
                <a:solidFill>
                  <a:srgbClr val="000066"/>
                </a:solidFill>
                <a:latin typeface="Times New Roman" pitchFamily="18" charset="0"/>
              </a:endParaRPr>
            </a:p>
          </p:txBody>
        </p:sp>
      </p:grpSp>
      <p:sp>
        <p:nvSpPr>
          <p:cNvPr id="53270" name="Rectangle 23">
            <a:extLst>
              <a:ext uri="{FF2B5EF4-FFF2-40B4-BE49-F238E27FC236}">
                <a16:creationId xmlns:a16="http://schemas.microsoft.com/office/drawing/2014/main" id="{133E70B2-EA06-470A-A547-4BDDC803E6B5}"/>
              </a:ext>
            </a:extLst>
          </p:cNvPr>
          <p:cNvSpPr>
            <a:spLocks noChangeArrowheads="1"/>
          </p:cNvSpPr>
          <p:nvPr/>
        </p:nvSpPr>
        <p:spPr bwMode="auto">
          <a:xfrm>
            <a:off x="468313" y="4797425"/>
            <a:ext cx="3743325" cy="1008063"/>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nchor="ctr"/>
          <a:lstStyle/>
          <a:p>
            <a:pPr eaLnBrk="1" hangingPunct="1">
              <a:lnSpc>
                <a:spcPct val="105000"/>
              </a:lnSpc>
              <a:spcBef>
                <a:spcPct val="45000"/>
              </a:spcBef>
              <a:buClr>
                <a:srgbClr val="00B85C"/>
              </a:buClr>
              <a:buSzPct val="120000"/>
              <a:buFont typeface="Wingdings" pitchFamily="2" charset="2"/>
              <a:buNone/>
              <a:defRPr/>
            </a:pPr>
            <a:r>
              <a:rPr lang="zh-CN" altLang="en-US" sz="2400" dirty="0">
                <a:solidFill>
                  <a:srgbClr val="000066"/>
                </a:solidFill>
                <a:latin typeface="Times New Roman" pitchFamily="18" charset="0"/>
              </a:rPr>
              <a:t>结论：当需求富有弹性时，涨价会使人们的支出减少</a:t>
            </a:r>
          </a:p>
        </p:txBody>
      </p:sp>
      <p:sp>
        <p:nvSpPr>
          <p:cNvPr id="68615"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FontTx/>
              <a:buNone/>
            </a:pPr>
            <a:r>
              <a:rPr lang="en-US" altLang="zh-CN" sz="1400">
                <a:solidFill>
                  <a:srgbClr val="000066"/>
                </a:solidFill>
                <a:latin typeface="Tahoma" panose="020B0604030504040204" pitchFamily="34" charset="0"/>
              </a:rPr>
              <a:t>0</a:t>
            </a:r>
          </a:p>
        </p:txBody>
      </p:sp>
      <p:grpSp>
        <p:nvGrpSpPr>
          <p:cNvPr id="8" name="Group 24"/>
          <p:cNvGrpSpPr>
            <a:grpSpLocks/>
          </p:cNvGrpSpPr>
          <p:nvPr/>
        </p:nvGrpSpPr>
        <p:grpSpPr bwMode="auto">
          <a:xfrm>
            <a:off x="395288" y="2706688"/>
            <a:ext cx="5788025" cy="2943225"/>
            <a:chOff x="-21" y="0"/>
            <a:chExt cx="3646" cy="1854"/>
          </a:xfrm>
        </p:grpSpPr>
        <p:grpSp>
          <p:nvGrpSpPr>
            <p:cNvPr id="68622" name="Group 25"/>
            <p:cNvGrpSpPr>
              <a:grpSpLocks/>
            </p:cNvGrpSpPr>
            <p:nvPr/>
          </p:nvGrpSpPr>
          <p:grpSpPr bwMode="auto">
            <a:xfrm>
              <a:off x="1952" y="0"/>
              <a:ext cx="1673" cy="1854"/>
              <a:chOff x="0" y="0"/>
              <a:chExt cx="1673" cy="1854"/>
            </a:xfrm>
          </p:grpSpPr>
          <p:sp>
            <p:nvSpPr>
              <p:cNvPr id="68625" name="Text Box 27"/>
              <p:cNvSpPr txBox="1">
                <a:spLocks noChangeArrowheads="1"/>
              </p:cNvSpPr>
              <p:nvPr/>
            </p:nvSpPr>
            <p:spPr bwMode="auto">
              <a:xfrm>
                <a:off x="0" y="0"/>
                <a:ext cx="5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solidFill>
                      <a:srgbClr val="000066"/>
                    </a:solidFill>
                    <a:latin typeface="Times New Roman" panose="02020603050405020304" pitchFamily="18" charset="0"/>
                  </a:rPr>
                  <a:t>$250</a:t>
                </a:r>
                <a:endParaRPr lang="en-US" altLang="zh-CN" sz="2400" b="0" baseline="-25000">
                  <a:solidFill>
                    <a:srgbClr val="000066"/>
                  </a:solidFill>
                  <a:latin typeface="Times New Roman" panose="02020603050405020304" pitchFamily="18" charset="0"/>
                </a:endParaRPr>
              </a:p>
            </p:txBody>
          </p:sp>
          <p:sp>
            <p:nvSpPr>
              <p:cNvPr id="68626" name="Text Box 28"/>
              <p:cNvSpPr txBox="1">
                <a:spLocks noChangeArrowheads="1"/>
              </p:cNvSpPr>
              <p:nvPr/>
            </p:nvSpPr>
            <p:spPr bwMode="auto">
              <a:xfrm>
                <a:off x="1303" y="1566"/>
                <a:ext cx="37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en-US" altLang="zh-CN" sz="2400" b="0">
                    <a:solidFill>
                      <a:srgbClr val="000066"/>
                    </a:solidFill>
                    <a:latin typeface="Times New Roman" panose="02020603050405020304" pitchFamily="18" charset="0"/>
                  </a:rPr>
                  <a:t>8</a:t>
                </a:r>
                <a:endParaRPr lang="en-US" altLang="zh-CN" sz="2400" b="0" baseline="-25000">
                  <a:solidFill>
                    <a:srgbClr val="000066"/>
                  </a:solidFill>
                  <a:latin typeface="Times New Roman" panose="02020603050405020304" pitchFamily="18" charset="0"/>
                </a:endParaRPr>
              </a:p>
            </p:txBody>
          </p:sp>
          <p:grpSp>
            <p:nvGrpSpPr>
              <p:cNvPr id="68627" name="Group 28"/>
              <p:cNvGrpSpPr>
                <a:grpSpLocks/>
              </p:cNvGrpSpPr>
              <p:nvPr/>
            </p:nvGrpSpPr>
            <p:grpSpPr bwMode="auto">
              <a:xfrm>
                <a:off x="562" y="142"/>
                <a:ext cx="929" cy="1402"/>
                <a:chOff x="0" y="0"/>
                <a:chExt cx="795" cy="646"/>
              </a:xfrm>
            </p:grpSpPr>
            <p:sp>
              <p:nvSpPr>
                <p:cNvPr id="68628" name="Line 30"/>
                <p:cNvSpPr>
                  <a:spLocks noChangeShapeType="1"/>
                </p:cNvSpPr>
                <p:nvPr/>
              </p:nvSpPr>
              <p:spPr bwMode="auto">
                <a:xfrm>
                  <a:off x="0" y="0"/>
                  <a:ext cx="795" cy="0"/>
                </a:xfrm>
                <a:prstGeom prst="line">
                  <a:avLst/>
                </a:prstGeom>
                <a:noFill/>
                <a:ln w="9525">
                  <a:solidFill>
                    <a:srgbClr val="777777"/>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29" name="Line 31"/>
                <p:cNvSpPr>
                  <a:spLocks noChangeShapeType="1"/>
                </p:cNvSpPr>
                <p:nvPr/>
              </p:nvSpPr>
              <p:spPr bwMode="auto">
                <a:xfrm>
                  <a:off x="795" y="1"/>
                  <a:ext cx="0" cy="645"/>
                </a:xfrm>
                <a:prstGeom prst="line">
                  <a:avLst/>
                </a:prstGeom>
                <a:noFill/>
                <a:ln w="9525">
                  <a:solidFill>
                    <a:srgbClr val="777777"/>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0671" name="Rectangle 32">
              <a:extLst>
                <a:ext uri="{FF2B5EF4-FFF2-40B4-BE49-F238E27FC236}">
                  <a16:creationId xmlns:a16="http://schemas.microsoft.com/office/drawing/2014/main" id="{6EDD541E-4424-4020-82C3-B2C28EBA8104}"/>
                </a:ext>
              </a:extLst>
            </p:cNvPr>
            <p:cNvSpPr>
              <a:spLocks noChangeArrowheads="1"/>
            </p:cNvSpPr>
            <p:nvPr/>
          </p:nvSpPr>
          <p:spPr bwMode="auto">
            <a:xfrm>
              <a:off x="-21" y="500"/>
              <a:ext cx="1863" cy="579"/>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lstStyle/>
            <a:p>
              <a:pPr eaLnBrk="1" hangingPunct="1">
                <a:lnSpc>
                  <a:spcPct val="105000"/>
                </a:lnSpc>
                <a:spcBef>
                  <a:spcPct val="45000"/>
                </a:spcBef>
                <a:buClr>
                  <a:srgbClr val="00B85C"/>
                </a:buClr>
                <a:buSzPct val="120000"/>
                <a:buFont typeface="Wingdings" pitchFamily="2" charset="2"/>
                <a:buNone/>
                <a:defRPr/>
              </a:pPr>
              <a:r>
                <a:rPr lang="zh-CN" altLang="en-US" sz="2400" b="1" dirty="0">
                  <a:solidFill>
                    <a:srgbClr val="000066"/>
                  </a:solidFill>
                  <a:latin typeface="Times New Roman" pitchFamily="18" charset="0"/>
                </a:rPr>
                <a:t>如果</a:t>
              </a:r>
              <a:r>
                <a:rPr lang="zh-CN" altLang="ja-JP" sz="2400" b="1" i="1" dirty="0">
                  <a:solidFill>
                    <a:srgbClr val="000066"/>
                  </a:solidFill>
                  <a:latin typeface="Times New Roman" pitchFamily="18" charset="0"/>
                </a:rPr>
                <a:t>P</a:t>
              </a:r>
              <a:r>
                <a:rPr lang="zh-CN" altLang="ja-JP" sz="2400" dirty="0">
                  <a:solidFill>
                    <a:srgbClr val="000066"/>
                  </a:solidFill>
                  <a:latin typeface="Times New Roman" pitchFamily="18" charset="0"/>
                </a:rPr>
                <a:t> = $250, </a:t>
              </a:r>
              <a:br>
                <a:rPr lang="zh-CN" altLang="ja-JP" sz="2400" dirty="0">
                  <a:solidFill>
                    <a:srgbClr val="000066"/>
                  </a:solidFill>
                  <a:latin typeface="Times New Roman" pitchFamily="18" charset="0"/>
                </a:rPr>
              </a:br>
              <a:r>
                <a:rPr lang="zh-CN" altLang="ja-JP" sz="2400" b="1" i="1" dirty="0">
                  <a:solidFill>
                    <a:srgbClr val="000066"/>
                  </a:solidFill>
                  <a:latin typeface="Times New Roman" pitchFamily="18" charset="0"/>
                </a:rPr>
                <a:t>Q</a:t>
              </a:r>
              <a:r>
                <a:rPr lang="zh-CN" altLang="ja-JP" sz="2400" dirty="0">
                  <a:solidFill>
                    <a:srgbClr val="000066"/>
                  </a:solidFill>
                  <a:latin typeface="Times New Roman" pitchFamily="18" charset="0"/>
                </a:rPr>
                <a:t> = 8 </a:t>
              </a:r>
              <a:r>
                <a:rPr lang="zh-CN" altLang="en-US" sz="2400" dirty="0">
                  <a:solidFill>
                    <a:srgbClr val="000066"/>
                  </a:solidFill>
                  <a:latin typeface="Times New Roman" pitchFamily="18" charset="0"/>
                </a:rPr>
                <a:t>，支出</a:t>
              </a:r>
              <a:r>
                <a:rPr lang="en-US" altLang="zh-CN" sz="2400" dirty="0">
                  <a:solidFill>
                    <a:srgbClr val="000066"/>
                  </a:solidFill>
                  <a:latin typeface="Times New Roman" pitchFamily="18" charset="0"/>
                </a:rPr>
                <a:t>=$2000</a:t>
              </a:r>
            </a:p>
          </p:txBody>
        </p:sp>
        <p:sp>
          <p:nvSpPr>
            <p:cNvPr id="68624" name="Rectangle 33"/>
            <p:cNvSpPr>
              <a:spLocks noChangeArrowheads="1"/>
            </p:cNvSpPr>
            <p:nvPr/>
          </p:nvSpPr>
          <p:spPr bwMode="auto">
            <a:xfrm>
              <a:off x="2520" y="146"/>
              <a:ext cx="918" cy="1407"/>
            </a:xfrm>
            <a:prstGeom prst="rect">
              <a:avLst/>
            </a:prstGeom>
            <a:solidFill>
              <a:srgbClr val="FFFF66">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FontTx/>
                <a:buNone/>
              </a:pPr>
              <a:endParaRPr lang="en-US" altLang="zh-CN" sz="1800" b="0">
                <a:solidFill>
                  <a:srgbClr val="000066"/>
                </a:solidFill>
                <a:latin typeface="Times New Roman" panose="02020603050405020304" pitchFamily="18" charset="0"/>
              </a:endParaRPr>
            </a:p>
          </p:txBody>
        </p:sp>
      </p:grpSp>
      <p:sp>
        <p:nvSpPr>
          <p:cNvPr id="53281" name="Rectangle 35"/>
          <p:cNvSpPr>
            <a:spLocks noChangeArrowheads="1"/>
          </p:cNvSpPr>
          <p:nvPr/>
        </p:nvSpPr>
        <p:spPr bwMode="auto">
          <a:xfrm>
            <a:off x="5915025" y="3567113"/>
            <a:ext cx="1314450" cy="1600200"/>
          </a:xfrm>
          <a:prstGeom prst="rect">
            <a:avLst/>
          </a:prstGeom>
          <a:blipFill dpi="0" rotWithShape="0">
            <a:blip r:embed="rId4">
              <a:alphaModFix amt="50000"/>
            </a:blip>
            <a:srcRect/>
            <a:tile tx="0" ty="0" sx="100000" sy="100000" flip="none" algn="tl"/>
          </a:blipFill>
          <a:ln w="38100">
            <a:solidFill>
              <a:srgbClr val="0000CC"/>
            </a:solidFill>
            <a:miter lim="800000"/>
            <a:headEnd/>
            <a:tailEnd/>
          </a:ln>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FontTx/>
              <a:buNone/>
            </a:pPr>
            <a:endParaRPr lang="en-US" altLang="zh-CN" sz="1800" b="0">
              <a:solidFill>
                <a:srgbClr val="000066"/>
              </a:solidFill>
              <a:latin typeface="Times New Roman" panose="02020603050405020304" pitchFamily="18" charset="0"/>
            </a:endParaRPr>
          </a:p>
        </p:txBody>
      </p:sp>
      <p:sp>
        <p:nvSpPr>
          <p:cNvPr id="53282" name="Rectangle 36"/>
          <p:cNvSpPr>
            <a:spLocks noChangeArrowheads="1"/>
          </p:cNvSpPr>
          <p:nvPr/>
        </p:nvSpPr>
        <p:spPr bwMode="auto">
          <a:xfrm>
            <a:off x="4443413" y="2952750"/>
            <a:ext cx="1428750" cy="571500"/>
          </a:xfrm>
          <a:prstGeom prst="rect">
            <a:avLst/>
          </a:prstGeom>
          <a:blipFill dpi="0" rotWithShape="0">
            <a:blip r:embed="rId5">
              <a:alphaModFix amt="50000"/>
            </a:blip>
            <a:srcRect/>
            <a:tile tx="0" ty="0" sx="100000" sy="100000" flip="none" algn="tl"/>
          </a:blipFill>
          <a:ln w="38100">
            <a:solidFill>
              <a:srgbClr val="FFFF00"/>
            </a:solidFill>
            <a:miter lim="800000"/>
            <a:headEnd/>
            <a:tailEnd/>
          </a:ln>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FontTx/>
              <a:buNone/>
            </a:pPr>
            <a:endParaRPr lang="en-US" altLang="zh-CN" sz="1800" b="0">
              <a:solidFill>
                <a:srgbClr val="000066"/>
              </a:solidFill>
              <a:latin typeface="Times New Roman" panose="02020603050405020304" pitchFamily="18" charset="0"/>
            </a:endParaRPr>
          </a:p>
        </p:txBody>
      </p:sp>
      <p:sp>
        <p:nvSpPr>
          <p:cNvPr id="53283" name="Text Box 37"/>
          <p:cNvSpPr txBox="1">
            <a:spLocks noChangeArrowheads="1"/>
          </p:cNvSpPr>
          <p:nvPr/>
        </p:nvSpPr>
        <p:spPr bwMode="auto">
          <a:xfrm>
            <a:off x="7250113" y="1606550"/>
            <a:ext cx="1390650" cy="1570038"/>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zh-CN" altLang="en-US" sz="2400" b="0">
                <a:solidFill>
                  <a:srgbClr val="000066"/>
                </a:solidFill>
                <a:latin typeface="Times New Roman" panose="02020603050405020304" pitchFamily="18" charset="0"/>
              </a:rPr>
              <a:t>需求量下降所减少的支出</a:t>
            </a:r>
            <a:endParaRPr lang="zh-CN" altLang="en-US" sz="2400" i="1">
              <a:solidFill>
                <a:srgbClr val="000066"/>
              </a:solidFill>
              <a:latin typeface="Times New Roman" panose="02020603050405020304" pitchFamily="18" charset="0"/>
            </a:endParaRPr>
          </a:p>
        </p:txBody>
      </p:sp>
      <p:sp>
        <p:nvSpPr>
          <p:cNvPr id="53284" name="Text Box 38"/>
          <p:cNvSpPr txBox="1">
            <a:spLocks noChangeArrowheads="1"/>
          </p:cNvSpPr>
          <p:nvPr/>
        </p:nvSpPr>
        <p:spPr bwMode="auto">
          <a:xfrm>
            <a:off x="4932363" y="1557338"/>
            <a:ext cx="1919287" cy="841375"/>
          </a:xfrm>
          <a:prstGeom prst="rect">
            <a:avLst/>
          </a:prstGeom>
          <a:noFill/>
          <a:ln w="1905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zh-CN" altLang="en-US" sz="2400" b="0">
                <a:solidFill>
                  <a:srgbClr val="000066"/>
                </a:solidFill>
                <a:latin typeface="Times New Roman" panose="02020603050405020304" pitchFamily="18" charset="0"/>
              </a:rPr>
              <a:t>价格上升所增加的支出</a:t>
            </a:r>
            <a:endParaRPr lang="zh-CN" altLang="en-US" sz="2400" i="1">
              <a:solidFill>
                <a:srgbClr val="000066"/>
              </a:solidFill>
              <a:latin typeface="Times New Roman" panose="02020603050405020304" pitchFamily="18" charset="0"/>
            </a:endParaRPr>
          </a:p>
        </p:txBody>
      </p:sp>
      <p:sp>
        <p:nvSpPr>
          <p:cNvPr id="68621" name="Title 1"/>
          <p:cNvSpPr txBox="1">
            <a:spLocks/>
          </p:cNvSpPr>
          <p:nvPr/>
        </p:nvSpPr>
        <p:spPr bwMode="auto">
          <a:xfrm>
            <a:off x="1042988" y="404813"/>
            <a:ext cx="648176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2400" b="0">
                <a:solidFill>
                  <a:srgbClr val="000066"/>
                </a:solidFill>
                <a:latin typeface="Arial" panose="020B0604020202020204" pitchFamily="34" charset="0"/>
              </a:rPr>
              <a:t>需求价格弹性与消费者支出（供给者总收入）</a:t>
            </a:r>
          </a:p>
        </p:txBody>
      </p:sp>
    </p:spTree>
    <p:extLst>
      <p:ext uri="{BB962C8B-B14F-4D97-AF65-F5344CB8AC3E}">
        <p14:creationId xmlns:p14="http://schemas.microsoft.com/office/powerpoint/2010/main" val="224174967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3283"/>
                                        </p:tgtEl>
                                        <p:attrNameLst>
                                          <p:attrName>style.visibility</p:attrName>
                                        </p:attrNameLst>
                                      </p:cBhvr>
                                      <p:to>
                                        <p:strVal val="visible"/>
                                      </p:to>
                                    </p:set>
                                    <p:animEffect transition="in" filter="dissolve">
                                      <p:cBhvr>
                                        <p:cTn id="15" dur="500"/>
                                        <p:tgtEl>
                                          <p:spTgt spid="53283"/>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53281"/>
                                        </p:tgtEl>
                                        <p:attrNameLst>
                                          <p:attrName>style.visibility</p:attrName>
                                        </p:attrNameLst>
                                      </p:cBhvr>
                                      <p:to>
                                        <p:strVal val="visible"/>
                                      </p:to>
                                    </p:set>
                                    <p:animEffect transition="in" filter="dissolve">
                                      <p:cBhvr>
                                        <p:cTn id="18" dur="500"/>
                                        <p:tgtEl>
                                          <p:spTgt spid="5328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53284"/>
                                        </p:tgtEl>
                                        <p:attrNameLst>
                                          <p:attrName>style.visibility</p:attrName>
                                        </p:attrNameLst>
                                      </p:cBhvr>
                                      <p:to>
                                        <p:strVal val="visible"/>
                                      </p:to>
                                    </p:set>
                                    <p:animEffect transition="in" filter="dissolve">
                                      <p:cBhvr>
                                        <p:cTn id="23" dur="500"/>
                                        <p:tgtEl>
                                          <p:spTgt spid="53284"/>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53282"/>
                                        </p:tgtEl>
                                        <p:attrNameLst>
                                          <p:attrName>style.visibility</p:attrName>
                                        </p:attrNameLst>
                                      </p:cBhvr>
                                      <p:to>
                                        <p:strVal val="visible"/>
                                      </p:to>
                                    </p:set>
                                    <p:animEffect transition="in" filter="dissolve">
                                      <p:cBhvr>
                                        <p:cTn id="26" dur="500"/>
                                        <p:tgtEl>
                                          <p:spTgt spid="5328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53270"/>
                                        </p:tgtEl>
                                        <p:attrNameLst>
                                          <p:attrName>style.visibility</p:attrName>
                                        </p:attrNameLst>
                                      </p:cBhvr>
                                      <p:to>
                                        <p:strVal val="visible"/>
                                      </p:to>
                                    </p:set>
                                    <p:animEffect transition="in" filter="dissolve">
                                      <p:cBhvr>
                                        <p:cTn id="31" dur="500"/>
                                        <p:tgtEl>
                                          <p:spTgt spid="53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70" grpId="0" animBg="1" autoUpdateAnimBg="0"/>
      <p:bldP spid="53281" grpId="0" animBg="1" autoUpdateAnimBg="0"/>
      <p:bldP spid="53282" grpId="0" animBg="1" autoUpdateAnimBg="0"/>
      <p:bldP spid="53283" grpId="0" animBg="1" autoUpdateAnimBg="0"/>
      <p:bldP spid="53284" grpId="0" animBg="1"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Content Placeholder 2"/>
          <p:cNvSpPr>
            <a:spLocks noGrp="1" noChangeArrowheads="1"/>
          </p:cNvSpPr>
          <p:nvPr>
            <p:ph idx="4294967295"/>
          </p:nvPr>
        </p:nvSpPr>
        <p:spPr>
          <a:xfrm>
            <a:off x="1295400" y="1700808"/>
            <a:ext cx="6705600" cy="3599855"/>
          </a:xfrm>
        </p:spPr>
        <p:txBody>
          <a:bodyPr/>
          <a:lstStyle/>
          <a:p>
            <a:pPr marL="447675" indent="-447675" eaLnBrk="1" hangingPunct="1">
              <a:tabLst>
                <a:tab pos="4121150" algn="ctr"/>
              </a:tabLst>
            </a:pPr>
            <a:r>
              <a:rPr lang="zh-CN" altLang="en-US" sz="2400" dirty="0">
                <a:latin typeface="微软雅黑 Light" panose="020B0502040204020203" pitchFamily="34" charset="-122"/>
                <a:ea typeface="微软雅黑 Light" panose="020B0502040204020203" pitchFamily="34" charset="-122"/>
              </a:rPr>
              <a:t>如果需求是缺乏弹性的，那需求价格弹性</a:t>
            </a:r>
            <a:r>
              <a:rPr lang="en-US" altLang="zh-CN" sz="2400" dirty="0">
                <a:latin typeface="微软雅黑 Light" panose="020B0502040204020203" pitchFamily="34" charset="-122"/>
                <a:ea typeface="微软雅黑 Light" panose="020B0502040204020203" pitchFamily="34" charset="-122"/>
              </a:rPr>
              <a:t>&lt; 1 </a:t>
            </a:r>
            <a:r>
              <a:rPr lang="zh-CN" altLang="en-US" sz="2400" dirty="0">
                <a:latin typeface="微软雅黑 Light" panose="020B0502040204020203" pitchFamily="34" charset="-122"/>
                <a:ea typeface="微软雅黑 Light" panose="020B0502040204020203" pitchFamily="34" charset="-122"/>
              </a:rPr>
              <a:t>，这意味着需求量变动的百分比  </a:t>
            </a:r>
            <a:r>
              <a:rPr lang="en-US" altLang="zh-CN" sz="2400" dirty="0">
                <a:latin typeface="微软雅黑 Light" panose="020B0502040204020203" pitchFamily="34" charset="-122"/>
                <a:ea typeface="微软雅黑 Light" panose="020B0502040204020203" pitchFamily="34" charset="-122"/>
              </a:rPr>
              <a:t>&lt; </a:t>
            </a:r>
            <a:r>
              <a:rPr lang="zh-CN" altLang="en-US" sz="2400" dirty="0">
                <a:latin typeface="微软雅黑 Light" panose="020B0502040204020203" pitchFamily="34" charset="-122"/>
                <a:ea typeface="微软雅黑 Light" panose="020B0502040204020203" pitchFamily="34" charset="-122"/>
              </a:rPr>
              <a:t>价格变动的百分比</a:t>
            </a:r>
          </a:p>
          <a:p>
            <a:pPr marL="447675" indent="-447675" eaLnBrk="1" hangingPunct="1">
              <a:spcBef>
                <a:spcPct val="30000"/>
              </a:spcBef>
              <a:tabLst>
                <a:tab pos="4121150" algn="ctr"/>
              </a:tabLst>
            </a:pPr>
            <a:r>
              <a:rPr lang="zh-CN" altLang="en-US" sz="2400" dirty="0">
                <a:latin typeface="微软雅黑 Light" panose="020B0502040204020203" pitchFamily="34" charset="-122"/>
                <a:ea typeface="微软雅黑 Light" panose="020B0502040204020203" pitchFamily="34" charset="-122"/>
              </a:rPr>
              <a:t>需求量减少使支出减少的幅度小于价格上升使支出增加的幅度，总支出增加。</a:t>
            </a:r>
          </a:p>
        </p:txBody>
      </p:sp>
      <p:sp>
        <p:nvSpPr>
          <p:cNvPr id="72707" name="Title 1"/>
          <p:cNvSpPr>
            <a:spLocks noGrp="1" noChangeArrowheads="1"/>
          </p:cNvSpPr>
          <p:nvPr>
            <p:ph type="title" idx="4294967295"/>
          </p:nvPr>
        </p:nvSpPr>
        <p:spPr/>
        <p:txBody>
          <a:bodyPr anchor="b"/>
          <a:lstStyle/>
          <a:p>
            <a:pPr eaLnBrk="1" hangingPunct="1"/>
            <a:r>
              <a:rPr lang="zh-CN" altLang="en-US" sz="2500" dirty="0">
                <a:ea typeface="宋体" panose="02010600030101010101" pitchFamily="2" charset="-122"/>
              </a:rPr>
              <a:t>需求价格弹性与消费者支出（供给者总收入）</a:t>
            </a:r>
          </a:p>
        </p:txBody>
      </p:sp>
    </p:spTree>
    <p:extLst>
      <p:ext uri="{BB962C8B-B14F-4D97-AF65-F5344CB8AC3E}">
        <p14:creationId xmlns:p14="http://schemas.microsoft.com/office/powerpoint/2010/main" val="16719049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2707"/>
                                        </p:tgtEl>
                                        <p:attrNameLst>
                                          <p:attrName>style.visibility</p:attrName>
                                        </p:attrNameLst>
                                      </p:cBhvr>
                                      <p:to>
                                        <p:strVal val="visible"/>
                                      </p:to>
                                    </p:set>
                                    <p:animEffect transition="in" filter="blinds(horizontal)">
                                      <p:cBhvr>
                                        <p:cTn id="7" dur="500"/>
                                        <p:tgtEl>
                                          <p:spTgt spid="727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2706">
                                            <p:txEl>
                                              <p:pRg st="0" end="0"/>
                                            </p:txEl>
                                          </p:spTgt>
                                        </p:tgtEl>
                                        <p:attrNameLst>
                                          <p:attrName>style.visibility</p:attrName>
                                        </p:attrNameLst>
                                      </p:cBhvr>
                                      <p:to>
                                        <p:strVal val="visible"/>
                                      </p:to>
                                    </p:set>
                                    <p:animEffect transition="in" filter="blinds(horizontal)">
                                      <p:cBhvr>
                                        <p:cTn id="12" dur="500"/>
                                        <p:tgtEl>
                                          <p:spTgt spid="7270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2706">
                                            <p:txEl>
                                              <p:pRg st="1" end="1"/>
                                            </p:txEl>
                                          </p:spTgt>
                                        </p:tgtEl>
                                        <p:attrNameLst>
                                          <p:attrName>style.visibility</p:attrName>
                                        </p:attrNameLst>
                                      </p:cBhvr>
                                      <p:to>
                                        <p:strVal val="visible"/>
                                      </p:to>
                                    </p:set>
                                    <p:animEffect transition="in" filter="blinds(horizontal)">
                                      <p:cBhvr>
                                        <p:cTn id="17" dur="500"/>
                                        <p:tgtEl>
                                          <p:spTgt spid="7270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build="p"/>
      <p:bldP spid="72707" grpId="0"/>
    </p:bldLst>
  </p:timing>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Rectangle 3"/>
          <p:cNvSpPr>
            <a:spLocks noGrp="1" noChangeArrowheads="1"/>
          </p:cNvSpPr>
          <p:nvPr>
            <p:ph type="body" idx="4294967295"/>
          </p:nvPr>
        </p:nvSpPr>
        <p:spPr>
          <a:xfrm>
            <a:off x="381000" y="1341438"/>
            <a:ext cx="2986088" cy="944562"/>
          </a:xfrm>
        </p:spPr>
        <p:txBody>
          <a:bodyPr/>
          <a:lstStyle/>
          <a:p>
            <a:pPr marL="0" indent="0" eaLnBrk="1" hangingPunct="1">
              <a:buFont typeface="Wingdings" panose="05000000000000000000" pitchFamily="2" charset="2"/>
              <a:buNone/>
            </a:pPr>
            <a:r>
              <a:rPr lang="zh-CN" altLang="en-US" sz="2400">
                <a:ea typeface="宋体" panose="02010600030101010101" pitchFamily="2" charset="-122"/>
              </a:rPr>
              <a:t>现在，需求是缺乏弹性的（弹性 </a:t>
            </a:r>
            <a:r>
              <a:rPr lang="zh-CN" altLang="ja-JP" sz="2400">
                <a:ea typeface="宋体" panose="02010600030101010101" pitchFamily="2" charset="-122"/>
              </a:rPr>
              <a:t>= 0.82</a:t>
            </a:r>
            <a:r>
              <a:rPr lang="zh-CN" altLang="en-US" sz="2400">
                <a:ea typeface="宋体" panose="02010600030101010101" pitchFamily="2" charset="-122"/>
              </a:rPr>
              <a:t>）</a:t>
            </a:r>
          </a:p>
        </p:txBody>
      </p:sp>
      <p:grpSp>
        <p:nvGrpSpPr>
          <p:cNvPr id="71683" name="Group 4"/>
          <p:cNvGrpSpPr>
            <a:grpSpLocks/>
          </p:cNvGrpSpPr>
          <p:nvPr/>
        </p:nvGrpSpPr>
        <p:grpSpPr bwMode="auto">
          <a:xfrm>
            <a:off x="4208463" y="1771650"/>
            <a:ext cx="4449762" cy="3862388"/>
            <a:chOff x="0" y="0"/>
            <a:chExt cx="2803" cy="2433"/>
          </a:xfrm>
        </p:grpSpPr>
        <p:grpSp>
          <p:nvGrpSpPr>
            <p:cNvPr id="71712" name="Group 5"/>
            <p:cNvGrpSpPr>
              <a:grpSpLocks/>
            </p:cNvGrpSpPr>
            <p:nvPr/>
          </p:nvGrpSpPr>
          <p:grpSpPr bwMode="auto">
            <a:xfrm>
              <a:off x="147" y="275"/>
              <a:ext cx="2350" cy="2015"/>
              <a:chOff x="0" y="0"/>
              <a:chExt cx="2116" cy="2027"/>
            </a:xfrm>
          </p:grpSpPr>
          <p:sp>
            <p:nvSpPr>
              <p:cNvPr id="71715" name="Line 6"/>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16" name="Line 7"/>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1713" name="Text Box 8"/>
            <p:cNvSpPr txBox="1">
              <a:spLocks noChangeArrowheads="1"/>
            </p:cNvSpPr>
            <p:nvPr/>
          </p:nvSpPr>
          <p:spPr bwMode="auto">
            <a:xfrm>
              <a:off x="0" y="0"/>
              <a:ext cx="316"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en-US" altLang="zh-CN" sz="2400" i="1">
                  <a:solidFill>
                    <a:srgbClr val="000066"/>
                  </a:solidFill>
                  <a:latin typeface="Times New Roman" panose="02020603050405020304" pitchFamily="18" charset="0"/>
                </a:rPr>
                <a:t>P</a:t>
              </a:r>
            </a:p>
          </p:txBody>
        </p:sp>
        <p:sp>
          <p:nvSpPr>
            <p:cNvPr id="71714" name="Text Box 9"/>
            <p:cNvSpPr txBox="1">
              <a:spLocks noChangeArrowheads="1"/>
            </p:cNvSpPr>
            <p:nvPr/>
          </p:nvSpPr>
          <p:spPr bwMode="auto">
            <a:xfrm>
              <a:off x="2442" y="2146"/>
              <a:ext cx="361"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en-US" altLang="zh-CN" sz="2400" i="1">
                  <a:solidFill>
                    <a:srgbClr val="000066"/>
                  </a:solidFill>
                  <a:latin typeface="Times New Roman" panose="02020603050405020304" pitchFamily="18" charset="0"/>
                </a:rPr>
                <a:t>Q</a:t>
              </a:r>
            </a:p>
          </p:txBody>
        </p:sp>
      </p:grpSp>
      <p:grpSp>
        <p:nvGrpSpPr>
          <p:cNvPr id="71684" name="Group 10"/>
          <p:cNvGrpSpPr>
            <a:grpSpLocks/>
          </p:cNvGrpSpPr>
          <p:nvPr/>
        </p:nvGrpSpPr>
        <p:grpSpPr bwMode="auto">
          <a:xfrm>
            <a:off x="5635625" y="2219325"/>
            <a:ext cx="2813050" cy="2373313"/>
            <a:chOff x="0" y="0"/>
            <a:chExt cx="1659" cy="987"/>
          </a:xfrm>
        </p:grpSpPr>
        <p:sp>
          <p:nvSpPr>
            <p:cNvPr id="71710" name="Line 11"/>
            <p:cNvSpPr>
              <a:spLocks noChangeShapeType="1"/>
            </p:cNvSpPr>
            <p:nvPr/>
          </p:nvSpPr>
          <p:spPr bwMode="auto">
            <a:xfrm>
              <a:off x="0" y="0"/>
              <a:ext cx="1379" cy="919"/>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11" name="Text Box 12"/>
            <p:cNvSpPr txBox="1">
              <a:spLocks noChangeArrowheads="1"/>
            </p:cNvSpPr>
            <p:nvPr/>
          </p:nvSpPr>
          <p:spPr bwMode="auto">
            <a:xfrm>
              <a:off x="1272" y="797"/>
              <a:ext cx="387"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en-US" altLang="zh-CN" sz="2400" i="1">
                  <a:solidFill>
                    <a:srgbClr val="000066"/>
                  </a:solidFill>
                  <a:latin typeface="Times New Roman" panose="02020603050405020304" pitchFamily="18" charset="0"/>
                </a:rPr>
                <a:t>D</a:t>
              </a:r>
            </a:p>
          </p:txBody>
        </p:sp>
      </p:grpSp>
      <p:grpSp>
        <p:nvGrpSpPr>
          <p:cNvPr id="5" name="Group 13"/>
          <p:cNvGrpSpPr>
            <a:grpSpLocks/>
          </p:cNvGrpSpPr>
          <p:nvPr/>
        </p:nvGrpSpPr>
        <p:grpSpPr bwMode="auto">
          <a:xfrm>
            <a:off x="468313" y="2492375"/>
            <a:ext cx="7089775" cy="3360738"/>
            <a:chOff x="16" y="168"/>
            <a:chExt cx="4466" cy="2117"/>
          </a:xfrm>
        </p:grpSpPr>
        <p:sp>
          <p:nvSpPr>
            <p:cNvPr id="71702" name="Rectangle 15"/>
            <p:cNvSpPr>
              <a:spLocks noChangeArrowheads="1"/>
            </p:cNvSpPr>
            <p:nvPr/>
          </p:nvSpPr>
          <p:spPr bwMode="auto">
            <a:xfrm>
              <a:off x="2526" y="980"/>
              <a:ext cx="1779" cy="1020"/>
            </a:xfrm>
            <a:prstGeom prst="rect">
              <a:avLst/>
            </a:prstGeom>
            <a:solidFill>
              <a:srgbClr val="0066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FontTx/>
                <a:buNone/>
              </a:pPr>
              <a:endParaRPr lang="en-US" altLang="zh-CN" sz="1800" b="0">
                <a:solidFill>
                  <a:srgbClr val="000066"/>
                </a:solidFill>
                <a:latin typeface="Times New Roman" panose="02020603050405020304" pitchFamily="18" charset="0"/>
              </a:endParaRPr>
            </a:p>
          </p:txBody>
        </p:sp>
        <p:grpSp>
          <p:nvGrpSpPr>
            <p:cNvPr id="71703" name="Group 15"/>
            <p:cNvGrpSpPr>
              <a:grpSpLocks/>
            </p:cNvGrpSpPr>
            <p:nvPr/>
          </p:nvGrpSpPr>
          <p:grpSpPr bwMode="auto">
            <a:xfrm>
              <a:off x="1968" y="828"/>
              <a:ext cx="2514" cy="1457"/>
              <a:chOff x="0" y="0"/>
              <a:chExt cx="2514" cy="1457"/>
            </a:xfrm>
          </p:grpSpPr>
          <p:sp>
            <p:nvSpPr>
              <p:cNvPr id="71705" name="Text Box 17"/>
              <p:cNvSpPr txBox="1">
                <a:spLocks noChangeArrowheads="1"/>
              </p:cNvSpPr>
              <p:nvPr/>
            </p:nvSpPr>
            <p:spPr bwMode="auto">
              <a:xfrm>
                <a:off x="0" y="0"/>
                <a:ext cx="5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solidFill>
                      <a:srgbClr val="000066"/>
                    </a:solidFill>
                    <a:latin typeface="Times New Roman" panose="02020603050405020304" pitchFamily="18" charset="0"/>
                  </a:rPr>
                  <a:t>$200</a:t>
                </a:r>
                <a:endParaRPr lang="en-US" altLang="zh-CN" sz="2400" b="0" baseline="-25000">
                  <a:solidFill>
                    <a:srgbClr val="000066"/>
                  </a:solidFill>
                  <a:latin typeface="Times New Roman" panose="02020603050405020304" pitchFamily="18" charset="0"/>
                </a:endParaRPr>
              </a:p>
            </p:txBody>
          </p:sp>
          <p:sp>
            <p:nvSpPr>
              <p:cNvPr id="71706" name="Text Box 18"/>
              <p:cNvSpPr txBox="1">
                <a:spLocks noChangeArrowheads="1"/>
              </p:cNvSpPr>
              <p:nvPr/>
            </p:nvSpPr>
            <p:spPr bwMode="auto">
              <a:xfrm>
                <a:off x="2169" y="1169"/>
                <a:ext cx="3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en-US" altLang="zh-CN" sz="2400" b="0">
                    <a:solidFill>
                      <a:srgbClr val="000066"/>
                    </a:solidFill>
                    <a:latin typeface="Times New Roman" panose="02020603050405020304" pitchFamily="18" charset="0"/>
                  </a:rPr>
                  <a:t>12</a:t>
                </a:r>
                <a:endParaRPr lang="en-US" altLang="zh-CN" sz="2400" b="0" baseline="-25000">
                  <a:solidFill>
                    <a:srgbClr val="000066"/>
                  </a:solidFill>
                  <a:latin typeface="Times New Roman" panose="02020603050405020304" pitchFamily="18" charset="0"/>
                </a:endParaRPr>
              </a:p>
            </p:txBody>
          </p:sp>
          <p:grpSp>
            <p:nvGrpSpPr>
              <p:cNvPr id="71707" name="Group 18"/>
              <p:cNvGrpSpPr>
                <a:grpSpLocks/>
              </p:cNvGrpSpPr>
              <p:nvPr/>
            </p:nvGrpSpPr>
            <p:grpSpPr bwMode="auto">
              <a:xfrm>
                <a:off x="565" y="147"/>
                <a:ext cx="1773" cy="1013"/>
                <a:chOff x="0" y="0"/>
                <a:chExt cx="795" cy="646"/>
              </a:xfrm>
            </p:grpSpPr>
            <p:sp>
              <p:nvSpPr>
                <p:cNvPr id="71708" name="Line 20"/>
                <p:cNvSpPr>
                  <a:spLocks noChangeShapeType="1"/>
                </p:cNvSpPr>
                <p:nvPr/>
              </p:nvSpPr>
              <p:spPr bwMode="auto">
                <a:xfrm>
                  <a:off x="0" y="0"/>
                  <a:ext cx="795" cy="0"/>
                </a:xfrm>
                <a:prstGeom prst="line">
                  <a:avLst/>
                </a:prstGeom>
                <a:noFill/>
                <a:ln w="9525">
                  <a:solidFill>
                    <a:srgbClr val="777777"/>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09" name="Line 21"/>
                <p:cNvSpPr>
                  <a:spLocks noChangeShapeType="1"/>
                </p:cNvSpPr>
                <p:nvPr/>
              </p:nvSpPr>
              <p:spPr bwMode="auto">
                <a:xfrm>
                  <a:off x="795" y="1"/>
                  <a:ext cx="0" cy="645"/>
                </a:xfrm>
                <a:prstGeom prst="line">
                  <a:avLst/>
                </a:prstGeom>
                <a:noFill/>
                <a:ln w="9525">
                  <a:solidFill>
                    <a:srgbClr val="777777"/>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2728" name="Rectangle 22">
              <a:extLst>
                <a:ext uri="{FF2B5EF4-FFF2-40B4-BE49-F238E27FC236}">
                  <a16:creationId xmlns:a16="http://schemas.microsoft.com/office/drawing/2014/main" id="{9EE1B93B-DBAA-4F48-A3C9-5E5286310020}"/>
                </a:ext>
              </a:extLst>
            </p:cNvPr>
            <p:cNvSpPr>
              <a:spLocks noChangeArrowheads="1"/>
            </p:cNvSpPr>
            <p:nvPr/>
          </p:nvSpPr>
          <p:spPr bwMode="auto">
            <a:xfrm>
              <a:off x="16" y="168"/>
              <a:ext cx="1913" cy="542"/>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lstStyle/>
            <a:p>
              <a:pPr algn="ctr" eaLnBrk="1" hangingPunct="1">
                <a:lnSpc>
                  <a:spcPct val="105000"/>
                </a:lnSpc>
                <a:spcBef>
                  <a:spcPct val="45000"/>
                </a:spcBef>
                <a:buClr>
                  <a:srgbClr val="00B85C"/>
                </a:buClr>
                <a:buSzPct val="120000"/>
                <a:buFont typeface="Wingdings" pitchFamily="2" charset="2"/>
                <a:buNone/>
                <a:defRPr/>
              </a:pPr>
              <a:r>
                <a:rPr lang="zh-CN" altLang="en-US" sz="2400" dirty="0">
                  <a:solidFill>
                    <a:srgbClr val="000066"/>
                  </a:solidFill>
                  <a:latin typeface="Times New Roman" pitchFamily="18" charset="0"/>
                </a:rPr>
                <a:t>如果 </a:t>
              </a:r>
              <a:r>
                <a:rPr lang="zh-CN" altLang="ja-JP" sz="2400" b="1" i="1" dirty="0">
                  <a:solidFill>
                    <a:srgbClr val="000066"/>
                  </a:solidFill>
                  <a:latin typeface="Times New Roman" pitchFamily="18" charset="0"/>
                </a:rPr>
                <a:t>P</a:t>
              </a:r>
              <a:r>
                <a:rPr lang="zh-CN" altLang="ja-JP" sz="2400" dirty="0">
                  <a:solidFill>
                    <a:srgbClr val="000066"/>
                  </a:solidFill>
                  <a:latin typeface="Times New Roman" pitchFamily="18" charset="0"/>
                </a:rPr>
                <a:t> = $200, </a:t>
              </a:r>
              <a:br>
                <a:rPr lang="zh-CN" altLang="ja-JP" sz="2400" dirty="0">
                  <a:solidFill>
                    <a:srgbClr val="000066"/>
                  </a:solidFill>
                  <a:latin typeface="Times New Roman" pitchFamily="18" charset="0"/>
                </a:rPr>
              </a:br>
              <a:r>
                <a:rPr lang="zh-CN" altLang="ja-JP" sz="2400" b="1" i="1" dirty="0">
                  <a:solidFill>
                    <a:srgbClr val="000066"/>
                  </a:solidFill>
                  <a:latin typeface="Times New Roman" pitchFamily="18" charset="0"/>
                </a:rPr>
                <a:t>Q</a:t>
              </a:r>
              <a:r>
                <a:rPr lang="zh-CN" altLang="ja-JP" sz="2400" dirty="0">
                  <a:solidFill>
                    <a:srgbClr val="000066"/>
                  </a:solidFill>
                  <a:latin typeface="Times New Roman" pitchFamily="18" charset="0"/>
                </a:rPr>
                <a:t> = 12 </a:t>
              </a:r>
              <a:r>
                <a:rPr lang="zh-CN" altLang="en-US" sz="2400" dirty="0">
                  <a:solidFill>
                    <a:srgbClr val="000066"/>
                  </a:solidFill>
                  <a:latin typeface="Times New Roman" pitchFamily="18" charset="0"/>
                </a:rPr>
                <a:t>，支出</a:t>
              </a:r>
              <a:r>
                <a:rPr lang="zh-CN" altLang="ja-JP" sz="2400" dirty="0">
                  <a:solidFill>
                    <a:srgbClr val="000066"/>
                  </a:solidFill>
                  <a:latin typeface="Times New Roman" pitchFamily="18" charset="0"/>
                </a:rPr>
                <a:t>= $2400</a:t>
              </a:r>
              <a:endParaRPr lang="en-US" altLang="zh-CN" sz="2400" dirty="0">
                <a:solidFill>
                  <a:srgbClr val="000066"/>
                </a:solidFill>
                <a:latin typeface="Times New Roman" pitchFamily="18" charset="0"/>
              </a:endParaRPr>
            </a:p>
          </p:txBody>
        </p:sp>
      </p:grpSp>
      <p:grpSp>
        <p:nvGrpSpPr>
          <p:cNvPr id="8" name="Group 22"/>
          <p:cNvGrpSpPr>
            <a:grpSpLocks/>
          </p:cNvGrpSpPr>
          <p:nvPr/>
        </p:nvGrpSpPr>
        <p:grpSpPr bwMode="auto">
          <a:xfrm>
            <a:off x="442913" y="2935288"/>
            <a:ext cx="6491287" cy="2943225"/>
            <a:chOff x="0" y="0"/>
            <a:chExt cx="4089" cy="1854"/>
          </a:xfrm>
        </p:grpSpPr>
        <p:grpSp>
          <p:nvGrpSpPr>
            <p:cNvPr id="71694" name="Group 23"/>
            <p:cNvGrpSpPr>
              <a:grpSpLocks/>
            </p:cNvGrpSpPr>
            <p:nvPr/>
          </p:nvGrpSpPr>
          <p:grpSpPr bwMode="auto">
            <a:xfrm>
              <a:off x="1961" y="0"/>
              <a:ext cx="2128" cy="1854"/>
              <a:chOff x="0" y="0"/>
              <a:chExt cx="2128" cy="1854"/>
            </a:xfrm>
          </p:grpSpPr>
          <p:sp>
            <p:nvSpPr>
              <p:cNvPr id="71697" name="Text Box 25"/>
              <p:cNvSpPr txBox="1">
                <a:spLocks noChangeArrowheads="1"/>
              </p:cNvSpPr>
              <p:nvPr/>
            </p:nvSpPr>
            <p:spPr bwMode="auto">
              <a:xfrm>
                <a:off x="0" y="0"/>
                <a:ext cx="5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solidFill>
                      <a:srgbClr val="000066"/>
                    </a:solidFill>
                    <a:latin typeface="Times New Roman" panose="02020603050405020304" pitchFamily="18" charset="0"/>
                  </a:rPr>
                  <a:t>$250</a:t>
                </a:r>
                <a:endParaRPr lang="en-US" altLang="zh-CN" sz="2400" b="0" baseline="-25000">
                  <a:solidFill>
                    <a:srgbClr val="000066"/>
                  </a:solidFill>
                  <a:latin typeface="Times New Roman" panose="02020603050405020304" pitchFamily="18" charset="0"/>
                </a:endParaRPr>
              </a:p>
            </p:txBody>
          </p:sp>
          <p:sp>
            <p:nvSpPr>
              <p:cNvPr id="71698" name="Text Box 26"/>
              <p:cNvSpPr txBox="1">
                <a:spLocks noChangeArrowheads="1"/>
              </p:cNvSpPr>
              <p:nvPr/>
            </p:nvSpPr>
            <p:spPr bwMode="auto">
              <a:xfrm>
                <a:off x="1758" y="1566"/>
                <a:ext cx="37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en-US" altLang="zh-CN" sz="2400" b="0">
                    <a:solidFill>
                      <a:srgbClr val="000066"/>
                    </a:solidFill>
                    <a:latin typeface="Times New Roman" panose="02020603050405020304" pitchFamily="18" charset="0"/>
                  </a:rPr>
                  <a:t>10</a:t>
                </a:r>
                <a:endParaRPr lang="en-US" altLang="zh-CN" sz="2400" b="0" baseline="-25000">
                  <a:solidFill>
                    <a:srgbClr val="000066"/>
                  </a:solidFill>
                  <a:latin typeface="Times New Roman" panose="02020603050405020304" pitchFamily="18" charset="0"/>
                </a:endParaRPr>
              </a:p>
            </p:txBody>
          </p:sp>
          <p:grpSp>
            <p:nvGrpSpPr>
              <p:cNvPr id="71699" name="Group 26"/>
              <p:cNvGrpSpPr>
                <a:grpSpLocks/>
              </p:cNvGrpSpPr>
              <p:nvPr/>
            </p:nvGrpSpPr>
            <p:grpSpPr bwMode="auto">
              <a:xfrm>
                <a:off x="562" y="142"/>
                <a:ext cx="1382" cy="1402"/>
                <a:chOff x="0" y="0"/>
                <a:chExt cx="795" cy="646"/>
              </a:xfrm>
            </p:grpSpPr>
            <p:sp>
              <p:nvSpPr>
                <p:cNvPr id="71700" name="Line 28"/>
                <p:cNvSpPr>
                  <a:spLocks noChangeShapeType="1"/>
                </p:cNvSpPr>
                <p:nvPr/>
              </p:nvSpPr>
              <p:spPr bwMode="auto">
                <a:xfrm>
                  <a:off x="0" y="0"/>
                  <a:ext cx="795" cy="0"/>
                </a:xfrm>
                <a:prstGeom prst="line">
                  <a:avLst/>
                </a:prstGeom>
                <a:noFill/>
                <a:ln w="9525">
                  <a:solidFill>
                    <a:srgbClr val="777777"/>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01" name="Line 29"/>
                <p:cNvSpPr>
                  <a:spLocks noChangeShapeType="1"/>
                </p:cNvSpPr>
                <p:nvPr/>
              </p:nvSpPr>
              <p:spPr bwMode="auto">
                <a:xfrm>
                  <a:off x="795" y="1"/>
                  <a:ext cx="0" cy="645"/>
                </a:xfrm>
                <a:prstGeom prst="line">
                  <a:avLst/>
                </a:prstGeom>
                <a:noFill/>
                <a:ln w="9525">
                  <a:solidFill>
                    <a:srgbClr val="777777"/>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71695" name="Rectangle 30"/>
            <p:cNvSpPr>
              <a:spLocks noChangeArrowheads="1"/>
            </p:cNvSpPr>
            <p:nvPr/>
          </p:nvSpPr>
          <p:spPr bwMode="auto">
            <a:xfrm>
              <a:off x="2529" y="146"/>
              <a:ext cx="1366" cy="1407"/>
            </a:xfrm>
            <a:prstGeom prst="rect">
              <a:avLst/>
            </a:prstGeom>
            <a:solidFill>
              <a:srgbClr val="FFFF66">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FontTx/>
                <a:buNone/>
              </a:pPr>
              <a:endParaRPr lang="en-US" altLang="zh-CN" sz="1800" b="0">
                <a:solidFill>
                  <a:srgbClr val="000066"/>
                </a:solidFill>
                <a:latin typeface="Times New Roman" panose="02020603050405020304" pitchFamily="18" charset="0"/>
              </a:endParaRPr>
            </a:p>
          </p:txBody>
        </p:sp>
        <p:sp>
          <p:nvSpPr>
            <p:cNvPr id="72720" name="Rectangle 31">
              <a:extLst>
                <a:ext uri="{FF2B5EF4-FFF2-40B4-BE49-F238E27FC236}">
                  <a16:creationId xmlns:a16="http://schemas.microsoft.com/office/drawing/2014/main" id="{A0D7B7FA-19DA-4506-B8AA-1BD31657A722}"/>
                </a:ext>
              </a:extLst>
            </p:cNvPr>
            <p:cNvSpPr>
              <a:spLocks noChangeArrowheads="1"/>
            </p:cNvSpPr>
            <p:nvPr/>
          </p:nvSpPr>
          <p:spPr bwMode="auto">
            <a:xfrm>
              <a:off x="0" y="464"/>
              <a:ext cx="2025" cy="471"/>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a:lstStyle/>
            <a:p>
              <a:pPr algn="ctr" eaLnBrk="1" hangingPunct="1">
                <a:lnSpc>
                  <a:spcPct val="105000"/>
                </a:lnSpc>
                <a:spcBef>
                  <a:spcPct val="45000"/>
                </a:spcBef>
                <a:buClr>
                  <a:srgbClr val="00B85C"/>
                </a:buClr>
                <a:buSzPct val="120000"/>
                <a:buFont typeface="Wingdings" pitchFamily="2" charset="2"/>
                <a:buNone/>
                <a:defRPr/>
              </a:pPr>
              <a:r>
                <a:rPr lang="zh-CN" altLang="en-US" sz="2400">
                  <a:solidFill>
                    <a:srgbClr val="000066"/>
                  </a:solidFill>
                  <a:latin typeface="Times New Roman" pitchFamily="18" charset="0"/>
                </a:rPr>
                <a:t>如果</a:t>
              </a:r>
              <a:r>
                <a:rPr lang="zh-CN" altLang="ja-JP" sz="2400" b="1" i="1">
                  <a:solidFill>
                    <a:srgbClr val="000066"/>
                  </a:solidFill>
                  <a:latin typeface="Times New Roman" pitchFamily="18" charset="0"/>
                </a:rPr>
                <a:t>P</a:t>
              </a:r>
              <a:r>
                <a:rPr lang="zh-CN" altLang="ja-JP" sz="2400">
                  <a:solidFill>
                    <a:srgbClr val="000066"/>
                  </a:solidFill>
                  <a:latin typeface="Times New Roman" pitchFamily="18" charset="0"/>
                </a:rPr>
                <a:t> = $250, </a:t>
              </a:r>
              <a:br>
                <a:rPr lang="zh-CN" altLang="ja-JP" sz="2400">
                  <a:solidFill>
                    <a:srgbClr val="000066"/>
                  </a:solidFill>
                  <a:latin typeface="Times New Roman" pitchFamily="18" charset="0"/>
                </a:rPr>
              </a:br>
              <a:r>
                <a:rPr lang="zh-CN" altLang="ja-JP" sz="2400" b="1" i="1">
                  <a:solidFill>
                    <a:srgbClr val="000066"/>
                  </a:solidFill>
                  <a:latin typeface="Times New Roman" pitchFamily="18" charset="0"/>
                </a:rPr>
                <a:t>Q</a:t>
              </a:r>
              <a:r>
                <a:rPr lang="zh-CN" altLang="ja-JP" sz="2400">
                  <a:solidFill>
                    <a:srgbClr val="000066"/>
                  </a:solidFill>
                  <a:latin typeface="Times New Roman" pitchFamily="18" charset="0"/>
                </a:rPr>
                <a:t> = 10 </a:t>
              </a:r>
              <a:r>
                <a:rPr lang="zh-CN" altLang="en-US" sz="2400">
                  <a:solidFill>
                    <a:srgbClr val="000066"/>
                  </a:solidFill>
                  <a:latin typeface="Times New Roman" pitchFamily="18" charset="0"/>
                </a:rPr>
                <a:t>， 支出</a:t>
              </a:r>
              <a:r>
                <a:rPr lang="zh-CN" altLang="ja-JP" sz="2400">
                  <a:solidFill>
                    <a:srgbClr val="000066"/>
                  </a:solidFill>
                  <a:latin typeface="Times New Roman" pitchFamily="18" charset="0"/>
                </a:rPr>
                <a:t>= $2500</a:t>
              </a:r>
              <a:endParaRPr lang="en-US" altLang="zh-CN" sz="2400">
                <a:solidFill>
                  <a:srgbClr val="000066"/>
                </a:solidFill>
                <a:latin typeface="Times New Roman" pitchFamily="18" charset="0"/>
              </a:endParaRPr>
            </a:p>
          </p:txBody>
        </p:sp>
      </p:grpSp>
      <p:sp>
        <p:nvSpPr>
          <p:cNvPr id="56351" name="Rectangle 32">
            <a:extLst>
              <a:ext uri="{FF2B5EF4-FFF2-40B4-BE49-F238E27FC236}">
                <a16:creationId xmlns:a16="http://schemas.microsoft.com/office/drawing/2014/main" id="{7DC384B5-8CDF-447D-8EC4-270487493DB8}"/>
              </a:ext>
            </a:extLst>
          </p:cNvPr>
          <p:cNvSpPr>
            <a:spLocks noChangeArrowheads="1"/>
          </p:cNvSpPr>
          <p:nvPr/>
        </p:nvSpPr>
        <p:spPr bwMode="auto">
          <a:xfrm>
            <a:off x="468313" y="4941888"/>
            <a:ext cx="3668712" cy="935037"/>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anchor="ctr"/>
          <a:lstStyle/>
          <a:p>
            <a:pPr eaLnBrk="1" hangingPunct="1">
              <a:lnSpc>
                <a:spcPct val="105000"/>
              </a:lnSpc>
              <a:spcBef>
                <a:spcPct val="45000"/>
              </a:spcBef>
              <a:buClr>
                <a:srgbClr val="00B85C"/>
              </a:buClr>
              <a:buSzPct val="120000"/>
              <a:buFont typeface="Wingdings" pitchFamily="2" charset="2"/>
              <a:buNone/>
              <a:defRPr/>
            </a:pPr>
            <a:r>
              <a:rPr lang="zh-CN" altLang="en-US" sz="2400" dirty="0">
                <a:solidFill>
                  <a:srgbClr val="000066"/>
                </a:solidFill>
                <a:latin typeface="Times New Roman" pitchFamily="18" charset="0"/>
              </a:rPr>
              <a:t>结论：当需求缺乏弹性时，涨价会使人们支出增加</a:t>
            </a:r>
          </a:p>
        </p:txBody>
      </p:sp>
      <p:sp>
        <p:nvSpPr>
          <p:cNvPr id="71688"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FontTx/>
              <a:buNone/>
            </a:pPr>
            <a:r>
              <a:rPr lang="en-US" altLang="zh-CN" sz="1400">
                <a:solidFill>
                  <a:srgbClr val="000066"/>
                </a:solidFill>
                <a:latin typeface="Tahoma" panose="020B0604030504040204" pitchFamily="34" charset="0"/>
              </a:rPr>
              <a:t>0</a:t>
            </a:r>
          </a:p>
        </p:txBody>
      </p:sp>
      <p:sp>
        <p:nvSpPr>
          <p:cNvPr id="56353" name="Rectangle 38"/>
          <p:cNvSpPr>
            <a:spLocks noChangeArrowheads="1"/>
          </p:cNvSpPr>
          <p:nvPr/>
        </p:nvSpPr>
        <p:spPr bwMode="auto">
          <a:xfrm>
            <a:off x="6653213" y="3792538"/>
            <a:ext cx="603250" cy="1600200"/>
          </a:xfrm>
          <a:prstGeom prst="rect">
            <a:avLst/>
          </a:prstGeom>
          <a:blipFill dpi="0" rotWithShape="0">
            <a:blip r:embed="rId4">
              <a:alphaModFix amt="50000"/>
            </a:blip>
            <a:srcRect/>
            <a:tile tx="0" ty="0" sx="100000" sy="100000" flip="none" algn="tl"/>
          </a:blipFill>
          <a:ln w="38100">
            <a:solidFill>
              <a:srgbClr val="0000CC"/>
            </a:solidFill>
            <a:miter lim="800000"/>
            <a:headEnd/>
            <a:tailEnd/>
          </a:ln>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FontTx/>
              <a:buNone/>
            </a:pPr>
            <a:endParaRPr lang="en-US" altLang="zh-CN" sz="1800" b="0">
              <a:solidFill>
                <a:srgbClr val="000066"/>
              </a:solidFill>
              <a:latin typeface="Times New Roman" panose="02020603050405020304" pitchFamily="18" charset="0"/>
            </a:endParaRPr>
          </a:p>
        </p:txBody>
      </p:sp>
      <p:sp>
        <p:nvSpPr>
          <p:cNvPr id="56354" name="Rectangle 39"/>
          <p:cNvSpPr>
            <a:spLocks noChangeArrowheads="1"/>
          </p:cNvSpPr>
          <p:nvPr/>
        </p:nvSpPr>
        <p:spPr bwMode="auto">
          <a:xfrm>
            <a:off x="4468813" y="3181350"/>
            <a:ext cx="2157412" cy="571500"/>
          </a:xfrm>
          <a:prstGeom prst="rect">
            <a:avLst/>
          </a:prstGeom>
          <a:blipFill dpi="0" rotWithShape="0">
            <a:blip r:embed="rId5">
              <a:alphaModFix amt="50000"/>
            </a:blip>
            <a:srcRect/>
            <a:tile tx="0" ty="0" sx="100000" sy="100000" flip="none" algn="tl"/>
          </a:blipFill>
          <a:ln w="38100">
            <a:solidFill>
              <a:srgbClr val="FFFF00"/>
            </a:solidFill>
            <a:miter lim="800000"/>
            <a:headEnd/>
            <a:tailEnd/>
          </a:ln>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FontTx/>
              <a:buNone/>
            </a:pPr>
            <a:endParaRPr lang="en-US" altLang="zh-CN" sz="1800" b="0">
              <a:solidFill>
                <a:srgbClr val="000066"/>
              </a:solidFill>
              <a:latin typeface="Times New Roman" panose="02020603050405020304" pitchFamily="18" charset="0"/>
            </a:endParaRPr>
          </a:p>
        </p:txBody>
      </p:sp>
      <p:sp>
        <p:nvSpPr>
          <p:cNvPr id="56355" name="Text Box 40"/>
          <p:cNvSpPr txBox="1">
            <a:spLocks noChangeArrowheads="1"/>
          </p:cNvSpPr>
          <p:nvPr/>
        </p:nvSpPr>
        <p:spPr bwMode="auto">
          <a:xfrm>
            <a:off x="7261225" y="1773238"/>
            <a:ext cx="1390650" cy="1570037"/>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zh-CN" altLang="en-US" sz="2400" b="0">
                <a:solidFill>
                  <a:srgbClr val="000066"/>
                </a:solidFill>
                <a:latin typeface="Times New Roman" panose="02020603050405020304" pitchFamily="18" charset="0"/>
              </a:rPr>
              <a:t>需求量下降所减少的支出</a:t>
            </a:r>
            <a:endParaRPr lang="zh-CN" altLang="en-US" sz="2400" i="1">
              <a:solidFill>
                <a:srgbClr val="000066"/>
              </a:solidFill>
              <a:latin typeface="Times New Roman" panose="02020603050405020304" pitchFamily="18" charset="0"/>
            </a:endParaRPr>
          </a:p>
        </p:txBody>
      </p:sp>
      <p:sp>
        <p:nvSpPr>
          <p:cNvPr id="56356" name="Text Box 41"/>
          <p:cNvSpPr txBox="1">
            <a:spLocks noChangeArrowheads="1"/>
          </p:cNvSpPr>
          <p:nvPr/>
        </p:nvSpPr>
        <p:spPr bwMode="auto">
          <a:xfrm>
            <a:off x="4932363" y="1268413"/>
            <a:ext cx="1919287" cy="841375"/>
          </a:xfrm>
          <a:prstGeom prst="rect">
            <a:avLst/>
          </a:prstGeom>
          <a:solidFill>
            <a:schemeClr val="bg1"/>
          </a:solidFill>
          <a:ln w="19050">
            <a:solidFill>
              <a:srgbClr val="FFFF00"/>
            </a:solidFill>
            <a:miter lim="800000"/>
            <a:headEnd/>
            <a:tailEnd/>
          </a:ln>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50000"/>
              </a:spcBef>
              <a:buClrTx/>
              <a:buFontTx/>
              <a:buNone/>
            </a:pPr>
            <a:r>
              <a:rPr lang="zh-CN" altLang="en-US" sz="2400" b="0">
                <a:solidFill>
                  <a:srgbClr val="000066"/>
                </a:solidFill>
                <a:latin typeface="Times New Roman" panose="02020603050405020304" pitchFamily="18" charset="0"/>
              </a:rPr>
              <a:t>价格上升所增加的支出</a:t>
            </a:r>
            <a:endParaRPr lang="zh-CN" altLang="en-US" sz="2400" i="1">
              <a:solidFill>
                <a:srgbClr val="000066"/>
              </a:solidFill>
              <a:latin typeface="Times New Roman" panose="02020603050405020304" pitchFamily="18" charset="0"/>
            </a:endParaRPr>
          </a:p>
        </p:txBody>
      </p:sp>
      <p:sp>
        <p:nvSpPr>
          <p:cNvPr id="71693" name="Title 1"/>
          <p:cNvSpPr txBox="1">
            <a:spLocks/>
          </p:cNvSpPr>
          <p:nvPr/>
        </p:nvSpPr>
        <p:spPr bwMode="auto">
          <a:xfrm>
            <a:off x="1042988" y="404813"/>
            <a:ext cx="63373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2400" b="0">
                <a:solidFill>
                  <a:srgbClr val="000066"/>
                </a:solidFill>
                <a:latin typeface="Arial" panose="020B0604020202020204" pitchFamily="34" charset="0"/>
              </a:rPr>
              <a:t>需求价格弹性与消费者支出（供给者总收益）</a:t>
            </a:r>
          </a:p>
        </p:txBody>
      </p:sp>
    </p:spTree>
    <p:extLst>
      <p:ext uri="{BB962C8B-B14F-4D97-AF65-F5344CB8AC3E}">
        <p14:creationId xmlns:p14="http://schemas.microsoft.com/office/powerpoint/2010/main" val="155254837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6355"/>
                                        </p:tgtEl>
                                        <p:attrNameLst>
                                          <p:attrName>style.visibility</p:attrName>
                                        </p:attrNameLst>
                                      </p:cBhvr>
                                      <p:to>
                                        <p:strVal val="visible"/>
                                      </p:to>
                                    </p:set>
                                    <p:animEffect transition="in" filter="dissolve">
                                      <p:cBhvr>
                                        <p:cTn id="15" dur="500"/>
                                        <p:tgtEl>
                                          <p:spTgt spid="5635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56353"/>
                                        </p:tgtEl>
                                        <p:attrNameLst>
                                          <p:attrName>style.visibility</p:attrName>
                                        </p:attrNameLst>
                                      </p:cBhvr>
                                      <p:to>
                                        <p:strVal val="visible"/>
                                      </p:to>
                                    </p:set>
                                    <p:animEffect transition="in" filter="dissolve">
                                      <p:cBhvr>
                                        <p:cTn id="18" dur="500"/>
                                        <p:tgtEl>
                                          <p:spTgt spid="5635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56356"/>
                                        </p:tgtEl>
                                        <p:attrNameLst>
                                          <p:attrName>style.visibility</p:attrName>
                                        </p:attrNameLst>
                                      </p:cBhvr>
                                      <p:to>
                                        <p:strVal val="visible"/>
                                      </p:to>
                                    </p:set>
                                    <p:animEffect transition="in" filter="dissolve">
                                      <p:cBhvr>
                                        <p:cTn id="23" dur="500"/>
                                        <p:tgtEl>
                                          <p:spTgt spid="56356"/>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56354"/>
                                        </p:tgtEl>
                                        <p:attrNameLst>
                                          <p:attrName>style.visibility</p:attrName>
                                        </p:attrNameLst>
                                      </p:cBhvr>
                                      <p:to>
                                        <p:strVal val="visible"/>
                                      </p:to>
                                    </p:set>
                                    <p:animEffect transition="in" filter="dissolve">
                                      <p:cBhvr>
                                        <p:cTn id="26" dur="500"/>
                                        <p:tgtEl>
                                          <p:spTgt spid="5635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6351"/>
                                        </p:tgtEl>
                                        <p:attrNameLst>
                                          <p:attrName>style.visibility</p:attrName>
                                        </p:attrNameLst>
                                      </p:cBhvr>
                                      <p:to>
                                        <p:strVal val="visible"/>
                                      </p:to>
                                    </p:set>
                                    <p:animEffect transition="in" filter="wipe(left)">
                                      <p:cBhvr>
                                        <p:cTn id="31" dur="500"/>
                                        <p:tgtEl>
                                          <p:spTgt spid="56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51" grpId="0" animBg="1" autoUpdateAnimBg="0"/>
      <p:bldP spid="56353" grpId="0" animBg="1" autoUpdateAnimBg="0"/>
      <p:bldP spid="56354" grpId="0" animBg="1" autoUpdateAnimBg="0"/>
      <p:bldP spid="56355" grpId="0" animBg="1" autoUpdateAnimBg="0"/>
      <p:bldP spid="56356" grpId="0" animBg="1" autoUpdateAnimBg="0"/>
    </p:bldLst>
  </p:timing>
</p:sld>
</file>

<file path=ppt/tags/tag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4"/>
</p:tagLst>
</file>

<file path=ppt/tags/tag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4"/>
</p:tagLst>
</file>

<file path=ppt/tags/tag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1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1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7"/>
</p:tagLst>
</file>

<file path=ppt/tags/tag1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8"/>
</p:tagLst>
</file>

<file path=ppt/tags/tag1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5"/>
</p:tagLst>
</file>

<file path=ppt/tags/tag1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9"/>
</p:tagLst>
</file>

<file path=ppt/tags/tag15.xml><?xml version="1.0" encoding="utf-8"?>
<p:tagLst xmlns:a="http://schemas.openxmlformats.org/drawingml/2006/main" xmlns:r="http://schemas.openxmlformats.org/officeDocument/2006/relationships" xmlns:p="http://schemas.openxmlformats.org/presentationml/2006/main">
  <p:tag name="MH" val="20190815111608"/>
  <p:tag name="MH_LIBRARY" val="GRAPHIC"/>
  <p:tag name="MH_TYPE" val="SubTitle"/>
  <p:tag name="MH_ORDER" val="1"/>
</p:tagLst>
</file>

<file path=ppt/tags/tag16.xml><?xml version="1.0" encoding="utf-8"?>
<p:tagLst xmlns:a="http://schemas.openxmlformats.org/drawingml/2006/main" xmlns:r="http://schemas.openxmlformats.org/officeDocument/2006/relationships" xmlns:p="http://schemas.openxmlformats.org/presentationml/2006/main">
  <p:tag name="MH" val="20190815111608"/>
  <p:tag name="MH_LIBRARY" val="GRAPHIC"/>
  <p:tag name="MH_TYPE" val="Other"/>
  <p:tag name="MH_ORDER" val="1"/>
</p:tagLst>
</file>

<file path=ppt/tags/tag17.xml><?xml version="1.0" encoding="utf-8"?>
<p:tagLst xmlns:a="http://schemas.openxmlformats.org/drawingml/2006/main" xmlns:r="http://schemas.openxmlformats.org/officeDocument/2006/relationships" xmlns:p="http://schemas.openxmlformats.org/presentationml/2006/main">
  <p:tag name="MH" val="20190815111608"/>
  <p:tag name="MH_LIBRARY" val="GRAPHIC"/>
  <p:tag name="MH_TYPE" val="SubTitle"/>
  <p:tag name="MH_ORDER" val="2"/>
</p:tagLst>
</file>

<file path=ppt/tags/tag18.xml><?xml version="1.0" encoding="utf-8"?>
<p:tagLst xmlns:a="http://schemas.openxmlformats.org/drawingml/2006/main" xmlns:r="http://schemas.openxmlformats.org/officeDocument/2006/relationships" xmlns:p="http://schemas.openxmlformats.org/presentationml/2006/main">
  <p:tag name="MH" val="20190815111608"/>
  <p:tag name="MH_LIBRARY" val="GRAPHIC"/>
  <p:tag name="MH_TYPE" val="SubTitle"/>
  <p:tag name="MH_ORDER" val="3"/>
</p:tagLst>
</file>

<file path=ppt/tags/tag19.xml><?xml version="1.0" encoding="utf-8"?>
<p:tagLst xmlns:a="http://schemas.openxmlformats.org/drawingml/2006/main" xmlns:r="http://schemas.openxmlformats.org/officeDocument/2006/relationships" xmlns:p="http://schemas.openxmlformats.org/presentationml/2006/main">
  <p:tag name="MH" val="20190815111608"/>
  <p:tag name="MH_LIBRARY" val="GRAPHIC"/>
  <p:tag name="MH_TYPE" val="Other"/>
  <p:tag name="MH_ORDER" val="2"/>
</p:tagLst>
</file>

<file path=ppt/tags/tag20.xml><?xml version="1.0" encoding="utf-8"?>
<p:tagLst xmlns:a="http://schemas.openxmlformats.org/drawingml/2006/main" xmlns:r="http://schemas.openxmlformats.org/officeDocument/2006/relationships" xmlns:p="http://schemas.openxmlformats.org/presentationml/2006/main">
  <p:tag name="MH" val="20190815111608"/>
  <p:tag name="MH_LIBRARY" val="GRAPHIC"/>
  <p:tag name="MH_TYPE" val="Other"/>
  <p:tag name="MH_ORDER" val="3"/>
</p:tagLst>
</file>

<file path=ppt/tags/tag2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2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2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2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2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2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2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2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2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3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3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3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3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3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3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4"/>
</p:tagLst>
</file>

<file path=ppt/tags/tag3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4"/>
</p:tagLst>
</file>

<file path=ppt/tags/tag3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3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3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7"/>
</p:tagLst>
</file>

<file path=ppt/tags/tag4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8"/>
</p:tagLst>
</file>

<file path=ppt/tags/tag4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5"/>
</p:tagLst>
</file>

<file path=ppt/tags/tag4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9"/>
</p:tagLst>
</file>

<file path=ppt/tags/tag4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4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4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4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4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4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4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5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5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5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5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4"/>
</p:tagLst>
</file>

<file path=ppt/tags/tag5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4"/>
</p:tagLst>
</file>

<file path=ppt/tags/tag5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5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5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7"/>
</p:tagLst>
</file>

<file path=ppt/tags/tag5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5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6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6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6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6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6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6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6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6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6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4"/>
</p:tagLst>
</file>

<file path=ppt/tags/tag6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4"/>
</p:tagLst>
</file>

<file path=ppt/tags/tag7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7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7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7"/>
</p:tagLst>
</file>

<file path=ppt/tags/tag7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7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7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7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7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7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7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8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8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8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FF00FF"/>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170" tIns="46990" rIns="90170" bIns="46990" numCol="1" anchor="ctr"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00FF"/>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170" tIns="46990" rIns="90170" bIns="46990" numCol="1" anchor="ctr"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5.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6.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7.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8.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9.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0.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
  <TotalTime>3498</TotalTime>
  <Pages>0</Pages>
  <Words>7753</Words>
  <Characters>0</Characters>
  <Application>Microsoft Office PowerPoint</Application>
  <DocSecurity>0</DocSecurity>
  <PresentationFormat>全屏显示(4:3)</PresentationFormat>
  <Lines>0</Lines>
  <Paragraphs>1099</Paragraphs>
  <Slides>98</Slides>
  <Notes>24</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0</vt:i4>
      </vt:variant>
      <vt:variant>
        <vt:lpstr>幻灯片标题</vt:lpstr>
      </vt:variant>
      <vt:variant>
        <vt:i4>98</vt:i4>
      </vt:variant>
    </vt:vector>
  </HeadingPairs>
  <TitlesOfParts>
    <vt:vector size="114" baseType="lpstr">
      <vt:lpstr>Arial Unicode MS</vt:lpstr>
      <vt:lpstr>맑은 고딕</vt:lpstr>
      <vt:lpstr>等线</vt:lpstr>
      <vt:lpstr>黑体</vt:lpstr>
      <vt:lpstr>华文楷体</vt:lpstr>
      <vt:lpstr>宋体</vt:lpstr>
      <vt:lpstr>微软雅黑</vt:lpstr>
      <vt:lpstr>微软雅黑 Light</vt:lpstr>
      <vt:lpstr>文鼎CS书宋二</vt:lpstr>
      <vt:lpstr>Arial</vt:lpstr>
      <vt:lpstr>Calibri</vt:lpstr>
      <vt:lpstr>Cambria Math</vt:lpstr>
      <vt:lpstr>Tahoma</vt:lpstr>
      <vt:lpstr>Times New Roman</vt:lpstr>
      <vt:lpstr>Wingdings</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需求价格弹性的应用：关于减少吸毒的政策选择</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弹性的应用： 需求价格弹性与消费者支出（供给者总收入）</vt:lpstr>
      <vt:lpstr>需求价格弹性与消费者支出（供给者总收入）</vt:lpstr>
      <vt:lpstr>PowerPoint 演示文稿</vt:lpstr>
      <vt:lpstr>需求价格弹性与消费者支出（供给者总收入）</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第**章 章名称</dc:title>
  <dc:subject/>
  <dc:creator>Administrator</dc:creator>
  <cp:keywords/>
  <dc:description/>
  <cp:lastModifiedBy>wuqiang</cp:lastModifiedBy>
  <cp:revision>626</cp:revision>
  <dcterms:created xsi:type="dcterms:W3CDTF">2015-04-05T08:07:06Z</dcterms:created>
  <dcterms:modified xsi:type="dcterms:W3CDTF">2024-02-28T15:11:10Z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2052-9.1.0.5060</vt:lpwstr>
  </property>
</Properties>
</file>