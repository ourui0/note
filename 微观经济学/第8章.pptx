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826" r:id="rId2"/>
  </p:sldMasterIdLst>
  <p:notesMasterIdLst>
    <p:notesMasterId r:id="rId90"/>
  </p:notesMasterIdLst>
  <p:sldIdLst>
    <p:sldId id="256" r:id="rId3"/>
    <p:sldId id="468" r:id="rId4"/>
    <p:sldId id="370" r:id="rId5"/>
    <p:sldId id="447" r:id="rId6"/>
    <p:sldId id="259" r:id="rId7"/>
    <p:sldId id="294" r:id="rId8"/>
    <p:sldId id="343" r:id="rId9"/>
    <p:sldId id="277" r:id="rId10"/>
    <p:sldId id="295" r:id="rId11"/>
    <p:sldId id="449" r:id="rId12"/>
    <p:sldId id="297" r:id="rId13"/>
    <p:sldId id="450" r:id="rId14"/>
    <p:sldId id="451" r:id="rId15"/>
    <p:sldId id="298" r:id="rId16"/>
    <p:sldId id="348" r:id="rId17"/>
    <p:sldId id="532" r:id="rId18"/>
    <p:sldId id="469" r:id="rId19"/>
    <p:sldId id="466" r:id="rId20"/>
    <p:sldId id="470" r:id="rId21"/>
    <p:sldId id="471" r:id="rId22"/>
    <p:sldId id="304" r:id="rId23"/>
    <p:sldId id="305" r:id="rId24"/>
    <p:sldId id="359" r:id="rId25"/>
    <p:sldId id="472" r:id="rId26"/>
    <p:sldId id="478" r:id="rId27"/>
    <p:sldId id="473" r:id="rId28"/>
    <p:sldId id="285" r:id="rId29"/>
    <p:sldId id="479" r:id="rId30"/>
    <p:sldId id="477" r:id="rId31"/>
    <p:sldId id="475" r:id="rId32"/>
    <p:sldId id="283" r:id="rId33"/>
    <p:sldId id="480" r:id="rId34"/>
    <p:sldId id="307" r:id="rId35"/>
    <p:sldId id="481" r:id="rId36"/>
    <p:sldId id="482" r:id="rId37"/>
    <p:sldId id="484" r:id="rId38"/>
    <p:sldId id="485" r:id="rId39"/>
    <p:sldId id="486" r:id="rId40"/>
    <p:sldId id="483" r:id="rId41"/>
    <p:sldId id="533" r:id="rId42"/>
    <p:sldId id="501" r:id="rId43"/>
    <p:sldId id="488" r:id="rId44"/>
    <p:sldId id="502" r:id="rId45"/>
    <p:sldId id="492" r:id="rId46"/>
    <p:sldId id="493" r:id="rId47"/>
    <p:sldId id="494" r:id="rId48"/>
    <p:sldId id="495" r:id="rId49"/>
    <p:sldId id="496" r:id="rId50"/>
    <p:sldId id="497" r:id="rId51"/>
    <p:sldId id="498" r:id="rId52"/>
    <p:sldId id="503" r:id="rId53"/>
    <p:sldId id="504" r:id="rId54"/>
    <p:sldId id="505" r:id="rId55"/>
    <p:sldId id="506" r:id="rId56"/>
    <p:sldId id="507" r:id="rId57"/>
    <p:sldId id="508" r:id="rId58"/>
    <p:sldId id="509" r:id="rId59"/>
    <p:sldId id="374" r:id="rId60"/>
    <p:sldId id="511" r:id="rId61"/>
    <p:sldId id="512" r:id="rId62"/>
    <p:sldId id="513" r:id="rId63"/>
    <p:sldId id="514" r:id="rId64"/>
    <p:sldId id="515" r:id="rId65"/>
    <p:sldId id="516" r:id="rId66"/>
    <p:sldId id="517" r:id="rId67"/>
    <p:sldId id="518" r:id="rId68"/>
    <p:sldId id="519" r:id="rId69"/>
    <p:sldId id="520" r:id="rId70"/>
    <p:sldId id="521" r:id="rId71"/>
    <p:sldId id="523" r:id="rId72"/>
    <p:sldId id="525" r:id="rId73"/>
    <p:sldId id="526" r:id="rId74"/>
    <p:sldId id="527" r:id="rId75"/>
    <p:sldId id="528" r:id="rId76"/>
    <p:sldId id="529" r:id="rId77"/>
    <p:sldId id="530" r:id="rId78"/>
    <p:sldId id="314" r:id="rId79"/>
    <p:sldId id="375" r:id="rId80"/>
    <p:sldId id="363" r:id="rId81"/>
    <p:sldId id="316" r:id="rId82"/>
    <p:sldId id="291" r:id="rId83"/>
    <p:sldId id="318" r:id="rId84"/>
    <p:sldId id="292" r:id="rId85"/>
    <p:sldId id="366" r:id="rId86"/>
    <p:sldId id="293" r:id="rId87"/>
    <p:sldId id="377" r:id="rId88"/>
    <p:sldId id="531" r:id="rId89"/>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sz="3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3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3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3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27">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inkpad" initials="" lastIdx="5" clrIdx="0"/>
  <p:cmAuthor id="2" name="Wen Jiandong" initials="WJ" lastIdx="0" clrIdx="1">
    <p:extLst>
      <p:ext uri="{19B8F6BF-5375-455C-9EA6-DF929625EA0E}">
        <p15:presenceInfo xmlns:p15="http://schemas.microsoft.com/office/powerpoint/2012/main" userId="ed9cccc11e655a6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2F3F4"/>
    <a:srgbClr val="F1F1F2"/>
    <a:srgbClr val="F3C97E"/>
    <a:srgbClr val="CC0000"/>
    <a:srgbClr val="9DA3AD"/>
    <a:srgbClr val="F7DAA7"/>
    <a:srgbClr val="F3C97F"/>
    <a:srgbClr val="F4E2C0"/>
    <a:srgbClr val="BBE0E3"/>
    <a:srgbClr val="CABB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84" autoAdjust="0"/>
    <p:restoredTop sz="94660"/>
  </p:normalViewPr>
  <p:slideViewPr>
    <p:cSldViewPr>
      <p:cViewPr varScale="1">
        <p:scale>
          <a:sx n="64" d="100"/>
          <a:sy n="64" d="100"/>
        </p:scale>
        <p:origin x="1352" y="52"/>
      </p:cViewPr>
      <p:guideLst>
        <p:guide orient="horz" pos="212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771A27-99AE-4E65-941B-D1BEF3CA23B5}" type="doc">
      <dgm:prSet loTypeId="urn:microsoft.com/office/officeart/2005/8/layout/list1" loCatId="list" qsTypeId="urn:microsoft.com/office/officeart/2005/8/quickstyle/3d3" qsCatId="3D" csTypeId="urn:microsoft.com/office/officeart/2005/8/colors/accent5_1" csCatId="accent5" phldr="1"/>
      <dgm:spPr/>
      <dgm:t>
        <a:bodyPr/>
        <a:lstStyle/>
        <a:p>
          <a:endParaRPr lang="zh-CN" altLang="en-US"/>
        </a:p>
      </dgm:t>
    </dgm:pt>
    <dgm:pt modelId="{C3007863-BA82-44B0-8959-178D136C1FCF}">
      <dgm:prSet phldrT="[文本]" custT="1"/>
      <dgm:spPr>
        <a:solidFill>
          <a:schemeClr val="bg1"/>
        </a:solidFill>
      </dgm:spPr>
      <dgm:t>
        <a:bodyPr/>
        <a:lstStyle/>
        <a:p>
          <a:r>
            <a:rPr lang="zh-CN" altLang="en-US" sz="2000" b="0" dirty="0">
              <a:latin typeface="微软雅黑" panose="020B0503020204020204" pitchFamily="34" charset="-122"/>
              <a:ea typeface="微软雅黑" panose="020B0503020204020204" pitchFamily="34" charset="-122"/>
            </a:rPr>
            <a:t>市场机制下，要素的第一次分配按照边际生产力原则。</a:t>
          </a:r>
          <a:endParaRPr lang="zh-CN" altLang="en-US" sz="2000" b="0" dirty="0"/>
        </a:p>
      </dgm:t>
    </dgm:pt>
    <dgm:pt modelId="{8AB6479D-47D1-4BE2-9E54-A2685301E94D}" type="parTrans" cxnId="{E1B418C5-DCD0-409D-B590-C3C11A284F38}">
      <dgm:prSet/>
      <dgm:spPr/>
      <dgm:t>
        <a:bodyPr/>
        <a:lstStyle/>
        <a:p>
          <a:endParaRPr lang="zh-CN" altLang="en-US"/>
        </a:p>
      </dgm:t>
    </dgm:pt>
    <dgm:pt modelId="{E50E96CA-221E-47F2-99DD-357311504F54}" type="sibTrans" cxnId="{E1B418C5-DCD0-409D-B590-C3C11A284F38}">
      <dgm:prSet/>
      <dgm:spPr/>
      <dgm:t>
        <a:bodyPr/>
        <a:lstStyle/>
        <a:p>
          <a:endParaRPr lang="zh-CN" altLang="en-US"/>
        </a:p>
      </dgm:t>
    </dgm:pt>
    <dgm:pt modelId="{94778DB8-4656-48CB-BE96-8204ED9F83CD}">
      <dgm:prSet phldrT="[文本]" custT="1"/>
      <dgm:spPr/>
      <dgm:t>
        <a:bodyPr/>
        <a:lstStyle/>
        <a:p>
          <a:r>
            <a:rPr lang="zh-CN" altLang="en-US" sz="2000" b="0">
              <a:latin typeface="微软雅黑" panose="020B0503020204020204" pitchFamily="34" charset="-122"/>
              <a:ea typeface="微软雅黑" panose="020B0503020204020204" pitchFamily="34" charset="-122"/>
            </a:rPr>
            <a:t>要素的丰度及其生产力的差别会导致要素收益出现差别。</a:t>
          </a:r>
          <a:endParaRPr lang="zh-CN" altLang="en-US" sz="2000" b="0" dirty="0"/>
        </a:p>
      </dgm:t>
    </dgm:pt>
    <dgm:pt modelId="{D7553851-C4C9-41D2-8A56-88B857ED9AFD}" type="parTrans" cxnId="{B7BC24D8-7A6A-485F-AC8E-6228FB105987}">
      <dgm:prSet/>
      <dgm:spPr/>
      <dgm:t>
        <a:bodyPr/>
        <a:lstStyle/>
        <a:p>
          <a:endParaRPr lang="zh-CN" altLang="en-US"/>
        </a:p>
      </dgm:t>
    </dgm:pt>
    <dgm:pt modelId="{A458B39A-2FD6-4BF5-8D12-B1BE82C40E81}" type="sibTrans" cxnId="{B7BC24D8-7A6A-485F-AC8E-6228FB105987}">
      <dgm:prSet/>
      <dgm:spPr/>
      <dgm:t>
        <a:bodyPr/>
        <a:lstStyle/>
        <a:p>
          <a:endParaRPr lang="zh-CN" altLang="en-US"/>
        </a:p>
      </dgm:t>
    </dgm:pt>
    <dgm:pt modelId="{AB69BB8B-D700-4825-89F2-AD1E6EB50439}">
      <dgm:prSet phldrT="[文本]" custT="1"/>
      <dgm:spPr/>
      <dgm:t>
        <a:bodyPr/>
        <a:lstStyle/>
        <a:p>
          <a:r>
            <a:rPr lang="zh-CN" altLang="en-US" sz="2000" b="0">
              <a:latin typeface="微软雅黑" panose="020B0503020204020204" pitchFamily="34" charset="-122"/>
              <a:ea typeface="微软雅黑" panose="020B0503020204020204" pitchFamily="34" charset="-122"/>
            </a:rPr>
            <a:t>不同人拥有的要素数量不同，也会导致初次收入分配出现差别。</a:t>
          </a:r>
          <a:endParaRPr lang="zh-CN" altLang="en-US" sz="2000" b="0" dirty="0"/>
        </a:p>
      </dgm:t>
    </dgm:pt>
    <dgm:pt modelId="{6A208D80-E1AA-4B17-BB5B-C1870E4F1E57}" type="parTrans" cxnId="{DAAA1A1D-100E-4C35-9EEF-47BC3968AEBD}">
      <dgm:prSet/>
      <dgm:spPr/>
      <dgm:t>
        <a:bodyPr/>
        <a:lstStyle/>
        <a:p>
          <a:endParaRPr lang="zh-CN" altLang="en-US"/>
        </a:p>
      </dgm:t>
    </dgm:pt>
    <dgm:pt modelId="{A1CD3E2B-0EBC-4ACF-89E7-0420E3464C45}" type="sibTrans" cxnId="{DAAA1A1D-100E-4C35-9EEF-47BC3968AEBD}">
      <dgm:prSet/>
      <dgm:spPr/>
      <dgm:t>
        <a:bodyPr/>
        <a:lstStyle/>
        <a:p>
          <a:endParaRPr lang="zh-CN" altLang="en-US"/>
        </a:p>
      </dgm:t>
    </dgm:pt>
    <dgm:pt modelId="{54F61D1E-49AF-4AE8-B8AA-26EB80CD6E3C}" type="pres">
      <dgm:prSet presAssocID="{BA771A27-99AE-4E65-941B-D1BEF3CA23B5}" presName="linear" presStyleCnt="0">
        <dgm:presLayoutVars>
          <dgm:dir/>
          <dgm:animLvl val="lvl"/>
          <dgm:resizeHandles val="exact"/>
        </dgm:presLayoutVars>
      </dgm:prSet>
      <dgm:spPr/>
      <dgm:t>
        <a:bodyPr/>
        <a:lstStyle/>
        <a:p>
          <a:endParaRPr lang="zh-CN" altLang="en-US"/>
        </a:p>
      </dgm:t>
    </dgm:pt>
    <dgm:pt modelId="{17FF336A-0437-45AE-85F2-BD6C0747735A}" type="pres">
      <dgm:prSet presAssocID="{C3007863-BA82-44B0-8959-178D136C1FCF}" presName="parentLin" presStyleCnt="0"/>
      <dgm:spPr/>
    </dgm:pt>
    <dgm:pt modelId="{11A95D60-9C8F-4CDE-8F39-8E15EF538595}" type="pres">
      <dgm:prSet presAssocID="{C3007863-BA82-44B0-8959-178D136C1FCF}" presName="parentLeftMargin" presStyleLbl="node1" presStyleIdx="0" presStyleCnt="3"/>
      <dgm:spPr/>
      <dgm:t>
        <a:bodyPr/>
        <a:lstStyle/>
        <a:p>
          <a:endParaRPr lang="zh-CN" altLang="en-US"/>
        </a:p>
      </dgm:t>
    </dgm:pt>
    <dgm:pt modelId="{0758A0E5-AD90-49F2-BC61-760F373B7133}" type="pres">
      <dgm:prSet presAssocID="{C3007863-BA82-44B0-8959-178D136C1FCF}" presName="parentText" presStyleLbl="node1" presStyleIdx="0" presStyleCnt="3" custScaleY="195839" custLinFactX="7971" custLinFactNeighborX="100000" custLinFactNeighborY="-3812">
        <dgm:presLayoutVars>
          <dgm:chMax val="0"/>
          <dgm:bulletEnabled val="1"/>
        </dgm:presLayoutVars>
      </dgm:prSet>
      <dgm:spPr/>
      <dgm:t>
        <a:bodyPr/>
        <a:lstStyle/>
        <a:p>
          <a:endParaRPr lang="zh-CN" altLang="en-US"/>
        </a:p>
      </dgm:t>
    </dgm:pt>
    <dgm:pt modelId="{3A182D9C-2E91-431A-88B8-552240485358}" type="pres">
      <dgm:prSet presAssocID="{C3007863-BA82-44B0-8959-178D136C1FCF}" presName="negativeSpace" presStyleCnt="0"/>
      <dgm:spPr/>
    </dgm:pt>
    <dgm:pt modelId="{06050A2B-60ED-4227-B8D5-F133716CE33A}" type="pres">
      <dgm:prSet presAssocID="{C3007863-BA82-44B0-8959-178D136C1FCF}" presName="childText" presStyleLbl="conFgAcc1" presStyleIdx="0" presStyleCnt="3">
        <dgm:presLayoutVars>
          <dgm:bulletEnabled val="1"/>
        </dgm:presLayoutVars>
      </dgm:prSet>
      <dgm:spPr>
        <a:solidFill>
          <a:srgbClr val="F3C97E">
            <a:alpha val="90000"/>
          </a:srgbClr>
        </a:solidFill>
        <a:ln>
          <a:noFill/>
        </a:ln>
      </dgm:spPr>
    </dgm:pt>
    <dgm:pt modelId="{654449BD-9A04-4E4C-B261-C04EA1B878E5}" type="pres">
      <dgm:prSet presAssocID="{E50E96CA-221E-47F2-99DD-357311504F54}" presName="spaceBetweenRectangles" presStyleCnt="0"/>
      <dgm:spPr/>
    </dgm:pt>
    <dgm:pt modelId="{97B34363-AC46-4D19-BFE1-6A34B935F560}" type="pres">
      <dgm:prSet presAssocID="{94778DB8-4656-48CB-BE96-8204ED9F83CD}" presName="parentLin" presStyleCnt="0"/>
      <dgm:spPr/>
    </dgm:pt>
    <dgm:pt modelId="{9751BCD4-E1F7-4389-A113-D44EA51A6F52}" type="pres">
      <dgm:prSet presAssocID="{94778DB8-4656-48CB-BE96-8204ED9F83CD}" presName="parentLeftMargin" presStyleLbl="node1" presStyleIdx="0" presStyleCnt="3"/>
      <dgm:spPr/>
      <dgm:t>
        <a:bodyPr/>
        <a:lstStyle/>
        <a:p>
          <a:endParaRPr lang="zh-CN" altLang="en-US"/>
        </a:p>
      </dgm:t>
    </dgm:pt>
    <dgm:pt modelId="{1131A86D-9DBD-479D-9FF8-41A849CD61B9}" type="pres">
      <dgm:prSet presAssocID="{94778DB8-4656-48CB-BE96-8204ED9F83CD}" presName="parentText" presStyleLbl="node1" presStyleIdx="1" presStyleCnt="3" custScaleY="199319" custLinFactX="7971" custLinFactNeighborX="100000" custLinFactNeighborY="-3812">
        <dgm:presLayoutVars>
          <dgm:chMax val="0"/>
          <dgm:bulletEnabled val="1"/>
        </dgm:presLayoutVars>
      </dgm:prSet>
      <dgm:spPr/>
      <dgm:t>
        <a:bodyPr/>
        <a:lstStyle/>
        <a:p>
          <a:endParaRPr lang="zh-CN" altLang="en-US"/>
        </a:p>
      </dgm:t>
    </dgm:pt>
    <dgm:pt modelId="{C632E58C-6566-4A4B-9615-458A94D7FF50}" type="pres">
      <dgm:prSet presAssocID="{94778DB8-4656-48CB-BE96-8204ED9F83CD}" presName="negativeSpace" presStyleCnt="0"/>
      <dgm:spPr/>
    </dgm:pt>
    <dgm:pt modelId="{D8FBD999-9C66-4984-867E-ABD03361D7C0}" type="pres">
      <dgm:prSet presAssocID="{94778DB8-4656-48CB-BE96-8204ED9F83CD}" presName="childText" presStyleLbl="conFgAcc1" presStyleIdx="1" presStyleCnt="3">
        <dgm:presLayoutVars>
          <dgm:bulletEnabled val="1"/>
        </dgm:presLayoutVars>
      </dgm:prSet>
      <dgm:spPr>
        <a:solidFill>
          <a:srgbClr val="F3C97E">
            <a:alpha val="90000"/>
          </a:srgbClr>
        </a:solidFill>
      </dgm:spPr>
    </dgm:pt>
    <dgm:pt modelId="{A8F11FCE-4736-4935-AFA0-F3163AD35F02}" type="pres">
      <dgm:prSet presAssocID="{A458B39A-2FD6-4BF5-8D12-B1BE82C40E81}" presName="spaceBetweenRectangles" presStyleCnt="0"/>
      <dgm:spPr/>
    </dgm:pt>
    <dgm:pt modelId="{9CEDD862-F62F-4416-A411-DFFD977AF33D}" type="pres">
      <dgm:prSet presAssocID="{AB69BB8B-D700-4825-89F2-AD1E6EB50439}" presName="parentLin" presStyleCnt="0"/>
      <dgm:spPr/>
    </dgm:pt>
    <dgm:pt modelId="{0CB39582-B18F-475E-83B7-5752AEB020F6}" type="pres">
      <dgm:prSet presAssocID="{AB69BB8B-D700-4825-89F2-AD1E6EB50439}" presName="parentLeftMargin" presStyleLbl="node1" presStyleIdx="1" presStyleCnt="3"/>
      <dgm:spPr/>
      <dgm:t>
        <a:bodyPr/>
        <a:lstStyle/>
        <a:p>
          <a:endParaRPr lang="zh-CN" altLang="en-US"/>
        </a:p>
      </dgm:t>
    </dgm:pt>
    <dgm:pt modelId="{B94A1178-58A3-4330-BAEE-DE7FC8042298}" type="pres">
      <dgm:prSet presAssocID="{AB69BB8B-D700-4825-89F2-AD1E6EB50439}" presName="parentText" presStyleLbl="node1" presStyleIdx="2" presStyleCnt="3" custScaleY="236192" custLinFactX="7985" custLinFactNeighborX="100000" custLinFactNeighborY="-3812">
        <dgm:presLayoutVars>
          <dgm:chMax val="0"/>
          <dgm:bulletEnabled val="1"/>
        </dgm:presLayoutVars>
      </dgm:prSet>
      <dgm:spPr/>
      <dgm:t>
        <a:bodyPr/>
        <a:lstStyle/>
        <a:p>
          <a:endParaRPr lang="zh-CN" altLang="en-US"/>
        </a:p>
      </dgm:t>
    </dgm:pt>
    <dgm:pt modelId="{4D61C254-872C-46FA-B903-43F8AB6B4BFE}" type="pres">
      <dgm:prSet presAssocID="{AB69BB8B-D700-4825-89F2-AD1E6EB50439}" presName="negativeSpace" presStyleCnt="0"/>
      <dgm:spPr/>
    </dgm:pt>
    <dgm:pt modelId="{8B657809-DB4F-4544-98BC-9F7A8AB86A5D}" type="pres">
      <dgm:prSet presAssocID="{AB69BB8B-D700-4825-89F2-AD1E6EB50439}" presName="childText" presStyleLbl="conFgAcc1" presStyleIdx="2" presStyleCnt="3" custLinFactNeighborX="1569" custLinFactNeighborY="-6939">
        <dgm:presLayoutVars>
          <dgm:bulletEnabled val="1"/>
        </dgm:presLayoutVars>
      </dgm:prSet>
      <dgm:spPr>
        <a:solidFill>
          <a:srgbClr val="F3C97E">
            <a:alpha val="90000"/>
          </a:srgbClr>
        </a:solidFill>
      </dgm:spPr>
    </dgm:pt>
  </dgm:ptLst>
  <dgm:cxnLst>
    <dgm:cxn modelId="{13F13AA5-D816-441E-A7F5-68EAD9B7AEEC}" type="presOf" srcId="{AB69BB8B-D700-4825-89F2-AD1E6EB50439}" destId="{B94A1178-58A3-4330-BAEE-DE7FC8042298}" srcOrd="1" destOrd="0" presId="urn:microsoft.com/office/officeart/2005/8/layout/list1"/>
    <dgm:cxn modelId="{9F8DE1B0-3FDE-4292-B20C-CE27743399E2}" type="presOf" srcId="{BA771A27-99AE-4E65-941B-D1BEF3CA23B5}" destId="{54F61D1E-49AF-4AE8-B8AA-26EB80CD6E3C}" srcOrd="0" destOrd="0" presId="urn:microsoft.com/office/officeart/2005/8/layout/list1"/>
    <dgm:cxn modelId="{E2BFF222-F95F-482E-B274-9B708FB816CB}" type="presOf" srcId="{94778DB8-4656-48CB-BE96-8204ED9F83CD}" destId="{1131A86D-9DBD-479D-9FF8-41A849CD61B9}" srcOrd="1" destOrd="0" presId="urn:microsoft.com/office/officeart/2005/8/layout/list1"/>
    <dgm:cxn modelId="{4AF4B854-B030-4C3A-A9BB-F4E710A422CE}" type="presOf" srcId="{C3007863-BA82-44B0-8959-178D136C1FCF}" destId="{11A95D60-9C8F-4CDE-8F39-8E15EF538595}" srcOrd="0" destOrd="0" presId="urn:microsoft.com/office/officeart/2005/8/layout/list1"/>
    <dgm:cxn modelId="{E1B418C5-DCD0-409D-B590-C3C11A284F38}" srcId="{BA771A27-99AE-4E65-941B-D1BEF3CA23B5}" destId="{C3007863-BA82-44B0-8959-178D136C1FCF}" srcOrd="0" destOrd="0" parTransId="{8AB6479D-47D1-4BE2-9E54-A2685301E94D}" sibTransId="{E50E96CA-221E-47F2-99DD-357311504F54}"/>
    <dgm:cxn modelId="{EFE1E5A0-01A6-4D85-A2ED-556F9F29AF86}" type="presOf" srcId="{AB69BB8B-D700-4825-89F2-AD1E6EB50439}" destId="{0CB39582-B18F-475E-83B7-5752AEB020F6}" srcOrd="0" destOrd="0" presId="urn:microsoft.com/office/officeart/2005/8/layout/list1"/>
    <dgm:cxn modelId="{7A7FD469-3081-45A8-A0FA-38829E4DD818}" type="presOf" srcId="{C3007863-BA82-44B0-8959-178D136C1FCF}" destId="{0758A0E5-AD90-49F2-BC61-760F373B7133}" srcOrd="1" destOrd="0" presId="urn:microsoft.com/office/officeart/2005/8/layout/list1"/>
    <dgm:cxn modelId="{DAAA1A1D-100E-4C35-9EEF-47BC3968AEBD}" srcId="{BA771A27-99AE-4E65-941B-D1BEF3CA23B5}" destId="{AB69BB8B-D700-4825-89F2-AD1E6EB50439}" srcOrd="2" destOrd="0" parTransId="{6A208D80-E1AA-4B17-BB5B-C1870E4F1E57}" sibTransId="{A1CD3E2B-0EBC-4ACF-89E7-0420E3464C45}"/>
    <dgm:cxn modelId="{B7BC24D8-7A6A-485F-AC8E-6228FB105987}" srcId="{BA771A27-99AE-4E65-941B-D1BEF3CA23B5}" destId="{94778DB8-4656-48CB-BE96-8204ED9F83CD}" srcOrd="1" destOrd="0" parTransId="{D7553851-C4C9-41D2-8A56-88B857ED9AFD}" sibTransId="{A458B39A-2FD6-4BF5-8D12-B1BE82C40E81}"/>
    <dgm:cxn modelId="{54009ACC-A4EC-45BB-8364-86DE730BDAD3}" type="presOf" srcId="{94778DB8-4656-48CB-BE96-8204ED9F83CD}" destId="{9751BCD4-E1F7-4389-A113-D44EA51A6F52}" srcOrd="0" destOrd="0" presId="urn:microsoft.com/office/officeart/2005/8/layout/list1"/>
    <dgm:cxn modelId="{AA076044-D08C-4796-B6E8-A8DA5D3B0FFA}" type="presParOf" srcId="{54F61D1E-49AF-4AE8-B8AA-26EB80CD6E3C}" destId="{17FF336A-0437-45AE-85F2-BD6C0747735A}" srcOrd="0" destOrd="0" presId="urn:microsoft.com/office/officeart/2005/8/layout/list1"/>
    <dgm:cxn modelId="{4120E657-6E50-4CE5-B125-0CF713182ABF}" type="presParOf" srcId="{17FF336A-0437-45AE-85F2-BD6C0747735A}" destId="{11A95D60-9C8F-4CDE-8F39-8E15EF538595}" srcOrd="0" destOrd="0" presId="urn:microsoft.com/office/officeart/2005/8/layout/list1"/>
    <dgm:cxn modelId="{67167210-24A4-4D46-856B-201F0FA7AC8E}" type="presParOf" srcId="{17FF336A-0437-45AE-85F2-BD6C0747735A}" destId="{0758A0E5-AD90-49F2-BC61-760F373B7133}" srcOrd="1" destOrd="0" presId="urn:microsoft.com/office/officeart/2005/8/layout/list1"/>
    <dgm:cxn modelId="{57D04876-A5EC-4701-B7B7-528CC4103AE7}" type="presParOf" srcId="{54F61D1E-49AF-4AE8-B8AA-26EB80CD6E3C}" destId="{3A182D9C-2E91-431A-88B8-552240485358}" srcOrd="1" destOrd="0" presId="urn:microsoft.com/office/officeart/2005/8/layout/list1"/>
    <dgm:cxn modelId="{359F80C9-62D2-49D9-9B6C-5F6B9D6F0431}" type="presParOf" srcId="{54F61D1E-49AF-4AE8-B8AA-26EB80CD6E3C}" destId="{06050A2B-60ED-4227-B8D5-F133716CE33A}" srcOrd="2" destOrd="0" presId="urn:microsoft.com/office/officeart/2005/8/layout/list1"/>
    <dgm:cxn modelId="{02BABB9C-29EF-4116-B93A-249AD4638701}" type="presParOf" srcId="{54F61D1E-49AF-4AE8-B8AA-26EB80CD6E3C}" destId="{654449BD-9A04-4E4C-B261-C04EA1B878E5}" srcOrd="3" destOrd="0" presId="urn:microsoft.com/office/officeart/2005/8/layout/list1"/>
    <dgm:cxn modelId="{9134823E-F30F-4124-919D-B8F3944E138A}" type="presParOf" srcId="{54F61D1E-49AF-4AE8-B8AA-26EB80CD6E3C}" destId="{97B34363-AC46-4D19-BFE1-6A34B935F560}" srcOrd="4" destOrd="0" presId="urn:microsoft.com/office/officeart/2005/8/layout/list1"/>
    <dgm:cxn modelId="{0126372E-B1A8-4923-8E51-AD0182325E8B}" type="presParOf" srcId="{97B34363-AC46-4D19-BFE1-6A34B935F560}" destId="{9751BCD4-E1F7-4389-A113-D44EA51A6F52}" srcOrd="0" destOrd="0" presId="urn:microsoft.com/office/officeart/2005/8/layout/list1"/>
    <dgm:cxn modelId="{5188D0DF-EEF9-4BB7-8DED-8EEE16A49864}" type="presParOf" srcId="{97B34363-AC46-4D19-BFE1-6A34B935F560}" destId="{1131A86D-9DBD-479D-9FF8-41A849CD61B9}" srcOrd="1" destOrd="0" presId="urn:microsoft.com/office/officeart/2005/8/layout/list1"/>
    <dgm:cxn modelId="{29C6248F-69DF-4B92-B64C-18E55652FF91}" type="presParOf" srcId="{54F61D1E-49AF-4AE8-B8AA-26EB80CD6E3C}" destId="{C632E58C-6566-4A4B-9615-458A94D7FF50}" srcOrd="5" destOrd="0" presId="urn:microsoft.com/office/officeart/2005/8/layout/list1"/>
    <dgm:cxn modelId="{940BE5DF-6F22-41F3-A4C8-7D653C12E357}" type="presParOf" srcId="{54F61D1E-49AF-4AE8-B8AA-26EB80CD6E3C}" destId="{D8FBD999-9C66-4984-867E-ABD03361D7C0}" srcOrd="6" destOrd="0" presId="urn:microsoft.com/office/officeart/2005/8/layout/list1"/>
    <dgm:cxn modelId="{8FD73E0F-0630-4B22-BB91-6BFBAAFFC422}" type="presParOf" srcId="{54F61D1E-49AF-4AE8-B8AA-26EB80CD6E3C}" destId="{A8F11FCE-4736-4935-AFA0-F3163AD35F02}" srcOrd="7" destOrd="0" presId="urn:microsoft.com/office/officeart/2005/8/layout/list1"/>
    <dgm:cxn modelId="{B9523115-C9B7-43CD-BDFA-BB195A03D1C2}" type="presParOf" srcId="{54F61D1E-49AF-4AE8-B8AA-26EB80CD6E3C}" destId="{9CEDD862-F62F-4416-A411-DFFD977AF33D}" srcOrd="8" destOrd="0" presId="urn:microsoft.com/office/officeart/2005/8/layout/list1"/>
    <dgm:cxn modelId="{57378F05-D44F-4460-AD6C-548F3C9EB5C3}" type="presParOf" srcId="{9CEDD862-F62F-4416-A411-DFFD977AF33D}" destId="{0CB39582-B18F-475E-83B7-5752AEB020F6}" srcOrd="0" destOrd="0" presId="urn:microsoft.com/office/officeart/2005/8/layout/list1"/>
    <dgm:cxn modelId="{B0CE1CD8-3C0A-4036-BF5C-62FE99853946}" type="presParOf" srcId="{9CEDD862-F62F-4416-A411-DFFD977AF33D}" destId="{B94A1178-58A3-4330-BAEE-DE7FC8042298}" srcOrd="1" destOrd="0" presId="urn:microsoft.com/office/officeart/2005/8/layout/list1"/>
    <dgm:cxn modelId="{3999FCE7-514D-424D-BD83-8833833B11F9}" type="presParOf" srcId="{54F61D1E-49AF-4AE8-B8AA-26EB80CD6E3C}" destId="{4D61C254-872C-46FA-B903-43F8AB6B4BFE}" srcOrd="9" destOrd="0" presId="urn:microsoft.com/office/officeart/2005/8/layout/list1"/>
    <dgm:cxn modelId="{714FEC75-1AE3-42FB-8D12-8B1C9B58436D}" type="presParOf" srcId="{54F61D1E-49AF-4AE8-B8AA-26EB80CD6E3C}" destId="{8B657809-DB4F-4544-98BC-9F7A8AB86A5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050A2B-60ED-4227-B8D5-F133716CE33A}">
      <dsp:nvSpPr>
        <dsp:cNvPr id="0" name=""/>
        <dsp:cNvSpPr/>
      </dsp:nvSpPr>
      <dsp:spPr>
        <a:xfrm>
          <a:off x="0" y="821675"/>
          <a:ext cx="6096000" cy="428400"/>
        </a:xfrm>
        <a:prstGeom prst="rect">
          <a:avLst/>
        </a:prstGeom>
        <a:solidFill>
          <a:srgbClr val="F3C97E">
            <a:alpha val="9000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0758A0E5-AD90-49F2-BC61-760F373B7133}">
      <dsp:nvSpPr>
        <dsp:cNvPr id="0" name=""/>
        <dsp:cNvSpPr/>
      </dsp:nvSpPr>
      <dsp:spPr>
        <a:xfrm>
          <a:off x="949738" y="70666"/>
          <a:ext cx="4267200" cy="982798"/>
        </a:xfrm>
        <a:prstGeom prst="roundRect">
          <a:avLst/>
        </a:prstGeom>
        <a:solidFill>
          <a:schemeClr val="bg1"/>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zh-CN" altLang="en-US" sz="2000" b="0" kern="1200" dirty="0">
              <a:latin typeface="微软雅黑" panose="020B0503020204020204" pitchFamily="34" charset="-122"/>
              <a:ea typeface="微软雅黑" panose="020B0503020204020204" pitchFamily="34" charset="-122"/>
            </a:rPr>
            <a:t>市场机制下，要素的第一次分配按照边际生产力原则。</a:t>
          </a:r>
          <a:endParaRPr lang="zh-CN" altLang="en-US" sz="2000" b="0" kern="1200" dirty="0"/>
        </a:p>
      </dsp:txBody>
      <dsp:txXfrm>
        <a:off x="997714" y="118642"/>
        <a:ext cx="4171248" cy="886846"/>
      </dsp:txXfrm>
    </dsp:sp>
    <dsp:sp modelId="{D8FBD999-9C66-4984-867E-ABD03361D7C0}">
      <dsp:nvSpPr>
        <dsp:cNvPr id="0" name=""/>
        <dsp:cNvSpPr/>
      </dsp:nvSpPr>
      <dsp:spPr>
        <a:xfrm>
          <a:off x="0" y="2091217"/>
          <a:ext cx="6096000" cy="428400"/>
        </a:xfrm>
        <a:prstGeom prst="rect">
          <a:avLst/>
        </a:prstGeom>
        <a:solidFill>
          <a:srgbClr val="F3C97E">
            <a:alpha val="9000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1131A86D-9DBD-479D-9FF8-41A849CD61B9}">
      <dsp:nvSpPr>
        <dsp:cNvPr id="0" name=""/>
        <dsp:cNvSpPr/>
      </dsp:nvSpPr>
      <dsp:spPr>
        <a:xfrm>
          <a:off x="949738" y="1322744"/>
          <a:ext cx="4267200" cy="1000262"/>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zh-CN" altLang="en-US" sz="2000" b="0" kern="1200">
              <a:latin typeface="微软雅黑" panose="020B0503020204020204" pitchFamily="34" charset="-122"/>
              <a:ea typeface="微软雅黑" panose="020B0503020204020204" pitchFamily="34" charset="-122"/>
            </a:rPr>
            <a:t>要素的丰度及其生产力的差别会导致要素收益出现差别。</a:t>
          </a:r>
          <a:endParaRPr lang="zh-CN" altLang="en-US" sz="2000" b="0" kern="1200" dirty="0"/>
        </a:p>
      </dsp:txBody>
      <dsp:txXfrm>
        <a:off x="998567" y="1371573"/>
        <a:ext cx="4169542" cy="902604"/>
      </dsp:txXfrm>
    </dsp:sp>
    <dsp:sp modelId="{8B657809-DB4F-4544-98BC-9F7A8AB86A5D}">
      <dsp:nvSpPr>
        <dsp:cNvPr id="0" name=""/>
        <dsp:cNvSpPr/>
      </dsp:nvSpPr>
      <dsp:spPr>
        <a:xfrm>
          <a:off x="0" y="3528392"/>
          <a:ext cx="6096000" cy="428400"/>
        </a:xfrm>
        <a:prstGeom prst="rect">
          <a:avLst/>
        </a:prstGeom>
        <a:solidFill>
          <a:srgbClr val="F3C97E">
            <a:alpha val="9000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B94A1178-58A3-4330-BAEE-DE7FC8042298}">
      <dsp:nvSpPr>
        <dsp:cNvPr id="0" name=""/>
        <dsp:cNvSpPr/>
      </dsp:nvSpPr>
      <dsp:spPr>
        <a:xfrm>
          <a:off x="949407" y="2592287"/>
          <a:ext cx="4263032" cy="1185305"/>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zh-CN" altLang="en-US" sz="2000" b="0" kern="1200">
              <a:latin typeface="微软雅黑" panose="020B0503020204020204" pitchFamily="34" charset="-122"/>
              <a:ea typeface="微软雅黑" panose="020B0503020204020204" pitchFamily="34" charset="-122"/>
            </a:rPr>
            <a:t>不同人拥有的要素数量不同，也会导致初次收入分配出现差别。</a:t>
          </a:r>
          <a:endParaRPr lang="zh-CN" altLang="en-US" sz="2000" b="0" kern="1200" dirty="0"/>
        </a:p>
      </dsp:txBody>
      <dsp:txXfrm>
        <a:off x="1007269" y="2650149"/>
        <a:ext cx="4147308" cy="1069581"/>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B7E48D-E158-4B1A-8F32-9E97B48D88B5}" type="datetimeFigureOut">
              <a:rPr lang="zh-CN" altLang="en-US" smtClean="0"/>
              <a:t>2024/6/13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75BF31-D1A7-4229-AA10-AAAF516A4578}" type="slidenum">
              <a:rPr lang="zh-CN" altLang="en-US" smtClean="0"/>
              <a:t>‹#›</a:t>
            </a:fld>
            <a:endParaRPr lang="zh-CN" altLang="en-US"/>
          </a:p>
        </p:txBody>
      </p:sp>
    </p:spTree>
    <p:extLst>
      <p:ext uri="{BB962C8B-B14F-4D97-AF65-F5344CB8AC3E}">
        <p14:creationId xmlns:p14="http://schemas.microsoft.com/office/powerpoint/2010/main" val="1101765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75BF31-D1A7-4229-AA10-AAAF516A4578}" type="slidenum">
              <a:rPr lang="zh-CN" altLang="en-US" smtClean="0"/>
              <a:t>5</a:t>
            </a:fld>
            <a:endParaRPr lang="zh-CN" altLang="en-US"/>
          </a:p>
        </p:txBody>
      </p:sp>
    </p:spTree>
    <p:extLst>
      <p:ext uri="{BB962C8B-B14F-4D97-AF65-F5344CB8AC3E}">
        <p14:creationId xmlns:p14="http://schemas.microsoft.com/office/powerpoint/2010/main" val="997544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75BF31-D1A7-4229-AA10-AAAF516A4578}" type="slidenum">
              <a:rPr lang="zh-CN" altLang="en-US" smtClean="0"/>
              <a:t>12</a:t>
            </a:fld>
            <a:endParaRPr lang="zh-CN" altLang="en-US"/>
          </a:p>
        </p:txBody>
      </p:sp>
    </p:spTree>
    <p:extLst>
      <p:ext uri="{BB962C8B-B14F-4D97-AF65-F5344CB8AC3E}">
        <p14:creationId xmlns:p14="http://schemas.microsoft.com/office/powerpoint/2010/main" val="4251660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17</a:t>
            </a:fld>
            <a:endParaRPr lang="en-US" altLang="zh-CN"/>
          </a:p>
        </p:txBody>
      </p:sp>
    </p:spTree>
    <p:extLst>
      <p:ext uri="{BB962C8B-B14F-4D97-AF65-F5344CB8AC3E}">
        <p14:creationId xmlns:p14="http://schemas.microsoft.com/office/powerpoint/2010/main" val="3197361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19</a:t>
            </a:fld>
            <a:endParaRPr lang="en-US" altLang="zh-CN"/>
          </a:p>
        </p:txBody>
      </p:sp>
    </p:spTree>
    <p:extLst>
      <p:ext uri="{BB962C8B-B14F-4D97-AF65-F5344CB8AC3E}">
        <p14:creationId xmlns:p14="http://schemas.microsoft.com/office/powerpoint/2010/main" val="2420742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26</a:t>
            </a:fld>
            <a:endParaRPr lang="en-US" altLang="zh-CN"/>
          </a:p>
        </p:txBody>
      </p:sp>
    </p:spTree>
    <p:extLst>
      <p:ext uri="{BB962C8B-B14F-4D97-AF65-F5344CB8AC3E}">
        <p14:creationId xmlns:p14="http://schemas.microsoft.com/office/powerpoint/2010/main" val="1678169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28</a:t>
            </a:fld>
            <a:endParaRPr lang="en-US" altLang="zh-CN"/>
          </a:p>
        </p:txBody>
      </p:sp>
    </p:spTree>
    <p:extLst>
      <p:ext uri="{BB962C8B-B14F-4D97-AF65-F5344CB8AC3E}">
        <p14:creationId xmlns:p14="http://schemas.microsoft.com/office/powerpoint/2010/main" val="484232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30</a:t>
            </a:fld>
            <a:endParaRPr lang="en-US" altLang="zh-CN"/>
          </a:p>
        </p:txBody>
      </p:sp>
    </p:spTree>
    <p:extLst>
      <p:ext uri="{BB962C8B-B14F-4D97-AF65-F5344CB8AC3E}">
        <p14:creationId xmlns:p14="http://schemas.microsoft.com/office/powerpoint/2010/main" val="2263129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32</a:t>
            </a:fld>
            <a:endParaRPr lang="en-US" altLang="zh-CN"/>
          </a:p>
        </p:txBody>
      </p:sp>
    </p:spTree>
    <p:extLst>
      <p:ext uri="{BB962C8B-B14F-4D97-AF65-F5344CB8AC3E}">
        <p14:creationId xmlns:p14="http://schemas.microsoft.com/office/powerpoint/2010/main" val="702129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37</a:t>
            </a:fld>
            <a:endParaRPr lang="en-US" altLang="zh-CN"/>
          </a:p>
        </p:txBody>
      </p:sp>
    </p:spTree>
    <p:extLst>
      <p:ext uri="{BB962C8B-B14F-4D97-AF65-F5344CB8AC3E}">
        <p14:creationId xmlns:p14="http://schemas.microsoft.com/office/powerpoint/2010/main" val="655147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41</a:t>
            </a:fld>
            <a:endParaRPr lang="en-US" altLang="zh-CN"/>
          </a:p>
        </p:txBody>
      </p:sp>
    </p:spTree>
    <p:extLst>
      <p:ext uri="{BB962C8B-B14F-4D97-AF65-F5344CB8AC3E}">
        <p14:creationId xmlns:p14="http://schemas.microsoft.com/office/powerpoint/2010/main" val="335267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75BF31-D1A7-4229-AA10-AAAF516A4578}" type="slidenum">
              <a:rPr lang="zh-CN" altLang="en-US" smtClean="0"/>
              <a:t>59</a:t>
            </a:fld>
            <a:endParaRPr lang="zh-CN" altLang="en-US"/>
          </a:p>
        </p:txBody>
      </p:sp>
    </p:spTree>
    <p:extLst>
      <p:ext uri="{BB962C8B-B14F-4D97-AF65-F5344CB8AC3E}">
        <p14:creationId xmlns:p14="http://schemas.microsoft.com/office/powerpoint/2010/main" val="1856563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56133EF-C8B9-48FE-B5DA-4828CDA7C8F3}" type="slidenum">
              <a:rPr lang="en-US" altLang="zh-CN"/>
              <a:pPr>
                <a:spcBef>
                  <a:spcPct val="0"/>
                </a:spcBef>
              </a:pPr>
              <a:t>65</a:t>
            </a:fld>
            <a:endParaRPr lang="en-US" altLang="zh-CN"/>
          </a:p>
        </p:txBody>
      </p:sp>
      <p:sp>
        <p:nvSpPr>
          <p:cNvPr id="437251" name="Rectangle 2"/>
          <p:cNvSpPr>
            <a:spLocks noGrp="1" noRot="1" noChangeAspect="1" noChangeArrowheads="1" noTextEdit="1"/>
          </p:cNvSpPr>
          <p:nvPr>
            <p:ph type="sldImg"/>
          </p:nvPr>
        </p:nvSpPr>
        <p:spPr>
          <a:ln/>
        </p:spPr>
      </p:sp>
      <p:sp>
        <p:nvSpPr>
          <p:cNvPr id="437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Markets in railway station and traveling palace are full of Inferior goods.</a:t>
            </a:r>
          </a:p>
        </p:txBody>
      </p:sp>
    </p:spTree>
    <p:extLst>
      <p:ext uri="{BB962C8B-B14F-4D97-AF65-F5344CB8AC3E}">
        <p14:creationId xmlns:p14="http://schemas.microsoft.com/office/powerpoint/2010/main" val="204395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56133EF-C8B9-48FE-B5DA-4828CDA7C8F3}" type="slidenum">
              <a:rPr lang="en-US" altLang="zh-CN"/>
              <a:pPr>
                <a:spcBef>
                  <a:spcPct val="0"/>
                </a:spcBef>
              </a:pPr>
              <a:t>66</a:t>
            </a:fld>
            <a:endParaRPr lang="en-US" altLang="zh-CN"/>
          </a:p>
        </p:txBody>
      </p:sp>
      <p:sp>
        <p:nvSpPr>
          <p:cNvPr id="437251" name="Rectangle 2"/>
          <p:cNvSpPr>
            <a:spLocks noGrp="1" noRot="1" noChangeAspect="1" noChangeArrowheads="1" noTextEdit="1"/>
          </p:cNvSpPr>
          <p:nvPr>
            <p:ph type="sldImg"/>
          </p:nvPr>
        </p:nvSpPr>
        <p:spPr>
          <a:ln/>
        </p:spPr>
      </p:sp>
      <p:sp>
        <p:nvSpPr>
          <p:cNvPr id="437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Markets in railway station and traveling palace are full of Inferior goods.</a:t>
            </a:r>
          </a:p>
        </p:txBody>
      </p:sp>
    </p:spTree>
    <p:extLst>
      <p:ext uri="{BB962C8B-B14F-4D97-AF65-F5344CB8AC3E}">
        <p14:creationId xmlns:p14="http://schemas.microsoft.com/office/powerpoint/2010/main" val="4107382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5D659E1-7D96-41CD-A199-4CCE15263205}" type="slidenum">
              <a:rPr lang="en-US" altLang="zh-CN"/>
              <a:pPr>
                <a:spcBef>
                  <a:spcPct val="0"/>
                </a:spcBef>
              </a:pPr>
              <a:t>67</a:t>
            </a:fld>
            <a:endParaRPr lang="en-US" altLang="zh-CN"/>
          </a:p>
        </p:txBody>
      </p:sp>
      <p:sp>
        <p:nvSpPr>
          <p:cNvPr id="439299" name="Rectangle 2"/>
          <p:cNvSpPr>
            <a:spLocks noGrp="1" noRot="1" noChangeAspect="1" noChangeArrowheads="1" noTextEdit="1"/>
          </p:cNvSpPr>
          <p:nvPr>
            <p:ph type="sldImg"/>
          </p:nvPr>
        </p:nvSpPr>
        <p:spPr>
          <a:solidFill>
            <a:srgbClr val="FFFFFF"/>
          </a:solidFill>
          <a:ln/>
        </p:spPr>
      </p:sp>
      <p:sp>
        <p:nvSpPr>
          <p:cNvPr id="439300"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dirty="0"/>
              <a:t>预购从速与欲购从速</a:t>
            </a:r>
          </a:p>
        </p:txBody>
      </p:sp>
    </p:spTree>
    <p:extLst>
      <p:ext uri="{BB962C8B-B14F-4D97-AF65-F5344CB8AC3E}">
        <p14:creationId xmlns:p14="http://schemas.microsoft.com/office/powerpoint/2010/main" val="1030906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关注点：武汉科技大学排名靠后；当时的考试存在问题，管理不严格；英语与工作性质无关；专科获得奖励比本科减少</a:t>
            </a:r>
            <a:endParaRPr lang="en-US" altLang="zh-CN" dirty="0"/>
          </a:p>
          <a:p>
            <a:r>
              <a:rPr lang="zh-CN" altLang="en-US" dirty="0"/>
              <a:t>关注点：武科大教师的观点，似是而非，虚而不实。看似正确，实则偏颇。</a:t>
            </a:r>
          </a:p>
        </p:txBody>
      </p:sp>
      <p:sp>
        <p:nvSpPr>
          <p:cNvPr id="4" name="灯片编号占位符 3"/>
          <p:cNvSpPr>
            <a:spLocks noGrp="1"/>
          </p:cNvSpPr>
          <p:nvPr>
            <p:ph type="sldNum" sz="quarter" idx="10"/>
          </p:nvPr>
        </p:nvSpPr>
        <p:spPr/>
        <p:txBody>
          <a:bodyPr/>
          <a:lstStyle/>
          <a:p>
            <a:pPr>
              <a:defRPr/>
            </a:pPr>
            <a:fld id="{FA9418AA-E581-4F71-8131-B254681F98F5}" type="slidenum">
              <a:rPr lang="en-US" altLang="zh-CN" smtClean="0"/>
              <a:pPr>
                <a:defRPr/>
              </a:pPr>
              <a:t>72</a:t>
            </a:fld>
            <a:endParaRPr lang="en-US" altLang="zh-CN"/>
          </a:p>
        </p:txBody>
      </p:sp>
    </p:spTree>
    <p:extLst>
      <p:ext uri="{BB962C8B-B14F-4D97-AF65-F5344CB8AC3E}">
        <p14:creationId xmlns:p14="http://schemas.microsoft.com/office/powerpoint/2010/main" val="1113280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225DE33-9E37-49BC-B53A-8EB21D2BEBD8}" type="slidenum">
              <a:rPr lang="en-US" altLang="zh-CN" smtClean="0"/>
              <a:pPr>
                <a:defRPr/>
              </a:pPr>
              <a:t>74</a:t>
            </a:fld>
            <a:endParaRPr lang="en-US" altLang="zh-CN"/>
          </a:p>
        </p:txBody>
      </p:sp>
    </p:spTree>
    <p:extLst>
      <p:ext uri="{BB962C8B-B14F-4D97-AF65-F5344CB8AC3E}">
        <p14:creationId xmlns:p14="http://schemas.microsoft.com/office/powerpoint/2010/main" val="3678771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E27D700-6E0D-499D-8D1E-5AD0DF882098}" type="slidenum">
              <a:rPr lang="en-US" altLang="zh-CN"/>
              <a:pPr/>
              <a:t>‹#›</a:t>
            </a:fld>
            <a:endParaRPr lang="en-US" altLang="zh-CN"/>
          </a:p>
        </p:txBody>
      </p:sp>
    </p:spTree>
    <p:extLst>
      <p:ext uri="{BB962C8B-B14F-4D97-AF65-F5344CB8AC3E}">
        <p14:creationId xmlns:p14="http://schemas.microsoft.com/office/powerpoint/2010/main" val="1151784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28BA73C-AC6D-4988-9DF0-4B4F517396F4}" type="slidenum">
              <a:rPr lang="en-US" altLang="zh-CN"/>
              <a:pPr/>
              <a:t>‹#›</a:t>
            </a:fld>
            <a:endParaRPr lang="en-US" altLang="zh-CN"/>
          </a:p>
        </p:txBody>
      </p:sp>
    </p:spTree>
    <p:extLst>
      <p:ext uri="{BB962C8B-B14F-4D97-AF65-F5344CB8AC3E}">
        <p14:creationId xmlns:p14="http://schemas.microsoft.com/office/powerpoint/2010/main" val="3284647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6FA7F63-71AC-4BC9-A004-FD8E5BD21DC8}" type="slidenum">
              <a:rPr lang="en-US" altLang="zh-CN"/>
              <a:pPr/>
              <a:t>‹#›</a:t>
            </a:fld>
            <a:endParaRPr lang="en-US" altLang="zh-CN"/>
          </a:p>
        </p:txBody>
      </p:sp>
    </p:spTree>
    <p:extLst>
      <p:ext uri="{BB962C8B-B14F-4D97-AF65-F5344CB8AC3E}">
        <p14:creationId xmlns:p14="http://schemas.microsoft.com/office/powerpoint/2010/main" val="2638881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D2258AB-8F46-45BD-ABA2-F2E175024FCF}" type="slidenum">
              <a:rPr lang="en-US" altLang="zh-CN"/>
              <a:pPr/>
              <a:t>‹#›</a:t>
            </a:fld>
            <a:endParaRPr lang="en-US" altLang="zh-CN"/>
          </a:p>
        </p:txBody>
      </p:sp>
    </p:spTree>
    <p:extLst>
      <p:ext uri="{BB962C8B-B14F-4D97-AF65-F5344CB8AC3E}">
        <p14:creationId xmlns:p14="http://schemas.microsoft.com/office/powerpoint/2010/main" val="3104989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76F865C2-4F16-47C0-9951-1CC2AF8C084D}" type="slidenum">
              <a:rPr lang="en-US" altLang="zh-CN"/>
              <a:pPr/>
              <a:t>‹#›</a:t>
            </a:fld>
            <a:endParaRPr lang="en-US" altLang="zh-CN"/>
          </a:p>
        </p:txBody>
      </p:sp>
    </p:spTree>
    <p:extLst>
      <p:ext uri="{BB962C8B-B14F-4D97-AF65-F5344CB8AC3E}">
        <p14:creationId xmlns:p14="http://schemas.microsoft.com/office/powerpoint/2010/main" val="2824903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7C773042-DDF0-43D1-B9EE-151934901444}" type="slidenum">
              <a:rPr lang="en-US" altLang="zh-CN"/>
              <a:pPr/>
              <a:t>‹#›</a:t>
            </a:fld>
            <a:endParaRPr lang="en-US" altLang="zh-CN"/>
          </a:p>
        </p:txBody>
      </p:sp>
    </p:spTree>
    <p:extLst>
      <p:ext uri="{BB962C8B-B14F-4D97-AF65-F5344CB8AC3E}">
        <p14:creationId xmlns:p14="http://schemas.microsoft.com/office/powerpoint/2010/main" val="964121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B73DE556-9E81-4D92-AB86-EEA705975D0B}" type="slidenum">
              <a:rPr lang="en-US" altLang="zh-CN"/>
              <a:pPr/>
              <a:t>‹#›</a:t>
            </a:fld>
            <a:endParaRPr lang="en-US" altLang="zh-CN"/>
          </a:p>
        </p:txBody>
      </p:sp>
    </p:spTree>
    <p:extLst>
      <p:ext uri="{BB962C8B-B14F-4D97-AF65-F5344CB8AC3E}">
        <p14:creationId xmlns:p14="http://schemas.microsoft.com/office/powerpoint/2010/main" val="3688982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7A03544-3AF8-4813-99BE-E5133D5BA1A3}" type="slidenum">
              <a:rPr lang="en-US" altLang="zh-CN"/>
              <a:pPr/>
              <a:t>‹#›</a:t>
            </a:fld>
            <a:endParaRPr lang="en-US" altLang="zh-CN"/>
          </a:p>
        </p:txBody>
      </p:sp>
    </p:spTree>
    <p:extLst>
      <p:ext uri="{BB962C8B-B14F-4D97-AF65-F5344CB8AC3E}">
        <p14:creationId xmlns:p14="http://schemas.microsoft.com/office/powerpoint/2010/main" val="1820151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6158405-203A-43BF-95B3-E746E58C1E60}" type="slidenum">
              <a:rPr lang="en-US" altLang="zh-CN"/>
              <a:pPr/>
              <a:t>‹#›</a:t>
            </a:fld>
            <a:endParaRPr lang="en-US" altLang="zh-CN"/>
          </a:p>
        </p:txBody>
      </p:sp>
    </p:spTree>
    <p:extLst>
      <p:ext uri="{BB962C8B-B14F-4D97-AF65-F5344CB8AC3E}">
        <p14:creationId xmlns:p14="http://schemas.microsoft.com/office/powerpoint/2010/main" val="1877943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A8BAC43-F22F-46AB-BEBA-140D04CFD3F7}" type="slidenum">
              <a:rPr lang="en-US" altLang="zh-CN"/>
              <a:pPr/>
              <a:t>‹#›</a:t>
            </a:fld>
            <a:endParaRPr lang="en-US" altLang="zh-CN"/>
          </a:p>
        </p:txBody>
      </p:sp>
    </p:spTree>
    <p:extLst>
      <p:ext uri="{BB962C8B-B14F-4D97-AF65-F5344CB8AC3E}">
        <p14:creationId xmlns:p14="http://schemas.microsoft.com/office/powerpoint/2010/main" val="4135091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ECDCBDE-E17B-4DFF-BA46-18BFC21EE0FD}" type="slidenum">
              <a:rPr lang="en-US" altLang="zh-CN"/>
              <a:pPr/>
              <a:t>‹#›</a:t>
            </a:fld>
            <a:endParaRPr lang="en-US" altLang="zh-CN"/>
          </a:p>
        </p:txBody>
      </p:sp>
    </p:spTree>
    <p:extLst>
      <p:ext uri="{BB962C8B-B14F-4D97-AF65-F5344CB8AC3E}">
        <p14:creationId xmlns:p14="http://schemas.microsoft.com/office/powerpoint/2010/main" val="1520239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4EBC8D7-6A95-4436-B84C-EAB77237BEE3}" type="slidenum">
              <a:rPr lang="en-US" altLang="zh-CN"/>
              <a:pPr/>
              <a:t>‹#›</a:t>
            </a:fld>
            <a:endParaRPr lang="en-US" altLang="zh-CN"/>
          </a:p>
        </p:txBody>
      </p:sp>
    </p:spTree>
    <p:extLst>
      <p:ext uri="{BB962C8B-B14F-4D97-AF65-F5344CB8AC3E}">
        <p14:creationId xmlns:p14="http://schemas.microsoft.com/office/powerpoint/2010/main" val="1220229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28F41B4-CA3F-4111-B06F-568C915E53B5}" type="slidenum">
              <a:rPr lang="en-US" altLang="zh-CN"/>
              <a:pPr/>
              <a:t>‹#›</a:t>
            </a:fld>
            <a:endParaRPr lang="en-US" altLang="zh-CN"/>
          </a:p>
        </p:txBody>
      </p:sp>
    </p:spTree>
    <p:extLst>
      <p:ext uri="{BB962C8B-B14F-4D97-AF65-F5344CB8AC3E}">
        <p14:creationId xmlns:p14="http://schemas.microsoft.com/office/powerpoint/2010/main" val="3099450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7B0A7DF-D999-4655-8F10-CCF87AD4DE8E}" type="slidenum">
              <a:rPr lang="en-US" altLang="zh-CN"/>
              <a:pPr/>
              <a:t>‹#›</a:t>
            </a:fld>
            <a:endParaRPr lang="en-US" altLang="zh-CN"/>
          </a:p>
        </p:txBody>
      </p:sp>
    </p:spTree>
    <p:extLst>
      <p:ext uri="{BB962C8B-B14F-4D97-AF65-F5344CB8AC3E}">
        <p14:creationId xmlns:p14="http://schemas.microsoft.com/office/powerpoint/2010/main" val="4171803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9CBA763-F35A-4B3C-98BB-6DAA5D393865}" type="slidenum">
              <a:rPr lang="en-US" altLang="zh-CN"/>
              <a:pPr/>
              <a:t>‹#›</a:t>
            </a:fld>
            <a:endParaRPr lang="en-US" altLang="zh-CN"/>
          </a:p>
        </p:txBody>
      </p:sp>
    </p:spTree>
    <p:extLst>
      <p:ext uri="{BB962C8B-B14F-4D97-AF65-F5344CB8AC3E}">
        <p14:creationId xmlns:p14="http://schemas.microsoft.com/office/powerpoint/2010/main" val="1029635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45DD4917-76F7-4267-9BD9-4F4B54034EA0}" type="slidenum">
              <a:rPr lang="en-US" altLang="zh-CN"/>
              <a:pPr/>
              <a:t>‹#›</a:t>
            </a:fld>
            <a:endParaRPr lang="en-US" altLang="zh-CN"/>
          </a:p>
        </p:txBody>
      </p:sp>
    </p:spTree>
    <p:extLst>
      <p:ext uri="{BB962C8B-B14F-4D97-AF65-F5344CB8AC3E}">
        <p14:creationId xmlns:p14="http://schemas.microsoft.com/office/powerpoint/2010/main" val="1861865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18C18D1-BDA6-4B96-9A67-4B407F200C7E}" type="slidenum">
              <a:rPr lang="en-US" altLang="zh-CN"/>
              <a:pPr/>
              <a:t>‹#›</a:t>
            </a:fld>
            <a:endParaRPr lang="en-US" altLang="zh-CN"/>
          </a:p>
        </p:txBody>
      </p:sp>
    </p:spTree>
    <p:extLst>
      <p:ext uri="{BB962C8B-B14F-4D97-AF65-F5344CB8AC3E}">
        <p14:creationId xmlns:p14="http://schemas.microsoft.com/office/powerpoint/2010/main" val="11522860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DE0DC4BF-2584-4B11-9C16-D43D73F10B0F}" type="slidenum">
              <a:rPr lang="en-US" altLang="zh-CN"/>
              <a:pPr/>
              <a:t>‹#›</a:t>
            </a:fld>
            <a:endParaRPr lang="en-US" altLang="zh-CN"/>
          </a:p>
        </p:txBody>
      </p:sp>
    </p:spTree>
    <p:extLst>
      <p:ext uri="{BB962C8B-B14F-4D97-AF65-F5344CB8AC3E}">
        <p14:creationId xmlns:p14="http://schemas.microsoft.com/office/powerpoint/2010/main" val="986812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FDB426A-11E5-4462-BC46-18C8C38A4815}" type="slidenum">
              <a:rPr lang="en-US" altLang="zh-CN"/>
              <a:pPr/>
              <a:t>‹#›</a:t>
            </a:fld>
            <a:endParaRPr lang="en-US" altLang="zh-CN"/>
          </a:p>
        </p:txBody>
      </p:sp>
    </p:spTree>
    <p:extLst>
      <p:ext uri="{BB962C8B-B14F-4D97-AF65-F5344CB8AC3E}">
        <p14:creationId xmlns:p14="http://schemas.microsoft.com/office/powerpoint/2010/main" val="1716081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BC2BF6B-B246-4689-AE6D-68F73B27AC60}" type="slidenum">
              <a:rPr lang="en-US" altLang="zh-CN"/>
              <a:pPr/>
              <a:t>‹#›</a:t>
            </a:fld>
            <a:endParaRPr lang="en-US" altLang="zh-CN"/>
          </a:p>
        </p:txBody>
      </p:sp>
    </p:spTree>
    <p:extLst>
      <p:ext uri="{BB962C8B-B14F-4D97-AF65-F5344CB8AC3E}">
        <p14:creationId xmlns:p14="http://schemas.microsoft.com/office/powerpoint/2010/main" val="7215497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B4DF7A1-52C7-4630-9D35-BB72BB27A77B}" type="slidenum">
              <a:rPr lang="en-US" altLang="zh-CN"/>
              <a:pPr/>
              <a:t>‹#›</a:t>
            </a:fld>
            <a:endParaRPr lang="en-US" altLang="zh-CN"/>
          </a:p>
        </p:txBody>
      </p:sp>
    </p:spTree>
    <p:extLst>
      <p:ext uri="{BB962C8B-B14F-4D97-AF65-F5344CB8AC3E}">
        <p14:creationId xmlns:p14="http://schemas.microsoft.com/office/powerpoint/2010/main" val="15447730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E548012-FA37-4073-A11D-44C4B639326A}" type="slidenum">
              <a:rPr lang="en-US" altLang="zh-CN"/>
              <a:pPr/>
              <a:t>‹#›</a:t>
            </a:fld>
            <a:endParaRPr lang="en-US" altLang="zh-CN"/>
          </a:p>
        </p:txBody>
      </p:sp>
    </p:spTree>
    <p:extLst>
      <p:ext uri="{BB962C8B-B14F-4D97-AF65-F5344CB8AC3E}">
        <p14:creationId xmlns:p14="http://schemas.microsoft.com/office/powerpoint/2010/main" val="2624495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rgbClr val="000000"/>
                </a:solidFill>
              </a:defRPr>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solidFill>
                  <a:srgbClr val="000000"/>
                </a:solidFill>
              </a:defRPr>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solidFill>
                  <a:srgbClr val="000000"/>
                </a:solidFill>
              </a:defRPr>
            </a:lvl1pPr>
          </a:lstStyle>
          <a:p>
            <a:fld id="{D160FE11-8B16-4E1C-995B-88D059152888}"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2051"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2052"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rgbClr val="000000"/>
                </a:solidFill>
              </a:defRPr>
            </a:lvl1pPr>
          </a:lstStyle>
          <a:p>
            <a:endParaRPr lang="en-US" altLang="zh-CN"/>
          </a:p>
        </p:txBody>
      </p:sp>
      <p:sp>
        <p:nvSpPr>
          <p:cNvPr id="2053"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solidFill>
                  <a:srgbClr val="000000"/>
                </a:solidFill>
              </a:defRPr>
            </a:lvl1pPr>
          </a:lstStyle>
          <a:p>
            <a:endParaRPr lang="en-US" altLang="zh-CN"/>
          </a:p>
        </p:txBody>
      </p:sp>
      <p:sp>
        <p:nvSpPr>
          <p:cNvPr id="2054"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solidFill>
                  <a:srgbClr val="000000"/>
                </a:solidFill>
              </a:defRPr>
            </a:lvl1pPr>
          </a:lstStyle>
          <a:p>
            <a:fld id="{A3245849-04CE-4CF4-A289-0937B466BFF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tags" Target="../tags/tag19.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slideLayout" Target="../slideLayouts/slideLayout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0" Type="http://schemas.openxmlformats.org/officeDocument/2006/relationships/tags" Target="../tags/tag21.xml"/><Relationship Id="rId4" Type="http://schemas.openxmlformats.org/officeDocument/2006/relationships/tags" Target="../tags/tag15.xml"/><Relationship Id="rId9" Type="http://schemas.openxmlformats.org/officeDocument/2006/relationships/tags" Target="../tags/tag20.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image" Target="../media/image560.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1.png"/></Relationships>
</file>

<file path=ppt/slides/_rels/slide5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slideLayout" Target="../slideLayouts/slideLayout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8" Type="http://schemas.openxmlformats.org/officeDocument/2006/relationships/tags" Target="../tags/tag49.xml"/><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slideLayout" Target="../slideLayouts/slideLayout7.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0" Type="http://schemas.openxmlformats.org/officeDocument/2006/relationships/tags" Target="../tags/tag51.xml"/><Relationship Id="rId4" Type="http://schemas.openxmlformats.org/officeDocument/2006/relationships/tags" Target="../tags/tag45.xml"/><Relationship Id="rId9" Type="http://schemas.openxmlformats.org/officeDocument/2006/relationships/tags" Target="../tags/tag50.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26" Type="http://schemas.openxmlformats.org/officeDocument/2006/relationships/image" Target="../media/image93.png"/><Relationship Id="rId3" Type="http://schemas.openxmlformats.org/officeDocument/2006/relationships/image" Target="../media/image70.png"/><Relationship Id="rId21" Type="http://schemas.openxmlformats.org/officeDocument/2006/relationships/image" Target="../media/image88.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5" Type="http://schemas.openxmlformats.org/officeDocument/2006/relationships/image" Target="../media/image92.png"/><Relationship Id="rId2" Type="http://schemas.openxmlformats.org/officeDocument/2006/relationships/image" Target="../media/image69.png"/><Relationship Id="rId16" Type="http://schemas.openxmlformats.org/officeDocument/2006/relationships/image" Target="../media/image83.png"/><Relationship Id="rId20" Type="http://schemas.openxmlformats.org/officeDocument/2006/relationships/image" Target="../media/image87.png"/><Relationship Id="rId1" Type="http://schemas.openxmlformats.org/officeDocument/2006/relationships/slideLayout" Target="../slideLayouts/slideLayout7.xml"/><Relationship Id="rId6" Type="http://schemas.openxmlformats.org/officeDocument/2006/relationships/image" Target="../media/image73.png"/><Relationship Id="rId11" Type="http://schemas.openxmlformats.org/officeDocument/2006/relationships/image" Target="../media/image78.png"/><Relationship Id="rId24" Type="http://schemas.openxmlformats.org/officeDocument/2006/relationships/image" Target="../media/image91.png"/><Relationship Id="rId5" Type="http://schemas.openxmlformats.org/officeDocument/2006/relationships/image" Target="../media/image72.png"/><Relationship Id="rId15" Type="http://schemas.openxmlformats.org/officeDocument/2006/relationships/image" Target="../media/image82.png"/><Relationship Id="rId23" Type="http://schemas.openxmlformats.org/officeDocument/2006/relationships/image" Target="../media/image90.png"/><Relationship Id="rId10" Type="http://schemas.openxmlformats.org/officeDocument/2006/relationships/image" Target="../media/image77.png"/><Relationship Id="rId19" Type="http://schemas.openxmlformats.org/officeDocument/2006/relationships/image" Target="../media/image86.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 Id="rId22" Type="http://schemas.openxmlformats.org/officeDocument/2006/relationships/image" Target="../media/image89.png"/><Relationship Id="rId27" Type="http://schemas.openxmlformats.org/officeDocument/2006/relationships/image" Target="../media/image94.png"/></Relationships>
</file>

<file path=ppt/slides/_rels/slide8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83.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7.png"/><Relationship Id="rId3" Type="http://schemas.openxmlformats.org/officeDocument/2006/relationships/image" Target="../media/image100.png"/><Relationship Id="rId7" Type="http://schemas.openxmlformats.org/officeDocument/2006/relationships/image" Target="../media/image98.png"/><Relationship Id="rId12" Type="http://schemas.openxmlformats.org/officeDocument/2006/relationships/image" Target="../media/image106.png"/><Relationship Id="rId2" Type="http://schemas.openxmlformats.org/officeDocument/2006/relationships/image" Target="../media/image96.png"/><Relationship Id="rId1" Type="http://schemas.openxmlformats.org/officeDocument/2006/relationships/slideLayout" Target="../slideLayouts/slideLayout7.xml"/><Relationship Id="rId6" Type="http://schemas.openxmlformats.org/officeDocument/2006/relationships/image" Target="../media/image102.png"/><Relationship Id="rId11" Type="http://schemas.openxmlformats.org/officeDocument/2006/relationships/image" Target="../media/image105.png"/><Relationship Id="rId5" Type="http://schemas.openxmlformats.org/officeDocument/2006/relationships/image" Target="../media/image101.png"/><Relationship Id="rId10" Type="http://schemas.openxmlformats.org/officeDocument/2006/relationships/image" Target="../media/image104.png"/><Relationship Id="rId4" Type="http://schemas.openxmlformats.org/officeDocument/2006/relationships/image" Target="../media/image97.png"/><Relationship Id="rId9" Type="http://schemas.openxmlformats.org/officeDocument/2006/relationships/image" Target="../media/image103.png"/></Relationships>
</file>

<file path=ppt/slides/_rels/slide8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5122" name="Rectangle 3"/>
          <p:cNvSpPr>
            <a:spLocks noGrp="1" noChangeArrowheads="1"/>
          </p:cNvSpPr>
          <p:nvPr>
            <p:ph type="subTitle" idx="4294967295"/>
          </p:nvPr>
        </p:nvSpPr>
        <p:spPr>
          <a:xfrm>
            <a:off x="1106921" y="2708920"/>
            <a:ext cx="6930157" cy="936625"/>
          </a:xfrm>
          <a:noFill/>
        </p:spPr>
        <p:txBody>
          <a:bodyPr/>
          <a:lstStyle/>
          <a:p>
            <a:pPr marL="0" indent="0" algn="ctr" eaLnBrk="1" hangingPunct="1">
              <a:buFontTx/>
              <a:buNone/>
            </a:pPr>
            <a:r>
              <a:rPr lang="zh-CN" altLang="zh-CN" sz="3600" b="0" dirty="0">
                <a:solidFill>
                  <a:schemeClr val="tx1"/>
                </a:solidFill>
                <a:latin typeface="微软雅黑" panose="020B0503020204020204" pitchFamily="34" charset="-122"/>
                <a:ea typeface="微软雅黑" panose="020B0503020204020204" pitchFamily="34" charset="-122"/>
              </a:rPr>
              <a:t>第八章  市场失灵和微观经济政策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Effect transition="in" filter="blinds(horizontal)">
                                      <p:cBhvr>
                                        <p:cTn id="7" dur="500"/>
                                        <p:tgtEl>
                                          <p:spTgt spid="51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656CDE9A-A269-42EF-B8E0-541D4AA23F17}"/>
              </a:ext>
            </a:extLst>
          </p:cNvPr>
          <p:cNvGrpSpPr/>
          <p:nvPr/>
        </p:nvGrpSpPr>
        <p:grpSpPr>
          <a:xfrm>
            <a:off x="4479996" y="891094"/>
            <a:ext cx="4664004" cy="1889834"/>
            <a:chOff x="4479996" y="891094"/>
            <a:chExt cx="4664004" cy="1889834"/>
          </a:xfrm>
        </p:grpSpPr>
        <p:sp>
          <p:nvSpPr>
            <p:cNvPr id="8" name="标注: 线形 7">
              <a:extLst>
                <a:ext uri="{FF2B5EF4-FFF2-40B4-BE49-F238E27FC236}">
                  <a16:creationId xmlns:a16="http://schemas.microsoft.com/office/drawing/2014/main" id="{A19E09E9-FA78-44D7-BCAC-A429484CAC2B}"/>
                </a:ext>
              </a:extLst>
            </p:cNvPr>
            <p:cNvSpPr/>
            <p:nvPr/>
          </p:nvSpPr>
          <p:spPr bwMode="auto">
            <a:xfrm>
              <a:off x="4479996" y="980728"/>
              <a:ext cx="4412483" cy="1800200"/>
            </a:xfrm>
            <a:prstGeom prst="borderCallout1">
              <a:avLst>
                <a:gd name="adj1" fmla="val 50886"/>
                <a:gd name="adj2" fmla="val 533"/>
                <a:gd name="adj3" fmla="val 50655"/>
                <a:gd name="adj4" fmla="val -35217"/>
              </a:avLst>
            </a:prstGeom>
            <a:noFill/>
            <a:ln w="28575" cap="flat" cmpd="sng" algn="ctr">
              <a:solidFill>
                <a:srgbClr val="F3C97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矩形 2">
              <a:extLst>
                <a:ext uri="{FF2B5EF4-FFF2-40B4-BE49-F238E27FC236}">
                  <a16:creationId xmlns:a16="http://schemas.microsoft.com/office/drawing/2014/main" id="{2313CD63-5A38-4B20-B2E3-5EF689CC81D7}"/>
                </a:ext>
              </a:extLst>
            </p:cNvPr>
            <p:cNvSpPr/>
            <p:nvPr/>
          </p:nvSpPr>
          <p:spPr>
            <a:xfrm>
              <a:off x="4572000" y="891094"/>
              <a:ext cx="4572000" cy="1732334"/>
            </a:xfrm>
            <a:prstGeom prst="rect">
              <a:avLst/>
            </a:prstGeom>
          </p:spPr>
          <p:txBody>
            <a:bodyPr>
              <a:spAutoFit/>
            </a:bodyPr>
            <a:lstStyle/>
            <a:p>
              <a:pPr eaLnBrk="1" hangingPunct="1">
                <a:lnSpc>
                  <a:spcPct val="200000"/>
                </a:lnSpc>
                <a:buFont typeface="Wingdings" panose="05000000000000000000" pitchFamily="2" charset="2"/>
                <a:buChar char="u"/>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现实问题：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高速公路节假日是否应该免费？</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自来水定价与蔬菜定价为何不同？</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5" name="图片 4">
            <a:extLst>
              <a:ext uri="{FF2B5EF4-FFF2-40B4-BE49-F238E27FC236}">
                <a16:creationId xmlns:a16="http://schemas.microsoft.com/office/drawing/2014/main" id="{2873DEA7-D99C-4C60-974F-3B08950398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552" y="272945"/>
            <a:ext cx="2840330" cy="2840330"/>
          </a:xfrm>
          <a:prstGeom prst="rect">
            <a:avLst/>
          </a:prstGeom>
        </p:spPr>
      </p:pic>
      <p:pic>
        <p:nvPicPr>
          <p:cNvPr id="7" name="图片 6">
            <a:extLst>
              <a:ext uri="{FF2B5EF4-FFF2-40B4-BE49-F238E27FC236}">
                <a16:creationId xmlns:a16="http://schemas.microsoft.com/office/drawing/2014/main" id="{858A388E-9F9F-488B-84B0-0A66B43726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5864670" y="3140968"/>
            <a:ext cx="2840330" cy="3429000"/>
          </a:xfrm>
          <a:prstGeom prst="rect">
            <a:avLst/>
          </a:prstGeom>
        </p:spPr>
      </p:pic>
      <p:grpSp>
        <p:nvGrpSpPr>
          <p:cNvPr id="11" name="组合 10">
            <a:extLst>
              <a:ext uri="{FF2B5EF4-FFF2-40B4-BE49-F238E27FC236}">
                <a16:creationId xmlns:a16="http://schemas.microsoft.com/office/drawing/2014/main" id="{A89EAB8F-1A84-4532-9328-0C14ABE7731F}"/>
              </a:ext>
            </a:extLst>
          </p:cNvPr>
          <p:cNvGrpSpPr/>
          <p:nvPr/>
        </p:nvGrpSpPr>
        <p:grpSpPr>
          <a:xfrm>
            <a:off x="467544" y="3140968"/>
            <a:ext cx="4644008" cy="2868022"/>
            <a:chOff x="467544" y="3140968"/>
            <a:chExt cx="4644008" cy="2868022"/>
          </a:xfrm>
        </p:grpSpPr>
        <p:sp>
          <p:nvSpPr>
            <p:cNvPr id="2" name="矩形 1">
              <a:extLst>
                <a:ext uri="{FF2B5EF4-FFF2-40B4-BE49-F238E27FC236}">
                  <a16:creationId xmlns:a16="http://schemas.microsoft.com/office/drawing/2014/main" id="{2D9137E5-6149-40AD-BBA0-5055E8814917}"/>
                </a:ext>
              </a:extLst>
            </p:cNvPr>
            <p:cNvSpPr/>
            <p:nvPr/>
          </p:nvSpPr>
          <p:spPr>
            <a:xfrm>
              <a:off x="539552" y="3140968"/>
              <a:ext cx="4572000" cy="2840329"/>
            </a:xfrm>
            <a:prstGeom prst="rect">
              <a:avLst/>
            </a:prstGeom>
          </p:spPr>
          <p:txBody>
            <a:bodyPr>
              <a:spAutoFit/>
            </a:bodyPr>
            <a:lstStyle/>
            <a:p>
              <a:pPr eaLnBrk="1" hangingPunct="1">
                <a:lnSpc>
                  <a:spcPct val="200000"/>
                </a:lnSpc>
                <a:buFont typeface="Wingdings" panose="05000000000000000000" pitchFamily="2" charset="2"/>
                <a:buChar char="u"/>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理论问题：市场与政府的关系</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什么是效率？</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市场是否有效率的？</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为什么需要政府干预？</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政府应该起到的作用是什么？</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标注: 线形 9">
              <a:extLst>
                <a:ext uri="{FF2B5EF4-FFF2-40B4-BE49-F238E27FC236}">
                  <a16:creationId xmlns:a16="http://schemas.microsoft.com/office/drawing/2014/main" id="{2BF3F4D3-5FE6-423D-A8F3-CF24B1000FA0}"/>
                </a:ext>
              </a:extLst>
            </p:cNvPr>
            <p:cNvSpPr/>
            <p:nvPr/>
          </p:nvSpPr>
          <p:spPr bwMode="auto">
            <a:xfrm>
              <a:off x="467544" y="3284984"/>
              <a:ext cx="4412483" cy="2724006"/>
            </a:xfrm>
            <a:prstGeom prst="borderCallout1">
              <a:avLst>
                <a:gd name="adj1" fmla="val 48536"/>
                <a:gd name="adj2" fmla="val 99796"/>
                <a:gd name="adj3" fmla="val 47970"/>
                <a:gd name="adj4" fmla="val 130567"/>
              </a:avLst>
            </a:prstGeom>
            <a:noFill/>
            <a:ln w="28575" cap="flat" cmpd="sng" algn="ctr">
              <a:solidFill>
                <a:srgbClr val="F3C97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327954000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468313" y="345491"/>
            <a:ext cx="8229600" cy="863600"/>
          </a:xfrm>
        </p:spPr>
        <p:txBody>
          <a:bodyPr/>
          <a:lstStyle/>
          <a:p>
            <a:pPr algn="ctr" eaLnBrk="1" hangingPunct="1"/>
            <a:r>
              <a:rPr lang="zh-CN" altLang="en-US" b="1" dirty="0">
                <a:latin typeface="微软雅黑" panose="020B0503020204020204" pitchFamily="34" charset="-122"/>
                <a:ea typeface="微软雅黑" panose="020B0503020204020204" pitchFamily="34" charset="-122"/>
                <a:sym typeface="Arial" panose="020B0604020202020204" pitchFamily="34" charset="0"/>
              </a:rPr>
              <a:t>第八章</a:t>
            </a:r>
            <a:r>
              <a:rPr lang="en-US" altLang="zh-CN" b="1" dirty="0">
                <a:latin typeface="微软雅黑" panose="020B0503020204020204" pitchFamily="34" charset="-122"/>
                <a:ea typeface="微软雅黑" panose="020B0503020204020204" pitchFamily="34" charset="-122"/>
                <a:sym typeface="Arial" panose="020B0604020202020204" pitchFamily="34" charset="0"/>
              </a:rPr>
              <a:t>	</a:t>
            </a:r>
            <a:r>
              <a:rPr lang="zh-CN" altLang="en-US" b="1" dirty="0">
                <a:latin typeface="微软雅黑" panose="020B0503020204020204" pitchFamily="34" charset="-122"/>
                <a:ea typeface="微软雅黑" panose="020B0503020204020204" pitchFamily="34" charset="-122"/>
                <a:sym typeface="Arial" panose="020B0604020202020204" pitchFamily="34" charset="0"/>
              </a:rPr>
              <a:t>市场失灵和微观经济政策</a:t>
            </a:r>
          </a:p>
        </p:txBody>
      </p:sp>
      <p:sp>
        <p:nvSpPr>
          <p:cNvPr id="4" name="平行四边形 3">
            <a:extLst>
              <a:ext uri="{FF2B5EF4-FFF2-40B4-BE49-F238E27FC236}">
                <a16:creationId xmlns:a16="http://schemas.microsoft.com/office/drawing/2014/main" id="{86F1DC63-CB2F-459E-B0E0-E14F93622BE5}"/>
              </a:ext>
            </a:extLst>
          </p:cNvPr>
          <p:cNvSpPr/>
          <p:nvPr/>
        </p:nvSpPr>
        <p:spPr>
          <a:xfrm rot="16200000">
            <a:off x="4474646" y="4751909"/>
            <a:ext cx="1992731"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 name="平行四边形 4">
            <a:extLst>
              <a:ext uri="{FF2B5EF4-FFF2-40B4-BE49-F238E27FC236}">
                <a16:creationId xmlns:a16="http://schemas.microsoft.com/office/drawing/2014/main" id="{86F1DC63-CB2F-459E-B0E0-E14F93622BE5}"/>
              </a:ext>
            </a:extLst>
          </p:cNvPr>
          <p:cNvSpPr/>
          <p:nvPr/>
        </p:nvSpPr>
        <p:spPr>
          <a:xfrm rot="16200000">
            <a:off x="2504507" y="4786165"/>
            <a:ext cx="2061240"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 name="平行四边形 5">
            <a:extLst>
              <a:ext uri="{FF2B5EF4-FFF2-40B4-BE49-F238E27FC236}">
                <a16:creationId xmlns:a16="http://schemas.microsoft.com/office/drawing/2014/main" id="{86F1DC63-CB2F-459E-B0E0-E14F93622BE5}"/>
              </a:ext>
            </a:extLst>
          </p:cNvPr>
          <p:cNvSpPr/>
          <p:nvPr/>
        </p:nvSpPr>
        <p:spPr>
          <a:xfrm rot="16200000">
            <a:off x="4387013" y="2233310"/>
            <a:ext cx="2061242" cy="578738"/>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 name="平行四边形 6">
            <a:extLst>
              <a:ext uri="{FF2B5EF4-FFF2-40B4-BE49-F238E27FC236}">
                <a16:creationId xmlns:a16="http://schemas.microsoft.com/office/drawing/2014/main" id="{86F1DC63-CB2F-459E-B0E0-E14F93622BE5}"/>
              </a:ext>
            </a:extLst>
          </p:cNvPr>
          <p:cNvSpPr/>
          <p:nvPr/>
        </p:nvSpPr>
        <p:spPr>
          <a:xfrm rot="16200000">
            <a:off x="2531523" y="2236276"/>
            <a:ext cx="2061243"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8" name="矩形 7">
            <a:extLst>
              <a:ext uri="{FF2B5EF4-FFF2-40B4-BE49-F238E27FC236}">
                <a16:creationId xmlns:a16="http://schemas.microsoft.com/office/drawing/2014/main" id="{29D4621B-7639-47DA-B16C-EC41E72F8F64}"/>
              </a:ext>
            </a:extLst>
          </p:cNvPr>
          <p:cNvSpPr/>
          <p:nvPr/>
        </p:nvSpPr>
        <p:spPr>
          <a:xfrm>
            <a:off x="3759357" y="1439877"/>
            <a:ext cx="1421167"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fontAlgn="auto">
              <a:spcBef>
                <a:spcPts val="0"/>
              </a:spcBef>
              <a:spcAft>
                <a:spcPts val="0"/>
              </a:spcAft>
              <a:defRPr/>
            </a:pPr>
            <a:r>
              <a:rPr lang="zh-CN" altLang="en-US" sz="2400" dirty="0">
                <a:solidFill>
                  <a:schemeClr val="tx1"/>
                </a:solidFill>
                <a:latin typeface="微软雅黑" panose="020B0503020204020204" pitchFamily="34" charset="-122"/>
                <a:ea typeface="微软雅黑" panose="020B0503020204020204" pitchFamily="34" charset="-122"/>
              </a:rPr>
              <a:t>外部性</a:t>
            </a:r>
            <a:endParaRPr lang="en-US" altLang="zh-CN" sz="240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8">
            <a:extLst>
              <a:ext uri="{FF2B5EF4-FFF2-40B4-BE49-F238E27FC236}">
                <a16:creationId xmlns:a16="http://schemas.microsoft.com/office/drawing/2014/main" id="{29D4621B-7639-47DA-B16C-EC41E72F8F64}"/>
              </a:ext>
            </a:extLst>
          </p:cNvPr>
          <p:cNvSpPr/>
          <p:nvPr/>
        </p:nvSpPr>
        <p:spPr>
          <a:xfrm>
            <a:off x="5571787" y="4014873"/>
            <a:ext cx="1432154"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本章</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评析</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0" name="矩形 9">
            <a:extLst>
              <a:ext uri="{FF2B5EF4-FFF2-40B4-BE49-F238E27FC236}">
                <a16:creationId xmlns:a16="http://schemas.microsoft.com/office/drawing/2014/main" id="{29D4621B-7639-47DA-B16C-EC41E72F8F64}"/>
              </a:ext>
            </a:extLst>
          </p:cNvPr>
          <p:cNvSpPr/>
          <p:nvPr/>
        </p:nvSpPr>
        <p:spPr>
          <a:xfrm>
            <a:off x="3762010" y="4014869"/>
            <a:ext cx="1472399"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1" name="矩形 10">
            <a:extLst>
              <a:ext uri="{FF2B5EF4-FFF2-40B4-BE49-F238E27FC236}">
                <a16:creationId xmlns:a16="http://schemas.microsoft.com/office/drawing/2014/main" id="{29D4621B-7639-47DA-B16C-EC41E72F8F64}"/>
              </a:ext>
            </a:extLst>
          </p:cNvPr>
          <p:cNvSpPr/>
          <p:nvPr/>
        </p:nvSpPr>
        <p:spPr>
          <a:xfrm>
            <a:off x="1906218" y="4014873"/>
            <a:ext cx="1467183"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fontAlgn="auto">
              <a:spcBef>
                <a:spcPts val="0"/>
              </a:spcBef>
              <a:spcAft>
                <a:spcPts val="0"/>
              </a:spcAft>
              <a:defRPr/>
            </a:pPr>
            <a:r>
              <a:rPr lang="zh-CN" altLang="en-US" sz="2400" dirty="0">
                <a:solidFill>
                  <a:schemeClr val="tx1"/>
                </a:solidFill>
                <a:latin typeface="微软雅黑" panose="020B0503020204020204" pitchFamily="34" charset="-122"/>
                <a:ea typeface="微软雅黑" panose="020B0503020204020204" pitchFamily="34" charset="-122"/>
              </a:rPr>
              <a:t>信息不</a:t>
            </a:r>
            <a:endParaRPr lang="en-US" altLang="zh-CN" sz="2400" dirty="0">
              <a:solidFill>
                <a:schemeClr val="tx1"/>
              </a:solidFill>
              <a:latin typeface="微软雅黑" panose="020B0503020204020204" pitchFamily="34" charset="-122"/>
              <a:ea typeface="微软雅黑" panose="020B0503020204020204" pitchFamily="34" charset="-122"/>
            </a:endParaRPr>
          </a:p>
          <a:p>
            <a:pPr algn="ctr" fontAlgn="auto">
              <a:spcBef>
                <a:spcPts val="0"/>
              </a:spcBef>
              <a:spcAft>
                <a:spcPts val="0"/>
              </a:spcAft>
              <a:defRPr/>
            </a:pPr>
            <a:r>
              <a:rPr lang="zh-CN" altLang="en-US" sz="2400" dirty="0">
                <a:solidFill>
                  <a:schemeClr val="tx1"/>
                </a:solidFill>
                <a:latin typeface="微软雅黑" panose="020B0503020204020204" pitchFamily="34" charset="-122"/>
                <a:ea typeface="微软雅黑" panose="020B0503020204020204" pitchFamily="34" charset="-122"/>
              </a:rPr>
              <a:t>完全和</a:t>
            </a:r>
            <a:endParaRPr lang="en-US" altLang="zh-CN" sz="2400" dirty="0">
              <a:solidFill>
                <a:schemeClr val="tx1"/>
              </a:solidFill>
              <a:latin typeface="微软雅黑" panose="020B0503020204020204" pitchFamily="34" charset="-122"/>
              <a:ea typeface="微软雅黑" panose="020B0503020204020204" pitchFamily="34" charset="-122"/>
            </a:endParaRPr>
          </a:p>
          <a:p>
            <a:pPr algn="ctr" fontAlgn="auto">
              <a:spcBef>
                <a:spcPts val="0"/>
              </a:spcBef>
              <a:spcAft>
                <a:spcPts val="0"/>
              </a:spcAft>
              <a:defRPr/>
            </a:pPr>
            <a:r>
              <a:rPr lang="zh-CN" altLang="en-US" sz="2400" dirty="0">
                <a:solidFill>
                  <a:schemeClr val="tx1"/>
                </a:solidFill>
                <a:latin typeface="微软雅黑" panose="020B0503020204020204" pitchFamily="34" charset="-122"/>
                <a:ea typeface="微软雅黑" panose="020B0503020204020204" pitchFamily="34" charset="-122"/>
              </a:rPr>
              <a:t>不对称</a:t>
            </a:r>
          </a:p>
        </p:txBody>
      </p:sp>
      <p:sp>
        <p:nvSpPr>
          <p:cNvPr id="12" name="矩形 11">
            <a:extLst>
              <a:ext uri="{FF2B5EF4-FFF2-40B4-BE49-F238E27FC236}">
                <a16:creationId xmlns:a16="http://schemas.microsoft.com/office/drawing/2014/main" id="{29D4621B-7639-47DA-B16C-EC41E72F8F64}"/>
              </a:ext>
            </a:extLst>
          </p:cNvPr>
          <p:cNvSpPr/>
          <p:nvPr/>
        </p:nvSpPr>
        <p:spPr>
          <a:xfrm>
            <a:off x="5571787" y="1449343"/>
            <a:ext cx="1432154"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fontAlgn="auto">
              <a:spcBef>
                <a:spcPts val="0"/>
              </a:spcBef>
              <a:spcAft>
                <a:spcPts val="0"/>
              </a:spcAft>
              <a:defRPr/>
            </a:pPr>
            <a:r>
              <a:rPr lang="zh-CN" altLang="en-US" sz="2400" dirty="0">
                <a:solidFill>
                  <a:schemeClr val="tx1"/>
                </a:solidFill>
                <a:latin typeface="微软雅黑" panose="020B0503020204020204" pitchFamily="34" charset="-122"/>
                <a:ea typeface="微软雅黑" panose="020B0503020204020204" pitchFamily="34" charset="-122"/>
              </a:rPr>
              <a:t>公共物</a:t>
            </a:r>
            <a:endParaRPr lang="en-US" altLang="zh-CN" sz="2400" dirty="0">
              <a:solidFill>
                <a:schemeClr val="tx1"/>
              </a:solidFill>
              <a:latin typeface="微软雅黑" panose="020B0503020204020204" pitchFamily="34" charset="-122"/>
              <a:ea typeface="微软雅黑" panose="020B0503020204020204" pitchFamily="34" charset="-122"/>
            </a:endParaRPr>
          </a:p>
          <a:p>
            <a:pPr lvl="0" algn="ctr" fontAlgn="auto">
              <a:spcBef>
                <a:spcPts val="0"/>
              </a:spcBef>
              <a:spcAft>
                <a:spcPts val="0"/>
              </a:spcAft>
              <a:defRPr/>
            </a:pPr>
            <a:r>
              <a:rPr lang="zh-CN" altLang="en-US" sz="2400" dirty="0">
                <a:solidFill>
                  <a:schemeClr val="tx1"/>
                </a:solidFill>
                <a:latin typeface="微软雅黑" panose="020B0503020204020204" pitchFamily="34" charset="-122"/>
                <a:ea typeface="微软雅黑" panose="020B0503020204020204" pitchFamily="34" charset="-122"/>
              </a:rPr>
              <a:t>品和公</a:t>
            </a:r>
            <a:endParaRPr lang="en-US" altLang="zh-CN" sz="2400" dirty="0">
              <a:solidFill>
                <a:schemeClr val="tx1"/>
              </a:solidFill>
              <a:latin typeface="微软雅黑" panose="020B0503020204020204" pitchFamily="34" charset="-122"/>
              <a:ea typeface="微软雅黑" panose="020B0503020204020204" pitchFamily="34" charset="-122"/>
            </a:endParaRPr>
          </a:p>
          <a:p>
            <a:pPr lvl="0" algn="ctr" fontAlgn="auto">
              <a:spcBef>
                <a:spcPts val="0"/>
              </a:spcBef>
              <a:spcAft>
                <a:spcPts val="0"/>
              </a:spcAft>
              <a:defRPr/>
            </a:pPr>
            <a:r>
              <a:rPr lang="zh-CN" altLang="en-US" sz="2400" dirty="0">
                <a:solidFill>
                  <a:schemeClr val="tx1"/>
                </a:solidFill>
                <a:latin typeface="微软雅黑" panose="020B0503020204020204" pitchFamily="34" charset="-122"/>
                <a:ea typeface="微软雅黑" panose="020B0503020204020204" pitchFamily="34" charset="-122"/>
              </a:rPr>
              <a:t>共资源</a:t>
            </a:r>
            <a:endParaRPr lang="en-US" altLang="zh-CN" sz="240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矩形 12">
            <a:extLst>
              <a:ext uri="{FF2B5EF4-FFF2-40B4-BE49-F238E27FC236}">
                <a16:creationId xmlns:a16="http://schemas.microsoft.com/office/drawing/2014/main" id="{29D4621B-7639-47DA-B16C-EC41E72F8F64}"/>
              </a:ext>
            </a:extLst>
          </p:cNvPr>
          <p:cNvSpPr/>
          <p:nvPr/>
        </p:nvSpPr>
        <p:spPr>
          <a:xfrm>
            <a:off x="1906217" y="1464985"/>
            <a:ext cx="1467183"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垄断</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4" name="任意多边形 42">
            <a:extLst>
              <a:ext uri="{FF2B5EF4-FFF2-40B4-BE49-F238E27FC236}">
                <a16:creationId xmlns:a16="http://schemas.microsoft.com/office/drawing/2014/main" id="{D15E878E-A5CB-456F-B538-CB5BD387BB4F}"/>
              </a:ext>
            </a:extLst>
          </p:cNvPr>
          <p:cNvSpPr/>
          <p:nvPr/>
        </p:nvSpPr>
        <p:spPr>
          <a:xfrm>
            <a:off x="2018755" y="1288841"/>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5" name="文本框 32">
            <a:extLst>
              <a:ext uri="{FF2B5EF4-FFF2-40B4-BE49-F238E27FC236}">
                <a16:creationId xmlns:a16="http://schemas.microsoft.com/office/drawing/2014/main" id="{F33D56E3-2885-47AA-9F5F-B8481E44F3B7}"/>
              </a:ext>
            </a:extLst>
          </p:cNvPr>
          <p:cNvSpPr txBox="1"/>
          <p:nvPr/>
        </p:nvSpPr>
        <p:spPr>
          <a:xfrm>
            <a:off x="1987178" y="1268760"/>
            <a:ext cx="1227671"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第一节</a:t>
            </a:r>
          </a:p>
        </p:txBody>
      </p:sp>
      <p:sp>
        <p:nvSpPr>
          <p:cNvPr id="16" name="任意多边形 42">
            <a:extLst>
              <a:ext uri="{FF2B5EF4-FFF2-40B4-BE49-F238E27FC236}">
                <a16:creationId xmlns:a16="http://schemas.microsoft.com/office/drawing/2014/main" id="{D15E878E-A5CB-456F-B538-CB5BD387BB4F}"/>
              </a:ext>
            </a:extLst>
          </p:cNvPr>
          <p:cNvSpPr/>
          <p:nvPr/>
        </p:nvSpPr>
        <p:spPr>
          <a:xfrm>
            <a:off x="3937702" y="1268760"/>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7" name="文本框 32">
            <a:extLst>
              <a:ext uri="{FF2B5EF4-FFF2-40B4-BE49-F238E27FC236}">
                <a16:creationId xmlns:a16="http://schemas.microsoft.com/office/drawing/2014/main" id="{F33D56E3-2885-47AA-9F5F-B8481E44F3B7}"/>
              </a:ext>
            </a:extLst>
          </p:cNvPr>
          <p:cNvSpPr txBox="1"/>
          <p:nvPr/>
        </p:nvSpPr>
        <p:spPr>
          <a:xfrm>
            <a:off x="3923928" y="1268760"/>
            <a:ext cx="1227671"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spc="150" dirty="0">
                <a:solidFill>
                  <a:schemeClr val="bg1"/>
                </a:solidFill>
                <a:latin typeface="微软雅黑" panose="020B0503020204020204" pitchFamily="34" charset="-122"/>
                <a:ea typeface="微软雅黑" panose="020B0503020204020204" pitchFamily="34" charset="-122"/>
              </a:rPr>
              <a:t>第二节</a:t>
            </a:r>
          </a:p>
        </p:txBody>
      </p:sp>
      <p:sp>
        <p:nvSpPr>
          <p:cNvPr id="18" name="任意多边形 42">
            <a:extLst>
              <a:ext uri="{FF2B5EF4-FFF2-40B4-BE49-F238E27FC236}">
                <a16:creationId xmlns:a16="http://schemas.microsoft.com/office/drawing/2014/main" id="{D15E878E-A5CB-456F-B538-CB5BD387BB4F}"/>
              </a:ext>
            </a:extLst>
          </p:cNvPr>
          <p:cNvSpPr/>
          <p:nvPr/>
        </p:nvSpPr>
        <p:spPr>
          <a:xfrm>
            <a:off x="5733050" y="126849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R="0" lvl="0" indent="0" algn="ctr">
              <a:lnSpc>
                <a:spcPct val="100000"/>
              </a:lnSpc>
              <a:buClrTx/>
              <a:buSzTx/>
              <a:buFont typeface="Arial" panose="020B0604020202020204" pitchFamily="34" charset="0"/>
              <a:buNone/>
              <a:tabLst/>
              <a:defRPr/>
            </a:pPr>
            <a:r>
              <a:rPr lang="zh-CN" altLang="en-US" sz="2400" spc="15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第三节</a:t>
            </a:r>
          </a:p>
        </p:txBody>
      </p:sp>
      <p:sp>
        <p:nvSpPr>
          <p:cNvPr id="19" name="任意多边形 42">
            <a:extLst>
              <a:ext uri="{FF2B5EF4-FFF2-40B4-BE49-F238E27FC236}">
                <a16:creationId xmlns:a16="http://schemas.microsoft.com/office/drawing/2014/main" id="{D15E878E-A5CB-456F-B538-CB5BD387BB4F}"/>
              </a:ext>
            </a:extLst>
          </p:cNvPr>
          <p:cNvSpPr/>
          <p:nvPr/>
        </p:nvSpPr>
        <p:spPr>
          <a:xfrm>
            <a:off x="2018755" y="3866378"/>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spc="15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第四节</a:t>
            </a:r>
          </a:p>
        </p:txBody>
      </p:sp>
      <p:sp>
        <p:nvSpPr>
          <p:cNvPr id="20" name="任意多边形 42">
            <a:extLst>
              <a:ext uri="{FF2B5EF4-FFF2-40B4-BE49-F238E27FC236}">
                <a16:creationId xmlns:a16="http://schemas.microsoft.com/office/drawing/2014/main" id="{D15E878E-A5CB-456F-B538-CB5BD387BB4F}"/>
              </a:ext>
            </a:extLst>
          </p:cNvPr>
          <p:cNvSpPr/>
          <p:nvPr/>
        </p:nvSpPr>
        <p:spPr>
          <a:xfrm>
            <a:off x="3937702" y="3866378"/>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1" name="任意多边形 42">
            <a:extLst>
              <a:ext uri="{FF2B5EF4-FFF2-40B4-BE49-F238E27FC236}">
                <a16:creationId xmlns:a16="http://schemas.microsoft.com/office/drawing/2014/main" id="{D15E878E-A5CB-456F-B538-CB5BD387BB4F}"/>
              </a:ext>
            </a:extLst>
          </p:cNvPr>
          <p:cNvSpPr/>
          <p:nvPr/>
        </p:nvSpPr>
        <p:spPr>
          <a:xfrm>
            <a:off x="5733050" y="3866378"/>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2" name="文本框 21"/>
          <p:cNvSpPr txBox="1"/>
          <p:nvPr/>
        </p:nvSpPr>
        <p:spPr>
          <a:xfrm>
            <a:off x="3939685" y="3909549"/>
            <a:ext cx="1211677" cy="461665"/>
          </a:xfrm>
          <a:prstGeom prst="rect">
            <a:avLst/>
          </a:prstGeom>
          <a:noFill/>
        </p:spPr>
        <p:txBody>
          <a:bodyPr wrap="square" rtlCol="0">
            <a:spAutoFit/>
          </a:bodyPr>
          <a:lstStyle/>
          <a:p>
            <a:pPr algn="ctr" eaLnBrk="1" fontAlgn="auto" hangingPunct="1">
              <a:spcBef>
                <a:spcPts val="0"/>
              </a:spcBef>
              <a:spcAft>
                <a:spcPts val="0"/>
              </a:spcAft>
              <a:defRPr/>
            </a:pPr>
            <a:r>
              <a:rPr lang="zh-CN" altLang="en-US" sz="2400" spc="150" dirty="0">
                <a:solidFill>
                  <a:schemeClr val="bg1"/>
                </a:solidFill>
                <a:latin typeface="微软雅黑" panose="020B0503020204020204" pitchFamily="34" charset="-122"/>
                <a:ea typeface="微软雅黑" panose="020B0503020204020204" pitchFamily="34" charset="-122"/>
              </a:rPr>
              <a:t>第五节</a:t>
            </a:r>
          </a:p>
        </p:txBody>
      </p:sp>
      <p:sp>
        <p:nvSpPr>
          <p:cNvPr id="23" name="文本框 22"/>
          <p:cNvSpPr txBox="1"/>
          <p:nvPr/>
        </p:nvSpPr>
        <p:spPr>
          <a:xfrm>
            <a:off x="5640167" y="3866378"/>
            <a:ext cx="1257399" cy="461665"/>
          </a:xfrm>
          <a:prstGeom prst="rect">
            <a:avLst/>
          </a:prstGeom>
          <a:noFill/>
        </p:spPr>
        <p:txBody>
          <a:bodyPr wrap="square" rtlCol="0">
            <a:spAutoFit/>
          </a:bodyPr>
          <a:lstStyle/>
          <a:p>
            <a:pPr algn="ctr" eaLnBrk="1" fontAlgn="auto" hangingPunct="1">
              <a:spcBef>
                <a:spcPts val="0"/>
              </a:spcBef>
              <a:spcAft>
                <a:spcPts val="0"/>
              </a:spcAft>
              <a:defRPr/>
            </a:pPr>
            <a:r>
              <a:rPr lang="zh-CN" altLang="en-US" sz="2400" spc="150" dirty="0">
                <a:solidFill>
                  <a:schemeClr val="bg1"/>
                </a:solidFill>
                <a:latin typeface="微软雅黑" panose="020B0503020204020204" pitchFamily="34" charset="-122"/>
                <a:ea typeface="微软雅黑" panose="020B0503020204020204" pitchFamily="34" charset="-122"/>
              </a:rPr>
              <a:t>第六节</a:t>
            </a:r>
          </a:p>
        </p:txBody>
      </p:sp>
      <p:sp>
        <p:nvSpPr>
          <p:cNvPr id="24" name="文本框 23"/>
          <p:cNvSpPr txBox="1"/>
          <p:nvPr/>
        </p:nvSpPr>
        <p:spPr>
          <a:xfrm>
            <a:off x="3589456" y="4621264"/>
            <a:ext cx="1861008" cy="1200329"/>
          </a:xfrm>
          <a:prstGeom prst="rect">
            <a:avLst/>
          </a:prstGeom>
          <a:noFill/>
        </p:spPr>
        <p:txBody>
          <a:bodyPr wrap="square" rtlCol="0">
            <a:spAutoFit/>
          </a:bodyPr>
          <a:lstStyle/>
          <a:p>
            <a:pPr algn="ctr" fontAlgn="auto">
              <a:spcBef>
                <a:spcPts val="0"/>
              </a:spcBef>
              <a:spcAft>
                <a:spcPts val="0"/>
              </a:spcAft>
              <a:buFont typeface="Arial" panose="020B0604020202020204" pitchFamily="34" charset="0"/>
              <a:buNone/>
              <a:defRPr/>
            </a:pPr>
            <a:r>
              <a:rPr lang="zh-CN" altLang="en-US" sz="2400" dirty="0">
                <a:latin typeface="微软雅黑" panose="020B0503020204020204" pitchFamily="34" charset="-122"/>
                <a:ea typeface="微软雅黑" panose="020B0503020204020204" pitchFamily="34" charset="-122"/>
              </a:rPr>
              <a:t>收入分</a:t>
            </a:r>
            <a:endParaRPr lang="en-US" altLang="zh-CN" sz="2400" dirty="0">
              <a:latin typeface="微软雅黑" panose="020B0503020204020204" pitchFamily="34" charset="-122"/>
              <a:ea typeface="微软雅黑" panose="020B0503020204020204" pitchFamily="34" charset="-122"/>
            </a:endParaRPr>
          </a:p>
          <a:p>
            <a:pPr algn="ctr" fontAlgn="auto">
              <a:spcBef>
                <a:spcPts val="0"/>
              </a:spcBef>
              <a:spcAft>
                <a:spcPts val="0"/>
              </a:spcAft>
              <a:buFont typeface="Arial" panose="020B0604020202020204" pitchFamily="34" charset="0"/>
              <a:buNone/>
              <a:defRPr/>
            </a:pPr>
            <a:r>
              <a:rPr lang="zh-CN" altLang="en-US" sz="2400" dirty="0">
                <a:latin typeface="微软雅黑" panose="020B0503020204020204" pitchFamily="34" charset="-122"/>
                <a:ea typeface="微软雅黑" panose="020B0503020204020204" pitchFamily="34" charset="-122"/>
              </a:rPr>
              <a:t>配中的</a:t>
            </a:r>
            <a:endParaRPr lang="en-US" altLang="zh-CN" sz="2400" dirty="0">
              <a:latin typeface="微软雅黑" panose="020B0503020204020204" pitchFamily="34" charset="-122"/>
              <a:ea typeface="微软雅黑" panose="020B0503020204020204" pitchFamily="34" charset="-122"/>
            </a:endParaRPr>
          </a:p>
          <a:p>
            <a:pPr algn="ctr" fontAlgn="auto">
              <a:spcBef>
                <a:spcPts val="0"/>
              </a:spcBef>
              <a:spcAft>
                <a:spcPts val="0"/>
              </a:spcAft>
              <a:buFont typeface="Arial" panose="020B0604020202020204" pitchFamily="34" charset="0"/>
              <a:buNone/>
              <a:defRPr/>
            </a:pPr>
            <a:r>
              <a:rPr lang="zh-CN" altLang="en-US" sz="2400" dirty="0">
                <a:latin typeface="微软雅黑" panose="020B0503020204020204" pitchFamily="34" charset="-122"/>
                <a:ea typeface="微软雅黑" panose="020B0503020204020204" pitchFamily="34" charset="-122"/>
              </a:rPr>
              <a:t>不平等</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randombar(horizontal)">
                                      <p:cBhvr>
                                        <p:cTn id="10" dur="500"/>
                                        <p:tgtEl>
                                          <p:spTgt spid="15"/>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randombar(horizontal)">
                                      <p:cBhvr>
                                        <p:cTn id="13" dur="500"/>
                                        <p:tgtEl>
                                          <p:spTgt spid="14"/>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randombar(horizontal)">
                                      <p:cBhvr>
                                        <p:cTn id="22" dur="500"/>
                                        <p:tgtEl>
                                          <p:spTgt spid="17"/>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randombar(horizontal)">
                                      <p:cBhvr>
                                        <p:cTn id="25" dur="500"/>
                                        <p:tgtEl>
                                          <p:spTgt spid="16"/>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randombar(horizontal)">
                                      <p:cBhvr>
                                        <p:cTn id="28" dur="500"/>
                                        <p:tgtEl>
                                          <p:spTgt spid="18"/>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randombar(horizontal)">
                                      <p:cBhvr>
                                        <p:cTn id="31" dur="500"/>
                                        <p:tgtEl>
                                          <p:spTgt spid="19"/>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randombar(horizontal)">
                                      <p:cBhvr>
                                        <p:cTn id="34" dur="500"/>
                                        <p:tgtEl>
                                          <p:spTgt spid="20"/>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randombar(horizontal)">
                                      <p:cBhvr>
                                        <p:cTn id="37" dur="500"/>
                                        <p:tgtEl>
                                          <p:spTgt spid="21"/>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randombar(horizontal)">
                                      <p:cBhvr>
                                        <p:cTn id="40" dur="500"/>
                                        <p:tgtEl>
                                          <p:spTgt spid="12"/>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randombar(horizontal)">
                                      <p:cBhvr>
                                        <p:cTn id="43" dur="500"/>
                                        <p:tgtEl>
                                          <p:spTgt spid="11"/>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randombar(horizontal)">
                                      <p:cBhvr>
                                        <p:cTn id="46" dur="500"/>
                                        <p:tgtEl>
                                          <p:spTgt spid="10"/>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randombar(horizontal)">
                                      <p:cBhvr>
                                        <p:cTn id="49" dur="500"/>
                                        <p:tgtEl>
                                          <p:spTgt spid="9"/>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randombar(horizontal)">
                                      <p:cBhvr>
                                        <p:cTn id="52" dur="500"/>
                                        <p:tgtEl>
                                          <p:spTgt spid="6"/>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randombar(horizontal)">
                                      <p:cBhvr>
                                        <p:cTn id="55" dur="500"/>
                                        <p:tgtEl>
                                          <p:spTgt spid="5"/>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randombar(horizontal)">
                                      <p:cBhvr>
                                        <p:cTn id="58" dur="500"/>
                                        <p:tgtEl>
                                          <p:spTgt spid="4"/>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randombar(horizontal)">
                                      <p:cBhvr>
                                        <p:cTn id="6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p:bldP spid="16" grpId="0" animBg="1"/>
      <p:bldP spid="17" grpId="0"/>
      <p:bldP spid="18" grpId="0" animBg="1"/>
      <p:bldP spid="19" grpId="0" animBg="1"/>
      <p:bldP spid="20" grpId="0" animBg="1"/>
      <p:bldP spid="21" grpId="0" animBg="1"/>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过程 1">
            <a:extLst>
              <a:ext uri="{FF2B5EF4-FFF2-40B4-BE49-F238E27FC236}">
                <a16:creationId xmlns:a16="http://schemas.microsoft.com/office/drawing/2014/main" id="{AD5C6CAF-E837-4D93-B291-BCF37AD71FA2}"/>
              </a:ext>
            </a:extLst>
          </p:cNvPr>
          <p:cNvSpPr/>
          <p:nvPr/>
        </p:nvSpPr>
        <p:spPr bwMode="auto">
          <a:xfrm>
            <a:off x="2962164" y="620688"/>
            <a:ext cx="3096344" cy="360040"/>
          </a:xfrm>
          <a:prstGeom prst="flowChartProcess">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194" name="Rectangle 3"/>
          <p:cNvSpPr>
            <a:spLocks noGrp="1" noChangeArrowheads="1"/>
          </p:cNvSpPr>
          <p:nvPr>
            <p:ph idx="4294967295"/>
          </p:nvPr>
        </p:nvSpPr>
        <p:spPr>
          <a:xfrm>
            <a:off x="395536" y="476672"/>
            <a:ext cx="8229600" cy="5073427"/>
          </a:xfrm>
        </p:spPr>
        <p:txBody>
          <a:bodyPr/>
          <a:lstStyle/>
          <a:p>
            <a:pPr marL="0" indent="0" algn="ctr" eaLnBrk="1" hangingPunct="1">
              <a:lnSpc>
                <a:spcPct val="150000"/>
              </a:lnSpc>
              <a:buNone/>
            </a:pPr>
            <a:r>
              <a:rPr lang="zh-CN" altLang="en-US" sz="2000" b="0" dirty="0">
                <a:solidFill>
                  <a:schemeClr val="bg1">
                    <a:lumMod val="95000"/>
                  </a:schemeClr>
                </a:solidFill>
                <a:latin typeface="微软雅黑" panose="020B0503020204020204" pitchFamily="34" charset="-122"/>
                <a:ea typeface="微软雅黑" panose="020B0503020204020204" pitchFamily="34" charset="-122"/>
              </a:rPr>
              <a:t>市场失灵</a:t>
            </a:r>
            <a:r>
              <a:rPr lang="en-US" altLang="zh-CN" sz="2000" b="0" dirty="0">
                <a:solidFill>
                  <a:schemeClr val="bg1">
                    <a:lumMod val="95000"/>
                  </a:schemeClr>
                </a:solidFill>
                <a:latin typeface="微软雅黑" panose="020B0503020204020204" pitchFamily="34" charset="-122"/>
                <a:ea typeface="微软雅黑" panose="020B0503020204020204" pitchFamily="34" charset="-122"/>
              </a:rPr>
              <a:t>Market Failure</a:t>
            </a:r>
          </a:p>
          <a:p>
            <a:pPr marL="342900" lvl="1" indent="-342900" eaLnBrk="1" hangingPunct="1">
              <a:lnSpc>
                <a:spcPct val="20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市场失灵是指市场机制不能有效发挥作用，难以实现帕累托效率的状况。又译市场失败或市场缺陷。</a:t>
            </a:r>
          </a:p>
          <a:p>
            <a:pPr marL="342900" lvl="1" indent="-342900"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造成市场失灵的原因是多方面的，主要包括：</a:t>
            </a:r>
          </a:p>
          <a:p>
            <a:pPr lvl="2" eaLnBrk="1" hangingPunct="1">
              <a:lnSpc>
                <a:spcPct val="150000"/>
              </a:lnSpc>
            </a:pPr>
            <a:r>
              <a:rPr lang="zh-CN" altLang="en-US" sz="1800" dirty="0">
                <a:latin typeface="微软雅黑" panose="020B0503020204020204" pitchFamily="34" charset="-122"/>
                <a:ea typeface="微软雅黑" panose="020B0503020204020204" pitchFamily="34" charset="-122"/>
              </a:rPr>
              <a:t>市场的不完全性，即存在垄断因素</a:t>
            </a:r>
          </a:p>
          <a:p>
            <a:pPr lvl="2" eaLnBrk="1" hangingPunct="1">
              <a:lnSpc>
                <a:spcPct val="150000"/>
              </a:lnSpc>
            </a:pPr>
            <a:r>
              <a:rPr lang="zh-CN" altLang="en-US" sz="1800" dirty="0">
                <a:latin typeface="微软雅黑" panose="020B0503020204020204" pitchFamily="34" charset="-122"/>
                <a:ea typeface="微软雅黑" panose="020B0503020204020204" pitchFamily="34" charset="-122"/>
              </a:rPr>
              <a:t>外部性</a:t>
            </a:r>
          </a:p>
          <a:p>
            <a:pPr lvl="2" eaLnBrk="1" hangingPunct="1">
              <a:lnSpc>
                <a:spcPct val="150000"/>
              </a:lnSpc>
            </a:pPr>
            <a:r>
              <a:rPr lang="zh-CN" altLang="en-US" sz="1800" dirty="0">
                <a:latin typeface="微软雅黑" panose="020B0503020204020204" pitchFamily="34" charset="-122"/>
                <a:ea typeface="微软雅黑" panose="020B0503020204020204" pitchFamily="34" charset="-122"/>
              </a:rPr>
              <a:t>公共物品和公共资源</a:t>
            </a:r>
          </a:p>
          <a:p>
            <a:pPr lvl="2" eaLnBrk="1" hangingPunct="1">
              <a:lnSpc>
                <a:spcPct val="150000"/>
              </a:lnSpc>
            </a:pPr>
            <a:r>
              <a:rPr lang="zh-CN" altLang="en-US" sz="1800" dirty="0">
                <a:latin typeface="微软雅黑" panose="020B0503020204020204" pitchFamily="34" charset="-122"/>
                <a:ea typeface="微软雅黑" panose="020B0503020204020204" pitchFamily="34" charset="-122"/>
              </a:rPr>
              <a:t>信息不完全</a:t>
            </a:r>
          </a:p>
          <a:p>
            <a:pPr marL="342900" lvl="1" indent="-342900"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广义的市场失灵还包括收入分配不公</a:t>
            </a:r>
            <a:endParaRPr lang="en-US" altLang="zh-CN" sz="1800" dirty="0">
              <a:latin typeface="微软雅黑" panose="020B0503020204020204" pitchFamily="34" charset="-122"/>
              <a:ea typeface="微软雅黑" panose="020B0503020204020204" pitchFamily="34" charset="-122"/>
            </a:endParaRPr>
          </a:p>
          <a:p>
            <a:pPr marL="400050" lvl="2" indent="0" eaLnBrk="1" hangingPunct="1">
              <a:lnSpc>
                <a:spcPct val="150000"/>
              </a:lnSpc>
              <a:buNone/>
            </a:pPr>
            <a:r>
              <a:rPr lang="zh-CN" altLang="en-US" sz="1800" dirty="0">
                <a:latin typeface="微软雅黑" panose="020B0503020204020204" pitchFamily="34" charset="-122"/>
                <a:ea typeface="微软雅黑" panose="020B0503020204020204" pitchFamily="34" charset="-122"/>
              </a:rPr>
              <a:t>在市场经济中，市场运行也会造成两极分化，即出现所谓“富裕中的贫困”现象。是市场调节弊端意义上的市场失灵，是广义的市场失灵</a:t>
            </a:r>
          </a:p>
        </p:txBody>
      </p:sp>
    </p:spTree>
    <p:extLst>
      <p:ext uri="{BB962C8B-B14F-4D97-AF65-F5344CB8AC3E}">
        <p14:creationId xmlns:p14="http://schemas.microsoft.com/office/powerpoint/2010/main" val="23886083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with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Effect transition="in" filter="strips(downRight)">
                                      <p:cBhvr>
                                        <p:cTn id="7" dur="500"/>
                                        <p:tgtEl>
                                          <p:spTgt spid="81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8194">
                                            <p:txEl>
                                              <p:pRg st="1" end="1"/>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8194">
                                            <p:txEl>
                                              <p:pRg st="2" end="2"/>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8194">
                                            <p:txEl>
                                              <p:pRg st="3" end="3"/>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194">
                                            <p:txEl>
                                              <p:pRg st="5" end="5"/>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8194">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8194">
                                            <p:txEl>
                                              <p:pRg st="6" end="6"/>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8194">
                                            <p:txEl>
                                              <p:pRg st="7" end="7"/>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19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3013326" y="2161466"/>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945063" y="1859841"/>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3013326" y="329625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945063" y="299462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3013326" y="443103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945063" y="412941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3013326" y="554855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2945063" y="5248518"/>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3524501" y="2215441"/>
            <a:ext cx="0" cy="779184"/>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3524501" y="3350225"/>
            <a:ext cx="0" cy="77918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3524501" y="4485010"/>
            <a:ext cx="0" cy="76350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4310338" y="1819568"/>
            <a:ext cx="214674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垄断和低效率</a:t>
            </a:r>
          </a:p>
        </p:txBody>
      </p:sp>
      <p:sp>
        <p:nvSpPr>
          <p:cNvPr id="18" name="矩形 17">
            <a:extLst>
              <a:ext uri="{FF2B5EF4-FFF2-40B4-BE49-F238E27FC236}">
                <a16:creationId xmlns:a16="http://schemas.microsoft.com/office/drawing/2014/main" id="{6BA99CA7-A4CC-4245-BA58-DB89FA49F037}"/>
              </a:ext>
            </a:extLst>
          </p:cNvPr>
          <p:cNvSpPr/>
          <p:nvPr/>
        </p:nvSpPr>
        <p:spPr>
          <a:xfrm>
            <a:off x="4306543" y="2967335"/>
            <a:ext cx="214674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寻租活动分析</a:t>
            </a:r>
          </a:p>
        </p:txBody>
      </p:sp>
      <p:sp>
        <p:nvSpPr>
          <p:cNvPr id="19" name="矩形 18">
            <a:extLst>
              <a:ext uri="{FF2B5EF4-FFF2-40B4-BE49-F238E27FC236}">
                <a16:creationId xmlns:a16="http://schemas.microsoft.com/office/drawing/2014/main" id="{018105B0-EC74-4F50-9B33-7F18FF6C04E7}"/>
              </a:ext>
            </a:extLst>
          </p:cNvPr>
          <p:cNvSpPr/>
          <p:nvPr/>
        </p:nvSpPr>
        <p:spPr>
          <a:xfrm>
            <a:off x="4306543" y="4115102"/>
            <a:ext cx="2800767"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对垄断的公共管制</a:t>
            </a:r>
          </a:p>
        </p:txBody>
      </p:sp>
      <p:sp>
        <p:nvSpPr>
          <p:cNvPr id="20" name="矩形 19">
            <a:extLst>
              <a:ext uri="{FF2B5EF4-FFF2-40B4-BE49-F238E27FC236}">
                <a16:creationId xmlns:a16="http://schemas.microsoft.com/office/drawing/2014/main" id="{E52AEF20-C2D6-4C68-8E54-0EF930AB28A2}"/>
              </a:ext>
            </a:extLst>
          </p:cNvPr>
          <p:cNvSpPr/>
          <p:nvPr/>
        </p:nvSpPr>
        <p:spPr>
          <a:xfrm>
            <a:off x="4306543" y="5194691"/>
            <a:ext cx="1819729"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反托拉斯法</a:t>
            </a:r>
          </a:p>
        </p:txBody>
      </p:sp>
      <p:sp>
        <p:nvSpPr>
          <p:cNvPr id="22" name="Rectangle 3">
            <a:extLst>
              <a:ext uri="{FF2B5EF4-FFF2-40B4-BE49-F238E27FC236}">
                <a16:creationId xmlns:a16="http://schemas.microsoft.com/office/drawing/2014/main" id="{5A767FBF-6E80-46AB-AE86-8C65EADB795F}"/>
              </a:ext>
            </a:extLst>
          </p:cNvPr>
          <p:cNvSpPr txBox="1">
            <a:spLocks noChangeArrowheads="1"/>
          </p:cNvSpPr>
          <p:nvPr/>
        </p:nvSpPr>
        <p:spPr bwMode="auto">
          <a:xfrm>
            <a:off x="3017728" y="687000"/>
            <a:ext cx="3108544" cy="61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sz="3600" dirty="0">
                <a:solidFill>
                  <a:schemeClr val="tx2"/>
                </a:solidFill>
                <a:latin typeface="微软雅黑" panose="020B0503020204020204" pitchFamily="34" charset="-122"/>
                <a:ea typeface="微软雅黑" panose="020B0503020204020204" pitchFamily="34" charset="-122"/>
                <a:cs typeface="+mj-cs"/>
              </a:rPr>
              <a:t>第一节</a:t>
            </a:r>
            <a:r>
              <a:rPr lang="en-US" altLang="zh-CN" sz="3600" dirty="0">
                <a:solidFill>
                  <a:schemeClr val="tx2"/>
                </a:solidFill>
                <a:latin typeface="微软雅黑" panose="020B0503020204020204" pitchFamily="34" charset="-122"/>
                <a:ea typeface="微软雅黑" panose="020B0503020204020204" pitchFamily="34" charset="-122"/>
                <a:cs typeface="+mj-cs"/>
              </a:rPr>
              <a:t>	</a:t>
            </a:r>
            <a:r>
              <a:rPr lang="zh-CN" altLang="en-US" sz="3600" dirty="0">
                <a:solidFill>
                  <a:schemeClr val="tx2"/>
                </a:solidFill>
                <a:latin typeface="微软雅黑" panose="020B0503020204020204" pitchFamily="34" charset="-122"/>
                <a:ea typeface="微软雅黑" panose="020B0503020204020204" pitchFamily="34" charset="-122"/>
                <a:cs typeface="+mj-cs"/>
              </a:rPr>
              <a:t>垄断</a:t>
            </a:r>
          </a:p>
          <a:p>
            <a:pPr lvl="1" eaLnBrk="1" hangingPunct="1">
              <a:buFontTx/>
            </a:pPr>
            <a:endParaRPr lang="zh-CN" altLang="en-US" dirty="0"/>
          </a:p>
        </p:txBody>
      </p:sp>
    </p:spTree>
    <p:extLst>
      <p:ext uri="{BB962C8B-B14F-4D97-AF65-F5344CB8AC3E}">
        <p14:creationId xmlns:p14="http://schemas.microsoft.com/office/powerpoint/2010/main" val="18826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500"/>
                                        <p:tgtEl>
                                          <p:spTgt spid="17"/>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500"/>
                                        <p:tgtEl>
                                          <p:spTgt spid="9"/>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up)">
                                      <p:cBhvr>
                                        <p:cTn id="55" dur="500"/>
                                        <p:tgtEl>
                                          <p:spTgt spid="1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left)">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7" grpId="0"/>
      <p:bldP spid="18" grpId="0"/>
      <p:bldP spid="19"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idx="4294967295"/>
          </p:nvPr>
        </p:nvSpPr>
        <p:spPr>
          <a:xfrm>
            <a:off x="467544" y="1124744"/>
            <a:ext cx="3096344" cy="648072"/>
          </a:xfrm>
        </p:spPr>
        <p:txBody>
          <a:bodyPr/>
          <a:lstStyle/>
          <a:p>
            <a:pPr marL="457200" lvl="1" indent="-457200" eaLnBrk="1" hangingPunct="1">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垄断导致无效率</a:t>
            </a:r>
            <a:endParaRPr lang="en-US" altLang="zh-CN" sz="20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280076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a:t>
            </a:r>
            <a:r>
              <a:rPr lang="zh-CN" altLang="en-US" sz="2400" b="1" spc="150" dirty="0">
                <a:solidFill>
                  <a:srgbClr val="FFFFFF"/>
                </a:solidFill>
                <a:latin typeface="微软雅黑" panose="020B0503020204020204" pitchFamily="34" charset="-122"/>
                <a:ea typeface="微软雅黑" panose="020B0503020204020204" pitchFamily="34" charset="-122"/>
              </a:rPr>
              <a:t>和低效率</a:t>
            </a:r>
          </a:p>
        </p:txBody>
      </p:sp>
      <p:sp>
        <p:nvSpPr>
          <p:cNvPr id="2" name="文本框 1"/>
          <p:cNvSpPr txBox="1"/>
          <p:nvPr/>
        </p:nvSpPr>
        <p:spPr>
          <a:xfrm>
            <a:off x="971600" y="1551174"/>
            <a:ext cx="6984776" cy="5298566"/>
          </a:xfrm>
          <a:prstGeom prst="rect">
            <a:avLst/>
          </a:prstGeom>
          <a:noFill/>
        </p:spPr>
        <p:txBody>
          <a:bodyPr wrap="square" rtlCol="0">
            <a:spAutoFit/>
          </a:bodyPr>
          <a:lstStyle/>
          <a:p>
            <a:pPr lvl="1" indent="-457200">
              <a:lnSpc>
                <a:spcPct val="30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垄断下</a:t>
            </a:r>
            <a:r>
              <a:rPr lang="en-US" altLang="zh-CN" sz="1800" dirty="0">
                <a:latin typeface="微软雅黑" panose="020B0503020204020204" pitchFamily="34" charset="-122"/>
                <a:ea typeface="微软雅黑" panose="020B0503020204020204" pitchFamily="34" charset="-122"/>
              </a:rPr>
              <a:t>MC=MR&lt;P</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存在福利改善的空间</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不具有帕累托效率</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lvl="1" indent="-457200">
              <a:lnSpc>
                <a:spcPct val="30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与竞争相比，价格高，产量少</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牺牲了本来附着在产量上的总剩余（消费者剩余加生产者剩余）</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无谓损失（净损失）</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lvl="1" indent="-457200">
              <a:lnSpc>
                <a:spcPct val="30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需要说明的是，如果垄断采取完全价格歧视，那么</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P=MR=MC</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，是有效率的。但是现实中不存在。</a:t>
            </a:r>
            <a:endParaRPr lang="zh-CN" altLang="en-US" sz="1800" dirty="0">
              <a:latin typeface="微软雅黑" panose="020B0503020204020204" pitchFamily="34" charset="-122"/>
              <a:ea typeface="微软雅黑" panose="020B0503020204020204" pitchFamily="34" charset="-122"/>
            </a:endParaRPr>
          </a:p>
          <a:p>
            <a:pPr>
              <a:lnSpc>
                <a:spcPct val="300000"/>
              </a:lnSpc>
            </a:pPr>
            <a:endParaRPr lang="zh-CN" altLang="en-US" sz="2800" dirty="0"/>
          </a:p>
        </p:txBody>
      </p:sp>
      <p:sp>
        <p:nvSpPr>
          <p:cNvPr id="10" name="标题 1">
            <a:extLst>
              <a:ext uri="{FF2B5EF4-FFF2-40B4-BE49-F238E27FC236}">
                <a16:creationId xmlns:a16="http://schemas.microsoft.com/office/drawing/2014/main" id="{8B2553CB-FC83-48CE-B419-48D5B573A1F4}"/>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19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fade">
                                      <p:cBhvr>
                                        <p:cTn id="16" dur="500"/>
                                        <p:tgtEl>
                                          <p:spTgt spid="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内容占位符 2"/>
          <p:cNvSpPr>
            <a:spLocks noGrp="1"/>
          </p:cNvSpPr>
          <p:nvPr>
            <p:ph idx="4294967295"/>
          </p:nvPr>
        </p:nvSpPr>
        <p:spPr>
          <a:xfrm>
            <a:off x="-53375" y="1556792"/>
            <a:ext cx="5184576" cy="5400600"/>
          </a:xfrm>
        </p:spPr>
        <p:txBody>
          <a:bodyPr/>
          <a:lstStyle/>
          <a:p>
            <a:pPr lvl="1">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  完全竞争市场</a:t>
            </a:r>
            <a:endParaRPr lang="en-US" altLang="zh-CN" sz="2000" dirty="0">
              <a:latin typeface="微软雅黑" panose="020B0503020204020204" pitchFamily="34" charset="-122"/>
              <a:ea typeface="微软雅黑" panose="020B0503020204020204" pitchFamily="34" charset="-122"/>
            </a:endParaRPr>
          </a:p>
          <a:p>
            <a:pPr lvl="2">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整个市场在市场需求曲线和市场供给曲线相交的</a:t>
            </a:r>
            <a:r>
              <a:rPr lang="en-US" altLang="zh-CN" sz="1600" dirty="0">
                <a:latin typeface="微软雅黑" panose="020B0503020204020204" pitchFamily="34" charset="-122"/>
                <a:ea typeface="微软雅黑" panose="020B0503020204020204" pitchFamily="34" charset="-122"/>
              </a:rPr>
              <a:t>A </a:t>
            </a:r>
            <a:r>
              <a:rPr lang="zh-CN" altLang="en-US" sz="1600" dirty="0">
                <a:latin typeface="微软雅黑" panose="020B0503020204020204" pitchFamily="34" charset="-122"/>
                <a:ea typeface="微软雅黑" panose="020B0503020204020204" pitchFamily="34" charset="-122"/>
              </a:rPr>
              <a:t>点达到均衡</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价格为</a:t>
            </a:r>
            <a:r>
              <a:rPr lang="en-US" altLang="zh-CN" sz="1600" dirty="0">
                <a:latin typeface="微软雅黑" panose="020B0503020204020204" pitchFamily="34" charset="-122"/>
                <a:ea typeface="微软雅黑" panose="020B0503020204020204" pitchFamily="34" charset="-122"/>
              </a:rPr>
              <a:t>P</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，产出量为</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lvl="2">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需求曲线表明消费者从每个产出水平中获得的边际效用。</a:t>
            </a:r>
            <a:endParaRPr lang="en-US" altLang="zh-CN" sz="1600"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垄断市场</a:t>
            </a:r>
            <a:endParaRPr lang="en-US" altLang="zh-CN" sz="2000" dirty="0">
              <a:latin typeface="微软雅黑" panose="020B0503020204020204" pitchFamily="34" charset="-122"/>
              <a:ea typeface="微软雅黑" panose="020B0503020204020204" pitchFamily="34" charset="-122"/>
            </a:endParaRPr>
          </a:p>
          <a:p>
            <a:pPr lvl="2">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边际成本曲线和边际收益曲线相交于</a:t>
            </a:r>
            <a:r>
              <a:rPr lang="en-US" altLang="zh-CN" sz="1600" dirty="0">
                <a:latin typeface="微软雅黑" panose="020B0503020204020204" pitchFamily="34" charset="-122"/>
                <a:ea typeface="微软雅黑" panose="020B0503020204020204" pitchFamily="34" charset="-122"/>
              </a:rPr>
              <a:t>C </a:t>
            </a:r>
            <a:r>
              <a:rPr lang="zh-CN" altLang="en-US" sz="1600" dirty="0">
                <a:latin typeface="微软雅黑" panose="020B0503020204020204" pitchFamily="34" charset="-122"/>
                <a:ea typeface="微软雅黑" panose="020B0503020204020204" pitchFamily="34" charset="-122"/>
              </a:rPr>
              <a:t>点垄断企业产出量为</a:t>
            </a:r>
            <a:r>
              <a:rPr lang="en-US" altLang="zh-CN" sz="1600" dirty="0" err="1">
                <a:latin typeface="微软雅黑" panose="020B0503020204020204" pitchFamily="34" charset="-122"/>
                <a:ea typeface="微软雅黑" panose="020B0503020204020204" pitchFamily="34" charset="-122"/>
              </a:rPr>
              <a:t>Qm</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并决定该产量的价格为</a:t>
            </a:r>
            <a:r>
              <a:rPr lang="en-US" altLang="zh-CN" sz="1600" dirty="0">
                <a:latin typeface="微软雅黑" panose="020B0503020204020204" pitchFamily="34" charset="-122"/>
                <a:ea typeface="微软雅黑" panose="020B0503020204020204" pitchFamily="34" charset="-122"/>
              </a:rPr>
              <a:t>Pm</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p:txBody>
      </p:sp>
      <p:cxnSp>
        <p:nvCxnSpPr>
          <p:cNvPr id="5" name="直接箭头连接符 5"/>
          <p:cNvCxnSpPr>
            <a:cxnSpLocks noChangeShapeType="1"/>
          </p:cNvCxnSpPr>
          <p:nvPr/>
        </p:nvCxnSpPr>
        <p:spPr bwMode="auto">
          <a:xfrm>
            <a:off x="5432475" y="5596258"/>
            <a:ext cx="3711525"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 name="直接箭头连接符 14"/>
          <p:cNvCxnSpPr>
            <a:cxnSpLocks noChangeShapeType="1"/>
          </p:cNvCxnSpPr>
          <p:nvPr/>
        </p:nvCxnSpPr>
        <p:spPr bwMode="auto">
          <a:xfrm flipV="1">
            <a:off x="5432475" y="1851345"/>
            <a:ext cx="0" cy="3744913"/>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 name="直接连接符 25"/>
          <p:cNvCxnSpPr>
            <a:cxnSpLocks noChangeShapeType="1"/>
          </p:cNvCxnSpPr>
          <p:nvPr/>
        </p:nvCxnSpPr>
        <p:spPr bwMode="auto">
          <a:xfrm>
            <a:off x="5432475" y="2356170"/>
            <a:ext cx="2376487" cy="3240088"/>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8" name="直接连接符 30"/>
          <p:cNvCxnSpPr>
            <a:cxnSpLocks noChangeShapeType="1"/>
          </p:cNvCxnSpPr>
          <p:nvPr/>
        </p:nvCxnSpPr>
        <p:spPr bwMode="auto">
          <a:xfrm>
            <a:off x="5432475" y="2356170"/>
            <a:ext cx="3480693" cy="2325688"/>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9" name="直接连接符 35"/>
          <p:cNvCxnSpPr>
            <a:cxnSpLocks noChangeShapeType="1"/>
          </p:cNvCxnSpPr>
          <p:nvPr/>
        </p:nvCxnSpPr>
        <p:spPr bwMode="auto">
          <a:xfrm>
            <a:off x="5432475" y="4156395"/>
            <a:ext cx="3167062" cy="0"/>
          </a:xfrm>
          <a:prstGeom prst="line">
            <a:avLst/>
          </a:prstGeom>
          <a:noFill/>
          <a:ln w="31750" cmpd="sng">
            <a:solidFill>
              <a:srgbClr val="7030A0"/>
            </a:solidFill>
            <a:round/>
            <a:headEnd/>
            <a:tailEnd/>
          </a:ln>
          <a:extLst>
            <a:ext uri="{909E8E84-426E-40DD-AFC4-6F175D3DCCD1}">
              <a14:hiddenFill xmlns:a14="http://schemas.microsoft.com/office/drawing/2010/main">
                <a:noFill/>
              </a14:hiddenFill>
            </a:ext>
          </a:extLst>
        </p:spPr>
      </p:cxnSp>
      <p:pic>
        <p:nvPicPr>
          <p:cNvPr id="10" name="弧形 4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6000" y="2530795"/>
            <a:ext cx="2322512" cy="230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弧形 4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2541908"/>
            <a:ext cx="1976438"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直接连接符 43"/>
          <p:cNvCxnSpPr>
            <a:cxnSpLocks noChangeShapeType="1"/>
          </p:cNvCxnSpPr>
          <p:nvPr/>
        </p:nvCxnSpPr>
        <p:spPr bwMode="auto">
          <a:xfrm>
            <a:off x="6764387" y="3246758"/>
            <a:ext cx="36513" cy="234950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3" name="直接连接符 53"/>
          <p:cNvCxnSpPr>
            <a:cxnSpLocks noChangeShapeType="1"/>
          </p:cNvCxnSpPr>
          <p:nvPr/>
        </p:nvCxnSpPr>
        <p:spPr bwMode="auto">
          <a:xfrm>
            <a:off x="5432475" y="3219770"/>
            <a:ext cx="1331912" cy="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4" name="直接连接符 56"/>
          <p:cNvCxnSpPr>
            <a:cxnSpLocks noChangeShapeType="1"/>
          </p:cNvCxnSpPr>
          <p:nvPr/>
        </p:nvCxnSpPr>
        <p:spPr bwMode="auto">
          <a:xfrm>
            <a:off x="8167737" y="4156395"/>
            <a:ext cx="0" cy="1439863"/>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sp>
        <p:nvSpPr>
          <p:cNvPr id="15" name="线形标注 2(无边框) 64"/>
          <p:cNvSpPr>
            <a:spLocks/>
          </p:cNvSpPr>
          <p:nvPr/>
        </p:nvSpPr>
        <p:spPr bwMode="auto">
          <a:xfrm>
            <a:off x="4856212" y="5307333"/>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0</a:t>
            </a:r>
            <a:endParaRPr lang="zh-CN" altLang="en-US" sz="2000">
              <a:latin typeface="Times New Roman" panose="02020603050405020304" pitchFamily="18" charset="0"/>
              <a:cs typeface="Times New Roman" panose="02020603050405020304" pitchFamily="18" charset="0"/>
            </a:endParaRPr>
          </a:p>
        </p:txBody>
      </p:sp>
      <p:sp>
        <p:nvSpPr>
          <p:cNvPr id="16" name="线形标注 2(无边框) 70"/>
          <p:cNvSpPr>
            <a:spLocks/>
          </p:cNvSpPr>
          <p:nvPr/>
        </p:nvSpPr>
        <p:spPr bwMode="auto">
          <a:xfrm>
            <a:off x="8562231" y="5451795"/>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dirty="0">
                <a:latin typeface="Times New Roman" panose="02020603050405020304" pitchFamily="18" charset="0"/>
                <a:cs typeface="Times New Roman" panose="02020603050405020304" pitchFamily="18" charset="0"/>
              </a:rPr>
              <a:t>Q</a:t>
            </a:r>
            <a:endParaRPr lang="zh-CN" altLang="en-US" sz="1800" dirty="0">
              <a:latin typeface="Times New Roman" panose="02020603050405020304" pitchFamily="18" charset="0"/>
              <a:cs typeface="Times New Roman" panose="02020603050405020304" pitchFamily="18" charset="0"/>
            </a:endParaRPr>
          </a:p>
        </p:txBody>
      </p:sp>
      <p:sp>
        <p:nvSpPr>
          <p:cNvPr id="17" name="线形标注 2(无边框) 71"/>
          <p:cNvSpPr>
            <a:spLocks/>
          </p:cNvSpPr>
          <p:nvPr/>
        </p:nvSpPr>
        <p:spPr bwMode="auto">
          <a:xfrm>
            <a:off x="4856212" y="1706883"/>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dirty="0">
                <a:latin typeface="Times New Roman" panose="02020603050405020304" pitchFamily="18" charset="0"/>
                <a:cs typeface="Times New Roman" panose="02020603050405020304" pitchFamily="18" charset="0"/>
              </a:rPr>
              <a:t>P</a:t>
            </a:r>
            <a:endParaRPr lang="zh-CN" altLang="en-US" sz="1800" dirty="0">
              <a:latin typeface="Times New Roman" panose="02020603050405020304" pitchFamily="18" charset="0"/>
              <a:cs typeface="Times New Roman" panose="02020603050405020304" pitchFamily="18" charset="0"/>
            </a:endParaRPr>
          </a:p>
        </p:txBody>
      </p:sp>
      <p:sp>
        <p:nvSpPr>
          <p:cNvPr id="18" name="线形标注 2(无边框) 72"/>
          <p:cNvSpPr>
            <a:spLocks/>
          </p:cNvSpPr>
          <p:nvPr/>
        </p:nvSpPr>
        <p:spPr bwMode="auto">
          <a:xfrm>
            <a:off x="7664500" y="4011933"/>
            <a:ext cx="792162"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latin typeface="Times New Roman" panose="02020603050405020304" pitchFamily="18" charset="0"/>
                <a:cs typeface="Times New Roman" panose="02020603050405020304" pitchFamily="18" charset="0"/>
              </a:rPr>
              <a:t>A</a:t>
            </a:r>
            <a:endParaRPr lang="zh-CN" altLang="en-US" sz="1800">
              <a:latin typeface="Times New Roman" panose="02020603050405020304" pitchFamily="18" charset="0"/>
              <a:cs typeface="Times New Roman" panose="02020603050405020304" pitchFamily="18" charset="0"/>
            </a:endParaRPr>
          </a:p>
        </p:txBody>
      </p:sp>
      <p:sp>
        <p:nvSpPr>
          <p:cNvPr id="19" name="线形标注 2(无边框) 73"/>
          <p:cNvSpPr>
            <a:spLocks/>
          </p:cNvSpPr>
          <p:nvPr/>
        </p:nvSpPr>
        <p:spPr bwMode="auto">
          <a:xfrm>
            <a:off x="6367512" y="2787970"/>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latin typeface="Times New Roman" panose="02020603050405020304" pitchFamily="18" charset="0"/>
                <a:cs typeface="Times New Roman" panose="02020603050405020304" pitchFamily="18" charset="0"/>
              </a:rPr>
              <a:t>B</a:t>
            </a:r>
            <a:endParaRPr lang="zh-CN" altLang="en-US" sz="1800">
              <a:latin typeface="Times New Roman" panose="02020603050405020304" pitchFamily="18" charset="0"/>
              <a:cs typeface="Times New Roman" panose="02020603050405020304" pitchFamily="18" charset="0"/>
            </a:endParaRPr>
          </a:p>
        </p:txBody>
      </p:sp>
      <p:sp>
        <p:nvSpPr>
          <p:cNvPr id="20" name="线形标注 2(无边框) 74"/>
          <p:cNvSpPr>
            <a:spLocks/>
          </p:cNvSpPr>
          <p:nvPr/>
        </p:nvSpPr>
        <p:spPr bwMode="auto">
          <a:xfrm>
            <a:off x="6511975" y="3651570"/>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latin typeface="Times New Roman" panose="02020603050405020304" pitchFamily="18" charset="0"/>
                <a:cs typeface="Times New Roman" panose="02020603050405020304" pitchFamily="18" charset="0"/>
              </a:rPr>
              <a:t>C</a:t>
            </a:r>
            <a:endParaRPr lang="zh-CN" altLang="en-US" sz="1800">
              <a:latin typeface="Times New Roman" panose="02020603050405020304" pitchFamily="18" charset="0"/>
              <a:cs typeface="Times New Roman" panose="02020603050405020304" pitchFamily="18" charset="0"/>
            </a:endParaRPr>
          </a:p>
        </p:txBody>
      </p:sp>
      <p:sp>
        <p:nvSpPr>
          <p:cNvPr id="21" name="线形标注 2(无边框) 75"/>
          <p:cNvSpPr>
            <a:spLocks/>
          </p:cNvSpPr>
          <p:nvPr/>
        </p:nvSpPr>
        <p:spPr bwMode="auto">
          <a:xfrm>
            <a:off x="4856212" y="2067245"/>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latin typeface="Times New Roman" panose="02020603050405020304" pitchFamily="18" charset="0"/>
                <a:cs typeface="Times New Roman" panose="02020603050405020304" pitchFamily="18" charset="0"/>
              </a:rPr>
              <a:t>D</a:t>
            </a:r>
            <a:endParaRPr lang="zh-CN" altLang="en-US" sz="1800">
              <a:latin typeface="Times New Roman" panose="02020603050405020304" pitchFamily="18" charset="0"/>
              <a:cs typeface="Times New Roman" panose="02020603050405020304" pitchFamily="18" charset="0"/>
            </a:endParaRPr>
          </a:p>
        </p:txBody>
      </p:sp>
      <p:sp>
        <p:nvSpPr>
          <p:cNvPr id="22" name="线形标注 2(无边框) 76"/>
          <p:cNvSpPr>
            <a:spLocks/>
          </p:cNvSpPr>
          <p:nvPr/>
        </p:nvSpPr>
        <p:spPr bwMode="auto">
          <a:xfrm>
            <a:off x="6440537" y="5451795"/>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dirty="0" err="1">
                <a:latin typeface="Times New Roman" panose="02020603050405020304" pitchFamily="18" charset="0"/>
                <a:cs typeface="Times New Roman" panose="02020603050405020304" pitchFamily="18" charset="0"/>
              </a:rPr>
              <a:t>Q</a:t>
            </a:r>
            <a:r>
              <a:rPr lang="en-US" altLang="zh-CN" sz="1800" baseline="-25000" dirty="0" err="1">
                <a:latin typeface="Times New Roman" panose="02020603050405020304" pitchFamily="18" charset="0"/>
                <a:cs typeface="Times New Roman" panose="02020603050405020304" pitchFamily="18" charset="0"/>
              </a:rPr>
              <a:t>m</a:t>
            </a:r>
            <a:endParaRPr lang="zh-CN" altLang="en-US" sz="1800" dirty="0">
              <a:latin typeface="Times New Roman" panose="02020603050405020304" pitchFamily="18" charset="0"/>
              <a:cs typeface="Times New Roman" panose="02020603050405020304" pitchFamily="18" charset="0"/>
            </a:endParaRPr>
          </a:p>
        </p:txBody>
      </p:sp>
      <p:sp>
        <p:nvSpPr>
          <p:cNvPr id="23" name="线形标注 2(无边框) 77"/>
          <p:cNvSpPr>
            <a:spLocks/>
          </p:cNvSpPr>
          <p:nvPr/>
        </p:nvSpPr>
        <p:spPr bwMode="auto">
          <a:xfrm>
            <a:off x="4783187" y="2930845"/>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latin typeface="Times New Roman" panose="02020603050405020304" pitchFamily="18" charset="0"/>
                <a:cs typeface="Times New Roman" panose="02020603050405020304" pitchFamily="18" charset="0"/>
              </a:rPr>
              <a:t>P</a:t>
            </a:r>
            <a:r>
              <a:rPr lang="en-US" altLang="zh-CN" sz="1800" baseline="-25000">
                <a:latin typeface="Times New Roman" panose="02020603050405020304" pitchFamily="18" charset="0"/>
                <a:cs typeface="Times New Roman" panose="02020603050405020304" pitchFamily="18" charset="0"/>
              </a:rPr>
              <a:t>m</a:t>
            </a:r>
            <a:endParaRPr lang="zh-CN" altLang="en-US" sz="1800">
              <a:latin typeface="Times New Roman" panose="02020603050405020304" pitchFamily="18" charset="0"/>
              <a:cs typeface="Times New Roman" panose="02020603050405020304" pitchFamily="18" charset="0"/>
            </a:endParaRPr>
          </a:p>
        </p:txBody>
      </p:sp>
      <p:sp>
        <p:nvSpPr>
          <p:cNvPr id="24" name="线形标注 2(无边框) 78"/>
          <p:cNvSpPr>
            <a:spLocks/>
          </p:cNvSpPr>
          <p:nvPr/>
        </p:nvSpPr>
        <p:spPr bwMode="auto">
          <a:xfrm>
            <a:off x="7808962" y="5451795"/>
            <a:ext cx="790575"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dirty="0">
                <a:latin typeface="Times New Roman" panose="02020603050405020304" pitchFamily="18" charset="0"/>
                <a:cs typeface="Times New Roman" panose="02020603050405020304" pitchFamily="18" charset="0"/>
              </a:rPr>
              <a:t>Q</a:t>
            </a:r>
            <a:r>
              <a:rPr lang="en-US" altLang="zh-CN" sz="1800" baseline="300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sp>
        <p:nvSpPr>
          <p:cNvPr id="25" name="线形标注 2(无边框) 79"/>
          <p:cNvSpPr>
            <a:spLocks/>
          </p:cNvSpPr>
          <p:nvPr/>
        </p:nvSpPr>
        <p:spPr bwMode="auto">
          <a:xfrm>
            <a:off x="4856212" y="3867470"/>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latin typeface="Times New Roman" panose="02020603050405020304" pitchFamily="18" charset="0"/>
                <a:cs typeface="Times New Roman" panose="02020603050405020304" pitchFamily="18" charset="0"/>
              </a:rPr>
              <a:t>P</a:t>
            </a:r>
            <a:r>
              <a:rPr lang="en-US" altLang="zh-CN" sz="1800" baseline="30000">
                <a:latin typeface="Times New Roman" panose="02020603050405020304" pitchFamily="18" charset="0"/>
                <a:cs typeface="Times New Roman" panose="02020603050405020304" pitchFamily="18" charset="0"/>
              </a:rPr>
              <a:t>*</a:t>
            </a:r>
            <a:endParaRPr lang="zh-CN" altLang="en-US" sz="1800">
              <a:latin typeface="Times New Roman" panose="02020603050405020304" pitchFamily="18" charset="0"/>
              <a:cs typeface="Times New Roman" panose="02020603050405020304" pitchFamily="18" charset="0"/>
            </a:endParaRPr>
          </a:p>
        </p:txBody>
      </p:sp>
      <p:sp>
        <p:nvSpPr>
          <p:cNvPr id="26" name="线形标注 2(无边框) 80"/>
          <p:cNvSpPr>
            <a:spLocks/>
          </p:cNvSpPr>
          <p:nvPr/>
        </p:nvSpPr>
        <p:spPr bwMode="auto">
          <a:xfrm>
            <a:off x="8517880" y="4562796"/>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dirty="0" err="1">
                <a:latin typeface="Times New Roman" panose="02020603050405020304" pitchFamily="18" charset="0"/>
                <a:cs typeface="Times New Roman" panose="02020603050405020304" pitchFamily="18" charset="0"/>
              </a:rPr>
              <a:t>D</a:t>
            </a:r>
            <a:r>
              <a:rPr lang="en-US" altLang="zh-CN" sz="1800" baseline="-25000" dirty="0" err="1">
                <a:latin typeface="Times New Roman" panose="02020603050405020304" pitchFamily="18" charset="0"/>
                <a:cs typeface="Times New Roman" panose="02020603050405020304" pitchFamily="18" charset="0"/>
              </a:rPr>
              <a:t>m</a:t>
            </a:r>
            <a:endParaRPr lang="zh-CN" altLang="en-US" sz="1800" dirty="0">
              <a:latin typeface="Times New Roman" panose="02020603050405020304" pitchFamily="18" charset="0"/>
              <a:cs typeface="Times New Roman" panose="02020603050405020304" pitchFamily="18" charset="0"/>
            </a:endParaRPr>
          </a:p>
        </p:txBody>
      </p:sp>
      <p:sp>
        <p:nvSpPr>
          <p:cNvPr id="27" name="线形标注 2(无边框) 81"/>
          <p:cNvSpPr>
            <a:spLocks/>
          </p:cNvSpPr>
          <p:nvPr/>
        </p:nvSpPr>
        <p:spPr bwMode="auto">
          <a:xfrm>
            <a:off x="7375575" y="4731070"/>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dirty="0" err="1">
                <a:latin typeface="Times New Roman" panose="02020603050405020304" pitchFamily="18" charset="0"/>
                <a:cs typeface="Times New Roman" panose="02020603050405020304" pitchFamily="18" charset="0"/>
              </a:rPr>
              <a:t>MR</a:t>
            </a:r>
            <a:r>
              <a:rPr lang="en-US" altLang="zh-CN" sz="1800" baseline="-25000" dirty="0" err="1">
                <a:latin typeface="Times New Roman" panose="02020603050405020304" pitchFamily="18" charset="0"/>
                <a:cs typeface="Times New Roman" panose="02020603050405020304" pitchFamily="18" charset="0"/>
              </a:rPr>
              <a:t>m</a:t>
            </a:r>
            <a:endParaRPr lang="zh-CN" altLang="en-US" sz="1800" dirty="0">
              <a:latin typeface="Times New Roman" panose="02020603050405020304" pitchFamily="18" charset="0"/>
              <a:cs typeface="Times New Roman" panose="02020603050405020304" pitchFamily="18" charset="0"/>
            </a:endParaRPr>
          </a:p>
        </p:txBody>
      </p:sp>
      <p:sp>
        <p:nvSpPr>
          <p:cNvPr id="28" name="线形标注 2(无边框) 82"/>
          <p:cNvSpPr>
            <a:spLocks/>
          </p:cNvSpPr>
          <p:nvPr/>
        </p:nvSpPr>
        <p:spPr bwMode="auto">
          <a:xfrm>
            <a:off x="7880400" y="3219770"/>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latin typeface="Times New Roman" panose="02020603050405020304" pitchFamily="18" charset="0"/>
                <a:cs typeface="Times New Roman" panose="02020603050405020304" pitchFamily="18" charset="0"/>
              </a:rPr>
              <a:t>AC</a:t>
            </a:r>
            <a:r>
              <a:rPr lang="en-US" altLang="zh-CN" sz="1800" baseline="-25000">
                <a:latin typeface="Times New Roman" panose="02020603050405020304" pitchFamily="18" charset="0"/>
                <a:cs typeface="Times New Roman" panose="02020603050405020304" pitchFamily="18" charset="0"/>
              </a:rPr>
              <a:t>m</a:t>
            </a:r>
            <a:endParaRPr lang="zh-CN" altLang="en-US" sz="1800">
              <a:latin typeface="Times New Roman" panose="02020603050405020304" pitchFamily="18" charset="0"/>
              <a:cs typeface="Times New Roman" panose="02020603050405020304" pitchFamily="18" charset="0"/>
            </a:endParaRPr>
          </a:p>
        </p:txBody>
      </p:sp>
      <p:sp>
        <p:nvSpPr>
          <p:cNvPr id="29" name="线形标注 2(无边框) 83"/>
          <p:cNvSpPr>
            <a:spLocks/>
          </p:cNvSpPr>
          <p:nvPr/>
        </p:nvSpPr>
        <p:spPr bwMode="auto">
          <a:xfrm>
            <a:off x="6727875" y="2067245"/>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latin typeface="Times New Roman" panose="02020603050405020304" pitchFamily="18" charset="0"/>
                <a:cs typeface="Times New Roman" panose="02020603050405020304" pitchFamily="18" charset="0"/>
              </a:rPr>
              <a:t>MC</a:t>
            </a:r>
            <a:r>
              <a:rPr lang="en-US" altLang="zh-CN" sz="1800" baseline="-25000">
                <a:latin typeface="Times New Roman" panose="02020603050405020304" pitchFamily="18" charset="0"/>
                <a:cs typeface="Times New Roman" panose="02020603050405020304" pitchFamily="18" charset="0"/>
              </a:rPr>
              <a:t>m</a:t>
            </a:r>
            <a:endParaRPr lang="zh-CN" altLang="en-US" sz="1800">
              <a:latin typeface="Times New Roman" panose="02020603050405020304" pitchFamily="18" charset="0"/>
              <a:cs typeface="Times New Roman" panose="02020603050405020304" pitchFamily="18" charset="0"/>
            </a:endParaRPr>
          </a:p>
        </p:txBody>
      </p:sp>
      <p:sp>
        <p:nvSpPr>
          <p:cNvPr id="34" name="圆角矩形标注 33"/>
          <p:cNvSpPr/>
          <p:nvPr/>
        </p:nvSpPr>
        <p:spPr bwMode="auto">
          <a:xfrm>
            <a:off x="5510263" y="4826320"/>
            <a:ext cx="1655762" cy="402570"/>
          </a:xfrm>
          <a:prstGeom prst="wedgeRoundRectCallout">
            <a:avLst>
              <a:gd name="adj1" fmla="val -35894"/>
              <a:gd name="adj2" fmla="val -218223"/>
              <a:gd name="adj3" fmla="val 16667"/>
            </a:avLst>
          </a:prstGeom>
          <a:noFill/>
          <a:ln w="2857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gn="ctr"/>
            <a:r>
              <a:rPr lang="en-US" altLang="zh-CN" sz="1800" dirty="0">
                <a:latin typeface="Times New Roman" panose="02020603050405020304" pitchFamily="18" charset="0"/>
                <a:cs typeface="Times New Roman" panose="02020603050405020304" pitchFamily="18" charset="0"/>
              </a:rPr>
              <a:t>S</a:t>
            </a:r>
            <a:r>
              <a:rPr lang="en-US" altLang="zh-CN" sz="1800" baseline="-25000" dirty="0">
                <a:latin typeface="Times New Roman" panose="02020603050405020304" pitchFamily="18" charset="0"/>
                <a:cs typeface="Times New Roman" panose="02020603050405020304" pitchFamily="18" charset="0"/>
              </a:rPr>
              <a:t>c</a:t>
            </a:r>
            <a:r>
              <a:rPr lang="en-US" altLang="zh-CN" sz="1800" dirty="0">
                <a:latin typeface="Times New Roman" panose="02020603050405020304" pitchFamily="18" charset="0"/>
                <a:cs typeface="Times New Roman" panose="02020603050405020304" pitchFamily="18" charset="0"/>
              </a:rPr>
              <a:t>,  AC=MC</a:t>
            </a:r>
            <a:endParaRPr lang="zh-CN" altLang="en-US" sz="1800" dirty="0">
              <a:latin typeface="Times New Roman" panose="02020603050405020304" pitchFamily="18" charset="0"/>
              <a:cs typeface="Times New Roman" panose="02020603050405020304" pitchFamily="18" charset="0"/>
            </a:endParaRPr>
          </a:p>
        </p:txBody>
      </p:sp>
      <p:sp>
        <p:nvSpPr>
          <p:cNvPr id="30" name="标题 1"/>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31" name="矩形 30">
            <a:extLst>
              <a:ext uri="{FF2B5EF4-FFF2-40B4-BE49-F238E27FC236}">
                <a16:creationId xmlns:a16="http://schemas.microsoft.com/office/drawing/2014/main" id="{F68E5273-CD77-47B9-B841-9D29349C133D}"/>
              </a:ext>
            </a:extLst>
          </p:cNvPr>
          <p:cNvSpPr/>
          <p:nvPr/>
        </p:nvSpPr>
        <p:spPr>
          <a:xfrm>
            <a:off x="467544" y="548680"/>
            <a:ext cx="280076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a:t>
            </a:r>
            <a:r>
              <a:rPr lang="zh-CN" altLang="en-US" sz="2400" b="1" spc="150" dirty="0">
                <a:solidFill>
                  <a:srgbClr val="FFFFFF"/>
                </a:solidFill>
                <a:latin typeface="微软雅黑" panose="020B0503020204020204" pitchFamily="34" charset="-122"/>
                <a:ea typeface="微软雅黑" panose="020B0503020204020204" pitchFamily="34" charset="-122"/>
              </a:rPr>
              <a:t>和低效率</a:t>
            </a:r>
          </a:p>
        </p:txBody>
      </p:sp>
      <p:sp>
        <p:nvSpPr>
          <p:cNvPr id="2" name="文本框 1"/>
          <p:cNvSpPr txBox="1"/>
          <p:nvPr/>
        </p:nvSpPr>
        <p:spPr>
          <a:xfrm>
            <a:off x="380341" y="1228690"/>
            <a:ext cx="5775940" cy="400110"/>
          </a:xfrm>
          <a:prstGeom prst="rect">
            <a:avLst/>
          </a:prstGeom>
          <a:noFill/>
        </p:spPr>
        <p:txBody>
          <a:bodyPr wrap="none" rtlCol="0">
            <a:spAutoFit/>
          </a:bodyPr>
          <a:lstStyle/>
          <a:p>
            <a:pPr marL="457200" indent="-4572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垄断与完全竞争市场的价格和产量：曲线分析</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1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9218">
                                            <p:txEl>
                                              <p:pRg st="0" end="0"/>
                                            </p:txEl>
                                          </p:spTgt>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9218">
                                            <p:txEl>
                                              <p:pRg st="1" end="1"/>
                                            </p:txEl>
                                          </p:spTgt>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9218">
                                            <p:txEl>
                                              <p:pRg st="2" end="2"/>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nodeType="clickEffect">
                                  <p:stCondLst>
                                    <p:cond delay="0"/>
                                  </p:stCondLst>
                                  <p:childTnLst>
                                    <p:set>
                                      <p:cBhvr>
                                        <p:cTn id="79" dur="1" fill="hold">
                                          <p:stCondLst>
                                            <p:cond delay="0"/>
                                          </p:stCondLst>
                                        </p:cTn>
                                        <p:tgtEl>
                                          <p:spTgt spid="9218">
                                            <p:txEl>
                                              <p:pRg st="3" end="3"/>
                                            </p:txEl>
                                          </p:spTgt>
                                        </p:tgtEl>
                                        <p:attrNameLst>
                                          <p:attrName>style.visibility</p:attrName>
                                        </p:attrNameLst>
                                      </p:cBhvr>
                                      <p:to>
                                        <p:strVal val="visible"/>
                                      </p:to>
                                    </p:set>
                                    <p:animEffect transition="in" filter="slide(fromBottom)">
                                      <p:cBhvr>
                                        <p:cTn id="80" dur="500"/>
                                        <p:tgtEl>
                                          <p:spTgt spid="9218">
                                            <p:txEl>
                                              <p:pRg st="3" end="3"/>
                                            </p:txEl>
                                          </p:spTgt>
                                        </p:tgtEl>
                                      </p:cBhvr>
                                    </p:animEffect>
                                  </p:childTnLst>
                                </p:cTn>
                              </p:par>
                              <p:par>
                                <p:cTn id="81" presetID="12" presetClass="entr" presetSubtype="4" fill="hold" nodeType="withEffect">
                                  <p:stCondLst>
                                    <p:cond delay="0"/>
                                  </p:stCondLst>
                                  <p:childTnLst>
                                    <p:set>
                                      <p:cBhvr>
                                        <p:cTn id="82" dur="1" fill="hold">
                                          <p:stCondLst>
                                            <p:cond delay="0"/>
                                          </p:stCondLst>
                                        </p:cTn>
                                        <p:tgtEl>
                                          <p:spTgt spid="9218">
                                            <p:txEl>
                                              <p:pRg st="4" end="4"/>
                                            </p:txEl>
                                          </p:spTgt>
                                        </p:tgtEl>
                                        <p:attrNameLst>
                                          <p:attrName>style.visibility</p:attrName>
                                        </p:attrNameLst>
                                      </p:cBhvr>
                                      <p:to>
                                        <p:strVal val="visible"/>
                                      </p:to>
                                    </p:set>
                                    <p:animEffect transition="in" filter="slide(fromBottom)">
                                      <p:cBhvr>
                                        <p:cTn id="83" dur="500"/>
                                        <p:tgtEl>
                                          <p:spTgt spid="9218">
                                            <p:txEl>
                                              <p:pRg st="4" end="4"/>
                                            </p:txEl>
                                          </p:spTgt>
                                        </p:tgtEl>
                                      </p:cBhvr>
                                    </p:animEffect>
                                  </p:childTnLst>
                                </p:cTn>
                              </p:par>
                              <p:par>
                                <p:cTn id="84" presetID="1"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utoUpdateAnimBg="0"/>
      <p:bldP spid="15"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P spid="25" grpId="0" autoUpdateAnimBg="0"/>
      <p:bldP spid="26" grpId="0" autoUpdateAnimBg="0"/>
      <p:bldP spid="27" grpId="0" autoUpdateAnimBg="0"/>
      <p:bldP spid="28" grpId="0" autoUpdateAnimBg="0"/>
      <p:bldP spid="29" grpId="0" autoUpdateAnimBg="0"/>
      <p:bldP spid="34"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250825" y="1125538"/>
            <a:ext cx="8137525" cy="5327650"/>
          </a:xfrm>
        </p:spPr>
        <p:txBody>
          <a:bodyPr/>
          <a:lstStyle/>
          <a:p>
            <a:pPr eaLnBrk="1" hangingPunct="1"/>
            <a:r>
              <a:rPr lang="en-US" altLang="zh-CN" sz="3200" b="1" dirty="0">
                <a:solidFill>
                  <a:srgbClr val="CC0000"/>
                </a:solidFill>
              </a:rPr>
              <a:t/>
            </a:r>
            <a:br>
              <a:rPr lang="en-US" altLang="zh-CN" sz="3200" b="1" dirty="0">
                <a:solidFill>
                  <a:srgbClr val="CC0000"/>
                </a:solidFill>
              </a:rPr>
            </a:br>
            <a:r>
              <a:rPr lang="en-US" altLang="zh-CN" sz="3200" b="1" dirty="0">
                <a:solidFill>
                  <a:srgbClr val="CC0000"/>
                </a:solidFill>
              </a:rPr>
              <a:t>                                 </a:t>
            </a:r>
            <a:br>
              <a:rPr lang="en-US" altLang="zh-CN" sz="3200" b="1" dirty="0">
                <a:solidFill>
                  <a:srgbClr val="CC0000"/>
                </a:solidFill>
              </a:rPr>
            </a:br>
            <a:r>
              <a:rPr lang="en-US" altLang="zh-CN" sz="3200" b="1" dirty="0">
                <a:solidFill>
                  <a:srgbClr val="CC0000"/>
                </a:solidFill>
              </a:rPr>
              <a:t>                                                  </a:t>
            </a:r>
            <a:br>
              <a:rPr lang="en-US" altLang="zh-CN" sz="3200" b="1" dirty="0">
                <a:solidFill>
                  <a:srgbClr val="CC0000"/>
                </a:solidFill>
              </a:rPr>
            </a:br>
            <a:r>
              <a:rPr lang="en-US" altLang="zh-CN" sz="3200" b="1" dirty="0">
                <a:solidFill>
                  <a:srgbClr val="CC0000"/>
                </a:solidFill>
              </a:rPr>
              <a:t/>
            </a:r>
            <a:br>
              <a:rPr lang="en-US" altLang="zh-CN" sz="3200" b="1" dirty="0">
                <a:solidFill>
                  <a:srgbClr val="CC0000"/>
                </a:solidFill>
              </a:rPr>
            </a:br>
            <a:r>
              <a:rPr lang="en-US" altLang="zh-CN" sz="3200" b="1" dirty="0">
                <a:solidFill>
                  <a:srgbClr val="CC0000"/>
                </a:solidFill>
              </a:rPr>
              <a:t/>
            </a:r>
            <a:br>
              <a:rPr lang="en-US" altLang="zh-CN" sz="3200" b="1" dirty="0">
                <a:solidFill>
                  <a:srgbClr val="CC0000"/>
                </a:solidFill>
              </a:rPr>
            </a:br>
            <a:r>
              <a:rPr lang="en-US" altLang="zh-CN" sz="3200" b="1" dirty="0">
                <a:solidFill>
                  <a:srgbClr val="CC0000"/>
                </a:solidFill>
              </a:rPr>
              <a:t/>
            </a:r>
            <a:br>
              <a:rPr lang="en-US" altLang="zh-CN" sz="3200" b="1" dirty="0">
                <a:solidFill>
                  <a:srgbClr val="CC0000"/>
                </a:solidFill>
              </a:rPr>
            </a:br>
            <a:r>
              <a:rPr lang="en-US" altLang="zh-CN" sz="3200" b="1" dirty="0">
                <a:solidFill>
                  <a:srgbClr val="CC0000"/>
                </a:solidFill>
              </a:rPr>
              <a:t/>
            </a:r>
            <a:br>
              <a:rPr lang="en-US" altLang="zh-CN" sz="3200" b="1" dirty="0">
                <a:solidFill>
                  <a:srgbClr val="CC0000"/>
                </a:solidFill>
              </a:rPr>
            </a:br>
            <a:r>
              <a:rPr lang="en-US" altLang="zh-CN" sz="3200" b="1" dirty="0">
                <a:solidFill>
                  <a:srgbClr val="CC0000"/>
                </a:solidFill>
              </a:rPr>
              <a:t/>
            </a:r>
            <a:br>
              <a:rPr lang="en-US" altLang="zh-CN" sz="3200" b="1" dirty="0">
                <a:solidFill>
                  <a:srgbClr val="CC0000"/>
                </a:solidFill>
              </a:rPr>
            </a:br>
            <a:endParaRPr lang="zh-CN" altLang="en-US" sz="2000" dirty="0">
              <a:solidFill>
                <a:srgbClr val="FF0000"/>
              </a:solidFill>
            </a:endParaRPr>
          </a:p>
        </p:txBody>
      </p:sp>
      <p:cxnSp>
        <p:nvCxnSpPr>
          <p:cNvPr id="10243" name="直接箭头连接符 5"/>
          <p:cNvCxnSpPr>
            <a:cxnSpLocks noChangeShapeType="1"/>
          </p:cNvCxnSpPr>
          <p:nvPr/>
        </p:nvCxnSpPr>
        <p:spPr bwMode="auto">
          <a:xfrm>
            <a:off x="1404864" y="5589588"/>
            <a:ext cx="5472112"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44" name="直接箭头连接符 14"/>
          <p:cNvCxnSpPr>
            <a:cxnSpLocks noChangeShapeType="1"/>
          </p:cNvCxnSpPr>
          <p:nvPr/>
        </p:nvCxnSpPr>
        <p:spPr bwMode="auto">
          <a:xfrm flipV="1">
            <a:off x="1404864" y="1844675"/>
            <a:ext cx="0" cy="3744913"/>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45" name="直接连接符 25"/>
          <p:cNvCxnSpPr>
            <a:cxnSpLocks noChangeShapeType="1"/>
          </p:cNvCxnSpPr>
          <p:nvPr/>
        </p:nvCxnSpPr>
        <p:spPr bwMode="auto">
          <a:xfrm>
            <a:off x="1404864" y="2349500"/>
            <a:ext cx="2376487" cy="3240088"/>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10246" name="直接连接符 30"/>
          <p:cNvCxnSpPr>
            <a:cxnSpLocks noChangeShapeType="1"/>
          </p:cNvCxnSpPr>
          <p:nvPr/>
        </p:nvCxnSpPr>
        <p:spPr bwMode="auto">
          <a:xfrm>
            <a:off x="1404864" y="2349500"/>
            <a:ext cx="4895850" cy="3240088"/>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10247" name="直接连接符 35"/>
          <p:cNvCxnSpPr>
            <a:cxnSpLocks noChangeShapeType="1"/>
          </p:cNvCxnSpPr>
          <p:nvPr/>
        </p:nvCxnSpPr>
        <p:spPr bwMode="auto">
          <a:xfrm>
            <a:off x="1404864" y="4149725"/>
            <a:ext cx="3167062" cy="0"/>
          </a:xfrm>
          <a:prstGeom prst="line">
            <a:avLst/>
          </a:prstGeom>
          <a:noFill/>
          <a:ln w="31750" cmpd="sng">
            <a:solidFill>
              <a:srgbClr val="7030A0"/>
            </a:solidFill>
            <a:round/>
            <a:headEnd/>
            <a:tailEnd/>
          </a:ln>
          <a:extLst>
            <a:ext uri="{909E8E84-426E-40DD-AFC4-6F175D3DCCD1}">
              <a14:hiddenFill xmlns:a14="http://schemas.microsoft.com/office/drawing/2010/main">
                <a:noFill/>
              </a14:hiddenFill>
            </a:ext>
          </a:extLst>
        </p:spPr>
      </p:cxnSp>
      <p:pic>
        <p:nvPicPr>
          <p:cNvPr id="10248" name="弧形 4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389" y="2524125"/>
            <a:ext cx="2322512" cy="230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弧形 4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2501" y="2535238"/>
            <a:ext cx="1976438"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250" name="直接连接符 43"/>
          <p:cNvCxnSpPr>
            <a:cxnSpLocks noChangeShapeType="1"/>
          </p:cNvCxnSpPr>
          <p:nvPr/>
        </p:nvCxnSpPr>
        <p:spPr bwMode="auto">
          <a:xfrm>
            <a:off x="2736776" y="3240088"/>
            <a:ext cx="36513" cy="234950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0251" name="直接连接符 53"/>
          <p:cNvCxnSpPr>
            <a:cxnSpLocks noChangeShapeType="1"/>
          </p:cNvCxnSpPr>
          <p:nvPr/>
        </p:nvCxnSpPr>
        <p:spPr bwMode="auto">
          <a:xfrm>
            <a:off x="1404864" y="3213100"/>
            <a:ext cx="1331912" cy="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0252" name="直接连接符 56"/>
          <p:cNvCxnSpPr>
            <a:cxnSpLocks noChangeShapeType="1"/>
          </p:cNvCxnSpPr>
          <p:nvPr/>
        </p:nvCxnSpPr>
        <p:spPr bwMode="auto">
          <a:xfrm>
            <a:off x="4140126" y="4149725"/>
            <a:ext cx="0" cy="1439863"/>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sp>
        <p:nvSpPr>
          <p:cNvPr id="10253" name="线形标注 2(无边框) 64"/>
          <p:cNvSpPr>
            <a:spLocks/>
          </p:cNvSpPr>
          <p:nvPr/>
        </p:nvSpPr>
        <p:spPr bwMode="auto">
          <a:xfrm>
            <a:off x="828601" y="5300663"/>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0</a:t>
            </a:r>
            <a:endParaRPr lang="zh-CN" altLang="en-US" sz="2000">
              <a:latin typeface="Times New Roman" panose="02020603050405020304" pitchFamily="18" charset="0"/>
              <a:cs typeface="Times New Roman" panose="02020603050405020304" pitchFamily="18" charset="0"/>
            </a:endParaRPr>
          </a:p>
        </p:txBody>
      </p:sp>
      <p:sp>
        <p:nvSpPr>
          <p:cNvPr id="10254" name="线形标注 2(无边框) 70"/>
          <p:cNvSpPr>
            <a:spLocks/>
          </p:cNvSpPr>
          <p:nvPr/>
        </p:nvSpPr>
        <p:spPr bwMode="auto">
          <a:xfrm>
            <a:off x="5868914" y="5445125"/>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Q</a:t>
            </a:r>
            <a:endParaRPr lang="zh-CN" altLang="en-US" sz="2000">
              <a:latin typeface="Times New Roman" panose="02020603050405020304" pitchFamily="18" charset="0"/>
              <a:cs typeface="Times New Roman" panose="02020603050405020304" pitchFamily="18" charset="0"/>
            </a:endParaRPr>
          </a:p>
        </p:txBody>
      </p:sp>
      <p:sp>
        <p:nvSpPr>
          <p:cNvPr id="10255" name="线形标注 2(无边框) 71"/>
          <p:cNvSpPr>
            <a:spLocks/>
          </p:cNvSpPr>
          <p:nvPr/>
        </p:nvSpPr>
        <p:spPr bwMode="auto">
          <a:xfrm>
            <a:off x="828601" y="1700213"/>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P</a:t>
            </a:r>
            <a:endParaRPr lang="zh-CN" altLang="en-US" sz="2000">
              <a:latin typeface="Times New Roman" panose="02020603050405020304" pitchFamily="18" charset="0"/>
              <a:cs typeface="Times New Roman" panose="02020603050405020304" pitchFamily="18" charset="0"/>
            </a:endParaRPr>
          </a:p>
        </p:txBody>
      </p:sp>
      <p:sp>
        <p:nvSpPr>
          <p:cNvPr id="10256" name="线形标注 2(无边框) 72"/>
          <p:cNvSpPr>
            <a:spLocks/>
          </p:cNvSpPr>
          <p:nvPr/>
        </p:nvSpPr>
        <p:spPr bwMode="auto">
          <a:xfrm>
            <a:off x="3636889" y="4005263"/>
            <a:ext cx="792162"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A</a:t>
            </a:r>
            <a:endParaRPr lang="zh-CN" altLang="en-US" sz="2000">
              <a:latin typeface="Times New Roman" panose="02020603050405020304" pitchFamily="18" charset="0"/>
              <a:cs typeface="Times New Roman" panose="02020603050405020304" pitchFamily="18" charset="0"/>
            </a:endParaRPr>
          </a:p>
        </p:txBody>
      </p:sp>
      <p:sp>
        <p:nvSpPr>
          <p:cNvPr id="10257" name="线形标注 2(无边框) 73"/>
          <p:cNvSpPr>
            <a:spLocks/>
          </p:cNvSpPr>
          <p:nvPr/>
        </p:nvSpPr>
        <p:spPr bwMode="auto">
          <a:xfrm>
            <a:off x="2339901" y="2781300"/>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B</a:t>
            </a:r>
            <a:endParaRPr lang="zh-CN" altLang="en-US" sz="2000">
              <a:latin typeface="Times New Roman" panose="02020603050405020304" pitchFamily="18" charset="0"/>
              <a:cs typeface="Times New Roman" panose="02020603050405020304" pitchFamily="18" charset="0"/>
            </a:endParaRPr>
          </a:p>
        </p:txBody>
      </p:sp>
      <p:sp>
        <p:nvSpPr>
          <p:cNvPr id="10258" name="线形标注 2(无边框) 74"/>
          <p:cNvSpPr>
            <a:spLocks/>
          </p:cNvSpPr>
          <p:nvPr/>
        </p:nvSpPr>
        <p:spPr bwMode="auto">
          <a:xfrm>
            <a:off x="2484364" y="3644900"/>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C</a:t>
            </a:r>
            <a:endParaRPr lang="zh-CN" altLang="en-US" sz="2000">
              <a:latin typeface="Times New Roman" panose="02020603050405020304" pitchFamily="18" charset="0"/>
              <a:cs typeface="Times New Roman" panose="02020603050405020304" pitchFamily="18" charset="0"/>
            </a:endParaRPr>
          </a:p>
        </p:txBody>
      </p:sp>
      <p:sp>
        <p:nvSpPr>
          <p:cNvPr id="10259" name="线形标注 2(无边框) 75"/>
          <p:cNvSpPr>
            <a:spLocks/>
          </p:cNvSpPr>
          <p:nvPr/>
        </p:nvSpPr>
        <p:spPr bwMode="auto">
          <a:xfrm>
            <a:off x="828601" y="2060575"/>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D</a:t>
            </a:r>
            <a:endParaRPr lang="zh-CN" altLang="en-US" sz="2000">
              <a:latin typeface="Times New Roman" panose="02020603050405020304" pitchFamily="18" charset="0"/>
              <a:cs typeface="Times New Roman" panose="02020603050405020304" pitchFamily="18" charset="0"/>
            </a:endParaRPr>
          </a:p>
        </p:txBody>
      </p:sp>
      <p:sp>
        <p:nvSpPr>
          <p:cNvPr id="10260" name="线形标注 2(无边框) 76"/>
          <p:cNvSpPr>
            <a:spLocks/>
          </p:cNvSpPr>
          <p:nvPr/>
        </p:nvSpPr>
        <p:spPr bwMode="auto">
          <a:xfrm>
            <a:off x="2412926" y="5445125"/>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Q</a:t>
            </a:r>
            <a:r>
              <a:rPr lang="en-US" altLang="zh-CN" sz="2000" baseline="-25000">
                <a:latin typeface="Times New Roman" panose="02020603050405020304" pitchFamily="18" charset="0"/>
                <a:cs typeface="Times New Roman" panose="02020603050405020304" pitchFamily="18" charset="0"/>
              </a:rPr>
              <a:t>m</a:t>
            </a:r>
            <a:endParaRPr lang="zh-CN" altLang="en-US" sz="2000">
              <a:latin typeface="Times New Roman" panose="02020603050405020304" pitchFamily="18" charset="0"/>
              <a:cs typeface="Times New Roman" panose="02020603050405020304" pitchFamily="18" charset="0"/>
            </a:endParaRPr>
          </a:p>
        </p:txBody>
      </p:sp>
      <p:sp>
        <p:nvSpPr>
          <p:cNvPr id="10261" name="线形标注 2(无边框) 77"/>
          <p:cNvSpPr>
            <a:spLocks/>
          </p:cNvSpPr>
          <p:nvPr/>
        </p:nvSpPr>
        <p:spPr bwMode="auto">
          <a:xfrm>
            <a:off x="755576" y="2924175"/>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P</a:t>
            </a:r>
            <a:r>
              <a:rPr lang="en-US" altLang="zh-CN" sz="2000" baseline="-25000">
                <a:latin typeface="Times New Roman" panose="02020603050405020304" pitchFamily="18" charset="0"/>
                <a:cs typeface="Times New Roman" panose="02020603050405020304" pitchFamily="18" charset="0"/>
              </a:rPr>
              <a:t>m</a:t>
            </a:r>
            <a:endParaRPr lang="zh-CN" altLang="en-US" sz="2000">
              <a:latin typeface="Times New Roman" panose="02020603050405020304" pitchFamily="18" charset="0"/>
              <a:cs typeface="Times New Roman" panose="02020603050405020304" pitchFamily="18" charset="0"/>
            </a:endParaRPr>
          </a:p>
        </p:txBody>
      </p:sp>
      <p:sp>
        <p:nvSpPr>
          <p:cNvPr id="10262" name="线形标注 2(无边框) 78"/>
          <p:cNvSpPr>
            <a:spLocks/>
          </p:cNvSpPr>
          <p:nvPr/>
        </p:nvSpPr>
        <p:spPr bwMode="auto">
          <a:xfrm>
            <a:off x="3781351" y="5445125"/>
            <a:ext cx="790575"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Q</a:t>
            </a:r>
            <a:r>
              <a:rPr lang="en-US" altLang="zh-CN" sz="2000" baseline="30000">
                <a:latin typeface="Times New Roman" panose="02020603050405020304" pitchFamily="18" charset="0"/>
                <a:cs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endParaRPr>
          </a:p>
        </p:txBody>
      </p:sp>
      <p:sp>
        <p:nvSpPr>
          <p:cNvPr id="10263" name="线形标注 2(无边框) 79"/>
          <p:cNvSpPr>
            <a:spLocks/>
          </p:cNvSpPr>
          <p:nvPr/>
        </p:nvSpPr>
        <p:spPr bwMode="auto">
          <a:xfrm>
            <a:off x="828601" y="3860800"/>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P</a:t>
            </a:r>
            <a:r>
              <a:rPr lang="en-US" altLang="zh-CN" sz="2000" baseline="30000">
                <a:latin typeface="Times New Roman" panose="02020603050405020304" pitchFamily="18" charset="0"/>
                <a:cs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endParaRPr>
          </a:p>
        </p:txBody>
      </p:sp>
      <p:sp>
        <p:nvSpPr>
          <p:cNvPr id="10264" name="线形标注 2(无边框) 80"/>
          <p:cNvSpPr>
            <a:spLocks/>
          </p:cNvSpPr>
          <p:nvPr/>
        </p:nvSpPr>
        <p:spPr bwMode="auto">
          <a:xfrm>
            <a:off x="5724451" y="4868863"/>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D</a:t>
            </a:r>
            <a:r>
              <a:rPr lang="en-US" altLang="zh-CN" sz="2000" baseline="-25000">
                <a:latin typeface="Times New Roman" panose="02020603050405020304" pitchFamily="18" charset="0"/>
                <a:cs typeface="Times New Roman" panose="02020603050405020304" pitchFamily="18" charset="0"/>
              </a:rPr>
              <a:t>m</a:t>
            </a:r>
            <a:endParaRPr lang="zh-CN" altLang="en-US" sz="2000">
              <a:latin typeface="Times New Roman" panose="02020603050405020304" pitchFamily="18" charset="0"/>
              <a:cs typeface="Times New Roman" panose="02020603050405020304" pitchFamily="18" charset="0"/>
            </a:endParaRPr>
          </a:p>
        </p:txBody>
      </p:sp>
      <p:sp>
        <p:nvSpPr>
          <p:cNvPr id="10265" name="线形标注 2(无边框) 81"/>
          <p:cNvSpPr>
            <a:spLocks/>
          </p:cNvSpPr>
          <p:nvPr/>
        </p:nvSpPr>
        <p:spPr bwMode="auto">
          <a:xfrm>
            <a:off x="3347964" y="4724400"/>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MR</a:t>
            </a:r>
            <a:r>
              <a:rPr lang="en-US" altLang="zh-CN" sz="2000" baseline="-25000">
                <a:latin typeface="Times New Roman" panose="02020603050405020304" pitchFamily="18" charset="0"/>
                <a:cs typeface="Times New Roman" panose="02020603050405020304" pitchFamily="18" charset="0"/>
              </a:rPr>
              <a:t>m</a:t>
            </a:r>
            <a:endParaRPr lang="zh-CN" altLang="en-US" sz="2000">
              <a:latin typeface="Times New Roman" panose="02020603050405020304" pitchFamily="18" charset="0"/>
              <a:cs typeface="Times New Roman" panose="02020603050405020304" pitchFamily="18" charset="0"/>
            </a:endParaRPr>
          </a:p>
        </p:txBody>
      </p:sp>
      <p:sp>
        <p:nvSpPr>
          <p:cNvPr id="10266" name="线形标注 2(无边框) 82"/>
          <p:cNvSpPr>
            <a:spLocks/>
          </p:cNvSpPr>
          <p:nvPr/>
        </p:nvSpPr>
        <p:spPr bwMode="auto">
          <a:xfrm>
            <a:off x="3644827" y="3155503"/>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err="1">
                <a:latin typeface="Times New Roman" panose="02020603050405020304" pitchFamily="18" charset="0"/>
                <a:cs typeface="Times New Roman" panose="02020603050405020304" pitchFamily="18" charset="0"/>
              </a:rPr>
              <a:t>AC</a:t>
            </a:r>
            <a:r>
              <a:rPr lang="en-US" altLang="zh-CN" sz="2000" baseline="-25000" dirty="0" err="1">
                <a:latin typeface="Times New Roman" panose="02020603050405020304" pitchFamily="18" charset="0"/>
                <a:cs typeface="Times New Roman" panose="02020603050405020304" pitchFamily="18" charset="0"/>
              </a:rPr>
              <a:t>m</a:t>
            </a:r>
            <a:endParaRPr lang="zh-CN" altLang="en-US" sz="2000" dirty="0">
              <a:latin typeface="Times New Roman" panose="02020603050405020304" pitchFamily="18" charset="0"/>
              <a:cs typeface="Times New Roman" panose="02020603050405020304" pitchFamily="18" charset="0"/>
            </a:endParaRPr>
          </a:p>
        </p:txBody>
      </p:sp>
      <p:sp>
        <p:nvSpPr>
          <p:cNvPr id="10267" name="线形标注 2(无边框) 83"/>
          <p:cNvSpPr>
            <a:spLocks/>
          </p:cNvSpPr>
          <p:nvPr/>
        </p:nvSpPr>
        <p:spPr bwMode="auto">
          <a:xfrm>
            <a:off x="2700264" y="2060575"/>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cs typeface="Times New Roman" panose="02020603050405020304" pitchFamily="18" charset="0"/>
              </a:rPr>
              <a:t>MC</a:t>
            </a:r>
            <a:r>
              <a:rPr lang="en-US" altLang="zh-CN" sz="2000" baseline="-25000">
                <a:latin typeface="Times New Roman" panose="02020603050405020304" pitchFamily="18" charset="0"/>
                <a:cs typeface="Times New Roman" panose="02020603050405020304" pitchFamily="18" charset="0"/>
              </a:rPr>
              <a:t>m</a:t>
            </a:r>
            <a:endParaRPr lang="zh-CN" altLang="en-US" sz="2000">
              <a:latin typeface="Times New Roman" panose="02020603050405020304" pitchFamily="18" charset="0"/>
              <a:cs typeface="Times New Roman" panose="02020603050405020304" pitchFamily="18" charset="0"/>
            </a:endParaRPr>
          </a:p>
        </p:txBody>
      </p:sp>
      <p:sp>
        <p:nvSpPr>
          <p:cNvPr id="10268" name="线形标注 2(无边框) 84"/>
          <p:cNvSpPr>
            <a:spLocks/>
          </p:cNvSpPr>
          <p:nvPr/>
        </p:nvSpPr>
        <p:spPr bwMode="auto">
          <a:xfrm>
            <a:off x="4429051" y="3789363"/>
            <a:ext cx="16557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S</a:t>
            </a:r>
            <a:r>
              <a:rPr lang="en-US" altLang="zh-CN" sz="2000" baseline="-25000" dirty="0">
                <a:latin typeface="Times New Roman" panose="02020603050405020304" pitchFamily="18" charset="0"/>
                <a:cs typeface="Times New Roman" panose="02020603050405020304" pitchFamily="18" charset="0"/>
              </a:rPr>
              <a:t>c</a:t>
            </a:r>
            <a:r>
              <a:rPr lang="en-US" altLang="zh-CN" sz="2000" dirty="0">
                <a:latin typeface="Times New Roman" panose="02020603050405020304" pitchFamily="18" charset="0"/>
                <a:cs typeface="Times New Roman" panose="02020603050405020304" pitchFamily="18" charset="0"/>
              </a:rPr>
              <a:t>,  AC=MC</a:t>
            </a:r>
            <a:endParaRPr lang="zh-CN" altLang="en-US" sz="2000" dirty="0">
              <a:latin typeface="Times New Roman" panose="02020603050405020304" pitchFamily="18" charset="0"/>
              <a:cs typeface="Times New Roman" panose="02020603050405020304" pitchFamily="18" charset="0"/>
            </a:endParaRPr>
          </a:p>
        </p:txBody>
      </p:sp>
      <p:sp>
        <p:nvSpPr>
          <p:cNvPr id="10272" name="Text Box 32"/>
          <p:cNvSpPr txBox="1">
            <a:spLocks noChangeArrowheads="1"/>
          </p:cNvSpPr>
          <p:nvPr/>
        </p:nvSpPr>
        <p:spPr bwMode="auto">
          <a:xfrm>
            <a:off x="6772202" y="1811338"/>
            <a:ext cx="1577975" cy="71437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800" dirty="0"/>
          </a:p>
          <a:p>
            <a:pPr algn="ctr" eaLnBrk="1" hangingPunct="1"/>
            <a:r>
              <a:rPr lang="en-US" altLang="zh-CN" sz="1800" b="1" dirty="0"/>
              <a:t/>
            </a:r>
            <a:br>
              <a:rPr lang="en-US" altLang="zh-CN" sz="1800" b="1" dirty="0"/>
            </a:br>
            <a:endParaRPr lang="zh-CN" altLang="en-US" sz="1800" dirty="0"/>
          </a:p>
        </p:txBody>
      </p:sp>
      <p:sp>
        <p:nvSpPr>
          <p:cNvPr id="10273" name="椭圆形标注 32"/>
          <p:cNvSpPr>
            <a:spLocks noChangeArrowheads="1"/>
          </p:cNvSpPr>
          <p:nvPr/>
        </p:nvSpPr>
        <p:spPr bwMode="auto">
          <a:xfrm>
            <a:off x="3636889" y="1920082"/>
            <a:ext cx="2087562" cy="935037"/>
          </a:xfrm>
          <a:prstGeom prst="wedgeEllipseCallout">
            <a:avLst>
              <a:gd name="adj1" fmla="val -149435"/>
              <a:gd name="adj2" fmla="val 33838"/>
            </a:avLst>
          </a:prstGeom>
          <a:noFill/>
          <a:ln w="28575" cmpd="sng">
            <a:solidFill>
              <a:schemeClr val="accent3">
                <a:lumMod val="50000"/>
              </a:schemeClr>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微软雅黑" panose="020B0503020204020204" pitchFamily="34" charset="-122"/>
                <a:ea typeface="微软雅黑" panose="020B0503020204020204" pitchFamily="34" charset="-122"/>
              </a:rPr>
              <a:t>垄断下的消费者剩余：三角形</a:t>
            </a:r>
            <a:r>
              <a:rPr lang="en-US" altLang="zh-CN" sz="1600" dirty="0" err="1">
                <a:latin typeface="微软雅黑" panose="020B0503020204020204" pitchFamily="34" charset="-122"/>
                <a:ea typeface="微软雅黑" panose="020B0503020204020204" pitchFamily="34" charset="-122"/>
              </a:rPr>
              <a:t>BDP</a:t>
            </a:r>
            <a:r>
              <a:rPr lang="en-US" altLang="zh-CN" sz="1600" baseline="-25000" dirty="0" err="1">
                <a:latin typeface="微软雅黑" panose="020B0503020204020204" pitchFamily="34" charset="-122"/>
                <a:ea typeface="微软雅黑" panose="020B0503020204020204" pitchFamily="34" charset="-122"/>
              </a:rPr>
              <a:t>m</a:t>
            </a:r>
            <a:endParaRPr lang="zh-CN" altLang="en-US" sz="1600" dirty="0">
              <a:latin typeface="微软雅黑" panose="020B0503020204020204" pitchFamily="34" charset="-122"/>
              <a:ea typeface="微软雅黑" panose="020B0503020204020204" pitchFamily="34" charset="-122"/>
            </a:endParaRPr>
          </a:p>
        </p:txBody>
      </p:sp>
      <p:sp>
        <p:nvSpPr>
          <p:cNvPr id="10274" name="圆角矩形标注 33"/>
          <p:cNvSpPr>
            <a:spLocks noChangeArrowheads="1"/>
          </p:cNvSpPr>
          <p:nvPr/>
        </p:nvSpPr>
        <p:spPr bwMode="auto">
          <a:xfrm>
            <a:off x="6348339" y="3789363"/>
            <a:ext cx="1871662" cy="935037"/>
          </a:xfrm>
          <a:prstGeom prst="wedgeRoundRectCallout">
            <a:avLst>
              <a:gd name="adj1" fmla="val -32366"/>
              <a:gd name="adj2" fmla="val 76065"/>
              <a:gd name="adj3" fmla="val 16667"/>
            </a:avLst>
          </a:prstGeom>
          <a:noFill/>
          <a:ln w="28575" cmpd="sng">
            <a:solidFill>
              <a:schemeClr val="accent3">
                <a:lumMod val="50000"/>
              </a:schemeClr>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微软雅黑" panose="020B0503020204020204" pitchFamily="34" charset="-122"/>
                <a:ea typeface="微软雅黑" panose="020B0503020204020204" pitchFamily="34" charset="-122"/>
              </a:rPr>
              <a:t>垄断企业获得的超额利润：四边形</a:t>
            </a:r>
            <a:r>
              <a:rPr lang="en-US" altLang="zh-CN" sz="1600" dirty="0" err="1">
                <a:latin typeface="微软雅黑" panose="020B0503020204020204" pitchFamily="34" charset="-122"/>
                <a:ea typeface="微软雅黑" panose="020B0503020204020204" pitchFamily="34" charset="-122"/>
              </a:rPr>
              <a:t>BPmP</a:t>
            </a:r>
            <a:r>
              <a:rPr lang="en-US" altLang="zh-CN" sz="1600" dirty="0">
                <a:latin typeface="微软雅黑" panose="020B0503020204020204" pitchFamily="34" charset="-122"/>
                <a:ea typeface="微软雅黑" panose="020B0503020204020204" pitchFamily="34" charset="-122"/>
              </a:rPr>
              <a:t>*C</a:t>
            </a:r>
            <a:endParaRPr lang="zh-CN" altLang="en-US" sz="1600" dirty="0">
              <a:latin typeface="微软雅黑" panose="020B0503020204020204" pitchFamily="34" charset="-122"/>
              <a:ea typeface="微软雅黑" panose="020B0503020204020204" pitchFamily="34" charset="-122"/>
            </a:endParaRPr>
          </a:p>
        </p:txBody>
      </p:sp>
      <p:sp>
        <p:nvSpPr>
          <p:cNvPr id="10275" name="TextBox 36"/>
          <p:cNvSpPr txBox="1">
            <a:spLocks noChangeArrowheads="1"/>
          </p:cNvSpPr>
          <p:nvPr/>
        </p:nvSpPr>
        <p:spPr bwMode="auto">
          <a:xfrm>
            <a:off x="395288" y="1196975"/>
            <a:ext cx="73453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marL="342900" indent="-342900" eaLnBrk="1" hangingPunct="1">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假定完全竞争和垄断行业在长期中成本均保持不变。</a:t>
            </a:r>
          </a:p>
        </p:txBody>
      </p:sp>
      <p:sp>
        <p:nvSpPr>
          <p:cNvPr id="2" name="直角三角形 1"/>
          <p:cNvSpPr/>
          <p:nvPr/>
        </p:nvSpPr>
        <p:spPr bwMode="auto">
          <a:xfrm>
            <a:off x="2757801" y="3260726"/>
            <a:ext cx="1233099" cy="849312"/>
          </a:xfrm>
          <a:prstGeom prst="rtTriangle">
            <a:avLst/>
          </a:prstGeom>
          <a:solidFill>
            <a:schemeClr val="accent1">
              <a:alpha val="32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0" name="矩形 39">
            <a:extLst>
              <a:ext uri="{FF2B5EF4-FFF2-40B4-BE49-F238E27FC236}">
                <a16:creationId xmlns:a16="http://schemas.microsoft.com/office/drawing/2014/main" id="{F68E5273-CD77-47B9-B841-9D29349C133D}"/>
              </a:ext>
            </a:extLst>
          </p:cNvPr>
          <p:cNvSpPr/>
          <p:nvPr/>
        </p:nvSpPr>
        <p:spPr>
          <a:xfrm>
            <a:off x="467544" y="548680"/>
            <a:ext cx="280076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a:t>
            </a:r>
            <a:r>
              <a:rPr lang="zh-CN" altLang="en-US" sz="2400" b="1" spc="150" dirty="0">
                <a:solidFill>
                  <a:srgbClr val="FFFFFF"/>
                </a:solidFill>
                <a:latin typeface="微软雅黑" panose="020B0503020204020204" pitchFamily="34" charset="-122"/>
                <a:ea typeface="微软雅黑" panose="020B0503020204020204" pitchFamily="34" charset="-122"/>
              </a:rPr>
              <a:t>和低效率</a:t>
            </a:r>
          </a:p>
        </p:txBody>
      </p:sp>
      <p:sp>
        <p:nvSpPr>
          <p:cNvPr id="3" name="圆角矩形标注 2"/>
          <p:cNvSpPr/>
          <p:nvPr/>
        </p:nvSpPr>
        <p:spPr bwMode="auto">
          <a:xfrm>
            <a:off x="6444903" y="2060575"/>
            <a:ext cx="1656184" cy="1007468"/>
          </a:xfrm>
          <a:prstGeom prst="wedgeRoundRectCallout">
            <a:avLst>
              <a:gd name="adj1" fmla="val -59861"/>
              <a:gd name="adj2" fmla="val 84933"/>
              <a:gd name="adj3" fmla="val 16667"/>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1600" dirty="0">
                <a:latin typeface="微软雅黑" panose="020B0503020204020204" pitchFamily="34" charset="-122"/>
                <a:ea typeface="微软雅黑" panose="020B0503020204020204" pitchFamily="34" charset="-122"/>
              </a:rPr>
              <a:t>完全竞争下的消费者剩余：三角形</a:t>
            </a:r>
            <a:r>
              <a:rPr lang="en-US" altLang="zh-CN" sz="1600" dirty="0">
                <a:latin typeface="微软雅黑" panose="020B0503020204020204" pitchFamily="34" charset="-122"/>
                <a:ea typeface="微软雅黑" panose="020B0503020204020204" pitchFamily="34" charset="-122"/>
              </a:rPr>
              <a:t>ADP</a:t>
            </a:r>
            <a:r>
              <a:rPr lang="zh-CN" altLang="en-US" sz="1600" dirty="0">
                <a:latin typeface="微软雅黑" panose="020B0503020204020204" pitchFamily="34" charset="-122"/>
                <a:ea typeface="微软雅黑" panose="020B0503020204020204" pitchFamily="34" charset="-122"/>
              </a:rPr>
              <a:t>*</a:t>
            </a:r>
          </a:p>
        </p:txBody>
      </p:sp>
      <p:sp>
        <p:nvSpPr>
          <p:cNvPr id="38" name="标题 1">
            <a:extLst>
              <a:ext uri="{FF2B5EF4-FFF2-40B4-BE49-F238E27FC236}">
                <a16:creationId xmlns:a16="http://schemas.microsoft.com/office/drawing/2014/main" id="{3579CFD4-D6B2-40DB-90CA-E73E631693F7}"/>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41" name="圆角矩形标注 2">
            <a:extLst>
              <a:ext uri="{FF2B5EF4-FFF2-40B4-BE49-F238E27FC236}">
                <a16:creationId xmlns:a16="http://schemas.microsoft.com/office/drawing/2014/main" id="{08F8F969-1F7B-4086-B4C1-4DE7020696D4}"/>
              </a:ext>
            </a:extLst>
          </p:cNvPr>
          <p:cNvSpPr/>
          <p:nvPr/>
        </p:nvSpPr>
        <p:spPr bwMode="auto">
          <a:xfrm>
            <a:off x="4680670" y="2925266"/>
            <a:ext cx="1336675" cy="1007468"/>
          </a:xfrm>
          <a:prstGeom prst="wedgeRoundRectCallout">
            <a:avLst>
              <a:gd name="adj1" fmla="val -126369"/>
              <a:gd name="adj2" fmla="val 62242"/>
              <a:gd name="adj3" fmla="val 16667"/>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1600" dirty="0">
                <a:latin typeface="微软雅黑" panose="020B0503020204020204" pitchFamily="34" charset="-122"/>
                <a:ea typeface="微软雅黑" panose="020B0503020204020204" pitchFamily="34" charset="-122"/>
              </a:rPr>
              <a:t>社会福利净损失：福利三角形</a:t>
            </a:r>
            <a:r>
              <a:rPr lang="en-US" altLang="zh-CN" sz="1600" dirty="0">
                <a:latin typeface="微软雅黑" panose="020B0503020204020204" pitchFamily="34" charset="-122"/>
                <a:ea typeface="微软雅黑" panose="020B0503020204020204" pitchFamily="34" charset="-122"/>
              </a:rPr>
              <a:t>ABC</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5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26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2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26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26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26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2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2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26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26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25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26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25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2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25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25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25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26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27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27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4" presetClass="entr" presetSubtype="10" fill="hold" grpId="0" nodeType="click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randombar(horizontal)">
                                      <p:cBhvr>
                                        <p:cTn id="85" dur="500"/>
                                        <p:tgtEl>
                                          <p:spTgt spid="3"/>
                                        </p:tgtEl>
                                      </p:cBhvr>
                                    </p:animEffect>
                                  </p:childTnLst>
                                </p:cTn>
                              </p:par>
                            </p:childTnLst>
                          </p:cTn>
                        </p:par>
                      </p:childTnLst>
                    </p:cTn>
                  </p:par>
                  <p:par>
                    <p:cTn id="86" fill="hold">
                      <p:stCondLst>
                        <p:cond delay="indefinite"/>
                      </p:stCondLst>
                      <p:childTnLst>
                        <p:par>
                          <p:cTn id="87" fill="hold">
                            <p:stCondLst>
                              <p:cond delay="0"/>
                            </p:stCondLst>
                            <p:childTnLst>
                              <p:par>
                                <p:cTn id="88" presetID="14" presetClass="entr" presetSubtype="10" fill="hold" grpId="0" nodeType="click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randombar(horizontal)">
                                      <p:cBhvr>
                                        <p:cTn id="9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3" grpId="0" autoUpdateAnimBg="0"/>
      <p:bldP spid="10254" grpId="0" autoUpdateAnimBg="0"/>
      <p:bldP spid="10255" grpId="0" autoUpdateAnimBg="0"/>
      <p:bldP spid="10256" grpId="0" autoUpdateAnimBg="0"/>
      <p:bldP spid="10257" grpId="0" autoUpdateAnimBg="0"/>
      <p:bldP spid="10258" grpId="0" autoUpdateAnimBg="0"/>
      <p:bldP spid="10259" grpId="0" autoUpdateAnimBg="0"/>
      <p:bldP spid="10260" grpId="0" autoUpdateAnimBg="0"/>
      <p:bldP spid="10261" grpId="0" autoUpdateAnimBg="0"/>
      <p:bldP spid="10262" grpId="0" autoUpdateAnimBg="0"/>
      <p:bldP spid="10263" grpId="0" autoUpdateAnimBg="0"/>
      <p:bldP spid="10264" grpId="0" autoUpdateAnimBg="0"/>
      <p:bldP spid="10265" grpId="0" autoUpdateAnimBg="0"/>
      <p:bldP spid="10266" grpId="0" autoUpdateAnimBg="0"/>
      <p:bldP spid="10267" grpId="0" autoUpdateAnimBg="0"/>
      <p:bldP spid="10268" grpId="0" autoUpdateAnimBg="0"/>
      <p:bldP spid="10273" grpId="0" animBg="1" autoUpdateAnimBg="0"/>
      <p:bldP spid="10274" grpId="0" animBg="1" autoUpdateAnimBg="0"/>
      <p:bldP spid="2" grpId="0" animBg="1"/>
      <p:bldP spid="3" grpId="0" animBg="1"/>
      <p:bldP spid="4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idx="4294967295"/>
          </p:nvPr>
        </p:nvSpPr>
        <p:spPr>
          <a:xfrm>
            <a:off x="467544" y="1151810"/>
            <a:ext cx="8136904" cy="5544616"/>
          </a:xfrm>
        </p:spPr>
        <p:txBody>
          <a:bodyPr/>
          <a:lstStyle/>
          <a:p>
            <a:pPr eaLnBrk="1" hangingPunct="1">
              <a:lnSpc>
                <a:spcPct val="150000"/>
              </a:lnSpc>
              <a:buSzPct val="80000"/>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租金与寻租的动机</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720000" indent="0" eaLnBrk="1" hangingPunct="1">
              <a:lnSpc>
                <a:spcPct val="150000"/>
              </a:lnSpc>
              <a:buSzPct val="80000"/>
              <a:buNone/>
            </a:pPr>
            <a:r>
              <a:rPr lang="zh-CN" altLang="en-US" sz="1800" b="0" dirty="0">
                <a:solidFill>
                  <a:schemeClr val="tx1"/>
                </a:solidFill>
                <a:latin typeface="微软雅黑" panose="020B0503020204020204" pitchFamily="34" charset="-122"/>
                <a:ea typeface="微软雅黑" panose="020B0503020204020204" pitchFamily="34" charset="-122"/>
              </a:rPr>
              <a:t>垄断带来超额利润</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寻求垄断地位以获得超额利润</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720000" eaLnBrk="1" hangingPunct="1">
              <a:lnSpc>
                <a:spcPct val="150000"/>
              </a:lnSpc>
              <a:buSzPct val="80000"/>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什么是租金？</a:t>
            </a:r>
            <a:endParaRPr lang="en-US" altLang="zh-CN"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1080000" eaLnBrk="1" hangingPunct="1">
              <a:lnSpc>
                <a:spcPct val="150000"/>
              </a:lnSpc>
              <a:buSzPct val="80000"/>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租金又称经济租，是支付给生产要素的收入超出提供这个要素必须支付的最低价格之间的差值</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720000" eaLnBrk="1" hangingPunct="1">
              <a:lnSpc>
                <a:spcPct val="150000"/>
              </a:lnSpc>
              <a:buSzPct val="80000"/>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超额利润在性质上和生产要素的租金是一致的</a:t>
            </a:r>
            <a:endParaRPr lang="en-US" altLang="zh-CN"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1080000" lvl="1" indent="-342900" eaLnBrk="1" hangingPunct="1">
              <a:lnSpc>
                <a:spcPct val="150000"/>
              </a:lnSpc>
              <a:buSzPct val="80000"/>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“拥有垄断权力获得超额利润</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和“拥有某种生产要素如商业中心最佳地段的商铺而获得租金收益</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在性质上是一致的。</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marL="1080000" lvl="1" indent="-342900" eaLnBrk="1" hangingPunct="1">
              <a:lnSpc>
                <a:spcPct val="150000"/>
              </a:lnSpc>
              <a:buSzPct val="80000"/>
              <a:buFont typeface="Arial" panose="020B0604020202020204" pitchFamily="34" charset="0"/>
              <a:buChar char="•"/>
            </a:pP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对超额利润的寻求就叫做寻租</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marL="720000" eaLnBrk="1" hangingPunct="1">
              <a:lnSpc>
                <a:spcPct val="150000"/>
              </a:lnSpc>
              <a:buSzPct val="80000"/>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通俗地说，垄断地位是可以租出去的</a:t>
            </a:r>
          </a:p>
        </p:txBody>
      </p:sp>
      <p:sp>
        <p:nvSpPr>
          <p:cNvPr id="6" name="矩形 5">
            <a:extLst>
              <a:ext uri="{FF2B5EF4-FFF2-40B4-BE49-F238E27FC236}">
                <a16:creationId xmlns:a16="http://schemas.microsoft.com/office/drawing/2014/main" id="{F68E5273-CD77-47B9-B841-9D29349C133D}"/>
              </a:ext>
            </a:extLst>
          </p:cNvPr>
          <p:cNvSpPr/>
          <p:nvPr/>
        </p:nvSpPr>
        <p:spPr>
          <a:xfrm>
            <a:off x="467544" y="548680"/>
            <a:ext cx="1492716"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二、寻租</a:t>
            </a:r>
          </a:p>
        </p:txBody>
      </p:sp>
      <p:sp>
        <p:nvSpPr>
          <p:cNvPr id="5" name="标题 1">
            <a:extLst>
              <a:ext uri="{FF2B5EF4-FFF2-40B4-BE49-F238E27FC236}">
                <a16:creationId xmlns:a16="http://schemas.microsoft.com/office/drawing/2014/main" id="{4381B49F-6F88-4B3B-B61E-6099EF43F28E}"/>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266">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266">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266">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266">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266">
                                            <p:txEl>
                                              <p:pRg st="4" end="4"/>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266">
                                            <p:txEl>
                                              <p:pRg st="5" end="5"/>
                                            </p:txEl>
                                          </p:spTgt>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1266">
                                            <p:txEl>
                                              <p:pRg st="6" end="6"/>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12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idx="4294967295"/>
          </p:nvPr>
        </p:nvSpPr>
        <p:spPr>
          <a:xfrm>
            <a:off x="467544" y="1162581"/>
            <a:ext cx="8455968" cy="3816573"/>
          </a:xfrm>
        </p:spPr>
        <p:txBody>
          <a:bodyPr/>
          <a:lstStyle/>
          <a:p>
            <a:pPr eaLnBrk="1" hangingPunct="1">
              <a:buSzPct val="80000"/>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寻租的定义</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457200" lvl="1" indent="0" eaLnBrk="1" hangingPunct="1">
              <a:buNone/>
            </a:pPr>
            <a:r>
              <a:rPr lang="zh-CN" altLang="en-US" sz="1800" dirty="0">
                <a:latin typeface="微软雅黑" panose="020B0503020204020204" pitchFamily="34" charset="-122"/>
                <a:ea typeface="微软雅黑" panose="020B0503020204020204" pitchFamily="34" charset="-122"/>
              </a:rPr>
              <a:t>企业谋求和维持垄断地位，以获取经济利润，并为此而花费一定的费用，即“寻租活动”。 </a:t>
            </a:r>
            <a:endParaRPr lang="en-US" altLang="zh-CN" sz="1800" dirty="0">
              <a:latin typeface="微软雅黑" panose="020B0503020204020204" pitchFamily="34" charset="-122"/>
              <a:ea typeface="微软雅黑" panose="020B0503020204020204" pitchFamily="34" charset="-122"/>
            </a:endParaRPr>
          </a:p>
          <a:p>
            <a:pPr marL="457200" lvl="1" indent="0" eaLnBrk="1" hangingPunct="1">
              <a:buNone/>
            </a:pPr>
            <a:r>
              <a:rPr lang="zh-CN" altLang="en-US" sz="1800" dirty="0">
                <a:latin typeface="微软雅黑" panose="020B0503020204020204" pitchFamily="34" charset="-122"/>
                <a:ea typeface="微软雅黑" panose="020B0503020204020204" pitchFamily="34" charset="-122"/>
              </a:rPr>
              <a:t>寻</a:t>
            </a:r>
            <a:r>
              <a:rPr lang="zh-CN" altLang="en-US" sz="1800" dirty="0" smtClean="0">
                <a:latin typeface="微软雅黑" panose="020B0503020204020204" pitchFamily="34" charset="-122"/>
                <a:ea typeface="微软雅黑" panose="020B0503020204020204" pitchFamily="34" charset="-122"/>
              </a:rPr>
              <a:t>租</a:t>
            </a:r>
            <a:r>
              <a:rPr lang="zh-CN" altLang="en-US" sz="1800" dirty="0">
                <a:latin typeface="微软雅黑" panose="020B0503020204020204" pitchFamily="34" charset="-122"/>
                <a:ea typeface="微软雅黑" panose="020B0503020204020204" pitchFamily="34" charset="-122"/>
              </a:rPr>
              <a:t>活动</a:t>
            </a:r>
            <a:r>
              <a:rPr lang="zh-CN" altLang="en-US" sz="1800" dirty="0" smtClean="0">
                <a:latin typeface="微软雅黑" panose="020B0503020204020204" pitchFamily="34" charset="-122"/>
                <a:ea typeface="微软雅黑" panose="020B0503020204020204" pitchFamily="34" charset="-122"/>
              </a:rPr>
              <a:t>不是</a:t>
            </a:r>
            <a:r>
              <a:rPr lang="zh-CN" altLang="en-US" sz="1800" dirty="0">
                <a:latin typeface="微软雅黑" panose="020B0503020204020204" pitchFamily="34" charset="-122"/>
                <a:ea typeface="微软雅黑" panose="020B0503020204020204" pitchFamily="34" charset="-122"/>
              </a:rPr>
              <a:t>用于生产，因此不会产生任何价值。</a:t>
            </a:r>
            <a:endParaRPr lang="en-US" altLang="zh-CN" sz="1800" dirty="0">
              <a:latin typeface="微软雅黑" panose="020B0503020204020204" pitchFamily="34" charset="-122"/>
              <a:ea typeface="微软雅黑" panose="020B0503020204020204" pitchFamily="34" charset="-122"/>
            </a:endParaRPr>
          </a:p>
          <a:p>
            <a:pPr marL="342900" lvl="1" indent="-342900" eaLnBrk="1" hangingPunct="1">
              <a:buSzPct val="800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寻租的种类</a:t>
            </a:r>
            <a:endParaRPr lang="en-US" altLang="zh-CN" sz="20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Ø"/>
            </a:pPr>
            <a:r>
              <a:rPr lang="zh-CN" altLang="en-US" sz="1800" dirty="0">
                <a:solidFill>
                  <a:srgbClr val="C00000"/>
                </a:solidFill>
                <a:latin typeface="微软雅黑" panose="020B0503020204020204" pitchFamily="34" charset="-122"/>
                <a:ea typeface="微软雅黑" panose="020B0503020204020204" pitchFamily="34" charset="-122"/>
              </a:rPr>
              <a:t>购买垄断</a:t>
            </a:r>
            <a:endParaRPr lang="en-US" altLang="zh-CN" sz="1800" dirty="0">
              <a:solidFill>
                <a:srgbClr val="C00000"/>
              </a:solidFill>
              <a:latin typeface="微软雅黑" panose="020B0503020204020204" pitchFamily="34" charset="-122"/>
              <a:ea typeface="微软雅黑" panose="020B0503020204020204" pitchFamily="34" charset="-122"/>
            </a:endParaRPr>
          </a:p>
          <a:p>
            <a:pPr marL="857250" lvl="2" indent="0" eaLnBrk="1" hangingPunct="1">
              <a:buNone/>
            </a:pPr>
            <a:r>
              <a:rPr lang="zh-CN" altLang="en-US" sz="1800" dirty="0">
                <a:latin typeface="微软雅黑" panose="020B0503020204020204" pitchFamily="34" charset="-122"/>
                <a:ea typeface="微软雅黑" panose="020B0503020204020204" pitchFamily="34" charset="-122"/>
              </a:rPr>
              <a:t>搜寻可以用低于垄断企业的经济利润的价格购买垄断的权利，也就是寻求获得现有的垄断权利。</a:t>
            </a:r>
          </a:p>
          <a:p>
            <a:pPr lvl="1" eaLnBrk="1" hangingPunct="1">
              <a:buFont typeface="Wingdings" panose="05000000000000000000" pitchFamily="2" charset="2"/>
              <a:buChar char="Ø"/>
            </a:pPr>
            <a:r>
              <a:rPr lang="zh-CN" altLang="en-US" sz="1800" dirty="0">
                <a:solidFill>
                  <a:srgbClr val="C00000"/>
                </a:solidFill>
                <a:latin typeface="微软雅黑" panose="020B0503020204020204" pitchFamily="34" charset="-122"/>
                <a:ea typeface="微软雅黑" panose="020B0503020204020204" pitchFamily="34" charset="-122"/>
              </a:rPr>
              <a:t>创造垄断</a:t>
            </a:r>
            <a:endParaRPr lang="en-US" altLang="zh-CN" sz="1800" dirty="0">
              <a:solidFill>
                <a:srgbClr val="C00000"/>
              </a:solidFill>
              <a:latin typeface="微软雅黑" panose="020B0503020204020204" pitchFamily="34" charset="-122"/>
              <a:ea typeface="微软雅黑" panose="020B0503020204020204" pitchFamily="34" charset="-122"/>
            </a:endParaRPr>
          </a:p>
          <a:p>
            <a:pPr marL="857250" lvl="2" indent="0" eaLnBrk="1" hangingPunct="1">
              <a:buNone/>
            </a:pPr>
            <a:r>
              <a:rPr lang="zh-CN" altLang="en-US" sz="1800" dirty="0">
                <a:latin typeface="微软雅黑" panose="020B0503020204020204" pitchFamily="34" charset="-122"/>
                <a:ea typeface="微软雅黑" panose="020B0503020204020204" pitchFamily="34" charset="-122"/>
              </a:rPr>
              <a:t>游说和寻求影响政治过程的形式。或者通过捐助以交换法律支持，或者间接地通过媒体的政治宣传，或直接同政治家和官员签订合同，以寻求有利的政治影响结果。</a:t>
            </a:r>
          </a:p>
        </p:txBody>
      </p:sp>
      <p:sp>
        <p:nvSpPr>
          <p:cNvPr id="4" name="流程图: 顺序访问存储器 5"/>
          <p:cNvSpPr>
            <a:spLocks noChangeArrowheads="1"/>
          </p:cNvSpPr>
          <p:nvPr/>
        </p:nvSpPr>
        <p:spPr bwMode="auto">
          <a:xfrm rot="10800000" flipV="1">
            <a:off x="3275856" y="4797152"/>
            <a:ext cx="3332856" cy="1256325"/>
          </a:xfrm>
          <a:prstGeom prst="flowChartMagneticTape">
            <a:avLst/>
          </a:prstGeom>
          <a:noFill/>
          <a:ln w="28575" cmpd="sng">
            <a:solidFill>
              <a:srgbClr val="CC0000"/>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微软雅黑" panose="020B0503020204020204" pitchFamily="34" charset="-122"/>
                <a:ea typeface="微软雅黑" panose="020B0503020204020204" pitchFamily="34" charset="-122"/>
              </a:rPr>
              <a:t>例如</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纺织企业为创造对其纺织品的垄断</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说服政府对进口纺织品进行数量限制。</a:t>
            </a:r>
          </a:p>
        </p:txBody>
      </p:sp>
      <p:sp>
        <p:nvSpPr>
          <p:cNvPr id="7" name="矩形 6">
            <a:extLst>
              <a:ext uri="{FF2B5EF4-FFF2-40B4-BE49-F238E27FC236}">
                <a16:creationId xmlns:a16="http://schemas.microsoft.com/office/drawing/2014/main" id="{F68E5273-CD77-47B9-B841-9D29349C133D}"/>
              </a:ext>
            </a:extLst>
          </p:cNvPr>
          <p:cNvSpPr/>
          <p:nvPr/>
        </p:nvSpPr>
        <p:spPr>
          <a:xfrm>
            <a:off x="467544" y="548680"/>
            <a:ext cx="1492716"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二、寻租</a:t>
            </a:r>
          </a:p>
        </p:txBody>
      </p:sp>
      <p:sp>
        <p:nvSpPr>
          <p:cNvPr id="8" name="标题 1">
            <a:extLst>
              <a:ext uri="{FF2B5EF4-FFF2-40B4-BE49-F238E27FC236}">
                <a16:creationId xmlns:a16="http://schemas.microsoft.com/office/drawing/2014/main" id="{CA9752E6-97AA-4BF2-BF26-DCCD7B899EE2}"/>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40844645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6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26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6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uiExpand="1" build="p"/>
      <p:bldP spid="4"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idx="4294967295"/>
          </p:nvPr>
        </p:nvSpPr>
        <p:spPr>
          <a:xfrm>
            <a:off x="489021" y="1214253"/>
            <a:ext cx="8229600" cy="5616600"/>
          </a:xfrm>
        </p:spPr>
        <p:txBody>
          <a:bodyPr/>
          <a:lstStyle/>
          <a:p>
            <a:pPr eaLnBrk="1" hangingPunct="1">
              <a:buSzPct val="80000"/>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寻租活动的经济损失</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eaLnBrk="1" hangingPunct="1">
              <a:spcBef>
                <a:spcPct val="400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购买垄断型寻租</a:t>
            </a:r>
            <a:endParaRPr lang="en-US" altLang="zh-CN" sz="2000" dirty="0">
              <a:latin typeface="微软雅黑" panose="020B0503020204020204" pitchFamily="34" charset="-122"/>
              <a:ea typeface="微软雅黑" panose="020B0503020204020204" pitchFamily="34" charset="-122"/>
            </a:endParaRPr>
          </a:p>
          <a:p>
            <a:pPr lvl="2" eaLnBrk="1" hangingPunct="1">
              <a:spcBef>
                <a:spcPct val="4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寻租者间的竞争抬高了对垄断权利支付的价格，使寻租者仅获得正常利润，经济利润完全落入最初拥有垄断权利的人的腰包。</a:t>
            </a:r>
            <a:endParaRPr lang="en-US" altLang="zh-CN" sz="1800" dirty="0">
              <a:latin typeface="微软雅黑" panose="020B0503020204020204" pitchFamily="34" charset="-122"/>
              <a:ea typeface="微软雅黑" panose="020B0503020204020204" pitchFamily="34" charset="-122"/>
            </a:endParaRPr>
          </a:p>
          <a:p>
            <a:pPr lvl="1" eaLnBrk="1" hangingPunct="1">
              <a:spcBef>
                <a:spcPct val="400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创造垄断型的寻租</a:t>
            </a:r>
            <a:endParaRPr lang="en-US" altLang="zh-CN" sz="2000" dirty="0">
              <a:latin typeface="微软雅黑" panose="020B0503020204020204" pitchFamily="34" charset="-122"/>
              <a:ea typeface="微软雅黑" panose="020B0503020204020204" pitchFamily="34" charset="-122"/>
            </a:endParaRPr>
          </a:p>
          <a:p>
            <a:pPr lvl="2" eaLnBrk="1" hangingPunct="1">
              <a:spcBef>
                <a:spcPct val="4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纯然浪费资源。</a:t>
            </a:r>
            <a:endParaRPr lang="en-US" altLang="zh-CN" sz="1800" dirty="0">
              <a:latin typeface="微软雅黑" panose="020B0503020204020204" pitchFamily="34" charset="-122"/>
              <a:ea typeface="微软雅黑" panose="020B0503020204020204" pitchFamily="34" charset="-122"/>
            </a:endParaRPr>
          </a:p>
          <a:p>
            <a:pPr marL="857250" lvl="2" indent="0" eaLnBrk="1" hangingPunct="1">
              <a:spcBef>
                <a:spcPct val="40000"/>
              </a:spcBef>
              <a:buNone/>
            </a:pPr>
            <a:r>
              <a:rPr lang="zh-CN" altLang="en-US" sz="1800" dirty="0">
                <a:solidFill>
                  <a:srgbClr val="C00000"/>
                </a:solidFill>
                <a:latin typeface="微软雅黑" panose="020B0503020204020204" pitchFamily="34" charset="-122"/>
                <a:ea typeface="微软雅黑" panose="020B0503020204020204" pitchFamily="34" charset="-122"/>
              </a:rPr>
              <a:t>例如，从总量上说，在美国，企业花费数十亿美元来游说国会议员、州议员和地方政府官员，以获得特许权和创造进入壁垒以及确立垄断权的法令。</a:t>
            </a:r>
            <a:endParaRPr lang="en-US" altLang="zh-CN" sz="1800" dirty="0">
              <a:solidFill>
                <a:srgbClr val="C00000"/>
              </a:solidFill>
              <a:latin typeface="微软雅黑" panose="020B0503020204020204" pitchFamily="34" charset="-122"/>
              <a:ea typeface="微软雅黑" panose="020B0503020204020204" pitchFamily="34" charset="-122"/>
            </a:endParaRPr>
          </a:p>
          <a:p>
            <a:pPr lvl="1" eaLnBrk="1" hangingPunct="1">
              <a:spcBef>
                <a:spcPct val="400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总之，寻租造成了社会净成本，这个成本比无谓损失还要大。</a:t>
            </a:r>
            <a:endParaRPr lang="en-US" altLang="zh-CN" sz="2000" dirty="0">
              <a:latin typeface="微软雅黑" panose="020B0503020204020204" pitchFamily="34" charset="-122"/>
              <a:ea typeface="微软雅黑" panose="020B0503020204020204" pitchFamily="34" charset="-122"/>
            </a:endParaRPr>
          </a:p>
          <a:p>
            <a:pPr lvl="2" eaLnBrk="1" hangingPunct="1">
              <a:spcBef>
                <a:spcPct val="40000"/>
              </a:spcBef>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第一，花费了资源而没有创造价值</a:t>
            </a:r>
            <a:endParaRPr lang="en-US" altLang="zh-CN" sz="1800" b="0" dirty="0">
              <a:solidFill>
                <a:schemeClr val="tx1"/>
              </a:solidFill>
              <a:latin typeface="微软雅黑" panose="020B0503020204020204" pitchFamily="34" charset="-122"/>
              <a:ea typeface="微软雅黑" panose="020B0503020204020204" pitchFamily="34" charset="-122"/>
            </a:endParaRPr>
          </a:p>
          <a:p>
            <a:pPr lvl="2" eaLnBrk="1" hangingPunct="1">
              <a:spcBef>
                <a:spcPct val="4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第二，垄断产生或者维持了无谓损失。</a:t>
            </a:r>
            <a:endParaRPr lang="en-US" altLang="zh-CN" sz="1800" dirty="0">
              <a:latin typeface="微软雅黑" panose="020B0503020204020204" pitchFamily="34" charset="-122"/>
              <a:ea typeface="微软雅黑" panose="020B0503020204020204" pitchFamily="34" charset="-122"/>
            </a:endParaRPr>
          </a:p>
          <a:p>
            <a:pPr lvl="2" eaLnBrk="1" hangingPunct="1">
              <a:spcBef>
                <a:spcPct val="40000"/>
              </a:spcBef>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第三，引发进一步的寻租活动</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467544" y="548680"/>
            <a:ext cx="1492716"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二、寻租</a:t>
            </a:r>
          </a:p>
        </p:txBody>
      </p:sp>
      <p:sp>
        <p:nvSpPr>
          <p:cNvPr id="7" name="标题 1">
            <a:extLst>
              <a:ext uri="{FF2B5EF4-FFF2-40B4-BE49-F238E27FC236}">
                <a16:creationId xmlns:a16="http://schemas.microsoft.com/office/drawing/2014/main" id="{F38352B3-4EA5-40D4-AE34-DDFCE631F701}"/>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3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idx="4294967295"/>
          </p:nvPr>
        </p:nvSpPr>
        <p:spPr>
          <a:xfrm>
            <a:off x="362564" y="1210461"/>
            <a:ext cx="7119543" cy="459610"/>
          </a:xfrm>
        </p:spPr>
        <p:txBody>
          <a:bodyPr/>
          <a:lstStyle/>
          <a:p>
            <a:pPr eaLnBrk="1" hangingPunct="1">
              <a:lnSpc>
                <a:spcPct val="80000"/>
              </a:lnSpc>
              <a:buSzPct val="80000"/>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管制有很多情形，下面考虑对价格和产量的管制</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F68E5273-CD77-47B9-B841-9D29349C133D}"/>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三、对垄断的公共管制</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409117" y="1624206"/>
            <a:ext cx="4263146" cy="3823611"/>
          </a:xfrm>
          <a:prstGeom prst="rect">
            <a:avLst/>
          </a:prstGeom>
          <a:noFill/>
        </p:spPr>
        <p:txBody>
          <a:bodyPr wrap="square" rtlCol="0">
            <a:spAutoFit/>
          </a:bodyPr>
          <a:lstStyle/>
          <a:p>
            <a:pPr marL="342900" indent="-342900" eaLnBrk="1" hangingPunct="1">
              <a:lnSpc>
                <a:spcPct val="150000"/>
              </a:lnSpc>
              <a:buSzPct val="80000"/>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成本递增的情形</a:t>
            </a:r>
            <a:endParaRPr lang="en-US" altLang="zh-CN" sz="2000" dirty="0">
              <a:latin typeface="微软雅黑" panose="020B0503020204020204" pitchFamily="34" charset="-122"/>
              <a:ea typeface="微软雅黑" panose="020B0503020204020204" pitchFamily="34" charset="-122"/>
            </a:endParaRPr>
          </a:p>
          <a:p>
            <a:pPr marL="540000" indent="-342900">
              <a:lnSpc>
                <a:spcPct val="150000"/>
              </a:lnSpc>
              <a:buSzPct val="80000"/>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无管制时，</a:t>
            </a:r>
            <a:r>
              <a:rPr lang="en-US" altLang="zh-CN" sz="1800" dirty="0">
                <a:latin typeface="微软雅黑" panose="020B0503020204020204" pitchFamily="34" charset="-122"/>
                <a:ea typeface="微软雅黑" panose="020B0503020204020204" pitchFamily="34" charset="-122"/>
              </a:rPr>
              <a:t>P=P*</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Q=Q*</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 P*&gt;MC </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无效率</a:t>
            </a:r>
            <a:endParaRPr lang="en-US" altLang="zh-CN" sz="1800" dirty="0">
              <a:latin typeface="微软雅黑" panose="020B0503020204020204" pitchFamily="34" charset="-122"/>
              <a:ea typeface="微软雅黑" panose="020B0503020204020204" pitchFamily="34" charset="-122"/>
            </a:endParaRPr>
          </a:p>
          <a:p>
            <a:pPr marL="540000" indent="-342900">
              <a:lnSpc>
                <a:spcPct val="150000"/>
              </a:lnSpc>
              <a:buSzPct val="80000"/>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管制之一</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效率目标：</a:t>
            </a:r>
            <a:r>
              <a:rPr lang="en-US" altLang="zh-CN" sz="1800" dirty="0">
                <a:latin typeface="微软雅黑" panose="020B0503020204020204" pitchFamily="34" charset="-122"/>
                <a:ea typeface="微软雅黑" panose="020B0503020204020204" pitchFamily="34" charset="-122"/>
              </a:rPr>
              <a:t> P=P</a:t>
            </a:r>
            <a:r>
              <a:rPr lang="en-US" altLang="zh-CN" sz="1800" baseline="-25000" dirty="0">
                <a:latin typeface="微软雅黑" panose="020B0503020204020204" pitchFamily="34" charset="-122"/>
                <a:ea typeface="微软雅黑" panose="020B0503020204020204" pitchFamily="34" charset="-122"/>
              </a:rPr>
              <a:t>M</a:t>
            </a:r>
            <a:r>
              <a:rPr lang="en-US" altLang="zh-CN" sz="1800" dirty="0">
                <a:latin typeface="微软雅黑" panose="020B0503020204020204" pitchFamily="34" charset="-122"/>
                <a:ea typeface="微软雅黑" panose="020B0503020204020204" pitchFamily="34" charset="-122"/>
              </a:rPr>
              <a:t>=MC</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Q=Q</a:t>
            </a:r>
            <a:r>
              <a:rPr lang="en-US" altLang="zh-CN" sz="1800" baseline="-25000" dirty="0">
                <a:latin typeface="微软雅黑" panose="020B0503020204020204" pitchFamily="34" charset="-122"/>
                <a:ea typeface="微软雅黑" panose="020B0503020204020204" pitchFamily="34" charset="-122"/>
              </a:rPr>
              <a:t>M</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p>
          <a:p>
            <a:pPr marL="540000">
              <a:lnSpc>
                <a:spcPct val="150000"/>
              </a:lnSpc>
              <a:buSzPct val="80000"/>
            </a:pP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）有效率，属于帕累托最优。但是</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p>
          <a:p>
            <a:pPr marL="540000">
              <a:lnSpc>
                <a:spcPct val="150000"/>
              </a:lnSpc>
              <a:buSzPct val="80000"/>
            </a:pP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2</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rPr>
              <a:t>P</a:t>
            </a:r>
            <a:r>
              <a:rPr lang="en-US" altLang="zh-CN" sz="1600" baseline="-25000" dirty="0">
                <a:latin typeface="微软雅黑" panose="020B0503020204020204" pitchFamily="34" charset="-122"/>
                <a:ea typeface="微软雅黑" panose="020B0503020204020204" pitchFamily="34" charset="-122"/>
              </a:rPr>
              <a:t>M</a:t>
            </a:r>
            <a:r>
              <a:rPr lang="en-US" altLang="zh-CN" sz="1600" dirty="0">
                <a:latin typeface="微软雅黑" panose="020B0503020204020204" pitchFamily="34" charset="-122"/>
                <a:ea typeface="微软雅黑" panose="020B0503020204020204" pitchFamily="34" charset="-122"/>
              </a:rPr>
              <a:t>&gt;AC</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仍然存在超额利润</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   </a:t>
            </a:r>
          </a:p>
          <a:p>
            <a:pPr marL="540000">
              <a:lnSpc>
                <a:spcPct val="150000"/>
              </a:lnSpc>
              <a:buSzPct val="80000"/>
            </a:pP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不公平</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buSzPct val="80000"/>
            </a:pPr>
            <a:endParaRPr lang="en-US" altLang="zh-CN" sz="2000" dirty="0">
              <a:latin typeface="微软雅黑" panose="020B0503020204020204" pitchFamily="34" charset="-122"/>
              <a:ea typeface="微软雅黑" panose="020B0503020204020204" pitchFamily="34" charset="-122"/>
            </a:endParaRPr>
          </a:p>
        </p:txBody>
      </p:sp>
      <p:cxnSp>
        <p:nvCxnSpPr>
          <p:cNvPr id="9" name="直接箭头连接符 5"/>
          <p:cNvCxnSpPr>
            <a:cxnSpLocks noChangeShapeType="1"/>
          </p:cNvCxnSpPr>
          <p:nvPr/>
        </p:nvCxnSpPr>
        <p:spPr bwMode="auto">
          <a:xfrm>
            <a:off x="4850231" y="5541255"/>
            <a:ext cx="3711525"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 name="直接箭头连接符 14"/>
          <p:cNvCxnSpPr>
            <a:cxnSpLocks noChangeShapeType="1"/>
          </p:cNvCxnSpPr>
          <p:nvPr/>
        </p:nvCxnSpPr>
        <p:spPr bwMode="auto">
          <a:xfrm flipV="1">
            <a:off x="4850231" y="1796342"/>
            <a:ext cx="0" cy="3744913"/>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1" name="直接连接符 25"/>
          <p:cNvCxnSpPr>
            <a:cxnSpLocks noChangeShapeType="1"/>
          </p:cNvCxnSpPr>
          <p:nvPr/>
        </p:nvCxnSpPr>
        <p:spPr bwMode="auto">
          <a:xfrm>
            <a:off x="4850231" y="2301167"/>
            <a:ext cx="2332771" cy="3095625"/>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12" name="直接连接符 30"/>
          <p:cNvCxnSpPr>
            <a:cxnSpLocks noChangeShapeType="1"/>
          </p:cNvCxnSpPr>
          <p:nvPr/>
        </p:nvCxnSpPr>
        <p:spPr bwMode="auto">
          <a:xfrm>
            <a:off x="4850231" y="2301167"/>
            <a:ext cx="3480693" cy="2325688"/>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16" name="直接连接符 43"/>
          <p:cNvCxnSpPr>
            <a:cxnSpLocks noChangeShapeType="1"/>
          </p:cNvCxnSpPr>
          <p:nvPr/>
        </p:nvCxnSpPr>
        <p:spPr bwMode="auto">
          <a:xfrm>
            <a:off x="6179583" y="3199601"/>
            <a:ext cx="10086" cy="2341654"/>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7" name="直接连接符 53"/>
          <p:cNvCxnSpPr>
            <a:cxnSpLocks noChangeShapeType="1"/>
          </p:cNvCxnSpPr>
          <p:nvPr/>
        </p:nvCxnSpPr>
        <p:spPr bwMode="auto">
          <a:xfrm flipV="1">
            <a:off x="4850231" y="3199601"/>
            <a:ext cx="1334395" cy="13375"/>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8" name="直接连接符 56"/>
          <p:cNvCxnSpPr>
            <a:cxnSpLocks noChangeShapeType="1"/>
          </p:cNvCxnSpPr>
          <p:nvPr/>
        </p:nvCxnSpPr>
        <p:spPr bwMode="auto">
          <a:xfrm flipV="1">
            <a:off x="7010471" y="3740298"/>
            <a:ext cx="0" cy="1773114"/>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sp>
        <p:nvSpPr>
          <p:cNvPr id="19" name="线形标注 2(无边框) 64"/>
          <p:cNvSpPr>
            <a:spLocks/>
          </p:cNvSpPr>
          <p:nvPr/>
        </p:nvSpPr>
        <p:spPr bwMode="auto">
          <a:xfrm>
            <a:off x="4273968" y="5252330"/>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0</a:t>
            </a:r>
            <a:endParaRPr lang="zh-CN" altLang="en-US" sz="2000" i="1" dirty="0">
              <a:latin typeface="Times New Roman" panose="02020603050405020304" pitchFamily="18" charset="0"/>
              <a:cs typeface="Times New Roman" panose="02020603050405020304" pitchFamily="18" charset="0"/>
            </a:endParaRPr>
          </a:p>
        </p:txBody>
      </p:sp>
      <p:sp>
        <p:nvSpPr>
          <p:cNvPr id="20" name="线形标注 2(无边框) 70"/>
          <p:cNvSpPr>
            <a:spLocks/>
          </p:cNvSpPr>
          <p:nvPr/>
        </p:nvSpPr>
        <p:spPr bwMode="auto">
          <a:xfrm>
            <a:off x="7979987" y="5396792"/>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Q</a:t>
            </a:r>
            <a:endParaRPr lang="zh-CN" altLang="en-US" sz="2000" dirty="0">
              <a:latin typeface="Times New Roman" panose="02020603050405020304" pitchFamily="18" charset="0"/>
              <a:cs typeface="Times New Roman" panose="02020603050405020304" pitchFamily="18" charset="0"/>
            </a:endParaRPr>
          </a:p>
        </p:txBody>
      </p:sp>
      <p:sp>
        <p:nvSpPr>
          <p:cNvPr id="21" name="线形标注 2(无边框) 71"/>
          <p:cNvSpPr>
            <a:spLocks/>
          </p:cNvSpPr>
          <p:nvPr/>
        </p:nvSpPr>
        <p:spPr bwMode="auto">
          <a:xfrm>
            <a:off x="4273968" y="1836259"/>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p:txBody>
      </p:sp>
      <p:sp>
        <p:nvSpPr>
          <p:cNvPr id="22" name="线形标注 2(无边框) 72"/>
          <p:cNvSpPr>
            <a:spLocks/>
          </p:cNvSpPr>
          <p:nvPr/>
        </p:nvSpPr>
        <p:spPr bwMode="auto">
          <a:xfrm>
            <a:off x="6333942" y="2991282"/>
            <a:ext cx="792162"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p:txBody>
      </p:sp>
      <p:sp>
        <p:nvSpPr>
          <p:cNvPr id="23" name="线形标注 2(无边框) 73"/>
          <p:cNvSpPr>
            <a:spLocks/>
          </p:cNvSpPr>
          <p:nvPr/>
        </p:nvSpPr>
        <p:spPr bwMode="auto">
          <a:xfrm>
            <a:off x="6235235" y="4668073"/>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p:txBody>
      </p:sp>
      <p:sp>
        <p:nvSpPr>
          <p:cNvPr id="24" name="线形标注 2(无边框) 74"/>
          <p:cNvSpPr>
            <a:spLocks/>
          </p:cNvSpPr>
          <p:nvPr/>
        </p:nvSpPr>
        <p:spPr bwMode="auto">
          <a:xfrm>
            <a:off x="6738611" y="3749260"/>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C</a:t>
            </a:r>
            <a:endParaRPr lang="zh-CN" altLang="en-US" sz="2000" dirty="0">
              <a:latin typeface="Times New Roman" panose="02020603050405020304" pitchFamily="18" charset="0"/>
              <a:cs typeface="Times New Roman" panose="02020603050405020304" pitchFamily="18" charset="0"/>
            </a:endParaRPr>
          </a:p>
        </p:txBody>
      </p:sp>
      <p:sp>
        <p:nvSpPr>
          <p:cNvPr id="26" name="线形标注 2(无边框) 76"/>
          <p:cNvSpPr>
            <a:spLocks/>
          </p:cNvSpPr>
          <p:nvPr/>
        </p:nvSpPr>
        <p:spPr bwMode="auto">
          <a:xfrm>
            <a:off x="6437815" y="5398034"/>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err="1">
                <a:latin typeface="Times New Roman" panose="02020603050405020304" pitchFamily="18" charset="0"/>
                <a:cs typeface="Times New Roman" panose="02020603050405020304" pitchFamily="18" charset="0"/>
              </a:rPr>
              <a:t>Q</a:t>
            </a:r>
            <a:r>
              <a:rPr lang="en-US" altLang="zh-CN" sz="2000" baseline="-25000" dirty="0" err="1">
                <a:latin typeface="Times New Roman" panose="02020603050405020304" pitchFamily="18" charset="0"/>
                <a:cs typeface="Times New Roman" panose="02020603050405020304" pitchFamily="18" charset="0"/>
              </a:rPr>
              <a:t>m</a:t>
            </a:r>
            <a:endParaRPr lang="zh-CN" altLang="en-US" sz="2000" dirty="0">
              <a:latin typeface="Times New Roman" panose="02020603050405020304" pitchFamily="18" charset="0"/>
              <a:cs typeface="Times New Roman" panose="02020603050405020304" pitchFamily="18" charset="0"/>
            </a:endParaRPr>
          </a:p>
        </p:txBody>
      </p:sp>
      <p:sp>
        <p:nvSpPr>
          <p:cNvPr id="27" name="线形标注 2(无边框) 78"/>
          <p:cNvSpPr>
            <a:spLocks/>
          </p:cNvSpPr>
          <p:nvPr/>
        </p:nvSpPr>
        <p:spPr bwMode="auto">
          <a:xfrm>
            <a:off x="5806579" y="5373475"/>
            <a:ext cx="790575"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Q</a:t>
            </a:r>
            <a:r>
              <a:rPr lang="en-US" altLang="zh-CN" sz="2000" baseline="30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28" name="线形标注 2(无边框) 79"/>
          <p:cNvSpPr>
            <a:spLocks/>
          </p:cNvSpPr>
          <p:nvPr/>
        </p:nvSpPr>
        <p:spPr bwMode="auto">
          <a:xfrm>
            <a:off x="4346432" y="2983263"/>
            <a:ext cx="644362" cy="440190"/>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P</a:t>
            </a:r>
            <a:r>
              <a:rPr lang="en-US" altLang="zh-CN" sz="2000" i="1" baseline="30000" dirty="0">
                <a:latin typeface="Times New Roman" panose="02020603050405020304" pitchFamily="18" charset="0"/>
                <a:cs typeface="Times New Roman" panose="02020603050405020304" pitchFamily="18" charset="0"/>
              </a:rPr>
              <a:t>*</a:t>
            </a:r>
            <a:endParaRPr lang="zh-CN" altLang="en-US" sz="2000" i="1" dirty="0">
              <a:latin typeface="Times New Roman" panose="02020603050405020304" pitchFamily="18" charset="0"/>
              <a:cs typeface="Times New Roman" panose="02020603050405020304" pitchFamily="18" charset="0"/>
            </a:endParaRPr>
          </a:p>
        </p:txBody>
      </p:sp>
      <p:sp>
        <p:nvSpPr>
          <p:cNvPr id="29" name="线形标注 2(无边框) 80"/>
          <p:cNvSpPr>
            <a:spLocks/>
          </p:cNvSpPr>
          <p:nvPr/>
        </p:nvSpPr>
        <p:spPr bwMode="auto">
          <a:xfrm>
            <a:off x="7855484" y="4457615"/>
            <a:ext cx="9699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D=AR</a:t>
            </a:r>
            <a:endParaRPr lang="zh-CN" altLang="en-US" sz="2000" i="1" dirty="0">
              <a:latin typeface="Times New Roman" panose="02020603050405020304" pitchFamily="18" charset="0"/>
              <a:cs typeface="Times New Roman" panose="02020603050405020304" pitchFamily="18" charset="0"/>
            </a:endParaRPr>
          </a:p>
        </p:txBody>
      </p:sp>
      <p:sp>
        <p:nvSpPr>
          <p:cNvPr id="30" name="线形标注 2(无边框) 81"/>
          <p:cNvSpPr>
            <a:spLocks/>
          </p:cNvSpPr>
          <p:nvPr/>
        </p:nvSpPr>
        <p:spPr bwMode="auto">
          <a:xfrm>
            <a:off x="6963784" y="5043112"/>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MR</a:t>
            </a:r>
            <a:endParaRPr lang="zh-CN" altLang="en-US" sz="2000" i="1" dirty="0">
              <a:latin typeface="Times New Roman" panose="02020603050405020304" pitchFamily="18" charset="0"/>
              <a:cs typeface="Times New Roman" panose="02020603050405020304" pitchFamily="18" charset="0"/>
            </a:endParaRPr>
          </a:p>
        </p:txBody>
      </p:sp>
      <p:sp>
        <p:nvSpPr>
          <p:cNvPr id="31" name="线形标注 2(无边框) 82"/>
          <p:cNvSpPr>
            <a:spLocks/>
          </p:cNvSpPr>
          <p:nvPr/>
        </p:nvSpPr>
        <p:spPr bwMode="auto">
          <a:xfrm>
            <a:off x="7632107" y="2788804"/>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AC</a:t>
            </a:r>
            <a:endParaRPr lang="zh-CN" altLang="en-US" sz="2000" i="1" dirty="0">
              <a:latin typeface="Times New Roman" panose="02020603050405020304" pitchFamily="18" charset="0"/>
              <a:cs typeface="Times New Roman" panose="02020603050405020304" pitchFamily="18" charset="0"/>
            </a:endParaRPr>
          </a:p>
        </p:txBody>
      </p:sp>
      <p:sp>
        <p:nvSpPr>
          <p:cNvPr id="32" name="线形标注 2(无边框) 83"/>
          <p:cNvSpPr>
            <a:spLocks/>
          </p:cNvSpPr>
          <p:nvPr/>
        </p:nvSpPr>
        <p:spPr bwMode="auto">
          <a:xfrm>
            <a:off x="7124782" y="2469016"/>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MC</a:t>
            </a:r>
            <a:endParaRPr lang="zh-CN" altLang="en-US" sz="2000" i="1" dirty="0">
              <a:latin typeface="Times New Roman" panose="02020603050405020304" pitchFamily="18" charset="0"/>
              <a:cs typeface="Times New Roman" panose="02020603050405020304" pitchFamily="18" charset="0"/>
            </a:endParaRPr>
          </a:p>
        </p:txBody>
      </p:sp>
      <p:sp>
        <p:nvSpPr>
          <p:cNvPr id="8" name="任意多边形 7"/>
          <p:cNvSpPr/>
          <p:nvPr/>
        </p:nvSpPr>
        <p:spPr bwMode="auto">
          <a:xfrm>
            <a:off x="4911246" y="2900988"/>
            <a:ext cx="2477492" cy="1821714"/>
          </a:xfrm>
          <a:custGeom>
            <a:avLst/>
            <a:gdLst>
              <a:gd name="connsiteX0" fmla="*/ 0 w 2488223"/>
              <a:gd name="connsiteY0" fmla="*/ 1090246 h 1572196"/>
              <a:gd name="connsiteX1" fmla="*/ 518746 w 2488223"/>
              <a:gd name="connsiteY1" fmla="*/ 1547446 h 1572196"/>
              <a:gd name="connsiteX2" fmla="*/ 1960685 w 2488223"/>
              <a:gd name="connsiteY2" fmla="*/ 422031 h 1572196"/>
              <a:gd name="connsiteX3" fmla="*/ 2488223 w 2488223"/>
              <a:gd name="connsiteY3" fmla="*/ 0 h 1572196"/>
              <a:gd name="connsiteX4" fmla="*/ 2488223 w 2488223"/>
              <a:gd name="connsiteY4" fmla="*/ 0 h 1572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8223" h="1572196">
                <a:moveTo>
                  <a:pt x="0" y="1090246"/>
                </a:moveTo>
                <a:cubicBezTo>
                  <a:pt x="95982" y="1374530"/>
                  <a:pt x="191965" y="1658815"/>
                  <a:pt x="518746" y="1547446"/>
                </a:cubicBezTo>
                <a:cubicBezTo>
                  <a:pt x="845527" y="1436077"/>
                  <a:pt x="1632439" y="679939"/>
                  <a:pt x="1960685" y="422031"/>
                </a:cubicBezTo>
                <a:cubicBezTo>
                  <a:pt x="2288931" y="164123"/>
                  <a:pt x="2488223" y="0"/>
                  <a:pt x="2488223" y="0"/>
                </a:cubicBezTo>
                <a:lnTo>
                  <a:pt x="2488223" y="0"/>
                </a:lnTo>
              </a:path>
            </a:pathLst>
          </a:custGeom>
          <a:noFill/>
          <a:ln w="28575" cap="flat" cmpd="sng" algn="ctr">
            <a:solidFill>
              <a:srgbClr val="CC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4" name="任意多边形 33"/>
          <p:cNvSpPr/>
          <p:nvPr/>
        </p:nvSpPr>
        <p:spPr bwMode="auto">
          <a:xfrm rot="21220709">
            <a:off x="5028521" y="3405347"/>
            <a:ext cx="3091784" cy="605390"/>
          </a:xfrm>
          <a:custGeom>
            <a:avLst/>
            <a:gdLst>
              <a:gd name="connsiteX0" fmla="*/ 0 w 3015762"/>
              <a:gd name="connsiteY0" fmla="*/ 123093 h 1205631"/>
              <a:gd name="connsiteX1" fmla="*/ 571500 w 3015762"/>
              <a:gd name="connsiteY1" fmla="*/ 1143000 h 1205631"/>
              <a:gd name="connsiteX2" fmla="*/ 1644162 w 3015762"/>
              <a:gd name="connsiteY2" fmla="*/ 975946 h 1205631"/>
              <a:gd name="connsiteX3" fmla="*/ 3015762 w 3015762"/>
              <a:gd name="connsiteY3" fmla="*/ 0 h 1205631"/>
              <a:gd name="connsiteX4" fmla="*/ 3015762 w 3015762"/>
              <a:gd name="connsiteY4" fmla="*/ 0 h 1205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5762" h="1205631">
                <a:moveTo>
                  <a:pt x="0" y="123093"/>
                </a:moveTo>
                <a:cubicBezTo>
                  <a:pt x="148736" y="561975"/>
                  <a:pt x="297473" y="1000858"/>
                  <a:pt x="571500" y="1143000"/>
                </a:cubicBezTo>
                <a:cubicBezTo>
                  <a:pt x="845527" y="1285142"/>
                  <a:pt x="1236785" y="1166446"/>
                  <a:pt x="1644162" y="975946"/>
                </a:cubicBezTo>
                <a:cubicBezTo>
                  <a:pt x="2051539" y="785446"/>
                  <a:pt x="3015762" y="0"/>
                  <a:pt x="3015762" y="0"/>
                </a:cubicBezTo>
                <a:lnTo>
                  <a:pt x="3015762" y="0"/>
                </a:lnTo>
              </a:path>
            </a:pathLst>
          </a:custGeom>
          <a:noFill/>
          <a:ln w="28575" cap="flat" cmpd="sng" algn="ctr">
            <a:solidFill>
              <a:srgbClr val="4793B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45" name="直接连接符 43"/>
          <p:cNvCxnSpPr>
            <a:cxnSpLocks noChangeShapeType="1"/>
          </p:cNvCxnSpPr>
          <p:nvPr/>
        </p:nvCxnSpPr>
        <p:spPr bwMode="auto">
          <a:xfrm>
            <a:off x="6732240" y="3613462"/>
            <a:ext cx="0" cy="189995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54" name="直接连接符 53"/>
          <p:cNvCxnSpPr>
            <a:cxnSpLocks noChangeShapeType="1"/>
          </p:cNvCxnSpPr>
          <p:nvPr/>
        </p:nvCxnSpPr>
        <p:spPr bwMode="auto">
          <a:xfrm>
            <a:off x="4850231" y="3600175"/>
            <a:ext cx="1927761" cy="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57" name="直接连接符 56"/>
          <p:cNvCxnSpPr>
            <a:cxnSpLocks noChangeShapeType="1"/>
          </p:cNvCxnSpPr>
          <p:nvPr/>
        </p:nvCxnSpPr>
        <p:spPr bwMode="auto">
          <a:xfrm>
            <a:off x="4850231" y="3740298"/>
            <a:ext cx="2160240" cy="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sp>
        <p:nvSpPr>
          <p:cNvPr id="61" name="线形标注 2(无边框) 76"/>
          <p:cNvSpPr>
            <a:spLocks/>
          </p:cNvSpPr>
          <p:nvPr/>
        </p:nvSpPr>
        <p:spPr bwMode="auto">
          <a:xfrm>
            <a:off x="6728700" y="5365402"/>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Q</a:t>
            </a:r>
            <a:r>
              <a:rPr lang="en-US" altLang="zh-CN" sz="2000" baseline="-25000" dirty="0">
                <a:latin typeface="Times New Roman" panose="02020603050405020304" pitchFamily="18" charset="0"/>
                <a:cs typeface="Times New Roman" panose="02020603050405020304" pitchFamily="18" charset="0"/>
              </a:rPr>
              <a:t>A</a:t>
            </a:r>
            <a:endParaRPr lang="zh-CN" altLang="en-US" sz="2000" dirty="0">
              <a:latin typeface="Times New Roman" panose="02020603050405020304" pitchFamily="18" charset="0"/>
              <a:cs typeface="Times New Roman" panose="02020603050405020304" pitchFamily="18" charset="0"/>
            </a:endParaRPr>
          </a:p>
        </p:txBody>
      </p:sp>
      <p:sp>
        <p:nvSpPr>
          <p:cNvPr id="63" name="线形标注 2(无边框) 79"/>
          <p:cNvSpPr>
            <a:spLocks/>
          </p:cNvSpPr>
          <p:nvPr/>
        </p:nvSpPr>
        <p:spPr bwMode="auto">
          <a:xfrm>
            <a:off x="4355698" y="3260932"/>
            <a:ext cx="629027" cy="422386"/>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P</a:t>
            </a:r>
            <a:r>
              <a:rPr lang="en-US" altLang="zh-CN" sz="2000" i="1" baseline="-25000" dirty="0">
                <a:latin typeface="Times New Roman" panose="02020603050405020304" pitchFamily="18" charset="0"/>
                <a:cs typeface="Times New Roman" panose="02020603050405020304" pitchFamily="18" charset="0"/>
              </a:rPr>
              <a:t>M</a:t>
            </a:r>
            <a:endParaRPr lang="zh-CN" altLang="en-US" sz="2000" i="1" baseline="-25000" dirty="0">
              <a:latin typeface="Times New Roman" panose="02020603050405020304" pitchFamily="18" charset="0"/>
              <a:cs typeface="Times New Roman" panose="02020603050405020304" pitchFamily="18" charset="0"/>
            </a:endParaRPr>
          </a:p>
        </p:txBody>
      </p:sp>
      <p:sp>
        <p:nvSpPr>
          <p:cNvPr id="64" name="线形标注 2(无边框) 79"/>
          <p:cNvSpPr>
            <a:spLocks/>
          </p:cNvSpPr>
          <p:nvPr/>
        </p:nvSpPr>
        <p:spPr bwMode="auto">
          <a:xfrm>
            <a:off x="4252664" y="3462931"/>
            <a:ext cx="756122" cy="548625"/>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P</a:t>
            </a:r>
            <a:r>
              <a:rPr lang="en-US" altLang="zh-CN" sz="2000" i="1" baseline="-25000" dirty="0">
                <a:latin typeface="Times New Roman" panose="02020603050405020304" pitchFamily="18" charset="0"/>
                <a:cs typeface="Times New Roman" panose="02020603050405020304" pitchFamily="18" charset="0"/>
              </a:rPr>
              <a:t>A</a:t>
            </a:r>
            <a:endParaRPr lang="zh-CN" altLang="en-US" sz="2000" i="1" baseline="-25000" dirty="0">
              <a:latin typeface="Times New Roman" panose="02020603050405020304" pitchFamily="18" charset="0"/>
              <a:cs typeface="Times New Roman" panose="02020603050405020304" pitchFamily="18" charset="0"/>
            </a:endParaRPr>
          </a:p>
        </p:txBody>
      </p:sp>
      <p:sp>
        <p:nvSpPr>
          <p:cNvPr id="66" name="线形标注 2(无边框) 73"/>
          <p:cNvSpPr>
            <a:spLocks/>
          </p:cNvSpPr>
          <p:nvPr/>
        </p:nvSpPr>
        <p:spPr bwMode="auto">
          <a:xfrm>
            <a:off x="5778508" y="4117836"/>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E</a:t>
            </a:r>
            <a:endParaRPr lang="zh-CN" altLang="en-US" sz="2000" i="1"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1DD113CF-1C2A-421C-986B-83C8C92D6226}"/>
              </a:ext>
            </a:extLst>
          </p:cNvPr>
          <p:cNvSpPr txBox="1"/>
          <p:nvPr/>
        </p:nvSpPr>
        <p:spPr>
          <a:xfrm>
            <a:off x="596982" y="4985619"/>
            <a:ext cx="4263146" cy="877163"/>
          </a:xfrm>
          <a:prstGeom prst="rect">
            <a:avLst/>
          </a:prstGeom>
          <a:noFill/>
        </p:spPr>
        <p:txBody>
          <a:bodyPr wrap="square" rtlCol="0">
            <a:spAutoFit/>
          </a:bodyPr>
          <a:lstStyle/>
          <a:p>
            <a:pPr marL="342900" indent="-342900" eaLnBrk="1" hangingPunct="1">
              <a:lnSpc>
                <a:spcPct val="150000"/>
              </a:lnSpc>
              <a:buSzPct val="80000"/>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管制之二</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公平目标： </a:t>
            </a:r>
            <a:r>
              <a:rPr lang="en-US" altLang="zh-CN" sz="1600" dirty="0">
                <a:latin typeface="微软雅黑" panose="020B0503020204020204" pitchFamily="34" charset="-122"/>
                <a:ea typeface="微软雅黑" panose="020B0503020204020204" pitchFamily="34" charset="-122"/>
              </a:rPr>
              <a:t>P=P</a:t>
            </a:r>
            <a:r>
              <a:rPr lang="en-US" altLang="zh-CN" sz="1600" baseline="-25000" dirty="0">
                <a:latin typeface="微软雅黑" panose="020B0503020204020204" pitchFamily="34" charset="-122"/>
                <a:ea typeface="微软雅黑" panose="020B0503020204020204" pitchFamily="34" charset="-122"/>
              </a:rPr>
              <a:t>A</a:t>
            </a:r>
            <a:r>
              <a:rPr lang="en-US" altLang="zh-CN" sz="1600" dirty="0">
                <a:latin typeface="微软雅黑" panose="020B0503020204020204" pitchFamily="34" charset="-122"/>
                <a:ea typeface="微软雅黑" panose="020B0503020204020204" pitchFamily="34" charset="-122"/>
              </a:rPr>
              <a:t>=AC</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Q=Q</a:t>
            </a:r>
            <a:r>
              <a:rPr lang="en-US" altLang="zh-CN" sz="1600" baseline="-25000" dirty="0">
                <a:latin typeface="微软雅黑" panose="020B0503020204020204" pitchFamily="34" charset="-122"/>
                <a:ea typeface="微软雅黑" panose="020B0503020204020204" pitchFamily="34" charset="-122"/>
              </a:rPr>
              <a:t>A</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  </a:t>
            </a:r>
            <a:r>
              <a:rPr lang="en-US" altLang="zh-CN" sz="1600" dirty="0">
                <a:latin typeface="微软雅黑" panose="020B0503020204020204" pitchFamily="34" charset="-122"/>
                <a:ea typeface="微软雅黑" panose="020B0503020204020204" pitchFamily="34" charset="-122"/>
              </a:rPr>
              <a:t>MC&gt;P</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1800" dirty="0">
                <a:latin typeface="微软雅黑" panose="020B0503020204020204" pitchFamily="34" charset="-122"/>
                <a:ea typeface="微软雅黑" panose="020B0503020204020204" pitchFamily="34" charset="-122"/>
              </a:rPr>
              <a:t>无效率</a:t>
            </a:r>
          </a:p>
        </p:txBody>
      </p:sp>
      <p:sp>
        <p:nvSpPr>
          <p:cNvPr id="36" name="标题 1">
            <a:extLst>
              <a:ext uri="{FF2B5EF4-FFF2-40B4-BE49-F238E27FC236}">
                <a16:creationId xmlns:a16="http://schemas.microsoft.com/office/drawing/2014/main" id="{04F661B2-1657-4D65-B072-4BE57F5854DE}"/>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7772482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31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19" grpId="0" autoUpdateAnimBg="0"/>
      <p:bldP spid="20" grpId="0" autoUpdateAnimBg="0"/>
      <p:bldP spid="21" grpId="0" autoUpdateAnimBg="0"/>
      <p:bldP spid="22" grpId="0" autoUpdateAnimBg="0"/>
      <p:bldP spid="23" grpId="0" autoUpdateAnimBg="0"/>
      <p:bldP spid="24" grpId="0" autoUpdateAnimBg="0"/>
      <p:bldP spid="26" grpId="0" autoUpdateAnimBg="0"/>
      <p:bldP spid="27" grpId="0" autoUpdateAnimBg="0"/>
      <p:bldP spid="28" grpId="0" autoUpdateAnimBg="0"/>
      <p:bldP spid="29" grpId="0" autoUpdateAnimBg="0"/>
      <p:bldP spid="30" grpId="0" autoUpdateAnimBg="0"/>
      <p:bldP spid="31" grpId="0" autoUpdateAnimBg="0"/>
      <p:bldP spid="32" grpId="0" autoUpdateAnimBg="0"/>
      <p:bldP spid="8" grpId="0" animBg="1"/>
      <p:bldP spid="34" grpId="0" animBg="1"/>
      <p:bldP spid="61" grpId="0" autoUpdateAnimBg="0"/>
      <p:bldP spid="63" grpId="0" autoUpdateAnimBg="0"/>
      <p:bldP spid="64" grpId="0" autoUpdateAnimBg="0"/>
      <p:bldP spid="66" grpId="0" autoUpdateAnimBg="0"/>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idx="4294967295"/>
          </p:nvPr>
        </p:nvSpPr>
        <p:spPr>
          <a:xfrm>
            <a:off x="359442" y="1136955"/>
            <a:ext cx="4318124" cy="2763866"/>
          </a:xfrm>
        </p:spPr>
        <p:txBody>
          <a:bodyPr/>
          <a:lstStyle/>
          <a:p>
            <a:pPr eaLnBrk="1" hangingPunct="1">
              <a:lnSpc>
                <a:spcPts val="3000"/>
              </a:lnSpc>
              <a:buSzPct val="80000"/>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成本递减的情形</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540000" eaLnBrk="1" hangingPunct="1">
              <a:lnSpc>
                <a:spcPts val="3000"/>
              </a:lnSpc>
              <a:buSzPct val="80000"/>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无</a:t>
            </a:r>
            <a:r>
              <a:rPr lang="zh-CN" altLang="en-US" sz="1800" b="0" dirty="0">
                <a:solidFill>
                  <a:schemeClr val="tx1"/>
                </a:solidFill>
                <a:latin typeface="微软雅黑" panose="020B0503020204020204" pitchFamily="34" charset="-122"/>
                <a:ea typeface="微软雅黑" panose="020B0503020204020204" pitchFamily="34" charset="-122"/>
              </a:rPr>
              <a:t>管制时，</a:t>
            </a:r>
            <a:r>
              <a:rPr lang="en-US" altLang="zh-CN" sz="1800" b="0" dirty="0">
                <a:solidFill>
                  <a:schemeClr val="tx1"/>
                </a:solidFill>
                <a:latin typeface="微软雅黑" panose="020B0503020204020204" pitchFamily="34" charset="-122"/>
                <a:ea typeface="微软雅黑" panose="020B0503020204020204" pitchFamily="34" charset="-122"/>
              </a:rPr>
              <a:t>P=P*</a:t>
            </a:r>
            <a:r>
              <a:rPr lang="zh-CN" altLang="en-US" sz="1800" b="0" dirty="0">
                <a:solidFill>
                  <a:schemeClr val="tx1"/>
                </a:solidFill>
                <a:latin typeface="微软雅黑" panose="020B0503020204020204" pitchFamily="34" charset="-122"/>
                <a:ea typeface="微软雅黑" panose="020B0503020204020204" pitchFamily="34" charset="-122"/>
              </a:rPr>
              <a:t>，</a:t>
            </a:r>
            <a:r>
              <a:rPr lang="en-US" altLang="zh-CN" sz="1800" b="0" dirty="0">
                <a:solidFill>
                  <a:schemeClr val="tx1"/>
                </a:solidFill>
                <a:latin typeface="微软雅黑" panose="020B0503020204020204" pitchFamily="34" charset="-122"/>
                <a:ea typeface="微软雅黑" panose="020B0503020204020204" pitchFamily="34" charset="-122"/>
              </a:rPr>
              <a:t>Q=Q*</a:t>
            </a:r>
            <a:r>
              <a:rPr lang="zh-CN" altLang="en-US" sz="1800" b="0" dirty="0">
                <a:solidFill>
                  <a:schemeClr val="tx1"/>
                </a:solidFill>
                <a:latin typeface="微软雅黑" panose="020B0503020204020204" pitchFamily="34" charset="-122"/>
                <a:ea typeface="微软雅黑" panose="020B0503020204020204" pitchFamily="34" charset="-122"/>
              </a:rPr>
              <a:t> </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P*&gt;MC </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无效率</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540000" eaLnBrk="1" hangingPunct="1">
              <a:lnSpc>
                <a:spcPts val="3000"/>
              </a:lnSpc>
              <a:buSzPct val="80000"/>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管制之一：</a:t>
            </a:r>
            <a:r>
              <a:rPr lang="en-US" altLang="zh-CN" sz="1800" b="0" dirty="0">
                <a:solidFill>
                  <a:schemeClr val="tx1"/>
                </a:solidFill>
                <a:latin typeface="微软雅黑" panose="020B0503020204020204" pitchFamily="34" charset="-122"/>
                <a:ea typeface="微软雅黑" panose="020B0503020204020204" pitchFamily="34" charset="-122"/>
              </a:rPr>
              <a:t> P=P</a:t>
            </a:r>
            <a:r>
              <a:rPr lang="en-US" altLang="zh-CN" sz="1800" b="0" baseline="-25000" dirty="0">
                <a:solidFill>
                  <a:schemeClr val="tx1"/>
                </a:solidFill>
                <a:latin typeface="微软雅黑" panose="020B0503020204020204" pitchFamily="34" charset="-122"/>
                <a:ea typeface="微软雅黑" panose="020B0503020204020204" pitchFamily="34" charset="-122"/>
              </a:rPr>
              <a:t>M</a:t>
            </a:r>
            <a:r>
              <a:rPr lang="en-US" altLang="zh-CN" sz="1800" b="0" dirty="0">
                <a:solidFill>
                  <a:schemeClr val="tx1"/>
                </a:solidFill>
                <a:latin typeface="微软雅黑" panose="020B0503020204020204" pitchFamily="34" charset="-122"/>
                <a:ea typeface="微软雅黑" panose="020B0503020204020204" pitchFamily="34" charset="-122"/>
              </a:rPr>
              <a:t>=MC</a:t>
            </a:r>
            <a:r>
              <a:rPr lang="zh-CN" altLang="en-US" sz="1800" b="0" dirty="0">
                <a:solidFill>
                  <a:schemeClr val="tx1"/>
                </a:solidFill>
                <a:latin typeface="微软雅黑" panose="020B0503020204020204" pitchFamily="34" charset="-122"/>
                <a:ea typeface="微软雅黑" panose="020B0503020204020204" pitchFamily="34" charset="-122"/>
              </a:rPr>
              <a:t>，</a:t>
            </a:r>
            <a:r>
              <a:rPr lang="en-US" altLang="zh-CN" sz="1800" b="0" dirty="0">
                <a:solidFill>
                  <a:schemeClr val="tx1"/>
                </a:solidFill>
                <a:latin typeface="微软雅黑" panose="020B0503020204020204" pitchFamily="34" charset="-122"/>
                <a:ea typeface="微软雅黑" panose="020B0503020204020204" pitchFamily="34" charset="-122"/>
              </a:rPr>
              <a:t>Q=Q</a:t>
            </a:r>
            <a:r>
              <a:rPr lang="en-US" altLang="zh-CN" sz="1800" b="0" baseline="-25000" dirty="0">
                <a:solidFill>
                  <a:schemeClr val="tx1"/>
                </a:solidFill>
                <a:latin typeface="微软雅黑" panose="020B0503020204020204" pitchFamily="34" charset="-122"/>
                <a:ea typeface="微软雅黑" panose="020B0503020204020204" pitchFamily="34" charset="-122"/>
              </a:rPr>
              <a:t>M</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p>
          <a:p>
            <a:pPr marL="720000" indent="0" eaLnBrk="1" hangingPunct="1">
              <a:lnSpc>
                <a:spcPts val="3000"/>
              </a:lnSpc>
              <a:buSzPct val="80000"/>
              <a:buNone/>
            </a:pPr>
            <a:r>
              <a:rPr lang="zh-CN" altLang="en-US"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1</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）有效率</a:t>
            </a:r>
            <a:endPar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720000" indent="0" eaLnBrk="1" hangingPunct="1">
              <a:lnSpc>
                <a:spcPts val="3000"/>
              </a:lnSpc>
              <a:buSzPct val="80000"/>
              <a:buNone/>
            </a:pP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2</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P</a:t>
            </a:r>
            <a:r>
              <a:rPr lang="en-US" altLang="zh-CN" sz="1600" b="0" baseline="-250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M</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&lt;AC</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无效率</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需要补贴      </a:t>
            </a:r>
            <a:endPar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720000" indent="0" eaLnBrk="1" hangingPunct="1">
              <a:lnSpc>
                <a:spcPts val="3000"/>
              </a:lnSpc>
              <a:buSzPct val="80000"/>
              <a:buNone/>
            </a:pP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补贴来自税收</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税收扭曲效率</a:t>
            </a:r>
            <a:endPar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5" name="Rectangle 3"/>
          <p:cNvSpPr txBox="1">
            <a:spLocks noChangeArrowheads="1"/>
          </p:cNvSpPr>
          <p:nvPr/>
        </p:nvSpPr>
        <p:spPr bwMode="auto">
          <a:xfrm>
            <a:off x="359442" y="4381736"/>
            <a:ext cx="4506569" cy="221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0000" eaLnBrk="1" hangingPunct="1">
              <a:lnSpc>
                <a:spcPts val="3000"/>
              </a:lnSpc>
              <a:buSzPct val="80000"/>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管制之二</a:t>
            </a:r>
            <a:r>
              <a:rPr lang="en-US" altLang="zh-CN" sz="2000" b="0" dirty="0">
                <a:solidFill>
                  <a:schemeClr val="tx1"/>
                </a:solidFill>
                <a:latin typeface="微软雅黑" panose="020B0503020204020204" pitchFamily="34" charset="-122"/>
                <a:ea typeface="微软雅黑" panose="020B0503020204020204" pitchFamily="34" charset="-122"/>
              </a:rPr>
              <a:t>——P=P</a:t>
            </a:r>
            <a:r>
              <a:rPr lang="en-US" altLang="zh-CN" sz="2000" b="0" baseline="-25000" dirty="0">
                <a:solidFill>
                  <a:schemeClr val="tx1"/>
                </a:solidFill>
                <a:latin typeface="微软雅黑" panose="020B0503020204020204" pitchFamily="34" charset="-122"/>
                <a:ea typeface="微软雅黑" panose="020B0503020204020204" pitchFamily="34" charset="-122"/>
              </a:rPr>
              <a:t>A</a:t>
            </a:r>
            <a:r>
              <a:rPr lang="en-US" altLang="zh-CN" sz="2000" b="0" dirty="0">
                <a:solidFill>
                  <a:schemeClr val="tx1"/>
                </a:solidFill>
                <a:latin typeface="微软雅黑" panose="020B0503020204020204" pitchFamily="34" charset="-122"/>
                <a:ea typeface="微软雅黑" panose="020B0503020204020204" pitchFamily="34" charset="-122"/>
              </a:rPr>
              <a:t>=AC</a:t>
            </a:r>
            <a:r>
              <a:rPr lang="zh-CN" altLang="en-US" sz="1600" b="0" dirty="0">
                <a:solidFill>
                  <a:schemeClr val="tx1"/>
                </a:solidFill>
                <a:latin typeface="微软雅黑" panose="020B0503020204020204" pitchFamily="34" charset="-122"/>
                <a:ea typeface="微软雅黑" panose="020B0503020204020204" pitchFamily="34" charset="-122"/>
              </a:rPr>
              <a:t>，</a:t>
            </a:r>
            <a:endParaRPr lang="en-US" altLang="zh-CN" sz="1600" b="0" dirty="0">
              <a:solidFill>
                <a:schemeClr val="tx1"/>
              </a:solidFill>
              <a:latin typeface="微软雅黑" panose="020B0503020204020204" pitchFamily="34" charset="-122"/>
              <a:ea typeface="微软雅黑" panose="020B0503020204020204" pitchFamily="34" charset="-122"/>
            </a:endParaRPr>
          </a:p>
          <a:p>
            <a:pPr marL="197100" indent="0" eaLnBrk="1" hangingPunct="1">
              <a:lnSpc>
                <a:spcPts val="3000"/>
              </a:lnSpc>
              <a:buSzPct val="80000"/>
              <a:buNone/>
            </a:pPr>
            <a:r>
              <a:rPr lang="en-US" altLang="zh-CN" sz="1600" b="0" dirty="0">
                <a:solidFill>
                  <a:schemeClr val="tx1"/>
                </a:solidFill>
                <a:latin typeface="微软雅黑" panose="020B0503020204020204" pitchFamily="34" charset="-122"/>
                <a:ea typeface="微软雅黑" panose="020B0503020204020204" pitchFamily="34" charset="-122"/>
              </a:rPr>
              <a:t>      Q=Q</a:t>
            </a:r>
            <a:r>
              <a:rPr lang="en-US" altLang="zh-CN" sz="1600" b="0" baseline="-25000" dirty="0">
                <a:solidFill>
                  <a:schemeClr val="tx1"/>
                </a:solidFill>
                <a:latin typeface="微软雅黑" panose="020B0503020204020204" pitchFamily="34" charset="-122"/>
                <a:ea typeface="微软雅黑" panose="020B0503020204020204" pitchFamily="34" charset="-122"/>
              </a:rPr>
              <a:t>A</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效率改善，但是</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MC&lt;P</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非帕累   </a:t>
            </a:r>
            <a:endPar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197100" indent="0" eaLnBrk="1" hangingPunct="1">
              <a:lnSpc>
                <a:spcPts val="3000"/>
              </a:lnSpc>
              <a:buSzPct val="80000"/>
              <a:buNone/>
            </a:pP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托最优，效率仍然有继续改善空间</a:t>
            </a:r>
            <a:endParaRPr lang="zh-CN" altLang="en-US" sz="20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F68E5273-CD77-47B9-B841-9D29349C133D}"/>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三、对垄断的公共管制</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cxnSp>
        <p:nvCxnSpPr>
          <p:cNvPr id="8" name="直接箭头连接符 5"/>
          <p:cNvCxnSpPr>
            <a:cxnSpLocks noChangeShapeType="1"/>
          </p:cNvCxnSpPr>
          <p:nvPr/>
        </p:nvCxnSpPr>
        <p:spPr bwMode="auto">
          <a:xfrm>
            <a:off x="5028267" y="5552256"/>
            <a:ext cx="3711525"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 name="直接箭头连接符 14"/>
          <p:cNvCxnSpPr>
            <a:cxnSpLocks noChangeShapeType="1"/>
          </p:cNvCxnSpPr>
          <p:nvPr/>
        </p:nvCxnSpPr>
        <p:spPr bwMode="auto">
          <a:xfrm flipV="1">
            <a:off x="5028267" y="1807343"/>
            <a:ext cx="0" cy="3744913"/>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 name="直接连接符 25"/>
          <p:cNvCxnSpPr>
            <a:cxnSpLocks noChangeShapeType="1"/>
          </p:cNvCxnSpPr>
          <p:nvPr/>
        </p:nvCxnSpPr>
        <p:spPr bwMode="auto">
          <a:xfrm>
            <a:off x="5045391" y="2307379"/>
            <a:ext cx="2609450" cy="3243640"/>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11" name="直接连接符 30"/>
          <p:cNvCxnSpPr>
            <a:cxnSpLocks noChangeShapeType="1"/>
          </p:cNvCxnSpPr>
          <p:nvPr/>
        </p:nvCxnSpPr>
        <p:spPr bwMode="auto">
          <a:xfrm>
            <a:off x="5028267" y="2312168"/>
            <a:ext cx="3480693" cy="2325688"/>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12" name="直接连接符 43"/>
          <p:cNvCxnSpPr>
            <a:cxnSpLocks noChangeShapeType="1"/>
          </p:cNvCxnSpPr>
          <p:nvPr/>
        </p:nvCxnSpPr>
        <p:spPr bwMode="auto">
          <a:xfrm>
            <a:off x="6653944" y="3397081"/>
            <a:ext cx="33493" cy="2155175"/>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3" name="直接连接符 53"/>
          <p:cNvCxnSpPr>
            <a:cxnSpLocks noChangeShapeType="1"/>
          </p:cNvCxnSpPr>
          <p:nvPr/>
        </p:nvCxnSpPr>
        <p:spPr bwMode="auto">
          <a:xfrm>
            <a:off x="5028267" y="3397081"/>
            <a:ext cx="1642423" cy="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4" name="直接连接符 56"/>
          <p:cNvCxnSpPr>
            <a:cxnSpLocks noChangeShapeType="1"/>
          </p:cNvCxnSpPr>
          <p:nvPr/>
        </p:nvCxnSpPr>
        <p:spPr bwMode="auto">
          <a:xfrm flipV="1">
            <a:off x="7764583" y="4157373"/>
            <a:ext cx="13157" cy="1408258"/>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sp>
        <p:nvSpPr>
          <p:cNvPr id="15" name="线形标注 2(无边框) 64"/>
          <p:cNvSpPr>
            <a:spLocks/>
          </p:cNvSpPr>
          <p:nvPr/>
        </p:nvSpPr>
        <p:spPr bwMode="auto">
          <a:xfrm>
            <a:off x="4452004" y="5263331"/>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0</a:t>
            </a:r>
            <a:endParaRPr lang="zh-CN" altLang="en-US" sz="2000" i="1" dirty="0">
              <a:latin typeface="Times New Roman" panose="02020603050405020304" pitchFamily="18" charset="0"/>
              <a:cs typeface="Times New Roman" panose="02020603050405020304" pitchFamily="18" charset="0"/>
            </a:endParaRPr>
          </a:p>
        </p:txBody>
      </p:sp>
      <p:sp>
        <p:nvSpPr>
          <p:cNvPr id="16" name="线形标注 2(无边框) 70"/>
          <p:cNvSpPr>
            <a:spLocks/>
          </p:cNvSpPr>
          <p:nvPr/>
        </p:nvSpPr>
        <p:spPr bwMode="auto">
          <a:xfrm>
            <a:off x="8158023" y="5407793"/>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Q</a:t>
            </a:r>
            <a:endParaRPr lang="zh-CN" altLang="en-US" sz="2000" dirty="0">
              <a:latin typeface="Times New Roman" panose="02020603050405020304" pitchFamily="18" charset="0"/>
              <a:cs typeface="Times New Roman" panose="02020603050405020304" pitchFamily="18" charset="0"/>
            </a:endParaRPr>
          </a:p>
        </p:txBody>
      </p:sp>
      <p:sp>
        <p:nvSpPr>
          <p:cNvPr id="17" name="线形标注 2(无边框) 71"/>
          <p:cNvSpPr>
            <a:spLocks/>
          </p:cNvSpPr>
          <p:nvPr/>
        </p:nvSpPr>
        <p:spPr bwMode="auto">
          <a:xfrm>
            <a:off x="4452004" y="1847260"/>
            <a:ext cx="7921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P</a:t>
            </a:r>
            <a:endParaRPr lang="zh-CN" altLang="en-US" sz="2000" i="1" dirty="0">
              <a:latin typeface="Times New Roman" panose="02020603050405020304" pitchFamily="18" charset="0"/>
              <a:cs typeface="Times New Roman" panose="02020603050405020304" pitchFamily="18" charset="0"/>
            </a:endParaRPr>
          </a:p>
        </p:txBody>
      </p:sp>
      <p:sp>
        <p:nvSpPr>
          <p:cNvPr id="18" name="线形标注 2(无边框) 72"/>
          <p:cNvSpPr>
            <a:spLocks/>
          </p:cNvSpPr>
          <p:nvPr/>
        </p:nvSpPr>
        <p:spPr bwMode="auto">
          <a:xfrm>
            <a:off x="6511978" y="3002283"/>
            <a:ext cx="792162"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p:txBody>
      </p:sp>
      <p:sp>
        <p:nvSpPr>
          <p:cNvPr id="19" name="线形标注 2(无边框) 73"/>
          <p:cNvSpPr>
            <a:spLocks/>
          </p:cNvSpPr>
          <p:nvPr/>
        </p:nvSpPr>
        <p:spPr bwMode="auto">
          <a:xfrm>
            <a:off x="6413271" y="4679074"/>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p:txBody>
      </p:sp>
      <p:sp>
        <p:nvSpPr>
          <p:cNvPr id="20" name="线形标注 2(无边框) 74"/>
          <p:cNvSpPr>
            <a:spLocks/>
          </p:cNvSpPr>
          <p:nvPr/>
        </p:nvSpPr>
        <p:spPr bwMode="auto">
          <a:xfrm>
            <a:off x="6916647" y="3760261"/>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C</a:t>
            </a:r>
            <a:endParaRPr lang="zh-CN" altLang="en-US" sz="2000" dirty="0">
              <a:latin typeface="Times New Roman" panose="02020603050405020304" pitchFamily="18" charset="0"/>
              <a:cs typeface="Times New Roman" panose="02020603050405020304" pitchFamily="18" charset="0"/>
            </a:endParaRPr>
          </a:p>
        </p:txBody>
      </p:sp>
      <p:sp>
        <p:nvSpPr>
          <p:cNvPr id="21" name="线形标注 2(无边框) 76"/>
          <p:cNvSpPr>
            <a:spLocks/>
          </p:cNvSpPr>
          <p:nvPr/>
        </p:nvSpPr>
        <p:spPr bwMode="auto">
          <a:xfrm>
            <a:off x="7503827" y="5391219"/>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err="1">
                <a:latin typeface="Times New Roman" panose="02020603050405020304" pitchFamily="18" charset="0"/>
                <a:cs typeface="Times New Roman" panose="02020603050405020304" pitchFamily="18" charset="0"/>
              </a:rPr>
              <a:t>Q</a:t>
            </a:r>
            <a:r>
              <a:rPr lang="en-US" altLang="zh-CN" sz="2000" baseline="-25000" dirty="0" err="1">
                <a:latin typeface="Times New Roman" panose="02020603050405020304" pitchFamily="18" charset="0"/>
                <a:cs typeface="Times New Roman" panose="02020603050405020304" pitchFamily="18" charset="0"/>
              </a:rPr>
              <a:t>m</a:t>
            </a:r>
            <a:endParaRPr lang="zh-CN" altLang="en-US" sz="2000" dirty="0">
              <a:latin typeface="Times New Roman" panose="02020603050405020304" pitchFamily="18" charset="0"/>
              <a:cs typeface="Times New Roman" panose="02020603050405020304" pitchFamily="18" charset="0"/>
            </a:endParaRPr>
          </a:p>
        </p:txBody>
      </p:sp>
      <p:sp>
        <p:nvSpPr>
          <p:cNvPr id="22" name="线形标注 2(无边框) 78"/>
          <p:cNvSpPr>
            <a:spLocks/>
          </p:cNvSpPr>
          <p:nvPr/>
        </p:nvSpPr>
        <p:spPr bwMode="auto">
          <a:xfrm>
            <a:off x="6322825" y="5404246"/>
            <a:ext cx="790575"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Q</a:t>
            </a:r>
            <a:r>
              <a:rPr lang="en-US" altLang="zh-CN" sz="2000" baseline="30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23" name="线形标注 2(无边框) 79"/>
          <p:cNvSpPr>
            <a:spLocks/>
          </p:cNvSpPr>
          <p:nvPr/>
        </p:nvSpPr>
        <p:spPr bwMode="auto">
          <a:xfrm>
            <a:off x="4524659" y="3152414"/>
            <a:ext cx="644362" cy="440190"/>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P</a:t>
            </a:r>
            <a:r>
              <a:rPr lang="en-US" altLang="zh-CN" sz="2000" i="1" baseline="30000" dirty="0">
                <a:latin typeface="Times New Roman" panose="02020603050405020304" pitchFamily="18" charset="0"/>
                <a:cs typeface="Times New Roman" panose="02020603050405020304" pitchFamily="18" charset="0"/>
              </a:rPr>
              <a:t>*</a:t>
            </a:r>
            <a:endParaRPr lang="zh-CN" altLang="en-US" sz="2000" i="1" dirty="0">
              <a:latin typeface="Times New Roman" panose="02020603050405020304" pitchFamily="18" charset="0"/>
              <a:cs typeface="Times New Roman" panose="02020603050405020304" pitchFamily="18" charset="0"/>
            </a:endParaRPr>
          </a:p>
        </p:txBody>
      </p:sp>
      <p:sp>
        <p:nvSpPr>
          <p:cNvPr id="24" name="线形标注 2(无边框) 80"/>
          <p:cNvSpPr>
            <a:spLocks/>
          </p:cNvSpPr>
          <p:nvPr/>
        </p:nvSpPr>
        <p:spPr bwMode="auto">
          <a:xfrm>
            <a:off x="8078850" y="4469127"/>
            <a:ext cx="969963" cy="576262"/>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D=AR</a:t>
            </a:r>
            <a:endParaRPr lang="zh-CN" altLang="en-US" sz="2000" i="1" dirty="0">
              <a:latin typeface="Times New Roman" panose="02020603050405020304" pitchFamily="18" charset="0"/>
              <a:cs typeface="Times New Roman" panose="02020603050405020304" pitchFamily="18" charset="0"/>
            </a:endParaRPr>
          </a:p>
        </p:txBody>
      </p:sp>
      <p:sp>
        <p:nvSpPr>
          <p:cNvPr id="25" name="线形标注 2(无边框) 81"/>
          <p:cNvSpPr>
            <a:spLocks/>
          </p:cNvSpPr>
          <p:nvPr/>
        </p:nvSpPr>
        <p:spPr bwMode="auto">
          <a:xfrm>
            <a:off x="7315929" y="4989986"/>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MR</a:t>
            </a:r>
            <a:endParaRPr lang="zh-CN" altLang="en-US" sz="2000" i="1" dirty="0">
              <a:latin typeface="Times New Roman" panose="02020603050405020304" pitchFamily="18" charset="0"/>
              <a:cs typeface="Times New Roman" panose="02020603050405020304" pitchFamily="18" charset="0"/>
            </a:endParaRPr>
          </a:p>
        </p:txBody>
      </p:sp>
      <p:sp>
        <p:nvSpPr>
          <p:cNvPr id="26" name="线形标注 2(无边框) 82"/>
          <p:cNvSpPr>
            <a:spLocks/>
          </p:cNvSpPr>
          <p:nvPr/>
        </p:nvSpPr>
        <p:spPr bwMode="auto">
          <a:xfrm>
            <a:off x="7959912" y="3484900"/>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AC</a:t>
            </a:r>
            <a:endParaRPr lang="zh-CN" altLang="en-US" sz="2000" i="1" dirty="0">
              <a:latin typeface="Times New Roman" panose="02020603050405020304" pitchFamily="18" charset="0"/>
              <a:cs typeface="Times New Roman" panose="02020603050405020304" pitchFamily="18" charset="0"/>
            </a:endParaRPr>
          </a:p>
        </p:txBody>
      </p:sp>
      <p:sp>
        <p:nvSpPr>
          <p:cNvPr id="27" name="线形标注 2(无边框) 83"/>
          <p:cNvSpPr>
            <a:spLocks/>
          </p:cNvSpPr>
          <p:nvPr/>
        </p:nvSpPr>
        <p:spPr bwMode="auto">
          <a:xfrm>
            <a:off x="6888521" y="4153214"/>
            <a:ext cx="792162"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MC</a:t>
            </a:r>
            <a:endParaRPr lang="zh-CN" altLang="en-US" sz="2000" i="1" dirty="0">
              <a:latin typeface="Times New Roman" panose="02020603050405020304" pitchFamily="18" charset="0"/>
              <a:cs typeface="Times New Roman" panose="02020603050405020304" pitchFamily="18" charset="0"/>
            </a:endParaRPr>
          </a:p>
        </p:txBody>
      </p:sp>
      <p:cxnSp>
        <p:nvCxnSpPr>
          <p:cNvPr id="30" name="直接连接符 43"/>
          <p:cNvCxnSpPr>
            <a:cxnSpLocks noChangeShapeType="1"/>
          </p:cNvCxnSpPr>
          <p:nvPr/>
        </p:nvCxnSpPr>
        <p:spPr bwMode="auto">
          <a:xfrm>
            <a:off x="7493391" y="3963054"/>
            <a:ext cx="0" cy="1588408"/>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1" name="直接连接符 30"/>
          <p:cNvCxnSpPr>
            <a:cxnSpLocks noChangeShapeType="1"/>
          </p:cNvCxnSpPr>
          <p:nvPr/>
        </p:nvCxnSpPr>
        <p:spPr bwMode="auto">
          <a:xfrm flipV="1">
            <a:off x="5025237" y="4157373"/>
            <a:ext cx="2752503" cy="24467"/>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 name="直接连接符 31"/>
          <p:cNvCxnSpPr>
            <a:cxnSpLocks noChangeShapeType="1"/>
          </p:cNvCxnSpPr>
          <p:nvPr/>
        </p:nvCxnSpPr>
        <p:spPr bwMode="auto">
          <a:xfrm>
            <a:off x="5025237" y="3963054"/>
            <a:ext cx="2468154" cy="0"/>
          </a:xfrm>
          <a:prstGeom prst="line">
            <a:avLst/>
          </a:prstGeom>
          <a:noFill/>
          <a:ln w="15875" cmpd="sng">
            <a:solidFill>
              <a:schemeClr val="tx1"/>
            </a:solidFill>
            <a:prstDash val="dash"/>
            <a:round/>
            <a:headEnd/>
            <a:tailEnd/>
          </a:ln>
          <a:extLst>
            <a:ext uri="{909E8E84-426E-40DD-AFC4-6F175D3DCCD1}">
              <a14:hiddenFill xmlns:a14="http://schemas.microsoft.com/office/drawing/2010/main">
                <a:noFill/>
              </a14:hiddenFill>
            </a:ext>
          </a:extLst>
        </p:spPr>
      </p:cxnSp>
      <p:sp>
        <p:nvSpPr>
          <p:cNvPr id="33" name="线形标注 2(无边框) 76"/>
          <p:cNvSpPr>
            <a:spLocks/>
          </p:cNvSpPr>
          <p:nvPr/>
        </p:nvSpPr>
        <p:spPr bwMode="auto">
          <a:xfrm>
            <a:off x="7196354" y="5392456"/>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Times New Roman" panose="02020603050405020304" pitchFamily="18" charset="0"/>
                <a:cs typeface="Times New Roman" panose="02020603050405020304" pitchFamily="18" charset="0"/>
              </a:rPr>
              <a:t>Q</a:t>
            </a:r>
            <a:r>
              <a:rPr lang="en-US" altLang="zh-CN" sz="2000" baseline="-25000" dirty="0">
                <a:latin typeface="Times New Roman" panose="02020603050405020304" pitchFamily="18" charset="0"/>
                <a:cs typeface="Times New Roman" panose="02020603050405020304" pitchFamily="18" charset="0"/>
              </a:rPr>
              <a:t>A</a:t>
            </a:r>
            <a:endParaRPr lang="zh-CN" altLang="en-US" sz="2000" dirty="0">
              <a:latin typeface="Times New Roman" panose="02020603050405020304" pitchFamily="18" charset="0"/>
              <a:cs typeface="Times New Roman" panose="02020603050405020304" pitchFamily="18" charset="0"/>
            </a:endParaRPr>
          </a:p>
        </p:txBody>
      </p:sp>
      <p:sp>
        <p:nvSpPr>
          <p:cNvPr id="34" name="线形标注 2(无边框) 79"/>
          <p:cNvSpPr>
            <a:spLocks/>
          </p:cNvSpPr>
          <p:nvPr/>
        </p:nvSpPr>
        <p:spPr bwMode="auto">
          <a:xfrm>
            <a:off x="4533540" y="3932588"/>
            <a:ext cx="629027" cy="422386"/>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P</a:t>
            </a:r>
            <a:r>
              <a:rPr lang="en-US" altLang="zh-CN" sz="2000" i="1" baseline="-25000" dirty="0">
                <a:latin typeface="Times New Roman" panose="02020603050405020304" pitchFamily="18" charset="0"/>
                <a:cs typeface="Times New Roman" panose="02020603050405020304" pitchFamily="18" charset="0"/>
              </a:rPr>
              <a:t>M</a:t>
            </a:r>
            <a:endParaRPr lang="zh-CN" altLang="en-US" sz="2000" i="1" baseline="-25000" dirty="0">
              <a:latin typeface="Times New Roman" panose="02020603050405020304" pitchFamily="18" charset="0"/>
              <a:cs typeface="Times New Roman" panose="02020603050405020304" pitchFamily="18" charset="0"/>
            </a:endParaRPr>
          </a:p>
        </p:txBody>
      </p:sp>
      <p:sp>
        <p:nvSpPr>
          <p:cNvPr id="35" name="线形标注 2(无边框) 79"/>
          <p:cNvSpPr>
            <a:spLocks/>
          </p:cNvSpPr>
          <p:nvPr/>
        </p:nvSpPr>
        <p:spPr bwMode="auto">
          <a:xfrm>
            <a:off x="4424216" y="3570036"/>
            <a:ext cx="756122" cy="548625"/>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P</a:t>
            </a:r>
            <a:r>
              <a:rPr lang="en-US" altLang="zh-CN" sz="2000" i="1" baseline="-25000" dirty="0">
                <a:latin typeface="Times New Roman" panose="02020603050405020304" pitchFamily="18" charset="0"/>
                <a:cs typeface="Times New Roman" panose="02020603050405020304" pitchFamily="18" charset="0"/>
              </a:rPr>
              <a:t>A</a:t>
            </a:r>
            <a:endParaRPr lang="zh-CN" altLang="en-US" sz="2000" i="1" baseline="-25000" dirty="0">
              <a:latin typeface="Times New Roman" panose="02020603050405020304" pitchFamily="18" charset="0"/>
              <a:cs typeface="Times New Roman" panose="02020603050405020304" pitchFamily="18" charset="0"/>
            </a:endParaRPr>
          </a:p>
        </p:txBody>
      </p:sp>
      <p:sp>
        <p:nvSpPr>
          <p:cNvPr id="36" name="线形标注 2(无边框) 73"/>
          <p:cNvSpPr>
            <a:spLocks/>
          </p:cNvSpPr>
          <p:nvPr/>
        </p:nvSpPr>
        <p:spPr bwMode="auto">
          <a:xfrm>
            <a:off x="5956544" y="4128837"/>
            <a:ext cx="792163" cy="576263"/>
          </a:xfrm>
          <a:prstGeom prst="callout2">
            <a:avLst>
              <a:gd name="adj1" fmla="val 18750"/>
              <a:gd name="adj2" fmla="val -8333"/>
              <a:gd name="adj3" fmla="val 18750"/>
              <a:gd name="adj4" fmla="val -16667"/>
              <a:gd name="adj5" fmla="val 112500"/>
              <a:gd name="adj6" fmla="val -4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i="1" dirty="0">
                <a:latin typeface="Times New Roman" panose="02020603050405020304" pitchFamily="18" charset="0"/>
                <a:cs typeface="Times New Roman" panose="02020603050405020304" pitchFamily="18" charset="0"/>
              </a:rPr>
              <a:t>E</a:t>
            </a:r>
            <a:endParaRPr lang="zh-CN" altLang="en-US" sz="2000" i="1" dirty="0">
              <a:latin typeface="Times New Roman" panose="02020603050405020304" pitchFamily="18" charset="0"/>
              <a:cs typeface="Times New Roman" panose="02020603050405020304" pitchFamily="18" charset="0"/>
            </a:endParaRPr>
          </a:p>
        </p:txBody>
      </p:sp>
      <p:sp>
        <p:nvSpPr>
          <p:cNvPr id="48" name="弧形 47"/>
          <p:cNvSpPr/>
          <p:nvPr/>
        </p:nvSpPr>
        <p:spPr bwMode="auto">
          <a:xfrm rot="9453779">
            <a:off x="5468046" y="-433720"/>
            <a:ext cx="3223170" cy="4480891"/>
          </a:xfrm>
          <a:prstGeom prst="arc">
            <a:avLst/>
          </a:prstGeom>
          <a:noFill/>
          <a:ln w="28575" cap="flat" cmpd="sng" algn="ctr">
            <a:solidFill>
              <a:srgbClr val="4793B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9" name="弧形 48"/>
          <p:cNvSpPr/>
          <p:nvPr/>
        </p:nvSpPr>
        <p:spPr bwMode="auto">
          <a:xfrm rot="9399977">
            <a:off x="5122317" y="816896"/>
            <a:ext cx="4026018" cy="3472524"/>
          </a:xfrm>
          <a:prstGeom prst="arc">
            <a:avLst>
              <a:gd name="adj1" fmla="val 16026323"/>
              <a:gd name="adj2" fmla="val 0"/>
            </a:avLst>
          </a:prstGeom>
          <a:noFill/>
          <a:ln w="2857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7" name="标题 1">
            <a:extLst>
              <a:ext uri="{FF2B5EF4-FFF2-40B4-BE49-F238E27FC236}">
                <a16:creationId xmlns:a16="http://schemas.microsoft.com/office/drawing/2014/main" id="{BE5BDCFF-8ED8-488F-8325-DDD94CB10317}"/>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5288408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3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P spid="25" grpId="0" autoUpdateAnimBg="0"/>
      <p:bldP spid="26" grpId="0" autoUpdateAnimBg="0"/>
      <p:bldP spid="27" grpId="0" autoUpdateAnimBg="0"/>
      <p:bldP spid="33" grpId="0" autoUpdateAnimBg="0"/>
      <p:bldP spid="34" grpId="0" autoUpdateAnimBg="0"/>
      <p:bldP spid="35" grpId="0" autoUpdateAnimBg="0"/>
      <p:bldP spid="36" grpId="0" autoUpdateAnimBg="0"/>
      <p:bldP spid="48" grpId="0" animBg="1"/>
      <p:bldP spid="4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auto">
          <a:xfrm>
            <a:off x="722971" y="3200611"/>
            <a:ext cx="8013576" cy="2809687"/>
          </a:xfrm>
          <a:prstGeom prst="roundRect">
            <a:avLst/>
          </a:prstGeom>
          <a:noFill/>
          <a:ln w="2857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338" name="Rectangle 3"/>
          <p:cNvSpPr>
            <a:spLocks noGrp="1" noChangeArrowheads="1"/>
          </p:cNvSpPr>
          <p:nvPr>
            <p:ph idx="4294967295"/>
          </p:nvPr>
        </p:nvSpPr>
        <p:spPr>
          <a:xfrm>
            <a:off x="456845" y="3216610"/>
            <a:ext cx="8229600" cy="2595943"/>
          </a:xfrm>
          <a:ln w="28575"/>
        </p:spPr>
        <p:txBody>
          <a:bodyPr/>
          <a:lstStyle/>
          <a:p>
            <a:pPr lvl="1">
              <a:lnSpc>
                <a:spcPts val="3000"/>
              </a:lnSpc>
              <a:spcBef>
                <a:spcPct val="4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在美国，实行反托拉斯法的目的是抑制反竞争的垄断趋势。反托拉斯法遵循两个途径：</a:t>
            </a:r>
            <a:endParaRPr lang="en-US" altLang="zh-CN" sz="1800" dirty="0">
              <a:latin typeface="微软雅黑" panose="020B0503020204020204" pitchFamily="34" charset="-122"/>
              <a:ea typeface="微软雅黑" panose="020B0503020204020204" pitchFamily="34" charset="-122"/>
            </a:endParaRPr>
          </a:p>
          <a:p>
            <a:pPr lvl="2">
              <a:lnSpc>
                <a:spcPts val="3000"/>
              </a:lnSpc>
              <a:spcBef>
                <a:spcPct val="4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促进形成竞争的市场结构为目标。</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lvl="2">
              <a:lnSpc>
                <a:spcPts val="3000"/>
              </a:lnSpc>
              <a:spcBef>
                <a:spcPct val="4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以管理市场传导从而减少或消除垄断行为为目标。</a:t>
            </a:r>
          </a:p>
          <a:p>
            <a:pPr lvl="1">
              <a:lnSpc>
                <a:spcPts val="3000"/>
              </a:lnSpc>
              <a:spcBef>
                <a:spcPct val="4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反托拉斯法试图走一条促进社会满意的市场绩效的道路，形成有效率的市场结构和管理市场传导。 </a:t>
            </a: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四、反托拉斯法</a:t>
            </a:r>
          </a:p>
        </p:txBody>
      </p:sp>
      <p:sp>
        <p:nvSpPr>
          <p:cNvPr id="2" name="圆角矩形 1"/>
          <p:cNvSpPr/>
          <p:nvPr/>
        </p:nvSpPr>
        <p:spPr bwMode="auto">
          <a:xfrm>
            <a:off x="1259632" y="1412280"/>
            <a:ext cx="6768752" cy="976507"/>
          </a:xfrm>
          <a:prstGeom prst="roundRect">
            <a:avLst/>
          </a:prstGeom>
          <a:noFill/>
          <a:ln w="2857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50000"/>
              </a:lnSpc>
            </a:pPr>
            <a:r>
              <a:rPr lang="zh-CN" altLang="en-US" sz="1800" dirty="0">
                <a:latin typeface="微软雅黑" panose="020B0503020204020204" pitchFamily="34" charset="-122"/>
                <a:ea typeface="微软雅黑" panose="020B0503020204020204" pitchFamily="34" charset="-122"/>
              </a:rPr>
              <a:t>政府反对垄断，为此制定了反垄断法或反托拉斯法。各西方国家都不同程度地制定了反托拉斯法，其中以美国最为典型。</a:t>
            </a:r>
            <a:endParaRPr lang="en-US" altLang="zh-CN" sz="1800" dirty="0">
              <a:latin typeface="微软雅黑" panose="020B0503020204020204" pitchFamily="34" charset="-122"/>
              <a:ea typeface="微软雅黑" panose="020B0503020204020204" pitchFamily="34" charset="-122"/>
            </a:endParaRPr>
          </a:p>
        </p:txBody>
      </p:sp>
      <p:sp>
        <p:nvSpPr>
          <p:cNvPr id="6" name="下箭头 5"/>
          <p:cNvSpPr/>
          <p:nvPr/>
        </p:nvSpPr>
        <p:spPr bwMode="auto">
          <a:xfrm>
            <a:off x="4413531" y="2447602"/>
            <a:ext cx="316228" cy="693366"/>
          </a:xfrm>
          <a:prstGeom prst="downArrow">
            <a:avLst>
              <a:gd name="adj1" fmla="val 50000"/>
              <a:gd name="adj2" fmla="val 46674"/>
            </a:avLst>
          </a:prstGeom>
          <a:noFill/>
          <a:ln w="2857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标题 1">
            <a:extLst>
              <a:ext uri="{FF2B5EF4-FFF2-40B4-BE49-F238E27FC236}">
                <a16:creationId xmlns:a16="http://schemas.microsoft.com/office/drawing/2014/main" id="{BDDFF967-C15D-49AB-9D0B-08A3870F1D8A}"/>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338">
                                            <p:txEl>
                                              <p:pRg st="0" end="0"/>
                                            </p:txEl>
                                          </p:spTgt>
                                        </p:tgtEl>
                                        <p:attrNameLst>
                                          <p:attrName>style.visibility</p:attrName>
                                        </p:attrNameLst>
                                      </p:cBhvr>
                                      <p:to>
                                        <p:strVal val="visible"/>
                                      </p:to>
                                    </p:set>
                                    <p:animEffect transition="in" filter="fade">
                                      <p:cBhvr>
                                        <p:cTn id="16" dur="500"/>
                                        <p:tgtEl>
                                          <p:spTgt spid="14338">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338">
                                            <p:txEl>
                                              <p:pRg st="1" end="1"/>
                                            </p:txEl>
                                          </p:spTgt>
                                        </p:tgtEl>
                                        <p:attrNameLst>
                                          <p:attrName>style.visibility</p:attrName>
                                        </p:attrNameLst>
                                      </p:cBhvr>
                                      <p:to>
                                        <p:strVal val="visible"/>
                                      </p:to>
                                    </p:set>
                                    <p:animEffect transition="in" filter="fade">
                                      <p:cBhvr>
                                        <p:cTn id="19" dur="500"/>
                                        <p:tgtEl>
                                          <p:spTgt spid="14338">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338">
                                            <p:txEl>
                                              <p:pRg st="2" end="2"/>
                                            </p:txEl>
                                          </p:spTgt>
                                        </p:tgtEl>
                                        <p:attrNameLst>
                                          <p:attrName>style.visibility</p:attrName>
                                        </p:attrNameLst>
                                      </p:cBhvr>
                                      <p:to>
                                        <p:strVal val="visible"/>
                                      </p:to>
                                    </p:set>
                                    <p:animEffect transition="in" filter="fade">
                                      <p:cBhvr>
                                        <p:cTn id="22" dur="500"/>
                                        <p:tgtEl>
                                          <p:spTgt spid="14338">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338">
                                            <p:txEl>
                                              <p:pRg st="3" end="3"/>
                                            </p:txEl>
                                          </p:spTgt>
                                        </p:tgtEl>
                                        <p:attrNameLst>
                                          <p:attrName>style.visibility</p:attrName>
                                        </p:attrNameLst>
                                      </p:cBhvr>
                                      <p:to>
                                        <p:strVal val="visible"/>
                                      </p:to>
                                    </p:set>
                                    <p:animEffect transition="in" filter="fade">
                                      <p:cBhvr>
                                        <p:cTn id="25" dur="500"/>
                                        <p:tgtEl>
                                          <p:spTgt spid="14338">
                                            <p:txEl>
                                              <p:pRg st="3" end="3"/>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338" grpId="0" build="p"/>
      <p:bldP spid="2"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2"/>
          <p:cNvSpPr>
            <a:spLocks noGrp="1"/>
          </p:cNvSpPr>
          <p:nvPr>
            <p:ph idx="4294967295"/>
          </p:nvPr>
        </p:nvSpPr>
        <p:spPr>
          <a:xfrm>
            <a:off x="457200" y="1268760"/>
            <a:ext cx="8229600" cy="4784725"/>
          </a:xfrm>
        </p:spPr>
        <p:txBody>
          <a:bodyPr/>
          <a:lstStyle/>
          <a:p>
            <a:pPr>
              <a:lnSpc>
                <a:spcPts val="3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美国国会通过了一系列反托拉斯的法案</a:t>
            </a:r>
            <a:endParaRPr lang="en-US" altLang="zh-CN" sz="2000" b="0" dirty="0">
              <a:solidFill>
                <a:schemeClr val="tx1"/>
              </a:solidFill>
              <a:latin typeface="微软雅黑" panose="020B0503020204020204" pitchFamily="34" charset="-122"/>
              <a:ea typeface="微软雅黑" panose="020B0503020204020204" pitchFamily="34" charset="-122"/>
            </a:endParaRPr>
          </a:p>
          <a:p>
            <a:pPr>
              <a:lnSpc>
                <a:spcPts val="3500"/>
              </a:lnSpc>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a:t>
            </a:r>
            <a:r>
              <a:rPr lang="zh-CN" altLang="en-US" sz="1800" b="0" dirty="0">
                <a:solidFill>
                  <a:schemeClr val="tx1"/>
                </a:solidFill>
                <a:latin typeface="微软雅黑" panose="020B0503020204020204" pitchFamily="34" charset="-122"/>
                <a:ea typeface="微软雅黑" panose="020B0503020204020204" pitchFamily="34" charset="-122"/>
              </a:rPr>
              <a:t>谢尔曼法”</a:t>
            </a:r>
            <a:endParaRPr lang="en-US" altLang="zh-CN" sz="1800" b="0" dirty="0">
              <a:solidFill>
                <a:schemeClr val="tx1"/>
              </a:solidFill>
              <a:latin typeface="微软雅黑" panose="020B0503020204020204" pitchFamily="34" charset="-122"/>
              <a:ea typeface="微软雅黑" panose="020B0503020204020204" pitchFamily="34" charset="-122"/>
            </a:endParaRPr>
          </a:p>
          <a:p>
            <a:pPr lvl="1">
              <a:lnSpc>
                <a:spcPts val="35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为谋求对跨州的或同外国的贸易或商业的限制所订立的契约</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以托拉斯或其他形式的联合或共谋皆为非法。</a:t>
            </a:r>
            <a:endParaRPr lang="en-US" altLang="zh-CN" sz="1800" dirty="0">
              <a:latin typeface="微软雅黑" panose="020B0503020204020204" pitchFamily="34" charset="-122"/>
              <a:ea typeface="微软雅黑" panose="020B0503020204020204" pitchFamily="34" charset="-122"/>
            </a:endParaRPr>
          </a:p>
          <a:p>
            <a:pPr>
              <a:lnSpc>
                <a:spcPts val="3500"/>
              </a:lnSpc>
              <a:buFont typeface="Wingdings" panose="05000000000000000000" pitchFamily="2" charset="2"/>
              <a:buChar char="Ø"/>
            </a:pPr>
            <a:r>
              <a:rPr lang="zh-CN" altLang="en-US" sz="1800" dirty="0">
                <a:solidFill>
                  <a:schemeClr val="tx1"/>
                </a:solidFill>
                <a:latin typeface="微软雅黑" panose="020B0503020204020204" pitchFamily="34" charset="-122"/>
                <a:ea typeface="微软雅黑" panose="020B0503020204020204" pitchFamily="34" charset="-122"/>
              </a:rPr>
              <a:t>“</a:t>
            </a:r>
            <a:r>
              <a:rPr lang="zh-CN" altLang="en-US" sz="1800" b="0" dirty="0">
                <a:solidFill>
                  <a:schemeClr val="tx1"/>
                </a:solidFill>
                <a:latin typeface="微软雅黑" panose="020B0503020204020204" pitchFamily="34" charset="-122"/>
                <a:ea typeface="微软雅黑" panose="020B0503020204020204" pitchFamily="34" charset="-122"/>
              </a:rPr>
              <a:t>克莱顿法”</a:t>
            </a:r>
            <a:endParaRPr lang="en-US" altLang="zh-CN" sz="1800" b="0" dirty="0">
              <a:solidFill>
                <a:schemeClr val="tx1"/>
              </a:solidFill>
              <a:latin typeface="微软雅黑" panose="020B0503020204020204" pitchFamily="34" charset="-122"/>
              <a:ea typeface="微软雅黑" panose="020B0503020204020204" pitchFamily="34" charset="-122"/>
            </a:endParaRPr>
          </a:p>
          <a:p>
            <a:pPr lvl="1">
              <a:lnSpc>
                <a:spcPts val="35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禁止附加条件的合同，和独家经营</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禁止公司相互持有股票和董事会成员相互兼任等。 </a:t>
            </a:r>
            <a:endParaRPr lang="en-US" altLang="zh-CN" sz="1800" dirty="0">
              <a:latin typeface="微软雅黑" panose="020B0503020204020204" pitchFamily="34" charset="-122"/>
              <a:ea typeface="微软雅黑" panose="020B0503020204020204" pitchFamily="34" charset="-122"/>
            </a:endParaRPr>
          </a:p>
          <a:p>
            <a:pPr>
              <a:lnSpc>
                <a:spcPts val="35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“联邦贸易委员会法”</a:t>
            </a:r>
            <a:endParaRPr lang="en-US" altLang="zh-CN" sz="1800" b="0" dirty="0">
              <a:solidFill>
                <a:schemeClr val="tx1"/>
              </a:solidFill>
              <a:latin typeface="微软雅黑" panose="020B0503020204020204" pitchFamily="34" charset="-122"/>
              <a:ea typeface="微软雅黑" panose="020B0503020204020204" pitchFamily="34" charset="-122"/>
            </a:endParaRPr>
          </a:p>
          <a:p>
            <a:pPr lvl="1">
              <a:lnSpc>
                <a:spcPts val="35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成立联邦贸易委员会</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调查和起诉“不正当竞争”的活动。</a:t>
            </a:r>
          </a:p>
          <a:p>
            <a:pPr lvl="1">
              <a:lnSpc>
                <a:spcPts val="3500"/>
              </a:lnSpc>
              <a:buFontTx/>
              <a:buNone/>
            </a:pPr>
            <a:endParaRPr lang="en-US" altLang="zh-CN"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四、反托拉斯法</a:t>
            </a:r>
          </a:p>
        </p:txBody>
      </p:sp>
      <p:sp>
        <p:nvSpPr>
          <p:cNvPr id="6" name="标题 1">
            <a:extLst>
              <a:ext uri="{FF2B5EF4-FFF2-40B4-BE49-F238E27FC236}">
                <a16:creationId xmlns:a16="http://schemas.microsoft.com/office/drawing/2014/main" id="{94C15F6F-AF63-401B-AAE8-A526B12F2CA6}"/>
              </a:ext>
            </a:extLst>
          </p:cNvPr>
          <p:cNvSpPr txBox="1">
            <a:spLocks noChangeArrowheads="1"/>
          </p:cNvSpPr>
          <p:nvPr/>
        </p:nvSpPr>
        <p:spPr bwMode="auto">
          <a:xfrm>
            <a:off x="806896" y="161574"/>
            <a:ext cx="8229600" cy="38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第一节  垄断</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36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3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1831951" y="219248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1763688" y="189085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1831951" y="322073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1763688" y="291911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1831951" y="428335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1763688" y="398172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1831951" y="537249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1763688" y="5072453"/>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2343126" y="2246457"/>
            <a:ext cx="0" cy="672653"/>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2343126" y="3274710"/>
            <a:ext cx="0" cy="70701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2343126" y="4337327"/>
            <a:ext cx="0" cy="735126"/>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128963" y="1850584"/>
            <a:ext cx="345479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外部性的含义及其分类</a:t>
            </a:r>
          </a:p>
        </p:txBody>
      </p:sp>
      <p:sp>
        <p:nvSpPr>
          <p:cNvPr id="18" name="矩形 17">
            <a:extLst>
              <a:ext uri="{FF2B5EF4-FFF2-40B4-BE49-F238E27FC236}">
                <a16:creationId xmlns:a16="http://schemas.microsoft.com/office/drawing/2014/main" id="{6BA99CA7-A4CC-4245-BA58-DB89FA49F037}"/>
              </a:ext>
            </a:extLst>
          </p:cNvPr>
          <p:cNvSpPr/>
          <p:nvPr/>
        </p:nvSpPr>
        <p:spPr>
          <a:xfrm>
            <a:off x="3125168" y="2891820"/>
            <a:ext cx="4108817"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外部性导致资源配置无效率</a:t>
            </a:r>
          </a:p>
        </p:txBody>
      </p:sp>
      <p:sp>
        <p:nvSpPr>
          <p:cNvPr id="19" name="矩形 18">
            <a:extLst>
              <a:ext uri="{FF2B5EF4-FFF2-40B4-BE49-F238E27FC236}">
                <a16:creationId xmlns:a16="http://schemas.microsoft.com/office/drawing/2014/main" id="{018105B0-EC74-4F50-9B33-7F18FF6C04E7}"/>
              </a:ext>
            </a:extLst>
          </p:cNvPr>
          <p:cNvSpPr/>
          <p:nvPr/>
        </p:nvSpPr>
        <p:spPr>
          <a:xfrm>
            <a:off x="3125168" y="3967419"/>
            <a:ext cx="476284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纠正外部性影响的微观经济政策</a:t>
            </a:r>
          </a:p>
        </p:txBody>
      </p:sp>
      <p:sp>
        <p:nvSpPr>
          <p:cNvPr id="20" name="矩形 19">
            <a:extLst>
              <a:ext uri="{FF2B5EF4-FFF2-40B4-BE49-F238E27FC236}">
                <a16:creationId xmlns:a16="http://schemas.microsoft.com/office/drawing/2014/main" id="{E52AEF20-C2D6-4C68-8E54-0EF930AB28A2}"/>
              </a:ext>
            </a:extLst>
          </p:cNvPr>
          <p:cNvSpPr/>
          <p:nvPr/>
        </p:nvSpPr>
        <p:spPr>
          <a:xfrm>
            <a:off x="3125168" y="5018626"/>
            <a:ext cx="1492716"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科斯定理</a:t>
            </a:r>
          </a:p>
        </p:txBody>
      </p:sp>
      <p:sp>
        <p:nvSpPr>
          <p:cNvPr id="22" name="Rectangle 3">
            <a:extLst>
              <a:ext uri="{FF2B5EF4-FFF2-40B4-BE49-F238E27FC236}">
                <a16:creationId xmlns:a16="http://schemas.microsoft.com/office/drawing/2014/main" id="{94880A3B-DC7A-498C-A51E-1F0154773C95}"/>
              </a:ext>
            </a:extLst>
          </p:cNvPr>
          <p:cNvSpPr txBox="1">
            <a:spLocks noChangeArrowheads="1"/>
          </p:cNvSpPr>
          <p:nvPr/>
        </p:nvSpPr>
        <p:spPr bwMode="auto">
          <a:xfrm>
            <a:off x="2709672" y="772361"/>
            <a:ext cx="3816424" cy="58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sz="3600" dirty="0">
                <a:solidFill>
                  <a:schemeClr val="tx1">
                    <a:lumMod val="95000"/>
                    <a:lumOff val="5000"/>
                  </a:schemeClr>
                </a:solidFill>
                <a:latin typeface="微软雅黑" panose="020B0503020204020204" pitchFamily="34" charset="-122"/>
                <a:ea typeface="微软雅黑" panose="020B0503020204020204" pitchFamily="34" charset="-122"/>
              </a:rPr>
              <a:t>第二节</a:t>
            </a:r>
            <a:r>
              <a:rPr lang="en-US" altLang="zh-CN" sz="360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3600" dirty="0">
                <a:solidFill>
                  <a:schemeClr val="tx1">
                    <a:lumMod val="95000"/>
                    <a:lumOff val="5000"/>
                  </a:schemeClr>
                </a:solidFill>
                <a:latin typeface="微软雅黑" panose="020B0503020204020204" pitchFamily="34" charset="-122"/>
                <a:ea typeface="微软雅黑" panose="020B0503020204020204" pitchFamily="34" charset="-122"/>
              </a:rPr>
              <a:t>外部性</a:t>
            </a:r>
          </a:p>
          <a:p>
            <a:pPr eaLnBrk="1" hangingPunct="1">
              <a:buFontTx/>
              <a:buNone/>
            </a:pPr>
            <a:endParaRPr lang="en-US" altLang="zh-CN" sz="1200" b="0" dirty="0">
              <a:latin typeface="微软雅黑" panose="020B0503020204020204" pitchFamily="34" charset="-122"/>
              <a:ea typeface="微软雅黑" panose="020B0503020204020204" pitchFamily="34" charset="-122"/>
            </a:endParaRPr>
          </a:p>
          <a:p>
            <a:pPr lvl="1" eaLnBrk="1" hangingPunct="1">
              <a:buFontTx/>
              <a:buNone/>
            </a:pP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73936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500"/>
                                        <p:tgtEl>
                                          <p:spTgt spid="17"/>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500"/>
                                        <p:tgtEl>
                                          <p:spTgt spid="9"/>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up)">
                                      <p:cBhvr>
                                        <p:cTn id="55" dur="500"/>
                                        <p:tgtEl>
                                          <p:spTgt spid="1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left)">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7" grpId="0"/>
      <p:bldP spid="18" grpId="0"/>
      <p:bldP spid="19" grpId="0"/>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20851" y="1396923"/>
            <a:ext cx="7167573" cy="2529797"/>
          </a:xfrm>
        </p:spPr>
        <p:txBody>
          <a:bodyPr/>
          <a:lstStyle/>
          <a:p>
            <a:pPr>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北京</a:t>
            </a:r>
            <a:r>
              <a:rPr lang="en-US" altLang="zh-CN" sz="1800" b="0" dirty="0">
                <a:solidFill>
                  <a:schemeClr val="tx1"/>
                </a:solidFill>
                <a:latin typeface="微软雅黑" panose="020B0503020204020204" pitchFamily="34" charset="-122"/>
                <a:ea typeface="微软雅黑" panose="020B0503020204020204" pitchFamily="34" charset="-122"/>
              </a:rPr>
              <a:t>APEC</a:t>
            </a:r>
            <a:r>
              <a:rPr lang="zh-CN" altLang="en-US" sz="1800" b="0" dirty="0">
                <a:solidFill>
                  <a:schemeClr val="tx1"/>
                </a:solidFill>
                <a:latin typeface="微软雅黑" panose="020B0503020204020204" pitchFamily="34" charset="-122"/>
                <a:ea typeface="微软雅黑" panose="020B0503020204020204" pitchFamily="34" charset="-122"/>
              </a:rPr>
              <a:t>蓝是怎么炼成的？</a:t>
            </a:r>
            <a:endParaRPr lang="en-US" altLang="zh-CN" sz="1800" b="0" dirty="0">
              <a:solidFill>
                <a:schemeClr val="tx1"/>
              </a:solidFill>
              <a:latin typeface="微软雅黑" panose="020B0503020204020204" pitchFamily="34" charset="-122"/>
              <a:ea typeface="微软雅黑" panose="020B0503020204020204" pitchFamily="34" charset="-122"/>
            </a:endParaRPr>
          </a:p>
          <a:p>
            <a:pPr>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为什么要节能减排？</a:t>
            </a:r>
            <a:endParaRPr lang="en-US" altLang="zh-CN" sz="1800" b="0" dirty="0">
              <a:solidFill>
                <a:schemeClr val="tx1"/>
              </a:solidFill>
              <a:latin typeface="微软雅黑" panose="020B0503020204020204" pitchFamily="34" charset="-122"/>
              <a:ea typeface="微软雅黑" panose="020B0503020204020204" pitchFamily="34" charset="-122"/>
            </a:endParaRPr>
          </a:p>
          <a:p>
            <a:pPr>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有没有听说过</a:t>
            </a:r>
            <a:r>
              <a:rPr lang="en-US" altLang="zh-CN" sz="1800" b="0" dirty="0">
                <a:solidFill>
                  <a:schemeClr val="tx1"/>
                </a:solidFill>
                <a:latin typeface="微软雅黑" panose="020B0503020204020204" pitchFamily="34" charset="-122"/>
                <a:ea typeface="微软雅黑" panose="020B0503020204020204" pitchFamily="34" charset="-122"/>
              </a:rPr>
              <a:t>CDM</a:t>
            </a:r>
            <a:r>
              <a:rPr lang="zh-CN" altLang="en-US" sz="1800" b="0" dirty="0">
                <a:solidFill>
                  <a:schemeClr val="tx1"/>
                </a:solidFill>
                <a:latin typeface="微软雅黑" panose="020B0503020204020204" pitchFamily="34" charset="-122"/>
                <a:ea typeface="微软雅黑" panose="020B0503020204020204" pitchFamily="34" charset="-122"/>
              </a:rPr>
              <a:t>清洁发展机制</a:t>
            </a:r>
            <a:r>
              <a:rPr lang="en-US" altLang="zh-CN" sz="1800" b="0" dirty="0">
                <a:solidFill>
                  <a:schemeClr val="tx1"/>
                </a:solidFill>
                <a:latin typeface="微软雅黑" panose="020B0503020204020204" pitchFamily="34" charset="-122"/>
                <a:ea typeface="微软雅黑" panose="020B0503020204020204" pitchFamily="34" charset="-122"/>
              </a:rPr>
              <a:t>Clean Development Mechanism </a:t>
            </a:r>
            <a:r>
              <a:rPr lang="zh-CN" altLang="en-US" sz="1800" b="0" dirty="0">
                <a:solidFill>
                  <a:schemeClr val="tx1"/>
                </a:solidFill>
                <a:latin typeface="微软雅黑" panose="020B0503020204020204" pitchFamily="34" charset="-122"/>
                <a:ea typeface="微软雅黑" panose="020B0503020204020204" pitchFamily="34" charset="-122"/>
              </a:rPr>
              <a:t>？</a:t>
            </a:r>
            <a:endParaRPr lang="en-US" altLang="zh-CN" sz="1800" b="0" dirty="0">
              <a:solidFill>
                <a:schemeClr val="tx1"/>
              </a:solidFill>
              <a:latin typeface="微软雅黑" panose="020B0503020204020204" pitchFamily="34" charset="-122"/>
              <a:ea typeface="微软雅黑" panose="020B0503020204020204" pitchFamily="34" charset="-122"/>
            </a:endParaRPr>
          </a:p>
          <a:p>
            <a:pPr>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节能灯与新能源汽车为什么要补贴？</a:t>
            </a:r>
            <a:endParaRPr lang="en-US" altLang="zh-CN" sz="1800" b="0" dirty="0">
              <a:solidFill>
                <a:schemeClr val="tx1"/>
              </a:solidFill>
              <a:latin typeface="微软雅黑" panose="020B0503020204020204" pitchFamily="34" charset="-122"/>
              <a:ea typeface="微软雅黑" panose="020B0503020204020204" pitchFamily="34" charset="-122"/>
            </a:endParaRPr>
          </a:p>
          <a:p>
            <a:pPr>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环保局存在的依据是什么呢？</a:t>
            </a:r>
            <a:endParaRPr lang="en-US" altLang="zh-CN" sz="1800" b="0" dirty="0">
              <a:solidFill>
                <a:schemeClr val="tx1"/>
              </a:solidFill>
              <a:latin typeface="微软雅黑" panose="020B0503020204020204" pitchFamily="34" charset="-122"/>
              <a:ea typeface="微软雅黑" panose="020B0503020204020204" pitchFamily="34" charset="-122"/>
            </a:endParaRPr>
          </a:p>
          <a:p>
            <a:pPr>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想深刻认识广场舞有何问题和找到解决方案吗？</a:t>
            </a:r>
          </a:p>
        </p:txBody>
      </p:sp>
      <p:sp>
        <p:nvSpPr>
          <p:cNvPr id="4" name="矩形 3">
            <a:extLst>
              <a:ext uri="{FF2B5EF4-FFF2-40B4-BE49-F238E27FC236}">
                <a16:creationId xmlns:a16="http://schemas.microsoft.com/office/drawing/2014/main" id="{B2EA9F08-0383-4610-BF36-7A63DA4D0232}"/>
              </a:ext>
            </a:extLst>
          </p:cNvPr>
          <p:cNvSpPr/>
          <p:nvPr/>
        </p:nvSpPr>
        <p:spPr>
          <a:xfrm>
            <a:off x="615177" y="764704"/>
            <a:ext cx="7913645" cy="793102"/>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12125B1B-7460-47D4-8409-95D4EC8D6F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9699" y="352908"/>
            <a:ext cx="1611338" cy="1611338"/>
          </a:xfrm>
          <a:prstGeom prst="rect">
            <a:avLst/>
          </a:prstGeom>
        </p:spPr>
      </p:pic>
      <p:sp>
        <p:nvSpPr>
          <p:cNvPr id="6" name="矩形 5">
            <a:extLst>
              <a:ext uri="{FF2B5EF4-FFF2-40B4-BE49-F238E27FC236}">
                <a16:creationId xmlns:a16="http://schemas.microsoft.com/office/drawing/2014/main" id="{15FA188A-3102-4A0E-8ED7-E5A7BFB5511B}"/>
              </a:ext>
            </a:extLst>
          </p:cNvPr>
          <p:cNvSpPr/>
          <p:nvPr/>
        </p:nvSpPr>
        <p:spPr>
          <a:xfrm>
            <a:off x="3347864" y="980728"/>
            <a:ext cx="1813317" cy="400110"/>
          </a:xfrm>
          <a:prstGeom prst="rect">
            <a:avLst/>
          </a:prstGeom>
        </p:spPr>
        <p:txBody>
          <a:bodyPr wrap="non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关于外部性</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3808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idx="4294967295"/>
          </p:nvPr>
        </p:nvSpPr>
        <p:spPr>
          <a:xfrm>
            <a:off x="477466" y="1224112"/>
            <a:ext cx="8229600" cy="5291038"/>
          </a:xfrm>
        </p:spPr>
        <p:txBody>
          <a:bodyPr/>
          <a:lstStyle/>
          <a:p>
            <a:pPr eaLnBrk="1" hangingPunct="1">
              <a:lnSpc>
                <a:spcPct val="25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什么是外部性：</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540000" eaLnBrk="1" hangingPunct="1">
              <a:lnSpc>
                <a:spcPct val="300000"/>
              </a:lnSpc>
              <a:buFont typeface="Wingdings" panose="05000000000000000000" pitchFamily="2" charset="2"/>
              <a:buChar char="Ø"/>
            </a:pPr>
            <a:r>
              <a:rPr kumimoji="1" lang="zh-CN" altLang="en-US" sz="1800" b="0" kern="0" dirty="0">
                <a:solidFill>
                  <a:srgbClr val="000000"/>
                </a:solidFill>
                <a:latin typeface="微软雅黑" panose="020B0503020204020204" pitchFamily="34" charset="-122"/>
                <a:ea typeface="微软雅黑" panose="020B0503020204020204" pitchFamily="34" charset="-122"/>
              </a:rPr>
              <a:t>现实经济中有些活动经过了市场过程，有些没有。</a:t>
            </a:r>
            <a:endParaRPr kumimoji="1" lang="en-US" altLang="zh-CN" sz="1800" b="0" kern="0" dirty="0">
              <a:solidFill>
                <a:srgbClr val="000000"/>
              </a:solidFill>
              <a:latin typeface="微软雅黑" panose="020B0503020204020204" pitchFamily="34" charset="-122"/>
              <a:ea typeface="微软雅黑" panose="020B0503020204020204" pitchFamily="34" charset="-122"/>
            </a:endParaRPr>
          </a:p>
          <a:p>
            <a:pPr marL="324000" indent="0" eaLnBrk="1" hangingPunct="1">
              <a:lnSpc>
                <a:spcPct val="300000"/>
              </a:lnSpc>
              <a:buNone/>
            </a:pPr>
            <a:r>
              <a:rPr kumimoji="1" lang="en-US" altLang="zh-CN" sz="1800" b="0" kern="0" dirty="0">
                <a:solidFill>
                  <a:srgbClr val="000000"/>
                </a:solidFill>
                <a:latin typeface="微软雅黑" panose="020B0503020204020204" pitchFamily="34" charset="-122"/>
                <a:ea typeface="微软雅黑" panose="020B0503020204020204" pitchFamily="34" charset="-122"/>
              </a:rPr>
              <a:t>     </a:t>
            </a:r>
            <a:r>
              <a:rPr kumimoji="1" lang="zh-CN" altLang="en-US" sz="1800" b="0" kern="0" dirty="0">
                <a:solidFill>
                  <a:srgbClr val="000000"/>
                </a:solidFill>
                <a:latin typeface="微软雅黑" panose="020B0503020204020204" pitchFamily="34" charset="-122"/>
                <a:ea typeface="微软雅黑" panose="020B0503020204020204" pitchFamily="34" charset="-122"/>
              </a:rPr>
              <a:t>例子</a:t>
            </a:r>
            <a:r>
              <a:rPr kumimoji="1" lang="en-US" altLang="zh-CN" sz="1800" b="0" kern="0" dirty="0">
                <a:solidFill>
                  <a:srgbClr val="000000"/>
                </a:solidFill>
                <a:latin typeface="微软雅黑" panose="020B0503020204020204" pitchFamily="34" charset="-122"/>
                <a:ea typeface="微软雅黑" panose="020B0503020204020204" pitchFamily="34" charset="-122"/>
              </a:rPr>
              <a:t>: Smoke, pollution, tree and flowers, noise music</a:t>
            </a:r>
          </a:p>
          <a:p>
            <a:pPr marL="609750" indent="-285750" eaLnBrk="1" hangingPunct="1">
              <a:lnSpc>
                <a:spcPct val="300000"/>
              </a:lnSpc>
              <a:buFont typeface="Wingdings" panose="05000000000000000000" pitchFamily="2" charset="2"/>
              <a:buChar char="Ø"/>
            </a:pPr>
            <a:r>
              <a:rPr kumimoji="1" lang="zh-CN" altLang="en-US" sz="1800" b="0" kern="0" dirty="0">
                <a:solidFill>
                  <a:srgbClr val="000000"/>
                </a:solidFill>
                <a:latin typeface="微软雅黑" panose="020B0503020204020204" pitchFamily="34" charset="-122"/>
                <a:ea typeface="微软雅黑" panose="020B0503020204020204" pitchFamily="34" charset="-122"/>
              </a:rPr>
              <a:t>外部性：一个个体的经济活动给其他人带来的未经过市场过程的影响。这种影响可能是好的，也可能是坏的。</a:t>
            </a:r>
          </a:p>
          <a:p>
            <a:pPr marL="324000" indent="0" eaLnBrk="1" hangingPunct="1">
              <a:lnSpc>
                <a:spcPct val="250000"/>
              </a:lnSpc>
              <a:buNone/>
            </a:pPr>
            <a:endParaRPr kumimoji="1" lang="en-US" altLang="zh-CN" sz="1800" b="0" kern="0" dirty="0">
              <a:solidFill>
                <a:srgbClr val="000000"/>
              </a:solidFill>
              <a:latin typeface="微软雅黑" panose="020B0503020204020204" pitchFamily="34" charset="-122"/>
              <a:ea typeface="微软雅黑" panose="020B0503020204020204" pitchFamily="34" charset="-122"/>
            </a:endParaRPr>
          </a:p>
          <a:p>
            <a:pPr marL="720000" indent="0" eaLnBrk="1" hangingPunct="1">
              <a:lnSpc>
                <a:spcPct val="250000"/>
              </a:lnSpc>
              <a:buNone/>
            </a:pPr>
            <a:endParaRPr kumimoji="1" lang="en-US" altLang="zh-CN" sz="1800" b="0" kern="0" dirty="0">
              <a:solidFill>
                <a:srgbClr val="00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一、外部性的含义及其分类</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7" name="标题 1">
            <a:extLst>
              <a:ext uri="{FF2B5EF4-FFF2-40B4-BE49-F238E27FC236}">
                <a16:creationId xmlns:a16="http://schemas.microsoft.com/office/drawing/2014/main" id="{93EE8C7C-0156-4131-8CB6-C64160A46133}"/>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5242204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866">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866">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6866">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686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extLst>
              <p:ext uri="{D42A27DB-BD31-4B8C-83A1-F6EECF244321}">
                <p14:modId xmlns:p14="http://schemas.microsoft.com/office/powerpoint/2010/main" val="2844303461"/>
              </p:ext>
            </p:extLst>
          </p:nvPr>
        </p:nvGraphicFramePr>
        <p:xfrm>
          <a:off x="647564" y="1340768"/>
          <a:ext cx="8028384" cy="1922511"/>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20000"/>
                    </a:ext>
                  </a:extLst>
                </a:gridCol>
                <a:gridCol w="1944216">
                  <a:extLst>
                    <a:ext uri="{9D8B030D-6E8A-4147-A177-3AD203B41FA5}">
                      <a16:colId xmlns:a16="http://schemas.microsoft.com/office/drawing/2014/main" val="20001"/>
                    </a:ext>
                  </a:extLst>
                </a:gridCol>
                <a:gridCol w="1872208">
                  <a:extLst>
                    <a:ext uri="{9D8B030D-6E8A-4147-A177-3AD203B41FA5}">
                      <a16:colId xmlns:a16="http://schemas.microsoft.com/office/drawing/2014/main" val="20002"/>
                    </a:ext>
                  </a:extLst>
                </a:gridCol>
                <a:gridCol w="2339752">
                  <a:extLst>
                    <a:ext uri="{9D8B030D-6E8A-4147-A177-3AD203B41FA5}">
                      <a16:colId xmlns:a16="http://schemas.microsoft.com/office/drawing/2014/main" val="20003"/>
                    </a:ext>
                  </a:extLst>
                </a:gridCol>
              </a:tblGrid>
              <a:tr h="521386">
                <a:tc>
                  <a:txBody>
                    <a:bodyPr/>
                    <a:lstStyle/>
                    <a:p>
                      <a:pPr algn="ctr"/>
                      <a:r>
                        <a:rPr lang="zh-CN" altLang="en-US" sz="1800" b="0" dirty="0">
                          <a:latin typeface="微软雅黑" panose="020B0503020204020204" pitchFamily="34" charset="-122"/>
                          <a:ea typeface="微软雅黑" panose="020B0503020204020204" pitchFamily="34" charset="-122"/>
                        </a:rPr>
                        <a:t>私人经济行为</a:t>
                      </a:r>
                    </a:p>
                  </a:txBody>
                  <a:tcPr anchor="ctr">
                    <a:solidFill>
                      <a:srgbClr val="F3C97F"/>
                    </a:solidFill>
                  </a:tcPr>
                </a:tc>
                <a:tc gridSpan="3">
                  <a:txBody>
                    <a:bodyPr/>
                    <a:lstStyle/>
                    <a:p>
                      <a:pPr algn="ctr"/>
                      <a:r>
                        <a:rPr lang="zh-CN" altLang="en-US" sz="1800" b="0" dirty="0">
                          <a:latin typeface="微软雅黑" panose="020B0503020204020204" pitchFamily="34" charset="-122"/>
                          <a:ea typeface="微软雅黑" panose="020B0503020204020204" pitchFamily="34" charset="-122"/>
                        </a:rPr>
                        <a:t>社会收益</a:t>
                      </a:r>
                    </a:p>
                  </a:txBody>
                  <a:tcPr anchor="ctr">
                    <a:solidFill>
                      <a:srgbClr val="F3C97F"/>
                    </a:solidFill>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0"/>
                  </a:ext>
                </a:extLst>
              </a:tr>
              <a:tr h="412680">
                <a:tc rowSpan="2">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庭院桃树</a:t>
                      </a: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（花园）</a:t>
                      </a:r>
                    </a:p>
                  </a:txBody>
                  <a:tcPr anchor="ct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私人收益</a:t>
                      </a:r>
                    </a:p>
                  </a:txBody>
                  <a:tcPr anchor="ct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他人收益</a:t>
                      </a:r>
                      <a:r>
                        <a:rPr lang="en-US" altLang="zh-CN" sz="1800" b="0" dirty="0">
                          <a:latin typeface="微软雅黑" panose="020B0503020204020204" pitchFamily="34" charset="-122"/>
                          <a:ea typeface="微软雅黑" panose="020B0503020204020204" pitchFamily="34" charset="-122"/>
                        </a:rPr>
                        <a:t>1</a:t>
                      </a:r>
                      <a:endParaRPr lang="zh-CN" altLang="en-US" sz="1800" b="0" dirty="0">
                        <a:latin typeface="微软雅黑" panose="020B0503020204020204" pitchFamily="34" charset="-122"/>
                        <a:ea typeface="微软雅黑" panose="020B0503020204020204" pitchFamily="34" charset="-122"/>
                      </a:endParaRPr>
                    </a:p>
                  </a:txBody>
                  <a:tcPr anchor="ct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他人收益</a:t>
                      </a:r>
                      <a:r>
                        <a:rPr lang="en-US" altLang="zh-CN" sz="1800" b="0" dirty="0">
                          <a:latin typeface="微软雅黑" panose="020B0503020204020204" pitchFamily="34" charset="-122"/>
                          <a:ea typeface="微软雅黑" panose="020B0503020204020204" pitchFamily="34" charset="-122"/>
                        </a:rPr>
                        <a:t>2</a:t>
                      </a:r>
                      <a:endParaRPr lang="zh-CN" altLang="en-US" sz="1800" b="0" dirty="0">
                        <a:latin typeface="微软雅黑" panose="020B0503020204020204" pitchFamily="34" charset="-122"/>
                        <a:ea typeface="微软雅黑" panose="020B0503020204020204" pitchFamily="34" charset="-122"/>
                      </a:endParaRPr>
                    </a:p>
                  </a:txBody>
                  <a:tcPr anchor="ctr">
                    <a:solidFill>
                      <a:schemeClr val="accent3">
                        <a:lumMod val="85000"/>
                      </a:schemeClr>
                    </a:solidFill>
                  </a:tcPr>
                </a:tc>
                <a:extLst>
                  <a:ext uri="{0D108BD9-81ED-4DB2-BD59-A6C34878D82A}">
                    <a16:rowId xmlns:a16="http://schemas.microsoft.com/office/drawing/2014/main" val="10001"/>
                  </a:ext>
                </a:extLst>
              </a:tr>
              <a:tr h="988445">
                <a:tc vMerge="1">
                  <a:txBody>
                    <a:bodyPr/>
                    <a:lstStyle/>
                    <a:p>
                      <a:endParaRPr lang="zh-CN" altLang="en-US" dirty="0"/>
                    </a:p>
                  </a:txBody>
                  <a:tcPr/>
                </a:tc>
                <a:tc>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桃树主人消费</a:t>
                      </a:r>
                    </a:p>
                  </a:txBody>
                  <a:tcPr anchor="ctr">
                    <a:solidFill>
                      <a:schemeClr val="accent3">
                        <a:lumMod val="85000"/>
                      </a:schemeClr>
                    </a:solidFill>
                  </a:tcPr>
                </a:tc>
                <a:tc>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邻居养蜂获得蜂蜜</a:t>
                      </a:r>
                    </a:p>
                  </a:txBody>
                  <a:tcPr anchor="ctr">
                    <a:solidFill>
                      <a:schemeClr val="accent3">
                        <a:lumMod val="85000"/>
                      </a:schemeClr>
                    </a:solidFill>
                  </a:tcPr>
                </a:tc>
                <a:tc>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邻居获得绿化效果</a:t>
                      </a:r>
                    </a:p>
                  </a:txBody>
                  <a:tcPr anchor="ctr">
                    <a:solidFill>
                      <a:schemeClr val="accent3">
                        <a:lumMod val="85000"/>
                      </a:schemeClr>
                    </a:solidFill>
                  </a:tcPr>
                </a:tc>
                <a:extLst>
                  <a:ext uri="{0D108BD9-81ED-4DB2-BD59-A6C34878D82A}">
                    <a16:rowId xmlns:a16="http://schemas.microsoft.com/office/drawing/2014/main" val="10002"/>
                  </a:ext>
                </a:extLst>
              </a:tr>
            </a:tbl>
          </a:graphicData>
        </a:graphic>
      </p:graphicFrame>
      <p:graphicFrame>
        <p:nvGraphicFramePr>
          <p:cNvPr id="6" name="内容占位符 3"/>
          <p:cNvGraphicFramePr>
            <a:graphicFrameLocks/>
          </p:cNvGraphicFramePr>
          <p:nvPr>
            <p:extLst>
              <p:ext uri="{D42A27DB-BD31-4B8C-83A1-F6EECF244321}">
                <p14:modId xmlns:p14="http://schemas.microsoft.com/office/powerpoint/2010/main" val="3572123170"/>
              </p:ext>
            </p:extLst>
          </p:nvPr>
        </p:nvGraphicFramePr>
        <p:xfrm>
          <a:off x="647564" y="3789040"/>
          <a:ext cx="8028384" cy="2031182"/>
        </p:xfrm>
        <a:graphic>
          <a:graphicData uri="http://schemas.openxmlformats.org/drawingml/2006/table">
            <a:tbl>
              <a:tblPr firstRow="1" bandRow="1">
                <a:tableStyleId>{5C22544A-7EE6-4342-B048-85BDC9FD1C3A}</a:tableStyleId>
              </a:tblPr>
              <a:tblGrid>
                <a:gridCol w="2135635">
                  <a:extLst>
                    <a:ext uri="{9D8B030D-6E8A-4147-A177-3AD203B41FA5}">
                      <a16:colId xmlns:a16="http://schemas.microsoft.com/office/drawing/2014/main" val="20000"/>
                    </a:ext>
                  </a:extLst>
                </a:gridCol>
                <a:gridCol w="1500769">
                  <a:extLst>
                    <a:ext uri="{9D8B030D-6E8A-4147-A177-3AD203B41FA5}">
                      <a16:colId xmlns:a16="http://schemas.microsoft.com/office/drawing/2014/main" val="20001"/>
                    </a:ext>
                  </a:extLst>
                </a:gridCol>
                <a:gridCol w="4391980">
                  <a:extLst>
                    <a:ext uri="{9D8B030D-6E8A-4147-A177-3AD203B41FA5}">
                      <a16:colId xmlns:a16="http://schemas.microsoft.com/office/drawing/2014/main" val="20002"/>
                    </a:ext>
                  </a:extLst>
                </a:gridCol>
              </a:tblGrid>
              <a:tr h="655832">
                <a:tc>
                  <a:txBody>
                    <a:bodyPr/>
                    <a:lstStyle/>
                    <a:p>
                      <a:pPr algn="ctr"/>
                      <a:r>
                        <a:rPr lang="zh-CN" altLang="en-US" sz="1800" b="0" dirty="0">
                          <a:latin typeface="微软雅黑" panose="020B0503020204020204" pitchFamily="34" charset="-122"/>
                          <a:ea typeface="微软雅黑" panose="020B0503020204020204" pitchFamily="34" charset="-122"/>
                        </a:rPr>
                        <a:t>私人经济行为</a:t>
                      </a:r>
                    </a:p>
                  </a:txBody>
                  <a:tcPr anchor="ctr">
                    <a:solidFill>
                      <a:srgbClr val="F3C97F"/>
                    </a:solidFill>
                  </a:tcPr>
                </a:tc>
                <a:tc gridSpan="2">
                  <a:txBody>
                    <a:bodyPr/>
                    <a:lstStyle/>
                    <a:p>
                      <a:pPr algn="ctr"/>
                      <a:r>
                        <a:rPr lang="zh-CN" altLang="en-US" sz="1800" b="0" dirty="0">
                          <a:latin typeface="微软雅黑" panose="020B0503020204020204" pitchFamily="34" charset="-122"/>
                          <a:ea typeface="微软雅黑" panose="020B0503020204020204" pitchFamily="34" charset="-122"/>
                        </a:rPr>
                        <a:t>社会成本</a:t>
                      </a:r>
                    </a:p>
                  </a:txBody>
                  <a:tcPr anchor="ctr">
                    <a:solidFill>
                      <a:srgbClr val="F3C97F"/>
                    </a:solidFill>
                  </a:tcPr>
                </a:tc>
                <a:tc hMerge="1">
                  <a:txBody>
                    <a:bodyPr/>
                    <a:lstStyle/>
                    <a:p>
                      <a:endParaRPr lang="zh-CN" altLang="en-US" dirty="0"/>
                    </a:p>
                  </a:txBody>
                  <a:tcPr/>
                </a:tc>
                <a:extLst>
                  <a:ext uri="{0D108BD9-81ED-4DB2-BD59-A6C34878D82A}">
                    <a16:rowId xmlns:a16="http://schemas.microsoft.com/office/drawing/2014/main" val="10000"/>
                  </a:ext>
                </a:extLst>
              </a:tr>
              <a:tr h="409290">
                <a:tc rowSpan="2">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庭院桃树</a:t>
                      </a: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（花园）</a:t>
                      </a:r>
                    </a:p>
                  </a:txBody>
                  <a:tcPr anchor="ct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私人成本</a:t>
                      </a:r>
                    </a:p>
                  </a:txBody>
                  <a:tcPr anchor="ct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他人成本（在这里例子里可能非常小）</a:t>
                      </a:r>
                    </a:p>
                  </a:txBody>
                  <a:tcPr anchor="ctr">
                    <a:solidFill>
                      <a:schemeClr val="accent3">
                        <a:lumMod val="85000"/>
                      </a:schemeClr>
                    </a:solidFill>
                  </a:tcPr>
                </a:tc>
                <a:extLst>
                  <a:ext uri="{0D108BD9-81ED-4DB2-BD59-A6C34878D82A}">
                    <a16:rowId xmlns:a16="http://schemas.microsoft.com/office/drawing/2014/main" val="10001"/>
                  </a:ext>
                </a:extLst>
              </a:tr>
              <a:tr h="966060">
                <a:tc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CN" sz="1800" b="0" dirty="0">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0" dirty="0">
                          <a:latin typeface="微软雅黑" panose="020B0503020204020204" pitchFamily="34" charset="-122"/>
                          <a:ea typeface="微软雅黑" panose="020B0503020204020204" pitchFamily="34" charset="-122"/>
                        </a:rPr>
                        <a:t>施肥养护</a:t>
                      </a:r>
                    </a:p>
                  </a:txBody>
                  <a:tcPr anchor="ctr">
                    <a:solidFill>
                      <a:schemeClr val="accent3">
                        <a:lumMod val="85000"/>
                      </a:schemeClr>
                    </a:solidFill>
                  </a:tcPr>
                </a:tc>
                <a:tc>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如花粉过敏（如果有的话）</a:t>
                      </a:r>
                    </a:p>
                  </a:txBody>
                  <a:tcPr anchor="ctr">
                    <a:solidFill>
                      <a:schemeClr val="accent3">
                        <a:lumMod val="85000"/>
                      </a:schemeClr>
                    </a:solidFill>
                  </a:tcPr>
                </a:tc>
                <a:extLst>
                  <a:ext uri="{0D108BD9-81ED-4DB2-BD59-A6C34878D82A}">
                    <a16:rowId xmlns:a16="http://schemas.microsoft.com/office/drawing/2014/main" val="10002"/>
                  </a:ext>
                </a:extLst>
              </a:tr>
            </a:tbl>
          </a:graphicData>
        </a:graphic>
      </p:graphicFrame>
      <p:sp>
        <p:nvSpPr>
          <p:cNvPr id="7" name="矩形 6">
            <a:extLst>
              <a:ext uri="{FF2B5EF4-FFF2-40B4-BE49-F238E27FC236}">
                <a16:creationId xmlns:a16="http://schemas.microsoft.com/office/drawing/2014/main" id="{28E65835-E92B-4D79-817D-6CD76880E88E}"/>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一、外部性的含义及其分类</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8" name="标题 1">
            <a:extLst>
              <a:ext uri="{FF2B5EF4-FFF2-40B4-BE49-F238E27FC236}">
                <a16:creationId xmlns:a16="http://schemas.microsoft.com/office/drawing/2014/main" id="{9407FD45-1B86-4C52-80BA-89EAC559725B}"/>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49684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3"/>
          <p:cNvGraphicFramePr>
            <a:graphicFrameLocks/>
          </p:cNvGraphicFramePr>
          <p:nvPr>
            <p:extLst>
              <p:ext uri="{D42A27DB-BD31-4B8C-83A1-F6EECF244321}">
                <p14:modId xmlns:p14="http://schemas.microsoft.com/office/powerpoint/2010/main" val="3032058516"/>
              </p:ext>
            </p:extLst>
          </p:nvPr>
        </p:nvGraphicFramePr>
        <p:xfrm>
          <a:off x="811560" y="1737508"/>
          <a:ext cx="7920879" cy="1661012"/>
        </p:xfrm>
        <a:graphic>
          <a:graphicData uri="http://schemas.openxmlformats.org/drawingml/2006/table">
            <a:tbl>
              <a:tblPr firstRow="1" bandRow="1">
                <a:tableStyleId>{5C22544A-7EE6-4342-B048-85BDC9FD1C3A}</a:tableStyleId>
              </a:tblPr>
              <a:tblGrid>
                <a:gridCol w="2859108">
                  <a:extLst>
                    <a:ext uri="{9D8B030D-6E8A-4147-A177-3AD203B41FA5}">
                      <a16:colId xmlns:a16="http://schemas.microsoft.com/office/drawing/2014/main" val="20000"/>
                    </a:ext>
                  </a:extLst>
                </a:gridCol>
                <a:gridCol w="2421478">
                  <a:extLst>
                    <a:ext uri="{9D8B030D-6E8A-4147-A177-3AD203B41FA5}">
                      <a16:colId xmlns:a16="http://schemas.microsoft.com/office/drawing/2014/main" val="20001"/>
                    </a:ext>
                  </a:extLst>
                </a:gridCol>
                <a:gridCol w="2640293">
                  <a:extLst>
                    <a:ext uri="{9D8B030D-6E8A-4147-A177-3AD203B41FA5}">
                      <a16:colId xmlns:a16="http://schemas.microsoft.com/office/drawing/2014/main" val="20002"/>
                    </a:ext>
                  </a:extLst>
                </a:gridCol>
              </a:tblGrid>
              <a:tr h="360932">
                <a:tc gridSpan="3">
                  <a:txBody>
                    <a:bodyPr/>
                    <a:lstStyle/>
                    <a:p>
                      <a:pPr algn="ctr"/>
                      <a:r>
                        <a:rPr lang="zh-CN" altLang="en-US" sz="1800" b="0" dirty="0">
                          <a:solidFill>
                            <a:schemeClr val="bg1"/>
                          </a:solidFill>
                          <a:latin typeface="微软雅黑" panose="020B0503020204020204" pitchFamily="34" charset="-122"/>
                          <a:ea typeface="微软雅黑" panose="020B0503020204020204" pitchFamily="34" charset="-122"/>
                        </a:rPr>
                        <a:t>无负外部性的情形</a:t>
                      </a:r>
                    </a:p>
                  </a:txBody>
                  <a:tcPr>
                    <a:solidFill>
                      <a:srgbClr val="F3C97F"/>
                    </a:solidFill>
                  </a:tcPr>
                </a:tc>
                <a:tc hMerge="1">
                  <a:txBody>
                    <a:bodyPr/>
                    <a:lstStyle/>
                    <a:p>
                      <a:pPr algn="ctr"/>
                      <a:endParaRPr lang="zh-CN" altLang="en-US" sz="3600" dirty="0"/>
                    </a:p>
                  </a:txBody>
                  <a:tcPr/>
                </a:tc>
                <a:tc hMerge="1">
                  <a:txBody>
                    <a:bodyPr/>
                    <a:lstStyle/>
                    <a:p>
                      <a:endParaRPr lang="zh-CN" altLang="en-US"/>
                    </a:p>
                  </a:txBody>
                  <a:tcPr/>
                </a:tc>
                <a:extLst>
                  <a:ext uri="{0D108BD9-81ED-4DB2-BD59-A6C34878D82A}">
                    <a16:rowId xmlns:a16="http://schemas.microsoft.com/office/drawing/2014/main" val="10000"/>
                  </a:ext>
                </a:extLst>
              </a:tr>
              <a:tr h="426166">
                <a:tc>
                  <a:txBody>
                    <a:bodyPr/>
                    <a:lstStyle/>
                    <a:p>
                      <a:pPr algn="ctr"/>
                      <a:r>
                        <a:rPr lang="zh-CN" altLang="en-US" sz="1800" b="0" dirty="0">
                          <a:latin typeface="微软雅黑" panose="020B0503020204020204" pitchFamily="34" charset="-122"/>
                          <a:ea typeface="微软雅黑" panose="020B0503020204020204" pitchFamily="34" charset="-122"/>
                        </a:rPr>
                        <a:t>私人经济行为</a:t>
                      </a:r>
                    </a:p>
                  </a:txBody>
                  <a:tcPr>
                    <a:solidFill>
                      <a:schemeClr val="accent3">
                        <a:lumMod val="85000"/>
                      </a:schemeClr>
                    </a:solidFill>
                  </a:tcPr>
                </a:tc>
                <a:tc gridSpan="2">
                  <a:txBody>
                    <a:bodyPr/>
                    <a:lstStyle/>
                    <a:p>
                      <a:pPr algn="ctr"/>
                      <a:r>
                        <a:rPr lang="zh-CN" altLang="en-US" sz="1800" b="0" dirty="0">
                          <a:latin typeface="微软雅黑" panose="020B0503020204020204" pitchFamily="34" charset="-122"/>
                          <a:ea typeface="微软雅黑" panose="020B0503020204020204" pitchFamily="34" charset="-122"/>
                        </a:rPr>
                        <a:t>社会成本</a:t>
                      </a:r>
                    </a:p>
                  </a:txBody>
                  <a:tcPr>
                    <a:solidFill>
                      <a:schemeClr val="accent3">
                        <a:lumMod val="85000"/>
                      </a:schemeClr>
                    </a:solidFill>
                  </a:tcPr>
                </a:tc>
                <a:tc hMerge="1">
                  <a:txBody>
                    <a:bodyPr/>
                    <a:lstStyle/>
                    <a:p>
                      <a:endParaRPr lang="zh-CN" altLang="en-US" dirty="0"/>
                    </a:p>
                  </a:txBody>
                  <a:tcPr/>
                </a:tc>
                <a:extLst>
                  <a:ext uri="{0D108BD9-81ED-4DB2-BD59-A6C34878D82A}">
                    <a16:rowId xmlns:a16="http://schemas.microsoft.com/office/drawing/2014/main" val="10001"/>
                  </a:ext>
                </a:extLst>
              </a:tr>
              <a:tr h="420865">
                <a:tc rowSpan="2">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读书</a:t>
                      </a:r>
                    </a:p>
                  </a:txBody>
                  <a:tcP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私人成本</a:t>
                      </a:r>
                    </a:p>
                  </a:txBody>
                  <a:tcP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他人成本</a:t>
                      </a:r>
                    </a:p>
                  </a:txBody>
                  <a:tcPr>
                    <a:solidFill>
                      <a:schemeClr val="accent3">
                        <a:lumMod val="85000"/>
                      </a:schemeClr>
                    </a:solidFill>
                  </a:tcPr>
                </a:tc>
                <a:extLst>
                  <a:ext uri="{0D108BD9-81ED-4DB2-BD59-A6C34878D82A}">
                    <a16:rowId xmlns:a16="http://schemas.microsoft.com/office/drawing/2014/main" val="10002"/>
                  </a:ext>
                </a:extLst>
              </a:tr>
              <a:tr h="448221">
                <a:tc vMerge="1">
                  <a:txBody>
                    <a:bodyPr/>
                    <a:lstStyle/>
                    <a:p>
                      <a:endParaRPr lang="zh-CN" altLang="en-US" dirty="0"/>
                    </a:p>
                  </a:txBody>
                  <a:tcPr/>
                </a:tc>
                <a:tc>
                  <a:txBody>
                    <a:bodyPr/>
                    <a:lstStyle/>
                    <a:p>
                      <a:pPr algn="ctr"/>
                      <a:r>
                        <a:rPr lang="zh-CN" altLang="en-US" sz="1800" b="0" dirty="0">
                          <a:latin typeface="微软雅黑" panose="020B0503020204020204" pitchFamily="34" charset="-122"/>
                          <a:ea typeface="微软雅黑" panose="020B0503020204020204" pitchFamily="34" charset="-122"/>
                        </a:rPr>
                        <a:t>买书的费用</a:t>
                      </a:r>
                    </a:p>
                  </a:txBody>
                  <a:tcP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无</a:t>
                      </a:r>
                    </a:p>
                  </a:txBody>
                  <a:tcPr>
                    <a:solidFill>
                      <a:schemeClr val="accent3">
                        <a:lumMod val="85000"/>
                      </a:schemeClr>
                    </a:solidFill>
                  </a:tcPr>
                </a:tc>
                <a:extLst>
                  <a:ext uri="{0D108BD9-81ED-4DB2-BD59-A6C34878D82A}">
                    <a16:rowId xmlns:a16="http://schemas.microsoft.com/office/drawing/2014/main" val="10003"/>
                  </a:ext>
                </a:extLst>
              </a:tr>
            </a:tbl>
          </a:graphicData>
        </a:graphic>
      </p:graphicFrame>
      <p:graphicFrame>
        <p:nvGraphicFramePr>
          <p:cNvPr id="6" name="内容占位符 3"/>
          <p:cNvGraphicFramePr>
            <a:graphicFrameLocks/>
          </p:cNvGraphicFramePr>
          <p:nvPr>
            <p:extLst>
              <p:ext uri="{D42A27DB-BD31-4B8C-83A1-F6EECF244321}">
                <p14:modId xmlns:p14="http://schemas.microsoft.com/office/powerpoint/2010/main" val="1840229427"/>
              </p:ext>
            </p:extLst>
          </p:nvPr>
        </p:nvGraphicFramePr>
        <p:xfrm>
          <a:off x="811559" y="4005064"/>
          <a:ext cx="7920879" cy="1634532"/>
        </p:xfrm>
        <a:graphic>
          <a:graphicData uri="http://schemas.openxmlformats.org/drawingml/2006/table">
            <a:tbl>
              <a:tblPr firstRow="1" bandRow="1">
                <a:tableStyleId>{5C22544A-7EE6-4342-B048-85BDC9FD1C3A}</a:tableStyleId>
              </a:tblPr>
              <a:tblGrid>
                <a:gridCol w="2859108">
                  <a:extLst>
                    <a:ext uri="{9D8B030D-6E8A-4147-A177-3AD203B41FA5}">
                      <a16:colId xmlns:a16="http://schemas.microsoft.com/office/drawing/2014/main" val="20000"/>
                    </a:ext>
                  </a:extLst>
                </a:gridCol>
                <a:gridCol w="2421478">
                  <a:extLst>
                    <a:ext uri="{9D8B030D-6E8A-4147-A177-3AD203B41FA5}">
                      <a16:colId xmlns:a16="http://schemas.microsoft.com/office/drawing/2014/main" val="20001"/>
                    </a:ext>
                  </a:extLst>
                </a:gridCol>
                <a:gridCol w="2640293">
                  <a:extLst>
                    <a:ext uri="{9D8B030D-6E8A-4147-A177-3AD203B41FA5}">
                      <a16:colId xmlns:a16="http://schemas.microsoft.com/office/drawing/2014/main" val="20002"/>
                    </a:ext>
                  </a:extLst>
                </a:gridCol>
              </a:tblGrid>
              <a:tr h="432047">
                <a:tc gridSpan="3">
                  <a:txBody>
                    <a:bodyPr/>
                    <a:lstStyle/>
                    <a:p>
                      <a:pPr algn="ctr"/>
                      <a:r>
                        <a:rPr lang="zh-CN" altLang="en-US" sz="1800" b="0" dirty="0">
                          <a:solidFill>
                            <a:schemeClr val="bg1"/>
                          </a:solidFill>
                          <a:latin typeface="微软雅黑" panose="020B0503020204020204" pitchFamily="34" charset="-122"/>
                          <a:ea typeface="微软雅黑" panose="020B0503020204020204" pitchFamily="34" charset="-122"/>
                        </a:rPr>
                        <a:t>无正外部性的情形</a:t>
                      </a:r>
                    </a:p>
                  </a:txBody>
                  <a:tcPr>
                    <a:solidFill>
                      <a:srgbClr val="F3C97F"/>
                    </a:solidFill>
                  </a:tcPr>
                </a:tc>
                <a:tc hMerge="1">
                  <a:txBody>
                    <a:bodyPr/>
                    <a:lstStyle/>
                    <a:p>
                      <a:pPr algn="ctr"/>
                      <a:endParaRPr lang="zh-CN" altLang="en-US" sz="3600" dirty="0"/>
                    </a:p>
                  </a:txBody>
                  <a:tcPr/>
                </a:tc>
                <a:tc hMerge="1">
                  <a:txBody>
                    <a:bodyPr/>
                    <a:lstStyle/>
                    <a:p>
                      <a:endParaRPr lang="zh-CN" altLang="en-US"/>
                    </a:p>
                  </a:txBody>
                  <a:tcPr/>
                </a:tc>
                <a:extLst>
                  <a:ext uri="{0D108BD9-81ED-4DB2-BD59-A6C34878D82A}">
                    <a16:rowId xmlns:a16="http://schemas.microsoft.com/office/drawing/2014/main" val="10000"/>
                  </a:ext>
                </a:extLst>
              </a:tr>
              <a:tr h="360040">
                <a:tc>
                  <a:txBody>
                    <a:bodyPr/>
                    <a:lstStyle/>
                    <a:p>
                      <a:pPr algn="ctr"/>
                      <a:r>
                        <a:rPr lang="zh-CN" altLang="en-US" sz="1800" b="0" dirty="0">
                          <a:latin typeface="微软雅黑" panose="020B0503020204020204" pitchFamily="34" charset="-122"/>
                          <a:ea typeface="微软雅黑" panose="020B0503020204020204" pitchFamily="34" charset="-122"/>
                        </a:rPr>
                        <a:t>私人经济行为</a:t>
                      </a:r>
                    </a:p>
                  </a:txBody>
                  <a:tcPr>
                    <a:solidFill>
                      <a:schemeClr val="accent3">
                        <a:lumMod val="85000"/>
                      </a:schemeClr>
                    </a:solidFill>
                  </a:tcPr>
                </a:tc>
                <a:tc gridSpan="2">
                  <a:txBody>
                    <a:bodyPr/>
                    <a:lstStyle/>
                    <a:p>
                      <a:pPr algn="ctr"/>
                      <a:r>
                        <a:rPr lang="zh-CN" altLang="en-US" sz="1800" b="0" dirty="0">
                          <a:latin typeface="微软雅黑" panose="020B0503020204020204" pitchFamily="34" charset="-122"/>
                          <a:ea typeface="微软雅黑" panose="020B0503020204020204" pitchFamily="34" charset="-122"/>
                        </a:rPr>
                        <a:t>社会收益</a:t>
                      </a:r>
                    </a:p>
                  </a:txBody>
                  <a:tcPr>
                    <a:solidFill>
                      <a:schemeClr val="accent3">
                        <a:lumMod val="85000"/>
                      </a:schemeClr>
                    </a:solidFill>
                  </a:tcPr>
                </a:tc>
                <a:tc hMerge="1">
                  <a:txBody>
                    <a:bodyPr/>
                    <a:lstStyle/>
                    <a:p>
                      <a:endParaRPr lang="zh-CN" altLang="en-US" dirty="0"/>
                    </a:p>
                  </a:txBody>
                  <a:tcPr/>
                </a:tc>
                <a:extLst>
                  <a:ext uri="{0D108BD9-81ED-4DB2-BD59-A6C34878D82A}">
                    <a16:rowId xmlns:a16="http://schemas.microsoft.com/office/drawing/2014/main" val="10001"/>
                  </a:ext>
                </a:extLst>
              </a:tr>
              <a:tr h="412627">
                <a:tc rowSpan="2">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latin typeface="微软雅黑" panose="020B0503020204020204" pitchFamily="34" charset="-122"/>
                          <a:ea typeface="微软雅黑" panose="020B0503020204020204" pitchFamily="34" charset="-122"/>
                        </a:rPr>
                        <a:t>读书</a:t>
                      </a:r>
                    </a:p>
                  </a:txBody>
                  <a:tcP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私人收益</a:t>
                      </a:r>
                    </a:p>
                  </a:txBody>
                  <a:tcP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他人收益</a:t>
                      </a:r>
                    </a:p>
                  </a:txBody>
                  <a:tcPr>
                    <a:solidFill>
                      <a:schemeClr val="accent3">
                        <a:lumMod val="85000"/>
                      </a:schemeClr>
                    </a:solidFill>
                  </a:tcPr>
                </a:tc>
                <a:extLst>
                  <a:ext uri="{0D108BD9-81ED-4DB2-BD59-A6C34878D82A}">
                    <a16:rowId xmlns:a16="http://schemas.microsoft.com/office/drawing/2014/main" val="10002"/>
                  </a:ext>
                </a:extLst>
              </a:tr>
              <a:tr h="424098">
                <a:tc vMerge="1">
                  <a:txBody>
                    <a:bodyPr/>
                    <a:lstStyle/>
                    <a:p>
                      <a:endParaRPr lang="zh-CN" altLang="en-US" dirty="0"/>
                    </a:p>
                  </a:txBody>
                  <a:tcPr/>
                </a:tc>
                <a:tc>
                  <a:txBody>
                    <a:bodyPr/>
                    <a:lstStyle/>
                    <a:p>
                      <a:pPr algn="ctr"/>
                      <a:r>
                        <a:rPr lang="zh-CN" altLang="en-US" sz="1800" b="0" dirty="0">
                          <a:latin typeface="微软雅黑" panose="020B0503020204020204" pitchFamily="34" charset="-122"/>
                          <a:ea typeface="微软雅黑" panose="020B0503020204020204" pitchFamily="34" charset="-122"/>
                        </a:rPr>
                        <a:t>获得知识</a:t>
                      </a:r>
                    </a:p>
                  </a:txBody>
                  <a:tcPr>
                    <a:solidFill>
                      <a:schemeClr val="accent3">
                        <a:lumMod val="85000"/>
                      </a:schemeClr>
                    </a:solidFill>
                  </a:tcPr>
                </a:tc>
                <a:tc>
                  <a:txBody>
                    <a:bodyPr/>
                    <a:lstStyle/>
                    <a:p>
                      <a:pPr algn="ctr"/>
                      <a:r>
                        <a:rPr lang="zh-CN" altLang="en-US" sz="1800" b="0" dirty="0">
                          <a:latin typeface="微软雅黑" panose="020B0503020204020204" pitchFamily="34" charset="-122"/>
                          <a:ea typeface="微软雅黑" panose="020B0503020204020204" pitchFamily="34" charset="-122"/>
                        </a:rPr>
                        <a:t>无</a:t>
                      </a:r>
                    </a:p>
                  </a:txBody>
                  <a:tcPr>
                    <a:solidFill>
                      <a:schemeClr val="accent3">
                        <a:lumMod val="85000"/>
                      </a:schemeClr>
                    </a:solidFill>
                  </a:tcPr>
                </a:tc>
                <a:extLst>
                  <a:ext uri="{0D108BD9-81ED-4DB2-BD59-A6C34878D82A}">
                    <a16:rowId xmlns:a16="http://schemas.microsoft.com/office/drawing/2014/main" val="10003"/>
                  </a:ext>
                </a:extLst>
              </a:tr>
            </a:tbl>
          </a:graphicData>
        </a:graphic>
      </p:graphicFrame>
      <p:sp>
        <p:nvSpPr>
          <p:cNvPr id="4" name="标题 1">
            <a:extLst>
              <a:ext uri="{FF2B5EF4-FFF2-40B4-BE49-F238E27FC236}">
                <a16:creationId xmlns:a16="http://schemas.microsoft.com/office/drawing/2014/main" id="{7ACB4AF9-B49C-4568-8D64-44A21E4F2B08}"/>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
        <p:nvSpPr>
          <p:cNvPr id="7" name="矩形 6">
            <a:extLst>
              <a:ext uri="{FF2B5EF4-FFF2-40B4-BE49-F238E27FC236}">
                <a16:creationId xmlns:a16="http://schemas.microsoft.com/office/drawing/2014/main" id="{FAB89924-A37F-4980-8D60-6F20E2CE743F}"/>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一、外部性的含义及其分类</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776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idx="4294967295"/>
          </p:nvPr>
        </p:nvSpPr>
        <p:spPr>
          <a:xfrm>
            <a:off x="470223" y="1178681"/>
            <a:ext cx="8229600" cy="4786983"/>
          </a:xfrm>
        </p:spPr>
        <p:txBody>
          <a:bodyPr/>
          <a:lstStyle/>
          <a:p>
            <a:pPr eaLnBrk="1" hangingPunct="1">
              <a:lnSpc>
                <a:spcPts val="3500"/>
              </a:lnSpc>
              <a:buFont typeface="Wingdings" panose="05000000000000000000" pitchFamily="2" charset="2"/>
              <a:buChar char="u"/>
              <a:defRPr/>
            </a:pPr>
            <a:r>
              <a:rPr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rPr>
              <a:t>外部性的基本事实</a:t>
            </a:r>
            <a:endPar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300000"/>
              </a:lnSpc>
              <a:buFont typeface="Wingdings" panose="05000000000000000000" pitchFamily="2" charset="2"/>
              <a:buChar char="Ø"/>
              <a:defRPr/>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生产活动和消费活动都可能产生</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300000"/>
              </a:lnSpc>
              <a:buFont typeface="Wingdings" panose="05000000000000000000" pitchFamily="2" charset="2"/>
              <a:buChar char="Ø"/>
              <a:defRPr/>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可能是正的也可能是负面的</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300000"/>
              </a:lnSpc>
              <a:buFont typeface="Wingdings" panose="05000000000000000000" pitchFamily="2" charset="2"/>
              <a:buChar char="Ø"/>
              <a:defRPr/>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是对未参与交易的第三方的影响</a:t>
            </a:r>
            <a:r>
              <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第三方效应（</a:t>
            </a:r>
            <a:r>
              <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rPr>
              <a:t>third part effect</a:t>
            </a: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300000"/>
              </a:lnSpc>
              <a:buFont typeface="Wingdings" panose="05000000000000000000" pitchFamily="2" charset="2"/>
              <a:buChar char="Ø"/>
              <a:defRPr/>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是未经过市场过程的影响</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marL="457200" lvl="1" indent="0" eaLnBrk="1" hangingPunct="1">
              <a:lnSpc>
                <a:spcPct val="300000"/>
              </a:lnSpc>
              <a:buClr>
                <a:schemeClr val="accent1"/>
              </a:buClr>
              <a:buNone/>
              <a:defRPr/>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    如自娱自乐的酒吧歌唱，与在酒吧驻点卖艺。</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a:p>
            <a:pPr eaLnBrk="1" hangingPunct="1">
              <a:lnSpc>
                <a:spcPts val="3500"/>
              </a:lnSpc>
              <a:buFont typeface="Wingdings" panose="05000000000000000000" pitchFamily="2" charset="2"/>
              <a:buChar char="n"/>
            </a:pPr>
            <a:endPar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一、外部性的含义及其分类</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FFB23EA8-9614-4989-BD4A-BC4B4A273DB1}"/>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86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86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4294967295"/>
          </p:nvPr>
        </p:nvSpPr>
        <p:spPr>
          <a:xfrm>
            <a:off x="467544" y="1160747"/>
            <a:ext cx="8229600" cy="4352925"/>
          </a:xfrm>
        </p:spPr>
        <p:txBody>
          <a:bodyPr/>
          <a:lstStyle/>
          <a:p>
            <a:pPr eaLnBrk="1" hangingPunct="1">
              <a:lnSpc>
                <a:spcPct val="20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消费的正外部性和负外部性</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eaLnBrk="1" hangingPunct="1">
              <a:lnSpc>
                <a:spcPct val="2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消费的正外部性是指消费者的消费为其他消费者带来的利益。</a:t>
            </a:r>
            <a:endParaRPr lang="en-US" altLang="zh-CN" sz="1800" dirty="0">
              <a:latin typeface="微软雅黑" panose="020B0503020204020204" pitchFamily="34" charset="-122"/>
              <a:ea typeface="微软雅黑" panose="020B0503020204020204" pitchFamily="34" charset="-122"/>
            </a:endParaRPr>
          </a:p>
          <a:p>
            <a:pPr lvl="2">
              <a:lnSpc>
                <a:spcPct val="2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喜欢养花的人不但自己从观赏鲜花中获得了精神的愉悦</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邻居也从观赏其鲜花中得到快乐。</a:t>
            </a:r>
            <a:endParaRPr lang="en-US" altLang="zh-CN" sz="1800" dirty="0">
              <a:latin typeface="微软雅黑" panose="020B0503020204020204" pitchFamily="34" charset="-122"/>
              <a:ea typeface="微软雅黑" panose="020B0503020204020204" pitchFamily="34" charset="-122"/>
            </a:endParaRPr>
          </a:p>
          <a:p>
            <a:pPr lvl="1" eaLnBrk="1" hangingPunct="1">
              <a:lnSpc>
                <a:spcPct val="2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消费的负外部性则是指消费者为其他消费者带来的损害。</a:t>
            </a:r>
            <a:endParaRPr lang="en-US" altLang="zh-CN" sz="1800" dirty="0">
              <a:latin typeface="微软雅黑" panose="020B0503020204020204" pitchFamily="34" charset="-122"/>
              <a:ea typeface="微软雅黑" panose="020B0503020204020204" pitchFamily="34" charset="-122"/>
            </a:endParaRPr>
          </a:p>
          <a:p>
            <a:pPr lvl="2">
              <a:lnSpc>
                <a:spcPct val="2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个别消费者深夜大音量地播放音乐对附近居民的干扰</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在河流或池塘冲洗马桶对水资源造成的污染等。</a:t>
            </a:r>
            <a:endParaRPr lang="en-US" altLang="zh-CN" sz="18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一、外部性的含义及其分类</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7" name="标题 1">
            <a:extLst>
              <a:ext uri="{FF2B5EF4-FFF2-40B4-BE49-F238E27FC236}">
                <a16:creationId xmlns:a16="http://schemas.microsoft.com/office/drawing/2014/main" id="{3F5793F5-AADD-4814-A094-C393563C1CB4}"/>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p:cNvSpPr>
            <a:spLocks noGrp="1"/>
          </p:cNvSpPr>
          <p:nvPr>
            <p:ph idx="4294967295"/>
          </p:nvPr>
        </p:nvSpPr>
        <p:spPr>
          <a:xfrm>
            <a:off x="467544" y="1160747"/>
            <a:ext cx="7787208" cy="4784725"/>
          </a:xfrm>
        </p:spPr>
        <p:txBody>
          <a:bodyPr/>
          <a:lstStyle/>
          <a:p>
            <a:pPr>
              <a:lnSpc>
                <a:spcPct val="150000"/>
              </a:lnSpc>
              <a:spcBef>
                <a:spcPct val="50000"/>
              </a:spcBef>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生产的正外部性和负外部性</a:t>
            </a:r>
            <a:endParaRPr lang="en-US" altLang="zh-CN" sz="2000" b="0" dirty="0">
              <a:latin typeface="微软雅黑" panose="020B0503020204020204" pitchFamily="34" charset="-122"/>
              <a:ea typeface="微软雅黑" panose="020B0503020204020204" pitchFamily="34" charset="-122"/>
            </a:endParaRPr>
          </a:p>
          <a:p>
            <a:pPr lvl="1">
              <a:lnSpc>
                <a:spcPct val="20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生产的正外部性是指生产者在其进行生产活动时为其他生产者带来的利益。</a:t>
            </a:r>
            <a:endParaRPr lang="en-US" altLang="zh-CN" sz="1800" dirty="0">
              <a:latin typeface="微软雅黑" panose="020B0503020204020204" pitchFamily="34" charset="-122"/>
              <a:ea typeface="微软雅黑" panose="020B0503020204020204" pitchFamily="34" charset="-122"/>
            </a:endParaRPr>
          </a:p>
          <a:p>
            <a:pPr lvl="2">
              <a:lnSpc>
                <a:spcPct val="200000"/>
              </a:lnSpc>
              <a:spcBef>
                <a:spcPct val="5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苹果园旁边住着养蜂者</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显然</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苹果园在生产一定数量产出的同时</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也给养蜂者带来利益。</a:t>
            </a:r>
            <a:endParaRPr lang="en-US" altLang="zh-CN" sz="1800" dirty="0">
              <a:latin typeface="微软雅黑" panose="020B0503020204020204" pitchFamily="34" charset="-122"/>
              <a:ea typeface="微软雅黑" panose="020B0503020204020204" pitchFamily="34" charset="-122"/>
            </a:endParaRPr>
          </a:p>
          <a:p>
            <a:pPr lvl="1">
              <a:lnSpc>
                <a:spcPct val="20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生产的负外部性是指生产者在其进行生产时为其他生产者带来的损害</a:t>
            </a:r>
            <a:endParaRPr lang="en-US" altLang="zh-CN" sz="1800" dirty="0">
              <a:latin typeface="微软雅黑" panose="020B0503020204020204" pitchFamily="34" charset="-122"/>
              <a:ea typeface="微软雅黑" panose="020B0503020204020204" pitchFamily="34" charset="-122"/>
            </a:endParaRPr>
          </a:p>
          <a:p>
            <a:pPr marL="1317150" lvl="2" indent="-285750">
              <a:lnSpc>
                <a:spcPct val="200000"/>
              </a:lnSpc>
              <a:spcBef>
                <a:spcPct val="5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钢厂在生产一定数量的钢的同时把一定数量的污染物倒入河中</a:t>
            </a:r>
            <a:endParaRPr lang="en-US" altLang="zh-CN" sz="1800" dirty="0">
              <a:latin typeface="微软雅黑" panose="020B0503020204020204" pitchFamily="34" charset="-122"/>
              <a:ea typeface="微软雅黑" panose="020B0503020204020204" pitchFamily="34" charset="-122"/>
            </a:endParaRP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一、外部性的含义及其分类</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2FE08AC3-DD13-4CD7-86DD-94A94CD3B1E1}"/>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9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矩形 2"/>
          <p:cNvSpPr/>
          <p:nvPr/>
        </p:nvSpPr>
        <p:spPr>
          <a:xfrm>
            <a:off x="942395" y="1557821"/>
            <a:ext cx="3072181" cy="1477328"/>
          </a:xfrm>
          <a:prstGeom prst="rect">
            <a:avLst/>
          </a:prstGeom>
          <a:noFill/>
          <a:ln w="28575">
            <a:solidFill>
              <a:schemeClr val="accent3">
                <a:lumMod val="50000"/>
              </a:schemeClr>
            </a:solidFill>
          </a:ln>
        </p:spPr>
        <p:txBody>
          <a:bodyPr wrap="square">
            <a:spAutoFit/>
          </a:bodyPr>
          <a:lstStyle/>
          <a:p>
            <a:pPr eaLnBrk="1" hangingPunct="1">
              <a:buClr>
                <a:schemeClr val="accent1"/>
              </a:buClr>
              <a:defRPr/>
            </a:pPr>
            <a:r>
              <a:rPr lang="zh-CN" altLang="en-US" sz="1800" dirty="0">
                <a:latin typeface="微软雅黑" panose="020B0503020204020204" pitchFamily="34" charset="-122"/>
                <a:ea typeface="微软雅黑" panose="020B0503020204020204" pitchFamily="34" charset="-122"/>
              </a:rPr>
              <a:t>外部性结果</a:t>
            </a:r>
            <a:r>
              <a:rPr lang="en-US" altLang="zh-CN" sz="1800" dirty="0">
                <a:latin typeface="微软雅黑" panose="020B0503020204020204" pitchFamily="34" charset="-122"/>
                <a:ea typeface="微软雅黑" panose="020B0503020204020204" pitchFamily="34" charset="-122"/>
              </a:rPr>
              <a:t>:</a:t>
            </a:r>
          </a:p>
          <a:p>
            <a:pPr eaLnBrk="1" hangingPunct="1">
              <a:buClr>
                <a:schemeClr val="accent1"/>
              </a:buClr>
              <a:defRPr/>
            </a:pP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边际</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社会收益</a:t>
            </a:r>
            <a:r>
              <a:rPr lang="en-US" altLang="zh-CN" sz="1800" dirty="0">
                <a:latin typeface="微软雅黑" panose="020B0503020204020204" pitchFamily="34" charset="-122"/>
                <a:ea typeface="微软雅黑" panose="020B0503020204020204" pitchFamily="34" charset="-122"/>
              </a:rPr>
              <a:t> MSB</a:t>
            </a:r>
          </a:p>
          <a:p>
            <a:pPr eaLnBrk="1" hangingPunct="1">
              <a:buClr>
                <a:schemeClr val="accent1"/>
              </a:buClr>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边际</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私人收益</a:t>
            </a:r>
            <a:r>
              <a:rPr lang="en-US" altLang="zh-CN" sz="1800" dirty="0">
                <a:latin typeface="微软雅黑" panose="020B0503020204020204" pitchFamily="34" charset="-122"/>
                <a:ea typeface="微软雅黑" panose="020B0503020204020204" pitchFamily="34" charset="-122"/>
              </a:rPr>
              <a:t>MPB or</a:t>
            </a:r>
          </a:p>
          <a:p>
            <a:pPr eaLnBrk="1" hangingPunct="1">
              <a:buClr>
                <a:schemeClr val="accent1"/>
              </a:buClr>
              <a:defRPr/>
            </a:pP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边际</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社会成本</a:t>
            </a:r>
            <a:r>
              <a:rPr lang="en-US" altLang="zh-CN" sz="1800" dirty="0">
                <a:latin typeface="微软雅黑" panose="020B0503020204020204" pitchFamily="34" charset="-122"/>
                <a:ea typeface="微软雅黑" panose="020B0503020204020204" pitchFamily="34" charset="-122"/>
              </a:rPr>
              <a:t> MSC</a:t>
            </a:r>
          </a:p>
          <a:p>
            <a:pPr eaLnBrk="1" hangingPunct="1">
              <a:buClr>
                <a:schemeClr val="accent1"/>
              </a:buClr>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边际</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私人成本</a:t>
            </a:r>
            <a:r>
              <a:rPr lang="en-US" altLang="zh-CN" sz="1800" dirty="0">
                <a:latin typeface="微软雅黑" panose="020B0503020204020204" pitchFamily="34" charset="-122"/>
                <a:ea typeface="微软雅黑" panose="020B0503020204020204" pitchFamily="34" charset="-122"/>
              </a:rPr>
              <a:t>MPC</a:t>
            </a:r>
          </a:p>
        </p:txBody>
      </p:sp>
      <p:sp>
        <p:nvSpPr>
          <p:cNvPr id="5" name="矩形 4"/>
          <p:cNvSpPr/>
          <p:nvPr/>
        </p:nvSpPr>
        <p:spPr>
          <a:xfrm>
            <a:off x="942395" y="3340909"/>
            <a:ext cx="3072181" cy="923330"/>
          </a:xfrm>
          <a:prstGeom prst="rect">
            <a:avLst/>
          </a:prstGeom>
          <a:noFill/>
          <a:ln w="28575">
            <a:solidFill>
              <a:schemeClr val="accent3">
                <a:lumMod val="50000"/>
              </a:schemeClr>
            </a:solidFill>
          </a:ln>
        </p:spPr>
        <p:txBody>
          <a:bodyPr wrap="square">
            <a:spAutoFit/>
          </a:bodyPr>
          <a:lstStyle/>
          <a:p>
            <a:pPr>
              <a:buClr>
                <a:schemeClr val="accent1"/>
              </a:buClr>
              <a:defRPr/>
            </a:pPr>
            <a:r>
              <a:rPr lang="zh-CN" altLang="en-US" sz="1800" dirty="0">
                <a:latin typeface="微软雅黑" panose="020B0503020204020204" pitchFamily="34" charset="-122"/>
                <a:ea typeface="微软雅黑" panose="020B0503020204020204" pitchFamily="34" charset="-122"/>
              </a:rPr>
              <a:t>私人决策：</a:t>
            </a:r>
            <a:endParaRPr lang="en-US" altLang="zh-CN" sz="1800" dirty="0">
              <a:latin typeface="微软雅黑" panose="020B0503020204020204" pitchFamily="34" charset="-122"/>
              <a:ea typeface="微软雅黑" panose="020B0503020204020204" pitchFamily="34" charset="-122"/>
            </a:endParaRPr>
          </a:p>
          <a:p>
            <a:pPr>
              <a:buClr>
                <a:schemeClr val="accent1"/>
              </a:buClr>
              <a:defRPr/>
            </a:pP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边际</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私人收益</a:t>
            </a:r>
            <a:endParaRPr lang="en-US" altLang="zh-CN" sz="1800" dirty="0">
              <a:latin typeface="微软雅黑" panose="020B0503020204020204" pitchFamily="34" charset="-122"/>
              <a:ea typeface="微软雅黑" panose="020B0503020204020204" pitchFamily="34" charset="-122"/>
            </a:endParaRPr>
          </a:p>
          <a:p>
            <a:pPr>
              <a:buClr>
                <a:schemeClr val="accent1"/>
              </a:buClr>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边际）私人成本</a:t>
            </a:r>
            <a:endParaRPr lang="en-US" altLang="zh-CN" sz="1800" dirty="0">
              <a:latin typeface="微软雅黑" panose="020B0503020204020204" pitchFamily="34" charset="-122"/>
              <a:ea typeface="微软雅黑" panose="020B0503020204020204" pitchFamily="34" charset="-122"/>
            </a:endParaRPr>
          </a:p>
        </p:txBody>
      </p:sp>
      <p:sp>
        <p:nvSpPr>
          <p:cNvPr id="6" name="矩形 5"/>
          <p:cNvSpPr/>
          <p:nvPr/>
        </p:nvSpPr>
        <p:spPr>
          <a:xfrm>
            <a:off x="5904148" y="2530288"/>
            <a:ext cx="1800200" cy="923330"/>
          </a:xfrm>
          <a:prstGeom prst="rect">
            <a:avLst/>
          </a:prstGeom>
          <a:noFill/>
          <a:ln w="28575">
            <a:solidFill>
              <a:schemeClr val="accent3">
                <a:lumMod val="50000"/>
              </a:schemeClr>
            </a:solidFill>
          </a:ln>
        </p:spPr>
        <p:txBody>
          <a:bodyPr wrap="square">
            <a:spAutoFit/>
          </a:bodyPr>
          <a:lstStyle/>
          <a:p>
            <a:pPr eaLnBrk="1" hangingPunct="1">
              <a:buClr>
                <a:schemeClr val="accent1"/>
              </a:buClr>
              <a:defRPr/>
            </a:pPr>
            <a:r>
              <a:rPr lang="zh-CN" altLang="en-US" sz="1800" dirty="0">
                <a:latin typeface="微软雅黑" panose="020B0503020204020204" pitchFamily="34" charset="-122"/>
                <a:ea typeface="微软雅黑" panose="020B0503020204020204" pitchFamily="34" charset="-122"/>
              </a:rPr>
              <a:t>市场配置</a:t>
            </a:r>
            <a:endParaRPr lang="en-US" altLang="zh-CN" sz="1800" dirty="0">
              <a:latin typeface="微软雅黑" panose="020B0503020204020204" pitchFamily="34" charset="-122"/>
              <a:ea typeface="微软雅黑" panose="020B0503020204020204" pitchFamily="34" charset="-122"/>
            </a:endParaRPr>
          </a:p>
          <a:p>
            <a:pPr eaLnBrk="1" hangingPunct="1">
              <a:buClr>
                <a:schemeClr val="accent1"/>
              </a:buClr>
              <a:defRPr/>
            </a:pPr>
            <a:r>
              <a:rPr lang="zh-CN" altLang="en-US" sz="1800" dirty="0">
                <a:latin typeface="微软雅黑" panose="020B0503020204020204" pitchFamily="34" charset="-122"/>
                <a:ea typeface="微软雅黑" panose="020B0503020204020204" pitchFamily="34" charset="-122"/>
              </a:rPr>
              <a:t>资源结果：</a:t>
            </a:r>
            <a:endParaRPr lang="en-US" altLang="zh-CN" sz="1800" dirty="0">
              <a:latin typeface="微软雅黑" panose="020B0503020204020204" pitchFamily="34" charset="-122"/>
              <a:ea typeface="微软雅黑" panose="020B0503020204020204" pitchFamily="34" charset="-122"/>
            </a:endParaRPr>
          </a:p>
          <a:p>
            <a:pPr eaLnBrk="1" hangingPunct="1">
              <a:buClr>
                <a:schemeClr val="accent1"/>
              </a:buClr>
              <a:defRPr/>
            </a:pPr>
            <a:r>
              <a:rPr lang="en-US" altLang="zh-CN" sz="1800" dirty="0">
                <a:latin typeface="微软雅黑" panose="020B0503020204020204" pitchFamily="34" charset="-122"/>
                <a:ea typeface="微软雅黑" panose="020B0503020204020204" pitchFamily="34" charset="-122"/>
              </a:rPr>
              <a:t>MSB ≠ MSC</a:t>
            </a:r>
          </a:p>
        </p:txBody>
      </p:sp>
      <p:sp>
        <p:nvSpPr>
          <p:cNvPr id="7" name="矩形 6"/>
          <p:cNvSpPr/>
          <p:nvPr/>
        </p:nvSpPr>
        <p:spPr>
          <a:xfrm>
            <a:off x="5616116" y="4973984"/>
            <a:ext cx="2376263" cy="646331"/>
          </a:xfrm>
          <a:prstGeom prst="rect">
            <a:avLst/>
          </a:prstGeom>
          <a:noFill/>
          <a:ln w="28575">
            <a:solidFill>
              <a:schemeClr val="accent3">
                <a:lumMod val="50000"/>
              </a:schemeClr>
            </a:solidFill>
          </a:ln>
        </p:spPr>
        <p:txBody>
          <a:bodyPr wrap="square">
            <a:spAutoFit/>
          </a:bodyPr>
          <a:lstStyle/>
          <a:p>
            <a:pPr>
              <a:buClr>
                <a:schemeClr val="accent1"/>
              </a:buClr>
              <a:defRPr/>
            </a:pPr>
            <a:r>
              <a:rPr lang="zh-CN" altLang="en-US" sz="1800" dirty="0">
                <a:latin typeface="微软雅黑" panose="020B0503020204020204" pitchFamily="34" charset="-122"/>
                <a:ea typeface="微软雅黑" panose="020B0503020204020204" pitchFamily="34" charset="-122"/>
              </a:rPr>
              <a:t>资源配置效率要求：</a:t>
            </a:r>
            <a:r>
              <a:rPr lang="en-US" altLang="zh-CN" sz="1800" dirty="0">
                <a:latin typeface="微软雅黑" panose="020B0503020204020204" pitchFamily="34" charset="-122"/>
                <a:ea typeface="微软雅黑" panose="020B0503020204020204" pitchFamily="34" charset="-122"/>
              </a:rPr>
              <a:t>MSB = MSC</a:t>
            </a:r>
          </a:p>
        </p:txBody>
      </p:sp>
      <p:sp>
        <p:nvSpPr>
          <p:cNvPr id="4" name="右中括号 3"/>
          <p:cNvSpPr/>
          <p:nvPr/>
        </p:nvSpPr>
        <p:spPr bwMode="auto">
          <a:xfrm>
            <a:off x="4257571" y="1490712"/>
            <a:ext cx="360040" cy="3002482"/>
          </a:xfrm>
          <a:prstGeom prst="rightBracke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8" name="右箭头 7"/>
          <p:cNvSpPr/>
          <p:nvPr/>
        </p:nvSpPr>
        <p:spPr bwMode="auto">
          <a:xfrm>
            <a:off x="4617611" y="2708920"/>
            <a:ext cx="1181147" cy="439741"/>
          </a:xfrm>
          <a:prstGeom prst="right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9" name="上下箭头 8"/>
          <p:cNvSpPr/>
          <p:nvPr/>
        </p:nvSpPr>
        <p:spPr bwMode="auto">
          <a:xfrm>
            <a:off x="6683392" y="3668634"/>
            <a:ext cx="120855" cy="1266056"/>
          </a:xfrm>
          <a:prstGeom prst="up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0" name="矩形 9"/>
          <p:cNvSpPr/>
          <p:nvPr/>
        </p:nvSpPr>
        <p:spPr>
          <a:xfrm>
            <a:off x="6804248" y="4186056"/>
            <a:ext cx="1944216" cy="369332"/>
          </a:xfrm>
          <a:prstGeom prst="rect">
            <a:avLst/>
          </a:prstGeom>
        </p:spPr>
        <p:txBody>
          <a:bodyPr wrap="square">
            <a:spAutoFit/>
          </a:bodyPr>
          <a:lstStyle/>
          <a:p>
            <a:pPr eaLnBrk="1" hangingPunct="1">
              <a:buClr>
                <a:schemeClr val="accent1"/>
              </a:buClr>
              <a:defRPr/>
            </a:pPr>
            <a:r>
              <a:rPr lang="zh-CN" altLang="en-US" sz="1800" dirty="0">
                <a:solidFill>
                  <a:srgbClr val="C00000"/>
                </a:solidFill>
                <a:latin typeface="微软雅黑" panose="020B0503020204020204" pitchFamily="34" charset="-122"/>
                <a:ea typeface="微软雅黑" panose="020B0503020204020204" pitchFamily="34" charset="-122"/>
              </a:rPr>
              <a:t>不一致</a:t>
            </a:r>
            <a:endParaRPr lang="en-US" altLang="zh-CN" sz="1800" dirty="0">
              <a:solidFill>
                <a:srgbClr val="C00000"/>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二、外部性导致资源配置无效率</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13" name="标题 1">
            <a:extLst>
              <a:ext uri="{FF2B5EF4-FFF2-40B4-BE49-F238E27FC236}">
                <a16:creationId xmlns:a16="http://schemas.microsoft.com/office/drawing/2014/main" id="{52FDED9F-7A51-4CCD-BC53-81664DFF1C7F}"/>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57531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4" grpId="0" animBg="1"/>
      <p:bldP spid="8" grpId="0" animBg="1"/>
      <p:bldP spid="9" grpId="0" animBg="1"/>
      <p:bldP spid="10" grpId="0"/>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p:cNvSpPr>
            <a:spLocks noGrp="1"/>
          </p:cNvSpPr>
          <p:nvPr>
            <p:ph idx="4294967295"/>
          </p:nvPr>
        </p:nvSpPr>
        <p:spPr>
          <a:xfrm>
            <a:off x="388286" y="1295155"/>
            <a:ext cx="8856984" cy="550496"/>
          </a:xfrm>
        </p:spPr>
        <p:txBody>
          <a:bodyPr/>
          <a:lstStyle/>
          <a:p>
            <a:pPr>
              <a:spcBef>
                <a:spcPct val="50000"/>
              </a:spcBef>
              <a:buFont typeface="Wingdings" panose="05000000000000000000" pitchFamily="2" charset="2"/>
              <a:buChar char="u"/>
            </a:pPr>
            <a:r>
              <a:rPr lang="zh-CN" altLang="en-US" sz="2000" b="0" dirty="0">
                <a:solidFill>
                  <a:srgbClr val="C00000"/>
                </a:solidFill>
                <a:latin typeface="微软雅黑" panose="020B0503020204020204" pitchFamily="34" charset="-122"/>
                <a:ea typeface="微软雅黑" panose="020B0503020204020204" pitchFamily="34" charset="-122"/>
              </a:rPr>
              <a:t>负</a:t>
            </a:r>
            <a:r>
              <a:rPr lang="zh-CN" altLang="en-US" sz="2000" b="0" dirty="0">
                <a:solidFill>
                  <a:schemeClr val="tx1"/>
                </a:solidFill>
                <a:latin typeface="微软雅黑" panose="020B0503020204020204" pitchFamily="34" charset="-122"/>
                <a:ea typeface="微软雅黑" panose="020B0503020204020204" pitchFamily="34" charset="-122"/>
              </a:rPr>
              <a:t>外部性和资源配置的无效率</a:t>
            </a:r>
          </a:p>
        </p:txBody>
      </p:sp>
      <p:sp>
        <p:nvSpPr>
          <p:cNvPr id="2" name="矩形 1"/>
          <p:cNvSpPr/>
          <p:nvPr/>
        </p:nvSpPr>
        <p:spPr>
          <a:xfrm>
            <a:off x="541279" y="3674912"/>
            <a:ext cx="1727935" cy="1477328"/>
          </a:xfrm>
          <a:prstGeom prst="rect">
            <a:avLst/>
          </a:prstGeom>
          <a:noFill/>
          <a:ln w="28575">
            <a:solidFill>
              <a:schemeClr val="accent3">
                <a:lumMod val="50000"/>
              </a:schemeClr>
            </a:solidFill>
          </a:ln>
        </p:spPr>
        <p:txBody>
          <a:bodyPr wrap="square">
            <a:spAutoFit/>
          </a:bodyPr>
          <a:lstStyle/>
          <a:p>
            <a:pPr marL="0" indent="0" algn="ctr">
              <a:spcBef>
                <a:spcPct val="50000"/>
              </a:spcBef>
              <a:buNone/>
            </a:pPr>
            <a:endParaRPr lang="en-US" altLang="zh-CN" sz="1800" dirty="0">
              <a:latin typeface="微软雅黑" panose="020B0503020204020204" pitchFamily="34" charset="-122"/>
              <a:ea typeface="微软雅黑" panose="020B0503020204020204" pitchFamily="34" charset="-122"/>
            </a:endParaRPr>
          </a:p>
          <a:p>
            <a:pPr marL="0" indent="0" algn="ctr">
              <a:spcBef>
                <a:spcPct val="50000"/>
              </a:spcBef>
              <a:buNone/>
            </a:pPr>
            <a:r>
              <a:rPr lang="zh-CN" altLang="en-US" sz="1800" dirty="0">
                <a:latin typeface="微软雅黑" panose="020B0503020204020204" pitchFamily="34" charset="-122"/>
                <a:ea typeface="微软雅黑" panose="020B0503020204020204" pitchFamily="34" charset="-122"/>
              </a:rPr>
              <a:t>企业决策依据</a:t>
            </a:r>
            <a:r>
              <a:rPr lang="en-US" altLang="zh-CN" sz="1800" dirty="0">
                <a:latin typeface="微软雅黑" panose="020B0503020204020204" pitchFamily="34" charset="-122"/>
                <a:ea typeface="微软雅黑" panose="020B0503020204020204" pitchFamily="34" charset="-122"/>
              </a:rPr>
              <a:t>MPB=MPC</a:t>
            </a:r>
          </a:p>
          <a:p>
            <a:pPr marL="0" indent="0" algn="ctr">
              <a:spcBef>
                <a:spcPct val="50000"/>
              </a:spcBef>
              <a:buNone/>
            </a:pPr>
            <a:endParaRPr lang="en-US" altLang="zh-CN" sz="1800" dirty="0">
              <a:latin typeface="微软雅黑" panose="020B0503020204020204" pitchFamily="34" charset="-122"/>
              <a:ea typeface="微软雅黑" panose="020B0503020204020204" pitchFamily="34" charset="-122"/>
            </a:endParaRPr>
          </a:p>
        </p:txBody>
      </p:sp>
      <p:sp>
        <p:nvSpPr>
          <p:cNvPr id="3" name="矩形 2"/>
          <p:cNvSpPr/>
          <p:nvPr/>
        </p:nvSpPr>
        <p:spPr>
          <a:xfrm>
            <a:off x="2854152" y="2857560"/>
            <a:ext cx="2304256" cy="369332"/>
          </a:xfrm>
          <a:prstGeom prst="rect">
            <a:avLst/>
          </a:prstGeom>
        </p:spPr>
        <p:txBody>
          <a:bodyPr wrap="square">
            <a:spAutoFit/>
          </a:bodyPr>
          <a:lstStyle/>
          <a:p>
            <a:pPr marL="0" indent="0">
              <a:spcBef>
                <a:spcPct val="50000"/>
              </a:spcBef>
              <a:buNone/>
            </a:pPr>
            <a:r>
              <a:rPr lang="zh-CN" altLang="en-US" sz="1800" dirty="0">
                <a:latin typeface="微软雅黑" panose="020B0503020204020204" pitchFamily="34" charset="-122"/>
                <a:ea typeface="微软雅黑" panose="020B0503020204020204" pitchFamily="34" charset="-122"/>
              </a:rPr>
              <a:t>负外部性下</a:t>
            </a:r>
            <a:endParaRPr lang="en-US" altLang="zh-CN" sz="1800" dirty="0">
              <a:latin typeface="微软雅黑" panose="020B0503020204020204" pitchFamily="34" charset="-122"/>
              <a:ea typeface="微软雅黑" panose="020B0503020204020204" pitchFamily="34" charset="-122"/>
            </a:endParaRPr>
          </a:p>
        </p:txBody>
      </p:sp>
      <p:sp>
        <p:nvSpPr>
          <p:cNvPr id="5" name="矩形 4"/>
          <p:cNvSpPr/>
          <p:nvPr/>
        </p:nvSpPr>
        <p:spPr>
          <a:xfrm>
            <a:off x="2789258" y="3482107"/>
            <a:ext cx="2304256" cy="784830"/>
          </a:xfrm>
          <a:prstGeom prst="rect">
            <a:avLst/>
          </a:prstGeom>
          <a:noFill/>
          <a:ln w="19050">
            <a:solidFill>
              <a:schemeClr val="accent3">
                <a:lumMod val="50000"/>
              </a:schemeClr>
            </a:solidFill>
          </a:ln>
        </p:spPr>
        <p:txBody>
          <a:bodyPr wrap="square">
            <a:spAutoFit/>
          </a:bodyPr>
          <a:lstStyle/>
          <a:p>
            <a:pPr algn="ctr">
              <a:spcBef>
                <a:spcPct val="50000"/>
              </a:spcBef>
            </a:pPr>
            <a:r>
              <a:rPr lang="zh-CN" altLang="en-US" sz="1800" dirty="0">
                <a:latin typeface="微软雅黑" panose="020B0503020204020204" pitchFamily="34" charset="-122"/>
                <a:ea typeface="微软雅黑" panose="020B0503020204020204" pitchFamily="34" charset="-122"/>
              </a:rPr>
              <a:t>或者</a:t>
            </a:r>
            <a:r>
              <a:rPr lang="en-US" altLang="zh-CN" sz="1800" dirty="0">
                <a:latin typeface="微软雅黑" panose="020B0503020204020204" pitchFamily="34" charset="-122"/>
                <a:ea typeface="微软雅黑" panose="020B0503020204020204" pitchFamily="34" charset="-122"/>
              </a:rPr>
              <a:t>MSB&lt;MPB</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lgn="ctr">
              <a:spcBef>
                <a:spcPct val="50000"/>
              </a:spcBef>
            </a:pPr>
            <a:r>
              <a:rPr lang="en-US" altLang="zh-CN" sz="1800" dirty="0">
                <a:latin typeface="微软雅黑" panose="020B0503020204020204" pitchFamily="34" charset="-122"/>
                <a:ea typeface="微软雅黑" panose="020B0503020204020204" pitchFamily="34" charset="-122"/>
              </a:rPr>
              <a:t>MSC=MPC</a:t>
            </a:r>
            <a:endParaRPr lang="zh-CN" altLang="en-US" sz="1800" dirty="0">
              <a:latin typeface="微软雅黑" panose="020B0503020204020204" pitchFamily="34" charset="-122"/>
              <a:ea typeface="微软雅黑" panose="020B0503020204020204" pitchFamily="34" charset="-122"/>
            </a:endParaRPr>
          </a:p>
        </p:txBody>
      </p:sp>
      <p:sp>
        <p:nvSpPr>
          <p:cNvPr id="6" name="矩形 5"/>
          <p:cNvSpPr/>
          <p:nvPr/>
        </p:nvSpPr>
        <p:spPr>
          <a:xfrm>
            <a:off x="2789258" y="4660394"/>
            <a:ext cx="2286798" cy="784830"/>
          </a:xfrm>
          <a:prstGeom prst="rect">
            <a:avLst/>
          </a:prstGeom>
          <a:noFill/>
          <a:ln w="19050">
            <a:solidFill>
              <a:schemeClr val="accent3">
                <a:lumMod val="50000"/>
              </a:schemeClr>
            </a:solidFill>
          </a:ln>
        </p:spPr>
        <p:txBody>
          <a:bodyPr wrap="square">
            <a:spAutoFit/>
          </a:bodyPr>
          <a:lstStyle/>
          <a:p>
            <a:pPr algn="ctr">
              <a:spcBef>
                <a:spcPct val="50000"/>
              </a:spcBef>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或者</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MSC&gt;MPC</a:t>
            </a:r>
          </a:p>
          <a:p>
            <a:pPr algn="ctr">
              <a:spcBef>
                <a:spcPct val="50000"/>
              </a:spcBef>
            </a:pP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MSB=MPB</a:t>
            </a:r>
            <a:endParaRPr lang="zh-CN" altLang="en-US" sz="1800" dirty="0">
              <a:latin typeface="微软雅黑" panose="020B0503020204020204" pitchFamily="34" charset="-122"/>
              <a:ea typeface="微软雅黑" panose="020B0503020204020204" pitchFamily="34" charset="-122"/>
            </a:endParaRPr>
          </a:p>
        </p:txBody>
      </p:sp>
      <p:sp>
        <p:nvSpPr>
          <p:cNvPr id="7" name="加号 6"/>
          <p:cNvSpPr/>
          <p:nvPr/>
        </p:nvSpPr>
        <p:spPr bwMode="auto">
          <a:xfrm>
            <a:off x="2357210" y="3694810"/>
            <a:ext cx="432048" cy="477054"/>
          </a:xfrm>
          <a:prstGeom prst="mathPlus">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加号 8"/>
          <p:cNvSpPr/>
          <p:nvPr/>
        </p:nvSpPr>
        <p:spPr bwMode="auto">
          <a:xfrm>
            <a:off x="2374668" y="4754024"/>
            <a:ext cx="432048" cy="477054"/>
          </a:xfrm>
          <a:prstGeom prst="mathPlus">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右箭头 7"/>
          <p:cNvSpPr/>
          <p:nvPr/>
        </p:nvSpPr>
        <p:spPr bwMode="auto">
          <a:xfrm rot="1980486">
            <a:off x="5108044" y="3985660"/>
            <a:ext cx="742577" cy="205629"/>
          </a:xfrm>
          <a:prstGeom prst="rightArrow">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右箭头 9"/>
          <p:cNvSpPr/>
          <p:nvPr/>
        </p:nvSpPr>
        <p:spPr bwMode="auto">
          <a:xfrm rot="19749915">
            <a:off x="5103609" y="4804155"/>
            <a:ext cx="751444" cy="201657"/>
          </a:xfrm>
          <a:prstGeom prst="rightArrow">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矩形 10"/>
          <p:cNvSpPr/>
          <p:nvPr/>
        </p:nvSpPr>
        <p:spPr>
          <a:xfrm>
            <a:off x="5859058" y="2939311"/>
            <a:ext cx="2404275" cy="369332"/>
          </a:xfrm>
          <a:prstGeom prst="rect">
            <a:avLst/>
          </a:prstGeom>
          <a:noFill/>
          <a:ln w="19050">
            <a:solidFill>
              <a:schemeClr val="accent3">
                <a:lumMod val="50000"/>
              </a:schemeClr>
            </a:solidFill>
          </a:ln>
        </p:spPr>
        <p:txBody>
          <a:bodyPr wrap="square">
            <a:spAutoFit/>
          </a:bodyPr>
          <a:lstStyle/>
          <a:p>
            <a:pPr algn="ctr">
              <a:spcBef>
                <a:spcPct val="50000"/>
              </a:spcBef>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私人产量</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&gt;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效率产量</a:t>
            </a:r>
            <a:endParaRPr lang="zh-CN" altLang="en-US" sz="1800" dirty="0">
              <a:latin typeface="微软雅黑" panose="020B0503020204020204" pitchFamily="34" charset="-122"/>
              <a:ea typeface="微软雅黑" panose="020B0503020204020204" pitchFamily="34" charset="-122"/>
            </a:endParaRPr>
          </a:p>
        </p:txBody>
      </p:sp>
      <p:sp>
        <p:nvSpPr>
          <p:cNvPr id="13" name="矩形 12"/>
          <p:cNvSpPr/>
          <p:nvPr/>
        </p:nvSpPr>
        <p:spPr>
          <a:xfrm>
            <a:off x="5904889" y="4291148"/>
            <a:ext cx="2358444" cy="369332"/>
          </a:xfrm>
          <a:prstGeom prst="rect">
            <a:avLst/>
          </a:prstGeom>
          <a:noFill/>
          <a:ln w="19050">
            <a:solidFill>
              <a:schemeClr val="accent3">
                <a:lumMod val="50000"/>
              </a:schemeClr>
            </a:solidFill>
          </a:ln>
        </p:spPr>
        <p:txBody>
          <a:bodyPr wrap="square">
            <a:spAutoFit/>
          </a:bodyPr>
          <a:lstStyle/>
          <a:p>
            <a:pPr algn="ct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MSB&lt;MSC</a:t>
            </a:r>
            <a:endParaRPr lang="zh-CN" altLang="en-US" sz="1800" dirty="0">
              <a:latin typeface="微软雅黑" panose="020B0503020204020204" pitchFamily="34" charset="-122"/>
              <a:ea typeface="微软雅黑" panose="020B0503020204020204" pitchFamily="34" charset="-122"/>
            </a:endParaRPr>
          </a:p>
        </p:txBody>
      </p:sp>
      <p:sp>
        <p:nvSpPr>
          <p:cNvPr id="12" name="上箭头 11"/>
          <p:cNvSpPr/>
          <p:nvPr/>
        </p:nvSpPr>
        <p:spPr bwMode="auto">
          <a:xfrm>
            <a:off x="6886358" y="3342781"/>
            <a:ext cx="360040" cy="914422"/>
          </a:xfrm>
          <a:prstGeom prst="upArrow">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二、外部性导致资源配置无效率</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706758" y="1966146"/>
            <a:ext cx="2608406" cy="369332"/>
          </a:xfrm>
          <a:prstGeom prst="rect">
            <a:avLst/>
          </a:prstGeom>
          <a:noFill/>
        </p:spPr>
        <p:txBody>
          <a:bodyPr wrap="none" rtlCol="0">
            <a:spAutoFit/>
          </a:bodyPr>
          <a:lstStyle/>
          <a:p>
            <a:pPr marL="342900" indent="-342900">
              <a:buFont typeface="Wingdings" panose="05000000000000000000" pitchFamily="2" charset="2"/>
              <a:buChar char="Ø"/>
            </a:pPr>
            <a:r>
              <a:rPr lang="zh-CN" altLang="en-US" sz="1800" dirty="0">
                <a:solidFill>
                  <a:srgbClr val="C00000"/>
                </a:solidFill>
                <a:latin typeface="微软雅黑" panose="020B0503020204020204" pitchFamily="34" charset="-122"/>
                <a:ea typeface="微软雅黑" panose="020B0503020204020204" pitchFamily="34" charset="-122"/>
              </a:rPr>
              <a:t>负</a:t>
            </a: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外部性：</a:t>
            </a:r>
            <a:r>
              <a:rPr lang="zh-CN" altLang="en-US" sz="1800" dirty="0">
                <a:latin typeface="微软雅黑" panose="020B0503020204020204" pitchFamily="34" charset="-122"/>
                <a:ea typeface="微软雅黑" panose="020B0503020204020204" pitchFamily="34" charset="-122"/>
              </a:rPr>
              <a:t>产量太多</a:t>
            </a:r>
            <a:endParaRPr lang="en-US" altLang="zh-CN" sz="1800" dirty="0">
              <a:latin typeface="微软雅黑" panose="020B0503020204020204" pitchFamily="34" charset="-122"/>
              <a:ea typeface="微软雅黑" panose="020B0503020204020204" pitchFamily="34" charset="-122"/>
            </a:endParaRPr>
          </a:p>
        </p:txBody>
      </p:sp>
      <p:sp>
        <p:nvSpPr>
          <p:cNvPr id="17" name="标题 1">
            <a:extLst>
              <a:ext uri="{FF2B5EF4-FFF2-40B4-BE49-F238E27FC236}">
                <a16:creationId xmlns:a16="http://schemas.microsoft.com/office/drawing/2014/main" id="{D45A9023-16B6-451C-B1A3-F24396DC781F}"/>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42207553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animBg="1"/>
      <p:bldP spid="6" grpId="0" animBg="1"/>
      <p:bldP spid="7" grpId="0" animBg="1"/>
      <p:bldP spid="9" grpId="0" animBg="1"/>
      <p:bldP spid="8" grpId="0" animBg="1"/>
      <p:bldP spid="10" grpId="0" animBg="1"/>
      <p:bldP spid="11" grpId="0" animBg="1"/>
      <p:bldP spid="13" grpId="0" animBg="1"/>
      <p:bldP spid="12" grpId="0" animBg="1"/>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80" name="Line 3"/>
          <p:cNvSpPr>
            <a:spLocks noChangeShapeType="1"/>
          </p:cNvSpPr>
          <p:nvPr/>
        </p:nvSpPr>
        <p:spPr bwMode="auto">
          <a:xfrm>
            <a:off x="574063" y="1556792"/>
            <a:ext cx="0" cy="42588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1600"/>
          </a:p>
        </p:txBody>
      </p:sp>
      <p:sp>
        <p:nvSpPr>
          <p:cNvPr id="424981" name="Line 4"/>
          <p:cNvSpPr>
            <a:spLocks noChangeShapeType="1"/>
          </p:cNvSpPr>
          <p:nvPr/>
        </p:nvSpPr>
        <p:spPr bwMode="auto">
          <a:xfrm>
            <a:off x="574063" y="5815666"/>
            <a:ext cx="551106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1600"/>
          </a:p>
        </p:txBody>
      </p:sp>
      <p:sp>
        <p:nvSpPr>
          <p:cNvPr id="424982" name="Line 5"/>
          <p:cNvSpPr>
            <a:spLocks noChangeShapeType="1"/>
          </p:cNvSpPr>
          <p:nvPr/>
        </p:nvSpPr>
        <p:spPr bwMode="auto">
          <a:xfrm>
            <a:off x="1386741" y="2111494"/>
            <a:ext cx="4133295" cy="2674565"/>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sz="1600"/>
          </a:p>
        </p:txBody>
      </p:sp>
      <p:sp>
        <p:nvSpPr>
          <p:cNvPr id="424983" name="Line 6"/>
          <p:cNvSpPr>
            <a:spLocks noChangeShapeType="1"/>
          </p:cNvSpPr>
          <p:nvPr/>
        </p:nvSpPr>
        <p:spPr bwMode="auto">
          <a:xfrm flipV="1">
            <a:off x="1205539" y="1673804"/>
            <a:ext cx="3798422" cy="3185333"/>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sz="1600"/>
          </a:p>
        </p:txBody>
      </p:sp>
      <p:sp>
        <p:nvSpPr>
          <p:cNvPr id="424984" name="Line 7"/>
          <p:cNvSpPr>
            <a:spLocks noChangeShapeType="1"/>
          </p:cNvSpPr>
          <p:nvPr/>
        </p:nvSpPr>
        <p:spPr bwMode="auto">
          <a:xfrm flipV="1">
            <a:off x="2633535" y="2710198"/>
            <a:ext cx="3365478" cy="30311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1600"/>
          </a:p>
        </p:txBody>
      </p:sp>
      <p:sp>
        <p:nvSpPr>
          <p:cNvPr id="424985" name="Line 8"/>
          <p:cNvSpPr>
            <a:spLocks noChangeShapeType="1"/>
          </p:cNvSpPr>
          <p:nvPr/>
        </p:nvSpPr>
        <p:spPr bwMode="auto">
          <a:xfrm>
            <a:off x="3104750" y="3266471"/>
            <a:ext cx="0" cy="2515356"/>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sz="1600"/>
          </a:p>
        </p:txBody>
      </p:sp>
      <p:sp>
        <p:nvSpPr>
          <p:cNvPr id="424986" name="Line 9"/>
          <p:cNvSpPr>
            <a:spLocks noChangeShapeType="1"/>
          </p:cNvSpPr>
          <p:nvPr/>
        </p:nvSpPr>
        <p:spPr bwMode="auto">
          <a:xfrm flipH="1">
            <a:off x="4546262" y="4274076"/>
            <a:ext cx="21528" cy="154159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sz="1600" dirty="0"/>
          </a:p>
        </p:txBody>
      </p:sp>
      <p:sp>
        <p:nvSpPr>
          <p:cNvPr id="424987" name="Text Box 10"/>
          <p:cNvSpPr txBox="1">
            <a:spLocks noChangeArrowheads="1"/>
          </p:cNvSpPr>
          <p:nvPr/>
        </p:nvSpPr>
        <p:spPr bwMode="auto">
          <a:xfrm>
            <a:off x="669727" y="1601368"/>
            <a:ext cx="1593041" cy="651925"/>
          </a:xfrm>
          <a:prstGeom prst="rect">
            <a:avLst/>
          </a:prstGeom>
          <a:noFill/>
          <a:ln w="12700">
            <a:solidFill>
              <a:schemeClr val="accent3">
                <a:lumMod val="50000"/>
              </a:schemeClr>
            </a:solidFill>
            <a:miter lim="800000"/>
            <a:headEnd/>
            <a:tailEnd/>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600" dirty="0">
                <a:latin typeface="微软雅黑" panose="020B0503020204020204" pitchFamily="34" charset="-122"/>
                <a:ea typeface="微软雅黑" panose="020B0503020204020204" pitchFamily="34" charset="-122"/>
              </a:rPr>
              <a:t>需求曲线</a:t>
            </a:r>
            <a:r>
              <a:rPr lang="en-US" altLang="zh-CN" sz="1600" dirty="0">
                <a:latin typeface="微软雅黑" panose="020B0503020204020204" pitchFamily="34" charset="-122"/>
                <a:ea typeface="微软雅黑" panose="020B0503020204020204" pitchFamily="34" charset="-122"/>
              </a:rPr>
              <a:t>D</a:t>
            </a:r>
          </a:p>
          <a:p>
            <a:pPr algn="ctr" eaLnBrk="1" hangingPunct="1">
              <a:spcBef>
                <a:spcPct val="50000"/>
              </a:spcBef>
              <a:buFontTx/>
              <a:buNone/>
            </a:pPr>
            <a:r>
              <a:rPr lang="en-US" altLang="zh-CN" sz="1600" dirty="0">
                <a:latin typeface="微软雅黑" panose="020B0503020204020204" pitchFamily="34" charset="-122"/>
                <a:ea typeface="微软雅黑" panose="020B0503020204020204" pitchFamily="34" charset="-122"/>
              </a:rPr>
              <a:t>/ MSB</a:t>
            </a:r>
            <a:r>
              <a:rPr lang="zh-CN" altLang="en-US" sz="1600" dirty="0">
                <a:latin typeface="微软雅黑" panose="020B0503020204020204" pitchFamily="34" charset="-122"/>
                <a:ea typeface="微软雅黑" panose="020B0503020204020204" pitchFamily="34" charset="-122"/>
              </a:rPr>
              <a:t>曲线</a:t>
            </a:r>
            <a:endParaRPr lang="en-US" altLang="zh-CN" sz="1600" dirty="0">
              <a:latin typeface="微软雅黑" panose="020B0503020204020204" pitchFamily="34" charset="-122"/>
              <a:ea typeface="微软雅黑" panose="020B0503020204020204" pitchFamily="34" charset="-122"/>
            </a:endParaRPr>
          </a:p>
        </p:txBody>
      </p:sp>
      <p:sp>
        <p:nvSpPr>
          <p:cNvPr id="424988" name="Text Box 11"/>
          <p:cNvSpPr txBox="1">
            <a:spLocks noChangeArrowheads="1"/>
          </p:cNvSpPr>
          <p:nvPr/>
        </p:nvSpPr>
        <p:spPr bwMode="auto">
          <a:xfrm>
            <a:off x="6123395" y="2006268"/>
            <a:ext cx="1564337" cy="651925"/>
          </a:xfrm>
          <a:prstGeom prst="rect">
            <a:avLst/>
          </a:prstGeom>
          <a:noFill/>
          <a:ln w="12700">
            <a:solidFill>
              <a:schemeClr val="accent3">
                <a:lumMod val="50000"/>
              </a:schemeClr>
            </a:solidFill>
            <a:miter lim="800000"/>
            <a:headEnd/>
            <a:tailEnd/>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zh-CN" altLang="en-US" sz="1600" dirty="0">
                <a:latin typeface="微软雅黑" panose="020B0503020204020204" pitchFamily="34" charset="-122"/>
                <a:ea typeface="微软雅黑" panose="020B0503020204020204" pitchFamily="34" charset="-122"/>
              </a:rPr>
              <a:t>供给曲线</a:t>
            </a:r>
            <a:r>
              <a:rPr lang="en-US" altLang="zh-CN" sz="1600" dirty="0">
                <a:latin typeface="微软雅黑" panose="020B0503020204020204" pitchFamily="34" charset="-122"/>
                <a:ea typeface="微软雅黑" panose="020B0503020204020204" pitchFamily="34" charset="-122"/>
              </a:rPr>
              <a:t>S </a:t>
            </a:r>
          </a:p>
          <a:p>
            <a:pPr algn="ctr">
              <a:spcBef>
                <a:spcPct val="50000"/>
              </a:spcBef>
              <a:buNone/>
            </a:pPr>
            <a:r>
              <a:rPr lang="en-US" altLang="zh-CN" sz="1600" dirty="0">
                <a:latin typeface="微软雅黑" panose="020B0503020204020204" pitchFamily="34" charset="-122"/>
                <a:ea typeface="微软雅黑" panose="020B0503020204020204" pitchFamily="34" charset="-122"/>
              </a:rPr>
              <a:t>/ MPC</a:t>
            </a:r>
            <a:r>
              <a:rPr lang="zh-CN" altLang="en-US" sz="1600" dirty="0">
                <a:latin typeface="微软雅黑" panose="020B0503020204020204" pitchFamily="34" charset="-122"/>
                <a:ea typeface="微软雅黑" panose="020B0503020204020204" pitchFamily="34" charset="-122"/>
              </a:rPr>
              <a:t>曲线</a:t>
            </a:r>
            <a:endParaRPr lang="en-US" altLang="zh-CN" sz="1600" dirty="0">
              <a:latin typeface="微软雅黑" panose="020B0503020204020204" pitchFamily="34" charset="-122"/>
              <a:ea typeface="微软雅黑" panose="020B0503020204020204" pitchFamily="34" charset="-122"/>
            </a:endParaRPr>
          </a:p>
        </p:txBody>
      </p:sp>
      <p:sp>
        <p:nvSpPr>
          <p:cNvPr id="424989" name="Text Box 12"/>
          <p:cNvSpPr txBox="1">
            <a:spLocks noChangeArrowheads="1"/>
          </p:cNvSpPr>
          <p:nvPr/>
        </p:nvSpPr>
        <p:spPr bwMode="auto">
          <a:xfrm>
            <a:off x="4879579" y="1634800"/>
            <a:ext cx="1306006" cy="312033"/>
          </a:xfrm>
          <a:prstGeom prst="rect">
            <a:avLst/>
          </a:prstGeom>
          <a:noFill/>
          <a:ln w="12700">
            <a:solidFill>
              <a:schemeClr val="accent3">
                <a:lumMod val="50000"/>
              </a:schemeClr>
            </a:solidFill>
            <a:miter lim="800000"/>
            <a:headEnd/>
            <a:tailEnd/>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1600" dirty="0">
                <a:latin typeface="微软雅黑" panose="020B0503020204020204" pitchFamily="34" charset="-122"/>
                <a:ea typeface="微软雅黑" panose="020B0503020204020204" pitchFamily="34" charset="-122"/>
              </a:rPr>
              <a:t>MSC</a:t>
            </a:r>
            <a:r>
              <a:rPr lang="zh-CN" altLang="en-US" sz="1600" dirty="0">
                <a:latin typeface="微软雅黑" panose="020B0503020204020204" pitchFamily="34" charset="-122"/>
                <a:ea typeface="微软雅黑" panose="020B0503020204020204" pitchFamily="34" charset="-122"/>
              </a:rPr>
              <a:t>曲线</a:t>
            </a:r>
            <a:endParaRPr lang="en-US" altLang="zh-CN" sz="1600" dirty="0">
              <a:latin typeface="微软雅黑" panose="020B0503020204020204" pitchFamily="34" charset="-122"/>
              <a:ea typeface="微软雅黑" panose="020B0503020204020204" pitchFamily="34" charset="-122"/>
            </a:endParaRPr>
          </a:p>
        </p:txBody>
      </p:sp>
      <p:sp>
        <p:nvSpPr>
          <p:cNvPr id="358413" name="Text Box 13"/>
          <p:cNvSpPr txBox="1">
            <a:spLocks noChangeArrowheads="1"/>
          </p:cNvSpPr>
          <p:nvPr/>
        </p:nvSpPr>
        <p:spPr bwMode="auto">
          <a:xfrm>
            <a:off x="2339752" y="5892987"/>
            <a:ext cx="1097050" cy="344325"/>
          </a:xfrm>
          <a:prstGeom prst="rect">
            <a:avLst/>
          </a:prstGeom>
          <a:noFill/>
          <a:ln>
            <a:solidFill>
              <a:schemeClr val="accent3">
                <a:lumMod val="50000"/>
              </a:schemeClr>
            </a:solid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lnSpc>
                <a:spcPct val="110000"/>
              </a:lnSpc>
              <a:spcBef>
                <a:spcPct val="50000"/>
              </a:spcBef>
              <a:buFontTx/>
              <a:buNone/>
            </a:pPr>
            <a:r>
              <a:rPr lang="zh-CN" altLang="en-US" sz="1600" dirty="0">
                <a:latin typeface="微软雅黑" panose="020B0503020204020204" pitchFamily="34" charset="-122"/>
                <a:ea typeface="微软雅黑" panose="020B0503020204020204" pitchFamily="34" charset="-122"/>
              </a:rPr>
              <a:t>效率产量</a:t>
            </a:r>
            <a:endParaRPr lang="en-US" altLang="zh-CN" sz="1600" dirty="0">
              <a:latin typeface="微软雅黑" panose="020B0503020204020204" pitchFamily="34" charset="-122"/>
              <a:ea typeface="微软雅黑" panose="020B0503020204020204" pitchFamily="34" charset="-122"/>
            </a:endParaRPr>
          </a:p>
        </p:txBody>
      </p:sp>
      <p:sp>
        <p:nvSpPr>
          <p:cNvPr id="358414" name="Text Box 14"/>
          <p:cNvSpPr txBox="1">
            <a:spLocks noChangeArrowheads="1"/>
          </p:cNvSpPr>
          <p:nvPr/>
        </p:nvSpPr>
        <p:spPr bwMode="auto">
          <a:xfrm>
            <a:off x="3995936" y="5892987"/>
            <a:ext cx="1043067" cy="344325"/>
          </a:xfrm>
          <a:prstGeom prst="rect">
            <a:avLst/>
          </a:prstGeom>
          <a:noFill/>
          <a:ln>
            <a:solidFill>
              <a:schemeClr val="accent3">
                <a:lumMod val="50000"/>
              </a:schemeClr>
            </a:solid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50000"/>
              </a:spcBef>
              <a:buNone/>
            </a:pPr>
            <a:r>
              <a:rPr lang="zh-CN" altLang="en-US" sz="1600" dirty="0">
                <a:latin typeface="微软雅黑" panose="020B0503020204020204" pitchFamily="34" charset="-122"/>
                <a:ea typeface="微软雅黑" panose="020B0503020204020204" pitchFamily="34" charset="-122"/>
              </a:rPr>
              <a:t>私人产量</a:t>
            </a:r>
            <a:endParaRPr lang="en-US" altLang="zh-CN" sz="1600" dirty="0">
              <a:latin typeface="微软雅黑" panose="020B0503020204020204" pitchFamily="34" charset="-122"/>
              <a:ea typeface="微软雅黑" panose="020B0503020204020204" pitchFamily="34" charset="-122"/>
            </a:endParaRPr>
          </a:p>
        </p:txBody>
      </p:sp>
      <p:sp>
        <p:nvSpPr>
          <p:cNvPr id="424968" name="Rectangle 28"/>
          <p:cNvSpPr>
            <a:spLocks noChangeArrowheads="1"/>
          </p:cNvSpPr>
          <p:nvPr/>
        </p:nvSpPr>
        <p:spPr bwMode="auto">
          <a:xfrm>
            <a:off x="6295001" y="5770538"/>
            <a:ext cx="16384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dirty="0"/>
              <a:t>paper</a:t>
            </a:r>
          </a:p>
        </p:txBody>
      </p:sp>
      <p:sp>
        <p:nvSpPr>
          <p:cNvPr id="30" name="Rectangle 28"/>
          <p:cNvSpPr>
            <a:spLocks noChangeArrowheads="1"/>
          </p:cNvSpPr>
          <p:nvPr/>
        </p:nvSpPr>
        <p:spPr bwMode="auto">
          <a:xfrm>
            <a:off x="302795" y="1059937"/>
            <a:ext cx="8930240" cy="400110"/>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纸厂的负外部性：假设体现在</a:t>
            </a:r>
            <a:r>
              <a:rPr lang="en-US" altLang="zh-CN" sz="2000" dirty="0">
                <a:latin typeface="微软雅黑" panose="020B0503020204020204" pitchFamily="34" charset="-122"/>
                <a:ea typeface="微软雅黑" panose="020B0503020204020204" pitchFamily="34" charset="-122"/>
              </a:rPr>
              <a:t>MSC&gt;MPC</a:t>
            </a:r>
            <a:r>
              <a:rPr lang="zh-CN" altLang="en-US" sz="2000" dirty="0">
                <a:latin typeface="微软雅黑" panose="020B0503020204020204" pitchFamily="34" charset="-122"/>
                <a:ea typeface="微软雅黑" panose="020B0503020204020204" pitchFamily="34" charset="-122"/>
              </a:rPr>
              <a:t>上</a:t>
            </a:r>
            <a:endParaRPr lang="en-US" altLang="zh-CN" sz="2000" dirty="0">
              <a:latin typeface="微软雅黑" panose="020B0503020204020204" pitchFamily="34" charset="-122"/>
              <a:ea typeface="微软雅黑" panose="020B0503020204020204" pitchFamily="34" charset="-122"/>
            </a:endParaRPr>
          </a:p>
        </p:txBody>
      </p:sp>
      <p:sp>
        <p:nvSpPr>
          <p:cNvPr id="4" name="椭圆 3"/>
          <p:cNvSpPr/>
          <p:nvPr/>
        </p:nvSpPr>
        <p:spPr bwMode="auto">
          <a:xfrm>
            <a:off x="2988143" y="3164696"/>
            <a:ext cx="210105" cy="168804"/>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5" name="椭圆 4"/>
          <p:cNvSpPr/>
          <p:nvPr/>
        </p:nvSpPr>
        <p:spPr bwMode="auto">
          <a:xfrm>
            <a:off x="4390378" y="4022090"/>
            <a:ext cx="237996" cy="228454"/>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6" name="矩形 5"/>
          <p:cNvSpPr/>
          <p:nvPr/>
        </p:nvSpPr>
        <p:spPr>
          <a:xfrm>
            <a:off x="4641903" y="4333196"/>
            <a:ext cx="549276" cy="338554"/>
          </a:xfrm>
          <a:prstGeom prst="rect">
            <a:avLst/>
          </a:prstGeom>
        </p:spPr>
        <p:txBody>
          <a:bodyPr wrap="square">
            <a:spAutoFit/>
          </a:bodyPr>
          <a:lstStyle/>
          <a:p>
            <a:pPr eaLnBrk="1" hangingPunct="1">
              <a:spcBef>
                <a:spcPct val="50000"/>
              </a:spcBef>
              <a:buFontTx/>
              <a:buNone/>
            </a:pPr>
            <a:r>
              <a:rPr lang="en-US" altLang="zh-CN" sz="1600" dirty="0">
                <a:latin typeface="Tahoma" panose="020B0604030504040204" pitchFamily="34" charset="0"/>
              </a:rPr>
              <a:t>A</a:t>
            </a:r>
            <a:endParaRPr lang="zh-CN" altLang="en-US" sz="1600" dirty="0"/>
          </a:p>
        </p:txBody>
      </p:sp>
      <p:sp>
        <p:nvSpPr>
          <p:cNvPr id="34" name="矩形 33"/>
          <p:cNvSpPr/>
          <p:nvPr/>
        </p:nvSpPr>
        <p:spPr>
          <a:xfrm>
            <a:off x="2689546" y="3046493"/>
            <a:ext cx="265081" cy="338554"/>
          </a:xfrm>
          <a:prstGeom prst="rect">
            <a:avLst/>
          </a:prstGeom>
        </p:spPr>
        <p:txBody>
          <a:bodyPr wrap="square">
            <a:spAutoFit/>
          </a:bodyPr>
          <a:lstStyle/>
          <a:p>
            <a:pPr eaLnBrk="1" hangingPunct="1">
              <a:spcBef>
                <a:spcPct val="50000"/>
              </a:spcBef>
              <a:buFontTx/>
              <a:buNone/>
            </a:pPr>
            <a:r>
              <a:rPr lang="en-US" altLang="zh-CN" sz="1600" dirty="0">
                <a:latin typeface="Tahoma" panose="020B0604030504040204" pitchFamily="34" charset="0"/>
              </a:rPr>
              <a:t>B</a:t>
            </a:r>
            <a:endParaRPr lang="zh-CN" altLang="en-US" sz="1600" dirty="0"/>
          </a:p>
        </p:txBody>
      </p:sp>
      <p:sp>
        <p:nvSpPr>
          <p:cNvPr id="35" name="Line 8"/>
          <p:cNvSpPr>
            <a:spLocks noChangeShapeType="1"/>
          </p:cNvSpPr>
          <p:nvPr/>
        </p:nvSpPr>
        <p:spPr bwMode="auto">
          <a:xfrm flipH="1">
            <a:off x="4572000" y="2132856"/>
            <a:ext cx="15313" cy="2014279"/>
          </a:xfrm>
          <a:prstGeom prst="line">
            <a:avLst/>
          </a:prstGeom>
          <a:noFill/>
          <a:ln w="25400" cap="rnd">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矩形 35"/>
          <p:cNvSpPr/>
          <p:nvPr/>
        </p:nvSpPr>
        <p:spPr>
          <a:xfrm>
            <a:off x="3045645" y="5361477"/>
            <a:ext cx="549276" cy="338554"/>
          </a:xfrm>
          <a:prstGeom prst="rect">
            <a:avLst/>
          </a:prstGeom>
        </p:spPr>
        <p:txBody>
          <a:bodyPr wrap="square">
            <a:spAutoFit/>
          </a:bodyPr>
          <a:lstStyle/>
          <a:p>
            <a:pPr eaLnBrk="1" hangingPunct="1">
              <a:spcBef>
                <a:spcPct val="50000"/>
              </a:spcBef>
              <a:buFontTx/>
              <a:buNone/>
            </a:pPr>
            <a:r>
              <a:rPr lang="en-US" altLang="zh-CN" sz="1600" dirty="0">
                <a:latin typeface="Tahoma" panose="020B0604030504040204" pitchFamily="34" charset="0"/>
              </a:rPr>
              <a:t>F</a:t>
            </a:r>
            <a:endParaRPr lang="zh-CN" altLang="en-US" sz="1600" dirty="0"/>
          </a:p>
        </p:txBody>
      </p:sp>
      <p:sp>
        <p:nvSpPr>
          <p:cNvPr id="37" name="矩形 36"/>
          <p:cNvSpPr/>
          <p:nvPr/>
        </p:nvSpPr>
        <p:spPr>
          <a:xfrm>
            <a:off x="4610493" y="5430465"/>
            <a:ext cx="549276" cy="338554"/>
          </a:xfrm>
          <a:prstGeom prst="rect">
            <a:avLst/>
          </a:prstGeom>
        </p:spPr>
        <p:txBody>
          <a:bodyPr wrap="square">
            <a:spAutoFit/>
          </a:bodyPr>
          <a:lstStyle/>
          <a:p>
            <a:pPr eaLnBrk="1" hangingPunct="1">
              <a:spcBef>
                <a:spcPct val="50000"/>
              </a:spcBef>
              <a:buFontTx/>
              <a:buNone/>
            </a:pPr>
            <a:r>
              <a:rPr lang="en-US" altLang="zh-CN" sz="1600" dirty="0">
                <a:latin typeface="Tahoma" panose="020B0604030504040204" pitchFamily="34" charset="0"/>
              </a:rPr>
              <a:t>E</a:t>
            </a:r>
            <a:endParaRPr lang="zh-CN" altLang="en-US" sz="1600" dirty="0"/>
          </a:p>
        </p:txBody>
      </p:sp>
      <p:sp>
        <p:nvSpPr>
          <p:cNvPr id="38" name="矩形 37"/>
          <p:cNvSpPr/>
          <p:nvPr/>
        </p:nvSpPr>
        <p:spPr>
          <a:xfrm>
            <a:off x="4023117" y="1545389"/>
            <a:ext cx="549276" cy="338554"/>
          </a:xfrm>
          <a:prstGeom prst="rect">
            <a:avLst/>
          </a:prstGeom>
        </p:spPr>
        <p:txBody>
          <a:bodyPr wrap="square">
            <a:spAutoFit/>
          </a:bodyPr>
          <a:lstStyle/>
          <a:p>
            <a:pPr eaLnBrk="1" hangingPunct="1">
              <a:spcBef>
                <a:spcPct val="50000"/>
              </a:spcBef>
              <a:buFontTx/>
              <a:buNone/>
            </a:pPr>
            <a:r>
              <a:rPr lang="en-US" altLang="zh-CN" sz="1600" dirty="0">
                <a:latin typeface="Tahoma" panose="020B0604030504040204" pitchFamily="34" charset="0"/>
              </a:rPr>
              <a:t>G</a:t>
            </a:r>
            <a:endParaRPr lang="zh-CN" altLang="en-US" sz="1600" dirty="0"/>
          </a:p>
        </p:txBody>
      </p:sp>
      <p:sp>
        <p:nvSpPr>
          <p:cNvPr id="40" name="矩形 39"/>
          <p:cNvSpPr/>
          <p:nvPr/>
        </p:nvSpPr>
        <p:spPr>
          <a:xfrm>
            <a:off x="3871171" y="2563993"/>
            <a:ext cx="522867" cy="1200329"/>
          </a:xfrm>
          <a:prstGeom prst="rect">
            <a:avLst/>
          </a:prstGeom>
        </p:spPr>
        <p:txBody>
          <a:bodyPr wrap="square">
            <a:spAutoFit/>
          </a:bodyPr>
          <a:lstStyle/>
          <a:p>
            <a:pPr>
              <a:spcBef>
                <a:spcPct val="50000"/>
              </a:spcBef>
            </a:pPr>
            <a:r>
              <a:rPr kumimoji="1" lang="zh-CN" altLang="en-US" sz="1800" dirty="0">
                <a:latin typeface="微软雅黑" panose="020B0503020204020204" pitchFamily="34" charset="-122"/>
                <a:ea typeface="微软雅黑" panose="020B0503020204020204" pitchFamily="34" charset="-122"/>
              </a:rPr>
              <a:t>外部成本</a:t>
            </a:r>
          </a:p>
        </p:txBody>
      </p:sp>
      <p:sp>
        <p:nvSpPr>
          <p:cNvPr id="41" name="椭圆 40"/>
          <p:cNvSpPr/>
          <p:nvPr/>
        </p:nvSpPr>
        <p:spPr bwMode="auto">
          <a:xfrm>
            <a:off x="4482486" y="1893685"/>
            <a:ext cx="237996" cy="228454"/>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7" name="左大括号 6"/>
          <p:cNvSpPr/>
          <p:nvPr/>
        </p:nvSpPr>
        <p:spPr bwMode="auto">
          <a:xfrm>
            <a:off x="4302131" y="2135305"/>
            <a:ext cx="229171" cy="1883291"/>
          </a:xfrm>
          <a:prstGeom prst="leftBr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8" name="左大括号 7"/>
          <p:cNvSpPr/>
          <p:nvPr/>
        </p:nvSpPr>
        <p:spPr bwMode="auto">
          <a:xfrm>
            <a:off x="4313504" y="4205630"/>
            <a:ext cx="212913" cy="1601427"/>
          </a:xfrm>
          <a:prstGeom prst="leftBr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4" name="矩形 43"/>
          <p:cNvSpPr/>
          <p:nvPr/>
        </p:nvSpPr>
        <p:spPr>
          <a:xfrm>
            <a:off x="3939200" y="4519578"/>
            <a:ext cx="505368" cy="1200329"/>
          </a:xfrm>
          <a:prstGeom prst="rect">
            <a:avLst/>
          </a:prstGeom>
        </p:spPr>
        <p:txBody>
          <a:bodyPr wrap="square">
            <a:spAutoFit/>
          </a:bodyPr>
          <a:lstStyle/>
          <a:p>
            <a:pPr eaLnBrk="1" hangingPunct="1">
              <a:spcBef>
                <a:spcPct val="50000"/>
              </a:spcBef>
              <a:buFont typeface="Arial" panose="020B0604020202020204" pitchFamily="34" charset="0"/>
              <a:buNone/>
            </a:pPr>
            <a:r>
              <a:rPr kumimoji="1" lang="zh-CN" altLang="en-US" sz="1800" dirty="0">
                <a:latin typeface="微软雅黑" panose="020B0503020204020204" pitchFamily="34" charset="-122"/>
                <a:ea typeface="微软雅黑" panose="020B0503020204020204" pitchFamily="34" charset="-122"/>
              </a:rPr>
              <a:t>私人成本</a:t>
            </a:r>
          </a:p>
        </p:txBody>
      </p:sp>
      <p:sp>
        <p:nvSpPr>
          <p:cNvPr id="9" name="右大括号 8"/>
          <p:cNvSpPr/>
          <p:nvPr/>
        </p:nvSpPr>
        <p:spPr bwMode="auto">
          <a:xfrm>
            <a:off x="4644008" y="2123999"/>
            <a:ext cx="484372" cy="3448355"/>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 name="矩形 45"/>
          <p:cNvSpPr/>
          <p:nvPr/>
        </p:nvSpPr>
        <p:spPr>
          <a:xfrm>
            <a:off x="5298007" y="3552073"/>
            <a:ext cx="399620" cy="1261884"/>
          </a:xfrm>
          <a:prstGeom prst="rect">
            <a:avLst/>
          </a:prstGeom>
        </p:spPr>
        <p:txBody>
          <a:bodyPr wrap="square">
            <a:spAutoFit/>
          </a:bodyPr>
          <a:lstStyle/>
          <a:p>
            <a:pPr>
              <a:spcBef>
                <a:spcPct val="50000"/>
              </a:spcBef>
            </a:pPr>
            <a:r>
              <a:rPr kumimoji="1" lang="zh-CN" altLang="en-US" sz="1800" dirty="0">
                <a:latin typeface="微软雅黑" panose="020B0503020204020204" pitchFamily="34" charset="-122"/>
                <a:ea typeface="微软雅黑" panose="020B0503020204020204" pitchFamily="34" charset="-122"/>
              </a:rPr>
              <a:t>社会</a:t>
            </a:r>
            <a:r>
              <a:rPr kumimoji="1" lang="zh-CN" altLang="en-US" sz="2000" dirty="0">
                <a:latin typeface="微软雅黑" panose="020B0503020204020204" pitchFamily="34" charset="-122"/>
                <a:ea typeface="微软雅黑" panose="020B0503020204020204" pitchFamily="34" charset="-122"/>
              </a:rPr>
              <a:t>成本</a:t>
            </a:r>
          </a:p>
        </p:txBody>
      </p:sp>
      <p:sp>
        <p:nvSpPr>
          <p:cNvPr id="10" name="矩形 9"/>
          <p:cNvSpPr/>
          <p:nvPr/>
        </p:nvSpPr>
        <p:spPr>
          <a:xfrm>
            <a:off x="6766830" y="3176298"/>
            <a:ext cx="2125650" cy="1446550"/>
          </a:xfrm>
          <a:prstGeom prst="rect">
            <a:avLst/>
          </a:prstGeom>
          <a:noFill/>
          <a:ln w="28575">
            <a:solidFill>
              <a:srgbClr val="CC0000"/>
            </a:solidFill>
          </a:ln>
        </p:spPr>
        <p:txBody>
          <a:bodyPr wrap="square">
            <a:spAutoFit/>
          </a:bodyPr>
          <a:lstStyle/>
          <a:p>
            <a:pPr eaLnBrk="1" hangingPunct="1">
              <a:spcBef>
                <a:spcPct val="50000"/>
              </a:spcBef>
              <a:buFontTx/>
              <a:buNone/>
            </a:pPr>
            <a:r>
              <a:rPr lang="en-US" altLang="zh-CN" sz="1600" dirty="0">
                <a:latin typeface="微软雅黑" panose="020B0503020204020204" pitchFamily="34" charset="-122"/>
                <a:ea typeface="微软雅黑" panose="020B0503020204020204" pitchFamily="34" charset="-122"/>
              </a:rPr>
              <a:t>MPC:  </a:t>
            </a:r>
            <a:r>
              <a:rPr lang="zh-CN" altLang="en-US" sz="1600" dirty="0">
                <a:latin typeface="微软雅黑" panose="020B0503020204020204" pitchFamily="34" charset="-122"/>
                <a:ea typeface="微软雅黑" panose="020B0503020204020204" pitchFamily="34" charset="-122"/>
              </a:rPr>
              <a:t>边际私人成本</a:t>
            </a:r>
            <a:endParaRPr lang="en-US" altLang="zh-CN" sz="16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en-US" altLang="zh-CN" sz="1600" dirty="0">
                <a:latin typeface="微软雅黑" panose="020B0503020204020204" pitchFamily="34" charset="-122"/>
                <a:ea typeface="微软雅黑" panose="020B0503020204020204" pitchFamily="34" charset="-122"/>
              </a:rPr>
              <a:t>MPB</a:t>
            </a:r>
            <a:r>
              <a:rPr lang="zh-CN" altLang="en-US" sz="1600" dirty="0">
                <a:latin typeface="微软雅黑" panose="020B0503020204020204" pitchFamily="34" charset="-122"/>
                <a:ea typeface="微软雅黑" panose="020B0503020204020204" pitchFamily="34" charset="-122"/>
              </a:rPr>
              <a:t>：边际私人收益</a:t>
            </a:r>
            <a:endParaRPr lang="en-US" altLang="zh-CN" sz="1600" dirty="0">
              <a:latin typeface="微软雅黑" panose="020B0503020204020204" pitchFamily="34" charset="-122"/>
              <a:ea typeface="微软雅黑" panose="020B0503020204020204" pitchFamily="34" charset="-122"/>
            </a:endParaRPr>
          </a:p>
          <a:p>
            <a:pPr eaLnBrk="1" hangingPunct="1">
              <a:spcBef>
                <a:spcPct val="50000"/>
              </a:spcBef>
            </a:pPr>
            <a:r>
              <a:rPr lang="en-US" altLang="zh-CN" sz="1600" dirty="0">
                <a:latin typeface="微软雅黑" panose="020B0503020204020204" pitchFamily="34" charset="-122"/>
                <a:ea typeface="微软雅黑" panose="020B0503020204020204" pitchFamily="34" charset="-122"/>
              </a:rPr>
              <a:t>MSC</a:t>
            </a:r>
            <a:r>
              <a:rPr lang="zh-CN" altLang="en-US" sz="1600" dirty="0">
                <a:latin typeface="微软雅黑" panose="020B0503020204020204" pitchFamily="34" charset="-122"/>
                <a:ea typeface="微软雅黑" panose="020B0503020204020204" pitchFamily="34" charset="-122"/>
              </a:rPr>
              <a:t>：边际社会成本</a:t>
            </a:r>
            <a:endParaRPr lang="en-US" altLang="zh-CN" sz="16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en-US" altLang="zh-CN" sz="1600" dirty="0">
                <a:latin typeface="微软雅黑" panose="020B0503020204020204" pitchFamily="34" charset="-122"/>
                <a:ea typeface="微软雅黑" panose="020B0503020204020204" pitchFamily="34" charset="-122"/>
              </a:rPr>
              <a:t>MSB</a:t>
            </a:r>
            <a:r>
              <a:rPr lang="zh-CN" altLang="en-US" sz="1600" dirty="0">
                <a:latin typeface="微软雅黑" panose="020B0503020204020204" pitchFamily="34" charset="-122"/>
                <a:ea typeface="微软雅黑" panose="020B0503020204020204" pitchFamily="34" charset="-122"/>
              </a:rPr>
              <a:t>：边际社会收益</a:t>
            </a:r>
            <a:endParaRPr lang="en-US" altLang="zh-CN" sz="1600" dirty="0">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620A6749-C7BF-4D57-9B32-58AF1B1FB469}"/>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二、外部性导致资源配置无效率</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42" name="标题 1">
            <a:extLst>
              <a:ext uri="{FF2B5EF4-FFF2-40B4-BE49-F238E27FC236}">
                <a16:creationId xmlns:a16="http://schemas.microsoft.com/office/drawing/2014/main" id="{13E9101A-9BE5-4904-8731-8E8F0B142AD9}"/>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28914233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49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49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49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2" presetClass="entr" presetSubtype="4"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 calcmode="lin" valueType="num">
                                      <p:cBhvr additive="base">
                                        <p:cTn id="23" dur="500" fill="hold"/>
                                        <p:tgtEl>
                                          <p:spTgt spid="40"/>
                                        </p:tgtEl>
                                        <p:attrNameLst>
                                          <p:attrName>ppt_x</p:attrName>
                                        </p:attrNameLst>
                                      </p:cBhvr>
                                      <p:tavLst>
                                        <p:tav tm="0">
                                          <p:val>
                                            <p:strVal val="#ppt_x"/>
                                          </p:val>
                                        </p:tav>
                                        <p:tav tm="100000">
                                          <p:val>
                                            <p:strVal val="#ppt_x"/>
                                          </p:val>
                                        </p:tav>
                                      </p:tavLst>
                                    </p:anim>
                                    <p:anim calcmode="lin" valueType="num">
                                      <p:cBhvr additive="base">
                                        <p:cTn id="2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2498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84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2498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childTnLst>
                                </p:cTn>
                              </p:par>
                              <p:par>
                                <p:cTn id="51" presetID="2" presetClass="entr" presetSubtype="4"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 calcmode="lin" valueType="num">
                                      <p:cBhvr additive="base">
                                        <p:cTn id="53" dur="500" fill="hold"/>
                                        <p:tgtEl>
                                          <p:spTgt spid="34"/>
                                        </p:tgtEl>
                                        <p:attrNameLst>
                                          <p:attrName>ppt_x</p:attrName>
                                        </p:attrNameLst>
                                      </p:cBhvr>
                                      <p:tavLst>
                                        <p:tav tm="0">
                                          <p:val>
                                            <p:strVal val="#ppt_x"/>
                                          </p:val>
                                        </p:tav>
                                        <p:tav tm="100000">
                                          <p:val>
                                            <p:strVal val="#ppt_x"/>
                                          </p:val>
                                        </p:tav>
                                      </p:tavLst>
                                    </p:anim>
                                    <p:anim calcmode="lin" valueType="num">
                                      <p:cBhvr additive="base">
                                        <p:cTn id="54" dur="500" fill="hold"/>
                                        <p:tgtEl>
                                          <p:spTgt spid="34"/>
                                        </p:tgtEl>
                                        <p:attrNameLst>
                                          <p:attrName>ppt_y</p:attrName>
                                        </p:attrNameLst>
                                      </p:cBhvr>
                                      <p:tavLst>
                                        <p:tav tm="0">
                                          <p:val>
                                            <p:strVal val="1+#ppt_h/2"/>
                                          </p:val>
                                        </p:tav>
                                        <p:tav tm="100000">
                                          <p:val>
                                            <p:strVal val="#ppt_y"/>
                                          </p:val>
                                        </p:tav>
                                      </p:tavLst>
                                    </p:anim>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2498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2498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2498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2498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2498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2498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58413"/>
                                        </p:tgtEl>
                                        <p:attrNameLst>
                                          <p:attrName>style.visibility</p:attrName>
                                        </p:attrNameLst>
                                      </p:cBhvr>
                                      <p:to>
                                        <p:strVal val="visible"/>
                                      </p:to>
                                    </p:set>
                                  </p:childTnLst>
                                </p:cTn>
                              </p:par>
                              <p:par>
                                <p:cTn id="77" presetID="2" presetClass="entr" presetSubtype="4" fill="hold" grpId="0" nodeType="withEffect">
                                  <p:stCondLst>
                                    <p:cond delay="0"/>
                                  </p:stCondLst>
                                  <p:childTnLst>
                                    <p:set>
                                      <p:cBhvr>
                                        <p:cTn id="78" dur="1" fill="hold">
                                          <p:stCondLst>
                                            <p:cond delay="0"/>
                                          </p:stCondLst>
                                        </p:cTn>
                                        <p:tgtEl>
                                          <p:spTgt spid="10"/>
                                        </p:tgtEl>
                                        <p:attrNameLst>
                                          <p:attrName>style.visibility</p:attrName>
                                        </p:attrNameLst>
                                      </p:cBhvr>
                                      <p:to>
                                        <p:strVal val="visible"/>
                                      </p:to>
                                    </p:set>
                                    <p:anim calcmode="lin" valueType="num">
                                      <p:cBhvr additive="base">
                                        <p:cTn id="79" dur="500" fill="hold"/>
                                        <p:tgtEl>
                                          <p:spTgt spid="10"/>
                                        </p:tgtEl>
                                        <p:attrNameLst>
                                          <p:attrName>ppt_x</p:attrName>
                                        </p:attrNameLst>
                                      </p:cBhvr>
                                      <p:tavLst>
                                        <p:tav tm="0">
                                          <p:val>
                                            <p:strVal val="#ppt_x"/>
                                          </p:val>
                                        </p:tav>
                                        <p:tav tm="100000">
                                          <p:val>
                                            <p:strVal val="#ppt_x"/>
                                          </p:val>
                                        </p:tav>
                                      </p:tavLst>
                                    </p:anim>
                                    <p:anim calcmode="lin" valueType="num">
                                      <p:cBhvr additive="base">
                                        <p:cTn id="8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80" grpId="0" animBg="1"/>
      <p:bldP spid="424981" grpId="0" animBg="1"/>
      <p:bldP spid="424982" grpId="0" animBg="1"/>
      <p:bldP spid="424983" grpId="0" animBg="1"/>
      <p:bldP spid="424984" grpId="0" animBg="1"/>
      <p:bldP spid="424985" grpId="0" animBg="1"/>
      <p:bldP spid="424986" grpId="0" animBg="1"/>
      <p:bldP spid="424987" grpId="0" animBg="1"/>
      <p:bldP spid="424988" grpId="0" animBg="1"/>
      <p:bldP spid="424989" grpId="0" animBg="1"/>
      <p:bldP spid="358413" grpId="0" animBg="1"/>
      <p:bldP spid="358414" grpId="0" animBg="1"/>
      <p:bldP spid="424968" grpId="0"/>
      <p:bldP spid="30" grpId="0"/>
      <p:bldP spid="4" grpId="0" animBg="1"/>
      <p:bldP spid="5" grpId="0" animBg="1"/>
      <p:bldP spid="6" grpId="0"/>
      <p:bldP spid="34" grpId="0"/>
      <p:bldP spid="35" grpId="0" animBg="1"/>
      <p:bldP spid="36" grpId="0"/>
      <p:bldP spid="37" grpId="0"/>
      <p:bldP spid="38" grpId="0"/>
      <p:bldP spid="40" grpId="0"/>
      <p:bldP spid="41" grpId="0" animBg="1"/>
      <p:bldP spid="7" grpId="0" animBg="1"/>
      <p:bldP spid="8" grpId="0" animBg="1"/>
      <p:bldP spid="44" grpId="0"/>
      <p:bldP spid="9" grpId="0" animBg="1"/>
      <p:bldP spid="46" grpId="0"/>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424375" y="1479230"/>
            <a:ext cx="9144000" cy="2006251"/>
          </a:xfrm>
        </p:spPr>
        <p:txBody>
          <a:bodyPr/>
          <a:lstStyle/>
          <a:p>
            <a:pPr marL="342900" indent="-342900" eaLnBrk="1" hangingPunct="1">
              <a:buFont typeface="Wingdings" panose="05000000000000000000" pitchFamily="2" charset="2"/>
              <a:buChar char="u"/>
            </a:pPr>
            <a:r>
              <a:rPr lang="zh-CN" altLang="en-US" sz="2000" dirty="0">
                <a:solidFill>
                  <a:schemeClr val="tx1"/>
                </a:solidFill>
                <a:latin typeface="微软雅黑" panose="020B0503020204020204" pitchFamily="34" charset="-122"/>
                <a:ea typeface="微软雅黑" panose="020B0503020204020204" pitchFamily="34" charset="-122"/>
              </a:rPr>
              <a:t>负外部性和资源配置的低效率：电力市场 </a:t>
            </a:r>
            <a:r>
              <a:rPr lang="en-US" altLang="zh-CN" sz="2000" dirty="0"/>
              <a:t/>
            </a:r>
            <a:br>
              <a:rPr lang="en-US" altLang="zh-CN" sz="2000" dirty="0"/>
            </a:br>
            <a:r>
              <a:rPr lang="en-US" altLang="zh-CN" sz="2000" dirty="0"/>
              <a:t/>
            </a:r>
            <a:br>
              <a:rPr lang="en-US" altLang="zh-CN" sz="2000" dirty="0"/>
            </a:br>
            <a:r>
              <a:rPr lang="en-US" altLang="zh-CN" sz="2000" dirty="0"/>
              <a:t/>
            </a:r>
            <a:br>
              <a:rPr lang="en-US" altLang="zh-CN" sz="2000" dirty="0"/>
            </a:br>
            <a:r>
              <a:rPr lang="en-US" altLang="zh-CN" sz="2000" dirty="0"/>
              <a:t/>
            </a:r>
            <a:br>
              <a:rPr lang="en-US" altLang="zh-CN" sz="2000" dirty="0"/>
            </a:br>
            <a:r>
              <a:rPr lang="en-US" altLang="zh-CN" sz="2000" dirty="0"/>
              <a:t/>
            </a:r>
            <a:br>
              <a:rPr lang="en-US" altLang="zh-CN" sz="2000" dirty="0"/>
            </a:br>
            <a:r>
              <a:rPr lang="en-US" altLang="zh-CN" sz="2000" dirty="0"/>
              <a:t/>
            </a:r>
            <a:br>
              <a:rPr lang="en-US" altLang="zh-CN" sz="2000" dirty="0"/>
            </a:br>
            <a:r>
              <a:rPr lang="en-US" altLang="zh-CN" sz="2000" dirty="0"/>
              <a:t/>
            </a:r>
            <a:br>
              <a:rPr lang="en-US" altLang="zh-CN" sz="2000" dirty="0"/>
            </a:br>
            <a:endParaRPr lang="zh-CN" altLang="en-US" sz="2000" dirty="0"/>
          </a:p>
        </p:txBody>
      </p:sp>
      <p:cxnSp>
        <p:nvCxnSpPr>
          <p:cNvPr id="44035" name="直接箭头连接符 5"/>
          <p:cNvCxnSpPr>
            <a:cxnSpLocks noChangeShapeType="1"/>
          </p:cNvCxnSpPr>
          <p:nvPr/>
        </p:nvCxnSpPr>
        <p:spPr bwMode="auto">
          <a:xfrm flipV="1">
            <a:off x="1696592" y="2302174"/>
            <a:ext cx="0" cy="316865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4036" name="直接箭头连接符 8"/>
          <p:cNvCxnSpPr>
            <a:cxnSpLocks noChangeShapeType="1"/>
          </p:cNvCxnSpPr>
          <p:nvPr/>
        </p:nvCxnSpPr>
        <p:spPr bwMode="auto">
          <a:xfrm>
            <a:off x="1696592" y="5470824"/>
            <a:ext cx="4537075"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4037" name="直接连接符 10"/>
          <p:cNvCxnSpPr>
            <a:cxnSpLocks noChangeShapeType="1"/>
          </p:cNvCxnSpPr>
          <p:nvPr/>
        </p:nvCxnSpPr>
        <p:spPr bwMode="auto">
          <a:xfrm>
            <a:off x="1696592" y="3383261"/>
            <a:ext cx="3529012" cy="0"/>
          </a:xfrm>
          <a:prstGeom prst="line">
            <a:avLst/>
          </a:prstGeom>
          <a:noFill/>
          <a:ln w="31750" cmpd="sng">
            <a:solidFill>
              <a:srgbClr val="00B050"/>
            </a:solidFill>
            <a:round/>
            <a:headEnd/>
            <a:tailEnd/>
          </a:ln>
          <a:extLst>
            <a:ext uri="{909E8E84-426E-40DD-AFC4-6F175D3DCCD1}">
              <a14:hiddenFill xmlns:a14="http://schemas.microsoft.com/office/drawing/2010/main">
                <a:noFill/>
              </a14:hiddenFill>
            </a:ext>
          </a:extLst>
        </p:spPr>
      </p:cxnSp>
      <p:cxnSp>
        <p:nvCxnSpPr>
          <p:cNvPr id="44038" name="直接连接符 11"/>
          <p:cNvCxnSpPr>
            <a:cxnSpLocks noChangeShapeType="1"/>
          </p:cNvCxnSpPr>
          <p:nvPr/>
        </p:nvCxnSpPr>
        <p:spPr bwMode="auto">
          <a:xfrm>
            <a:off x="1696592" y="4319886"/>
            <a:ext cx="3529012" cy="0"/>
          </a:xfrm>
          <a:prstGeom prst="line">
            <a:avLst/>
          </a:prstGeom>
          <a:noFill/>
          <a:ln w="31750" cmpd="sng">
            <a:solidFill>
              <a:srgbClr val="FF0000"/>
            </a:solidFill>
            <a:round/>
            <a:headEnd/>
            <a:tailEnd/>
          </a:ln>
          <a:extLst>
            <a:ext uri="{909E8E84-426E-40DD-AFC4-6F175D3DCCD1}">
              <a14:hiddenFill xmlns:a14="http://schemas.microsoft.com/office/drawing/2010/main">
                <a:noFill/>
              </a14:hiddenFill>
            </a:ext>
          </a:extLst>
        </p:spPr>
      </p:cxnSp>
      <p:cxnSp>
        <p:nvCxnSpPr>
          <p:cNvPr id="44039" name="直接连接符 13"/>
          <p:cNvCxnSpPr>
            <a:cxnSpLocks noChangeShapeType="1"/>
          </p:cNvCxnSpPr>
          <p:nvPr/>
        </p:nvCxnSpPr>
        <p:spPr bwMode="auto">
          <a:xfrm>
            <a:off x="2417317" y="2446636"/>
            <a:ext cx="2736850" cy="2520950"/>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cxnSp>
        <p:nvCxnSpPr>
          <p:cNvPr id="44040" name="直接连接符 15"/>
          <p:cNvCxnSpPr>
            <a:cxnSpLocks noChangeShapeType="1"/>
          </p:cNvCxnSpPr>
          <p:nvPr/>
        </p:nvCxnSpPr>
        <p:spPr bwMode="auto">
          <a:xfrm>
            <a:off x="3425379" y="3383261"/>
            <a:ext cx="0" cy="2087563"/>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44041" name="直接连接符 18"/>
          <p:cNvCxnSpPr>
            <a:cxnSpLocks noChangeShapeType="1"/>
          </p:cNvCxnSpPr>
          <p:nvPr/>
        </p:nvCxnSpPr>
        <p:spPr bwMode="auto">
          <a:xfrm>
            <a:off x="4433442" y="3383261"/>
            <a:ext cx="0" cy="2087563"/>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pic>
        <p:nvPicPr>
          <p:cNvPr id="44042" name="线形标注 2(无边框) 2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104" y="5396211"/>
            <a:ext cx="1023938"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3" name="线形标注 2(无边框) 2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7017" y="3988099"/>
            <a:ext cx="10064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4" name="线形标注 2(无边框) 2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6837" y="2998525"/>
            <a:ext cx="100488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5" name="线形标注 2(无边框) 2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7517" y="2995911"/>
            <a:ext cx="101282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6" name="线形标注 2(无边框) 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2504" y="4708824"/>
            <a:ext cx="1006475"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7" name="线形标注 2(无边框) 2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504" y="1919588"/>
            <a:ext cx="2309813"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8" name="线形标注 2(无边框) 2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0712" y="5412386"/>
            <a:ext cx="3535362"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9" name="线形标注 2(无边框) 2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4823" y="3131314"/>
            <a:ext cx="280352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50" name="线形标注 2(无边框) 2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54823" y="3871814"/>
            <a:ext cx="2805112"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51" name="线形标注 2(无边框) 3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8317" y="5427961"/>
            <a:ext cx="223202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52" name="线形标注 2(无边框) 3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74468" y="5426246"/>
            <a:ext cx="222408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53" name="圆角矩形标注 32"/>
          <p:cNvSpPr>
            <a:spLocks noChangeArrowheads="1"/>
          </p:cNvSpPr>
          <p:nvPr/>
        </p:nvSpPr>
        <p:spPr bwMode="auto">
          <a:xfrm>
            <a:off x="3149388" y="1843388"/>
            <a:ext cx="3240088" cy="792162"/>
          </a:xfrm>
          <a:prstGeom prst="wedgeRoundRectCallout">
            <a:avLst>
              <a:gd name="adj1" fmla="val -20051"/>
              <a:gd name="adj2" fmla="val 149083"/>
              <a:gd name="adj3" fmla="val 16667"/>
            </a:avLst>
          </a:prstGeom>
          <a:noFill/>
          <a:ln w="19050" cmpd="sng">
            <a:solidFill>
              <a:srgbClr val="CC0000"/>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pitchFamily="34" charset="-122"/>
                <a:ea typeface="微软雅黑" panose="020B0503020204020204" pitchFamily="34" charset="-122"/>
              </a:rPr>
              <a:t>三角形</a:t>
            </a:r>
            <a:r>
              <a:rPr lang="en-US" altLang="zh-CN" sz="1800" dirty="0">
                <a:latin typeface="微软雅黑" panose="020B0503020204020204" pitchFamily="34" charset="-122"/>
                <a:ea typeface="微软雅黑" panose="020B0503020204020204" pitchFamily="34" charset="-122"/>
              </a:rPr>
              <a:t>CBA </a:t>
            </a:r>
            <a:r>
              <a:rPr lang="zh-CN" altLang="en-US" sz="1800" dirty="0">
                <a:latin typeface="微软雅黑" panose="020B0503020204020204" pitchFamily="34" charset="-122"/>
                <a:ea typeface="微软雅黑" panose="020B0503020204020204" pitchFamily="34" charset="-122"/>
              </a:rPr>
              <a:t>代表因减少电力产出量而减少的外部成本总量</a:t>
            </a:r>
          </a:p>
        </p:txBody>
      </p:sp>
      <p:sp>
        <p:nvSpPr>
          <p:cNvPr id="25" name="圆角矩形标注 32"/>
          <p:cNvSpPr>
            <a:spLocks noChangeArrowheads="1"/>
          </p:cNvSpPr>
          <p:nvPr/>
        </p:nvSpPr>
        <p:spPr bwMode="auto">
          <a:xfrm>
            <a:off x="6253982" y="4480433"/>
            <a:ext cx="2115194" cy="798512"/>
          </a:xfrm>
          <a:prstGeom prst="wedgeRoundRectCallout">
            <a:avLst>
              <a:gd name="adj1" fmla="val -125071"/>
              <a:gd name="adj2" fmla="val -66202"/>
              <a:gd name="adj3" fmla="val 16667"/>
            </a:avLst>
          </a:prstGeom>
          <a:noFill/>
          <a:ln w="19050" cmpd="sng">
            <a:solidFill>
              <a:srgbClr val="CC0000"/>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latin typeface="微软雅黑" panose="020B0503020204020204" pitchFamily="34" charset="-122"/>
                <a:ea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rPr>
              <a:t>点为企业利润最大化产量，但是无效率</a:t>
            </a:r>
          </a:p>
        </p:txBody>
      </p:sp>
      <p:sp>
        <p:nvSpPr>
          <p:cNvPr id="26" name="圆角矩形标注 32"/>
          <p:cNvSpPr>
            <a:spLocks noChangeArrowheads="1"/>
          </p:cNvSpPr>
          <p:nvPr/>
        </p:nvSpPr>
        <p:spPr bwMode="auto">
          <a:xfrm>
            <a:off x="655117" y="4748511"/>
            <a:ext cx="2467050" cy="517525"/>
          </a:xfrm>
          <a:prstGeom prst="wedgeRoundRectCallout">
            <a:avLst>
              <a:gd name="adj1" fmla="val 60803"/>
              <a:gd name="adj2" fmla="val -311842"/>
              <a:gd name="adj3" fmla="val 16667"/>
            </a:avLst>
          </a:prstGeom>
          <a:noFill/>
          <a:ln w="19050" cmpd="sng">
            <a:solidFill>
              <a:srgbClr val="CC0000"/>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latin typeface="微软雅黑" panose="020B0503020204020204" pitchFamily="34" charset="-122"/>
                <a:ea typeface="微软雅黑" panose="020B0503020204020204" pitchFamily="34" charset="-122"/>
              </a:rPr>
              <a:t>C</a:t>
            </a:r>
            <a:r>
              <a:rPr lang="zh-CN" altLang="en-US" sz="1800" dirty="0">
                <a:latin typeface="微软雅黑" panose="020B0503020204020204" pitchFamily="34" charset="-122"/>
                <a:ea typeface="微软雅黑" panose="020B0503020204020204" pitchFamily="34" charset="-122"/>
              </a:rPr>
              <a:t>点为有效率的产量</a:t>
            </a:r>
          </a:p>
        </p:txBody>
      </p:sp>
      <p:sp>
        <p:nvSpPr>
          <p:cNvPr id="28" name="矩形 27">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二、外部性导致资源配置无效率</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29" name="标题 1">
            <a:extLst>
              <a:ext uri="{FF2B5EF4-FFF2-40B4-BE49-F238E27FC236}">
                <a16:creationId xmlns:a16="http://schemas.microsoft.com/office/drawing/2014/main" id="{876D786B-5E7C-490E-8AB1-4091CC68CF33}"/>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
        <p:nvSpPr>
          <p:cNvPr id="2" name="直角三角形 1"/>
          <p:cNvSpPr/>
          <p:nvPr/>
        </p:nvSpPr>
        <p:spPr bwMode="auto">
          <a:xfrm rot="10800000">
            <a:off x="3559734" y="3415641"/>
            <a:ext cx="827670" cy="756608"/>
          </a:xfrm>
          <a:prstGeom prst="rtTriangl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44036"/>
                                        </p:tgtEl>
                                        <p:attrNameLst>
                                          <p:attrName>style.visibility</p:attrName>
                                        </p:attrNameLst>
                                      </p:cBhvr>
                                      <p:to>
                                        <p:strVal val="visible"/>
                                      </p:to>
                                    </p:set>
                                    <p:animEffect transition="in" filter="barn(inVertical)">
                                      <p:cBhvr>
                                        <p:cTn id="11" dur="500"/>
                                        <p:tgtEl>
                                          <p:spTgt spid="44036"/>
                                        </p:tgtEl>
                                      </p:cBhvr>
                                    </p:animEffect>
                                  </p:childTnLst>
                                </p:cTn>
                              </p:par>
                              <p:par>
                                <p:cTn id="12" presetID="16" presetClass="entr" presetSubtype="21" fill="hold" nodeType="withEffect">
                                  <p:stCondLst>
                                    <p:cond delay="0"/>
                                  </p:stCondLst>
                                  <p:childTnLst>
                                    <p:set>
                                      <p:cBhvr>
                                        <p:cTn id="13" dur="1" fill="hold">
                                          <p:stCondLst>
                                            <p:cond delay="0"/>
                                          </p:stCondLst>
                                        </p:cTn>
                                        <p:tgtEl>
                                          <p:spTgt spid="44035"/>
                                        </p:tgtEl>
                                        <p:attrNameLst>
                                          <p:attrName>style.visibility</p:attrName>
                                        </p:attrNameLst>
                                      </p:cBhvr>
                                      <p:to>
                                        <p:strVal val="visible"/>
                                      </p:to>
                                    </p:set>
                                    <p:animEffect transition="in" filter="barn(inVertical)">
                                      <p:cBhvr>
                                        <p:cTn id="14" dur="500"/>
                                        <p:tgtEl>
                                          <p:spTgt spid="44035"/>
                                        </p:tgtEl>
                                      </p:cBhvr>
                                    </p:animEffect>
                                  </p:childTnLst>
                                </p:cTn>
                              </p:par>
                              <p:par>
                                <p:cTn id="15" presetID="16" presetClass="entr" presetSubtype="21" fill="hold" nodeType="withEffect">
                                  <p:stCondLst>
                                    <p:cond delay="0"/>
                                  </p:stCondLst>
                                  <p:childTnLst>
                                    <p:set>
                                      <p:cBhvr>
                                        <p:cTn id="16" dur="1" fill="hold">
                                          <p:stCondLst>
                                            <p:cond delay="0"/>
                                          </p:stCondLst>
                                        </p:cTn>
                                        <p:tgtEl>
                                          <p:spTgt spid="44042"/>
                                        </p:tgtEl>
                                        <p:attrNameLst>
                                          <p:attrName>style.visibility</p:attrName>
                                        </p:attrNameLst>
                                      </p:cBhvr>
                                      <p:to>
                                        <p:strVal val="visible"/>
                                      </p:to>
                                    </p:set>
                                    <p:animEffect transition="in" filter="barn(inVertical)">
                                      <p:cBhvr>
                                        <p:cTn id="17" dur="500"/>
                                        <p:tgtEl>
                                          <p:spTgt spid="44042"/>
                                        </p:tgtEl>
                                      </p:cBhvr>
                                    </p:animEffect>
                                  </p:childTnLst>
                                </p:cTn>
                              </p:par>
                              <p:par>
                                <p:cTn id="18" presetID="16" presetClass="entr" presetSubtype="21" fill="hold" nodeType="withEffect">
                                  <p:stCondLst>
                                    <p:cond delay="0"/>
                                  </p:stCondLst>
                                  <p:childTnLst>
                                    <p:set>
                                      <p:cBhvr>
                                        <p:cTn id="19" dur="1" fill="hold">
                                          <p:stCondLst>
                                            <p:cond delay="0"/>
                                          </p:stCondLst>
                                        </p:cTn>
                                        <p:tgtEl>
                                          <p:spTgt spid="44048"/>
                                        </p:tgtEl>
                                        <p:attrNameLst>
                                          <p:attrName>style.visibility</p:attrName>
                                        </p:attrNameLst>
                                      </p:cBhvr>
                                      <p:to>
                                        <p:strVal val="visible"/>
                                      </p:to>
                                    </p:set>
                                    <p:animEffect transition="in" filter="barn(inVertical)">
                                      <p:cBhvr>
                                        <p:cTn id="20" dur="500"/>
                                        <p:tgtEl>
                                          <p:spTgt spid="44048"/>
                                        </p:tgtEl>
                                      </p:cBhvr>
                                    </p:animEffect>
                                  </p:childTnLst>
                                </p:cTn>
                              </p:par>
                              <p:par>
                                <p:cTn id="21" presetID="16" presetClass="entr" presetSubtype="21" fill="hold" nodeType="withEffect">
                                  <p:stCondLst>
                                    <p:cond delay="0"/>
                                  </p:stCondLst>
                                  <p:childTnLst>
                                    <p:set>
                                      <p:cBhvr>
                                        <p:cTn id="22" dur="1" fill="hold">
                                          <p:stCondLst>
                                            <p:cond delay="0"/>
                                          </p:stCondLst>
                                        </p:cTn>
                                        <p:tgtEl>
                                          <p:spTgt spid="44047"/>
                                        </p:tgtEl>
                                        <p:attrNameLst>
                                          <p:attrName>style.visibility</p:attrName>
                                        </p:attrNameLst>
                                      </p:cBhvr>
                                      <p:to>
                                        <p:strVal val="visible"/>
                                      </p:to>
                                    </p:set>
                                    <p:animEffect transition="in" filter="barn(inVertical)">
                                      <p:cBhvr>
                                        <p:cTn id="23" dur="500"/>
                                        <p:tgtEl>
                                          <p:spTgt spid="44047"/>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44052"/>
                                        </p:tgtEl>
                                        <p:attrNameLst>
                                          <p:attrName>style.visibility</p:attrName>
                                        </p:attrNameLst>
                                      </p:cBhvr>
                                      <p:to>
                                        <p:strVal val="visible"/>
                                      </p:to>
                                    </p:set>
                                    <p:animEffect transition="in" filter="randombar(horizontal)">
                                      <p:cBhvr>
                                        <p:cTn id="28" dur="500"/>
                                        <p:tgtEl>
                                          <p:spTgt spid="44052"/>
                                        </p:tgtEl>
                                      </p:cBhvr>
                                    </p:animEffect>
                                  </p:childTnLst>
                                </p:cTn>
                              </p:par>
                              <p:par>
                                <p:cTn id="29" presetID="14" presetClass="entr" presetSubtype="10" fill="hold" nodeType="withEffect">
                                  <p:stCondLst>
                                    <p:cond delay="0"/>
                                  </p:stCondLst>
                                  <p:childTnLst>
                                    <p:set>
                                      <p:cBhvr>
                                        <p:cTn id="30" dur="1" fill="hold">
                                          <p:stCondLst>
                                            <p:cond delay="0"/>
                                          </p:stCondLst>
                                        </p:cTn>
                                        <p:tgtEl>
                                          <p:spTgt spid="44040"/>
                                        </p:tgtEl>
                                        <p:attrNameLst>
                                          <p:attrName>style.visibility</p:attrName>
                                        </p:attrNameLst>
                                      </p:cBhvr>
                                      <p:to>
                                        <p:strVal val="visible"/>
                                      </p:to>
                                    </p:set>
                                    <p:animEffect transition="in" filter="randombar(horizontal)">
                                      <p:cBhvr>
                                        <p:cTn id="31" dur="500"/>
                                        <p:tgtEl>
                                          <p:spTgt spid="44040"/>
                                        </p:tgtEl>
                                      </p:cBhvr>
                                    </p:animEffect>
                                  </p:childTnLst>
                                </p:cTn>
                              </p:par>
                              <p:par>
                                <p:cTn id="32" presetID="14" presetClass="entr" presetSubtype="10" fill="hold" nodeType="withEffect">
                                  <p:stCondLst>
                                    <p:cond delay="0"/>
                                  </p:stCondLst>
                                  <p:childTnLst>
                                    <p:set>
                                      <p:cBhvr>
                                        <p:cTn id="33" dur="1" fill="hold">
                                          <p:stCondLst>
                                            <p:cond delay="0"/>
                                          </p:stCondLst>
                                        </p:cTn>
                                        <p:tgtEl>
                                          <p:spTgt spid="44041"/>
                                        </p:tgtEl>
                                        <p:attrNameLst>
                                          <p:attrName>style.visibility</p:attrName>
                                        </p:attrNameLst>
                                      </p:cBhvr>
                                      <p:to>
                                        <p:strVal val="visible"/>
                                      </p:to>
                                    </p:set>
                                    <p:animEffect transition="in" filter="randombar(horizontal)">
                                      <p:cBhvr>
                                        <p:cTn id="34" dur="500"/>
                                        <p:tgtEl>
                                          <p:spTgt spid="44041"/>
                                        </p:tgtEl>
                                      </p:cBhvr>
                                    </p:animEffect>
                                  </p:childTnLst>
                                </p:cTn>
                              </p:par>
                              <p:par>
                                <p:cTn id="35" presetID="14" presetClass="entr" presetSubtype="10" fill="hold" nodeType="withEffect">
                                  <p:stCondLst>
                                    <p:cond delay="0"/>
                                  </p:stCondLst>
                                  <p:childTnLst>
                                    <p:set>
                                      <p:cBhvr>
                                        <p:cTn id="36" dur="1" fill="hold">
                                          <p:stCondLst>
                                            <p:cond delay="0"/>
                                          </p:stCondLst>
                                        </p:cTn>
                                        <p:tgtEl>
                                          <p:spTgt spid="44051"/>
                                        </p:tgtEl>
                                        <p:attrNameLst>
                                          <p:attrName>style.visibility</p:attrName>
                                        </p:attrNameLst>
                                      </p:cBhvr>
                                      <p:to>
                                        <p:strVal val="visible"/>
                                      </p:to>
                                    </p:set>
                                    <p:animEffect transition="in" filter="randombar(horizontal)">
                                      <p:cBhvr>
                                        <p:cTn id="37" dur="500"/>
                                        <p:tgtEl>
                                          <p:spTgt spid="44051"/>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4038"/>
                                        </p:tgtEl>
                                        <p:attrNameLst>
                                          <p:attrName>style.visibility</p:attrName>
                                        </p:attrNameLst>
                                      </p:cBhvr>
                                      <p:to>
                                        <p:strVal val="visible"/>
                                      </p:to>
                                    </p:set>
                                    <p:anim calcmode="lin" valueType="num">
                                      <p:cBhvr additive="base">
                                        <p:cTn id="42" dur="500" fill="hold"/>
                                        <p:tgtEl>
                                          <p:spTgt spid="44038"/>
                                        </p:tgtEl>
                                        <p:attrNameLst>
                                          <p:attrName>ppt_x</p:attrName>
                                        </p:attrNameLst>
                                      </p:cBhvr>
                                      <p:tavLst>
                                        <p:tav tm="0">
                                          <p:val>
                                            <p:strVal val="#ppt_x"/>
                                          </p:val>
                                        </p:tav>
                                        <p:tav tm="100000">
                                          <p:val>
                                            <p:strVal val="#ppt_x"/>
                                          </p:val>
                                        </p:tav>
                                      </p:tavLst>
                                    </p:anim>
                                    <p:anim calcmode="lin" valueType="num">
                                      <p:cBhvr additive="base">
                                        <p:cTn id="43" dur="500" fill="hold"/>
                                        <p:tgtEl>
                                          <p:spTgt spid="44038"/>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44050"/>
                                        </p:tgtEl>
                                        <p:attrNameLst>
                                          <p:attrName>style.visibility</p:attrName>
                                        </p:attrNameLst>
                                      </p:cBhvr>
                                      <p:to>
                                        <p:strVal val="visible"/>
                                      </p:to>
                                    </p:set>
                                    <p:anim calcmode="lin" valueType="num">
                                      <p:cBhvr additive="base">
                                        <p:cTn id="46" dur="500" fill="hold"/>
                                        <p:tgtEl>
                                          <p:spTgt spid="44050"/>
                                        </p:tgtEl>
                                        <p:attrNameLst>
                                          <p:attrName>ppt_x</p:attrName>
                                        </p:attrNameLst>
                                      </p:cBhvr>
                                      <p:tavLst>
                                        <p:tav tm="0">
                                          <p:val>
                                            <p:strVal val="#ppt_x"/>
                                          </p:val>
                                        </p:tav>
                                        <p:tav tm="100000">
                                          <p:val>
                                            <p:strVal val="#ppt_x"/>
                                          </p:val>
                                        </p:tav>
                                      </p:tavLst>
                                    </p:anim>
                                    <p:anim calcmode="lin" valueType="num">
                                      <p:cBhvr additive="base">
                                        <p:cTn id="47" dur="500" fill="hold"/>
                                        <p:tgtEl>
                                          <p:spTgt spid="44050"/>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44043"/>
                                        </p:tgtEl>
                                        <p:attrNameLst>
                                          <p:attrName>style.visibility</p:attrName>
                                        </p:attrNameLst>
                                      </p:cBhvr>
                                      <p:to>
                                        <p:strVal val="visible"/>
                                      </p:to>
                                    </p:set>
                                    <p:animEffect transition="in" filter="wipe(down)">
                                      <p:cBhvr>
                                        <p:cTn id="52" dur="500"/>
                                        <p:tgtEl>
                                          <p:spTgt spid="44043"/>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down)">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44037"/>
                                        </p:tgtEl>
                                        <p:attrNameLst>
                                          <p:attrName>style.visibility</p:attrName>
                                        </p:attrNameLst>
                                      </p:cBhvr>
                                      <p:to>
                                        <p:strVal val="visible"/>
                                      </p:to>
                                    </p:set>
                                    <p:anim calcmode="lin" valueType="num">
                                      <p:cBhvr additive="base">
                                        <p:cTn id="60" dur="500" fill="hold"/>
                                        <p:tgtEl>
                                          <p:spTgt spid="44037"/>
                                        </p:tgtEl>
                                        <p:attrNameLst>
                                          <p:attrName>ppt_x</p:attrName>
                                        </p:attrNameLst>
                                      </p:cBhvr>
                                      <p:tavLst>
                                        <p:tav tm="0">
                                          <p:val>
                                            <p:strVal val="#ppt_x"/>
                                          </p:val>
                                        </p:tav>
                                        <p:tav tm="100000">
                                          <p:val>
                                            <p:strVal val="#ppt_x"/>
                                          </p:val>
                                        </p:tav>
                                      </p:tavLst>
                                    </p:anim>
                                    <p:anim calcmode="lin" valueType="num">
                                      <p:cBhvr additive="base">
                                        <p:cTn id="61" dur="500" fill="hold"/>
                                        <p:tgtEl>
                                          <p:spTgt spid="44037"/>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44049"/>
                                        </p:tgtEl>
                                        <p:attrNameLst>
                                          <p:attrName>style.visibility</p:attrName>
                                        </p:attrNameLst>
                                      </p:cBhvr>
                                      <p:to>
                                        <p:strVal val="visible"/>
                                      </p:to>
                                    </p:set>
                                    <p:anim calcmode="lin" valueType="num">
                                      <p:cBhvr additive="base">
                                        <p:cTn id="64" dur="500" fill="hold"/>
                                        <p:tgtEl>
                                          <p:spTgt spid="44049"/>
                                        </p:tgtEl>
                                        <p:attrNameLst>
                                          <p:attrName>ppt_x</p:attrName>
                                        </p:attrNameLst>
                                      </p:cBhvr>
                                      <p:tavLst>
                                        <p:tav tm="0">
                                          <p:val>
                                            <p:strVal val="#ppt_x"/>
                                          </p:val>
                                        </p:tav>
                                        <p:tav tm="100000">
                                          <p:val>
                                            <p:strVal val="#ppt_x"/>
                                          </p:val>
                                        </p:tav>
                                      </p:tavLst>
                                    </p:anim>
                                    <p:anim calcmode="lin" valueType="num">
                                      <p:cBhvr additive="base">
                                        <p:cTn id="65" dur="500" fill="hold"/>
                                        <p:tgtEl>
                                          <p:spTgt spid="44049"/>
                                        </p:tgtEl>
                                        <p:attrNameLst>
                                          <p:attrName>ppt_y</p:attrName>
                                        </p:attrNameLst>
                                      </p:cBhvr>
                                      <p:tavLst>
                                        <p:tav tm="0">
                                          <p:val>
                                            <p:strVal val="1+#ppt_h/2"/>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44044"/>
                                        </p:tgtEl>
                                        <p:attrNameLst>
                                          <p:attrName>style.visibility</p:attrName>
                                        </p:attrNameLst>
                                      </p:cBhvr>
                                      <p:to>
                                        <p:strVal val="visible"/>
                                      </p:to>
                                    </p:set>
                                    <p:anim calcmode="lin" valueType="num">
                                      <p:cBhvr additive="base">
                                        <p:cTn id="68" dur="500" fill="hold"/>
                                        <p:tgtEl>
                                          <p:spTgt spid="44044"/>
                                        </p:tgtEl>
                                        <p:attrNameLst>
                                          <p:attrName>ppt_x</p:attrName>
                                        </p:attrNameLst>
                                      </p:cBhvr>
                                      <p:tavLst>
                                        <p:tav tm="0">
                                          <p:val>
                                            <p:strVal val="#ppt_x"/>
                                          </p:val>
                                        </p:tav>
                                        <p:tav tm="100000">
                                          <p:val>
                                            <p:strVal val="#ppt_x"/>
                                          </p:val>
                                        </p:tav>
                                      </p:tavLst>
                                    </p:anim>
                                    <p:anim calcmode="lin" valueType="num">
                                      <p:cBhvr additive="base">
                                        <p:cTn id="69" dur="500" fill="hold"/>
                                        <p:tgtEl>
                                          <p:spTgt spid="44044"/>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14" presetClass="entr" presetSubtype="10" fill="hold" nodeType="clickEffect">
                                  <p:stCondLst>
                                    <p:cond delay="0"/>
                                  </p:stCondLst>
                                  <p:childTnLst>
                                    <p:set>
                                      <p:cBhvr>
                                        <p:cTn id="73" dur="1" fill="hold">
                                          <p:stCondLst>
                                            <p:cond delay="0"/>
                                          </p:stCondLst>
                                        </p:cTn>
                                        <p:tgtEl>
                                          <p:spTgt spid="44045"/>
                                        </p:tgtEl>
                                        <p:attrNameLst>
                                          <p:attrName>style.visibility</p:attrName>
                                        </p:attrNameLst>
                                      </p:cBhvr>
                                      <p:to>
                                        <p:strVal val="visible"/>
                                      </p:to>
                                    </p:set>
                                    <p:animEffect transition="in" filter="randombar(horizontal)">
                                      <p:cBhvr>
                                        <p:cTn id="74" dur="500"/>
                                        <p:tgtEl>
                                          <p:spTgt spid="44045"/>
                                        </p:tgtEl>
                                      </p:cBhvr>
                                    </p:animEffect>
                                  </p:childTnLst>
                                </p:cTn>
                              </p:par>
                              <p:par>
                                <p:cTn id="75" presetID="14" presetClass="entr" presetSubtype="1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randombar(horizontal)">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44039"/>
                                        </p:tgtEl>
                                        <p:attrNameLst>
                                          <p:attrName>style.visibility</p:attrName>
                                        </p:attrNameLst>
                                      </p:cBhvr>
                                      <p:to>
                                        <p:strVal val="visible"/>
                                      </p:to>
                                    </p:set>
                                    <p:anim calcmode="lin" valueType="num">
                                      <p:cBhvr additive="base">
                                        <p:cTn id="82" dur="500" fill="hold"/>
                                        <p:tgtEl>
                                          <p:spTgt spid="44039"/>
                                        </p:tgtEl>
                                        <p:attrNameLst>
                                          <p:attrName>ppt_x</p:attrName>
                                        </p:attrNameLst>
                                      </p:cBhvr>
                                      <p:tavLst>
                                        <p:tav tm="0">
                                          <p:val>
                                            <p:strVal val="#ppt_x"/>
                                          </p:val>
                                        </p:tav>
                                        <p:tav tm="100000">
                                          <p:val>
                                            <p:strVal val="#ppt_x"/>
                                          </p:val>
                                        </p:tav>
                                      </p:tavLst>
                                    </p:anim>
                                    <p:anim calcmode="lin" valueType="num">
                                      <p:cBhvr additive="base">
                                        <p:cTn id="83" dur="500" fill="hold"/>
                                        <p:tgtEl>
                                          <p:spTgt spid="44039"/>
                                        </p:tgtEl>
                                        <p:attrNameLst>
                                          <p:attrName>ppt_y</p:attrName>
                                        </p:attrNameLst>
                                      </p:cBhvr>
                                      <p:tavLst>
                                        <p:tav tm="0">
                                          <p:val>
                                            <p:strVal val="1+#ppt_h/2"/>
                                          </p:val>
                                        </p:tav>
                                        <p:tav tm="100000">
                                          <p:val>
                                            <p:strVal val="#ppt_y"/>
                                          </p:val>
                                        </p:tav>
                                      </p:tavLst>
                                    </p:anim>
                                  </p:childTnLst>
                                </p:cTn>
                              </p:par>
                              <p:par>
                                <p:cTn id="84" presetID="2" presetClass="entr" presetSubtype="4" fill="hold" nodeType="withEffect">
                                  <p:stCondLst>
                                    <p:cond delay="0"/>
                                  </p:stCondLst>
                                  <p:childTnLst>
                                    <p:set>
                                      <p:cBhvr>
                                        <p:cTn id="85" dur="1" fill="hold">
                                          <p:stCondLst>
                                            <p:cond delay="0"/>
                                          </p:stCondLst>
                                        </p:cTn>
                                        <p:tgtEl>
                                          <p:spTgt spid="44046"/>
                                        </p:tgtEl>
                                        <p:attrNameLst>
                                          <p:attrName>style.visibility</p:attrName>
                                        </p:attrNameLst>
                                      </p:cBhvr>
                                      <p:to>
                                        <p:strVal val="visible"/>
                                      </p:to>
                                    </p:set>
                                    <p:anim calcmode="lin" valueType="num">
                                      <p:cBhvr additive="base">
                                        <p:cTn id="86" dur="500" fill="hold"/>
                                        <p:tgtEl>
                                          <p:spTgt spid="44046"/>
                                        </p:tgtEl>
                                        <p:attrNameLst>
                                          <p:attrName>ppt_x</p:attrName>
                                        </p:attrNameLst>
                                      </p:cBhvr>
                                      <p:tavLst>
                                        <p:tav tm="0">
                                          <p:val>
                                            <p:strVal val="#ppt_x"/>
                                          </p:val>
                                        </p:tav>
                                        <p:tav tm="100000">
                                          <p:val>
                                            <p:strVal val="#ppt_x"/>
                                          </p:val>
                                        </p:tav>
                                      </p:tavLst>
                                    </p:anim>
                                    <p:anim calcmode="lin" valueType="num">
                                      <p:cBhvr additive="base">
                                        <p:cTn id="87" dur="500" fill="hold"/>
                                        <p:tgtEl>
                                          <p:spTgt spid="44046"/>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31" presetClass="entr" presetSubtype="0" fill="hold" grpId="0" nodeType="clickEffect">
                                  <p:stCondLst>
                                    <p:cond delay="0"/>
                                  </p:stCondLst>
                                  <p:childTnLst>
                                    <p:set>
                                      <p:cBhvr>
                                        <p:cTn id="91" dur="1" fill="hold">
                                          <p:stCondLst>
                                            <p:cond delay="0"/>
                                          </p:stCondLst>
                                        </p:cTn>
                                        <p:tgtEl>
                                          <p:spTgt spid="2"/>
                                        </p:tgtEl>
                                        <p:attrNameLst>
                                          <p:attrName>style.visibility</p:attrName>
                                        </p:attrNameLst>
                                      </p:cBhvr>
                                      <p:to>
                                        <p:strVal val="visible"/>
                                      </p:to>
                                    </p:set>
                                    <p:anim calcmode="lin" valueType="num">
                                      <p:cBhvr>
                                        <p:cTn id="92" dur="1000" fill="hold"/>
                                        <p:tgtEl>
                                          <p:spTgt spid="2"/>
                                        </p:tgtEl>
                                        <p:attrNameLst>
                                          <p:attrName>ppt_w</p:attrName>
                                        </p:attrNameLst>
                                      </p:cBhvr>
                                      <p:tavLst>
                                        <p:tav tm="0">
                                          <p:val>
                                            <p:fltVal val="0"/>
                                          </p:val>
                                        </p:tav>
                                        <p:tav tm="100000">
                                          <p:val>
                                            <p:strVal val="#ppt_w"/>
                                          </p:val>
                                        </p:tav>
                                      </p:tavLst>
                                    </p:anim>
                                    <p:anim calcmode="lin" valueType="num">
                                      <p:cBhvr>
                                        <p:cTn id="93" dur="1000" fill="hold"/>
                                        <p:tgtEl>
                                          <p:spTgt spid="2"/>
                                        </p:tgtEl>
                                        <p:attrNameLst>
                                          <p:attrName>ppt_h</p:attrName>
                                        </p:attrNameLst>
                                      </p:cBhvr>
                                      <p:tavLst>
                                        <p:tav tm="0">
                                          <p:val>
                                            <p:fltVal val="0"/>
                                          </p:val>
                                        </p:tav>
                                        <p:tav tm="100000">
                                          <p:val>
                                            <p:strVal val="#ppt_h"/>
                                          </p:val>
                                        </p:tav>
                                      </p:tavLst>
                                    </p:anim>
                                    <p:anim calcmode="lin" valueType="num">
                                      <p:cBhvr>
                                        <p:cTn id="94" dur="1000" fill="hold"/>
                                        <p:tgtEl>
                                          <p:spTgt spid="2"/>
                                        </p:tgtEl>
                                        <p:attrNameLst>
                                          <p:attrName>style.rotation</p:attrName>
                                        </p:attrNameLst>
                                      </p:cBhvr>
                                      <p:tavLst>
                                        <p:tav tm="0">
                                          <p:val>
                                            <p:fltVal val="90"/>
                                          </p:val>
                                        </p:tav>
                                        <p:tav tm="100000">
                                          <p:val>
                                            <p:fltVal val="0"/>
                                          </p:val>
                                        </p:tav>
                                      </p:tavLst>
                                    </p:anim>
                                    <p:animEffect transition="in" filter="fade">
                                      <p:cBhvr>
                                        <p:cTn id="95" dur="1000"/>
                                        <p:tgtEl>
                                          <p:spTgt spid="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44053"/>
                                        </p:tgtEl>
                                        <p:attrNameLst>
                                          <p:attrName>style.visibility</p:attrName>
                                        </p:attrNameLst>
                                      </p:cBhvr>
                                      <p:to>
                                        <p:strVal val="visible"/>
                                      </p:to>
                                    </p:set>
                                    <p:animEffect transition="in" filter="wipe(down)">
                                      <p:cBhvr>
                                        <p:cTn id="100" dur="500"/>
                                        <p:tgtEl>
                                          <p:spTgt spid="44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P spid="44053" grpId="0" animBg="1"/>
      <p:bldP spid="25" grpId="0" animBg="1"/>
      <p:bldP spid="26" grpId="0" animBg="1"/>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F6519C8-891A-4259-B41C-879F7A05968B}"/>
              </a:ext>
            </a:extLst>
          </p:cNvPr>
          <p:cNvSpPr/>
          <p:nvPr/>
        </p:nvSpPr>
        <p:spPr bwMode="auto">
          <a:xfrm>
            <a:off x="6668428" y="4740388"/>
            <a:ext cx="1297599" cy="369332"/>
          </a:xfrm>
          <a:prstGeom prst="rect">
            <a:avLst/>
          </a:prstGeom>
          <a:solidFill>
            <a:srgbClr val="F2F3F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59426" name="Rectangle 2"/>
          <p:cNvSpPr>
            <a:spLocks noGrp="1" noChangeArrowheads="1"/>
          </p:cNvSpPr>
          <p:nvPr>
            <p:ph type="title"/>
          </p:nvPr>
        </p:nvSpPr>
        <p:spPr>
          <a:xfrm>
            <a:off x="6668428" y="5550821"/>
            <a:ext cx="1625006" cy="690559"/>
          </a:xfrm>
        </p:spPr>
        <p:txBody>
          <a:bodyPr/>
          <a:lstStyle/>
          <a:p>
            <a:pPr eaLnBrk="1" hangingPunct="1">
              <a:lnSpc>
                <a:spcPct val="150000"/>
              </a:lnSpc>
              <a:spcBef>
                <a:spcPct val="50000"/>
              </a:spcBef>
              <a:buFont typeface="Arial" panose="020B0604020202020204" pitchFamily="34" charset="0"/>
            </a:pPr>
            <a:r>
              <a:rPr lang="en-US" altLang="zh-CN" sz="1800" dirty="0">
                <a:solidFill>
                  <a:schemeClr val="tx1"/>
                </a:solidFill>
                <a:latin typeface="Tahoma" panose="020B0604030504040204" pitchFamily="34" charset="0"/>
                <a:ea typeface="宋体" panose="02010600030101010101" pitchFamily="2" charset="-122"/>
                <a:cs typeface="+mn-cs"/>
              </a:rPr>
              <a:t>Smoke</a:t>
            </a:r>
          </a:p>
        </p:txBody>
      </p:sp>
      <p:sp>
        <p:nvSpPr>
          <p:cNvPr id="426009" name="Line 9"/>
          <p:cNvSpPr>
            <a:spLocks noChangeShapeType="1"/>
          </p:cNvSpPr>
          <p:nvPr/>
        </p:nvSpPr>
        <p:spPr bwMode="auto">
          <a:xfrm>
            <a:off x="2555776" y="1628800"/>
            <a:ext cx="0" cy="408118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0" name="Line 10"/>
          <p:cNvSpPr>
            <a:spLocks noChangeShapeType="1"/>
          </p:cNvSpPr>
          <p:nvPr/>
        </p:nvSpPr>
        <p:spPr bwMode="auto">
          <a:xfrm>
            <a:off x="2555776" y="5709986"/>
            <a:ext cx="502518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1" name="Line 11"/>
          <p:cNvSpPr>
            <a:spLocks noChangeShapeType="1"/>
          </p:cNvSpPr>
          <p:nvPr/>
        </p:nvSpPr>
        <p:spPr bwMode="auto">
          <a:xfrm>
            <a:off x="2869850" y="2771532"/>
            <a:ext cx="3768887" cy="2448712"/>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2" name="Line 12"/>
          <p:cNvSpPr>
            <a:spLocks noChangeShapeType="1"/>
          </p:cNvSpPr>
          <p:nvPr/>
        </p:nvSpPr>
        <p:spPr bwMode="auto">
          <a:xfrm flipV="1">
            <a:off x="3183924" y="2118542"/>
            <a:ext cx="3350122" cy="26935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3" name="Line 13"/>
          <p:cNvSpPr>
            <a:spLocks noChangeShapeType="1"/>
          </p:cNvSpPr>
          <p:nvPr/>
        </p:nvSpPr>
        <p:spPr bwMode="auto">
          <a:xfrm>
            <a:off x="4440220" y="3832641"/>
            <a:ext cx="0" cy="1958969"/>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4" name="Line 14"/>
          <p:cNvSpPr>
            <a:spLocks noChangeShapeType="1"/>
          </p:cNvSpPr>
          <p:nvPr/>
        </p:nvSpPr>
        <p:spPr bwMode="auto">
          <a:xfrm>
            <a:off x="5600548" y="2827648"/>
            <a:ext cx="32716" cy="2831323"/>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7" name="Line 17"/>
          <p:cNvSpPr>
            <a:spLocks noChangeShapeType="1"/>
          </p:cNvSpPr>
          <p:nvPr/>
        </p:nvSpPr>
        <p:spPr bwMode="auto">
          <a:xfrm>
            <a:off x="3646311" y="1717226"/>
            <a:ext cx="3768887" cy="2448712"/>
          </a:xfrm>
          <a:prstGeom prst="line">
            <a:avLst/>
          </a:prstGeom>
          <a:noFill/>
          <a:ln w="25400">
            <a:solidFill>
              <a:srgbClr val="800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5994" name="Oval 29"/>
          <p:cNvSpPr>
            <a:spLocks noChangeArrowheads="1"/>
          </p:cNvSpPr>
          <p:nvPr/>
        </p:nvSpPr>
        <p:spPr bwMode="auto">
          <a:xfrm>
            <a:off x="4329492" y="3649798"/>
            <a:ext cx="247512" cy="176951"/>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25995" name="Oval 30"/>
          <p:cNvSpPr>
            <a:spLocks noChangeArrowheads="1"/>
          </p:cNvSpPr>
          <p:nvPr/>
        </p:nvSpPr>
        <p:spPr bwMode="auto">
          <a:xfrm>
            <a:off x="5455383" y="2791603"/>
            <a:ext cx="222421" cy="219812"/>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4" name="Text Box 10"/>
          <p:cNvSpPr txBox="1">
            <a:spLocks noChangeArrowheads="1"/>
          </p:cNvSpPr>
          <p:nvPr/>
        </p:nvSpPr>
        <p:spPr bwMode="auto">
          <a:xfrm>
            <a:off x="6614205" y="2991562"/>
            <a:ext cx="1569514" cy="784830"/>
          </a:xfrm>
          <a:prstGeom prst="rect">
            <a:avLst/>
          </a:prstGeom>
          <a:solidFill>
            <a:schemeClr val="accent3">
              <a:lumMod val="85000"/>
              <a:alpha val="25000"/>
            </a:schemeClr>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zh-CN" altLang="en-US" sz="1800" dirty="0">
                <a:latin typeface="微软雅黑" panose="020B0503020204020204" pitchFamily="34" charset="-122"/>
                <a:ea typeface="微软雅黑" panose="020B0503020204020204" pitchFamily="34" charset="-122"/>
              </a:rPr>
              <a:t>需求曲线</a:t>
            </a:r>
            <a:r>
              <a:rPr lang="en-US" altLang="zh-CN" sz="1800" dirty="0">
                <a:latin typeface="微软雅黑" panose="020B0503020204020204" pitchFamily="34" charset="-122"/>
                <a:ea typeface="微软雅黑" panose="020B0503020204020204" pitchFamily="34" charset="-122"/>
              </a:rPr>
              <a:t>D</a:t>
            </a:r>
          </a:p>
          <a:p>
            <a:pPr algn="ctr">
              <a:spcBef>
                <a:spcPct val="50000"/>
              </a:spcBef>
              <a:buNone/>
            </a:pPr>
            <a:r>
              <a:rPr lang="en-US" altLang="zh-CN" sz="1800" dirty="0">
                <a:latin typeface="微软雅黑" panose="020B0503020204020204" pitchFamily="34" charset="-122"/>
                <a:ea typeface="微软雅黑" panose="020B0503020204020204" pitchFamily="34" charset="-122"/>
              </a:rPr>
              <a:t>/ MPB</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35" name="Text Box 11"/>
          <p:cNvSpPr txBox="1">
            <a:spLocks noChangeArrowheads="1"/>
          </p:cNvSpPr>
          <p:nvPr/>
        </p:nvSpPr>
        <p:spPr bwMode="auto">
          <a:xfrm>
            <a:off x="6638132" y="1538233"/>
            <a:ext cx="1493791" cy="1200329"/>
          </a:xfrm>
          <a:prstGeom prst="rect">
            <a:avLst/>
          </a:prstGeom>
          <a:solidFill>
            <a:schemeClr val="accent3">
              <a:lumMod val="85000"/>
              <a:alpha val="23000"/>
            </a:schemeClr>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供给曲线</a:t>
            </a:r>
            <a:r>
              <a:rPr lang="en-US" altLang="zh-CN" sz="1800" dirty="0">
                <a:latin typeface="微软雅黑" panose="020B0503020204020204" pitchFamily="34" charset="-122"/>
                <a:ea typeface="微软雅黑" panose="020B0503020204020204" pitchFamily="34" charset="-122"/>
              </a:rPr>
              <a:t>S </a:t>
            </a:r>
          </a:p>
          <a:p>
            <a:pPr algn="ct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 MSC</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a:p>
            <a:pPr algn="ct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=MPC</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36" name="Text Box 12"/>
          <p:cNvSpPr txBox="1">
            <a:spLocks noChangeArrowheads="1"/>
          </p:cNvSpPr>
          <p:nvPr/>
        </p:nvSpPr>
        <p:spPr bwMode="auto">
          <a:xfrm>
            <a:off x="6603606" y="4725144"/>
            <a:ext cx="1326555" cy="369332"/>
          </a:xfrm>
          <a:prstGeom prst="rect">
            <a:avLst/>
          </a:prstGeom>
          <a:solidFill>
            <a:schemeClr val="accent1">
              <a:lumMod val="20000"/>
              <a:lumOff val="80000"/>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None/>
            </a:pPr>
            <a:r>
              <a:rPr lang="en-US" altLang="zh-CN" sz="1800" dirty="0">
                <a:latin typeface="微软雅黑" panose="020B0503020204020204" pitchFamily="34" charset="-122"/>
                <a:ea typeface="微软雅黑" panose="020B0503020204020204" pitchFamily="34" charset="-122"/>
              </a:rPr>
              <a:t>MSB</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37" name="Text Box 13"/>
          <p:cNvSpPr txBox="1">
            <a:spLocks noChangeArrowheads="1"/>
          </p:cNvSpPr>
          <p:nvPr/>
        </p:nvSpPr>
        <p:spPr bwMode="auto">
          <a:xfrm>
            <a:off x="3133456" y="5749901"/>
            <a:ext cx="1632683" cy="344325"/>
          </a:xfrm>
          <a:prstGeom prst="rect">
            <a:avLst/>
          </a:prstGeom>
          <a:solidFill>
            <a:srgbClr val="F3C97E"/>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50000"/>
              </a:spcBef>
              <a:buFontTx/>
              <a:buNone/>
            </a:pPr>
            <a:r>
              <a:rPr lang="zh-CN" altLang="en-US" sz="1600" dirty="0">
                <a:latin typeface="微软雅黑" panose="020B0503020204020204" pitchFamily="34" charset="-122"/>
                <a:ea typeface="微软雅黑" panose="020B0503020204020204" pitchFamily="34" charset="-122"/>
              </a:rPr>
              <a:t>效率产量</a:t>
            </a:r>
            <a:endParaRPr lang="en-US" altLang="zh-CN" sz="1600" dirty="0">
              <a:latin typeface="微软雅黑" panose="020B0503020204020204" pitchFamily="34" charset="-122"/>
              <a:ea typeface="微软雅黑" panose="020B0503020204020204" pitchFamily="34" charset="-122"/>
            </a:endParaRPr>
          </a:p>
        </p:txBody>
      </p:sp>
      <p:sp>
        <p:nvSpPr>
          <p:cNvPr id="38" name="Text Box 14"/>
          <p:cNvSpPr txBox="1">
            <a:spLocks noChangeArrowheads="1"/>
          </p:cNvSpPr>
          <p:nvPr/>
        </p:nvSpPr>
        <p:spPr bwMode="auto">
          <a:xfrm>
            <a:off x="4923174" y="5762701"/>
            <a:ext cx="1521034" cy="344325"/>
          </a:xfrm>
          <a:prstGeom prst="rect">
            <a:avLst/>
          </a:prstGeom>
          <a:solidFill>
            <a:srgbClr val="F3C97E"/>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lnSpc>
                <a:spcPct val="110000"/>
              </a:lnSpc>
              <a:spcBef>
                <a:spcPct val="50000"/>
              </a:spcBef>
              <a:buNone/>
            </a:pPr>
            <a:r>
              <a:rPr lang="zh-CN" altLang="en-US" sz="1600" dirty="0">
                <a:latin typeface="微软雅黑" panose="020B0503020204020204" pitchFamily="34" charset="-122"/>
                <a:ea typeface="微软雅黑" panose="020B0503020204020204" pitchFamily="34" charset="-122"/>
              </a:rPr>
              <a:t>私人产量</a:t>
            </a:r>
            <a:endParaRPr lang="en-US" altLang="zh-CN" sz="1600" dirty="0">
              <a:latin typeface="微软雅黑" panose="020B0503020204020204" pitchFamily="34" charset="-122"/>
              <a:ea typeface="微软雅黑" panose="020B0503020204020204" pitchFamily="34" charset="-122"/>
            </a:endParaRPr>
          </a:p>
        </p:txBody>
      </p:sp>
      <p:sp>
        <p:nvSpPr>
          <p:cNvPr id="39" name="椭圆 38"/>
          <p:cNvSpPr/>
          <p:nvPr/>
        </p:nvSpPr>
        <p:spPr bwMode="auto">
          <a:xfrm>
            <a:off x="4229205" y="2019206"/>
            <a:ext cx="213411" cy="17146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0" name="矩形 39"/>
          <p:cNvSpPr/>
          <p:nvPr/>
        </p:nvSpPr>
        <p:spPr>
          <a:xfrm>
            <a:off x="3796864" y="3468735"/>
            <a:ext cx="557920" cy="369332"/>
          </a:xfrm>
          <a:prstGeom prst="rect">
            <a:avLst/>
          </a:prstGeom>
        </p:spPr>
        <p:txBody>
          <a:bodyPr wrap="square">
            <a:spAutoFit/>
          </a:bodyPr>
          <a:lstStyle/>
          <a:p>
            <a:pPr eaLnBrk="1" hangingPunct="1">
              <a:spcBef>
                <a:spcPct val="50000"/>
              </a:spcBef>
              <a:buFont typeface="Arial" panose="020B0604020202020204" pitchFamily="34" charset="0"/>
              <a:buNone/>
            </a:pPr>
            <a:r>
              <a:rPr lang="en-US" altLang="zh-CN" sz="1800" dirty="0">
                <a:latin typeface="Tahoma" panose="020B0604030504040204" pitchFamily="34" charset="0"/>
              </a:rPr>
              <a:t>A</a:t>
            </a:r>
            <a:endParaRPr lang="zh-CN" altLang="en-US" sz="1800" dirty="0">
              <a:latin typeface="Tahoma" panose="020B0604030504040204" pitchFamily="34" charset="0"/>
            </a:endParaRPr>
          </a:p>
        </p:txBody>
      </p:sp>
      <p:sp>
        <p:nvSpPr>
          <p:cNvPr id="41" name="矩形 40"/>
          <p:cNvSpPr/>
          <p:nvPr/>
        </p:nvSpPr>
        <p:spPr>
          <a:xfrm>
            <a:off x="4900629" y="2621493"/>
            <a:ext cx="557920" cy="369332"/>
          </a:xfrm>
          <a:prstGeom prst="rect">
            <a:avLst/>
          </a:prstGeom>
        </p:spPr>
        <p:txBody>
          <a:bodyPr wrap="square">
            <a:spAutoFit/>
          </a:bodyPr>
          <a:lstStyle/>
          <a:p>
            <a:pPr>
              <a:spcBef>
                <a:spcPct val="50000"/>
              </a:spcBef>
            </a:pPr>
            <a:r>
              <a:rPr lang="en-US" altLang="zh-CN" sz="1800" dirty="0">
                <a:latin typeface="Tahoma" panose="020B0604030504040204" pitchFamily="34" charset="0"/>
              </a:rPr>
              <a:t>B</a:t>
            </a:r>
            <a:endParaRPr lang="zh-CN" altLang="en-US" sz="1800" dirty="0">
              <a:latin typeface="Tahoma" panose="020B0604030504040204" pitchFamily="34" charset="0"/>
            </a:endParaRPr>
          </a:p>
        </p:txBody>
      </p:sp>
      <p:sp>
        <p:nvSpPr>
          <p:cNvPr id="42" name="Line 8"/>
          <p:cNvSpPr>
            <a:spLocks noChangeShapeType="1"/>
          </p:cNvSpPr>
          <p:nvPr/>
        </p:nvSpPr>
        <p:spPr bwMode="auto">
          <a:xfrm>
            <a:off x="4410148" y="2199953"/>
            <a:ext cx="32468" cy="1403112"/>
          </a:xfrm>
          <a:prstGeom prst="line">
            <a:avLst/>
          </a:prstGeom>
          <a:noFill/>
          <a:ln w="25400" cap="rnd">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 name="矩形 42"/>
          <p:cNvSpPr/>
          <p:nvPr/>
        </p:nvSpPr>
        <p:spPr>
          <a:xfrm>
            <a:off x="4818408" y="5239481"/>
            <a:ext cx="557920" cy="369332"/>
          </a:xfrm>
          <a:prstGeom prst="rect">
            <a:avLst/>
          </a:prstGeom>
        </p:spPr>
        <p:txBody>
          <a:bodyPr wrap="square">
            <a:spAutoFit/>
          </a:bodyPr>
          <a:lstStyle/>
          <a:p>
            <a:pPr>
              <a:spcBef>
                <a:spcPct val="50000"/>
              </a:spcBef>
            </a:pPr>
            <a:r>
              <a:rPr lang="en-US" altLang="zh-CN" sz="1800" dirty="0">
                <a:latin typeface="Tahoma" panose="020B0604030504040204" pitchFamily="34" charset="0"/>
              </a:rPr>
              <a:t>F</a:t>
            </a:r>
            <a:endParaRPr lang="zh-CN" altLang="en-US" sz="1800" dirty="0">
              <a:latin typeface="Tahoma" panose="020B0604030504040204" pitchFamily="34" charset="0"/>
            </a:endParaRPr>
          </a:p>
        </p:txBody>
      </p:sp>
      <p:sp>
        <p:nvSpPr>
          <p:cNvPr id="44" name="矩形 43"/>
          <p:cNvSpPr/>
          <p:nvPr/>
        </p:nvSpPr>
        <p:spPr>
          <a:xfrm>
            <a:off x="3829375" y="5322841"/>
            <a:ext cx="557920" cy="369332"/>
          </a:xfrm>
          <a:prstGeom prst="rect">
            <a:avLst/>
          </a:prstGeom>
        </p:spPr>
        <p:txBody>
          <a:bodyPr wrap="square">
            <a:spAutoFit/>
          </a:bodyPr>
          <a:lstStyle/>
          <a:p>
            <a:pPr eaLnBrk="1" hangingPunct="1">
              <a:spcBef>
                <a:spcPct val="50000"/>
              </a:spcBef>
              <a:buFontTx/>
              <a:buNone/>
            </a:pPr>
            <a:r>
              <a:rPr lang="en-US" altLang="zh-CN" sz="1800" dirty="0">
                <a:latin typeface="Tahoma" panose="020B0604030504040204" pitchFamily="34" charset="0"/>
              </a:rPr>
              <a:t>E</a:t>
            </a:r>
            <a:endParaRPr lang="zh-CN" altLang="en-US" sz="1800" dirty="0"/>
          </a:p>
        </p:txBody>
      </p:sp>
      <p:sp>
        <p:nvSpPr>
          <p:cNvPr id="45" name="矩形 44"/>
          <p:cNvSpPr/>
          <p:nvPr/>
        </p:nvSpPr>
        <p:spPr>
          <a:xfrm>
            <a:off x="4367035" y="1690154"/>
            <a:ext cx="565179" cy="369332"/>
          </a:xfrm>
          <a:prstGeom prst="rect">
            <a:avLst/>
          </a:prstGeom>
        </p:spPr>
        <p:txBody>
          <a:bodyPr wrap="square">
            <a:spAutoFit/>
          </a:bodyPr>
          <a:lstStyle/>
          <a:p>
            <a:pPr eaLnBrk="1" hangingPunct="1">
              <a:spcBef>
                <a:spcPct val="50000"/>
              </a:spcBef>
              <a:buFontTx/>
              <a:buNone/>
            </a:pPr>
            <a:r>
              <a:rPr lang="en-US" altLang="zh-CN" sz="1800" dirty="0">
                <a:latin typeface="Tahoma" panose="020B0604030504040204" pitchFamily="34" charset="0"/>
              </a:rPr>
              <a:t>G</a:t>
            </a:r>
            <a:endParaRPr lang="zh-CN" altLang="en-US" sz="1800" dirty="0"/>
          </a:p>
        </p:txBody>
      </p:sp>
      <p:sp>
        <p:nvSpPr>
          <p:cNvPr id="46" name="矩形 45"/>
          <p:cNvSpPr/>
          <p:nvPr/>
        </p:nvSpPr>
        <p:spPr>
          <a:xfrm>
            <a:off x="3569451" y="2270634"/>
            <a:ext cx="557920" cy="1200329"/>
          </a:xfrm>
          <a:prstGeom prst="rect">
            <a:avLst/>
          </a:prstGeom>
        </p:spPr>
        <p:txBody>
          <a:bodyPr wrap="square">
            <a:spAutoFit/>
          </a:bodyPr>
          <a:lstStyle/>
          <a:p>
            <a:pPr>
              <a:spcBef>
                <a:spcPct val="50000"/>
              </a:spcBef>
            </a:pPr>
            <a:r>
              <a:rPr lang="zh-CN" altLang="en-US" sz="1800" dirty="0">
                <a:latin typeface="微软雅黑" panose="020B0503020204020204" pitchFamily="34" charset="-122"/>
                <a:ea typeface="微软雅黑" panose="020B0503020204020204" pitchFamily="34" charset="-122"/>
              </a:rPr>
              <a:t>外部成本</a:t>
            </a:r>
          </a:p>
        </p:txBody>
      </p:sp>
      <p:sp>
        <p:nvSpPr>
          <p:cNvPr id="47" name="左大括号 46"/>
          <p:cNvSpPr/>
          <p:nvPr/>
        </p:nvSpPr>
        <p:spPr bwMode="auto">
          <a:xfrm rot="10800000">
            <a:off x="4550875" y="2317621"/>
            <a:ext cx="483253" cy="3233200"/>
          </a:xfrm>
          <a:prstGeom prst="leftBrace">
            <a:avLst>
              <a:gd name="adj1" fmla="val 8333"/>
              <a:gd name="adj2" fmla="val 50708"/>
            </a:avLst>
          </a:prstGeom>
          <a:solidFill>
            <a:schemeClr val="accent1">
              <a:alpha val="18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8" name="矩形 47"/>
          <p:cNvSpPr/>
          <p:nvPr/>
        </p:nvSpPr>
        <p:spPr>
          <a:xfrm>
            <a:off x="3571699" y="4042970"/>
            <a:ext cx="557920" cy="1200329"/>
          </a:xfrm>
          <a:prstGeom prst="rect">
            <a:avLst/>
          </a:prstGeom>
        </p:spPr>
        <p:txBody>
          <a:bodyPr wrap="square">
            <a:spAutoFit/>
          </a:bodyPr>
          <a:lstStyle/>
          <a:p>
            <a:pPr>
              <a:spcBef>
                <a:spcPct val="50000"/>
              </a:spcBef>
            </a:pPr>
            <a:r>
              <a:rPr lang="zh-CN" altLang="en-US" sz="1800" dirty="0">
                <a:latin typeface="微软雅黑" panose="020B0503020204020204" pitchFamily="34" charset="-122"/>
                <a:ea typeface="微软雅黑" panose="020B0503020204020204" pitchFamily="34" charset="-122"/>
              </a:rPr>
              <a:t>社会收益</a:t>
            </a:r>
            <a:endParaRPr lang="zh-CN" altLang="en-US" sz="1800" dirty="0">
              <a:latin typeface="Tahoma" panose="020B0604030504040204" pitchFamily="34" charset="0"/>
            </a:endParaRPr>
          </a:p>
        </p:txBody>
      </p:sp>
      <p:sp>
        <p:nvSpPr>
          <p:cNvPr id="49" name="右大括号 48"/>
          <p:cNvSpPr/>
          <p:nvPr/>
        </p:nvSpPr>
        <p:spPr bwMode="auto">
          <a:xfrm rot="10800000">
            <a:off x="3869101" y="3867338"/>
            <a:ext cx="497934" cy="1704604"/>
          </a:xfrm>
          <a:prstGeom prst="rightBrace">
            <a:avLst/>
          </a:prstGeom>
          <a:solidFill>
            <a:schemeClr val="accent5"/>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50" name="矩形 49"/>
          <p:cNvSpPr/>
          <p:nvPr/>
        </p:nvSpPr>
        <p:spPr>
          <a:xfrm>
            <a:off x="4939026" y="3124561"/>
            <a:ext cx="258681" cy="1615827"/>
          </a:xfrm>
          <a:prstGeom prst="rect">
            <a:avLst/>
          </a:prstGeom>
        </p:spPr>
        <p:txBody>
          <a:bodyPr wrap="square">
            <a:spAutoFit/>
          </a:bodyPr>
          <a:lstStyle/>
          <a:p>
            <a:pP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私</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人</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收</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益</a:t>
            </a:r>
          </a:p>
        </p:txBody>
      </p:sp>
      <p:sp>
        <p:nvSpPr>
          <p:cNvPr id="51" name="左大括号 50"/>
          <p:cNvSpPr/>
          <p:nvPr/>
        </p:nvSpPr>
        <p:spPr bwMode="auto">
          <a:xfrm>
            <a:off x="3893027" y="2151983"/>
            <a:ext cx="448124" cy="1531695"/>
          </a:xfrm>
          <a:prstGeom prst="leftBrace">
            <a:avLst>
              <a:gd name="adj1" fmla="val 8333"/>
              <a:gd name="adj2" fmla="val 50708"/>
            </a:avLst>
          </a:prstGeom>
          <a:solidFill>
            <a:schemeClr val="accent5">
              <a:lumMod val="90000"/>
              <a:alpha val="18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52" name="矩形 51"/>
          <p:cNvSpPr/>
          <p:nvPr/>
        </p:nvSpPr>
        <p:spPr>
          <a:xfrm>
            <a:off x="457953" y="2307481"/>
            <a:ext cx="1839096" cy="2723823"/>
          </a:xfrm>
          <a:prstGeom prst="rect">
            <a:avLst/>
          </a:prstGeom>
          <a:noFill/>
          <a:ln w="28575">
            <a:solidFill>
              <a:srgbClr val="CC0000"/>
            </a:solidFill>
          </a:ln>
        </p:spPr>
        <p:txBody>
          <a:bodyPr wrap="square">
            <a:spAutoFit/>
          </a:bodyPr>
          <a:lstStyle/>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MPC:  </a:t>
            </a:r>
            <a:r>
              <a:rPr lang="zh-CN" altLang="en-US" sz="1800" dirty="0">
                <a:latin typeface="微软雅黑" panose="020B0503020204020204" pitchFamily="34" charset="-122"/>
                <a:ea typeface="微软雅黑" panose="020B0503020204020204" pitchFamily="34" charset="-122"/>
              </a:rPr>
              <a:t>边际私人成本</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MPB</a:t>
            </a:r>
            <a:r>
              <a:rPr lang="zh-CN" altLang="en-US" sz="1800" dirty="0">
                <a:latin typeface="微软雅黑" panose="020B0503020204020204" pitchFamily="34" charset="-122"/>
                <a:ea typeface="微软雅黑" panose="020B0503020204020204" pitchFamily="34" charset="-122"/>
              </a:rPr>
              <a:t>：边际私人收益</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pPr>
            <a:r>
              <a:rPr lang="en-US" altLang="zh-CN" sz="1800" dirty="0">
                <a:latin typeface="微软雅黑" panose="020B0503020204020204" pitchFamily="34" charset="-122"/>
                <a:ea typeface="微软雅黑" panose="020B0503020204020204" pitchFamily="34" charset="-122"/>
              </a:rPr>
              <a:t>MSC</a:t>
            </a:r>
            <a:r>
              <a:rPr lang="zh-CN" altLang="en-US" sz="1800" dirty="0">
                <a:latin typeface="微软雅黑" panose="020B0503020204020204" pitchFamily="34" charset="-122"/>
                <a:ea typeface="微软雅黑" panose="020B0503020204020204" pitchFamily="34" charset="-122"/>
              </a:rPr>
              <a:t>：边际社会成本</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MSB</a:t>
            </a:r>
            <a:r>
              <a:rPr lang="zh-CN" altLang="en-US" sz="1800" dirty="0">
                <a:latin typeface="微软雅黑" panose="020B0503020204020204" pitchFamily="34" charset="-122"/>
                <a:ea typeface="微软雅黑" panose="020B0503020204020204" pitchFamily="34" charset="-122"/>
              </a:rPr>
              <a:t>：边际社会收益</a:t>
            </a:r>
            <a:endParaRPr lang="en-US" altLang="zh-CN" sz="1800" dirty="0">
              <a:latin typeface="微软雅黑" panose="020B0503020204020204" pitchFamily="34" charset="-122"/>
              <a:ea typeface="微软雅黑" panose="020B0503020204020204" pitchFamily="34" charset="-122"/>
            </a:endParaRPr>
          </a:p>
        </p:txBody>
      </p:sp>
      <p:sp>
        <p:nvSpPr>
          <p:cNvPr id="53" name="Rectangle 2"/>
          <p:cNvSpPr txBox="1">
            <a:spLocks noChangeArrowheads="1"/>
          </p:cNvSpPr>
          <p:nvPr/>
        </p:nvSpPr>
        <p:spPr bwMode="auto">
          <a:xfrm>
            <a:off x="214052" y="852422"/>
            <a:ext cx="5240670" cy="86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a:lstStyle>
          <a:p>
            <a:pPr marL="457200" indent="-457200" eaLnBrk="1" hangingPunct="1">
              <a:lnSpc>
                <a:spcPct val="150000"/>
              </a:lnSpc>
              <a:buFont typeface="Wingdings" panose="05000000000000000000" pitchFamily="2" charset="2"/>
              <a:buChar char="u"/>
            </a:pPr>
            <a:r>
              <a:rPr lang="zh-CN" altLang="en-US" sz="2000" kern="0" dirty="0">
                <a:latin typeface="微软雅黑" panose="020B0503020204020204" pitchFamily="34" charset="-122"/>
                <a:ea typeface="微软雅黑" panose="020B0503020204020204" pitchFamily="34" charset="-122"/>
              </a:rPr>
              <a:t>消费的负外部性：吸烟时</a:t>
            </a:r>
            <a:r>
              <a:rPr lang="en-US" altLang="zh-CN" sz="2000" kern="0" dirty="0">
                <a:latin typeface="微软雅黑" panose="020B0503020204020204" pitchFamily="34" charset="-122"/>
                <a:ea typeface="微软雅黑" panose="020B0503020204020204" pitchFamily="34" charset="-122"/>
              </a:rPr>
              <a:t>MSB&lt;MPB</a:t>
            </a:r>
          </a:p>
        </p:txBody>
      </p:sp>
      <p:sp>
        <p:nvSpPr>
          <p:cNvPr id="54" name="矩形 53">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二、外部性导致资源配置无效率</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55" name="标题 1">
            <a:extLst>
              <a:ext uri="{FF2B5EF4-FFF2-40B4-BE49-F238E27FC236}">
                <a16:creationId xmlns:a16="http://schemas.microsoft.com/office/drawing/2014/main" id="{CE77835D-11EF-4C4B-B78C-1D3D6151D11E}"/>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75953446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0-#ppt_w/2"/>
                                          </p:val>
                                        </p:tav>
                                        <p:tav tm="100000">
                                          <p:val>
                                            <p:strVal val="#ppt_x"/>
                                          </p:val>
                                        </p:tav>
                                      </p:tavLst>
                                    </p:anim>
                                    <p:anim calcmode="lin" valueType="num">
                                      <p:cBhvr additive="base">
                                        <p:cTn id="8"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26009"/>
                                        </p:tgtEl>
                                        <p:attrNameLst>
                                          <p:attrName>style.visibility</p:attrName>
                                        </p:attrNameLst>
                                      </p:cBhvr>
                                      <p:to>
                                        <p:strVal val="visible"/>
                                      </p:to>
                                    </p:set>
                                    <p:animEffect transition="in" filter="randombar(horizontal)">
                                      <p:cBhvr>
                                        <p:cTn id="13" dur="500"/>
                                        <p:tgtEl>
                                          <p:spTgt spid="42600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426010"/>
                                        </p:tgtEl>
                                        <p:attrNameLst>
                                          <p:attrName>style.visibility</p:attrName>
                                        </p:attrNameLst>
                                      </p:cBhvr>
                                      <p:to>
                                        <p:strVal val="visible"/>
                                      </p:to>
                                    </p:set>
                                    <p:animEffect transition="in" filter="randombar(horizontal)">
                                      <p:cBhvr>
                                        <p:cTn id="16" dur="500"/>
                                        <p:tgtEl>
                                          <p:spTgt spid="426010"/>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359426"/>
                                        </p:tgtEl>
                                        <p:attrNameLst>
                                          <p:attrName>style.visibility</p:attrName>
                                        </p:attrNameLst>
                                      </p:cBhvr>
                                      <p:to>
                                        <p:strVal val="visible"/>
                                      </p:to>
                                    </p:set>
                                    <p:animEffect transition="in" filter="circle(in)">
                                      <p:cBhvr>
                                        <p:cTn id="19" dur="500"/>
                                        <p:tgtEl>
                                          <p:spTgt spid="359426"/>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randombar(horizontal)">
                                      <p:cBhvr>
                                        <p:cTn id="24" dur="500"/>
                                        <p:tgtEl>
                                          <p:spTgt spid="49"/>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randombar(horizontal)">
                                      <p:cBhvr>
                                        <p:cTn id="27" dur="500"/>
                                        <p:tgtEl>
                                          <p:spTgt spid="51"/>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randombar(horizontal)">
                                      <p:cBhvr>
                                        <p:cTn id="30" dur="500"/>
                                        <p:tgtEl>
                                          <p:spTgt spid="46"/>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randombar(horizontal)">
                                      <p:cBhvr>
                                        <p:cTn id="33" dur="500"/>
                                        <p:tgtEl>
                                          <p:spTgt spid="48"/>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randombar(horizontal)">
                                      <p:cBhvr>
                                        <p:cTn id="38" dur="500"/>
                                        <p:tgtEl>
                                          <p:spTgt spid="47"/>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randombar(horizontal)">
                                      <p:cBhvr>
                                        <p:cTn id="41" dur="500"/>
                                        <p:tgtEl>
                                          <p:spTgt spid="50"/>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426011"/>
                                        </p:tgtEl>
                                        <p:attrNameLst>
                                          <p:attrName>style.visibility</p:attrName>
                                        </p:attrNameLst>
                                      </p:cBhvr>
                                      <p:to>
                                        <p:strVal val="visible"/>
                                      </p:to>
                                    </p:set>
                                    <p:anim calcmode="lin" valueType="num">
                                      <p:cBhvr additive="base">
                                        <p:cTn id="46" dur="500" fill="hold"/>
                                        <p:tgtEl>
                                          <p:spTgt spid="426011"/>
                                        </p:tgtEl>
                                        <p:attrNameLst>
                                          <p:attrName>ppt_x</p:attrName>
                                        </p:attrNameLst>
                                      </p:cBhvr>
                                      <p:tavLst>
                                        <p:tav tm="0">
                                          <p:val>
                                            <p:strVal val="#ppt_x"/>
                                          </p:val>
                                        </p:tav>
                                        <p:tav tm="100000">
                                          <p:val>
                                            <p:strVal val="#ppt_x"/>
                                          </p:val>
                                        </p:tav>
                                      </p:tavLst>
                                    </p:anim>
                                    <p:anim calcmode="lin" valueType="num">
                                      <p:cBhvr additive="base">
                                        <p:cTn id="47" dur="500" fill="hold"/>
                                        <p:tgtEl>
                                          <p:spTgt spid="426011"/>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additive="base">
                                        <p:cTn id="50" dur="500" fill="hold"/>
                                        <p:tgtEl>
                                          <p:spTgt spid="36"/>
                                        </p:tgtEl>
                                        <p:attrNameLst>
                                          <p:attrName>ppt_x</p:attrName>
                                        </p:attrNameLst>
                                      </p:cBhvr>
                                      <p:tavLst>
                                        <p:tav tm="0">
                                          <p:val>
                                            <p:strVal val="#ppt_x"/>
                                          </p:val>
                                        </p:tav>
                                        <p:tav tm="100000">
                                          <p:val>
                                            <p:strVal val="#ppt_x"/>
                                          </p:val>
                                        </p:tav>
                                      </p:tavLst>
                                    </p:anim>
                                    <p:anim calcmode="lin" valueType="num">
                                      <p:cBhvr additive="base">
                                        <p:cTn id="51" dur="500" fill="hold"/>
                                        <p:tgtEl>
                                          <p:spTgt spid="36"/>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2"/>
                                        </p:tgtEl>
                                        <p:attrNameLst>
                                          <p:attrName>style.visibility</p:attrName>
                                        </p:attrNameLst>
                                      </p:cBhvr>
                                      <p:to>
                                        <p:strVal val="visible"/>
                                      </p:to>
                                    </p:set>
                                    <p:anim calcmode="lin" valueType="num">
                                      <p:cBhvr additive="base">
                                        <p:cTn id="54" dur="500" fill="hold"/>
                                        <p:tgtEl>
                                          <p:spTgt spid="2"/>
                                        </p:tgtEl>
                                        <p:attrNameLst>
                                          <p:attrName>ppt_x</p:attrName>
                                        </p:attrNameLst>
                                      </p:cBhvr>
                                      <p:tavLst>
                                        <p:tav tm="0">
                                          <p:val>
                                            <p:strVal val="#ppt_x"/>
                                          </p:val>
                                        </p:tav>
                                        <p:tav tm="100000">
                                          <p:val>
                                            <p:strVal val="#ppt_x"/>
                                          </p:val>
                                        </p:tav>
                                      </p:tavLst>
                                    </p:anim>
                                    <p:anim calcmode="lin" valueType="num">
                                      <p:cBhvr additive="base">
                                        <p:cTn id="5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426017"/>
                                        </p:tgtEl>
                                        <p:attrNameLst>
                                          <p:attrName>style.visibility</p:attrName>
                                        </p:attrNameLst>
                                      </p:cBhvr>
                                      <p:to>
                                        <p:strVal val="visible"/>
                                      </p:to>
                                    </p:set>
                                    <p:anim calcmode="lin" valueType="num">
                                      <p:cBhvr additive="base">
                                        <p:cTn id="60" dur="500" fill="hold"/>
                                        <p:tgtEl>
                                          <p:spTgt spid="426017"/>
                                        </p:tgtEl>
                                        <p:attrNameLst>
                                          <p:attrName>ppt_x</p:attrName>
                                        </p:attrNameLst>
                                      </p:cBhvr>
                                      <p:tavLst>
                                        <p:tav tm="0">
                                          <p:val>
                                            <p:strVal val="#ppt_x"/>
                                          </p:val>
                                        </p:tav>
                                        <p:tav tm="100000">
                                          <p:val>
                                            <p:strVal val="#ppt_x"/>
                                          </p:val>
                                        </p:tav>
                                      </p:tavLst>
                                    </p:anim>
                                    <p:anim calcmode="lin" valueType="num">
                                      <p:cBhvr additive="base">
                                        <p:cTn id="61" dur="500" fill="hold"/>
                                        <p:tgtEl>
                                          <p:spTgt spid="426017"/>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 calcmode="lin" valueType="num">
                                      <p:cBhvr additive="base">
                                        <p:cTn id="64" dur="500" fill="hold"/>
                                        <p:tgtEl>
                                          <p:spTgt spid="34"/>
                                        </p:tgtEl>
                                        <p:attrNameLst>
                                          <p:attrName>ppt_x</p:attrName>
                                        </p:attrNameLst>
                                      </p:cBhvr>
                                      <p:tavLst>
                                        <p:tav tm="0">
                                          <p:val>
                                            <p:strVal val="#ppt_x"/>
                                          </p:val>
                                        </p:tav>
                                        <p:tav tm="100000">
                                          <p:val>
                                            <p:strVal val="#ppt_x"/>
                                          </p:val>
                                        </p:tav>
                                      </p:tavLst>
                                    </p:anim>
                                    <p:anim calcmode="lin" valueType="num">
                                      <p:cBhvr additive="base">
                                        <p:cTn id="65"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426012"/>
                                        </p:tgtEl>
                                        <p:attrNameLst>
                                          <p:attrName>style.visibility</p:attrName>
                                        </p:attrNameLst>
                                      </p:cBhvr>
                                      <p:to>
                                        <p:strVal val="visible"/>
                                      </p:to>
                                    </p:set>
                                    <p:anim calcmode="lin" valueType="num">
                                      <p:cBhvr additive="base">
                                        <p:cTn id="70" dur="500" fill="hold"/>
                                        <p:tgtEl>
                                          <p:spTgt spid="426012"/>
                                        </p:tgtEl>
                                        <p:attrNameLst>
                                          <p:attrName>ppt_x</p:attrName>
                                        </p:attrNameLst>
                                      </p:cBhvr>
                                      <p:tavLst>
                                        <p:tav tm="0">
                                          <p:val>
                                            <p:strVal val="#ppt_x"/>
                                          </p:val>
                                        </p:tav>
                                        <p:tav tm="100000">
                                          <p:val>
                                            <p:strVal val="#ppt_x"/>
                                          </p:val>
                                        </p:tav>
                                      </p:tavLst>
                                    </p:anim>
                                    <p:anim calcmode="lin" valueType="num">
                                      <p:cBhvr additive="base">
                                        <p:cTn id="71" dur="500" fill="hold"/>
                                        <p:tgtEl>
                                          <p:spTgt spid="426012"/>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35"/>
                                        </p:tgtEl>
                                        <p:attrNameLst>
                                          <p:attrName>style.visibility</p:attrName>
                                        </p:attrNameLst>
                                      </p:cBhvr>
                                      <p:to>
                                        <p:strVal val="visible"/>
                                      </p:to>
                                    </p:set>
                                    <p:anim calcmode="lin" valueType="num">
                                      <p:cBhvr additive="base">
                                        <p:cTn id="74" dur="500" fill="hold"/>
                                        <p:tgtEl>
                                          <p:spTgt spid="35"/>
                                        </p:tgtEl>
                                        <p:attrNameLst>
                                          <p:attrName>ppt_x</p:attrName>
                                        </p:attrNameLst>
                                      </p:cBhvr>
                                      <p:tavLst>
                                        <p:tav tm="0">
                                          <p:val>
                                            <p:strVal val="#ppt_x"/>
                                          </p:val>
                                        </p:tav>
                                        <p:tav tm="100000">
                                          <p:val>
                                            <p:strVal val="#ppt_x"/>
                                          </p:val>
                                        </p:tav>
                                      </p:tavLst>
                                    </p:anim>
                                    <p:anim calcmode="lin" valueType="num">
                                      <p:cBhvr additive="base">
                                        <p:cTn id="7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52"/>
                                        </p:tgtEl>
                                        <p:attrNameLst>
                                          <p:attrName>style.visibility</p:attrName>
                                        </p:attrNameLst>
                                      </p:cBhvr>
                                      <p:to>
                                        <p:strVal val="visible"/>
                                      </p:to>
                                    </p:set>
                                    <p:anim calcmode="lin" valueType="num">
                                      <p:cBhvr additive="base">
                                        <p:cTn id="80" dur="500" fill="hold"/>
                                        <p:tgtEl>
                                          <p:spTgt spid="52"/>
                                        </p:tgtEl>
                                        <p:attrNameLst>
                                          <p:attrName>ppt_x</p:attrName>
                                        </p:attrNameLst>
                                      </p:cBhvr>
                                      <p:tavLst>
                                        <p:tav tm="0">
                                          <p:val>
                                            <p:strVal val="#ppt_x"/>
                                          </p:val>
                                        </p:tav>
                                        <p:tav tm="100000">
                                          <p:val>
                                            <p:strVal val="#ppt_x"/>
                                          </p:val>
                                        </p:tav>
                                      </p:tavLst>
                                    </p:anim>
                                    <p:anim calcmode="lin" valueType="num">
                                      <p:cBhvr additive="base">
                                        <p:cTn id="81"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4" presetClass="entr" presetSubtype="10" fill="hold" grpId="0" nodeType="clickEffect">
                                  <p:stCondLst>
                                    <p:cond delay="0"/>
                                  </p:stCondLst>
                                  <p:childTnLst>
                                    <p:set>
                                      <p:cBhvr>
                                        <p:cTn id="85" dur="1" fill="hold">
                                          <p:stCondLst>
                                            <p:cond delay="0"/>
                                          </p:stCondLst>
                                        </p:cTn>
                                        <p:tgtEl>
                                          <p:spTgt spid="425994"/>
                                        </p:tgtEl>
                                        <p:attrNameLst>
                                          <p:attrName>style.visibility</p:attrName>
                                        </p:attrNameLst>
                                      </p:cBhvr>
                                      <p:to>
                                        <p:strVal val="visible"/>
                                      </p:to>
                                    </p:set>
                                    <p:animEffect transition="in" filter="randombar(horizontal)">
                                      <p:cBhvr>
                                        <p:cTn id="86" dur="500"/>
                                        <p:tgtEl>
                                          <p:spTgt spid="425994"/>
                                        </p:tgtEl>
                                      </p:cBhvr>
                                    </p:animEffect>
                                  </p:childTnLst>
                                </p:cTn>
                              </p:par>
                              <p:par>
                                <p:cTn id="87" presetID="14" presetClass="entr" presetSubtype="10" fill="hold" grpId="0" nodeType="with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randombar(horizontal)">
                                      <p:cBhvr>
                                        <p:cTn id="89" dur="500"/>
                                        <p:tgtEl>
                                          <p:spTgt spid="40"/>
                                        </p:tgtEl>
                                      </p:cBhvr>
                                    </p:animEffec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grpId="0" nodeType="clickEffect">
                                  <p:stCondLst>
                                    <p:cond delay="0"/>
                                  </p:stCondLst>
                                  <p:childTnLst>
                                    <p:set>
                                      <p:cBhvr>
                                        <p:cTn id="93" dur="1" fill="hold">
                                          <p:stCondLst>
                                            <p:cond delay="0"/>
                                          </p:stCondLst>
                                        </p:cTn>
                                        <p:tgtEl>
                                          <p:spTgt spid="425995"/>
                                        </p:tgtEl>
                                        <p:attrNameLst>
                                          <p:attrName>style.visibility</p:attrName>
                                        </p:attrNameLst>
                                      </p:cBhvr>
                                      <p:to>
                                        <p:strVal val="visible"/>
                                      </p:to>
                                    </p:set>
                                    <p:animEffect transition="in" filter="randombar(horizontal)">
                                      <p:cBhvr>
                                        <p:cTn id="94" dur="500"/>
                                        <p:tgtEl>
                                          <p:spTgt spid="425995"/>
                                        </p:tgtEl>
                                      </p:cBhvr>
                                    </p:animEffect>
                                  </p:childTnLst>
                                </p:cTn>
                              </p:par>
                              <p:par>
                                <p:cTn id="95" presetID="14" presetClass="entr" presetSubtype="1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randombar(horizontal)">
                                      <p:cBhvr>
                                        <p:cTn id="97" dur="500"/>
                                        <p:tgtEl>
                                          <p:spTgt spid="41"/>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ntr" presetSubtype="10" fill="hold" grpId="0"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randombar(horizontal)">
                                      <p:cBhvr>
                                        <p:cTn id="102" dur="500"/>
                                        <p:tgtEl>
                                          <p:spTgt spid="39"/>
                                        </p:tgtEl>
                                      </p:cBhvr>
                                    </p:animEffect>
                                  </p:childTnLst>
                                </p:cTn>
                              </p:par>
                              <p:par>
                                <p:cTn id="103" presetID="14" presetClass="entr" presetSubtype="10"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randombar(horizontal)">
                                      <p:cBhvr>
                                        <p:cTn id="105" dur="500"/>
                                        <p:tgtEl>
                                          <p:spTgt spid="45"/>
                                        </p:tgtEl>
                                      </p:cBhvr>
                                    </p:animEffect>
                                  </p:childTnLst>
                                </p:cTn>
                              </p:par>
                            </p:childTnLst>
                          </p:cTn>
                        </p:par>
                      </p:childTnLst>
                    </p:cTn>
                  </p:par>
                  <p:par>
                    <p:cTn id="106" fill="hold">
                      <p:stCondLst>
                        <p:cond delay="indefinite"/>
                      </p:stCondLst>
                      <p:childTnLst>
                        <p:par>
                          <p:cTn id="107" fill="hold">
                            <p:stCondLst>
                              <p:cond delay="0"/>
                            </p:stCondLst>
                            <p:childTnLst>
                              <p:par>
                                <p:cTn id="108" presetID="14" presetClass="entr" presetSubtype="10" fill="hold" grpId="0" nodeType="click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randombar(horizontal)">
                                      <p:cBhvr>
                                        <p:cTn id="110" dur="500"/>
                                        <p:tgtEl>
                                          <p:spTgt spid="42"/>
                                        </p:tgtEl>
                                      </p:cBhvr>
                                    </p:animEffect>
                                  </p:childTnLst>
                                </p:cTn>
                              </p:par>
                              <p:par>
                                <p:cTn id="111" presetID="14" presetClass="entr" presetSubtype="10" fill="hold" grpId="0" nodeType="withEffect">
                                  <p:stCondLst>
                                    <p:cond delay="0"/>
                                  </p:stCondLst>
                                  <p:childTnLst>
                                    <p:set>
                                      <p:cBhvr>
                                        <p:cTn id="112" dur="1" fill="hold">
                                          <p:stCondLst>
                                            <p:cond delay="0"/>
                                          </p:stCondLst>
                                        </p:cTn>
                                        <p:tgtEl>
                                          <p:spTgt spid="426013"/>
                                        </p:tgtEl>
                                        <p:attrNameLst>
                                          <p:attrName>style.visibility</p:attrName>
                                        </p:attrNameLst>
                                      </p:cBhvr>
                                      <p:to>
                                        <p:strVal val="visible"/>
                                      </p:to>
                                    </p:set>
                                    <p:animEffect transition="in" filter="randombar(horizontal)">
                                      <p:cBhvr>
                                        <p:cTn id="113" dur="500"/>
                                        <p:tgtEl>
                                          <p:spTgt spid="426013"/>
                                        </p:tgtEl>
                                      </p:cBhvr>
                                    </p:animEffect>
                                  </p:childTnLst>
                                </p:cTn>
                              </p:par>
                              <p:par>
                                <p:cTn id="114" presetID="14" presetClass="entr" presetSubtype="1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randombar(horizontal)">
                                      <p:cBhvr>
                                        <p:cTn id="116" dur="500"/>
                                        <p:tgtEl>
                                          <p:spTgt spid="44"/>
                                        </p:tgtEl>
                                      </p:cBhvr>
                                    </p:animEffect>
                                  </p:childTnLst>
                                </p:cTn>
                              </p:par>
                              <p:par>
                                <p:cTn id="117" presetID="6" presetClass="entr" presetSubtype="16" fill="hold" grpId="0" nodeType="withEffect">
                                  <p:stCondLst>
                                    <p:cond delay="0"/>
                                  </p:stCondLst>
                                  <p:childTnLst>
                                    <p:set>
                                      <p:cBhvr>
                                        <p:cTn id="118" dur="1" fill="hold">
                                          <p:stCondLst>
                                            <p:cond delay="0"/>
                                          </p:stCondLst>
                                        </p:cTn>
                                        <p:tgtEl>
                                          <p:spTgt spid="37"/>
                                        </p:tgtEl>
                                        <p:attrNameLst>
                                          <p:attrName>style.visibility</p:attrName>
                                        </p:attrNameLst>
                                      </p:cBhvr>
                                      <p:to>
                                        <p:strVal val="visible"/>
                                      </p:to>
                                    </p:set>
                                    <p:animEffect transition="in" filter="circle(in)">
                                      <p:cBhvr>
                                        <p:cTn id="119" dur="500"/>
                                        <p:tgtEl>
                                          <p:spTgt spid="37"/>
                                        </p:tgtEl>
                                      </p:cBhvr>
                                    </p:animEffect>
                                  </p:childTnLst>
                                </p:cTn>
                              </p:par>
                            </p:childTnLst>
                          </p:cTn>
                        </p:par>
                      </p:childTnLst>
                    </p:cTn>
                  </p:par>
                  <p:par>
                    <p:cTn id="120" fill="hold">
                      <p:stCondLst>
                        <p:cond delay="indefinite"/>
                      </p:stCondLst>
                      <p:childTnLst>
                        <p:par>
                          <p:cTn id="121" fill="hold">
                            <p:stCondLst>
                              <p:cond delay="0"/>
                            </p:stCondLst>
                            <p:childTnLst>
                              <p:par>
                                <p:cTn id="122" presetID="14" presetClass="entr" presetSubtype="10" fill="hold" grpId="0" nodeType="clickEffect">
                                  <p:stCondLst>
                                    <p:cond delay="0"/>
                                  </p:stCondLst>
                                  <p:childTnLst>
                                    <p:set>
                                      <p:cBhvr>
                                        <p:cTn id="123" dur="1" fill="hold">
                                          <p:stCondLst>
                                            <p:cond delay="0"/>
                                          </p:stCondLst>
                                        </p:cTn>
                                        <p:tgtEl>
                                          <p:spTgt spid="426014"/>
                                        </p:tgtEl>
                                        <p:attrNameLst>
                                          <p:attrName>style.visibility</p:attrName>
                                        </p:attrNameLst>
                                      </p:cBhvr>
                                      <p:to>
                                        <p:strVal val="visible"/>
                                      </p:to>
                                    </p:set>
                                    <p:animEffect transition="in" filter="randombar(horizontal)">
                                      <p:cBhvr>
                                        <p:cTn id="124" dur="500"/>
                                        <p:tgtEl>
                                          <p:spTgt spid="426014"/>
                                        </p:tgtEl>
                                      </p:cBhvr>
                                    </p:animEffect>
                                  </p:childTnLst>
                                </p:cTn>
                              </p:par>
                              <p:par>
                                <p:cTn id="125" presetID="14" presetClass="entr" presetSubtype="1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randombar(horizontal)">
                                      <p:cBhvr>
                                        <p:cTn id="127" dur="500"/>
                                        <p:tgtEl>
                                          <p:spTgt spid="43"/>
                                        </p:tgtEl>
                                      </p:cBhvr>
                                    </p:animEffect>
                                  </p:childTnLst>
                                </p:cTn>
                              </p:par>
                              <p:par>
                                <p:cTn id="128" presetID="6" presetClass="entr" presetSubtype="16" fill="hold" grpId="0" nodeType="withEffect">
                                  <p:stCondLst>
                                    <p:cond delay="0"/>
                                  </p:stCondLst>
                                  <p:childTnLst>
                                    <p:set>
                                      <p:cBhvr>
                                        <p:cTn id="129" dur="1" fill="hold">
                                          <p:stCondLst>
                                            <p:cond delay="0"/>
                                          </p:stCondLst>
                                        </p:cTn>
                                        <p:tgtEl>
                                          <p:spTgt spid="38"/>
                                        </p:tgtEl>
                                        <p:attrNameLst>
                                          <p:attrName>style.visibility</p:attrName>
                                        </p:attrNameLst>
                                      </p:cBhvr>
                                      <p:to>
                                        <p:strVal val="visible"/>
                                      </p:to>
                                    </p:set>
                                    <p:animEffect transition="in" filter="circle(in)">
                                      <p:cBhvr>
                                        <p:cTn id="13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59426" grpId="0"/>
      <p:bldP spid="426009" grpId="0" animBg="1"/>
      <p:bldP spid="426010" grpId="0" animBg="1"/>
      <p:bldP spid="426011" grpId="0" animBg="1"/>
      <p:bldP spid="426012" grpId="0" animBg="1"/>
      <p:bldP spid="426013" grpId="0" animBg="1"/>
      <p:bldP spid="426014" grpId="0" animBg="1"/>
      <p:bldP spid="426017" grpId="0" animBg="1"/>
      <p:bldP spid="425994" grpId="0" animBg="1"/>
      <p:bldP spid="425995" grpId="0" animBg="1"/>
      <p:bldP spid="34" grpId="0" animBg="1"/>
      <p:bldP spid="35" grpId="0" animBg="1"/>
      <p:bldP spid="36" grpId="0" animBg="1"/>
      <p:bldP spid="37" grpId="0" animBg="1"/>
      <p:bldP spid="38" grpId="0" animBg="1"/>
      <p:bldP spid="39" grpId="0" animBg="1"/>
      <p:bldP spid="40" grpId="0"/>
      <p:bldP spid="41" grpId="0"/>
      <p:bldP spid="42" grpId="0" animBg="1"/>
      <p:bldP spid="43" grpId="0"/>
      <p:bldP spid="44" grpId="0"/>
      <p:bldP spid="45" grpId="0"/>
      <p:bldP spid="46" grpId="0"/>
      <p:bldP spid="47" grpId="0" animBg="1"/>
      <p:bldP spid="48" grpId="0"/>
      <p:bldP spid="49" grpId="0" animBg="1"/>
      <p:bldP spid="50" grpId="0"/>
      <p:bldP spid="51" grpId="0" animBg="1"/>
      <p:bldP spid="52" grpId="0" animBg="1"/>
      <p:bldP spid="5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p:cNvSpPr>
            <a:spLocks noGrp="1"/>
          </p:cNvSpPr>
          <p:nvPr>
            <p:ph idx="4294967295"/>
          </p:nvPr>
        </p:nvSpPr>
        <p:spPr>
          <a:xfrm>
            <a:off x="413438" y="1332416"/>
            <a:ext cx="8856984" cy="592395"/>
          </a:xfrm>
        </p:spPr>
        <p:txBody>
          <a:bodyPr/>
          <a:lstStyle/>
          <a:p>
            <a:pPr>
              <a:spcBef>
                <a:spcPct val="50000"/>
              </a:spcBef>
              <a:buFont typeface="Wingdings" panose="05000000000000000000" pitchFamily="2" charset="2"/>
              <a:buChar char="u"/>
            </a:pPr>
            <a:r>
              <a:rPr lang="zh-CN" altLang="en-US" sz="2000" b="0" dirty="0">
                <a:solidFill>
                  <a:srgbClr val="C00000"/>
                </a:solidFill>
                <a:latin typeface="微软雅黑" panose="020B0503020204020204" pitchFamily="34" charset="-122"/>
                <a:ea typeface="微软雅黑" panose="020B0503020204020204" pitchFamily="34" charset="-122"/>
              </a:rPr>
              <a:t>正</a:t>
            </a:r>
            <a:r>
              <a:rPr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rPr>
              <a:t>外部性和资源配置的无效率</a:t>
            </a:r>
            <a:endPar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587560" y="3593921"/>
            <a:ext cx="1799944" cy="1477328"/>
          </a:xfrm>
          <a:prstGeom prst="rect">
            <a:avLst/>
          </a:prstGeom>
          <a:noFill/>
          <a:ln w="28575">
            <a:solidFill>
              <a:schemeClr val="accent3">
                <a:lumMod val="50000"/>
              </a:schemeClr>
            </a:solidFill>
          </a:ln>
        </p:spPr>
        <p:txBody>
          <a:bodyPr wrap="square">
            <a:spAutoFit/>
          </a:bodyPr>
          <a:lstStyle/>
          <a:p>
            <a:pPr marL="0" indent="0">
              <a:spcBef>
                <a:spcPct val="50000"/>
              </a:spcBef>
              <a:buNone/>
            </a:pPr>
            <a:endParaRPr lang="en-US" altLang="zh-CN" sz="1800" dirty="0">
              <a:latin typeface="微软雅黑" panose="020B0503020204020204" pitchFamily="34" charset="-122"/>
              <a:ea typeface="微软雅黑" panose="020B0503020204020204" pitchFamily="34" charset="-122"/>
            </a:endParaRPr>
          </a:p>
          <a:p>
            <a:pPr marL="0" indent="0">
              <a:spcBef>
                <a:spcPct val="50000"/>
              </a:spcBef>
              <a:buNone/>
            </a:pPr>
            <a:r>
              <a:rPr lang="zh-CN" altLang="en-US" sz="1800" dirty="0">
                <a:latin typeface="微软雅黑" panose="020B0503020204020204" pitchFamily="34" charset="-122"/>
                <a:ea typeface="微软雅黑" panose="020B0503020204020204" pitchFamily="34" charset="-122"/>
              </a:rPr>
              <a:t>企业决策依据</a:t>
            </a:r>
            <a:r>
              <a:rPr lang="en-US" altLang="zh-CN" sz="1800" dirty="0">
                <a:latin typeface="微软雅黑" panose="020B0503020204020204" pitchFamily="34" charset="-122"/>
                <a:ea typeface="微软雅黑" panose="020B0503020204020204" pitchFamily="34" charset="-122"/>
              </a:rPr>
              <a:t>MPB=MPC</a:t>
            </a:r>
          </a:p>
          <a:p>
            <a:pPr marL="0" indent="0">
              <a:spcBef>
                <a:spcPct val="50000"/>
              </a:spcBef>
              <a:buNone/>
            </a:pPr>
            <a:endParaRPr lang="en-US" altLang="zh-CN" sz="1800" dirty="0">
              <a:latin typeface="微软雅黑" panose="020B0503020204020204" pitchFamily="34" charset="-122"/>
              <a:ea typeface="微软雅黑" panose="020B0503020204020204" pitchFamily="34" charset="-122"/>
            </a:endParaRPr>
          </a:p>
        </p:txBody>
      </p:sp>
      <p:sp>
        <p:nvSpPr>
          <p:cNvPr id="3" name="矩形 2"/>
          <p:cNvSpPr/>
          <p:nvPr/>
        </p:nvSpPr>
        <p:spPr>
          <a:xfrm>
            <a:off x="3102317" y="2877839"/>
            <a:ext cx="1789886" cy="369332"/>
          </a:xfrm>
          <a:prstGeom prst="rect">
            <a:avLst/>
          </a:prstGeom>
        </p:spPr>
        <p:txBody>
          <a:bodyPr wrap="square">
            <a:spAutoFit/>
          </a:bodyPr>
          <a:lstStyle/>
          <a:p>
            <a:pPr marL="0" indent="0">
              <a:spcBef>
                <a:spcPct val="50000"/>
              </a:spcBef>
              <a:buNone/>
            </a:pPr>
            <a:r>
              <a:rPr lang="zh-CN" altLang="en-US" sz="1800" dirty="0">
                <a:latin typeface="微软雅黑" panose="020B0503020204020204" pitchFamily="34" charset="-122"/>
                <a:ea typeface="微软雅黑" panose="020B0503020204020204" pitchFamily="34" charset="-122"/>
              </a:rPr>
              <a:t>正外部性下</a:t>
            </a:r>
            <a:endParaRPr lang="en-US" altLang="zh-CN" sz="1800" dirty="0">
              <a:latin typeface="微软雅黑" panose="020B0503020204020204" pitchFamily="34" charset="-122"/>
              <a:ea typeface="微软雅黑" panose="020B0503020204020204" pitchFamily="34" charset="-122"/>
            </a:endParaRPr>
          </a:p>
        </p:txBody>
      </p:sp>
      <p:sp>
        <p:nvSpPr>
          <p:cNvPr id="5" name="矩形 4"/>
          <p:cNvSpPr/>
          <p:nvPr/>
        </p:nvSpPr>
        <p:spPr>
          <a:xfrm>
            <a:off x="2881136" y="3460731"/>
            <a:ext cx="2232248" cy="646331"/>
          </a:xfrm>
          <a:prstGeom prst="rect">
            <a:avLst/>
          </a:prstGeom>
          <a:noFill/>
          <a:ln w="28575">
            <a:solidFill>
              <a:schemeClr val="accent3">
                <a:lumMod val="50000"/>
              </a:schemeClr>
            </a:solidFill>
          </a:ln>
        </p:spPr>
        <p:txBody>
          <a:bodyPr wrap="square">
            <a:spAutoFit/>
          </a:bodyPr>
          <a:lstStyle/>
          <a:p>
            <a:r>
              <a:rPr lang="zh-CN" altLang="en-US" sz="1800" dirty="0">
                <a:latin typeface="微软雅黑" panose="020B0503020204020204" pitchFamily="34" charset="-122"/>
                <a:ea typeface="微软雅黑" panose="020B0503020204020204" pitchFamily="34" charset="-122"/>
              </a:rPr>
              <a:t>或者</a:t>
            </a:r>
            <a:r>
              <a:rPr lang="en-US" altLang="zh-CN" sz="1800" dirty="0">
                <a:latin typeface="微软雅黑" panose="020B0503020204020204" pitchFamily="34" charset="-122"/>
                <a:ea typeface="微软雅黑" panose="020B0503020204020204" pitchFamily="34" charset="-122"/>
              </a:rPr>
              <a:t>MSB&gt;MPB</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MSC=MPC</a:t>
            </a:r>
            <a:endParaRPr lang="zh-CN" altLang="en-US" sz="1800" dirty="0">
              <a:latin typeface="微软雅黑" panose="020B0503020204020204" pitchFamily="34" charset="-122"/>
              <a:ea typeface="微软雅黑" panose="020B0503020204020204" pitchFamily="34" charset="-122"/>
            </a:endParaRPr>
          </a:p>
        </p:txBody>
      </p:sp>
      <p:sp>
        <p:nvSpPr>
          <p:cNvPr id="6" name="矩形 5"/>
          <p:cNvSpPr/>
          <p:nvPr/>
        </p:nvSpPr>
        <p:spPr>
          <a:xfrm>
            <a:off x="2881136" y="4672559"/>
            <a:ext cx="2232248" cy="646331"/>
          </a:xfrm>
          <a:prstGeom prst="rect">
            <a:avLst/>
          </a:prstGeom>
          <a:noFill/>
          <a:ln w="28575">
            <a:solidFill>
              <a:schemeClr val="accent3">
                <a:lumMod val="50000"/>
              </a:schemeClr>
            </a:solidFill>
          </a:ln>
        </p:spPr>
        <p:txBody>
          <a:bodyPr wrap="square">
            <a:spAutoFit/>
          </a:bodyPr>
          <a:lstStyle/>
          <a:p>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或者</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MSC&lt;MPC</a:t>
            </a:r>
          </a:p>
          <a:p>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MSB=MPB</a:t>
            </a:r>
            <a:endParaRPr lang="zh-CN" altLang="en-US" sz="1800" dirty="0">
              <a:latin typeface="微软雅黑" panose="020B0503020204020204" pitchFamily="34" charset="-122"/>
              <a:ea typeface="微软雅黑" panose="020B0503020204020204" pitchFamily="34" charset="-122"/>
            </a:endParaRPr>
          </a:p>
        </p:txBody>
      </p:sp>
      <p:sp>
        <p:nvSpPr>
          <p:cNvPr id="7" name="加号 6"/>
          <p:cNvSpPr/>
          <p:nvPr/>
        </p:nvSpPr>
        <p:spPr bwMode="auto">
          <a:xfrm>
            <a:off x="2416917" y="3691563"/>
            <a:ext cx="432048" cy="477054"/>
          </a:xfrm>
          <a:prstGeom prst="mathPlus">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加号 8"/>
          <p:cNvSpPr/>
          <p:nvPr/>
        </p:nvSpPr>
        <p:spPr bwMode="auto">
          <a:xfrm>
            <a:off x="2416917" y="4712892"/>
            <a:ext cx="432048" cy="477054"/>
          </a:xfrm>
          <a:prstGeom prst="mathPlus">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右箭头 7"/>
          <p:cNvSpPr/>
          <p:nvPr/>
        </p:nvSpPr>
        <p:spPr bwMode="auto">
          <a:xfrm rot="2472420">
            <a:off x="5121333" y="3886167"/>
            <a:ext cx="742577" cy="205629"/>
          </a:xfrm>
          <a:prstGeom prst="rightArrow">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右箭头 9"/>
          <p:cNvSpPr/>
          <p:nvPr/>
        </p:nvSpPr>
        <p:spPr bwMode="auto">
          <a:xfrm rot="19235976">
            <a:off x="5134952" y="4664087"/>
            <a:ext cx="737246" cy="221452"/>
          </a:xfrm>
          <a:prstGeom prst="rightArrow">
            <a:avLst/>
          </a:prstGeom>
          <a:solidFill>
            <a:srgbClr val="F7DAA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1" name="矩形 10"/>
          <p:cNvSpPr/>
          <p:nvPr/>
        </p:nvSpPr>
        <p:spPr>
          <a:xfrm>
            <a:off x="5493334" y="2559700"/>
            <a:ext cx="2430016" cy="369332"/>
          </a:xfrm>
          <a:prstGeom prst="rect">
            <a:avLst/>
          </a:prstGeom>
          <a:noFill/>
          <a:ln w="28575">
            <a:solidFill>
              <a:schemeClr val="accent3">
                <a:lumMod val="50000"/>
              </a:schemeClr>
            </a:solidFill>
          </a:ln>
        </p:spPr>
        <p:txBody>
          <a:bodyPr wrap="square">
            <a:spAutoFit/>
          </a:bodyPr>
          <a:lstStyle/>
          <a:p>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私人产量</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&lt;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效率产量</a:t>
            </a:r>
            <a:endParaRPr lang="zh-CN" altLang="en-US" sz="1800" dirty="0">
              <a:latin typeface="微软雅黑" panose="020B0503020204020204" pitchFamily="34" charset="-122"/>
              <a:ea typeface="微软雅黑" panose="020B0503020204020204" pitchFamily="34" charset="-122"/>
            </a:endParaRPr>
          </a:p>
        </p:txBody>
      </p:sp>
      <p:sp>
        <p:nvSpPr>
          <p:cNvPr id="13" name="矩形 12"/>
          <p:cNvSpPr/>
          <p:nvPr/>
        </p:nvSpPr>
        <p:spPr>
          <a:xfrm>
            <a:off x="5871859" y="4168617"/>
            <a:ext cx="1637928" cy="369332"/>
          </a:xfrm>
          <a:prstGeom prst="rect">
            <a:avLst/>
          </a:prstGeom>
          <a:noFill/>
          <a:ln w="28575">
            <a:solidFill>
              <a:schemeClr val="accent3">
                <a:lumMod val="50000"/>
              </a:schemeClr>
            </a:solidFill>
          </a:ln>
        </p:spPr>
        <p:txBody>
          <a:bodyPr wrap="square">
            <a:spAutoFit/>
          </a:bodyPr>
          <a:lstStyle/>
          <a:p>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MSB&gt;MSC</a:t>
            </a:r>
            <a:endParaRPr lang="zh-CN" altLang="en-US" sz="1800" dirty="0">
              <a:latin typeface="微软雅黑" panose="020B0503020204020204" pitchFamily="34" charset="-122"/>
              <a:ea typeface="微软雅黑" panose="020B0503020204020204" pitchFamily="34" charset="-122"/>
            </a:endParaRPr>
          </a:p>
        </p:txBody>
      </p:sp>
      <p:sp>
        <p:nvSpPr>
          <p:cNvPr id="12" name="上箭头 11"/>
          <p:cNvSpPr/>
          <p:nvPr/>
        </p:nvSpPr>
        <p:spPr bwMode="auto">
          <a:xfrm>
            <a:off x="6577650" y="2970544"/>
            <a:ext cx="261384" cy="1177762"/>
          </a:xfrm>
          <a:prstGeom prst="upArrow">
            <a:avLst/>
          </a:prstGeom>
          <a:solidFill>
            <a:schemeClr val="accent3">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二、外部性导致资源配置无效率</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766465" y="1966116"/>
            <a:ext cx="2608406" cy="369332"/>
          </a:xfrm>
          <a:prstGeom prst="rect">
            <a:avLst/>
          </a:prstGeom>
          <a:noFill/>
        </p:spPr>
        <p:txBody>
          <a:bodyPr wrap="none" rtlCol="0">
            <a:spAutoFit/>
          </a:bodyPr>
          <a:lstStyle/>
          <a:p>
            <a:pPr marL="342900" indent="-342900">
              <a:buFont typeface="Wingdings" panose="05000000000000000000" pitchFamily="2" charset="2"/>
              <a:buChar char="Ø"/>
            </a:pPr>
            <a:r>
              <a:rPr lang="zh-CN" altLang="en-US" sz="1800" dirty="0">
                <a:solidFill>
                  <a:srgbClr val="C00000"/>
                </a:solidFill>
                <a:latin typeface="微软雅黑" panose="020B0503020204020204" pitchFamily="34" charset="-122"/>
                <a:ea typeface="微软雅黑" panose="020B0503020204020204" pitchFamily="34" charset="-122"/>
              </a:rPr>
              <a:t>正</a:t>
            </a: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rPr>
              <a:t>外部性：产量太少</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7" name="标题 1">
            <a:extLst>
              <a:ext uri="{FF2B5EF4-FFF2-40B4-BE49-F238E27FC236}">
                <a16:creationId xmlns:a16="http://schemas.microsoft.com/office/drawing/2014/main" id="{944D8696-411F-4B37-AFE1-E2695C6E2BBE}"/>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8966866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p:bldP spid="2" grpId="0" animBg="1"/>
      <p:bldP spid="3" grpId="0"/>
      <p:bldP spid="5" grpId="0" animBg="1"/>
      <p:bldP spid="6" grpId="0" animBg="1"/>
      <p:bldP spid="7" grpId="0" animBg="1"/>
      <p:bldP spid="9" grpId="0" animBg="1"/>
      <p:bldP spid="8" grpId="0" animBg="1"/>
      <p:bldP spid="10" grpId="0" animBg="1"/>
      <p:bldP spid="11" grpId="0" animBg="1"/>
      <p:bldP spid="13" grpId="0" animBg="1"/>
      <p:bldP spid="12" grpId="0" animBg="1"/>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80" name="Line 3"/>
          <p:cNvSpPr>
            <a:spLocks noChangeShapeType="1"/>
          </p:cNvSpPr>
          <p:nvPr/>
        </p:nvSpPr>
        <p:spPr bwMode="auto">
          <a:xfrm>
            <a:off x="395536" y="916730"/>
            <a:ext cx="0" cy="48337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4981" name="Line 4"/>
          <p:cNvSpPr>
            <a:spLocks noChangeShapeType="1"/>
          </p:cNvSpPr>
          <p:nvPr/>
        </p:nvSpPr>
        <p:spPr bwMode="auto">
          <a:xfrm>
            <a:off x="395536" y="5750498"/>
            <a:ext cx="620590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4982" name="Line 5"/>
          <p:cNvSpPr>
            <a:spLocks noChangeShapeType="1"/>
          </p:cNvSpPr>
          <p:nvPr/>
        </p:nvSpPr>
        <p:spPr bwMode="auto">
          <a:xfrm>
            <a:off x="1171274" y="2076834"/>
            <a:ext cx="4654430" cy="2900261"/>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4983" name="Line 6"/>
          <p:cNvSpPr>
            <a:spLocks noChangeShapeType="1"/>
          </p:cNvSpPr>
          <p:nvPr/>
        </p:nvSpPr>
        <p:spPr bwMode="auto">
          <a:xfrm flipV="1">
            <a:off x="1106629" y="1426290"/>
            <a:ext cx="4048384" cy="3286962"/>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4984" name="Line 7"/>
          <p:cNvSpPr>
            <a:spLocks noChangeShapeType="1"/>
          </p:cNvSpPr>
          <p:nvPr/>
        </p:nvSpPr>
        <p:spPr bwMode="auto">
          <a:xfrm flipV="1">
            <a:off x="2714670" y="2382973"/>
            <a:ext cx="3789805" cy="3286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4985" name="Line 8"/>
          <p:cNvSpPr>
            <a:spLocks noChangeShapeType="1"/>
          </p:cNvSpPr>
          <p:nvPr/>
        </p:nvSpPr>
        <p:spPr bwMode="auto">
          <a:xfrm>
            <a:off x="2981330" y="3236939"/>
            <a:ext cx="0" cy="2513559"/>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4986" name="Line 9"/>
          <p:cNvSpPr>
            <a:spLocks noChangeShapeType="1"/>
          </p:cNvSpPr>
          <p:nvPr/>
        </p:nvSpPr>
        <p:spPr bwMode="auto">
          <a:xfrm>
            <a:off x="4470856" y="4163411"/>
            <a:ext cx="0" cy="1546806"/>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4987" name="Text Box 10"/>
          <p:cNvSpPr txBox="1">
            <a:spLocks noChangeArrowheads="1"/>
          </p:cNvSpPr>
          <p:nvPr/>
        </p:nvSpPr>
        <p:spPr bwMode="auto">
          <a:xfrm>
            <a:off x="1492852" y="1270653"/>
            <a:ext cx="1543396" cy="785487"/>
          </a:xfrm>
          <a:prstGeom prst="rect">
            <a:avLst/>
          </a:prstGeom>
          <a:solidFill>
            <a:schemeClr val="bg1">
              <a:lumMod val="75000"/>
              <a:alpha val="25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需求曲线</a:t>
            </a:r>
            <a:r>
              <a:rPr lang="en-US" altLang="zh-CN" sz="1800" dirty="0">
                <a:latin typeface="微软雅黑" panose="020B0503020204020204" pitchFamily="34" charset="-122"/>
                <a:ea typeface="微软雅黑" panose="020B0503020204020204" pitchFamily="34" charset="-122"/>
              </a:rPr>
              <a:t>D</a:t>
            </a:r>
          </a:p>
          <a:p>
            <a:pPr algn="ct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 MSB</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424988" name="Text Box 11"/>
          <p:cNvSpPr txBox="1">
            <a:spLocks noChangeArrowheads="1"/>
          </p:cNvSpPr>
          <p:nvPr/>
        </p:nvSpPr>
        <p:spPr bwMode="auto">
          <a:xfrm>
            <a:off x="5260062" y="1178559"/>
            <a:ext cx="1516461" cy="785487"/>
          </a:xfrm>
          <a:prstGeom prst="rect">
            <a:avLst/>
          </a:prstGeom>
          <a:solidFill>
            <a:schemeClr val="bg1">
              <a:lumMod val="75000"/>
              <a:alpha val="23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None/>
            </a:pPr>
            <a:r>
              <a:rPr lang="zh-CN" altLang="en-US" sz="1800" dirty="0">
                <a:latin typeface="微软雅黑" panose="020B0503020204020204" pitchFamily="34" charset="-122"/>
                <a:ea typeface="微软雅黑" panose="020B0503020204020204" pitchFamily="34" charset="-122"/>
              </a:rPr>
              <a:t>供给曲线</a:t>
            </a:r>
            <a:r>
              <a:rPr lang="en-US" altLang="zh-CN" sz="1800" dirty="0">
                <a:latin typeface="微软雅黑" panose="020B0503020204020204" pitchFamily="34" charset="-122"/>
                <a:ea typeface="微软雅黑" panose="020B0503020204020204" pitchFamily="34" charset="-122"/>
              </a:rPr>
              <a:t>S </a:t>
            </a:r>
          </a:p>
          <a:p>
            <a:pPr>
              <a:spcBef>
                <a:spcPct val="50000"/>
              </a:spcBef>
              <a:buNone/>
            </a:pPr>
            <a:r>
              <a:rPr lang="en-US" altLang="zh-CN" sz="1800" dirty="0">
                <a:latin typeface="微软雅黑" panose="020B0503020204020204" pitchFamily="34" charset="-122"/>
                <a:ea typeface="微软雅黑" panose="020B0503020204020204" pitchFamily="34" charset="-122"/>
              </a:rPr>
              <a:t>/ MPC</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424989" name="Text Box 12"/>
          <p:cNvSpPr txBox="1">
            <a:spLocks noChangeArrowheads="1"/>
          </p:cNvSpPr>
          <p:nvPr/>
        </p:nvSpPr>
        <p:spPr bwMode="auto">
          <a:xfrm>
            <a:off x="6423793" y="2305875"/>
            <a:ext cx="1470671" cy="368575"/>
          </a:xfrm>
          <a:prstGeom prst="rect">
            <a:avLst/>
          </a:prstGeom>
          <a:solidFill>
            <a:schemeClr val="bg1">
              <a:lumMod val="75000"/>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None/>
            </a:pPr>
            <a:r>
              <a:rPr lang="en-US" altLang="zh-CN" sz="1800" dirty="0">
                <a:latin typeface="微软雅黑" panose="020B0503020204020204" pitchFamily="34" charset="-122"/>
                <a:ea typeface="微软雅黑" panose="020B0503020204020204" pitchFamily="34" charset="-122"/>
              </a:rPr>
              <a:t>MSC</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358413" name="Text Box 13"/>
          <p:cNvSpPr txBox="1">
            <a:spLocks noChangeArrowheads="1"/>
          </p:cNvSpPr>
          <p:nvPr/>
        </p:nvSpPr>
        <p:spPr bwMode="auto">
          <a:xfrm>
            <a:off x="4141284" y="5780584"/>
            <a:ext cx="1226588" cy="375809"/>
          </a:xfrm>
          <a:prstGeom prst="rect">
            <a:avLst/>
          </a:prstGeom>
          <a:solidFill>
            <a:srgbClr val="F3C97E"/>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None/>
            </a:pPr>
            <a:r>
              <a:rPr lang="zh-CN" altLang="en-US" sz="1800" dirty="0">
                <a:latin typeface="微软雅黑" panose="020B0503020204020204" pitchFamily="34" charset="-122"/>
                <a:ea typeface="微软雅黑" panose="020B0503020204020204" pitchFamily="34" charset="-122"/>
              </a:rPr>
              <a:t>效率产量</a:t>
            </a:r>
            <a:endParaRPr lang="en-US" altLang="zh-CN" sz="1800" dirty="0">
              <a:latin typeface="微软雅黑" panose="020B0503020204020204" pitchFamily="34" charset="-122"/>
              <a:ea typeface="微软雅黑" panose="020B0503020204020204" pitchFamily="34" charset="-122"/>
            </a:endParaRPr>
          </a:p>
        </p:txBody>
      </p:sp>
      <p:sp>
        <p:nvSpPr>
          <p:cNvPr id="358414" name="Text Box 14"/>
          <p:cNvSpPr txBox="1">
            <a:spLocks noChangeArrowheads="1"/>
          </p:cNvSpPr>
          <p:nvPr/>
        </p:nvSpPr>
        <p:spPr bwMode="auto">
          <a:xfrm>
            <a:off x="2474473" y="5795972"/>
            <a:ext cx="1204812" cy="369332"/>
          </a:xfrm>
          <a:prstGeom prst="rect">
            <a:avLst/>
          </a:prstGeom>
          <a:solidFill>
            <a:srgbClr val="F3C97E"/>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1800" dirty="0">
                <a:latin typeface="微软雅黑" panose="020B0503020204020204" pitchFamily="34" charset="-122"/>
                <a:ea typeface="微软雅黑" panose="020B0503020204020204" pitchFamily="34" charset="-122"/>
              </a:rPr>
              <a:t>私人产量</a:t>
            </a:r>
            <a:endParaRPr lang="en-US" altLang="zh-CN" sz="1800" dirty="0">
              <a:latin typeface="微软雅黑" panose="020B0503020204020204" pitchFamily="34" charset="-122"/>
              <a:ea typeface="微软雅黑" panose="020B0503020204020204" pitchFamily="34" charset="-122"/>
            </a:endParaRPr>
          </a:p>
        </p:txBody>
      </p:sp>
      <p:sp>
        <p:nvSpPr>
          <p:cNvPr id="424968" name="Rectangle 28"/>
          <p:cNvSpPr>
            <a:spLocks noChangeArrowheads="1"/>
          </p:cNvSpPr>
          <p:nvPr/>
        </p:nvSpPr>
        <p:spPr bwMode="auto">
          <a:xfrm>
            <a:off x="6103395" y="5709111"/>
            <a:ext cx="18255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dirty="0">
                <a:latin typeface="Tahoma" panose="020B0604030504040204" pitchFamily="34" charset="0"/>
              </a:rPr>
              <a:t>peach</a:t>
            </a:r>
          </a:p>
        </p:txBody>
      </p:sp>
      <p:sp>
        <p:nvSpPr>
          <p:cNvPr id="30" name="Rectangle 28"/>
          <p:cNvSpPr>
            <a:spLocks noChangeArrowheads="1"/>
          </p:cNvSpPr>
          <p:nvPr/>
        </p:nvSpPr>
        <p:spPr bwMode="auto">
          <a:xfrm>
            <a:off x="415027" y="558091"/>
            <a:ext cx="8930240" cy="400110"/>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spcBef>
                <a:spcPct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桃园的正外部性：假设体现在</a:t>
            </a:r>
            <a:r>
              <a:rPr lang="en-US" altLang="zh-CN" sz="2000" dirty="0">
                <a:latin typeface="微软雅黑" panose="020B0503020204020204" pitchFamily="34" charset="-122"/>
                <a:ea typeface="微软雅黑" panose="020B0503020204020204" pitchFamily="34" charset="-122"/>
              </a:rPr>
              <a:t>MSC&lt;MPC</a:t>
            </a:r>
            <a:r>
              <a:rPr lang="zh-CN" altLang="en-US" sz="2000" dirty="0">
                <a:latin typeface="微软雅黑" panose="020B0503020204020204" pitchFamily="34" charset="-122"/>
                <a:ea typeface="微软雅黑" panose="020B0503020204020204" pitchFamily="34" charset="-122"/>
              </a:rPr>
              <a:t>上</a:t>
            </a:r>
            <a:endParaRPr lang="en-US" altLang="zh-CN" sz="2000" dirty="0">
              <a:latin typeface="微软雅黑" panose="020B0503020204020204" pitchFamily="34" charset="-122"/>
              <a:ea typeface="微软雅黑" panose="020B0503020204020204" pitchFamily="34" charset="-122"/>
            </a:endParaRPr>
          </a:p>
        </p:txBody>
      </p:sp>
      <p:sp>
        <p:nvSpPr>
          <p:cNvPr id="4" name="椭圆 3"/>
          <p:cNvSpPr/>
          <p:nvPr/>
        </p:nvSpPr>
        <p:spPr bwMode="auto">
          <a:xfrm>
            <a:off x="2882381" y="3100385"/>
            <a:ext cx="234089" cy="188073"/>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5" name="椭圆 4"/>
          <p:cNvSpPr/>
          <p:nvPr/>
        </p:nvSpPr>
        <p:spPr bwMode="auto">
          <a:xfrm>
            <a:off x="4345987" y="3995469"/>
            <a:ext cx="215187" cy="22254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6" name="矩形 5"/>
          <p:cNvSpPr/>
          <p:nvPr/>
        </p:nvSpPr>
        <p:spPr>
          <a:xfrm>
            <a:off x="4448588" y="4233643"/>
            <a:ext cx="611980" cy="369332"/>
          </a:xfrm>
          <a:prstGeom prst="rect">
            <a:avLst/>
          </a:prstGeom>
        </p:spPr>
        <p:txBody>
          <a:bodyPr wrap="square">
            <a:spAutoFit/>
          </a:bodyPr>
          <a:lstStyle/>
          <a:p>
            <a:pPr eaLnBrk="1" hangingPunct="1">
              <a:spcBef>
                <a:spcPct val="50000"/>
              </a:spcBef>
              <a:buFont typeface="Arial" panose="020B0604020202020204" pitchFamily="34" charset="0"/>
              <a:buNone/>
            </a:pPr>
            <a:r>
              <a:rPr lang="en-US" altLang="zh-CN" sz="1800" dirty="0">
                <a:latin typeface="Tahoma" panose="020B0604030504040204" pitchFamily="34" charset="0"/>
              </a:rPr>
              <a:t>A</a:t>
            </a:r>
            <a:endParaRPr lang="zh-CN" altLang="en-US" sz="1800" dirty="0">
              <a:latin typeface="Tahoma" panose="020B0604030504040204" pitchFamily="34" charset="0"/>
            </a:endParaRPr>
          </a:p>
        </p:txBody>
      </p:sp>
      <p:sp>
        <p:nvSpPr>
          <p:cNvPr id="34" name="矩形 33"/>
          <p:cNvSpPr/>
          <p:nvPr/>
        </p:nvSpPr>
        <p:spPr>
          <a:xfrm>
            <a:off x="2474473" y="2882393"/>
            <a:ext cx="611980" cy="369332"/>
          </a:xfrm>
          <a:prstGeom prst="rect">
            <a:avLst/>
          </a:prstGeom>
        </p:spPr>
        <p:txBody>
          <a:bodyPr wrap="square">
            <a:spAutoFit/>
          </a:bodyPr>
          <a:lstStyle/>
          <a:p>
            <a:pPr eaLnBrk="1" hangingPunct="1">
              <a:spcBef>
                <a:spcPct val="50000"/>
              </a:spcBef>
              <a:buFont typeface="Arial" panose="020B0604020202020204" pitchFamily="34" charset="0"/>
              <a:buNone/>
            </a:pPr>
            <a:r>
              <a:rPr lang="en-US" altLang="zh-CN" sz="1800" dirty="0">
                <a:latin typeface="Tahoma" panose="020B0604030504040204" pitchFamily="34" charset="0"/>
              </a:rPr>
              <a:t>B</a:t>
            </a:r>
            <a:endParaRPr lang="zh-CN" altLang="en-US" sz="1800" dirty="0">
              <a:latin typeface="Tahoma" panose="020B0604030504040204" pitchFamily="34" charset="0"/>
            </a:endParaRPr>
          </a:p>
        </p:txBody>
      </p:sp>
      <p:sp>
        <p:nvSpPr>
          <p:cNvPr id="35" name="Line 8"/>
          <p:cNvSpPr>
            <a:spLocks noChangeShapeType="1"/>
          </p:cNvSpPr>
          <p:nvPr/>
        </p:nvSpPr>
        <p:spPr bwMode="auto">
          <a:xfrm>
            <a:off x="4510378" y="2089958"/>
            <a:ext cx="2676" cy="1970033"/>
          </a:xfrm>
          <a:prstGeom prst="line">
            <a:avLst/>
          </a:prstGeom>
          <a:noFill/>
          <a:ln w="25400" cap="rnd">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矩形 35"/>
          <p:cNvSpPr/>
          <p:nvPr/>
        </p:nvSpPr>
        <p:spPr>
          <a:xfrm>
            <a:off x="3036248" y="5217802"/>
            <a:ext cx="611980" cy="369332"/>
          </a:xfrm>
          <a:prstGeom prst="rect">
            <a:avLst/>
          </a:prstGeom>
        </p:spPr>
        <p:txBody>
          <a:bodyPr wrap="square">
            <a:spAutoFit/>
          </a:bodyPr>
          <a:lstStyle/>
          <a:p>
            <a:pPr>
              <a:spcBef>
                <a:spcPct val="50000"/>
              </a:spcBef>
            </a:pPr>
            <a:r>
              <a:rPr lang="en-US" altLang="zh-CN" sz="1800" dirty="0">
                <a:latin typeface="Tahoma" panose="020B0604030504040204" pitchFamily="34" charset="0"/>
              </a:rPr>
              <a:t>F</a:t>
            </a:r>
            <a:endParaRPr lang="zh-CN" altLang="en-US" sz="1800" dirty="0">
              <a:latin typeface="Tahoma" panose="020B0604030504040204" pitchFamily="34" charset="0"/>
            </a:endParaRPr>
          </a:p>
        </p:txBody>
      </p:sp>
      <p:sp>
        <p:nvSpPr>
          <p:cNvPr id="37" name="矩形 36"/>
          <p:cNvSpPr/>
          <p:nvPr/>
        </p:nvSpPr>
        <p:spPr>
          <a:xfrm>
            <a:off x="4492787" y="5264343"/>
            <a:ext cx="611980" cy="369332"/>
          </a:xfrm>
          <a:prstGeom prst="rect">
            <a:avLst/>
          </a:prstGeom>
        </p:spPr>
        <p:txBody>
          <a:bodyPr wrap="square">
            <a:spAutoFit/>
          </a:bodyPr>
          <a:lstStyle/>
          <a:p>
            <a:pPr eaLnBrk="1" hangingPunct="1">
              <a:spcBef>
                <a:spcPct val="50000"/>
              </a:spcBef>
              <a:buFontTx/>
              <a:buNone/>
            </a:pPr>
            <a:r>
              <a:rPr lang="en-US" altLang="zh-CN" sz="1800" dirty="0">
                <a:latin typeface="Tahoma" panose="020B0604030504040204" pitchFamily="34" charset="0"/>
              </a:rPr>
              <a:t>E</a:t>
            </a:r>
            <a:endParaRPr lang="zh-CN" altLang="en-US" sz="1800" dirty="0"/>
          </a:p>
        </p:txBody>
      </p:sp>
      <p:sp>
        <p:nvSpPr>
          <p:cNvPr id="38" name="矩形 37"/>
          <p:cNvSpPr/>
          <p:nvPr/>
        </p:nvSpPr>
        <p:spPr>
          <a:xfrm>
            <a:off x="4052063" y="1471026"/>
            <a:ext cx="611980" cy="369332"/>
          </a:xfrm>
          <a:prstGeom prst="rect">
            <a:avLst/>
          </a:prstGeom>
        </p:spPr>
        <p:txBody>
          <a:bodyPr wrap="square">
            <a:spAutoFit/>
          </a:bodyPr>
          <a:lstStyle/>
          <a:p>
            <a:pPr>
              <a:spcBef>
                <a:spcPct val="50000"/>
              </a:spcBef>
            </a:pPr>
            <a:r>
              <a:rPr lang="en-US" altLang="zh-CN" sz="1800" dirty="0">
                <a:latin typeface="Tahoma" panose="020B0604030504040204" pitchFamily="34" charset="0"/>
              </a:rPr>
              <a:t>G</a:t>
            </a:r>
            <a:endParaRPr lang="zh-CN" altLang="en-US" sz="1800" dirty="0">
              <a:latin typeface="Tahoma" panose="020B0604030504040204" pitchFamily="34" charset="0"/>
            </a:endParaRPr>
          </a:p>
        </p:txBody>
      </p:sp>
      <p:sp>
        <p:nvSpPr>
          <p:cNvPr id="40" name="矩形 39"/>
          <p:cNvSpPr/>
          <p:nvPr/>
        </p:nvSpPr>
        <p:spPr>
          <a:xfrm>
            <a:off x="3771124" y="2460186"/>
            <a:ext cx="611981" cy="1323439"/>
          </a:xfrm>
          <a:prstGeom prst="rect">
            <a:avLst/>
          </a:prstGeom>
        </p:spPr>
        <p:txBody>
          <a:bodyPr wrap="square">
            <a:spAutoFit/>
          </a:bodyPr>
          <a:lstStyle/>
          <a:p>
            <a:pPr>
              <a:spcBef>
                <a:spcPct val="50000"/>
              </a:spcBef>
            </a:pPr>
            <a:r>
              <a:rPr kumimoji="1" lang="zh-CN" altLang="en-US" sz="2000" dirty="0">
                <a:latin typeface="微软雅黑" panose="020B0503020204020204" pitchFamily="34" charset="-122"/>
                <a:ea typeface="微软雅黑" panose="020B0503020204020204" pitchFamily="34" charset="-122"/>
              </a:rPr>
              <a:t>外部收益</a:t>
            </a:r>
          </a:p>
        </p:txBody>
      </p:sp>
      <p:sp>
        <p:nvSpPr>
          <p:cNvPr id="41" name="椭圆 40"/>
          <p:cNvSpPr/>
          <p:nvPr/>
        </p:nvSpPr>
        <p:spPr bwMode="auto">
          <a:xfrm>
            <a:off x="4203189" y="1968436"/>
            <a:ext cx="247275" cy="23346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7" name="左大括号 6"/>
          <p:cNvSpPr/>
          <p:nvPr/>
        </p:nvSpPr>
        <p:spPr bwMode="auto">
          <a:xfrm>
            <a:off x="4176288" y="2126554"/>
            <a:ext cx="261113" cy="1900000"/>
          </a:xfrm>
          <a:prstGeom prst="leftBr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8" name="左大括号 7"/>
          <p:cNvSpPr/>
          <p:nvPr/>
        </p:nvSpPr>
        <p:spPr bwMode="auto">
          <a:xfrm>
            <a:off x="4192745" y="4119842"/>
            <a:ext cx="237217" cy="1589269"/>
          </a:xfrm>
          <a:prstGeom prst="leftBr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4" name="矩形 43"/>
          <p:cNvSpPr/>
          <p:nvPr/>
        </p:nvSpPr>
        <p:spPr>
          <a:xfrm>
            <a:off x="3810764" y="4369968"/>
            <a:ext cx="611981" cy="1323439"/>
          </a:xfrm>
          <a:prstGeom prst="rect">
            <a:avLst/>
          </a:prstGeom>
        </p:spPr>
        <p:txBody>
          <a:bodyPr wrap="square">
            <a:spAutoFit/>
          </a:bodyPr>
          <a:lstStyle/>
          <a:p>
            <a:pPr>
              <a:spcBef>
                <a:spcPct val="50000"/>
              </a:spcBef>
            </a:pPr>
            <a:r>
              <a:rPr kumimoji="1" lang="zh-CN" altLang="en-US" sz="2000" dirty="0">
                <a:latin typeface="微软雅黑" panose="020B0503020204020204" pitchFamily="34" charset="-122"/>
                <a:ea typeface="微软雅黑" panose="020B0503020204020204" pitchFamily="34" charset="-122"/>
              </a:rPr>
              <a:t>社会成本</a:t>
            </a:r>
          </a:p>
        </p:txBody>
      </p:sp>
      <p:sp>
        <p:nvSpPr>
          <p:cNvPr id="9" name="右大括号 8"/>
          <p:cNvSpPr/>
          <p:nvPr/>
        </p:nvSpPr>
        <p:spPr bwMode="auto">
          <a:xfrm>
            <a:off x="4610315" y="2167408"/>
            <a:ext cx="539664" cy="3542746"/>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 name="矩形 45"/>
          <p:cNvSpPr/>
          <p:nvPr/>
        </p:nvSpPr>
        <p:spPr>
          <a:xfrm>
            <a:off x="5126946" y="3437785"/>
            <a:ext cx="611981" cy="1323439"/>
          </a:xfrm>
          <a:prstGeom prst="rect">
            <a:avLst/>
          </a:prstGeom>
        </p:spPr>
        <p:txBody>
          <a:bodyPr wrap="square">
            <a:spAutoFit/>
          </a:bodyPr>
          <a:lstStyle/>
          <a:p>
            <a:pPr eaLnBrk="1" hangingPunct="1">
              <a:spcBef>
                <a:spcPct val="50000"/>
              </a:spcBef>
              <a:buFont typeface="Arial" panose="020B0604020202020204" pitchFamily="34" charset="0"/>
              <a:buNone/>
            </a:pPr>
            <a:r>
              <a:rPr kumimoji="1" lang="zh-CN" altLang="en-US" sz="2000" dirty="0">
                <a:latin typeface="微软雅黑" panose="020B0503020204020204" pitchFamily="34" charset="-122"/>
                <a:ea typeface="微软雅黑" panose="020B0503020204020204" pitchFamily="34" charset="-122"/>
              </a:rPr>
              <a:t>私人成本</a:t>
            </a:r>
          </a:p>
        </p:txBody>
      </p:sp>
      <p:sp>
        <p:nvSpPr>
          <p:cNvPr id="10" name="矩形 9"/>
          <p:cNvSpPr/>
          <p:nvPr/>
        </p:nvSpPr>
        <p:spPr>
          <a:xfrm>
            <a:off x="6302803" y="3888418"/>
            <a:ext cx="2432006" cy="1615827"/>
          </a:xfrm>
          <a:prstGeom prst="rect">
            <a:avLst/>
          </a:prstGeom>
          <a:noFill/>
          <a:ln w="28575">
            <a:solidFill>
              <a:srgbClr val="CC0000"/>
            </a:solidFill>
          </a:ln>
        </p:spPr>
        <p:txBody>
          <a:bodyPr wrap="square">
            <a:spAutoFit/>
          </a:bodyPr>
          <a:lstStyle/>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MPC:  </a:t>
            </a:r>
            <a:r>
              <a:rPr lang="zh-CN" altLang="en-US" sz="1800" dirty="0">
                <a:latin typeface="微软雅黑" panose="020B0503020204020204" pitchFamily="34" charset="-122"/>
                <a:ea typeface="微软雅黑" panose="020B0503020204020204" pitchFamily="34" charset="-122"/>
              </a:rPr>
              <a:t>边际私人成本</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MPB</a:t>
            </a:r>
            <a:r>
              <a:rPr lang="zh-CN" altLang="en-US" sz="1800" dirty="0">
                <a:latin typeface="微软雅黑" panose="020B0503020204020204" pitchFamily="34" charset="-122"/>
                <a:ea typeface="微软雅黑" panose="020B0503020204020204" pitchFamily="34" charset="-122"/>
              </a:rPr>
              <a:t>：边际私人收益</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pPr>
            <a:r>
              <a:rPr lang="en-US" altLang="zh-CN" sz="1800" dirty="0">
                <a:latin typeface="微软雅黑" panose="020B0503020204020204" pitchFamily="34" charset="-122"/>
                <a:ea typeface="微软雅黑" panose="020B0503020204020204" pitchFamily="34" charset="-122"/>
              </a:rPr>
              <a:t>MSC</a:t>
            </a:r>
            <a:r>
              <a:rPr lang="zh-CN" altLang="en-US" sz="1800" dirty="0">
                <a:latin typeface="微软雅黑" panose="020B0503020204020204" pitchFamily="34" charset="-122"/>
                <a:ea typeface="微软雅黑" panose="020B0503020204020204" pitchFamily="34" charset="-122"/>
              </a:rPr>
              <a:t>：边际社会成本</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MSB</a:t>
            </a:r>
            <a:r>
              <a:rPr lang="zh-CN" altLang="en-US" sz="1800" dirty="0">
                <a:latin typeface="微软雅黑" panose="020B0503020204020204" pitchFamily="34" charset="-122"/>
                <a:ea typeface="微软雅黑" panose="020B0503020204020204" pitchFamily="34" charset="-122"/>
              </a:rPr>
              <a:t>：边际社会收益</a:t>
            </a:r>
            <a:endParaRPr lang="en-US" altLang="zh-CN" sz="1800" dirty="0">
              <a:latin typeface="微软雅黑" panose="020B0503020204020204" pitchFamily="34" charset="-122"/>
              <a:ea typeface="微软雅黑" panose="020B0503020204020204" pitchFamily="34" charset="-122"/>
            </a:endParaRPr>
          </a:p>
        </p:txBody>
      </p:sp>
      <p:sp>
        <p:nvSpPr>
          <p:cNvPr id="33" name="标题 1">
            <a:extLst>
              <a:ext uri="{FF2B5EF4-FFF2-40B4-BE49-F238E27FC236}">
                <a16:creationId xmlns:a16="http://schemas.microsoft.com/office/drawing/2014/main" id="{026149F6-9A0D-401C-BE91-6115F89E75B8}"/>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86946596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24980"/>
                                        </p:tgtEl>
                                        <p:attrNameLst>
                                          <p:attrName>style.visibility</p:attrName>
                                        </p:attrNameLst>
                                      </p:cBhvr>
                                      <p:to>
                                        <p:strVal val="visible"/>
                                      </p:to>
                                    </p:set>
                                    <p:animEffect transition="in" filter="barn(inVertical)">
                                      <p:cBhvr>
                                        <p:cTn id="11" dur="500"/>
                                        <p:tgtEl>
                                          <p:spTgt spid="424980"/>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424981"/>
                                        </p:tgtEl>
                                        <p:attrNameLst>
                                          <p:attrName>style.visibility</p:attrName>
                                        </p:attrNameLst>
                                      </p:cBhvr>
                                      <p:to>
                                        <p:strVal val="visible"/>
                                      </p:to>
                                    </p:set>
                                    <p:animEffect transition="in" filter="barn(inVertical)">
                                      <p:cBhvr>
                                        <p:cTn id="14" dur="500"/>
                                        <p:tgtEl>
                                          <p:spTgt spid="424981"/>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424968"/>
                                        </p:tgtEl>
                                        <p:attrNameLst>
                                          <p:attrName>style.visibility</p:attrName>
                                        </p:attrNameLst>
                                      </p:cBhvr>
                                      <p:to>
                                        <p:strVal val="visible"/>
                                      </p:to>
                                    </p:set>
                                    <p:animEffect transition="in" filter="barn(inVertical)">
                                      <p:cBhvr>
                                        <p:cTn id="17" dur="500"/>
                                        <p:tgtEl>
                                          <p:spTgt spid="42496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randombar(horizontal)">
                                      <p:cBhvr>
                                        <p:cTn id="25" dur="500"/>
                                        <p:tgtEl>
                                          <p:spTgt spid="8"/>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randombar(horizontal)">
                                      <p:cBhvr>
                                        <p:cTn id="28" dur="500"/>
                                        <p:tgtEl>
                                          <p:spTgt spid="44"/>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randombar(horizontal)">
                                      <p:cBhvr>
                                        <p:cTn id="31" dur="500"/>
                                        <p:tgtEl>
                                          <p:spTgt spid="40"/>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randombar(horizontal)">
                                      <p:cBhvr>
                                        <p:cTn id="36" dur="500"/>
                                        <p:tgtEl>
                                          <p:spTgt spid="9"/>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randombar(horizontal)">
                                      <p:cBhvr>
                                        <p:cTn id="39" dur="500"/>
                                        <p:tgtEl>
                                          <p:spTgt spid="46"/>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424984"/>
                                        </p:tgtEl>
                                        <p:attrNameLst>
                                          <p:attrName>style.visibility</p:attrName>
                                        </p:attrNameLst>
                                      </p:cBhvr>
                                      <p:to>
                                        <p:strVal val="visible"/>
                                      </p:to>
                                    </p:set>
                                    <p:anim calcmode="lin" valueType="num">
                                      <p:cBhvr additive="base">
                                        <p:cTn id="44" dur="500" fill="hold"/>
                                        <p:tgtEl>
                                          <p:spTgt spid="424984"/>
                                        </p:tgtEl>
                                        <p:attrNameLst>
                                          <p:attrName>ppt_x</p:attrName>
                                        </p:attrNameLst>
                                      </p:cBhvr>
                                      <p:tavLst>
                                        <p:tav tm="0">
                                          <p:val>
                                            <p:strVal val="#ppt_x"/>
                                          </p:val>
                                        </p:tav>
                                        <p:tav tm="100000">
                                          <p:val>
                                            <p:strVal val="#ppt_x"/>
                                          </p:val>
                                        </p:tav>
                                      </p:tavLst>
                                    </p:anim>
                                    <p:anim calcmode="lin" valueType="num">
                                      <p:cBhvr additive="base">
                                        <p:cTn id="45" dur="500" fill="hold"/>
                                        <p:tgtEl>
                                          <p:spTgt spid="424984"/>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424989"/>
                                        </p:tgtEl>
                                        <p:attrNameLst>
                                          <p:attrName>style.visibility</p:attrName>
                                        </p:attrNameLst>
                                      </p:cBhvr>
                                      <p:to>
                                        <p:strVal val="visible"/>
                                      </p:to>
                                    </p:set>
                                    <p:anim calcmode="lin" valueType="num">
                                      <p:cBhvr additive="base">
                                        <p:cTn id="48" dur="500" fill="hold"/>
                                        <p:tgtEl>
                                          <p:spTgt spid="424989"/>
                                        </p:tgtEl>
                                        <p:attrNameLst>
                                          <p:attrName>ppt_x</p:attrName>
                                        </p:attrNameLst>
                                      </p:cBhvr>
                                      <p:tavLst>
                                        <p:tav tm="0">
                                          <p:val>
                                            <p:strVal val="#ppt_x"/>
                                          </p:val>
                                        </p:tav>
                                        <p:tav tm="100000">
                                          <p:val>
                                            <p:strVal val="#ppt_x"/>
                                          </p:val>
                                        </p:tav>
                                      </p:tavLst>
                                    </p:anim>
                                    <p:anim calcmode="lin" valueType="num">
                                      <p:cBhvr additive="base">
                                        <p:cTn id="49" dur="500" fill="hold"/>
                                        <p:tgtEl>
                                          <p:spTgt spid="424989"/>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24983"/>
                                        </p:tgtEl>
                                        <p:attrNameLst>
                                          <p:attrName>style.visibility</p:attrName>
                                        </p:attrNameLst>
                                      </p:cBhvr>
                                      <p:to>
                                        <p:strVal val="visible"/>
                                      </p:to>
                                    </p:set>
                                    <p:anim calcmode="lin" valueType="num">
                                      <p:cBhvr additive="base">
                                        <p:cTn id="54" dur="500" fill="hold"/>
                                        <p:tgtEl>
                                          <p:spTgt spid="424983"/>
                                        </p:tgtEl>
                                        <p:attrNameLst>
                                          <p:attrName>ppt_x</p:attrName>
                                        </p:attrNameLst>
                                      </p:cBhvr>
                                      <p:tavLst>
                                        <p:tav tm="0">
                                          <p:val>
                                            <p:strVal val="#ppt_x"/>
                                          </p:val>
                                        </p:tav>
                                        <p:tav tm="100000">
                                          <p:val>
                                            <p:strVal val="#ppt_x"/>
                                          </p:val>
                                        </p:tav>
                                      </p:tavLst>
                                    </p:anim>
                                    <p:anim calcmode="lin" valueType="num">
                                      <p:cBhvr additive="base">
                                        <p:cTn id="55" dur="500" fill="hold"/>
                                        <p:tgtEl>
                                          <p:spTgt spid="424983"/>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424988"/>
                                        </p:tgtEl>
                                        <p:attrNameLst>
                                          <p:attrName>style.visibility</p:attrName>
                                        </p:attrNameLst>
                                      </p:cBhvr>
                                      <p:to>
                                        <p:strVal val="visible"/>
                                      </p:to>
                                    </p:set>
                                    <p:anim calcmode="lin" valueType="num">
                                      <p:cBhvr additive="base">
                                        <p:cTn id="58" dur="500" fill="hold"/>
                                        <p:tgtEl>
                                          <p:spTgt spid="424988"/>
                                        </p:tgtEl>
                                        <p:attrNameLst>
                                          <p:attrName>ppt_x</p:attrName>
                                        </p:attrNameLst>
                                      </p:cBhvr>
                                      <p:tavLst>
                                        <p:tav tm="0">
                                          <p:val>
                                            <p:strVal val="#ppt_x"/>
                                          </p:val>
                                        </p:tav>
                                        <p:tav tm="100000">
                                          <p:val>
                                            <p:strVal val="#ppt_x"/>
                                          </p:val>
                                        </p:tav>
                                      </p:tavLst>
                                    </p:anim>
                                    <p:anim calcmode="lin" valueType="num">
                                      <p:cBhvr additive="base">
                                        <p:cTn id="59" dur="500" fill="hold"/>
                                        <p:tgtEl>
                                          <p:spTgt spid="424988"/>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424982"/>
                                        </p:tgtEl>
                                        <p:attrNameLst>
                                          <p:attrName>style.visibility</p:attrName>
                                        </p:attrNameLst>
                                      </p:cBhvr>
                                      <p:to>
                                        <p:strVal val="visible"/>
                                      </p:to>
                                    </p:set>
                                    <p:anim calcmode="lin" valueType="num">
                                      <p:cBhvr additive="base">
                                        <p:cTn id="64" dur="500" fill="hold"/>
                                        <p:tgtEl>
                                          <p:spTgt spid="424982"/>
                                        </p:tgtEl>
                                        <p:attrNameLst>
                                          <p:attrName>ppt_x</p:attrName>
                                        </p:attrNameLst>
                                      </p:cBhvr>
                                      <p:tavLst>
                                        <p:tav tm="0">
                                          <p:val>
                                            <p:strVal val="#ppt_x"/>
                                          </p:val>
                                        </p:tav>
                                        <p:tav tm="100000">
                                          <p:val>
                                            <p:strVal val="#ppt_x"/>
                                          </p:val>
                                        </p:tav>
                                      </p:tavLst>
                                    </p:anim>
                                    <p:anim calcmode="lin" valueType="num">
                                      <p:cBhvr additive="base">
                                        <p:cTn id="65" dur="500" fill="hold"/>
                                        <p:tgtEl>
                                          <p:spTgt spid="424982"/>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424987"/>
                                        </p:tgtEl>
                                        <p:attrNameLst>
                                          <p:attrName>style.visibility</p:attrName>
                                        </p:attrNameLst>
                                      </p:cBhvr>
                                      <p:to>
                                        <p:strVal val="visible"/>
                                      </p:to>
                                    </p:set>
                                    <p:anim calcmode="lin" valueType="num">
                                      <p:cBhvr additive="base">
                                        <p:cTn id="68" dur="500" fill="hold"/>
                                        <p:tgtEl>
                                          <p:spTgt spid="424987"/>
                                        </p:tgtEl>
                                        <p:attrNameLst>
                                          <p:attrName>ppt_x</p:attrName>
                                        </p:attrNameLst>
                                      </p:cBhvr>
                                      <p:tavLst>
                                        <p:tav tm="0">
                                          <p:val>
                                            <p:strVal val="#ppt_x"/>
                                          </p:val>
                                        </p:tav>
                                        <p:tav tm="100000">
                                          <p:val>
                                            <p:strVal val="#ppt_x"/>
                                          </p:val>
                                        </p:tav>
                                      </p:tavLst>
                                    </p:anim>
                                    <p:anim calcmode="lin" valueType="num">
                                      <p:cBhvr additive="base">
                                        <p:cTn id="69" dur="500" fill="hold"/>
                                        <p:tgtEl>
                                          <p:spTgt spid="424987"/>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10"/>
                                        </p:tgtEl>
                                        <p:attrNameLst>
                                          <p:attrName>style.visibility</p:attrName>
                                        </p:attrNameLst>
                                      </p:cBhvr>
                                      <p:to>
                                        <p:strVal val="visible"/>
                                      </p:to>
                                    </p:set>
                                    <p:anim calcmode="lin" valueType="num">
                                      <p:cBhvr additive="base">
                                        <p:cTn id="74" dur="500" fill="hold"/>
                                        <p:tgtEl>
                                          <p:spTgt spid="10"/>
                                        </p:tgtEl>
                                        <p:attrNameLst>
                                          <p:attrName>ppt_x</p:attrName>
                                        </p:attrNameLst>
                                      </p:cBhvr>
                                      <p:tavLst>
                                        <p:tav tm="0">
                                          <p:val>
                                            <p:strVal val="#ppt_x"/>
                                          </p:val>
                                        </p:tav>
                                        <p:tav tm="100000">
                                          <p:val>
                                            <p:strVal val="#ppt_x"/>
                                          </p:val>
                                        </p:tav>
                                      </p:tavLst>
                                    </p:anim>
                                    <p:anim calcmode="lin" valueType="num">
                                      <p:cBhvr additive="base">
                                        <p:cTn id="7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4" presetClass="entr" presetSubtype="10" fill="hold" grpId="0" nodeType="click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randombar(horizontal)">
                                      <p:cBhvr>
                                        <p:cTn id="80" dur="500"/>
                                        <p:tgtEl>
                                          <p:spTgt spid="5"/>
                                        </p:tgtEl>
                                      </p:cBhvr>
                                    </p:animEffect>
                                  </p:childTnLst>
                                </p:cTn>
                              </p:par>
                              <p:par>
                                <p:cTn id="81" presetID="14" presetClass="entr" presetSubtype="10" fill="hold" grpId="0" nodeType="withEffect">
                                  <p:stCondLst>
                                    <p:cond delay="0"/>
                                  </p:stCondLst>
                                  <p:childTnLst>
                                    <p:set>
                                      <p:cBhvr>
                                        <p:cTn id="82" dur="1" fill="hold">
                                          <p:stCondLst>
                                            <p:cond delay="0"/>
                                          </p:stCondLst>
                                        </p:cTn>
                                        <p:tgtEl>
                                          <p:spTgt spid="6"/>
                                        </p:tgtEl>
                                        <p:attrNameLst>
                                          <p:attrName>style.visibility</p:attrName>
                                        </p:attrNameLst>
                                      </p:cBhvr>
                                      <p:to>
                                        <p:strVal val="visible"/>
                                      </p:to>
                                    </p:set>
                                    <p:animEffect transition="in" filter="randombar(horizontal)">
                                      <p:cBhvr>
                                        <p:cTn id="83" dur="500"/>
                                        <p:tgtEl>
                                          <p:spTgt spid="6"/>
                                        </p:tgtEl>
                                      </p:cBhvr>
                                    </p:animEffect>
                                  </p:childTnLst>
                                </p:cTn>
                              </p:par>
                            </p:childTnLst>
                          </p:cTn>
                        </p:par>
                      </p:childTnLst>
                    </p:cTn>
                  </p:par>
                  <p:par>
                    <p:cTn id="84" fill="hold">
                      <p:stCondLst>
                        <p:cond delay="indefinite"/>
                      </p:stCondLst>
                      <p:childTnLst>
                        <p:par>
                          <p:cTn id="85" fill="hold">
                            <p:stCondLst>
                              <p:cond delay="0"/>
                            </p:stCondLst>
                            <p:childTnLst>
                              <p:par>
                                <p:cTn id="86" presetID="14" presetClass="entr" presetSubtype="10" fill="hold" grpId="0" nodeType="clickEffect">
                                  <p:stCondLst>
                                    <p:cond delay="0"/>
                                  </p:stCondLst>
                                  <p:childTnLst>
                                    <p:set>
                                      <p:cBhvr>
                                        <p:cTn id="87" dur="1" fill="hold">
                                          <p:stCondLst>
                                            <p:cond delay="0"/>
                                          </p:stCondLst>
                                        </p:cTn>
                                        <p:tgtEl>
                                          <p:spTgt spid="4"/>
                                        </p:tgtEl>
                                        <p:attrNameLst>
                                          <p:attrName>style.visibility</p:attrName>
                                        </p:attrNameLst>
                                      </p:cBhvr>
                                      <p:to>
                                        <p:strVal val="visible"/>
                                      </p:to>
                                    </p:set>
                                    <p:animEffect transition="in" filter="randombar(horizontal)">
                                      <p:cBhvr>
                                        <p:cTn id="88" dur="500"/>
                                        <p:tgtEl>
                                          <p:spTgt spid="4"/>
                                        </p:tgtEl>
                                      </p:cBhvr>
                                    </p:animEffect>
                                  </p:childTnLst>
                                </p:cTn>
                              </p:par>
                              <p:par>
                                <p:cTn id="89" presetID="14" presetClass="entr" presetSubtype="1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randombar(horizontal)">
                                      <p:cBhvr>
                                        <p:cTn id="91" dur="500"/>
                                        <p:tgtEl>
                                          <p:spTgt spid="34"/>
                                        </p:tgtEl>
                                      </p:cBhvr>
                                    </p:animEffect>
                                  </p:childTnLst>
                                </p:cTn>
                              </p:par>
                            </p:childTnLst>
                          </p:cTn>
                        </p:par>
                      </p:childTnLst>
                    </p:cTn>
                  </p:par>
                  <p:par>
                    <p:cTn id="92" fill="hold">
                      <p:stCondLst>
                        <p:cond delay="indefinite"/>
                      </p:stCondLst>
                      <p:childTnLst>
                        <p:par>
                          <p:cTn id="93" fill="hold">
                            <p:stCondLst>
                              <p:cond delay="0"/>
                            </p:stCondLst>
                            <p:childTnLst>
                              <p:par>
                                <p:cTn id="94" presetID="14" presetClass="entr" presetSubtype="10" fill="hold" grpId="0" nodeType="click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randombar(horizontal)">
                                      <p:cBhvr>
                                        <p:cTn id="96" dur="500"/>
                                        <p:tgtEl>
                                          <p:spTgt spid="41"/>
                                        </p:tgtEl>
                                      </p:cBhvr>
                                    </p:animEffect>
                                  </p:childTnLst>
                                </p:cTn>
                              </p:par>
                              <p:par>
                                <p:cTn id="97" presetID="14" presetClass="entr" presetSubtype="10" fill="hold" grpId="0" nodeType="with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randombar(horizontal)">
                                      <p:cBhvr>
                                        <p:cTn id="99" dur="500"/>
                                        <p:tgtEl>
                                          <p:spTgt spid="38"/>
                                        </p:tgtEl>
                                      </p:cBhvr>
                                    </p:animEffect>
                                  </p:childTnLst>
                                </p:cTn>
                              </p:par>
                            </p:childTnLst>
                          </p:cTn>
                        </p:par>
                      </p:childTnLst>
                    </p:cTn>
                  </p:par>
                  <p:par>
                    <p:cTn id="100" fill="hold">
                      <p:stCondLst>
                        <p:cond delay="indefinite"/>
                      </p:stCondLst>
                      <p:childTnLst>
                        <p:par>
                          <p:cTn id="101" fill="hold">
                            <p:stCondLst>
                              <p:cond delay="0"/>
                            </p:stCondLst>
                            <p:childTnLst>
                              <p:par>
                                <p:cTn id="102" presetID="14" presetClass="entr" presetSubtype="10" fill="hold" grpId="0" nodeType="clickEffect">
                                  <p:stCondLst>
                                    <p:cond delay="0"/>
                                  </p:stCondLst>
                                  <p:childTnLst>
                                    <p:set>
                                      <p:cBhvr>
                                        <p:cTn id="103" dur="1" fill="hold">
                                          <p:stCondLst>
                                            <p:cond delay="0"/>
                                          </p:stCondLst>
                                        </p:cTn>
                                        <p:tgtEl>
                                          <p:spTgt spid="424985"/>
                                        </p:tgtEl>
                                        <p:attrNameLst>
                                          <p:attrName>style.visibility</p:attrName>
                                        </p:attrNameLst>
                                      </p:cBhvr>
                                      <p:to>
                                        <p:strVal val="visible"/>
                                      </p:to>
                                    </p:set>
                                    <p:animEffect transition="in" filter="randombar(horizontal)">
                                      <p:cBhvr>
                                        <p:cTn id="104" dur="500"/>
                                        <p:tgtEl>
                                          <p:spTgt spid="424985"/>
                                        </p:tgtEl>
                                      </p:cBhvr>
                                    </p:animEffect>
                                  </p:childTnLst>
                                </p:cTn>
                              </p:par>
                              <p:par>
                                <p:cTn id="105" presetID="14" presetClass="entr" presetSubtype="1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randombar(horizontal)">
                                      <p:cBhvr>
                                        <p:cTn id="107" dur="500"/>
                                        <p:tgtEl>
                                          <p:spTgt spid="36"/>
                                        </p:tgtEl>
                                      </p:cBhvr>
                                    </p:animEffect>
                                  </p:childTnLst>
                                </p:cTn>
                              </p:par>
                              <p:par>
                                <p:cTn id="108" presetID="14" presetClass="entr" presetSubtype="10" fill="hold" grpId="0" nodeType="withEffect">
                                  <p:stCondLst>
                                    <p:cond delay="0"/>
                                  </p:stCondLst>
                                  <p:childTnLst>
                                    <p:set>
                                      <p:cBhvr>
                                        <p:cTn id="109" dur="1" fill="hold">
                                          <p:stCondLst>
                                            <p:cond delay="0"/>
                                          </p:stCondLst>
                                        </p:cTn>
                                        <p:tgtEl>
                                          <p:spTgt spid="358414"/>
                                        </p:tgtEl>
                                        <p:attrNameLst>
                                          <p:attrName>style.visibility</p:attrName>
                                        </p:attrNameLst>
                                      </p:cBhvr>
                                      <p:to>
                                        <p:strVal val="visible"/>
                                      </p:to>
                                    </p:set>
                                    <p:animEffect transition="in" filter="randombar(horizontal)">
                                      <p:cBhvr>
                                        <p:cTn id="110" dur="500"/>
                                        <p:tgtEl>
                                          <p:spTgt spid="358414"/>
                                        </p:tgtEl>
                                      </p:cBhvr>
                                    </p:animEffec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grpId="0" nodeType="clickEffect">
                                  <p:stCondLst>
                                    <p:cond delay="0"/>
                                  </p:stCondLst>
                                  <p:childTnLst>
                                    <p:set>
                                      <p:cBhvr>
                                        <p:cTn id="114" dur="1" fill="hold">
                                          <p:stCondLst>
                                            <p:cond delay="0"/>
                                          </p:stCondLst>
                                        </p:cTn>
                                        <p:tgtEl>
                                          <p:spTgt spid="424986"/>
                                        </p:tgtEl>
                                        <p:attrNameLst>
                                          <p:attrName>style.visibility</p:attrName>
                                        </p:attrNameLst>
                                      </p:cBhvr>
                                      <p:to>
                                        <p:strVal val="visible"/>
                                      </p:to>
                                    </p:set>
                                    <p:animEffect transition="in" filter="randombar(horizontal)">
                                      <p:cBhvr>
                                        <p:cTn id="115" dur="500"/>
                                        <p:tgtEl>
                                          <p:spTgt spid="424986"/>
                                        </p:tgtEl>
                                      </p:cBhvr>
                                    </p:animEffect>
                                  </p:childTnLst>
                                </p:cTn>
                              </p:par>
                              <p:par>
                                <p:cTn id="116" presetID="14" presetClass="entr" presetSubtype="10" fill="hold" grpId="0" nodeType="with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randombar(horizontal)">
                                      <p:cBhvr>
                                        <p:cTn id="118" dur="500"/>
                                        <p:tgtEl>
                                          <p:spTgt spid="35"/>
                                        </p:tgtEl>
                                      </p:cBhvr>
                                    </p:animEffect>
                                  </p:childTnLst>
                                </p:cTn>
                              </p:par>
                              <p:par>
                                <p:cTn id="119" presetID="14" presetClass="entr" presetSubtype="10" fill="hold" grpId="0" nodeType="with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randombar(horizontal)">
                                      <p:cBhvr>
                                        <p:cTn id="121" dur="500"/>
                                        <p:tgtEl>
                                          <p:spTgt spid="37"/>
                                        </p:tgtEl>
                                      </p:cBhvr>
                                    </p:animEffect>
                                  </p:childTnLst>
                                </p:cTn>
                              </p:par>
                              <p:par>
                                <p:cTn id="122" presetID="14" presetClass="entr" presetSubtype="10" fill="hold" grpId="0" nodeType="withEffect">
                                  <p:stCondLst>
                                    <p:cond delay="0"/>
                                  </p:stCondLst>
                                  <p:childTnLst>
                                    <p:set>
                                      <p:cBhvr>
                                        <p:cTn id="123" dur="1" fill="hold">
                                          <p:stCondLst>
                                            <p:cond delay="0"/>
                                          </p:stCondLst>
                                        </p:cTn>
                                        <p:tgtEl>
                                          <p:spTgt spid="358413"/>
                                        </p:tgtEl>
                                        <p:attrNameLst>
                                          <p:attrName>style.visibility</p:attrName>
                                        </p:attrNameLst>
                                      </p:cBhvr>
                                      <p:to>
                                        <p:strVal val="visible"/>
                                      </p:to>
                                    </p:set>
                                    <p:animEffect transition="in" filter="randombar(horizontal)">
                                      <p:cBhvr>
                                        <p:cTn id="124" dur="500"/>
                                        <p:tgtEl>
                                          <p:spTgt spid="358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80" grpId="0" animBg="1"/>
      <p:bldP spid="424981" grpId="0" animBg="1"/>
      <p:bldP spid="424982" grpId="0" animBg="1"/>
      <p:bldP spid="424983" grpId="0" animBg="1"/>
      <p:bldP spid="424984" grpId="0" animBg="1"/>
      <p:bldP spid="424985" grpId="0" animBg="1"/>
      <p:bldP spid="424986" grpId="0" animBg="1"/>
      <p:bldP spid="424987" grpId="0" animBg="1"/>
      <p:bldP spid="424988" grpId="0" animBg="1"/>
      <p:bldP spid="424989" grpId="0" animBg="1"/>
      <p:bldP spid="358413" grpId="0" animBg="1"/>
      <p:bldP spid="358414" grpId="0" animBg="1"/>
      <p:bldP spid="424968" grpId="0"/>
      <p:bldP spid="30" grpId="0"/>
      <p:bldP spid="4" grpId="0" animBg="1"/>
      <p:bldP spid="5" grpId="0" animBg="1"/>
      <p:bldP spid="6" grpId="0"/>
      <p:bldP spid="34" grpId="0"/>
      <p:bldP spid="35" grpId="0" animBg="1"/>
      <p:bldP spid="36" grpId="0"/>
      <p:bldP spid="37" grpId="0"/>
      <p:bldP spid="38" grpId="0"/>
      <p:bldP spid="40" grpId="0"/>
      <p:bldP spid="41" grpId="0" animBg="1"/>
      <p:bldP spid="7" grpId="0" animBg="1"/>
      <p:bldP spid="8" grpId="0" animBg="1"/>
      <p:bldP spid="44" grpId="0"/>
      <p:bldP spid="9" grpId="0" animBg="1"/>
      <p:bldP spid="46" grpId="0"/>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987" name="直接箭头连接符 5"/>
          <p:cNvCxnSpPr>
            <a:cxnSpLocks noChangeShapeType="1"/>
          </p:cNvCxnSpPr>
          <p:nvPr/>
        </p:nvCxnSpPr>
        <p:spPr bwMode="auto">
          <a:xfrm flipV="1">
            <a:off x="1403350" y="2349500"/>
            <a:ext cx="0" cy="3311526"/>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988" name="直接箭头连接符 7"/>
          <p:cNvCxnSpPr>
            <a:cxnSpLocks noChangeShapeType="1"/>
          </p:cNvCxnSpPr>
          <p:nvPr/>
        </p:nvCxnSpPr>
        <p:spPr bwMode="auto">
          <a:xfrm>
            <a:off x="1403350" y="5661025"/>
            <a:ext cx="4752975"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989" name="直接连接符 11"/>
          <p:cNvCxnSpPr>
            <a:cxnSpLocks noChangeShapeType="1"/>
          </p:cNvCxnSpPr>
          <p:nvPr/>
        </p:nvCxnSpPr>
        <p:spPr bwMode="auto">
          <a:xfrm>
            <a:off x="1619250" y="3068638"/>
            <a:ext cx="2447925" cy="2160587"/>
          </a:xfrm>
          <a:prstGeom prst="line">
            <a:avLst/>
          </a:prstGeom>
          <a:noFill/>
          <a:ln w="31750" cmpd="sng">
            <a:solidFill>
              <a:srgbClr val="00B050"/>
            </a:solidFill>
            <a:round/>
            <a:headEnd/>
            <a:tailEnd/>
          </a:ln>
          <a:extLst>
            <a:ext uri="{909E8E84-426E-40DD-AFC4-6F175D3DCCD1}">
              <a14:hiddenFill xmlns:a14="http://schemas.microsoft.com/office/drawing/2010/main">
                <a:noFill/>
              </a14:hiddenFill>
            </a:ext>
          </a:extLst>
        </p:spPr>
      </p:cxnSp>
      <p:cxnSp>
        <p:nvCxnSpPr>
          <p:cNvPr id="41990" name="直接连接符 12"/>
          <p:cNvCxnSpPr>
            <a:cxnSpLocks noChangeShapeType="1"/>
          </p:cNvCxnSpPr>
          <p:nvPr/>
        </p:nvCxnSpPr>
        <p:spPr bwMode="auto">
          <a:xfrm>
            <a:off x="2484438" y="2349500"/>
            <a:ext cx="2232025" cy="2374900"/>
          </a:xfrm>
          <a:prstGeom prst="line">
            <a:avLst/>
          </a:prstGeom>
          <a:noFill/>
          <a:ln w="31750" cmpd="sng">
            <a:solidFill>
              <a:srgbClr val="FF0000"/>
            </a:solidFill>
            <a:round/>
            <a:headEnd/>
            <a:tailEnd/>
          </a:ln>
          <a:extLst>
            <a:ext uri="{909E8E84-426E-40DD-AFC4-6F175D3DCCD1}">
              <a14:hiddenFill xmlns:a14="http://schemas.microsoft.com/office/drawing/2010/main">
                <a:noFill/>
              </a14:hiddenFill>
            </a:ext>
          </a:extLst>
        </p:spPr>
      </p:cxnSp>
      <p:cxnSp>
        <p:nvCxnSpPr>
          <p:cNvPr id="41991" name="直接连接符 16"/>
          <p:cNvCxnSpPr>
            <a:cxnSpLocks noChangeShapeType="1"/>
          </p:cNvCxnSpPr>
          <p:nvPr/>
        </p:nvCxnSpPr>
        <p:spPr bwMode="auto">
          <a:xfrm flipV="1">
            <a:off x="1763713" y="2565400"/>
            <a:ext cx="3313112" cy="2087563"/>
          </a:xfrm>
          <a:prstGeom prst="line">
            <a:avLst/>
          </a:prstGeom>
          <a:noFill/>
          <a:ln w="25400" cmpd="sng">
            <a:solidFill>
              <a:schemeClr val="tx1"/>
            </a:solidFill>
            <a:round/>
            <a:headEnd/>
            <a:tailEnd/>
          </a:ln>
          <a:extLst>
            <a:ext uri="{909E8E84-426E-40DD-AFC4-6F175D3DCCD1}">
              <a14:hiddenFill xmlns:a14="http://schemas.microsoft.com/office/drawing/2010/main">
                <a:noFill/>
              </a14:hiddenFill>
            </a:ext>
          </a:extLst>
        </p:spPr>
      </p:cxnSp>
      <p:cxnSp>
        <p:nvCxnSpPr>
          <p:cNvPr id="41992" name="直接连接符 18"/>
          <p:cNvCxnSpPr>
            <a:cxnSpLocks noChangeShapeType="1"/>
          </p:cNvCxnSpPr>
          <p:nvPr/>
        </p:nvCxnSpPr>
        <p:spPr bwMode="auto">
          <a:xfrm>
            <a:off x="2771775" y="2636838"/>
            <a:ext cx="0" cy="3024187"/>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41993" name="直接连接符 22"/>
          <p:cNvCxnSpPr>
            <a:cxnSpLocks noChangeShapeType="1"/>
          </p:cNvCxnSpPr>
          <p:nvPr/>
        </p:nvCxnSpPr>
        <p:spPr bwMode="auto">
          <a:xfrm>
            <a:off x="3600450" y="3500438"/>
            <a:ext cx="0" cy="2160587"/>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pic>
        <p:nvPicPr>
          <p:cNvPr id="41994" name="线形标注 2(无边框) 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763" y="5443538"/>
            <a:ext cx="102393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5" name="线形标注 2(无边框) 2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775" y="5589588"/>
            <a:ext cx="101123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6" name="线形标注 2(无边框) 2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0113" y="2273300"/>
            <a:ext cx="9937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7" name="线形标注 2(无边框) 2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7088" y="3571875"/>
            <a:ext cx="10064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8" name="线形标注 2(无边框) 2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0550" y="2206625"/>
            <a:ext cx="10064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9" name="线形标注 2(无边框) 2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03563" y="3286125"/>
            <a:ext cx="1017587"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0" name="线形标注 2(无边框) 3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9250" y="5589588"/>
            <a:ext cx="102393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1" name="线形标注 2(无边框) 3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75" y="1922462"/>
            <a:ext cx="2346326"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2" name="线形标注 2(无边框) 3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14950" y="5662613"/>
            <a:ext cx="1878013"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3" name="线形标注 2(无边框) 3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25700" y="5230813"/>
            <a:ext cx="287813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4" name="线形标注 2(无边框) 3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78225" y="4578350"/>
            <a:ext cx="2878138"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5" name="椭圆形标注 21"/>
          <p:cNvSpPr>
            <a:spLocks noChangeArrowheads="1"/>
          </p:cNvSpPr>
          <p:nvPr/>
        </p:nvSpPr>
        <p:spPr bwMode="auto">
          <a:xfrm>
            <a:off x="5651500" y="1556792"/>
            <a:ext cx="2447925" cy="1368971"/>
          </a:xfrm>
          <a:prstGeom prst="wedgeEllipseCallout">
            <a:avLst>
              <a:gd name="adj1" fmla="val -162898"/>
              <a:gd name="adj2" fmla="val 50968"/>
            </a:avLst>
          </a:prstGeom>
          <a:noFill/>
          <a:ln w="28575" cmpd="sng">
            <a:solidFill>
              <a:schemeClr val="accent3">
                <a:lumMod val="50000"/>
              </a:schemeClr>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微软雅黑" panose="020B0503020204020204" pitchFamily="34" charset="-122"/>
                <a:ea typeface="微软雅黑" panose="020B0503020204020204" pitchFamily="34" charset="-122"/>
              </a:rPr>
              <a:t>三角形</a:t>
            </a:r>
            <a:r>
              <a:rPr lang="en-US" altLang="zh-CN" sz="1600" dirty="0">
                <a:latin typeface="微软雅黑" panose="020B0503020204020204" pitchFamily="34" charset="-122"/>
                <a:ea typeface="微软雅黑" panose="020B0503020204020204" pitchFamily="34" charset="-122"/>
              </a:rPr>
              <a:t>FEE'</a:t>
            </a:r>
            <a:r>
              <a:rPr lang="zh-CN" altLang="en-US" sz="1600" dirty="0">
                <a:latin typeface="微软雅黑" panose="020B0503020204020204" pitchFamily="34" charset="-122"/>
                <a:ea typeface="微软雅黑" panose="020B0503020204020204" pitchFamily="34" charset="-122"/>
              </a:rPr>
              <a:t>表明当把教育数量从</a:t>
            </a:r>
            <a:r>
              <a:rPr lang="en-US" altLang="zh-CN" sz="1600" dirty="0">
                <a:latin typeface="微软雅黑" panose="020B0503020204020204" pitchFamily="34" charset="-122"/>
                <a:ea typeface="微软雅黑" panose="020B0503020204020204" pitchFamily="34" charset="-122"/>
              </a:rPr>
              <a:t>Q </a:t>
            </a:r>
            <a:r>
              <a:rPr lang="zh-CN" altLang="en-US" sz="1600" dirty="0">
                <a:latin typeface="微软雅黑" panose="020B0503020204020204" pitchFamily="34" charset="-122"/>
                <a:ea typeface="微软雅黑" panose="020B0503020204020204" pitchFamily="34" charset="-122"/>
              </a:rPr>
              <a:t>增加到</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'时社会净福利的增加。</a:t>
            </a:r>
          </a:p>
        </p:txBody>
      </p:sp>
      <p:sp>
        <p:nvSpPr>
          <p:cNvPr id="42006" name="TextBox 23"/>
          <p:cNvSpPr txBox="1">
            <a:spLocks noChangeArrowheads="1"/>
          </p:cNvSpPr>
          <p:nvPr/>
        </p:nvSpPr>
        <p:spPr bwMode="auto">
          <a:xfrm>
            <a:off x="391319" y="1200355"/>
            <a:ext cx="55451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marL="342900" lvl="1" indent="-342900" eaLnBrk="1" hangingPunct="1">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教育正外部性造成资源配置无效率</a:t>
            </a:r>
          </a:p>
        </p:txBody>
      </p:sp>
      <p:sp>
        <p:nvSpPr>
          <p:cNvPr id="42007" name="圆角矩形标注 34"/>
          <p:cNvSpPr>
            <a:spLocks noChangeArrowheads="1"/>
          </p:cNvSpPr>
          <p:nvPr/>
        </p:nvSpPr>
        <p:spPr bwMode="auto">
          <a:xfrm>
            <a:off x="6372225" y="4076700"/>
            <a:ext cx="2376488" cy="1008063"/>
          </a:xfrm>
          <a:prstGeom prst="wedgeRoundRectCallout">
            <a:avLst>
              <a:gd name="adj1" fmla="val -198806"/>
              <a:gd name="adj2" fmla="val -54662"/>
              <a:gd name="adj3" fmla="val 16667"/>
            </a:avLst>
          </a:prstGeom>
          <a:noFill/>
          <a:ln w="28575" cmpd="sng">
            <a:solidFill>
              <a:schemeClr val="accent3">
                <a:lumMod val="50000"/>
              </a:schemeClr>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latin typeface="微软雅黑" panose="020B0503020204020204" pitchFamily="34" charset="-122"/>
                <a:ea typeface="微软雅黑" panose="020B0503020204020204" pitchFamily="34" charset="-122"/>
              </a:rPr>
              <a:t>E</a:t>
            </a:r>
            <a:r>
              <a:rPr lang="zh-CN" altLang="en-US" sz="1600" dirty="0">
                <a:latin typeface="微软雅黑" panose="020B0503020204020204" pitchFamily="34" charset="-122"/>
                <a:ea typeface="微软雅黑" panose="020B0503020204020204" pitchFamily="34" charset="-122"/>
              </a:rPr>
              <a:t>为私人决策下教育的供需交点。从社会观点看</a:t>
            </a:r>
            <a:r>
              <a:rPr lang="en-US" altLang="zh-CN" sz="1600" dirty="0">
                <a:latin typeface="微软雅黑" panose="020B0503020204020204" pitchFamily="34" charset="-122"/>
                <a:ea typeface="微软雅黑" panose="020B0503020204020204" pitchFamily="34" charset="-122"/>
              </a:rPr>
              <a:t>, Q </a:t>
            </a:r>
            <a:r>
              <a:rPr lang="zh-CN" altLang="en-US" sz="1600" dirty="0">
                <a:latin typeface="微软雅黑" panose="020B0503020204020204" pitchFamily="34" charset="-122"/>
                <a:ea typeface="微软雅黑" panose="020B0503020204020204" pitchFamily="34" charset="-122"/>
              </a:rPr>
              <a:t>并不是最优化的教育水平。</a:t>
            </a:r>
          </a:p>
        </p:txBody>
      </p:sp>
      <p:sp>
        <p:nvSpPr>
          <p:cNvPr id="42008" name="圆角矩形标注 37"/>
          <p:cNvSpPr>
            <a:spLocks noChangeArrowheads="1"/>
          </p:cNvSpPr>
          <p:nvPr/>
        </p:nvSpPr>
        <p:spPr bwMode="auto">
          <a:xfrm>
            <a:off x="5219700" y="3068638"/>
            <a:ext cx="1512888" cy="720725"/>
          </a:xfrm>
          <a:prstGeom prst="wedgeRoundRectCallout">
            <a:avLst>
              <a:gd name="adj1" fmla="val -154370"/>
              <a:gd name="adj2" fmla="val 14880"/>
              <a:gd name="adj3" fmla="val 16667"/>
            </a:avLst>
          </a:prstGeom>
          <a:noFill/>
          <a:ln w="28575" cmpd="sng">
            <a:solidFill>
              <a:schemeClr val="accent3">
                <a:lumMod val="50000"/>
              </a:schemeClr>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latin typeface="微软雅黑" panose="020B0503020204020204" pitchFamily="34" charset="-122"/>
                <a:ea typeface="微软雅黑" panose="020B0503020204020204" pitchFamily="34" charset="-122"/>
              </a:rPr>
              <a:t>E</a:t>
            </a:r>
            <a:r>
              <a:rPr lang="zh-CN" altLang="en-US" sz="1600" dirty="0">
                <a:latin typeface="微软雅黑" panose="020B0503020204020204" pitchFamily="34" charset="-122"/>
                <a:ea typeface="微软雅黑" panose="020B0503020204020204" pitchFamily="34" charset="-122"/>
              </a:rPr>
              <a:t>'点代表最大化的社会福利</a:t>
            </a:r>
          </a:p>
        </p:txBody>
      </p:sp>
      <p:sp>
        <p:nvSpPr>
          <p:cNvPr id="27" name="矩形 26">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二、外部性导致资源配置无效率</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28" name="标题 1">
            <a:extLst>
              <a:ext uri="{FF2B5EF4-FFF2-40B4-BE49-F238E27FC236}">
                <a16:creationId xmlns:a16="http://schemas.microsoft.com/office/drawing/2014/main" id="{51987C0F-BEE5-49FD-A86E-392561B16383}"/>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0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0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9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98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0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8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00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99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00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99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99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199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99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99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199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99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199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200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99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99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200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200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2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5" grpId="0" animBg="1" autoUpdateAnimBg="0"/>
      <p:bldP spid="42007" grpId="0" animBg="1" autoUpdateAnimBg="0"/>
      <p:bldP spid="42008"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 name="左大括号 50"/>
          <p:cNvSpPr/>
          <p:nvPr/>
        </p:nvSpPr>
        <p:spPr bwMode="auto">
          <a:xfrm>
            <a:off x="4068817" y="2039805"/>
            <a:ext cx="563709" cy="1673270"/>
          </a:xfrm>
          <a:prstGeom prst="leftBrace">
            <a:avLst>
              <a:gd name="adj1" fmla="val 8333"/>
              <a:gd name="adj2" fmla="val 50708"/>
            </a:avLst>
          </a:prstGeom>
          <a:solidFill>
            <a:schemeClr val="accent1">
              <a:alpha val="18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1600" b="0" i="0" u="none" strike="noStrike" cap="none" normalizeH="0" baseline="0">
              <a:ln>
                <a:noFill/>
              </a:ln>
              <a:solidFill>
                <a:schemeClr val="tx1"/>
              </a:solidFill>
              <a:effectLst/>
              <a:latin typeface="Times New Roman" pitchFamily="18" charset="0"/>
              <a:ea typeface="宋体" pitchFamily="2" charset="-122"/>
            </a:endParaRPr>
          </a:p>
        </p:txBody>
      </p:sp>
      <p:sp>
        <p:nvSpPr>
          <p:cNvPr id="359426" name="Rectangle 2"/>
          <p:cNvSpPr>
            <a:spLocks noGrp="1" noChangeArrowheads="1"/>
          </p:cNvSpPr>
          <p:nvPr>
            <p:ph type="title"/>
          </p:nvPr>
        </p:nvSpPr>
        <p:spPr>
          <a:xfrm>
            <a:off x="7181093" y="5501713"/>
            <a:ext cx="1989326" cy="868674"/>
          </a:xfrm>
        </p:spPr>
        <p:txBody>
          <a:bodyPr/>
          <a:lstStyle/>
          <a:p>
            <a:pPr eaLnBrk="1" hangingPunct="1">
              <a:lnSpc>
                <a:spcPct val="150000"/>
              </a:lnSpc>
            </a:pPr>
            <a:r>
              <a:rPr lang="en-US" altLang="zh-CN" sz="2000" dirty="0"/>
              <a:t>Garden</a:t>
            </a:r>
          </a:p>
        </p:txBody>
      </p:sp>
      <p:sp>
        <p:nvSpPr>
          <p:cNvPr id="426009" name="Line 9"/>
          <p:cNvSpPr>
            <a:spLocks noChangeShapeType="1"/>
          </p:cNvSpPr>
          <p:nvPr/>
        </p:nvSpPr>
        <p:spPr bwMode="auto">
          <a:xfrm>
            <a:off x="2555776" y="1536846"/>
            <a:ext cx="0" cy="42179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0" name="Line 10"/>
          <p:cNvSpPr>
            <a:spLocks noChangeShapeType="1"/>
          </p:cNvSpPr>
          <p:nvPr/>
        </p:nvSpPr>
        <p:spPr bwMode="auto">
          <a:xfrm>
            <a:off x="2555776" y="5754790"/>
            <a:ext cx="58745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1" name="Line 11"/>
          <p:cNvSpPr>
            <a:spLocks noChangeShapeType="1"/>
          </p:cNvSpPr>
          <p:nvPr/>
        </p:nvSpPr>
        <p:spPr bwMode="auto">
          <a:xfrm>
            <a:off x="2922935" y="2737816"/>
            <a:ext cx="4405910" cy="2530766"/>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2" name="Line 12"/>
          <p:cNvSpPr>
            <a:spLocks noChangeShapeType="1"/>
          </p:cNvSpPr>
          <p:nvPr/>
        </p:nvSpPr>
        <p:spPr bwMode="auto">
          <a:xfrm flipV="1">
            <a:off x="3290094" y="2062945"/>
            <a:ext cx="3916364" cy="278384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3" name="Line 13"/>
          <p:cNvSpPr>
            <a:spLocks noChangeShapeType="1"/>
          </p:cNvSpPr>
          <p:nvPr/>
        </p:nvSpPr>
        <p:spPr bwMode="auto">
          <a:xfrm flipH="1">
            <a:off x="4756181" y="3814536"/>
            <a:ext cx="2550" cy="1885772"/>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4" name="Line 14"/>
          <p:cNvSpPr>
            <a:spLocks noChangeShapeType="1"/>
          </p:cNvSpPr>
          <p:nvPr/>
        </p:nvSpPr>
        <p:spPr bwMode="auto">
          <a:xfrm>
            <a:off x="6036139" y="2804600"/>
            <a:ext cx="38246" cy="2926199"/>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6017" name="Line 17"/>
          <p:cNvSpPr>
            <a:spLocks noChangeShapeType="1"/>
          </p:cNvSpPr>
          <p:nvPr/>
        </p:nvSpPr>
        <p:spPr bwMode="auto">
          <a:xfrm>
            <a:off x="3830634" y="1648181"/>
            <a:ext cx="4405910" cy="2530766"/>
          </a:xfrm>
          <a:prstGeom prst="line">
            <a:avLst/>
          </a:prstGeom>
          <a:noFill/>
          <a:ln w="25400">
            <a:solidFill>
              <a:srgbClr val="800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5994" name="Oval 29"/>
          <p:cNvSpPr>
            <a:spLocks noChangeArrowheads="1"/>
          </p:cNvSpPr>
          <p:nvPr/>
        </p:nvSpPr>
        <p:spPr bwMode="auto">
          <a:xfrm>
            <a:off x="4603544" y="3688977"/>
            <a:ext cx="310374" cy="2108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25995" name="Oval 30"/>
          <p:cNvSpPr>
            <a:spLocks noChangeArrowheads="1"/>
          </p:cNvSpPr>
          <p:nvPr/>
        </p:nvSpPr>
        <p:spPr bwMode="auto">
          <a:xfrm flipV="1">
            <a:off x="5904164" y="2737816"/>
            <a:ext cx="274927" cy="255070"/>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4" name="Text Box 10"/>
          <p:cNvSpPr txBox="1">
            <a:spLocks noChangeArrowheads="1"/>
          </p:cNvSpPr>
          <p:nvPr/>
        </p:nvSpPr>
        <p:spPr bwMode="auto">
          <a:xfrm>
            <a:off x="6934147" y="4736084"/>
            <a:ext cx="1490273" cy="784830"/>
          </a:xfrm>
          <a:prstGeom prst="rect">
            <a:avLst/>
          </a:prstGeom>
          <a:solidFill>
            <a:schemeClr val="accent3">
              <a:lumMod val="85000"/>
              <a:alpha val="25000"/>
            </a:schemeClr>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None/>
            </a:pPr>
            <a:r>
              <a:rPr lang="zh-CN" altLang="en-US" sz="1800" dirty="0">
                <a:latin typeface="微软雅黑" panose="020B0503020204020204" pitchFamily="34" charset="-122"/>
                <a:ea typeface="微软雅黑" panose="020B0503020204020204" pitchFamily="34" charset="-122"/>
              </a:rPr>
              <a:t>需求曲线</a:t>
            </a:r>
            <a:r>
              <a:rPr lang="en-US" altLang="zh-CN" sz="1800" dirty="0">
                <a:latin typeface="微软雅黑" panose="020B0503020204020204" pitchFamily="34" charset="-122"/>
                <a:ea typeface="微软雅黑" panose="020B0503020204020204" pitchFamily="34" charset="-122"/>
              </a:rPr>
              <a:t>D</a:t>
            </a:r>
          </a:p>
          <a:p>
            <a:pPr algn="ctr" eaLnBrk="1" hangingPunct="1">
              <a:spcBef>
                <a:spcPct val="50000"/>
              </a:spcBef>
              <a:buNone/>
            </a:pPr>
            <a:r>
              <a:rPr lang="en-US" altLang="zh-CN" sz="1800" dirty="0">
                <a:latin typeface="微软雅黑" panose="020B0503020204020204" pitchFamily="34" charset="-122"/>
                <a:ea typeface="微软雅黑" panose="020B0503020204020204" pitchFamily="34" charset="-122"/>
              </a:rPr>
              <a:t>/ MPB</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35" name="Text Box 11"/>
          <p:cNvSpPr txBox="1">
            <a:spLocks noChangeArrowheads="1"/>
          </p:cNvSpPr>
          <p:nvPr/>
        </p:nvSpPr>
        <p:spPr bwMode="auto">
          <a:xfrm>
            <a:off x="6981578" y="1622666"/>
            <a:ext cx="1475249" cy="1200329"/>
          </a:xfrm>
          <a:prstGeom prst="rect">
            <a:avLst/>
          </a:prstGeom>
          <a:solidFill>
            <a:schemeClr val="accent3">
              <a:lumMod val="85000"/>
              <a:alpha val="23000"/>
            </a:schemeClr>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供给曲线</a:t>
            </a:r>
            <a:r>
              <a:rPr lang="en-US" altLang="zh-CN" sz="1800" dirty="0">
                <a:latin typeface="微软雅黑" panose="020B0503020204020204" pitchFamily="34" charset="-122"/>
                <a:ea typeface="微软雅黑" panose="020B0503020204020204" pitchFamily="34" charset="-122"/>
              </a:rPr>
              <a:t>S </a:t>
            </a:r>
          </a:p>
          <a:p>
            <a:pPr algn="ct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 MSC</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a:p>
            <a:pPr algn="ct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=MPC</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36" name="Text Box 12"/>
          <p:cNvSpPr txBox="1">
            <a:spLocks noChangeArrowheads="1"/>
          </p:cNvSpPr>
          <p:nvPr/>
        </p:nvSpPr>
        <p:spPr bwMode="auto">
          <a:xfrm>
            <a:off x="7314826" y="3441048"/>
            <a:ext cx="1668713" cy="369332"/>
          </a:xfrm>
          <a:prstGeom prst="rect">
            <a:avLst/>
          </a:prstGeom>
          <a:solidFill>
            <a:schemeClr val="accent3">
              <a:lumMod val="85000"/>
              <a:alpha val="20000"/>
            </a:schemeClr>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en-US" altLang="zh-CN" sz="1800" dirty="0">
                <a:latin typeface="微软雅黑" panose="020B0503020204020204" pitchFamily="34" charset="-122"/>
                <a:ea typeface="微软雅黑" panose="020B0503020204020204" pitchFamily="34" charset="-122"/>
              </a:rPr>
              <a:t>MSB</a:t>
            </a:r>
            <a:r>
              <a:rPr lang="zh-CN" altLang="en-US" sz="1800" dirty="0">
                <a:latin typeface="微软雅黑" panose="020B0503020204020204" pitchFamily="34" charset="-122"/>
                <a:ea typeface="微软雅黑" panose="020B0503020204020204" pitchFamily="34" charset="-122"/>
              </a:rPr>
              <a:t>曲线</a:t>
            </a:r>
            <a:endParaRPr lang="en-US" altLang="zh-CN" sz="1800" dirty="0">
              <a:latin typeface="微软雅黑" panose="020B0503020204020204" pitchFamily="34" charset="-122"/>
              <a:ea typeface="微软雅黑" panose="020B0503020204020204" pitchFamily="34" charset="-122"/>
            </a:endParaRPr>
          </a:p>
        </p:txBody>
      </p:sp>
      <p:sp>
        <p:nvSpPr>
          <p:cNvPr id="37" name="Text Box 13"/>
          <p:cNvSpPr txBox="1">
            <a:spLocks noChangeArrowheads="1"/>
          </p:cNvSpPr>
          <p:nvPr/>
        </p:nvSpPr>
        <p:spPr bwMode="auto">
          <a:xfrm>
            <a:off x="5552649" y="5787304"/>
            <a:ext cx="1251599" cy="344325"/>
          </a:xfrm>
          <a:prstGeom prst="rect">
            <a:avLst/>
          </a:prstGeom>
          <a:solidFill>
            <a:srgbClr val="F3C97E"/>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None/>
            </a:pPr>
            <a:r>
              <a:rPr lang="zh-CN" altLang="en-US" sz="1600" dirty="0">
                <a:latin typeface="微软雅黑" panose="020B0503020204020204" pitchFamily="34" charset="-122"/>
                <a:ea typeface="微软雅黑" panose="020B0503020204020204" pitchFamily="34" charset="-122"/>
              </a:rPr>
              <a:t>  效率产量</a:t>
            </a:r>
            <a:endParaRPr lang="en-US" altLang="zh-CN" sz="1600" dirty="0">
              <a:latin typeface="微软雅黑" panose="020B0503020204020204" pitchFamily="34" charset="-122"/>
              <a:ea typeface="微软雅黑" panose="020B0503020204020204" pitchFamily="34" charset="-122"/>
            </a:endParaRPr>
          </a:p>
        </p:txBody>
      </p:sp>
      <p:sp>
        <p:nvSpPr>
          <p:cNvPr id="38" name="Text Box 14"/>
          <p:cNvSpPr txBox="1">
            <a:spLocks noChangeArrowheads="1"/>
          </p:cNvSpPr>
          <p:nvPr/>
        </p:nvSpPr>
        <p:spPr bwMode="auto">
          <a:xfrm>
            <a:off x="3791386" y="5805100"/>
            <a:ext cx="1249589" cy="338554"/>
          </a:xfrm>
          <a:prstGeom prst="rect">
            <a:avLst/>
          </a:prstGeom>
          <a:solidFill>
            <a:srgbClr val="F3C97E"/>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600" dirty="0">
                <a:latin typeface="微软雅黑" panose="020B0503020204020204" pitchFamily="34" charset="-122"/>
                <a:ea typeface="微软雅黑" panose="020B0503020204020204" pitchFamily="34" charset="-122"/>
              </a:rPr>
              <a:t>  私人产量</a:t>
            </a:r>
            <a:endParaRPr lang="en-US" altLang="zh-CN" sz="1600" dirty="0">
              <a:latin typeface="微软雅黑" panose="020B0503020204020204" pitchFamily="34" charset="-122"/>
              <a:ea typeface="微软雅黑" panose="020B0503020204020204" pitchFamily="34" charset="-122"/>
            </a:endParaRPr>
          </a:p>
        </p:txBody>
      </p:sp>
      <p:sp>
        <p:nvSpPr>
          <p:cNvPr id="39" name="椭圆 38"/>
          <p:cNvSpPr/>
          <p:nvPr/>
        </p:nvSpPr>
        <p:spPr bwMode="auto">
          <a:xfrm>
            <a:off x="4469331" y="1920278"/>
            <a:ext cx="268456" cy="215684"/>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0" name="矩形 39"/>
          <p:cNvSpPr/>
          <p:nvPr/>
        </p:nvSpPr>
        <p:spPr>
          <a:xfrm>
            <a:off x="4752817" y="3112834"/>
            <a:ext cx="701824" cy="369332"/>
          </a:xfrm>
          <a:prstGeom prst="rect">
            <a:avLst/>
          </a:prstGeom>
        </p:spPr>
        <p:txBody>
          <a:bodyPr wrap="square">
            <a:spAutoFit/>
          </a:bodyPr>
          <a:lstStyle/>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A</a:t>
            </a:r>
            <a:endParaRPr lang="zh-CN" altLang="en-US" sz="1800" dirty="0">
              <a:latin typeface="微软雅黑" panose="020B0503020204020204" pitchFamily="34" charset="-122"/>
              <a:ea typeface="微软雅黑" panose="020B0503020204020204" pitchFamily="34" charset="-122"/>
            </a:endParaRPr>
          </a:p>
        </p:txBody>
      </p:sp>
      <p:sp>
        <p:nvSpPr>
          <p:cNvPr id="41" name="矩形 40"/>
          <p:cNvSpPr/>
          <p:nvPr/>
        </p:nvSpPr>
        <p:spPr>
          <a:xfrm>
            <a:off x="5877725" y="2270061"/>
            <a:ext cx="701824" cy="369332"/>
          </a:xfrm>
          <a:prstGeom prst="rect">
            <a:avLst/>
          </a:prstGeom>
        </p:spPr>
        <p:txBody>
          <a:bodyPr wrap="square">
            <a:spAutoFit/>
          </a:bodyPr>
          <a:lstStyle/>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B</a:t>
            </a:r>
            <a:endParaRPr lang="zh-CN" altLang="en-US" sz="1800" dirty="0">
              <a:latin typeface="微软雅黑" panose="020B0503020204020204" pitchFamily="34" charset="-122"/>
              <a:ea typeface="微软雅黑" panose="020B0503020204020204" pitchFamily="34" charset="-122"/>
            </a:endParaRPr>
          </a:p>
        </p:txBody>
      </p:sp>
      <p:sp>
        <p:nvSpPr>
          <p:cNvPr id="42" name="Line 8"/>
          <p:cNvSpPr>
            <a:spLocks noChangeShapeType="1"/>
          </p:cNvSpPr>
          <p:nvPr/>
        </p:nvSpPr>
        <p:spPr bwMode="auto">
          <a:xfrm>
            <a:off x="4720732" y="2039805"/>
            <a:ext cx="29308" cy="1618560"/>
          </a:xfrm>
          <a:prstGeom prst="line">
            <a:avLst/>
          </a:prstGeom>
          <a:noFill/>
          <a:ln w="25400" cap="rnd">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 name="矩形 42"/>
          <p:cNvSpPr/>
          <p:nvPr/>
        </p:nvSpPr>
        <p:spPr>
          <a:xfrm>
            <a:off x="5760122" y="5345033"/>
            <a:ext cx="701824" cy="369332"/>
          </a:xfrm>
          <a:prstGeom prst="rect">
            <a:avLst/>
          </a:prstGeom>
        </p:spPr>
        <p:txBody>
          <a:bodyPr wrap="square">
            <a:spAutoFit/>
          </a:bodyPr>
          <a:lstStyle/>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F</a:t>
            </a:r>
            <a:endParaRPr lang="zh-CN" altLang="en-US" sz="1800" dirty="0">
              <a:latin typeface="微软雅黑" panose="020B0503020204020204" pitchFamily="34" charset="-122"/>
              <a:ea typeface="微软雅黑" panose="020B0503020204020204" pitchFamily="34" charset="-122"/>
            </a:endParaRPr>
          </a:p>
        </p:txBody>
      </p:sp>
      <p:sp>
        <p:nvSpPr>
          <p:cNvPr id="44" name="矩形 43"/>
          <p:cNvSpPr/>
          <p:nvPr/>
        </p:nvSpPr>
        <p:spPr>
          <a:xfrm>
            <a:off x="4527489" y="5373374"/>
            <a:ext cx="701824" cy="369332"/>
          </a:xfrm>
          <a:prstGeom prst="rect">
            <a:avLst/>
          </a:prstGeom>
        </p:spPr>
        <p:txBody>
          <a:bodyPr wrap="square">
            <a:spAutoFit/>
          </a:bodyPr>
          <a:lstStyle/>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E</a:t>
            </a:r>
            <a:endParaRPr lang="zh-CN" altLang="en-US" sz="1800" dirty="0">
              <a:latin typeface="微软雅黑" panose="020B0503020204020204" pitchFamily="34" charset="-122"/>
              <a:ea typeface="微软雅黑" panose="020B0503020204020204" pitchFamily="34" charset="-122"/>
            </a:endParaRPr>
          </a:p>
        </p:txBody>
      </p:sp>
      <p:sp>
        <p:nvSpPr>
          <p:cNvPr id="45" name="矩形 44"/>
          <p:cNvSpPr/>
          <p:nvPr/>
        </p:nvSpPr>
        <p:spPr>
          <a:xfrm>
            <a:off x="4344798" y="1469699"/>
            <a:ext cx="710955" cy="369332"/>
          </a:xfrm>
          <a:prstGeom prst="rect">
            <a:avLst/>
          </a:prstGeom>
        </p:spPr>
        <p:txBody>
          <a:bodyPr wrap="square">
            <a:spAutoFit/>
          </a:bodyPr>
          <a:lstStyle/>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G</a:t>
            </a:r>
            <a:endParaRPr lang="zh-CN" altLang="en-US" sz="1800" dirty="0">
              <a:latin typeface="微软雅黑" panose="020B0503020204020204" pitchFamily="34" charset="-122"/>
              <a:ea typeface="微软雅黑" panose="020B0503020204020204" pitchFamily="34" charset="-122"/>
            </a:endParaRPr>
          </a:p>
        </p:txBody>
      </p:sp>
      <p:sp>
        <p:nvSpPr>
          <p:cNvPr id="46" name="矩形 45"/>
          <p:cNvSpPr/>
          <p:nvPr/>
        </p:nvSpPr>
        <p:spPr>
          <a:xfrm>
            <a:off x="4357562" y="2136110"/>
            <a:ext cx="596218" cy="1200329"/>
          </a:xfrm>
          <a:prstGeom prst="rect">
            <a:avLst/>
          </a:prstGeom>
        </p:spPr>
        <p:txBody>
          <a:bodyPr wrap="square">
            <a:spAutoFit/>
          </a:bodyPr>
          <a:lstStyle/>
          <a:p>
            <a:pP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外部收益</a:t>
            </a:r>
          </a:p>
        </p:txBody>
      </p:sp>
      <p:sp>
        <p:nvSpPr>
          <p:cNvPr id="47" name="左大括号 46"/>
          <p:cNvSpPr/>
          <p:nvPr/>
        </p:nvSpPr>
        <p:spPr bwMode="auto">
          <a:xfrm>
            <a:off x="4021787" y="3774473"/>
            <a:ext cx="602744" cy="1980317"/>
          </a:xfrm>
          <a:prstGeom prst="leftBrace">
            <a:avLst>
              <a:gd name="adj1" fmla="val 8333"/>
              <a:gd name="adj2" fmla="val 50708"/>
            </a:avLst>
          </a:prstGeom>
          <a:solidFill>
            <a:schemeClr val="accent1">
              <a:alpha val="18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8" name="矩形 47"/>
          <p:cNvSpPr/>
          <p:nvPr/>
        </p:nvSpPr>
        <p:spPr>
          <a:xfrm>
            <a:off x="3257512" y="3103464"/>
            <a:ext cx="620520" cy="1261884"/>
          </a:xfrm>
          <a:prstGeom prst="rect">
            <a:avLst/>
          </a:prstGeom>
        </p:spPr>
        <p:txBody>
          <a:bodyPr wrap="square">
            <a:spAutoFit/>
          </a:bodyPr>
          <a:lstStyle/>
          <a:p>
            <a:pP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社会</a:t>
            </a:r>
            <a:r>
              <a:rPr lang="zh-CN" altLang="en-US" sz="2000" dirty="0">
                <a:latin typeface="微软雅黑" panose="020B0503020204020204" pitchFamily="34" charset="-122"/>
                <a:ea typeface="微软雅黑" panose="020B0503020204020204" pitchFamily="34" charset="-122"/>
              </a:rPr>
              <a:t>收益</a:t>
            </a:r>
          </a:p>
        </p:txBody>
      </p:sp>
      <p:sp>
        <p:nvSpPr>
          <p:cNvPr id="49" name="右大括号 48"/>
          <p:cNvSpPr/>
          <p:nvPr/>
        </p:nvSpPr>
        <p:spPr bwMode="auto">
          <a:xfrm rot="10800000">
            <a:off x="3603082" y="1893369"/>
            <a:ext cx="618891" cy="383743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50" name="矩形 49"/>
          <p:cNvSpPr/>
          <p:nvPr/>
        </p:nvSpPr>
        <p:spPr>
          <a:xfrm>
            <a:off x="4352958" y="4102911"/>
            <a:ext cx="325403" cy="1200329"/>
          </a:xfrm>
          <a:prstGeom prst="rect">
            <a:avLst/>
          </a:prstGeom>
        </p:spPr>
        <p:txBody>
          <a:bodyPr wrap="square">
            <a:spAutoFit/>
          </a:bodyPr>
          <a:lstStyle/>
          <a:p>
            <a:pPr eaLnBrk="1" hangingPunct="1">
              <a:spcBef>
                <a:spcPct val="50000"/>
              </a:spcBef>
              <a:buFontTx/>
              <a:buNone/>
            </a:pPr>
            <a:r>
              <a:rPr lang="zh-CN" altLang="en-US" sz="1800" dirty="0">
                <a:latin typeface="微软雅黑" panose="020B0503020204020204" pitchFamily="34" charset="-122"/>
                <a:ea typeface="微软雅黑" panose="020B0503020204020204" pitchFamily="34" charset="-122"/>
              </a:rPr>
              <a:t>私人收益</a:t>
            </a:r>
          </a:p>
        </p:txBody>
      </p:sp>
      <p:sp>
        <p:nvSpPr>
          <p:cNvPr id="52" name="矩形 51"/>
          <p:cNvSpPr/>
          <p:nvPr/>
        </p:nvSpPr>
        <p:spPr>
          <a:xfrm>
            <a:off x="191822" y="2896386"/>
            <a:ext cx="2313454" cy="1615827"/>
          </a:xfrm>
          <a:prstGeom prst="rect">
            <a:avLst/>
          </a:prstGeom>
          <a:noFill/>
          <a:ln w="28575">
            <a:solidFill>
              <a:srgbClr val="CC0000"/>
            </a:solidFill>
          </a:ln>
        </p:spPr>
        <p:txBody>
          <a:bodyPr wrap="none">
            <a:spAutoFit/>
          </a:bodyPr>
          <a:lstStyle/>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MPC:  </a:t>
            </a:r>
            <a:r>
              <a:rPr lang="zh-CN" altLang="en-US" sz="1800" dirty="0">
                <a:latin typeface="微软雅黑" panose="020B0503020204020204" pitchFamily="34" charset="-122"/>
                <a:ea typeface="微软雅黑" panose="020B0503020204020204" pitchFamily="34" charset="-122"/>
              </a:rPr>
              <a:t>边际私人成本</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MPB</a:t>
            </a:r>
            <a:r>
              <a:rPr lang="zh-CN" altLang="en-US" sz="1800" dirty="0">
                <a:latin typeface="微软雅黑" panose="020B0503020204020204" pitchFamily="34" charset="-122"/>
                <a:ea typeface="微软雅黑" panose="020B0503020204020204" pitchFamily="34" charset="-122"/>
              </a:rPr>
              <a:t>：边际私人收益</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pPr>
            <a:r>
              <a:rPr lang="en-US" altLang="zh-CN" sz="1800" dirty="0">
                <a:latin typeface="微软雅黑" panose="020B0503020204020204" pitchFamily="34" charset="-122"/>
                <a:ea typeface="微软雅黑" panose="020B0503020204020204" pitchFamily="34" charset="-122"/>
              </a:rPr>
              <a:t>MSC</a:t>
            </a:r>
            <a:r>
              <a:rPr lang="zh-CN" altLang="en-US" sz="1800" dirty="0">
                <a:latin typeface="微软雅黑" panose="020B0503020204020204" pitchFamily="34" charset="-122"/>
                <a:ea typeface="微软雅黑" panose="020B0503020204020204" pitchFamily="34" charset="-122"/>
              </a:rPr>
              <a:t>：边际社会成本</a:t>
            </a:r>
            <a:endParaRPr lang="en-US" altLang="zh-CN" sz="1800" dirty="0">
              <a:latin typeface="微软雅黑" panose="020B0503020204020204" pitchFamily="34" charset="-122"/>
              <a:ea typeface="微软雅黑" panose="020B0503020204020204" pitchFamily="34" charset="-122"/>
            </a:endParaRPr>
          </a:p>
          <a:p>
            <a:pPr eaLnBrk="1" hangingPunct="1">
              <a:spcBef>
                <a:spcPct val="50000"/>
              </a:spcBef>
              <a:buFontTx/>
              <a:buNone/>
            </a:pPr>
            <a:r>
              <a:rPr lang="en-US" altLang="zh-CN" sz="1800" dirty="0">
                <a:latin typeface="微软雅黑" panose="020B0503020204020204" pitchFamily="34" charset="-122"/>
                <a:ea typeface="微软雅黑" panose="020B0503020204020204" pitchFamily="34" charset="-122"/>
              </a:rPr>
              <a:t>MSB</a:t>
            </a:r>
            <a:r>
              <a:rPr lang="zh-CN" altLang="en-US" sz="1800" dirty="0">
                <a:latin typeface="微软雅黑" panose="020B0503020204020204" pitchFamily="34" charset="-122"/>
                <a:ea typeface="微软雅黑" panose="020B0503020204020204" pitchFamily="34" charset="-122"/>
              </a:rPr>
              <a:t>：边际社会收益</a:t>
            </a:r>
            <a:endParaRPr lang="en-US" altLang="zh-CN" sz="1800" dirty="0">
              <a:latin typeface="微软雅黑" panose="020B0503020204020204" pitchFamily="34" charset="-122"/>
              <a:ea typeface="微软雅黑" panose="020B0503020204020204" pitchFamily="34" charset="-122"/>
            </a:endParaRPr>
          </a:p>
        </p:txBody>
      </p:sp>
      <p:sp>
        <p:nvSpPr>
          <p:cNvPr id="53" name="Rectangle 2"/>
          <p:cNvSpPr txBox="1">
            <a:spLocks noChangeArrowheads="1"/>
          </p:cNvSpPr>
          <p:nvPr/>
        </p:nvSpPr>
        <p:spPr bwMode="auto">
          <a:xfrm>
            <a:off x="-1166583" y="821193"/>
            <a:ext cx="8031096" cy="86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a:lstStyle>
          <a:p>
            <a:pPr marL="342900" indent="-342900" eaLnBrk="1" hangingPunct="1">
              <a:lnSpc>
                <a:spcPct val="150000"/>
              </a:lnSpc>
              <a:buFont typeface="Wingdings" panose="05000000000000000000" pitchFamily="2" charset="2"/>
              <a:buChar char="u"/>
            </a:pPr>
            <a:r>
              <a:rPr lang="zh-CN" altLang="en-US" sz="2000" kern="0" dirty="0">
                <a:latin typeface="微软雅黑" panose="020B0503020204020204" pitchFamily="34" charset="-122"/>
                <a:ea typeface="微软雅黑" panose="020B0503020204020204" pitchFamily="34" charset="-122"/>
              </a:rPr>
              <a:t>消费正外部性：修剪花园时</a:t>
            </a:r>
            <a:r>
              <a:rPr lang="en-US" altLang="zh-CN" sz="2000" kern="0" dirty="0">
                <a:latin typeface="微软雅黑" panose="020B0503020204020204" pitchFamily="34" charset="-122"/>
                <a:ea typeface="微软雅黑" panose="020B0503020204020204" pitchFamily="34" charset="-122"/>
              </a:rPr>
              <a:t>MSB&gt;MPB</a:t>
            </a:r>
          </a:p>
        </p:txBody>
      </p:sp>
      <p:sp>
        <p:nvSpPr>
          <p:cNvPr id="54" name="矩形 53">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二、外部性导致资源配置无效率</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55" name="标题 1">
            <a:extLst>
              <a:ext uri="{FF2B5EF4-FFF2-40B4-BE49-F238E27FC236}">
                <a16:creationId xmlns:a16="http://schemas.microsoft.com/office/drawing/2014/main" id="{930CBAB5-07F7-47A5-8C64-3284BA397440}"/>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8712488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0-#ppt_w/2"/>
                                          </p:val>
                                        </p:tav>
                                        <p:tav tm="100000">
                                          <p:val>
                                            <p:strVal val="#ppt_x"/>
                                          </p:val>
                                        </p:tav>
                                      </p:tavLst>
                                    </p:anim>
                                    <p:anim calcmode="lin" valueType="num">
                                      <p:cBhvr additive="base">
                                        <p:cTn id="8"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426009"/>
                                        </p:tgtEl>
                                        <p:attrNameLst>
                                          <p:attrName>style.visibility</p:attrName>
                                        </p:attrNameLst>
                                      </p:cBhvr>
                                      <p:to>
                                        <p:strVal val="visible"/>
                                      </p:to>
                                    </p:set>
                                    <p:animEffect transition="in" filter="barn(inVertical)">
                                      <p:cBhvr>
                                        <p:cTn id="13" dur="500"/>
                                        <p:tgtEl>
                                          <p:spTgt spid="42600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26010"/>
                                        </p:tgtEl>
                                        <p:attrNameLst>
                                          <p:attrName>style.visibility</p:attrName>
                                        </p:attrNameLst>
                                      </p:cBhvr>
                                      <p:to>
                                        <p:strVal val="visible"/>
                                      </p:to>
                                    </p:set>
                                    <p:animEffect transition="in" filter="barn(inVertical)">
                                      <p:cBhvr>
                                        <p:cTn id="16" dur="500"/>
                                        <p:tgtEl>
                                          <p:spTgt spid="426010"/>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59426"/>
                                        </p:tgtEl>
                                        <p:attrNameLst>
                                          <p:attrName>style.visibility</p:attrName>
                                        </p:attrNameLst>
                                      </p:cBhvr>
                                      <p:to>
                                        <p:strVal val="visible"/>
                                      </p:to>
                                    </p:set>
                                    <p:animEffect transition="in" filter="barn(inVertical)">
                                      <p:cBhvr>
                                        <p:cTn id="19" dur="500"/>
                                        <p:tgtEl>
                                          <p:spTgt spid="359426"/>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randombar(horizontal)">
                                      <p:cBhvr>
                                        <p:cTn id="24" dur="500"/>
                                        <p:tgtEl>
                                          <p:spTgt spid="50"/>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randombar(horizontal)">
                                      <p:cBhvr>
                                        <p:cTn id="27" dur="500"/>
                                        <p:tgtEl>
                                          <p:spTgt spid="47"/>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randombar(horizontal)">
                                      <p:cBhvr>
                                        <p:cTn id="30" dur="500"/>
                                        <p:tgtEl>
                                          <p:spTgt spid="46"/>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randombar(horizontal)">
                                      <p:cBhvr>
                                        <p:cTn id="33" dur="500"/>
                                        <p:tgtEl>
                                          <p:spTgt spid="51"/>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randombar(horizontal)">
                                      <p:cBhvr>
                                        <p:cTn id="38" dur="500"/>
                                        <p:tgtEl>
                                          <p:spTgt spid="49"/>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randombar(horizontal)">
                                      <p:cBhvr>
                                        <p:cTn id="41" dur="500"/>
                                        <p:tgtEl>
                                          <p:spTgt spid="48"/>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426011"/>
                                        </p:tgtEl>
                                        <p:attrNameLst>
                                          <p:attrName>style.visibility</p:attrName>
                                        </p:attrNameLst>
                                      </p:cBhvr>
                                      <p:to>
                                        <p:strVal val="visible"/>
                                      </p:to>
                                    </p:set>
                                    <p:anim calcmode="lin" valueType="num">
                                      <p:cBhvr additive="base">
                                        <p:cTn id="46" dur="500" fill="hold"/>
                                        <p:tgtEl>
                                          <p:spTgt spid="426011"/>
                                        </p:tgtEl>
                                        <p:attrNameLst>
                                          <p:attrName>ppt_x</p:attrName>
                                        </p:attrNameLst>
                                      </p:cBhvr>
                                      <p:tavLst>
                                        <p:tav tm="0">
                                          <p:val>
                                            <p:strVal val="#ppt_x"/>
                                          </p:val>
                                        </p:tav>
                                        <p:tav tm="100000">
                                          <p:val>
                                            <p:strVal val="#ppt_x"/>
                                          </p:val>
                                        </p:tav>
                                      </p:tavLst>
                                    </p:anim>
                                    <p:anim calcmode="lin" valueType="num">
                                      <p:cBhvr additive="base">
                                        <p:cTn id="47" dur="500" fill="hold"/>
                                        <p:tgtEl>
                                          <p:spTgt spid="426011"/>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 calcmode="lin" valueType="num">
                                      <p:cBhvr additive="base">
                                        <p:cTn id="50" dur="500" fill="hold"/>
                                        <p:tgtEl>
                                          <p:spTgt spid="34"/>
                                        </p:tgtEl>
                                        <p:attrNameLst>
                                          <p:attrName>ppt_x</p:attrName>
                                        </p:attrNameLst>
                                      </p:cBhvr>
                                      <p:tavLst>
                                        <p:tav tm="0">
                                          <p:val>
                                            <p:strVal val="#ppt_x"/>
                                          </p:val>
                                        </p:tav>
                                        <p:tav tm="100000">
                                          <p:val>
                                            <p:strVal val="#ppt_x"/>
                                          </p:val>
                                        </p:tav>
                                      </p:tavLst>
                                    </p:anim>
                                    <p:anim calcmode="lin" valueType="num">
                                      <p:cBhvr additive="base">
                                        <p:cTn id="51"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6"/>
                                        </p:tgtEl>
                                        <p:attrNameLst>
                                          <p:attrName>style.visibility</p:attrName>
                                        </p:attrNameLst>
                                      </p:cBhvr>
                                      <p:to>
                                        <p:strVal val="visible"/>
                                      </p:to>
                                    </p:set>
                                    <p:anim calcmode="lin" valueType="num">
                                      <p:cBhvr additive="base">
                                        <p:cTn id="56" dur="500" fill="hold"/>
                                        <p:tgtEl>
                                          <p:spTgt spid="36"/>
                                        </p:tgtEl>
                                        <p:attrNameLst>
                                          <p:attrName>ppt_x</p:attrName>
                                        </p:attrNameLst>
                                      </p:cBhvr>
                                      <p:tavLst>
                                        <p:tav tm="0">
                                          <p:val>
                                            <p:strVal val="#ppt_x"/>
                                          </p:val>
                                        </p:tav>
                                        <p:tav tm="100000">
                                          <p:val>
                                            <p:strVal val="#ppt_x"/>
                                          </p:val>
                                        </p:tav>
                                      </p:tavLst>
                                    </p:anim>
                                    <p:anim calcmode="lin" valueType="num">
                                      <p:cBhvr additive="base">
                                        <p:cTn id="57" dur="500" fill="hold"/>
                                        <p:tgtEl>
                                          <p:spTgt spid="36"/>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426017"/>
                                        </p:tgtEl>
                                        <p:attrNameLst>
                                          <p:attrName>style.visibility</p:attrName>
                                        </p:attrNameLst>
                                      </p:cBhvr>
                                      <p:to>
                                        <p:strVal val="visible"/>
                                      </p:to>
                                    </p:set>
                                    <p:anim calcmode="lin" valueType="num">
                                      <p:cBhvr additive="base">
                                        <p:cTn id="60" dur="500" fill="hold"/>
                                        <p:tgtEl>
                                          <p:spTgt spid="426017"/>
                                        </p:tgtEl>
                                        <p:attrNameLst>
                                          <p:attrName>ppt_x</p:attrName>
                                        </p:attrNameLst>
                                      </p:cBhvr>
                                      <p:tavLst>
                                        <p:tav tm="0">
                                          <p:val>
                                            <p:strVal val="#ppt_x"/>
                                          </p:val>
                                        </p:tav>
                                        <p:tav tm="100000">
                                          <p:val>
                                            <p:strVal val="#ppt_x"/>
                                          </p:val>
                                        </p:tav>
                                      </p:tavLst>
                                    </p:anim>
                                    <p:anim calcmode="lin" valueType="num">
                                      <p:cBhvr additive="base">
                                        <p:cTn id="61" dur="500" fill="hold"/>
                                        <p:tgtEl>
                                          <p:spTgt spid="426017"/>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426012"/>
                                        </p:tgtEl>
                                        <p:attrNameLst>
                                          <p:attrName>style.visibility</p:attrName>
                                        </p:attrNameLst>
                                      </p:cBhvr>
                                      <p:to>
                                        <p:strVal val="visible"/>
                                      </p:to>
                                    </p:set>
                                    <p:anim calcmode="lin" valueType="num">
                                      <p:cBhvr additive="base">
                                        <p:cTn id="66" dur="500" fill="hold"/>
                                        <p:tgtEl>
                                          <p:spTgt spid="426012"/>
                                        </p:tgtEl>
                                        <p:attrNameLst>
                                          <p:attrName>ppt_x</p:attrName>
                                        </p:attrNameLst>
                                      </p:cBhvr>
                                      <p:tavLst>
                                        <p:tav tm="0">
                                          <p:val>
                                            <p:strVal val="#ppt_x"/>
                                          </p:val>
                                        </p:tav>
                                        <p:tav tm="100000">
                                          <p:val>
                                            <p:strVal val="#ppt_x"/>
                                          </p:val>
                                        </p:tav>
                                      </p:tavLst>
                                    </p:anim>
                                    <p:anim calcmode="lin" valueType="num">
                                      <p:cBhvr additive="base">
                                        <p:cTn id="67" dur="500" fill="hold"/>
                                        <p:tgtEl>
                                          <p:spTgt spid="426012"/>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 calcmode="lin" valueType="num">
                                      <p:cBhvr additive="base">
                                        <p:cTn id="70" dur="500" fill="hold"/>
                                        <p:tgtEl>
                                          <p:spTgt spid="35"/>
                                        </p:tgtEl>
                                        <p:attrNameLst>
                                          <p:attrName>ppt_x</p:attrName>
                                        </p:attrNameLst>
                                      </p:cBhvr>
                                      <p:tavLst>
                                        <p:tav tm="0">
                                          <p:val>
                                            <p:strVal val="#ppt_x"/>
                                          </p:val>
                                        </p:tav>
                                        <p:tav tm="100000">
                                          <p:val>
                                            <p:strVal val="#ppt_x"/>
                                          </p:val>
                                        </p:tav>
                                      </p:tavLst>
                                    </p:anim>
                                    <p:anim calcmode="lin" valueType="num">
                                      <p:cBhvr additive="base">
                                        <p:cTn id="71"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52"/>
                                        </p:tgtEl>
                                        <p:attrNameLst>
                                          <p:attrName>style.visibility</p:attrName>
                                        </p:attrNameLst>
                                      </p:cBhvr>
                                      <p:to>
                                        <p:strVal val="visible"/>
                                      </p:to>
                                    </p:set>
                                    <p:anim calcmode="lin" valueType="num">
                                      <p:cBhvr additive="base">
                                        <p:cTn id="76" dur="500" fill="hold"/>
                                        <p:tgtEl>
                                          <p:spTgt spid="52"/>
                                        </p:tgtEl>
                                        <p:attrNameLst>
                                          <p:attrName>ppt_x</p:attrName>
                                        </p:attrNameLst>
                                      </p:cBhvr>
                                      <p:tavLst>
                                        <p:tav tm="0">
                                          <p:val>
                                            <p:strVal val="#ppt_x"/>
                                          </p:val>
                                        </p:tav>
                                        <p:tav tm="100000">
                                          <p:val>
                                            <p:strVal val="#ppt_x"/>
                                          </p:val>
                                        </p:tav>
                                      </p:tavLst>
                                    </p:anim>
                                    <p:anim calcmode="lin" valueType="num">
                                      <p:cBhvr additive="base">
                                        <p:cTn id="77"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425994"/>
                                        </p:tgtEl>
                                        <p:attrNameLst>
                                          <p:attrName>style.visibility</p:attrName>
                                        </p:attrNameLst>
                                      </p:cBhvr>
                                      <p:to>
                                        <p:strVal val="visible"/>
                                      </p:to>
                                    </p:set>
                                    <p:animEffect transition="in" filter="randombar(horizontal)">
                                      <p:cBhvr>
                                        <p:cTn id="82" dur="500"/>
                                        <p:tgtEl>
                                          <p:spTgt spid="425994"/>
                                        </p:tgtEl>
                                      </p:cBhvr>
                                    </p:animEffect>
                                  </p:childTnLst>
                                </p:cTn>
                              </p:par>
                              <p:par>
                                <p:cTn id="83" presetID="14" presetClass="entr" presetSubtype="1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randombar(horizontal)">
                                      <p:cBhvr>
                                        <p:cTn id="85" dur="500"/>
                                        <p:tgtEl>
                                          <p:spTgt spid="40"/>
                                        </p:tgtEl>
                                      </p:cBhvr>
                                    </p:animEffect>
                                  </p:childTnLst>
                                </p:cTn>
                              </p:par>
                            </p:childTnLst>
                          </p:cTn>
                        </p:par>
                      </p:childTnLst>
                    </p:cTn>
                  </p:par>
                  <p:par>
                    <p:cTn id="86" fill="hold">
                      <p:stCondLst>
                        <p:cond delay="indefinite"/>
                      </p:stCondLst>
                      <p:childTnLst>
                        <p:par>
                          <p:cTn id="87" fill="hold">
                            <p:stCondLst>
                              <p:cond delay="0"/>
                            </p:stCondLst>
                            <p:childTnLst>
                              <p:par>
                                <p:cTn id="88" presetID="14" presetClass="entr" presetSubtype="10" fill="hold" grpId="0" nodeType="clickEffect">
                                  <p:stCondLst>
                                    <p:cond delay="0"/>
                                  </p:stCondLst>
                                  <p:childTnLst>
                                    <p:set>
                                      <p:cBhvr>
                                        <p:cTn id="89" dur="1" fill="hold">
                                          <p:stCondLst>
                                            <p:cond delay="0"/>
                                          </p:stCondLst>
                                        </p:cTn>
                                        <p:tgtEl>
                                          <p:spTgt spid="425995"/>
                                        </p:tgtEl>
                                        <p:attrNameLst>
                                          <p:attrName>style.visibility</p:attrName>
                                        </p:attrNameLst>
                                      </p:cBhvr>
                                      <p:to>
                                        <p:strVal val="visible"/>
                                      </p:to>
                                    </p:set>
                                    <p:animEffect transition="in" filter="randombar(horizontal)">
                                      <p:cBhvr>
                                        <p:cTn id="90" dur="500"/>
                                        <p:tgtEl>
                                          <p:spTgt spid="425995"/>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randombar(horizontal)">
                                      <p:cBhvr>
                                        <p:cTn id="93" dur="500"/>
                                        <p:tgtEl>
                                          <p:spTgt spid="41"/>
                                        </p:tgtEl>
                                      </p:cBhvr>
                                    </p:animEffect>
                                  </p:childTnLst>
                                </p:cTn>
                              </p:par>
                            </p:childTnLst>
                          </p:cTn>
                        </p:par>
                      </p:childTnLst>
                    </p:cTn>
                  </p:par>
                  <p:par>
                    <p:cTn id="94" fill="hold">
                      <p:stCondLst>
                        <p:cond delay="indefinite"/>
                      </p:stCondLst>
                      <p:childTnLst>
                        <p:par>
                          <p:cTn id="95" fill="hold">
                            <p:stCondLst>
                              <p:cond delay="0"/>
                            </p:stCondLst>
                            <p:childTnLst>
                              <p:par>
                                <p:cTn id="96" presetID="14" presetClass="entr" presetSubtype="10" fill="hold" grpId="0"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randombar(horizontal)">
                                      <p:cBhvr>
                                        <p:cTn id="98" dur="500"/>
                                        <p:tgtEl>
                                          <p:spTgt spid="39"/>
                                        </p:tgtEl>
                                      </p:cBhvr>
                                    </p:animEffect>
                                  </p:childTnLst>
                                </p:cTn>
                              </p:par>
                              <p:par>
                                <p:cTn id="99" presetID="14" presetClass="entr" presetSubtype="1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randombar(horizontal)">
                                      <p:cBhvr>
                                        <p:cTn id="101" dur="500"/>
                                        <p:tgtEl>
                                          <p:spTgt spid="45"/>
                                        </p:tgtEl>
                                      </p:cBhvr>
                                    </p:animEffect>
                                  </p:childTnLst>
                                </p:cTn>
                              </p:par>
                            </p:childTnLst>
                          </p:cTn>
                        </p:par>
                      </p:childTnLst>
                    </p:cTn>
                  </p:par>
                  <p:par>
                    <p:cTn id="102" fill="hold">
                      <p:stCondLst>
                        <p:cond delay="indefinite"/>
                      </p:stCondLst>
                      <p:childTnLst>
                        <p:par>
                          <p:cTn id="103" fill="hold">
                            <p:stCondLst>
                              <p:cond delay="0"/>
                            </p:stCondLst>
                            <p:childTnLst>
                              <p:par>
                                <p:cTn id="104" presetID="14" presetClass="entr" presetSubtype="10" fill="hold" grpId="0" nodeType="click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randombar(horizontal)">
                                      <p:cBhvr>
                                        <p:cTn id="106" dur="500"/>
                                        <p:tgtEl>
                                          <p:spTgt spid="42"/>
                                        </p:tgtEl>
                                      </p:cBhvr>
                                    </p:animEffect>
                                  </p:childTnLst>
                                </p:cTn>
                              </p:par>
                              <p:par>
                                <p:cTn id="107" presetID="14" presetClass="entr" presetSubtype="10" fill="hold" grpId="0" nodeType="withEffect">
                                  <p:stCondLst>
                                    <p:cond delay="0"/>
                                  </p:stCondLst>
                                  <p:childTnLst>
                                    <p:set>
                                      <p:cBhvr>
                                        <p:cTn id="108" dur="1" fill="hold">
                                          <p:stCondLst>
                                            <p:cond delay="0"/>
                                          </p:stCondLst>
                                        </p:cTn>
                                        <p:tgtEl>
                                          <p:spTgt spid="426013"/>
                                        </p:tgtEl>
                                        <p:attrNameLst>
                                          <p:attrName>style.visibility</p:attrName>
                                        </p:attrNameLst>
                                      </p:cBhvr>
                                      <p:to>
                                        <p:strVal val="visible"/>
                                      </p:to>
                                    </p:set>
                                    <p:animEffect transition="in" filter="randombar(horizontal)">
                                      <p:cBhvr>
                                        <p:cTn id="109" dur="500"/>
                                        <p:tgtEl>
                                          <p:spTgt spid="426013"/>
                                        </p:tgtEl>
                                      </p:cBhvr>
                                    </p:animEffect>
                                  </p:childTnLst>
                                </p:cTn>
                              </p:par>
                              <p:par>
                                <p:cTn id="110" presetID="14" presetClass="entr" presetSubtype="10" fill="hold" grpId="0" nodeType="with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randombar(horizontal)">
                                      <p:cBhvr>
                                        <p:cTn id="112" dur="500"/>
                                        <p:tgtEl>
                                          <p:spTgt spid="44"/>
                                        </p:tgtEl>
                                      </p:cBhvr>
                                    </p:animEffect>
                                  </p:childTnLst>
                                </p:cTn>
                              </p:par>
                              <p:par>
                                <p:cTn id="113" presetID="14" presetClass="entr" presetSubtype="1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randombar(horizontal)">
                                      <p:cBhvr>
                                        <p:cTn id="115" dur="500"/>
                                        <p:tgtEl>
                                          <p:spTgt spid="38"/>
                                        </p:tgtEl>
                                      </p:cBhvr>
                                    </p:animEffect>
                                  </p:childTnLst>
                                </p:cTn>
                              </p:par>
                            </p:childTnLst>
                          </p:cTn>
                        </p:par>
                      </p:childTnLst>
                    </p:cTn>
                  </p:par>
                  <p:par>
                    <p:cTn id="116" fill="hold">
                      <p:stCondLst>
                        <p:cond delay="indefinite"/>
                      </p:stCondLst>
                      <p:childTnLst>
                        <p:par>
                          <p:cTn id="117" fill="hold">
                            <p:stCondLst>
                              <p:cond delay="0"/>
                            </p:stCondLst>
                            <p:childTnLst>
                              <p:par>
                                <p:cTn id="118" presetID="14" presetClass="entr" presetSubtype="10" fill="hold" grpId="0" nodeType="clickEffect">
                                  <p:stCondLst>
                                    <p:cond delay="0"/>
                                  </p:stCondLst>
                                  <p:childTnLst>
                                    <p:set>
                                      <p:cBhvr>
                                        <p:cTn id="119" dur="1" fill="hold">
                                          <p:stCondLst>
                                            <p:cond delay="0"/>
                                          </p:stCondLst>
                                        </p:cTn>
                                        <p:tgtEl>
                                          <p:spTgt spid="426014"/>
                                        </p:tgtEl>
                                        <p:attrNameLst>
                                          <p:attrName>style.visibility</p:attrName>
                                        </p:attrNameLst>
                                      </p:cBhvr>
                                      <p:to>
                                        <p:strVal val="visible"/>
                                      </p:to>
                                    </p:set>
                                    <p:animEffect transition="in" filter="randombar(horizontal)">
                                      <p:cBhvr>
                                        <p:cTn id="120" dur="500"/>
                                        <p:tgtEl>
                                          <p:spTgt spid="426014"/>
                                        </p:tgtEl>
                                      </p:cBhvr>
                                    </p:animEffect>
                                  </p:childTnLst>
                                </p:cTn>
                              </p:par>
                              <p:par>
                                <p:cTn id="121" presetID="14" presetClass="entr" presetSubtype="10" fill="hold" grpId="0" nodeType="withEffect">
                                  <p:stCondLst>
                                    <p:cond delay="0"/>
                                  </p:stCondLst>
                                  <p:childTnLst>
                                    <p:set>
                                      <p:cBhvr>
                                        <p:cTn id="122" dur="1" fill="hold">
                                          <p:stCondLst>
                                            <p:cond delay="0"/>
                                          </p:stCondLst>
                                        </p:cTn>
                                        <p:tgtEl>
                                          <p:spTgt spid="43"/>
                                        </p:tgtEl>
                                        <p:attrNameLst>
                                          <p:attrName>style.visibility</p:attrName>
                                        </p:attrNameLst>
                                      </p:cBhvr>
                                      <p:to>
                                        <p:strVal val="visible"/>
                                      </p:to>
                                    </p:set>
                                    <p:animEffect transition="in" filter="randombar(horizontal)">
                                      <p:cBhvr>
                                        <p:cTn id="123" dur="500"/>
                                        <p:tgtEl>
                                          <p:spTgt spid="43"/>
                                        </p:tgtEl>
                                      </p:cBhvr>
                                    </p:animEffect>
                                  </p:childTnLst>
                                </p:cTn>
                              </p:par>
                              <p:par>
                                <p:cTn id="124" presetID="14" presetClass="entr" presetSubtype="10" fill="hold" grpId="0" nodeType="withEffect">
                                  <p:stCondLst>
                                    <p:cond delay="0"/>
                                  </p:stCondLst>
                                  <p:childTnLst>
                                    <p:set>
                                      <p:cBhvr>
                                        <p:cTn id="125" dur="1" fill="hold">
                                          <p:stCondLst>
                                            <p:cond delay="0"/>
                                          </p:stCondLst>
                                        </p:cTn>
                                        <p:tgtEl>
                                          <p:spTgt spid="37"/>
                                        </p:tgtEl>
                                        <p:attrNameLst>
                                          <p:attrName>style.visibility</p:attrName>
                                        </p:attrNameLst>
                                      </p:cBhvr>
                                      <p:to>
                                        <p:strVal val="visible"/>
                                      </p:to>
                                    </p:set>
                                    <p:animEffect transition="in" filter="randombar(horizontal)">
                                      <p:cBhvr>
                                        <p:cTn id="12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359426" grpId="0"/>
      <p:bldP spid="426009" grpId="0" animBg="1"/>
      <p:bldP spid="426010" grpId="0" animBg="1"/>
      <p:bldP spid="426011" grpId="0" animBg="1"/>
      <p:bldP spid="426012" grpId="0" animBg="1"/>
      <p:bldP spid="426013" grpId="0" animBg="1"/>
      <p:bldP spid="426014" grpId="0" animBg="1"/>
      <p:bldP spid="426017" grpId="0" animBg="1"/>
      <p:bldP spid="425994" grpId="0" animBg="1"/>
      <p:bldP spid="425995" grpId="0" animBg="1"/>
      <p:bldP spid="34" grpId="0" animBg="1"/>
      <p:bldP spid="35" grpId="0" animBg="1"/>
      <p:bldP spid="36" grpId="0" animBg="1"/>
      <p:bldP spid="37" grpId="0" animBg="1"/>
      <p:bldP spid="38" grpId="0" animBg="1"/>
      <p:bldP spid="39" grpId="0" animBg="1"/>
      <p:bldP spid="40" grpId="0"/>
      <p:bldP spid="41" grpId="0"/>
      <p:bldP spid="42" grpId="0" animBg="1"/>
      <p:bldP spid="43" grpId="0"/>
      <p:bldP spid="44" grpId="0"/>
      <p:bldP spid="45" grpId="0"/>
      <p:bldP spid="46" grpId="0"/>
      <p:bldP spid="47" grpId="0" animBg="1"/>
      <p:bldP spid="48" grpId="0"/>
      <p:bldP spid="49" grpId="0" animBg="1"/>
      <p:bldP spid="50" grpId="0"/>
      <p:bldP spid="52" grpId="0" animBg="1"/>
      <p:bldP spid="5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4294967295"/>
          </p:nvPr>
        </p:nvSpPr>
        <p:spPr>
          <a:xfrm>
            <a:off x="453315" y="1254861"/>
            <a:ext cx="8383960" cy="504056"/>
          </a:xfrm>
        </p:spPr>
        <p:txBody>
          <a:bodyPr/>
          <a:lstStyle/>
          <a:p>
            <a:pPr eaLnBrk="1" hangingPunct="1">
              <a:spcBef>
                <a:spcPct val="50000"/>
              </a:spcBef>
              <a:buSzPct val="80000"/>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非市场方式的手段</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487345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三、纠正外部性的微观经济政策</a:t>
            </a:r>
            <a:r>
              <a:rPr lang="en-US" altLang="zh-CN" sz="2400" b="1" spc="150" dirty="0">
                <a:solidFill>
                  <a:srgbClr val="FFFFFF"/>
                </a:solidFill>
                <a:latin typeface="微软雅黑" panose="020B0503020204020204" pitchFamily="34" charset="-122"/>
                <a:ea typeface="微软雅黑" panose="020B0503020204020204" pitchFamily="34" charset="-122"/>
              </a:rPr>
              <a:t> </a:t>
            </a:r>
          </a:p>
        </p:txBody>
      </p:sp>
      <p:sp>
        <p:nvSpPr>
          <p:cNvPr id="2" name="圆角矩形 1"/>
          <p:cNvSpPr/>
          <p:nvPr/>
        </p:nvSpPr>
        <p:spPr bwMode="auto">
          <a:xfrm>
            <a:off x="2854561" y="1858723"/>
            <a:ext cx="6933256" cy="3744416"/>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nSpc>
                <a:spcPct val="150000"/>
              </a:lnSpc>
              <a:spcBef>
                <a:spcPct val="50000"/>
              </a:spcBef>
              <a:buSzPct val="80000"/>
              <a:buFont typeface="Wingdings" panose="05000000000000000000" pitchFamily="2" charset="2"/>
              <a:buChar char="Ø"/>
            </a:pPr>
            <a:r>
              <a:rPr lang="zh-CN" altLang="en-US" sz="1800" dirty="0">
                <a:solidFill>
                  <a:srgbClr val="C00000"/>
                </a:solidFill>
                <a:latin typeface="微软雅黑" panose="020B0503020204020204" pitchFamily="34" charset="-122"/>
                <a:ea typeface="微软雅黑" panose="020B0503020204020204" pitchFamily="34" charset="-122"/>
              </a:rPr>
              <a:t>以行政命令的方式</a:t>
            </a:r>
            <a:endParaRPr lang="en-US" altLang="zh-CN" sz="1800" dirty="0">
              <a:solidFill>
                <a:srgbClr val="C00000"/>
              </a:solidFill>
              <a:latin typeface="微软雅黑" panose="020B0503020204020204" pitchFamily="34" charset="-122"/>
              <a:ea typeface="微软雅黑" panose="020B0503020204020204" pitchFamily="34" charset="-122"/>
            </a:endParaRPr>
          </a:p>
          <a:p>
            <a:pPr marL="742950" lvl="1" indent="-285750">
              <a:lnSpc>
                <a:spcPct val="150000"/>
              </a:lnSpc>
              <a:spcBef>
                <a:spcPct val="50000"/>
              </a:spcBef>
              <a:buSzPct val="80000"/>
              <a:buFont typeface="Arial" panose="020B0604020202020204" pitchFamily="34" charset="0"/>
              <a:buChar char="•"/>
            </a:pPr>
            <a:r>
              <a:rPr lang="zh-CN" altLang="en-US" sz="1800" dirty="0">
                <a:solidFill>
                  <a:srgbClr val="C00000"/>
                </a:solidFill>
                <a:latin typeface="微软雅黑" panose="020B0503020204020204" pitchFamily="34" charset="-122"/>
                <a:ea typeface="微软雅黑" panose="020B0503020204020204" pitchFamily="34" charset="-122"/>
              </a:rPr>
              <a:t>直接限制产量，或</a:t>
            </a:r>
            <a:endParaRPr lang="en-US" altLang="zh-CN" sz="1800" dirty="0">
              <a:solidFill>
                <a:srgbClr val="C00000"/>
              </a:solidFill>
              <a:latin typeface="微软雅黑" panose="020B0503020204020204" pitchFamily="34" charset="-122"/>
              <a:ea typeface="微软雅黑" panose="020B0503020204020204" pitchFamily="34" charset="-122"/>
            </a:endParaRPr>
          </a:p>
          <a:p>
            <a:pPr marL="742950" lvl="1" indent="-285750">
              <a:lnSpc>
                <a:spcPct val="150000"/>
              </a:lnSpc>
              <a:spcBef>
                <a:spcPct val="50000"/>
              </a:spcBef>
              <a:buSzPct val="80000"/>
              <a:buFont typeface="Arial" panose="020B0604020202020204" pitchFamily="34" charset="0"/>
              <a:buChar char="•"/>
            </a:pPr>
            <a:r>
              <a:rPr lang="zh-CN" altLang="en-US" sz="1800" dirty="0">
                <a:solidFill>
                  <a:srgbClr val="C00000"/>
                </a:solidFill>
                <a:latin typeface="微软雅黑" panose="020B0503020204020204" pitchFamily="34" charset="-122"/>
                <a:ea typeface="微软雅黑" panose="020B0503020204020204" pitchFamily="34" charset="-122"/>
              </a:rPr>
              <a:t>直接确定排放标准，或者</a:t>
            </a:r>
            <a:endParaRPr lang="en-US" altLang="zh-CN" sz="1800" dirty="0">
              <a:solidFill>
                <a:srgbClr val="C00000"/>
              </a:solidFill>
              <a:latin typeface="微软雅黑" panose="020B0503020204020204" pitchFamily="34" charset="-122"/>
              <a:ea typeface="微软雅黑" panose="020B0503020204020204" pitchFamily="34" charset="-122"/>
            </a:endParaRPr>
          </a:p>
          <a:p>
            <a:pPr marL="742950" lvl="1" indent="-285750">
              <a:lnSpc>
                <a:spcPct val="150000"/>
              </a:lnSpc>
              <a:spcBef>
                <a:spcPct val="50000"/>
              </a:spcBef>
              <a:buSzPct val="80000"/>
              <a:buFont typeface="Arial" panose="020B0604020202020204" pitchFamily="34" charset="0"/>
              <a:buChar char="•"/>
            </a:pPr>
            <a:r>
              <a:rPr lang="zh-CN" altLang="en-US" sz="1800" dirty="0">
                <a:solidFill>
                  <a:srgbClr val="C00000"/>
                </a:solidFill>
                <a:latin typeface="微软雅黑" panose="020B0503020204020204" pitchFamily="34" charset="-122"/>
                <a:ea typeface="微软雅黑" panose="020B0503020204020204" pitchFamily="34" charset="-122"/>
              </a:rPr>
              <a:t>强制推广清洁技术</a:t>
            </a:r>
            <a:endParaRPr lang="en-US" altLang="zh-CN" sz="1800" dirty="0">
              <a:solidFill>
                <a:srgbClr val="C00000"/>
              </a:solidFill>
              <a:latin typeface="微软雅黑" panose="020B0503020204020204" pitchFamily="34" charset="-122"/>
              <a:ea typeface="微软雅黑" panose="020B0503020204020204" pitchFamily="34" charset="-122"/>
            </a:endParaRPr>
          </a:p>
          <a:p>
            <a:pPr marL="342900" lvl="1" indent="-342900">
              <a:lnSpc>
                <a:spcPct val="150000"/>
              </a:lnSpc>
              <a:spcBef>
                <a:spcPct val="50000"/>
              </a:spcBef>
              <a:buSzPct val="80000"/>
              <a:buFont typeface="Wingdings" panose="05000000000000000000" pitchFamily="2" charset="2"/>
              <a:buChar char="Ø"/>
            </a:pPr>
            <a:r>
              <a:rPr lang="zh-CN" altLang="en-US" sz="1800" dirty="0">
                <a:solidFill>
                  <a:srgbClr val="C00000"/>
                </a:solidFill>
                <a:latin typeface="微软雅黑" panose="020B0503020204020204" pitchFamily="34" charset="-122"/>
                <a:ea typeface="微软雅黑" panose="020B0503020204020204" pitchFamily="34" charset="-122"/>
              </a:rPr>
              <a:t>缺陷</a:t>
            </a:r>
            <a:endParaRPr lang="en-US" altLang="zh-CN" sz="1800" dirty="0">
              <a:solidFill>
                <a:srgbClr val="C00000"/>
              </a:solidFill>
              <a:latin typeface="微软雅黑" panose="020B0503020204020204" pitchFamily="34" charset="-122"/>
              <a:ea typeface="微软雅黑" panose="020B0503020204020204" pitchFamily="34" charset="-122"/>
            </a:endParaRPr>
          </a:p>
          <a:p>
            <a:pPr marL="742950" lvl="1" indent="-285750">
              <a:lnSpc>
                <a:spcPct val="150000"/>
              </a:lnSpc>
              <a:spcBef>
                <a:spcPct val="50000"/>
              </a:spcBef>
              <a:buSzPct val="80000"/>
              <a:buFont typeface="Arial" panose="020B0604020202020204" pitchFamily="34" charset="0"/>
              <a:buChar char="•"/>
            </a:pPr>
            <a:r>
              <a:rPr lang="zh-CN" altLang="en-US" sz="1800" dirty="0">
                <a:solidFill>
                  <a:srgbClr val="C00000"/>
                </a:solidFill>
                <a:latin typeface="微软雅黑" panose="020B0503020204020204" pitchFamily="34" charset="-122"/>
                <a:ea typeface="微软雅黑" panose="020B0503020204020204" pitchFamily="34" charset="-122"/>
              </a:rPr>
              <a:t>命令的具体内容是否最优效率的，无法确定</a:t>
            </a:r>
            <a:endParaRPr lang="en-US" altLang="zh-CN" sz="1800" dirty="0">
              <a:solidFill>
                <a:srgbClr val="C00000"/>
              </a:solidFill>
              <a:latin typeface="微软雅黑" panose="020B0503020204020204" pitchFamily="34" charset="-122"/>
              <a:ea typeface="微软雅黑" panose="020B0503020204020204" pitchFamily="34" charset="-122"/>
            </a:endParaRPr>
          </a:p>
          <a:p>
            <a:pPr marL="742950" lvl="1" indent="-285750">
              <a:lnSpc>
                <a:spcPct val="150000"/>
              </a:lnSpc>
              <a:spcBef>
                <a:spcPct val="50000"/>
              </a:spcBef>
              <a:buSzPct val="80000"/>
              <a:buFont typeface="Arial" panose="020B0604020202020204" pitchFamily="34" charset="0"/>
              <a:buChar char="•"/>
            </a:pPr>
            <a:r>
              <a:rPr lang="zh-CN" altLang="en-US" sz="1800" dirty="0">
                <a:solidFill>
                  <a:srgbClr val="C00000"/>
                </a:solidFill>
                <a:latin typeface="微软雅黑" panose="020B0503020204020204" pitchFamily="34" charset="-122"/>
                <a:ea typeface="微软雅黑" panose="020B0503020204020204" pitchFamily="34" charset="-122"/>
              </a:rPr>
              <a:t>本可以做到更好（见市场性的措施）</a:t>
            </a:r>
          </a:p>
          <a:p>
            <a:pPr marL="0" marR="0" indent="0" algn="l" defTabSz="914400" rtl="0" eaLnBrk="1" fontAlgn="base" latinLnBrk="0" hangingPunct="1">
              <a:lnSpc>
                <a:spcPct val="15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rgbClr val="C00000"/>
              </a:solidFill>
              <a:effectLst/>
            </a:endParaRPr>
          </a:p>
        </p:txBody>
      </p:sp>
      <p:pic>
        <p:nvPicPr>
          <p:cNvPr id="6" name="图片 5">
            <a:extLst>
              <a:ext uri="{FF2B5EF4-FFF2-40B4-BE49-F238E27FC236}">
                <a16:creationId xmlns:a16="http://schemas.microsoft.com/office/drawing/2014/main" id="{B7741C85-F869-4B29-BB98-3EBABF16097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8156"/>
          <a:stretch/>
        </p:blipFill>
        <p:spPr>
          <a:xfrm flipH="1">
            <a:off x="1043608" y="2134111"/>
            <a:ext cx="1810953" cy="3495420"/>
          </a:xfrm>
          <a:prstGeom prst="rect">
            <a:avLst/>
          </a:prstGeom>
        </p:spPr>
      </p:pic>
      <p:sp>
        <p:nvSpPr>
          <p:cNvPr id="7" name="标题 1">
            <a:extLst>
              <a:ext uri="{FF2B5EF4-FFF2-40B4-BE49-F238E27FC236}">
                <a16:creationId xmlns:a16="http://schemas.microsoft.com/office/drawing/2014/main" id="{3A45BDFC-EDB1-4D15-8B8C-390D72269653}"/>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5058">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randombar(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4294967295"/>
          </p:nvPr>
        </p:nvSpPr>
        <p:spPr>
          <a:xfrm>
            <a:off x="539552" y="1268760"/>
            <a:ext cx="8064896" cy="5111898"/>
          </a:xfrm>
        </p:spPr>
        <p:txBody>
          <a:bodyPr/>
          <a:lstStyle/>
          <a:p>
            <a:pPr eaLnBrk="1" hangingPunct="1">
              <a:lnSpc>
                <a:spcPts val="3500"/>
              </a:lnSpc>
              <a:spcBef>
                <a:spcPct val="50000"/>
              </a:spcBef>
              <a:buSzPct val="80000"/>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市场化的手段</a:t>
            </a:r>
            <a:endParaRPr lang="en-US" altLang="zh-CN" sz="2000" b="0" dirty="0">
              <a:solidFill>
                <a:schemeClr val="tx1"/>
              </a:solidFill>
              <a:latin typeface="微软雅黑" panose="020B0503020204020204" pitchFamily="34" charset="-122"/>
              <a:ea typeface="微软雅黑" panose="020B0503020204020204" pitchFamily="34" charset="-122"/>
            </a:endParaRPr>
          </a:p>
          <a:p>
            <a:pPr eaLnBrk="1" hangingPunct="1">
              <a:lnSpc>
                <a:spcPts val="3500"/>
              </a:lnSpc>
              <a:spcBef>
                <a:spcPct val="50000"/>
              </a:spcBef>
              <a:buSzPct val="80000"/>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针对负外部性</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征税，如庇古税</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540000" lvl="1" indent="-342900" eaLnBrk="1" hangingPunct="1">
              <a:lnSpc>
                <a:spcPts val="3500"/>
              </a:lnSpc>
              <a:spcBef>
                <a:spcPct val="50000"/>
              </a:spcBef>
              <a:buSzPct val="8000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其征税数额相当于该企业给社会其他成员造成的损失，从而使该企业的私人边际成本等于社会边际成本</a:t>
            </a:r>
            <a:r>
              <a:rPr lang="zh-CN" altLang="en-US" sz="1800" dirty="0">
                <a:latin typeface="微软雅黑" panose="020B0503020204020204" pitchFamily="34" charset="-122"/>
                <a:ea typeface="微软雅黑" panose="020B0503020204020204" pitchFamily="34" charset="-122"/>
              </a:rPr>
              <a:t>。 </a:t>
            </a:r>
          </a:p>
          <a:p>
            <a:pPr eaLnBrk="1" hangingPunct="1">
              <a:lnSpc>
                <a:spcPts val="3500"/>
              </a:lnSpc>
              <a:spcBef>
                <a:spcPct val="50000"/>
              </a:spcBef>
              <a:buSzPct val="80000"/>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针对正外部性</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lumMod val="65000"/>
                    <a:lumOff val="35000"/>
                  </a:schemeClr>
                </a:solidFill>
                <a:latin typeface="微软雅黑" panose="020B0503020204020204" pitchFamily="34" charset="-122"/>
                <a:ea typeface="微软雅黑" panose="020B0503020204020204" pitchFamily="34" charset="-122"/>
                <a:sym typeface="Wingdings" panose="05000000000000000000" pitchFamily="2" charset="2"/>
              </a:rPr>
              <a:t>补贴</a:t>
            </a:r>
            <a:endParaRPr lang="en-US" altLang="zh-CN" sz="1800" b="0" dirty="0">
              <a:solidFill>
                <a:schemeClr val="tx1">
                  <a:lumMod val="65000"/>
                  <a:lumOff val="35000"/>
                </a:schemeClr>
              </a:solidFill>
              <a:latin typeface="微软雅黑" panose="020B0503020204020204" pitchFamily="34" charset="-122"/>
              <a:ea typeface="微软雅黑" panose="020B0503020204020204" pitchFamily="34" charset="-122"/>
              <a:sym typeface="Wingdings" panose="05000000000000000000" pitchFamily="2" charset="2"/>
            </a:endParaRPr>
          </a:p>
          <a:p>
            <a:pPr marL="540000" lvl="1" indent="-342900" eaLnBrk="1" hangingPunct="1">
              <a:lnSpc>
                <a:spcPts val="3500"/>
              </a:lnSpc>
              <a:spcBef>
                <a:spcPct val="50000"/>
              </a:spcBef>
              <a:buSzPct val="8000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促使企业把其产出量确定在高于其私人最优化产出水平之上。</a:t>
            </a:r>
            <a:r>
              <a:rPr lang="zh-CN" altLang="en-US" sz="1600" b="0" dirty="0">
                <a:solidFill>
                  <a:schemeClr val="tx1"/>
                </a:solidFill>
                <a:latin typeface="微软雅黑" panose="020B0503020204020204" pitchFamily="34" charset="-122"/>
                <a:ea typeface="微软雅黑" panose="020B0503020204020204" pitchFamily="34" charset="-122"/>
              </a:rPr>
              <a:t>如对节能灯的补贴，对新能源汽车的补贴，对学校的补贴</a:t>
            </a:r>
            <a:r>
              <a:rPr lang="zh-CN" altLang="en-US" sz="1800" b="0" dirty="0">
                <a:solidFill>
                  <a:schemeClr val="tx1"/>
                </a:solidFill>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342900" lvl="1" indent="-342900" eaLnBrk="1" hangingPunct="1">
              <a:lnSpc>
                <a:spcPts val="3500"/>
              </a:lnSpc>
              <a:spcBef>
                <a:spcPct val="50000"/>
              </a:spcBef>
              <a:buSzPct val="80000"/>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基本要求是：</a:t>
            </a:r>
            <a:r>
              <a:rPr lang="zh-CN" altLang="en-US" sz="1600" dirty="0">
                <a:latin typeface="微软雅黑" panose="020B0503020204020204" pitchFamily="34" charset="-122"/>
                <a:ea typeface="微软雅黑" panose="020B0503020204020204" pitchFamily="34" charset="-122"/>
              </a:rPr>
              <a:t>企业的边际成本和边际收益同其相应的边际社会成本和边际社会收益相等</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a:p>
            <a:pPr marL="0" indent="0" eaLnBrk="1" hangingPunct="1">
              <a:lnSpc>
                <a:spcPts val="3500"/>
              </a:lnSpc>
              <a:spcBef>
                <a:spcPct val="50000"/>
              </a:spcBef>
              <a:buSzPct val="80000"/>
              <a:buNone/>
            </a:pPr>
            <a:endParaRPr lang="en-US" altLang="zh-CN" sz="24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eaLnBrk="1" hangingPunct="1">
              <a:lnSpc>
                <a:spcPts val="3500"/>
              </a:lnSpc>
              <a:spcBef>
                <a:spcPct val="50000"/>
              </a:spcBef>
              <a:buSzPct val="80000"/>
              <a:buFont typeface="Arial" panose="020B0604020202020204" pitchFamily="34" charset="0"/>
              <a:buChar char="•"/>
            </a:pPr>
            <a:endParaRPr lang="en-US" altLang="zh-CN" sz="2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487345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三、纠正外部性的微观经济政策</a:t>
            </a:r>
            <a:r>
              <a:rPr lang="en-US" altLang="zh-CN" sz="2400" b="1" spc="150" dirty="0">
                <a:solidFill>
                  <a:srgbClr val="FFFFFF"/>
                </a:solidFill>
                <a:latin typeface="微软雅黑" panose="020B0503020204020204" pitchFamily="34" charset="-122"/>
                <a:ea typeface="微软雅黑" panose="020B0503020204020204" pitchFamily="34" charset="-122"/>
              </a:rPr>
              <a:t> </a:t>
            </a:r>
          </a:p>
        </p:txBody>
      </p:sp>
      <p:sp>
        <p:nvSpPr>
          <p:cNvPr id="6" name="标题 1">
            <a:extLst>
              <a:ext uri="{FF2B5EF4-FFF2-40B4-BE49-F238E27FC236}">
                <a16:creationId xmlns:a16="http://schemas.microsoft.com/office/drawing/2014/main" id="{105D1F5E-ABBE-474D-98E8-F0902E9D998E}"/>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41194440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58">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05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505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4294967295"/>
          </p:nvPr>
        </p:nvSpPr>
        <p:spPr>
          <a:xfrm>
            <a:off x="436512" y="1129750"/>
            <a:ext cx="8383960" cy="5111898"/>
          </a:xfrm>
          <a:noFill/>
        </p:spPr>
        <p:txBody>
          <a:bodyPr/>
          <a:lstStyle/>
          <a:p>
            <a:pPr eaLnBrk="1" hangingPunct="1">
              <a:lnSpc>
                <a:spcPts val="32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科斯定理</a:t>
            </a:r>
            <a:endParaRPr lang="en-US" altLang="zh-CN" sz="2000" b="0" dirty="0">
              <a:solidFill>
                <a:schemeClr val="tx1"/>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科斯定理</a:t>
            </a:r>
            <a:endParaRPr lang="en-US" altLang="zh-CN" sz="1800" b="0" dirty="0">
              <a:solidFill>
                <a:schemeClr val="tx1"/>
              </a:solidFill>
              <a:latin typeface="微软雅黑" panose="020B0503020204020204" pitchFamily="34" charset="-122"/>
              <a:ea typeface="微软雅黑" panose="020B0503020204020204" pitchFamily="34" charset="-122"/>
            </a:endParaRPr>
          </a:p>
          <a:p>
            <a:pPr lvl="1" indent="-342900" eaLnBrk="1" hangingPunct="1">
              <a:lnSpc>
                <a:spcPct val="200000"/>
              </a:lnSpc>
              <a:buFont typeface="Arial" panose="020B0604020202020204" pitchFamily="34" charset="0"/>
              <a:buChar char="•"/>
            </a:pPr>
            <a:r>
              <a:rPr lang="zh-CN" altLang="en-US" sz="1600" b="0" dirty="0">
                <a:solidFill>
                  <a:schemeClr val="tx1"/>
                </a:solidFill>
                <a:latin typeface="微软雅黑" panose="020B0503020204020204" pitchFamily="34" charset="-122"/>
                <a:ea typeface="微软雅黑" panose="020B0503020204020204" pitchFamily="34" charset="-122"/>
              </a:rPr>
              <a:t>科斯认为，在交易成本足够低时，只要产权界定清楚，不管它最初是如何界定的，私人之间在自利动机的驱动会选择协商和交易，一举解决外部性问题。</a:t>
            </a:r>
            <a:endParaRPr lang="en-US" altLang="zh-CN" sz="1600" b="0" dirty="0">
              <a:solidFill>
                <a:schemeClr val="tx1"/>
              </a:solidFill>
              <a:latin typeface="微软雅黑" panose="020B0503020204020204" pitchFamily="34" charset="-122"/>
              <a:ea typeface="微软雅黑" panose="020B0503020204020204" pitchFamily="34" charset="-122"/>
            </a:endParaRPr>
          </a:p>
          <a:p>
            <a:pPr marL="342900" lvl="1" indent="-342900"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外部性的内在化</a:t>
            </a:r>
            <a:endParaRPr lang="en-US" altLang="zh-CN" sz="1800" dirty="0">
              <a:latin typeface="微软雅黑" panose="020B0503020204020204" pitchFamily="34" charset="-122"/>
              <a:ea typeface="微软雅黑" panose="020B0503020204020204" pitchFamily="34" charset="-122"/>
            </a:endParaRPr>
          </a:p>
          <a:p>
            <a:pPr lvl="1" indent="-342900" eaLnBrk="1" hangingPunct="1">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通过市场机制解决外部性叫做外部性的内在化</a:t>
            </a:r>
            <a:r>
              <a:rPr lang="zh-CN" altLang="en-US" sz="1800" dirty="0">
                <a:latin typeface="微软雅黑" panose="020B0503020204020204" pitchFamily="34" charset="-122"/>
                <a:ea typeface="微软雅黑" panose="020B0503020204020204" pitchFamily="34" charset="-122"/>
              </a:rPr>
              <a:t>。</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lvl="1" indent="-342900"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科斯定理的要点在于</a:t>
            </a:r>
            <a:endParaRPr lang="en-US" altLang="zh-CN" sz="1800" dirty="0">
              <a:latin typeface="微软雅黑" panose="020B0503020204020204" pitchFamily="34" charset="-122"/>
              <a:ea typeface="微软雅黑" panose="020B0503020204020204" pitchFamily="34" charset="-122"/>
            </a:endParaRPr>
          </a:p>
          <a:p>
            <a:pPr lvl="1" indent="-342900" eaLnBrk="1" hangingPunct="1">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产权清晰。界定产权，无需政府干预。</a:t>
            </a:r>
            <a:endParaRPr lang="en-US" altLang="zh-CN" sz="1600" dirty="0">
              <a:latin typeface="微软雅黑" panose="020B0503020204020204" pitchFamily="34" charset="-122"/>
              <a:ea typeface="微软雅黑" panose="020B0503020204020204" pitchFamily="34" charset="-122"/>
            </a:endParaRPr>
          </a:p>
          <a:p>
            <a:pPr lvl="1" indent="-342900" eaLnBrk="1" hangingPunct="1">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交易成本。交易成本足够低。</a:t>
            </a:r>
            <a:endParaRPr lang="en-US" altLang="zh-CN" sz="1600" dirty="0">
              <a:latin typeface="微软雅黑" panose="020B0503020204020204" pitchFamily="34" charset="-122"/>
              <a:ea typeface="微软雅黑" panose="020B0503020204020204" pitchFamily="34" charset="-122"/>
            </a:endParaRPr>
          </a:p>
          <a:p>
            <a:pPr lvl="1" indent="-342900" eaLnBrk="1" hangingPunct="1">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市场本质。自愿交易总能带来共赢。</a:t>
            </a:r>
            <a:endParaRPr lang="en-US" altLang="zh-CN" sz="18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四、科斯定理</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DFE38F2E-41B6-49E8-AE1C-B8CC0CC7F7B7}"/>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9111091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5058">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5058">
                                            <p:txEl>
                                              <p:pRg st="1" end="1"/>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5058">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5058">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5058">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5058">
                                            <p:txEl>
                                              <p:pRg st="5" end="5"/>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45058">
                                            <p:txEl>
                                              <p:pRg st="6" end="6"/>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5058">
                                            <p:txEl>
                                              <p:pRg st="7" end="7"/>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505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圆角矩形 3"/>
          <p:cNvSpPr/>
          <p:nvPr/>
        </p:nvSpPr>
        <p:spPr bwMode="auto">
          <a:xfrm>
            <a:off x="971600" y="3284984"/>
            <a:ext cx="7704856" cy="2736304"/>
          </a:xfrm>
          <a:prstGeom prst="roundRec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aphicFrame>
        <p:nvGraphicFramePr>
          <p:cNvPr id="361475" name="Group 3"/>
          <p:cNvGraphicFramePr>
            <a:graphicFrameLocks noGrp="1"/>
          </p:cNvGraphicFramePr>
          <p:nvPr>
            <p:extLst>
              <p:ext uri="{D42A27DB-BD31-4B8C-83A1-F6EECF244321}">
                <p14:modId xmlns:p14="http://schemas.microsoft.com/office/powerpoint/2010/main" val="1253788719"/>
              </p:ext>
            </p:extLst>
          </p:nvPr>
        </p:nvGraphicFramePr>
        <p:xfrm>
          <a:off x="971600" y="692696"/>
          <a:ext cx="7704856" cy="2213610"/>
        </p:xfrm>
        <a:graphic>
          <a:graphicData uri="http://schemas.openxmlformats.org/drawingml/2006/table">
            <a:tbl>
              <a:tblPr/>
              <a:tblGrid>
                <a:gridCol w="1326186">
                  <a:extLst>
                    <a:ext uri="{9D8B030D-6E8A-4147-A177-3AD203B41FA5}">
                      <a16:colId xmlns:a16="http://schemas.microsoft.com/office/drawing/2014/main" val="20000"/>
                    </a:ext>
                  </a:extLst>
                </a:gridCol>
                <a:gridCol w="2344724">
                  <a:extLst>
                    <a:ext uri="{9D8B030D-6E8A-4147-A177-3AD203B41FA5}">
                      <a16:colId xmlns:a16="http://schemas.microsoft.com/office/drawing/2014/main" val="20001"/>
                    </a:ext>
                  </a:extLst>
                </a:gridCol>
                <a:gridCol w="1512166">
                  <a:extLst>
                    <a:ext uri="{9D8B030D-6E8A-4147-A177-3AD203B41FA5}">
                      <a16:colId xmlns:a16="http://schemas.microsoft.com/office/drawing/2014/main" val="20002"/>
                    </a:ext>
                  </a:extLst>
                </a:gridCol>
                <a:gridCol w="2521780">
                  <a:extLst>
                    <a:ext uri="{9D8B030D-6E8A-4147-A177-3AD203B41FA5}">
                      <a16:colId xmlns:a16="http://schemas.microsoft.com/office/drawing/2014/main" val="20003"/>
                    </a:ext>
                  </a:extLst>
                </a:gridCol>
              </a:tblGrid>
              <a:tr h="321437">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b="0" dirty="0">
                          <a:solidFill>
                            <a:schemeClr val="tx2"/>
                          </a:solidFill>
                          <a:latin typeface="微软雅黑" panose="020B0503020204020204" pitchFamily="34" charset="-122"/>
                          <a:ea typeface="微软雅黑" panose="020B0503020204020204" pitchFamily="34" charset="-122"/>
                        </a:rPr>
                        <a:t>Private Solution to positive externality</a:t>
                      </a: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572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Area of peach farm</a:t>
                      </a: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30 Acres</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60 Acres</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1"/>
                  </a:ext>
                </a:extLst>
              </a:tr>
              <a:tr h="473075">
                <a:tc rowSpan="3">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r>
                        <a:rPr lang="en-US" altLang="zh-CN" sz="1800" b="0" dirty="0">
                          <a:latin typeface="微软雅黑" panose="020B0503020204020204" pitchFamily="34" charset="-122"/>
                          <a:ea typeface="微软雅黑" panose="020B0503020204020204" pitchFamily="34" charset="-122"/>
                        </a:rPr>
                        <a:t>Profit</a:t>
                      </a:r>
                      <a:endParaRPr lang="zh-CN" altLang="en-US" sz="1800" b="0" dirty="0">
                        <a:latin typeface="微软雅黑" panose="020B0503020204020204" pitchFamily="34" charset="-122"/>
                        <a:ea typeface="微软雅黑" panose="020B0503020204020204" pitchFamily="34"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Peach farm</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100</a:t>
                      </a: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70</a:t>
                      </a:r>
                    </a:p>
                  </a:txBody>
                  <a:tcP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solidFill>
                      <a:srgbClr val="F3C97E"/>
                    </a:solidFill>
                  </a:tcPr>
                </a:tc>
                <a:extLst>
                  <a:ext uri="{0D108BD9-81ED-4DB2-BD59-A6C34878D82A}">
                    <a16:rowId xmlns:a16="http://schemas.microsoft.com/office/drawing/2014/main" val="10002"/>
                  </a:ext>
                </a:extLst>
              </a:tr>
              <a:tr h="488950">
                <a:tc vMerge="1">
                  <a:txBody>
                    <a:bodyPr/>
                    <a:lstStyle/>
                    <a:p>
                      <a:endParaRPr lang="zh-CN" altLang="en-US" dirty="0"/>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Bee keeping</a:t>
                      </a: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60</a:t>
                      </a:r>
                    </a:p>
                  </a:txBody>
                  <a:tcPr horzOverflow="overflow">
                    <a:lnL>
                      <a:noFill/>
                    </a:lnL>
                    <a:lnR>
                      <a:noFill/>
                    </a:lnR>
                    <a:lnT>
                      <a:noFill/>
                    </a:lnT>
                    <a:lnB>
                      <a:noFill/>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130</a:t>
                      </a:r>
                    </a:p>
                  </a:txBody>
                  <a:tcPr horzOverflow="overflow">
                    <a:lnL>
                      <a:noFill/>
                    </a:lnL>
                    <a:lnR cap="flat">
                      <a:noFill/>
                    </a:lnR>
                    <a:lnT>
                      <a:noFill/>
                    </a:lnT>
                    <a:lnB>
                      <a:noFill/>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r h="428625">
                <a:tc vMerge="1">
                  <a:txBody>
                    <a:bodyPr/>
                    <a:lstStyle/>
                    <a:p>
                      <a:endParaRPr lang="zh-CN" altLang="en-US" dirty="0"/>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Total</a:t>
                      </a:r>
                    </a:p>
                  </a:txBody>
                  <a:tcPr horzOverflow="overflow">
                    <a:lnL w="12700"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160</a:t>
                      </a: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200</a:t>
                      </a:r>
                    </a:p>
                  </a:txBody>
                  <a:tcPr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solidFill>
                      <a:srgbClr val="F3C97E"/>
                    </a:solidFill>
                  </a:tcPr>
                </a:tc>
                <a:extLst>
                  <a:ext uri="{0D108BD9-81ED-4DB2-BD59-A6C34878D82A}">
                    <a16:rowId xmlns:a16="http://schemas.microsoft.com/office/drawing/2014/main" val="10004"/>
                  </a:ext>
                </a:extLst>
              </a:tr>
            </a:tbl>
          </a:graphicData>
        </a:graphic>
      </p:graphicFrame>
      <p:sp>
        <p:nvSpPr>
          <p:cNvPr id="2" name="矩形 1"/>
          <p:cNvSpPr/>
          <p:nvPr/>
        </p:nvSpPr>
        <p:spPr>
          <a:xfrm>
            <a:off x="1259632" y="3356992"/>
            <a:ext cx="6984776" cy="2492798"/>
          </a:xfrm>
          <a:prstGeom prst="rect">
            <a:avLst/>
          </a:prstGeom>
        </p:spPr>
        <p:txBody>
          <a:bodyPr wrap="square">
            <a:spAutoFit/>
          </a:bodyPr>
          <a:lstStyle/>
          <a:p>
            <a:pPr algn="ctr">
              <a:lnSpc>
                <a:spcPts val="2880"/>
              </a:lnSpc>
            </a:pPr>
            <a:r>
              <a:rPr lang="zh-CN" altLang="en-US" sz="2000" dirty="0">
                <a:latin typeface="微软雅黑" panose="020B0503020204020204" pitchFamily="34" charset="-122"/>
                <a:ea typeface="微软雅黑" panose="020B0503020204020204" pitchFamily="34" charset="-122"/>
              </a:rPr>
              <a:t>双赢的交易</a:t>
            </a:r>
            <a:endParaRPr lang="en-US" altLang="zh-CN" sz="2000" dirty="0">
              <a:latin typeface="微软雅黑" panose="020B0503020204020204" pitchFamily="34" charset="-122"/>
              <a:ea typeface="微软雅黑" panose="020B0503020204020204" pitchFamily="34" charset="-122"/>
            </a:endParaRPr>
          </a:p>
          <a:p>
            <a:pPr marL="571500" indent="-57150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未协商时：种植面积为</a:t>
            </a:r>
            <a:r>
              <a:rPr lang="en-US" altLang="zh-CN" sz="1800" dirty="0">
                <a:latin typeface="微软雅黑" panose="020B0503020204020204" pitchFamily="34" charset="-122"/>
                <a:ea typeface="微软雅黑" panose="020B0503020204020204" pitchFamily="34" charset="-122"/>
              </a:rPr>
              <a:t>30</a:t>
            </a:r>
            <a:r>
              <a:rPr lang="zh-CN" altLang="en-US" sz="1800" dirty="0">
                <a:latin typeface="微软雅黑" panose="020B0503020204020204" pitchFamily="34" charset="-122"/>
                <a:ea typeface="微软雅黑" panose="020B0503020204020204" pitchFamily="34" charset="-122"/>
              </a:rPr>
              <a:t>公顷，社会总利润为</a:t>
            </a:r>
            <a:r>
              <a:rPr lang="en-US" altLang="zh-CN" sz="1800" dirty="0">
                <a:latin typeface="微软雅黑" panose="020B0503020204020204" pitchFamily="34" charset="-122"/>
                <a:ea typeface="微软雅黑" panose="020B0503020204020204" pitchFamily="34" charset="-122"/>
              </a:rPr>
              <a:t>160</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571500" indent="-57150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进行市场交易：种植面积扩大至</a:t>
            </a:r>
            <a:r>
              <a:rPr lang="en-US" altLang="zh-CN" sz="1800" dirty="0">
                <a:latin typeface="微软雅黑" panose="020B0503020204020204" pitchFamily="34" charset="-122"/>
                <a:ea typeface="微软雅黑" panose="020B0503020204020204" pitchFamily="34" charset="-122"/>
              </a:rPr>
              <a:t>60</a:t>
            </a:r>
            <a:r>
              <a:rPr lang="zh-CN" altLang="en-US" sz="1800" dirty="0">
                <a:latin typeface="微软雅黑" panose="020B0503020204020204" pitchFamily="34" charset="-122"/>
                <a:ea typeface="微软雅黑" panose="020B0503020204020204" pitchFamily="34" charset="-122"/>
              </a:rPr>
              <a:t>公顷，社会总利润增至</a:t>
            </a:r>
            <a:r>
              <a:rPr lang="en-US" altLang="zh-CN" sz="1800" dirty="0">
                <a:latin typeface="微软雅黑" panose="020B0503020204020204" pitchFamily="34" charset="-122"/>
                <a:ea typeface="微软雅黑" panose="020B0503020204020204" pitchFamily="34" charset="-122"/>
              </a:rPr>
              <a:t>200</a:t>
            </a:r>
            <a:r>
              <a:rPr lang="zh-CN" altLang="en-US" sz="1800" dirty="0">
                <a:latin typeface="微软雅黑" panose="020B0503020204020204" pitchFamily="34" charset="-122"/>
                <a:ea typeface="微软雅黑" panose="020B0503020204020204" pitchFamily="34" charset="-122"/>
              </a:rPr>
              <a:t>，净增</a:t>
            </a:r>
            <a:r>
              <a:rPr lang="en-US" altLang="zh-CN" sz="1800" dirty="0">
                <a:latin typeface="微软雅黑" panose="020B0503020204020204" pitchFamily="34" charset="-122"/>
                <a:ea typeface="微软雅黑" panose="020B0503020204020204" pitchFamily="34" charset="-122"/>
              </a:rPr>
              <a:t>40</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571500" indent="-57150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如何交易？养蜂人支付报酬不低于</a:t>
            </a:r>
            <a:r>
              <a:rPr lang="en-US" altLang="zh-CN" sz="1800" dirty="0">
                <a:latin typeface="微软雅黑" panose="020B0503020204020204" pitchFamily="34" charset="-122"/>
                <a:ea typeface="微软雅黑" panose="020B0503020204020204" pitchFamily="34" charset="-122"/>
              </a:rPr>
              <a:t>30</a:t>
            </a:r>
            <a:r>
              <a:rPr lang="zh-CN" altLang="en-US" sz="1800" dirty="0">
                <a:latin typeface="微软雅黑" panose="020B0503020204020204" pitchFamily="34" charset="-122"/>
                <a:ea typeface="微软雅黑" panose="020B0503020204020204" pitchFamily="34" charset="-122"/>
              </a:rPr>
              <a:t>，不超过</a:t>
            </a:r>
            <a:r>
              <a:rPr lang="en-US" altLang="zh-CN" sz="1800" dirty="0">
                <a:latin typeface="微软雅黑" panose="020B0503020204020204" pitchFamily="34" charset="-122"/>
                <a:ea typeface="微软雅黑" panose="020B0503020204020204" pitchFamily="34" charset="-122"/>
              </a:rPr>
              <a:t>70</a:t>
            </a:r>
            <a:r>
              <a:rPr lang="zh-CN" altLang="en-US" sz="1800" dirty="0">
                <a:latin typeface="微软雅黑" panose="020B0503020204020204" pitchFamily="34" charset="-122"/>
                <a:ea typeface="微软雅黑" panose="020B0503020204020204" pitchFamily="34" charset="-122"/>
              </a:rPr>
              <a:t>，以激励扩大种植面积</a:t>
            </a:r>
            <a:endParaRPr lang="en-US" altLang="zh-CN" sz="1800" dirty="0">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15258325-E933-44F1-A0CC-A80852B80D01}"/>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417855339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61475"/>
                                        </p:tgtEl>
                                        <p:attrNameLst>
                                          <p:attrName>style.visibility</p:attrName>
                                        </p:attrNameLst>
                                      </p:cBhvr>
                                      <p:to>
                                        <p:strVal val="visible"/>
                                      </p:to>
                                    </p:set>
                                    <p:anim calcmode="lin" valueType="num">
                                      <p:cBhvr additive="base">
                                        <p:cTn id="7" dur="500" fill="hold"/>
                                        <p:tgtEl>
                                          <p:spTgt spid="361475"/>
                                        </p:tgtEl>
                                        <p:attrNameLst>
                                          <p:attrName>ppt_x</p:attrName>
                                        </p:attrNameLst>
                                      </p:cBhvr>
                                      <p:tavLst>
                                        <p:tav tm="0">
                                          <p:val>
                                            <p:strVal val="0-#ppt_w/2"/>
                                          </p:val>
                                        </p:tav>
                                        <p:tav tm="100000">
                                          <p:val>
                                            <p:strVal val="#ppt_x"/>
                                          </p:val>
                                        </p:tav>
                                      </p:tavLst>
                                    </p:anim>
                                    <p:anim calcmode="lin" valueType="num">
                                      <p:cBhvr additive="base">
                                        <p:cTn id="8" dur="500" fill="hold"/>
                                        <p:tgtEl>
                                          <p:spTgt spid="3614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圆角矩形 4"/>
          <p:cNvSpPr/>
          <p:nvPr/>
        </p:nvSpPr>
        <p:spPr bwMode="auto">
          <a:xfrm>
            <a:off x="665756" y="738424"/>
            <a:ext cx="7704856" cy="2158110"/>
          </a:xfrm>
          <a:prstGeom prst="roundRec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aphicFrame>
        <p:nvGraphicFramePr>
          <p:cNvPr id="361505" name="Group 33"/>
          <p:cNvGraphicFramePr>
            <a:graphicFrameLocks noGrp="1"/>
          </p:cNvGraphicFramePr>
          <p:nvPr>
            <p:extLst>
              <p:ext uri="{D42A27DB-BD31-4B8C-83A1-F6EECF244321}">
                <p14:modId xmlns:p14="http://schemas.microsoft.com/office/powerpoint/2010/main" val="4193500225"/>
              </p:ext>
            </p:extLst>
          </p:nvPr>
        </p:nvGraphicFramePr>
        <p:xfrm>
          <a:off x="665756" y="3335977"/>
          <a:ext cx="7704856" cy="2371057"/>
        </p:xfrm>
        <a:graphic>
          <a:graphicData uri="http://schemas.openxmlformats.org/drawingml/2006/table">
            <a:tbl>
              <a:tblPr/>
              <a:tblGrid>
                <a:gridCol w="1266552">
                  <a:extLst>
                    <a:ext uri="{9D8B030D-6E8A-4147-A177-3AD203B41FA5}">
                      <a16:colId xmlns:a16="http://schemas.microsoft.com/office/drawing/2014/main" val="20000"/>
                    </a:ext>
                  </a:extLst>
                </a:gridCol>
                <a:gridCol w="2999730">
                  <a:extLst>
                    <a:ext uri="{9D8B030D-6E8A-4147-A177-3AD203B41FA5}">
                      <a16:colId xmlns:a16="http://schemas.microsoft.com/office/drawing/2014/main" val="20001"/>
                    </a:ext>
                  </a:extLst>
                </a:gridCol>
                <a:gridCol w="1718816">
                  <a:extLst>
                    <a:ext uri="{9D8B030D-6E8A-4147-A177-3AD203B41FA5}">
                      <a16:colId xmlns:a16="http://schemas.microsoft.com/office/drawing/2014/main" val="20002"/>
                    </a:ext>
                  </a:extLst>
                </a:gridCol>
                <a:gridCol w="1719758">
                  <a:extLst>
                    <a:ext uri="{9D8B030D-6E8A-4147-A177-3AD203B41FA5}">
                      <a16:colId xmlns:a16="http://schemas.microsoft.com/office/drawing/2014/main" val="20003"/>
                    </a:ext>
                  </a:extLst>
                </a:gridCol>
              </a:tblGrid>
              <a:tr h="360040">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Private solution to negative externality</a:t>
                      </a:r>
                    </a:p>
                  </a:txBody>
                  <a:tcPr marT="45731" marB="45731"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182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With dog</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Without dog</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97E"/>
                    </a:solidFill>
                  </a:tcPr>
                </a:tc>
                <a:extLst>
                  <a:ext uri="{0D108BD9-81ED-4DB2-BD59-A6C34878D82A}">
                    <a16:rowId xmlns:a16="http://schemas.microsoft.com/office/drawing/2014/main" val="10001"/>
                  </a:ext>
                </a:extLst>
              </a:tr>
              <a:tr h="518281">
                <a:tc rowSpan="3">
                  <a:txBody>
                    <a:bodyPr/>
                    <a:lstStyle/>
                    <a:p>
                      <a:pPr algn="ctr"/>
                      <a:endParaRPr lang="en-US" altLang="zh-CN" sz="1800" dirty="0">
                        <a:latin typeface="微软雅黑" panose="020B0503020204020204" pitchFamily="34" charset="-122"/>
                        <a:ea typeface="微软雅黑" panose="020B0503020204020204" pitchFamily="34" charset="-122"/>
                      </a:endParaRPr>
                    </a:p>
                    <a:p>
                      <a:pPr algn="ctr"/>
                      <a:r>
                        <a:rPr lang="en-US" altLang="zh-CN" sz="1800" dirty="0">
                          <a:latin typeface="微软雅黑" panose="020B0503020204020204" pitchFamily="34" charset="-122"/>
                          <a:ea typeface="微软雅黑" panose="020B0503020204020204" pitchFamily="34" charset="-122"/>
                        </a:rPr>
                        <a:t>Utility</a:t>
                      </a:r>
                      <a:endParaRPr lang="zh-CN" altLang="en-US" sz="1800" dirty="0">
                        <a:latin typeface="微软雅黑" panose="020B0503020204020204" pitchFamily="34" charset="-122"/>
                        <a:ea typeface="微软雅黑" panose="020B0503020204020204" pitchFamily="34" charset="-122"/>
                      </a:endParaRP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The family with dog</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40</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450432">
                <a:tc vMerge="1">
                  <a:txBody>
                    <a:bodyPr/>
                    <a:lstStyle/>
                    <a:p>
                      <a:endParaRPr lang="zh-CN" altLang="en-US" dirty="0"/>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Neighbor</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40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140</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r h="518281">
                <a:tc vMerge="1">
                  <a:txBody>
                    <a:bodyPr/>
                    <a:lstStyle/>
                    <a:p>
                      <a:endParaRPr lang="zh-CN" altLang="en-US" dirty="0"/>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Total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140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180</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4"/>
                  </a:ext>
                </a:extLst>
              </a:tr>
            </a:tbl>
          </a:graphicData>
        </a:graphic>
      </p:graphicFrame>
      <p:sp>
        <p:nvSpPr>
          <p:cNvPr id="4" name="矩形 3"/>
          <p:cNvSpPr/>
          <p:nvPr/>
        </p:nvSpPr>
        <p:spPr>
          <a:xfrm>
            <a:off x="975491" y="738424"/>
            <a:ext cx="7301190" cy="2077300"/>
          </a:xfrm>
          <a:prstGeom prst="rect">
            <a:avLst/>
          </a:prstGeom>
        </p:spPr>
        <p:txBody>
          <a:bodyPr wrap="square">
            <a:spAutoFit/>
          </a:bodyPr>
          <a:lstStyle/>
          <a:p>
            <a:pPr algn="ctr">
              <a:lnSpc>
                <a:spcPts val="2880"/>
              </a:lnSpc>
            </a:pPr>
            <a:r>
              <a:rPr lang="zh-CN" altLang="en-US" sz="2000" dirty="0">
                <a:latin typeface="微软雅黑" panose="020B0503020204020204" pitchFamily="34" charset="-122"/>
                <a:ea typeface="微软雅黑" panose="020B0503020204020204" pitchFamily="34" charset="-122"/>
              </a:rPr>
              <a:t>双赢的交易</a:t>
            </a:r>
            <a:endParaRPr lang="en-US" altLang="zh-CN" sz="2000" dirty="0">
              <a:latin typeface="微软雅黑" panose="020B0503020204020204" pitchFamily="34" charset="-122"/>
              <a:ea typeface="微软雅黑" panose="020B0503020204020204" pitchFamily="34" charset="-122"/>
            </a:endParaRPr>
          </a:p>
          <a:p>
            <a:pPr marL="571500" indent="-57150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未协商时：养狗扰民，社会总福利为</a:t>
            </a:r>
            <a:r>
              <a:rPr lang="en-US" altLang="zh-CN" sz="1800" dirty="0">
                <a:latin typeface="微软雅黑" panose="020B0503020204020204" pitchFamily="34" charset="-122"/>
                <a:ea typeface="微软雅黑" panose="020B0503020204020204" pitchFamily="34" charset="-122"/>
              </a:rPr>
              <a:t>140</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571500" indent="-57150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进行市场交易：不养狗，社会总福利增至</a:t>
            </a:r>
            <a:r>
              <a:rPr lang="en-US" altLang="zh-CN" sz="1800" dirty="0">
                <a:latin typeface="微软雅黑" panose="020B0503020204020204" pitchFamily="34" charset="-122"/>
                <a:ea typeface="微软雅黑" panose="020B0503020204020204" pitchFamily="34" charset="-122"/>
              </a:rPr>
              <a:t>180</a:t>
            </a:r>
            <a:r>
              <a:rPr lang="zh-CN" altLang="en-US" sz="1800" dirty="0">
                <a:latin typeface="微软雅黑" panose="020B0503020204020204" pitchFamily="34" charset="-122"/>
                <a:ea typeface="微软雅黑" panose="020B0503020204020204" pitchFamily="34" charset="-122"/>
              </a:rPr>
              <a:t>，净增</a:t>
            </a:r>
            <a:r>
              <a:rPr lang="en-US" altLang="zh-CN" sz="1800" dirty="0">
                <a:latin typeface="微软雅黑" panose="020B0503020204020204" pitchFamily="34" charset="-122"/>
                <a:ea typeface="微软雅黑" panose="020B0503020204020204" pitchFamily="34" charset="-122"/>
              </a:rPr>
              <a:t>40</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571500" indent="-57150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如何交易？邻居支付报酬不低于</a:t>
            </a:r>
            <a:r>
              <a:rPr lang="en-US" altLang="zh-CN" sz="1800" dirty="0">
                <a:latin typeface="微软雅黑" panose="020B0503020204020204" pitchFamily="34" charset="-122"/>
                <a:ea typeface="微软雅黑" panose="020B0503020204020204" pitchFamily="34" charset="-122"/>
              </a:rPr>
              <a:t>60</a:t>
            </a:r>
            <a:r>
              <a:rPr lang="zh-CN" altLang="en-US" sz="1800" dirty="0">
                <a:latin typeface="微软雅黑" panose="020B0503020204020204" pitchFamily="34" charset="-122"/>
                <a:ea typeface="微软雅黑" panose="020B0503020204020204" pitchFamily="34" charset="-122"/>
              </a:rPr>
              <a:t>，不超过</a:t>
            </a:r>
            <a:r>
              <a:rPr lang="en-US" altLang="zh-CN" sz="1800" dirty="0">
                <a:latin typeface="微软雅黑" panose="020B0503020204020204" pitchFamily="34" charset="-122"/>
                <a:ea typeface="微软雅黑" panose="020B0503020204020204" pitchFamily="34" charset="-122"/>
              </a:rPr>
              <a:t>100</a:t>
            </a:r>
            <a:r>
              <a:rPr lang="zh-CN" altLang="en-US" sz="1800" dirty="0">
                <a:latin typeface="微软雅黑" panose="020B0503020204020204" pitchFamily="34" charset="-122"/>
                <a:ea typeface="微软雅黑" panose="020B0503020204020204" pitchFamily="34" charset="-122"/>
              </a:rPr>
              <a:t>，以换取狗主人将狗送人。</a:t>
            </a:r>
            <a:endParaRPr lang="en-US" altLang="zh-CN" sz="1800" dirty="0">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9A887A88-C625-4B5A-A129-B0E5C37D0612}"/>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31966893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61505"/>
                                        </p:tgtEl>
                                        <p:attrNameLst>
                                          <p:attrName>style.visibility</p:attrName>
                                        </p:attrNameLst>
                                      </p:cBhvr>
                                      <p:to>
                                        <p:strVal val="visible"/>
                                      </p:to>
                                    </p:set>
                                    <p:anim calcmode="lin" valueType="num">
                                      <p:cBhvr additive="base">
                                        <p:cTn id="7" dur="500" fill="hold"/>
                                        <p:tgtEl>
                                          <p:spTgt spid="361505"/>
                                        </p:tgtEl>
                                        <p:attrNameLst>
                                          <p:attrName>ppt_x</p:attrName>
                                        </p:attrNameLst>
                                      </p:cBhvr>
                                      <p:tavLst>
                                        <p:tav tm="0">
                                          <p:val>
                                            <p:strVal val="0-#ppt_w/2"/>
                                          </p:val>
                                        </p:tav>
                                        <p:tav tm="100000">
                                          <p:val>
                                            <p:strVal val="#ppt_x"/>
                                          </p:val>
                                        </p:tav>
                                      </p:tavLst>
                                    </p:anim>
                                    <p:anim calcmode="lin" valueType="num">
                                      <p:cBhvr additive="base">
                                        <p:cTn id="8" dur="500" fill="hold"/>
                                        <p:tgtEl>
                                          <p:spTgt spid="3615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auto">
          <a:xfrm>
            <a:off x="827584" y="3424973"/>
            <a:ext cx="7704856" cy="2634300"/>
          </a:xfrm>
          <a:prstGeom prst="roundRec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aphicFrame>
        <p:nvGraphicFramePr>
          <p:cNvPr id="362498" name="Group 2"/>
          <p:cNvGraphicFramePr>
            <a:graphicFrameLocks noGrp="1"/>
          </p:cNvGraphicFramePr>
          <p:nvPr>
            <p:extLst>
              <p:ext uri="{D42A27DB-BD31-4B8C-83A1-F6EECF244321}">
                <p14:modId xmlns:p14="http://schemas.microsoft.com/office/powerpoint/2010/main" val="3658084504"/>
              </p:ext>
            </p:extLst>
          </p:nvPr>
        </p:nvGraphicFramePr>
        <p:xfrm>
          <a:off x="827584" y="1167373"/>
          <a:ext cx="7704856" cy="1973595"/>
        </p:xfrm>
        <a:graphic>
          <a:graphicData uri="http://schemas.openxmlformats.org/drawingml/2006/table">
            <a:tbl>
              <a:tblPr/>
              <a:tblGrid>
                <a:gridCol w="1856698">
                  <a:extLst>
                    <a:ext uri="{9D8B030D-6E8A-4147-A177-3AD203B41FA5}">
                      <a16:colId xmlns:a16="http://schemas.microsoft.com/office/drawing/2014/main" val="20000"/>
                    </a:ext>
                  </a:extLst>
                </a:gridCol>
                <a:gridCol w="1627008">
                  <a:extLst>
                    <a:ext uri="{9D8B030D-6E8A-4147-A177-3AD203B41FA5}">
                      <a16:colId xmlns:a16="http://schemas.microsoft.com/office/drawing/2014/main" val="20001"/>
                    </a:ext>
                  </a:extLst>
                </a:gridCol>
                <a:gridCol w="2022499">
                  <a:extLst>
                    <a:ext uri="{9D8B030D-6E8A-4147-A177-3AD203B41FA5}">
                      <a16:colId xmlns:a16="http://schemas.microsoft.com/office/drawing/2014/main" val="20002"/>
                    </a:ext>
                  </a:extLst>
                </a:gridCol>
                <a:gridCol w="2198651">
                  <a:extLst>
                    <a:ext uri="{9D8B030D-6E8A-4147-A177-3AD203B41FA5}">
                      <a16:colId xmlns:a16="http://schemas.microsoft.com/office/drawing/2014/main" val="20003"/>
                    </a:ext>
                  </a:extLst>
                </a:gridCol>
              </a:tblGrid>
              <a:tr h="5267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2">
                              <a:lumMod val="85000"/>
                              <a:lumOff val="15000"/>
                            </a:schemeClr>
                          </a:solidFill>
                          <a:effectLst/>
                          <a:latin typeface="微软雅黑" panose="020B0503020204020204" pitchFamily="34" charset="-122"/>
                          <a:ea typeface="微软雅黑" panose="020B0503020204020204" pitchFamily="34" charset="-122"/>
                        </a:rPr>
                        <a:t>Profit</a:t>
                      </a:r>
                    </a:p>
                  </a:txBody>
                  <a:tcPr anchor="ctr" horzOverflow="overflow">
                    <a:lnL cap="flat">
                      <a:noFill/>
                    </a:lnL>
                    <a:lnR>
                      <a:noFill/>
                    </a:lnR>
                    <a:lnT w="28575" cap="flat" cmpd="sng" algn="ctr">
                      <a:solidFill>
                        <a:srgbClr val="FF6600"/>
                      </a:solidFill>
                      <a:prstDash val="solid"/>
                      <a:round/>
                      <a:headEnd type="none" w="med" len="med"/>
                      <a:tailEnd type="none" w="med" len="med"/>
                    </a:lnT>
                    <a:lnB>
                      <a:noFill/>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Pollution</a:t>
                      </a:r>
                    </a:p>
                  </a:txBody>
                  <a:tcPr anchor="ctr" horzOverflow="overflow">
                    <a:lnL>
                      <a:noFill/>
                    </a:lnL>
                    <a:lnR>
                      <a:noFill/>
                    </a:lnR>
                    <a:lnT w="28575" cap="flat" cmpd="sng" algn="ctr">
                      <a:solidFill>
                        <a:srgbClr val="FF6600"/>
                      </a:solidFill>
                      <a:prstDash val="solid"/>
                      <a:round/>
                      <a:headEnd type="none" w="med" len="med"/>
                      <a:tailEnd type="none" w="med" len="med"/>
                    </a:lnT>
                    <a:lnB>
                      <a:noFill/>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bg2">
                              <a:lumMod val="75000"/>
                            </a:schemeClr>
                          </a:solidFill>
                          <a:effectLst/>
                          <a:latin typeface="微软雅黑" panose="020B0503020204020204" pitchFamily="34" charset="-122"/>
                          <a:ea typeface="微软雅黑" panose="020B0503020204020204" pitchFamily="34" charset="-122"/>
                        </a:rPr>
                        <a:t>Part Pollution</a:t>
                      </a:r>
                    </a:p>
                  </a:txBody>
                  <a:tcPr anchor="ctr" horzOverflow="overflow">
                    <a:lnL>
                      <a:noFill/>
                    </a:lnL>
                    <a:lnR>
                      <a:noFill/>
                    </a:lnR>
                    <a:lnT w="28575" cap="flat" cmpd="sng" algn="ctr">
                      <a:solidFill>
                        <a:srgbClr val="FF6600"/>
                      </a:solidFill>
                      <a:prstDash val="solid"/>
                      <a:round/>
                      <a:headEnd type="none" w="med" len="med"/>
                      <a:tailEnd type="none" w="med" len="med"/>
                    </a:lnT>
                    <a:lnB>
                      <a:noFill/>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 Pollution</a:t>
                      </a:r>
                    </a:p>
                  </a:txBody>
                  <a:tcPr anchor="ctr" horzOverflow="overflow">
                    <a:lnL>
                      <a:noFill/>
                    </a:lnL>
                    <a:lnR cap="flat">
                      <a:noFill/>
                    </a:lnR>
                    <a:lnT w="28575" cap="flat" cmpd="sng" algn="ctr">
                      <a:solidFill>
                        <a:srgbClr val="FF6600"/>
                      </a:solidFill>
                      <a:prstDash val="solid"/>
                      <a:round/>
                      <a:headEnd type="none" w="med" len="med"/>
                      <a:tailEnd type="none" w="med" len="med"/>
                    </a:lnT>
                    <a:lnB>
                      <a:noFill/>
                    </a:lnB>
                    <a:lnTlToBr>
                      <a:noFill/>
                    </a:lnTlToBr>
                    <a:lnBlToTr>
                      <a:noFill/>
                    </a:lnBlToTr>
                    <a:solidFill>
                      <a:srgbClr val="F3C97E"/>
                    </a:solidFill>
                  </a:tcPr>
                </a:tc>
                <a:extLst>
                  <a:ext uri="{0D108BD9-81ED-4DB2-BD59-A6C34878D82A}">
                    <a16:rowId xmlns:a16="http://schemas.microsoft.com/office/drawing/2014/main" val="10000"/>
                  </a:ext>
                </a:extLst>
              </a:tr>
              <a:tr h="5047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2">
                              <a:lumMod val="85000"/>
                              <a:lumOff val="15000"/>
                            </a:schemeClr>
                          </a:solidFill>
                          <a:effectLst/>
                          <a:latin typeface="微软雅黑" panose="020B0503020204020204" pitchFamily="34" charset="-122"/>
                          <a:ea typeface="微软雅黑" panose="020B0503020204020204" pitchFamily="34" charset="-122"/>
                        </a:rPr>
                        <a:t>Paper mill</a:t>
                      </a:r>
                    </a:p>
                  </a:txBody>
                  <a:tcPr anchor="ctr" horzOverflow="overflow">
                    <a:lnL cap="flat">
                      <a:noFill/>
                    </a:lnL>
                    <a:lnR>
                      <a:noFill/>
                    </a:lnR>
                    <a:lnT>
                      <a:noFill/>
                    </a:lnT>
                    <a:lnB>
                      <a:noFill/>
                    </a:lnB>
                    <a:lnTlToBr>
                      <a:noFill/>
                    </a:lnTlToBr>
                    <a:lnBlToTr>
                      <a:noFill/>
                    </a:lnBlToTr>
                    <a:solidFill>
                      <a:schemeClr val="accent3">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100</a:t>
                      </a:r>
                    </a:p>
                  </a:txBody>
                  <a:tcPr anchor="ctr" horzOverflow="overflow">
                    <a:lnL>
                      <a:noFill/>
                    </a:lnL>
                    <a:lnR>
                      <a:noFill/>
                    </a:lnR>
                    <a:lnT>
                      <a:noFill/>
                    </a:lnT>
                    <a:lnB>
                      <a:noFill/>
                    </a:lnB>
                    <a:lnTlToBr>
                      <a:noFill/>
                    </a:lnTlToBr>
                    <a:lnBlToTr>
                      <a:noFill/>
                    </a:lnBlToTr>
                    <a:solidFill>
                      <a:schemeClr val="accent3">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bg2">
                              <a:lumMod val="75000"/>
                            </a:schemeClr>
                          </a:solidFill>
                          <a:effectLst/>
                          <a:latin typeface="微软雅黑" panose="020B0503020204020204" pitchFamily="34" charset="-122"/>
                          <a:ea typeface="微软雅黑" panose="020B0503020204020204" pitchFamily="34" charset="-122"/>
                        </a:rPr>
                        <a:t>40</a:t>
                      </a:r>
                    </a:p>
                  </a:txBody>
                  <a:tcPr anchor="ctr" horzOverflow="overflow">
                    <a:lnL>
                      <a:noFill/>
                    </a:lnL>
                    <a:lnR>
                      <a:noFill/>
                    </a:lnR>
                    <a:lnT>
                      <a:noFill/>
                    </a:lnT>
                    <a:lnB>
                      <a:noFill/>
                    </a:lnB>
                    <a:lnTlToBr>
                      <a:noFill/>
                    </a:lnTlToBr>
                    <a:lnBlToTr>
                      <a:noFill/>
                    </a:lnBlToTr>
                    <a:solidFill>
                      <a:schemeClr val="accent3">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a:t>
                      </a:r>
                    </a:p>
                  </a:txBody>
                  <a:tcPr anchor="ctr" horzOverflow="overflow">
                    <a:lnL>
                      <a:noFill/>
                    </a:lnL>
                    <a:lnR cap="flat">
                      <a:noFill/>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1"/>
                  </a:ext>
                </a:extLst>
              </a:tr>
              <a:tr h="4863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2">
                              <a:lumMod val="85000"/>
                              <a:lumOff val="15000"/>
                            </a:schemeClr>
                          </a:solidFill>
                          <a:effectLst/>
                          <a:latin typeface="微软雅黑" panose="020B0503020204020204" pitchFamily="34" charset="-122"/>
                          <a:ea typeface="微软雅黑" panose="020B0503020204020204" pitchFamily="34" charset="-122"/>
                        </a:rPr>
                        <a:t>Fishery</a:t>
                      </a:r>
                    </a:p>
                  </a:txBody>
                  <a:tcPr anchor="ctr" horzOverflow="overflow">
                    <a:lnL cap="flat">
                      <a:noFill/>
                    </a:lnL>
                    <a:lnR>
                      <a:noFill/>
                    </a:lnR>
                    <a:lnT>
                      <a:noFill/>
                    </a:lnT>
                    <a:lnB>
                      <a:noFill/>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40</a:t>
                      </a:r>
                    </a:p>
                  </a:txBody>
                  <a:tcPr anchor="ctr" horzOverflow="overflow">
                    <a:lnL>
                      <a:noFill/>
                    </a:lnL>
                    <a:lnR>
                      <a:noFill/>
                    </a:lnR>
                    <a:lnT>
                      <a:noFill/>
                    </a:lnT>
                    <a:lnB>
                      <a:noFill/>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bg2">
                              <a:lumMod val="75000"/>
                            </a:schemeClr>
                          </a:solidFill>
                          <a:effectLst/>
                          <a:latin typeface="微软雅黑" panose="020B0503020204020204" pitchFamily="34" charset="-122"/>
                          <a:ea typeface="微软雅黑" panose="020B0503020204020204" pitchFamily="34" charset="-122"/>
                        </a:rPr>
                        <a:t>140</a:t>
                      </a:r>
                    </a:p>
                  </a:txBody>
                  <a:tcPr anchor="ctr" horzOverflow="overflow">
                    <a:lnL>
                      <a:noFill/>
                    </a:lnL>
                    <a:lnR>
                      <a:noFill/>
                    </a:lnR>
                    <a:lnT>
                      <a:noFill/>
                    </a:lnT>
                    <a:lnB>
                      <a:noFill/>
                    </a:lnB>
                    <a:lnTlToBr>
                      <a:noFill/>
                    </a:lnTlToBr>
                    <a:lnBlToTr>
                      <a:noFill/>
                    </a:lnBlToTr>
                    <a:solidFill>
                      <a:srgbClr val="F3C97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150</a:t>
                      </a:r>
                    </a:p>
                  </a:txBody>
                  <a:tcPr anchor="ctr" horzOverflow="overflow">
                    <a:lnL>
                      <a:noFill/>
                    </a:lnL>
                    <a:lnR cap="flat">
                      <a:noFill/>
                    </a:lnR>
                    <a:lnT>
                      <a:noFill/>
                    </a:lnT>
                    <a:lnB>
                      <a:noFill/>
                    </a:lnB>
                    <a:lnTlToBr>
                      <a:noFill/>
                    </a:lnTlToBr>
                    <a:lnBlToTr>
                      <a:noFill/>
                    </a:lnBlToTr>
                    <a:solidFill>
                      <a:srgbClr val="F3C97E"/>
                    </a:solidFill>
                  </a:tcPr>
                </a:tc>
                <a:extLst>
                  <a:ext uri="{0D108BD9-81ED-4DB2-BD59-A6C34878D82A}">
                    <a16:rowId xmlns:a16="http://schemas.microsoft.com/office/drawing/2014/main" val="10002"/>
                  </a:ext>
                </a:extLst>
              </a:tr>
              <a:tr h="45585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2">
                              <a:lumMod val="85000"/>
                              <a:lumOff val="15000"/>
                            </a:schemeClr>
                          </a:solidFill>
                          <a:effectLst/>
                          <a:latin typeface="微软雅黑" panose="020B0503020204020204" pitchFamily="34" charset="-122"/>
                          <a:ea typeface="微软雅黑" panose="020B0503020204020204" pitchFamily="34" charset="-122"/>
                        </a:rPr>
                        <a:t>Total </a:t>
                      </a:r>
                    </a:p>
                  </a:txBody>
                  <a:tcPr anchor="ctr" horzOverflow="overflow">
                    <a:lnL cap="flat">
                      <a:noFill/>
                    </a:lnL>
                    <a:lnR>
                      <a:noFill/>
                    </a:lnR>
                    <a:lnT>
                      <a:noFill/>
                    </a:lnT>
                    <a:lnB w="28575" cap="flat" cmpd="sng" algn="ctr">
                      <a:solidFill>
                        <a:srgbClr val="FF6600"/>
                      </a:solidFill>
                      <a:prstDash val="solid"/>
                      <a:round/>
                      <a:headEnd type="none" w="med" len="med"/>
                      <a:tailEnd type="none" w="med" len="med"/>
                    </a:lnB>
                    <a:lnTlToBr>
                      <a:noFill/>
                    </a:lnTlToBr>
                    <a:lnBlToTr>
                      <a:noFill/>
                    </a:lnBlToTr>
                    <a:solidFill>
                      <a:schemeClr val="accent3">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140</a:t>
                      </a:r>
                    </a:p>
                  </a:txBody>
                  <a:tcPr anchor="ctr" horzOverflow="overflow">
                    <a:lnL>
                      <a:noFill/>
                    </a:lnL>
                    <a:lnR>
                      <a:noFill/>
                    </a:lnR>
                    <a:lnT>
                      <a:noFill/>
                    </a:lnT>
                    <a:lnB w="28575" cap="flat" cmpd="sng" algn="ctr">
                      <a:solidFill>
                        <a:srgbClr val="FF6600"/>
                      </a:solidFill>
                      <a:prstDash val="solid"/>
                      <a:round/>
                      <a:headEnd type="none" w="med" len="med"/>
                      <a:tailEnd type="none" w="med" len="med"/>
                    </a:lnB>
                    <a:lnTlToBr>
                      <a:noFill/>
                    </a:lnTlToBr>
                    <a:lnBlToTr>
                      <a:noFill/>
                    </a:lnBlToTr>
                    <a:solidFill>
                      <a:schemeClr val="accent3">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bg2">
                              <a:lumMod val="75000"/>
                            </a:schemeClr>
                          </a:solidFill>
                          <a:effectLst/>
                          <a:latin typeface="微软雅黑" panose="020B0503020204020204" pitchFamily="34" charset="-122"/>
                          <a:ea typeface="微软雅黑" panose="020B0503020204020204" pitchFamily="34" charset="-122"/>
                        </a:rPr>
                        <a:t>180</a:t>
                      </a:r>
                    </a:p>
                  </a:txBody>
                  <a:tcPr anchor="ctr" horzOverflow="overflow">
                    <a:lnL>
                      <a:noFill/>
                    </a:lnL>
                    <a:lnR>
                      <a:noFill/>
                    </a:lnR>
                    <a:lnT>
                      <a:noFill/>
                    </a:lnT>
                    <a:lnB w="28575" cap="flat" cmpd="sng" algn="ctr">
                      <a:solidFill>
                        <a:srgbClr val="FF6600"/>
                      </a:solidFill>
                      <a:prstDash val="solid"/>
                      <a:round/>
                      <a:headEnd type="none" w="med" len="med"/>
                      <a:tailEnd type="none" w="med" len="med"/>
                    </a:lnB>
                    <a:lnTlToBr>
                      <a:noFill/>
                    </a:lnTlToBr>
                    <a:lnBlToTr>
                      <a:noFill/>
                    </a:lnBlToTr>
                    <a:solidFill>
                      <a:schemeClr val="accent3">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160</a:t>
                      </a:r>
                    </a:p>
                  </a:txBody>
                  <a:tcPr anchor="ctr" horzOverflow="overflow">
                    <a:lnL>
                      <a:noFill/>
                    </a:lnL>
                    <a:lnR cap="flat">
                      <a:noFill/>
                    </a:lnR>
                    <a:lnT>
                      <a:noFill/>
                    </a:lnT>
                    <a:lnB w="28575" cap="flat" cmpd="sng" algn="ctr">
                      <a:solidFill>
                        <a:srgbClr val="FF6600"/>
                      </a:solidFill>
                      <a:prstDash val="solid"/>
                      <a:round/>
                      <a:headEnd type="none" w="med" len="med"/>
                      <a:tailEnd type="none" w="med" len="med"/>
                    </a:lnB>
                    <a:lnTlToBr>
                      <a:noFill/>
                    </a:lnTlToBr>
                    <a:lnBlToTr>
                      <a:noFill/>
                    </a:lnBlToTr>
                    <a:solidFill>
                      <a:schemeClr val="accent3">
                        <a:lumMod val="85000"/>
                      </a:schemeClr>
                    </a:solidFill>
                  </a:tcPr>
                </a:tc>
                <a:extLst>
                  <a:ext uri="{0D108BD9-81ED-4DB2-BD59-A6C34878D82A}">
                    <a16:rowId xmlns:a16="http://schemas.microsoft.com/office/drawing/2014/main" val="10003"/>
                  </a:ext>
                </a:extLst>
              </a:tr>
            </a:tbl>
          </a:graphicData>
        </a:graphic>
      </p:graphicFrame>
      <p:sp>
        <p:nvSpPr>
          <p:cNvPr id="429077" name="Text Box 29"/>
          <p:cNvSpPr txBox="1">
            <a:spLocks noChangeArrowheads="1"/>
          </p:cNvSpPr>
          <p:nvPr/>
        </p:nvSpPr>
        <p:spPr bwMode="auto">
          <a:xfrm>
            <a:off x="827584" y="735799"/>
            <a:ext cx="7704856" cy="369332"/>
          </a:xfrm>
          <a:prstGeom prst="rect">
            <a:avLst/>
          </a:prstGeom>
          <a:solidFill>
            <a:schemeClr val="bg1"/>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buNone/>
            </a:pPr>
            <a:r>
              <a:rPr lang="en-US" altLang="zh-CN" sz="1800" dirty="0">
                <a:latin typeface="微软雅黑" panose="020B0503020204020204" pitchFamily="34" charset="-122"/>
                <a:ea typeface="微软雅黑" panose="020B0503020204020204" pitchFamily="34" charset="-122"/>
              </a:rPr>
              <a:t>Trade between fishery and paper mill  </a:t>
            </a:r>
          </a:p>
        </p:txBody>
      </p:sp>
      <p:sp>
        <p:nvSpPr>
          <p:cNvPr id="4" name="矩形 3"/>
          <p:cNvSpPr/>
          <p:nvPr/>
        </p:nvSpPr>
        <p:spPr>
          <a:xfrm>
            <a:off x="1187624" y="3424973"/>
            <a:ext cx="6984776" cy="2582566"/>
          </a:xfrm>
          <a:prstGeom prst="rect">
            <a:avLst/>
          </a:prstGeom>
        </p:spPr>
        <p:txBody>
          <a:bodyPr wrap="square">
            <a:spAutoFit/>
          </a:bodyPr>
          <a:lstStyle/>
          <a:p>
            <a:pPr algn="ctr">
              <a:lnSpc>
                <a:spcPct val="150000"/>
              </a:lnSpc>
            </a:pPr>
            <a:r>
              <a:rPr lang="zh-CN" altLang="en-US" sz="2000" dirty="0">
                <a:latin typeface="微软雅黑" panose="020B0503020204020204" pitchFamily="34" charset="-122"/>
                <a:ea typeface="微软雅黑" panose="020B0503020204020204" pitchFamily="34" charset="-122"/>
              </a:rPr>
              <a:t>双赢的交易</a:t>
            </a:r>
            <a:endParaRPr lang="en-US" altLang="zh-CN" sz="2000" dirty="0">
              <a:latin typeface="微软雅黑" panose="020B0503020204020204" pitchFamily="34" charset="-122"/>
              <a:ea typeface="微软雅黑" panose="020B0503020204020204" pitchFamily="34" charset="-122"/>
            </a:endParaRPr>
          </a:p>
          <a:p>
            <a:pPr marL="571500" indent="-57150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如果纸厂有权排污，会选择“全排”；渔民付费让其“部分污染”，最少出</a:t>
            </a:r>
            <a:r>
              <a:rPr lang="en-US" altLang="zh-CN" sz="1800" dirty="0">
                <a:latin typeface="微软雅黑" panose="020B0503020204020204" pitchFamily="34" charset="-122"/>
                <a:ea typeface="微软雅黑" panose="020B0503020204020204" pitchFamily="34" charset="-122"/>
              </a:rPr>
              <a:t>60</a:t>
            </a:r>
            <a:r>
              <a:rPr lang="zh-CN" altLang="en-US" sz="1800" dirty="0">
                <a:latin typeface="微软雅黑" panose="020B0503020204020204" pitchFamily="34" charset="-122"/>
                <a:ea typeface="微软雅黑" panose="020B0503020204020204" pitchFamily="34" charset="-122"/>
              </a:rPr>
              <a:t>（才能补偿纸厂损失），最多出</a:t>
            </a:r>
            <a:r>
              <a:rPr lang="en-US" altLang="zh-CN" sz="1800" dirty="0">
                <a:latin typeface="微软雅黑" panose="020B0503020204020204" pitchFamily="34" charset="-122"/>
                <a:ea typeface="微软雅黑" panose="020B0503020204020204" pitchFamily="34" charset="-122"/>
              </a:rPr>
              <a:t>100</a:t>
            </a:r>
            <a:r>
              <a:rPr lang="zh-CN" altLang="en-US" sz="1800" dirty="0">
                <a:latin typeface="微软雅黑" panose="020B0503020204020204" pitchFamily="34" charset="-122"/>
                <a:ea typeface="微软雅黑" panose="020B0503020204020204" pitchFamily="34" charset="-122"/>
              </a:rPr>
              <a:t>（减排后渔民获得的收益增量）；</a:t>
            </a:r>
            <a:endParaRPr lang="en-US" altLang="zh-CN" sz="1800" dirty="0">
              <a:latin typeface="微软雅黑" panose="020B0503020204020204" pitchFamily="34" charset="-122"/>
              <a:ea typeface="微软雅黑" panose="020B0503020204020204" pitchFamily="34" charset="-122"/>
            </a:endParaRPr>
          </a:p>
          <a:p>
            <a:pPr marL="571500" indent="-57150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如果渔民有湖权，不允许任何排污；纸厂付费补偿以换得部分污染权利，最多出</a:t>
            </a:r>
            <a:r>
              <a:rPr lang="en-US" altLang="zh-CN" sz="1800" dirty="0">
                <a:latin typeface="微软雅黑" panose="020B0503020204020204" pitchFamily="34" charset="-122"/>
                <a:ea typeface="微软雅黑" panose="020B0503020204020204" pitchFamily="34" charset="-122"/>
              </a:rPr>
              <a:t>30</a:t>
            </a:r>
            <a:r>
              <a:rPr lang="zh-CN" altLang="en-US" sz="1800" dirty="0">
                <a:latin typeface="微软雅黑" panose="020B0503020204020204" pitchFamily="34" charset="-122"/>
                <a:ea typeface="微软雅黑" panose="020B0503020204020204" pitchFamily="34" charset="-122"/>
              </a:rPr>
              <a:t>，最少出</a:t>
            </a:r>
            <a:r>
              <a:rPr lang="en-US" altLang="zh-CN" sz="1800" dirty="0">
                <a:latin typeface="微软雅黑" panose="020B0503020204020204" pitchFamily="34" charset="-122"/>
                <a:ea typeface="微软雅黑" panose="020B0503020204020204" pitchFamily="34" charset="-122"/>
              </a:rPr>
              <a:t>10</a:t>
            </a:r>
            <a:r>
              <a:rPr lang="zh-CN" altLang="en-US" sz="1800" dirty="0">
                <a:latin typeface="微软雅黑" panose="020B0503020204020204" pitchFamily="34" charset="-122"/>
                <a:ea typeface="微软雅黑" panose="020B0503020204020204" pitchFamily="34" charset="-122"/>
              </a:rPr>
              <a:t>。</a:t>
            </a:r>
          </a:p>
        </p:txBody>
      </p:sp>
      <p:sp>
        <p:nvSpPr>
          <p:cNvPr id="6" name="标题 1">
            <a:extLst>
              <a:ext uri="{FF2B5EF4-FFF2-40B4-BE49-F238E27FC236}">
                <a16:creationId xmlns:a16="http://schemas.microsoft.com/office/drawing/2014/main" id="{90AFBA37-41F5-45DD-8932-33428D4B1CF8}"/>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89042145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9077"/>
                                        </p:tgtEl>
                                        <p:attrNameLst>
                                          <p:attrName>style.visibility</p:attrName>
                                        </p:attrNameLst>
                                      </p:cBhvr>
                                      <p:to>
                                        <p:strVal val="visible"/>
                                      </p:to>
                                    </p:set>
                                    <p:anim calcmode="lin" valueType="num">
                                      <p:cBhvr additive="base">
                                        <p:cTn id="7" dur="500" fill="hold"/>
                                        <p:tgtEl>
                                          <p:spTgt spid="429077"/>
                                        </p:tgtEl>
                                        <p:attrNameLst>
                                          <p:attrName>ppt_x</p:attrName>
                                        </p:attrNameLst>
                                      </p:cBhvr>
                                      <p:tavLst>
                                        <p:tav tm="0">
                                          <p:val>
                                            <p:strVal val="#ppt_x"/>
                                          </p:val>
                                        </p:tav>
                                        <p:tav tm="100000">
                                          <p:val>
                                            <p:strVal val="#ppt_x"/>
                                          </p:val>
                                        </p:tav>
                                      </p:tavLst>
                                    </p:anim>
                                    <p:anim calcmode="lin" valueType="num">
                                      <p:cBhvr additive="base">
                                        <p:cTn id="8" dur="500" fill="hold"/>
                                        <p:tgtEl>
                                          <p:spTgt spid="42907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2498"/>
                                        </p:tgtEl>
                                        <p:attrNameLst>
                                          <p:attrName>style.visibility</p:attrName>
                                        </p:attrNameLst>
                                      </p:cBhvr>
                                      <p:to>
                                        <p:strVal val="visible"/>
                                      </p:to>
                                    </p:set>
                                    <p:anim calcmode="lin" valueType="num">
                                      <p:cBhvr additive="base">
                                        <p:cTn id="11" dur="500" fill="hold"/>
                                        <p:tgtEl>
                                          <p:spTgt spid="362498"/>
                                        </p:tgtEl>
                                        <p:attrNameLst>
                                          <p:attrName>ppt_x</p:attrName>
                                        </p:attrNameLst>
                                      </p:cBhvr>
                                      <p:tavLst>
                                        <p:tav tm="0">
                                          <p:val>
                                            <p:strVal val="#ppt_x"/>
                                          </p:val>
                                        </p:tav>
                                        <p:tav tm="100000">
                                          <p:val>
                                            <p:strVal val="#ppt_x"/>
                                          </p:val>
                                        </p:tav>
                                      </p:tavLst>
                                    </p:anim>
                                    <p:anim calcmode="lin" valueType="num">
                                      <p:cBhvr additive="base">
                                        <p:cTn id="12" dur="500" fill="hold"/>
                                        <p:tgtEl>
                                          <p:spTgt spid="36249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9077" grpId="0" animBg="1"/>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4294967295"/>
          </p:nvPr>
        </p:nvSpPr>
        <p:spPr>
          <a:xfrm>
            <a:off x="539552" y="1160747"/>
            <a:ext cx="7776864" cy="4135784"/>
          </a:xfrm>
        </p:spPr>
        <p:txBody>
          <a:bodyPr/>
          <a:lstStyle/>
          <a:p>
            <a:pPr eaLnBrk="1" hangingPunct="1">
              <a:lnSpc>
                <a:spcPts val="3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交易成本</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indent="-342900" eaLnBrk="1" hangingPunct="1">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为了达成交易而付出的各种费用，例如搜寻交易机会的信息，讨价还价，赶往交易地点等等。</a:t>
            </a:r>
            <a:endParaRPr lang="en-US" altLang="zh-CN" sz="1800" b="0" dirty="0">
              <a:solidFill>
                <a:schemeClr val="tx1"/>
              </a:solidFill>
              <a:latin typeface="微软雅黑" panose="020B0503020204020204" pitchFamily="34" charset="-122"/>
              <a:ea typeface="微软雅黑" panose="020B0503020204020204" pitchFamily="34" charset="-122"/>
            </a:endParaRPr>
          </a:p>
          <a:p>
            <a:pPr eaLnBrk="1" hangingPunct="1">
              <a:lnSpc>
                <a:spcPts val="3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科斯定理与政府干预</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indent="-342900" eaLnBrk="1" hangingPunct="1">
              <a:lnSpc>
                <a:spcPct val="2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科斯定理是反对政府干预的，但是也只是反对政府不必要的干预。</a:t>
            </a:r>
            <a:endParaRPr lang="en-US" altLang="zh-CN" sz="1800" dirty="0">
              <a:latin typeface="微软雅黑" panose="020B0503020204020204" pitchFamily="34" charset="-122"/>
              <a:ea typeface="微软雅黑" panose="020B0503020204020204" pitchFamily="34" charset="-122"/>
            </a:endParaRPr>
          </a:p>
          <a:p>
            <a:pPr lvl="1" indent="-342900" eaLnBrk="1" hangingPunct="1">
              <a:lnSpc>
                <a:spcPct val="2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交易成本过高时，自愿协商和交易难以出现</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需要政府干预。</a:t>
            </a:r>
            <a:endParaRPr lang="en-US" altLang="zh-CN" sz="1800" dirty="0">
              <a:latin typeface="微软雅黑" panose="020B0503020204020204" pitchFamily="34" charset="-122"/>
              <a:ea typeface="微软雅黑" panose="020B0503020204020204" pitchFamily="34" charset="-122"/>
            </a:endParaRPr>
          </a:p>
          <a:p>
            <a:pPr lvl="1" indent="-342900" eaLnBrk="1" hangingPunct="1">
              <a:lnSpc>
                <a:spcPct val="2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科斯定理要求政府清晰界定产权，这个不属于行政干预。</a:t>
            </a: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四、科斯定理</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98D87433-CF7E-46A5-A884-D7F40CDA43B5}"/>
              </a:ext>
            </a:extLst>
          </p:cNvPr>
          <p:cNvSpPr txBox="1">
            <a:spLocks noChangeArrowheads="1"/>
          </p:cNvSpPr>
          <p:nvPr/>
        </p:nvSpPr>
        <p:spPr bwMode="auto">
          <a:xfrm>
            <a:off x="2123728" y="62278"/>
            <a:ext cx="8229600"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第二节  外部性</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6912846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5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1831951" y="282353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1763688" y="252191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1831951" y="400541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1763688" y="370378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1831951" y="5329109"/>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1763688" y="5027484"/>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7"/>
            </p:custDataLst>
          </p:nvPr>
        </p:nvCxnSpPr>
        <p:spPr>
          <a:xfrm>
            <a:off x="2343126" y="2877513"/>
            <a:ext cx="0" cy="826274"/>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8"/>
            </p:custDataLst>
          </p:nvPr>
        </p:nvCxnSpPr>
        <p:spPr>
          <a:xfrm>
            <a:off x="2343126" y="4059387"/>
            <a:ext cx="0" cy="96809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128963" y="2481640"/>
            <a:ext cx="312777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公共物品和市场失灵</a:t>
            </a:r>
          </a:p>
        </p:txBody>
      </p:sp>
      <p:sp>
        <p:nvSpPr>
          <p:cNvPr id="18" name="矩形 17">
            <a:extLst>
              <a:ext uri="{FF2B5EF4-FFF2-40B4-BE49-F238E27FC236}">
                <a16:creationId xmlns:a16="http://schemas.microsoft.com/office/drawing/2014/main" id="{6BA99CA7-A4CC-4245-BA58-DB89FA49F037}"/>
              </a:ext>
            </a:extLst>
          </p:cNvPr>
          <p:cNvSpPr/>
          <p:nvPr/>
        </p:nvSpPr>
        <p:spPr>
          <a:xfrm>
            <a:off x="3125168" y="3676497"/>
            <a:ext cx="5089855"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针对公共物品供给的微观经济政策</a:t>
            </a:r>
          </a:p>
        </p:txBody>
      </p:sp>
      <p:sp>
        <p:nvSpPr>
          <p:cNvPr id="19" name="矩形 18">
            <a:extLst>
              <a:ext uri="{FF2B5EF4-FFF2-40B4-BE49-F238E27FC236}">
                <a16:creationId xmlns:a16="http://schemas.microsoft.com/office/drawing/2014/main" id="{018105B0-EC74-4F50-9B33-7F18FF6C04E7}"/>
              </a:ext>
            </a:extLst>
          </p:cNvPr>
          <p:cNvSpPr/>
          <p:nvPr/>
        </p:nvSpPr>
        <p:spPr>
          <a:xfrm>
            <a:off x="3125168" y="5013176"/>
            <a:ext cx="4435830"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公共资源的过度使用及其政策</a:t>
            </a:r>
          </a:p>
        </p:txBody>
      </p:sp>
      <p:sp>
        <p:nvSpPr>
          <p:cNvPr id="22" name="Rectangle 3">
            <a:extLst>
              <a:ext uri="{FF2B5EF4-FFF2-40B4-BE49-F238E27FC236}">
                <a16:creationId xmlns:a16="http://schemas.microsoft.com/office/drawing/2014/main" id="{14A92BB5-4416-4DF9-953B-421088426D61}"/>
              </a:ext>
            </a:extLst>
          </p:cNvPr>
          <p:cNvSpPr txBox="1">
            <a:spLocks noChangeArrowheads="1"/>
          </p:cNvSpPr>
          <p:nvPr/>
        </p:nvSpPr>
        <p:spPr bwMode="auto">
          <a:xfrm>
            <a:off x="1391789" y="1039578"/>
            <a:ext cx="8229600" cy="589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sz="3600" dirty="0">
                <a:solidFill>
                  <a:schemeClr val="tx1">
                    <a:lumMod val="95000"/>
                    <a:lumOff val="5000"/>
                  </a:schemeClr>
                </a:solidFill>
                <a:latin typeface="微软雅黑" panose="020B0503020204020204" pitchFamily="34" charset="-122"/>
                <a:ea typeface="微软雅黑" panose="020B0503020204020204" pitchFamily="34" charset="-122"/>
              </a:rPr>
              <a:t>第三节</a:t>
            </a:r>
            <a:r>
              <a:rPr lang="en-US" altLang="zh-CN" sz="360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3600" dirty="0">
                <a:solidFill>
                  <a:schemeClr val="tx1">
                    <a:lumMod val="95000"/>
                    <a:lumOff val="5000"/>
                  </a:schemeClr>
                </a:solidFill>
                <a:latin typeface="微软雅黑" panose="020B0503020204020204" pitchFamily="34" charset="-122"/>
                <a:ea typeface="微软雅黑" panose="020B0503020204020204" pitchFamily="34" charset="-122"/>
              </a:rPr>
              <a:t>公共物品和公共资源</a:t>
            </a:r>
          </a:p>
          <a:p>
            <a:pPr eaLnBrk="1" hangingPunct="1">
              <a:buFontTx/>
              <a:buNone/>
            </a:pPr>
            <a:endParaRPr lang="en-US" altLang="zh-CN" sz="1200" b="0" dirty="0"/>
          </a:p>
          <a:p>
            <a:pPr lvl="1" eaLnBrk="1" hangingPunct="1">
              <a:buFontTx/>
              <a:buNone/>
            </a:pPr>
            <a:endParaRPr lang="zh-CN" altLang="en-US" dirty="0"/>
          </a:p>
        </p:txBody>
      </p:sp>
    </p:spTree>
    <p:extLst>
      <p:ext uri="{BB962C8B-B14F-4D97-AF65-F5344CB8AC3E}">
        <p14:creationId xmlns:p14="http://schemas.microsoft.com/office/powerpoint/2010/main" val="404213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500"/>
                                        <p:tgtEl>
                                          <p:spTgt spid="17"/>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7" grpId="0"/>
      <p:bldP spid="18" grpId="0"/>
      <p:bldP spid="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bwMode="auto">
          <a:xfrm>
            <a:off x="1115616" y="4293096"/>
            <a:ext cx="6120680" cy="1861387"/>
          </a:xfrm>
          <a:prstGeom prst="ellipse">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内容占位符 2"/>
          <p:cNvSpPr>
            <a:spLocks noGrp="1"/>
          </p:cNvSpPr>
          <p:nvPr>
            <p:ph idx="1"/>
          </p:nvPr>
        </p:nvSpPr>
        <p:spPr>
          <a:xfrm>
            <a:off x="539552" y="617075"/>
            <a:ext cx="3600400" cy="550031"/>
          </a:xfrm>
        </p:spPr>
        <p:txBody>
          <a:bodyPr/>
          <a:lstStyle/>
          <a:p>
            <a:pPr marL="0" indent="0">
              <a:buNone/>
            </a:pPr>
            <a:r>
              <a:rPr lang="zh-CN" altLang="en-US" sz="2000" b="0" dirty="0">
                <a:solidFill>
                  <a:schemeClr val="tx1"/>
                </a:solidFill>
                <a:latin typeface="微软雅黑" panose="020B0503020204020204" pitchFamily="34" charset="-122"/>
                <a:ea typeface="微软雅黑" panose="020B0503020204020204" pitchFamily="34" charset="-122"/>
              </a:rPr>
              <a:t>思考一下如下问题：</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2" name="圆角矩形 1"/>
          <p:cNvSpPr/>
          <p:nvPr/>
        </p:nvSpPr>
        <p:spPr bwMode="auto">
          <a:xfrm>
            <a:off x="539552" y="1091011"/>
            <a:ext cx="7272808" cy="2412549"/>
          </a:xfrm>
          <a:prstGeom prst="roundRec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514350" indent="-571500">
              <a:lnSpc>
                <a:spcPct val="200000"/>
              </a:lnSpc>
              <a:buFont typeface="Wingdings" panose="05000000000000000000" pitchFamily="2" charset="2"/>
              <a:buChar char="u"/>
            </a:pPr>
            <a:r>
              <a:rPr lang="zh-CN" altLang="en-US" sz="1800" dirty="0">
                <a:solidFill>
                  <a:schemeClr val="accent1">
                    <a:lumMod val="10000"/>
                  </a:schemeClr>
                </a:solidFill>
                <a:latin typeface="微软雅黑" panose="020B0503020204020204" pitchFamily="34" charset="-122"/>
                <a:ea typeface="微软雅黑" panose="020B0503020204020204" pitchFamily="34" charset="-122"/>
              </a:rPr>
              <a:t>国家为什么在夏季要对海洋作业进行休渔？为什么要国家出面做这个事情？这属于共有资源的范畴。</a:t>
            </a:r>
            <a:endParaRPr lang="en-US" altLang="zh-CN" sz="1800" dirty="0">
              <a:solidFill>
                <a:schemeClr val="accent1">
                  <a:lumMod val="10000"/>
                </a:schemeClr>
              </a:solidFill>
              <a:latin typeface="微软雅黑" panose="020B0503020204020204" pitchFamily="34" charset="-122"/>
              <a:ea typeface="微软雅黑" panose="020B0503020204020204" pitchFamily="34" charset="-122"/>
            </a:endParaRPr>
          </a:p>
          <a:p>
            <a:pPr marL="514350" indent="-571500">
              <a:lnSpc>
                <a:spcPct val="200000"/>
              </a:lnSpc>
              <a:buFont typeface="Wingdings" panose="05000000000000000000" pitchFamily="2" charset="2"/>
              <a:buChar char="u"/>
            </a:pPr>
            <a:r>
              <a:rPr lang="zh-CN" altLang="en-US" sz="1800" dirty="0">
                <a:solidFill>
                  <a:schemeClr val="accent1">
                    <a:lumMod val="10000"/>
                  </a:schemeClr>
                </a:solidFill>
                <a:latin typeface="微软雅黑" panose="020B0503020204020204" pitchFamily="34" charset="-122"/>
                <a:ea typeface="微软雅黑" panose="020B0503020204020204" pitchFamily="34" charset="-122"/>
              </a:rPr>
              <a:t>为什么让私人市场机制进行绿化，以改善生态环境不可行？这属于公共品的范畴。</a:t>
            </a:r>
            <a:endParaRPr lang="en-US" altLang="zh-CN" sz="1800" dirty="0">
              <a:solidFill>
                <a:schemeClr val="accent1">
                  <a:lumMod val="10000"/>
                </a:schemeClr>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12125B1B-7460-47D4-8409-95D4EC8D6F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64288" y="1998958"/>
            <a:ext cx="1535331" cy="1611338"/>
          </a:xfrm>
          <a:prstGeom prst="rect">
            <a:avLst/>
          </a:prstGeom>
        </p:spPr>
      </p:pic>
      <p:sp>
        <p:nvSpPr>
          <p:cNvPr id="5" name="文本框 4"/>
          <p:cNvSpPr txBox="1"/>
          <p:nvPr/>
        </p:nvSpPr>
        <p:spPr>
          <a:xfrm>
            <a:off x="2123728" y="4509120"/>
            <a:ext cx="4320480" cy="1381597"/>
          </a:xfrm>
          <a:prstGeom prst="rect">
            <a:avLst/>
          </a:prstGeom>
          <a:noFill/>
        </p:spPr>
        <p:txBody>
          <a:bodyPr wrap="square" rtlCol="0">
            <a:spAutoFit/>
          </a:bodyPr>
          <a:lstStyle/>
          <a:p>
            <a:pPr>
              <a:lnSpc>
                <a:spcPts val="3500"/>
              </a:lnSpc>
            </a:pPr>
            <a:r>
              <a:rPr lang="zh-CN" altLang="en-US" sz="1800" dirty="0">
                <a:solidFill>
                  <a:srgbClr val="C00000"/>
                </a:solidFill>
                <a:latin typeface="微软雅黑" panose="020B0503020204020204" pitchFamily="34" charset="-122"/>
                <a:ea typeface="微软雅黑" panose="020B0503020204020204" pitchFamily="34" charset="-122"/>
              </a:rPr>
              <a:t>我们接下来的理论就是要来分析这些问题，说明市场机制在这些问题上是怎样失灵的，政府应该如何介入进来。</a:t>
            </a:r>
            <a:endParaRPr lang="en-US" altLang="zh-CN" sz="1800" dirty="0">
              <a:solidFill>
                <a:srgbClr val="C00000"/>
              </a:solidFill>
              <a:latin typeface="微软雅黑" panose="020B0503020204020204" pitchFamily="34" charset="-122"/>
              <a:ea typeface="微软雅黑" panose="020B0503020204020204" pitchFamily="34" charset="-122"/>
            </a:endParaRPr>
          </a:p>
        </p:txBody>
      </p:sp>
      <p:sp>
        <p:nvSpPr>
          <p:cNvPr id="7" name="下箭头 6"/>
          <p:cNvSpPr/>
          <p:nvPr/>
        </p:nvSpPr>
        <p:spPr bwMode="auto">
          <a:xfrm>
            <a:off x="3905926" y="3518656"/>
            <a:ext cx="540060" cy="810022"/>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8" name="标题 1">
            <a:extLst>
              <a:ext uri="{FF2B5EF4-FFF2-40B4-BE49-F238E27FC236}">
                <a16:creationId xmlns:a16="http://schemas.microsoft.com/office/drawing/2014/main" id="{32575FFD-4CDA-42E8-9227-3590C9BB5371}"/>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25083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randombar(horizont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ppt_x"/>
                                          </p:val>
                                        </p:tav>
                                        <p:tav tm="100000">
                                          <p:val>
                                            <p:strVal val="#ppt_x"/>
                                          </p:val>
                                        </p:tav>
                                      </p:tavLst>
                                    </p:anim>
                                    <p:anim calcmode="lin" valueType="num">
                                      <p:cBhvr additive="base">
                                        <p:cTn id="2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bldP spid="2" grpId="0" animBg="1"/>
      <p:bldP spid="5" grpId="0"/>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idx="4294967295"/>
          </p:nvPr>
        </p:nvSpPr>
        <p:spPr>
          <a:xfrm>
            <a:off x="432603" y="1226369"/>
            <a:ext cx="7488832" cy="4537075"/>
          </a:xfrm>
        </p:spPr>
        <p:txBody>
          <a:bodyPr/>
          <a:lstStyle/>
          <a:p>
            <a:pPr eaLnBrk="1" hangingPunct="1">
              <a:lnSpc>
                <a:spcPts val="3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现实经济中的四类物品</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0" indent="0">
              <a:lnSpc>
                <a:spcPts val="3500"/>
              </a:lnSpc>
              <a:buNone/>
            </a:pPr>
            <a:r>
              <a:rPr lang="zh-CN" altLang="en-US" sz="2400" b="0" dirty="0">
                <a:solidFill>
                  <a:schemeClr val="tx1"/>
                </a:solidFill>
                <a:latin typeface="微软雅黑" panose="020B0503020204020204" pitchFamily="34" charset="-122"/>
                <a:ea typeface="微软雅黑" panose="020B0503020204020204" pitchFamily="34" charset="-122"/>
              </a:rPr>
              <a:t>          </a:t>
            </a:r>
            <a:r>
              <a:rPr lang="zh-CN" altLang="en-US" sz="1800" b="0" dirty="0">
                <a:solidFill>
                  <a:schemeClr val="tx1"/>
                </a:solidFill>
                <a:latin typeface="微软雅黑" panose="020B0503020204020204" pitchFamily="34" charset="-122"/>
                <a:ea typeface="微软雅黑" panose="020B0503020204020204" pitchFamily="34" charset="-122"/>
              </a:rPr>
              <a:t>现实经济中的产品有很多种类。</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0" indent="0">
              <a:lnSpc>
                <a:spcPts val="3500"/>
              </a:lnSpc>
              <a:buNone/>
            </a:pPr>
            <a:r>
              <a:rPr lang="en-US" altLang="zh-CN" sz="1800" b="0" dirty="0">
                <a:solidFill>
                  <a:schemeClr val="tx1"/>
                </a:solidFill>
                <a:latin typeface="微软雅黑" panose="020B0503020204020204" pitchFamily="34" charset="-122"/>
                <a:ea typeface="微软雅黑" panose="020B0503020204020204" pitchFamily="34" charset="-122"/>
              </a:rPr>
              <a:t>            </a:t>
            </a:r>
            <a:r>
              <a:rPr lang="zh-CN" altLang="en-US" sz="1800" b="0" dirty="0">
                <a:solidFill>
                  <a:schemeClr val="tx1"/>
                </a:solidFill>
                <a:latin typeface="微软雅黑" panose="020B0503020204020204" pitchFamily="34" charset="-122"/>
                <a:ea typeface="微软雅黑" panose="020B0503020204020204" pitchFamily="34" charset="-122"/>
              </a:rPr>
              <a:t>一个有用的划分标准是，根据这些产品在消费上是否具有排他性    </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0" indent="0">
              <a:lnSpc>
                <a:spcPts val="3500"/>
              </a:lnSpc>
              <a:buNone/>
            </a:pPr>
            <a:r>
              <a:rPr lang="en-US" altLang="zh-CN" sz="1800" b="0" dirty="0">
                <a:solidFill>
                  <a:schemeClr val="tx1"/>
                </a:solidFill>
                <a:latin typeface="微软雅黑" panose="020B0503020204020204" pitchFamily="34" charset="-122"/>
                <a:ea typeface="微软雅黑" panose="020B0503020204020204" pitchFamily="34" charset="-122"/>
              </a:rPr>
              <a:t>           </a:t>
            </a:r>
            <a:r>
              <a:rPr lang="zh-CN" altLang="en-US" sz="1800" b="0" dirty="0">
                <a:solidFill>
                  <a:schemeClr val="tx1"/>
                </a:solidFill>
                <a:latin typeface="微软雅黑" panose="020B0503020204020204" pitchFamily="34" charset="-122"/>
                <a:ea typeface="微软雅黑" panose="020B0503020204020204" pitchFamily="34" charset="-122"/>
              </a:rPr>
              <a:t>和竞争性来分类。</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0" indent="0">
              <a:lnSpc>
                <a:spcPts val="3500"/>
              </a:lnSpc>
              <a:buNone/>
            </a:pPr>
            <a:r>
              <a:rPr lang="en-US" altLang="zh-CN" sz="1800" b="0" dirty="0">
                <a:solidFill>
                  <a:schemeClr val="tx1"/>
                </a:solidFill>
                <a:latin typeface="微软雅黑" panose="020B0503020204020204" pitchFamily="34" charset="-122"/>
                <a:ea typeface="微软雅黑" panose="020B0503020204020204" pitchFamily="34" charset="-122"/>
              </a:rPr>
              <a:t>           </a:t>
            </a:r>
            <a:r>
              <a:rPr lang="zh-CN" altLang="en-US" sz="1800" b="0" dirty="0">
                <a:solidFill>
                  <a:schemeClr val="tx1"/>
                </a:solidFill>
                <a:latin typeface="微软雅黑" panose="020B0503020204020204" pitchFamily="34" charset="-122"/>
                <a:ea typeface="微软雅黑" panose="020B0503020204020204" pitchFamily="34" charset="-122"/>
              </a:rPr>
              <a:t>据此可以分为四种类别：</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800100" lvl="2" indent="0" algn="ctr">
              <a:lnSpc>
                <a:spcPct val="200000"/>
              </a:lnSpc>
              <a:buNone/>
            </a:pPr>
            <a:r>
              <a:rPr lang="zh-CN" altLang="en-US" sz="1800" b="0" dirty="0">
                <a:solidFill>
                  <a:srgbClr val="C00000"/>
                </a:solidFill>
                <a:latin typeface="微软雅黑" panose="020B0503020204020204" pitchFamily="34" charset="-122"/>
                <a:ea typeface="微软雅黑" panose="020B0503020204020204" pitchFamily="34" charset="-122"/>
              </a:rPr>
              <a:t>私人物品</a:t>
            </a:r>
            <a:endParaRPr lang="en-US" altLang="zh-CN" sz="1800" b="0" dirty="0">
              <a:solidFill>
                <a:srgbClr val="C00000"/>
              </a:solidFill>
              <a:latin typeface="微软雅黑" panose="020B0503020204020204" pitchFamily="34" charset="-122"/>
              <a:ea typeface="微软雅黑" panose="020B0503020204020204" pitchFamily="34" charset="-122"/>
            </a:endParaRPr>
          </a:p>
          <a:p>
            <a:pPr marL="800100" lvl="2" indent="0" algn="ctr">
              <a:lnSpc>
                <a:spcPct val="200000"/>
              </a:lnSpc>
              <a:buNone/>
            </a:pPr>
            <a:r>
              <a:rPr lang="zh-CN" altLang="en-US" sz="1800" b="0" dirty="0">
                <a:solidFill>
                  <a:srgbClr val="C00000"/>
                </a:solidFill>
                <a:latin typeface="微软雅黑" panose="020B0503020204020204" pitchFamily="34" charset="-122"/>
                <a:ea typeface="微软雅黑" panose="020B0503020204020204" pitchFamily="34" charset="-122"/>
              </a:rPr>
              <a:t>公共物品</a:t>
            </a:r>
            <a:endParaRPr lang="en-US" altLang="zh-CN" sz="1800" b="0" dirty="0">
              <a:solidFill>
                <a:srgbClr val="C00000"/>
              </a:solidFill>
              <a:latin typeface="微软雅黑" panose="020B0503020204020204" pitchFamily="34" charset="-122"/>
              <a:ea typeface="微软雅黑" panose="020B0503020204020204" pitchFamily="34" charset="-122"/>
            </a:endParaRPr>
          </a:p>
          <a:p>
            <a:pPr marL="800100" lvl="2" indent="0" algn="ctr">
              <a:lnSpc>
                <a:spcPct val="200000"/>
              </a:lnSpc>
              <a:buNone/>
            </a:pPr>
            <a:r>
              <a:rPr lang="zh-CN" altLang="en-US" sz="1800" b="0" dirty="0">
                <a:solidFill>
                  <a:srgbClr val="C00000"/>
                </a:solidFill>
                <a:latin typeface="微软雅黑" panose="020B0503020204020204" pitchFamily="34" charset="-122"/>
                <a:ea typeface="微软雅黑" panose="020B0503020204020204" pitchFamily="34" charset="-122"/>
              </a:rPr>
              <a:t>俱乐部产品</a:t>
            </a:r>
            <a:endParaRPr lang="en-US" altLang="zh-CN" sz="1800" b="0" dirty="0">
              <a:solidFill>
                <a:srgbClr val="C00000"/>
              </a:solidFill>
              <a:latin typeface="微软雅黑" panose="020B0503020204020204" pitchFamily="34" charset="-122"/>
              <a:ea typeface="微软雅黑" panose="020B0503020204020204" pitchFamily="34" charset="-122"/>
            </a:endParaRPr>
          </a:p>
          <a:p>
            <a:pPr marL="800100" lvl="2" indent="0" algn="ctr">
              <a:lnSpc>
                <a:spcPct val="200000"/>
              </a:lnSpc>
              <a:buNone/>
            </a:pPr>
            <a:r>
              <a:rPr lang="zh-CN" altLang="en-US" sz="1800" b="0" dirty="0">
                <a:solidFill>
                  <a:srgbClr val="C00000"/>
                </a:solidFill>
                <a:latin typeface="微软雅黑" panose="020B0503020204020204" pitchFamily="34" charset="-122"/>
                <a:ea typeface="微软雅黑" panose="020B0503020204020204" pitchFamily="34" charset="-122"/>
              </a:rPr>
              <a:t>公共资源</a:t>
            </a:r>
          </a:p>
          <a:p>
            <a:pPr marL="342900" lvl="1" indent="-342900" eaLnBrk="1" hangingPunct="1">
              <a:lnSpc>
                <a:spcPts val="3500"/>
              </a:lnSpc>
              <a:buFontTx/>
              <a:buNone/>
            </a:pPr>
            <a:endParaRPr lang="zh-CN" altLang="en-US" sz="2400" dirty="0">
              <a:latin typeface="微软雅黑" panose="020B0503020204020204" pitchFamily="34" charset="-122"/>
              <a:ea typeface="微软雅黑" panose="020B0503020204020204" pitchFamily="34" charset="-122"/>
            </a:endParaRPr>
          </a:p>
          <a:p>
            <a:pPr marL="342900" lvl="1" indent="-342900" eaLnBrk="1" hangingPunct="1">
              <a:lnSpc>
                <a:spcPts val="3500"/>
              </a:lnSpc>
            </a:pPr>
            <a:endParaRPr lang="en-US" altLang="zh-CN" sz="2400" dirty="0">
              <a:latin typeface="微软雅黑" panose="020B0503020204020204" pitchFamily="34" charset="-122"/>
              <a:ea typeface="微软雅黑" panose="020B0503020204020204" pitchFamily="34" charset="-122"/>
            </a:endParaRPr>
          </a:p>
          <a:p>
            <a:pPr marL="342900" lvl="1" indent="-342900" eaLnBrk="1" hangingPunct="1">
              <a:lnSpc>
                <a:spcPts val="3500"/>
              </a:lnSpc>
            </a:pPr>
            <a:endParaRPr lang="en-US" altLang="zh-CN" sz="2400" dirty="0">
              <a:latin typeface="微软雅黑" panose="020B0503020204020204" pitchFamily="34" charset="-122"/>
              <a:ea typeface="微软雅黑" panose="020B0503020204020204" pitchFamily="34" charset="-122"/>
            </a:endParaRPr>
          </a:p>
          <a:p>
            <a:pPr marL="342900" lvl="1" indent="-342900" eaLnBrk="1" hangingPunct="1">
              <a:lnSpc>
                <a:spcPts val="3500"/>
              </a:lnSpc>
              <a:buFontTx/>
              <a:buNone/>
            </a:pPr>
            <a:endParaRPr lang="en-US" altLang="zh-CN" sz="2400" dirty="0">
              <a:latin typeface="微软雅黑" panose="020B0503020204020204" pitchFamily="34" charset="-122"/>
              <a:ea typeface="微软雅黑" panose="020B0503020204020204" pitchFamily="34" charset="-122"/>
            </a:endParaRPr>
          </a:p>
        </p:txBody>
      </p:sp>
      <p:sp>
        <p:nvSpPr>
          <p:cNvPr id="22553" name="标题 1"/>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一、公共物品与市场失灵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F71F3138-8C32-4F42-BFA3-E3398D5783A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8156"/>
          <a:stretch/>
        </p:blipFill>
        <p:spPr>
          <a:xfrm flipH="1">
            <a:off x="2339752" y="3717032"/>
            <a:ext cx="1274374" cy="2459739"/>
          </a:xfrm>
          <a:prstGeom prst="rect">
            <a:avLst/>
          </a:prstGeom>
        </p:spPr>
      </p:pic>
    </p:spTree>
    <p:extLst>
      <p:ext uri="{BB962C8B-B14F-4D97-AF65-F5344CB8AC3E}">
        <p14:creationId xmlns:p14="http://schemas.microsoft.com/office/powerpoint/2010/main" val="31232466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530">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2530">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2530">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2530">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randombar(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530">
                                            <p:txEl>
                                              <p:pRg st="5" end="5"/>
                                            </p:txEl>
                                          </p:spTgt>
                                        </p:tgtEl>
                                        <p:attrNameLst>
                                          <p:attrName>style.visibility</p:attrName>
                                        </p:attrNameLst>
                                      </p:cBhvr>
                                      <p:to>
                                        <p:strVal val="visible"/>
                                      </p:to>
                                    </p:set>
                                    <p:animEffect transition="in" filter="wipe(left)">
                                      <p:cBhvr>
                                        <p:cTn id="37" dur="500"/>
                                        <p:tgtEl>
                                          <p:spTgt spid="22530">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530">
                                            <p:txEl>
                                              <p:pRg st="6" end="6"/>
                                            </p:txEl>
                                          </p:spTgt>
                                        </p:tgtEl>
                                        <p:attrNameLst>
                                          <p:attrName>style.visibility</p:attrName>
                                        </p:attrNameLst>
                                      </p:cBhvr>
                                      <p:to>
                                        <p:strVal val="visible"/>
                                      </p:to>
                                    </p:set>
                                    <p:animEffect transition="in" filter="wipe(left)">
                                      <p:cBhvr>
                                        <p:cTn id="42" dur="500"/>
                                        <p:tgtEl>
                                          <p:spTgt spid="22530">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2530">
                                            <p:txEl>
                                              <p:pRg st="7" end="7"/>
                                            </p:txEl>
                                          </p:spTgt>
                                        </p:tgtEl>
                                        <p:attrNameLst>
                                          <p:attrName>style.visibility</p:attrName>
                                        </p:attrNameLst>
                                      </p:cBhvr>
                                      <p:to>
                                        <p:strVal val="visible"/>
                                      </p:to>
                                    </p:set>
                                    <p:animEffect transition="in" filter="wipe(left)">
                                      <p:cBhvr>
                                        <p:cTn id="47" dur="500"/>
                                        <p:tgtEl>
                                          <p:spTgt spid="22530">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2530">
                                            <p:txEl>
                                              <p:pRg st="8" end="8"/>
                                            </p:txEl>
                                          </p:spTgt>
                                        </p:tgtEl>
                                        <p:attrNameLst>
                                          <p:attrName>style.visibility</p:attrName>
                                        </p:attrNameLst>
                                      </p:cBhvr>
                                      <p:to>
                                        <p:strVal val="visible"/>
                                      </p:to>
                                    </p:set>
                                    <p:animEffect transition="in" filter="wipe(left)">
                                      <p:cBhvr>
                                        <p:cTn id="52" dur="500"/>
                                        <p:tgtEl>
                                          <p:spTgt spid="2253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3"/>
          <p:cNvGraphicFramePr>
            <a:graphicFrameLocks noGrp="1"/>
          </p:cNvGraphicFramePr>
          <p:nvPr>
            <p:extLst>
              <p:ext uri="{D42A27DB-BD31-4B8C-83A1-F6EECF244321}">
                <p14:modId xmlns:p14="http://schemas.microsoft.com/office/powerpoint/2010/main" val="1032018199"/>
              </p:ext>
            </p:extLst>
          </p:nvPr>
        </p:nvGraphicFramePr>
        <p:xfrm>
          <a:off x="539552" y="1591880"/>
          <a:ext cx="8064895" cy="3674240"/>
        </p:xfrm>
        <a:graphic>
          <a:graphicData uri="http://schemas.openxmlformats.org/drawingml/2006/table">
            <a:tbl>
              <a:tblPr>
                <a:tableStyleId>{5940675A-B579-460E-94D1-54222C63F5DA}</a:tableStyleId>
              </a:tblPr>
              <a:tblGrid>
                <a:gridCol w="1296144">
                  <a:extLst>
                    <a:ext uri="{9D8B030D-6E8A-4147-A177-3AD203B41FA5}">
                      <a16:colId xmlns:a16="http://schemas.microsoft.com/office/drawing/2014/main" val="20000"/>
                    </a:ext>
                  </a:extLst>
                </a:gridCol>
                <a:gridCol w="3165287">
                  <a:extLst>
                    <a:ext uri="{9D8B030D-6E8A-4147-A177-3AD203B41FA5}">
                      <a16:colId xmlns:a16="http://schemas.microsoft.com/office/drawing/2014/main" val="20001"/>
                    </a:ext>
                  </a:extLst>
                </a:gridCol>
                <a:gridCol w="3603464">
                  <a:extLst>
                    <a:ext uri="{9D8B030D-6E8A-4147-A177-3AD203B41FA5}">
                      <a16:colId xmlns:a16="http://schemas.microsoft.com/office/drawing/2014/main" val="20002"/>
                    </a:ext>
                  </a:extLst>
                </a:gridCol>
              </a:tblGrid>
              <a:tr h="50405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lang="zh-CN"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竞争性</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txBody>
                  <a:tcPr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非竞争性</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txBody>
                  <a:tcPr marT="45724" marB="45724" anchor="ctr" horzOverflow="overflow"/>
                </a:tc>
                <a:extLst>
                  <a:ext uri="{0D108BD9-81ED-4DB2-BD59-A6C34878D82A}">
                    <a16:rowId xmlns:a16="http://schemas.microsoft.com/office/drawing/2014/main" val="10000"/>
                  </a:ext>
                </a:extLst>
              </a:tr>
              <a:tr h="137171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排他性</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txBody>
                  <a:tcPr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rPr>
                        <a:t>Private goods</a:t>
                      </a: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rgbClr val="C00000"/>
                          </a:solidFill>
                          <a:latin typeface="微软雅黑" panose="020B0503020204020204" pitchFamily="34" charset="-122"/>
                          <a:ea typeface="微软雅黑" panose="020B0503020204020204" pitchFamily="34" charset="-122"/>
                          <a:cs typeface="+mn-cs"/>
                        </a:rPr>
                        <a:t>饮料</a:t>
                      </a: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饼干</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拥挤的收费公路</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rPr>
                        <a:t>Club goods</a:t>
                      </a: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有线电视，体育场馆</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rgbClr val="C00000"/>
                          </a:solidFill>
                          <a:latin typeface="微软雅黑" panose="020B0503020204020204" pitchFamily="34" charset="-122"/>
                          <a:ea typeface="微软雅黑" panose="020B0503020204020204" pitchFamily="34" charset="-122"/>
                          <a:cs typeface="+mn-cs"/>
                        </a:rPr>
                        <a:t>互联网</a:t>
                      </a: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a:t>
                      </a:r>
                      <a:r>
                        <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rPr>
                        <a:t>WIFI</a:t>
                      </a: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信号</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不拥挤的收费公路</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txBody>
                  <a:tcPr marT="45724" marB="45724" horzOverflow="overflow"/>
                </a:tc>
                <a:extLst>
                  <a:ext uri="{0D108BD9-81ED-4DB2-BD59-A6C34878D82A}">
                    <a16:rowId xmlns:a16="http://schemas.microsoft.com/office/drawing/2014/main" val="10001"/>
                  </a:ext>
                </a:extLst>
              </a:tr>
              <a:tr h="179847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非排他性</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txBody>
                  <a:tcPr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rPr>
                        <a:t>Common resources</a:t>
                      </a: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rgbClr val="C00000"/>
                          </a:solidFill>
                          <a:latin typeface="微软雅黑" panose="020B0503020204020204" pitchFamily="34" charset="-122"/>
                          <a:ea typeface="微软雅黑" panose="020B0503020204020204" pitchFamily="34" charset="-122"/>
                          <a:cs typeface="+mn-cs"/>
                        </a:rPr>
                        <a:t>渔业资源</a:t>
                      </a: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牧场</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地球生态环境</a:t>
                      </a: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拥挤的</a:t>
                      </a:r>
                      <a:r>
                        <a:rPr lang="zh-CN" altLang="en-US" sz="1800" kern="1200" dirty="0">
                          <a:solidFill>
                            <a:srgbClr val="C00000"/>
                          </a:solidFill>
                          <a:latin typeface="微软雅黑" panose="020B0503020204020204" pitchFamily="34" charset="-122"/>
                          <a:ea typeface="微软雅黑" panose="020B0503020204020204" pitchFamily="34" charset="-122"/>
                          <a:cs typeface="+mn-cs"/>
                        </a:rPr>
                        <a:t>开放性公路</a:t>
                      </a:r>
                      <a:endParaRPr lang="en-US" altLang="zh-CN" sz="1800" kern="1200" dirty="0">
                        <a:solidFill>
                          <a:srgbClr val="C00000"/>
                        </a:solidFill>
                        <a:latin typeface="微软雅黑" panose="020B0503020204020204" pitchFamily="34" charset="-122"/>
                        <a:ea typeface="微软雅黑" panose="020B0503020204020204" pitchFamily="34" charset="-122"/>
                        <a:cs typeface="+mn-cs"/>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rPr>
                        <a:t>Public goods</a:t>
                      </a:r>
                      <a:r>
                        <a:rPr lang="zh-CN" altLang="en-US" sz="1800" kern="1200" dirty="0">
                          <a:solidFill>
                            <a:schemeClr val="accent1">
                              <a:lumMod val="10000"/>
                            </a:schemeClr>
                          </a:solidFill>
                          <a:latin typeface="微软雅黑" panose="020B0503020204020204" pitchFamily="34" charset="-122"/>
                          <a:ea typeface="微软雅黑" panose="020B0503020204020204" pitchFamily="34" charset="-122"/>
                          <a:cs typeface="+mn-cs"/>
                        </a:rPr>
                        <a:t>：</a:t>
                      </a:r>
                      <a:endParaRPr lang="en-US" altLang="zh-CN" sz="1800" kern="1200" dirty="0">
                        <a:solidFill>
                          <a:schemeClr val="accent1">
                            <a:lumMod val="1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2">
                              <a:lumMod val="50000"/>
                            </a:schemeClr>
                          </a:solidFill>
                          <a:latin typeface="微软雅黑" panose="020B0503020204020204" pitchFamily="34" charset="-122"/>
                          <a:ea typeface="微软雅黑" panose="020B0503020204020204" pitchFamily="34" charset="-122"/>
                          <a:cs typeface="+mn-cs"/>
                        </a:rPr>
                        <a:t>绿化，</a:t>
                      </a:r>
                      <a:endParaRPr lang="en-US" altLang="zh-CN" sz="1800" kern="1200" dirty="0">
                        <a:solidFill>
                          <a:schemeClr val="accent2">
                            <a:lumMod val="5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2">
                              <a:lumMod val="50000"/>
                            </a:schemeClr>
                          </a:solidFill>
                          <a:latin typeface="微软雅黑" panose="020B0503020204020204" pitchFamily="34" charset="-122"/>
                          <a:ea typeface="微软雅黑" panose="020B0503020204020204" pitchFamily="34" charset="-122"/>
                          <a:cs typeface="+mn-cs"/>
                        </a:rPr>
                        <a:t>治安秩序</a:t>
                      </a:r>
                      <a:endParaRPr lang="en-US" altLang="zh-CN" sz="1800" kern="1200" dirty="0">
                        <a:solidFill>
                          <a:schemeClr val="accent2">
                            <a:lumMod val="50000"/>
                          </a:schemeClr>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rgbClr val="C00000"/>
                          </a:solidFill>
                          <a:latin typeface="微软雅黑" panose="020B0503020204020204" pitchFamily="34" charset="-122"/>
                          <a:ea typeface="微软雅黑" panose="020B0503020204020204" pitchFamily="34" charset="-122"/>
                          <a:cs typeface="+mn-cs"/>
                        </a:rPr>
                        <a:t>反恐</a:t>
                      </a:r>
                      <a:endParaRPr lang="en-US" altLang="zh-CN" sz="1800" kern="1200" dirty="0">
                        <a:solidFill>
                          <a:srgbClr val="C0000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accent2">
                              <a:lumMod val="50000"/>
                            </a:schemeClr>
                          </a:solidFill>
                          <a:latin typeface="微软雅黑" panose="020B0503020204020204" pitchFamily="34" charset="-122"/>
                          <a:ea typeface="微软雅黑" panose="020B0503020204020204" pitchFamily="34" charset="-122"/>
                          <a:cs typeface="+mn-cs"/>
                        </a:rPr>
                        <a:t>不拥挤的开放性公路</a:t>
                      </a:r>
                      <a:endParaRPr lang="en-US" altLang="zh-CN" sz="1800" kern="1200" dirty="0">
                        <a:solidFill>
                          <a:schemeClr val="accent2">
                            <a:lumMod val="50000"/>
                          </a:schemeClr>
                        </a:solidFill>
                        <a:latin typeface="微软雅黑" panose="020B0503020204020204" pitchFamily="34" charset="-122"/>
                        <a:ea typeface="微软雅黑" panose="020B0503020204020204" pitchFamily="34" charset="-122"/>
                        <a:cs typeface="+mn-cs"/>
                      </a:endParaRPr>
                    </a:p>
                  </a:txBody>
                  <a:tcPr marT="45724" marB="45724" horzOverflow="overflow"/>
                </a:tc>
                <a:extLst>
                  <a:ext uri="{0D108BD9-81ED-4DB2-BD59-A6C34878D82A}">
                    <a16:rowId xmlns:a16="http://schemas.microsoft.com/office/drawing/2014/main" val="10002"/>
                  </a:ext>
                </a:extLst>
              </a:tr>
            </a:tbl>
          </a:graphicData>
        </a:graphic>
      </p:graphicFrame>
      <p:sp>
        <p:nvSpPr>
          <p:cNvPr id="5" name="矩形 4">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一、公共物品与市场失灵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6F087CEE-7C3C-477C-8332-805EE6F29278}"/>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24722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626" name="直接箭头连接符 5"/>
          <p:cNvCxnSpPr>
            <a:cxnSpLocks noChangeShapeType="1"/>
          </p:cNvCxnSpPr>
          <p:nvPr/>
        </p:nvCxnSpPr>
        <p:spPr bwMode="auto">
          <a:xfrm flipV="1">
            <a:off x="1042988" y="2289607"/>
            <a:ext cx="0" cy="3168701"/>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27" name="直接箭头连接符 7"/>
          <p:cNvCxnSpPr>
            <a:cxnSpLocks noChangeShapeType="1"/>
          </p:cNvCxnSpPr>
          <p:nvPr/>
        </p:nvCxnSpPr>
        <p:spPr bwMode="auto">
          <a:xfrm>
            <a:off x="1042988" y="5458307"/>
            <a:ext cx="3168650"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28" name="直接连接符 9"/>
          <p:cNvCxnSpPr>
            <a:cxnSpLocks noChangeShapeType="1"/>
          </p:cNvCxnSpPr>
          <p:nvPr/>
        </p:nvCxnSpPr>
        <p:spPr bwMode="auto">
          <a:xfrm>
            <a:off x="1116013" y="3081819"/>
            <a:ext cx="1511300" cy="1871663"/>
          </a:xfrm>
          <a:prstGeom prst="line">
            <a:avLst/>
          </a:prstGeom>
          <a:noFill/>
          <a:ln w="28575" cmpd="sng">
            <a:solidFill>
              <a:schemeClr val="tx1"/>
            </a:solidFill>
            <a:round/>
            <a:headEnd/>
            <a:tailEnd/>
          </a:ln>
          <a:extLst>
            <a:ext uri="{909E8E84-426E-40DD-AFC4-6F175D3DCCD1}">
              <a14:hiddenFill xmlns:a14="http://schemas.microsoft.com/office/drawing/2010/main">
                <a:noFill/>
              </a14:hiddenFill>
            </a:ext>
          </a:extLst>
        </p:spPr>
      </p:cxnSp>
      <p:cxnSp>
        <p:nvCxnSpPr>
          <p:cNvPr id="26629" name="直接连接符 10"/>
          <p:cNvCxnSpPr>
            <a:cxnSpLocks noChangeShapeType="1"/>
          </p:cNvCxnSpPr>
          <p:nvPr/>
        </p:nvCxnSpPr>
        <p:spPr bwMode="auto">
          <a:xfrm>
            <a:off x="1763713" y="2937357"/>
            <a:ext cx="1512887" cy="1800225"/>
          </a:xfrm>
          <a:prstGeom prst="line">
            <a:avLst/>
          </a:prstGeom>
          <a:noFill/>
          <a:ln w="28575" cmpd="sng">
            <a:solidFill>
              <a:schemeClr val="tx1"/>
            </a:solidFill>
            <a:round/>
            <a:headEnd/>
            <a:tailEnd/>
          </a:ln>
          <a:extLst>
            <a:ext uri="{909E8E84-426E-40DD-AFC4-6F175D3DCCD1}">
              <a14:hiddenFill xmlns:a14="http://schemas.microsoft.com/office/drawing/2010/main">
                <a:noFill/>
              </a14:hiddenFill>
            </a:ext>
          </a:extLst>
        </p:spPr>
      </p:cxnSp>
      <p:cxnSp>
        <p:nvCxnSpPr>
          <p:cNvPr id="26630" name="直接连接符 11"/>
          <p:cNvCxnSpPr>
            <a:cxnSpLocks noChangeShapeType="1"/>
          </p:cNvCxnSpPr>
          <p:nvPr/>
        </p:nvCxnSpPr>
        <p:spPr bwMode="auto">
          <a:xfrm>
            <a:off x="2268538" y="2865919"/>
            <a:ext cx="2232025" cy="1152525"/>
          </a:xfrm>
          <a:prstGeom prst="line">
            <a:avLst/>
          </a:prstGeom>
          <a:noFill/>
          <a:ln w="31750" cmpd="sng">
            <a:solidFill>
              <a:srgbClr val="00B050"/>
            </a:solidFill>
            <a:round/>
            <a:headEnd/>
            <a:tailEnd/>
          </a:ln>
          <a:extLst>
            <a:ext uri="{909E8E84-426E-40DD-AFC4-6F175D3DCCD1}">
              <a14:hiddenFill xmlns:a14="http://schemas.microsoft.com/office/drawing/2010/main">
                <a:noFill/>
              </a14:hiddenFill>
            </a:ext>
          </a:extLst>
        </p:spPr>
      </p:cxnSp>
      <p:cxnSp>
        <p:nvCxnSpPr>
          <p:cNvPr id="26631" name="直接连接符 17"/>
          <p:cNvCxnSpPr>
            <a:cxnSpLocks noChangeShapeType="1"/>
          </p:cNvCxnSpPr>
          <p:nvPr/>
        </p:nvCxnSpPr>
        <p:spPr bwMode="auto">
          <a:xfrm flipV="1">
            <a:off x="1116013" y="3081819"/>
            <a:ext cx="3240087" cy="1800225"/>
          </a:xfrm>
          <a:prstGeom prst="line">
            <a:avLst/>
          </a:prstGeom>
          <a:noFill/>
          <a:ln w="31750" cmpd="sng">
            <a:solidFill>
              <a:srgbClr val="FF0000"/>
            </a:solidFill>
            <a:round/>
            <a:headEnd/>
            <a:tailEnd/>
          </a:ln>
          <a:extLst>
            <a:ext uri="{909E8E84-426E-40DD-AFC4-6F175D3DCCD1}">
              <a14:hiddenFill xmlns:a14="http://schemas.microsoft.com/office/drawing/2010/main">
                <a:noFill/>
              </a14:hiddenFill>
            </a:ext>
          </a:extLst>
        </p:spPr>
      </p:cxnSp>
      <p:cxnSp>
        <p:nvCxnSpPr>
          <p:cNvPr id="26632" name="直接连接符 45"/>
          <p:cNvCxnSpPr>
            <a:cxnSpLocks noChangeShapeType="1"/>
          </p:cNvCxnSpPr>
          <p:nvPr/>
        </p:nvCxnSpPr>
        <p:spPr bwMode="auto">
          <a:xfrm>
            <a:off x="1042988" y="3540607"/>
            <a:ext cx="2520950" cy="0"/>
          </a:xfrm>
          <a:prstGeom prst="line">
            <a:avLst/>
          </a:prstGeom>
          <a:noFill/>
          <a:ln w="15875" cmpd="thickThin">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26633" name="直接连接符 56"/>
          <p:cNvCxnSpPr>
            <a:cxnSpLocks noChangeShapeType="1"/>
          </p:cNvCxnSpPr>
          <p:nvPr/>
        </p:nvCxnSpPr>
        <p:spPr bwMode="auto">
          <a:xfrm>
            <a:off x="2268538" y="3513619"/>
            <a:ext cx="0" cy="1944688"/>
          </a:xfrm>
          <a:prstGeom prst="line">
            <a:avLst/>
          </a:prstGeom>
          <a:noFill/>
          <a:ln w="15875" cmpd="thickThin">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26634" name="直接连接符 58"/>
          <p:cNvCxnSpPr>
            <a:cxnSpLocks noChangeShapeType="1"/>
          </p:cNvCxnSpPr>
          <p:nvPr/>
        </p:nvCxnSpPr>
        <p:spPr bwMode="auto">
          <a:xfrm>
            <a:off x="1476375" y="3513619"/>
            <a:ext cx="0" cy="1944688"/>
          </a:xfrm>
          <a:prstGeom prst="line">
            <a:avLst/>
          </a:prstGeom>
          <a:noFill/>
          <a:ln w="15875" cmpd="thickThin">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26635" name="直接连接符 59"/>
          <p:cNvCxnSpPr>
            <a:cxnSpLocks noChangeShapeType="1"/>
          </p:cNvCxnSpPr>
          <p:nvPr/>
        </p:nvCxnSpPr>
        <p:spPr bwMode="auto">
          <a:xfrm>
            <a:off x="3563938" y="3513619"/>
            <a:ext cx="0" cy="1944688"/>
          </a:xfrm>
          <a:prstGeom prst="line">
            <a:avLst/>
          </a:prstGeom>
          <a:noFill/>
          <a:ln w="15875" cmpd="thickThin">
            <a:solidFill>
              <a:schemeClr val="tx1"/>
            </a:solidFill>
            <a:prstDash val="lgDash"/>
            <a:round/>
            <a:headEnd/>
            <a:tailEnd/>
          </a:ln>
          <a:extLst>
            <a:ext uri="{909E8E84-426E-40DD-AFC4-6F175D3DCCD1}">
              <a14:hiddenFill xmlns:a14="http://schemas.microsoft.com/office/drawing/2010/main">
                <a:noFill/>
              </a14:hiddenFill>
            </a:ext>
          </a:extLst>
        </p:spPr>
      </p:cxnSp>
      <p:pic>
        <p:nvPicPr>
          <p:cNvPr id="26636" name="线形标注 1(无边框) 6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5239232"/>
            <a:ext cx="8223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7" name="线形标注 1(无边框) 6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163" y="2204864"/>
            <a:ext cx="804862"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8" name="线形标注 1(无边框) 6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0625" y="5385282"/>
            <a:ext cx="8223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9" name="线形标注 1(无边框) 6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7725" y="5385282"/>
            <a:ext cx="81597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0" name="线形标注 1(无边框) 6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938" y="2435707"/>
            <a:ext cx="817562"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1" name="线形标注 1(无边框) 6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775" y="3154844"/>
            <a:ext cx="8112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2" name="线形标注 1(无边框) 6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9888" y="5385282"/>
            <a:ext cx="804862"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3" name="线形标注 1(无边框) 6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85938" y="3154844"/>
            <a:ext cx="82867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4" name="线形标注 1(无边框) 6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1488" y="3081819"/>
            <a:ext cx="811212"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5" name="线形标注 1(无边框) 6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70325" y="2721457"/>
            <a:ext cx="81121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6" name="线形标注 1(无边框) 7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38463" y="5385282"/>
            <a:ext cx="8223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7" name="线形标注 1(无边框) 7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1613" y="3227869"/>
            <a:ext cx="804862"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8" name="线形标注 1(无边框) 7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3413" y="2648432"/>
            <a:ext cx="823912"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9" name="线形标注 1(无边框) 7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06500" y="2575407"/>
            <a:ext cx="82391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50" name="TextBox 76"/>
          <p:cNvSpPr txBox="1">
            <a:spLocks noChangeArrowheads="1"/>
          </p:cNvSpPr>
          <p:nvPr/>
        </p:nvSpPr>
        <p:spPr bwMode="auto">
          <a:xfrm>
            <a:off x="1042988" y="5684588"/>
            <a:ext cx="30241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私人物品的最优数量</a:t>
            </a:r>
          </a:p>
        </p:txBody>
      </p:sp>
      <p:cxnSp>
        <p:nvCxnSpPr>
          <p:cNvPr id="26651" name="直接箭头连接符 78"/>
          <p:cNvCxnSpPr>
            <a:cxnSpLocks noChangeShapeType="1"/>
          </p:cNvCxnSpPr>
          <p:nvPr/>
        </p:nvCxnSpPr>
        <p:spPr bwMode="auto">
          <a:xfrm flipV="1">
            <a:off x="5435600" y="2434119"/>
            <a:ext cx="0" cy="3024188"/>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52" name="直接箭头连接符 80"/>
          <p:cNvCxnSpPr>
            <a:cxnSpLocks noChangeShapeType="1"/>
          </p:cNvCxnSpPr>
          <p:nvPr/>
        </p:nvCxnSpPr>
        <p:spPr bwMode="auto">
          <a:xfrm>
            <a:off x="5435600" y="5458307"/>
            <a:ext cx="3097213"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53" name="直接连接符 82"/>
          <p:cNvCxnSpPr>
            <a:cxnSpLocks noChangeShapeType="1"/>
          </p:cNvCxnSpPr>
          <p:nvPr/>
        </p:nvCxnSpPr>
        <p:spPr bwMode="auto">
          <a:xfrm>
            <a:off x="5580063" y="3081819"/>
            <a:ext cx="2232025" cy="2232025"/>
          </a:xfrm>
          <a:prstGeom prst="line">
            <a:avLst/>
          </a:prstGeom>
          <a:noFill/>
          <a:ln w="28575" cmpd="sng">
            <a:solidFill>
              <a:schemeClr val="tx1"/>
            </a:solidFill>
            <a:round/>
            <a:headEnd/>
            <a:tailEnd/>
          </a:ln>
          <a:extLst>
            <a:ext uri="{909E8E84-426E-40DD-AFC4-6F175D3DCCD1}">
              <a14:hiddenFill xmlns:a14="http://schemas.microsoft.com/office/drawing/2010/main">
                <a:noFill/>
              </a14:hiddenFill>
            </a:ext>
          </a:extLst>
        </p:spPr>
      </p:cxnSp>
      <p:cxnSp>
        <p:nvCxnSpPr>
          <p:cNvPr id="26654" name="直接连接符 83"/>
          <p:cNvCxnSpPr>
            <a:cxnSpLocks noChangeShapeType="1"/>
          </p:cNvCxnSpPr>
          <p:nvPr/>
        </p:nvCxnSpPr>
        <p:spPr bwMode="auto">
          <a:xfrm>
            <a:off x="6300788" y="3153257"/>
            <a:ext cx="2087562" cy="1873250"/>
          </a:xfrm>
          <a:prstGeom prst="line">
            <a:avLst/>
          </a:prstGeom>
          <a:noFill/>
          <a:ln w="28575" cmpd="sng">
            <a:solidFill>
              <a:schemeClr val="tx1"/>
            </a:solidFill>
            <a:round/>
            <a:headEnd/>
            <a:tailEnd/>
          </a:ln>
          <a:extLst>
            <a:ext uri="{909E8E84-426E-40DD-AFC4-6F175D3DCCD1}">
              <a14:hiddenFill xmlns:a14="http://schemas.microsoft.com/office/drawing/2010/main">
                <a:noFill/>
              </a14:hiddenFill>
            </a:ext>
          </a:extLst>
        </p:spPr>
      </p:cxnSp>
      <p:cxnSp>
        <p:nvCxnSpPr>
          <p:cNvPr id="26655" name="直接连接符 85"/>
          <p:cNvCxnSpPr>
            <a:cxnSpLocks noChangeShapeType="1"/>
          </p:cNvCxnSpPr>
          <p:nvPr/>
        </p:nvCxnSpPr>
        <p:spPr bwMode="auto">
          <a:xfrm>
            <a:off x="7092950" y="2434119"/>
            <a:ext cx="1366838" cy="2303463"/>
          </a:xfrm>
          <a:prstGeom prst="line">
            <a:avLst/>
          </a:prstGeom>
          <a:noFill/>
          <a:ln w="31750" cmpd="sng">
            <a:solidFill>
              <a:srgbClr val="00B050"/>
            </a:solidFill>
            <a:round/>
            <a:headEnd/>
            <a:tailEnd/>
          </a:ln>
          <a:extLst>
            <a:ext uri="{909E8E84-426E-40DD-AFC4-6F175D3DCCD1}">
              <a14:hiddenFill xmlns:a14="http://schemas.microsoft.com/office/drawing/2010/main">
                <a:noFill/>
              </a14:hiddenFill>
            </a:ext>
          </a:extLst>
        </p:spPr>
      </p:cxnSp>
      <p:cxnSp>
        <p:nvCxnSpPr>
          <p:cNvPr id="26656" name="直接连接符 89"/>
          <p:cNvCxnSpPr>
            <a:cxnSpLocks noChangeShapeType="1"/>
          </p:cNvCxnSpPr>
          <p:nvPr/>
        </p:nvCxnSpPr>
        <p:spPr bwMode="auto">
          <a:xfrm flipV="1">
            <a:off x="5651500" y="2865919"/>
            <a:ext cx="2952750" cy="1727200"/>
          </a:xfrm>
          <a:prstGeom prst="line">
            <a:avLst/>
          </a:prstGeom>
          <a:noFill/>
          <a:ln w="31750" cmpd="sng">
            <a:solidFill>
              <a:srgbClr val="FF0000"/>
            </a:solidFill>
            <a:round/>
            <a:headEnd/>
            <a:tailEnd/>
          </a:ln>
          <a:extLst>
            <a:ext uri="{909E8E84-426E-40DD-AFC4-6F175D3DCCD1}">
              <a14:hiddenFill xmlns:a14="http://schemas.microsoft.com/office/drawing/2010/main">
                <a:noFill/>
              </a14:hiddenFill>
            </a:ext>
          </a:extLst>
        </p:spPr>
      </p:cxnSp>
      <p:cxnSp>
        <p:nvCxnSpPr>
          <p:cNvPr id="26657" name="直接连接符 93"/>
          <p:cNvCxnSpPr>
            <a:cxnSpLocks noChangeShapeType="1"/>
          </p:cNvCxnSpPr>
          <p:nvPr/>
        </p:nvCxnSpPr>
        <p:spPr bwMode="auto">
          <a:xfrm>
            <a:off x="7667625" y="3442182"/>
            <a:ext cx="0" cy="2016125"/>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26658" name="直接连接符 99"/>
          <p:cNvCxnSpPr>
            <a:cxnSpLocks noChangeShapeType="1"/>
          </p:cNvCxnSpPr>
          <p:nvPr/>
        </p:nvCxnSpPr>
        <p:spPr bwMode="auto">
          <a:xfrm>
            <a:off x="5435600" y="3442182"/>
            <a:ext cx="2232025" cy="0"/>
          </a:xfrm>
          <a:prstGeom prst="line">
            <a:avLst/>
          </a:prstGeom>
          <a:noFill/>
          <a:ln w="15875" cmpd="sng">
            <a:solidFill>
              <a:srgbClr val="00B050"/>
            </a:solidFill>
            <a:prstDash val="lgDash"/>
            <a:round/>
            <a:headEnd/>
            <a:tailEnd/>
          </a:ln>
          <a:extLst>
            <a:ext uri="{909E8E84-426E-40DD-AFC4-6F175D3DCCD1}">
              <a14:hiddenFill xmlns:a14="http://schemas.microsoft.com/office/drawing/2010/main">
                <a:noFill/>
              </a14:hiddenFill>
            </a:ext>
          </a:extLst>
        </p:spPr>
      </p:cxnSp>
      <p:cxnSp>
        <p:nvCxnSpPr>
          <p:cNvPr id="26659" name="直接连接符 110"/>
          <p:cNvCxnSpPr>
            <a:cxnSpLocks noChangeShapeType="1"/>
          </p:cNvCxnSpPr>
          <p:nvPr/>
        </p:nvCxnSpPr>
        <p:spPr bwMode="auto">
          <a:xfrm>
            <a:off x="5472113" y="4404207"/>
            <a:ext cx="2232025" cy="0"/>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26660" name="直接连接符 111"/>
          <p:cNvCxnSpPr>
            <a:cxnSpLocks noChangeShapeType="1"/>
          </p:cNvCxnSpPr>
          <p:nvPr/>
        </p:nvCxnSpPr>
        <p:spPr bwMode="auto">
          <a:xfrm>
            <a:off x="5435600" y="5169382"/>
            <a:ext cx="2232025" cy="0"/>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pic>
        <p:nvPicPr>
          <p:cNvPr id="26661" name="线形标注 1(无边框) 11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38675" y="5239232"/>
            <a:ext cx="87788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2" name="线形标注 1(无边框) 11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38675" y="2508732"/>
            <a:ext cx="8604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3" name="线形标注 1(无边框) 114"/>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08913" y="5385282"/>
            <a:ext cx="87788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4" name="线形标注 1(无边框) 11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724650" y="2215044"/>
            <a:ext cx="8826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5" name="线形标注 1(无边框) 11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799388" y="2541869"/>
            <a:ext cx="8588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6" name="线形标注 1(无边框) 117"/>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38675" y="3294544"/>
            <a:ext cx="8667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7" name="线形标注 1(无边框) 118"/>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38675" y="4232757"/>
            <a:ext cx="87788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8" name="线形标注 1(无边框) 11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38675" y="4953482"/>
            <a:ext cx="8667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9" name="线形标注 1(无边框) 120"/>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16750" y="5458307"/>
            <a:ext cx="87153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70" name="线形标注 1(无边框) 121"/>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211763" y="2935769"/>
            <a:ext cx="89058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71" name="线形标注 1(无边框) 122"/>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003925" y="2935769"/>
            <a:ext cx="8905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72" name="TextBox 123"/>
          <p:cNvSpPr txBox="1">
            <a:spLocks noChangeArrowheads="1"/>
          </p:cNvSpPr>
          <p:nvPr/>
        </p:nvSpPr>
        <p:spPr bwMode="auto">
          <a:xfrm>
            <a:off x="5395913" y="5654100"/>
            <a:ext cx="27368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公共物品的最优数量</a:t>
            </a:r>
          </a:p>
        </p:txBody>
      </p:sp>
      <p:sp>
        <p:nvSpPr>
          <p:cNvPr id="26673" name="TextBox 50"/>
          <p:cNvSpPr txBox="1">
            <a:spLocks noChangeArrowheads="1"/>
          </p:cNvSpPr>
          <p:nvPr/>
        </p:nvSpPr>
        <p:spPr bwMode="auto">
          <a:xfrm>
            <a:off x="628834" y="1235884"/>
            <a:ext cx="8229600" cy="766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marL="457200" indent="-457200" eaLnBrk="1" hangingPunct="1">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公共物品的最优市场供给：</a:t>
            </a:r>
            <a:endParaRPr lang="en-US" altLang="zh-CN" sz="200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1800" dirty="0">
                <a:latin typeface="微软雅黑" panose="020B0503020204020204" pitchFamily="34" charset="-122"/>
                <a:ea typeface="微软雅黑" panose="020B0503020204020204" pitchFamily="34" charset="-122"/>
              </a:rPr>
              <a:t>       私人物品和公共物品的最优数量是如何决定的</a:t>
            </a:r>
            <a:endParaRPr lang="zh-CN" altLang="en-US" sz="2000" dirty="0">
              <a:latin typeface="微软雅黑" panose="020B0503020204020204" pitchFamily="34" charset="-122"/>
              <a:ea typeface="微软雅黑" panose="020B0503020204020204" pitchFamily="34" charset="-122"/>
            </a:endParaRPr>
          </a:p>
        </p:txBody>
      </p:sp>
      <p:sp>
        <p:nvSpPr>
          <p:cNvPr id="53" name="矩形 52">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一、公共物品与市场失灵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54" name="标题 1">
            <a:extLst>
              <a:ext uri="{FF2B5EF4-FFF2-40B4-BE49-F238E27FC236}">
                <a16:creationId xmlns:a16="http://schemas.microsoft.com/office/drawing/2014/main" id="{14E94E3C-CC01-4548-BE4E-B9B561E345F3}"/>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489821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6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6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63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6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6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6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6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6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6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6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6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66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64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663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64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66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663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64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664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663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664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664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667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665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666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665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666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666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665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667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665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667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665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666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665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666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665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6669"/>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666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665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26667"/>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2665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26668"/>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26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0" grpId="0" autoUpdateAnimBg="0"/>
      <p:bldP spid="26672" grpId="0" autoUpdateAnimBg="0"/>
      <p:bldP spid="2667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p:cNvSpPr>
            <a:spLocks noGrp="1"/>
          </p:cNvSpPr>
          <p:nvPr>
            <p:ph idx="4294967295"/>
          </p:nvPr>
        </p:nvSpPr>
        <p:spPr>
          <a:xfrm>
            <a:off x="467544" y="1025956"/>
            <a:ext cx="7560840" cy="3167682"/>
          </a:xfrm>
        </p:spPr>
        <p:txBody>
          <a:bodyPr/>
          <a:lstStyle/>
          <a:p>
            <a:pPr>
              <a:lnSpc>
                <a:spcPts val="3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公共物品和“搭便车”</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hangingPunct="1">
              <a:lnSpc>
                <a:spcPct val="300000"/>
              </a:lnSpc>
              <a:spcBef>
                <a:spcPct val="4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“搭便车”（</a:t>
            </a:r>
            <a:r>
              <a:rPr lang="en-US" altLang="zh-CN" sz="1800" dirty="0">
                <a:latin typeface="微软雅黑" panose="020B0503020204020204" pitchFamily="34" charset="-122"/>
                <a:ea typeface="微软雅黑" panose="020B0503020204020204" pitchFamily="34" charset="-122"/>
              </a:rPr>
              <a:t>free rider</a:t>
            </a:r>
            <a:r>
              <a:rPr lang="zh-CN" altLang="en-US" sz="1800" dirty="0">
                <a:latin typeface="微软雅黑" panose="020B0503020204020204" pitchFamily="34" charset="-122"/>
                <a:ea typeface="微软雅黑" panose="020B0503020204020204" pitchFamily="34" charset="-122"/>
              </a:rPr>
              <a:t>）：指免费享用公共物品的行为。</a:t>
            </a:r>
            <a:endParaRPr lang="en-US" altLang="zh-CN" sz="1800" dirty="0">
              <a:latin typeface="微软雅黑" panose="020B0503020204020204" pitchFamily="34" charset="-122"/>
              <a:ea typeface="微软雅黑" panose="020B0503020204020204" pitchFamily="34" charset="-122"/>
            </a:endParaRPr>
          </a:p>
          <a:p>
            <a:pPr lvl="2" hangingPunct="1">
              <a:lnSpc>
                <a:spcPct val="300000"/>
              </a:lnSpc>
              <a:spcBef>
                <a:spcPct val="4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公共物品具有非排他性和非竞争性的特征，为一些消费者造成了免费享用公共物品的条件。 </a:t>
            </a:r>
            <a:endParaRPr lang="en-US" altLang="zh-CN" sz="1800" dirty="0">
              <a:latin typeface="微软雅黑" panose="020B0503020204020204" pitchFamily="34" charset="-122"/>
              <a:ea typeface="微软雅黑" panose="020B0503020204020204" pitchFamily="34" charset="-122"/>
            </a:endParaRPr>
          </a:p>
          <a:p>
            <a:pPr lvl="2" hangingPunct="1">
              <a:lnSpc>
                <a:spcPct val="300000"/>
              </a:lnSpc>
              <a:spcBef>
                <a:spcPct val="40000"/>
              </a:spcBef>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弊端是影响经济效率。</a:t>
            </a:r>
            <a:endParaRPr lang="en-US" altLang="zh-CN" sz="1800" dirty="0">
              <a:latin typeface="微软雅黑" panose="020B0503020204020204" pitchFamily="34" charset="-122"/>
              <a:ea typeface="微软雅黑" panose="020B0503020204020204" pitchFamily="34" charset="-122"/>
            </a:endParaRPr>
          </a:p>
          <a:p>
            <a:pPr lvl="1" hangingPunct="1">
              <a:lnSpc>
                <a:spcPct val="300000"/>
              </a:lnSpc>
              <a:spcBef>
                <a:spcPct val="4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只要存在公共物品</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就难以避免“搭便车”现象。</a:t>
            </a:r>
            <a:endParaRPr lang="en-US" altLang="zh-CN" sz="1800" dirty="0">
              <a:latin typeface="微软雅黑" panose="020B0503020204020204" pitchFamily="34" charset="-122"/>
              <a:ea typeface="微软雅黑" panose="020B0503020204020204" pitchFamily="34" charset="-122"/>
            </a:endParaRPr>
          </a:p>
        </p:txBody>
      </p:sp>
      <p:sp>
        <p:nvSpPr>
          <p:cNvPr id="27651" name="椭圆形标注 3"/>
          <p:cNvSpPr>
            <a:spLocks noChangeArrowheads="1"/>
          </p:cNvSpPr>
          <p:nvPr/>
        </p:nvSpPr>
        <p:spPr bwMode="auto">
          <a:xfrm>
            <a:off x="5868144" y="4005064"/>
            <a:ext cx="1584176" cy="1061180"/>
          </a:xfrm>
          <a:prstGeom prst="wedgeEllipseCallout">
            <a:avLst>
              <a:gd name="adj1" fmla="val -210681"/>
              <a:gd name="adj2" fmla="val -206162"/>
            </a:avLst>
          </a:prstGeom>
          <a:noFill/>
          <a:ln w="28575" cmpd="sng">
            <a:solidFill>
              <a:srgbClr val="CC0000"/>
            </a:solidFill>
            <a:miter lim="800000"/>
            <a:headEnd/>
            <a:tailEnd/>
          </a:ln>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800" dirty="0">
                <a:latin typeface="微软雅黑" panose="020B0503020204020204" pitchFamily="34" charset="-122"/>
                <a:ea typeface="微软雅黑" panose="020B0503020204020204" pitchFamily="34" charset="-122"/>
              </a:rPr>
              <a:t>典型例证：三个和尚没水喝</a:t>
            </a:r>
          </a:p>
        </p:txBody>
      </p:sp>
      <p:sp>
        <p:nvSpPr>
          <p:cNvPr id="7" name="矩形 6">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一、公共物品与市场失灵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8" name="标题 1">
            <a:extLst>
              <a:ext uri="{FF2B5EF4-FFF2-40B4-BE49-F238E27FC236}">
                <a16:creationId xmlns:a16="http://schemas.microsoft.com/office/drawing/2014/main" id="{5ABFD772-D8FE-49E7-B1F5-6B0C81D01471}"/>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5624707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5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65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Group 2"/>
          <p:cNvGraphicFramePr>
            <a:graphicFrameLocks noGrp="1"/>
          </p:cNvGraphicFramePr>
          <p:nvPr>
            <p:ph type="tbl" idx="4294967295"/>
            <p:extLst>
              <p:ext uri="{D42A27DB-BD31-4B8C-83A1-F6EECF244321}">
                <p14:modId xmlns:p14="http://schemas.microsoft.com/office/powerpoint/2010/main" val="1002977715"/>
              </p:ext>
            </p:extLst>
          </p:nvPr>
        </p:nvGraphicFramePr>
        <p:xfrm>
          <a:off x="611561" y="3140968"/>
          <a:ext cx="7462402" cy="2605723"/>
        </p:xfrm>
        <a:graphic>
          <a:graphicData uri="http://schemas.openxmlformats.org/drawingml/2006/table">
            <a:tbl>
              <a:tblPr/>
              <a:tblGrid>
                <a:gridCol w="1441556">
                  <a:extLst>
                    <a:ext uri="{9D8B030D-6E8A-4147-A177-3AD203B41FA5}">
                      <a16:colId xmlns:a16="http://schemas.microsoft.com/office/drawing/2014/main" val="3500029668"/>
                    </a:ext>
                  </a:extLst>
                </a:gridCol>
                <a:gridCol w="1844667">
                  <a:extLst>
                    <a:ext uri="{9D8B030D-6E8A-4147-A177-3AD203B41FA5}">
                      <a16:colId xmlns:a16="http://schemas.microsoft.com/office/drawing/2014/main" val="1627000615"/>
                    </a:ext>
                  </a:extLst>
                </a:gridCol>
                <a:gridCol w="2163604">
                  <a:extLst>
                    <a:ext uri="{9D8B030D-6E8A-4147-A177-3AD203B41FA5}">
                      <a16:colId xmlns:a16="http://schemas.microsoft.com/office/drawing/2014/main" val="2799142442"/>
                    </a:ext>
                  </a:extLst>
                </a:gridCol>
                <a:gridCol w="2012575">
                  <a:extLst>
                    <a:ext uri="{9D8B030D-6E8A-4147-A177-3AD203B41FA5}">
                      <a16:colId xmlns:a16="http://schemas.microsoft.com/office/drawing/2014/main" val="2074890869"/>
                    </a:ext>
                  </a:extLst>
                </a:gridCol>
              </a:tblGrid>
              <a:tr h="673100">
                <a:tc rowSpan="2" gridSpan="2">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2">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住户</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798603866"/>
                  </a:ext>
                </a:extLst>
              </a:tr>
              <a:tr h="652463">
                <a:tc gridSpan="2" vMerge="1">
                  <a:txBody>
                    <a:bodyPr/>
                    <a:lstStyle/>
                    <a:p>
                      <a:endParaRPr lang="zh-CN" altLang="en-US"/>
                    </a:p>
                  </a:txBody>
                  <a:tcPr/>
                </a:tc>
                <a:tc hMerge="1" vMerge="1">
                  <a:txBody>
                    <a:bodyPr/>
                    <a:lstStyle/>
                    <a:p>
                      <a:endParaRPr lang="zh-CN" altLang="en-US"/>
                    </a:p>
                  </a:txBody>
                  <a:tcPr/>
                </a:tc>
                <a:tc>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出资</a:t>
                      </a:r>
                      <a:endParaRPr kumimoji="0" lang="zh-CN"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不</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出资</a:t>
                      </a:r>
                      <a:endParaRPr kumimoji="0" lang="zh-CN"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76596203"/>
                  </a:ext>
                </a:extLst>
              </a:tr>
              <a:tr h="457200">
                <a:tc rowSpan="2">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住户</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出资</a:t>
                      </a: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10-8=2</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10-8=2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10-18=-8</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10-0=10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472334"/>
                  </a:ext>
                </a:extLst>
              </a:tr>
              <a:tr h="457200">
                <a:tc vMerge="1">
                  <a:txBody>
                    <a:bodyPr/>
                    <a:lstStyle/>
                    <a:p>
                      <a:endParaRPr lang="zh-CN" altLang="en-US"/>
                    </a:p>
                  </a:txBody>
                  <a:tcPr/>
                </a:tc>
                <a:tc>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不</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出资</a:t>
                      </a: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10-0=10</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10-18=-8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a:t>
                      </a:r>
                      <a:r>
                        <a:rPr kumimoji="0" lang="zh-CN" altLang="en-US"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30735704"/>
                  </a:ext>
                </a:extLst>
              </a:tr>
            </a:tbl>
          </a:graphicData>
        </a:graphic>
      </p:graphicFrame>
      <p:sp>
        <p:nvSpPr>
          <p:cNvPr id="28698" name="TextBox 4"/>
          <p:cNvSpPr txBox="1">
            <a:spLocks noChangeArrowheads="1"/>
          </p:cNvSpPr>
          <p:nvPr/>
        </p:nvSpPr>
        <p:spPr bwMode="auto">
          <a:xfrm>
            <a:off x="-5680" y="1259078"/>
            <a:ext cx="76740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marL="0" lvl="1" indent="457200" eaLnBrk="1" hangingPunct="1"/>
            <a:r>
              <a:rPr lang="zh-CN" altLang="en-US" sz="1800" dirty="0">
                <a:latin typeface="微软雅黑" panose="020B0503020204020204" pitchFamily="34" charset="-122"/>
                <a:ea typeface="微软雅黑" panose="020B0503020204020204" pitchFamily="34" charset="-122"/>
              </a:rPr>
              <a:t>下表以旧楼房住户</a:t>
            </a:r>
            <a:r>
              <a:rPr lang="en-US" altLang="zh-CN" sz="1800" dirty="0">
                <a:latin typeface="微软雅黑" panose="020B0503020204020204" pitchFamily="34" charset="-122"/>
                <a:ea typeface="微软雅黑" panose="020B0503020204020204" pitchFamily="34" charset="-122"/>
              </a:rPr>
              <a:t>A </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rPr>
              <a:t>在是否安装电梯上的公共决策。</a:t>
            </a:r>
            <a:endParaRPr lang="en-US" altLang="zh-CN" sz="1800" dirty="0">
              <a:latin typeface="微软雅黑" panose="020B0503020204020204" pitchFamily="34" charset="-122"/>
              <a:ea typeface="微软雅黑" panose="020B0503020204020204" pitchFamily="34" charset="-122"/>
            </a:endParaRPr>
          </a:p>
          <a:p>
            <a:pPr marL="0" lvl="1" indent="457200" eaLnBrk="1" hangingPunct="1">
              <a:lnSpc>
                <a:spcPts val="3000"/>
              </a:lnSpc>
            </a:pPr>
            <a:r>
              <a:rPr lang="zh-CN" altLang="en-US" sz="1800" dirty="0">
                <a:latin typeface="微软雅黑" panose="020B0503020204020204" pitchFamily="34" charset="-122"/>
                <a:ea typeface="微软雅黑" panose="020B0503020204020204" pitchFamily="34" charset="-122"/>
              </a:rPr>
              <a:t>电梯费用</a:t>
            </a:r>
            <a:r>
              <a:rPr lang="en-US" altLang="zh-CN" sz="1800" dirty="0">
                <a:latin typeface="微软雅黑" panose="020B0503020204020204" pitchFamily="34" charset="-122"/>
                <a:ea typeface="微软雅黑" panose="020B0503020204020204" pitchFamily="34" charset="-122"/>
              </a:rPr>
              <a:t>16</a:t>
            </a:r>
            <a:r>
              <a:rPr lang="zh-CN" altLang="en-US" sz="1800" dirty="0">
                <a:latin typeface="微软雅黑" panose="020B0503020204020204" pitchFamily="34" charset="-122"/>
                <a:ea typeface="微软雅黑" panose="020B0503020204020204" pitchFamily="34" charset="-122"/>
              </a:rPr>
              <a:t>万元，带给</a:t>
            </a:r>
            <a:r>
              <a:rPr lang="en-US" altLang="zh-CN" sz="1800" dirty="0">
                <a:latin typeface="微软雅黑" panose="020B0503020204020204" pitchFamily="34" charset="-122"/>
                <a:ea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rPr>
              <a:t>的效用各</a:t>
            </a:r>
            <a:r>
              <a:rPr lang="en-US" altLang="zh-CN" sz="1800" dirty="0">
                <a:latin typeface="微软雅黑" panose="020B0503020204020204" pitchFamily="34" charset="-122"/>
                <a:ea typeface="微软雅黑" panose="020B0503020204020204" pitchFamily="34" charset="-122"/>
              </a:rPr>
              <a:t>10</a:t>
            </a:r>
            <a:r>
              <a:rPr lang="zh-CN" altLang="en-US" sz="1800" dirty="0">
                <a:latin typeface="微软雅黑" panose="020B0503020204020204" pitchFamily="34" charset="-122"/>
                <a:ea typeface="微软雅黑" panose="020B0503020204020204" pitchFamily="34" charset="-122"/>
              </a:rPr>
              <a:t>万元，如果集体付费，    </a:t>
            </a:r>
            <a:endParaRPr lang="en-US" altLang="zh-CN" sz="1800" dirty="0">
              <a:latin typeface="微软雅黑" panose="020B0503020204020204" pitchFamily="34" charset="-122"/>
              <a:ea typeface="微软雅黑" panose="020B0503020204020204" pitchFamily="34" charset="-122"/>
            </a:endParaRPr>
          </a:p>
          <a:p>
            <a:pPr marL="0" lvl="1" indent="457200" eaLnBrk="1" hangingPunct="1">
              <a:lnSpc>
                <a:spcPts val="3000"/>
              </a:lnSpc>
            </a:pPr>
            <a:r>
              <a:rPr lang="zh-CN" altLang="en-US" sz="1800" dirty="0">
                <a:latin typeface="微软雅黑" panose="020B0503020204020204" pitchFamily="34" charset="-122"/>
                <a:ea typeface="微软雅黑" panose="020B0503020204020204" pitchFamily="34" charset="-122"/>
              </a:rPr>
              <a:t>各付一半费用</a:t>
            </a:r>
            <a:r>
              <a:rPr lang="en-US" altLang="zh-CN" sz="1800" dirty="0">
                <a:latin typeface="微软雅黑" panose="020B0503020204020204" pitchFamily="34" charset="-122"/>
                <a:ea typeface="微软雅黑" panose="020B0503020204020204" pitchFamily="34" charset="-122"/>
              </a:rPr>
              <a:t>8</a:t>
            </a:r>
            <a:r>
              <a:rPr lang="zh-CN" altLang="en-US" sz="1800" dirty="0">
                <a:latin typeface="微软雅黑" panose="020B0503020204020204" pitchFamily="34" charset="-122"/>
                <a:ea typeface="微软雅黑" panose="020B0503020204020204" pitchFamily="34" charset="-122"/>
              </a:rPr>
              <a:t>万元。</a:t>
            </a:r>
            <a:endParaRPr lang="en-US" altLang="zh-CN" sz="1800" dirty="0">
              <a:latin typeface="微软雅黑" panose="020B0503020204020204" pitchFamily="34" charset="-122"/>
              <a:ea typeface="微软雅黑" panose="020B0503020204020204" pitchFamily="34" charset="-122"/>
            </a:endParaRPr>
          </a:p>
          <a:p>
            <a:pPr marL="0" lvl="1" indent="457200" eaLnBrk="1" hangingPunct="1"/>
            <a:r>
              <a:rPr lang="zh-CN" altLang="en-US" sz="1800" dirty="0">
                <a:latin typeface="微软雅黑" panose="020B0503020204020204" pitchFamily="34" charset="-122"/>
                <a:ea typeface="微软雅黑" panose="020B0503020204020204" pitchFamily="34" charset="-122"/>
              </a:rPr>
              <a:t>显而易见，纳什均衡是（不出资，不出资）。</a:t>
            </a:r>
            <a:endParaRPr lang="en-US" altLang="zh-CN" sz="1800" dirty="0">
              <a:latin typeface="微软雅黑" panose="020B0503020204020204" pitchFamily="34" charset="-122"/>
              <a:ea typeface="微软雅黑" panose="020B0503020204020204" pitchFamily="34" charset="-122"/>
            </a:endParaRPr>
          </a:p>
          <a:p>
            <a:pPr marL="0" lvl="1" indent="457200" eaLnBrk="1" hangingPunct="1"/>
            <a:r>
              <a:rPr lang="zh-CN" altLang="en-US" sz="1800" dirty="0">
                <a:latin typeface="微软雅黑" panose="020B0503020204020204" pitchFamily="34" charset="-122"/>
                <a:ea typeface="微软雅黑" panose="020B0503020204020204" pitchFamily="34" charset="-122"/>
              </a:rPr>
              <a:t>同时，这也是占优策略均衡</a:t>
            </a:r>
            <a:endParaRPr lang="en-US" altLang="zh-CN" sz="18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一、公共物品与市场失灵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E18B1143-6D09-4521-9D85-5C8EEB25A55E}"/>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875060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69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9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9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9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9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8674"/>
                                        </p:tgtEl>
                                        <p:attrNameLst>
                                          <p:attrName>style.visibility</p:attrName>
                                        </p:attrNameLst>
                                      </p:cBhvr>
                                      <p:to>
                                        <p:strVal val="visible"/>
                                      </p:to>
                                    </p:set>
                                    <p:animEffect transition="in" filter="randombar(horizontal)">
                                      <p:cBhvr>
                                        <p:cTn id="19" dur="500"/>
                                        <p:tgtEl>
                                          <p:spTgt spid="28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idx="4294967295"/>
          </p:nvPr>
        </p:nvSpPr>
        <p:spPr>
          <a:xfrm>
            <a:off x="395536" y="1124744"/>
            <a:ext cx="7992888" cy="3382119"/>
          </a:xfrm>
        </p:spPr>
        <p:txBody>
          <a:bodyPr/>
          <a:lstStyle/>
          <a:p>
            <a:pPr>
              <a:lnSpc>
                <a:spcPct val="20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应用成本收益分析来确定生产和提供公共物品的数量</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a:lnSpc>
                <a:spcPct val="2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如果生产和提供某一数量的某种公共物品收益大于成本</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则可以生产和提供</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反之</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便不能提供这一数量的该种公共物品。</a:t>
            </a:r>
            <a:endParaRPr lang="en-US" altLang="zh-CN" sz="1800" dirty="0">
              <a:latin typeface="微软雅黑" panose="020B0503020204020204" pitchFamily="34" charset="-122"/>
              <a:ea typeface="微软雅黑" panose="020B0503020204020204" pitchFamily="34" charset="-122"/>
            </a:endParaRPr>
          </a:p>
          <a:p>
            <a:pPr lvl="1">
              <a:lnSpc>
                <a:spcPct val="2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下表中每项计划的年收益都超过年总成本反映在净收益为正值的数据上。这表明这项抗洪工程是可行的。</a:t>
            </a:r>
            <a:endParaRPr lang="en-US" altLang="zh-CN" sz="1800" dirty="0">
              <a:latin typeface="微软雅黑" panose="020B0503020204020204" pitchFamily="34" charset="-122"/>
              <a:ea typeface="微软雅黑" panose="020B0503020204020204" pitchFamily="34" charset="-122"/>
            </a:endParaRPr>
          </a:p>
          <a:p>
            <a:pPr lvl="1">
              <a:lnSpc>
                <a:spcPct val="2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计划</a:t>
            </a:r>
            <a:r>
              <a:rPr lang="en-US" altLang="zh-CN" sz="1800" dirty="0">
                <a:latin typeface="微软雅黑" panose="020B0503020204020204" pitchFamily="34" charset="-122"/>
                <a:ea typeface="微软雅黑" panose="020B0503020204020204" pitchFamily="34" charset="-122"/>
              </a:rPr>
              <a:t>C </a:t>
            </a:r>
            <a:r>
              <a:rPr lang="zh-CN" altLang="en-US" sz="1800" dirty="0">
                <a:latin typeface="微软雅黑" panose="020B0503020204020204" pitchFamily="34" charset="-122"/>
                <a:ea typeface="微软雅黑" panose="020B0503020204020204" pitchFamily="34" charset="-122"/>
              </a:rPr>
              <a:t>最接近最优化的规模</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只要边际收益超过边际成本就可扩展防洪工程。</a:t>
            </a:r>
          </a:p>
        </p:txBody>
      </p:sp>
      <p:sp>
        <p:nvSpPr>
          <p:cNvPr id="6" name="矩形 5">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二、针对公共物品的微观经济政策</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1E8940C3-245D-4226-A9C6-33B38D4ADD24}"/>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7233452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698">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9698">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9698">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969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Group 2"/>
          <p:cNvGraphicFramePr>
            <a:graphicFrameLocks noGrp="1"/>
          </p:cNvGraphicFramePr>
          <p:nvPr>
            <p:extLst>
              <p:ext uri="{D42A27DB-BD31-4B8C-83A1-F6EECF244321}">
                <p14:modId xmlns:p14="http://schemas.microsoft.com/office/powerpoint/2010/main" val="2254336204"/>
              </p:ext>
            </p:extLst>
          </p:nvPr>
        </p:nvGraphicFramePr>
        <p:xfrm>
          <a:off x="611560" y="2420888"/>
          <a:ext cx="7920880" cy="2882020"/>
        </p:xfrm>
        <a:graphic>
          <a:graphicData uri="http://schemas.openxmlformats.org/drawingml/2006/table">
            <a:tbl>
              <a:tblPr/>
              <a:tblGrid>
                <a:gridCol w="1658839">
                  <a:extLst>
                    <a:ext uri="{9D8B030D-6E8A-4147-A177-3AD203B41FA5}">
                      <a16:colId xmlns:a16="http://schemas.microsoft.com/office/drawing/2014/main" val="610071168"/>
                    </a:ext>
                  </a:extLst>
                </a:gridCol>
                <a:gridCol w="1169617">
                  <a:extLst>
                    <a:ext uri="{9D8B030D-6E8A-4147-A177-3AD203B41FA5}">
                      <a16:colId xmlns:a16="http://schemas.microsoft.com/office/drawing/2014/main" val="85162801"/>
                    </a:ext>
                  </a:extLst>
                </a:gridCol>
                <a:gridCol w="1168112">
                  <a:extLst>
                    <a:ext uri="{9D8B030D-6E8A-4147-A177-3AD203B41FA5}">
                      <a16:colId xmlns:a16="http://schemas.microsoft.com/office/drawing/2014/main" val="2699627838"/>
                    </a:ext>
                  </a:extLst>
                </a:gridCol>
                <a:gridCol w="1521856">
                  <a:extLst>
                    <a:ext uri="{9D8B030D-6E8A-4147-A177-3AD203B41FA5}">
                      <a16:colId xmlns:a16="http://schemas.microsoft.com/office/drawing/2014/main" val="3606812189"/>
                    </a:ext>
                  </a:extLst>
                </a:gridCol>
                <a:gridCol w="1166607">
                  <a:extLst>
                    <a:ext uri="{9D8B030D-6E8A-4147-A177-3AD203B41FA5}">
                      <a16:colId xmlns:a16="http://schemas.microsoft.com/office/drawing/2014/main" val="1395624822"/>
                    </a:ext>
                  </a:extLst>
                </a:gridCol>
                <a:gridCol w="1235849">
                  <a:extLst>
                    <a:ext uri="{9D8B030D-6E8A-4147-A177-3AD203B41FA5}">
                      <a16:colId xmlns:a16="http://schemas.microsoft.com/office/drawing/2014/main" val="15907031"/>
                    </a:ext>
                  </a:extLst>
                </a:gridCol>
              </a:tblGrid>
              <a:tr h="1008063">
                <a:tc>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p>
                    <a:p>
                      <a:pPr marL="0" marR="0" lvl="0" indent="12700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计划</a:t>
                      </a:r>
                      <a:endParaRPr kumimoji="0" lang="zh-CN" altLang="en-US" sz="14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p>
                    <a:p>
                      <a:pPr marL="0" marR="0" lvl="0" indent="12700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年总成本</a:t>
                      </a:r>
                      <a:endParaRPr kumimoji="0" lang="zh-CN" altLang="en-US" sz="14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p>
                    <a:p>
                      <a:pPr marL="0" marR="0" lvl="0" indent="12700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边际成本</a:t>
                      </a:r>
                      <a:endParaRPr kumimoji="0" lang="zh-CN" altLang="en-US" sz="14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p>
                    <a:p>
                      <a:pPr marL="0" marR="0" lvl="0" indent="12700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年总收益</a:t>
                      </a:r>
                    </a:p>
                    <a:p>
                      <a:pPr marL="0" marR="0" lvl="0" indent="12700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（减少水灾）</a:t>
                      </a:r>
                      <a:endParaRPr kumimoji="0" lang="zh-CN" altLang="en-US" sz="14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p>
                    <a:p>
                      <a:pPr marL="0" marR="0" lvl="0" indent="12700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边际收益</a:t>
                      </a:r>
                      <a:endParaRPr kumimoji="0" lang="zh-CN" altLang="en-US" sz="14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p>
                    <a:p>
                      <a:pPr marL="0" marR="0" lvl="0" indent="12700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净收益</a:t>
                      </a:r>
                      <a:b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b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14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5121377"/>
                  </a:ext>
                </a:extLst>
              </a:tr>
              <a:tr h="422981">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不搞抗洪工程</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tabLst>
                          <a:tab pos="498475" algn="l"/>
                        </a:tabLst>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tabLst>
                          <a:tab pos="498475"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tabLst>
                          <a:tab pos="498475"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98475" algn="l"/>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07197006"/>
                  </a:ext>
                </a:extLst>
              </a:tr>
              <a:tr h="358775">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堤坝</a:t>
                      </a:r>
                      <a:endParaRPr kumimoji="0" lang="zh-CN" altLang="en-US"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tabLst>
                          <a:tab pos="498475" algn="l"/>
                        </a:tabLst>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tabLst>
                          <a:tab pos="498475"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tabLst>
                          <a:tab pos="498475"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98475" algn="l"/>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3 000</a:t>
                      </a:r>
                      <a:endParaRPr kumimoji="0" lang="en-US"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3 000</a:t>
                      </a:r>
                      <a:endParaRPr kumimoji="0" lang="en-US"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51622876"/>
                  </a:ext>
                </a:extLst>
              </a:tr>
              <a:tr h="360363">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小型水库</a:t>
                      </a:r>
                      <a:endParaRPr kumimoji="0" lang="zh-CN" altLang="en-US"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tabLst>
                          <a:tab pos="498475" algn="l"/>
                        </a:tabLst>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tabLst>
                          <a:tab pos="498475"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tabLst>
                          <a:tab pos="498475"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98475" algn="l"/>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7 000</a:t>
                      </a:r>
                      <a:endParaRPr kumimoji="0" lang="en-US"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21135636"/>
                  </a:ext>
                </a:extLst>
              </a:tr>
              <a:tr h="371475">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中等水库</a:t>
                      </a:r>
                      <a:endParaRPr kumimoji="0" lang="zh-CN" altLang="en-US"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tabLst>
                          <a:tab pos="498475" algn="l"/>
                        </a:tabLst>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tabLst>
                          <a:tab pos="498475"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tabLst>
                          <a:tab pos="498475"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98475" algn="l"/>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18 </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8 000</a:t>
                      </a:r>
                      <a:endParaRPr kumimoji="0" lang="en-US"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25 000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9 000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7 000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53734252"/>
                  </a:ext>
                </a:extLst>
              </a:tr>
              <a:tr h="360363">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D.</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大型水库</a:t>
                      </a:r>
                      <a:endParaRPr kumimoji="0" lang="zh-CN" altLang="en-US"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tabLst>
                          <a:tab pos="498475" algn="l"/>
                        </a:tabLst>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tabLst>
                          <a:tab pos="498475"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tabLst>
                          <a:tab pos="498475"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98475" algn="l"/>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30 000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12 000</a:t>
                      </a:r>
                      <a:endParaRPr kumimoji="0" lang="en-US"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32 000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7 000</a:t>
                      </a:r>
                      <a:endParaRPr kumimoji="0" lang="en-US"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2 000</a:t>
                      </a:r>
                      <a:endParaRPr kumimoji="0" lang="en-US"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588297"/>
                  </a:ext>
                </a:extLst>
              </a:tr>
            </a:tbl>
          </a:graphicData>
        </a:graphic>
      </p:graphicFrame>
      <p:sp>
        <p:nvSpPr>
          <p:cNvPr id="30773" name="Rectangle 240"/>
          <p:cNvSpPr>
            <a:spLocks noChangeArrowheads="1"/>
          </p:cNvSpPr>
          <p:nvPr/>
        </p:nvSpPr>
        <p:spPr bwMode="auto">
          <a:xfrm>
            <a:off x="611561" y="5445224"/>
            <a:ext cx="72212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资料来源：</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McConnell C R and Brue S L: Microeconomics (12th ed.), McGraw-Hill </a:t>
            </a:r>
            <a:r>
              <a:rPr lang="en-US" altLang="zh-CN" sz="1200" dirty="0" err="1">
                <a:latin typeface="微软雅黑" panose="020B0503020204020204" pitchFamily="34" charset="-122"/>
                <a:ea typeface="微软雅黑" panose="020B0503020204020204" pitchFamily="34" charset="-122"/>
                <a:cs typeface="Times New Roman" panose="02020603050405020304" pitchFamily="18" charset="0"/>
              </a:rPr>
              <a:t>Inc</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 1993, p306.</a:t>
            </a:r>
            <a:endParaRPr lang="en-US" altLang="zh-CN" sz="1200" dirty="0">
              <a:latin typeface="微软雅黑" panose="020B0503020204020204" pitchFamily="34" charset="-122"/>
              <a:ea typeface="微软雅黑" panose="020B0503020204020204" pitchFamily="34" charset="-122"/>
            </a:endParaRPr>
          </a:p>
        </p:txBody>
      </p:sp>
      <p:sp>
        <p:nvSpPr>
          <p:cNvPr id="30774" name="TextBox 5"/>
          <p:cNvSpPr txBox="1">
            <a:spLocks noChangeArrowheads="1"/>
          </p:cNvSpPr>
          <p:nvPr/>
        </p:nvSpPr>
        <p:spPr bwMode="auto">
          <a:xfrm>
            <a:off x="497033" y="1365597"/>
            <a:ext cx="8229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微软雅黑" panose="020B0503020204020204" pitchFamily="34" charset="-122"/>
                <a:ea typeface="微软雅黑" panose="020B0503020204020204" pitchFamily="34" charset="-122"/>
              </a:rPr>
              <a:t>以政府筹划一项公共工程</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抗洪工程为例说明公共物品提供的成本收益分析。</a:t>
            </a:r>
            <a:endParaRPr lang="en-US" altLang="zh-CN" sz="20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二、针对公共物品的微观经济政策</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7" name="标题 1">
            <a:extLst>
              <a:ext uri="{FF2B5EF4-FFF2-40B4-BE49-F238E27FC236}">
                <a16:creationId xmlns:a16="http://schemas.microsoft.com/office/drawing/2014/main" id="{1A06AFF5-B4E0-4080-8ADF-DDFE384077FA}"/>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9455774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0722"/>
                                        </p:tgtEl>
                                        <p:attrNameLst>
                                          <p:attrName>style.visibility</p:attrName>
                                        </p:attrNameLst>
                                      </p:cBhvr>
                                      <p:to>
                                        <p:strVal val="visible"/>
                                      </p:to>
                                    </p:set>
                                    <p:animEffect transition="in" filter="randombar(horizontal)">
                                      <p:cBhvr>
                                        <p:cTn id="11" dur="500"/>
                                        <p:tgtEl>
                                          <p:spTgt spid="3072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307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3" grpId="0" autoUpdateAnimBg="0"/>
      <p:bldP spid="3077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p:cNvSpPr>
          <p:nvPr>
            <p:ph idx="4294967295"/>
          </p:nvPr>
        </p:nvSpPr>
        <p:spPr>
          <a:xfrm>
            <a:off x="107504" y="1052736"/>
            <a:ext cx="8280920" cy="3312369"/>
          </a:xfrm>
        </p:spPr>
        <p:txBody>
          <a:bodyPr/>
          <a:lstStyle/>
          <a:p>
            <a:pPr lvl="1">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如果政府计划所获得的边际收益小于同量资源在私人应用情况下所获得的边际收益</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就可不从事这项公共计划。如果收益超过成本</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不在该项政府计划上支出</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便是“不经济”或“浪费”。</a:t>
            </a:r>
            <a:endParaRPr lang="en-US" altLang="zh-CN" sz="2000" dirty="0">
              <a:latin typeface="微软雅黑" panose="020B0503020204020204" pitchFamily="34" charset="-122"/>
              <a:ea typeface="微软雅黑" panose="020B0503020204020204" pitchFamily="34" charset="-122"/>
            </a:endParaRPr>
          </a:p>
          <a:p>
            <a:pPr marL="457200" lvl="1" indent="0">
              <a:lnSpc>
                <a:spcPct val="200000"/>
              </a:lnSpc>
              <a:buNone/>
            </a:pPr>
            <a:endParaRPr lang="en-US" altLang="zh-CN" sz="2000"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政府“经济”并不意味着使政府支出最小化</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而是意味着把资源在私人部门和公共部门之间加以配置</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直至不能从进一步的资源再配置中得到净收益。</a:t>
            </a:r>
          </a:p>
        </p:txBody>
      </p:sp>
      <p:sp>
        <p:nvSpPr>
          <p:cNvPr id="6" name="矩形 5">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二、针对公共物品的微观经济政策</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7" name="标题 1">
            <a:extLst>
              <a:ext uri="{FF2B5EF4-FFF2-40B4-BE49-F238E27FC236}">
                <a16:creationId xmlns:a16="http://schemas.microsoft.com/office/drawing/2014/main" id="{CDEBBDB5-3F0D-4B7C-87B4-FA2B99822A4E}"/>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42453570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74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idx="4294967295"/>
          </p:nvPr>
        </p:nvSpPr>
        <p:spPr>
          <a:xfrm>
            <a:off x="755576" y="1010345"/>
            <a:ext cx="7632848" cy="4641850"/>
          </a:xfrm>
        </p:spPr>
        <p:txBody>
          <a:bodyPr/>
          <a:lstStyle/>
          <a:p>
            <a:pPr eaLnBrk="1" hangingPunct="1">
              <a:lnSpc>
                <a:spcPts val="38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公共资源特性</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720000" eaLnBrk="1" hangingPunct="1">
              <a:lnSpc>
                <a:spcPct val="30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竞争性 </a:t>
            </a:r>
            <a:r>
              <a:rPr lang="en-US" altLang="zh-CN" sz="1800" b="0" dirty="0">
                <a:solidFill>
                  <a:schemeClr val="tx1"/>
                </a:solidFill>
                <a:latin typeface="微软雅黑" panose="020B0503020204020204" pitchFamily="34" charset="-122"/>
                <a:ea typeface="微软雅黑" panose="020B0503020204020204" pitchFamily="34" charset="-122"/>
              </a:rPr>
              <a:t>+ </a:t>
            </a:r>
            <a:r>
              <a:rPr lang="zh-CN" altLang="en-US" sz="1800" b="0" dirty="0">
                <a:solidFill>
                  <a:schemeClr val="tx1"/>
                </a:solidFill>
                <a:latin typeface="微软雅黑" panose="020B0503020204020204" pitchFamily="34" charset="-122"/>
                <a:ea typeface="微软雅黑" panose="020B0503020204020204" pitchFamily="34" charset="-122"/>
              </a:rPr>
              <a:t>非排他性。</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77100" lvl="1" indent="0" eaLnBrk="1" hangingPunct="1">
              <a:lnSpc>
                <a:spcPct val="300000"/>
              </a:lnSpc>
              <a:buNone/>
            </a:pPr>
            <a:r>
              <a:rPr lang="zh-CN" altLang="en-US" sz="1800" dirty="0">
                <a:latin typeface="微软雅黑" panose="020B0503020204020204" pitchFamily="34" charset="-122"/>
                <a:ea typeface="微软雅黑" panose="020B0503020204020204" pitchFamily="34" charset="-122"/>
              </a:rPr>
              <a:t>     河流、草地、原始森林、公共用地、矿山等，都属于公共资源范畴。</a:t>
            </a:r>
            <a:endParaRPr lang="en-US" altLang="zh-CN" sz="1800" dirty="0">
              <a:latin typeface="微软雅黑" panose="020B0503020204020204" pitchFamily="34" charset="-122"/>
              <a:ea typeface="微软雅黑" panose="020B0503020204020204" pitchFamily="34" charset="-122"/>
            </a:endParaRPr>
          </a:p>
          <a:p>
            <a:pPr marL="457200" lvl="1" indent="-457200" eaLnBrk="1" hangingPunct="1">
              <a:lnSpc>
                <a:spcPct val="3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公共资源市场机制上的无效率</a:t>
            </a:r>
            <a:endParaRPr lang="en-US" altLang="zh-CN" sz="2000" dirty="0">
              <a:latin typeface="微软雅黑" panose="020B0503020204020204" pitchFamily="34" charset="-122"/>
              <a:ea typeface="微软雅黑" panose="020B0503020204020204" pitchFamily="34" charset="-122"/>
            </a:endParaRPr>
          </a:p>
          <a:p>
            <a:pPr marL="720000" lvl="1" indent="-457200" eaLnBrk="1" hangingPunct="1">
              <a:lnSpc>
                <a:spcPct val="30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非排他性</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免费使用</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marL="720000" lvl="1" indent="-457200" eaLnBrk="1" hangingPunct="1">
              <a:lnSpc>
                <a:spcPct val="30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竞争性</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使用过度</a:t>
            </a:r>
            <a:endParaRPr lang="en-US" altLang="zh-CN" sz="18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三、公共资源的过度使用及其政策</a:t>
            </a:r>
          </a:p>
        </p:txBody>
      </p:sp>
      <p:sp>
        <p:nvSpPr>
          <p:cNvPr id="6" name="标题 1">
            <a:extLst>
              <a:ext uri="{FF2B5EF4-FFF2-40B4-BE49-F238E27FC236}">
                <a16:creationId xmlns:a16="http://schemas.microsoft.com/office/drawing/2014/main" id="{1FD03155-BDAD-459A-B0B2-B2E11500FCEF}"/>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6356477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2770">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2770">
                                            <p:txEl>
                                              <p:pRg st="1" end="1"/>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2770">
                                            <p:txEl>
                                              <p:pRg st="2" end="2"/>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2770">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2770">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277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idx="4294967295"/>
          </p:nvPr>
        </p:nvSpPr>
        <p:spPr>
          <a:xfrm>
            <a:off x="611560" y="1198854"/>
            <a:ext cx="8229600" cy="2424182"/>
          </a:xfrm>
        </p:spPr>
        <p:txBody>
          <a:bodyPr/>
          <a:lstStyle/>
          <a:p>
            <a:pPr eaLnBrk="1" hangingPunct="1">
              <a:lnSpc>
                <a:spcPts val="3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公地悲剧：公共资源使用过度的一个寓言</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0" indent="0" eaLnBrk="1" hangingPunct="1">
              <a:lnSpc>
                <a:spcPts val="3500"/>
              </a:lnSpc>
              <a:buNone/>
            </a:pPr>
            <a:r>
              <a:rPr lang="en-US" altLang="zh-CN" sz="2000" b="0" dirty="0">
                <a:solidFill>
                  <a:schemeClr val="tx1"/>
                </a:solidFill>
                <a:latin typeface="微软雅黑" panose="020B0503020204020204" pitchFamily="34" charset="-122"/>
                <a:ea typeface="微软雅黑" panose="020B0503020204020204" pitchFamily="34" charset="-122"/>
              </a:rPr>
              <a:t>     </a:t>
            </a:r>
            <a:r>
              <a:rPr lang="zh-CN" altLang="en-US" sz="1800" b="0" dirty="0">
                <a:solidFill>
                  <a:schemeClr val="tx1"/>
                </a:solidFill>
                <a:latin typeface="微软雅黑" panose="020B0503020204020204" pitchFamily="34" charset="-122"/>
                <a:ea typeface="微软雅黑" panose="020B0503020204020204" pitchFamily="34" charset="-122"/>
              </a:rPr>
              <a:t>无论是纳什均衡还是占优策略均衡，都是</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0" indent="0" algn="ctr" eaLnBrk="1" hangingPunct="1">
              <a:lnSpc>
                <a:spcPts val="3500"/>
              </a:lnSpc>
              <a:buNone/>
            </a:pPr>
            <a:r>
              <a:rPr lang="zh-CN" altLang="en-US" sz="1800" b="0" dirty="0">
                <a:solidFill>
                  <a:schemeClr val="tx1"/>
                </a:solidFill>
                <a:latin typeface="微软雅黑" panose="020B0503020204020204" pitchFamily="34" charset="-122"/>
                <a:ea typeface="微软雅黑" panose="020B0503020204020204" pitchFamily="34" charset="-122"/>
              </a:rPr>
              <a:t>             （</a:t>
            </a:r>
            <a:r>
              <a:rPr lang="en-US" altLang="zh-CN" sz="1800" b="0" dirty="0">
                <a:solidFill>
                  <a:schemeClr val="tx1"/>
                </a:solidFill>
                <a:latin typeface="微软雅黑" panose="020B0503020204020204" pitchFamily="34" charset="-122"/>
                <a:ea typeface="微软雅黑" panose="020B0503020204020204" pitchFamily="34" charset="-122"/>
              </a:rPr>
              <a:t>700</a:t>
            </a:r>
            <a:r>
              <a:rPr lang="zh-CN" altLang="en-US" sz="1800" b="0" dirty="0">
                <a:solidFill>
                  <a:schemeClr val="tx1"/>
                </a:solidFill>
                <a:latin typeface="微软雅黑" panose="020B0503020204020204" pitchFamily="34" charset="-122"/>
                <a:ea typeface="微软雅黑" panose="020B0503020204020204" pitchFamily="34" charset="-122"/>
              </a:rPr>
              <a:t>头，</a:t>
            </a:r>
            <a:r>
              <a:rPr lang="en-US" altLang="zh-CN" sz="1800" b="0" dirty="0">
                <a:solidFill>
                  <a:schemeClr val="tx1"/>
                </a:solidFill>
                <a:latin typeface="微软雅黑" panose="020B0503020204020204" pitchFamily="34" charset="-122"/>
                <a:ea typeface="微软雅黑" panose="020B0503020204020204" pitchFamily="34" charset="-122"/>
              </a:rPr>
              <a:t>700</a:t>
            </a:r>
            <a:r>
              <a:rPr lang="zh-CN" altLang="en-US" sz="1800" b="0" dirty="0">
                <a:solidFill>
                  <a:schemeClr val="tx1"/>
                </a:solidFill>
                <a:latin typeface="微软雅黑" panose="020B0503020204020204" pitchFamily="34" charset="-122"/>
                <a:ea typeface="微软雅黑" panose="020B0503020204020204" pitchFamily="34" charset="-122"/>
              </a:rPr>
              <a:t>头）</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4</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万元，</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4</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0" indent="0" eaLnBrk="1" hangingPunct="1">
              <a:lnSpc>
                <a:spcPts val="3500"/>
              </a:lnSpc>
              <a:buNone/>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而有效率的放牧是</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0" indent="0" algn="ctr" eaLnBrk="1" hangingPunct="1">
              <a:lnSpc>
                <a:spcPts val="3500"/>
              </a:lnSpc>
              <a:buNone/>
            </a:pPr>
            <a:r>
              <a:rPr lang="zh-CN" altLang="en-US" sz="1800" b="0" dirty="0">
                <a:solidFill>
                  <a:schemeClr val="tx1"/>
                </a:solidFill>
                <a:latin typeface="微软雅黑" panose="020B0503020204020204" pitchFamily="34" charset="-122"/>
                <a:ea typeface="微软雅黑" panose="020B0503020204020204" pitchFamily="34" charset="-122"/>
              </a:rPr>
              <a:t>             （</a:t>
            </a:r>
            <a:r>
              <a:rPr lang="en-US" altLang="zh-CN" sz="1800" b="0" dirty="0">
                <a:solidFill>
                  <a:schemeClr val="tx1"/>
                </a:solidFill>
                <a:latin typeface="微软雅黑" panose="020B0503020204020204" pitchFamily="34" charset="-122"/>
                <a:ea typeface="微软雅黑" panose="020B0503020204020204" pitchFamily="34" charset="-122"/>
              </a:rPr>
              <a:t>400</a:t>
            </a:r>
            <a:r>
              <a:rPr lang="zh-CN" altLang="en-US" sz="1800" b="0" dirty="0">
                <a:solidFill>
                  <a:schemeClr val="tx1"/>
                </a:solidFill>
                <a:latin typeface="微软雅黑" panose="020B0503020204020204" pitchFamily="34" charset="-122"/>
                <a:ea typeface="微软雅黑" panose="020B0503020204020204" pitchFamily="34" charset="-122"/>
              </a:rPr>
              <a:t>头，</a:t>
            </a:r>
            <a:r>
              <a:rPr lang="en-US" altLang="zh-CN" sz="1800" b="0" dirty="0">
                <a:solidFill>
                  <a:schemeClr val="tx1"/>
                </a:solidFill>
                <a:latin typeface="微软雅黑" panose="020B0503020204020204" pitchFamily="34" charset="-122"/>
                <a:ea typeface="微软雅黑" panose="020B0503020204020204" pitchFamily="34" charset="-122"/>
              </a:rPr>
              <a:t>400</a:t>
            </a:r>
            <a:r>
              <a:rPr lang="zh-CN" altLang="en-US" sz="1800" b="0" dirty="0">
                <a:solidFill>
                  <a:schemeClr val="tx1"/>
                </a:solidFill>
                <a:latin typeface="微软雅黑" panose="020B0503020204020204" pitchFamily="34" charset="-122"/>
                <a:ea typeface="微软雅黑" panose="020B0503020204020204" pitchFamily="34" charset="-122"/>
              </a:rPr>
              <a:t>头）</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5</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万元，</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5</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p:txBody>
      </p:sp>
      <p:graphicFrame>
        <p:nvGraphicFramePr>
          <p:cNvPr id="4" name="Group 2"/>
          <p:cNvGraphicFramePr>
            <a:graphicFrameLocks noGrp="1"/>
          </p:cNvGraphicFramePr>
          <p:nvPr>
            <p:extLst>
              <p:ext uri="{D42A27DB-BD31-4B8C-83A1-F6EECF244321}">
                <p14:modId xmlns:p14="http://schemas.microsoft.com/office/powerpoint/2010/main" val="2849678605"/>
              </p:ext>
            </p:extLst>
          </p:nvPr>
        </p:nvGraphicFramePr>
        <p:xfrm>
          <a:off x="945939" y="3811545"/>
          <a:ext cx="7560841" cy="2149976"/>
        </p:xfrm>
        <a:graphic>
          <a:graphicData uri="http://schemas.openxmlformats.org/drawingml/2006/table">
            <a:tbl>
              <a:tblPr/>
              <a:tblGrid>
                <a:gridCol w="1909305">
                  <a:extLst>
                    <a:ext uri="{9D8B030D-6E8A-4147-A177-3AD203B41FA5}">
                      <a16:colId xmlns:a16="http://schemas.microsoft.com/office/drawing/2014/main" val="610071168"/>
                    </a:ext>
                  </a:extLst>
                </a:gridCol>
                <a:gridCol w="1965988">
                  <a:extLst>
                    <a:ext uri="{9D8B030D-6E8A-4147-A177-3AD203B41FA5}">
                      <a16:colId xmlns:a16="http://schemas.microsoft.com/office/drawing/2014/main" val="85162801"/>
                    </a:ext>
                  </a:extLst>
                </a:gridCol>
                <a:gridCol w="1776246">
                  <a:extLst>
                    <a:ext uri="{9D8B030D-6E8A-4147-A177-3AD203B41FA5}">
                      <a16:colId xmlns:a16="http://schemas.microsoft.com/office/drawing/2014/main" val="2699627838"/>
                    </a:ext>
                  </a:extLst>
                </a:gridCol>
                <a:gridCol w="1909302">
                  <a:extLst>
                    <a:ext uri="{9D8B030D-6E8A-4147-A177-3AD203B41FA5}">
                      <a16:colId xmlns:a16="http://schemas.microsoft.com/office/drawing/2014/main" val="3606812189"/>
                    </a:ext>
                  </a:extLst>
                </a:gridCol>
              </a:tblGrid>
              <a:tr h="504056">
                <a:tc rowSpan="2" gridSpan="2">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lang="zh-CN" altLang="en-US" sz="1800" b="0" kern="1200" dirty="0">
                          <a:solidFill>
                            <a:schemeClr val="tx1"/>
                          </a:solidFill>
                          <a:latin typeface="微软雅黑" panose="020B0503020204020204" pitchFamily="34" charset="-122"/>
                          <a:ea typeface="微软雅黑" panose="020B0503020204020204" pitchFamily="34" charset="-122"/>
                          <a:cs typeface="+mn-cs"/>
                        </a:rPr>
                        <a:t>净利润：万元</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2" hMerge="1">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defRPr/>
                      </a:pPr>
                      <a:r>
                        <a:rPr lang="zh-CN" altLang="en-US" sz="1800" b="0" kern="1200" dirty="0">
                          <a:solidFill>
                            <a:schemeClr val="tx1"/>
                          </a:solidFill>
                          <a:latin typeface="微软雅黑" panose="020B0503020204020204" pitchFamily="34" charset="-122"/>
                          <a:ea typeface="微软雅黑" panose="020B0503020204020204" pitchFamily="34" charset="-122"/>
                          <a:cs typeface="+mn-cs"/>
                        </a:rPr>
                        <a:t>牧羊人</a:t>
                      </a:r>
                      <a:r>
                        <a:rPr lang="en-US" altLang="zh-CN" sz="1800" b="0" kern="1200" dirty="0">
                          <a:solidFill>
                            <a:schemeClr val="tx1"/>
                          </a:solidFill>
                          <a:latin typeface="微软雅黑" panose="020B0503020204020204" pitchFamily="34" charset="-122"/>
                          <a:ea typeface="微软雅黑" panose="020B0503020204020204" pitchFamily="34" charset="-122"/>
                          <a:cs typeface="+mn-cs"/>
                        </a:rPr>
                        <a:t>B</a:t>
                      </a:r>
                      <a:r>
                        <a:rPr lang="zh-CN" altLang="en-US" sz="1800" b="0" kern="1200" dirty="0">
                          <a:solidFill>
                            <a:schemeClr val="tx1"/>
                          </a:solidFill>
                          <a:latin typeface="微软雅黑" panose="020B0503020204020204" pitchFamily="34" charset="-122"/>
                          <a:ea typeface="微软雅黑" panose="020B0503020204020204" pitchFamily="34" charset="-122"/>
                          <a:cs typeface="+mn-cs"/>
                        </a:rPr>
                        <a:t>放牧羊只</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lvl1pPr indent="127000"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5121377"/>
                  </a:ext>
                </a:extLst>
              </a:tr>
              <a:tr h="360040">
                <a:tc gridSpan="2" vMerge="1">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hMerge="1" vMerge="1">
                  <a:txBody>
                    <a:bodyPr/>
                    <a:lstStyle>
                      <a:lvl1pPr eaLnBrk="0" hangingPunct="0">
                        <a:spcBef>
                          <a:spcPct val="20000"/>
                        </a:spcBef>
                        <a:tabLst>
                          <a:tab pos="498475" algn="l"/>
                        </a:tabLst>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tabLst>
                          <a:tab pos="498475"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tabLst>
                          <a:tab pos="498475"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98475" algn="l"/>
                        </a:tabLst>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500</a:t>
                      </a:r>
                      <a:r>
                        <a:rPr lang="zh-CN" altLang="en-US" sz="1800" b="0" kern="1200" dirty="0">
                          <a:solidFill>
                            <a:schemeClr val="tx1"/>
                          </a:solidFill>
                          <a:latin typeface="微软雅黑" panose="020B0503020204020204" pitchFamily="34" charset="-122"/>
                          <a:ea typeface="微软雅黑" panose="020B0503020204020204" pitchFamily="34" charset="-122"/>
                          <a:cs typeface="+mn-cs"/>
                        </a:rPr>
                        <a:t>头</a:t>
                      </a:r>
                      <a:endParaRPr lang="zh-CN" altLang="zh-CN"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700</a:t>
                      </a:r>
                      <a:r>
                        <a:rPr lang="zh-CN" altLang="en-US" sz="1800" b="0" kern="1200" dirty="0">
                          <a:solidFill>
                            <a:schemeClr val="tx1"/>
                          </a:solidFill>
                          <a:latin typeface="微软雅黑" panose="020B0503020204020204" pitchFamily="34" charset="-122"/>
                          <a:ea typeface="微软雅黑" panose="020B0503020204020204" pitchFamily="34" charset="-122"/>
                          <a:cs typeface="+mn-cs"/>
                        </a:rPr>
                        <a:t>头</a:t>
                      </a:r>
                      <a:endParaRPr lang="en-US" altLang="zh-CN"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07197006"/>
                  </a:ext>
                </a:extLst>
              </a:tr>
              <a:tr h="501445">
                <a:tc rowSpan="2">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en-US" sz="1800" b="0" kern="1200" dirty="0">
                          <a:solidFill>
                            <a:schemeClr val="tx1"/>
                          </a:solidFill>
                          <a:latin typeface="微软雅黑" panose="020B0503020204020204" pitchFamily="34" charset="-122"/>
                          <a:ea typeface="微软雅黑" panose="020B0503020204020204" pitchFamily="34" charset="-122"/>
                          <a:cs typeface="+mn-cs"/>
                        </a:rPr>
                        <a:t>牧羊人</a:t>
                      </a:r>
                      <a:r>
                        <a:rPr lang="en-US" altLang="zh-CN" sz="1800" b="0" kern="1200" dirty="0">
                          <a:solidFill>
                            <a:schemeClr val="tx1"/>
                          </a:solidFill>
                          <a:latin typeface="微软雅黑" panose="020B0503020204020204" pitchFamily="34" charset="-122"/>
                          <a:ea typeface="微软雅黑" panose="020B0503020204020204" pitchFamily="34" charset="-122"/>
                          <a:cs typeface="+mn-cs"/>
                        </a:rPr>
                        <a:t>A</a:t>
                      </a:r>
                    </a:p>
                    <a:p>
                      <a:pPr marL="0" marR="0" lvl="0" indent="0" algn="ctr" defTabSz="914400" rtl="0" eaLnBrk="1" fontAlgn="base" latinLnBrk="0" hangingPunct="1">
                        <a:lnSpc>
                          <a:spcPct val="100000"/>
                        </a:lnSpc>
                        <a:spcBef>
                          <a:spcPct val="0"/>
                        </a:spcBef>
                        <a:spcAft>
                          <a:spcPct val="0"/>
                        </a:spcAft>
                        <a:buClrTx/>
                        <a:buSzTx/>
                        <a:buFontTx/>
                        <a:buNone/>
                        <a:tabLst/>
                      </a:pPr>
                      <a:r>
                        <a:rPr lang="zh-CN" altLang="en-US" sz="1800" b="0" kern="1200" dirty="0">
                          <a:solidFill>
                            <a:schemeClr val="tx1"/>
                          </a:solidFill>
                          <a:latin typeface="微软雅黑" panose="020B0503020204020204" pitchFamily="34" charset="-122"/>
                          <a:ea typeface="微软雅黑" panose="020B0503020204020204" pitchFamily="34" charset="-122"/>
                          <a:cs typeface="+mn-cs"/>
                        </a:rPr>
                        <a:t>放牧羊只</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tabLst>
                          <a:tab pos="498475" algn="l"/>
                        </a:tabLst>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tabLst>
                          <a:tab pos="498475"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tabLst>
                          <a:tab pos="498475"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98475" algn="l"/>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500</a:t>
                      </a:r>
                      <a:r>
                        <a:rPr lang="zh-CN" altLang="en-US" sz="1800" b="0" kern="1200" dirty="0">
                          <a:solidFill>
                            <a:schemeClr val="tx1"/>
                          </a:solidFill>
                          <a:latin typeface="微软雅黑" panose="020B0503020204020204" pitchFamily="34" charset="-122"/>
                          <a:ea typeface="微软雅黑" panose="020B0503020204020204" pitchFamily="34" charset="-122"/>
                          <a:cs typeface="+mn-cs"/>
                        </a:rPr>
                        <a:t>头</a:t>
                      </a:r>
                      <a:endParaRPr lang="en-US" altLang="zh-CN"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A: 5</a:t>
                      </a:r>
                    </a:p>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B: 5</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A: 3</a:t>
                      </a:r>
                    </a:p>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B: 6</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51622876"/>
                  </a:ext>
                </a:extLst>
              </a:tr>
              <a:tr h="501445">
                <a:tc vMerge="1">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tabLst>
                          <a:tab pos="498475" algn="l"/>
                        </a:tabLst>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tabLst>
                          <a:tab pos="498475" algn="l"/>
                        </a:tabLst>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tabLst>
                          <a:tab pos="498475" algn="l"/>
                        </a:tabLst>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tabLst>
                          <a:tab pos="49847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tabLst>
                          <a:tab pos="498475"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98475" algn="l"/>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700</a:t>
                      </a:r>
                      <a:r>
                        <a:rPr lang="zh-CN" altLang="en-US" sz="1800" b="0" kern="1200" dirty="0">
                          <a:solidFill>
                            <a:schemeClr val="tx1"/>
                          </a:solidFill>
                          <a:latin typeface="微软雅黑" panose="020B0503020204020204" pitchFamily="34" charset="-122"/>
                          <a:ea typeface="微软雅黑" panose="020B0503020204020204" pitchFamily="34" charset="-122"/>
                          <a:cs typeface="+mn-cs"/>
                        </a:rPr>
                        <a:t>头</a:t>
                      </a:r>
                      <a:endParaRPr lang="en-US" altLang="zh-CN"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A: 6</a:t>
                      </a:r>
                    </a:p>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B: 3</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A: 4</a:t>
                      </a:r>
                    </a:p>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800" b="0" kern="1200" dirty="0">
                          <a:solidFill>
                            <a:schemeClr val="tx1"/>
                          </a:solidFill>
                          <a:latin typeface="微软雅黑" panose="020B0503020204020204" pitchFamily="34" charset="-122"/>
                          <a:ea typeface="微软雅黑" panose="020B0503020204020204" pitchFamily="34" charset="-122"/>
                          <a:cs typeface="+mn-cs"/>
                        </a:rPr>
                        <a:t>B: 4</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21135636"/>
                  </a:ext>
                </a:extLst>
              </a:tr>
            </a:tbl>
          </a:graphicData>
        </a:graphic>
      </p:graphicFrame>
      <p:sp>
        <p:nvSpPr>
          <p:cNvPr id="6" name="矩形 5">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三、公共资源的过度使用及其政策</a:t>
            </a:r>
          </a:p>
        </p:txBody>
      </p:sp>
      <p:sp>
        <p:nvSpPr>
          <p:cNvPr id="7" name="标题 1">
            <a:extLst>
              <a:ext uri="{FF2B5EF4-FFF2-40B4-BE49-F238E27FC236}">
                <a16:creationId xmlns:a16="http://schemas.microsoft.com/office/drawing/2014/main" id="{2E0DDD13-8524-4345-8E74-CB607878C58F}"/>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4749036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randombar(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4199032300"/>
              </p:ext>
            </p:extLst>
          </p:nvPr>
        </p:nvGraphicFramePr>
        <p:xfrm>
          <a:off x="755577" y="3458617"/>
          <a:ext cx="7704856" cy="1391794"/>
        </p:xfrm>
        <a:graphic>
          <a:graphicData uri="http://schemas.openxmlformats.org/drawingml/2006/table">
            <a:tbl>
              <a:tblPr firstRow="1" firstCol="1" bandRow="1">
                <a:tableStyleId>{5C22544A-7EE6-4342-B048-85BDC9FD1C3A}</a:tableStyleId>
              </a:tblPr>
              <a:tblGrid>
                <a:gridCol w="826899">
                  <a:extLst>
                    <a:ext uri="{9D8B030D-6E8A-4147-A177-3AD203B41FA5}">
                      <a16:colId xmlns:a16="http://schemas.microsoft.com/office/drawing/2014/main" val="3241781465"/>
                    </a:ext>
                  </a:extLst>
                </a:gridCol>
                <a:gridCol w="707083">
                  <a:extLst>
                    <a:ext uri="{9D8B030D-6E8A-4147-A177-3AD203B41FA5}">
                      <a16:colId xmlns:a16="http://schemas.microsoft.com/office/drawing/2014/main" val="1687736639"/>
                    </a:ext>
                  </a:extLst>
                </a:gridCol>
                <a:gridCol w="719574">
                  <a:extLst>
                    <a:ext uri="{9D8B030D-6E8A-4147-A177-3AD203B41FA5}">
                      <a16:colId xmlns:a16="http://schemas.microsoft.com/office/drawing/2014/main" val="768108010"/>
                    </a:ext>
                  </a:extLst>
                </a:gridCol>
                <a:gridCol w="719574">
                  <a:extLst>
                    <a:ext uri="{9D8B030D-6E8A-4147-A177-3AD203B41FA5}">
                      <a16:colId xmlns:a16="http://schemas.microsoft.com/office/drawing/2014/main" val="1516402406"/>
                    </a:ext>
                  </a:extLst>
                </a:gridCol>
                <a:gridCol w="719574">
                  <a:extLst>
                    <a:ext uri="{9D8B030D-6E8A-4147-A177-3AD203B41FA5}">
                      <a16:colId xmlns:a16="http://schemas.microsoft.com/office/drawing/2014/main" val="971689700"/>
                    </a:ext>
                  </a:extLst>
                </a:gridCol>
                <a:gridCol w="719574">
                  <a:extLst>
                    <a:ext uri="{9D8B030D-6E8A-4147-A177-3AD203B41FA5}">
                      <a16:colId xmlns:a16="http://schemas.microsoft.com/office/drawing/2014/main" val="1366125577"/>
                    </a:ext>
                  </a:extLst>
                </a:gridCol>
                <a:gridCol w="719574">
                  <a:extLst>
                    <a:ext uri="{9D8B030D-6E8A-4147-A177-3AD203B41FA5}">
                      <a16:colId xmlns:a16="http://schemas.microsoft.com/office/drawing/2014/main" val="2305881112"/>
                    </a:ext>
                  </a:extLst>
                </a:gridCol>
                <a:gridCol w="680597">
                  <a:extLst>
                    <a:ext uri="{9D8B030D-6E8A-4147-A177-3AD203B41FA5}">
                      <a16:colId xmlns:a16="http://schemas.microsoft.com/office/drawing/2014/main" val="1405628589"/>
                    </a:ext>
                  </a:extLst>
                </a:gridCol>
                <a:gridCol w="706878">
                  <a:extLst>
                    <a:ext uri="{9D8B030D-6E8A-4147-A177-3AD203B41FA5}">
                      <a16:colId xmlns:a16="http://schemas.microsoft.com/office/drawing/2014/main" val="872100105"/>
                    </a:ext>
                  </a:extLst>
                </a:gridCol>
                <a:gridCol w="514093">
                  <a:extLst>
                    <a:ext uri="{9D8B030D-6E8A-4147-A177-3AD203B41FA5}">
                      <a16:colId xmlns:a16="http://schemas.microsoft.com/office/drawing/2014/main" val="2767548795"/>
                    </a:ext>
                  </a:extLst>
                </a:gridCol>
                <a:gridCol w="671436">
                  <a:extLst>
                    <a:ext uri="{9D8B030D-6E8A-4147-A177-3AD203B41FA5}">
                      <a16:colId xmlns:a16="http://schemas.microsoft.com/office/drawing/2014/main" val="2400894903"/>
                    </a:ext>
                  </a:extLst>
                </a:gridCol>
              </a:tblGrid>
              <a:tr h="642860">
                <a:tc>
                  <a:txBody>
                    <a:bodyPr/>
                    <a:lstStyle/>
                    <a:p>
                      <a:pPr algn="ctr">
                        <a:spcAft>
                          <a:spcPts val="0"/>
                        </a:spcAft>
                      </a:pPr>
                      <a:r>
                        <a:rPr lang="zh-CN" sz="1800" b="0" kern="100" dirty="0">
                          <a:effectLst/>
                          <a:latin typeface="微软雅黑" panose="020B0503020204020204" pitchFamily="34" charset="-122"/>
                          <a:ea typeface="微软雅黑" panose="020B0503020204020204" pitchFamily="34" charset="-122"/>
                        </a:rPr>
                        <a:t>羊只数量</a:t>
                      </a:r>
                      <a:r>
                        <a:rPr lang="en-US" sz="1800" b="0" kern="100" dirty="0">
                          <a:effectLst/>
                          <a:latin typeface="微软雅黑" panose="020B0503020204020204" pitchFamily="34" charset="-122"/>
                          <a:ea typeface="微软雅黑" panose="020B0503020204020204" pitchFamily="34" charset="-122"/>
                        </a:rPr>
                        <a:t>Q</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10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20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30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40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50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60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70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80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90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100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extLst>
                  <a:ext uri="{0D108BD9-81ED-4DB2-BD59-A6C34878D82A}">
                    <a16:rowId xmlns:a16="http://schemas.microsoft.com/office/drawing/2014/main" val="2002474410"/>
                  </a:ext>
                </a:extLst>
              </a:tr>
              <a:tr h="748934">
                <a:tc>
                  <a:txBody>
                    <a:bodyPr/>
                    <a:lstStyle/>
                    <a:p>
                      <a:pPr algn="ctr">
                        <a:spcAft>
                          <a:spcPts val="0"/>
                        </a:spcAft>
                      </a:pPr>
                      <a:r>
                        <a:rPr lang="zh-CN" sz="1800" b="0" kern="100" dirty="0">
                          <a:effectLst/>
                          <a:latin typeface="微软雅黑" panose="020B0503020204020204" pitchFamily="34" charset="-122"/>
                          <a:ea typeface="微软雅黑" panose="020B0503020204020204" pitchFamily="34" charset="-122"/>
                        </a:rPr>
                        <a:t>平均收益</a:t>
                      </a:r>
                      <a:r>
                        <a:rPr lang="en-US" sz="1800" b="0" kern="100" dirty="0">
                          <a:effectLst/>
                          <a:latin typeface="微软雅黑" panose="020B0503020204020204" pitchFamily="34" charset="-122"/>
                          <a:ea typeface="微软雅黑" panose="020B0503020204020204" pitchFamily="34" charset="-122"/>
                        </a:rPr>
                        <a:t>P</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3C97F"/>
                    </a:solidFill>
                  </a:tcP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4000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3600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3200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a:effectLst/>
                          <a:latin typeface="微软雅黑" panose="020B0503020204020204" pitchFamily="34" charset="-122"/>
                          <a:ea typeface="微软雅黑" panose="020B0503020204020204" pitchFamily="34" charset="-122"/>
                        </a:rPr>
                        <a:t>2800</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2400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a:effectLst/>
                          <a:latin typeface="微软雅黑" panose="020B0503020204020204" pitchFamily="34" charset="-122"/>
                          <a:ea typeface="微软雅黑" panose="020B0503020204020204" pitchFamily="34" charset="-122"/>
                        </a:rPr>
                        <a:t>2000</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a:effectLst/>
                          <a:latin typeface="微软雅黑" panose="020B0503020204020204" pitchFamily="34" charset="-122"/>
                          <a:ea typeface="微软雅黑" panose="020B0503020204020204" pitchFamily="34" charset="-122"/>
                        </a:rPr>
                        <a:t>1600</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1200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a:effectLst/>
                          <a:latin typeface="微软雅黑" panose="020B0503020204020204" pitchFamily="34" charset="-122"/>
                          <a:ea typeface="微软雅黑" panose="020B0503020204020204" pitchFamily="34" charset="-122"/>
                        </a:rPr>
                        <a:t>800</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rPr>
                        <a:t>400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00218211"/>
                  </a:ext>
                </a:extLst>
              </a:tr>
            </a:tbl>
          </a:graphicData>
        </a:graphic>
      </p:graphicFrame>
      <p:sp>
        <p:nvSpPr>
          <p:cNvPr id="7" name="Rectangle 3"/>
          <p:cNvSpPr txBox="1">
            <a:spLocks noChangeArrowheads="1"/>
          </p:cNvSpPr>
          <p:nvPr/>
        </p:nvSpPr>
        <p:spPr bwMode="auto">
          <a:xfrm>
            <a:off x="755576" y="1181770"/>
            <a:ext cx="8229600"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ts val="3000"/>
              </a:lnSpc>
              <a:buFont typeface="Wingdings" panose="05000000000000000000" pitchFamily="2" charset="2"/>
              <a:buChar char="Ø"/>
            </a:pP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eaLnBrk="1" hangingPunct="1">
              <a:lnSpc>
                <a:spcPts val="3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一个简单的数学模型</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400050" lvl="1" indent="0" eaLnBrk="1" hangingPunct="1">
              <a:lnSpc>
                <a:spcPts val="3000"/>
              </a:lnSpc>
              <a:buNone/>
            </a:pPr>
            <a:r>
              <a:rPr lang="zh-CN" altLang="en-US" sz="18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假设：</a:t>
            </a:r>
            <a:endParaRPr lang="en-US" altLang="zh-CN" sz="18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endParaRPr>
          </a:p>
          <a:p>
            <a:pPr marL="400050" lvl="1" indent="0" eaLnBrk="1" hangingPunct="1">
              <a:lnSpc>
                <a:spcPts val="3000"/>
              </a:lnSpc>
              <a:buNone/>
            </a:pPr>
            <a:r>
              <a:rPr lang="zh-CN" altLang="en-US" sz="1800" b="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两个牧羊人</a:t>
            </a:r>
            <a:r>
              <a:rPr lang="en-US" altLang="zh-CN" sz="18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1</a:t>
            </a:r>
            <a:r>
              <a:rPr lang="zh-CN" altLang="en-US" sz="18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和</a:t>
            </a:r>
            <a:r>
              <a:rPr lang="en-US" altLang="zh-CN" sz="18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2</a:t>
            </a:r>
            <a:r>
              <a:rPr lang="zh-CN" altLang="en-US" sz="18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草原上饲养羊只的成本为每只</a:t>
            </a:r>
            <a:r>
              <a:rPr lang="en-US" altLang="zh-CN" sz="1800" b="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400</a:t>
            </a:r>
            <a:r>
              <a:rPr lang="zh-CN" altLang="en-US" sz="1800" b="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元</a:t>
            </a:r>
            <a:r>
              <a:rPr lang="zh-CN" altLang="en-US" sz="18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1800" b="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endParaRPr>
          </a:p>
          <a:p>
            <a:pPr marL="400050" lvl="1" indent="0" eaLnBrk="1" hangingPunct="1">
              <a:lnSpc>
                <a:spcPts val="3000"/>
              </a:lnSpc>
              <a:buNone/>
            </a:pP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羊只销售收益由下表说明</a:t>
            </a:r>
            <a:endParaRPr lang="en-US" altLang="zh-CN" sz="1800" b="0" dirty="0">
              <a:latin typeface="微软雅黑" panose="020B0503020204020204" pitchFamily="34" charset="-122"/>
              <a:ea typeface="微软雅黑" panose="020B0503020204020204" pitchFamily="34" charset="-122"/>
              <a:sym typeface="Wingdings" panose="05000000000000000000" pitchFamily="2" charset="2"/>
            </a:endParaRPr>
          </a:p>
        </p:txBody>
      </p:sp>
      <p:sp>
        <p:nvSpPr>
          <p:cNvPr id="9" name="Rectangle 3"/>
          <p:cNvSpPr txBox="1">
            <a:spLocks noChangeArrowheads="1"/>
          </p:cNvSpPr>
          <p:nvPr/>
        </p:nvSpPr>
        <p:spPr bwMode="auto">
          <a:xfrm>
            <a:off x="251520" y="4941168"/>
            <a:ext cx="8229600" cy="1480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342900" eaLnBrk="1" hangingPunct="1">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市场需求曲线为：</a:t>
            </a:r>
            <a:endParaRPr lang="en-US" altLang="zh-CN" sz="2000" dirty="0">
              <a:latin typeface="微软雅黑" panose="020B0503020204020204" pitchFamily="34" charset="-122"/>
              <a:ea typeface="微软雅黑" panose="020B0503020204020204" pitchFamily="34" charset="-122"/>
              <a:sym typeface="Wingdings" panose="05000000000000000000" pitchFamily="2" charset="2"/>
            </a:endParaRPr>
          </a:p>
          <a:p>
            <a:pPr marL="400050" lvl="1" indent="0" eaLnBrk="1" hangingPunct="1">
              <a:lnSpc>
                <a:spcPct val="150000"/>
              </a:lnSpc>
              <a:buNone/>
            </a:pPr>
            <a:r>
              <a:rPr lang="en-US" altLang="zh-CN" sz="1800" dirty="0">
                <a:latin typeface="微软雅黑" panose="020B0503020204020204" pitchFamily="34" charset="-122"/>
                <a:ea typeface="微软雅黑" panose="020B0503020204020204" pitchFamily="34" charset="-122"/>
              </a:rPr>
              <a:t>     P = 4400 - 40Q=4400 – 40(Q</a:t>
            </a:r>
            <a:r>
              <a:rPr lang="en-US" altLang="zh-CN" sz="1800" baseline="-25000" dirty="0">
                <a:latin typeface="微软雅黑" panose="020B0503020204020204" pitchFamily="34" charset="-122"/>
                <a:ea typeface="微软雅黑" panose="020B0503020204020204" pitchFamily="34" charset="-122"/>
              </a:rPr>
              <a:t>1</a:t>
            </a:r>
            <a:r>
              <a:rPr lang="en-US" altLang="zh-CN" sz="1800" dirty="0">
                <a:latin typeface="微软雅黑" panose="020B0503020204020204" pitchFamily="34" charset="-122"/>
                <a:ea typeface="微软雅黑" panose="020B0503020204020204" pitchFamily="34" charset="-122"/>
              </a:rPr>
              <a:t>+Q</a:t>
            </a:r>
            <a:r>
              <a:rPr lang="en-US" altLang="zh-CN" sz="1800" baseline="-25000" dirty="0">
                <a:latin typeface="微软雅黑" panose="020B0503020204020204" pitchFamily="34" charset="-122"/>
                <a:ea typeface="微软雅黑" panose="020B0503020204020204" pitchFamily="34" charset="-122"/>
              </a:rPr>
              <a:t>2</a:t>
            </a:r>
            <a:r>
              <a:rPr lang="en-US" altLang="zh-CN" sz="1800" dirty="0">
                <a:latin typeface="微软雅黑" panose="020B0503020204020204" pitchFamily="34" charset="-122"/>
                <a:ea typeface="微软雅黑" panose="020B0503020204020204" pitchFamily="34" charset="-122"/>
              </a:rPr>
              <a:t>)</a:t>
            </a:r>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三、公共资源的过度使用及其政策</a:t>
            </a:r>
          </a:p>
        </p:txBody>
      </p:sp>
      <p:sp>
        <p:nvSpPr>
          <p:cNvPr id="12" name="标题 1">
            <a:extLst>
              <a:ext uri="{FF2B5EF4-FFF2-40B4-BE49-F238E27FC236}">
                <a16:creationId xmlns:a16="http://schemas.microsoft.com/office/drawing/2014/main" id="{261ADC26-2438-4280-A6E4-5CDC216E1D4B}"/>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13" name="Rectangle 3">
            <a:extLst>
              <a:ext uri="{FF2B5EF4-FFF2-40B4-BE49-F238E27FC236}">
                <a16:creationId xmlns:a16="http://schemas.microsoft.com/office/drawing/2014/main" id="{6C07B004-55EA-44F7-AA16-DB62647D957B}"/>
              </a:ext>
            </a:extLst>
          </p:cNvPr>
          <p:cNvSpPr txBox="1">
            <a:spLocks noChangeArrowheads="1"/>
          </p:cNvSpPr>
          <p:nvPr/>
        </p:nvSpPr>
        <p:spPr bwMode="auto">
          <a:xfrm>
            <a:off x="755576" y="1226369"/>
            <a:ext cx="8589639"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ts val="2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公地悲剧：</a:t>
            </a:r>
            <a:endParaRPr lang="en-US" altLang="zh-CN" sz="2000" dirty="0">
              <a:sym typeface="Wingdings" panose="05000000000000000000" pitchFamily="2" charset="2"/>
            </a:endParaRPr>
          </a:p>
        </p:txBody>
      </p:sp>
    </p:spTree>
    <p:extLst>
      <p:ext uri="{BB962C8B-B14F-4D97-AF65-F5344CB8AC3E}">
        <p14:creationId xmlns:p14="http://schemas.microsoft.com/office/powerpoint/2010/main" val="176190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randombar(horizontal)">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Rectangle 3"/>
              <p:cNvSpPr txBox="1">
                <a:spLocks noChangeArrowheads="1"/>
              </p:cNvSpPr>
              <p:nvPr/>
            </p:nvSpPr>
            <p:spPr bwMode="auto">
              <a:xfrm>
                <a:off x="755576" y="1226369"/>
                <a:ext cx="8589639" cy="56886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ts val="2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公地悲剧：</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eaLnBrk="1" hangingPunct="1">
                  <a:lnSpc>
                    <a:spcPts val="25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一个简单的数学模型</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ts val="25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牧户</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1</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的收益函数为</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857250" lvl="2" indent="0" eaLnBrk="1" hangingPunct="1">
                  <a:lnSpc>
                    <a:spcPts val="2500"/>
                  </a:lnSpc>
                  <a:buNone/>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m:rPr>
                              <m:sty m:val="p"/>
                            </m:rPr>
                            <a:rPr lang="en-US" altLang="zh-CN" sz="1800" smtClean="0">
                              <a:latin typeface="Cambria Math" panose="02040503050406030204" pitchFamily="18" charset="0"/>
                            </a:rPr>
                            <m:t>R</m:t>
                          </m:r>
                        </m:e>
                        <m:sub>
                          <m:r>
                            <a:rPr lang="en-US" altLang="zh-CN" sz="1800" b="0" i="1" smtClean="0">
                              <a:latin typeface="Cambria Math" panose="02040503050406030204" pitchFamily="18" charset="0"/>
                            </a:rPr>
                            <m:t>1</m:t>
                          </m:r>
                        </m:sub>
                      </m:sSub>
                      <m:r>
                        <a:rPr lang="en-US" altLang="zh-CN" sz="1800">
                          <a:latin typeface="Cambria Math" panose="02040503050406030204" pitchFamily="18" charset="0"/>
                        </a:rPr>
                        <m:t>=</m:t>
                      </m:r>
                      <m:r>
                        <m:rPr>
                          <m:sty m:val="p"/>
                        </m:rPr>
                        <a:rPr lang="en-US" altLang="zh-CN" sz="1800" b="0" i="0" smtClean="0">
                          <a:latin typeface="Cambria Math" panose="02040503050406030204" pitchFamily="18" charset="0"/>
                        </a:rPr>
                        <m:t>P</m:t>
                      </m:r>
                      <m:d>
                        <m:dPr>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𝑄</m:t>
                              </m:r>
                            </m:e>
                            <m:sub>
                              <m:r>
                                <a:rPr lang="en-US" altLang="zh-CN" sz="1800" b="0" i="1" smtClean="0">
                                  <a:latin typeface="Cambria Math" panose="02040503050406030204" pitchFamily="18" charset="0"/>
                                </a:rPr>
                                <m:t>1</m:t>
                              </m:r>
                            </m:sub>
                          </m:sSub>
                          <m:r>
                            <a:rPr lang="en-US" altLang="zh-CN" sz="1800" b="0" i="0"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𝑄</m:t>
                              </m:r>
                            </m:e>
                            <m:sub>
                              <m:r>
                                <a:rPr lang="en-US" altLang="zh-CN" sz="1800" b="0" i="1" smtClean="0">
                                  <a:latin typeface="Cambria Math" panose="02040503050406030204" pitchFamily="18" charset="0"/>
                                </a:rPr>
                                <m:t>2</m:t>
                              </m:r>
                            </m:sub>
                          </m:sSub>
                        </m:e>
                      </m:d>
                      <m:r>
                        <a:rPr lang="en-US" altLang="zh-CN" sz="1800" b="0" i="1" smtClean="0">
                          <a:latin typeface="Cambria Math" panose="02040503050406030204" pitchFamily="18" charset="0"/>
                          <a:ea typeface="Cambria Math" panose="02040503050406030204" pitchFamily="18" charset="0"/>
                        </a:rPr>
                        <m:t>∙</m:t>
                      </m:r>
                      <m:sSub>
                        <m:sSubPr>
                          <m:ctrlPr>
                            <a:rPr lang="en-US" altLang="zh-CN" sz="1800" b="0" i="1" smtClean="0">
                              <a:latin typeface="Cambria Math" panose="02040503050406030204" pitchFamily="18" charset="0"/>
                              <a:ea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𝑄</m:t>
                          </m:r>
                        </m:e>
                        <m:sub>
                          <m:r>
                            <a:rPr lang="en-US" altLang="zh-CN" sz="1800" b="0" i="1" smtClean="0">
                              <a:latin typeface="Cambria Math" panose="02040503050406030204" pitchFamily="18" charset="0"/>
                              <a:ea typeface="Cambria Math" panose="02040503050406030204" pitchFamily="18" charset="0"/>
                            </a:rPr>
                            <m:t>1</m:t>
                          </m:r>
                        </m:sub>
                      </m:sSub>
                      <m:r>
                        <a:rPr lang="en-US" altLang="zh-CN" sz="1800" b="0" i="0" smtClean="0">
                          <a:latin typeface="Cambria Math" panose="02040503050406030204" pitchFamily="18" charset="0"/>
                          <a:ea typeface="Cambria Math" panose="02040503050406030204" pitchFamily="18" charset="0"/>
                        </a:rPr>
                        <m:t>=(</m:t>
                      </m:r>
                      <m:r>
                        <a:rPr lang="en-US" altLang="zh-CN" sz="1800">
                          <a:latin typeface="Cambria Math" panose="02040503050406030204" pitchFamily="18" charset="0"/>
                        </a:rPr>
                        <m:t>4400</m:t>
                      </m:r>
                      <m:r>
                        <a:rPr lang="en-US" altLang="zh-CN" sz="1800" i="1">
                          <a:latin typeface="Cambria Math" panose="02040503050406030204" pitchFamily="18" charset="0"/>
                        </a:rPr>
                        <m:t>−</m:t>
                      </m:r>
                      <m:r>
                        <a:rPr lang="en-US" altLang="zh-CN" sz="1800">
                          <a:latin typeface="Cambria Math" panose="02040503050406030204" pitchFamily="18" charset="0"/>
                        </a:rPr>
                        <m:t>40</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m:t>
                          </m:r>
                          <m:r>
                            <a:rPr lang="en-US" altLang="zh-CN" sz="1800" i="1" smtClean="0">
                              <a:latin typeface="Cambria Math" panose="02040503050406030204" pitchFamily="18" charset="0"/>
                            </a:rPr>
                            <m:t>𝑄</m:t>
                          </m:r>
                        </m:e>
                        <m:sub>
                          <m:r>
                            <a:rPr lang="en-US" altLang="zh-CN" sz="1800" b="0" i="1" smtClean="0">
                              <a:latin typeface="Cambria Math" panose="02040503050406030204" pitchFamily="18" charset="0"/>
                            </a:rPr>
                            <m:t>1</m:t>
                          </m:r>
                        </m:sub>
                      </m:sSub>
                      <m:sSub>
                        <m:sSubPr>
                          <m:ctrlPr>
                            <a:rPr lang="zh-CN" altLang="zh-CN" sz="1800" i="1" smtClean="0">
                              <a:latin typeface="Cambria Math" panose="02040503050406030204" pitchFamily="18" charset="0"/>
                            </a:rPr>
                          </m:ctrlPr>
                        </m:sSubPr>
                        <m:e>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𝑄</m:t>
                          </m:r>
                        </m:e>
                        <m:sub>
                          <m:r>
                            <a:rPr lang="en-US" altLang="zh-CN" sz="1800" i="1">
                              <a:latin typeface="Cambria Math" panose="02040503050406030204" pitchFamily="18" charset="0"/>
                            </a:rPr>
                            <m:t>2</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m:t>
                      </m:r>
                      <m:sSub>
                        <m:sSubPr>
                          <m:ctrlPr>
                            <a:rPr lang="en-US" altLang="zh-CN" sz="1800" b="0" i="1" smtClean="0">
                              <a:latin typeface="Cambria Math" panose="02040503050406030204" pitchFamily="18" charset="0"/>
                              <a:ea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𝑄</m:t>
                          </m:r>
                        </m:e>
                        <m:sub>
                          <m:r>
                            <a:rPr lang="en-US" altLang="zh-CN" sz="1800" b="0" i="1" smtClean="0">
                              <a:latin typeface="Cambria Math" panose="02040503050406030204" pitchFamily="18" charset="0"/>
                              <a:ea typeface="Cambria Math" panose="02040503050406030204" pitchFamily="18" charset="0"/>
                            </a:rPr>
                            <m:t>1</m:t>
                          </m:r>
                        </m:sub>
                      </m:sSub>
                    </m:oMath>
                  </m:oMathPara>
                </a14:m>
                <a:endParaRPr lang="en-US" altLang="zh-CN" sz="1800" dirty="0"/>
              </a:p>
              <a:p>
                <a:pPr marL="857250" lvl="2" indent="0" eaLnBrk="1" hangingPunct="1">
                  <a:lnSpc>
                    <a:spcPts val="2500"/>
                  </a:lnSpc>
                  <a:buNone/>
                </a:pPr>
                <a:r>
                  <a:rPr lang="en-US" altLang="zh-CN" sz="1800" dirty="0">
                    <a:sym typeface="Wingdings" panose="05000000000000000000" pitchFamily="2" charset="2"/>
                  </a:rPr>
                  <a:t>    </a:t>
                </a:r>
                <a14:m>
                  <m:oMath xmlns:m="http://schemas.openxmlformats.org/officeDocument/2006/math">
                    <m:sSub>
                      <m:sSubPr>
                        <m:ctrlPr>
                          <a:rPr lang="en-US" altLang="zh-CN" sz="1800" i="1" smtClean="0">
                            <a:latin typeface="Cambria Math" panose="02040503050406030204" pitchFamily="18" charset="0"/>
                          </a:rPr>
                        </m:ctrlPr>
                      </m:sSubPr>
                      <m:e>
                        <m:r>
                          <m:rPr>
                            <m:sty m:val="p"/>
                          </m:rPr>
                          <a:rPr lang="en-US" altLang="zh-CN" sz="1800" smtClean="0">
                            <a:latin typeface="Cambria Math" panose="02040503050406030204" pitchFamily="18" charset="0"/>
                          </a:rPr>
                          <m:t>R</m:t>
                        </m:r>
                      </m:e>
                      <m:sub>
                        <m:r>
                          <a:rPr lang="en-US" altLang="zh-CN" sz="1800" b="0" i="1" smtClean="0">
                            <a:latin typeface="Cambria Math" panose="02040503050406030204" pitchFamily="18" charset="0"/>
                          </a:rPr>
                          <m:t>1</m:t>
                        </m:r>
                      </m:sub>
                    </m:sSub>
                    <m:r>
                      <a:rPr lang="en-US" altLang="zh-CN" sz="1800" b="0" i="0" smtClean="0">
                        <a:latin typeface="Cambria Math" panose="02040503050406030204" pitchFamily="18" charset="0"/>
                      </a:rPr>
                      <m:t>=</m:t>
                    </m:r>
                    <m:r>
                      <a:rPr lang="en-US" altLang="zh-CN" sz="1800">
                        <a:latin typeface="Cambria Math" panose="02040503050406030204" pitchFamily="18" charset="0"/>
                      </a:rPr>
                      <m:t>4400</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r>
                      <a:rPr lang="en-US" altLang="zh-CN" sz="1800">
                        <a:latin typeface="Cambria Math" panose="02040503050406030204" pitchFamily="18" charset="0"/>
                      </a:rPr>
                      <m:t>40(</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i="1">
                            <a:latin typeface="Cambria Math" panose="02040503050406030204" pitchFamily="18" charset="0"/>
                          </a:rPr>
                          <m:t>1</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i="1">
                            <a:latin typeface="Cambria Math" panose="02040503050406030204" pitchFamily="18" charset="0"/>
                          </a:rPr>
                          <m:t>2</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i="1">
                            <a:latin typeface="Cambria Math" panose="02040503050406030204" pitchFamily="18" charset="0"/>
                          </a:rPr>
                          <m:t>1</m:t>
                        </m:r>
                      </m:sub>
                    </m:sSub>
                  </m:oMath>
                </a14:m>
                <a:endParaRPr lang="en-US" altLang="zh-CN" sz="1800" dirty="0"/>
              </a:p>
              <a:p>
                <a:pPr marL="857250" lvl="2" indent="0" eaLnBrk="1" hangingPunct="1">
                  <a:lnSpc>
                    <a:spcPts val="2500"/>
                  </a:lnSpc>
                  <a:buNone/>
                </a:pPr>
                <a:r>
                  <a:rPr lang="en-US" altLang="zh-CN" sz="1800" dirty="0">
                    <a:sym typeface="Wingdings" panose="05000000000000000000" pitchFamily="2" charset="2"/>
                  </a:rPr>
                  <a:t> </a:t>
                </a:r>
                <a14:m>
                  <m:oMath xmlns:m="http://schemas.openxmlformats.org/officeDocument/2006/math">
                    <m:sSub>
                      <m:sSubPr>
                        <m:ctrlPr>
                          <a:rPr lang="en-US" altLang="zh-CN" sz="1800" i="1" smtClean="0">
                            <a:latin typeface="Cambria Math" panose="02040503050406030204" pitchFamily="18" charset="0"/>
                          </a:rPr>
                        </m:ctrlPr>
                      </m:sSubPr>
                      <m:e>
                        <m:r>
                          <m:rPr>
                            <m:sty m:val="p"/>
                          </m:rPr>
                          <a:rPr lang="en-US" altLang="zh-CN" sz="1800" b="0" i="0" smtClean="0">
                            <a:latin typeface="Cambria Math" panose="02040503050406030204" pitchFamily="18" charset="0"/>
                          </a:rPr>
                          <m:t>M</m:t>
                        </m:r>
                        <m:r>
                          <m:rPr>
                            <m:sty m:val="p"/>
                          </m:rPr>
                          <a:rPr lang="en-US" altLang="zh-CN" sz="1800" smtClean="0">
                            <a:latin typeface="Cambria Math" panose="02040503050406030204" pitchFamily="18" charset="0"/>
                          </a:rPr>
                          <m:t>R</m:t>
                        </m:r>
                      </m:e>
                      <m:sub>
                        <m:r>
                          <a:rPr lang="en-US" altLang="zh-CN" sz="1800" b="0" i="1" smtClean="0">
                            <a:latin typeface="Cambria Math" panose="02040503050406030204" pitchFamily="18" charset="0"/>
                          </a:rPr>
                          <m:t>1</m:t>
                        </m:r>
                      </m:sub>
                    </m:sSub>
                    <m:r>
                      <a:rPr lang="en-US" altLang="zh-CN" sz="1800" b="0" i="0" smtClean="0">
                        <a:latin typeface="Cambria Math" panose="02040503050406030204" pitchFamily="18" charset="0"/>
                      </a:rPr>
                      <m:t>=</m:t>
                    </m:r>
                    <m:r>
                      <a:rPr lang="en-US" altLang="zh-CN" sz="1800">
                        <a:latin typeface="Cambria Math" panose="02040503050406030204" pitchFamily="18" charset="0"/>
                      </a:rPr>
                      <m:t>4400</m:t>
                    </m:r>
                    <m:r>
                      <a:rPr lang="en-US" altLang="zh-CN" sz="1800" i="1">
                        <a:latin typeface="Cambria Math" panose="02040503050406030204" pitchFamily="18" charset="0"/>
                      </a:rPr>
                      <m:t>−</m:t>
                    </m:r>
                    <m:r>
                      <a:rPr lang="en-US" altLang="zh-CN" sz="1800" b="0" i="0" smtClean="0">
                        <a:latin typeface="Cambria Math" panose="02040503050406030204" pitchFamily="18" charset="0"/>
                      </a:rPr>
                      <m:t>8</m:t>
                    </m:r>
                    <m:r>
                      <a:rPr lang="en-US" altLang="zh-CN" sz="1800">
                        <a:latin typeface="Cambria Math" panose="02040503050406030204" pitchFamily="18" charset="0"/>
                      </a:rPr>
                      <m:t>0</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i="1">
                            <a:latin typeface="Cambria Math" panose="02040503050406030204" pitchFamily="18" charset="0"/>
                          </a:rPr>
                          <m:t>1</m:t>
                        </m:r>
                      </m:sub>
                    </m:sSub>
                    <m:r>
                      <a:rPr lang="en-US" altLang="zh-CN" sz="1800" b="0" i="0" smtClean="0">
                        <a:latin typeface="Cambria Math" panose="02040503050406030204" pitchFamily="18" charset="0"/>
                      </a:rPr>
                      <m:t>−40</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i="1">
                            <a:latin typeface="Cambria Math" panose="02040503050406030204" pitchFamily="18" charset="0"/>
                          </a:rPr>
                          <m:t>2</m:t>
                        </m:r>
                      </m:sub>
                    </m:sSub>
                  </m:oMath>
                </a14:m>
                <a:endParaRPr lang="zh-CN" altLang="zh-CN" sz="1800" dirty="0"/>
              </a:p>
              <a:p>
                <a:pPr lvl="1" eaLnBrk="1" hangingPunct="1">
                  <a:lnSpc>
                    <a:spcPts val="25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牧户</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2</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的收益函数为</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457200" lvl="1" indent="0" eaLnBrk="1" hangingPunct="1">
                  <a:lnSpc>
                    <a:spcPts val="2500"/>
                  </a:lnSpc>
                  <a:buNone/>
                </a:pP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pitchFamily="18" charset="0"/>
                            </a:rPr>
                          </m:ctrlPr>
                        </m:sSubPr>
                        <m:e>
                          <m:r>
                            <m:rPr>
                              <m:sty m:val="p"/>
                            </m:rPr>
                            <a:rPr lang="en-US" altLang="zh-CN" sz="1800">
                              <a:latin typeface="Cambria Math" panose="02040503050406030204" pitchFamily="18" charset="0"/>
                            </a:rPr>
                            <m:t>MR</m:t>
                          </m:r>
                        </m:e>
                        <m:sub>
                          <m:r>
                            <a:rPr lang="en-US" altLang="zh-CN" sz="1800" b="0" i="0" smtClean="0">
                              <a:latin typeface="Cambria Math" panose="02040503050406030204" pitchFamily="18" charset="0"/>
                            </a:rPr>
                            <m:t>2</m:t>
                          </m:r>
                        </m:sub>
                      </m:sSub>
                      <m:r>
                        <a:rPr lang="en-US" altLang="zh-CN" sz="1800">
                          <a:latin typeface="Cambria Math" panose="02040503050406030204" pitchFamily="18" charset="0"/>
                        </a:rPr>
                        <m:t>=4400−80</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b="0" i="0" smtClean="0">
                              <a:latin typeface="Cambria Math" panose="02040503050406030204" pitchFamily="18" charset="0"/>
                            </a:rPr>
                            <m:t>1</m:t>
                          </m:r>
                        </m:sub>
                      </m:sSub>
                      <m:r>
                        <a:rPr lang="en-US" altLang="zh-CN" sz="1800">
                          <a:latin typeface="Cambria Math" panose="02040503050406030204" pitchFamily="18" charset="0"/>
                        </a:rPr>
                        <m:t>−40</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b="0" i="0" smtClean="0">
                              <a:latin typeface="Cambria Math" panose="02040503050406030204" pitchFamily="18" charset="0"/>
                            </a:rPr>
                            <m:t>2</m:t>
                          </m:r>
                        </m:sub>
                      </m:sSub>
                    </m:oMath>
                  </m:oMathPara>
                </a14:m>
                <a:endParaRPr lang="en-US" altLang="zh-CN" sz="1800" dirty="0">
                  <a:sym typeface="Wingdings" panose="05000000000000000000" pitchFamily="2" charset="2"/>
                </a:endParaRPr>
              </a:p>
              <a:p>
                <a:pPr lvl="1" eaLnBrk="1" hangingPunct="1">
                  <a:lnSpc>
                    <a:spcPts val="25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牧户</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的决策：</a:t>
                </a:r>
                <a:r>
                  <a:rPr lang="en-US" altLang="zh-CN" sz="1800" dirty="0">
                    <a:sym typeface="Wingdings" panose="05000000000000000000" pitchFamily="2" charset="2"/>
                  </a:rPr>
                  <a:t>MR=MC</a:t>
                </a:r>
                <a:r>
                  <a:rPr lang="zh-CN" altLang="en-US" sz="1800" dirty="0">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注意</a:t>
                </a:r>
                <a:r>
                  <a:rPr lang="en-US" altLang="zh-CN" sz="1800" dirty="0">
                    <a:sym typeface="Wingdings" panose="05000000000000000000" pitchFamily="2" charset="2"/>
                  </a:rPr>
                  <a:t>MC=400</a:t>
                </a:r>
              </a:p>
              <a:p>
                <a:pPr marL="857250" lvl="2" indent="0" eaLnBrk="1" hangingPunct="1">
                  <a:lnSpc>
                    <a:spcPts val="2500"/>
                  </a:lnSpc>
                  <a:buNone/>
                </a:pPr>
                <a14:m>
                  <m:oMath xmlns:m="http://schemas.openxmlformats.org/officeDocument/2006/math">
                    <m:sSub>
                      <m:sSubPr>
                        <m:ctrlPr>
                          <a:rPr lang="en-US" altLang="zh-CN" sz="1800" i="1">
                            <a:latin typeface="Cambria Math" panose="02040503050406030204" pitchFamily="18" charset="0"/>
                          </a:rPr>
                        </m:ctrlPr>
                      </m:sSubPr>
                      <m:e>
                        <m:r>
                          <m:rPr>
                            <m:sty m:val="p"/>
                          </m:rPr>
                          <a:rPr lang="en-US" altLang="zh-CN" sz="1800">
                            <a:latin typeface="Cambria Math" panose="02040503050406030204" pitchFamily="18" charset="0"/>
                          </a:rPr>
                          <m:t>MR</m:t>
                        </m:r>
                      </m:e>
                      <m:sub>
                        <m:r>
                          <a:rPr lang="en-US" altLang="zh-CN" sz="1800">
                            <a:latin typeface="Cambria Math" panose="02040503050406030204" pitchFamily="18" charset="0"/>
                          </a:rPr>
                          <m:t>1</m:t>
                        </m:r>
                      </m:sub>
                    </m:sSub>
                    <m:r>
                      <a:rPr lang="en-US" altLang="zh-CN" sz="1800" b="0" i="0" smtClean="0">
                        <a:latin typeface="Cambria Math" panose="02040503050406030204" pitchFamily="18" charset="0"/>
                      </a:rPr>
                      <m:t>=</m:t>
                    </m:r>
                    <m:r>
                      <m:rPr>
                        <m:sty m:val="p"/>
                      </m:rPr>
                      <a:rPr lang="en-US" altLang="zh-CN" sz="1800" b="0" i="0" smtClean="0">
                        <a:latin typeface="Cambria Math" panose="02040503050406030204" pitchFamily="18" charset="0"/>
                      </a:rPr>
                      <m:t>MC</m:t>
                    </m:r>
                  </m:oMath>
                </a14:m>
                <a:r>
                  <a:rPr lang="en-US" altLang="zh-CN" sz="1800" dirty="0">
                    <a:sym typeface="Wingdings" panose="05000000000000000000" pitchFamily="2" charset="2"/>
                  </a:rPr>
                  <a:t> </a:t>
                </a:r>
                <a14:m>
                  <m:oMath xmlns:m="http://schemas.openxmlformats.org/officeDocument/2006/math">
                    <m:r>
                      <a:rPr lang="en-US" altLang="zh-CN" sz="1800" smtClean="0">
                        <a:latin typeface="Cambria Math" panose="02040503050406030204" pitchFamily="18" charset="0"/>
                      </a:rPr>
                      <m:t>4400−80</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b="0" i="0" smtClean="0">
                            <a:latin typeface="Cambria Math" panose="02040503050406030204" pitchFamily="18" charset="0"/>
                          </a:rPr>
                          <m:t>1</m:t>
                        </m:r>
                      </m:sub>
                    </m:sSub>
                    <m:r>
                      <a:rPr lang="en-US" altLang="zh-CN" sz="1800">
                        <a:latin typeface="Cambria Math" panose="02040503050406030204" pitchFamily="18" charset="0"/>
                      </a:rPr>
                      <m:t>−40</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b="0" i="0" smtClean="0">
                            <a:latin typeface="Cambria Math" panose="02040503050406030204" pitchFamily="18" charset="0"/>
                          </a:rPr>
                          <m:t>2</m:t>
                        </m:r>
                      </m:sub>
                    </m:sSub>
                  </m:oMath>
                </a14:m>
                <a:r>
                  <a:rPr lang="en-US" altLang="zh-CN" sz="1800" dirty="0">
                    <a:sym typeface="Wingdings" panose="05000000000000000000" pitchFamily="2" charset="2"/>
                  </a:rPr>
                  <a:t>=400</a:t>
                </a:r>
              </a:p>
              <a:p>
                <a:pPr lvl="2" eaLnBrk="1" hangingPunct="1">
                  <a:lnSpc>
                    <a:spcPts val="2500"/>
                  </a:lnSpc>
                  <a:buFont typeface="Wingdings" panose="05000000000000000000" pitchFamily="2" charset="2"/>
                  <a:buChar char="è"/>
                </a:pPr>
                <a14:m>
                  <m:oMath xmlns:m="http://schemas.openxmlformats.org/officeDocument/2006/math">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i="1">
                            <a:latin typeface="Cambria Math" panose="02040503050406030204" pitchFamily="18" charset="0"/>
                          </a:rPr>
                          <m:t>1</m:t>
                        </m:r>
                      </m:sub>
                    </m:sSub>
                    <m:r>
                      <a:rPr lang="en-US" altLang="zh-CN" sz="1800">
                        <a:latin typeface="Cambria Math" panose="02040503050406030204" pitchFamily="18" charset="0"/>
                      </a:rPr>
                      <m:t>=50</m:t>
                    </m:r>
                    <m:r>
                      <a:rPr lang="en-US" altLang="zh-CN" sz="1800" i="1">
                        <a:latin typeface="Cambria Math" panose="02040503050406030204" pitchFamily="18" charset="0"/>
                      </a:rPr>
                      <m:t>−</m:t>
                    </m:r>
                    <m:r>
                      <a:rPr lang="en-US" altLang="zh-CN" sz="1800">
                        <a:latin typeface="Cambria Math" panose="02040503050406030204" pitchFamily="18" charset="0"/>
                      </a:rPr>
                      <m:t>0.5</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i="1">
                            <a:latin typeface="Cambria Math" panose="02040503050406030204" pitchFamily="18" charset="0"/>
                          </a:rPr>
                          <m:t>2</m:t>
                        </m:r>
                      </m:sub>
                    </m:sSub>
                  </m:oMath>
                </a14:m>
                <a:endParaRPr lang="en-US" altLang="zh-CN" sz="1800" dirty="0">
                  <a:sym typeface="Wingdings" panose="05000000000000000000" pitchFamily="2" charset="2"/>
                </a:endParaRPr>
              </a:p>
              <a:p>
                <a:pPr lvl="1" eaLnBrk="1" hangingPunct="1">
                  <a:lnSpc>
                    <a:spcPts val="25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牧户</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2</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的决策：</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marL="857250" lvl="2" indent="0" eaLnBrk="1" hangingPunct="1">
                  <a:lnSpc>
                    <a:spcPts val="2500"/>
                  </a:lnSpc>
                  <a:buNone/>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类似地，有</a:t>
                </a:r>
                <a14:m>
                  <m:oMath xmlns:m="http://schemas.openxmlformats.org/officeDocument/2006/math">
                    <m:sSub>
                      <m:sSubPr>
                        <m:ctrlPr>
                          <a:rPr lang="zh-CN" altLang="zh-CN" sz="1800" i="1" smtClean="0">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b="0" i="1" smtClean="0">
                            <a:latin typeface="Cambria Math" panose="02040503050406030204" pitchFamily="18" charset="0"/>
                          </a:rPr>
                          <m:t>2</m:t>
                        </m:r>
                      </m:sub>
                    </m:sSub>
                    <m:r>
                      <a:rPr lang="en-US" altLang="zh-CN" sz="1800">
                        <a:latin typeface="Cambria Math" panose="02040503050406030204" pitchFamily="18" charset="0"/>
                      </a:rPr>
                      <m:t>=50</m:t>
                    </m:r>
                    <m:r>
                      <a:rPr lang="en-US" altLang="zh-CN" sz="1800" i="1">
                        <a:latin typeface="Cambria Math" panose="02040503050406030204" pitchFamily="18" charset="0"/>
                      </a:rPr>
                      <m:t>−</m:t>
                    </m:r>
                    <m:r>
                      <a:rPr lang="en-US" altLang="zh-CN" sz="1800">
                        <a:latin typeface="Cambria Math" panose="02040503050406030204" pitchFamily="18" charset="0"/>
                      </a:rPr>
                      <m:t>0.5</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Q</m:t>
                        </m:r>
                      </m:e>
                      <m:sub>
                        <m:r>
                          <a:rPr lang="en-US" altLang="zh-CN" sz="1800" b="0" i="1" smtClean="0">
                            <a:latin typeface="Cambria Math" panose="02040503050406030204" pitchFamily="18" charset="0"/>
                          </a:rPr>
                          <m:t>1</m:t>
                        </m:r>
                      </m:sub>
                    </m:sSub>
                  </m:oMath>
                </a14:m>
                <a:endParaRPr lang="en-US" altLang="zh-CN" sz="1800" dirty="0">
                  <a:sym typeface="Wingdings" panose="05000000000000000000" pitchFamily="2" charset="2"/>
                </a:endParaRPr>
              </a:p>
              <a:p>
                <a:pPr lvl="1" eaLnBrk="1" hangingPunct="1">
                  <a:lnSpc>
                    <a:spcPts val="2500"/>
                  </a:lnSpc>
                  <a:buFont typeface="Arial" panose="020B0604020202020204" pitchFamily="34" charset="0"/>
                  <a:buChar char="‒"/>
                </a:pPr>
                <a:endParaRPr lang="en-US" altLang="zh-CN" sz="1800" dirty="0"/>
              </a:p>
              <a:p>
                <a:pPr lvl="1" eaLnBrk="1" hangingPunct="1">
                  <a:lnSpc>
                    <a:spcPts val="2500"/>
                  </a:lnSpc>
                  <a:buFont typeface="Arial" panose="020B0604020202020204" pitchFamily="34" charset="0"/>
                  <a:buChar char="‒"/>
                </a:pPr>
                <a:endParaRPr lang="en-US" altLang="zh-CN" sz="2000" dirty="0">
                  <a:sym typeface="Wingdings" panose="05000000000000000000" pitchFamily="2" charset="2"/>
                </a:endParaRPr>
              </a:p>
            </p:txBody>
          </p:sp>
        </mc:Choice>
        <mc:Fallback xmlns="">
          <p:sp>
            <p:nvSpPr>
              <p:cNvPr id="7" name="Rectangle 3"/>
              <p:cNvSpPr txBox="1">
                <a:spLocks noRot="1" noChangeAspect="1" noMove="1" noResize="1" noEditPoints="1" noAdjustHandles="1" noChangeArrowheads="1" noChangeShapeType="1" noTextEdit="1"/>
              </p:cNvSpPr>
              <p:nvPr/>
            </p:nvSpPr>
            <p:spPr bwMode="auto">
              <a:xfrm>
                <a:off x="755576" y="1226369"/>
                <a:ext cx="8589639" cy="5688632"/>
              </a:xfrm>
              <a:prstGeom prst="rect">
                <a:avLst/>
              </a:prstGeom>
              <a:blipFill>
                <a:blip r:embed="rId2"/>
                <a:stretch>
                  <a:fillRect l="-639" t="-64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三、公共资源的过度使用及其政策</a:t>
            </a:r>
          </a:p>
        </p:txBody>
      </p:sp>
      <p:sp>
        <p:nvSpPr>
          <p:cNvPr id="6" name="标题 1">
            <a:extLst>
              <a:ext uri="{FF2B5EF4-FFF2-40B4-BE49-F238E27FC236}">
                <a16:creationId xmlns:a16="http://schemas.microsoft.com/office/drawing/2014/main" id="{55EA23F5-963A-44BE-A548-52320DB964A8}"/>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03615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left)">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右箭头 1"/>
          <p:cNvSpPr/>
          <p:nvPr/>
        </p:nvSpPr>
        <p:spPr bwMode="auto">
          <a:xfrm>
            <a:off x="3933622" y="3661621"/>
            <a:ext cx="652538" cy="216024"/>
          </a:xfrm>
          <a:prstGeom prst="rightArrow">
            <a:avLst/>
          </a:prstGeom>
          <a:solidFill>
            <a:srgbClr val="F3C97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流程图: 可选过程 2"/>
          <p:cNvSpPr/>
          <p:nvPr/>
        </p:nvSpPr>
        <p:spPr bwMode="auto">
          <a:xfrm>
            <a:off x="1259632" y="2941858"/>
            <a:ext cx="2664296" cy="1584176"/>
          </a:xfrm>
          <a:prstGeom prst="flowChartAlternateProcess">
            <a:avLst/>
          </a:prstGeom>
          <a:solidFill>
            <a:srgbClr val="F3C97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0" name="流程图: 可选过程 9"/>
          <p:cNvSpPr/>
          <p:nvPr/>
        </p:nvSpPr>
        <p:spPr bwMode="auto">
          <a:xfrm>
            <a:off x="4595854" y="2941857"/>
            <a:ext cx="3065316" cy="1584177"/>
          </a:xfrm>
          <a:prstGeom prst="flowChartAlternateProcess">
            <a:avLst/>
          </a:prstGeom>
          <a:solidFill>
            <a:srgbClr val="F3C97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Rectangle 3"/>
          <p:cNvSpPr txBox="1">
            <a:spLocks noChangeArrowheads="1"/>
          </p:cNvSpPr>
          <p:nvPr/>
        </p:nvSpPr>
        <p:spPr bwMode="auto">
          <a:xfrm>
            <a:off x="739434" y="1161641"/>
            <a:ext cx="5508612" cy="1366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lnSpc>
                <a:spcPts val="2880"/>
              </a:lnSpc>
              <a:buFont typeface="Wingdings" panose="05000000000000000000" pitchFamily="2" charset="2"/>
              <a:buChar char="Ø"/>
            </a:pP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ts val="288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一个简单的数学模型</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ts val="288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当牧户</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和牧户</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2</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同时分开决策时：</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ts val="288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lvl="1" eaLnBrk="1" hangingPunct="1">
              <a:lnSpc>
                <a:spcPts val="288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sym typeface="Wingdings" panose="05000000000000000000" pitchFamily="2" charset="2"/>
            </a:endParaRP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1269326" y="3265894"/>
                <a:ext cx="2952328" cy="11161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zh-CN" altLang="zh-CN" sz="1800" b="0" i="1" smtClean="0">
                              <a:solidFill>
                                <a:schemeClr val="tx1"/>
                              </a:solidFill>
                              <a:latin typeface="Cambria Math" panose="02040503050406030204" pitchFamily="18" charset="0"/>
                            </a:rPr>
                          </m:ctrlPr>
                        </m:sSubPr>
                        <m:e>
                          <m:r>
                            <a:rPr lang="en-US" altLang="zh-CN" sz="1800" b="0" i="1">
                              <a:solidFill>
                                <a:schemeClr val="tx1"/>
                              </a:solidFill>
                              <a:latin typeface="Cambria Math" panose="02040503050406030204" pitchFamily="18" charset="0"/>
                            </a:rPr>
                            <m:t>𝑄</m:t>
                          </m:r>
                        </m:e>
                        <m:sub>
                          <m:r>
                            <a:rPr lang="en-US" altLang="zh-CN" sz="1800" b="0" i="1" smtClean="0">
                              <a:solidFill>
                                <a:schemeClr val="tx1"/>
                              </a:solidFill>
                              <a:latin typeface="Cambria Math" panose="02040503050406030204" pitchFamily="18" charset="0"/>
                            </a:rPr>
                            <m:t>1</m:t>
                          </m:r>
                        </m:sub>
                      </m:sSub>
                      <m:r>
                        <a:rPr lang="en-US" altLang="zh-CN" sz="1800" b="0">
                          <a:solidFill>
                            <a:schemeClr val="tx1"/>
                          </a:solidFill>
                          <a:latin typeface="Cambria Math" panose="02040503050406030204" pitchFamily="18" charset="0"/>
                        </a:rPr>
                        <m:t>=</m:t>
                      </m:r>
                      <m:r>
                        <a:rPr lang="en-US" altLang="zh-CN" sz="1800" b="0" i="1">
                          <a:solidFill>
                            <a:schemeClr val="tx1"/>
                          </a:solidFill>
                          <a:latin typeface="Cambria Math" panose="02040503050406030204" pitchFamily="18" charset="0"/>
                        </a:rPr>
                        <m:t>50−0</m:t>
                      </m:r>
                      <m:r>
                        <a:rPr lang="en-US" altLang="zh-CN" sz="1800" b="0">
                          <a:solidFill>
                            <a:schemeClr val="tx1"/>
                          </a:solidFill>
                          <a:latin typeface="Cambria Math" panose="02040503050406030204" pitchFamily="18" charset="0"/>
                        </a:rPr>
                        <m:t>.</m:t>
                      </m:r>
                      <m:r>
                        <a:rPr lang="en-US" altLang="zh-CN" sz="1800" b="0" i="1">
                          <a:solidFill>
                            <a:schemeClr val="tx1"/>
                          </a:solidFill>
                          <a:latin typeface="Cambria Math" panose="02040503050406030204" pitchFamily="18" charset="0"/>
                        </a:rPr>
                        <m:t>5</m:t>
                      </m:r>
                      <m:sSub>
                        <m:sSubPr>
                          <m:ctrlPr>
                            <a:rPr lang="zh-CN" altLang="zh-CN" sz="1800" b="0" i="1">
                              <a:solidFill>
                                <a:schemeClr val="tx1"/>
                              </a:solidFill>
                              <a:latin typeface="Cambria Math" panose="02040503050406030204" pitchFamily="18" charset="0"/>
                            </a:rPr>
                          </m:ctrlPr>
                        </m:sSubPr>
                        <m:e>
                          <m:r>
                            <a:rPr lang="en-US" altLang="zh-CN" sz="1800" b="0" i="1">
                              <a:solidFill>
                                <a:schemeClr val="tx1"/>
                              </a:solidFill>
                              <a:latin typeface="Cambria Math" panose="02040503050406030204" pitchFamily="18" charset="0"/>
                            </a:rPr>
                            <m:t>𝑄</m:t>
                          </m:r>
                        </m:e>
                        <m:sub>
                          <m:r>
                            <a:rPr lang="en-US" altLang="zh-CN" sz="1800" b="0" i="1" smtClean="0">
                              <a:solidFill>
                                <a:schemeClr val="tx1"/>
                              </a:solidFill>
                              <a:latin typeface="Cambria Math" panose="02040503050406030204" pitchFamily="18" charset="0"/>
                            </a:rPr>
                            <m:t>2</m:t>
                          </m:r>
                        </m:sub>
                      </m:sSub>
                    </m:oMath>
                  </m:oMathPara>
                </a14:m>
                <a:endParaRPr lang="en-US" altLang="zh-CN" sz="1800" b="0" dirty="0">
                  <a:solidFill>
                    <a:schemeClr val="tx1"/>
                  </a:solidFill>
                  <a:sym typeface="Wingdings" panose="05000000000000000000" pitchFamily="2" charset="2"/>
                </a:endParaRPr>
              </a:p>
              <a:p>
                <a:pPr marL="57150" indent="0" eaLnBrk="1" hangingPunct="1">
                  <a:lnSpc>
                    <a:spcPct val="80000"/>
                  </a:lnSpc>
                  <a:buNone/>
                </a:pPr>
                <a:endParaRPr lang="en-US" altLang="zh-CN" sz="1800" b="0" dirty="0">
                  <a:solidFill>
                    <a:schemeClr val="tx1"/>
                  </a:solidFill>
                  <a:sym typeface="Wingdings" panose="05000000000000000000" pitchFamily="2" charset="2"/>
                </a:endParaRPr>
              </a:p>
              <a:p>
                <a:pPr marL="57150" indent="0"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zh-CN" altLang="zh-CN" sz="1800" b="0" i="1" smtClean="0">
                              <a:solidFill>
                                <a:schemeClr val="tx1"/>
                              </a:solidFill>
                              <a:latin typeface="Cambria Math" panose="02040503050406030204" pitchFamily="18" charset="0"/>
                            </a:rPr>
                          </m:ctrlPr>
                        </m:sSubPr>
                        <m:e>
                          <m:r>
                            <a:rPr lang="en-US" altLang="zh-CN" sz="1800" b="0" i="1">
                              <a:solidFill>
                                <a:schemeClr val="tx1"/>
                              </a:solidFill>
                              <a:latin typeface="Cambria Math" panose="02040503050406030204" pitchFamily="18" charset="0"/>
                            </a:rPr>
                            <m:t>𝑄</m:t>
                          </m:r>
                        </m:e>
                        <m:sub>
                          <m:r>
                            <a:rPr lang="en-US" altLang="zh-CN" sz="1800" b="0" i="1" smtClean="0">
                              <a:solidFill>
                                <a:schemeClr val="tx1"/>
                              </a:solidFill>
                              <a:latin typeface="Cambria Math" panose="02040503050406030204" pitchFamily="18" charset="0"/>
                            </a:rPr>
                            <m:t>2</m:t>
                          </m:r>
                        </m:sub>
                      </m:sSub>
                      <m:r>
                        <a:rPr lang="en-US" altLang="zh-CN" sz="1800" b="0">
                          <a:solidFill>
                            <a:schemeClr val="tx1"/>
                          </a:solidFill>
                          <a:latin typeface="Cambria Math" panose="02040503050406030204" pitchFamily="18" charset="0"/>
                        </a:rPr>
                        <m:t>=</m:t>
                      </m:r>
                      <m:r>
                        <a:rPr lang="en-US" altLang="zh-CN" sz="1800" b="0" i="1">
                          <a:solidFill>
                            <a:schemeClr val="tx1"/>
                          </a:solidFill>
                          <a:latin typeface="Cambria Math" panose="02040503050406030204" pitchFamily="18" charset="0"/>
                        </a:rPr>
                        <m:t>50−0</m:t>
                      </m:r>
                      <m:r>
                        <a:rPr lang="en-US" altLang="zh-CN" sz="1800" b="0">
                          <a:solidFill>
                            <a:schemeClr val="tx1"/>
                          </a:solidFill>
                          <a:latin typeface="Cambria Math" panose="02040503050406030204" pitchFamily="18" charset="0"/>
                        </a:rPr>
                        <m:t>.</m:t>
                      </m:r>
                      <m:r>
                        <a:rPr lang="en-US" altLang="zh-CN" sz="1800" b="0" i="1">
                          <a:solidFill>
                            <a:schemeClr val="tx1"/>
                          </a:solidFill>
                          <a:latin typeface="Cambria Math" panose="02040503050406030204" pitchFamily="18" charset="0"/>
                        </a:rPr>
                        <m:t>5</m:t>
                      </m:r>
                      <m:sSub>
                        <m:sSubPr>
                          <m:ctrlPr>
                            <a:rPr lang="zh-CN" altLang="zh-CN" sz="1800" b="0" i="1">
                              <a:solidFill>
                                <a:schemeClr val="tx1"/>
                              </a:solidFill>
                              <a:latin typeface="Cambria Math" panose="02040503050406030204" pitchFamily="18" charset="0"/>
                            </a:rPr>
                          </m:ctrlPr>
                        </m:sSubPr>
                        <m:e>
                          <m:r>
                            <a:rPr lang="en-US" altLang="zh-CN" sz="1800" b="0" i="1">
                              <a:solidFill>
                                <a:schemeClr val="tx1"/>
                              </a:solidFill>
                              <a:latin typeface="Cambria Math" panose="02040503050406030204" pitchFamily="18" charset="0"/>
                            </a:rPr>
                            <m:t>𝑄</m:t>
                          </m:r>
                        </m:e>
                        <m:sub>
                          <m:r>
                            <a:rPr lang="en-US" altLang="zh-CN" sz="1800" b="0" i="1" smtClean="0">
                              <a:solidFill>
                                <a:schemeClr val="tx1"/>
                              </a:solidFill>
                              <a:latin typeface="Cambria Math" panose="02040503050406030204" pitchFamily="18" charset="0"/>
                            </a:rPr>
                            <m:t>1</m:t>
                          </m:r>
                        </m:sub>
                      </m:sSub>
                    </m:oMath>
                  </m:oMathPara>
                </a14:m>
                <a:endParaRPr lang="en-US" altLang="zh-CN" sz="1800" dirty="0">
                  <a:sym typeface="Wingdings" panose="05000000000000000000" pitchFamily="2" charset="2"/>
                </a:endParaRP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1269326" y="3265894"/>
                <a:ext cx="2952328" cy="1116124"/>
              </a:xfrm>
              <a:prstGeom prst="rect">
                <a:avLst/>
              </a:prstGeom>
              <a:blipFill>
                <a:blip r:embed="rId2"/>
                <a:stretch>
                  <a:fillRect t="-5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3"/>
              <p:cNvSpPr txBox="1">
                <a:spLocks noChangeArrowheads="1"/>
              </p:cNvSpPr>
              <p:nvPr/>
            </p:nvSpPr>
            <p:spPr bwMode="auto">
              <a:xfrm>
                <a:off x="4319963" y="3093153"/>
                <a:ext cx="3617097" cy="17934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zh-CN" altLang="zh-CN" sz="1800" b="0" i="1" smtClean="0">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1</m:t>
                          </m:r>
                        </m:sub>
                      </m:sSub>
                      <m:r>
                        <a:rPr lang="en-US" altLang="zh-CN" sz="1800" b="0" i="1">
                          <a:solidFill>
                            <a:schemeClr val="tx1"/>
                          </a:solidFill>
                          <a:latin typeface="Cambria Math" panose="02040503050406030204" pitchFamily="18" charset="0"/>
                        </a:rPr>
                        <m:t>=</m:t>
                      </m:r>
                      <m:sSub>
                        <m:sSubPr>
                          <m:ctrlPr>
                            <a:rPr lang="zh-CN" altLang="zh-CN" sz="1800" b="0" i="1">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2</m:t>
                          </m:r>
                        </m:sub>
                      </m:sSub>
                      <m:r>
                        <a:rPr lang="en-US" altLang="zh-CN" sz="1800" b="0" i="1">
                          <a:solidFill>
                            <a:schemeClr val="tx1"/>
                          </a:solidFill>
                          <a:latin typeface="Cambria Math" panose="02040503050406030204" pitchFamily="18" charset="0"/>
                        </a:rPr>
                        <m:t>=</m:t>
                      </m:r>
                      <m:f>
                        <m:fPr>
                          <m:ctrlPr>
                            <a:rPr lang="zh-CN" altLang="zh-CN" sz="1800" b="0" i="1">
                              <a:solidFill>
                                <a:schemeClr val="tx1"/>
                              </a:solidFill>
                              <a:latin typeface="Cambria Math" panose="02040503050406030204" pitchFamily="18" charset="0"/>
                            </a:rPr>
                          </m:ctrlPr>
                        </m:fPr>
                        <m:num>
                          <m:r>
                            <a:rPr lang="en-US" altLang="zh-CN" sz="1800" b="0" i="1">
                              <a:solidFill>
                                <a:schemeClr val="tx1"/>
                              </a:solidFill>
                              <a:latin typeface="Cambria Math" panose="02040503050406030204" pitchFamily="18" charset="0"/>
                            </a:rPr>
                            <m:t>100</m:t>
                          </m:r>
                        </m:num>
                        <m:den>
                          <m:r>
                            <a:rPr lang="en-US" altLang="zh-CN" sz="1800" b="0" i="1">
                              <a:solidFill>
                                <a:schemeClr val="tx1"/>
                              </a:solidFill>
                              <a:latin typeface="Cambria Math" panose="02040503050406030204" pitchFamily="18" charset="0"/>
                            </a:rPr>
                            <m:t>3</m:t>
                          </m:r>
                        </m:den>
                      </m:f>
                    </m:oMath>
                  </m:oMathPara>
                </a14:m>
                <a:endParaRPr lang="en-US" altLang="zh-CN" sz="1800" b="0" dirty="0">
                  <a:solidFill>
                    <a:schemeClr val="tx1"/>
                  </a:solidFill>
                </a:endParaRPr>
              </a:p>
              <a:p>
                <a:pPr marL="57150" indent="0" eaLnBrk="1" hangingPunct="1">
                  <a:lnSpc>
                    <a:spcPct val="80000"/>
                  </a:lnSpc>
                  <a:buNone/>
                </a:pPr>
                <a:endParaRPr lang="en-US" altLang="zh-CN" sz="1800" b="0" dirty="0">
                  <a:solidFill>
                    <a:schemeClr val="tx1"/>
                  </a:solidFill>
                </a:endParaRPr>
              </a:p>
              <a:p>
                <a:pPr marL="57150" indent="0"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zh-CN" altLang="zh-CN" sz="1800" b="0" i="1">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r>
                            <a:rPr lang="en-US" altLang="zh-CN" sz="1800" b="0">
                              <a:solidFill>
                                <a:schemeClr val="tx1"/>
                              </a:solidFill>
                              <a:latin typeface="Cambria Math" panose="02040503050406030204" pitchFamily="18" charset="0"/>
                            </a:rPr>
                            <m:t>=</m:t>
                          </m:r>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1</m:t>
                          </m:r>
                        </m:sub>
                      </m:sSub>
                      <m:r>
                        <a:rPr lang="en-US" altLang="zh-CN" sz="1800" b="0" i="1">
                          <a:solidFill>
                            <a:schemeClr val="tx1"/>
                          </a:solidFill>
                          <a:latin typeface="Cambria Math" panose="02040503050406030204" pitchFamily="18" charset="0"/>
                        </a:rPr>
                        <m:t>+</m:t>
                      </m:r>
                      <m:sSub>
                        <m:sSubPr>
                          <m:ctrlPr>
                            <a:rPr lang="zh-CN" altLang="zh-CN" sz="1800" b="0" i="1">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2</m:t>
                          </m:r>
                        </m:sub>
                      </m:sSub>
                      <m:r>
                        <a:rPr lang="en-US" altLang="zh-CN" sz="1800" b="0" i="1">
                          <a:solidFill>
                            <a:schemeClr val="tx1"/>
                          </a:solidFill>
                          <a:latin typeface="Cambria Math" panose="02040503050406030204" pitchFamily="18" charset="0"/>
                        </a:rPr>
                        <m:t>=</m:t>
                      </m:r>
                      <m:f>
                        <m:fPr>
                          <m:ctrlPr>
                            <a:rPr lang="zh-CN" altLang="zh-CN" sz="1800" b="0" i="1">
                              <a:solidFill>
                                <a:schemeClr val="tx1"/>
                              </a:solidFill>
                              <a:latin typeface="Cambria Math" panose="02040503050406030204" pitchFamily="18" charset="0"/>
                            </a:rPr>
                          </m:ctrlPr>
                        </m:fPr>
                        <m:num>
                          <m:r>
                            <a:rPr lang="en-US" altLang="zh-CN" sz="1800" b="0" i="1">
                              <a:solidFill>
                                <a:schemeClr val="tx1"/>
                              </a:solidFill>
                              <a:latin typeface="Cambria Math" panose="02040503050406030204" pitchFamily="18" charset="0"/>
                            </a:rPr>
                            <m:t>200</m:t>
                          </m:r>
                        </m:num>
                        <m:den>
                          <m:r>
                            <a:rPr lang="en-US" altLang="zh-CN" sz="1800" b="0" i="1">
                              <a:solidFill>
                                <a:schemeClr val="tx1"/>
                              </a:solidFill>
                              <a:latin typeface="Cambria Math" panose="02040503050406030204" pitchFamily="18" charset="0"/>
                            </a:rPr>
                            <m:t>3</m:t>
                          </m:r>
                        </m:den>
                      </m:f>
                    </m:oMath>
                  </m:oMathPara>
                </a14:m>
                <a:endParaRPr lang="en-US" altLang="zh-CN" sz="1800" b="0" dirty="0">
                  <a:solidFill>
                    <a:schemeClr val="tx1"/>
                  </a:solidFill>
                  <a:sym typeface="Wingdings" panose="05000000000000000000" pitchFamily="2" charset="2"/>
                </a:endParaRPr>
              </a:p>
            </p:txBody>
          </p:sp>
        </mc:Choice>
        <mc:Fallback xmlns="">
          <p:sp>
            <p:nvSpPr>
              <p:cNvPr id="9" name="Rectangle 3"/>
              <p:cNvSpPr txBox="1">
                <a:spLocks noRot="1" noChangeAspect="1" noMove="1" noResize="1" noEditPoints="1" noAdjustHandles="1" noChangeArrowheads="1" noChangeShapeType="1" noTextEdit="1"/>
              </p:cNvSpPr>
              <p:nvPr/>
            </p:nvSpPr>
            <p:spPr bwMode="auto">
              <a:xfrm>
                <a:off x="4319963" y="3093153"/>
                <a:ext cx="3617097" cy="1793412"/>
              </a:xfrm>
              <a:prstGeom prst="rect">
                <a:avLst/>
              </a:prstGeom>
              <a:blipFill>
                <a:blip r:embed="rId3"/>
                <a:stretch>
                  <a:fillRect t="-27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3"/>
              <p:cNvSpPr txBox="1">
                <a:spLocks noChangeArrowheads="1"/>
              </p:cNvSpPr>
              <p:nvPr/>
            </p:nvSpPr>
            <p:spPr bwMode="auto">
              <a:xfrm>
                <a:off x="2591780" y="5229200"/>
                <a:ext cx="7941567" cy="6480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0000"/>
                  </a:lnSpc>
                  <a:buNone/>
                </a:pPr>
                <a:r>
                  <a:rPr lang="zh-CN" altLang="en-US" sz="1800" b="0" dirty="0">
                    <a:solidFill>
                      <a:schemeClr val="tx1"/>
                    </a:solidFill>
                    <a:latin typeface="微软雅黑" panose="020B0503020204020204" pitchFamily="34" charset="-122"/>
                    <a:ea typeface="微软雅黑" panose="020B0503020204020204" pitchFamily="34" charset="-122"/>
                  </a:rPr>
                  <a:t>总利润为：</a:t>
                </a:r>
                <a14:m>
                  <m:oMath xmlns:m="http://schemas.openxmlformats.org/officeDocument/2006/math">
                    <m:r>
                      <a:rPr lang="en-US" altLang="zh-CN" sz="1800" b="0" i="1">
                        <a:solidFill>
                          <a:schemeClr val="tx1"/>
                        </a:solidFill>
                        <a:latin typeface="Cambria Math" panose="02040503050406030204" pitchFamily="18" charset="0"/>
                      </a:rPr>
                      <m:t>4400</m:t>
                    </m:r>
                    <m:r>
                      <a:rPr lang="en-US" altLang="zh-CN" sz="1800" b="0" i="1">
                        <a:solidFill>
                          <a:schemeClr val="tx1"/>
                        </a:solidFill>
                        <a:latin typeface="Cambria Math" panose="02040503050406030204" pitchFamily="18" charset="0"/>
                      </a:rPr>
                      <m:t>𝑄</m:t>
                    </m:r>
                    <m:r>
                      <a:rPr lang="en-US" altLang="zh-CN" sz="1800" b="0" i="1">
                        <a:solidFill>
                          <a:schemeClr val="tx1"/>
                        </a:solidFill>
                        <a:latin typeface="Cambria Math" panose="02040503050406030204" pitchFamily="18" charset="0"/>
                      </a:rPr>
                      <m:t>−40</m:t>
                    </m:r>
                    <m:sSup>
                      <m:sSupPr>
                        <m:ctrlPr>
                          <a:rPr lang="zh-CN" altLang="zh-CN" sz="1800" b="0" i="1">
                            <a:solidFill>
                              <a:schemeClr val="tx1"/>
                            </a:solidFill>
                            <a:latin typeface="Cambria Math" panose="02040503050406030204" pitchFamily="18" charset="0"/>
                          </a:rPr>
                        </m:ctrlPr>
                      </m:sSupPr>
                      <m:e>
                        <m:r>
                          <a:rPr lang="en-US" altLang="zh-CN" sz="1800" b="0" i="1">
                            <a:solidFill>
                              <a:schemeClr val="tx1"/>
                            </a:solidFill>
                            <a:latin typeface="Cambria Math" panose="02040503050406030204" pitchFamily="18" charset="0"/>
                          </a:rPr>
                          <m:t>𝑄</m:t>
                        </m:r>
                      </m:e>
                      <m:sup>
                        <m:r>
                          <a:rPr lang="en-US" altLang="zh-CN" sz="1800" b="0" i="1">
                            <a:solidFill>
                              <a:schemeClr val="tx1"/>
                            </a:solidFill>
                            <a:latin typeface="Cambria Math" panose="02040503050406030204" pitchFamily="18" charset="0"/>
                          </a:rPr>
                          <m:t>2</m:t>
                        </m:r>
                      </m:sup>
                    </m:sSup>
                    <m:r>
                      <a:rPr lang="en-US" altLang="zh-CN" sz="1800" b="0" i="1">
                        <a:solidFill>
                          <a:schemeClr val="tx1"/>
                        </a:solidFill>
                        <a:latin typeface="Cambria Math" panose="02040503050406030204" pitchFamily="18" charset="0"/>
                      </a:rPr>
                      <m:t>−400</m:t>
                    </m:r>
                    <m:r>
                      <a:rPr lang="en-US" altLang="zh-CN" sz="1800" b="0" i="1">
                        <a:solidFill>
                          <a:schemeClr val="tx1"/>
                        </a:solidFill>
                        <a:latin typeface="Cambria Math" panose="02040503050406030204" pitchFamily="18" charset="0"/>
                      </a:rPr>
                      <m:t>𝑄</m:t>
                    </m:r>
                  </m:oMath>
                </a14:m>
                <a:r>
                  <a:rPr lang="en-US" altLang="zh-CN" sz="1800" b="0" dirty="0">
                    <a:solidFill>
                      <a:schemeClr val="tx1"/>
                    </a:solidFill>
                  </a:rPr>
                  <a:t>=</a:t>
                </a:r>
                <a14:m>
                  <m:oMath xmlns:m="http://schemas.openxmlformats.org/officeDocument/2006/math">
                    <m:f>
                      <m:fPr>
                        <m:ctrlPr>
                          <a:rPr lang="zh-CN" altLang="zh-CN" sz="1800" b="0" i="1">
                            <a:solidFill>
                              <a:schemeClr val="tx1"/>
                            </a:solidFill>
                            <a:latin typeface="Cambria Math" panose="02040503050406030204" pitchFamily="18" charset="0"/>
                          </a:rPr>
                        </m:ctrlPr>
                      </m:fPr>
                      <m:num>
                        <m:r>
                          <a:rPr lang="en-US" altLang="zh-CN" sz="1800" b="0" i="1">
                            <a:solidFill>
                              <a:schemeClr val="tx1"/>
                            </a:solidFill>
                            <a:latin typeface="Cambria Math" panose="02040503050406030204" pitchFamily="18" charset="0"/>
                          </a:rPr>
                          <m:t>800,000</m:t>
                        </m:r>
                      </m:num>
                      <m:den>
                        <m:r>
                          <a:rPr lang="en-US" altLang="zh-CN" sz="1800" b="0" i="1">
                            <a:solidFill>
                              <a:schemeClr val="tx1"/>
                            </a:solidFill>
                            <a:latin typeface="Cambria Math" panose="02040503050406030204" pitchFamily="18" charset="0"/>
                          </a:rPr>
                          <m:t>9</m:t>
                        </m:r>
                      </m:den>
                    </m:f>
                  </m:oMath>
                </a14:m>
                <a:endParaRPr lang="en-US" altLang="zh-CN" sz="1800" b="0" dirty="0">
                  <a:solidFill>
                    <a:schemeClr val="tx1"/>
                  </a:solidFill>
                  <a:sym typeface="Wingdings" panose="05000000000000000000" pitchFamily="2" charset="2"/>
                </a:endParaRPr>
              </a:p>
            </p:txBody>
          </p:sp>
        </mc:Choice>
        <mc:Fallback xmlns="">
          <p:sp>
            <p:nvSpPr>
              <p:cNvPr id="11" name="Rectangle 3"/>
              <p:cNvSpPr txBox="1">
                <a:spLocks noRot="1" noChangeAspect="1" noMove="1" noResize="1" noEditPoints="1" noAdjustHandles="1" noChangeArrowheads="1" noChangeShapeType="1" noTextEdit="1"/>
              </p:cNvSpPr>
              <p:nvPr/>
            </p:nvSpPr>
            <p:spPr bwMode="auto">
              <a:xfrm>
                <a:off x="2591780" y="5229200"/>
                <a:ext cx="7941567" cy="648072"/>
              </a:xfrm>
              <a:prstGeom prst="rect">
                <a:avLst/>
              </a:prstGeom>
              <a:blipFill>
                <a:blip r:embed="rId4"/>
                <a:stretch>
                  <a:fillRect l="-614" t="-66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三、公共资源的过度使用及其政策</a:t>
            </a:r>
          </a:p>
        </p:txBody>
      </p:sp>
      <p:sp>
        <p:nvSpPr>
          <p:cNvPr id="16" name="标题 1">
            <a:extLst>
              <a:ext uri="{FF2B5EF4-FFF2-40B4-BE49-F238E27FC236}">
                <a16:creationId xmlns:a16="http://schemas.microsoft.com/office/drawing/2014/main" id="{F21DC165-1FFA-45C9-BD78-5AD0238F9F6E}"/>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17" name="Rectangle 3">
            <a:extLst>
              <a:ext uri="{FF2B5EF4-FFF2-40B4-BE49-F238E27FC236}">
                <a16:creationId xmlns:a16="http://schemas.microsoft.com/office/drawing/2014/main" id="{51426A3E-F338-4E1D-A41D-F8803809207D}"/>
              </a:ext>
            </a:extLst>
          </p:cNvPr>
          <p:cNvSpPr txBox="1">
            <a:spLocks noChangeArrowheads="1"/>
          </p:cNvSpPr>
          <p:nvPr/>
        </p:nvSpPr>
        <p:spPr bwMode="auto">
          <a:xfrm>
            <a:off x="755576" y="1226369"/>
            <a:ext cx="8589639"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ts val="2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公地悲剧：</a:t>
            </a:r>
            <a:endParaRPr lang="en-US" altLang="zh-CN" sz="2000" dirty="0">
              <a:sym typeface="Wingdings" panose="05000000000000000000" pitchFamily="2" charset="2"/>
            </a:endParaRPr>
          </a:p>
        </p:txBody>
      </p:sp>
    </p:spTree>
    <p:extLst>
      <p:ext uri="{BB962C8B-B14F-4D97-AF65-F5344CB8AC3E}">
        <p14:creationId xmlns:p14="http://schemas.microsoft.com/office/powerpoint/2010/main" val="34501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0" grpId="0" animBg="1"/>
      <p:bldP spid="4" grpId="0"/>
      <p:bldP spid="9" grpId="0"/>
      <p:bldP spid="1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右箭头 1"/>
          <p:cNvSpPr/>
          <p:nvPr/>
        </p:nvSpPr>
        <p:spPr bwMode="auto">
          <a:xfrm>
            <a:off x="3774451" y="3768951"/>
            <a:ext cx="1080119" cy="216024"/>
          </a:xfrm>
          <a:prstGeom prst="rightArrow">
            <a:avLst/>
          </a:prstGeom>
          <a:solidFill>
            <a:srgbClr val="F3C97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流程图: 可选过程 2"/>
          <p:cNvSpPr/>
          <p:nvPr/>
        </p:nvSpPr>
        <p:spPr bwMode="auto">
          <a:xfrm>
            <a:off x="1075037" y="3096361"/>
            <a:ext cx="2664296" cy="1584176"/>
          </a:xfrm>
          <a:prstGeom prst="flowChartAlternateProcess">
            <a:avLst/>
          </a:prstGeom>
          <a:solidFill>
            <a:srgbClr val="F3C97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流程图: 可选过程 9"/>
          <p:cNvSpPr/>
          <p:nvPr/>
        </p:nvSpPr>
        <p:spPr bwMode="auto">
          <a:xfrm>
            <a:off x="4870376" y="3429000"/>
            <a:ext cx="3198587" cy="792088"/>
          </a:xfrm>
          <a:prstGeom prst="flowChartAlternateProcess">
            <a:avLst/>
          </a:prstGeom>
          <a:solidFill>
            <a:srgbClr val="F3C97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流程图: 可选过程 12"/>
          <p:cNvSpPr/>
          <p:nvPr/>
        </p:nvSpPr>
        <p:spPr bwMode="auto">
          <a:xfrm>
            <a:off x="5707139" y="4583049"/>
            <a:ext cx="1512169" cy="473433"/>
          </a:xfrm>
          <a:prstGeom prst="flowChartAlternateProcess">
            <a:avLst/>
          </a:prstGeom>
          <a:solidFill>
            <a:srgbClr val="F3C97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下箭头 13"/>
          <p:cNvSpPr/>
          <p:nvPr/>
        </p:nvSpPr>
        <p:spPr bwMode="auto">
          <a:xfrm>
            <a:off x="6333683" y="4270623"/>
            <a:ext cx="172191" cy="309251"/>
          </a:xfrm>
          <a:prstGeom prst="downArrow">
            <a:avLst/>
          </a:prstGeom>
          <a:solidFill>
            <a:srgbClr val="F3C97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Rectangle 3"/>
          <p:cNvSpPr txBox="1">
            <a:spLocks noChangeArrowheads="1"/>
          </p:cNvSpPr>
          <p:nvPr/>
        </p:nvSpPr>
        <p:spPr bwMode="auto">
          <a:xfrm>
            <a:off x="755576" y="1091124"/>
            <a:ext cx="8589639" cy="1296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lnSpc>
                <a:spcPct val="150000"/>
              </a:lnSpc>
              <a:buFont typeface="Wingdings" panose="05000000000000000000" pitchFamily="2" charset="2"/>
              <a:buChar char="Ø"/>
            </a:pP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一个简单的数学模型</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ct val="1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如果牧户</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和牧户</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2</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合并进行决策：</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marL="457200" lvl="1" indent="0" eaLnBrk="1" hangingPunct="1">
              <a:lnSpc>
                <a:spcPct val="150000"/>
              </a:lnSpc>
              <a:buNone/>
            </a:pPr>
            <a:endParaRPr lang="en-US" altLang="zh-CN" sz="1800" dirty="0">
              <a:latin typeface="微软雅黑" panose="020B0503020204020204" pitchFamily="34" charset="-122"/>
              <a:ea typeface="微软雅黑" panose="020B0503020204020204" pitchFamily="34" charset="-122"/>
            </a:endParaRPr>
          </a:p>
          <a:p>
            <a:pPr lvl="1" eaLnBrk="1" hangingPunct="1">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sym typeface="Wingdings" panose="05000000000000000000" pitchFamily="2" charset="2"/>
            </a:endParaRP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988503" y="3453011"/>
                <a:ext cx="2952328" cy="11161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eaLnBrk="1" hangingPunct="1">
                  <a:lnSpc>
                    <a:spcPct val="80000"/>
                  </a:lnSpc>
                  <a:buNone/>
                </a:pPr>
                <a14:m>
                  <m:oMathPara xmlns:m="http://schemas.openxmlformats.org/officeDocument/2006/math">
                    <m:oMathParaPr>
                      <m:jc m:val="centerGroup"/>
                    </m:oMathParaPr>
                    <m:oMath xmlns:m="http://schemas.openxmlformats.org/officeDocument/2006/math">
                      <m:r>
                        <m:rPr>
                          <m:sty m:val="p"/>
                        </m:rPr>
                        <a:rPr lang="en-US" altLang="zh-CN" sz="1800" b="0" smtClean="0">
                          <a:solidFill>
                            <a:schemeClr val="tx1"/>
                          </a:solidFill>
                          <a:latin typeface="Cambria Math" panose="02040503050406030204" pitchFamily="18" charset="0"/>
                        </a:rPr>
                        <m:t>R</m:t>
                      </m:r>
                      <m:r>
                        <a:rPr lang="en-US" altLang="zh-CN" sz="1800" b="0" smtClean="0">
                          <a:solidFill>
                            <a:schemeClr val="tx1"/>
                          </a:solidFill>
                          <a:latin typeface="Cambria Math" panose="02040503050406030204" pitchFamily="18" charset="0"/>
                        </a:rPr>
                        <m:t>=4400</m:t>
                      </m:r>
                      <m:r>
                        <m:rPr>
                          <m:sty m:val="p"/>
                        </m:rPr>
                        <a:rPr lang="en-US" altLang="zh-CN" sz="1800" b="0" smtClean="0">
                          <a:solidFill>
                            <a:schemeClr val="tx1"/>
                          </a:solidFill>
                          <a:latin typeface="Cambria Math" panose="02040503050406030204" pitchFamily="18" charset="0"/>
                        </a:rPr>
                        <m:t>Q</m:t>
                      </m:r>
                      <m:r>
                        <a:rPr lang="en-US" altLang="zh-CN" sz="1800" b="0" i="1">
                          <a:solidFill>
                            <a:schemeClr val="tx1"/>
                          </a:solidFill>
                          <a:latin typeface="Cambria Math" panose="02040503050406030204" pitchFamily="18" charset="0"/>
                        </a:rPr>
                        <m:t>−</m:t>
                      </m:r>
                      <m:r>
                        <a:rPr lang="en-US" altLang="zh-CN" sz="1800" b="0">
                          <a:solidFill>
                            <a:schemeClr val="tx1"/>
                          </a:solidFill>
                          <a:latin typeface="Cambria Math" panose="02040503050406030204" pitchFamily="18" charset="0"/>
                        </a:rPr>
                        <m:t>40</m:t>
                      </m:r>
                      <m:sSup>
                        <m:sSupPr>
                          <m:ctrlPr>
                            <a:rPr lang="zh-CN" altLang="zh-CN" sz="1800" b="0" i="1">
                              <a:solidFill>
                                <a:schemeClr val="tx1"/>
                              </a:solidFill>
                              <a:latin typeface="Cambria Math" panose="02040503050406030204" pitchFamily="18" charset="0"/>
                            </a:rPr>
                          </m:ctrlPr>
                        </m:sSupPr>
                        <m:e>
                          <m:r>
                            <a:rPr lang="en-US" altLang="zh-CN" sz="1800" b="0" i="1">
                              <a:solidFill>
                                <a:schemeClr val="tx1"/>
                              </a:solidFill>
                              <a:latin typeface="Cambria Math" panose="02040503050406030204" pitchFamily="18" charset="0"/>
                            </a:rPr>
                            <m:t>𝑄</m:t>
                          </m:r>
                        </m:e>
                        <m:sup>
                          <m:r>
                            <a:rPr lang="en-US" altLang="zh-CN" sz="1800" b="0" i="1">
                              <a:solidFill>
                                <a:schemeClr val="tx1"/>
                              </a:solidFill>
                              <a:latin typeface="Cambria Math" panose="02040503050406030204" pitchFamily="18" charset="0"/>
                            </a:rPr>
                            <m:t>2</m:t>
                          </m:r>
                        </m:sup>
                      </m:sSup>
                    </m:oMath>
                  </m:oMathPara>
                </a14:m>
                <a:endParaRPr lang="en-US" altLang="zh-CN" sz="1800" b="0" dirty="0">
                  <a:solidFill>
                    <a:schemeClr val="tx1"/>
                  </a:solidFill>
                </a:endParaRPr>
              </a:p>
              <a:p>
                <a:pPr marL="57150" indent="0" eaLnBrk="1" hangingPunct="1">
                  <a:lnSpc>
                    <a:spcPct val="80000"/>
                  </a:lnSpc>
                  <a:buNone/>
                </a:pPr>
                <a:endParaRPr lang="en-US" altLang="zh-CN" sz="1800" b="0" dirty="0">
                  <a:solidFill>
                    <a:schemeClr val="tx1"/>
                  </a:solidFill>
                </a:endParaRPr>
              </a:p>
              <a:p>
                <a:pPr marL="57150" indent="0" eaLnBrk="1" hangingPunct="1">
                  <a:lnSpc>
                    <a:spcPct val="80000"/>
                  </a:lnSpc>
                  <a:buNone/>
                </a:pPr>
                <a14:m>
                  <m:oMathPara xmlns:m="http://schemas.openxmlformats.org/officeDocument/2006/math">
                    <m:oMathParaPr>
                      <m:jc m:val="centerGroup"/>
                    </m:oMathParaPr>
                    <m:oMath xmlns:m="http://schemas.openxmlformats.org/officeDocument/2006/math">
                      <m:r>
                        <m:rPr>
                          <m:sty m:val="p"/>
                        </m:rPr>
                        <a:rPr lang="en-US" altLang="zh-CN" sz="1800" b="0" i="0" smtClean="0">
                          <a:solidFill>
                            <a:schemeClr val="tx1"/>
                          </a:solidFill>
                          <a:latin typeface="Cambria Math" panose="02040503050406030204" pitchFamily="18" charset="0"/>
                        </a:rPr>
                        <m:t>M</m:t>
                      </m:r>
                      <m:r>
                        <m:rPr>
                          <m:sty m:val="p"/>
                        </m:rPr>
                        <a:rPr lang="en-US" altLang="zh-CN" sz="1800" b="0" smtClean="0">
                          <a:solidFill>
                            <a:schemeClr val="tx1"/>
                          </a:solidFill>
                          <a:latin typeface="Cambria Math" panose="02040503050406030204" pitchFamily="18" charset="0"/>
                        </a:rPr>
                        <m:t>R</m:t>
                      </m:r>
                      <m:r>
                        <a:rPr lang="en-US" altLang="zh-CN" sz="1800" b="0" smtClean="0">
                          <a:solidFill>
                            <a:schemeClr val="tx1"/>
                          </a:solidFill>
                          <a:latin typeface="Cambria Math" panose="02040503050406030204" pitchFamily="18" charset="0"/>
                        </a:rPr>
                        <m:t>=4400</m:t>
                      </m:r>
                      <m:r>
                        <a:rPr lang="en-US" altLang="zh-CN" sz="1800" b="0" i="1">
                          <a:solidFill>
                            <a:schemeClr val="tx1"/>
                          </a:solidFill>
                          <a:latin typeface="Cambria Math" panose="02040503050406030204" pitchFamily="18" charset="0"/>
                        </a:rPr>
                        <m:t>−</m:t>
                      </m:r>
                      <m:r>
                        <a:rPr lang="en-US" altLang="zh-CN" sz="1800" b="0" i="0" smtClean="0">
                          <a:solidFill>
                            <a:schemeClr val="tx1"/>
                          </a:solidFill>
                          <a:latin typeface="Cambria Math" panose="02040503050406030204" pitchFamily="18" charset="0"/>
                        </a:rPr>
                        <m:t>8</m:t>
                      </m:r>
                      <m:r>
                        <a:rPr lang="en-US" altLang="zh-CN" sz="1800" b="0">
                          <a:solidFill>
                            <a:schemeClr val="tx1"/>
                          </a:solidFill>
                          <a:latin typeface="Cambria Math" panose="02040503050406030204" pitchFamily="18" charset="0"/>
                        </a:rPr>
                        <m:t>0</m:t>
                      </m:r>
                      <m:r>
                        <a:rPr lang="en-US" altLang="zh-CN" sz="1800" b="0" i="1" smtClean="0">
                          <a:solidFill>
                            <a:schemeClr val="tx1"/>
                          </a:solidFill>
                          <a:latin typeface="Cambria Math" panose="02040503050406030204" pitchFamily="18" charset="0"/>
                        </a:rPr>
                        <m:t>𝑄</m:t>
                      </m:r>
                    </m:oMath>
                  </m:oMathPara>
                </a14:m>
                <a:endParaRPr lang="en-US" altLang="zh-CN" sz="1800" b="0" dirty="0">
                  <a:solidFill>
                    <a:schemeClr val="tx1"/>
                  </a:solidFill>
                  <a:sym typeface="Wingdings" panose="05000000000000000000" pitchFamily="2" charset="2"/>
                </a:endParaRP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988503" y="3453011"/>
                <a:ext cx="2952328" cy="1116124"/>
              </a:xfrm>
              <a:prstGeom prst="rect">
                <a:avLst/>
              </a:prstGeom>
              <a:blipFill>
                <a:blip r:embed="rId2"/>
                <a:stretch>
                  <a:fillRect t="-10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3"/>
              <p:cNvSpPr txBox="1">
                <a:spLocks noChangeArrowheads="1"/>
              </p:cNvSpPr>
              <p:nvPr/>
            </p:nvSpPr>
            <p:spPr bwMode="auto">
              <a:xfrm>
                <a:off x="4407297" y="4697696"/>
                <a:ext cx="4197151" cy="5153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eaLnBrk="1" hangingPunct="1">
                  <a:lnSpc>
                    <a:spcPct val="80000"/>
                  </a:lnSpc>
                  <a:buNone/>
                </a:pPr>
                <a14:m>
                  <m:oMathPara xmlns:m="http://schemas.openxmlformats.org/officeDocument/2006/math">
                    <m:oMathParaPr>
                      <m:jc m:val="centerGroup"/>
                    </m:oMathParaPr>
                    <m:oMath xmlns:m="http://schemas.openxmlformats.org/officeDocument/2006/math">
                      <m:r>
                        <a:rPr lang="en-US" altLang="zh-CN" sz="2400" b="0" i="1" smtClean="0">
                          <a:solidFill>
                            <a:schemeClr val="tx1"/>
                          </a:solidFill>
                          <a:latin typeface="Cambria Math" panose="02040503050406030204" pitchFamily="18" charset="0"/>
                        </a:rPr>
                        <m:t>𝑄</m:t>
                      </m:r>
                      <m:r>
                        <a:rPr lang="en-US" altLang="zh-CN" sz="2400" b="0" i="1" smtClean="0">
                          <a:solidFill>
                            <a:schemeClr val="tx1"/>
                          </a:solidFill>
                          <a:latin typeface="Cambria Math" panose="02040503050406030204" pitchFamily="18" charset="0"/>
                        </a:rPr>
                        <m:t>=50</m:t>
                      </m:r>
                    </m:oMath>
                  </m:oMathPara>
                </a14:m>
                <a:endParaRPr lang="en-US" altLang="zh-CN" sz="2400" b="0" dirty="0">
                  <a:solidFill>
                    <a:schemeClr val="tx1"/>
                  </a:solidFill>
                </a:endParaRPr>
              </a:p>
            </p:txBody>
          </p:sp>
        </mc:Choice>
        <mc:Fallback xmlns="">
          <p:sp>
            <p:nvSpPr>
              <p:cNvPr id="9" name="Rectangle 3"/>
              <p:cNvSpPr txBox="1">
                <a:spLocks noRot="1" noChangeAspect="1" noMove="1" noResize="1" noEditPoints="1" noAdjustHandles="1" noChangeArrowheads="1" noChangeShapeType="1" noTextEdit="1"/>
              </p:cNvSpPr>
              <p:nvPr/>
            </p:nvSpPr>
            <p:spPr bwMode="auto">
              <a:xfrm>
                <a:off x="4407297" y="4697696"/>
                <a:ext cx="4197151" cy="515361"/>
              </a:xfrm>
              <a:prstGeom prst="rect">
                <a:avLst/>
              </a:prstGeom>
              <a:blipFill>
                <a:blip r:embed="rId3"/>
                <a:stretch>
                  <a:fillRect t="-11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3"/>
              <p:cNvSpPr txBox="1">
                <a:spLocks noChangeArrowheads="1"/>
              </p:cNvSpPr>
              <p:nvPr/>
            </p:nvSpPr>
            <p:spPr bwMode="auto">
              <a:xfrm>
                <a:off x="1891898" y="5457902"/>
                <a:ext cx="7941567" cy="6480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0000"/>
                  </a:lnSpc>
                  <a:buNone/>
                </a:pPr>
                <a:r>
                  <a:rPr lang="zh-CN" altLang="en-US" sz="1800" b="0" dirty="0">
                    <a:solidFill>
                      <a:schemeClr val="tx1"/>
                    </a:solidFill>
                    <a:latin typeface="微软雅黑" panose="020B0503020204020204" pitchFamily="34" charset="-122"/>
                    <a:ea typeface="微软雅黑" panose="020B0503020204020204" pitchFamily="34" charset="-122"/>
                  </a:rPr>
                  <a:t>总利润为：</a:t>
                </a:r>
                <a14:m>
                  <m:oMath xmlns:m="http://schemas.openxmlformats.org/officeDocument/2006/math">
                    <m:r>
                      <a:rPr lang="en-US" altLang="zh-CN" sz="1800" b="0" i="1">
                        <a:solidFill>
                          <a:schemeClr val="tx1"/>
                        </a:solidFill>
                        <a:latin typeface="Cambria Math" panose="02040503050406030204" pitchFamily="18" charset="0"/>
                      </a:rPr>
                      <m:t>4400</m:t>
                    </m:r>
                    <m:r>
                      <a:rPr lang="en-US" altLang="zh-CN" sz="1800" b="0" i="1">
                        <a:solidFill>
                          <a:schemeClr val="tx1"/>
                        </a:solidFill>
                        <a:latin typeface="Cambria Math" panose="02040503050406030204" pitchFamily="18" charset="0"/>
                      </a:rPr>
                      <m:t>𝑄</m:t>
                    </m:r>
                    <m:r>
                      <a:rPr lang="en-US" altLang="zh-CN" sz="1800" b="0" i="1">
                        <a:solidFill>
                          <a:schemeClr val="tx1"/>
                        </a:solidFill>
                        <a:latin typeface="Cambria Math" panose="02040503050406030204" pitchFamily="18" charset="0"/>
                      </a:rPr>
                      <m:t>−40</m:t>
                    </m:r>
                    <m:sSup>
                      <m:sSupPr>
                        <m:ctrlPr>
                          <a:rPr lang="zh-CN" altLang="zh-CN" sz="1800" b="0" i="1">
                            <a:solidFill>
                              <a:schemeClr val="tx1"/>
                            </a:solidFill>
                            <a:latin typeface="Cambria Math" panose="02040503050406030204" pitchFamily="18" charset="0"/>
                          </a:rPr>
                        </m:ctrlPr>
                      </m:sSupPr>
                      <m:e>
                        <m:r>
                          <a:rPr lang="en-US" altLang="zh-CN" sz="1800" b="0" i="1">
                            <a:solidFill>
                              <a:schemeClr val="tx1"/>
                            </a:solidFill>
                            <a:latin typeface="Cambria Math" panose="02040503050406030204" pitchFamily="18" charset="0"/>
                          </a:rPr>
                          <m:t>𝑄</m:t>
                        </m:r>
                      </m:e>
                      <m:sup>
                        <m:r>
                          <a:rPr lang="en-US" altLang="zh-CN" sz="1800" b="0" i="1">
                            <a:solidFill>
                              <a:schemeClr val="tx1"/>
                            </a:solidFill>
                            <a:latin typeface="Cambria Math" panose="02040503050406030204" pitchFamily="18" charset="0"/>
                          </a:rPr>
                          <m:t>2</m:t>
                        </m:r>
                      </m:sup>
                    </m:sSup>
                    <m:r>
                      <a:rPr lang="en-US" altLang="zh-CN" sz="1800" b="0" i="1">
                        <a:solidFill>
                          <a:schemeClr val="tx1"/>
                        </a:solidFill>
                        <a:latin typeface="Cambria Math" panose="02040503050406030204" pitchFamily="18" charset="0"/>
                      </a:rPr>
                      <m:t>−400</m:t>
                    </m:r>
                    <m:r>
                      <a:rPr lang="en-US" altLang="zh-CN" sz="1800" b="0" i="1">
                        <a:solidFill>
                          <a:schemeClr val="tx1"/>
                        </a:solidFill>
                        <a:latin typeface="Cambria Math" panose="02040503050406030204" pitchFamily="18" charset="0"/>
                      </a:rPr>
                      <m:t>𝑄</m:t>
                    </m:r>
                  </m:oMath>
                </a14:m>
                <a:r>
                  <a:rPr lang="en-US" altLang="zh-CN" sz="1800" b="0" dirty="0">
                    <a:solidFill>
                      <a:schemeClr val="tx1"/>
                    </a:solidFill>
                  </a:rPr>
                  <a:t>=</a:t>
                </a:r>
                <a14:m>
                  <m:oMath xmlns:m="http://schemas.openxmlformats.org/officeDocument/2006/math">
                    <m:r>
                      <a:rPr lang="en-US" altLang="zh-CN" sz="1800" b="0" i="1">
                        <a:solidFill>
                          <a:schemeClr val="tx1"/>
                        </a:solidFill>
                        <a:latin typeface="Cambria Math" panose="02040503050406030204" pitchFamily="18" charset="0"/>
                      </a:rPr>
                      <m:t>100,000</m:t>
                    </m:r>
                  </m:oMath>
                </a14:m>
                <a:endParaRPr lang="en-US" altLang="zh-CN" sz="1800" b="0" dirty="0">
                  <a:solidFill>
                    <a:schemeClr val="tx1"/>
                  </a:solidFill>
                  <a:sym typeface="Wingdings" panose="05000000000000000000" pitchFamily="2" charset="2"/>
                </a:endParaRPr>
              </a:p>
            </p:txBody>
          </p:sp>
        </mc:Choice>
        <mc:Fallback xmlns="">
          <p:sp>
            <p:nvSpPr>
              <p:cNvPr id="11" name="Rectangle 3"/>
              <p:cNvSpPr txBox="1">
                <a:spLocks noRot="1" noChangeAspect="1" noMove="1" noResize="1" noEditPoints="1" noAdjustHandles="1" noChangeArrowheads="1" noChangeShapeType="1" noTextEdit="1"/>
              </p:cNvSpPr>
              <p:nvPr/>
            </p:nvSpPr>
            <p:spPr bwMode="auto">
              <a:xfrm>
                <a:off x="1891898" y="5457902"/>
                <a:ext cx="7941567" cy="648072"/>
              </a:xfrm>
              <a:prstGeom prst="rect">
                <a:avLst/>
              </a:prstGeom>
              <a:blipFill>
                <a:blip r:embed="rId4"/>
                <a:stretch>
                  <a:fillRect l="-614" t="-130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490601" y="3610103"/>
                <a:ext cx="2015295" cy="369332"/>
              </a:xfrm>
              <a:prstGeom prst="rect">
                <a:avLst/>
              </a:prstGeom>
            </p:spPr>
            <p:txBody>
              <a:bodyPr wrap="none">
                <a:spAutoFit/>
              </a:bodyPr>
              <a:lstStyle/>
              <a:p>
                <a14:m>
                  <m:oMath xmlns:m="http://schemas.openxmlformats.org/officeDocument/2006/math">
                    <m:r>
                      <a:rPr lang="en-US" altLang="zh-CN" sz="1800" smtClean="0">
                        <a:latin typeface="Cambria Math" panose="02040503050406030204" pitchFamily="18" charset="0"/>
                      </a:rPr>
                      <m:t>4400</m:t>
                    </m:r>
                    <m:r>
                      <a:rPr lang="en-US" altLang="zh-CN" sz="1800" i="1">
                        <a:latin typeface="Cambria Math" panose="02040503050406030204" pitchFamily="18" charset="0"/>
                      </a:rPr>
                      <m:t>−</m:t>
                    </m:r>
                    <m:r>
                      <a:rPr lang="en-US" altLang="zh-CN" sz="1800" b="0" i="0" smtClean="0">
                        <a:latin typeface="Cambria Math" panose="02040503050406030204" pitchFamily="18" charset="0"/>
                      </a:rPr>
                      <m:t>80</m:t>
                    </m:r>
                    <m:r>
                      <m:rPr>
                        <m:sty m:val="p"/>
                      </m:rPr>
                      <a:rPr lang="en-US" altLang="zh-CN" sz="1800" b="0" i="0" smtClean="0">
                        <a:latin typeface="Cambria Math" panose="02040503050406030204" pitchFamily="18" charset="0"/>
                      </a:rPr>
                      <m:t>Q</m:t>
                    </m:r>
                    <m:r>
                      <a:rPr lang="en-US" altLang="zh-CN" sz="1800" b="0" i="0" smtClean="0">
                        <a:latin typeface="Cambria Math" panose="02040503050406030204" pitchFamily="18" charset="0"/>
                      </a:rPr>
                      <m:t> </m:t>
                    </m:r>
                  </m:oMath>
                </a14:m>
                <a:r>
                  <a:rPr lang="en-US" altLang="zh-CN" sz="1800" dirty="0"/>
                  <a:t>= 400</a:t>
                </a:r>
                <a:endParaRPr lang="zh-CN" altLang="en-US" sz="1800" dirty="0"/>
              </a:p>
            </p:txBody>
          </p:sp>
        </mc:Choice>
        <mc:Fallback xmlns="">
          <p:sp>
            <p:nvSpPr>
              <p:cNvPr id="5" name="矩形 4"/>
              <p:cNvSpPr>
                <a:spLocks noRot="1" noChangeAspect="1" noMove="1" noResize="1" noEditPoints="1" noAdjustHandles="1" noChangeArrowheads="1" noChangeShapeType="1" noTextEdit="1"/>
              </p:cNvSpPr>
              <p:nvPr/>
            </p:nvSpPr>
            <p:spPr>
              <a:xfrm>
                <a:off x="5490601" y="3610103"/>
                <a:ext cx="2015295" cy="369332"/>
              </a:xfrm>
              <a:prstGeom prst="rect">
                <a:avLst/>
              </a:prstGeom>
              <a:blipFill>
                <a:blip r:embed="rId5"/>
                <a:stretch>
                  <a:fillRect t="-8197" r="-1818" b="-24590"/>
                </a:stretch>
              </a:blipFill>
            </p:spPr>
            <p:txBody>
              <a:bodyPr/>
              <a:lstStyle/>
              <a:p>
                <a:r>
                  <a:rPr lang="zh-CN" altLang="en-US">
                    <a:noFill/>
                  </a:rPr>
                  <a:t> </a:t>
                </a:r>
              </a:p>
            </p:txBody>
          </p:sp>
        </mc:Fallback>
      </mc:AlternateContent>
      <p:sp>
        <p:nvSpPr>
          <p:cNvPr id="6" name="矩形 5"/>
          <p:cNvSpPr/>
          <p:nvPr/>
        </p:nvSpPr>
        <p:spPr>
          <a:xfrm>
            <a:off x="3724811" y="3415298"/>
            <a:ext cx="1037463" cy="369332"/>
          </a:xfrm>
          <a:prstGeom prst="rect">
            <a:avLst/>
          </a:prstGeom>
        </p:spPr>
        <p:txBody>
          <a:bodyPr wrap="none">
            <a:spAutoFit/>
          </a:bodyPr>
          <a:lstStyle/>
          <a:p>
            <a:r>
              <a:rPr lang="en-US" altLang="zh-CN" sz="1800" dirty="0"/>
              <a:t>MR=MC</a:t>
            </a:r>
            <a:endParaRPr lang="zh-CN" altLang="en-US" sz="1800" dirty="0"/>
          </a:p>
        </p:txBody>
      </p:sp>
      <p:sp>
        <p:nvSpPr>
          <p:cNvPr id="16" name="矩形 15">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三、公共资源的过度使用及其政策</a:t>
            </a:r>
          </a:p>
        </p:txBody>
      </p:sp>
      <p:sp>
        <p:nvSpPr>
          <p:cNvPr id="18" name="标题 1">
            <a:extLst>
              <a:ext uri="{FF2B5EF4-FFF2-40B4-BE49-F238E27FC236}">
                <a16:creationId xmlns:a16="http://schemas.microsoft.com/office/drawing/2014/main" id="{5E014868-8FA1-45CB-A4BD-ABA2A6BF3CDD}"/>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19" name="Rectangle 3">
            <a:extLst>
              <a:ext uri="{FF2B5EF4-FFF2-40B4-BE49-F238E27FC236}">
                <a16:creationId xmlns:a16="http://schemas.microsoft.com/office/drawing/2014/main" id="{B09A8251-F3B4-4175-875C-CBAABE309F23}"/>
              </a:ext>
            </a:extLst>
          </p:cNvPr>
          <p:cNvSpPr txBox="1">
            <a:spLocks noChangeArrowheads="1"/>
          </p:cNvSpPr>
          <p:nvPr/>
        </p:nvSpPr>
        <p:spPr bwMode="auto">
          <a:xfrm>
            <a:off x="755576" y="1226369"/>
            <a:ext cx="8589639"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ts val="2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公地悲剧：</a:t>
            </a:r>
            <a:endParaRPr lang="en-US" altLang="zh-CN" sz="2000" dirty="0">
              <a:sym typeface="Wingdings" panose="05000000000000000000" pitchFamily="2" charset="2"/>
            </a:endParaRPr>
          </a:p>
        </p:txBody>
      </p:sp>
    </p:spTree>
    <p:extLst>
      <p:ext uri="{BB962C8B-B14F-4D97-AF65-F5344CB8AC3E}">
        <p14:creationId xmlns:p14="http://schemas.microsoft.com/office/powerpoint/2010/main" val="308390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0" grpId="0" animBg="1"/>
      <p:bldP spid="13" grpId="0" animBg="1"/>
      <p:bldP spid="14" grpId="0" animBg="1"/>
      <p:bldP spid="4" grpId="0"/>
      <p:bldP spid="9" grpId="0"/>
      <p:bldP spid="11" grpId="0"/>
      <p:bldP spid="5" grpId="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Rectangle 3"/>
              <p:cNvSpPr txBox="1">
                <a:spLocks noChangeArrowheads="1"/>
              </p:cNvSpPr>
              <p:nvPr/>
            </p:nvSpPr>
            <p:spPr bwMode="auto">
              <a:xfrm>
                <a:off x="755576" y="1064097"/>
                <a:ext cx="8589639" cy="19442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lnSpc>
                    <a:spcPct val="150000"/>
                  </a:lnSpc>
                  <a:buFont typeface="Wingdings" panose="05000000000000000000" pitchFamily="2" charset="2"/>
                  <a:buChar char="Ø"/>
                </a:pP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一个简单的数学模型</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ct val="1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公地悲剧：分权决策</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sSub>
                      <m:sSubPr>
                        <m:ctrlPr>
                          <a:rPr lang="zh-CN" altLang="zh-CN" sz="1800" b="0" i="1" smtClean="0">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1</m:t>
                        </m:r>
                      </m:sub>
                    </m:sSub>
                    <m:r>
                      <a:rPr lang="en-US" altLang="zh-CN" sz="1800" b="0" i="1">
                        <a:solidFill>
                          <a:schemeClr val="tx1"/>
                        </a:solidFill>
                        <a:latin typeface="Cambria Math" panose="02040503050406030204" pitchFamily="18" charset="0"/>
                      </a:rPr>
                      <m:t>+</m:t>
                    </m:r>
                    <m:sSub>
                      <m:sSubPr>
                        <m:ctrlPr>
                          <a:rPr lang="zh-CN" altLang="zh-CN" sz="1800" b="0" i="1">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2</m:t>
                        </m:r>
                      </m:sub>
                    </m:sSub>
                  </m:oMath>
                </a14:m>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与合并决策</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(Q)</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的对比</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lvl="1" eaLnBrk="1" hangingPunct="1">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457200" lvl="1" indent="0" eaLnBrk="1" hangingPunct="1">
                  <a:lnSpc>
                    <a:spcPct val="150000"/>
                  </a:lnSpc>
                  <a:buNone/>
                </a:pPr>
                <a:endParaRPr lang="en-US" altLang="zh-CN" sz="2400" dirty="0">
                  <a:latin typeface="微软雅黑" panose="020B0503020204020204" pitchFamily="34" charset="-122"/>
                  <a:ea typeface="微软雅黑" panose="020B0503020204020204" pitchFamily="34" charset="-122"/>
                  <a:sym typeface="Wingdings" panose="05000000000000000000" pitchFamily="2" charset="2"/>
                </a:endParaRPr>
              </a:p>
            </p:txBody>
          </p:sp>
        </mc:Choice>
        <mc:Fallback xmlns="">
          <p:sp>
            <p:nvSpPr>
              <p:cNvPr id="7" name="Rectangle 3"/>
              <p:cNvSpPr txBox="1">
                <a:spLocks noRot="1" noChangeAspect="1" noMove="1" noResize="1" noEditPoints="1" noAdjustHandles="1" noChangeArrowheads="1" noChangeShapeType="1" noTextEdit="1"/>
              </p:cNvSpPr>
              <p:nvPr/>
            </p:nvSpPr>
            <p:spPr bwMode="auto">
              <a:xfrm>
                <a:off x="755576" y="1064097"/>
                <a:ext cx="8589639" cy="1944216"/>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3"/>
              <p:cNvSpPr txBox="1">
                <a:spLocks noChangeArrowheads="1"/>
              </p:cNvSpPr>
              <p:nvPr/>
            </p:nvSpPr>
            <p:spPr bwMode="auto">
              <a:xfrm>
                <a:off x="2483768" y="2780928"/>
                <a:ext cx="4197151" cy="1491916"/>
              </a:xfrm>
              <a:prstGeom prst="rect">
                <a:avLst/>
              </a:prstGeom>
              <a:solidFill>
                <a:srgbClr val="F3C97E"/>
              </a:solidFill>
              <a:ln>
                <a:noFill/>
              </a:ln>
            </p:spPr>
            <p:txBody>
              <a:bodyPr vert="horz" wrap="square" lIns="91440" tIns="45720" rIns="91440" bIns="45720" numCol="1" anchor="ctr"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algn="ctr"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zh-CN" altLang="zh-CN" sz="1800" b="0" i="1" smtClean="0">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1</m:t>
                          </m:r>
                        </m:sub>
                      </m:sSub>
                      <m:r>
                        <a:rPr lang="en-US" altLang="zh-CN" sz="1800" b="0" i="1">
                          <a:solidFill>
                            <a:schemeClr val="tx1"/>
                          </a:solidFill>
                          <a:latin typeface="Cambria Math" panose="02040503050406030204" pitchFamily="18" charset="0"/>
                        </a:rPr>
                        <m:t>=</m:t>
                      </m:r>
                      <m:sSub>
                        <m:sSubPr>
                          <m:ctrlPr>
                            <a:rPr lang="zh-CN" altLang="zh-CN" sz="1800" b="0" i="1">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2</m:t>
                          </m:r>
                        </m:sub>
                      </m:sSub>
                      <m:r>
                        <a:rPr lang="en-US" altLang="zh-CN" sz="1800" b="0" i="1">
                          <a:solidFill>
                            <a:schemeClr val="tx1"/>
                          </a:solidFill>
                          <a:latin typeface="Cambria Math" panose="02040503050406030204" pitchFamily="18" charset="0"/>
                        </a:rPr>
                        <m:t>=</m:t>
                      </m:r>
                      <m:f>
                        <m:fPr>
                          <m:ctrlPr>
                            <a:rPr lang="zh-CN" altLang="zh-CN" sz="1800" b="0" i="1">
                              <a:solidFill>
                                <a:schemeClr val="tx1"/>
                              </a:solidFill>
                              <a:latin typeface="Cambria Math" panose="02040503050406030204" pitchFamily="18" charset="0"/>
                            </a:rPr>
                          </m:ctrlPr>
                        </m:fPr>
                        <m:num>
                          <m:r>
                            <a:rPr lang="en-US" altLang="zh-CN" sz="1800" b="0" i="1">
                              <a:solidFill>
                                <a:schemeClr val="tx1"/>
                              </a:solidFill>
                              <a:latin typeface="Cambria Math" panose="02040503050406030204" pitchFamily="18" charset="0"/>
                            </a:rPr>
                            <m:t>100</m:t>
                          </m:r>
                        </m:num>
                        <m:den>
                          <m:r>
                            <a:rPr lang="en-US" altLang="zh-CN" sz="1800" b="0" i="1">
                              <a:solidFill>
                                <a:schemeClr val="tx1"/>
                              </a:solidFill>
                              <a:latin typeface="Cambria Math" panose="02040503050406030204" pitchFamily="18" charset="0"/>
                            </a:rPr>
                            <m:t>3</m:t>
                          </m:r>
                        </m:den>
                      </m:f>
                      <m:r>
                        <a:rPr lang="en-US" altLang="zh-CN" sz="1800" b="0" i="0" smtClean="0">
                          <a:solidFill>
                            <a:schemeClr val="tx1"/>
                          </a:solidFill>
                          <a:latin typeface="Cambria Math" panose="02040503050406030204" pitchFamily="18" charset="0"/>
                        </a:rPr>
                        <m:t>,    </m:t>
                      </m:r>
                      <m:r>
                        <m:rPr>
                          <m:sty m:val="p"/>
                        </m:rPr>
                        <a:rPr lang="en-US" altLang="zh-CN" sz="1800" b="0" i="0" smtClean="0">
                          <a:solidFill>
                            <a:schemeClr val="tx1"/>
                          </a:solidFill>
                          <a:latin typeface="Cambria Math" panose="02040503050406030204" pitchFamily="18" charset="0"/>
                        </a:rPr>
                        <m:t>Q</m:t>
                      </m:r>
                      <m:r>
                        <a:rPr lang="en-US" altLang="zh-CN" sz="1800" b="0" i="0" smtClean="0">
                          <a:solidFill>
                            <a:schemeClr val="tx1"/>
                          </a:solidFill>
                          <a:latin typeface="Cambria Math" panose="02040503050406030204" pitchFamily="18" charset="0"/>
                        </a:rPr>
                        <m:t>=50</m:t>
                      </m:r>
                    </m:oMath>
                  </m:oMathPara>
                </a14:m>
                <a:endParaRPr lang="en-US" altLang="zh-CN" sz="1800" b="0" dirty="0">
                  <a:solidFill>
                    <a:schemeClr val="tx1"/>
                  </a:solidFill>
                </a:endParaRPr>
              </a:p>
              <a:p>
                <a:pPr marL="57150" indent="0" algn="ctr" eaLnBrk="1" hangingPunct="1">
                  <a:lnSpc>
                    <a:spcPct val="80000"/>
                  </a:lnSpc>
                  <a:buNone/>
                </a:pPr>
                <a:endParaRPr lang="en-US" altLang="zh-CN" sz="1800" b="0" dirty="0">
                  <a:solidFill>
                    <a:schemeClr val="tx1"/>
                  </a:solidFill>
                </a:endParaRPr>
              </a:p>
              <a:p>
                <a:pPr marL="57150" indent="0" algn="ctr"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zh-CN" altLang="zh-CN" sz="1800" b="0" i="1">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1</m:t>
                          </m:r>
                        </m:sub>
                      </m:sSub>
                      <m:r>
                        <a:rPr lang="en-US" altLang="zh-CN" sz="1800" b="0" i="1">
                          <a:solidFill>
                            <a:schemeClr val="tx1"/>
                          </a:solidFill>
                          <a:latin typeface="Cambria Math" panose="02040503050406030204" pitchFamily="18" charset="0"/>
                        </a:rPr>
                        <m:t>+</m:t>
                      </m:r>
                      <m:sSub>
                        <m:sSubPr>
                          <m:ctrlPr>
                            <a:rPr lang="zh-CN" altLang="zh-CN" sz="1800" b="0" i="1">
                              <a:solidFill>
                                <a:schemeClr val="tx1"/>
                              </a:solidFill>
                              <a:latin typeface="Cambria Math" panose="02040503050406030204" pitchFamily="18" charset="0"/>
                            </a:rPr>
                          </m:ctrlPr>
                        </m:sSubPr>
                        <m:e>
                          <m:r>
                            <m:rPr>
                              <m:sty m:val="p"/>
                            </m:rPr>
                            <a:rPr lang="en-US" altLang="zh-CN" sz="1800" b="0">
                              <a:solidFill>
                                <a:schemeClr val="tx1"/>
                              </a:solidFill>
                              <a:latin typeface="Cambria Math" panose="02040503050406030204" pitchFamily="18" charset="0"/>
                            </a:rPr>
                            <m:t>Q</m:t>
                          </m:r>
                        </m:e>
                        <m:sub>
                          <m:r>
                            <a:rPr lang="en-US" altLang="zh-CN" sz="1800" b="0" i="1">
                              <a:solidFill>
                                <a:schemeClr val="tx1"/>
                              </a:solidFill>
                              <a:latin typeface="Cambria Math" panose="02040503050406030204" pitchFamily="18" charset="0"/>
                            </a:rPr>
                            <m:t>2</m:t>
                          </m:r>
                        </m:sub>
                      </m:sSub>
                      <m:r>
                        <a:rPr lang="en-US" altLang="zh-CN" sz="1800" b="0" i="1">
                          <a:solidFill>
                            <a:schemeClr val="tx1"/>
                          </a:solidFill>
                          <a:latin typeface="Cambria Math" panose="02040503050406030204" pitchFamily="18" charset="0"/>
                        </a:rPr>
                        <m:t>=</m:t>
                      </m:r>
                      <m:f>
                        <m:fPr>
                          <m:ctrlPr>
                            <a:rPr lang="zh-CN" altLang="zh-CN" sz="1800" b="0" i="1">
                              <a:solidFill>
                                <a:schemeClr val="tx1"/>
                              </a:solidFill>
                              <a:latin typeface="Cambria Math" panose="02040503050406030204" pitchFamily="18" charset="0"/>
                            </a:rPr>
                          </m:ctrlPr>
                        </m:fPr>
                        <m:num>
                          <m:r>
                            <a:rPr lang="en-US" altLang="zh-CN" sz="1800" b="0" i="1">
                              <a:solidFill>
                                <a:schemeClr val="tx1"/>
                              </a:solidFill>
                              <a:latin typeface="Cambria Math" panose="02040503050406030204" pitchFamily="18" charset="0"/>
                            </a:rPr>
                            <m:t>200</m:t>
                          </m:r>
                        </m:num>
                        <m:den>
                          <m:r>
                            <a:rPr lang="en-US" altLang="zh-CN" sz="1800" b="0" i="1">
                              <a:solidFill>
                                <a:schemeClr val="tx1"/>
                              </a:solidFill>
                              <a:latin typeface="Cambria Math" panose="02040503050406030204" pitchFamily="18" charset="0"/>
                            </a:rPr>
                            <m:t>3</m:t>
                          </m:r>
                        </m:den>
                      </m:f>
                      <m:r>
                        <a:rPr lang="en-US" altLang="zh-CN" sz="1800" b="0" i="1">
                          <a:solidFill>
                            <a:schemeClr val="tx1"/>
                          </a:solidFill>
                          <a:latin typeface="Cambria Math" panose="02040503050406030204" pitchFamily="18" charset="0"/>
                        </a:rPr>
                        <m:t>&gt;5</m:t>
                      </m:r>
                      <m:r>
                        <a:rPr lang="en-US" altLang="zh-CN" sz="1800" b="0" i="1" smtClean="0">
                          <a:solidFill>
                            <a:schemeClr val="tx1"/>
                          </a:solidFill>
                          <a:latin typeface="Cambria Math" panose="02040503050406030204" pitchFamily="18" charset="0"/>
                        </a:rPr>
                        <m:t>0=</m:t>
                      </m:r>
                      <m:r>
                        <a:rPr lang="en-US" altLang="zh-CN" sz="1800" b="0" i="1" smtClean="0">
                          <a:solidFill>
                            <a:schemeClr val="tx1"/>
                          </a:solidFill>
                          <a:latin typeface="Cambria Math" panose="02040503050406030204" pitchFamily="18" charset="0"/>
                        </a:rPr>
                        <m:t>𝑄</m:t>
                      </m:r>
                    </m:oMath>
                  </m:oMathPara>
                </a14:m>
                <a:endParaRPr lang="en-US" altLang="zh-CN" sz="1800" b="0" dirty="0">
                  <a:solidFill>
                    <a:schemeClr val="tx1"/>
                  </a:solidFill>
                  <a:sym typeface="Wingdings" panose="05000000000000000000" pitchFamily="2" charset="2"/>
                </a:endParaRPr>
              </a:p>
            </p:txBody>
          </p:sp>
        </mc:Choice>
        <mc:Fallback xmlns="">
          <p:sp>
            <p:nvSpPr>
              <p:cNvPr id="9" name="Rectangle 3"/>
              <p:cNvSpPr txBox="1">
                <a:spLocks noRot="1" noChangeAspect="1" noMove="1" noResize="1" noEditPoints="1" noAdjustHandles="1" noChangeArrowheads="1" noChangeShapeType="1" noTextEdit="1"/>
              </p:cNvSpPr>
              <p:nvPr/>
            </p:nvSpPr>
            <p:spPr bwMode="auto">
              <a:xfrm>
                <a:off x="2483768" y="2780928"/>
                <a:ext cx="4197151" cy="1491916"/>
              </a:xfrm>
              <a:prstGeom prst="rect">
                <a:avLst/>
              </a:prstGeom>
              <a:blipFill>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3"/>
              <p:cNvSpPr txBox="1">
                <a:spLocks noChangeArrowheads="1"/>
              </p:cNvSpPr>
              <p:nvPr/>
            </p:nvSpPr>
            <p:spPr bwMode="auto">
              <a:xfrm>
                <a:off x="1091018" y="4529372"/>
                <a:ext cx="8373615" cy="151216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0000"/>
                  </a:lnSpc>
                  <a:buNone/>
                </a:pPr>
                <a:r>
                  <a:rPr lang="zh-CN" altLang="en-US" sz="1800" b="0" dirty="0">
                    <a:solidFill>
                      <a:schemeClr val="tx1"/>
                    </a:solidFill>
                    <a:latin typeface="微软雅黑" panose="020B0503020204020204" pitchFamily="34" charset="-122"/>
                    <a:ea typeface="微软雅黑" panose="020B0503020204020204" pitchFamily="34" charset="-122"/>
                  </a:rPr>
                  <a:t>总利润为</a:t>
                </a:r>
                <a:r>
                  <a:rPr lang="zh-CN" altLang="en-US" sz="1800" b="0" dirty="0">
                    <a:solidFill>
                      <a:schemeClr val="tx1"/>
                    </a:solidFill>
                  </a:rPr>
                  <a:t>：</a:t>
                </a:r>
                <a:endParaRPr lang="en-US" altLang="zh-CN" sz="1800" b="0" dirty="0">
                  <a:solidFill>
                    <a:schemeClr val="tx1"/>
                  </a:solidFill>
                </a:endParaRPr>
              </a:p>
              <a:p>
                <a:pPr marL="0" indent="0" eaLnBrk="1" hangingPunct="1">
                  <a:lnSpc>
                    <a:spcPct val="80000"/>
                  </a:lnSpc>
                  <a:buNone/>
                </a:pPr>
                <a14:m>
                  <m:oMath xmlns:m="http://schemas.openxmlformats.org/officeDocument/2006/math">
                    <m:r>
                      <a:rPr lang="en-US" altLang="zh-CN" sz="1800" b="0" i="1">
                        <a:solidFill>
                          <a:schemeClr val="tx1"/>
                        </a:solidFill>
                        <a:latin typeface="Cambria Math" panose="02040503050406030204" pitchFamily="18" charset="0"/>
                      </a:rPr>
                      <m:t>4400</m:t>
                    </m:r>
                    <m:r>
                      <a:rPr lang="en-US" altLang="zh-CN" sz="1800" b="0" i="0" smtClean="0">
                        <a:solidFill>
                          <a:schemeClr val="tx1"/>
                        </a:solidFill>
                        <a:latin typeface="Cambria Math" panose="02040503050406030204" pitchFamily="18" charset="0"/>
                      </a:rPr>
                      <m:t>(</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𝑄</m:t>
                        </m:r>
                      </m:e>
                      <m:sub>
                        <m:r>
                          <a:rPr lang="en-US" altLang="zh-CN" sz="1800" b="0" i="1">
                            <a:solidFill>
                              <a:schemeClr val="tx1"/>
                            </a:solidFill>
                            <a:latin typeface="Cambria Math" panose="02040503050406030204" pitchFamily="18" charset="0"/>
                          </a:rPr>
                          <m:t>1</m:t>
                        </m:r>
                      </m:sub>
                    </m:sSub>
                    <m:r>
                      <a:rPr lang="en-US" altLang="zh-CN" sz="1800" b="0" i="0" smtClean="0">
                        <a:solidFill>
                          <a:schemeClr val="tx1"/>
                        </a:solidFill>
                        <a:latin typeface="Cambria Math" panose="02040503050406030204" pitchFamily="18" charset="0"/>
                      </a:rPr>
                      <m:t>+</m:t>
                    </m:r>
                    <m:sSub>
                      <m:sSubPr>
                        <m:ctrlPr>
                          <a:rPr lang="en-US" altLang="zh-CN" sz="1800" b="0" i="1">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𝑄</m:t>
                        </m:r>
                      </m:e>
                      <m:sub>
                        <m:r>
                          <a:rPr lang="en-US" altLang="zh-CN" sz="1800" b="0" i="1" smtClean="0">
                            <a:solidFill>
                              <a:schemeClr val="tx1"/>
                            </a:solidFill>
                            <a:latin typeface="Cambria Math" panose="02040503050406030204" pitchFamily="18" charset="0"/>
                          </a:rPr>
                          <m:t>2</m:t>
                        </m:r>
                      </m:sub>
                    </m:sSub>
                    <m:r>
                      <a:rPr lang="en-US" altLang="zh-CN" sz="1800" b="0" i="0" smtClean="0">
                        <a:solidFill>
                          <a:schemeClr val="tx1"/>
                        </a:solidFill>
                        <a:latin typeface="Cambria Math" panose="02040503050406030204" pitchFamily="18" charset="0"/>
                      </a:rPr>
                      <m:t>)</m:t>
                    </m:r>
                    <m:r>
                      <a:rPr lang="en-US" altLang="zh-CN" sz="1800" b="0" i="1">
                        <a:solidFill>
                          <a:schemeClr val="tx1"/>
                        </a:solidFill>
                        <a:latin typeface="Cambria Math" panose="02040503050406030204" pitchFamily="18" charset="0"/>
                      </a:rPr>
                      <m:t>−40</m:t>
                    </m:r>
                    <m:sSup>
                      <m:sSupPr>
                        <m:ctrlPr>
                          <a:rPr lang="zh-CN" altLang="zh-CN" sz="1800" b="0" i="1">
                            <a:solidFill>
                              <a:schemeClr val="tx1"/>
                            </a:solidFill>
                            <a:latin typeface="Cambria Math" panose="02040503050406030204" pitchFamily="18" charset="0"/>
                          </a:rPr>
                        </m:ctrlPr>
                      </m:sSupPr>
                      <m:e>
                        <m:d>
                          <m:dPr>
                            <m:ctrlPr>
                              <a:rPr lang="en-US" altLang="zh-CN" sz="1800" b="0" i="1" smtClean="0">
                                <a:solidFill>
                                  <a:schemeClr val="tx1"/>
                                </a:solidFill>
                                <a:latin typeface="Cambria Math" panose="02040503050406030204" pitchFamily="18" charset="0"/>
                              </a:rPr>
                            </m:ctrlPr>
                          </m:dPr>
                          <m:e>
                            <m:sSub>
                              <m:sSubPr>
                                <m:ctrlPr>
                                  <a:rPr lang="en-US" altLang="zh-CN" sz="1800" b="0" i="1">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𝑄</m:t>
                                </m:r>
                              </m:e>
                              <m:sub>
                                <m:r>
                                  <a:rPr lang="en-US" altLang="zh-CN" sz="1800" b="0" i="1">
                                    <a:solidFill>
                                      <a:schemeClr val="tx1"/>
                                    </a:solidFill>
                                    <a:latin typeface="Cambria Math" panose="02040503050406030204" pitchFamily="18" charset="0"/>
                                  </a:rPr>
                                  <m:t>1</m:t>
                                </m:r>
                              </m:sub>
                            </m:sSub>
                            <m:r>
                              <a:rPr lang="en-US" altLang="zh-CN" sz="1800" b="0">
                                <a:solidFill>
                                  <a:schemeClr val="tx1"/>
                                </a:solidFill>
                                <a:latin typeface="Cambria Math" panose="02040503050406030204" pitchFamily="18" charset="0"/>
                              </a:rPr>
                              <m:t>+</m:t>
                            </m:r>
                            <m:sSub>
                              <m:sSubPr>
                                <m:ctrlPr>
                                  <a:rPr lang="en-US" altLang="zh-CN" sz="1800" b="0" i="1">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𝑄</m:t>
                                </m:r>
                              </m:e>
                              <m:sub>
                                <m:r>
                                  <a:rPr lang="en-US" altLang="zh-CN" sz="1800" b="0" i="1">
                                    <a:solidFill>
                                      <a:schemeClr val="tx1"/>
                                    </a:solidFill>
                                    <a:latin typeface="Cambria Math" panose="02040503050406030204" pitchFamily="18" charset="0"/>
                                  </a:rPr>
                                  <m:t>2</m:t>
                                </m:r>
                              </m:sub>
                            </m:sSub>
                          </m:e>
                        </m:d>
                      </m:e>
                      <m:sup>
                        <m:r>
                          <a:rPr lang="en-US" altLang="zh-CN" sz="1800" b="0" i="1">
                            <a:solidFill>
                              <a:schemeClr val="tx1"/>
                            </a:solidFill>
                            <a:latin typeface="Cambria Math" panose="02040503050406030204" pitchFamily="18" charset="0"/>
                          </a:rPr>
                          <m:t>2</m:t>
                        </m:r>
                      </m:sup>
                    </m:sSup>
                    <m:r>
                      <a:rPr lang="en-US" altLang="zh-CN" sz="1800" b="0" i="1">
                        <a:solidFill>
                          <a:schemeClr val="tx1"/>
                        </a:solidFill>
                        <a:latin typeface="Cambria Math" panose="02040503050406030204" pitchFamily="18" charset="0"/>
                      </a:rPr>
                      <m:t>−400</m:t>
                    </m:r>
                    <m:r>
                      <a:rPr lang="en-US" altLang="zh-CN" sz="1800" b="0" i="1" smtClean="0">
                        <a:solidFill>
                          <a:schemeClr val="tx1"/>
                        </a:solidFill>
                        <a:latin typeface="Cambria Math" panose="02040503050406030204" pitchFamily="18" charset="0"/>
                      </a:rPr>
                      <m:t>(</m:t>
                    </m:r>
                    <m:sSub>
                      <m:sSubPr>
                        <m:ctrlPr>
                          <a:rPr lang="en-US" altLang="zh-CN" sz="1800" b="0" i="1">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𝑄</m:t>
                        </m:r>
                      </m:e>
                      <m:sub>
                        <m:r>
                          <a:rPr lang="en-US" altLang="zh-CN" sz="1800" b="0" i="1">
                            <a:solidFill>
                              <a:schemeClr val="tx1"/>
                            </a:solidFill>
                            <a:latin typeface="Cambria Math" panose="02040503050406030204" pitchFamily="18" charset="0"/>
                          </a:rPr>
                          <m:t>1</m:t>
                        </m:r>
                      </m:sub>
                    </m:sSub>
                    <m:r>
                      <a:rPr lang="en-US" altLang="zh-CN" sz="1800" b="0">
                        <a:solidFill>
                          <a:schemeClr val="tx1"/>
                        </a:solidFill>
                        <a:latin typeface="Cambria Math" panose="02040503050406030204" pitchFamily="18" charset="0"/>
                      </a:rPr>
                      <m:t>+</m:t>
                    </m:r>
                    <m:sSub>
                      <m:sSubPr>
                        <m:ctrlPr>
                          <a:rPr lang="en-US" altLang="zh-CN" sz="1800" b="0" i="1">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𝑄</m:t>
                        </m:r>
                      </m:e>
                      <m:sub>
                        <m:r>
                          <a:rPr lang="en-US" altLang="zh-CN" sz="1800" b="0" i="1">
                            <a:solidFill>
                              <a:schemeClr val="tx1"/>
                            </a:solidFill>
                            <a:latin typeface="Cambria Math" panose="02040503050406030204" pitchFamily="18" charset="0"/>
                          </a:rPr>
                          <m:t>2</m:t>
                        </m:r>
                      </m:sub>
                    </m:sSub>
                    <m:r>
                      <a:rPr lang="en-US" altLang="zh-CN" sz="1800" b="0" i="0" smtClean="0">
                        <a:solidFill>
                          <a:schemeClr val="tx1"/>
                        </a:solidFill>
                        <a:latin typeface="Cambria Math" panose="02040503050406030204" pitchFamily="18" charset="0"/>
                      </a:rPr>
                      <m:t>)</m:t>
                    </m:r>
                  </m:oMath>
                </a14:m>
                <a:r>
                  <a:rPr lang="en-US" altLang="zh-CN" sz="1800" b="0" dirty="0">
                    <a:solidFill>
                      <a:schemeClr val="tx1"/>
                    </a:solidFill>
                  </a:rPr>
                  <a:t> =  </a:t>
                </a:r>
                <a14:m>
                  <m:oMath xmlns:m="http://schemas.openxmlformats.org/officeDocument/2006/math">
                    <m:f>
                      <m:fPr>
                        <m:ctrlPr>
                          <a:rPr lang="zh-CN" altLang="zh-CN" sz="1800" b="0" i="1">
                            <a:solidFill>
                              <a:schemeClr val="tx1"/>
                            </a:solidFill>
                            <a:latin typeface="Cambria Math" panose="02040503050406030204" pitchFamily="18" charset="0"/>
                          </a:rPr>
                        </m:ctrlPr>
                      </m:fPr>
                      <m:num>
                        <m:r>
                          <a:rPr lang="en-US" altLang="zh-CN" sz="1800" b="0" i="1">
                            <a:solidFill>
                              <a:schemeClr val="tx1"/>
                            </a:solidFill>
                            <a:latin typeface="Cambria Math" panose="02040503050406030204" pitchFamily="18" charset="0"/>
                          </a:rPr>
                          <m:t>800,000</m:t>
                        </m:r>
                      </m:num>
                      <m:den>
                        <m:r>
                          <a:rPr lang="en-US" altLang="zh-CN" sz="1800" b="0" i="1">
                            <a:solidFill>
                              <a:schemeClr val="tx1"/>
                            </a:solidFill>
                            <a:latin typeface="Cambria Math" panose="02040503050406030204" pitchFamily="18" charset="0"/>
                          </a:rPr>
                          <m:t>9</m:t>
                        </m:r>
                      </m:den>
                    </m:f>
                  </m:oMath>
                </a14:m>
                <a:endParaRPr lang="en-US" altLang="zh-CN" sz="1800" b="0" i="1" dirty="0">
                  <a:solidFill>
                    <a:schemeClr val="tx1"/>
                  </a:solidFill>
                </a:endParaRPr>
              </a:p>
              <a:p>
                <a:pPr marL="0" indent="0" eaLnBrk="1" hangingPunct="1">
                  <a:lnSpc>
                    <a:spcPct val="80000"/>
                  </a:lnSpc>
                  <a:buNone/>
                </a:pPr>
                <a:endParaRPr lang="en-US" altLang="zh-CN" sz="1800" b="0" dirty="0">
                  <a:solidFill>
                    <a:schemeClr val="tx1"/>
                  </a:solidFill>
                  <a:latin typeface="Cambria Math" panose="02040503050406030204" pitchFamily="18" charset="0"/>
                </a:endParaRPr>
              </a:p>
              <a:p>
                <a:pPr marL="0" indent="0" eaLnBrk="1" hangingPunct="1">
                  <a:lnSpc>
                    <a:spcPct val="80000"/>
                  </a:lnSpc>
                  <a:buNone/>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4400</m:t>
                      </m:r>
                      <m:r>
                        <a:rPr lang="en-US" altLang="zh-CN" sz="1800" b="0" i="1" smtClean="0">
                          <a:solidFill>
                            <a:schemeClr val="tx1"/>
                          </a:solidFill>
                          <a:latin typeface="Cambria Math" panose="02040503050406030204" pitchFamily="18" charset="0"/>
                        </a:rPr>
                        <m:t>𝑄</m:t>
                      </m:r>
                      <m:r>
                        <a:rPr lang="en-US" altLang="zh-CN" sz="1800" b="0" i="1">
                          <a:solidFill>
                            <a:schemeClr val="tx1"/>
                          </a:solidFill>
                          <a:latin typeface="Cambria Math" panose="02040503050406030204" pitchFamily="18" charset="0"/>
                        </a:rPr>
                        <m:t>−40</m:t>
                      </m:r>
                      <m:sSup>
                        <m:sSupPr>
                          <m:ctrlPr>
                            <a:rPr lang="zh-CN" altLang="zh-CN" sz="1800" b="0" i="1">
                              <a:solidFill>
                                <a:schemeClr val="tx1"/>
                              </a:solidFill>
                              <a:latin typeface="Cambria Math" panose="02040503050406030204" pitchFamily="18" charset="0"/>
                            </a:rPr>
                          </m:ctrlPr>
                        </m:sSupPr>
                        <m:e>
                          <m:r>
                            <a:rPr lang="en-US" altLang="zh-CN" sz="1800" b="0" i="1" smtClean="0">
                              <a:solidFill>
                                <a:schemeClr val="tx1"/>
                              </a:solidFill>
                              <a:latin typeface="Cambria Math" panose="02040503050406030204" pitchFamily="18" charset="0"/>
                            </a:rPr>
                            <m:t>𝑄</m:t>
                          </m:r>
                        </m:e>
                        <m:sup>
                          <m:r>
                            <a:rPr lang="en-US" altLang="zh-CN" sz="1800" b="0" i="1">
                              <a:solidFill>
                                <a:schemeClr val="tx1"/>
                              </a:solidFill>
                              <a:latin typeface="Cambria Math" panose="02040503050406030204" pitchFamily="18" charset="0"/>
                            </a:rPr>
                            <m:t>2</m:t>
                          </m:r>
                        </m:sup>
                      </m:sSup>
                      <m:r>
                        <a:rPr lang="en-US" altLang="zh-CN" sz="1800" b="0" i="1">
                          <a:solidFill>
                            <a:schemeClr val="tx1"/>
                          </a:solidFill>
                          <a:latin typeface="Cambria Math" panose="02040503050406030204" pitchFamily="18" charset="0"/>
                        </a:rPr>
                        <m:t>−400</m:t>
                      </m:r>
                      <m:r>
                        <a:rPr lang="en-US" altLang="zh-CN" sz="1800" b="0" i="1" smtClean="0">
                          <a:solidFill>
                            <a:schemeClr val="tx1"/>
                          </a:solidFill>
                          <a:latin typeface="Cambria Math" panose="02040503050406030204" pitchFamily="18" charset="0"/>
                        </a:rPr>
                        <m:t>𝑄</m:t>
                      </m:r>
                      <m:r>
                        <a:rPr lang="en-US" altLang="zh-CN" sz="1800" b="0" i="1" smtClean="0">
                          <a:solidFill>
                            <a:schemeClr val="tx1"/>
                          </a:solidFill>
                          <a:latin typeface="Cambria Math" panose="02040503050406030204" pitchFamily="18" charset="0"/>
                        </a:rPr>
                        <m:t>=100,000</m:t>
                      </m:r>
                    </m:oMath>
                  </m:oMathPara>
                </a14:m>
                <a:endParaRPr lang="en-US" altLang="zh-CN" sz="1800" b="0" dirty="0">
                  <a:solidFill>
                    <a:schemeClr val="tx1"/>
                  </a:solidFill>
                  <a:sym typeface="Wingdings" panose="05000000000000000000" pitchFamily="2" charset="2"/>
                </a:endParaRPr>
              </a:p>
            </p:txBody>
          </p:sp>
        </mc:Choice>
        <mc:Fallback xmlns="">
          <p:sp>
            <p:nvSpPr>
              <p:cNvPr id="11" name="Rectangle 3"/>
              <p:cNvSpPr txBox="1">
                <a:spLocks noRot="1" noChangeAspect="1" noMove="1" noResize="1" noEditPoints="1" noAdjustHandles="1" noChangeArrowheads="1" noChangeShapeType="1" noTextEdit="1"/>
              </p:cNvSpPr>
              <p:nvPr/>
            </p:nvSpPr>
            <p:spPr bwMode="auto">
              <a:xfrm>
                <a:off x="1091018" y="4529372"/>
                <a:ext cx="8373615" cy="1512168"/>
              </a:xfrm>
              <a:prstGeom prst="rect">
                <a:avLst/>
              </a:prstGeom>
              <a:blipFill>
                <a:blip r:embed="rId4"/>
                <a:stretch>
                  <a:fillRect l="-655" t="-645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三、公共资源的过度使用及其政策</a:t>
            </a:r>
          </a:p>
        </p:txBody>
      </p:sp>
      <p:sp>
        <p:nvSpPr>
          <p:cNvPr id="12" name="标题 1">
            <a:extLst>
              <a:ext uri="{FF2B5EF4-FFF2-40B4-BE49-F238E27FC236}">
                <a16:creationId xmlns:a16="http://schemas.microsoft.com/office/drawing/2014/main" id="{3E226148-6FE8-4444-82FD-6C5DDE0AED3C}"/>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13" name="Rectangle 3">
            <a:extLst>
              <a:ext uri="{FF2B5EF4-FFF2-40B4-BE49-F238E27FC236}">
                <a16:creationId xmlns:a16="http://schemas.microsoft.com/office/drawing/2014/main" id="{F120D2BD-F973-422A-BB6B-51C515B2A457}"/>
              </a:ext>
            </a:extLst>
          </p:cNvPr>
          <p:cNvSpPr txBox="1">
            <a:spLocks noChangeArrowheads="1"/>
          </p:cNvSpPr>
          <p:nvPr/>
        </p:nvSpPr>
        <p:spPr bwMode="auto">
          <a:xfrm>
            <a:off x="755576" y="1226369"/>
            <a:ext cx="8589639"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ts val="25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公地悲剧：</a:t>
            </a:r>
            <a:endParaRPr lang="en-US" altLang="zh-CN" sz="2000" dirty="0">
              <a:sym typeface="Wingdings" panose="05000000000000000000" pitchFamily="2" charset="2"/>
            </a:endParaRPr>
          </a:p>
        </p:txBody>
      </p:sp>
    </p:spTree>
    <p:extLst>
      <p:ext uri="{BB962C8B-B14F-4D97-AF65-F5344CB8AC3E}">
        <p14:creationId xmlns:p14="http://schemas.microsoft.com/office/powerpoint/2010/main" val="59830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827585" y="1010345"/>
            <a:ext cx="7560839"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200000"/>
              </a:lnSpc>
              <a:buFont typeface="Wingdings" panose="05000000000000000000" pitchFamily="2" charset="2"/>
              <a:buChar char="u"/>
            </a:pPr>
            <a:r>
              <a:rPr lang="zh-CN" altLang="en-US" sz="2200" b="0" dirty="0">
                <a:solidFill>
                  <a:schemeClr val="tx1"/>
                </a:solidFill>
                <a:latin typeface="微软雅黑" panose="020B0503020204020204" pitchFamily="34" charset="-122"/>
                <a:ea typeface="微软雅黑" panose="020B0503020204020204" pitchFamily="34" charset="-122"/>
              </a:rPr>
              <a:t>解决资源过度使用的政策：</a:t>
            </a:r>
            <a:endParaRPr lang="en-US" altLang="zh-CN" sz="2200" b="0" dirty="0">
              <a:solidFill>
                <a:schemeClr val="tx1"/>
              </a:solidFill>
              <a:latin typeface="微软雅黑" panose="020B0503020204020204" pitchFamily="34" charset="-122"/>
              <a:ea typeface="微软雅黑" panose="020B0503020204020204" pitchFamily="34" charset="-122"/>
            </a:endParaRPr>
          </a:p>
          <a:p>
            <a:pPr marL="720000" eaLnBrk="1" hangingPunct="1">
              <a:lnSpc>
                <a:spcPct val="30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管制</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720000" lvl="1" indent="0" eaLnBrk="1" hangingPunct="1">
              <a:lnSpc>
                <a:spcPct val="300000"/>
              </a:lnSpc>
              <a:buNone/>
            </a:pPr>
            <a:r>
              <a:rPr lang="zh-CN" altLang="en-US" sz="18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例如春夏禁渔政策；对动植物的保护政策；美国的狩猎许可数量</a:t>
            </a:r>
            <a:endParaRPr lang="en-US" altLang="zh-CN" sz="18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720000" eaLnBrk="1" hangingPunct="1">
              <a:lnSpc>
                <a:spcPct val="30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征税</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720000" eaLnBrk="1" hangingPunct="1">
              <a:lnSpc>
                <a:spcPct val="30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界定产权</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a:p>
            <a:pPr marL="720000" lvl="1" indent="0" eaLnBrk="1" hangingPunct="1">
              <a:lnSpc>
                <a:spcPct val="300000"/>
              </a:lnSpc>
              <a:buNone/>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例如承包制；例如草原牧场的界定</a:t>
            </a:r>
            <a:endPar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三、公共资源的过度使用及其政策</a:t>
            </a:r>
          </a:p>
        </p:txBody>
      </p:sp>
      <p:sp>
        <p:nvSpPr>
          <p:cNvPr id="6" name="标题 1">
            <a:extLst>
              <a:ext uri="{FF2B5EF4-FFF2-40B4-BE49-F238E27FC236}">
                <a16:creationId xmlns:a16="http://schemas.microsoft.com/office/drawing/2014/main" id="{8275A19F-0FB5-43D6-96A6-DD093264A289}"/>
              </a:ext>
            </a:extLst>
          </p:cNvPr>
          <p:cNvSpPr txBox="1">
            <a:spLocks noChangeArrowheads="1"/>
          </p:cNvSpPr>
          <p:nvPr/>
        </p:nvSpPr>
        <p:spPr bwMode="auto">
          <a:xfrm>
            <a:off x="900276" y="248395"/>
            <a:ext cx="8229600" cy="23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第三节  公共物品和公共资源</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40674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4294967295"/>
          </p:nvPr>
        </p:nvSpPr>
        <p:spPr>
          <a:xfrm>
            <a:off x="2101688" y="850188"/>
            <a:ext cx="8229600" cy="581046"/>
          </a:xfrm>
        </p:spPr>
        <p:txBody>
          <a:bodyPr/>
          <a:lstStyle/>
          <a:p>
            <a:pPr eaLnBrk="1" hangingPunct="1">
              <a:buFontTx/>
              <a:buNone/>
            </a:pPr>
            <a:r>
              <a:rPr lang="zh-CN" altLang="en-US" sz="3600" dirty="0">
                <a:solidFill>
                  <a:schemeClr val="tx1"/>
                </a:solidFill>
                <a:latin typeface="微软雅黑" panose="020B0503020204020204" pitchFamily="34" charset="-122"/>
                <a:ea typeface="微软雅黑" panose="020B0503020204020204" pitchFamily="34" charset="-122"/>
              </a:rPr>
              <a:t>第四节</a:t>
            </a:r>
            <a:r>
              <a:rPr lang="en-US" altLang="zh-CN" sz="3600" dirty="0">
                <a:solidFill>
                  <a:schemeClr val="tx1"/>
                </a:solidFill>
                <a:latin typeface="微软雅黑" panose="020B0503020204020204" pitchFamily="34" charset="-122"/>
                <a:ea typeface="微软雅黑" panose="020B0503020204020204" pitchFamily="34" charset="-122"/>
              </a:rPr>
              <a:t>	</a:t>
            </a:r>
            <a:r>
              <a:rPr lang="zh-CN" altLang="en-US" sz="3600" dirty="0">
                <a:solidFill>
                  <a:schemeClr val="tx1"/>
                </a:solidFill>
                <a:latin typeface="微软雅黑" panose="020B0503020204020204" pitchFamily="34" charset="-122"/>
                <a:ea typeface="微软雅黑" panose="020B0503020204020204" pitchFamily="34" charset="-122"/>
              </a:rPr>
              <a:t>不完全信息</a:t>
            </a:r>
          </a:p>
          <a:p>
            <a:pPr eaLnBrk="1" hangingPunct="1">
              <a:buFontTx/>
              <a:buNone/>
            </a:pPr>
            <a:endParaRPr lang="en-US" altLang="zh-CN" sz="3600" dirty="0">
              <a:solidFill>
                <a:schemeClr val="tx1"/>
              </a:solidFill>
              <a:latin typeface="微软雅黑" panose="020B0503020204020204" pitchFamily="34" charset="-122"/>
              <a:ea typeface="微软雅黑" panose="020B0503020204020204" pitchFamily="34" charset="-122"/>
            </a:endParaRPr>
          </a:p>
          <a:p>
            <a:pPr lvl="1" eaLnBrk="1" hangingPunct="1">
              <a:buFontTx/>
              <a:buNone/>
            </a:pPr>
            <a:endParaRPr lang="zh-CN" altLang="en-US" sz="3600" b="1" dirty="0">
              <a:latin typeface="微软雅黑" panose="020B0503020204020204" pitchFamily="34" charset="-122"/>
              <a:ea typeface="微软雅黑" panose="020B0503020204020204" pitchFamily="34" charset="-122"/>
            </a:endParaRP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191991" y="242060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123728" y="211898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191991" y="345456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123728" y="315294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191991" y="446961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123728" y="416798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2191991" y="541779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2123728" y="5117753"/>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2703166" y="2474583"/>
            <a:ext cx="0" cy="678360"/>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2703166" y="3508543"/>
            <a:ext cx="0" cy="65944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2703166" y="4523588"/>
            <a:ext cx="0" cy="59416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4" name="矩形 13">
            <a:extLst>
              <a:ext uri="{FF2B5EF4-FFF2-40B4-BE49-F238E27FC236}">
                <a16:creationId xmlns:a16="http://schemas.microsoft.com/office/drawing/2014/main" id="{66A93A4A-F736-4CF5-82B6-87D5F4B7E4E5}"/>
              </a:ext>
            </a:extLst>
          </p:cNvPr>
          <p:cNvSpPr/>
          <p:nvPr/>
        </p:nvSpPr>
        <p:spPr>
          <a:xfrm>
            <a:off x="3238159" y="2065369"/>
            <a:ext cx="2935419" cy="461665"/>
          </a:xfrm>
          <a:prstGeom prst="rect">
            <a:avLst/>
          </a:prstGeom>
        </p:spPr>
        <p:txBody>
          <a:bodyPr wrap="none">
            <a:spAutoFit/>
          </a:bodyPr>
          <a:lstStyle/>
          <a:p>
            <a:pPr lvl="1" eaLnBrk="1" hangingPunct="1">
              <a:spcBef>
                <a:spcPct val="40000"/>
              </a:spcBef>
              <a:buFontTx/>
              <a:buNone/>
            </a:pPr>
            <a:r>
              <a:rPr lang="zh-CN" altLang="en-US" sz="2400" spc="150" dirty="0">
                <a:latin typeface="微软雅黑" panose="020B0503020204020204" pitchFamily="34" charset="-122"/>
                <a:ea typeface="微软雅黑" panose="020B0503020204020204" pitchFamily="34" charset="-122"/>
              </a:rPr>
              <a:t>信息与信息价值</a:t>
            </a:r>
            <a:endParaRPr lang="en-US" altLang="zh-CN" sz="2400" spc="150" dirty="0">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6BA99CA7-A4CC-4245-BA58-DB89FA49F037}"/>
              </a:ext>
            </a:extLst>
          </p:cNvPr>
          <p:cNvSpPr/>
          <p:nvPr/>
        </p:nvSpPr>
        <p:spPr>
          <a:xfrm>
            <a:off x="3716040" y="3099910"/>
            <a:ext cx="345479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信息不完全与市场失灵</a:t>
            </a:r>
          </a:p>
        </p:txBody>
      </p:sp>
      <p:sp>
        <p:nvSpPr>
          <p:cNvPr id="16" name="矩形 15">
            <a:extLst>
              <a:ext uri="{FF2B5EF4-FFF2-40B4-BE49-F238E27FC236}">
                <a16:creationId xmlns:a16="http://schemas.microsoft.com/office/drawing/2014/main" id="{018105B0-EC74-4F50-9B33-7F18FF6C04E7}"/>
              </a:ext>
            </a:extLst>
          </p:cNvPr>
          <p:cNvSpPr/>
          <p:nvPr/>
        </p:nvSpPr>
        <p:spPr>
          <a:xfrm>
            <a:off x="3282603" y="4075749"/>
            <a:ext cx="3916457" cy="461665"/>
          </a:xfrm>
          <a:prstGeom prst="rect">
            <a:avLst/>
          </a:prstGeom>
        </p:spPr>
        <p:txBody>
          <a:bodyPr wrap="none">
            <a:spAutoFit/>
          </a:bodyPr>
          <a:lstStyle/>
          <a:p>
            <a:pPr lvl="1" eaLnBrk="1" hangingPunct="1">
              <a:spcBef>
                <a:spcPct val="40000"/>
              </a:spcBef>
              <a:buFontTx/>
              <a:buNone/>
            </a:pPr>
            <a:r>
              <a:rPr lang="zh-CN" altLang="en-US" sz="2400" spc="150" dirty="0">
                <a:latin typeface="微软雅黑" panose="020B0503020204020204" pitchFamily="34" charset="-122"/>
                <a:ea typeface="微软雅黑" panose="020B0503020204020204" pitchFamily="34" charset="-122"/>
              </a:rPr>
              <a:t>信息不对称与市场失灵</a:t>
            </a:r>
            <a:endParaRPr lang="en-US" altLang="zh-CN" sz="2400" spc="150" dirty="0">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E52AEF20-C2D6-4C68-8E54-0EF930AB28A2}"/>
              </a:ext>
            </a:extLst>
          </p:cNvPr>
          <p:cNvSpPr/>
          <p:nvPr/>
        </p:nvSpPr>
        <p:spPr>
          <a:xfrm>
            <a:off x="3324380" y="5088229"/>
            <a:ext cx="3916457" cy="461665"/>
          </a:xfrm>
          <a:prstGeom prst="rect">
            <a:avLst/>
          </a:prstGeom>
        </p:spPr>
        <p:txBody>
          <a:bodyPr wrap="none">
            <a:spAutoFit/>
          </a:bodyPr>
          <a:lstStyle/>
          <a:p>
            <a:pPr lvl="1" eaLnBrk="1" hangingPunct="1">
              <a:spcBef>
                <a:spcPct val="40000"/>
              </a:spcBef>
              <a:buFontTx/>
              <a:buNone/>
            </a:pPr>
            <a:r>
              <a:rPr lang="zh-CN" altLang="en-US" sz="2400" spc="150" dirty="0">
                <a:latin typeface="微软雅黑" panose="020B0503020204020204" pitchFamily="34" charset="-122"/>
                <a:ea typeface="微软雅黑" panose="020B0503020204020204" pitchFamily="34" charset="-122"/>
              </a:rPr>
              <a:t>纠正信息不完全的政策</a:t>
            </a:r>
            <a:endParaRPr lang="en-US" altLang="zh-CN" sz="2400" spc="15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500"/>
                                        <p:tgtEl>
                                          <p:spTgt spid="9"/>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up)">
                                      <p:cBhvr>
                                        <p:cTn id="55" dur="500"/>
                                        <p:tgtEl>
                                          <p:spTgt spid="1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4" grpId="0"/>
      <p:bldP spid="15" grpId="0"/>
      <p:bldP spid="16" grpId="0"/>
      <p:bldP spid="1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3" name="Rectangle 3"/>
          <p:cNvSpPr txBox="1">
            <a:spLocks noChangeArrowheads="1"/>
          </p:cNvSpPr>
          <p:nvPr/>
        </p:nvSpPr>
        <p:spPr bwMode="auto">
          <a:xfrm>
            <a:off x="179512" y="1340768"/>
            <a:ext cx="7632848"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150000"/>
              </a:lnSpc>
              <a:buNone/>
            </a:pPr>
            <a:r>
              <a:rPr lang="zh-CN" altLang="en-US" sz="2000" b="0" dirty="0">
                <a:solidFill>
                  <a:schemeClr val="tx1"/>
                </a:solidFill>
                <a:latin typeface="微软雅黑" panose="020B0503020204020204" pitchFamily="34" charset="-122"/>
                <a:ea typeface="微软雅黑" panose="020B0503020204020204" pitchFamily="34" charset="-122"/>
              </a:rPr>
              <a:t>       交易能够买卖双方带来利益，但是前提是买卖双方的知道对方   </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0" indent="0" eaLnBrk="1" hangingPunct="1">
              <a:lnSpc>
                <a:spcPct val="150000"/>
              </a:lnSpc>
              <a:buNone/>
            </a:pPr>
            <a:r>
              <a:rPr lang="en-US" altLang="zh-CN" sz="2000" b="0" dirty="0">
                <a:solidFill>
                  <a:schemeClr val="tx1"/>
                </a:solidFill>
                <a:latin typeface="微软雅黑" panose="020B0503020204020204" pitchFamily="34" charset="-122"/>
                <a:ea typeface="微软雅黑" panose="020B0503020204020204" pitchFamily="34" charset="-122"/>
              </a:rPr>
              <a:t>       </a:t>
            </a:r>
            <a:r>
              <a:rPr lang="zh-CN" altLang="en-US" sz="2000" b="0" dirty="0">
                <a:solidFill>
                  <a:schemeClr val="tx1"/>
                </a:solidFill>
                <a:latin typeface="微软雅黑" panose="020B0503020204020204" pitchFamily="34" charset="-122"/>
                <a:ea typeface="微软雅黑" panose="020B0503020204020204" pitchFamily="34" charset="-122"/>
              </a:rPr>
              <a:t>的存在。因此信息是有价值的。</a:t>
            </a:r>
            <a:endParaRPr lang="en-US" altLang="zh-CN" sz="2400" b="0" dirty="0">
              <a:solidFill>
                <a:schemeClr val="tx1"/>
              </a:solidFill>
              <a:latin typeface="微软雅黑" panose="020B0503020204020204" pitchFamily="34" charset="-122"/>
              <a:ea typeface="微软雅黑" panose="020B0503020204020204" pitchFamily="34" charset="-122"/>
            </a:endParaRPr>
          </a:p>
          <a:p>
            <a:pPr marL="0" indent="0" eaLnBrk="1" hangingPunct="1">
              <a:lnSpc>
                <a:spcPct val="150000"/>
              </a:lnSpc>
              <a:buNone/>
            </a:pPr>
            <a:endParaRPr lang="en-US" altLang="zh-CN" sz="2400" b="0" dirty="0">
              <a:solidFill>
                <a:schemeClr val="tx1"/>
              </a:solidFill>
              <a:latin typeface="微软雅黑" panose="020B0503020204020204" pitchFamily="34" charset="-122"/>
              <a:ea typeface="微软雅黑" panose="020B0503020204020204" pitchFamily="34" charset="-122"/>
            </a:endParaRPr>
          </a:p>
          <a:p>
            <a:pPr marL="0" indent="0" eaLnBrk="1" hangingPunct="1">
              <a:lnSpc>
                <a:spcPct val="150000"/>
              </a:lnSpc>
              <a:buNone/>
            </a:pPr>
            <a:endParaRPr lang="en-US" altLang="zh-CN" sz="2400" b="0" dirty="0">
              <a:solidFill>
                <a:schemeClr val="tx1"/>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信息不完全</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1120050" lvl="1" indent="0" eaLnBrk="1" hangingPunct="1">
              <a:lnSpc>
                <a:spcPct val="150000"/>
              </a:lnSpc>
              <a:buNone/>
            </a:pPr>
            <a:r>
              <a:rPr lang="zh-CN" altLang="en-US" sz="1800" b="0" dirty="0">
                <a:solidFill>
                  <a:schemeClr val="tx1"/>
                </a:solidFill>
                <a:latin typeface="微软雅黑" panose="020B0503020204020204" pitchFamily="34" charset="-122"/>
                <a:ea typeface="微软雅黑" panose="020B0503020204020204" pitchFamily="34" charset="-122"/>
              </a:rPr>
              <a:t>信息不完全是指缺乏足够的关于交易对象的信息</a:t>
            </a:r>
            <a:endParaRPr lang="en-US" altLang="zh-CN" sz="1800" b="0" dirty="0">
              <a:solidFill>
                <a:schemeClr val="tx1"/>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信息不完全带来市场失灵</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1120050" lvl="1" indent="0" eaLnBrk="1" hangingPunct="1">
              <a:lnSpc>
                <a:spcPct val="150000"/>
              </a:lnSpc>
              <a:buNone/>
            </a:pPr>
            <a:r>
              <a:rPr lang="zh-CN" altLang="en-US" sz="1800" b="0" dirty="0">
                <a:solidFill>
                  <a:schemeClr val="tx1"/>
                </a:solidFill>
                <a:latin typeface="微软雅黑" panose="020B0503020204020204" pitchFamily="34" charset="-122"/>
                <a:ea typeface="微软雅黑" panose="020B0503020204020204" pitchFamily="34" charset="-122"/>
              </a:rPr>
              <a:t>信息不完全时，生产和交易就会带来盲目性，导致市场失灵</a:t>
            </a: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127779"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一、信息与信息价值</a:t>
            </a:r>
          </a:p>
        </p:txBody>
      </p:sp>
      <p:sp>
        <p:nvSpPr>
          <p:cNvPr id="6" name="矩形 5">
            <a:extLst>
              <a:ext uri="{FF2B5EF4-FFF2-40B4-BE49-F238E27FC236}">
                <a16:creationId xmlns:a16="http://schemas.microsoft.com/office/drawing/2014/main" id="{F68E5273-CD77-47B9-B841-9D29349C133D}"/>
              </a:ext>
            </a:extLst>
          </p:cNvPr>
          <p:cNvSpPr/>
          <p:nvPr/>
        </p:nvSpPr>
        <p:spPr>
          <a:xfrm>
            <a:off x="467544" y="2852936"/>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二、信息不完全与市场失灵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3759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536328" y="1222052"/>
            <a:ext cx="7824010" cy="188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ts val="33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质量信息不完全的情形</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540000" eaLnBrk="1" hangingPunct="1">
              <a:lnSpc>
                <a:spcPts val="33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在质量信息不完全时，容易导致人们根据价格判断信息的情形发生</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540000" eaLnBrk="1" hangingPunct="1">
              <a:lnSpc>
                <a:spcPts val="33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预期的质量成为价格的函数</a:t>
            </a:r>
            <a:endParaRPr lang="zh-CN" altLang="en-US" sz="2000" b="0" dirty="0">
              <a:solidFill>
                <a:schemeClr val="tx1"/>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二、信息不完全与市场失灵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cxnSp>
        <p:nvCxnSpPr>
          <p:cNvPr id="50" name="直接箭头连接符 78"/>
          <p:cNvCxnSpPr>
            <a:cxnSpLocks noChangeShapeType="1"/>
          </p:cNvCxnSpPr>
          <p:nvPr/>
        </p:nvCxnSpPr>
        <p:spPr bwMode="auto">
          <a:xfrm flipV="1">
            <a:off x="5435600" y="2691312"/>
            <a:ext cx="0" cy="3024188"/>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1" name="直接箭头连接符 80"/>
          <p:cNvCxnSpPr>
            <a:cxnSpLocks noChangeShapeType="1"/>
          </p:cNvCxnSpPr>
          <p:nvPr/>
        </p:nvCxnSpPr>
        <p:spPr bwMode="auto">
          <a:xfrm>
            <a:off x="5435600" y="5715500"/>
            <a:ext cx="3097213"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2" name="直接连接符 82"/>
          <p:cNvCxnSpPr>
            <a:cxnSpLocks noChangeShapeType="1"/>
          </p:cNvCxnSpPr>
          <p:nvPr/>
        </p:nvCxnSpPr>
        <p:spPr bwMode="auto">
          <a:xfrm flipH="1">
            <a:off x="5435599" y="3699374"/>
            <a:ext cx="2250497" cy="2003200"/>
          </a:xfrm>
          <a:prstGeom prst="line">
            <a:avLst/>
          </a:prstGeom>
          <a:noFill/>
          <a:ln w="28575" cmpd="sng">
            <a:solidFill>
              <a:schemeClr val="tx1"/>
            </a:solidFill>
            <a:round/>
            <a:headEnd/>
            <a:tailEnd/>
          </a:ln>
          <a:extLst>
            <a:ext uri="{909E8E84-426E-40DD-AFC4-6F175D3DCCD1}">
              <a14:hiddenFill xmlns:a14="http://schemas.microsoft.com/office/drawing/2010/main">
                <a:noFill/>
              </a14:hiddenFill>
            </a:ext>
          </a:extLst>
        </p:spPr>
      </p:cxnSp>
      <p:cxnSp>
        <p:nvCxnSpPr>
          <p:cNvPr id="53" name="直接连接符 83"/>
          <p:cNvCxnSpPr>
            <a:cxnSpLocks noChangeShapeType="1"/>
          </p:cNvCxnSpPr>
          <p:nvPr/>
        </p:nvCxnSpPr>
        <p:spPr bwMode="auto">
          <a:xfrm flipH="1">
            <a:off x="5435599" y="3194872"/>
            <a:ext cx="1872705" cy="2520628"/>
          </a:xfrm>
          <a:prstGeom prst="line">
            <a:avLst/>
          </a:prstGeom>
          <a:noFill/>
          <a:ln w="28575" cmpd="sng">
            <a:solidFill>
              <a:schemeClr val="tx1"/>
            </a:solidFill>
            <a:round/>
            <a:headEnd/>
            <a:tailEnd/>
          </a:ln>
          <a:extLst>
            <a:ext uri="{909E8E84-426E-40DD-AFC4-6F175D3DCCD1}">
              <a14:hiddenFill xmlns:a14="http://schemas.microsoft.com/office/drawing/2010/main">
                <a:noFill/>
              </a14:hiddenFill>
            </a:ext>
          </a:extLst>
        </p:spPr>
      </p:cxnSp>
      <p:cxnSp>
        <p:nvCxnSpPr>
          <p:cNvPr id="56" name="直接连接符 93"/>
          <p:cNvCxnSpPr>
            <a:cxnSpLocks noChangeShapeType="1"/>
          </p:cNvCxnSpPr>
          <p:nvPr/>
        </p:nvCxnSpPr>
        <p:spPr bwMode="auto">
          <a:xfrm>
            <a:off x="7667625" y="3699375"/>
            <a:ext cx="0" cy="2016125"/>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57" name="直接连接符 99"/>
          <p:cNvCxnSpPr>
            <a:cxnSpLocks noChangeShapeType="1"/>
          </p:cNvCxnSpPr>
          <p:nvPr/>
        </p:nvCxnSpPr>
        <p:spPr bwMode="auto">
          <a:xfrm>
            <a:off x="5435600" y="3699375"/>
            <a:ext cx="2232025" cy="0"/>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58" name="直接连接符 110"/>
          <p:cNvCxnSpPr>
            <a:cxnSpLocks noChangeShapeType="1"/>
          </p:cNvCxnSpPr>
          <p:nvPr/>
        </p:nvCxnSpPr>
        <p:spPr bwMode="auto">
          <a:xfrm>
            <a:off x="5435599" y="4390544"/>
            <a:ext cx="1008609" cy="0"/>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59" name="直接连接符 111"/>
          <p:cNvCxnSpPr>
            <a:cxnSpLocks noChangeShapeType="1"/>
          </p:cNvCxnSpPr>
          <p:nvPr/>
        </p:nvCxnSpPr>
        <p:spPr bwMode="auto">
          <a:xfrm>
            <a:off x="6444209" y="4403471"/>
            <a:ext cx="0" cy="1303496"/>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sp>
        <p:nvSpPr>
          <p:cNvPr id="77" name="任意多边形 76"/>
          <p:cNvSpPr/>
          <p:nvPr/>
        </p:nvSpPr>
        <p:spPr bwMode="auto">
          <a:xfrm>
            <a:off x="6134398" y="3573016"/>
            <a:ext cx="1934417" cy="2125419"/>
          </a:xfrm>
          <a:custGeom>
            <a:avLst/>
            <a:gdLst>
              <a:gd name="connsiteX0" fmla="*/ 0 w 1899139"/>
              <a:gd name="connsiteY0" fmla="*/ 2127739 h 2127739"/>
              <a:gd name="connsiteX1" fmla="*/ 316523 w 1899139"/>
              <a:gd name="connsiteY1" fmla="*/ 764931 h 2127739"/>
              <a:gd name="connsiteX2" fmla="*/ 1899139 w 1899139"/>
              <a:gd name="connsiteY2" fmla="*/ 0 h 2127739"/>
              <a:gd name="connsiteX3" fmla="*/ 1899139 w 1899139"/>
              <a:gd name="connsiteY3" fmla="*/ 0 h 2127739"/>
            </a:gdLst>
            <a:ahLst/>
            <a:cxnLst>
              <a:cxn ang="0">
                <a:pos x="connsiteX0" y="connsiteY0"/>
              </a:cxn>
              <a:cxn ang="0">
                <a:pos x="connsiteX1" y="connsiteY1"/>
              </a:cxn>
              <a:cxn ang="0">
                <a:pos x="connsiteX2" y="connsiteY2"/>
              </a:cxn>
              <a:cxn ang="0">
                <a:pos x="connsiteX3" y="connsiteY3"/>
              </a:cxn>
            </a:cxnLst>
            <a:rect l="l" t="t" r="r" b="b"/>
            <a:pathLst>
              <a:path w="1899139" h="2127739">
                <a:moveTo>
                  <a:pt x="0" y="2127739"/>
                </a:moveTo>
                <a:cubicBezTo>
                  <a:pt x="0" y="1623646"/>
                  <a:pt x="0" y="1119554"/>
                  <a:pt x="316523" y="764931"/>
                </a:cubicBezTo>
                <a:cubicBezTo>
                  <a:pt x="633046" y="410308"/>
                  <a:pt x="1899139" y="0"/>
                  <a:pt x="1899139" y="0"/>
                </a:cubicBezTo>
                <a:lnTo>
                  <a:pt x="1899139" y="0"/>
                </a:lnTo>
              </a:path>
            </a:pathLst>
          </a:cu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1" name="文本框 80"/>
          <p:cNvSpPr txBox="1"/>
          <p:nvPr/>
        </p:nvSpPr>
        <p:spPr>
          <a:xfrm>
            <a:off x="5023308" y="2466279"/>
            <a:ext cx="303288" cy="369332"/>
          </a:xfrm>
          <a:prstGeom prst="rect">
            <a:avLst/>
          </a:prstGeom>
          <a:noFill/>
        </p:spPr>
        <p:txBody>
          <a:bodyPr wrap="none" rtlCol="0">
            <a:spAutoFit/>
          </a:bodyPr>
          <a:lstStyle/>
          <a:p>
            <a:r>
              <a:rPr lang="en-US" altLang="zh-CN" sz="1800" i="1" dirty="0">
                <a:latin typeface="Calibri" panose="020F0502020204030204" pitchFamily="34" charset="0"/>
                <a:cs typeface="Calibri" panose="020F0502020204030204" pitchFamily="34" charset="0"/>
              </a:rPr>
              <a:t>q</a:t>
            </a:r>
            <a:endParaRPr lang="zh-CN" altLang="en-US" sz="1800" i="1" dirty="0">
              <a:latin typeface="Calibri" panose="020F0502020204030204" pitchFamily="34" charset="0"/>
              <a:cs typeface="Calibri" panose="020F0502020204030204" pitchFamily="34" charset="0"/>
            </a:endParaRPr>
          </a:p>
        </p:txBody>
      </p:sp>
      <p:sp>
        <p:nvSpPr>
          <p:cNvPr id="82" name="文本框 81"/>
          <p:cNvSpPr txBox="1"/>
          <p:nvPr/>
        </p:nvSpPr>
        <p:spPr>
          <a:xfrm>
            <a:off x="5031321" y="5390160"/>
            <a:ext cx="303288" cy="369332"/>
          </a:xfrm>
          <a:prstGeom prst="rect">
            <a:avLst/>
          </a:prstGeom>
          <a:noFill/>
        </p:spPr>
        <p:txBody>
          <a:bodyPr wrap="none" rtlCol="0">
            <a:spAutoFit/>
          </a:bodyPr>
          <a:lstStyle/>
          <a:p>
            <a:r>
              <a:rPr lang="en-US" altLang="zh-CN" sz="1800" i="1" dirty="0">
                <a:latin typeface="Calibri" panose="020F0502020204030204" pitchFamily="34" charset="0"/>
                <a:cs typeface="Calibri" panose="020F0502020204030204" pitchFamily="34" charset="0"/>
              </a:rPr>
              <a:t>o</a:t>
            </a:r>
            <a:endParaRPr lang="zh-CN" altLang="en-US" sz="1800" i="1" dirty="0">
              <a:latin typeface="Calibri" panose="020F0502020204030204" pitchFamily="34" charset="0"/>
              <a:cs typeface="Calibri" panose="020F0502020204030204" pitchFamily="34" charset="0"/>
            </a:endParaRPr>
          </a:p>
        </p:txBody>
      </p:sp>
      <p:sp>
        <p:nvSpPr>
          <p:cNvPr id="83" name="文本框 82"/>
          <p:cNvSpPr txBox="1"/>
          <p:nvPr/>
        </p:nvSpPr>
        <p:spPr>
          <a:xfrm>
            <a:off x="6237263" y="5634285"/>
            <a:ext cx="418704" cy="369332"/>
          </a:xfrm>
          <a:prstGeom prst="rect">
            <a:avLst/>
          </a:prstGeom>
          <a:noFill/>
        </p:spPr>
        <p:txBody>
          <a:bodyPr wrap="none" rtlCol="0">
            <a:spAutoFit/>
          </a:bodyPr>
          <a:lstStyle/>
          <a:p>
            <a:r>
              <a:rPr lang="en-US" altLang="zh-CN" sz="1800" i="1" dirty="0">
                <a:latin typeface="Calibri" panose="020F0502020204030204" pitchFamily="34" charset="0"/>
                <a:cs typeface="Calibri" panose="020F0502020204030204" pitchFamily="34" charset="0"/>
              </a:rPr>
              <a:t>P*</a:t>
            </a:r>
            <a:endParaRPr lang="zh-CN" altLang="en-US" sz="1800" i="1" dirty="0">
              <a:latin typeface="Calibri" panose="020F0502020204030204" pitchFamily="34" charset="0"/>
              <a:cs typeface="Calibri" panose="020F0502020204030204" pitchFamily="34" charset="0"/>
            </a:endParaRPr>
          </a:p>
        </p:txBody>
      </p:sp>
      <p:sp>
        <p:nvSpPr>
          <p:cNvPr id="84" name="文本框 83"/>
          <p:cNvSpPr txBox="1"/>
          <p:nvPr/>
        </p:nvSpPr>
        <p:spPr>
          <a:xfrm>
            <a:off x="8172400" y="5634285"/>
            <a:ext cx="303288" cy="369332"/>
          </a:xfrm>
          <a:prstGeom prst="rect">
            <a:avLst/>
          </a:prstGeom>
          <a:noFill/>
        </p:spPr>
        <p:txBody>
          <a:bodyPr wrap="none" rtlCol="0">
            <a:spAutoFit/>
          </a:bodyPr>
          <a:lstStyle/>
          <a:p>
            <a:r>
              <a:rPr lang="en-US" altLang="zh-CN" sz="1800" i="1" dirty="0">
                <a:latin typeface="Calibri" panose="020F0502020204030204" pitchFamily="34" charset="0"/>
                <a:cs typeface="Calibri" panose="020F0502020204030204" pitchFamily="34" charset="0"/>
              </a:rPr>
              <a:t>P</a:t>
            </a:r>
            <a:endParaRPr lang="zh-CN" altLang="en-US" sz="1800" i="1" dirty="0">
              <a:latin typeface="Calibri" panose="020F0502020204030204" pitchFamily="34" charset="0"/>
              <a:cs typeface="Calibri" panose="020F0502020204030204" pitchFamily="34" charset="0"/>
            </a:endParaRPr>
          </a:p>
        </p:txBody>
      </p:sp>
      <p:sp>
        <p:nvSpPr>
          <p:cNvPr id="85" name="文本框 84"/>
          <p:cNvSpPr txBox="1"/>
          <p:nvPr/>
        </p:nvSpPr>
        <p:spPr>
          <a:xfrm>
            <a:off x="8083810" y="3280628"/>
            <a:ext cx="399468" cy="369332"/>
          </a:xfrm>
          <a:prstGeom prst="rect">
            <a:avLst/>
          </a:prstGeom>
          <a:noFill/>
        </p:spPr>
        <p:txBody>
          <a:bodyPr wrap="none" rtlCol="0">
            <a:spAutoFit/>
          </a:bodyPr>
          <a:lstStyle/>
          <a:p>
            <a:r>
              <a:rPr lang="en-US" altLang="zh-CN" sz="1800" i="1" dirty="0">
                <a:latin typeface="Calibri" panose="020F0502020204030204" pitchFamily="34" charset="0"/>
                <a:cs typeface="Calibri" panose="020F0502020204030204" pitchFamily="34" charset="0"/>
              </a:rPr>
              <a:t>qc</a:t>
            </a:r>
            <a:endParaRPr lang="zh-CN" altLang="en-US" sz="1800" i="1" dirty="0">
              <a:latin typeface="Calibri" panose="020F0502020204030204" pitchFamily="34" charset="0"/>
              <a:cs typeface="Calibri" panose="020F0502020204030204" pitchFamily="34" charset="0"/>
            </a:endParaRPr>
          </a:p>
        </p:txBody>
      </p:sp>
      <p:pic>
        <p:nvPicPr>
          <p:cNvPr id="19" name="图片 18">
            <a:extLst>
              <a:ext uri="{FF2B5EF4-FFF2-40B4-BE49-F238E27FC236}">
                <a16:creationId xmlns:a16="http://schemas.microsoft.com/office/drawing/2014/main" id="{1B8FED20-EC5D-41C3-B62C-2ABA239909F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8156"/>
          <a:stretch/>
        </p:blipFill>
        <p:spPr>
          <a:xfrm flipH="1">
            <a:off x="1821864" y="2829262"/>
            <a:ext cx="1566811" cy="3024189"/>
          </a:xfrm>
          <a:prstGeom prst="rect">
            <a:avLst/>
          </a:prstGeom>
        </p:spPr>
      </p:pic>
      <p:sp>
        <p:nvSpPr>
          <p:cNvPr id="20" name="标题 1">
            <a:extLst>
              <a:ext uri="{FF2B5EF4-FFF2-40B4-BE49-F238E27FC236}">
                <a16:creationId xmlns:a16="http://schemas.microsoft.com/office/drawing/2014/main" id="{2D3DFCBD-6AF6-4BC3-8A20-3DF2F73C0FB1}"/>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07794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randombar(horizontal)">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7" grpId="0" animBg="1"/>
      <p:bldP spid="81" grpId="0"/>
      <p:bldP spid="82" grpId="0"/>
      <p:bldP spid="83" grpId="0"/>
      <p:bldP spid="84" grpId="0"/>
      <p:bldP spid="8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841321" y="1179779"/>
            <a:ext cx="7403086" cy="235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质量信息不完全的情形</a:t>
            </a:r>
            <a:endParaRPr lang="en-US" altLang="zh-CN" sz="20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endParaRPr>
          </a:p>
          <a:p>
            <a:pPr marL="540000" eaLnBrk="1" hangingPunct="1">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预期的质量成为价格的函数</a:t>
            </a:r>
            <a:r>
              <a:rPr lang="en-US" altLang="zh-CN" sz="18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sym typeface="Wingdings" panose="05000000000000000000" pitchFamily="2" charset="2"/>
              </a:rPr>
              <a:t>需求曲线发生变化</a:t>
            </a:r>
            <a:endParaRPr lang="en-US" altLang="zh-CN" sz="18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sym typeface="Wingdings" panose="05000000000000000000" pitchFamily="2" charset="2"/>
            </a:endParaRPr>
          </a:p>
          <a:p>
            <a:pPr marL="540000" indent="0" eaLnBrk="1" hangingPunct="1">
              <a:lnSpc>
                <a:spcPct val="150000"/>
              </a:lnSpc>
              <a:buNone/>
            </a:pPr>
            <a:r>
              <a:rPr lang="zh-CN" altLang="en-US" sz="18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sym typeface="Wingdings" panose="05000000000000000000" pitchFamily="2" charset="2"/>
              </a:rPr>
              <a:t>需求先随着价格上升而增加</a:t>
            </a:r>
            <a:endParaRPr lang="en-US" altLang="zh-CN" sz="18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sym typeface="Wingdings" panose="05000000000000000000" pitchFamily="2" charset="2"/>
            </a:endParaRPr>
          </a:p>
          <a:p>
            <a:pPr marL="540000" indent="0" eaLnBrk="1" hangingPunct="1">
              <a:lnSpc>
                <a:spcPct val="150000"/>
              </a:lnSpc>
              <a:buNone/>
            </a:pPr>
            <a:r>
              <a:rPr lang="zh-CN" altLang="en-US" sz="18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sym typeface="Wingdings" panose="05000000000000000000" pitchFamily="2" charset="2"/>
              </a:rPr>
              <a:t>增加到一定程度再随着价格上升而减少。</a:t>
            </a:r>
            <a:endParaRPr lang="zh-CN" altLang="en-US" sz="1800" b="0" dirty="0">
              <a:solidFill>
                <a:schemeClr val="tx1"/>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1" name="任意多边形 10"/>
          <p:cNvSpPr/>
          <p:nvPr/>
        </p:nvSpPr>
        <p:spPr bwMode="auto">
          <a:xfrm>
            <a:off x="3373871" y="3592514"/>
            <a:ext cx="1676177" cy="1927482"/>
          </a:xfrm>
          <a:custGeom>
            <a:avLst/>
            <a:gdLst>
              <a:gd name="connsiteX0" fmla="*/ 0 w 1969879"/>
              <a:gd name="connsiteY0" fmla="*/ 2905562 h 2905562"/>
              <a:gd name="connsiteX1" fmla="*/ 1302328 w 1969879"/>
              <a:gd name="connsiteY1" fmla="*/ 2503780 h 2905562"/>
              <a:gd name="connsiteX2" fmla="*/ 1967346 w 1969879"/>
              <a:gd name="connsiteY2" fmla="*/ 1270726 h 2905562"/>
              <a:gd name="connsiteX3" fmla="*/ 1080655 w 1969879"/>
              <a:gd name="connsiteY3" fmla="*/ 134653 h 2905562"/>
              <a:gd name="connsiteX4" fmla="*/ 997528 w 1969879"/>
              <a:gd name="connsiteY4" fmla="*/ 65380 h 2905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9879" h="2905562">
                <a:moveTo>
                  <a:pt x="0" y="2905562"/>
                </a:moveTo>
                <a:cubicBezTo>
                  <a:pt x="487218" y="2840907"/>
                  <a:pt x="974437" y="2776253"/>
                  <a:pt x="1302328" y="2503780"/>
                </a:cubicBezTo>
                <a:cubicBezTo>
                  <a:pt x="1630219" y="2231307"/>
                  <a:pt x="2004291" y="1665580"/>
                  <a:pt x="1967346" y="1270726"/>
                </a:cubicBezTo>
                <a:cubicBezTo>
                  <a:pt x="1930401" y="875872"/>
                  <a:pt x="1242291" y="335544"/>
                  <a:pt x="1080655" y="134653"/>
                </a:cubicBezTo>
                <a:cubicBezTo>
                  <a:pt x="919019" y="-66238"/>
                  <a:pt x="958273" y="-429"/>
                  <a:pt x="997528" y="65380"/>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矩形 12"/>
          <p:cNvSpPr/>
          <p:nvPr/>
        </p:nvSpPr>
        <p:spPr>
          <a:xfrm>
            <a:off x="2576322" y="3348760"/>
            <a:ext cx="303288" cy="369332"/>
          </a:xfrm>
          <a:prstGeom prst="rect">
            <a:avLst/>
          </a:prstGeom>
        </p:spPr>
        <p:txBody>
          <a:bodyPr wrap="none">
            <a:spAutoFit/>
          </a:bodyPr>
          <a:lstStyle/>
          <a:p>
            <a:r>
              <a:rPr lang="en-US" altLang="zh-CN" sz="1800" i="1" dirty="0">
                <a:latin typeface="Calibri" panose="020F0502020204030204" pitchFamily="34" charset="0"/>
                <a:cs typeface="Calibri" panose="020F0502020204030204" pitchFamily="34" charset="0"/>
                <a:sym typeface="Wingdings" panose="05000000000000000000" pitchFamily="2" charset="2"/>
              </a:rPr>
              <a:t>P</a:t>
            </a:r>
            <a:endParaRPr lang="zh-CN" altLang="en-US" sz="1800" i="1" dirty="0">
              <a:latin typeface="Calibri" panose="020F0502020204030204" pitchFamily="34" charset="0"/>
              <a:cs typeface="Calibri" panose="020F0502020204030204" pitchFamily="34" charset="0"/>
            </a:endParaRPr>
          </a:p>
        </p:txBody>
      </p:sp>
      <p:sp>
        <p:nvSpPr>
          <p:cNvPr id="15" name="矩形 14"/>
          <p:cNvSpPr/>
          <p:nvPr/>
        </p:nvSpPr>
        <p:spPr>
          <a:xfrm>
            <a:off x="4665681" y="3389656"/>
            <a:ext cx="327334" cy="369332"/>
          </a:xfrm>
          <a:prstGeom prst="rect">
            <a:avLst/>
          </a:prstGeom>
        </p:spPr>
        <p:txBody>
          <a:bodyPr wrap="none">
            <a:spAutoFit/>
          </a:bodyPr>
          <a:lstStyle/>
          <a:p>
            <a:r>
              <a:rPr lang="en-US" altLang="zh-CN" sz="1800" i="1" dirty="0">
                <a:latin typeface="Calibri" panose="020F0502020204030204" pitchFamily="34" charset="0"/>
                <a:cs typeface="Calibri" panose="020F0502020204030204" pitchFamily="34" charset="0"/>
                <a:sym typeface="Wingdings" panose="05000000000000000000" pitchFamily="2" charset="2"/>
              </a:rPr>
              <a:t>D</a:t>
            </a:r>
            <a:endParaRPr lang="zh-CN" altLang="en-US" sz="1800" i="1" dirty="0">
              <a:latin typeface="Calibri" panose="020F0502020204030204" pitchFamily="34" charset="0"/>
              <a:cs typeface="Calibri" panose="020F0502020204030204" pitchFamily="34" charset="0"/>
            </a:endParaRPr>
          </a:p>
        </p:txBody>
      </p:sp>
      <p:sp>
        <p:nvSpPr>
          <p:cNvPr id="12" name="矩形 11">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二、信息不完全与市场失灵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cxnSp>
        <p:nvCxnSpPr>
          <p:cNvPr id="16" name="直接箭头连接符 78"/>
          <p:cNvCxnSpPr>
            <a:cxnSpLocks noChangeShapeType="1"/>
          </p:cNvCxnSpPr>
          <p:nvPr/>
        </p:nvCxnSpPr>
        <p:spPr bwMode="auto">
          <a:xfrm flipV="1">
            <a:off x="2915816" y="3368197"/>
            <a:ext cx="0" cy="2376116"/>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 name="直接箭头连接符 80"/>
          <p:cNvCxnSpPr>
            <a:cxnSpLocks noChangeShapeType="1"/>
          </p:cNvCxnSpPr>
          <p:nvPr/>
        </p:nvCxnSpPr>
        <p:spPr bwMode="auto">
          <a:xfrm>
            <a:off x="2915816" y="5744313"/>
            <a:ext cx="2592288"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sp>
        <p:nvSpPr>
          <p:cNvPr id="20" name="文本框 19"/>
          <p:cNvSpPr txBox="1"/>
          <p:nvPr/>
        </p:nvSpPr>
        <p:spPr>
          <a:xfrm>
            <a:off x="5204754" y="5765066"/>
            <a:ext cx="303288" cy="369332"/>
          </a:xfrm>
          <a:prstGeom prst="rect">
            <a:avLst/>
          </a:prstGeom>
          <a:noFill/>
        </p:spPr>
        <p:txBody>
          <a:bodyPr wrap="none" rtlCol="0">
            <a:spAutoFit/>
          </a:bodyPr>
          <a:lstStyle/>
          <a:p>
            <a:r>
              <a:rPr lang="en-US" altLang="zh-CN" sz="1800" i="1" dirty="0">
                <a:latin typeface="Calibri" panose="020F0502020204030204" pitchFamily="34" charset="0"/>
                <a:cs typeface="Calibri" panose="020F0502020204030204" pitchFamily="34" charset="0"/>
              </a:rPr>
              <a:t>P</a:t>
            </a:r>
            <a:endParaRPr lang="zh-CN" altLang="en-US" sz="1800" i="1" dirty="0">
              <a:latin typeface="Calibri" panose="020F0502020204030204" pitchFamily="34" charset="0"/>
              <a:cs typeface="Calibri" panose="020F0502020204030204" pitchFamily="34" charset="0"/>
            </a:endParaRPr>
          </a:p>
        </p:txBody>
      </p:sp>
      <p:sp>
        <p:nvSpPr>
          <p:cNvPr id="14" name="标题 1">
            <a:extLst>
              <a:ext uri="{FF2B5EF4-FFF2-40B4-BE49-F238E27FC236}">
                <a16:creationId xmlns:a16="http://schemas.microsoft.com/office/drawing/2014/main" id="{ABC90FE6-2C91-4706-81D3-E47E8E1E1F1F}"/>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37541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15" grpId="0"/>
      <p:bldP spid="2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683568" y="1177923"/>
            <a:ext cx="4742413" cy="1057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质量信息不完全的情形</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684000" eaLnBrk="1" hangingPunct="1">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供求均衡</a:t>
            </a:r>
          </a:p>
        </p:txBody>
      </p:sp>
      <p:sp>
        <p:nvSpPr>
          <p:cNvPr id="6" name="矩形 5">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二、信息不完全与市场失灵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cxnSp>
        <p:nvCxnSpPr>
          <p:cNvPr id="7" name="直接箭头连接符 78"/>
          <p:cNvCxnSpPr>
            <a:cxnSpLocks noChangeShapeType="1"/>
          </p:cNvCxnSpPr>
          <p:nvPr/>
        </p:nvCxnSpPr>
        <p:spPr bwMode="auto">
          <a:xfrm flipV="1">
            <a:off x="2940524" y="2289300"/>
            <a:ext cx="0" cy="3499803"/>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 name="直接箭头连接符 80"/>
          <p:cNvCxnSpPr>
            <a:cxnSpLocks noChangeShapeType="1"/>
          </p:cNvCxnSpPr>
          <p:nvPr/>
        </p:nvCxnSpPr>
        <p:spPr bwMode="auto">
          <a:xfrm>
            <a:off x="2940524" y="5789103"/>
            <a:ext cx="4349071" cy="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 name="直接连接符 82"/>
          <p:cNvCxnSpPr>
            <a:cxnSpLocks noChangeShapeType="1"/>
          </p:cNvCxnSpPr>
          <p:nvPr/>
        </p:nvCxnSpPr>
        <p:spPr bwMode="auto">
          <a:xfrm flipH="1">
            <a:off x="3836612" y="3782256"/>
            <a:ext cx="3619414" cy="1316130"/>
          </a:xfrm>
          <a:prstGeom prst="line">
            <a:avLst/>
          </a:prstGeom>
          <a:noFill/>
          <a:ln w="28575" cmpd="sng">
            <a:solidFill>
              <a:schemeClr val="tx1"/>
            </a:solidFill>
            <a:round/>
            <a:headEnd/>
            <a:tailEnd/>
          </a:ln>
          <a:extLst>
            <a:ext uri="{909E8E84-426E-40DD-AFC4-6F175D3DCCD1}">
              <a14:hiddenFill xmlns:a14="http://schemas.microsoft.com/office/drawing/2010/main">
                <a:noFill/>
              </a14:hiddenFill>
            </a:ext>
          </a:extLst>
        </p:spPr>
      </p:cxnSp>
      <p:cxnSp>
        <p:nvCxnSpPr>
          <p:cNvPr id="10" name="直接连接符 83"/>
          <p:cNvCxnSpPr>
            <a:cxnSpLocks noChangeShapeType="1"/>
          </p:cNvCxnSpPr>
          <p:nvPr/>
        </p:nvCxnSpPr>
        <p:spPr bwMode="auto">
          <a:xfrm flipH="1">
            <a:off x="3987455" y="2844214"/>
            <a:ext cx="1918574" cy="795495"/>
          </a:xfrm>
          <a:prstGeom prst="line">
            <a:avLst/>
          </a:prstGeom>
          <a:noFill/>
          <a:ln w="28575" cmpd="sng">
            <a:solidFill>
              <a:schemeClr val="tx1"/>
            </a:solidFill>
            <a:round/>
            <a:headEnd/>
            <a:tailEnd/>
          </a:ln>
          <a:extLst>
            <a:ext uri="{909E8E84-426E-40DD-AFC4-6F175D3DCCD1}">
              <a14:hiddenFill xmlns:a14="http://schemas.microsoft.com/office/drawing/2010/main">
                <a:noFill/>
              </a14:hiddenFill>
            </a:ext>
          </a:extLst>
        </p:spPr>
      </p:cxnSp>
      <p:cxnSp>
        <p:nvCxnSpPr>
          <p:cNvPr id="11" name="直接连接符 93"/>
          <p:cNvCxnSpPr>
            <a:cxnSpLocks noChangeShapeType="1"/>
          </p:cNvCxnSpPr>
          <p:nvPr/>
        </p:nvCxnSpPr>
        <p:spPr bwMode="auto">
          <a:xfrm>
            <a:off x="6835285" y="3962257"/>
            <a:ext cx="0" cy="1826846"/>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2" name="直接连接符 99"/>
          <p:cNvCxnSpPr>
            <a:cxnSpLocks noChangeShapeType="1"/>
          </p:cNvCxnSpPr>
          <p:nvPr/>
        </p:nvCxnSpPr>
        <p:spPr bwMode="auto">
          <a:xfrm>
            <a:off x="2940523" y="3962257"/>
            <a:ext cx="3863725" cy="0"/>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3" name="直接连接符 110"/>
          <p:cNvCxnSpPr>
            <a:cxnSpLocks noChangeShapeType="1"/>
          </p:cNvCxnSpPr>
          <p:nvPr/>
        </p:nvCxnSpPr>
        <p:spPr bwMode="auto">
          <a:xfrm>
            <a:off x="2940523" y="4464147"/>
            <a:ext cx="2520777" cy="0"/>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4" name="直接连接符 111"/>
          <p:cNvCxnSpPr>
            <a:cxnSpLocks noChangeShapeType="1"/>
          </p:cNvCxnSpPr>
          <p:nvPr/>
        </p:nvCxnSpPr>
        <p:spPr bwMode="auto">
          <a:xfrm>
            <a:off x="5496559" y="4464147"/>
            <a:ext cx="0" cy="1324956"/>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sp>
        <p:nvSpPr>
          <p:cNvPr id="16" name="文本框 15"/>
          <p:cNvSpPr txBox="1"/>
          <p:nvPr/>
        </p:nvSpPr>
        <p:spPr>
          <a:xfrm>
            <a:off x="2528232" y="2539882"/>
            <a:ext cx="343364"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P</a:t>
            </a:r>
            <a:endParaRPr lang="zh-CN" altLang="en-US" sz="2400" i="1" dirty="0">
              <a:latin typeface="Calibri" panose="020F0502020204030204" pitchFamily="34" charset="0"/>
              <a:cs typeface="Calibri" panose="020F0502020204030204" pitchFamily="34" charset="0"/>
            </a:endParaRPr>
          </a:p>
        </p:txBody>
      </p:sp>
      <p:sp>
        <p:nvSpPr>
          <p:cNvPr id="17" name="文本框 16"/>
          <p:cNvSpPr txBox="1"/>
          <p:nvPr/>
        </p:nvSpPr>
        <p:spPr>
          <a:xfrm>
            <a:off x="2536245" y="5463763"/>
            <a:ext cx="394660" cy="584775"/>
          </a:xfrm>
          <a:prstGeom prst="rect">
            <a:avLst/>
          </a:prstGeom>
          <a:noFill/>
        </p:spPr>
        <p:txBody>
          <a:bodyPr wrap="none" rtlCol="0">
            <a:spAutoFit/>
          </a:bodyPr>
          <a:lstStyle/>
          <a:p>
            <a:r>
              <a:rPr lang="en-US" altLang="zh-CN" i="1" dirty="0">
                <a:latin typeface="Calibri" panose="020F0502020204030204" pitchFamily="34" charset="0"/>
                <a:cs typeface="Calibri" panose="020F0502020204030204" pitchFamily="34" charset="0"/>
              </a:rPr>
              <a:t>o</a:t>
            </a:r>
            <a:endParaRPr lang="zh-CN" altLang="en-US" i="1" dirty="0">
              <a:latin typeface="Calibri" panose="020F0502020204030204" pitchFamily="34" charset="0"/>
              <a:cs typeface="Calibri" panose="020F0502020204030204" pitchFamily="34" charset="0"/>
            </a:endParaRPr>
          </a:p>
        </p:txBody>
      </p:sp>
      <p:sp>
        <p:nvSpPr>
          <p:cNvPr id="18" name="文本框 17"/>
          <p:cNvSpPr txBox="1"/>
          <p:nvPr/>
        </p:nvSpPr>
        <p:spPr>
          <a:xfrm>
            <a:off x="4920489" y="5687840"/>
            <a:ext cx="494046"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Q</a:t>
            </a:r>
            <a:r>
              <a:rPr lang="en-US" altLang="zh-CN" sz="2400" i="1" baseline="-25000" dirty="0">
                <a:latin typeface="Calibri" panose="020F0502020204030204" pitchFamily="34" charset="0"/>
                <a:cs typeface="Calibri" panose="020F0502020204030204" pitchFamily="34" charset="0"/>
              </a:rPr>
              <a:t>1</a:t>
            </a:r>
            <a:endParaRPr lang="zh-CN" altLang="en-US" sz="2400" i="1" baseline="-25000" dirty="0">
              <a:latin typeface="Calibri" panose="020F0502020204030204" pitchFamily="34" charset="0"/>
              <a:cs typeface="Calibri" panose="020F0502020204030204" pitchFamily="34" charset="0"/>
            </a:endParaRPr>
          </a:p>
        </p:txBody>
      </p:sp>
      <p:sp>
        <p:nvSpPr>
          <p:cNvPr id="20" name="文本框 19"/>
          <p:cNvSpPr txBox="1"/>
          <p:nvPr/>
        </p:nvSpPr>
        <p:spPr>
          <a:xfrm>
            <a:off x="6006066" y="2539882"/>
            <a:ext cx="428322"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S</a:t>
            </a:r>
            <a:r>
              <a:rPr lang="en-US" altLang="zh-CN" sz="2400" i="1" baseline="-25000" dirty="0">
                <a:latin typeface="Calibri" panose="020F0502020204030204" pitchFamily="34" charset="0"/>
                <a:cs typeface="Calibri" panose="020F0502020204030204" pitchFamily="34" charset="0"/>
              </a:rPr>
              <a:t>1</a:t>
            </a:r>
            <a:endParaRPr lang="zh-CN" altLang="en-US" sz="2400" i="1" baseline="-25000" dirty="0">
              <a:latin typeface="Calibri" panose="020F0502020204030204" pitchFamily="34" charset="0"/>
              <a:cs typeface="Calibri" panose="020F0502020204030204" pitchFamily="34" charset="0"/>
            </a:endParaRPr>
          </a:p>
        </p:txBody>
      </p:sp>
      <p:sp>
        <p:nvSpPr>
          <p:cNvPr id="29" name="任意多边形 28"/>
          <p:cNvSpPr/>
          <p:nvPr/>
        </p:nvSpPr>
        <p:spPr bwMode="auto">
          <a:xfrm rot="1007308">
            <a:off x="3799535" y="2706934"/>
            <a:ext cx="1843185" cy="3030424"/>
          </a:xfrm>
          <a:custGeom>
            <a:avLst/>
            <a:gdLst>
              <a:gd name="connsiteX0" fmla="*/ 0 w 1725908"/>
              <a:gd name="connsiteY0" fmla="*/ 0 h 3050930"/>
              <a:gd name="connsiteX1" fmla="*/ 1714500 w 1725908"/>
              <a:gd name="connsiteY1" fmla="*/ 975946 h 3050930"/>
              <a:gd name="connsiteX2" fmla="*/ 791307 w 1725908"/>
              <a:gd name="connsiteY2" fmla="*/ 3050930 h 3050930"/>
              <a:gd name="connsiteX3" fmla="*/ 791307 w 1725908"/>
              <a:gd name="connsiteY3" fmla="*/ 3050930 h 3050930"/>
            </a:gdLst>
            <a:ahLst/>
            <a:cxnLst>
              <a:cxn ang="0">
                <a:pos x="connsiteX0" y="connsiteY0"/>
              </a:cxn>
              <a:cxn ang="0">
                <a:pos x="connsiteX1" y="connsiteY1"/>
              </a:cxn>
              <a:cxn ang="0">
                <a:pos x="connsiteX2" y="connsiteY2"/>
              </a:cxn>
              <a:cxn ang="0">
                <a:pos x="connsiteX3" y="connsiteY3"/>
              </a:cxn>
            </a:cxnLst>
            <a:rect l="l" t="t" r="r" b="b"/>
            <a:pathLst>
              <a:path w="1725908" h="3050930">
                <a:moveTo>
                  <a:pt x="0" y="0"/>
                </a:moveTo>
                <a:cubicBezTo>
                  <a:pt x="791308" y="233729"/>
                  <a:pt x="1582616" y="467458"/>
                  <a:pt x="1714500" y="975946"/>
                </a:cubicBezTo>
                <a:cubicBezTo>
                  <a:pt x="1846384" y="1484434"/>
                  <a:pt x="791307" y="3050930"/>
                  <a:pt x="791307" y="3050930"/>
                </a:cubicBezTo>
                <a:lnTo>
                  <a:pt x="791307" y="3050930"/>
                </a:lnTo>
              </a:path>
            </a:pathLst>
          </a:cu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32" name="直接连接符 99"/>
          <p:cNvCxnSpPr>
            <a:cxnSpLocks noChangeShapeType="1"/>
          </p:cNvCxnSpPr>
          <p:nvPr/>
        </p:nvCxnSpPr>
        <p:spPr bwMode="auto">
          <a:xfrm>
            <a:off x="2924494" y="3124657"/>
            <a:ext cx="2320782" cy="0"/>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34" name="直接连接符 93"/>
          <p:cNvCxnSpPr>
            <a:cxnSpLocks noChangeShapeType="1"/>
          </p:cNvCxnSpPr>
          <p:nvPr/>
        </p:nvCxnSpPr>
        <p:spPr bwMode="auto">
          <a:xfrm>
            <a:off x="5245276" y="3124657"/>
            <a:ext cx="0" cy="2664446"/>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42" name="直接连接符 111"/>
          <p:cNvCxnSpPr>
            <a:cxnSpLocks noChangeShapeType="1"/>
            <a:stCxn id="29" idx="1"/>
          </p:cNvCxnSpPr>
          <p:nvPr/>
        </p:nvCxnSpPr>
        <p:spPr bwMode="auto">
          <a:xfrm flipH="1">
            <a:off x="5743582" y="3962257"/>
            <a:ext cx="5850" cy="1826846"/>
          </a:xfrm>
          <a:prstGeom prst="line">
            <a:avLst/>
          </a:prstGeom>
          <a:noFill/>
          <a:ln w="15875" cmpd="sng">
            <a:solidFill>
              <a:schemeClr val="tx1"/>
            </a:solidFill>
            <a:prstDash val="lgDash"/>
            <a:round/>
            <a:headEnd/>
            <a:tailEnd/>
          </a:ln>
          <a:extLst>
            <a:ext uri="{909E8E84-426E-40DD-AFC4-6F175D3DCCD1}">
              <a14:hiddenFill xmlns:a14="http://schemas.microsoft.com/office/drawing/2010/main">
                <a:noFill/>
              </a14:hiddenFill>
            </a:ext>
          </a:extLst>
        </p:spPr>
      </p:cxnSp>
      <p:sp>
        <p:nvSpPr>
          <p:cNvPr id="45" name="文本框 44"/>
          <p:cNvSpPr txBox="1"/>
          <p:nvPr/>
        </p:nvSpPr>
        <p:spPr>
          <a:xfrm>
            <a:off x="2524496" y="2995334"/>
            <a:ext cx="447558"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P</a:t>
            </a:r>
            <a:r>
              <a:rPr lang="en-US" altLang="zh-CN" sz="2400" i="1" baseline="30000" dirty="0">
                <a:latin typeface="Calibri" panose="020F0502020204030204" pitchFamily="34" charset="0"/>
                <a:cs typeface="Calibri" panose="020F0502020204030204" pitchFamily="34" charset="0"/>
              </a:rPr>
              <a:t>1</a:t>
            </a:r>
            <a:endParaRPr lang="zh-CN" altLang="en-US" sz="2400" i="1" baseline="30000" dirty="0">
              <a:latin typeface="Calibri" panose="020F0502020204030204" pitchFamily="34" charset="0"/>
              <a:cs typeface="Calibri" panose="020F0502020204030204" pitchFamily="34" charset="0"/>
            </a:endParaRPr>
          </a:p>
        </p:txBody>
      </p:sp>
      <p:sp>
        <p:nvSpPr>
          <p:cNvPr id="46" name="文本框 45"/>
          <p:cNvSpPr txBox="1"/>
          <p:nvPr/>
        </p:nvSpPr>
        <p:spPr>
          <a:xfrm>
            <a:off x="2466671" y="3836046"/>
            <a:ext cx="445956"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P</a:t>
            </a:r>
            <a:r>
              <a:rPr lang="zh-CN" altLang="en-US" sz="2400" i="1" baseline="30000" dirty="0">
                <a:latin typeface="Calibri" panose="020F0502020204030204" pitchFamily="34" charset="0"/>
                <a:cs typeface="Calibri" panose="020F0502020204030204" pitchFamily="34" charset="0"/>
              </a:rPr>
              <a:t>*</a:t>
            </a:r>
          </a:p>
        </p:txBody>
      </p:sp>
      <p:sp>
        <p:nvSpPr>
          <p:cNvPr id="47" name="文本框 46"/>
          <p:cNvSpPr txBox="1"/>
          <p:nvPr/>
        </p:nvSpPr>
        <p:spPr>
          <a:xfrm>
            <a:off x="2448198" y="4297711"/>
            <a:ext cx="447558"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P</a:t>
            </a:r>
            <a:r>
              <a:rPr lang="en-US" altLang="zh-CN" sz="2400" i="1" baseline="30000" dirty="0">
                <a:latin typeface="Calibri" panose="020F0502020204030204" pitchFamily="34" charset="0"/>
                <a:cs typeface="Calibri" panose="020F0502020204030204" pitchFamily="34" charset="0"/>
              </a:rPr>
              <a:t>2</a:t>
            </a:r>
            <a:endParaRPr lang="zh-CN" altLang="en-US" sz="2400" i="1" baseline="30000" dirty="0">
              <a:latin typeface="Calibri" panose="020F0502020204030204" pitchFamily="34" charset="0"/>
              <a:cs typeface="Calibri" panose="020F0502020204030204" pitchFamily="34" charset="0"/>
            </a:endParaRPr>
          </a:p>
        </p:txBody>
      </p:sp>
      <p:sp>
        <p:nvSpPr>
          <p:cNvPr id="49" name="文本框 48"/>
          <p:cNvSpPr txBox="1"/>
          <p:nvPr/>
        </p:nvSpPr>
        <p:spPr>
          <a:xfrm>
            <a:off x="5249536" y="5693272"/>
            <a:ext cx="494046"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Q</a:t>
            </a:r>
            <a:r>
              <a:rPr lang="en-US" altLang="zh-CN" sz="2400" i="1" baseline="-25000" dirty="0">
                <a:latin typeface="Calibri" panose="020F0502020204030204" pitchFamily="34" charset="0"/>
                <a:cs typeface="Calibri" panose="020F0502020204030204" pitchFamily="34" charset="0"/>
              </a:rPr>
              <a:t>2</a:t>
            </a:r>
            <a:endParaRPr lang="zh-CN" altLang="en-US" sz="2400" i="1" baseline="-25000" dirty="0">
              <a:latin typeface="Calibri" panose="020F0502020204030204" pitchFamily="34" charset="0"/>
              <a:cs typeface="Calibri" panose="020F0502020204030204" pitchFamily="34" charset="0"/>
            </a:endParaRPr>
          </a:p>
        </p:txBody>
      </p:sp>
      <p:sp>
        <p:nvSpPr>
          <p:cNvPr id="50" name="文本框 49"/>
          <p:cNvSpPr txBox="1"/>
          <p:nvPr/>
        </p:nvSpPr>
        <p:spPr>
          <a:xfrm>
            <a:off x="5567433" y="5695843"/>
            <a:ext cx="494046" cy="461665"/>
          </a:xfrm>
          <a:prstGeom prst="rect">
            <a:avLst/>
          </a:prstGeom>
          <a:noFill/>
        </p:spPr>
        <p:txBody>
          <a:bodyPr wrap="none" rtlCol="0">
            <a:spAutoFit/>
          </a:bodyPr>
          <a:lstStyle/>
          <a:p>
            <a:r>
              <a:rPr lang="en-US" altLang="zh-CN" sz="2400" i="1" dirty="0" err="1">
                <a:latin typeface="Calibri" panose="020F0502020204030204" pitchFamily="34" charset="0"/>
                <a:cs typeface="Calibri" panose="020F0502020204030204" pitchFamily="34" charset="0"/>
              </a:rPr>
              <a:t>Q</a:t>
            </a:r>
            <a:r>
              <a:rPr lang="en-US" altLang="zh-CN" sz="2400" i="1" baseline="-25000" dirty="0" err="1">
                <a:latin typeface="Calibri" panose="020F0502020204030204" pitchFamily="34" charset="0"/>
                <a:cs typeface="Calibri" panose="020F0502020204030204" pitchFamily="34" charset="0"/>
              </a:rPr>
              <a:t>d</a:t>
            </a:r>
            <a:endParaRPr lang="zh-CN" altLang="en-US" sz="2400" i="1" baseline="-25000" dirty="0">
              <a:latin typeface="Calibri" panose="020F0502020204030204" pitchFamily="34" charset="0"/>
              <a:cs typeface="Calibri" panose="020F0502020204030204" pitchFamily="34" charset="0"/>
            </a:endParaRPr>
          </a:p>
        </p:txBody>
      </p:sp>
      <p:sp>
        <p:nvSpPr>
          <p:cNvPr id="51" name="文本框 50"/>
          <p:cNvSpPr txBox="1"/>
          <p:nvPr/>
        </p:nvSpPr>
        <p:spPr>
          <a:xfrm>
            <a:off x="6520500" y="5705152"/>
            <a:ext cx="470000"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Q</a:t>
            </a:r>
            <a:r>
              <a:rPr lang="en-US" altLang="zh-CN" sz="2400" i="1" baseline="-25000" dirty="0">
                <a:latin typeface="Calibri" panose="020F0502020204030204" pitchFamily="34" charset="0"/>
                <a:cs typeface="Calibri" panose="020F0502020204030204" pitchFamily="34" charset="0"/>
              </a:rPr>
              <a:t>s</a:t>
            </a:r>
            <a:endParaRPr lang="zh-CN" altLang="en-US" sz="2400" i="1" baseline="-25000" dirty="0">
              <a:latin typeface="Calibri" panose="020F0502020204030204" pitchFamily="34" charset="0"/>
              <a:cs typeface="Calibri" panose="020F0502020204030204" pitchFamily="34" charset="0"/>
            </a:endParaRPr>
          </a:p>
        </p:txBody>
      </p:sp>
      <p:sp>
        <p:nvSpPr>
          <p:cNvPr id="52" name="文本框 51"/>
          <p:cNvSpPr txBox="1"/>
          <p:nvPr/>
        </p:nvSpPr>
        <p:spPr>
          <a:xfrm>
            <a:off x="7001563" y="5797637"/>
            <a:ext cx="389850"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Q</a:t>
            </a:r>
            <a:endParaRPr lang="zh-CN" altLang="en-US" sz="2400" i="1" baseline="-25000" dirty="0">
              <a:latin typeface="Calibri" panose="020F0502020204030204" pitchFamily="34" charset="0"/>
              <a:cs typeface="Calibri" panose="020F0502020204030204" pitchFamily="34" charset="0"/>
            </a:endParaRPr>
          </a:p>
        </p:txBody>
      </p:sp>
      <p:sp>
        <p:nvSpPr>
          <p:cNvPr id="55" name="文本框 54"/>
          <p:cNvSpPr txBox="1"/>
          <p:nvPr/>
        </p:nvSpPr>
        <p:spPr>
          <a:xfrm>
            <a:off x="7362598" y="3782256"/>
            <a:ext cx="428322"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S</a:t>
            </a:r>
            <a:r>
              <a:rPr lang="en-US" altLang="zh-CN" sz="2400" i="1" baseline="-25000" dirty="0">
                <a:latin typeface="Calibri" panose="020F0502020204030204" pitchFamily="34" charset="0"/>
                <a:cs typeface="Calibri" panose="020F0502020204030204" pitchFamily="34" charset="0"/>
              </a:rPr>
              <a:t>2</a:t>
            </a:r>
            <a:endParaRPr lang="zh-CN" altLang="en-US" sz="2400" i="1" baseline="-25000" dirty="0">
              <a:latin typeface="Calibri" panose="020F0502020204030204" pitchFamily="34" charset="0"/>
              <a:cs typeface="Calibri" panose="020F0502020204030204" pitchFamily="34" charset="0"/>
            </a:endParaRPr>
          </a:p>
        </p:txBody>
      </p:sp>
      <p:sp>
        <p:nvSpPr>
          <p:cNvPr id="56" name="文本框 55"/>
          <p:cNvSpPr txBox="1"/>
          <p:nvPr/>
        </p:nvSpPr>
        <p:spPr>
          <a:xfrm>
            <a:off x="3851920" y="2232402"/>
            <a:ext cx="373820" cy="461665"/>
          </a:xfrm>
          <a:prstGeom prst="rect">
            <a:avLst/>
          </a:prstGeom>
          <a:noFill/>
        </p:spPr>
        <p:txBody>
          <a:bodyPr wrap="none" rtlCol="0">
            <a:spAutoFit/>
          </a:bodyPr>
          <a:lstStyle/>
          <a:p>
            <a:r>
              <a:rPr lang="en-US" altLang="zh-CN" sz="2400" i="1" dirty="0">
                <a:latin typeface="Calibri" panose="020F0502020204030204" pitchFamily="34" charset="0"/>
                <a:cs typeface="Calibri" panose="020F0502020204030204" pitchFamily="34" charset="0"/>
              </a:rPr>
              <a:t>D</a:t>
            </a:r>
            <a:endParaRPr lang="zh-CN" altLang="en-US" sz="24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5189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p:bldP spid="29" grpId="0" animBg="1"/>
      <p:bldP spid="45" grpId="0"/>
      <p:bldP spid="46" grpId="0"/>
      <p:bldP spid="47" grpId="0"/>
      <p:bldP spid="49" grpId="0"/>
      <p:bldP spid="50" grpId="0"/>
      <p:bldP spid="51" grpId="0"/>
      <p:bldP spid="52" grpId="0"/>
      <p:bldP spid="55" grpId="0"/>
      <p:bldP spid="5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534767" y="1263134"/>
            <a:ext cx="8141689" cy="5592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ts val="33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信息不对称</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信息不对称是指交易双方对交易对象的信息是不对称的，一方面拥有更优势的信息，另外一方在信息掌握上相对劣势</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742950" lvl="2" indent="-342900" eaLnBrk="1" hangingPunct="1">
              <a:lnSpc>
                <a:spcPct val="150000"/>
              </a:lnSpc>
            </a:pPr>
            <a:r>
              <a:rPr lang="zh-CN" altLang="en-US" sz="1800" dirty="0">
                <a:latin typeface="微软雅黑" panose="020B0503020204020204" pitchFamily="34" charset="-122"/>
                <a:ea typeface="微软雅黑" panose="020B0503020204020204" pitchFamily="34" charset="-122"/>
              </a:rPr>
              <a:t>比如在餐饮业，菜品是否安全卫生，供给者知道，消费者不知道（准确地说，是观察不到）</a:t>
            </a:r>
            <a:endParaRPr lang="en-US" altLang="zh-CN" sz="1800" dirty="0">
              <a:latin typeface="微软雅黑" panose="020B0503020204020204" pitchFamily="34" charset="-122"/>
              <a:ea typeface="微软雅黑" panose="020B0503020204020204" pitchFamily="34" charset="-122"/>
            </a:endParaRPr>
          </a:p>
          <a:p>
            <a:pPr marL="742950" lvl="2" indent="-342900" eaLnBrk="1" hangingPunct="1">
              <a:lnSpc>
                <a:spcPct val="150000"/>
              </a:lnSpc>
            </a:pPr>
            <a:r>
              <a:rPr lang="zh-CN" altLang="en-US" sz="1800" dirty="0">
                <a:latin typeface="微软雅黑" panose="020B0503020204020204" pitchFamily="34" charset="-122"/>
                <a:ea typeface="微软雅黑" panose="020B0503020204020204" pitchFamily="34" charset="-122"/>
              </a:rPr>
              <a:t>比如在劳动市场，求职者是否有能力，供给者知道，需求方不知道（准确地说，是观察不到）</a:t>
            </a:r>
            <a:endParaRPr lang="en-US" altLang="zh-CN" sz="1800" dirty="0">
              <a:latin typeface="微软雅黑" panose="020B0503020204020204" pitchFamily="34" charset="-122"/>
              <a:ea typeface="微软雅黑" panose="020B0503020204020204" pitchFamily="34" charset="-122"/>
            </a:endParaRPr>
          </a:p>
          <a:p>
            <a:pPr marL="742950" lvl="2" indent="-342900" eaLnBrk="1" hangingPunct="1">
              <a:lnSpc>
                <a:spcPct val="150000"/>
              </a:lnSpc>
            </a:pPr>
            <a:r>
              <a:rPr lang="zh-CN" altLang="en-US" sz="1800" dirty="0">
                <a:latin typeface="微软雅黑" panose="020B0503020204020204" pitchFamily="34" charset="-122"/>
                <a:ea typeface="微软雅黑" panose="020B0503020204020204" pitchFamily="34" charset="-122"/>
              </a:rPr>
              <a:t>比如在信贷市场，信贷需求者是否有能力还贷，需求者知道，供给者（银行）不知道，准确地说，是观察不到）</a:t>
            </a:r>
            <a:endParaRPr lang="en-US" altLang="zh-CN" sz="180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需要注意的是，信息劣势是指“未观察到”，但是可以“推测到”</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64A81A2E-264E-4A41-9BDE-EBBB4AE19C61}"/>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22394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32677" y="1004818"/>
            <a:ext cx="8424936" cy="5592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20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信息不对称的直接结果：逆向选择与道德风险</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defRPr/>
            </a:pPr>
            <a:r>
              <a:rPr lang="zh-CN" altLang="en-US" sz="1800" b="0" dirty="0">
                <a:solidFill>
                  <a:schemeClr val="tx1"/>
                </a:solidFill>
                <a:latin typeface="微软雅黑" panose="020B0503020204020204" pitchFamily="34" charset="-122"/>
                <a:ea typeface="微软雅黑" panose="020B0503020204020204" pitchFamily="34" charset="-122"/>
              </a:rPr>
              <a:t>逆向选择</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800100" lvl="2" indent="0" eaLnBrk="1" hangingPunct="1">
              <a:lnSpc>
                <a:spcPct val="200000"/>
              </a:lnSpc>
              <a:buNone/>
              <a:defRPr/>
            </a:pPr>
            <a:r>
              <a:rPr lang="zh-CN" altLang="en-US" sz="1800" b="0" dirty="0">
                <a:solidFill>
                  <a:schemeClr val="tx1"/>
                </a:solidFill>
                <a:latin typeface="微软雅黑" panose="020B0503020204020204" pitchFamily="34" charset="-122"/>
                <a:ea typeface="微软雅黑" panose="020B0503020204020204" pitchFamily="34" charset="-122"/>
              </a:rPr>
              <a:t>在交易中拥有信息优势的一方有利用信息优势采取不利于信息劣势一方行动的动机，使得后者总是遭遇于己不利的交易对象，从而为避免损失而取消交易。</a:t>
            </a:r>
            <a:endParaRPr lang="en-US" altLang="zh-CN" sz="1800" b="0" dirty="0">
              <a:solidFill>
                <a:schemeClr val="tx1"/>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defRPr/>
            </a:pPr>
            <a:r>
              <a:rPr lang="zh-CN" altLang="en-US" sz="1800" b="0" dirty="0">
                <a:solidFill>
                  <a:schemeClr val="tx1"/>
                </a:solidFill>
                <a:latin typeface="微软雅黑" panose="020B0503020204020204" pitchFamily="34" charset="-122"/>
                <a:ea typeface="微软雅黑" panose="020B0503020204020204" pitchFamily="34" charset="-122"/>
              </a:rPr>
              <a:t>道德风险</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800100" lvl="2" indent="0" eaLnBrk="1" hangingPunct="1">
              <a:lnSpc>
                <a:spcPct val="200000"/>
              </a:lnSpc>
              <a:buNone/>
              <a:defRPr/>
            </a:pPr>
            <a:r>
              <a:rPr lang="zh-CN" altLang="en-US" sz="1800" dirty="0">
                <a:latin typeface="微软雅黑" panose="020B0503020204020204" pitchFamily="34" charset="-122"/>
                <a:ea typeface="微软雅黑" panose="020B0503020204020204" pitchFamily="34" charset="-122"/>
              </a:rPr>
              <a:t>在达成交易后拥有信息优势的一方会隐蔽地采取不利于对方的行动，对方观察不到，但能预期到，因此会取消交易以避免损失。</a:t>
            </a:r>
            <a:endParaRPr lang="en-US" altLang="zh-CN" sz="1800" dirty="0">
              <a:latin typeface="微软雅黑" panose="020B0503020204020204" pitchFamily="34" charset="-122"/>
              <a:ea typeface="微软雅黑" panose="020B0503020204020204" pitchFamily="34" charset="-122"/>
            </a:endParaRPr>
          </a:p>
          <a:p>
            <a:pPr marL="400050" lvl="2" indent="0" eaLnBrk="1" hangingPunct="1">
              <a:lnSpc>
                <a:spcPct val="150000"/>
              </a:lnSpc>
              <a:buNone/>
              <a:defRPr/>
            </a:pPr>
            <a:r>
              <a:rPr lang="zh-CN" altLang="en-US" sz="1800" dirty="0">
                <a:latin typeface="微软雅黑" panose="020B0503020204020204" pitchFamily="34" charset="-122"/>
                <a:ea typeface="微软雅黑" panose="020B0503020204020204" pitchFamily="34" charset="-122"/>
              </a:rPr>
              <a:t>      这两种现象又称为隐蔽行动。</a:t>
            </a:r>
            <a:endParaRPr lang="en-US" altLang="zh-CN" sz="18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325977F4-193D-4A3C-9CE3-B2BDFACFB5AE}"/>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444469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 name="Group 6"/>
          <p:cNvGraphicFramePr>
            <a:graphicFrameLocks noGrp="1"/>
          </p:cNvGraphicFramePr>
          <p:nvPr>
            <p:extLst>
              <p:ext uri="{D42A27DB-BD31-4B8C-83A1-F6EECF244321}">
                <p14:modId xmlns:p14="http://schemas.microsoft.com/office/powerpoint/2010/main" val="618706307"/>
              </p:ext>
            </p:extLst>
          </p:nvPr>
        </p:nvGraphicFramePr>
        <p:xfrm>
          <a:off x="683568" y="1958324"/>
          <a:ext cx="7453965" cy="2449338"/>
        </p:xfrm>
        <a:graphic>
          <a:graphicData uri="http://schemas.openxmlformats.org/drawingml/2006/table">
            <a:tbl>
              <a:tblPr/>
              <a:tblGrid>
                <a:gridCol w="684688">
                  <a:extLst>
                    <a:ext uri="{9D8B030D-6E8A-4147-A177-3AD203B41FA5}">
                      <a16:colId xmlns:a16="http://schemas.microsoft.com/office/drawing/2014/main" val="20000"/>
                    </a:ext>
                  </a:extLst>
                </a:gridCol>
                <a:gridCol w="1161321">
                  <a:extLst>
                    <a:ext uri="{9D8B030D-6E8A-4147-A177-3AD203B41FA5}">
                      <a16:colId xmlns:a16="http://schemas.microsoft.com/office/drawing/2014/main" val="20001"/>
                    </a:ext>
                  </a:extLst>
                </a:gridCol>
                <a:gridCol w="1560453">
                  <a:extLst>
                    <a:ext uri="{9D8B030D-6E8A-4147-A177-3AD203B41FA5}">
                      <a16:colId xmlns:a16="http://schemas.microsoft.com/office/drawing/2014/main" val="20002"/>
                    </a:ext>
                  </a:extLst>
                </a:gridCol>
                <a:gridCol w="1601041">
                  <a:extLst>
                    <a:ext uri="{9D8B030D-6E8A-4147-A177-3AD203B41FA5}">
                      <a16:colId xmlns:a16="http://schemas.microsoft.com/office/drawing/2014/main" val="20003"/>
                    </a:ext>
                  </a:extLst>
                </a:gridCol>
                <a:gridCol w="1293787">
                  <a:extLst>
                    <a:ext uri="{9D8B030D-6E8A-4147-A177-3AD203B41FA5}">
                      <a16:colId xmlns:a16="http://schemas.microsoft.com/office/drawing/2014/main" val="20004"/>
                    </a:ext>
                  </a:extLst>
                </a:gridCol>
                <a:gridCol w="1152675">
                  <a:extLst>
                    <a:ext uri="{9D8B030D-6E8A-4147-A177-3AD203B41FA5}">
                      <a16:colId xmlns:a16="http://schemas.microsoft.com/office/drawing/2014/main" val="835436736"/>
                    </a:ext>
                  </a:extLst>
                </a:gridCol>
              </a:tblGrid>
              <a:tr h="585721">
                <a:tc rowSpan="2"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逆向</a:t>
                      </a:r>
                      <a:endParaRPr kumimoji="1" lang="en-US" altLang="zh-CN"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选择</a:t>
                      </a:r>
                      <a:endParaRPr kumimoji="1" lang="zh-CN" altLang="zh-CN"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3600" b="0" i="0" u="none" strike="noStrike" cap="none" normalizeH="0" baseline="0" dirty="0">
                        <a:ln>
                          <a:noFill/>
                        </a:ln>
                        <a:solidFill>
                          <a:schemeClr val="tx1"/>
                        </a:solidFill>
                        <a:effectLst/>
                        <a:latin typeface="华文楷体" pitchFamily="2" charset="-122"/>
                        <a:ea typeface="华文楷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街区</a:t>
                      </a:r>
                      <a:r>
                        <a:rPr kumimoji="1" lang="en-US" altLang="zh-CN"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a:t>
                      </a:r>
                      <a:r>
                        <a:rPr kumimoji="1"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被盗概率）</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3600" b="0" i="0" u="none" strike="noStrike" cap="none" normalizeH="0" baseline="0" dirty="0">
                        <a:ln>
                          <a:noFill/>
                        </a:ln>
                        <a:solidFill>
                          <a:schemeClr val="tx1"/>
                        </a:solidFill>
                        <a:effectLst/>
                        <a:latin typeface="华文楷体" pitchFamily="2" charset="-122"/>
                        <a:ea typeface="华文楷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2456">
                <a:tc gridSpan="2"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3600" b="0" i="0" u="none" strike="noStrike" cap="none" normalizeH="0" baseline="0" dirty="0">
                        <a:ln>
                          <a:noFill/>
                        </a:ln>
                        <a:solidFill>
                          <a:schemeClr val="tx1"/>
                        </a:solidFill>
                        <a:effectLst/>
                        <a:latin typeface="华文楷体" pitchFamily="2" charset="-122"/>
                        <a:ea typeface="华文楷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hMerge="1"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3600" b="0" i="0" u="none" strike="noStrike" cap="none" normalizeH="0" baseline="0" dirty="0">
                        <a:ln>
                          <a:noFill/>
                        </a:ln>
                        <a:solidFill>
                          <a:schemeClr val="tx1"/>
                        </a:solidFill>
                        <a:effectLst/>
                        <a:latin typeface="华文楷体" pitchFamily="2" charset="-122"/>
                        <a:ea typeface="华文楷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A: 2%</a:t>
                      </a: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B: 3%</a:t>
                      </a: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C: 4%</a:t>
                      </a: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8393">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tx1"/>
                          </a:solidFill>
                          <a:latin typeface="微软雅黑" panose="020B0503020204020204" pitchFamily="34" charset="-122"/>
                          <a:ea typeface="微软雅黑" panose="020B0503020204020204" pitchFamily="34" charset="-122"/>
                          <a:cs typeface="+mn-cs"/>
                        </a:rPr>
                        <a:t>保险费率</a:t>
                      </a:r>
                      <a:endParaRPr lang="en-US" altLang="zh-CN"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tx1"/>
                          </a:solidFill>
                          <a:latin typeface="微软雅黑" panose="020B0503020204020204" pitchFamily="34" charset="-122"/>
                          <a:ea typeface="微软雅黑" panose="020B0503020204020204" pitchFamily="34" charset="-122"/>
                          <a:cs typeface="+mn-cs"/>
                        </a:rPr>
                        <a:t>亏损</a:t>
                      </a:r>
                      <a:endParaRPr lang="en-US" altLang="zh-CN"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2752">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3600" b="0" i="0" u="none" strike="noStrike" cap="none" normalizeH="0" baseline="0" dirty="0">
                        <a:ln>
                          <a:noFill/>
                        </a:ln>
                        <a:solidFill>
                          <a:srgbClr val="990033"/>
                        </a:solidFill>
                        <a:effectLst/>
                        <a:latin typeface="华文楷体" pitchFamily="2" charset="-122"/>
                        <a:ea typeface="华文楷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3.5%</a:t>
                      </a: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zh-CN" altLang="en-US" sz="1800" kern="1200" dirty="0">
                          <a:solidFill>
                            <a:schemeClr val="tx1"/>
                          </a:solidFill>
                          <a:latin typeface="微软雅黑" panose="020B0503020204020204" pitchFamily="34" charset="-122"/>
                          <a:ea typeface="微软雅黑" panose="020B0503020204020204" pitchFamily="34" charset="-122"/>
                          <a:cs typeface="+mn-cs"/>
                        </a:rPr>
                        <a:t>亏损</a:t>
                      </a:r>
                      <a:endParaRPr lang="en-US" altLang="zh-CN"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2649">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3600" b="0" i="0" u="none" strike="noStrike" cap="none" normalizeH="0" baseline="0" dirty="0">
                        <a:ln>
                          <a:noFill/>
                        </a:ln>
                        <a:solidFill>
                          <a:srgbClr val="990033"/>
                        </a:solidFill>
                        <a:effectLst/>
                        <a:latin typeface="华文楷体" pitchFamily="2" charset="-122"/>
                        <a:ea typeface="华文楷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4.5%</a:t>
                      </a: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zh-CN" altLang="en-US" sz="1800" kern="1200" dirty="0">
                          <a:solidFill>
                            <a:schemeClr val="tx1"/>
                          </a:solidFill>
                          <a:latin typeface="微软雅黑" panose="020B0503020204020204" pitchFamily="34" charset="-122"/>
                          <a:ea typeface="微软雅黑" panose="020B0503020204020204" pitchFamily="34" charset="-122"/>
                          <a:cs typeface="+mn-cs"/>
                        </a:rPr>
                        <a:t>亏损</a:t>
                      </a:r>
                      <a:endParaRPr lang="en-US" altLang="zh-CN"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3916018"/>
                  </a:ext>
                </a:extLst>
              </a:tr>
            </a:tbl>
          </a:graphicData>
        </a:graphic>
      </p:graphicFrame>
      <p:sp>
        <p:nvSpPr>
          <p:cNvPr id="3" name="矩形 2"/>
          <p:cNvSpPr/>
          <p:nvPr/>
        </p:nvSpPr>
        <p:spPr>
          <a:xfrm>
            <a:off x="1259632" y="1406753"/>
            <a:ext cx="5904656" cy="369332"/>
          </a:xfrm>
          <a:prstGeom prst="rect">
            <a:avLst/>
          </a:prstGeom>
        </p:spPr>
        <p:txBody>
          <a:bodyPr wrap="square">
            <a:spAutoFit/>
          </a:bodyPr>
          <a:lstStyle/>
          <a:p>
            <a:pPr lvl="0" eaLnBrk="1" hangingPunct="1">
              <a:spcBef>
                <a:spcPct val="20000"/>
              </a:spcBef>
              <a:defRPr/>
            </a:pPr>
            <a:r>
              <a:rPr lang="en-US" altLang="zh-CN" sz="1800" dirty="0">
                <a:latin typeface="微软雅黑" panose="020B0503020204020204" pitchFamily="34" charset="-122"/>
                <a:ea typeface="微软雅黑" panose="020B0503020204020204" pitchFamily="34" charset="-122"/>
              </a:rPr>
              <a:t>Ⅹ</a:t>
            </a:r>
            <a:r>
              <a:rPr lang="zh-CN" altLang="en-US" sz="1800" dirty="0">
                <a:latin typeface="微软雅黑" panose="020B0503020204020204" pitchFamily="34" charset="-122"/>
                <a:ea typeface="微软雅黑" panose="020B0503020204020204" pitchFamily="34" charset="-122"/>
              </a:rPr>
              <a:t>：不买保险</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：买保险</a:t>
            </a:r>
            <a:endParaRPr lang="en-US" altLang="zh-CN" sz="1800" dirty="0">
              <a:latin typeface="微软雅黑" panose="020B0503020204020204" pitchFamily="34" charset="-122"/>
              <a:ea typeface="微软雅黑" panose="020B0503020204020204" pitchFamily="34" charset="-122"/>
            </a:endParaRPr>
          </a:p>
        </p:txBody>
      </p:sp>
      <p:sp>
        <p:nvSpPr>
          <p:cNvPr id="5" name="矩形 4"/>
          <p:cNvSpPr/>
          <p:nvPr/>
        </p:nvSpPr>
        <p:spPr>
          <a:xfrm>
            <a:off x="1115616" y="4590793"/>
            <a:ext cx="6840760" cy="1400255"/>
          </a:xfrm>
          <a:prstGeom prst="rect">
            <a:avLst/>
          </a:prstGeom>
        </p:spPr>
        <p:txBody>
          <a:bodyPr wrap="square">
            <a:spAutoFit/>
          </a:bodyPr>
          <a:lstStyle/>
          <a:p>
            <a:pPr lvl="0" eaLnBrk="1" hangingPunct="1">
              <a:lnSpc>
                <a:spcPct val="150000"/>
              </a:lnSpc>
              <a:spcBef>
                <a:spcPct val="20000"/>
              </a:spcBef>
              <a:defRPr/>
            </a:pPr>
            <a:r>
              <a:rPr lang="zh-CN" altLang="en-US" sz="1800" dirty="0">
                <a:latin typeface="微软雅黑" panose="020B0503020204020204" pitchFamily="34" charset="-122"/>
                <a:ea typeface="微软雅黑" panose="020B0503020204020204" pitchFamily="34" charset="-122"/>
              </a:rPr>
              <a:t>不管保险公司怎么做，都是亏损</a:t>
            </a:r>
            <a:endParaRPr lang="en-US" altLang="zh-CN" sz="1800" dirty="0">
              <a:latin typeface="微软雅黑" panose="020B0503020204020204" pitchFamily="34" charset="-122"/>
              <a:ea typeface="微软雅黑" panose="020B0503020204020204" pitchFamily="34" charset="-122"/>
            </a:endParaRPr>
          </a:p>
          <a:p>
            <a:pPr lvl="0" eaLnBrk="1" hangingPunct="1">
              <a:lnSpc>
                <a:spcPct val="150000"/>
              </a:lnSpc>
              <a:spcBef>
                <a:spcPct val="20000"/>
              </a:spcBef>
              <a:defRPr/>
            </a:pP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取消保险产品</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lvl="0" eaLnBrk="1" hangingPunct="1">
              <a:lnSpc>
                <a:spcPct val="150000"/>
              </a:lnSpc>
              <a:spcBef>
                <a:spcPct val="20000"/>
              </a:spcBef>
              <a:defRPr/>
            </a:pP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双方本来都需要的市场消失了</a:t>
            </a:r>
            <a:endParaRPr lang="en-US" altLang="zh-CN" sz="18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9" name="标题 1">
            <a:extLst>
              <a:ext uri="{FF2B5EF4-FFF2-40B4-BE49-F238E27FC236}">
                <a16:creationId xmlns:a16="http://schemas.microsoft.com/office/drawing/2014/main" id="{69A15E20-CF27-489F-9FD7-06DF9163E2A5}"/>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49630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852683630"/>
              </p:ext>
            </p:extLst>
          </p:nvPr>
        </p:nvGraphicFramePr>
        <p:xfrm>
          <a:off x="683568" y="1633930"/>
          <a:ext cx="7596844" cy="2175503"/>
        </p:xfrm>
        <a:graphic>
          <a:graphicData uri="http://schemas.openxmlformats.org/drawingml/2006/table">
            <a:tbl>
              <a:tblPr/>
              <a:tblGrid>
                <a:gridCol w="1806496">
                  <a:extLst>
                    <a:ext uri="{9D8B030D-6E8A-4147-A177-3AD203B41FA5}">
                      <a16:colId xmlns:a16="http://schemas.microsoft.com/office/drawing/2014/main" val="20000"/>
                    </a:ext>
                  </a:extLst>
                </a:gridCol>
                <a:gridCol w="2138917">
                  <a:extLst>
                    <a:ext uri="{9D8B030D-6E8A-4147-A177-3AD203B41FA5}">
                      <a16:colId xmlns:a16="http://schemas.microsoft.com/office/drawing/2014/main" val="20001"/>
                    </a:ext>
                  </a:extLst>
                </a:gridCol>
                <a:gridCol w="1695563">
                  <a:extLst>
                    <a:ext uri="{9D8B030D-6E8A-4147-A177-3AD203B41FA5}">
                      <a16:colId xmlns:a16="http://schemas.microsoft.com/office/drawing/2014/main" val="20002"/>
                    </a:ext>
                  </a:extLst>
                </a:gridCol>
                <a:gridCol w="1955868">
                  <a:extLst>
                    <a:ext uri="{9D8B030D-6E8A-4147-A177-3AD203B41FA5}">
                      <a16:colId xmlns:a16="http://schemas.microsoft.com/office/drawing/2014/main" val="20003"/>
                    </a:ext>
                  </a:extLst>
                </a:gridCol>
              </a:tblGrid>
              <a:tr h="747086">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道德</a:t>
                      </a:r>
                      <a:endParaRPr kumimoji="1" lang="en-US" altLang="zh-CN"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风险</a:t>
                      </a:r>
                      <a:endParaRPr kumimoji="1" lang="en-US" altLang="zh-CN"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各街区汽车被盗概率</a:t>
                      </a:r>
                      <a:endParaRPr kumimoji="1" lang="en-US" altLang="zh-CN"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en-US" altLang="zh-CN" sz="3600" b="0" i="0" u="none" strike="noStrike" cap="none" normalizeH="0" baseline="0" dirty="0">
                        <a:ln>
                          <a:noFill/>
                        </a:ln>
                        <a:solidFill>
                          <a:schemeClr val="tx1"/>
                        </a:solidFill>
                        <a:effectLst/>
                        <a:latin typeface="华文楷体" pitchFamily="2" charset="-122"/>
                        <a:ea typeface="华文楷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3600" b="0" i="0" u="none" strike="noStrike" cap="none" normalizeH="0" baseline="0" dirty="0">
                        <a:ln>
                          <a:noFill/>
                        </a:ln>
                        <a:solidFill>
                          <a:schemeClr val="tx1"/>
                        </a:solidFill>
                        <a:effectLst/>
                        <a:latin typeface="华文楷体" pitchFamily="2" charset="-122"/>
                        <a:ea typeface="华文楷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492313">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3600" b="0" i="0" u="none" strike="noStrike" cap="none" normalizeH="0" baseline="0" dirty="0">
                        <a:ln>
                          <a:noFill/>
                        </a:ln>
                        <a:solidFill>
                          <a:srgbClr val="990033"/>
                        </a:solidFill>
                        <a:effectLst/>
                        <a:latin typeface="华文楷体" pitchFamily="2" charset="-122"/>
                        <a:ea typeface="华文楷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tx1"/>
                          </a:solidFill>
                          <a:latin typeface="微软雅黑" panose="020B0503020204020204" pitchFamily="34" charset="-122"/>
                          <a:ea typeface="微软雅黑" panose="020B0503020204020204" pitchFamily="34" charset="-122"/>
                          <a:cs typeface="+mn-cs"/>
                        </a:rPr>
                        <a:t>缤纷四季</a:t>
                      </a:r>
                      <a:endParaRPr lang="en-US" altLang="zh-CN"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zh-CN" altLang="en-US" sz="1800" kern="1200" dirty="0">
                          <a:solidFill>
                            <a:schemeClr val="tx1"/>
                          </a:solidFill>
                          <a:latin typeface="微软雅黑" panose="020B0503020204020204" pitchFamily="34" charset="-122"/>
                          <a:ea typeface="微软雅黑" panose="020B0503020204020204" pitchFamily="34" charset="-122"/>
                          <a:cs typeface="+mn-cs"/>
                        </a:rPr>
                        <a:t>海江里</a:t>
                      </a:r>
                      <a:endParaRPr lang="en-US" altLang="zh-CN"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tx1"/>
                          </a:solidFill>
                          <a:latin typeface="微软雅黑" panose="020B0503020204020204" pitchFamily="34" charset="-122"/>
                          <a:ea typeface="微软雅黑" panose="020B0503020204020204" pitchFamily="34" charset="-122"/>
                          <a:cs typeface="+mn-cs"/>
                        </a:rPr>
                        <a:t>芳华苑</a:t>
                      </a:r>
                      <a:endParaRPr lang="en-US" altLang="zh-CN"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tx1"/>
                          </a:solidFill>
                          <a:latin typeface="微软雅黑" panose="020B0503020204020204" pitchFamily="34" charset="-122"/>
                          <a:ea typeface="微软雅黑" panose="020B0503020204020204" pitchFamily="34" charset="-122"/>
                          <a:cs typeface="+mn-cs"/>
                        </a:rPr>
                        <a:t>买保险前</a:t>
                      </a:r>
                      <a:endParaRPr lang="en-US" altLang="zh-CN"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2%</a:t>
                      </a: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3%</a:t>
                      </a: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1800" kern="1200" dirty="0">
                          <a:solidFill>
                            <a:schemeClr val="tx1"/>
                          </a:solidFill>
                          <a:latin typeface="微软雅黑" panose="020B0503020204020204" pitchFamily="34" charset="-122"/>
                          <a:ea typeface="微软雅黑" panose="020B0503020204020204" pitchFamily="34" charset="-122"/>
                          <a:cs typeface="+mn-cs"/>
                        </a:rPr>
                        <a:t>4%</a:t>
                      </a: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20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zh-CN" altLang="en-US" sz="1800" kern="1200" dirty="0">
                          <a:solidFill>
                            <a:schemeClr val="tx1"/>
                          </a:solidFill>
                          <a:latin typeface="微软雅黑" panose="020B0503020204020204" pitchFamily="34" charset="-122"/>
                          <a:ea typeface="微软雅黑" panose="020B0503020204020204" pitchFamily="34" charset="-122"/>
                          <a:cs typeface="+mn-cs"/>
                        </a:rPr>
                        <a:t>买保险后</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1800" kern="1200" dirty="0">
                          <a:solidFill>
                            <a:schemeClr val="tx1"/>
                          </a:solidFill>
                          <a:latin typeface="微软雅黑" panose="020B0503020204020204" pitchFamily="34" charset="-122"/>
                          <a:ea typeface="微软雅黑" panose="020B0503020204020204" pitchFamily="34" charset="-122"/>
                          <a:cs typeface="+mn-cs"/>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矩形 4"/>
          <p:cNvSpPr/>
          <p:nvPr/>
        </p:nvSpPr>
        <p:spPr>
          <a:xfrm>
            <a:off x="971600" y="4077072"/>
            <a:ext cx="8172400" cy="1871153"/>
          </a:xfrm>
          <a:prstGeom prst="rect">
            <a:avLst/>
          </a:prstGeom>
        </p:spPr>
        <p:txBody>
          <a:bodyPr wrap="square">
            <a:spAutoFit/>
          </a:bodyPr>
          <a:lstStyle/>
          <a:p>
            <a:pPr lvl="0" eaLnBrk="1" hangingPunct="1">
              <a:lnSpc>
                <a:spcPct val="150000"/>
              </a:lnSpc>
              <a:spcBef>
                <a:spcPct val="20000"/>
              </a:spcBef>
              <a:defRPr/>
            </a:pPr>
            <a:r>
              <a:rPr lang="zh-CN" altLang="en-US" sz="1800" dirty="0">
                <a:latin typeface="微软雅黑" panose="020B0503020204020204" pitchFamily="34" charset="-122"/>
                <a:ea typeface="微软雅黑" panose="020B0503020204020204" pitchFamily="34" charset="-122"/>
              </a:rPr>
              <a:t>从没有保险时的被盗概率看，是可以盈利的</a:t>
            </a:r>
            <a:endParaRPr lang="en-US" altLang="zh-CN" sz="1800" dirty="0">
              <a:latin typeface="微软雅黑" panose="020B0503020204020204" pitchFamily="34" charset="-122"/>
              <a:ea typeface="微软雅黑" panose="020B0503020204020204" pitchFamily="34" charset="-122"/>
            </a:endParaRPr>
          </a:p>
          <a:p>
            <a:pPr lvl="0" eaLnBrk="1" hangingPunct="1">
              <a:lnSpc>
                <a:spcPct val="150000"/>
              </a:lnSpc>
              <a:spcBef>
                <a:spcPct val="20000"/>
              </a:spcBef>
              <a:defRPr/>
            </a:pP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一旦卖了保险，被盗概率就增加了，转而亏损</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lvl="0" eaLnBrk="1" hangingPunct="1">
              <a:lnSpc>
                <a:spcPct val="150000"/>
              </a:lnSpc>
              <a:spcBef>
                <a:spcPct val="20000"/>
              </a:spcBef>
              <a:defRPr/>
            </a:pP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只好取消保险</a:t>
            </a:r>
            <a:endParaRPr lang="en-US" altLang="zh-CN" sz="1800" dirty="0">
              <a:latin typeface="微软雅黑" panose="020B0503020204020204" pitchFamily="34" charset="-122"/>
              <a:ea typeface="微软雅黑" panose="020B0503020204020204" pitchFamily="34" charset="-122"/>
              <a:sym typeface="Wingdings" panose="05000000000000000000" pitchFamily="2" charset="2"/>
            </a:endParaRPr>
          </a:p>
          <a:p>
            <a:pPr lvl="0" eaLnBrk="1" hangingPunct="1">
              <a:lnSpc>
                <a:spcPct val="150000"/>
              </a:lnSpc>
              <a:spcBef>
                <a:spcPct val="20000"/>
              </a:spcBef>
              <a:defRPr/>
            </a:pP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双方本来都需要的市场消失了</a:t>
            </a:r>
            <a:endParaRPr lang="en-US" altLang="zh-CN" sz="18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8915229C-B318-4D1C-9D6B-F7DC76BAB17E}"/>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125407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0690" name="Rectangle 2"/>
          <p:cNvSpPr>
            <a:spLocks noGrp="1" noChangeArrowheads="1"/>
          </p:cNvSpPr>
          <p:nvPr>
            <p:ph type="body" idx="1"/>
          </p:nvPr>
        </p:nvSpPr>
        <p:spPr>
          <a:xfrm>
            <a:off x="683568" y="1004818"/>
            <a:ext cx="9144000" cy="5796880"/>
          </a:xfrm>
        </p:spPr>
        <p:txBody>
          <a:bodyPr/>
          <a:lstStyle/>
          <a:p>
            <a:pPr eaLnBrk="1" hangingPunct="1">
              <a:lnSpc>
                <a:spcPct val="200000"/>
              </a:lnSpc>
              <a:buFont typeface="Wingdings" panose="05000000000000000000" pitchFamily="2" charset="2"/>
              <a:buChar char="u"/>
              <a:defRPr/>
            </a:pPr>
            <a:r>
              <a:rPr lang="zh-CN" altLang="en-US" sz="2000" b="0" dirty="0">
                <a:solidFill>
                  <a:schemeClr val="tx1"/>
                </a:solidFill>
                <a:latin typeface="微软雅黑" panose="020B0503020204020204" pitchFamily="34" charset="-122"/>
                <a:ea typeface="微软雅黑" panose="020B0503020204020204" pitchFamily="34" charset="-122"/>
              </a:rPr>
              <a:t>市场如何应对隐蔽行动（逆向选择和道德风险）</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540000" eaLnBrk="1" hangingPunct="1">
              <a:lnSpc>
                <a:spcPct val="250000"/>
              </a:lnSpc>
              <a:buFont typeface="Wingdings" panose="05000000000000000000" pitchFamily="2" charset="2"/>
              <a:buChar char="Ø"/>
              <a:defRPr/>
            </a:pPr>
            <a:r>
              <a:rPr lang="zh-CN" altLang="en-US" sz="1800" b="0" dirty="0">
                <a:solidFill>
                  <a:schemeClr val="tx1"/>
                </a:solidFill>
                <a:latin typeface="微软雅黑" panose="020B0503020204020204" pitchFamily="34" charset="-122"/>
                <a:ea typeface="微软雅黑" panose="020B0503020204020204" pitchFamily="34" charset="-122"/>
              </a:rPr>
              <a:t>传递市场信号 </a:t>
            </a:r>
            <a:r>
              <a:rPr lang="en-US" altLang="zh-CN" sz="1800" b="0" dirty="0">
                <a:solidFill>
                  <a:schemeClr val="tx1"/>
                </a:solidFill>
                <a:latin typeface="微软雅黑" panose="020B0503020204020204" pitchFamily="34" charset="-122"/>
                <a:ea typeface="微软雅黑" panose="020B0503020204020204" pitchFamily="34" charset="-122"/>
              </a:rPr>
              <a:t>Signaling</a:t>
            </a:r>
          </a:p>
          <a:p>
            <a:pPr marL="540000" lvl="1" indent="0" eaLnBrk="1" hangingPunct="1">
              <a:lnSpc>
                <a:spcPct val="250000"/>
              </a:lnSpc>
              <a:buNone/>
              <a:defRPr/>
            </a:pPr>
            <a:r>
              <a:rPr lang="zh-CN" altLang="en-US" sz="1800" dirty="0">
                <a:latin typeface="微软雅黑" panose="020B0503020204020204" pitchFamily="34" charset="-122"/>
                <a:ea typeface="微软雅黑" panose="020B0503020204020204" pitchFamily="34" charset="-122"/>
              </a:rPr>
              <a:t>信息优势一方想方设法传递自己私有的信息给信息劣势的一方。</a:t>
            </a:r>
            <a:endParaRPr lang="en-US" altLang="zh-CN" sz="1800" dirty="0">
              <a:latin typeface="微软雅黑" panose="020B0503020204020204" pitchFamily="34" charset="-122"/>
              <a:ea typeface="微软雅黑" panose="020B0503020204020204" pitchFamily="34" charset="-122"/>
            </a:endParaRPr>
          </a:p>
          <a:p>
            <a:pPr marL="540000" lvl="1" indent="0" eaLnBrk="1" hangingPunct="1">
              <a:lnSpc>
                <a:spcPct val="250000"/>
              </a:lnSpc>
              <a:buNone/>
              <a:defRPr/>
            </a:pPr>
            <a:r>
              <a:rPr lang="zh-CN" altLang="en-US" sz="1800" dirty="0">
                <a:latin typeface="微软雅黑" panose="020B0503020204020204" pitchFamily="34" charset="-122"/>
                <a:ea typeface="微软雅黑" panose="020B0503020204020204" pitchFamily="34" charset="-122"/>
              </a:rPr>
              <a:t>例子，求职者的各种证书，投行人士投宿五星酒店。</a:t>
            </a:r>
            <a:endParaRPr lang="en-US" altLang="zh-CN" sz="1800" dirty="0">
              <a:latin typeface="微软雅黑" panose="020B0503020204020204" pitchFamily="34" charset="-122"/>
              <a:ea typeface="微软雅黑" panose="020B0503020204020204" pitchFamily="34" charset="-122"/>
            </a:endParaRPr>
          </a:p>
          <a:p>
            <a:pPr marL="540000" eaLnBrk="1" hangingPunct="1">
              <a:lnSpc>
                <a:spcPct val="250000"/>
              </a:lnSpc>
              <a:buFont typeface="Wingdings" panose="05000000000000000000" pitchFamily="2" charset="2"/>
              <a:buChar char="Ø"/>
              <a:defRPr/>
            </a:pPr>
            <a:r>
              <a:rPr lang="zh-CN" altLang="en-US" sz="1800" b="0" dirty="0">
                <a:solidFill>
                  <a:schemeClr val="tx1"/>
                </a:solidFill>
                <a:latin typeface="微软雅黑" panose="020B0503020204020204" pitchFamily="34" charset="-122"/>
                <a:ea typeface="微软雅黑" panose="020B0503020204020204" pitchFamily="34" charset="-122"/>
              </a:rPr>
              <a:t>甄别 </a:t>
            </a:r>
            <a:r>
              <a:rPr lang="en-US" altLang="zh-CN" sz="1800" b="0" dirty="0">
                <a:solidFill>
                  <a:schemeClr val="tx1"/>
                </a:solidFill>
                <a:latin typeface="微软雅黑" panose="020B0503020204020204" pitchFamily="34" charset="-122"/>
                <a:ea typeface="微软雅黑" panose="020B0503020204020204" pitchFamily="34" charset="-122"/>
              </a:rPr>
              <a:t>Screening</a:t>
            </a:r>
          </a:p>
          <a:p>
            <a:pPr marL="540000" lvl="1" indent="0" eaLnBrk="1" hangingPunct="1">
              <a:lnSpc>
                <a:spcPct val="250000"/>
              </a:lnSpc>
              <a:buNone/>
              <a:defRPr/>
            </a:pPr>
            <a:r>
              <a:rPr lang="zh-CN" altLang="en-US" sz="1800" dirty="0">
                <a:latin typeface="微软雅黑" panose="020B0503020204020204" pitchFamily="34" charset="-122"/>
                <a:ea typeface="微软雅黑" panose="020B0503020204020204" pitchFamily="34" charset="-122"/>
              </a:rPr>
              <a:t>信息劣势的一方采取行动让对方提供私有信息。</a:t>
            </a:r>
            <a:endParaRPr lang="en-US" altLang="zh-CN" sz="1800" dirty="0">
              <a:latin typeface="微软雅黑" panose="020B0503020204020204" pitchFamily="34" charset="-122"/>
              <a:ea typeface="微软雅黑" panose="020B0503020204020204" pitchFamily="34" charset="-122"/>
            </a:endParaRPr>
          </a:p>
          <a:p>
            <a:pPr marL="540000" lvl="1" indent="0" eaLnBrk="1" hangingPunct="1">
              <a:lnSpc>
                <a:spcPct val="250000"/>
              </a:lnSpc>
              <a:buNone/>
              <a:defRPr/>
            </a:pPr>
            <a:r>
              <a:rPr lang="zh-CN" altLang="en-US" sz="1800" dirty="0">
                <a:latin typeface="微软雅黑" panose="020B0503020204020204" pitchFamily="34" charset="-122"/>
                <a:ea typeface="微软雅黑" panose="020B0503020204020204" pitchFamily="34" charset="-122"/>
              </a:rPr>
              <a:t>例如保险行业汽车险的不计免赔。</a:t>
            </a:r>
            <a:endParaRPr lang="en-US" altLang="zh-CN" sz="18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1A1E6AF7-9B2F-4B7D-9A66-18CD63C5B956}"/>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39846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06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069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069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069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069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0690">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069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406753"/>
            <a:ext cx="7618602" cy="1883361"/>
          </a:xfrm>
          <a:noFill/>
          <a:ln>
            <a:noFill/>
          </a:ln>
        </p:spPr>
        <p:style>
          <a:lnRef idx="2">
            <a:schemeClr val="dk1"/>
          </a:lnRef>
          <a:fillRef idx="1">
            <a:schemeClr val="lt1"/>
          </a:fillRef>
          <a:effectRef idx="0">
            <a:schemeClr val="dk1"/>
          </a:effectRef>
          <a:fontRef idx="minor">
            <a:schemeClr val="dk1"/>
          </a:fontRef>
        </p:style>
        <p:txBody>
          <a:bodyPr/>
          <a:lstStyle/>
          <a:p>
            <a:pPr lvl="1" indent="-342900" eaLnBrk="1" hangingPunct="1">
              <a:lnSpc>
                <a:spcPts val="4000"/>
              </a:lnSpc>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甄别的例子之一：</a:t>
            </a:r>
            <a:endParaRPr lang="en-US" altLang="zh-CN" sz="2000" dirty="0">
              <a:latin typeface="微软雅黑" panose="020B0503020204020204" pitchFamily="34" charset="-122"/>
              <a:ea typeface="微软雅黑" panose="020B0503020204020204" pitchFamily="34" charset="-122"/>
            </a:endParaRPr>
          </a:p>
          <a:p>
            <a:pPr marL="400050" lvl="1" indent="0" eaLnBrk="1" hangingPunct="1">
              <a:lnSpc>
                <a:spcPts val="4000"/>
              </a:lnSpc>
              <a:buNone/>
              <a:defRPr/>
            </a:pPr>
            <a:endParaRPr lang="en-US" altLang="zh-CN" sz="2000" b="1" dirty="0">
              <a:latin typeface="微软雅黑" panose="020B0503020204020204" pitchFamily="34" charset="-122"/>
              <a:ea typeface="微软雅黑" panose="020B0503020204020204" pitchFamily="34" charset="-122"/>
            </a:endParaRPr>
          </a:p>
          <a:p>
            <a:pPr lvl="1" indent="-342900" eaLnBrk="1" hangingPunct="1">
              <a:lnSpc>
                <a:spcPts val="4000"/>
              </a:lnSpc>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保险公司提供两种保险方案：</a:t>
            </a:r>
            <a:endParaRPr lang="en-US" altLang="zh-CN" sz="20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331640" y="2163767"/>
            <a:ext cx="1915909" cy="369332"/>
          </a:xfrm>
          <a:prstGeom prst="rect">
            <a:avLst/>
          </a:prstGeom>
          <a:noFill/>
        </p:spPr>
        <p:txBody>
          <a:bodyPr wrap="none" rtlCol="0">
            <a:spAutoFit/>
          </a:bodyPr>
          <a:lstStyle/>
          <a:p>
            <a:pPr marL="342900" lvl="1" indent="-342900">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不计免赔保险</a:t>
            </a:r>
            <a:endParaRPr lang="en-US" altLang="zh-CN" sz="18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1187624" y="3344659"/>
            <a:ext cx="7056784" cy="2636619"/>
          </a:xfrm>
          <a:prstGeom prst="rect">
            <a:avLst/>
          </a:prstGeom>
          <a:noFill/>
        </p:spPr>
        <p:txBody>
          <a:bodyPr wrap="square" rtlCol="0">
            <a:spAutoFit/>
          </a:bodyPr>
          <a:lstStyle/>
          <a:p>
            <a:pPr lvl="1" indent="-342900" eaLnBrk="1" hangingPunct="1">
              <a:lnSpc>
                <a:spcPts val="4000"/>
              </a:lnSpc>
              <a:buFont typeface="Wingdings" panose="05000000000000000000" pitchFamily="2" charset="2"/>
              <a:buChar char="Ø"/>
              <a:defRPr/>
            </a:pPr>
            <a:r>
              <a:rPr lang="zh-CN" altLang="en-US" sz="1800" dirty="0">
                <a:latin typeface="微软雅黑" panose="020B0503020204020204" pitchFamily="34" charset="-122"/>
                <a:ea typeface="微软雅黑" panose="020B0503020204020204" pitchFamily="34" charset="-122"/>
              </a:rPr>
              <a:t>方案</a:t>
            </a:r>
            <a:r>
              <a:rPr lang="en-US" altLang="zh-CN" sz="1800" dirty="0">
                <a:latin typeface="微软雅黑" panose="020B0503020204020204" pitchFamily="34" charset="-122"/>
                <a:ea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rPr>
              <a:t>：出现车损时，保险公司有免赔的金额，例如</a:t>
            </a:r>
            <a:r>
              <a:rPr lang="en-US" altLang="zh-CN" sz="1800" dirty="0">
                <a:latin typeface="微软雅黑" panose="020B0503020204020204" pitchFamily="34" charset="-122"/>
                <a:ea typeface="微软雅黑" panose="020B0503020204020204" pitchFamily="34" charset="-122"/>
              </a:rPr>
              <a:t>1000</a:t>
            </a:r>
            <a:r>
              <a:rPr lang="zh-CN" altLang="en-US" sz="1800" dirty="0">
                <a:latin typeface="微软雅黑" panose="020B0503020204020204" pitchFamily="34" charset="-122"/>
                <a:ea typeface="微软雅黑" panose="020B0503020204020204" pitchFamily="34" charset="-122"/>
              </a:rPr>
              <a:t>元以下不赔，或者是车损的一定比例如</a:t>
            </a:r>
            <a:r>
              <a:rPr lang="en-US" altLang="zh-CN" sz="1800" dirty="0">
                <a:latin typeface="微软雅黑" panose="020B0503020204020204" pitchFamily="34" charset="-122"/>
                <a:ea typeface="微软雅黑" panose="020B0503020204020204" pitchFamily="34" charset="-122"/>
              </a:rPr>
              <a:t>10%</a:t>
            </a:r>
            <a:r>
              <a:rPr lang="zh-CN" altLang="en-US" sz="1800" dirty="0">
                <a:latin typeface="微软雅黑" panose="020B0503020204020204" pitchFamily="34" charset="-122"/>
                <a:ea typeface="微软雅黑" panose="020B0503020204020204" pitchFamily="34" charset="-122"/>
              </a:rPr>
              <a:t>由投保者承担。</a:t>
            </a:r>
            <a:endParaRPr lang="en-US" altLang="zh-CN" sz="1800" dirty="0">
              <a:latin typeface="微软雅黑" panose="020B0503020204020204" pitchFamily="34" charset="-122"/>
              <a:ea typeface="微软雅黑" panose="020B0503020204020204" pitchFamily="34" charset="-122"/>
            </a:endParaRPr>
          </a:p>
          <a:p>
            <a:pPr lvl="1" indent="-342900" eaLnBrk="1" hangingPunct="1">
              <a:lnSpc>
                <a:spcPts val="4000"/>
              </a:lnSpc>
              <a:buFont typeface="Wingdings" panose="05000000000000000000" pitchFamily="2" charset="2"/>
              <a:buChar char="Ø"/>
              <a:defRPr/>
            </a:pPr>
            <a:r>
              <a:rPr lang="zh-CN" altLang="en-US" sz="1800" dirty="0">
                <a:latin typeface="微软雅黑" panose="020B0503020204020204" pitchFamily="34" charset="-122"/>
                <a:ea typeface="微软雅黑" panose="020B0503020204020204" pitchFamily="34" charset="-122"/>
              </a:rPr>
              <a:t>方案</a:t>
            </a:r>
            <a:r>
              <a:rPr lang="en-US" altLang="zh-CN" sz="1800" dirty="0">
                <a:latin typeface="微软雅黑" panose="020B0503020204020204" pitchFamily="34" charset="-122"/>
                <a:ea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rPr>
              <a:t>：出售不计免赔险，如果投保人另外购买此险，公司对车损全赔。</a:t>
            </a:r>
          </a:p>
          <a:p>
            <a:endParaRPr lang="zh-CN" altLang="en-US" sz="2800" dirty="0"/>
          </a:p>
        </p:txBody>
      </p:sp>
      <p:sp>
        <p:nvSpPr>
          <p:cNvPr id="8" name="标题 1">
            <a:extLst>
              <a:ext uri="{FF2B5EF4-FFF2-40B4-BE49-F238E27FC236}">
                <a16:creationId xmlns:a16="http://schemas.microsoft.com/office/drawing/2014/main" id="{A7FE6C9C-B055-4410-9705-1F9813E68237}"/>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06557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6390" y="906388"/>
            <a:ext cx="8376778" cy="5949280"/>
          </a:xfrm>
          <a:noFill/>
          <a:ln>
            <a:noFill/>
          </a:ln>
        </p:spPr>
        <p:style>
          <a:lnRef idx="2">
            <a:schemeClr val="dk1"/>
          </a:lnRef>
          <a:fillRef idx="1">
            <a:schemeClr val="lt1"/>
          </a:fillRef>
          <a:effectRef idx="0">
            <a:schemeClr val="dk1"/>
          </a:effectRef>
          <a:fontRef idx="minor">
            <a:schemeClr val="dk1"/>
          </a:fontRef>
        </p:style>
        <p:txBody>
          <a:bodyPr/>
          <a:lstStyle/>
          <a:p>
            <a:pPr marL="0" indent="0">
              <a:lnSpc>
                <a:spcPct val="300000"/>
              </a:lnSpc>
              <a:buNone/>
            </a:pPr>
            <a:r>
              <a:rPr lang="zh-CN" altLang="en-US" sz="1800" b="0" dirty="0">
                <a:solidFill>
                  <a:schemeClr val="tx1"/>
                </a:solidFill>
                <a:latin typeface="微软雅黑" panose="020B0503020204020204" pitchFamily="34" charset="-122"/>
                <a:ea typeface="微软雅黑" panose="020B0503020204020204" pitchFamily="34" charset="-122"/>
              </a:rPr>
              <a:t>甄别的例子之二：求职者需持有证书</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540000">
              <a:lnSpc>
                <a:spcPct val="300000"/>
              </a:lnSpc>
              <a:buFont typeface="Wingdings" panose="05000000000000000000" pitchFamily="2" charset="2"/>
              <a:buChar char="u"/>
            </a:pPr>
            <a:r>
              <a:rPr lang="zh-CN" altLang="en-US" sz="1800" b="0" dirty="0">
                <a:solidFill>
                  <a:schemeClr val="tx1"/>
                </a:solidFill>
                <a:latin typeface="微软雅黑" panose="020B0503020204020204" pitchFamily="34" charset="-122"/>
                <a:ea typeface="微软雅黑" panose="020B0503020204020204" pitchFamily="34" charset="-122"/>
              </a:rPr>
              <a:t>用人单位在招聘时会提供两种薪酬：</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720000">
              <a:lnSpc>
                <a:spcPct val="30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薪酬</a:t>
            </a:r>
            <a:r>
              <a:rPr lang="en-US" altLang="zh-CN" sz="1800" b="0" dirty="0">
                <a:solidFill>
                  <a:schemeClr val="tx1"/>
                </a:solidFill>
                <a:latin typeface="微软雅黑" panose="020B0503020204020204" pitchFamily="34" charset="-122"/>
                <a:ea typeface="微软雅黑" panose="020B0503020204020204" pitchFamily="34" charset="-122"/>
              </a:rPr>
              <a:t>A</a:t>
            </a:r>
            <a:r>
              <a:rPr lang="zh-CN" altLang="en-US" sz="1800" b="0" dirty="0">
                <a:solidFill>
                  <a:schemeClr val="tx1"/>
                </a:solidFill>
                <a:latin typeface="微软雅黑" panose="020B0503020204020204" pitchFamily="34" charset="-122"/>
                <a:ea typeface="微软雅黑" panose="020B0503020204020204" pitchFamily="34" charset="-122"/>
              </a:rPr>
              <a:t>：如果拥有某种专业证书，如研究生毕业，月薪</a:t>
            </a:r>
            <a:r>
              <a:rPr lang="en-US" altLang="zh-CN" sz="1800" b="0" dirty="0">
                <a:solidFill>
                  <a:schemeClr val="tx1"/>
                </a:solidFill>
                <a:latin typeface="微软雅黑" panose="020B0503020204020204" pitchFamily="34" charset="-122"/>
                <a:ea typeface="微软雅黑" panose="020B0503020204020204" pitchFamily="34" charset="-122"/>
              </a:rPr>
              <a:t>5000</a:t>
            </a:r>
            <a:r>
              <a:rPr lang="zh-CN" altLang="en-US" sz="1800" b="0" dirty="0">
                <a:solidFill>
                  <a:schemeClr val="tx1"/>
                </a:solidFill>
                <a:latin typeface="微软雅黑" panose="020B0503020204020204" pitchFamily="34" charset="-122"/>
                <a:ea typeface="微软雅黑" panose="020B0503020204020204" pitchFamily="34" charset="-122"/>
              </a:rPr>
              <a:t>元；</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720000">
              <a:lnSpc>
                <a:spcPct val="30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薪酬</a:t>
            </a:r>
            <a:r>
              <a:rPr lang="en-US" altLang="zh-CN" sz="1800" b="0" dirty="0">
                <a:solidFill>
                  <a:schemeClr val="tx1"/>
                </a:solidFill>
                <a:latin typeface="微软雅黑" panose="020B0503020204020204" pitchFamily="34" charset="-122"/>
                <a:ea typeface="微软雅黑" panose="020B0503020204020204" pitchFamily="34" charset="-122"/>
              </a:rPr>
              <a:t>B</a:t>
            </a:r>
            <a:r>
              <a:rPr lang="zh-CN" altLang="en-US" sz="1800" b="0" dirty="0">
                <a:solidFill>
                  <a:schemeClr val="tx1"/>
                </a:solidFill>
                <a:latin typeface="微软雅黑" panose="020B0503020204020204" pitchFamily="34" charset="-122"/>
                <a:ea typeface="微软雅黑" panose="020B0503020204020204" pitchFamily="34" charset="-122"/>
              </a:rPr>
              <a:t>：如果缺乏某种专业证书，例如仅仅是本科毕业，月薪</a:t>
            </a:r>
            <a:r>
              <a:rPr lang="en-US" altLang="zh-CN" sz="1800" b="0" dirty="0">
                <a:solidFill>
                  <a:schemeClr val="tx1"/>
                </a:solidFill>
                <a:latin typeface="微软雅黑" panose="020B0503020204020204" pitchFamily="34" charset="-122"/>
                <a:ea typeface="微软雅黑" panose="020B0503020204020204" pitchFamily="34" charset="-122"/>
              </a:rPr>
              <a:t>4000</a:t>
            </a:r>
            <a:r>
              <a:rPr lang="zh-CN" altLang="en-US" sz="1800" b="0" dirty="0">
                <a:solidFill>
                  <a:schemeClr val="tx1"/>
                </a:solidFill>
                <a:latin typeface="微软雅黑" panose="020B0503020204020204" pitchFamily="34" charset="-122"/>
                <a:ea typeface="微软雅黑" panose="020B0503020204020204" pitchFamily="34" charset="-122"/>
              </a:rPr>
              <a:t>元。</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540000">
              <a:lnSpc>
                <a:spcPct val="300000"/>
              </a:lnSpc>
              <a:buFont typeface="Wingdings" panose="05000000000000000000" pitchFamily="2" charset="2"/>
              <a:buChar char="u"/>
            </a:pPr>
            <a:r>
              <a:rPr lang="zh-CN" altLang="en-US" sz="1800" b="0" dirty="0">
                <a:solidFill>
                  <a:schemeClr val="tx1"/>
                </a:solidFill>
                <a:latin typeface="微软雅黑" panose="020B0503020204020204" pitchFamily="34" charset="-122"/>
                <a:ea typeface="微软雅黑" panose="020B0503020204020204" pitchFamily="34" charset="-122"/>
              </a:rPr>
              <a:t>注意：拥有证书并不意味着拥有能力。换言之，这些证书是证明你的能力，而不是增强你的能力。</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0" indent="0">
              <a:lnSpc>
                <a:spcPct val="300000"/>
              </a:lnSpc>
              <a:buNone/>
            </a:pPr>
            <a:endParaRPr lang="zh-CN" altLang="en-US" sz="1800" b="0" dirty="0">
              <a:solidFill>
                <a:schemeClr val="tx1"/>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7" name="标题 1">
            <a:extLst>
              <a:ext uri="{FF2B5EF4-FFF2-40B4-BE49-F238E27FC236}">
                <a16:creationId xmlns:a16="http://schemas.microsoft.com/office/drawing/2014/main" id="{48D7DD88-E0F3-4AC2-8AF4-9F94D75CDD5F}"/>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32563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1691679" y="4625531"/>
            <a:ext cx="6326113" cy="1080120"/>
          </a:xfrm>
          <a:solidFill>
            <a:schemeClr val="bg1">
              <a:alpha val="69000"/>
            </a:schemeClr>
          </a:solidFill>
        </p:spPr>
        <p:txBody>
          <a:bodyPr/>
          <a:lstStyle/>
          <a:p>
            <a:pPr marL="0" indent="0" eaLnBrk="1" fontAlgn="auto" hangingPunct="1">
              <a:spcAft>
                <a:spcPts val="0"/>
              </a:spcAft>
              <a:buClr>
                <a:srgbClr val="008000"/>
              </a:buClr>
              <a:buNone/>
              <a:defRPr/>
            </a:pPr>
            <a:r>
              <a:rPr lang="zh-CN" altLang="en-US" sz="2000" b="0" dirty="0">
                <a:solidFill>
                  <a:srgbClr val="C00000"/>
                </a:solidFill>
                <a:latin typeface="微软雅黑" panose="020B0503020204020204" pitchFamily="34" charset="-122"/>
                <a:ea typeface="微软雅黑" panose="020B0503020204020204" pitchFamily="34" charset="-122"/>
              </a:rPr>
              <a:t>甄别的更多例子：</a:t>
            </a:r>
            <a:endParaRPr lang="en-US" altLang="zh-CN" sz="2000" b="0" dirty="0">
              <a:solidFill>
                <a:srgbClr val="C00000"/>
              </a:solidFill>
              <a:latin typeface="微软雅黑" panose="020B0503020204020204" pitchFamily="34" charset="-122"/>
              <a:ea typeface="微软雅黑" panose="020B0503020204020204" pitchFamily="34" charset="-122"/>
            </a:endParaRPr>
          </a:p>
          <a:p>
            <a:pPr marL="0" indent="0" eaLnBrk="1" fontAlgn="auto" hangingPunct="1">
              <a:spcAft>
                <a:spcPts val="0"/>
              </a:spcAft>
              <a:buClr>
                <a:srgbClr val="008000"/>
              </a:buClr>
              <a:buNone/>
              <a:defRPr/>
            </a:pPr>
            <a:r>
              <a:rPr lang="zh-CN" altLang="en-US" sz="2000" b="0" dirty="0">
                <a:solidFill>
                  <a:srgbClr val="C00000"/>
                </a:solidFill>
                <a:latin typeface="微软雅黑" panose="020B0503020204020204" pitchFamily="34" charset="-122"/>
                <a:ea typeface="微软雅黑" panose="020B0503020204020204" pitchFamily="34" charset="-122"/>
              </a:rPr>
              <a:t>用人单位看重研究生的本科院校</a:t>
            </a:r>
            <a:r>
              <a:rPr lang="en-US" altLang="zh-CN" sz="2000" b="0" dirty="0">
                <a:solidFill>
                  <a:srgbClr val="C00000"/>
                </a:solidFill>
                <a:latin typeface="微软雅黑" panose="020B0503020204020204" pitchFamily="34" charset="-122"/>
                <a:ea typeface="微软雅黑" panose="020B0503020204020204" pitchFamily="34" charset="-122"/>
              </a:rPr>
              <a:t>(</a:t>
            </a:r>
            <a:r>
              <a:rPr lang="zh-CN" altLang="en-US" sz="2000" b="0" dirty="0">
                <a:solidFill>
                  <a:srgbClr val="C00000"/>
                </a:solidFill>
                <a:latin typeface="微软雅黑" panose="020B0503020204020204" pitchFamily="34" charset="-122"/>
                <a:ea typeface="微软雅黑" panose="020B0503020204020204" pitchFamily="34" charset="-122"/>
              </a:rPr>
              <a:t>第一学历）</a:t>
            </a:r>
            <a:endParaRPr lang="en-US" altLang="zh-CN" sz="2000" b="0" dirty="0">
              <a:solidFill>
                <a:srgbClr val="C0000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12125B1B-7460-47D4-8409-95D4EC8D6F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80311" y="4241574"/>
            <a:ext cx="1611338" cy="1611338"/>
          </a:xfrm>
          <a:prstGeom prst="rect">
            <a:avLst/>
          </a:prstGeom>
        </p:spPr>
      </p:pic>
      <p:sp>
        <p:nvSpPr>
          <p:cNvPr id="9" name="横卷形 8"/>
          <p:cNvSpPr/>
          <p:nvPr/>
        </p:nvSpPr>
        <p:spPr bwMode="auto">
          <a:xfrm>
            <a:off x="2267744" y="1560164"/>
            <a:ext cx="5472608" cy="2232248"/>
          </a:xfrm>
          <a:prstGeom prst="horizontalScroll">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lvl="0" indent="-342900" fontAlgn="auto">
              <a:lnSpc>
                <a:spcPct val="150000"/>
              </a:lnSpc>
              <a:spcAft>
                <a:spcPts val="0"/>
              </a:spcAft>
              <a:buClr>
                <a:srgbClr val="C00000"/>
              </a:buClr>
              <a:buFont typeface="Wingdings" panose="05000000000000000000" pitchFamily="2" charset="2"/>
              <a:buChar char="u"/>
              <a:defRPr/>
            </a:pPr>
            <a:r>
              <a:rPr kumimoji="1"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rPr>
              <a:t>传递市场信号更多的例子</a:t>
            </a:r>
            <a:r>
              <a:rPr kumimoji="1" lang="zh-CN" altLang="en-US" sz="2000" b="1" dirty="0">
                <a:effectLst>
                  <a:outerShdw blurRad="38100" dist="38100" dir="2700000" algn="tl">
                    <a:srgbClr val="C0C0C0"/>
                  </a:outerShdw>
                </a:effectLst>
                <a:latin typeface="微软雅黑" panose="020B0503020204020204" pitchFamily="34" charset="-122"/>
                <a:ea typeface="微软雅黑" panose="020B0503020204020204" pitchFamily="34" charset="-122"/>
              </a:rPr>
              <a:t>：</a:t>
            </a:r>
            <a:endParaRPr kumimoji="1" lang="en-US" altLang="zh-CN" sz="2000" b="1" dirty="0">
              <a:latin typeface="微软雅黑" panose="020B0503020204020204" pitchFamily="34" charset="-122"/>
              <a:ea typeface="微软雅黑" panose="020B0503020204020204" pitchFamily="34" charset="-122"/>
            </a:endParaRPr>
          </a:p>
          <a:p>
            <a:pPr marL="800100" lvl="1" indent="-342900" fontAlgn="auto">
              <a:lnSpc>
                <a:spcPct val="150000"/>
              </a:lnSpc>
              <a:spcAft>
                <a:spcPts val="0"/>
              </a:spcAft>
              <a:buFont typeface="Wingdings" panose="05000000000000000000" pitchFamily="2" charset="2"/>
              <a:buChar char="Ø"/>
              <a:defRPr/>
            </a:pPr>
            <a:r>
              <a:rPr kumimoji="1" lang="zh-CN" altLang="en-US" sz="1800" dirty="0">
                <a:latin typeface="微软雅黑" panose="020B0503020204020204" pitchFamily="34" charset="-122"/>
                <a:ea typeface="微软雅黑" panose="020B0503020204020204" pitchFamily="34" charset="-122"/>
              </a:rPr>
              <a:t>陌生人需要名片，名人、熟人不需</a:t>
            </a:r>
            <a:endParaRPr kumimoji="1" lang="en-US" altLang="zh-CN" sz="1800" dirty="0">
              <a:latin typeface="微软雅黑" panose="020B0503020204020204" pitchFamily="34" charset="-122"/>
              <a:ea typeface="微软雅黑" panose="020B0503020204020204" pitchFamily="34" charset="-122"/>
            </a:endParaRPr>
          </a:p>
          <a:p>
            <a:pPr marL="800100" lvl="1" indent="-342900" fontAlgn="auto">
              <a:lnSpc>
                <a:spcPct val="150000"/>
              </a:lnSpc>
              <a:spcAft>
                <a:spcPts val="0"/>
              </a:spcAft>
              <a:buFont typeface="Wingdings" panose="05000000000000000000" pitchFamily="2" charset="2"/>
              <a:buChar char="Ø"/>
              <a:defRPr/>
            </a:pPr>
            <a:r>
              <a:rPr kumimoji="1" lang="zh-CN" altLang="en-US" sz="1800" dirty="0">
                <a:latin typeface="微软雅黑" panose="020B0503020204020204" pitchFamily="34" charset="-122"/>
                <a:ea typeface="微软雅黑" panose="020B0503020204020204" pitchFamily="34" charset="-122"/>
              </a:rPr>
              <a:t>马云可以开捷达，但是你必须开奔驰</a:t>
            </a:r>
            <a:endParaRPr kumimoji="1" lang="en-US" altLang="zh-CN" sz="1800" dirty="0">
              <a:latin typeface="微软雅黑" panose="020B0503020204020204" pitchFamily="34" charset="-122"/>
              <a:ea typeface="微软雅黑" panose="020B0503020204020204" pitchFamily="34"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2000" b="0" i="0" u="none" strike="noStrike" cap="none" normalizeH="0" baseline="0" dirty="0">
              <a:ln>
                <a:noFill/>
              </a:ln>
              <a:effectLst/>
            </a:endParaRPr>
          </a:p>
        </p:txBody>
      </p:sp>
      <p:pic>
        <p:nvPicPr>
          <p:cNvPr id="7" name="图片 6">
            <a:extLst>
              <a:ext uri="{FF2B5EF4-FFF2-40B4-BE49-F238E27FC236}">
                <a16:creationId xmlns:a16="http://schemas.microsoft.com/office/drawing/2014/main" id="{30B71DB4-7A75-4C95-8883-9FBBE76BA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766" y="1560164"/>
            <a:ext cx="2757486" cy="3035172"/>
          </a:xfrm>
          <a:prstGeom prst="rect">
            <a:avLst/>
          </a:prstGeom>
        </p:spPr>
      </p:pic>
      <p:sp>
        <p:nvSpPr>
          <p:cNvPr id="10" name="标题 1">
            <a:extLst>
              <a:ext uri="{FF2B5EF4-FFF2-40B4-BE49-F238E27FC236}">
                <a16:creationId xmlns:a16="http://schemas.microsoft.com/office/drawing/2014/main" id="{C9B8EA13-C177-4AF2-AB87-D4BCD61FBDB5}"/>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16768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
                                            <p:bg/>
                                          </p:spTgt>
                                        </p:tgtEl>
                                        <p:attrNameLst>
                                          <p:attrName>style.visibility</p:attrName>
                                        </p:attrNameLst>
                                      </p:cBhvr>
                                      <p:to>
                                        <p:strVal val="visible"/>
                                      </p:to>
                                    </p:set>
                                    <p:animEffect transition="in" filter="randombar(horizontal)">
                                      <p:cBhvr>
                                        <p:cTn id="18" dur="50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549579" y="1124744"/>
            <a:ext cx="8191131" cy="5976664"/>
          </a:xfrm>
        </p:spPr>
        <p:txBody>
          <a:bodyPr/>
          <a:lstStyle/>
          <a:p>
            <a:pPr eaLnBrk="1" fontAlgn="auto" hangingPunct="1">
              <a:lnSpc>
                <a:spcPts val="3600"/>
              </a:lnSpc>
              <a:spcAft>
                <a:spcPts val="0"/>
              </a:spcAft>
              <a:buFont typeface="Wingdings" panose="05000000000000000000" pitchFamily="2" charset="2"/>
              <a:buChar char="u"/>
              <a:defRPr/>
            </a:pPr>
            <a:r>
              <a:rPr lang="zh-CN" altLang="en-US" sz="2000" b="0" dirty="0">
                <a:solidFill>
                  <a:schemeClr val="tx1"/>
                </a:solidFill>
                <a:latin typeface="微软雅黑" panose="020B0503020204020204" pitchFamily="34" charset="-122"/>
                <a:ea typeface="微软雅黑" panose="020B0503020204020204" pitchFamily="34" charset="-122"/>
              </a:rPr>
              <a:t>市场解决信息不对称的其他具体做法</a:t>
            </a:r>
            <a:endParaRPr lang="en-US" altLang="zh-CN" sz="2000" b="0" dirty="0">
              <a:solidFill>
                <a:schemeClr val="tx1"/>
              </a:solidFill>
              <a:latin typeface="微软雅黑" panose="020B0503020204020204" pitchFamily="34" charset="-122"/>
              <a:ea typeface="微软雅黑" panose="020B0503020204020204" pitchFamily="34" charset="-122"/>
            </a:endParaRPr>
          </a:p>
          <a:p>
            <a:pPr eaLnBrk="1" fontAlgn="auto" hangingPunct="1">
              <a:lnSpc>
                <a:spcPts val="3600"/>
              </a:lnSpc>
              <a:spcAft>
                <a:spcPts val="0"/>
              </a:spcAft>
              <a:buFont typeface="Wingdings" panose="05000000000000000000" pitchFamily="2" charset="2"/>
              <a:buChar char="Ø"/>
              <a:defRPr/>
            </a:pPr>
            <a:r>
              <a:rPr lang="zh-CN" altLang="en-US" sz="1800" b="0" dirty="0">
                <a:solidFill>
                  <a:schemeClr val="tx1"/>
                </a:solidFill>
                <a:latin typeface="微软雅黑" panose="020B0503020204020204" pitchFamily="34" charset="-122"/>
                <a:ea typeface="微软雅黑" panose="020B0503020204020204" pitchFamily="34" charset="-122"/>
              </a:rPr>
              <a:t>劳动市场的做法之一：效率工资：</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857250" lvl="1" indent="-457200" eaLnBrk="1" fontAlgn="auto" hangingPunct="1">
              <a:lnSpc>
                <a:spcPts val="3600"/>
              </a:lnSpc>
              <a:spcAft>
                <a:spcPts val="0"/>
              </a:spcAft>
              <a:buFont typeface="Arial" panose="020B0604020202020204" pitchFamily="34" charset="0"/>
              <a:buChar char="•"/>
              <a:defRPr/>
            </a:pPr>
            <a:r>
              <a:rPr lang="zh-CN" altLang="en-US" sz="1800" dirty="0">
                <a:latin typeface="微软雅黑" panose="020B0503020204020204" pitchFamily="34" charset="-122"/>
                <a:ea typeface="微软雅黑" panose="020B0503020204020204" pitchFamily="34" charset="-122"/>
              </a:rPr>
              <a:t>效率工资：相信提高工资可以提高员工的工作效率，因此以高于市场工资水平的高工资雇佣精英人才。如福特</a:t>
            </a:r>
            <a:r>
              <a:rPr lang="en-US" altLang="zh-CN" sz="1800" dirty="0">
                <a:latin typeface="微软雅黑" panose="020B0503020204020204" pitchFamily="34" charset="-122"/>
                <a:ea typeface="微软雅黑" panose="020B0503020204020204" pitchFamily="34" charset="-122"/>
              </a:rPr>
              <a:t>5</a:t>
            </a:r>
            <a:r>
              <a:rPr lang="zh-CN" altLang="en-US" sz="1800" dirty="0">
                <a:latin typeface="微软雅黑" panose="020B0503020204020204" pitchFamily="34" charset="-122"/>
                <a:ea typeface="微软雅黑" panose="020B0503020204020204" pitchFamily="34" charset="-122"/>
              </a:rPr>
              <a:t>美元日工资。</a:t>
            </a:r>
            <a:endParaRPr lang="en-US" altLang="zh-CN" sz="1800" dirty="0">
              <a:latin typeface="微软雅黑" panose="020B0503020204020204" pitchFamily="34" charset="-122"/>
              <a:ea typeface="微软雅黑" panose="020B0503020204020204" pitchFamily="34" charset="-122"/>
            </a:endParaRPr>
          </a:p>
          <a:p>
            <a:pPr marL="857250" lvl="1" indent="-457200" eaLnBrk="1" fontAlgn="auto" hangingPunct="1">
              <a:lnSpc>
                <a:spcPts val="3600"/>
              </a:lnSpc>
              <a:spcAft>
                <a:spcPts val="0"/>
              </a:spcAft>
              <a:buFont typeface="Arial" panose="020B0604020202020204" pitchFamily="34" charset="0"/>
              <a:buChar char="•"/>
              <a:defRPr/>
            </a:pPr>
            <a:r>
              <a:rPr lang="zh-CN" altLang="en-US" sz="1800" dirty="0">
                <a:latin typeface="微软雅黑" panose="020B0503020204020204" pitchFamily="34" charset="-122"/>
                <a:ea typeface="微软雅黑" panose="020B0503020204020204" pitchFamily="34" charset="-122"/>
              </a:rPr>
              <a:t>效率工资解决信息不对称的机制：</a:t>
            </a:r>
            <a:endParaRPr lang="en-US" altLang="zh-CN" sz="1800" dirty="0">
              <a:latin typeface="微软雅黑" panose="020B0503020204020204" pitchFamily="34" charset="-122"/>
              <a:ea typeface="微软雅黑" panose="020B0503020204020204" pitchFamily="34" charset="-122"/>
            </a:endParaRPr>
          </a:p>
          <a:p>
            <a:pPr marL="1257300" lvl="2" indent="-457200" eaLnBrk="1" fontAlgn="auto" hangingPunct="1">
              <a:lnSpc>
                <a:spcPts val="3600"/>
              </a:lnSpc>
              <a:spcAft>
                <a:spcPts val="0"/>
              </a:spcAft>
              <a:buFont typeface="Wingdings" panose="05000000000000000000" pitchFamily="2" charset="2"/>
              <a:buChar char="ü"/>
              <a:defRPr/>
            </a:pPr>
            <a:r>
              <a:rPr lang="zh-CN" altLang="en-US" sz="1600" dirty="0">
                <a:latin typeface="微软雅黑" panose="020B0503020204020204" pitchFamily="34" charset="-122"/>
                <a:ea typeface="微软雅黑" panose="020B0503020204020204" pitchFamily="34" charset="-122"/>
              </a:rPr>
              <a:t>吸引更多的求职者，其中包括高能力的人，从而避免了逆向选择。本来这些人会在低工资时离开的（逆向选择）。这样就有了甄别筛选的挤出。</a:t>
            </a:r>
            <a:endParaRPr lang="en-US" altLang="zh-CN" sz="1600" dirty="0">
              <a:latin typeface="微软雅黑" panose="020B0503020204020204" pitchFamily="34" charset="-122"/>
              <a:ea typeface="微软雅黑" panose="020B0503020204020204" pitchFamily="34" charset="-122"/>
            </a:endParaRPr>
          </a:p>
          <a:p>
            <a:pPr marL="1257300" lvl="2" indent="-457200" eaLnBrk="1" fontAlgn="auto" hangingPunct="1">
              <a:lnSpc>
                <a:spcPts val="3600"/>
              </a:lnSpc>
              <a:spcAft>
                <a:spcPts val="0"/>
              </a:spcAft>
              <a:buFont typeface="Wingdings" panose="05000000000000000000" pitchFamily="2" charset="2"/>
              <a:buChar char="ü"/>
              <a:defRPr/>
            </a:pPr>
            <a:r>
              <a:rPr lang="zh-CN" altLang="en-US" sz="1600" dirty="0">
                <a:latin typeface="微软雅黑" panose="020B0503020204020204" pitchFamily="34" charset="-122"/>
                <a:ea typeface="微软雅黑" panose="020B0503020204020204" pitchFamily="34" charset="-122"/>
              </a:rPr>
              <a:t>对既定员工，提高了其偷懒怠工的机会成本，消除了其道德风险行为。因为怠工偷懒不发现则已（信息不对称），一旦发现后被立即开除，从而丧失高于市场水平的工资。</a:t>
            </a:r>
            <a:endParaRPr lang="en-US" altLang="zh-CN" sz="1600" dirty="0">
              <a:latin typeface="微软雅黑" panose="020B0503020204020204" pitchFamily="34" charset="-122"/>
              <a:ea typeface="微软雅黑" panose="020B0503020204020204" pitchFamily="34" charset="-122"/>
            </a:endParaRPr>
          </a:p>
          <a:p>
            <a:pPr marL="800100" lvl="2" indent="0" eaLnBrk="1" fontAlgn="auto" hangingPunct="1">
              <a:lnSpc>
                <a:spcPts val="3600"/>
              </a:lnSpc>
              <a:spcAft>
                <a:spcPts val="0"/>
              </a:spcAft>
              <a:buClr>
                <a:srgbClr val="008000"/>
              </a:buClr>
              <a:buNone/>
              <a:defRPr/>
            </a:pPr>
            <a:endParaRPr lang="zh-CN" altLang="en-US"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16C9CD3E-3D72-42D7-9A34-0DB6EAE28FC2}"/>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1171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317665" y="2051204"/>
            <a:ext cx="6508670" cy="3466028"/>
            <a:chOff x="1426348" y="1869771"/>
            <a:chExt cx="7306164" cy="3890712"/>
          </a:xfrm>
        </p:grpSpPr>
        <p:grpSp>
          <p:nvGrpSpPr>
            <p:cNvPr id="13" name="组合 12"/>
            <p:cNvGrpSpPr/>
            <p:nvPr/>
          </p:nvGrpSpPr>
          <p:grpSpPr>
            <a:xfrm>
              <a:off x="1426348" y="1869771"/>
              <a:ext cx="7306164" cy="2470906"/>
              <a:chOff x="1426348" y="1869771"/>
              <a:chExt cx="7306164" cy="2470906"/>
            </a:xfrm>
          </p:grpSpPr>
          <p:sp>
            <p:nvSpPr>
              <p:cNvPr id="3" name="圆角矩形 2"/>
              <p:cNvSpPr/>
              <p:nvPr/>
            </p:nvSpPr>
            <p:spPr bwMode="auto">
              <a:xfrm>
                <a:off x="2587358" y="1869771"/>
                <a:ext cx="5100411" cy="530963"/>
              </a:xfrm>
              <a:prstGeom prst="roundRect">
                <a:avLst/>
              </a:prstGeom>
              <a:solidFill>
                <a:srgbClr val="F3C97E"/>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lvl="0"/>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lvl="0" algn="ctr"/>
                <a:r>
                  <a:rPr lang="zh-CN" altLang="zh-CN" sz="1600" dirty="0">
                    <a:latin typeface="微软雅黑" panose="020B0503020204020204" pitchFamily="34" charset="-122"/>
                    <a:ea typeface="微软雅黑" panose="020B0503020204020204" pitchFamily="34" charset="-122"/>
                  </a:rPr>
                  <a:t>人力资源中利用发信号机制的案例</a:t>
                </a:r>
                <a:endParaRPr lang="en-US" altLang="zh-CN" sz="1600" dirty="0">
                  <a:latin typeface="微软雅黑" panose="020B0503020204020204" pitchFamily="34" charset="-122"/>
                  <a:ea typeface="微软雅黑" panose="020B0503020204020204" pitchFamily="34"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600" b="0" i="0" u="none" strike="noStrike" cap="none" normalizeH="0" baseline="0" dirty="0">
                  <a:ln>
                    <a:noFill/>
                  </a:ln>
                  <a:solidFill>
                    <a:schemeClr val="tx1">
                      <a:lumMod val="65000"/>
                      <a:lumOff val="35000"/>
                    </a:schemeClr>
                  </a:solidFill>
                  <a:effectLst/>
                </a:endParaRPr>
              </a:p>
            </p:txBody>
          </p:sp>
          <p:sp>
            <p:nvSpPr>
              <p:cNvPr id="9" name="圆角矩形 8"/>
              <p:cNvSpPr/>
              <p:nvPr/>
            </p:nvSpPr>
            <p:spPr bwMode="auto">
              <a:xfrm>
                <a:off x="1426348" y="2562395"/>
                <a:ext cx="3516720" cy="1778282"/>
              </a:xfrm>
              <a:prstGeom prst="roundRect">
                <a:avLst/>
              </a:prstGeom>
              <a:solidFill>
                <a:srgbClr val="F3C97E"/>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r>
                  <a:rPr lang="zh-CN" altLang="en-US" sz="1600" dirty="0">
                    <a:latin typeface="微软雅黑" panose="020B0503020204020204" pitchFamily="34" charset="-122"/>
                    <a:ea typeface="微软雅黑" panose="020B0503020204020204" pitchFamily="34" charset="-122"/>
                  </a:rPr>
                  <a:t>该校学工处一位教师认为不宜过分强调过级考试。许多高校已不再将过级考试与学位挂钩，希望用人单位更加注重毕业生实际工作能力。</a:t>
                </a:r>
              </a:p>
            </p:txBody>
          </p:sp>
          <p:sp>
            <p:nvSpPr>
              <p:cNvPr id="10" name="圆角矩形 9"/>
              <p:cNvSpPr/>
              <p:nvPr/>
            </p:nvSpPr>
            <p:spPr bwMode="auto">
              <a:xfrm>
                <a:off x="5134193" y="2543462"/>
                <a:ext cx="3598319" cy="1778282"/>
              </a:xfrm>
              <a:prstGeom prst="roundRect">
                <a:avLst/>
              </a:prstGeom>
              <a:solidFill>
                <a:srgbClr val="F3C97E"/>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lvl="0" algn="ctr"/>
                <a:r>
                  <a:rPr lang="en-US" altLang="zh-CN" sz="1600" dirty="0">
                    <a:latin typeface="微软雅黑" panose="020B0503020204020204" pitchFamily="34" charset="-122"/>
                    <a:ea typeface="微软雅黑" panose="020B0503020204020204" pitchFamily="34" charset="-122"/>
                  </a:rPr>
                  <a:t>2004</a:t>
                </a:r>
                <a:r>
                  <a:rPr lang="zh-CN" altLang="zh-CN"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12</a:t>
                </a:r>
                <a:r>
                  <a:rPr lang="zh-CN" altLang="zh-CN" sz="1600" dirty="0">
                    <a:latin typeface="微软雅黑" panose="020B0503020204020204" pitchFamily="34" charset="-122"/>
                    <a:ea typeface="微软雅黑" panose="020B0503020204020204" pitchFamily="34" charset="-122"/>
                  </a:rPr>
                  <a:t>月，湖南涟源钢铁集团有限公司在武汉</a:t>
                </a:r>
                <a:r>
                  <a:rPr lang="en-US" altLang="zh-CN" sz="1600" dirty="0">
                    <a:latin typeface="微软雅黑" panose="020B0503020204020204" pitchFamily="34" charset="-122"/>
                    <a:ea typeface="微软雅黑" panose="020B0503020204020204" pitchFamily="34" charset="-122"/>
                  </a:rPr>
                  <a:t>XX</a:t>
                </a:r>
                <a:r>
                  <a:rPr lang="zh-CN" altLang="zh-CN" sz="1600" dirty="0">
                    <a:latin typeface="微软雅黑" panose="020B0503020204020204" pitchFamily="34" charset="-122"/>
                    <a:ea typeface="微软雅黑" panose="020B0503020204020204" pitchFamily="34" charset="-122"/>
                  </a:rPr>
                  <a:t>大学招聘时规定：本科生过六级可发安家费</a:t>
                </a:r>
                <a:r>
                  <a:rPr lang="en-US" altLang="zh-CN" sz="1600" dirty="0">
                    <a:latin typeface="微软雅黑" panose="020B0503020204020204" pitchFamily="34" charset="-122"/>
                    <a:ea typeface="微软雅黑" panose="020B0503020204020204" pitchFamily="34" charset="-122"/>
                  </a:rPr>
                  <a:t>3500</a:t>
                </a:r>
                <a:r>
                  <a:rPr lang="zh-CN" altLang="zh-CN" sz="1600" dirty="0">
                    <a:latin typeface="微软雅黑" panose="020B0503020204020204" pitchFamily="34" charset="-122"/>
                    <a:ea typeface="微软雅黑" panose="020B0503020204020204" pitchFamily="34" charset="-122"/>
                  </a:rPr>
                  <a:t>元、过四级发</a:t>
                </a:r>
                <a:r>
                  <a:rPr lang="en-US" altLang="zh-CN" sz="1600" dirty="0">
                    <a:latin typeface="微软雅黑" panose="020B0503020204020204" pitchFamily="34" charset="-122"/>
                    <a:ea typeface="微软雅黑" panose="020B0503020204020204" pitchFamily="34" charset="-122"/>
                  </a:rPr>
                  <a:t>3000</a:t>
                </a:r>
                <a:r>
                  <a:rPr lang="zh-CN" altLang="zh-CN" sz="1600" dirty="0">
                    <a:latin typeface="微软雅黑" panose="020B0503020204020204" pitchFamily="34" charset="-122"/>
                    <a:ea typeface="微软雅黑" panose="020B0503020204020204" pitchFamily="34" charset="-122"/>
                  </a:rPr>
                  <a:t>元；专科生过六级发</a:t>
                </a:r>
                <a:r>
                  <a:rPr lang="en-US" altLang="zh-CN" sz="1600" dirty="0">
                    <a:latin typeface="微软雅黑" panose="020B0503020204020204" pitchFamily="34" charset="-122"/>
                    <a:ea typeface="微软雅黑" panose="020B0503020204020204" pitchFamily="34" charset="-122"/>
                  </a:rPr>
                  <a:t>3000</a:t>
                </a:r>
                <a:r>
                  <a:rPr lang="zh-CN" altLang="zh-CN" sz="1600" dirty="0">
                    <a:latin typeface="微软雅黑" panose="020B0503020204020204" pitchFamily="34" charset="-122"/>
                    <a:ea typeface="微软雅黑" panose="020B0503020204020204" pitchFamily="34" charset="-122"/>
                  </a:rPr>
                  <a:t>元、过四级发</a:t>
                </a:r>
                <a:r>
                  <a:rPr lang="en-US" altLang="zh-CN" sz="1600" dirty="0">
                    <a:latin typeface="微软雅黑" panose="020B0503020204020204" pitchFamily="34" charset="-122"/>
                    <a:ea typeface="微软雅黑" panose="020B0503020204020204" pitchFamily="34" charset="-122"/>
                  </a:rPr>
                  <a:t>2500</a:t>
                </a:r>
                <a:r>
                  <a:rPr lang="zh-CN" altLang="zh-CN" sz="1600" dirty="0">
                    <a:latin typeface="微软雅黑" panose="020B0503020204020204" pitchFamily="34" charset="-122"/>
                    <a:ea typeface="微软雅黑" panose="020B0503020204020204" pitchFamily="34" charset="-122"/>
                  </a:rPr>
                  <a:t>元。</a:t>
                </a:r>
                <a:endParaRPr lang="en-US" altLang="zh-CN" sz="1600" dirty="0">
                  <a:latin typeface="微软雅黑" panose="020B0503020204020204" pitchFamily="34" charset="-122"/>
                  <a:ea typeface="微软雅黑" panose="020B0503020204020204" pitchFamily="34" charset="-122"/>
                </a:endParaRPr>
              </a:p>
            </p:txBody>
          </p:sp>
        </p:grpSp>
        <p:sp>
          <p:nvSpPr>
            <p:cNvPr id="11" name="圆角矩形 10"/>
            <p:cNvSpPr/>
            <p:nvPr/>
          </p:nvSpPr>
          <p:spPr bwMode="auto">
            <a:xfrm>
              <a:off x="2587358" y="4483404"/>
              <a:ext cx="5100411" cy="1277079"/>
            </a:xfrm>
            <a:prstGeom prst="roundRect">
              <a:avLst/>
            </a:prstGeom>
            <a:solidFill>
              <a:srgbClr val="F3C97E"/>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lvl="0"/>
              <a:r>
                <a:rPr lang="zh-CN" altLang="zh-CN" sz="1600" dirty="0">
                  <a:latin typeface="微软雅黑" panose="020B0503020204020204" pitchFamily="34" charset="-122"/>
                  <a:ea typeface="微软雅黑" panose="020B0503020204020204" pitchFamily="34" charset="-122"/>
                </a:rPr>
                <a:t>该公司负责人说，英语水平高低，可以看出一个人的学习能力及其他能力，这项规定就是对优秀学生的奖励。其他在场招聘的用人单位中，</a:t>
              </a:r>
              <a:r>
                <a:rPr lang="en-US" altLang="zh-CN" sz="1600" dirty="0">
                  <a:latin typeface="微软雅黑" panose="020B0503020204020204" pitchFamily="34" charset="-122"/>
                  <a:ea typeface="微软雅黑" panose="020B0503020204020204" pitchFamily="34" charset="-122"/>
                </a:rPr>
                <a:t>90%</a:t>
              </a:r>
              <a:r>
                <a:rPr lang="zh-CN" altLang="zh-CN" sz="1600" dirty="0">
                  <a:latin typeface="微软雅黑" panose="020B0503020204020204" pitchFamily="34" charset="-122"/>
                  <a:ea typeface="微软雅黑" panose="020B0503020204020204" pitchFamily="34" charset="-122"/>
                </a:rPr>
                <a:t>以上都要求学生过四级。</a:t>
              </a:r>
              <a:endParaRPr lang="en-US" altLang="zh-CN" sz="1600" dirty="0">
                <a:latin typeface="微软雅黑" panose="020B0503020204020204" pitchFamily="34" charset="-122"/>
                <a:ea typeface="微软雅黑" panose="020B0503020204020204" pitchFamily="34" charset="-122"/>
              </a:endParaRPr>
            </a:p>
          </p:txBody>
        </p:sp>
      </p:grpSp>
      <p:sp>
        <p:nvSpPr>
          <p:cNvPr id="12" name="内容占位符 2">
            <a:extLst>
              <a:ext uri="{FF2B5EF4-FFF2-40B4-BE49-F238E27FC236}">
                <a16:creationId xmlns:a16="http://schemas.microsoft.com/office/drawing/2014/main" id="{82F352D9-E6E5-49DC-9944-766586C312E8}"/>
              </a:ext>
            </a:extLst>
          </p:cNvPr>
          <p:cNvSpPr txBox="1">
            <a:spLocks/>
          </p:cNvSpPr>
          <p:nvPr/>
        </p:nvSpPr>
        <p:spPr bwMode="auto">
          <a:xfrm>
            <a:off x="536328" y="1324485"/>
            <a:ext cx="8778022"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spcAft>
                <a:spcPts val="0"/>
              </a:spcAft>
              <a:buFont typeface="Wingdings" panose="05000000000000000000" pitchFamily="2" charset="2"/>
              <a:buChar char="u"/>
              <a:defRPr/>
            </a:pPr>
            <a:r>
              <a:rPr lang="zh-CN" altLang="en-US" sz="2000" b="0" dirty="0">
                <a:solidFill>
                  <a:schemeClr val="tx1"/>
                </a:solidFill>
                <a:latin typeface="微软雅黑" panose="020B0503020204020204" pitchFamily="34" charset="-122"/>
                <a:ea typeface="微软雅黑" panose="020B0503020204020204" pitchFamily="34" charset="-122"/>
              </a:rPr>
              <a:t>发信号机制的一个实际例子</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15" name="标题 1">
            <a:extLst>
              <a:ext uri="{FF2B5EF4-FFF2-40B4-BE49-F238E27FC236}">
                <a16:creationId xmlns:a16="http://schemas.microsoft.com/office/drawing/2014/main" id="{AA277E3E-D64D-4296-B9AE-675D76A8FE5A}"/>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295264659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horizontal)">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5413" y="2060848"/>
            <a:ext cx="7575019" cy="1872208"/>
          </a:xfrm>
        </p:spPr>
        <p:txBody>
          <a:bodyPr/>
          <a:lstStyle/>
          <a:p>
            <a:pPr lvl="0">
              <a:lnSpc>
                <a:spcPct val="200000"/>
              </a:lnSpc>
              <a:buFont typeface="Wingdings" panose="05000000000000000000" pitchFamily="2" charset="2"/>
              <a:buChar char="Ø"/>
            </a:pPr>
            <a:r>
              <a:rPr lang="en-US" altLang="zh-CN" sz="1800" b="0" dirty="0">
                <a:solidFill>
                  <a:schemeClr val="tx1"/>
                </a:solidFill>
                <a:latin typeface="微软雅黑" panose="020B0503020204020204" pitchFamily="34" charset="-122"/>
                <a:ea typeface="微软雅黑" panose="020B0503020204020204" pitchFamily="34" charset="-122"/>
              </a:rPr>
              <a:t>2004</a:t>
            </a:r>
            <a:r>
              <a:rPr lang="zh-CN" altLang="zh-CN" sz="1800" b="0" dirty="0">
                <a:solidFill>
                  <a:schemeClr val="tx1"/>
                </a:solidFill>
                <a:latin typeface="微软雅黑" panose="020B0503020204020204" pitchFamily="34" charset="-122"/>
                <a:ea typeface="微软雅黑" panose="020B0503020204020204" pitchFamily="34" charset="-122"/>
              </a:rPr>
              <a:t>年</a:t>
            </a:r>
            <a:r>
              <a:rPr lang="en-US" altLang="zh-CN" sz="1800" b="0" dirty="0">
                <a:solidFill>
                  <a:schemeClr val="tx1"/>
                </a:solidFill>
                <a:latin typeface="微软雅黑" panose="020B0503020204020204" pitchFamily="34" charset="-122"/>
                <a:ea typeface="微软雅黑" panose="020B0503020204020204" pitchFamily="34" charset="-122"/>
              </a:rPr>
              <a:t>12</a:t>
            </a:r>
            <a:r>
              <a:rPr lang="zh-CN" altLang="zh-CN" sz="1800" b="0" dirty="0">
                <a:solidFill>
                  <a:schemeClr val="tx1"/>
                </a:solidFill>
                <a:latin typeface="微软雅黑" panose="020B0503020204020204" pitchFamily="34" charset="-122"/>
                <a:ea typeface="微软雅黑" panose="020B0503020204020204" pitchFamily="34" charset="-122"/>
              </a:rPr>
              <a:t>月，湖南涟源钢铁集团有限公司在武汉</a:t>
            </a:r>
            <a:r>
              <a:rPr lang="en-US" altLang="zh-CN" sz="1800" b="0" dirty="0">
                <a:solidFill>
                  <a:schemeClr val="tx1"/>
                </a:solidFill>
                <a:latin typeface="微软雅黑" panose="020B0503020204020204" pitchFamily="34" charset="-122"/>
                <a:ea typeface="微软雅黑" panose="020B0503020204020204" pitchFamily="34" charset="-122"/>
              </a:rPr>
              <a:t>XX</a:t>
            </a:r>
            <a:r>
              <a:rPr lang="zh-CN" altLang="zh-CN" sz="1800" b="0" dirty="0">
                <a:solidFill>
                  <a:schemeClr val="tx1"/>
                </a:solidFill>
                <a:latin typeface="微软雅黑" panose="020B0503020204020204" pitchFamily="34" charset="-122"/>
                <a:ea typeface="微软雅黑" panose="020B0503020204020204" pitchFamily="34" charset="-122"/>
              </a:rPr>
              <a:t>大学招聘时规定：本科生过六级可发安家费</a:t>
            </a:r>
            <a:r>
              <a:rPr lang="en-US" altLang="zh-CN" sz="1800" b="0" dirty="0">
                <a:solidFill>
                  <a:schemeClr val="tx1"/>
                </a:solidFill>
                <a:latin typeface="微软雅黑" panose="020B0503020204020204" pitchFamily="34" charset="-122"/>
                <a:ea typeface="微软雅黑" panose="020B0503020204020204" pitchFamily="34" charset="-122"/>
              </a:rPr>
              <a:t>3500</a:t>
            </a:r>
            <a:r>
              <a:rPr lang="zh-CN" altLang="zh-CN" sz="1800" b="0" dirty="0">
                <a:solidFill>
                  <a:schemeClr val="tx1"/>
                </a:solidFill>
                <a:latin typeface="微软雅黑" panose="020B0503020204020204" pitchFamily="34" charset="-122"/>
                <a:ea typeface="微软雅黑" panose="020B0503020204020204" pitchFamily="34" charset="-122"/>
              </a:rPr>
              <a:t>元、过四级发</a:t>
            </a:r>
            <a:r>
              <a:rPr lang="en-US" altLang="zh-CN" sz="1800" b="0" dirty="0">
                <a:solidFill>
                  <a:schemeClr val="tx1"/>
                </a:solidFill>
                <a:latin typeface="微软雅黑" panose="020B0503020204020204" pitchFamily="34" charset="-122"/>
                <a:ea typeface="微软雅黑" panose="020B0503020204020204" pitchFamily="34" charset="-122"/>
              </a:rPr>
              <a:t>3000</a:t>
            </a:r>
            <a:r>
              <a:rPr lang="zh-CN" altLang="zh-CN" sz="1800" b="0" dirty="0">
                <a:solidFill>
                  <a:schemeClr val="tx1"/>
                </a:solidFill>
                <a:latin typeface="微软雅黑" panose="020B0503020204020204" pitchFamily="34" charset="-122"/>
                <a:ea typeface="微软雅黑" panose="020B0503020204020204" pitchFamily="34" charset="-122"/>
              </a:rPr>
              <a:t>元；专科生过六级发</a:t>
            </a:r>
            <a:r>
              <a:rPr lang="en-US" altLang="zh-CN" sz="1800" b="0" dirty="0">
                <a:solidFill>
                  <a:schemeClr val="tx1"/>
                </a:solidFill>
                <a:latin typeface="微软雅黑" panose="020B0503020204020204" pitchFamily="34" charset="-122"/>
                <a:ea typeface="微软雅黑" panose="020B0503020204020204" pitchFamily="34" charset="-122"/>
              </a:rPr>
              <a:t>3000</a:t>
            </a:r>
            <a:r>
              <a:rPr lang="zh-CN" altLang="zh-CN" sz="1800" b="0" dirty="0">
                <a:solidFill>
                  <a:schemeClr val="tx1"/>
                </a:solidFill>
                <a:latin typeface="微软雅黑" panose="020B0503020204020204" pitchFamily="34" charset="-122"/>
                <a:ea typeface="微软雅黑" panose="020B0503020204020204" pitchFamily="34" charset="-122"/>
              </a:rPr>
              <a:t>元、过四级发</a:t>
            </a:r>
            <a:r>
              <a:rPr lang="en-US" altLang="zh-CN" sz="1800" b="0" dirty="0">
                <a:solidFill>
                  <a:schemeClr val="tx1"/>
                </a:solidFill>
                <a:latin typeface="微软雅黑" panose="020B0503020204020204" pitchFamily="34" charset="-122"/>
                <a:ea typeface="微软雅黑" panose="020B0503020204020204" pitchFamily="34" charset="-122"/>
              </a:rPr>
              <a:t>2500</a:t>
            </a:r>
            <a:r>
              <a:rPr lang="zh-CN" altLang="zh-CN" sz="1800" b="0" dirty="0">
                <a:solidFill>
                  <a:schemeClr val="tx1"/>
                </a:solidFill>
                <a:latin typeface="微软雅黑" panose="020B0503020204020204" pitchFamily="34" charset="-122"/>
                <a:ea typeface="微软雅黑" panose="020B0503020204020204" pitchFamily="34" charset="-122"/>
              </a:rPr>
              <a:t>元。</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sp>
        <p:nvSpPr>
          <p:cNvPr id="5" name="内容占位符 2"/>
          <p:cNvSpPr txBox="1">
            <a:spLocks/>
          </p:cNvSpPr>
          <p:nvPr/>
        </p:nvSpPr>
        <p:spPr bwMode="auto">
          <a:xfrm>
            <a:off x="536328" y="1468501"/>
            <a:ext cx="8778022"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spcAft>
                <a:spcPts val="0"/>
              </a:spcAft>
              <a:buFont typeface="Wingdings" panose="05000000000000000000" pitchFamily="2" charset="2"/>
              <a:buChar char="u"/>
              <a:defRPr/>
            </a:pPr>
            <a:r>
              <a:rPr lang="zh-CN" altLang="en-US" sz="2000" b="0" dirty="0">
                <a:solidFill>
                  <a:schemeClr val="tx1"/>
                </a:solidFill>
                <a:latin typeface="微软雅黑" panose="020B0503020204020204" pitchFamily="34" charset="-122"/>
                <a:ea typeface="微软雅黑" panose="020B0503020204020204" pitchFamily="34" charset="-122"/>
              </a:rPr>
              <a:t>发信号机制的一个实际例子</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8" name="标题 1">
            <a:extLst>
              <a:ext uri="{FF2B5EF4-FFF2-40B4-BE49-F238E27FC236}">
                <a16:creationId xmlns:a16="http://schemas.microsoft.com/office/drawing/2014/main" id="{7C0CB23E-17B7-4162-AE4F-1B43F0B6B86F}"/>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4" name="矩形 3">
            <a:extLst>
              <a:ext uri="{FF2B5EF4-FFF2-40B4-BE49-F238E27FC236}">
                <a16:creationId xmlns:a16="http://schemas.microsoft.com/office/drawing/2014/main" id="{3E3359F1-3B1A-4E2F-A16E-2980BD93304A}"/>
              </a:ext>
            </a:extLst>
          </p:cNvPr>
          <p:cNvSpPr/>
          <p:nvPr/>
        </p:nvSpPr>
        <p:spPr>
          <a:xfrm>
            <a:off x="872464" y="3774446"/>
            <a:ext cx="7803992" cy="1670778"/>
          </a:xfrm>
          <a:prstGeom prst="rect">
            <a:avLst/>
          </a:prstGeom>
        </p:spPr>
        <p:txBody>
          <a:bodyPr wrap="square">
            <a:spAutoFit/>
          </a:bodyPr>
          <a:lstStyle/>
          <a:p>
            <a:pPr marL="342900" lvl="0" indent="-342900" eaLnBrk="0" hangingPunct="0">
              <a:lnSpc>
                <a:spcPct val="200000"/>
              </a:lnSpc>
              <a:spcBef>
                <a:spcPct val="20000"/>
              </a:spcBef>
              <a:buFont typeface="Wingdings" panose="05000000000000000000" pitchFamily="2" charset="2"/>
              <a:buChar char="Ø"/>
            </a:pPr>
            <a:r>
              <a:rPr lang="zh-CN" altLang="zh-CN" sz="1800" dirty="0">
                <a:solidFill>
                  <a:srgbClr val="000000"/>
                </a:solidFill>
                <a:latin typeface="微软雅黑" panose="020B0503020204020204" pitchFamily="34" charset="-122"/>
                <a:ea typeface="微软雅黑" panose="020B0503020204020204" pitchFamily="34" charset="-122"/>
              </a:rPr>
              <a:t>该公司负责人说，英语水平高低，可以看出一个人的学习能力及其他能力，这项规定就是对优秀学生的奖励。其他在场招聘的用人单位中，</a:t>
            </a:r>
            <a:r>
              <a:rPr lang="en-US" altLang="zh-CN" sz="1800" dirty="0">
                <a:solidFill>
                  <a:srgbClr val="000000"/>
                </a:solidFill>
                <a:latin typeface="微软雅黑" panose="020B0503020204020204" pitchFamily="34" charset="-122"/>
                <a:ea typeface="微软雅黑" panose="020B0503020204020204" pitchFamily="34" charset="-122"/>
              </a:rPr>
              <a:t>90%</a:t>
            </a:r>
            <a:r>
              <a:rPr lang="zh-CN" altLang="zh-CN" sz="1800" dirty="0">
                <a:solidFill>
                  <a:srgbClr val="000000"/>
                </a:solidFill>
                <a:latin typeface="微软雅黑" panose="020B0503020204020204" pitchFamily="34" charset="-122"/>
                <a:ea typeface="微软雅黑" panose="020B0503020204020204" pitchFamily="34" charset="-122"/>
              </a:rPr>
              <a:t>以上都要求学生过四级。</a:t>
            </a:r>
            <a:endParaRPr lang="en-US" altLang="zh-CN" sz="18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2594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标注 1"/>
          <p:cNvSpPr/>
          <p:nvPr/>
        </p:nvSpPr>
        <p:spPr bwMode="auto">
          <a:xfrm>
            <a:off x="2358517" y="1814107"/>
            <a:ext cx="5544616" cy="2088232"/>
          </a:xfrm>
          <a:prstGeom prst="wedgeRoundRectCallou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nSpc>
                <a:spcPct val="150000"/>
              </a:lnSpc>
            </a:pPr>
            <a:r>
              <a:rPr lang="zh-CN" altLang="en-US" sz="2000" dirty="0">
                <a:latin typeface="微软雅黑" panose="020B0503020204020204" pitchFamily="34" charset="-122"/>
                <a:ea typeface="微软雅黑" panose="020B0503020204020204" pitchFamily="34" charset="-122"/>
              </a:rPr>
              <a:t>该校学工处一位教师认为不宜过分强调过级考试。许多高校已不再将过级考试与学位挂钩，希望用人单位更加注重毕业生实际工作能力。</a:t>
            </a:r>
            <a:endParaRPr lang="en-US" altLang="zh-CN" sz="2000"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2123728" y="4005064"/>
            <a:ext cx="6480720" cy="2304256"/>
          </a:xfrm>
        </p:spPr>
        <p:txBody>
          <a:bodyPr/>
          <a:lstStyle/>
          <a:p>
            <a:pPr marL="0" lvl="0" indent="0">
              <a:lnSpc>
                <a:spcPct val="150000"/>
              </a:lnSpc>
              <a:buNone/>
            </a:pPr>
            <a:endParaRPr lang="en-US" altLang="zh-CN" sz="1800" b="0" dirty="0">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sz="1800" b="0" dirty="0">
                <a:solidFill>
                  <a:srgbClr val="C00000"/>
                </a:solidFill>
                <a:latin typeface="微软雅黑" panose="020B0503020204020204" pitchFamily="34" charset="-122"/>
                <a:ea typeface="微软雅黑" panose="020B0503020204020204" pitchFamily="34" charset="-122"/>
              </a:rPr>
              <a:t>关注点</a:t>
            </a:r>
            <a:r>
              <a:rPr lang="en-US" altLang="zh-CN" sz="1800" b="0" dirty="0">
                <a:solidFill>
                  <a:srgbClr val="C00000"/>
                </a:solidFill>
                <a:latin typeface="微软雅黑" panose="020B0503020204020204" pitchFamily="34" charset="-122"/>
                <a:ea typeface="微软雅黑" panose="020B0503020204020204" pitchFamily="34" charset="-122"/>
              </a:rPr>
              <a:t>1</a:t>
            </a:r>
            <a:r>
              <a:rPr lang="zh-CN" altLang="en-US" sz="1800" b="0" dirty="0">
                <a:solidFill>
                  <a:srgbClr val="C00000"/>
                </a:solidFill>
                <a:latin typeface="微软雅黑" panose="020B0503020204020204" pitchFamily="34" charset="-122"/>
                <a:ea typeface="微软雅黑" panose="020B0503020204020204" pitchFamily="34" charset="-122"/>
              </a:rPr>
              <a:t>：武汉</a:t>
            </a:r>
            <a:r>
              <a:rPr lang="en-US" altLang="zh-CN" sz="1800" b="0" dirty="0">
                <a:solidFill>
                  <a:srgbClr val="C00000"/>
                </a:solidFill>
                <a:latin typeface="微软雅黑" panose="020B0503020204020204" pitchFamily="34" charset="-122"/>
                <a:ea typeface="微软雅黑" panose="020B0503020204020204" pitchFamily="34" charset="-122"/>
              </a:rPr>
              <a:t>XX</a:t>
            </a:r>
            <a:r>
              <a:rPr lang="zh-CN" altLang="en-US" sz="1800" b="0" dirty="0">
                <a:solidFill>
                  <a:srgbClr val="C00000"/>
                </a:solidFill>
                <a:latin typeface="微软雅黑" panose="020B0503020204020204" pitchFamily="34" charset="-122"/>
                <a:ea typeface="微软雅黑" panose="020B0503020204020204" pitchFamily="34" charset="-122"/>
              </a:rPr>
              <a:t>大学当时的考试存在问题，管理不严格；</a:t>
            </a:r>
            <a:endParaRPr lang="en-US" altLang="zh-CN" sz="1800" b="0" dirty="0">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sz="1800" b="0" dirty="0">
                <a:solidFill>
                  <a:srgbClr val="C00000"/>
                </a:solidFill>
                <a:latin typeface="微软雅黑" panose="020B0503020204020204" pitchFamily="34" charset="-122"/>
                <a:ea typeface="微软雅黑" panose="020B0503020204020204" pitchFamily="34" charset="-122"/>
              </a:rPr>
              <a:t>关注点</a:t>
            </a:r>
            <a:r>
              <a:rPr lang="en-US" altLang="zh-CN" sz="1800" b="0" dirty="0">
                <a:solidFill>
                  <a:srgbClr val="C00000"/>
                </a:solidFill>
                <a:latin typeface="微软雅黑" panose="020B0503020204020204" pitchFamily="34" charset="-122"/>
                <a:ea typeface="微软雅黑" panose="020B0503020204020204" pitchFamily="34" charset="-122"/>
              </a:rPr>
              <a:t>2</a:t>
            </a:r>
            <a:r>
              <a:rPr lang="zh-CN" altLang="en-US" sz="1800" b="0" dirty="0">
                <a:solidFill>
                  <a:srgbClr val="C00000"/>
                </a:solidFill>
                <a:latin typeface="微软雅黑" panose="020B0503020204020204" pitchFamily="34" charset="-122"/>
                <a:ea typeface="微软雅黑" panose="020B0503020204020204" pitchFamily="34" charset="-122"/>
              </a:rPr>
              <a:t>：英语与工作性质无关</a:t>
            </a:r>
            <a:endParaRPr lang="en-US" altLang="zh-CN" sz="1800" b="0" dirty="0">
              <a:solidFill>
                <a:srgbClr val="C0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BD9DEFAF-3ADD-47C5-B0F4-B5AFF1724F5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8156"/>
          <a:stretch/>
        </p:blipFill>
        <p:spPr>
          <a:xfrm flipH="1">
            <a:off x="539552" y="1278010"/>
            <a:ext cx="1810953" cy="3495420"/>
          </a:xfrm>
          <a:prstGeom prst="rect">
            <a:avLst/>
          </a:prstGeom>
        </p:spPr>
      </p:pic>
      <p:sp>
        <p:nvSpPr>
          <p:cNvPr id="7" name="标题 1">
            <a:extLst>
              <a:ext uri="{FF2B5EF4-FFF2-40B4-BE49-F238E27FC236}">
                <a16:creationId xmlns:a16="http://schemas.microsoft.com/office/drawing/2014/main" id="{0022F1A8-84A1-405F-A179-D6BFF05EA1A4}"/>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383563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randombar(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916832"/>
            <a:ext cx="7632848" cy="5184576"/>
          </a:xfrm>
        </p:spPr>
        <p:txBody>
          <a:bodyPr/>
          <a:lstStyle/>
          <a:p>
            <a:pPr>
              <a:lnSpc>
                <a:spcPct val="1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分析</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540000">
              <a:lnSpc>
                <a:spcPct val="15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求职者能力如何，现在并不知道，等知道时就晚了。因此，那位老师的观点不对。</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540000">
              <a:lnSpc>
                <a:spcPct val="15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英语四级六级虽然不是企业需要的，但是可以显示求职者的特质：</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1080000" lvl="1">
              <a:lnSpc>
                <a:spcPct val="150000"/>
              </a:lnSpc>
              <a:buFont typeface="Wingdings" panose="05000000000000000000" pitchFamily="2" charset="2"/>
              <a:buChar char="ü"/>
            </a:pPr>
            <a:r>
              <a:rPr lang="zh-CN" altLang="en-US" sz="1800" dirty="0">
                <a:latin typeface="微软雅黑" panose="020B0503020204020204" pitchFamily="34" charset="-122"/>
                <a:ea typeface="微软雅黑" panose="020B0503020204020204" pitchFamily="34" charset="-122"/>
              </a:rPr>
              <a:t>能过四级或六级，是有能力的</a:t>
            </a:r>
            <a:endParaRPr lang="en-US" altLang="zh-CN" sz="1800" dirty="0">
              <a:latin typeface="微软雅黑" panose="020B0503020204020204" pitchFamily="34" charset="-122"/>
              <a:ea typeface="微软雅黑" panose="020B0503020204020204" pitchFamily="34" charset="-122"/>
            </a:endParaRPr>
          </a:p>
          <a:p>
            <a:pPr marL="1080000" lvl="1">
              <a:lnSpc>
                <a:spcPct val="150000"/>
              </a:lnSpc>
              <a:buFont typeface="Wingdings" panose="05000000000000000000" pitchFamily="2" charset="2"/>
              <a:buChar char="ü"/>
            </a:pPr>
            <a:r>
              <a:rPr lang="zh-CN" altLang="en-US" sz="1800" dirty="0">
                <a:latin typeface="微软雅黑" panose="020B0503020204020204" pitchFamily="34" charset="-122"/>
                <a:ea typeface="微软雅黑" panose="020B0503020204020204" pitchFamily="34" charset="-122"/>
              </a:rPr>
              <a:t>过了四级或六级，表明未虚度光阴，做事脚踏实地，有计划有准备。</a:t>
            </a:r>
            <a:endParaRPr lang="en-US" altLang="zh-CN" sz="1800" dirty="0">
              <a:latin typeface="微软雅黑" panose="020B0503020204020204" pitchFamily="34" charset="-122"/>
              <a:ea typeface="微软雅黑" panose="020B0503020204020204" pitchFamily="34" charset="-122"/>
            </a:endParaRPr>
          </a:p>
          <a:p>
            <a:pPr marL="540000">
              <a:lnSpc>
                <a:spcPct val="15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教育没有起到增加能力的作用，起到的是证明能力的作用</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0" indent="0">
              <a:lnSpc>
                <a:spcPct val="150000"/>
              </a:lnSpc>
              <a:buNone/>
            </a:pPr>
            <a:endParaRPr lang="zh-CN" altLang="en-US" sz="1800" b="0" dirty="0">
              <a:solidFill>
                <a:schemeClr val="tx1"/>
              </a:solidFill>
              <a:latin typeface="微软雅黑" panose="020B0503020204020204" pitchFamily="34" charset="-122"/>
              <a:ea typeface="微软雅黑" panose="020B0503020204020204" pitchFamily="34" charset="-122"/>
            </a:endParaRPr>
          </a:p>
        </p:txBody>
      </p:sp>
      <p:sp>
        <p:nvSpPr>
          <p:cNvPr id="5" name="内容占位符 2"/>
          <p:cNvSpPr txBox="1">
            <a:spLocks/>
          </p:cNvSpPr>
          <p:nvPr/>
        </p:nvSpPr>
        <p:spPr bwMode="auto">
          <a:xfrm>
            <a:off x="683568" y="1347108"/>
            <a:ext cx="8778022"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spcAft>
                <a:spcPts val="0"/>
              </a:spcAft>
              <a:buFont typeface="Wingdings" panose="05000000000000000000" pitchFamily="2" charset="2"/>
              <a:buChar char="u"/>
              <a:defRPr/>
            </a:pPr>
            <a:r>
              <a:rPr lang="zh-CN" altLang="en-US" sz="2000" b="0" dirty="0">
                <a:solidFill>
                  <a:schemeClr val="tx1"/>
                </a:solidFill>
                <a:latin typeface="微软雅黑" panose="020B0503020204020204" pitchFamily="34" charset="-122"/>
                <a:ea typeface="微软雅黑" panose="020B0503020204020204" pitchFamily="34" charset="-122"/>
              </a:rPr>
              <a:t>发信号机制的一个实际例子</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8" name="标题 1">
            <a:extLst>
              <a:ext uri="{FF2B5EF4-FFF2-40B4-BE49-F238E27FC236}">
                <a16:creationId xmlns:a16="http://schemas.microsoft.com/office/drawing/2014/main" id="{BE901B8D-9C84-46BA-B2B8-3473865834E9}"/>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291537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6527" y="1844824"/>
            <a:ext cx="4148418" cy="4324228"/>
          </a:xfrm>
        </p:spPr>
      </p:pic>
      <p:sp>
        <p:nvSpPr>
          <p:cNvPr id="9" name="矩形 8">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三、信息不对称与市场失灵</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10" name="竖卷形 9"/>
          <p:cNvSpPr/>
          <p:nvPr/>
        </p:nvSpPr>
        <p:spPr bwMode="auto">
          <a:xfrm>
            <a:off x="4877050" y="2420888"/>
            <a:ext cx="3408211" cy="1693424"/>
          </a:xfrm>
          <a:prstGeom prst="verticalScroll">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50000"/>
              </a:lnSpc>
            </a:pPr>
            <a:r>
              <a:rPr lang="zh-CN" altLang="en-US" sz="1800" dirty="0">
                <a:solidFill>
                  <a:srgbClr val="C00000"/>
                </a:solidFill>
                <a:latin typeface="微软雅黑" panose="020B0503020204020204" pitchFamily="34" charset="-122"/>
                <a:ea typeface="微软雅黑" panose="020B0503020204020204" pitchFamily="34" charset="-122"/>
              </a:rPr>
              <a:t>清华研究生找工作很受伤，因为本科阶段不在清华，被用人单位特别留意。</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08304" y="3789040"/>
            <a:ext cx="1717477" cy="2439629"/>
          </a:xfrm>
          <a:prstGeom prst="rect">
            <a:avLst/>
          </a:prstGeom>
        </p:spPr>
      </p:pic>
      <p:sp>
        <p:nvSpPr>
          <p:cNvPr id="15" name="内容占位符 2">
            <a:extLst>
              <a:ext uri="{FF2B5EF4-FFF2-40B4-BE49-F238E27FC236}">
                <a16:creationId xmlns:a16="http://schemas.microsoft.com/office/drawing/2014/main" id="{93FD7E03-F645-40E3-9D51-F81452D015F2}"/>
              </a:ext>
            </a:extLst>
          </p:cNvPr>
          <p:cNvSpPr txBox="1">
            <a:spLocks/>
          </p:cNvSpPr>
          <p:nvPr/>
        </p:nvSpPr>
        <p:spPr bwMode="auto">
          <a:xfrm>
            <a:off x="683568" y="1347108"/>
            <a:ext cx="8778022"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spcAft>
                <a:spcPts val="0"/>
              </a:spcAft>
              <a:buFont typeface="Wingdings" panose="05000000000000000000" pitchFamily="2" charset="2"/>
              <a:buChar char="u"/>
              <a:defRPr/>
            </a:pPr>
            <a:r>
              <a:rPr lang="zh-CN" altLang="en-US" sz="2000" b="0" dirty="0">
                <a:solidFill>
                  <a:schemeClr val="tx1"/>
                </a:solidFill>
                <a:latin typeface="微软雅黑" panose="020B0503020204020204" pitchFamily="34" charset="-122"/>
                <a:ea typeface="微软雅黑" panose="020B0503020204020204" pitchFamily="34" charset="-122"/>
              </a:rPr>
              <a:t>发信号机制的一个实际例子</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
        <p:nvSpPr>
          <p:cNvPr id="16" name="标题 1">
            <a:extLst>
              <a:ext uri="{FF2B5EF4-FFF2-40B4-BE49-F238E27FC236}">
                <a16:creationId xmlns:a16="http://schemas.microsoft.com/office/drawing/2014/main" id="{A67E35E6-CA08-46FD-AB5F-6FFD57DAC531}"/>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extLst>
      <p:ext uri="{BB962C8B-B14F-4D97-AF65-F5344CB8AC3E}">
        <p14:creationId xmlns:p14="http://schemas.microsoft.com/office/powerpoint/2010/main" val="1189687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par>
                                <p:cTn id="13" presetID="14"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randombar(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idx="4294967295"/>
          </p:nvPr>
        </p:nvSpPr>
        <p:spPr>
          <a:xfrm>
            <a:off x="536328" y="1036637"/>
            <a:ext cx="8229600" cy="4784725"/>
          </a:xfrm>
        </p:spPr>
        <p:txBody>
          <a:bodyPr/>
          <a:lstStyle/>
          <a:p>
            <a:pPr eaLnBrk="1" hangingPunct="1">
              <a:lnSpc>
                <a:spcPct val="20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政府在纠正信息不完全和不对称方面能起到积极作用</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540000" eaLnBrk="1" hangingPunct="1">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强制企业充分提供真实全面的信息</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792000" eaLnBrk="1" hangingPunct="1">
              <a:lnSpc>
                <a:spcPct val="25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例如证券市场的信息披露制度</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540000" eaLnBrk="1" hangingPunct="1">
              <a:lnSpc>
                <a:spcPct val="250000"/>
              </a:lnSpc>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政府直接提供信息</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734850" indent="-285750" eaLnBrk="1" hangingPunct="1">
              <a:lnSpc>
                <a:spcPct val="25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例如：对产品实施质量标准</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告诉消费者商品质量是符合国家标准的</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p>
          <a:p>
            <a:pPr marL="756000" indent="0" eaLnBrk="1" hangingPunct="1">
              <a:lnSpc>
                <a:spcPct val="250000"/>
              </a:lnSpc>
              <a:buNone/>
            </a:pP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对肉类产品进行检验检疫，对蔬菜进行农药残留检查</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告诉   消费者商品是符合卫生标准的。</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四、纠正信息不完全的政策</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960F6C26-7D5A-4466-BB52-851695AC0114}"/>
              </a:ext>
            </a:extLst>
          </p:cNvPr>
          <p:cNvSpPr txBox="1">
            <a:spLocks noChangeArrowheads="1"/>
          </p:cNvSpPr>
          <p:nvPr/>
        </p:nvSpPr>
        <p:spPr bwMode="auto">
          <a:xfrm>
            <a:off x="755576" y="-11984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dirty="0">
                <a:solidFill>
                  <a:srgbClr val="FF0000"/>
                </a:solidFill>
                <a:latin typeface="宋体" panose="02010600030101010101" pitchFamily="2" charset="-122"/>
              </a:rPr>
              <a:t>                                  </a:t>
            </a:r>
            <a:r>
              <a:rPr lang="zh-CN" altLang="en-US" sz="1800" spc="300" dirty="0">
                <a:solidFill>
                  <a:srgbClr val="000000"/>
                </a:solidFill>
                <a:latin typeface="微软雅黑" panose="020B0503020204020204" pitchFamily="34" charset="-122"/>
                <a:ea typeface="微软雅黑" panose="020B0503020204020204" pitchFamily="34" charset="-122"/>
              </a:rPr>
              <a:t>第四节  不完全信息</a:t>
            </a:r>
            <a:r>
              <a:rPr lang="en-US" altLang="zh-CN" sz="2400" dirty="0">
                <a:latin typeface="宋体" panose="02010600030101010101" pitchFamily="2" charset="-122"/>
              </a:rPr>
              <a:t/>
            </a:r>
            <a:br>
              <a:rPr lang="en-US" altLang="zh-CN" sz="2400" dirty="0">
                <a:latin typeface="宋体" panose="02010600030101010101" pitchFamily="2"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42">
                                            <p:txEl>
                                              <p:pRg st="0" end="0"/>
                                            </p:txEl>
                                          </p:spTgt>
                                        </p:tgtEl>
                                        <p:attrNameLst>
                                          <p:attrName>style.visibility</p:attrName>
                                        </p:attrNameLst>
                                      </p:cBhvr>
                                      <p:to>
                                        <p:strVal val="visible"/>
                                      </p:to>
                                    </p:set>
                                    <p:animEffect transition="in" filter="fade">
                                      <p:cBhvr>
                                        <p:cTn id="12" dur="500"/>
                                        <p:tgtEl>
                                          <p:spTgt spid="6144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442">
                                            <p:txEl>
                                              <p:pRg st="1" end="1"/>
                                            </p:txEl>
                                          </p:spTgt>
                                        </p:tgtEl>
                                        <p:attrNameLst>
                                          <p:attrName>style.visibility</p:attrName>
                                        </p:attrNameLst>
                                      </p:cBhvr>
                                      <p:to>
                                        <p:strVal val="visible"/>
                                      </p:to>
                                    </p:set>
                                    <p:animEffect transition="in" filter="fade">
                                      <p:cBhvr>
                                        <p:cTn id="17" dur="500"/>
                                        <p:tgtEl>
                                          <p:spTgt spid="6144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442">
                                            <p:txEl>
                                              <p:pRg st="2" end="2"/>
                                            </p:txEl>
                                          </p:spTgt>
                                        </p:tgtEl>
                                        <p:attrNameLst>
                                          <p:attrName>style.visibility</p:attrName>
                                        </p:attrNameLst>
                                      </p:cBhvr>
                                      <p:to>
                                        <p:strVal val="visible"/>
                                      </p:to>
                                    </p:set>
                                    <p:animEffect transition="in" filter="fade">
                                      <p:cBhvr>
                                        <p:cTn id="22" dur="500"/>
                                        <p:tgtEl>
                                          <p:spTgt spid="6144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442">
                                            <p:txEl>
                                              <p:pRg st="3" end="3"/>
                                            </p:txEl>
                                          </p:spTgt>
                                        </p:tgtEl>
                                        <p:attrNameLst>
                                          <p:attrName>style.visibility</p:attrName>
                                        </p:attrNameLst>
                                      </p:cBhvr>
                                      <p:to>
                                        <p:strVal val="visible"/>
                                      </p:to>
                                    </p:set>
                                    <p:animEffect transition="in" filter="fade">
                                      <p:cBhvr>
                                        <p:cTn id="27" dur="500"/>
                                        <p:tgtEl>
                                          <p:spTgt spid="6144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1442">
                                            <p:txEl>
                                              <p:pRg st="4" end="4"/>
                                            </p:txEl>
                                          </p:spTgt>
                                        </p:tgtEl>
                                        <p:attrNameLst>
                                          <p:attrName>style.visibility</p:attrName>
                                        </p:attrNameLst>
                                      </p:cBhvr>
                                      <p:to>
                                        <p:strVal val="visible"/>
                                      </p:to>
                                    </p:set>
                                    <p:animEffect transition="in" filter="fade">
                                      <p:cBhvr>
                                        <p:cTn id="32" dur="500"/>
                                        <p:tgtEl>
                                          <p:spTgt spid="61442">
                                            <p:txEl>
                                              <p:pRg st="4" end="4"/>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61442">
                                            <p:txEl>
                                              <p:pRg st="5" end="5"/>
                                            </p:txEl>
                                          </p:spTgt>
                                        </p:tgtEl>
                                        <p:attrNameLst>
                                          <p:attrName>style.visibility</p:attrName>
                                        </p:attrNameLst>
                                      </p:cBhvr>
                                      <p:to>
                                        <p:strVal val="visible"/>
                                      </p:to>
                                    </p:set>
                                    <p:animEffect transition="in" filter="fade">
                                      <p:cBhvr>
                                        <p:cTn id="35" dur="500"/>
                                        <p:tgtEl>
                                          <p:spTgt spid="6144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4294967295"/>
          </p:nvPr>
        </p:nvSpPr>
        <p:spPr>
          <a:xfrm>
            <a:off x="1604445" y="952803"/>
            <a:ext cx="6192688" cy="571887"/>
          </a:xfrm>
        </p:spPr>
        <p:txBody>
          <a:bodyPr/>
          <a:lstStyle/>
          <a:p>
            <a:pPr eaLnBrk="1" hangingPunct="1">
              <a:buFontTx/>
              <a:buNone/>
            </a:pPr>
            <a:r>
              <a:rPr lang="zh-CN" altLang="en-US" sz="3600" dirty="0">
                <a:solidFill>
                  <a:schemeClr val="tx1"/>
                </a:solidFill>
                <a:latin typeface="微软雅黑" panose="020B0503020204020204" pitchFamily="34" charset="-122"/>
                <a:ea typeface="微软雅黑" panose="020B0503020204020204" pitchFamily="34" charset="-122"/>
              </a:rPr>
              <a:t>第五节</a:t>
            </a:r>
            <a:r>
              <a:rPr lang="en-US" altLang="zh-CN" sz="3600" dirty="0">
                <a:solidFill>
                  <a:schemeClr val="tx1"/>
                </a:solidFill>
                <a:latin typeface="微软雅黑" panose="020B0503020204020204" pitchFamily="34" charset="-122"/>
                <a:ea typeface="微软雅黑" panose="020B0503020204020204" pitchFamily="34" charset="-122"/>
              </a:rPr>
              <a:t>	</a:t>
            </a:r>
            <a:r>
              <a:rPr lang="zh-CN" altLang="en-US" sz="3600" dirty="0">
                <a:solidFill>
                  <a:schemeClr val="tx1"/>
                </a:solidFill>
                <a:latin typeface="微软雅黑" panose="020B0503020204020204" pitchFamily="34" charset="-122"/>
                <a:ea typeface="微软雅黑" panose="020B0503020204020204" pitchFamily="34" charset="-122"/>
              </a:rPr>
              <a:t>收入分配中的不平等</a:t>
            </a:r>
            <a:endParaRPr lang="en-US" altLang="zh-CN" sz="1400" dirty="0">
              <a:solidFill>
                <a:schemeClr val="tx1"/>
              </a:solidFill>
              <a:latin typeface="微软雅黑" panose="020B0503020204020204" pitchFamily="34" charset="-122"/>
              <a:ea typeface="微软雅黑" panose="020B0503020204020204" pitchFamily="34" charset="-122"/>
            </a:endParaRP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266876" y="2415506"/>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198613" y="2113881"/>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266876" y="3455944"/>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198613" y="3154319"/>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266876" y="4472616"/>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198613" y="4170991"/>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2266876" y="5502039"/>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2198613" y="5202002"/>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2778051" y="2469481"/>
            <a:ext cx="0" cy="6848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2778051" y="3509919"/>
            <a:ext cx="0" cy="661072"/>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2778051" y="4526591"/>
            <a:ext cx="0" cy="675411"/>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4" name="矩形 13">
            <a:extLst>
              <a:ext uri="{FF2B5EF4-FFF2-40B4-BE49-F238E27FC236}">
                <a16:creationId xmlns:a16="http://schemas.microsoft.com/office/drawing/2014/main" id="{66A93A4A-F736-4CF5-82B6-87D5F4B7E4E5}"/>
              </a:ext>
            </a:extLst>
          </p:cNvPr>
          <p:cNvSpPr/>
          <p:nvPr/>
        </p:nvSpPr>
        <p:spPr>
          <a:xfrm>
            <a:off x="3647442" y="2060848"/>
            <a:ext cx="3781805"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初次收入分配中的不平等</a:t>
            </a:r>
          </a:p>
        </p:txBody>
      </p:sp>
      <p:sp>
        <p:nvSpPr>
          <p:cNvPr id="15" name="矩形 14">
            <a:extLst>
              <a:ext uri="{FF2B5EF4-FFF2-40B4-BE49-F238E27FC236}">
                <a16:creationId xmlns:a16="http://schemas.microsoft.com/office/drawing/2014/main" id="{6BA99CA7-A4CC-4245-BA58-DB89FA49F037}"/>
              </a:ext>
            </a:extLst>
          </p:cNvPr>
          <p:cNvSpPr/>
          <p:nvPr/>
        </p:nvSpPr>
        <p:spPr>
          <a:xfrm>
            <a:off x="3233080" y="3153728"/>
            <a:ext cx="3916457" cy="461665"/>
          </a:xfrm>
          <a:prstGeom prst="rect">
            <a:avLst/>
          </a:prstGeom>
        </p:spPr>
        <p:txBody>
          <a:bodyPr wrap="none">
            <a:spAutoFit/>
          </a:bodyPr>
          <a:lstStyle/>
          <a:p>
            <a:pPr lvl="1" eaLnBrk="1" hangingPunct="1">
              <a:buFontTx/>
              <a:buNone/>
            </a:pPr>
            <a:r>
              <a:rPr lang="zh-CN" altLang="en-US" sz="2400" spc="150" dirty="0">
                <a:latin typeface="微软雅黑" panose="020B0503020204020204" pitchFamily="34" charset="-122"/>
                <a:ea typeface="微软雅黑" panose="020B0503020204020204" pitchFamily="34" charset="-122"/>
              </a:rPr>
              <a:t>收入分配不平等的度量</a:t>
            </a:r>
            <a:endParaRPr lang="en-US" altLang="zh-CN" sz="2400" spc="150"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018105B0-EC74-4F50-9B33-7F18FF6C04E7}"/>
              </a:ext>
            </a:extLst>
          </p:cNvPr>
          <p:cNvSpPr/>
          <p:nvPr/>
        </p:nvSpPr>
        <p:spPr>
          <a:xfrm>
            <a:off x="3233080" y="4131226"/>
            <a:ext cx="2935419" cy="461665"/>
          </a:xfrm>
          <a:prstGeom prst="rect">
            <a:avLst/>
          </a:prstGeom>
        </p:spPr>
        <p:txBody>
          <a:bodyPr wrap="none">
            <a:spAutoFit/>
          </a:bodyPr>
          <a:lstStyle/>
          <a:p>
            <a:pPr lvl="1" eaLnBrk="1" hangingPunct="1">
              <a:buFontTx/>
              <a:buNone/>
            </a:pPr>
            <a:r>
              <a:rPr lang="zh-CN" altLang="en-US" sz="2400" spc="150" dirty="0">
                <a:latin typeface="微软雅黑" panose="020B0503020204020204" pitchFamily="34" charset="-122"/>
                <a:ea typeface="微软雅黑" panose="020B0503020204020204" pitchFamily="34" charset="-122"/>
              </a:rPr>
              <a:t>收入再分配政策</a:t>
            </a:r>
            <a:endParaRPr lang="en-US" altLang="zh-CN" sz="2400" spc="150" dirty="0">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E52AEF20-C2D6-4C68-8E54-0EF930AB28A2}"/>
              </a:ext>
            </a:extLst>
          </p:cNvPr>
          <p:cNvSpPr/>
          <p:nvPr/>
        </p:nvSpPr>
        <p:spPr>
          <a:xfrm>
            <a:off x="3256951" y="5187663"/>
            <a:ext cx="2281394" cy="461665"/>
          </a:xfrm>
          <a:prstGeom prst="rect">
            <a:avLst/>
          </a:prstGeom>
        </p:spPr>
        <p:txBody>
          <a:bodyPr wrap="none">
            <a:spAutoFit/>
          </a:bodyPr>
          <a:lstStyle/>
          <a:p>
            <a:pPr lvl="1" eaLnBrk="1" hangingPunct="1">
              <a:buFontTx/>
              <a:buNone/>
            </a:pPr>
            <a:r>
              <a:rPr lang="zh-CN" altLang="en-US" sz="2400" spc="150" dirty="0">
                <a:latin typeface="微软雅黑" panose="020B0503020204020204" pitchFamily="34" charset="-122"/>
                <a:ea typeface="微软雅黑" panose="020B0503020204020204" pitchFamily="34" charset="-122"/>
              </a:rPr>
              <a:t>公平和效率</a:t>
            </a:r>
            <a:endParaRPr lang="en-US" altLang="zh-CN" sz="2400" spc="15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500"/>
                                        <p:tgtEl>
                                          <p:spTgt spid="9"/>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up)">
                                      <p:cBhvr>
                                        <p:cTn id="55" dur="500"/>
                                        <p:tgtEl>
                                          <p:spTgt spid="1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4" grpId="0"/>
      <p:bldP spid="15" grpId="0"/>
      <p:bldP spid="16" grpId="0"/>
      <p:bldP spid="1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标题 1"/>
          <p:cNvSpPr txBox="1">
            <a:spLocks noChangeArrowheads="1"/>
          </p:cNvSpPr>
          <p:nvPr/>
        </p:nvSpPr>
        <p:spPr bwMode="auto">
          <a:xfrm>
            <a:off x="683568" y="260648"/>
            <a:ext cx="822960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第五节  收入分配中的不平等</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36328" y="543153"/>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一、初次收入分配中的不平等</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graphicFrame>
        <p:nvGraphicFramePr>
          <p:cNvPr id="3" name="图示 2"/>
          <p:cNvGraphicFramePr/>
          <p:nvPr>
            <p:extLst>
              <p:ext uri="{D42A27DB-BD31-4B8C-83A1-F6EECF244321}">
                <p14:modId xmlns:p14="http://schemas.microsoft.com/office/powerpoint/2010/main" val="2655546884"/>
              </p:ext>
            </p:extLst>
          </p:nvPr>
        </p:nvGraphicFramePr>
        <p:xfrm>
          <a:off x="1524000" y="1700808"/>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3" grpId="0">
        <p:bldAsOne/>
      </p:bldGraphic>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idx="4294967295"/>
          </p:nvPr>
        </p:nvSpPr>
        <p:spPr>
          <a:xfrm>
            <a:off x="683568" y="1276141"/>
            <a:ext cx="7765979" cy="4784725"/>
          </a:xfrm>
        </p:spPr>
        <p:txBody>
          <a:bodyPr/>
          <a:lstStyle/>
          <a:p>
            <a:pPr eaLnBrk="1" hangingPunct="1">
              <a:lnSpc>
                <a:spcPct val="15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洛仑兹曲线</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用以描述收入分配状况（平等或不平等程度）的曲线。</a:t>
            </a:r>
            <a:endParaRPr lang="en-US" altLang="zh-CN" sz="180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首先将一国总人口按收入由低到高排队，然后分段计算累计的人口百分比，和该百分比人口的收入百分比。</a:t>
            </a:r>
            <a:endParaRPr lang="en-US" altLang="zh-CN" sz="180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然后将这样得到的累计人口百分比和累计收入百分比的对应关系描绘在图形上，即得到洛伦兹曲线。</a:t>
            </a:r>
            <a:endParaRPr lang="en-US" altLang="zh-CN" sz="180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它表明当收入从最小百分比向最大百分比延伸时，由任何一定百分比家庭获得的总收入的百分比与之对应关系。</a:t>
            </a:r>
            <a:endParaRPr lang="en-US" altLang="zh-CN" sz="180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显然，</a:t>
            </a:r>
            <a:r>
              <a:rPr lang="en-US" altLang="zh-CN" sz="1800" dirty="0">
                <a:latin typeface="微软雅黑" panose="020B0503020204020204" pitchFamily="34" charset="-122"/>
                <a:ea typeface="微软雅黑" panose="020B0503020204020204" pitchFamily="34" charset="-122"/>
              </a:rPr>
              <a:t>45</a:t>
            </a:r>
            <a:r>
              <a:rPr lang="zh-CN" altLang="en-US" sz="1800" dirty="0">
                <a:latin typeface="微软雅黑" panose="020B0503020204020204" pitchFamily="34" charset="-122"/>
                <a:ea typeface="微软雅黑" panose="020B0503020204020204" pitchFamily="34" charset="-122"/>
              </a:rPr>
              <a:t>*直线的洛伦兹曲线代表的收入分配最为公平，越远离它越不公平。</a:t>
            </a:r>
          </a:p>
        </p:txBody>
      </p:sp>
      <p:sp>
        <p:nvSpPr>
          <p:cNvPr id="4" name="标题 1"/>
          <p:cNvSpPr txBox="1">
            <a:spLocks noChangeArrowheads="1"/>
          </p:cNvSpPr>
          <p:nvPr/>
        </p:nvSpPr>
        <p:spPr bwMode="auto">
          <a:xfrm>
            <a:off x="683568" y="260648"/>
            <a:ext cx="822960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第五节  收入分配中的不平等</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二、收入分配不平等的度量</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514">
                                            <p:txEl>
                                              <p:pRg st="0" end="0"/>
                                            </p:txEl>
                                          </p:spTgt>
                                        </p:tgtEl>
                                        <p:attrNameLst>
                                          <p:attrName>style.visibility</p:attrName>
                                        </p:attrNameLst>
                                      </p:cBhvr>
                                      <p:to>
                                        <p:strVal val="visible"/>
                                      </p:to>
                                    </p:set>
                                    <p:animEffect transition="in" filter="fade">
                                      <p:cBhvr>
                                        <p:cTn id="12" dur="500"/>
                                        <p:tgtEl>
                                          <p:spTgt spid="645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514">
                                            <p:txEl>
                                              <p:pRg st="1" end="1"/>
                                            </p:txEl>
                                          </p:spTgt>
                                        </p:tgtEl>
                                        <p:attrNameLst>
                                          <p:attrName>style.visibility</p:attrName>
                                        </p:attrNameLst>
                                      </p:cBhvr>
                                      <p:to>
                                        <p:strVal val="visible"/>
                                      </p:to>
                                    </p:set>
                                    <p:animEffect transition="in" filter="fade">
                                      <p:cBhvr>
                                        <p:cTn id="17" dur="500"/>
                                        <p:tgtEl>
                                          <p:spTgt spid="645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514">
                                            <p:txEl>
                                              <p:pRg st="2" end="2"/>
                                            </p:txEl>
                                          </p:spTgt>
                                        </p:tgtEl>
                                        <p:attrNameLst>
                                          <p:attrName>style.visibility</p:attrName>
                                        </p:attrNameLst>
                                      </p:cBhvr>
                                      <p:to>
                                        <p:strVal val="visible"/>
                                      </p:to>
                                    </p:set>
                                    <p:animEffect transition="in" filter="fade">
                                      <p:cBhvr>
                                        <p:cTn id="22" dur="500"/>
                                        <p:tgtEl>
                                          <p:spTgt spid="645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4514">
                                            <p:txEl>
                                              <p:pRg st="3" end="3"/>
                                            </p:txEl>
                                          </p:spTgt>
                                        </p:tgtEl>
                                        <p:attrNameLst>
                                          <p:attrName>style.visibility</p:attrName>
                                        </p:attrNameLst>
                                      </p:cBhvr>
                                      <p:to>
                                        <p:strVal val="visible"/>
                                      </p:to>
                                    </p:set>
                                    <p:animEffect transition="in" filter="fade">
                                      <p:cBhvr>
                                        <p:cTn id="27" dur="500"/>
                                        <p:tgtEl>
                                          <p:spTgt spid="6451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4514">
                                            <p:txEl>
                                              <p:pRg st="4" end="4"/>
                                            </p:txEl>
                                          </p:spTgt>
                                        </p:tgtEl>
                                        <p:attrNameLst>
                                          <p:attrName>style.visibility</p:attrName>
                                        </p:attrNameLst>
                                      </p:cBhvr>
                                      <p:to>
                                        <p:strVal val="visible"/>
                                      </p:to>
                                    </p:set>
                                    <p:animEffect transition="in" filter="fade">
                                      <p:cBhvr>
                                        <p:cTn id="32" dur="500"/>
                                        <p:tgtEl>
                                          <p:spTgt spid="6451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4514">
                                            <p:txEl>
                                              <p:pRg st="5" end="5"/>
                                            </p:txEl>
                                          </p:spTgt>
                                        </p:tgtEl>
                                        <p:attrNameLst>
                                          <p:attrName>style.visibility</p:attrName>
                                        </p:attrNameLst>
                                      </p:cBhvr>
                                      <p:to>
                                        <p:strVal val="visible"/>
                                      </p:to>
                                    </p:set>
                                    <p:animEffect transition="in" filter="fade">
                                      <p:cBhvr>
                                        <p:cTn id="37" dur="500"/>
                                        <p:tgtEl>
                                          <p:spTgt spid="645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590736" y="1897535"/>
            <a:ext cx="6177476" cy="4199426"/>
            <a:chOff x="1311275" y="1652588"/>
            <a:chExt cx="7173913" cy="4876800"/>
          </a:xfrm>
        </p:grpSpPr>
        <p:pic>
          <p:nvPicPr>
            <p:cNvPr id="68616" name="线形标注 1(无边框) 1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2288" y="6029325"/>
              <a:ext cx="33496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8" name="线形标注 2(无边框) 2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5894388"/>
              <a:ext cx="127952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4" name="线形标注 2(无边框) 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962525"/>
              <a:ext cx="13414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5" name="线形标注 2(无边框) 2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4170363"/>
              <a:ext cx="13414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6" name="线形标注 2(无边框) 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303588"/>
              <a:ext cx="134143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7" name="线形标注 2(无边框) 3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2511425"/>
              <a:ext cx="13414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35" name="线形标注 2(无边框) 3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3541713"/>
              <a:ext cx="8048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36" name="线形标注 2(无边框) 4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1275" y="3292475"/>
              <a:ext cx="4445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1603375" y="1652588"/>
              <a:ext cx="6881813" cy="4876800"/>
              <a:chOff x="1603375" y="1652588"/>
              <a:chExt cx="6881813" cy="4876800"/>
            </a:xfrm>
          </p:grpSpPr>
          <p:pic>
            <p:nvPicPr>
              <p:cNvPr id="68628" name="线形标注 2(无边框) 3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3375" y="1652588"/>
                <a:ext cx="140811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2060575" y="1743075"/>
                <a:ext cx="6424613" cy="4786313"/>
                <a:chOff x="2060575" y="1743075"/>
                <a:chExt cx="6424613" cy="4786313"/>
              </a:xfrm>
            </p:grpSpPr>
            <p:pic>
              <p:nvPicPr>
                <p:cNvPr id="68610" name="矩形 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9250" y="1743075"/>
                  <a:ext cx="5376863" cy="429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8611" name="直接连接符 6"/>
                <p:cNvCxnSpPr>
                  <a:cxnSpLocks noChangeShapeType="1"/>
                </p:cNvCxnSpPr>
                <p:nvPr/>
              </p:nvCxnSpPr>
              <p:spPr bwMode="auto">
                <a:xfrm flipV="1">
                  <a:off x="2916238" y="1773238"/>
                  <a:ext cx="5327650" cy="4248150"/>
                </a:xfrm>
                <a:prstGeom prst="line">
                  <a:avLst/>
                </a:prstGeom>
                <a:noFill/>
                <a:ln w="31750" cmpd="sng">
                  <a:solidFill>
                    <a:schemeClr val="tx1"/>
                  </a:solidFill>
                  <a:round/>
                  <a:headEnd/>
                  <a:tailEnd/>
                </a:ln>
                <a:extLst>
                  <a:ext uri="{909E8E84-426E-40DD-AFC4-6F175D3DCCD1}">
                    <a14:hiddenFill xmlns:a14="http://schemas.microsoft.com/office/drawing/2010/main">
                      <a:noFill/>
                    </a14:hiddenFill>
                  </a:ext>
                </a:extLst>
              </p:spPr>
            </p:cxnSp>
            <p:pic>
              <p:nvPicPr>
                <p:cNvPr id="68612" name="任意多边形 1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25763" y="1779588"/>
                  <a:ext cx="5303837"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任意多边形 1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79713" y="1785937"/>
                  <a:ext cx="5595938"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椭圆 16"/>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91388" y="4029075"/>
                  <a:ext cx="133350" cy="13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椭圆 1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91388" y="4498975"/>
                  <a:ext cx="139700" cy="12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7" name="线形标注 1(无边框) 2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98763" y="6096000"/>
                  <a:ext cx="334962"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9" name="线形标注 2(无边框) 2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95600" y="5930900"/>
                  <a:ext cx="1347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0" name="线形标注 2(无边框) 2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48125" y="5967413"/>
                  <a:ext cx="13462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1" name="线形标注 2(无边框) 2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46700" y="5967413"/>
                  <a:ext cx="13462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2" name="线形标注 2(无边框) 2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11888" y="5967413"/>
                  <a:ext cx="134143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3" name="线形标注 2(无边框) 2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70725" y="5967413"/>
                  <a:ext cx="1414463"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9" name="线形标注 2(无边框) 3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65838" y="3736975"/>
                  <a:ext cx="128587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30" name="线形标注 2(无边框) 33"/>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97638" y="4316413"/>
                  <a:ext cx="128746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31" name="线形标注 2(无边框) 34"/>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705475" y="3883025"/>
                  <a:ext cx="14763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32" name="线形标注 2(无边框) 35"/>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24613" y="4602163"/>
                  <a:ext cx="14763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33" name="线形标注 2(无边框) 36"/>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76588" y="3395663"/>
                  <a:ext cx="2547937"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37" name="线形标注 2(无边框) 42"/>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60575" y="2103438"/>
                  <a:ext cx="706438" cy="301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pic>
        <p:nvPicPr>
          <p:cNvPr id="68634" name="线形标注 2(无边框) 37"/>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79299" y="5807157"/>
            <a:ext cx="2812437" cy="51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39" name="TextBox 39"/>
          <p:cNvSpPr txBox="1">
            <a:spLocks noChangeArrowheads="1"/>
          </p:cNvSpPr>
          <p:nvPr/>
        </p:nvSpPr>
        <p:spPr bwMode="auto">
          <a:xfrm>
            <a:off x="706716" y="1284952"/>
            <a:ext cx="8459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微软雅黑" panose="020B0503020204020204" pitchFamily="34" charset="-122"/>
                <a:ea typeface="微软雅黑" panose="020B0503020204020204" pitchFamily="34" charset="-122"/>
              </a:rPr>
              <a:t>美国</a:t>
            </a:r>
            <a:r>
              <a:rPr lang="en-US" altLang="zh-CN" sz="2000" dirty="0">
                <a:latin typeface="微软雅黑" panose="020B0503020204020204" pitchFamily="34" charset="-122"/>
                <a:ea typeface="微软雅黑" panose="020B0503020204020204" pitchFamily="34" charset="-122"/>
              </a:rPr>
              <a:t>1929 </a:t>
            </a:r>
            <a:r>
              <a:rPr lang="zh-CN" altLang="en-US" sz="2000" dirty="0">
                <a:latin typeface="微软雅黑" panose="020B0503020204020204" pitchFamily="34" charset="-122"/>
                <a:ea typeface="微软雅黑" panose="020B0503020204020204" pitchFamily="34" charset="-122"/>
              </a:rPr>
              <a:t>年和</a:t>
            </a:r>
            <a:r>
              <a:rPr lang="en-US" altLang="zh-CN" sz="2000" dirty="0">
                <a:latin typeface="微软雅黑" panose="020B0503020204020204" pitchFamily="34" charset="-122"/>
                <a:ea typeface="微软雅黑" panose="020B0503020204020204" pitchFamily="34" charset="-122"/>
              </a:rPr>
              <a:t>1991 </a:t>
            </a:r>
            <a:r>
              <a:rPr lang="zh-CN" altLang="en-US" sz="2000" dirty="0">
                <a:latin typeface="微软雅黑" panose="020B0503020204020204" pitchFamily="34" charset="-122"/>
                <a:ea typeface="微软雅黑" panose="020B0503020204020204" pitchFamily="34" charset="-122"/>
              </a:rPr>
              <a:t>年的洛伦兹曲线。</a:t>
            </a:r>
          </a:p>
        </p:txBody>
      </p:sp>
      <p:sp>
        <p:nvSpPr>
          <p:cNvPr id="33" name="标题 1"/>
          <p:cNvSpPr txBox="1">
            <a:spLocks noChangeArrowheads="1"/>
          </p:cNvSpPr>
          <p:nvPr/>
        </p:nvSpPr>
        <p:spPr bwMode="auto">
          <a:xfrm>
            <a:off x="683568" y="260648"/>
            <a:ext cx="822960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第五节  收入分配中的不平等</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35" name="矩形 34">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二、收入分配不平等的度量</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3E40F2D7-D715-466E-88FD-4F930ED7146E}"/>
              </a:ext>
            </a:extLst>
          </p:cNvPr>
          <p:cNvGrpSpPr/>
          <p:nvPr/>
        </p:nvGrpSpPr>
        <p:grpSpPr>
          <a:xfrm>
            <a:off x="612344" y="2327185"/>
            <a:ext cx="2665650" cy="2951898"/>
            <a:chOff x="612344" y="2327185"/>
            <a:chExt cx="2665650" cy="2951898"/>
          </a:xfrm>
        </p:grpSpPr>
        <p:sp>
          <p:nvSpPr>
            <p:cNvPr id="6" name="矩形: 圆角 5">
              <a:extLst>
                <a:ext uri="{FF2B5EF4-FFF2-40B4-BE49-F238E27FC236}">
                  <a16:creationId xmlns:a16="http://schemas.microsoft.com/office/drawing/2014/main" id="{55D66A9E-5023-4682-957C-94C8F96512D4}"/>
                </a:ext>
              </a:extLst>
            </p:cNvPr>
            <p:cNvSpPr/>
            <p:nvPr/>
          </p:nvSpPr>
          <p:spPr bwMode="auto">
            <a:xfrm>
              <a:off x="612344" y="2515864"/>
              <a:ext cx="2665650" cy="2498639"/>
            </a:xfrm>
            <a:prstGeom prst="roundRect">
              <a:avLst/>
            </a:prstGeom>
            <a:noFill/>
            <a:ln w="2857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3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矩形 1">
              <a:extLst>
                <a:ext uri="{FF2B5EF4-FFF2-40B4-BE49-F238E27FC236}">
                  <a16:creationId xmlns:a16="http://schemas.microsoft.com/office/drawing/2014/main" id="{B6C99FDB-40F3-49C3-95DF-F5C583B4FF51}"/>
                </a:ext>
              </a:extLst>
            </p:cNvPr>
            <p:cNvSpPr/>
            <p:nvPr/>
          </p:nvSpPr>
          <p:spPr>
            <a:xfrm>
              <a:off x="701869" y="2327185"/>
              <a:ext cx="2502650" cy="2951898"/>
            </a:xfrm>
            <a:prstGeom prst="rect">
              <a:avLst/>
            </a:prstGeom>
          </p:spPr>
          <p:txBody>
            <a:bodyPr wrap="square">
              <a:spAutoFit/>
            </a:bodyPr>
            <a:lstStyle/>
            <a:p>
              <a:pPr eaLnBrk="1" hangingPunct="1">
                <a:lnSpc>
                  <a:spcPct val="150000"/>
                </a:lnSpc>
              </a:pPr>
              <a:endParaRPr lang="en-US" altLang="zh-CN" sz="180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1800" dirty="0">
                  <a:latin typeface="微软雅黑" panose="020B0503020204020204" pitchFamily="34" charset="-122"/>
                  <a:ea typeface="微软雅黑" panose="020B0503020204020204" pitchFamily="34" charset="-122"/>
                </a:rPr>
                <a:t>美国</a:t>
              </a:r>
              <a:r>
                <a:rPr lang="en-US" altLang="zh-CN" sz="1800" dirty="0">
                  <a:latin typeface="微软雅黑" panose="020B0503020204020204" pitchFamily="34" charset="-122"/>
                  <a:ea typeface="微软雅黑" panose="020B0503020204020204" pitchFamily="34" charset="-122"/>
                </a:rPr>
                <a:t>1991 </a:t>
              </a:r>
              <a:r>
                <a:rPr lang="zh-CN" altLang="en-US" sz="1800" dirty="0">
                  <a:latin typeface="微软雅黑" panose="020B0503020204020204" pitchFamily="34" charset="-122"/>
                  <a:ea typeface="微软雅黑" panose="020B0503020204020204" pitchFamily="34" charset="-122"/>
                </a:rPr>
                <a:t>年洛伦兹曲线比</a:t>
              </a:r>
              <a:r>
                <a:rPr lang="en-US" altLang="zh-CN" sz="1800" dirty="0">
                  <a:latin typeface="微软雅黑" panose="020B0503020204020204" pitchFamily="34" charset="-122"/>
                  <a:ea typeface="微软雅黑" panose="020B0503020204020204" pitchFamily="34" charset="-122"/>
                </a:rPr>
                <a:t>1929 </a:t>
              </a:r>
              <a:r>
                <a:rPr lang="zh-CN" altLang="en-US" sz="1800" dirty="0">
                  <a:latin typeface="微软雅黑" panose="020B0503020204020204" pitchFamily="34" charset="-122"/>
                  <a:ea typeface="微软雅黑" panose="020B0503020204020204" pitchFamily="34" charset="-122"/>
                </a:rPr>
                <a:t>年的更靠近平等分配线。这个移动表明美国家庭间的收入分配差距有所减少。</a:t>
              </a:r>
            </a:p>
            <a:p>
              <a:pPr algn="ctr" eaLnBrk="1" hangingPunct="1">
                <a:lnSpc>
                  <a:spcPct val="150000"/>
                </a:lnSpc>
              </a:pPr>
              <a:endParaRPr lang="zh-CN" altLang="en-US" sz="1800" dirty="0">
                <a:latin typeface="微软雅黑" panose="020B0503020204020204" pitchFamily="34" charset="-122"/>
                <a:ea typeface="微软雅黑" panose="020B0503020204020204" pitchFamily="3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8639"/>
                                        </p:tgtEl>
                                        <p:attrNameLst>
                                          <p:attrName>style.visibility</p:attrName>
                                        </p:attrNameLst>
                                      </p:cBhvr>
                                      <p:to>
                                        <p:strVal val="visible"/>
                                      </p:to>
                                    </p:set>
                                    <p:animEffect transition="in" filter="fade">
                                      <p:cBhvr>
                                        <p:cTn id="7" dur="500"/>
                                        <p:tgtEl>
                                          <p:spTgt spid="6863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8634"/>
                                        </p:tgtEl>
                                        <p:attrNameLst>
                                          <p:attrName>style.visibility</p:attrName>
                                        </p:attrNameLst>
                                      </p:cBhvr>
                                      <p:to>
                                        <p:strVal val="visible"/>
                                      </p:to>
                                    </p:set>
                                    <p:animEffect transition="in" filter="randombar(horizontal)">
                                      <p:cBhvr>
                                        <p:cTn id="12" dur="500"/>
                                        <p:tgtEl>
                                          <p:spTgt spid="686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3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9634" name="Rectangle 3"/>
              <p:cNvSpPr>
                <a:spLocks noGrp="1" noChangeArrowheads="1"/>
              </p:cNvSpPr>
              <p:nvPr>
                <p:ph idx="4294967295"/>
              </p:nvPr>
            </p:nvSpPr>
            <p:spPr>
              <a:xfrm>
                <a:off x="575244" y="1363642"/>
                <a:ext cx="4481670" cy="4799610"/>
              </a:xfrm>
              <a:noFill/>
            </p:spPr>
            <p:txBody>
              <a:bodyPr/>
              <a:lstStyle/>
              <a:p>
                <a:pPr eaLnBrk="1" hangingPunct="1">
                  <a:lnSpc>
                    <a:spcPct val="15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基尼系数</a:t>
                </a:r>
              </a:p>
              <a:p>
                <a:pPr lvl="1" eaLnBrk="1" hangingPunct="1">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基尼系数（</a:t>
                </a:r>
                <a:r>
                  <a:rPr lang="en-US" altLang="zh-CN" sz="1800" dirty="0">
                    <a:latin typeface="微软雅黑" panose="020B0503020204020204" pitchFamily="34" charset="-122"/>
                    <a:ea typeface="微软雅黑" panose="020B0503020204020204" pitchFamily="34" charset="-122"/>
                  </a:rPr>
                  <a:t>Gini Coefficient</a:t>
                </a:r>
                <a:r>
                  <a:rPr lang="zh-CN" altLang="en-US" sz="1800" dirty="0">
                    <a:latin typeface="微软雅黑" panose="020B0503020204020204" pitchFamily="34" charset="-122"/>
                    <a:ea typeface="微软雅黑" panose="020B0503020204020204" pitchFamily="34" charset="-122"/>
                  </a:rPr>
                  <a:t>）是根据洛仑兹曲线推导出来的表示社会中收入分配不平等程度的系数。计算公式：</a:t>
                </a:r>
                <a:endParaRPr lang="en-US" altLang="zh-CN" sz="1800" dirty="0">
                  <a:latin typeface="微软雅黑" panose="020B0503020204020204" pitchFamily="34" charset="-122"/>
                  <a:ea typeface="微软雅黑" panose="020B0503020204020204" pitchFamily="34" charset="-122"/>
                </a:endParaRPr>
              </a:p>
              <a:p>
                <a:pPr marL="457200" lvl="1" indent="0" eaLnBrk="1" hangingPunct="1">
                  <a:lnSpc>
                    <a:spcPct val="150000"/>
                  </a:lnSpc>
                  <a:buNone/>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rPr>
                        <m:t>𝐺</m:t>
                      </m:r>
                      <m:r>
                        <a:rPr lang="en-US" altLang="zh-CN" sz="1800" b="0" i="1" smtClean="0">
                          <a:latin typeface="Cambria Math" panose="02040503050406030204" pitchFamily="18" charset="0"/>
                        </a:rPr>
                        <m:t>=</m:t>
                      </m:r>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𝐴</m:t>
                          </m:r>
                        </m:num>
                        <m:den>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den>
                      </m:f>
                    </m:oMath>
                  </m:oMathPara>
                </a14:m>
                <a:endParaRPr lang="zh-CN" altLang="en-US" sz="2400" dirty="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en-US" altLang="zh-CN" sz="1800" dirty="0">
                    <a:latin typeface="微软雅黑" panose="020B0503020204020204" pitchFamily="34" charset="-122"/>
                    <a:ea typeface="微软雅黑" panose="020B0503020204020204" pitchFamily="34" charset="-122"/>
                  </a:rPr>
                  <a:t>G</a:t>
                </a:r>
                <a:r>
                  <a:rPr lang="zh-CN" altLang="en-US" sz="1800" dirty="0">
                    <a:latin typeface="微软雅黑" panose="020B0503020204020204" pitchFamily="34" charset="-122"/>
                    <a:ea typeface="微软雅黑" panose="020B0503020204020204" pitchFamily="34" charset="-122"/>
                  </a:rPr>
                  <a:t>为基尼系数，</a:t>
                </a:r>
                <a:r>
                  <a:rPr lang="en-US" altLang="zh-CN" sz="1800" dirty="0">
                    <a:latin typeface="微软雅黑" panose="020B0503020204020204" pitchFamily="34" charset="-122"/>
                    <a:ea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rPr>
                  <a:t>为平等分配曲线与洛仑兹曲线之间的面积，</a:t>
                </a:r>
                <a:r>
                  <a:rPr lang="en-US" altLang="zh-CN" sz="1800" dirty="0">
                    <a:latin typeface="微软雅黑" panose="020B0503020204020204" pitchFamily="34" charset="-122"/>
                    <a:ea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rPr>
                  <a:t>为洛仑兹曲线与折线之间的面积。</a:t>
                </a:r>
                <a:endParaRPr lang="en-US" altLang="zh-CN" sz="1800" dirty="0">
                  <a:latin typeface="微软雅黑" panose="020B0503020204020204" pitchFamily="34" charset="-122"/>
                  <a:ea typeface="微软雅黑" panose="020B0503020204020204" pitchFamily="34" charset="-122"/>
                </a:endParaRPr>
              </a:p>
            </p:txBody>
          </p:sp>
        </mc:Choice>
        <mc:Fallback xmlns="">
          <p:sp>
            <p:nvSpPr>
              <p:cNvPr id="69634" name="Rectangle 3"/>
              <p:cNvSpPr>
                <a:spLocks noGrp="1" noRot="1" noChangeAspect="1" noMove="1" noResize="1" noEditPoints="1" noAdjustHandles="1" noChangeArrowheads="1" noChangeShapeType="1" noTextEdit="1"/>
              </p:cNvSpPr>
              <p:nvPr>
                <p:ph idx="4294967295"/>
              </p:nvPr>
            </p:nvSpPr>
            <p:spPr>
              <a:xfrm>
                <a:off x="575244" y="1363642"/>
                <a:ext cx="4481670" cy="4799610"/>
              </a:xfrm>
              <a:blipFill>
                <a:blip r:embed="rId2"/>
                <a:stretch>
                  <a:fillRect l="-1223" r="-951"/>
                </a:stretch>
              </a:blipFill>
            </p:spPr>
            <p:txBody>
              <a:bodyPr/>
              <a:lstStyle/>
              <a:p>
                <a:r>
                  <a:rPr lang="zh-CN" altLang="en-US">
                    <a:noFill/>
                  </a:rPr>
                  <a:t> </a:t>
                </a:r>
              </a:p>
            </p:txBody>
          </p:sp>
        </mc:Fallback>
      </mc:AlternateContent>
      <p:sp>
        <p:nvSpPr>
          <p:cNvPr id="69635"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800"/>
          </a:p>
        </p:txBody>
      </p:sp>
      <p:grpSp>
        <p:nvGrpSpPr>
          <p:cNvPr id="5" name="组合 4"/>
          <p:cNvGrpSpPr/>
          <p:nvPr/>
        </p:nvGrpSpPr>
        <p:grpSpPr>
          <a:xfrm>
            <a:off x="5263553" y="2132856"/>
            <a:ext cx="3300313" cy="3361502"/>
            <a:chOff x="2830091" y="2564410"/>
            <a:chExt cx="4870450" cy="3578225"/>
          </a:xfrm>
        </p:grpSpPr>
        <p:pic>
          <p:nvPicPr>
            <p:cNvPr id="9" name="矩形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0091" y="2564410"/>
              <a:ext cx="4870450" cy="357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连接符 6"/>
            <p:cNvCxnSpPr>
              <a:cxnSpLocks noChangeShapeType="1"/>
            </p:cNvCxnSpPr>
            <p:nvPr/>
          </p:nvCxnSpPr>
          <p:spPr bwMode="auto">
            <a:xfrm flipV="1">
              <a:off x="2855491" y="2592985"/>
              <a:ext cx="4824413" cy="3527425"/>
            </a:xfrm>
            <a:prstGeom prst="line">
              <a:avLst/>
            </a:prstGeom>
            <a:noFill/>
            <a:ln w="34925" cmpd="sng">
              <a:solidFill>
                <a:srgbClr val="FF0000"/>
              </a:solidFill>
              <a:round/>
              <a:headEnd/>
              <a:tailEnd/>
            </a:ln>
            <a:extLst>
              <a:ext uri="{909E8E84-426E-40DD-AFC4-6F175D3DCCD1}">
                <a14:hiddenFill xmlns:a14="http://schemas.microsoft.com/office/drawing/2010/main">
                  <a:noFill/>
                </a14:hiddenFill>
              </a:ext>
            </a:extLst>
          </p:spPr>
        </p:cxnSp>
      </p:grpSp>
      <p:sp>
        <p:nvSpPr>
          <p:cNvPr id="11" name="任意多边形 13"/>
          <p:cNvSpPr>
            <a:spLocks noChangeArrowheads="1"/>
          </p:cNvSpPr>
          <p:nvPr/>
        </p:nvSpPr>
        <p:spPr bwMode="auto">
          <a:xfrm>
            <a:off x="5314478" y="2149838"/>
            <a:ext cx="3227164" cy="3304831"/>
          </a:xfrm>
          <a:custGeom>
            <a:avLst/>
            <a:gdLst>
              <a:gd name="T0" fmla="*/ 0 w 4762500"/>
              <a:gd name="T1" fmla="*/ 3517900 h 3517900"/>
              <a:gd name="T2" fmla="*/ 3530600 w 4762500"/>
              <a:gd name="T3" fmla="*/ 2298700 h 3517900"/>
              <a:gd name="T4" fmla="*/ 4762500 w 4762500"/>
              <a:gd name="T5" fmla="*/ 0 h 3517900"/>
              <a:gd name="T6" fmla="*/ 4762500 w 4762500"/>
              <a:gd name="T7" fmla="*/ 0 h 3517900"/>
              <a:gd name="T8" fmla="*/ 4737100 w 4762500"/>
              <a:gd name="T9" fmla="*/ 0 h 3517900"/>
              <a:gd name="T10" fmla="*/ 0 60000 65536"/>
              <a:gd name="T11" fmla="*/ 0 60000 65536"/>
              <a:gd name="T12" fmla="*/ 0 60000 65536"/>
              <a:gd name="T13" fmla="*/ 0 60000 65536"/>
              <a:gd name="T14" fmla="*/ 0 60000 65536"/>
              <a:gd name="T15" fmla="*/ 0 w 4762500"/>
              <a:gd name="T16" fmla="*/ 0 h 3517900"/>
              <a:gd name="T17" fmla="*/ 4762500 w 4762500"/>
              <a:gd name="T18" fmla="*/ 3517900 h 3517900"/>
            </a:gdLst>
            <a:ahLst/>
            <a:cxnLst>
              <a:cxn ang="T10">
                <a:pos x="T0" y="T1"/>
              </a:cxn>
              <a:cxn ang="T11">
                <a:pos x="T2" y="T3"/>
              </a:cxn>
              <a:cxn ang="T12">
                <a:pos x="T4" y="T5"/>
              </a:cxn>
              <a:cxn ang="T13">
                <a:pos x="T6" y="T7"/>
              </a:cxn>
              <a:cxn ang="T14">
                <a:pos x="T8" y="T9"/>
              </a:cxn>
            </a:cxnLst>
            <a:rect l="T15" t="T16" r="T17" b="T18"/>
            <a:pathLst>
              <a:path w="4762500" h="3517900">
                <a:moveTo>
                  <a:pt x="0" y="3517900"/>
                </a:moveTo>
                <a:cubicBezTo>
                  <a:pt x="1368425" y="3201458"/>
                  <a:pt x="2736850" y="2885017"/>
                  <a:pt x="3530600" y="2298700"/>
                </a:cubicBezTo>
                <a:cubicBezTo>
                  <a:pt x="4324350" y="1712383"/>
                  <a:pt x="4762500" y="0"/>
                  <a:pt x="4762500" y="0"/>
                </a:cubicBezTo>
                <a:lnTo>
                  <a:pt x="4737100" y="0"/>
                </a:lnTo>
              </a:path>
            </a:pathLst>
          </a:custGeom>
          <a:noFill/>
          <a:ln w="34925" cmpd="sng">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pic>
        <p:nvPicPr>
          <p:cNvPr id="13" name="线形标注 2(无边框)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9630" y="5464531"/>
            <a:ext cx="10668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线形标注 2(无边框)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3647" y="3863694"/>
            <a:ext cx="883078" cy="554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线形标注 2(无边框) 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9759" y="4439083"/>
            <a:ext cx="741021" cy="430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线形标注 2(无边框)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4866" y="1651122"/>
            <a:ext cx="10668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标题 1"/>
          <p:cNvSpPr txBox="1">
            <a:spLocks noChangeArrowheads="1"/>
          </p:cNvSpPr>
          <p:nvPr/>
        </p:nvSpPr>
        <p:spPr bwMode="auto">
          <a:xfrm>
            <a:off x="683568" y="260648"/>
            <a:ext cx="822960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第五节  收入分配中的不平等</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17" name="矩形 16">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二、收入分配不平等的度量</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9634">
                                            <p:txEl>
                                              <p:pRg st="1" end="1"/>
                                            </p:txEl>
                                          </p:spTgt>
                                        </p:tgtEl>
                                        <p:attrNameLst>
                                          <p:attrName>style.visibility</p:attrName>
                                        </p:attrNameLst>
                                      </p:cBhvr>
                                      <p:to>
                                        <p:strVal val="visible"/>
                                      </p:to>
                                    </p:set>
                                    <p:animEffect transition="in" filter="fade">
                                      <p:cBhvr>
                                        <p:cTn id="11" dur="500"/>
                                        <p:tgtEl>
                                          <p:spTgt spid="69634">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69634">
                                            <p:txEl>
                                              <p:pRg st="2" end="2"/>
                                            </p:txEl>
                                          </p:spTgt>
                                        </p:tgtEl>
                                        <p:attrNameLst>
                                          <p:attrName>style.visibility</p:attrName>
                                        </p:attrNameLst>
                                      </p:cBhvr>
                                      <p:to>
                                        <p:strVal val="visible"/>
                                      </p:to>
                                    </p:set>
                                    <p:animEffect transition="in" filter="fade">
                                      <p:cBhvr>
                                        <p:cTn id="14" dur="500"/>
                                        <p:tgtEl>
                                          <p:spTgt spid="69634">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683568" y="1148486"/>
            <a:ext cx="5616575" cy="863600"/>
          </a:xfrm>
        </p:spPr>
        <p:txBody>
          <a:bodyPr/>
          <a:lstStyle/>
          <a:p>
            <a:pPr marL="342900" indent="-342900" eaLnBrk="1" hangingPunct="1">
              <a:buFont typeface="Wingdings" panose="05000000000000000000" pitchFamily="2" charset="2"/>
              <a:buChar char="u"/>
            </a:pPr>
            <a:r>
              <a:rPr lang="zh-CN" altLang="en-US" sz="2000" dirty="0">
                <a:solidFill>
                  <a:schemeClr val="tx1"/>
                </a:solidFill>
                <a:latin typeface="微软雅黑" panose="020B0503020204020204" pitchFamily="34" charset="-122"/>
                <a:ea typeface="微软雅黑" panose="020B0503020204020204" pitchFamily="34" charset="-122"/>
              </a:rPr>
              <a:t>洛仑兹曲线与基尼系数 </a:t>
            </a:r>
          </a:p>
        </p:txBody>
      </p:sp>
      <p:pic>
        <p:nvPicPr>
          <p:cNvPr id="70659" name="矩形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0774" y="2381996"/>
            <a:ext cx="4608116" cy="338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1" name="任意多边形 13"/>
          <p:cNvSpPr>
            <a:spLocks noChangeArrowheads="1"/>
          </p:cNvSpPr>
          <p:nvPr/>
        </p:nvSpPr>
        <p:spPr bwMode="auto">
          <a:xfrm>
            <a:off x="2636499" y="2399383"/>
            <a:ext cx="4505980" cy="3328417"/>
          </a:xfrm>
          <a:custGeom>
            <a:avLst/>
            <a:gdLst>
              <a:gd name="T0" fmla="*/ 0 w 4762500"/>
              <a:gd name="T1" fmla="*/ 3517900 h 3517900"/>
              <a:gd name="T2" fmla="*/ 3530600 w 4762500"/>
              <a:gd name="T3" fmla="*/ 2298700 h 3517900"/>
              <a:gd name="T4" fmla="*/ 4762500 w 4762500"/>
              <a:gd name="T5" fmla="*/ 0 h 3517900"/>
              <a:gd name="T6" fmla="*/ 4762500 w 4762500"/>
              <a:gd name="T7" fmla="*/ 0 h 3517900"/>
              <a:gd name="T8" fmla="*/ 4737100 w 4762500"/>
              <a:gd name="T9" fmla="*/ 0 h 3517900"/>
              <a:gd name="T10" fmla="*/ 0 60000 65536"/>
              <a:gd name="T11" fmla="*/ 0 60000 65536"/>
              <a:gd name="T12" fmla="*/ 0 60000 65536"/>
              <a:gd name="T13" fmla="*/ 0 60000 65536"/>
              <a:gd name="T14" fmla="*/ 0 60000 65536"/>
              <a:gd name="T15" fmla="*/ 0 w 4762500"/>
              <a:gd name="T16" fmla="*/ 0 h 3517900"/>
              <a:gd name="T17" fmla="*/ 4762500 w 4762500"/>
              <a:gd name="T18" fmla="*/ 3517900 h 3517900"/>
            </a:gdLst>
            <a:ahLst/>
            <a:cxnLst>
              <a:cxn ang="T10">
                <a:pos x="T0" y="T1"/>
              </a:cxn>
              <a:cxn ang="T11">
                <a:pos x="T2" y="T3"/>
              </a:cxn>
              <a:cxn ang="T12">
                <a:pos x="T4" y="T5"/>
              </a:cxn>
              <a:cxn ang="T13">
                <a:pos x="T6" y="T7"/>
              </a:cxn>
              <a:cxn ang="T14">
                <a:pos x="T8" y="T9"/>
              </a:cxn>
            </a:cxnLst>
            <a:rect l="T15" t="T16" r="T17" b="T18"/>
            <a:pathLst>
              <a:path w="4762500" h="3517900">
                <a:moveTo>
                  <a:pt x="0" y="3517900"/>
                </a:moveTo>
                <a:cubicBezTo>
                  <a:pt x="1368425" y="3201458"/>
                  <a:pt x="2736850" y="2885017"/>
                  <a:pt x="3530600" y="2298700"/>
                </a:cubicBezTo>
                <a:cubicBezTo>
                  <a:pt x="4324350" y="1712383"/>
                  <a:pt x="4762500" y="0"/>
                  <a:pt x="4762500" y="0"/>
                </a:cubicBezTo>
                <a:lnTo>
                  <a:pt x="4737100" y="0"/>
                </a:lnTo>
              </a:path>
            </a:pathLst>
          </a:custGeom>
          <a:noFill/>
          <a:ln w="34925" cmpd="sng">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2" name="组合 1"/>
          <p:cNvGrpSpPr/>
          <p:nvPr/>
        </p:nvGrpSpPr>
        <p:grpSpPr>
          <a:xfrm>
            <a:off x="1574462" y="2043823"/>
            <a:ext cx="5883307" cy="4193565"/>
            <a:chOff x="1554163" y="1792288"/>
            <a:chExt cx="6218237" cy="4432300"/>
          </a:xfrm>
        </p:grpSpPr>
        <p:cxnSp>
          <p:nvCxnSpPr>
            <p:cNvPr id="70660" name="直接连接符 6"/>
            <p:cNvCxnSpPr>
              <a:cxnSpLocks noChangeShapeType="1"/>
            </p:cNvCxnSpPr>
            <p:nvPr/>
          </p:nvCxnSpPr>
          <p:spPr bwMode="auto">
            <a:xfrm flipV="1">
              <a:off x="2555875" y="2205038"/>
              <a:ext cx="4824413" cy="3527425"/>
            </a:xfrm>
            <a:prstGeom prst="line">
              <a:avLst/>
            </a:prstGeom>
            <a:noFill/>
            <a:ln w="34925" cmpd="sng">
              <a:solidFill>
                <a:srgbClr val="FF0000"/>
              </a:solidFill>
              <a:round/>
              <a:headEnd/>
              <a:tailEnd/>
            </a:ln>
            <a:extLst>
              <a:ext uri="{909E8E84-426E-40DD-AFC4-6F175D3DCCD1}">
                <a14:hiddenFill xmlns:a14="http://schemas.microsoft.com/office/drawing/2010/main">
                  <a:noFill/>
                </a14:hiddenFill>
              </a:ext>
            </a:extLst>
          </p:spPr>
        </p:cxnSp>
        <p:pic>
          <p:nvPicPr>
            <p:cNvPr id="70662" name="线形标注 2(无边框)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5450" y="5535613"/>
              <a:ext cx="938213"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3" name="线形标注 2(无边框)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2738" y="5608638"/>
              <a:ext cx="10668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4" name="线形标注 2(无边框) 1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4163" y="2011363"/>
              <a:ext cx="10604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5" name="线形标注 2(无边框) 1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8788" y="1792288"/>
              <a:ext cx="9636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6" name="线形标注 2(无边框) 1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84763" y="3956050"/>
              <a:ext cx="9318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7" name="线形标注 2(无边框) 1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30875" y="4529138"/>
              <a:ext cx="9318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8" name="线形标注 2(无边框) 2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8725" y="3230563"/>
              <a:ext cx="28352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9" name="线形标注 2(无边框) 2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03563" y="5741988"/>
              <a:ext cx="322421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0" name="线形标注 2(无边框) 2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94339" y="2565669"/>
              <a:ext cx="481013"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0671" name="线形标注 2(无边框) 2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375" y="4164013"/>
            <a:ext cx="26638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2" name="线形标注 2(无边框) 2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4139" y="3544068"/>
            <a:ext cx="1384300" cy="19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标题 1"/>
          <p:cNvSpPr txBox="1">
            <a:spLocks noChangeArrowheads="1"/>
          </p:cNvSpPr>
          <p:nvPr/>
        </p:nvSpPr>
        <p:spPr bwMode="auto">
          <a:xfrm>
            <a:off x="683568" y="260648"/>
            <a:ext cx="822960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第五节  收入分配中的不平等</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24" name="矩形 23">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二、收入分配不平等的度量</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3" name="圆角矩形标注 2"/>
          <p:cNvSpPr/>
          <p:nvPr/>
        </p:nvSpPr>
        <p:spPr bwMode="auto">
          <a:xfrm>
            <a:off x="430236" y="2401011"/>
            <a:ext cx="1632382" cy="2232248"/>
          </a:xfrm>
          <a:prstGeom prst="wedgeRoundRectCallout">
            <a:avLst/>
          </a:prstGeom>
          <a:noFill/>
          <a:ln w="2857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600" dirty="0">
                <a:latin typeface="微软雅黑" panose="020B0503020204020204" pitchFamily="34" charset="-122"/>
                <a:ea typeface="微软雅黑" panose="020B0503020204020204" pitchFamily="34" charset="-122"/>
              </a:rPr>
              <a:t>G</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=0, </a:t>
            </a:r>
            <a:r>
              <a:rPr lang="zh-CN" altLang="en-US" sz="1600" dirty="0">
                <a:latin typeface="微软雅黑" panose="020B0503020204020204" pitchFamily="34" charset="-122"/>
                <a:ea typeface="微软雅黑" panose="020B0503020204020204" pitchFamily="34" charset="-122"/>
              </a:rPr>
              <a:t>表明收入分配绝对平均</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人们的收入没有任何差别</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这是另一种极端的情形</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也是不存在的。</a:t>
            </a:r>
          </a:p>
        </p:txBody>
      </p:sp>
      <p:sp>
        <p:nvSpPr>
          <p:cNvPr id="22" name="圆角矩形标注 2">
            <a:extLst>
              <a:ext uri="{FF2B5EF4-FFF2-40B4-BE49-F238E27FC236}">
                <a16:creationId xmlns:a16="http://schemas.microsoft.com/office/drawing/2014/main" id="{41ABE3CC-1112-4788-9F69-E265B151BDC5}"/>
              </a:ext>
            </a:extLst>
          </p:cNvPr>
          <p:cNvSpPr/>
          <p:nvPr/>
        </p:nvSpPr>
        <p:spPr bwMode="auto">
          <a:xfrm>
            <a:off x="7241142" y="2623306"/>
            <a:ext cx="1632382" cy="2232248"/>
          </a:xfrm>
          <a:prstGeom prst="wedgeRoundRectCallout">
            <a:avLst/>
          </a:prstGeom>
          <a:noFill/>
          <a:ln w="2857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600" dirty="0">
                <a:latin typeface="微软雅黑" panose="020B0503020204020204" pitchFamily="34" charset="-122"/>
                <a:ea typeface="微软雅黑" panose="020B0503020204020204" pitchFamily="34" charset="-122"/>
              </a:rPr>
              <a:t>G=1,</a:t>
            </a:r>
            <a:r>
              <a:rPr lang="zh-CN" altLang="en-US" sz="1600" dirty="0">
                <a:latin typeface="微软雅黑" panose="020B0503020204020204" pitchFamily="34" charset="-122"/>
                <a:ea typeface="微软雅黑" panose="020B0503020204020204" pitchFamily="34" charset="-122"/>
              </a:rPr>
              <a:t>表明收入分配绝对不平等</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全部收入为一人所有</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其他人的收入为</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。这是一种极端的情形</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是不存在的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6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randombar(horizont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randombar(horizontal)">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P spid="70661" grpId="0" animBg="1"/>
      <p:bldP spid="3" grpId="0" animBg="1"/>
      <p:bldP spid="2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2"/>
          <p:cNvSpPr>
            <a:spLocks noGrp="1"/>
          </p:cNvSpPr>
          <p:nvPr>
            <p:ph idx="4294967295"/>
          </p:nvPr>
        </p:nvSpPr>
        <p:spPr>
          <a:xfrm>
            <a:off x="683568" y="2808036"/>
            <a:ext cx="8229600" cy="527910"/>
          </a:xfrm>
        </p:spPr>
        <p:txBody>
          <a:bodyPr/>
          <a:lstStyle/>
          <a:p>
            <a:pPr marL="457200" lvl="1" indent="0">
              <a:lnSpc>
                <a:spcPct val="150000"/>
              </a:lnSpc>
              <a:buNone/>
            </a:pPr>
            <a:r>
              <a:rPr lang="zh-CN" altLang="en-US" sz="1800" dirty="0">
                <a:solidFill>
                  <a:schemeClr val="tx1"/>
                </a:solidFill>
                <a:latin typeface="微软雅黑" panose="020B0503020204020204" pitchFamily="34" charset="-122"/>
                <a:ea typeface="微软雅黑" panose="020B0503020204020204" pitchFamily="34" charset="-122"/>
              </a:rPr>
              <a:t>基尼系数大小与贫富差异对照表：</a:t>
            </a:r>
            <a:endParaRPr lang="zh-CN" altLang="en-US" sz="1800" dirty="0">
              <a:latin typeface="微软雅黑" panose="020B0503020204020204" pitchFamily="34" charset="-122"/>
              <a:ea typeface="微软雅黑" panose="020B0503020204020204" pitchFamily="34" charset="-122"/>
            </a:endParaRPr>
          </a:p>
          <a:p>
            <a:pPr marL="0" indent="0">
              <a:lnSpc>
                <a:spcPct val="150000"/>
              </a:lnSpc>
              <a:buNone/>
            </a:pPr>
            <a:endParaRPr lang="zh-CN" altLang="en-US" sz="1600" b="0" dirty="0">
              <a:latin typeface="微软雅黑" panose="020B0503020204020204" pitchFamily="34" charset="-122"/>
              <a:ea typeface="微软雅黑" panose="020B0503020204020204" pitchFamily="34" charset="-122"/>
            </a:endParaRPr>
          </a:p>
        </p:txBody>
      </p:sp>
      <p:graphicFrame>
        <p:nvGraphicFramePr>
          <p:cNvPr id="71683" name="Group 3"/>
          <p:cNvGraphicFramePr>
            <a:graphicFrameLocks noGrp="1"/>
          </p:cNvGraphicFramePr>
          <p:nvPr>
            <p:extLst>
              <p:ext uri="{D42A27DB-BD31-4B8C-83A1-F6EECF244321}">
                <p14:modId xmlns:p14="http://schemas.microsoft.com/office/powerpoint/2010/main" val="3170960448"/>
              </p:ext>
            </p:extLst>
          </p:nvPr>
        </p:nvGraphicFramePr>
        <p:xfrm>
          <a:off x="683568" y="3645024"/>
          <a:ext cx="7704137" cy="1295400"/>
        </p:xfrm>
        <a:graphic>
          <a:graphicData uri="http://schemas.openxmlformats.org/drawingml/2006/table">
            <a:tbl>
              <a:tblPr/>
              <a:tblGrid>
                <a:gridCol w="1284287">
                  <a:extLst>
                    <a:ext uri="{9D8B030D-6E8A-4147-A177-3AD203B41FA5}">
                      <a16:colId xmlns:a16="http://schemas.microsoft.com/office/drawing/2014/main" val="608540163"/>
                    </a:ext>
                  </a:extLst>
                </a:gridCol>
                <a:gridCol w="1284288">
                  <a:extLst>
                    <a:ext uri="{9D8B030D-6E8A-4147-A177-3AD203B41FA5}">
                      <a16:colId xmlns:a16="http://schemas.microsoft.com/office/drawing/2014/main" val="445703442"/>
                    </a:ext>
                  </a:extLst>
                </a:gridCol>
                <a:gridCol w="1284287">
                  <a:extLst>
                    <a:ext uri="{9D8B030D-6E8A-4147-A177-3AD203B41FA5}">
                      <a16:colId xmlns:a16="http://schemas.microsoft.com/office/drawing/2014/main" val="2727585007"/>
                    </a:ext>
                  </a:extLst>
                </a:gridCol>
                <a:gridCol w="1284288">
                  <a:extLst>
                    <a:ext uri="{9D8B030D-6E8A-4147-A177-3AD203B41FA5}">
                      <a16:colId xmlns:a16="http://schemas.microsoft.com/office/drawing/2014/main" val="1918460477"/>
                    </a:ext>
                  </a:extLst>
                </a:gridCol>
                <a:gridCol w="1284287">
                  <a:extLst>
                    <a:ext uri="{9D8B030D-6E8A-4147-A177-3AD203B41FA5}">
                      <a16:colId xmlns:a16="http://schemas.microsoft.com/office/drawing/2014/main" val="3168465071"/>
                    </a:ext>
                  </a:extLst>
                </a:gridCol>
                <a:gridCol w="1282700">
                  <a:extLst>
                    <a:ext uri="{9D8B030D-6E8A-4147-A177-3AD203B41FA5}">
                      <a16:colId xmlns:a16="http://schemas.microsoft.com/office/drawing/2014/main" val="3541296965"/>
                    </a:ext>
                  </a:extLst>
                </a:gridCol>
              </a:tblGrid>
              <a:tr h="647700">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基尼系数</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0.2</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以下</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DAA7"/>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0.2-0.4</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DAA7"/>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0.4-0.5</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DAA7"/>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0.5-0.6</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DAA7"/>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0.6</a:t>
                      </a: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以上</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DAA7"/>
                    </a:solidFill>
                  </a:tcPr>
                </a:tc>
                <a:extLst>
                  <a:ext uri="{0D108BD9-81ED-4DB2-BD59-A6C34878D82A}">
                    <a16:rowId xmlns:a16="http://schemas.microsoft.com/office/drawing/2014/main" val="3595183523"/>
                  </a:ext>
                </a:extLst>
              </a:tr>
              <a:tr h="647700">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贫富状况</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高度平均</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DAA7"/>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基本合理</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DAA7"/>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差距较大</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DAA7"/>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差距悬殊</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DAA7"/>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高度不平均</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DAA7"/>
                    </a:solidFill>
                  </a:tcPr>
                </a:tc>
                <a:extLst>
                  <a:ext uri="{0D108BD9-81ED-4DB2-BD59-A6C34878D82A}">
                    <a16:rowId xmlns:a16="http://schemas.microsoft.com/office/drawing/2014/main" val="3448382280"/>
                  </a:ext>
                </a:extLst>
              </a:tr>
            </a:tbl>
          </a:graphicData>
        </a:graphic>
      </p:graphicFrame>
      <p:sp>
        <p:nvSpPr>
          <p:cNvPr id="5" name="标题 1"/>
          <p:cNvSpPr txBox="1">
            <a:spLocks noChangeArrowheads="1"/>
          </p:cNvSpPr>
          <p:nvPr/>
        </p:nvSpPr>
        <p:spPr bwMode="auto">
          <a:xfrm>
            <a:off x="683568" y="260648"/>
            <a:ext cx="822960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第五节  收入分配中的不平等</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536328" y="543153"/>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二、收入分配不平等的度量</a:t>
            </a:r>
            <a:endParaRPr lang="en-US" altLang="zh-CN" sz="2400" b="1" spc="150" dirty="0">
              <a:solidFill>
                <a:srgbClr val="FFFFFF"/>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043608" y="1674033"/>
            <a:ext cx="3820277" cy="400110"/>
          </a:xfrm>
          <a:prstGeom prst="rect">
            <a:avLst/>
          </a:prstGeom>
          <a:noFill/>
        </p:spPr>
        <p:txBody>
          <a:bodyPr wrap="none" rtlCol="0">
            <a:spAutoFit/>
          </a:bodyPr>
          <a:lstStyle/>
          <a:p>
            <a:pPr marL="0" lvl="1"/>
            <a:r>
              <a:rPr lang="zh-CN" altLang="en-US" sz="2000" dirty="0">
                <a:solidFill>
                  <a:srgbClr val="C00000"/>
                </a:solidFill>
                <a:latin typeface="微软雅黑" panose="020B0503020204020204" pitchFamily="34" charset="-122"/>
                <a:ea typeface="微软雅黑" panose="020B0503020204020204" pitchFamily="34" charset="-122"/>
              </a:rPr>
              <a:t>国际上通常将</a:t>
            </a:r>
            <a:r>
              <a:rPr lang="en-US" altLang="zh-CN" sz="2000" dirty="0">
                <a:solidFill>
                  <a:srgbClr val="C00000"/>
                </a:solidFill>
                <a:latin typeface="微软雅黑" panose="020B0503020204020204" pitchFamily="34" charset="-122"/>
                <a:ea typeface="微软雅黑" panose="020B0503020204020204" pitchFamily="34" charset="-122"/>
              </a:rPr>
              <a:t>0</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4</a:t>
            </a:r>
            <a:r>
              <a:rPr lang="zh-CN" altLang="en-US" sz="2000" dirty="0">
                <a:solidFill>
                  <a:srgbClr val="C00000"/>
                </a:solidFill>
                <a:latin typeface="微软雅黑" panose="020B0503020204020204" pitchFamily="34" charset="-122"/>
                <a:ea typeface="微软雅黑" panose="020B0503020204020204" pitchFamily="34" charset="-122"/>
              </a:rPr>
              <a:t>作为警戒线。</a:t>
            </a:r>
            <a:endParaRPr lang="en-US" altLang="zh-CN" sz="200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07CBF86-8789-4CA2-9A08-8021720ECE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72780" y="958019"/>
            <a:ext cx="2232248" cy="2232248"/>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6" presetClass="entr" presetSubtype="21"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barn(inVertical)">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1682">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71683"/>
                                        </p:tgtEl>
                                        <p:attrNameLst>
                                          <p:attrName>style.visibility</p:attrName>
                                        </p:attrNameLst>
                                      </p:cBhvr>
                                      <p:to>
                                        <p:strVal val="visible"/>
                                      </p:to>
                                    </p:set>
                                    <p:animEffect transition="in" filter="randombar(horizontal)">
                                      <p:cBhvr>
                                        <p:cTn id="18" dur="500"/>
                                        <p:tgtEl>
                                          <p:spTgt spid="71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4294967295"/>
          </p:nvPr>
        </p:nvSpPr>
        <p:spPr>
          <a:xfrm>
            <a:off x="683568" y="1036637"/>
            <a:ext cx="7900012" cy="4784725"/>
          </a:xfrm>
        </p:spPr>
        <p:txBody>
          <a:bodyPr/>
          <a:lstStyle/>
          <a:p>
            <a:pPr marL="0" indent="0" eaLnBrk="1" hangingPunct="1">
              <a:lnSpc>
                <a:spcPct val="200000"/>
              </a:lnSpc>
              <a:buNone/>
            </a:pPr>
            <a:r>
              <a:rPr lang="zh-CN" altLang="en-US" sz="2000" b="0" dirty="0">
                <a:solidFill>
                  <a:schemeClr val="tx1"/>
                </a:solidFill>
                <a:latin typeface="微软雅黑" panose="020B0503020204020204" pitchFamily="34" charset="-122"/>
                <a:ea typeface="微软雅黑" panose="020B0503020204020204" pitchFamily="34" charset="-122"/>
              </a:rPr>
              <a:t>为改善收入分配不平等的状况，发达国家通常实行收入再分配政策。以美国为例，其收入再分配政策包括：</a:t>
            </a:r>
          </a:p>
          <a:p>
            <a:pPr lvl="1" eaLnBrk="1" hangingPunct="1">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社会保障制度</a:t>
            </a:r>
            <a:endParaRPr lang="en-US" altLang="zh-CN" sz="2000" dirty="0">
              <a:latin typeface="微软雅黑" panose="020B0503020204020204" pitchFamily="34" charset="-122"/>
              <a:ea typeface="微软雅黑" panose="020B0503020204020204" pitchFamily="34" charset="-122"/>
            </a:endParaRPr>
          </a:p>
          <a:p>
            <a:pPr lvl="2" eaLnBrk="1" hangingPunct="1">
              <a:lnSpc>
                <a:spcPct val="20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把收入从富人转移给穷人、从青年人转移给老年人</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即进行旨在使收入更为平等的收入再分配。</a:t>
            </a:r>
            <a:endParaRPr lang="en-US" altLang="zh-CN" sz="180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收入援助计划</a:t>
            </a:r>
            <a:endParaRPr lang="en-US" altLang="zh-CN" sz="2000" dirty="0">
              <a:latin typeface="微软雅黑" panose="020B0503020204020204" pitchFamily="34" charset="-122"/>
              <a:ea typeface="微软雅黑" panose="020B0503020204020204" pitchFamily="34" charset="-122"/>
            </a:endParaRPr>
          </a:p>
          <a:p>
            <a:pPr lvl="2">
              <a:lnSpc>
                <a:spcPct val="20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实施的对象是低于一定收入水平的穷人主要是现金转移支付和实物转移支付计划。如向穷人提供医疗、食品券和住房援助。</a:t>
            </a:r>
            <a:endParaRPr lang="en-US" altLang="zh-CN" sz="1800" dirty="0">
              <a:latin typeface="微软雅黑" panose="020B0503020204020204" pitchFamily="34" charset="-122"/>
              <a:ea typeface="微软雅黑" panose="020B0503020204020204" pitchFamily="34" charset="-122"/>
            </a:endParaRPr>
          </a:p>
        </p:txBody>
      </p:sp>
      <p:sp>
        <p:nvSpPr>
          <p:cNvPr id="5" name="标题 1"/>
          <p:cNvSpPr txBox="1">
            <a:spLocks noChangeArrowheads="1"/>
          </p:cNvSpPr>
          <p:nvPr/>
        </p:nvSpPr>
        <p:spPr bwMode="auto">
          <a:xfrm>
            <a:off x="683568" y="260648"/>
            <a:ext cx="822960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第五节  收入分配中的不平等</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6" name="矩形 5">
            <a:extLst>
              <a:ext uri="{FF2B5EF4-FFF2-40B4-BE49-F238E27FC236}">
                <a16:creationId xmlns:a16="http://schemas.microsoft.com/office/drawing/2014/main" id="{F68E5273-CD77-47B9-B841-9D29349C133D}"/>
              </a:ext>
            </a:extLst>
          </p:cNvPr>
          <p:cNvSpPr/>
          <p:nvPr/>
        </p:nvSpPr>
        <p:spPr>
          <a:xfrm>
            <a:off x="536328" y="543153"/>
            <a:ext cx="3127779"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三、收入再分配政策</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5778">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75778">
                                            <p:txEl>
                                              <p:pRg st="1" end="1"/>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75778">
                                            <p:txEl>
                                              <p:pRg st="2" end="2"/>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75778">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577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2656" y="-171400"/>
            <a:ext cx="12009593" cy="6755396"/>
          </a:xfrm>
          <a:prstGeom prst="rect">
            <a:avLst/>
          </a:prstGeom>
        </p:spPr>
      </p:pic>
      <p:sp>
        <p:nvSpPr>
          <p:cNvPr id="4" name="标题 1"/>
          <p:cNvSpPr txBox="1">
            <a:spLocks noChangeArrowheads="1"/>
          </p:cNvSpPr>
          <p:nvPr/>
        </p:nvSpPr>
        <p:spPr bwMode="auto">
          <a:xfrm>
            <a:off x="683568" y="260648"/>
            <a:ext cx="822960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r" eaLnBrk="1" hangingPunct="1"/>
            <a:r>
              <a:rPr lang="zh-CN" altLang="en-US" sz="1800" spc="300" dirty="0">
                <a:solidFill>
                  <a:srgbClr val="000000"/>
                </a:solidFill>
                <a:latin typeface="微软雅黑" panose="020B0503020204020204" pitchFamily="34" charset="-122"/>
                <a:ea typeface="微软雅黑" panose="020B0503020204020204" pitchFamily="34" charset="-122"/>
              </a:rPr>
              <a:t>第五节  收入分配中的不平等</a:t>
            </a:r>
            <a:r>
              <a:rPr lang="en-US" altLang="zh-CN" sz="1800" spc="300" dirty="0">
                <a:solidFill>
                  <a:srgbClr val="000000"/>
                </a:solidFill>
                <a:latin typeface="微软雅黑" panose="020B0503020204020204" pitchFamily="34" charset="-122"/>
                <a:ea typeface="微软雅黑" panose="020B0503020204020204" pitchFamily="34" charset="-122"/>
              </a:rPr>
              <a:t/>
            </a:r>
            <a:br>
              <a:rPr lang="en-US" altLang="zh-CN" sz="1800" spc="300" dirty="0">
                <a:solidFill>
                  <a:srgbClr val="000000"/>
                </a:solidFill>
                <a:latin typeface="微软雅黑" panose="020B0503020204020204" pitchFamily="34" charset="-122"/>
                <a:ea typeface="微软雅黑" panose="020B0503020204020204" pitchFamily="34" charset="-122"/>
              </a:rPr>
            </a:br>
            <a:r>
              <a:rPr lang="zh-CN" altLang="en-US" sz="2400" dirty="0">
                <a:latin typeface="宋体" panose="02010600030101010101" pitchFamily="2" charset="-122"/>
              </a:rPr>
              <a:t>                       </a:t>
            </a:r>
            <a:endParaRPr lang="zh-CN" altLang="en-US" sz="3600" dirty="0">
              <a:solidFill>
                <a:schemeClr val="tx2"/>
              </a:solidFill>
              <a:ea typeface="黑体" panose="02010609060101010101" pitchFamily="49"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536328" y="543153"/>
            <a:ext cx="3127779"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marL="0" lvl="1">
              <a:defRPr/>
            </a:pPr>
            <a:r>
              <a:rPr lang="zh-CN" altLang="en-US" sz="2400" b="1" spc="150" dirty="0">
                <a:solidFill>
                  <a:srgbClr val="FFFFFF"/>
                </a:solidFill>
                <a:latin typeface="微软雅黑" panose="020B0503020204020204" pitchFamily="34" charset="-122"/>
                <a:ea typeface="微软雅黑" panose="020B0503020204020204" pitchFamily="34" charset="-122"/>
              </a:rPr>
              <a:t>三、收入再分配政策</a:t>
            </a:r>
          </a:p>
        </p:txBody>
      </p:sp>
      <p:sp>
        <p:nvSpPr>
          <p:cNvPr id="7" name="文本框 6"/>
          <p:cNvSpPr txBox="1"/>
          <p:nvPr/>
        </p:nvSpPr>
        <p:spPr>
          <a:xfrm>
            <a:off x="2555776" y="2648077"/>
            <a:ext cx="4968552" cy="1846146"/>
          </a:xfrm>
          <a:prstGeom prst="rect">
            <a:avLst/>
          </a:prstGeom>
          <a:noFill/>
        </p:spPr>
        <p:txBody>
          <a:bodyPr wrap="square" rtlCol="0">
            <a:spAutoFit/>
          </a:bodyPr>
          <a:lstStyle/>
          <a:p>
            <a:pPr>
              <a:lnSpc>
                <a:spcPct val="200000"/>
              </a:lnSpc>
            </a:pPr>
            <a:r>
              <a:rPr lang="zh-CN" altLang="en-US" sz="2000" dirty="0">
                <a:solidFill>
                  <a:srgbClr val="C00000"/>
                </a:solidFill>
                <a:latin typeface="微软雅黑" panose="020B0503020204020204" pitchFamily="34" charset="-122"/>
                <a:ea typeface="微软雅黑" panose="020B0503020204020204" pitchFamily="34" charset="-122"/>
              </a:rPr>
              <a:t>社会保障制度和收入援助计划并不能从根本上解决贫困问题</a:t>
            </a:r>
            <a:r>
              <a:rPr lang="en-US" altLang="zh-CN" sz="2000" dirty="0">
                <a:solidFill>
                  <a:srgbClr val="C00000"/>
                </a:solidFill>
                <a:latin typeface="微软雅黑" panose="020B0503020204020204" pitchFamily="34" charset="-122"/>
                <a:ea typeface="微软雅黑" panose="020B0503020204020204" pitchFamily="34" charset="-122"/>
              </a:rPr>
              <a:t>, </a:t>
            </a:r>
            <a:r>
              <a:rPr lang="zh-CN" altLang="en-US" sz="2000" dirty="0">
                <a:solidFill>
                  <a:srgbClr val="C00000"/>
                </a:solidFill>
                <a:latin typeface="微软雅黑" panose="020B0503020204020204" pitchFamily="34" charset="-122"/>
                <a:ea typeface="微软雅黑" panose="020B0503020204020204" pitchFamily="34" charset="-122"/>
              </a:rPr>
              <a:t>其作用是极其有限的</a:t>
            </a:r>
            <a:r>
              <a:rPr lang="en-US" altLang="zh-CN" sz="2000" dirty="0">
                <a:solidFill>
                  <a:srgbClr val="C00000"/>
                </a:solidFill>
                <a:latin typeface="微软雅黑" panose="020B0503020204020204" pitchFamily="34" charset="-122"/>
                <a:ea typeface="微软雅黑" panose="020B0503020204020204" pitchFamily="34" charset="-122"/>
              </a:rPr>
              <a:t>, </a:t>
            </a:r>
            <a:r>
              <a:rPr lang="zh-CN" altLang="en-US" sz="2000" dirty="0">
                <a:solidFill>
                  <a:srgbClr val="C00000"/>
                </a:solidFill>
                <a:latin typeface="微软雅黑" panose="020B0503020204020204" pitchFamily="34" charset="-122"/>
                <a:ea typeface="微软雅黑" panose="020B0503020204020204" pitchFamily="34" charset="-122"/>
              </a:rPr>
              <a:t>最多只能缓解贫困问题。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extBox 1"/>
          <p:cNvSpPr txBox="1">
            <a:spLocks noChangeArrowheads="1"/>
          </p:cNvSpPr>
          <p:nvPr/>
        </p:nvSpPr>
        <p:spPr bwMode="auto">
          <a:xfrm>
            <a:off x="2688431" y="2927349"/>
            <a:ext cx="33067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6000" b="0" dirty="0">
                <a:solidFill>
                  <a:srgbClr val="C00000"/>
                </a:solidFill>
                <a:latin typeface="微软雅黑" panose="020B0503020204020204" pitchFamily="34" charset="-122"/>
                <a:ea typeface="Kozuka Gothic Pr6N B" panose="020B0800000000000000" pitchFamily="34" charset="-128"/>
                <a:cs typeface="Arial" panose="020B0604020202020204" pitchFamily="34" charset="0"/>
              </a:rPr>
              <a:t>THANKS</a:t>
            </a:r>
          </a:p>
        </p:txBody>
      </p:sp>
      <p:sp>
        <p:nvSpPr>
          <p:cNvPr id="4" name="空心弧 3"/>
          <p:cNvSpPr/>
          <p:nvPr/>
        </p:nvSpPr>
        <p:spPr bwMode="auto">
          <a:xfrm rot="7086271">
            <a:off x="4972844" y="2687637"/>
            <a:ext cx="1482725" cy="1482725"/>
          </a:xfrm>
          <a:prstGeom prst="blockArc">
            <a:avLst>
              <a:gd name="adj1" fmla="val 5502533"/>
              <a:gd name="adj2" fmla="val 1980318"/>
              <a:gd name="adj3" fmla="val 1053"/>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solidFill>
            </a:endParaRPr>
          </a:p>
        </p:txBody>
      </p:sp>
      <p:sp>
        <p:nvSpPr>
          <p:cNvPr id="5" name="TextBox 8"/>
          <p:cNvSpPr txBox="1">
            <a:spLocks noChangeArrowheads="1"/>
          </p:cNvSpPr>
          <p:nvPr/>
        </p:nvSpPr>
        <p:spPr bwMode="auto">
          <a:xfrm>
            <a:off x="2836069" y="3771899"/>
            <a:ext cx="2192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fontAlgn="auto" hangingPunct="1">
              <a:spcBef>
                <a:spcPts val="0"/>
              </a:spcBef>
              <a:spcAft>
                <a:spcPts val="0"/>
              </a:spcAft>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谢谢聆听</a:t>
            </a:r>
          </a:p>
        </p:txBody>
      </p:sp>
    </p:spTree>
    <p:extLst>
      <p:ext uri="{BB962C8B-B14F-4D97-AF65-F5344CB8AC3E}">
        <p14:creationId xmlns:p14="http://schemas.microsoft.com/office/powerpoint/2010/main" val="349107044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1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1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1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1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1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1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2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2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2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2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2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2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2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3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3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3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3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3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3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3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3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4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4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4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4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4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4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4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4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4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4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5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5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5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2155</TotalTime>
  <Pages>0</Pages>
  <Words>7027</Words>
  <Characters>0</Characters>
  <Application>Microsoft Office PowerPoint</Application>
  <DocSecurity>0</DocSecurity>
  <PresentationFormat>全屏显示(4:3)</PresentationFormat>
  <Lines>0</Lines>
  <Paragraphs>1094</Paragraphs>
  <Slides>87</Slides>
  <Notes>16</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87</vt:i4>
      </vt:variant>
    </vt:vector>
  </HeadingPairs>
  <TitlesOfParts>
    <vt:vector size="100" baseType="lpstr">
      <vt:lpstr>Kozuka Gothic Pr6N B</vt:lpstr>
      <vt:lpstr>等线</vt:lpstr>
      <vt:lpstr>黑体</vt:lpstr>
      <vt:lpstr>宋体</vt:lpstr>
      <vt:lpstr>微软雅黑</vt:lpstr>
      <vt:lpstr>Arial</vt:lpstr>
      <vt:lpstr>Calibri</vt:lpstr>
      <vt:lpstr>Cambria Math</vt:lpstr>
      <vt:lpstr>Tahoma</vt:lpstr>
      <vt:lpstr>Times New Roman</vt:lpstr>
      <vt:lpstr>Wingdings</vt:lpstr>
      <vt:lpstr>1_默认设计模板</vt:lpstr>
      <vt:lpstr>2_默认设计模板</vt:lpstr>
      <vt:lpstr>PowerPoint 演示文稿</vt:lpstr>
      <vt:lpstr>PowerPoint 演示文稿</vt:lpstr>
      <vt:lpstr>第八章 市场失灵和微观经济政策</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负外部性和资源配置的低效率：电力市场        </vt:lpstr>
      <vt:lpstr>Smoke</vt:lpstr>
      <vt:lpstr>PowerPoint 演示文稿</vt:lpstr>
      <vt:lpstr>PowerPoint 演示文稿</vt:lpstr>
      <vt:lpstr>PowerPoint 演示文稿</vt:lpstr>
      <vt:lpstr>Garden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洛仑兹曲线与基尼系数 </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第**章 章名称</dc:title>
  <dc:subject/>
  <dc:creator>Administrator</dc:creator>
  <cp:keywords/>
  <dc:description/>
  <cp:lastModifiedBy>Windows User</cp:lastModifiedBy>
  <cp:revision>546</cp:revision>
  <dcterms:created xsi:type="dcterms:W3CDTF">2015-04-07T15:20:23Z</dcterms:created>
  <dcterms:modified xsi:type="dcterms:W3CDTF">2024-06-13T13:17:31Z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2052-9.1.0.5060</vt:lpwstr>
  </property>
</Properties>
</file>