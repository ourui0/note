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688" r:id="rId3"/>
  </p:sldIdLst>
  <p:sldSz cx="12192000" cy="6858000"/>
  <p:notesSz cx="6858000" cy="9144000"/>
  <p:embeddedFontLst>
    <p:embeddedFont>
      <p:font typeface="楷体" panose="02010609060101010101" charset="-122"/>
      <p:regular r:id="rId10"/>
    </p:embeddedFont>
    <p:embeddedFont>
      <p:font typeface="华文细黑" panose="02010600040101010101" charset="-122"/>
      <p:regular r:id="rId11"/>
    </p:embeddedFont>
    <p:embeddedFont>
      <p:font typeface="Cambria Math" panose="02040503050406030204" pitchFamily="18" charset="0"/>
      <p:regular r:id="rId12"/>
    </p:embeddedFont>
    <p:embeddedFont>
      <p:font typeface="Calibri" panose="020F0502020204030204" charset="0"/>
      <p:regular r:id="rId13"/>
      <p:bold r:id="rId14"/>
      <p:italic r:id="rId15"/>
      <p:boldItalic r:id="rId16"/>
    </p:embeddedFont>
    <p:embeddedFont>
      <p:font typeface="微软雅黑" panose="020B0503020204020204" charset="-122"/>
      <p:regular r:id="rId17"/>
      <p:bold r:id="rId18"/>
    </p:embeddedFont>
  </p:embeddedFontLst>
  <p:custDataLst>
    <p:tags r:id="rId19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WPS" initials="W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F2DA8"/>
    <a:srgbClr val="0000C8"/>
    <a:srgbClr val="000000"/>
    <a:srgbClr val="FF0000"/>
    <a:srgbClr val="F3FFC2"/>
    <a:srgbClr val="B2B2B2"/>
    <a:srgbClr val="808080"/>
    <a:srgbClr val="E9EC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80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commentAuthors" Target="commentAuthors.xml"/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gs" Target="tags/tag3.xml"/><Relationship Id="rId18" Type="http://schemas.openxmlformats.org/officeDocument/2006/relationships/font" Target="fonts/font9.fntdata"/><Relationship Id="rId17" Type="http://schemas.openxmlformats.org/officeDocument/2006/relationships/font" Target="fonts/font8.fntdata"/><Relationship Id="rId16" Type="http://schemas.openxmlformats.org/officeDocument/2006/relationships/font" Target="fonts/font7.fntdata"/><Relationship Id="rId15" Type="http://schemas.openxmlformats.org/officeDocument/2006/relationships/font" Target="fonts/font6.fntdata"/><Relationship Id="rId14" Type="http://schemas.openxmlformats.org/officeDocument/2006/relationships/font" Target="fonts/font5.fntdata"/><Relationship Id="rId13" Type="http://schemas.openxmlformats.org/officeDocument/2006/relationships/font" Target="fonts/font4.fntdata"/><Relationship Id="rId12" Type="http://schemas.openxmlformats.org/officeDocument/2006/relationships/font" Target="fonts/font3.fntdata"/><Relationship Id="rId11" Type="http://schemas.openxmlformats.org/officeDocument/2006/relationships/font" Target="fonts/font2.fntdata"/><Relationship Id="rId10" Type="http://schemas.openxmlformats.org/officeDocument/2006/relationships/font" Target="fonts/font1.fntdata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ctr" anchorCtr="0"/>
          <a:lstStyle>
            <a:lvl1pPr algn="ctr">
              <a:defRPr sz="4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 anchor="ctr" anchorCtr="0"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ch06_1_问题的提出@ISE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/>
            </a:lvl1pPr>
            <a:lvl2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/>
            </a:lvl2pPr>
            <a:lvl3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/>
            </a:lvl3pPr>
            <a:lvl4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/>
            </a:lvl4pPr>
            <a:lvl5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ch06_1_问题的提出@ISE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24815" y="687705"/>
            <a:ext cx="5579745" cy="5909945"/>
          </a:xfrm>
          <a:solidFill>
            <a:schemeClr val="accent3">
              <a:lumMod val="20000"/>
              <a:lumOff val="80000"/>
              <a:alpha val="30000"/>
            </a:schemeClr>
          </a:solidFill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>
                <a:latin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400">
                <a:latin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400">
                <a:latin typeface="Arial" panose="020B0604020202020204" pitchFamily="34" charset="0"/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400">
                <a:latin typeface="Arial" panose="020B0604020202020204" pitchFamily="34" charset="0"/>
              </a:defRPr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400">
                <a:latin typeface="Arial" panose="020B0604020202020204" pitchFamily="34" charset="0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687705"/>
            <a:ext cx="5588635" cy="5909945"/>
          </a:xfrm>
          <a:solidFill>
            <a:schemeClr val="accent4">
              <a:lumMod val="20000"/>
              <a:lumOff val="80000"/>
              <a:alpha val="30000"/>
            </a:schemeClr>
          </a:solidFill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>
                <a:latin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400">
                <a:latin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400">
                <a:latin typeface="Arial" panose="020B0604020202020204" pitchFamily="34" charset="0"/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400">
                <a:latin typeface="Arial" panose="020B0604020202020204" pitchFamily="34" charset="0"/>
              </a:defRPr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400">
                <a:latin typeface="Arial" panose="020B0604020202020204" pitchFamily="34" charset="0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ch06_1_问题的提出@ISE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521970"/>
          </a:xfrm>
        </p:spPr>
        <p:txBody>
          <a:bodyPr wrap="square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24815" y="604520"/>
            <a:ext cx="5579745" cy="606425"/>
          </a:xfrm>
          <a:noFill/>
        </p:spPr>
        <p:txBody>
          <a:bodyPr anchor="ctr" anchorCtr="0"/>
          <a:lstStyle>
            <a:lvl1pPr marL="0" indent="0"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24815" y="1305560"/>
            <a:ext cx="5579745" cy="5309235"/>
          </a:xfrm>
          <a:solidFill>
            <a:schemeClr val="accent3">
              <a:lumMod val="20000"/>
              <a:lumOff val="80000"/>
              <a:alpha val="30000"/>
            </a:schemeClr>
          </a:solidFill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800">
                <a:latin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400">
                <a:latin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400">
                <a:latin typeface="Arial" panose="020B0604020202020204" pitchFamily="34" charset="0"/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400">
                <a:latin typeface="Arial" panose="020B0604020202020204" pitchFamily="34" charset="0"/>
              </a:defRPr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400">
                <a:latin typeface="Arial" panose="020B0604020202020204" pitchFamily="34" charset="0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604520"/>
            <a:ext cx="5589270" cy="606425"/>
          </a:xfrm>
          <a:noFill/>
        </p:spPr>
        <p:txBody>
          <a:bodyPr anchor="ctr" anchorCtr="0"/>
          <a:lstStyle>
            <a:lvl1pPr marL="0" indent="0"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1305560"/>
            <a:ext cx="5589270" cy="5309235"/>
          </a:xfrm>
          <a:solidFill>
            <a:schemeClr val="accent4">
              <a:lumMod val="20000"/>
              <a:lumOff val="80000"/>
              <a:alpha val="30000"/>
            </a:schemeClr>
          </a:solidFill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800">
                <a:latin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400">
                <a:latin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400">
                <a:latin typeface="Arial" panose="020B0604020202020204" pitchFamily="34" charset="0"/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400">
                <a:latin typeface="Arial" panose="020B0604020202020204" pitchFamily="34" charset="0"/>
              </a:defRPr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400">
                <a:latin typeface="Arial" panose="020B0604020202020204" pitchFamily="34" charset="0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ch06_1_问题的提出@ISE</a:t>
            </a:r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ch06_1_问题的提出@ISE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idx="1"/>
          </p:nvPr>
        </p:nvSpPr>
        <p:spPr>
          <a:xfrm>
            <a:off x="424815" y="684000"/>
            <a:ext cx="11336655" cy="521970"/>
          </a:xfrm>
          <a:noFill/>
        </p:spPr>
        <p:txBody>
          <a:bodyPr anchor="ctr" anchorCtr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half" idx="2"/>
          </p:nvPr>
        </p:nvSpPr>
        <p:spPr>
          <a:xfrm>
            <a:off x="424815" y="1326515"/>
            <a:ext cx="5579745" cy="5186680"/>
          </a:xfrm>
          <a:solidFill>
            <a:schemeClr val="accent3">
              <a:lumMod val="20000"/>
              <a:lumOff val="80000"/>
              <a:alpha val="30000"/>
            </a:schemeClr>
          </a:solidFill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800">
                <a:latin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400">
                <a:latin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400">
                <a:latin typeface="Arial" panose="020B0604020202020204" pitchFamily="34" charset="0"/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400">
                <a:latin typeface="Arial" panose="020B0604020202020204" pitchFamily="34" charset="0"/>
              </a:defRPr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400">
                <a:latin typeface="Arial" panose="020B0604020202020204" pitchFamily="34" charset="0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8" name="内容占位符 7"/>
          <p:cNvSpPr>
            <a:spLocks noGrp="1"/>
          </p:cNvSpPr>
          <p:nvPr>
            <p:ph sz="quarter" idx="4"/>
          </p:nvPr>
        </p:nvSpPr>
        <p:spPr>
          <a:xfrm>
            <a:off x="6172200" y="1326515"/>
            <a:ext cx="5589270" cy="5186680"/>
          </a:xfrm>
          <a:solidFill>
            <a:schemeClr val="accent4">
              <a:lumMod val="20000"/>
              <a:lumOff val="80000"/>
              <a:alpha val="30000"/>
            </a:schemeClr>
          </a:solidFill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800">
                <a:latin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400">
                <a:latin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400">
                <a:latin typeface="Arial" panose="020B0604020202020204" pitchFamily="34" charset="0"/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400">
                <a:latin typeface="Arial" panose="020B0604020202020204" pitchFamily="34" charset="0"/>
              </a:defRPr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400">
                <a:latin typeface="Arial" panose="020B0604020202020204" pitchFamily="34" charset="0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p:hf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ch06_1_问题的提出@ISE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ch06_1_问题的提出@ISE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horz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/>
              <a:t>ch06_1_问题的提出@ISE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theme" Target="../theme/theme1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-635" y="0"/>
            <a:ext cx="12192635" cy="595630"/>
          </a:xfrm>
          <a:prstGeom prst="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</p:spPr>
        <p:txBody>
          <a:bodyPr vert="horz" wrap="square" lIns="91440" tIns="82550" rIns="91440" bIns="82550" rtlCol="0" anchor="ctr">
            <a:no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24180" y="687070"/>
            <a:ext cx="11343005" cy="589788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0" y="6696000"/>
            <a:ext cx="4114800" cy="152400"/>
          </a:xfrm>
          <a:prstGeom prst="rect">
            <a:avLst/>
          </a:prstGeom>
        </p:spPr>
        <p:txBody>
          <a:bodyPr vert="horz" lIns="91440" tIns="0" rIns="91440" bIns="0" rtlCol="0" anchor="ctr">
            <a:spAutoFit/>
          </a:bodyPr>
          <a:lstStyle>
            <a:lvl1pPr algn="l">
              <a:defRPr sz="1000" b="1" i="1">
                <a:solidFill>
                  <a:schemeClr val="tx1">
                    <a:tint val="75000"/>
                  </a:schemeClr>
                </a:solidFill>
                <a:latin typeface="楷体" panose="02010609060101010101" charset="-122"/>
                <a:ea typeface="楷体" panose="02010609060101010101" charset="-122"/>
              </a:defRPr>
            </a:lvl1pPr>
          </a:lstStyle>
          <a:p>
            <a:r>
              <a:rPr lang="zh-CN" altLang="en-US"/>
              <a:t>ch06_1_问题的提出@ISE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1461115" y="6696000"/>
            <a:ext cx="730885" cy="153670"/>
          </a:xfrm>
          <a:prstGeom prst="rect">
            <a:avLst/>
          </a:prstGeom>
        </p:spPr>
        <p:txBody>
          <a:bodyPr vert="horz" wrap="square" lIns="91440" tIns="0" rIns="91440" bIns="0" rtlCol="0" anchor="ctr">
            <a:spAutoFit/>
          </a:bodyPr>
          <a:lstStyle>
            <a:lvl1pPr algn="r">
              <a:defRPr sz="1000" b="1" i="1">
                <a:solidFill>
                  <a:schemeClr val="tx1">
                    <a:tint val="75000"/>
                  </a:schemeClr>
                </a:solidFill>
                <a:latin typeface="楷体" panose="02010609060101010101" charset="-122"/>
                <a:ea typeface="楷体" panose="02010609060101010101" charset="-122"/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hdr="0" dt="0"/>
  <p:txStyles>
    <p:titleStyle>
      <a:lvl1pPr algn="ctr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None/>
        <a:defRPr sz="2800" b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60045" indent="-360045" algn="l" defTabSz="914400" rtl="0" eaLnBrk="1" latinLnBrk="0" hangingPunct="1">
        <a:lnSpc>
          <a:spcPct val="100000"/>
        </a:lnSpc>
        <a:spcBef>
          <a:spcPct val="0"/>
        </a:spcBef>
        <a:spcAft>
          <a:spcPts val="0"/>
        </a:spcAft>
        <a:buClr>
          <a:srgbClr val="C00000"/>
        </a:buClr>
        <a:buSzPct val="85000"/>
        <a:buFont typeface="Wingdings" panose="05000000000000000000" charset="0"/>
        <a:buChar char="q"/>
        <a:defRPr sz="2800" b="1" kern="1200">
          <a:solidFill>
            <a:srgbClr val="1F2DA8"/>
          </a:solidFill>
          <a:latin typeface="Arial" panose="020B0604020202020204" pitchFamily="34" charset="0"/>
          <a:ea typeface="楷体" panose="02010609060101010101" charset="-122"/>
          <a:cs typeface="+mn-cs"/>
        </a:defRPr>
      </a:lvl1pPr>
      <a:lvl2pPr marL="784860" indent="-327025" algn="l" defTabSz="914400" rtl="0" eaLnBrk="1" latinLnBrk="0" hangingPunct="1">
        <a:lnSpc>
          <a:spcPct val="100000"/>
        </a:lnSpc>
        <a:spcBef>
          <a:spcPct val="0"/>
        </a:spcBef>
        <a:spcAft>
          <a:spcPts val="0"/>
        </a:spcAft>
        <a:buClr>
          <a:srgbClr val="C00000"/>
        </a:buClr>
        <a:buSzPct val="85000"/>
        <a:buFont typeface="Wingdings" panose="05000000000000000000" charset="0"/>
        <a:buChar char="Ø"/>
        <a:defRPr sz="2800" b="1" kern="1200">
          <a:solidFill>
            <a:srgbClr val="1F2DA8"/>
          </a:solidFill>
          <a:latin typeface="Arial" panose="020B0604020202020204" pitchFamily="34" charset="0"/>
          <a:ea typeface="楷体" panose="02010609060101010101" charset="-122"/>
          <a:cs typeface="+mn-cs"/>
        </a:defRPr>
      </a:lvl2pPr>
      <a:lvl3pPr marL="1252855" indent="-337820" algn="l" defTabSz="914400" rtl="0" eaLnBrk="1" latinLnBrk="0" hangingPunct="1">
        <a:lnSpc>
          <a:spcPct val="100000"/>
        </a:lnSpc>
        <a:spcBef>
          <a:spcPct val="0"/>
        </a:spcBef>
        <a:spcAft>
          <a:spcPts val="0"/>
        </a:spcAft>
        <a:buClr>
          <a:srgbClr val="C00000"/>
        </a:buClr>
        <a:buSzPct val="85000"/>
        <a:buFont typeface="Arial" panose="020B0604020202020204" pitchFamily="34" charset="0"/>
        <a:buChar char="●"/>
        <a:defRPr sz="2800" b="1" kern="1200">
          <a:solidFill>
            <a:srgbClr val="1F2DA8"/>
          </a:solidFill>
          <a:latin typeface="Arial" panose="020B0604020202020204" pitchFamily="34" charset="0"/>
          <a:ea typeface="楷体" panose="02010609060101010101" charset="-122"/>
          <a:cs typeface="+mn-cs"/>
        </a:defRPr>
      </a:lvl3pPr>
      <a:lvl4pPr marL="1710055" indent="-337820" algn="l" defTabSz="914400" rtl="0" eaLnBrk="1" latinLnBrk="0" hangingPunct="1">
        <a:lnSpc>
          <a:spcPct val="100000"/>
        </a:lnSpc>
        <a:spcBef>
          <a:spcPct val="0"/>
        </a:spcBef>
        <a:spcAft>
          <a:spcPts val="0"/>
        </a:spcAft>
        <a:buClr>
          <a:srgbClr val="C00000"/>
        </a:buClr>
        <a:buSzPct val="85000"/>
        <a:buFont typeface="Arial" panose="020B0604020202020204" pitchFamily="34" charset="0"/>
        <a:buChar char="‒"/>
        <a:defRPr sz="2800" b="1" kern="1200">
          <a:solidFill>
            <a:srgbClr val="1F2DA8"/>
          </a:solidFill>
          <a:latin typeface="Arial" panose="020B0604020202020204" pitchFamily="34" charset="0"/>
          <a:ea typeface="楷体" panose="02010609060101010101" charset="-122"/>
          <a:cs typeface="+mn-cs"/>
        </a:defRPr>
      </a:lvl4pPr>
      <a:lvl5pPr marL="2156460" indent="-327025" algn="l" defTabSz="914400" rtl="0" eaLnBrk="1" latinLnBrk="0" hangingPunct="1">
        <a:lnSpc>
          <a:spcPct val="100000"/>
        </a:lnSpc>
        <a:spcBef>
          <a:spcPct val="0"/>
        </a:spcBef>
        <a:spcAft>
          <a:spcPts val="0"/>
        </a:spcAft>
        <a:buClr>
          <a:srgbClr val="C00000"/>
        </a:buClr>
        <a:buSzPct val="85000"/>
        <a:buFont typeface="Wingdings" panose="05000000000000000000" charset="0"/>
        <a:buChar char=""/>
        <a:defRPr sz="2800" b="1" kern="1200">
          <a:solidFill>
            <a:srgbClr val="1F2DA8"/>
          </a:solidFill>
          <a:latin typeface="Arial" panose="020B0604020202020204" pitchFamily="34" charset="0"/>
          <a:ea typeface="楷体" panose="02010609060101010101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/>
          <p:cNvSpPr>
            <a:spLocks noGrp="1"/>
          </p:cNvSpPr>
          <p:nvPr>
            <p:ph type="title"/>
          </p:nvPr>
        </p:nvSpPr>
        <p:spPr>
          <a:xfrm>
            <a:off x="-635" y="635"/>
            <a:ext cx="12192635" cy="472440"/>
          </a:xfrm>
        </p:spPr>
        <p:txBody>
          <a:bodyPr>
            <a:noAutofit/>
          </a:bodyPr>
          <a:lstStyle/>
          <a:p>
            <a:r>
              <a:rPr lang="en-US" altLang="zh-CN" sz="2000" b="1">
                <a:latin typeface="华文细黑" panose="02010600040101010101" charset="-122"/>
                <a:ea typeface="华文细黑" panose="02010600040101010101" charset="-122"/>
                <a:cs typeface="华文细黑" panose="02010600040101010101" charset="-122"/>
                <a:sym typeface="+mn-ea"/>
              </a:rPr>
              <a:t>DB2605 - </a:t>
            </a:r>
            <a:r>
              <a:rPr lang="zh-CN" altLang="en-US" sz="2000" b="1">
                <a:latin typeface="华文细黑" panose="02010600040101010101" charset="-122"/>
                <a:ea typeface="华文细黑" panose="02010600040101010101" charset="-122"/>
                <a:cs typeface="华文细黑" panose="02010600040101010101" charset="-122"/>
                <a:sym typeface="+mn-ea"/>
              </a:rPr>
              <a:t>关系</a:t>
            </a:r>
            <a:r>
              <a:rPr lang="zh-CN" altLang="en-US" sz="2000" b="1">
                <a:solidFill>
                  <a:schemeClr val="tx1"/>
                </a:solidFill>
                <a:latin typeface="华文细黑" panose="02010600040101010101" charset="-122"/>
                <a:ea typeface="华文细黑" panose="02010600040101010101" charset="-122"/>
                <a:cs typeface="华文细黑" panose="02010600040101010101" charset="-122"/>
                <a:sym typeface="+mn-ea"/>
              </a:rPr>
              <a:t>规范化设计（</a:t>
            </a:r>
            <a:r>
              <a:rPr lang="en-US" altLang="zh-CN" sz="2000" b="1">
                <a:solidFill>
                  <a:schemeClr val="tx1"/>
                </a:solidFill>
                <a:latin typeface="华文细黑" panose="02010600040101010101" charset="-122"/>
                <a:ea typeface="华文细黑" panose="02010600040101010101" charset="-122"/>
                <a:cs typeface="华文细黑" panose="02010600040101010101" charset="-122"/>
                <a:sym typeface="+mn-ea"/>
              </a:rPr>
              <a:t>01</a:t>
            </a:r>
            <a:r>
              <a:rPr lang="zh-CN" altLang="en-US" sz="2000" b="1">
                <a:solidFill>
                  <a:schemeClr val="tx1"/>
                </a:solidFill>
                <a:latin typeface="华文细黑" panose="02010600040101010101" charset="-122"/>
                <a:ea typeface="华文细黑" panose="02010600040101010101" charset="-122"/>
                <a:cs typeface="华文细黑" panose="02010600040101010101" charset="-122"/>
                <a:sym typeface="+mn-ea"/>
              </a:rPr>
              <a:t>班）</a:t>
            </a:r>
            <a:endParaRPr lang="zh-CN" altLang="en-US" sz="2000" b="1">
              <a:solidFill>
                <a:schemeClr val="tx1"/>
              </a:solidFill>
              <a:latin typeface="华文细黑" panose="02010600040101010101" charset="-122"/>
              <a:ea typeface="华文细黑" panose="02010600040101010101" charset="-122"/>
              <a:cs typeface="华文细黑" panose="02010600040101010101" charset="-122"/>
              <a:sym typeface="+mn-ea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424180" y="960755"/>
                <a:ext cx="11343005" cy="706755"/>
              </a:xfrm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txBody>
              <a:bodyPr>
                <a:spAutoFit/>
              </a:bodyPr>
              <a:lstStyle/>
              <a:p>
                <a:pPr marL="0" indent="0" fontAlgn="auto">
                  <a:lnSpc>
                    <a:spcPct val="100000"/>
                  </a:lnSpc>
                  <a:spcBef>
                    <a:spcPts val="0"/>
                  </a:spcBef>
                  <a:buFont typeface="+mj-lt"/>
                  <a:buNone/>
                </a:pPr>
                <a:r>
                  <a:rPr lang="zh-CN" altLang="en-US" sz="2000">
                    <a:solidFill>
                      <a:srgbClr val="1F2DA8"/>
                    </a:solidFill>
                    <a:latin typeface="+mn-lt"/>
                    <a:cs typeface="+mn-lt"/>
                    <a:sym typeface="+mn-ea"/>
                  </a:rPr>
                  <a:t>一、有函数依赖集</a:t>
                </a:r>
                <a14:m>
                  <m:oMath xmlns:m="http://schemas.openxmlformats.org/officeDocument/2006/math">
                    <m:r>
                      <a:rPr lang="en-US" altLang="zh-CN" sz="2000" i="1">
                        <a:solidFill>
                          <a:srgbClr val="1F2DA8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  <a:sym typeface="+mn-ea"/>
                      </a:rPr>
                      <m:t> </m:t>
                    </m:r>
                    <m:r>
                      <a:rPr lang="en-US" altLang="zh-CN" sz="2000" i="1">
                        <a:solidFill>
                          <a:srgbClr val="1F2DA8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  <a:sym typeface="+mn-ea"/>
                      </a:rPr>
                      <m:t>𝑺</m:t>
                    </m:r>
                    <m:r>
                      <a:rPr lang="en-US" altLang="zh-CN" sz="2000" i="1">
                        <a:solidFill>
                          <a:srgbClr val="1F2DA8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  <a:sym typeface="+mn-ea"/>
                      </a:rPr>
                      <m:t> = { </m:t>
                    </m:r>
                    <m:r>
                      <a:rPr lang="en-US" altLang="zh-CN" sz="2000" i="1">
                        <a:solidFill>
                          <a:srgbClr val="1F2DA8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  <a:sym typeface="+mn-ea"/>
                      </a:rPr>
                      <m:t>𝑨𝑫</m:t>
                    </m:r>
                    <m:r>
                      <a:rPr lang="en-US" altLang="zh-CN" sz="2000" i="1">
                        <a:solidFill>
                          <a:srgbClr val="1F2DA8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  <a:sym typeface="+mn-ea"/>
                      </a:rPr>
                      <m:t>→</m:t>
                    </m:r>
                    <m:r>
                      <a:rPr lang="en-US" altLang="zh-CN" sz="2000" i="1">
                        <a:solidFill>
                          <a:srgbClr val="1F2DA8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  <a:sym typeface="+mn-ea"/>
                      </a:rPr>
                      <m:t>𝑬𝑭</m:t>
                    </m:r>
                    <m:r>
                      <a:rPr lang="en-US" altLang="zh-CN" sz="2000" i="1">
                        <a:solidFill>
                          <a:srgbClr val="1F2DA8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  <a:sym typeface="+mn-ea"/>
                      </a:rPr>
                      <m:t>,  </m:t>
                    </m:r>
                    <m:r>
                      <a:rPr lang="en-US" altLang="zh-CN" sz="2000" i="1">
                        <a:solidFill>
                          <a:srgbClr val="1F2DA8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  <a:sym typeface="+mn-ea"/>
                      </a:rPr>
                      <m:t>𝑨𝑫𝑭</m:t>
                    </m:r>
                    <m:r>
                      <a:rPr lang="en-US" altLang="zh-CN" sz="2000" i="1">
                        <a:solidFill>
                          <a:srgbClr val="1F2DA8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  <a:sym typeface="+mn-ea"/>
                      </a:rPr>
                      <m:t>→</m:t>
                    </m:r>
                    <m:r>
                      <a:rPr lang="en-US" altLang="zh-CN" sz="2000" i="1">
                        <a:solidFill>
                          <a:srgbClr val="1F2DA8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  <a:sym typeface="+mn-ea"/>
                      </a:rPr>
                      <m:t>𝑪</m:t>
                    </m:r>
                    <m:r>
                      <a:rPr lang="en-US" altLang="zh-CN" sz="2000" i="1">
                        <a:solidFill>
                          <a:srgbClr val="1F2DA8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  <a:sym typeface="+mn-ea"/>
                      </a:rPr>
                      <m:t>𝑫</m:t>
                    </m:r>
                    <m:r>
                      <a:rPr lang="en-US" altLang="zh-CN" sz="2000" i="1">
                        <a:solidFill>
                          <a:srgbClr val="1F2DA8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  <a:sym typeface="+mn-ea"/>
                      </a:rPr>
                      <m:t>,  </m:t>
                    </m:r>
                    <m:r>
                      <a:rPr lang="en-US" altLang="zh-CN" sz="2000" i="1">
                        <a:solidFill>
                          <a:srgbClr val="1F2DA8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  <a:sym typeface="+mn-ea"/>
                      </a:rPr>
                      <m:t>𝑪</m:t>
                    </m:r>
                    <m:r>
                      <a:rPr lang="en-US" altLang="zh-CN" sz="2000" i="1">
                        <a:solidFill>
                          <a:srgbClr val="1F2DA8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  <a:sym typeface="+mn-ea"/>
                      </a:rPr>
                      <m:t>→</m:t>
                    </m:r>
                    <m:r>
                      <a:rPr lang="en-US" altLang="zh-CN" sz="2000" i="1">
                        <a:solidFill>
                          <a:srgbClr val="1F2DA8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  <a:sym typeface="+mn-ea"/>
                      </a:rPr>
                      <m:t>𝑩𝑫</m:t>
                    </m:r>
                    <m:r>
                      <a:rPr lang="en-US" altLang="zh-CN" sz="2000" i="1">
                        <a:solidFill>
                          <a:srgbClr val="1F2DA8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  <a:sym typeface="+mn-ea"/>
                      </a:rPr>
                      <m:t>𝑭</m:t>
                    </m:r>
                    <m:r>
                      <a:rPr lang="en-US" altLang="zh-CN" sz="2000" i="1">
                        <a:solidFill>
                          <a:srgbClr val="1F2DA8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  <a:sym typeface="+mn-ea"/>
                      </a:rPr>
                      <m:t>,  </m:t>
                    </m:r>
                    <m:r>
                      <a:rPr lang="en-US" altLang="zh-CN" sz="2000" i="1">
                        <a:solidFill>
                          <a:srgbClr val="1F2DA8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  <a:sym typeface="+mn-ea"/>
                      </a:rPr>
                      <m:t>𝑭</m:t>
                    </m:r>
                    <m:r>
                      <a:rPr lang="en-US" altLang="zh-CN" sz="2000" i="1">
                        <a:solidFill>
                          <a:srgbClr val="1F2DA8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  <a:sym typeface="+mn-ea"/>
                      </a:rPr>
                      <m:t>→</m:t>
                    </m:r>
                    <m:r>
                      <a:rPr lang="en-US" altLang="zh-CN" sz="2000" i="1">
                        <a:solidFill>
                          <a:srgbClr val="1F2DA8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  <a:sym typeface="+mn-ea"/>
                      </a:rPr>
                      <m:t>𝑩</m:t>
                    </m:r>
                    <m:r>
                      <a:rPr lang="en-US" altLang="zh-CN" sz="2000" i="1">
                        <a:solidFill>
                          <a:srgbClr val="1F2DA8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  <a:sym typeface="+mn-ea"/>
                      </a:rPr>
                      <m:t> }</m:t>
                    </m:r>
                  </m:oMath>
                </a14:m>
                <a:r>
                  <a:rPr lang="zh-CN" altLang="en-US" sz="2000" b="0">
                    <a:solidFill>
                      <a:srgbClr val="1F2DA8"/>
                    </a:solidFill>
                    <a:latin typeface="Cambria Math" panose="02040503050406030204" pitchFamily="18" charset="0"/>
                    <a:cs typeface="Cambria Math" panose="02040503050406030204" pitchFamily="18" charset="0"/>
                    <a:sym typeface="+mn-ea"/>
                  </a:rPr>
                  <a:t>，</a:t>
                </a:r>
                <a:r>
                  <a:rPr lang="zh-CN" altLang="en-US" sz="2000">
                    <a:solidFill>
                      <a:srgbClr val="1F2DA8"/>
                    </a:solidFill>
                    <a:latin typeface="+mn-lt"/>
                    <a:cs typeface="+mn-lt"/>
                  </a:rPr>
                  <a:t>请计算它的极小函数依赖集。</a:t>
                </a:r>
                <a:r>
                  <a:rPr lang="zh-CN" altLang="en-US" sz="2000">
                    <a:solidFill>
                      <a:srgbClr val="1F2DA8"/>
                    </a:solidFill>
                    <a:latin typeface="+mn-lt"/>
                    <a:cs typeface="+mn-lt"/>
                  </a:rPr>
                  <a:t>请简要写出极小函数依赖集计算算法（补充算法</a:t>
                </a:r>
                <a:r>
                  <a:rPr lang="en-US" altLang="zh-CN" sz="2000">
                    <a:solidFill>
                      <a:srgbClr val="1F2DA8"/>
                    </a:solidFill>
                    <a:latin typeface="+mn-lt"/>
                    <a:cs typeface="+mn-lt"/>
                  </a:rPr>
                  <a:t>1</a:t>
                </a:r>
                <a:r>
                  <a:rPr lang="zh-CN" altLang="en-US" sz="2000">
                    <a:solidFill>
                      <a:srgbClr val="1F2DA8"/>
                    </a:solidFill>
                    <a:latin typeface="+mn-lt"/>
                    <a:cs typeface="+mn-lt"/>
                  </a:rPr>
                  <a:t>）的计算过程。</a:t>
                </a:r>
                <a:endParaRPr lang="en-US" altLang="zh-CN" sz="2000">
                  <a:solidFill>
                    <a:srgbClr val="1F2DA8"/>
                  </a:solidFill>
                  <a:latin typeface="+mn-lt"/>
                  <a:cs typeface="+mn-lt"/>
                  <a:sym typeface="+mn-ea"/>
                </a:endParaRPr>
              </a:p>
            </p:txBody>
          </p:sp>
        </mc:Choice>
        <mc:Fallback>
          <p:sp>
            <p:nvSpPr>
              <p:cNvPr id="3" name="内容占位符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24180" y="960755"/>
                <a:ext cx="11343005" cy="706755"/>
              </a:xfrm>
              <a:blipFill rotWithShape="1">
                <a:blip r:embed="rId1"/>
                <a:stretch>
                  <a:fillRect l="-45" t="-719" r="-39" b="-629"/>
                </a:stretch>
              </a:blipFill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内容占位符 2"/>
              <p:cNvSpPr>
                <a:spLocks noGrp="1"/>
              </p:cNvSpPr>
              <p:nvPr/>
            </p:nvSpPr>
            <p:spPr>
              <a:xfrm>
                <a:off x="424180" y="1987550"/>
                <a:ext cx="11343005" cy="1938020"/>
              </a:xfrm>
              <a:prstGeom prst="rect">
                <a:avLst/>
              </a:prstGeom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txBody>
              <a:bodyPr vert="horz" lIns="91440" tIns="45720" rIns="91440" bIns="45720" rtlCol="0">
                <a:spAutoFit/>
              </a:bodyPr>
              <a:lstStyle>
                <a:lvl1pPr marL="360045" indent="-360045" algn="l" defTabSz="914400" rtl="0" eaLnBrk="1" latinLnBrk="0" hangingPunct="1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C00000"/>
                  </a:buClr>
                  <a:buSzPct val="85000"/>
                  <a:buFont typeface="Wingdings" panose="05000000000000000000" charset="0"/>
                  <a:buChar char="q"/>
                  <a:defRPr sz="2800" b="1" kern="1200">
                    <a:solidFill>
                      <a:srgbClr val="1F2DA8"/>
                    </a:solidFill>
                    <a:latin typeface="Arial" panose="020B0604020202020204" pitchFamily="34" charset="0"/>
                    <a:ea typeface="楷体" panose="02010609060101010101" charset="-122"/>
                    <a:cs typeface="+mn-cs"/>
                  </a:defRPr>
                </a:lvl1pPr>
                <a:lvl2pPr marL="784860" indent="-327025" algn="l" defTabSz="914400" rtl="0" eaLnBrk="1" latinLnBrk="0" hangingPunct="1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C00000"/>
                  </a:buClr>
                  <a:buSzPct val="85000"/>
                  <a:buFont typeface="Wingdings" panose="05000000000000000000" charset="0"/>
                  <a:buChar char="Ø"/>
                  <a:defRPr sz="2800" b="1" kern="1200">
                    <a:solidFill>
                      <a:srgbClr val="1F2DA8"/>
                    </a:solidFill>
                    <a:latin typeface="Arial" panose="020B0604020202020204" pitchFamily="34" charset="0"/>
                    <a:ea typeface="楷体" panose="02010609060101010101" charset="-122"/>
                    <a:cs typeface="+mn-cs"/>
                  </a:defRPr>
                </a:lvl2pPr>
                <a:lvl3pPr marL="1252855" indent="-337820" algn="l" defTabSz="914400" rtl="0" eaLnBrk="1" latinLnBrk="0" hangingPunct="1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C00000"/>
                  </a:buClr>
                  <a:buSzPct val="85000"/>
                  <a:buFont typeface="Arial" panose="020B0604020202020204" pitchFamily="34" charset="0"/>
                  <a:buChar char="●"/>
                  <a:defRPr sz="2800" b="1" kern="1200">
                    <a:solidFill>
                      <a:srgbClr val="1F2DA8"/>
                    </a:solidFill>
                    <a:latin typeface="Arial" panose="020B0604020202020204" pitchFamily="34" charset="0"/>
                    <a:ea typeface="楷体" panose="02010609060101010101" charset="-122"/>
                    <a:cs typeface="+mn-cs"/>
                  </a:defRPr>
                </a:lvl3pPr>
                <a:lvl4pPr marL="1710055" indent="-337820" algn="l" defTabSz="914400" rtl="0" eaLnBrk="1" latinLnBrk="0" hangingPunct="1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C00000"/>
                  </a:buClr>
                  <a:buSzPct val="85000"/>
                  <a:buFont typeface="Arial" panose="020B0604020202020204" pitchFamily="34" charset="0"/>
                  <a:buChar char="‒"/>
                  <a:defRPr sz="2800" b="1" kern="1200">
                    <a:solidFill>
                      <a:srgbClr val="1F2DA8"/>
                    </a:solidFill>
                    <a:latin typeface="Arial" panose="020B0604020202020204" pitchFamily="34" charset="0"/>
                    <a:ea typeface="楷体" panose="02010609060101010101" charset="-122"/>
                    <a:cs typeface="+mn-cs"/>
                  </a:defRPr>
                </a:lvl4pPr>
                <a:lvl5pPr marL="2156460" indent="-327025" algn="l" defTabSz="914400" rtl="0" eaLnBrk="1" latinLnBrk="0" hangingPunct="1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C00000"/>
                  </a:buClr>
                  <a:buSzPct val="85000"/>
                  <a:buFont typeface="Wingdings" panose="05000000000000000000" charset="0"/>
                  <a:buChar char=""/>
                  <a:defRPr sz="2800" b="1" kern="1200">
                    <a:solidFill>
                      <a:srgbClr val="1F2DA8"/>
                    </a:solidFill>
                    <a:latin typeface="Arial" panose="020B0604020202020204" pitchFamily="34" charset="0"/>
                    <a:ea typeface="楷体" panose="02010609060101010101" charset="-122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fontAlgn="auto">
                  <a:lnSpc>
                    <a:spcPct val="100000"/>
                  </a:lnSpc>
                  <a:spcAft>
                    <a:spcPts val="0"/>
                  </a:spcAft>
                  <a:buFont typeface="+mj-ea"/>
                  <a:buNone/>
                </a:pPr>
                <a:r>
                  <a:rPr lang="zh-CN" sz="2000">
                    <a:solidFill>
                      <a:srgbClr val="1F2DA8"/>
                    </a:solidFill>
                    <a:latin typeface="+mn-lt"/>
                    <a:cs typeface="+mn-lt"/>
                    <a:sym typeface="+mn-ea"/>
                  </a:rPr>
                  <a:t>二、</a:t>
                </a:r>
                <a:r>
                  <a:rPr sz="2000">
                    <a:solidFill>
                      <a:srgbClr val="1F2DA8"/>
                    </a:solidFill>
                    <a:latin typeface="+mn-lt"/>
                    <a:cs typeface="+mn-lt"/>
                    <a:sym typeface="+mn-ea"/>
                  </a:rPr>
                  <a:t>有关系</a:t>
                </a:r>
                <a:r>
                  <a:rPr lang="zh-CN" sz="2000">
                    <a:solidFill>
                      <a:srgbClr val="1F2DA8"/>
                    </a:solidFill>
                    <a:latin typeface="+mn-lt"/>
                    <a:cs typeface="+mn-lt"/>
                    <a:sym typeface="+mn-ea"/>
                  </a:rPr>
                  <a:t>模式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1F2DA8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  <a:sym typeface="+mn-ea"/>
                      </a:rPr>
                      <m:t> </m:t>
                    </m:r>
                    <m:r>
                      <a:rPr lang="en-US" sz="2000" i="1">
                        <a:solidFill>
                          <a:srgbClr val="1F2DA8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  <a:sym typeface="+mn-ea"/>
                      </a:rPr>
                      <m:t>𝑹</m:t>
                    </m:r>
                    <m:r>
                      <a:rPr lang="en-US" sz="2000" i="1">
                        <a:solidFill>
                          <a:srgbClr val="1F2DA8"/>
                        </a:solidFill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  <a:sym typeface="+mn-ea"/>
                      </a:rPr>
                      <m:t>(</m:t>
                    </m:r>
                    <m:r>
                      <a:rPr lang="en-US" sz="2000" i="1">
                        <a:solidFill>
                          <a:srgbClr val="1F2DA8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  <a:sym typeface="+mn-ea"/>
                      </a:rPr>
                      <m:t>𝑨</m:t>
                    </m:r>
                    <m:r>
                      <a:rPr lang="en-US" sz="2000" i="1">
                        <a:solidFill>
                          <a:srgbClr val="1F2DA8"/>
                        </a:solidFill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  <a:sym typeface="+mn-ea"/>
                      </a:rPr>
                      <m:t>,</m:t>
                    </m:r>
                    <m:r>
                      <a:rPr lang="en-US" sz="2000" i="1">
                        <a:solidFill>
                          <a:srgbClr val="1F2DA8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  <a:sym typeface="+mn-ea"/>
                      </a:rPr>
                      <m:t>𝑩</m:t>
                    </m:r>
                    <m:r>
                      <a:rPr lang="en-US" sz="2000" i="1">
                        <a:solidFill>
                          <a:srgbClr val="1F2DA8"/>
                        </a:solidFill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  <a:sym typeface="+mn-ea"/>
                      </a:rPr>
                      <m:t>,</m:t>
                    </m:r>
                    <m:r>
                      <a:rPr lang="en-US" sz="2000" i="1">
                        <a:solidFill>
                          <a:srgbClr val="1F2DA8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  <a:sym typeface="+mn-ea"/>
                      </a:rPr>
                      <m:t>𝑪</m:t>
                    </m:r>
                    <m:r>
                      <a:rPr lang="en-US" sz="2000" i="1">
                        <a:solidFill>
                          <a:srgbClr val="1F2DA8"/>
                        </a:solidFill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  <a:sym typeface="+mn-ea"/>
                      </a:rPr>
                      <m:t>,</m:t>
                    </m:r>
                    <m:r>
                      <a:rPr lang="en-US" sz="2000" i="1">
                        <a:solidFill>
                          <a:srgbClr val="1F2DA8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  <a:sym typeface="+mn-ea"/>
                      </a:rPr>
                      <m:t>𝑫</m:t>
                    </m:r>
                    <m:r>
                      <a:rPr lang="en-US" sz="2000" i="1">
                        <a:solidFill>
                          <a:srgbClr val="1F2DA8"/>
                        </a:solidFill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  <a:sym typeface="+mn-ea"/>
                      </a:rPr>
                      <m:t>,</m:t>
                    </m:r>
                    <m:r>
                      <a:rPr lang="en-US" sz="2000" i="1">
                        <a:solidFill>
                          <a:srgbClr val="1F2DA8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  <a:sym typeface="+mn-ea"/>
                      </a:rPr>
                      <m:t>𝑬</m:t>
                    </m:r>
                    <m:r>
                      <a:rPr lang="en-US" sz="2000" i="1">
                        <a:solidFill>
                          <a:srgbClr val="1F2DA8"/>
                        </a:solidFill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  <a:sym typeface="+mn-ea"/>
                      </a:rPr>
                      <m:t>,</m:t>
                    </m:r>
                    <m:r>
                      <a:rPr lang="en-US" sz="2000" i="1">
                        <a:solidFill>
                          <a:srgbClr val="1F2DA8"/>
                        </a:solidFill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  <a:sym typeface="+mn-ea"/>
                      </a:rPr>
                      <m:t>𝑭</m:t>
                    </m:r>
                    <m:r>
                      <a:rPr lang="en-US" sz="2000" i="1">
                        <a:solidFill>
                          <a:srgbClr val="1F2DA8"/>
                        </a:solidFill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  <a:sym typeface="+mn-ea"/>
                      </a:rPr>
                      <m:t>)</m:t>
                    </m:r>
                    <m:r>
                      <a:rPr lang="en-US" sz="2000" i="1">
                        <a:solidFill>
                          <a:srgbClr val="1F2DA8"/>
                        </a:solidFill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  <a:sym typeface="+mn-ea"/>
                      </a:rPr>
                      <m:t> </m:t>
                    </m:r>
                  </m:oMath>
                </a14:m>
                <a:r>
                  <a:rPr sz="2000">
                    <a:solidFill>
                      <a:srgbClr val="1F2DA8"/>
                    </a:solidFill>
                    <a:latin typeface="+mn-lt"/>
                    <a:cs typeface="+mn-lt"/>
                    <a:sym typeface="+mn-ea"/>
                  </a:rPr>
                  <a:t>及其极小函数依赖集：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1F2DA8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  <a:sym typeface="+mn-ea"/>
                      </a:rPr>
                      <m:t>{ </m:t>
                    </m:r>
                    <m:r>
                      <a:rPr lang="en-US" altLang="zh-CN" sz="2000" i="1">
                        <a:solidFill>
                          <a:srgbClr val="1F2DA8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  <a:sym typeface="+mn-ea"/>
                      </a:rPr>
                      <m:t>𝐴𝐵</m:t>
                    </m:r>
                    <m:r>
                      <a:rPr lang="en-US" altLang="zh-CN" sz="2000" i="1">
                        <a:solidFill>
                          <a:srgbClr val="1F2DA8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  <a:sym typeface="+mn-ea"/>
                      </a:rPr>
                      <m:t>→</m:t>
                    </m:r>
                    <m:r>
                      <a:rPr lang="en-US" altLang="zh-CN" sz="2000" i="1">
                        <a:solidFill>
                          <a:srgbClr val="1F2DA8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  <a:sym typeface="+mn-ea"/>
                      </a:rPr>
                      <m:t>𝐶𝐹</m:t>
                    </m:r>
                    <m:r>
                      <a:rPr lang="en-US" altLang="zh-CN" sz="2000" i="1">
                        <a:solidFill>
                          <a:srgbClr val="1F2DA8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  <a:sym typeface="+mn-ea"/>
                      </a:rPr>
                      <m:t>, </m:t>
                    </m:r>
                    <m:r>
                      <a:rPr lang="en-US" altLang="zh-CN" sz="2000" i="1">
                        <a:solidFill>
                          <a:srgbClr val="1F2DA8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  <a:sym typeface="+mn-ea"/>
                      </a:rPr>
                      <m:t>𝐹</m:t>
                    </m:r>
                    <m:r>
                      <a:rPr lang="en-US" altLang="zh-CN" sz="2000" i="1">
                        <a:solidFill>
                          <a:srgbClr val="1F2DA8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  <a:sym typeface="+mn-ea"/>
                      </a:rPr>
                      <m:t>→</m:t>
                    </m:r>
                    <m:r>
                      <a:rPr lang="en-US" altLang="zh-CN" sz="2000" i="1">
                        <a:solidFill>
                          <a:srgbClr val="1F2DA8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  <a:sym typeface="+mn-ea"/>
                      </a:rPr>
                      <m:t>𝐵𝐷</m:t>
                    </m:r>
                    <m:r>
                      <a:rPr lang="en-US" altLang="zh-CN" sz="2000" i="1">
                        <a:solidFill>
                          <a:srgbClr val="1F2DA8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  <a:sym typeface="+mn-ea"/>
                      </a:rPr>
                      <m:t>, </m:t>
                    </m:r>
                    <m:r>
                      <a:rPr lang="en-US" altLang="zh-CN" sz="2000" i="1">
                        <a:solidFill>
                          <a:srgbClr val="1F2DA8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  <a:sym typeface="+mn-ea"/>
                      </a:rPr>
                      <m:t>𝐷</m:t>
                    </m:r>
                    <m:r>
                      <a:rPr lang="en-US" altLang="zh-CN" sz="2000" i="1">
                        <a:solidFill>
                          <a:srgbClr val="1F2DA8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  <a:sym typeface="+mn-ea"/>
                      </a:rPr>
                      <m:t>→</m:t>
                    </m:r>
                    <m:r>
                      <a:rPr lang="en-US" altLang="zh-CN" sz="2000" i="1">
                        <a:solidFill>
                          <a:srgbClr val="1F2DA8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  <a:sym typeface="+mn-ea"/>
                      </a:rPr>
                      <m:t>𝐸</m:t>
                    </m:r>
                    <m:r>
                      <a:rPr lang="en-US" altLang="zh-CN" sz="2000" i="1">
                        <a:solidFill>
                          <a:srgbClr val="1F2DA8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  <a:sym typeface="+mn-ea"/>
                      </a:rPr>
                      <m:t> }</m:t>
                    </m:r>
                  </m:oMath>
                </a14:m>
                <a:endParaRPr sz="2000">
                  <a:solidFill>
                    <a:srgbClr val="1F2DA8"/>
                  </a:solidFill>
                  <a:latin typeface="+mn-lt"/>
                  <a:cs typeface="+mn-lt"/>
                </a:endParaRPr>
              </a:p>
              <a:p>
                <a:pPr marL="457200" lvl="0" indent="-457200" fontAlgn="auto">
                  <a:lnSpc>
                    <a:spcPct val="100000"/>
                  </a:lnSpc>
                  <a:buFont typeface="+mj-ea"/>
                  <a:buAutoNum type="arabicPeriod"/>
                </a:pPr>
                <a:r>
                  <a:rPr sz="2000">
                    <a:solidFill>
                      <a:srgbClr val="1F2DA8"/>
                    </a:solidFill>
                    <a:latin typeface="+mn-lt"/>
                    <a:cs typeface="+mn-lt"/>
                    <a:sym typeface="+mn-ea"/>
                  </a:rPr>
                  <a:t>请</a:t>
                </a:r>
                <a:r>
                  <a:rPr lang="zh-CN" sz="2000">
                    <a:solidFill>
                      <a:srgbClr val="1F2DA8"/>
                    </a:solidFill>
                    <a:latin typeface="+mn-lt"/>
                    <a:cs typeface="+mn-lt"/>
                    <a:sym typeface="+mn-ea"/>
                  </a:rPr>
                  <a:t>计算得到</a:t>
                </a:r>
                <a:r>
                  <a:rPr sz="2000">
                    <a:solidFill>
                      <a:srgbClr val="1F2DA8"/>
                    </a:solidFill>
                    <a:latin typeface="+mn-lt"/>
                    <a:cs typeface="+mn-lt"/>
                    <a:sym typeface="+mn-ea"/>
                  </a:rPr>
                  <a:t>关系</a:t>
                </a:r>
                <a:r>
                  <a:rPr lang="en-US" sz="2000">
                    <a:solidFill>
                      <a:srgbClr val="1F2DA8"/>
                    </a:solidFill>
                    <a:latin typeface="+mn-lt"/>
                    <a:cs typeface="+mn-lt"/>
                    <a:sym typeface="+mn-ea"/>
                  </a:rPr>
                  <a:t>R</a:t>
                </a:r>
                <a:r>
                  <a:rPr sz="2000">
                    <a:solidFill>
                      <a:srgbClr val="1F2DA8"/>
                    </a:solidFill>
                    <a:latin typeface="+mn-lt"/>
                    <a:cs typeface="+mn-lt"/>
                    <a:sym typeface="+mn-ea"/>
                  </a:rPr>
                  <a:t>的</a:t>
                </a:r>
                <a:r>
                  <a:rPr lang="zh-CN" sz="2000">
                    <a:solidFill>
                      <a:srgbClr val="1F2DA8"/>
                    </a:solidFill>
                    <a:latin typeface="+mn-lt"/>
                    <a:cs typeface="+mn-lt"/>
                    <a:sym typeface="+mn-ea"/>
                  </a:rPr>
                  <a:t>所有候选码，简要写出候选码计算算法（补充算法</a:t>
                </a:r>
                <a:r>
                  <a:rPr lang="en-US" altLang="zh-CN" sz="2000">
                    <a:solidFill>
                      <a:srgbClr val="1F2DA8"/>
                    </a:solidFill>
                    <a:latin typeface="+mn-lt"/>
                    <a:cs typeface="+mn-lt"/>
                    <a:sym typeface="+mn-ea"/>
                  </a:rPr>
                  <a:t>2</a:t>
                </a:r>
                <a:r>
                  <a:rPr lang="zh-CN" altLang="en-US" sz="2000">
                    <a:solidFill>
                      <a:srgbClr val="1F2DA8"/>
                    </a:solidFill>
                    <a:latin typeface="+mn-lt"/>
                    <a:cs typeface="+mn-lt"/>
                    <a:sym typeface="+mn-ea"/>
                  </a:rPr>
                  <a:t>）的计算过程</a:t>
                </a:r>
                <a:r>
                  <a:rPr lang="zh-CN" sz="2000">
                    <a:solidFill>
                      <a:srgbClr val="1F2DA8"/>
                    </a:solidFill>
                    <a:latin typeface="+mn-lt"/>
                    <a:cs typeface="+mn-lt"/>
                    <a:sym typeface="+mn-ea"/>
                  </a:rPr>
                  <a:t>；</a:t>
                </a:r>
                <a:endParaRPr sz="2000">
                  <a:solidFill>
                    <a:srgbClr val="1F2DA8"/>
                  </a:solidFill>
                  <a:latin typeface="+mn-lt"/>
                  <a:cs typeface="+mn-lt"/>
                </a:endParaRPr>
              </a:p>
              <a:p>
                <a:pPr marL="457200" lvl="0" indent="-457200" fontAlgn="auto">
                  <a:lnSpc>
                    <a:spcPct val="100000"/>
                  </a:lnSpc>
                  <a:spcAft>
                    <a:spcPts val="0"/>
                  </a:spcAft>
                  <a:buFont typeface="+mj-ea"/>
                  <a:buAutoNum type="arabicPeriod"/>
                </a:pPr>
                <a:r>
                  <a:rPr sz="2000">
                    <a:solidFill>
                      <a:srgbClr val="1F2DA8"/>
                    </a:solidFill>
                    <a:latin typeface="+mn-lt"/>
                    <a:cs typeface="+mn-lt"/>
                    <a:sym typeface="+mn-ea"/>
                  </a:rPr>
                  <a:t>关系</a:t>
                </a:r>
                <a:r>
                  <a:rPr lang="en-US" sz="2000">
                    <a:solidFill>
                      <a:srgbClr val="1F2DA8"/>
                    </a:solidFill>
                    <a:latin typeface="+mn-lt"/>
                    <a:cs typeface="+mn-lt"/>
                    <a:sym typeface="+mn-ea"/>
                  </a:rPr>
                  <a:t>R</a:t>
                </a:r>
                <a:r>
                  <a:rPr sz="2000">
                    <a:solidFill>
                      <a:srgbClr val="1F2DA8"/>
                    </a:solidFill>
                    <a:latin typeface="+mn-lt"/>
                    <a:cs typeface="+mn-lt"/>
                    <a:sym typeface="+mn-ea"/>
                  </a:rPr>
                  <a:t>最高能够满足到第几范式？请简单说明理由</a:t>
                </a:r>
                <a:r>
                  <a:rPr lang="zh-CN" sz="2000">
                    <a:solidFill>
                      <a:srgbClr val="1F2DA8"/>
                    </a:solidFill>
                    <a:latin typeface="+mn-lt"/>
                    <a:cs typeface="+mn-lt"/>
                    <a:sym typeface="+mn-ea"/>
                  </a:rPr>
                  <a:t>；</a:t>
                </a:r>
                <a:endParaRPr sz="2000">
                  <a:solidFill>
                    <a:srgbClr val="1F2DA8"/>
                  </a:solidFill>
                  <a:latin typeface="+mn-lt"/>
                  <a:cs typeface="+mn-lt"/>
                </a:endParaRPr>
              </a:p>
              <a:p>
                <a:pPr marL="457200" lvl="0" indent="-457200" fontAlgn="auto">
                  <a:lnSpc>
                    <a:spcPct val="100000"/>
                  </a:lnSpc>
                  <a:spcAft>
                    <a:spcPts val="0"/>
                  </a:spcAft>
                  <a:buFont typeface="+mj-ea"/>
                  <a:buAutoNum type="arabicPeriod"/>
                </a:pPr>
                <a:r>
                  <a:rPr lang="zh-CN" sz="2000">
                    <a:solidFill>
                      <a:srgbClr val="1F2DA8"/>
                    </a:solidFill>
                    <a:latin typeface="+mn-lt"/>
                    <a:cs typeface="+mn-lt"/>
                    <a:sym typeface="+mn-ea"/>
                  </a:rPr>
                  <a:t>关系</a:t>
                </a:r>
                <a:r>
                  <a:rPr lang="en-US" altLang="zh-CN" sz="2000">
                    <a:solidFill>
                      <a:srgbClr val="1F2DA8"/>
                    </a:solidFill>
                    <a:latin typeface="+mn-lt"/>
                    <a:cs typeface="+mn-lt"/>
                    <a:sym typeface="+mn-ea"/>
                  </a:rPr>
                  <a:t>R</a:t>
                </a:r>
                <a:r>
                  <a:rPr lang="zh-CN" altLang="en-US" sz="2000">
                    <a:solidFill>
                      <a:srgbClr val="1F2DA8"/>
                    </a:solidFill>
                    <a:latin typeface="+mn-lt"/>
                    <a:cs typeface="+mn-lt"/>
                    <a:sym typeface="+mn-ea"/>
                  </a:rPr>
                  <a:t>是否满足</a:t>
                </a:r>
                <a:r>
                  <a:rPr lang="en-US" altLang="zh-CN" sz="2000">
                    <a:solidFill>
                      <a:srgbClr val="1F2DA8"/>
                    </a:solidFill>
                    <a:latin typeface="+mn-lt"/>
                    <a:cs typeface="+mn-lt"/>
                    <a:sym typeface="+mn-ea"/>
                  </a:rPr>
                  <a:t>3NF</a:t>
                </a:r>
                <a:r>
                  <a:rPr lang="zh-CN" altLang="en-US" sz="2000">
                    <a:solidFill>
                      <a:srgbClr val="1F2DA8"/>
                    </a:solidFill>
                    <a:latin typeface="+mn-lt"/>
                    <a:cs typeface="+mn-lt"/>
                    <a:sym typeface="+mn-ea"/>
                  </a:rPr>
                  <a:t>？如不满足，请调用算法</a:t>
                </a:r>
                <a:r>
                  <a:rPr lang="en-US" altLang="zh-CN" sz="2000">
                    <a:solidFill>
                      <a:srgbClr val="1F2DA8"/>
                    </a:solidFill>
                    <a:latin typeface="+mn-lt"/>
                    <a:cs typeface="+mn-lt"/>
                    <a:sym typeface="+mn-ea"/>
                  </a:rPr>
                  <a:t>6.3&amp;6.4</a:t>
                </a:r>
                <a:r>
                  <a:rPr lang="zh-CN" altLang="en-US" sz="2000">
                    <a:solidFill>
                      <a:srgbClr val="1F2DA8"/>
                    </a:solidFill>
                    <a:latin typeface="+mn-lt"/>
                    <a:cs typeface="+mn-lt"/>
                    <a:sym typeface="+mn-ea"/>
                  </a:rPr>
                  <a:t>，将关系模式</a:t>
                </a:r>
                <a:r>
                  <a:rPr lang="en-US" altLang="zh-CN" sz="2000">
                    <a:solidFill>
                      <a:srgbClr val="1F2DA8"/>
                    </a:solidFill>
                    <a:latin typeface="+mn-lt"/>
                    <a:cs typeface="+mn-lt"/>
                    <a:sym typeface="+mn-ea"/>
                  </a:rPr>
                  <a:t>R</a:t>
                </a:r>
                <a:r>
                  <a:rPr lang="zh-CN" altLang="en-US" sz="2000">
                    <a:solidFill>
                      <a:srgbClr val="1F2DA8"/>
                    </a:solidFill>
                    <a:latin typeface="+mn-lt"/>
                    <a:cs typeface="+mn-lt"/>
                    <a:sym typeface="+mn-ea"/>
                  </a:rPr>
                  <a:t>直接分解到满足3</a:t>
                </a:r>
                <a:r>
                  <a:rPr lang="en-US" altLang="zh-CN" sz="2000">
                    <a:solidFill>
                      <a:srgbClr val="1F2DA8"/>
                    </a:solidFill>
                    <a:latin typeface="+mn-lt"/>
                    <a:cs typeface="+mn-lt"/>
                    <a:sym typeface="+mn-ea"/>
                  </a:rPr>
                  <a:t>NF，</a:t>
                </a:r>
                <a:r>
                  <a:rPr lang="zh-CN" altLang="en-US" sz="2000">
                    <a:solidFill>
                      <a:srgbClr val="1F2DA8"/>
                    </a:solidFill>
                    <a:latin typeface="+mn-lt"/>
                    <a:cs typeface="+mn-lt"/>
                    <a:sym typeface="+mn-ea"/>
                  </a:rPr>
                  <a:t>且分解具有无损连接性和保持函数依赖性；</a:t>
                </a:r>
                <a:endParaRPr lang="zh-CN" altLang="en-US" sz="2000">
                  <a:solidFill>
                    <a:srgbClr val="1F2DA8"/>
                  </a:solidFill>
                  <a:latin typeface="+mn-lt"/>
                  <a:cs typeface="+mn-lt"/>
                </a:endParaRPr>
              </a:p>
              <a:p>
                <a:pPr marL="457200" lvl="0" indent="-457200" fontAlgn="auto">
                  <a:lnSpc>
                    <a:spcPct val="100000"/>
                  </a:lnSpc>
                  <a:spcAft>
                    <a:spcPts val="0"/>
                  </a:spcAft>
                  <a:buFont typeface="+mj-ea"/>
                  <a:buAutoNum type="arabicPeriod"/>
                </a:pPr>
                <a:r>
                  <a:rPr lang="zh-CN" altLang="en-US" sz="2000">
                    <a:solidFill>
                      <a:srgbClr val="1F2DA8"/>
                    </a:solidFill>
                    <a:latin typeface="+mn-lt"/>
                    <a:cs typeface="+mn-lt"/>
                    <a:sym typeface="+mn-ea"/>
                  </a:rPr>
                  <a:t>上述分解结果是否满足</a:t>
                </a:r>
                <a:r>
                  <a:rPr lang="en-US" altLang="zh-CN" sz="2000">
                    <a:solidFill>
                      <a:srgbClr val="1F2DA8"/>
                    </a:solidFill>
                    <a:latin typeface="+mn-lt"/>
                    <a:cs typeface="+mn-lt"/>
                    <a:sym typeface="+mn-ea"/>
                  </a:rPr>
                  <a:t>BCNF</a:t>
                </a:r>
                <a:r>
                  <a:rPr lang="zh-CN" altLang="en-US" sz="2000">
                    <a:solidFill>
                      <a:srgbClr val="1F2DA8"/>
                    </a:solidFill>
                    <a:latin typeface="+mn-lt"/>
                    <a:cs typeface="+mn-lt"/>
                    <a:sym typeface="+mn-ea"/>
                  </a:rPr>
                  <a:t>？如不满足，请调用算法</a:t>
                </a:r>
                <a:r>
                  <a:rPr lang="en-US" altLang="zh-CN" sz="2000">
                    <a:solidFill>
                      <a:srgbClr val="1F2DA8"/>
                    </a:solidFill>
                    <a:latin typeface="+mn-lt"/>
                    <a:cs typeface="+mn-lt"/>
                    <a:sym typeface="+mn-ea"/>
                  </a:rPr>
                  <a:t>6.5</a:t>
                </a:r>
                <a:r>
                  <a:rPr lang="zh-CN" altLang="en-US" sz="2000">
                    <a:solidFill>
                      <a:srgbClr val="1F2DA8"/>
                    </a:solidFill>
                    <a:latin typeface="+mn-lt"/>
                    <a:cs typeface="+mn-lt"/>
                    <a:sym typeface="+mn-ea"/>
                  </a:rPr>
                  <a:t>将其进一步分解到满足</a:t>
                </a:r>
                <a:r>
                  <a:rPr lang="en-US" altLang="zh-CN" sz="2000">
                    <a:solidFill>
                      <a:srgbClr val="1F2DA8"/>
                    </a:solidFill>
                    <a:latin typeface="+mn-lt"/>
                    <a:cs typeface="+mn-lt"/>
                    <a:sym typeface="+mn-ea"/>
                  </a:rPr>
                  <a:t>BCNF</a:t>
                </a:r>
                <a:r>
                  <a:rPr lang="zh-CN" altLang="en-US" sz="2000">
                    <a:solidFill>
                      <a:srgbClr val="1F2DA8"/>
                    </a:solidFill>
                    <a:latin typeface="+mn-lt"/>
                    <a:cs typeface="+mn-lt"/>
                    <a:sym typeface="+mn-ea"/>
                  </a:rPr>
                  <a:t>并说明理由。</a:t>
                </a:r>
                <a:endParaRPr lang="zh-CN" altLang="en-US" sz="2000">
                  <a:solidFill>
                    <a:srgbClr val="1F2DA8"/>
                  </a:solidFill>
                  <a:latin typeface="+mn-lt"/>
                  <a:cs typeface="+mn-lt"/>
                  <a:sym typeface="+mn-ea"/>
                </a:endParaRPr>
              </a:p>
            </p:txBody>
          </p:sp>
        </mc:Choice>
        <mc:Fallback>
          <p:sp>
            <p:nvSpPr>
              <p:cNvPr id="4" name="内容占位符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4180" y="1987550"/>
                <a:ext cx="11343005" cy="1938020"/>
              </a:xfrm>
              <a:prstGeom prst="rect">
                <a:avLst/>
              </a:prstGeom>
              <a:blipFill rotWithShape="1">
                <a:blip r:embed="rId2"/>
                <a:stretch>
                  <a:fillRect l="-45" t="-262" r="-862" b="-229"/>
                </a:stretch>
              </a:blipFill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内容占位符 5"/>
          <p:cNvSpPr>
            <a:spLocks noGrp="1"/>
          </p:cNvSpPr>
          <p:nvPr/>
        </p:nvSpPr>
        <p:spPr>
          <a:xfrm>
            <a:off x="0" y="453390"/>
            <a:ext cx="12192000" cy="398780"/>
          </a:xfrm>
          <a:prstGeom prst="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SzPct val="85000"/>
              <a:buFont typeface="Wingdings" panose="05000000000000000000" charset="0"/>
              <a:buChar char="q"/>
              <a:defRPr sz="3000" b="1" kern="1200">
                <a:solidFill>
                  <a:srgbClr val="1F2DA8"/>
                </a:solidFill>
                <a:latin typeface="楷体" panose="02010609060101010101" charset="-122"/>
                <a:ea typeface="楷体" panose="02010609060101010101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85000"/>
              <a:buFont typeface="Wingdings" panose="05000000000000000000" charset="0"/>
              <a:buChar char="Ø"/>
              <a:defRPr sz="2800" b="1" kern="1200">
                <a:solidFill>
                  <a:srgbClr val="1F2DA8"/>
                </a:solidFill>
                <a:latin typeface="楷体" panose="02010609060101010101" charset="-122"/>
                <a:ea typeface="楷体" panose="02010609060101010101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85000"/>
              <a:buFont typeface="Arial" panose="020B0604020202020204" pitchFamily="34" charset="0"/>
              <a:buChar char="●"/>
              <a:defRPr sz="2800" b="1" kern="1200">
                <a:solidFill>
                  <a:srgbClr val="1F2DA8"/>
                </a:solidFill>
                <a:latin typeface="楷体" panose="02010609060101010101" charset="-122"/>
                <a:ea typeface="楷体" panose="02010609060101010101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85000"/>
              <a:buFont typeface="Arial" panose="020B0604020202020204" pitchFamily="34" charset="0"/>
              <a:buChar char="‒"/>
              <a:defRPr sz="2800" b="1" kern="1200">
                <a:solidFill>
                  <a:srgbClr val="1F2DA8"/>
                </a:solidFill>
                <a:latin typeface="楷体" panose="02010609060101010101" charset="-122"/>
                <a:ea typeface="楷体" panose="02010609060101010101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85000"/>
              <a:buFont typeface="Wingdings" panose="05000000000000000000" charset="0"/>
              <a:buChar char=""/>
              <a:defRPr sz="2800" b="1" kern="1200">
                <a:solidFill>
                  <a:srgbClr val="1F2DA8"/>
                </a:solidFill>
                <a:latin typeface="楷体" panose="02010609060101010101" charset="-122"/>
                <a:ea typeface="楷体" panose="02010609060101010101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Bef>
                <a:spcPct val="0"/>
              </a:spcBef>
              <a:buNone/>
            </a:pPr>
            <a:r>
              <a:rPr lang="zh-CN" altLang="en-US" sz="2000">
                <a:solidFill>
                  <a:schemeClr val="tx1"/>
                </a:solidFill>
                <a:latin typeface="Calibri" panose="020F0502020204030204" charset="0"/>
                <a:ea typeface="华文细黑" panose="02010600040101010101" charset="-122"/>
                <a:cs typeface="Calibri" panose="020F0502020204030204" charset="0"/>
                <a:sym typeface="+mn-ea"/>
              </a:rPr>
              <a:t>（作业提交：</a:t>
            </a:r>
            <a:r>
              <a:rPr lang="en-US" altLang="zh-CN" sz="2000">
                <a:solidFill>
                  <a:schemeClr val="tx1"/>
                </a:solidFill>
                <a:latin typeface="Calibri" panose="020F0502020204030204" charset="0"/>
                <a:ea typeface="华文细黑" panose="02010600040101010101" charset="-122"/>
                <a:cs typeface="Calibri" panose="020F0502020204030204" charset="0"/>
                <a:sym typeface="+mn-ea"/>
              </a:rPr>
              <a:t>PDF</a:t>
            </a:r>
            <a:r>
              <a:rPr lang="zh-CN" altLang="en-US" sz="2000">
                <a:solidFill>
                  <a:schemeClr val="tx1"/>
                </a:solidFill>
                <a:latin typeface="Calibri" panose="020F0502020204030204" charset="0"/>
                <a:ea typeface="华文细黑" panose="02010600040101010101" charset="-122"/>
                <a:cs typeface="Calibri" panose="020F0502020204030204" charset="0"/>
                <a:sym typeface="+mn-ea"/>
              </a:rPr>
              <a:t>文件；提交截止时间：</a:t>
            </a:r>
            <a:r>
              <a:rPr lang="en-US" altLang="zh-CN" sz="2000">
                <a:solidFill>
                  <a:srgbClr val="FF0000"/>
                </a:solidFill>
                <a:latin typeface="Calibri" panose="020F0502020204030204" charset="0"/>
                <a:ea typeface="华文细黑" panose="02010600040101010101" charset="-122"/>
                <a:cs typeface="Calibri" panose="020F0502020204030204" charset="0"/>
                <a:sym typeface="+mn-ea"/>
              </a:rPr>
              <a:t>2026.05.31</a:t>
            </a:r>
            <a:r>
              <a:rPr lang="zh-CN" altLang="en-US" sz="2000">
                <a:solidFill>
                  <a:schemeClr val="tx1"/>
                </a:solidFill>
                <a:latin typeface="Calibri" panose="020F0502020204030204" charset="0"/>
                <a:ea typeface="华文细黑" panose="02010600040101010101" charset="-122"/>
                <a:cs typeface="Calibri" panose="020F0502020204030204" charset="0"/>
                <a:sym typeface="+mn-ea"/>
              </a:rPr>
              <a:t>）</a:t>
            </a:r>
            <a:endParaRPr lang="zh-CN" altLang="en-US" sz="2000">
              <a:solidFill>
                <a:schemeClr val="tx1"/>
              </a:solidFill>
              <a:latin typeface="Calibri" panose="020F0502020204030204" charset="0"/>
              <a:ea typeface="华文细黑" panose="02010600040101010101" charset="-122"/>
              <a:cs typeface="Calibri" panose="020F0502020204030204" charset="0"/>
              <a:sym typeface="+mn-ea"/>
            </a:endParaRPr>
          </a:p>
        </p:txBody>
      </p:sp>
      <p:sp>
        <p:nvSpPr>
          <p:cNvPr id="2" name="内容占位符 2"/>
          <p:cNvSpPr>
            <a:spLocks noGrp="1"/>
          </p:cNvSpPr>
          <p:nvPr/>
        </p:nvSpPr>
        <p:spPr>
          <a:xfrm>
            <a:off x="424180" y="4245610"/>
            <a:ext cx="11343005" cy="224536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vert="horz" lIns="91440" tIns="45720" rIns="91440" bIns="45720" rtlCol="0">
            <a:spAutoFit/>
          </a:bodyPr>
          <a:lstStyle>
            <a:lvl1pPr marL="360045" indent="-360045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85000"/>
              <a:buFont typeface="Wingdings" panose="05000000000000000000" charset="0"/>
              <a:buChar char="q"/>
              <a:defRPr sz="2800" b="1" kern="1200">
                <a:solidFill>
                  <a:srgbClr val="1F2DA8"/>
                </a:solidFill>
                <a:latin typeface="Arial" panose="020B0604020202020204" pitchFamily="34" charset="0"/>
                <a:ea typeface="楷体" panose="02010609060101010101" charset="-122"/>
                <a:cs typeface="+mn-cs"/>
              </a:defRPr>
            </a:lvl1pPr>
            <a:lvl2pPr marL="784860" indent="-327025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85000"/>
              <a:buFont typeface="Wingdings" panose="05000000000000000000" charset="0"/>
              <a:buChar char="Ø"/>
              <a:defRPr sz="2800" b="1" kern="1200">
                <a:solidFill>
                  <a:srgbClr val="1F2DA8"/>
                </a:solidFill>
                <a:latin typeface="Arial" panose="020B0604020202020204" pitchFamily="34" charset="0"/>
                <a:ea typeface="楷体" panose="02010609060101010101" charset="-122"/>
                <a:cs typeface="+mn-cs"/>
              </a:defRPr>
            </a:lvl2pPr>
            <a:lvl3pPr marL="1252855" indent="-33782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85000"/>
              <a:buFont typeface="Arial" panose="020B0604020202020204" pitchFamily="34" charset="0"/>
              <a:buChar char="●"/>
              <a:defRPr sz="2800" b="1" kern="1200">
                <a:solidFill>
                  <a:srgbClr val="1F2DA8"/>
                </a:solidFill>
                <a:latin typeface="Arial" panose="020B0604020202020204" pitchFamily="34" charset="0"/>
                <a:ea typeface="楷体" panose="02010609060101010101" charset="-122"/>
                <a:cs typeface="+mn-cs"/>
              </a:defRPr>
            </a:lvl3pPr>
            <a:lvl4pPr marL="1710055" indent="-33782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85000"/>
              <a:buFont typeface="Arial" panose="020B0604020202020204" pitchFamily="34" charset="0"/>
              <a:buChar char="‒"/>
              <a:defRPr sz="2800" b="1" kern="1200">
                <a:solidFill>
                  <a:srgbClr val="1F2DA8"/>
                </a:solidFill>
                <a:latin typeface="Arial" panose="020B0604020202020204" pitchFamily="34" charset="0"/>
                <a:ea typeface="楷体" panose="02010609060101010101" charset="-122"/>
                <a:cs typeface="+mn-cs"/>
              </a:defRPr>
            </a:lvl4pPr>
            <a:lvl5pPr marL="2156460" indent="-327025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85000"/>
              <a:buFont typeface="Wingdings" panose="05000000000000000000" charset="0"/>
              <a:buChar char=""/>
              <a:defRPr sz="2800" b="1" kern="1200">
                <a:solidFill>
                  <a:srgbClr val="1F2DA8"/>
                </a:solidFill>
                <a:latin typeface="Arial" panose="020B0604020202020204" pitchFamily="34" charset="0"/>
                <a:ea typeface="楷体" panose="02010609060101010101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lnSpc>
                <a:spcPct val="100000"/>
              </a:lnSpc>
              <a:spcAft>
                <a:spcPts val="0"/>
              </a:spcAft>
              <a:buFont typeface="+mj-ea"/>
              <a:buNone/>
            </a:pPr>
            <a:r>
              <a:rPr lang="zh-CN" altLang="en-US" sz="2000">
                <a:solidFill>
                  <a:srgbClr val="1F2DA8"/>
                </a:solidFill>
                <a:latin typeface="+mn-lt"/>
                <a:cs typeface="+mn-lt"/>
                <a:sym typeface="+mn-ea"/>
              </a:rPr>
              <a:t>三、设有某长途货运公司的车辆出行管理关系</a:t>
            </a:r>
            <a:r>
              <a:rPr lang="en-US" altLang="zh-CN" sz="2000">
                <a:solidFill>
                  <a:srgbClr val="1F2DA8"/>
                </a:solidFill>
                <a:latin typeface="+mn-lt"/>
                <a:cs typeface="+mn-lt"/>
                <a:sym typeface="+mn-ea"/>
              </a:rPr>
              <a:t> T(</a:t>
            </a:r>
            <a:r>
              <a:rPr lang="zh-CN" altLang="en-US" sz="2000">
                <a:solidFill>
                  <a:srgbClr val="1F2DA8"/>
                </a:solidFill>
                <a:latin typeface="+mn-lt"/>
                <a:cs typeface="+mn-lt"/>
                <a:sym typeface="+mn-ea"/>
              </a:rPr>
              <a:t>车辆车牌号</a:t>
            </a:r>
            <a:r>
              <a:rPr lang="en-US" altLang="zh-CN" sz="2000">
                <a:solidFill>
                  <a:srgbClr val="1F2DA8"/>
                </a:solidFill>
                <a:latin typeface="+mn-lt"/>
                <a:cs typeface="+mn-lt"/>
                <a:sym typeface="+mn-ea"/>
              </a:rPr>
              <a:t>, </a:t>
            </a:r>
            <a:r>
              <a:rPr lang="zh-CN" altLang="en-US" sz="2000">
                <a:solidFill>
                  <a:srgbClr val="1F2DA8"/>
                </a:solidFill>
                <a:latin typeface="+mn-lt"/>
                <a:cs typeface="+mn-lt"/>
                <a:sym typeface="+mn-ea"/>
              </a:rPr>
              <a:t>司机工号</a:t>
            </a:r>
            <a:r>
              <a:rPr lang="en-US" altLang="zh-CN" sz="2000">
                <a:solidFill>
                  <a:srgbClr val="1F2DA8"/>
                </a:solidFill>
                <a:latin typeface="+mn-lt"/>
                <a:cs typeface="+mn-lt"/>
                <a:sym typeface="+mn-ea"/>
              </a:rPr>
              <a:t>, </a:t>
            </a:r>
            <a:r>
              <a:rPr lang="zh-CN" altLang="en-US" sz="2000">
                <a:solidFill>
                  <a:srgbClr val="1F2DA8"/>
                </a:solidFill>
                <a:latin typeface="+mn-lt"/>
                <a:cs typeface="+mn-lt"/>
                <a:sym typeface="+mn-ea"/>
              </a:rPr>
              <a:t>出发时间</a:t>
            </a:r>
            <a:r>
              <a:rPr lang="en-US" altLang="zh-CN" sz="2000">
                <a:solidFill>
                  <a:srgbClr val="1F2DA8"/>
                </a:solidFill>
                <a:latin typeface="+mn-lt"/>
                <a:cs typeface="+mn-lt"/>
                <a:sym typeface="+mn-ea"/>
              </a:rPr>
              <a:t>, </a:t>
            </a:r>
            <a:r>
              <a:rPr lang="zh-CN" altLang="en-US" sz="2000">
                <a:solidFill>
                  <a:srgbClr val="1F2DA8"/>
                </a:solidFill>
                <a:latin typeface="+mn-lt"/>
                <a:cs typeface="+mn-lt"/>
                <a:sym typeface="+mn-ea"/>
              </a:rPr>
              <a:t>返回时间</a:t>
            </a:r>
            <a:r>
              <a:rPr lang="en-US" altLang="zh-CN" sz="2000">
                <a:solidFill>
                  <a:srgbClr val="1F2DA8"/>
                </a:solidFill>
                <a:latin typeface="+mn-lt"/>
                <a:cs typeface="+mn-lt"/>
                <a:sym typeface="+mn-ea"/>
              </a:rPr>
              <a:t>, </a:t>
            </a:r>
            <a:r>
              <a:rPr lang="zh-CN" altLang="en-US" sz="2000">
                <a:solidFill>
                  <a:srgbClr val="1F2DA8"/>
                </a:solidFill>
                <a:latin typeface="+mn-lt"/>
                <a:cs typeface="+mn-lt"/>
                <a:sym typeface="+mn-ea"/>
              </a:rPr>
              <a:t>里程数</a:t>
            </a:r>
            <a:r>
              <a:rPr lang="en-US" altLang="zh-CN" sz="2000">
                <a:solidFill>
                  <a:srgbClr val="1F2DA8"/>
                </a:solidFill>
                <a:latin typeface="+mn-lt"/>
                <a:cs typeface="+mn-lt"/>
                <a:sym typeface="+mn-ea"/>
              </a:rPr>
              <a:t>)</a:t>
            </a:r>
            <a:r>
              <a:rPr lang="zh-CN" altLang="en-US" sz="2000">
                <a:solidFill>
                  <a:srgbClr val="1F2DA8"/>
                </a:solidFill>
                <a:latin typeface="+mn-lt"/>
                <a:cs typeface="+mn-lt"/>
                <a:sym typeface="+mn-ea"/>
              </a:rPr>
              <a:t>，其中：</a:t>
            </a:r>
            <a:endParaRPr lang="zh-CN" altLang="en-US" sz="2000">
              <a:solidFill>
                <a:srgbClr val="1F2DA8"/>
              </a:solidFill>
              <a:latin typeface="+mn-lt"/>
              <a:cs typeface="+mn-lt"/>
              <a:sym typeface="+mn-ea"/>
            </a:endParaRPr>
          </a:p>
          <a:p>
            <a:pPr marL="914400" lvl="1" indent="-457200" fontAlgn="auto">
              <a:lnSpc>
                <a:spcPct val="100000"/>
              </a:lnSpc>
              <a:spcAft>
                <a:spcPts val="0"/>
              </a:spcAft>
              <a:buFont typeface="+mj-ea"/>
              <a:buAutoNum type="circleNumDbPlain"/>
            </a:pPr>
            <a:r>
              <a:rPr lang="zh-CN" altLang="en-US" sz="2000">
                <a:solidFill>
                  <a:srgbClr val="1F2DA8"/>
                </a:solidFill>
                <a:latin typeface="+mn-lt"/>
                <a:cs typeface="+mn-lt"/>
                <a:sym typeface="+mn-ea"/>
              </a:rPr>
              <a:t>车牌号、工号分别是车辆、司机的码；出发时间和返回时间的数据类型是时间戳。</a:t>
            </a:r>
            <a:endParaRPr lang="zh-CN" altLang="en-US" sz="2000">
              <a:solidFill>
                <a:srgbClr val="1F2DA8"/>
              </a:solidFill>
              <a:latin typeface="+mn-lt"/>
              <a:cs typeface="+mn-lt"/>
              <a:sym typeface="+mn-ea"/>
            </a:endParaRPr>
          </a:p>
          <a:p>
            <a:pPr marL="914400" lvl="1" indent="-457200" fontAlgn="auto">
              <a:lnSpc>
                <a:spcPct val="100000"/>
              </a:lnSpc>
              <a:spcAft>
                <a:spcPts val="0"/>
              </a:spcAft>
              <a:buFont typeface="+mj-ea"/>
              <a:buAutoNum type="circleNumDbPlain"/>
            </a:pPr>
            <a:r>
              <a:rPr lang="zh-CN" altLang="en-US" sz="2000">
                <a:solidFill>
                  <a:srgbClr val="1F2DA8"/>
                </a:solidFill>
                <a:latin typeface="+mn-lt"/>
                <a:cs typeface="+mn-lt"/>
                <a:sym typeface="+mn-ea"/>
              </a:rPr>
              <a:t>司机和车辆之间的驾驶关系不固定；每辆车每次出行允许安排多名司机，在出行途中不会改变一辆车上的司机安排。</a:t>
            </a:r>
            <a:endParaRPr lang="zh-CN" altLang="en-US" sz="2000">
              <a:solidFill>
                <a:srgbClr val="1F2DA8"/>
              </a:solidFill>
              <a:latin typeface="+mn-lt"/>
              <a:cs typeface="+mn-lt"/>
              <a:sym typeface="+mn-ea"/>
            </a:endParaRPr>
          </a:p>
          <a:p>
            <a:pPr marL="457200" indent="-457200" fontAlgn="auto">
              <a:lnSpc>
                <a:spcPct val="100000"/>
              </a:lnSpc>
              <a:spcAft>
                <a:spcPts val="0"/>
              </a:spcAft>
              <a:buFont typeface="+mj-ea"/>
              <a:buAutoNum type="arabicPeriod"/>
            </a:pPr>
            <a:r>
              <a:rPr lang="zh-CN" altLang="en-US" sz="2000">
                <a:solidFill>
                  <a:srgbClr val="1F2DA8"/>
                </a:solidFill>
                <a:latin typeface="+mn-lt"/>
                <a:cs typeface="+mn-lt"/>
                <a:sym typeface="+mn-ea"/>
              </a:rPr>
              <a:t>请写出该关系上的极小函数依赖集。（不需要写过程）</a:t>
            </a:r>
            <a:endParaRPr lang="zh-CN" altLang="en-US" sz="2000">
              <a:solidFill>
                <a:srgbClr val="1F2DA8"/>
              </a:solidFill>
              <a:latin typeface="+mn-lt"/>
              <a:cs typeface="+mn-lt"/>
              <a:sym typeface="+mn-ea"/>
            </a:endParaRPr>
          </a:p>
          <a:p>
            <a:pPr marL="457200" indent="-457200" fontAlgn="auto">
              <a:lnSpc>
                <a:spcPct val="100000"/>
              </a:lnSpc>
              <a:spcAft>
                <a:spcPts val="0"/>
              </a:spcAft>
              <a:buFont typeface="+mj-ea"/>
              <a:buAutoNum type="arabicPeriod"/>
            </a:pPr>
            <a:r>
              <a:rPr lang="zh-CN" altLang="en-US" sz="2000">
                <a:solidFill>
                  <a:srgbClr val="1F2DA8"/>
                </a:solidFill>
                <a:latin typeface="+mn-lt"/>
                <a:cs typeface="+mn-lt"/>
                <a:sym typeface="+mn-ea"/>
              </a:rPr>
              <a:t>该关系最高能够满足到第几范式？请简单说明理由。</a:t>
            </a:r>
            <a:endParaRPr lang="zh-CN" altLang="en-US" sz="2000">
              <a:solidFill>
                <a:srgbClr val="1F2DA8"/>
              </a:solidFill>
              <a:latin typeface="+mn-lt"/>
              <a:cs typeface="+mn-lt"/>
              <a:sym typeface="+mn-ea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advClick="0"/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COMMONDATA" val="eyJoZGlkIjoiNTI5YzE2YjhjOTAyMGY4ZmQ1YzBlZjA5NzU0NTU1NmQifQ=="/>
  <p:tag name="RESOURCE_RECORD_KEY" val="{&quot;70&quot;:[3314500]}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589</Words>
  <Application>WPS 演示</Application>
  <PresentationFormat>宽屏</PresentationFormat>
  <Paragraphs>18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3" baseType="lpstr">
      <vt:lpstr>Arial</vt:lpstr>
      <vt:lpstr>宋体</vt:lpstr>
      <vt:lpstr>Wingdings</vt:lpstr>
      <vt:lpstr>楷体</vt:lpstr>
      <vt:lpstr>Wingdings</vt:lpstr>
      <vt:lpstr>华文细黑</vt:lpstr>
      <vt:lpstr>Cambria Math</vt:lpstr>
      <vt:lpstr>MS Mincho</vt:lpstr>
      <vt:lpstr>Calibri</vt:lpstr>
      <vt:lpstr>微软雅黑</vt:lpstr>
      <vt:lpstr>Arial Unicode MS</vt:lpstr>
      <vt:lpstr>WPS</vt:lpstr>
      <vt:lpstr>DB2605 - 关系规范化设计（01班）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pc403</dc:creator>
  <cp:lastModifiedBy>百老汇</cp:lastModifiedBy>
  <cp:revision>389</cp:revision>
  <dcterms:created xsi:type="dcterms:W3CDTF">2023-08-09T12:44:00Z</dcterms:created>
  <dcterms:modified xsi:type="dcterms:W3CDTF">2026-05-19T14:06:19Z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BB346D12A13D4F13A649D5AA0FE72060_13</vt:lpwstr>
  </property>
  <property fmtid="{D5CDD505-2E9C-101B-9397-08002B2CF9AE}" pid="3" name="KSOProductBuildVer">
    <vt:lpwstr>2052-12.1.0.26373</vt:lpwstr>
  </property>
</Properties>
</file>