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2"/>
  </p:handoutMasterIdLst>
  <p:sldIdLst>
    <p:sldId id="687" r:id="rId3"/>
    <p:sldId id="990" r:id="rId5"/>
    <p:sldId id="1006" r:id="rId6"/>
    <p:sldId id="1030" r:id="rId7"/>
    <p:sldId id="1007" r:id="rId8"/>
    <p:sldId id="1008" r:id="rId9"/>
    <p:sldId id="1032" r:id="rId10"/>
    <p:sldId id="1017" r:id="rId11"/>
    <p:sldId id="1149" r:id="rId12"/>
    <p:sldId id="1019" r:id="rId13"/>
    <p:sldId id="1020" r:id="rId14"/>
    <p:sldId id="1036" r:id="rId15"/>
    <p:sldId id="1037" r:id="rId16"/>
    <p:sldId id="1038" r:id="rId17"/>
    <p:sldId id="1039" r:id="rId18"/>
    <p:sldId id="1035" r:id="rId19"/>
    <p:sldId id="1021" r:id="rId20"/>
    <p:sldId id="1022" r:id="rId21"/>
    <p:sldId id="1023" r:id="rId22"/>
    <p:sldId id="1024" r:id="rId23"/>
    <p:sldId id="1083" r:id="rId24"/>
    <p:sldId id="1025" r:id="rId25"/>
    <p:sldId id="1027" r:id="rId26"/>
    <p:sldId id="1092" r:id="rId27"/>
    <p:sldId id="1093" r:id="rId28"/>
    <p:sldId id="1094" r:id="rId29"/>
    <p:sldId id="1095" r:id="rId30"/>
    <p:sldId id="1084" r:id="rId31"/>
    <p:sldId id="1085" r:id="rId32"/>
    <p:sldId id="1097" r:id="rId33"/>
    <p:sldId id="1099" r:id="rId34"/>
    <p:sldId id="1098" r:id="rId35"/>
    <p:sldId id="1100" r:id="rId36"/>
    <p:sldId id="1096" r:id="rId37"/>
    <p:sldId id="1087" r:id="rId38"/>
    <p:sldId id="1088" r:id="rId39"/>
    <p:sldId id="1089" r:id="rId40"/>
    <p:sldId id="1090"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68.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2024.3.15  17:17</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A7D1B64-3B7B-4749-BCFC-E584430C4BBF}"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ch01_绪论</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00" y="604520"/>
            <a:ext cx="558000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229995"/>
            <a:ext cx="5579745"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604520"/>
            <a:ext cx="558927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229995"/>
            <a:ext cx="5589270"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ch01_绪论</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ch01_绪论</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ch01_绪论</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ch01_绪论</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5365"/>
            <a:ext cx="4114800" cy="153670"/>
          </a:xfrm>
          <a:prstGeom prst="rect">
            <a:avLst/>
          </a:prstGeom>
        </p:spPr>
        <p:txBody>
          <a:bodyPr vert="horz" lIns="91440" tIns="0" rIns="91440" bIns="0" rtlCol="0" anchor="ctr">
            <a:spAutoFit/>
          </a:bodyPr>
          <a:lstStyle>
            <a:lvl1pPr algn="l">
              <a:defRPr sz="1000" b="1" i="0">
                <a:solidFill>
                  <a:schemeClr val="tx1">
                    <a:tint val="75000"/>
                  </a:schemeClr>
                </a:solidFill>
                <a:latin typeface="+mn-lt"/>
                <a:ea typeface="楷体" panose="02010609060101010101" charset="-122"/>
                <a:cs typeface="+mn-lt"/>
              </a:defRPr>
            </a:lvl1pPr>
          </a:lstStyle>
          <a:p>
            <a:r>
              <a:rPr lang="zh-CN" altLang="en-US"/>
              <a:t>ch01_绪论</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360680" indent="-36068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楷体" panose="02010609060101010101" charset="-122"/>
          <a:ea typeface="楷体" panose="02010609060101010101" charset="-122"/>
          <a:cs typeface="+mn-cs"/>
        </a:defRPr>
      </a:lvl1pPr>
      <a:lvl2pPr marL="6858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4pPr>
      <a:lvl5pPr marL="20574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
        <a:defRPr sz="24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8" Type="http://schemas.openxmlformats.org/officeDocument/2006/relationships/slideLayout" Target="../slideLayouts/slideLayout2.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8" Type="http://schemas.openxmlformats.org/officeDocument/2006/relationships/slideLayout" Target="../slideLayouts/slideLayout2.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21.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3" Type="http://schemas.openxmlformats.org/officeDocument/2006/relationships/slideLayout" Target="../slideLayouts/slideLayout2.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4.png"/><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5.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image" Target="../media/image16.png"/><Relationship Id="rId4" Type="http://schemas.openxmlformats.org/officeDocument/2006/relationships/tags" Target="../tags/tag63.xml"/><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6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（2025 春季）</a:t>
            </a:r>
            <a:endPar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sp>
        <p:nvSpPr>
          <p:cNvPr id="8" name="文本框 7"/>
          <p:cNvSpPr txBox="1"/>
          <p:nvPr>
            <p:custDataLst>
              <p:tags r:id="rId3"/>
            </p:custDataLst>
          </p:nvPr>
        </p:nvSpPr>
        <p:spPr>
          <a:xfrm>
            <a:off x="2484000" y="1924685"/>
            <a:ext cx="7228840" cy="1014730"/>
          </a:xfrm>
          <a:prstGeom prst="rect">
            <a:avLst/>
          </a:prstGeom>
          <a:noFill/>
        </p:spPr>
        <p:txBody>
          <a:bodyPr wrap="square" rtlCol="0">
            <a:spAutoFit/>
          </a:bodyPr>
          <a:p>
            <a:pPr algn="ct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第</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1</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章</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  </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绪论</a:t>
            </a:r>
            <a:endPar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4"/>
            </p:custDataLst>
          </p:nvPr>
        </p:nvSpPr>
        <p:spPr>
          <a:xfrm>
            <a:off x="4690110" y="3429000"/>
            <a:ext cx="2817495" cy="645160"/>
          </a:xfrm>
          <a:prstGeom prst="rect">
            <a:avLst/>
          </a:prstGeom>
          <a:noFill/>
        </p:spPr>
        <p:txBody>
          <a:bodyPr wrap="square" rtlCol="0">
            <a:spAutoFit/>
          </a:bodyPr>
          <a:p>
            <a:pPr algn="ctr"/>
            <a:r>
              <a:rPr lang="zh-CN" altLang="en-US" sz="3600" b="1">
                <a:solidFill>
                  <a:schemeClr val="bg1"/>
                </a:solidFill>
              </a:rPr>
              <a:t>（</a:t>
            </a:r>
            <a:r>
              <a:rPr lang="en-US" altLang="zh-CN" sz="3600" b="1">
                <a:solidFill>
                  <a:schemeClr val="bg1"/>
                </a:solidFill>
              </a:rPr>
              <a:t>2</a:t>
            </a:r>
            <a:r>
              <a:rPr lang="zh-CN" altLang="en-US" sz="3600" b="1">
                <a:solidFill>
                  <a:schemeClr val="bg1"/>
                </a:solidFill>
              </a:rPr>
              <a:t>）</a:t>
            </a:r>
            <a:endParaRPr lang="zh-CN" altLang="en-US" sz="3600" b="1">
              <a:solidFill>
                <a:schemeClr val="bg1"/>
              </a:solidFill>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CN"/>
              <a:t>1.2  </a:t>
            </a:r>
            <a:r>
              <a:rPr lang="zh-CN" altLang="en-US"/>
              <a:t>数据模型</a:t>
            </a:r>
            <a:endParaRPr lang="zh-CN" altLang="en-US" dirty="0"/>
          </a:p>
        </p:txBody>
      </p:sp>
      <p:sp>
        <p:nvSpPr>
          <p:cNvPr id="54275" name="Rectangle 3"/>
          <p:cNvSpPr>
            <a:spLocks noGrp="1" noChangeArrowheads="1"/>
          </p:cNvSpPr>
          <p:nvPr>
            <p:ph idx="1"/>
          </p:nvPr>
        </p:nvSpPr>
        <p:spPr/>
        <p:txBody>
          <a:bodyPr>
            <a:normAutofit lnSpcReduction="20000"/>
          </a:bodyPr>
          <a:lstStyle/>
          <a:p>
            <a:pPr>
              <a:lnSpc>
                <a:spcPct val="150000"/>
              </a:lnSpc>
            </a:pPr>
            <a:r>
              <a:rPr lang="zh-CN" altLang="en-US" dirty="0"/>
              <a:t>数据模型是对现实世界数据特征的抽象，用以</a:t>
            </a:r>
            <a:r>
              <a:rPr lang="en-US" altLang="zh-CN" dirty="0"/>
              <a:t> </a:t>
            </a:r>
            <a:r>
              <a:rPr lang="zh-CN" altLang="en-US" b="1" u="sng" kern="0" dirty="0">
                <a:latin typeface="+mn-lt"/>
                <a:ea typeface="+mn-ea"/>
              </a:rPr>
              <a:t>抽象、表示和处理</a:t>
            </a:r>
            <a:r>
              <a:rPr lang="zh-CN" altLang="en-US" kern="0" dirty="0">
                <a:latin typeface="+mn-lt"/>
                <a:ea typeface="+mn-ea"/>
              </a:rPr>
              <a:t>现实世界中的数据和信息</a:t>
            </a:r>
            <a:r>
              <a:rPr lang="zh-CN" altLang="en-US" b="0" kern="0" dirty="0">
                <a:latin typeface="+mn-lt"/>
                <a:ea typeface="+mn-ea"/>
              </a:rPr>
              <a:t>（</a:t>
            </a:r>
            <a:r>
              <a:rPr lang="zh-CN" altLang="en-US" i="1" kern="0" dirty="0">
                <a:cs typeface="楷体" panose="02010609060101010101" charset="-122"/>
              </a:rPr>
              <a:t>描述数据、组织数据、操作</a:t>
            </a:r>
            <a:r>
              <a:rPr lang="en-US" altLang="zh-CN" i="1" kern="0" dirty="0">
                <a:cs typeface="楷体" panose="02010609060101010101" charset="-122"/>
              </a:rPr>
              <a:t>/</a:t>
            </a:r>
            <a:r>
              <a:rPr lang="zh-CN" altLang="en-US" i="1" kern="0" dirty="0">
                <a:cs typeface="楷体" panose="02010609060101010101" charset="-122"/>
              </a:rPr>
              <a:t>访问数据</a:t>
            </a:r>
            <a:r>
              <a:rPr lang="zh-CN" altLang="en-US" b="0" kern="0" dirty="0">
                <a:latin typeface="+mn-lt"/>
                <a:ea typeface="+mn-ea"/>
              </a:rPr>
              <a:t>）</a:t>
            </a:r>
            <a:endParaRPr lang="zh-CN" altLang="en-US" b="0" kern="0" dirty="0">
              <a:latin typeface="+mn-lt"/>
              <a:ea typeface="+mn-ea"/>
            </a:endParaRPr>
          </a:p>
          <a:p>
            <a:pPr lvl="1">
              <a:lnSpc>
                <a:spcPct val="130000"/>
              </a:lnSpc>
              <a:spcBef>
                <a:spcPts val="1000"/>
              </a:spcBef>
            </a:pPr>
            <a:r>
              <a:rPr lang="zh-CN" altLang="en-US">
                <a:solidFill>
                  <a:srgbClr val="C00000"/>
                </a:solidFill>
                <a:sym typeface="+mn-ea"/>
              </a:rPr>
              <a:t>用</a:t>
            </a:r>
            <a:r>
              <a:rPr lang="en-US" altLang="zh-CN" b="0">
                <a:solidFill>
                  <a:srgbClr val="C00000"/>
                </a:solidFill>
                <a:latin typeface="Times New Roman" panose="02020603050405020304" pitchFamily="2" charset="0"/>
                <a:cs typeface="Times New Roman" panose="02020603050405020304" pitchFamily="2" charset="0"/>
                <a:sym typeface="+mn-ea"/>
              </a:rPr>
              <a:t>‘</a:t>
            </a:r>
            <a:r>
              <a:rPr lang="zh-CN" altLang="en-US">
                <a:solidFill>
                  <a:srgbClr val="C00000"/>
                </a:solidFill>
                <a:effectLst/>
                <a:latin typeface="Times New Roman" panose="02020603050405020304" pitchFamily="2" charset="0"/>
                <a:cs typeface="Times New Roman" panose="02020603050405020304" pitchFamily="2" charset="0"/>
                <a:sym typeface="+mn-ea"/>
              </a:rPr>
              <a:t>数据模型</a:t>
            </a:r>
            <a:r>
              <a:rPr lang="en-US" altLang="zh-CN" b="0">
                <a:solidFill>
                  <a:srgbClr val="C00000"/>
                </a:solidFill>
                <a:effectLst>
                  <a:outerShdw blurRad="38100" dist="38100" dir="2700000">
                    <a:srgbClr val="000000"/>
                  </a:outerShdw>
                </a:effectLst>
                <a:latin typeface="Times New Roman" panose="02020603050405020304" pitchFamily="2" charset="0"/>
                <a:cs typeface="Times New Roman" panose="02020603050405020304" pitchFamily="2" charset="0"/>
                <a:sym typeface="+mn-ea"/>
              </a:rPr>
              <a:t>’</a:t>
            </a:r>
            <a:r>
              <a:rPr lang="zh-CN" altLang="en-US">
                <a:solidFill>
                  <a:srgbClr val="C00000"/>
                </a:solidFill>
                <a:sym typeface="+mn-ea"/>
              </a:rPr>
              <a:t>来描述现实世界中的数据及其相互关系，并定义在这些数据上可以执行的操作。</a:t>
            </a:r>
            <a:endParaRPr lang="en-US" altLang="zh-CN" dirty="0"/>
          </a:p>
          <a:p>
            <a:pPr>
              <a:lnSpc>
                <a:spcPct val="150000"/>
              </a:lnSpc>
            </a:pPr>
            <a:r>
              <a:rPr lang="zh-CN" altLang="en-US" dirty="0"/>
              <a:t>数据模型应满足三方面要求</a:t>
            </a:r>
            <a:endParaRPr lang="zh-CN" altLang="en-US" dirty="0"/>
          </a:p>
          <a:p>
            <a:pPr lvl="1">
              <a:lnSpc>
                <a:spcPct val="150000"/>
              </a:lnSpc>
            </a:pPr>
            <a:r>
              <a:rPr lang="zh-CN" altLang="en-US" dirty="0"/>
              <a:t>能比较真实地</a:t>
            </a:r>
            <a:r>
              <a:rPr lang="zh-CN" altLang="en-US" dirty="0">
                <a:solidFill>
                  <a:srgbClr val="C00000"/>
                </a:solidFill>
              </a:rPr>
              <a:t>模拟</a:t>
            </a:r>
            <a:r>
              <a:rPr lang="zh-CN" altLang="en-US" dirty="0"/>
              <a:t>现实世界</a:t>
            </a:r>
            <a:endParaRPr lang="zh-CN" altLang="en-US" dirty="0"/>
          </a:p>
          <a:p>
            <a:pPr lvl="1">
              <a:lnSpc>
                <a:spcPct val="150000"/>
              </a:lnSpc>
            </a:pPr>
            <a:r>
              <a:rPr lang="zh-CN" altLang="en-US" dirty="0">
                <a:solidFill>
                  <a:srgbClr val="C00000"/>
                </a:solidFill>
              </a:rPr>
              <a:t>容易</a:t>
            </a:r>
            <a:r>
              <a:rPr lang="zh-CN" altLang="en-US" dirty="0"/>
              <a:t>为人所</a:t>
            </a:r>
            <a:r>
              <a:rPr lang="zh-CN" altLang="en-US" dirty="0">
                <a:solidFill>
                  <a:srgbClr val="C00000"/>
                </a:solidFill>
              </a:rPr>
              <a:t>理解</a:t>
            </a:r>
            <a:endParaRPr lang="zh-CN" altLang="en-US" dirty="0"/>
          </a:p>
          <a:p>
            <a:pPr lvl="1">
              <a:lnSpc>
                <a:spcPct val="150000"/>
              </a:lnSpc>
            </a:pPr>
            <a:r>
              <a:rPr lang="zh-CN" altLang="en-US" dirty="0">
                <a:solidFill>
                  <a:srgbClr val="C00000"/>
                </a:solidFill>
              </a:rPr>
              <a:t>便于</a:t>
            </a:r>
            <a:r>
              <a:rPr lang="zh-CN" altLang="en-US" dirty="0"/>
              <a:t>在计算机上</a:t>
            </a:r>
            <a:r>
              <a:rPr lang="zh-CN" altLang="en-US" dirty="0">
                <a:solidFill>
                  <a:srgbClr val="C00000"/>
                </a:solidFill>
              </a:rPr>
              <a:t>实现</a:t>
            </a:r>
            <a:endParaRPr lang="en-US" altLang="zh-CN" dirty="0"/>
          </a:p>
          <a:p>
            <a:pPr>
              <a:lnSpc>
                <a:spcPct val="150000"/>
              </a:lnSpc>
            </a:pPr>
            <a:r>
              <a:rPr lang="zh-CN" altLang="en-US" dirty="0"/>
              <a:t>数据模型是数据库系统的</a:t>
            </a:r>
            <a:r>
              <a:rPr lang="zh-CN" altLang="en-US" dirty="0">
                <a:solidFill>
                  <a:srgbClr val="C00000"/>
                </a:solidFill>
              </a:rPr>
              <a:t>核心和基础</a:t>
            </a:r>
            <a:endParaRPr lang="zh-CN" altLang="en-US" dirty="0">
              <a:solidFill>
                <a:srgbClr val="C00000"/>
              </a:solidFill>
            </a:endParaRPr>
          </a:p>
        </p:txBody>
      </p:sp>
      <p:pic>
        <p:nvPicPr>
          <p:cNvPr id="6" name="图片 5"/>
          <p:cNvPicPr>
            <a:picLocks noChangeAspect="1"/>
          </p:cNvPicPr>
          <p:nvPr>
            <p:custDataLst>
              <p:tags r:id="rId1"/>
            </p:custDataLst>
          </p:nvPr>
        </p:nvPicPr>
        <p:blipFill>
          <a:blip r:embed="rId2"/>
          <a:stretch>
            <a:fillRect/>
          </a:stretch>
        </p:blipFill>
        <p:spPr>
          <a:xfrm>
            <a:off x="7884795" y="2599690"/>
            <a:ext cx="3399790" cy="3966845"/>
          </a:xfrm>
          <a:prstGeom prst="rect">
            <a:avLst/>
          </a:prstGeom>
        </p:spPr>
      </p:pic>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Effect transition="in" filter="blinds(horizontal)">
                                      <p:cBhvr>
                                        <p:cTn id="7" dur="500"/>
                                        <p:tgtEl>
                                          <p:spTgt spid="542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12" dur="500"/>
                                        <p:tgtEl>
                                          <p:spTgt spid="54275">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4275">
                                            <p:txEl>
                                              <p:pRg st="3" end="3"/>
                                            </p:txEl>
                                          </p:spTgt>
                                        </p:tgtEl>
                                        <p:attrNameLst>
                                          <p:attrName>style.visibility</p:attrName>
                                        </p:attrNameLst>
                                      </p:cBhvr>
                                      <p:to>
                                        <p:strVal val="visible"/>
                                      </p:to>
                                    </p:set>
                                    <p:animEffect transition="in" filter="blinds(horizontal)">
                                      <p:cBhvr>
                                        <p:cTn id="15" dur="500"/>
                                        <p:tgtEl>
                                          <p:spTgt spid="5427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4275">
                                            <p:txEl>
                                              <p:pRg st="4" end="4"/>
                                            </p:txEl>
                                          </p:spTgt>
                                        </p:tgtEl>
                                        <p:attrNameLst>
                                          <p:attrName>style.visibility</p:attrName>
                                        </p:attrNameLst>
                                      </p:cBhvr>
                                      <p:to>
                                        <p:strVal val="visible"/>
                                      </p:to>
                                    </p:set>
                                    <p:animEffect transition="in" filter="blinds(horizontal)">
                                      <p:cBhvr>
                                        <p:cTn id="18" dur="500"/>
                                        <p:tgtEl>
                                          <p:spTgt spid="5427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4275">
                                            <p:txEl>
                                              <p:pRg st="5" end="5"/>
                                            </p:txEl>
                                          </p:spTgt>
                                        </p:tgtEl>
                                        <p:attrNameLst>
                                          <p:attrName>style.visibility</p:attrName>
                                        </p:attrNameLst>
                                      </p:cBhvr>
                                      <p:to>
                                        <p:strVal val="visible"/>
                                      </p:to>
                                    </p:set>
                                    <p:animEffect transition="in" filter="blinds(horizontal)">
                                      <p:cBhvr>
                                        <p:cTn id="21" dur="500"/>
                                        <p:tgtEl>
                                          <p:spTgt spid="5427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4275">
                                            <p:txEl>
                                              <p:pRg st="6" end="6"/>
                                            </p:txEl>
                                          </p:spTgt>
                                        </p:tgtEl>
                                        <p:attrNameLst>
                                          <p:attrName>style.visibility</p:attrName>
                                        </p:attrNameLst>
                                      </p:cBhvr>
                                      <p:to>
                                        <p:strVal val="visible"/>
                                      </p:to>
                                    </p:set>
                                    <p:anim calcmode="lin" valueType="num">
                                      <p:cBhvr additive="base">
                                        <p:cTn id="26" dur="500" fill="hold"/>
                                        <p:tgtEl>
                                          <p:spTgt spid="54275">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427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p:txBody>
          <a:bodyPr wrap="square" tIns="0" bIns="0" anchor="ctr"/>
          <a:p>
            <a:pPr eaLnBrk="1" hangingPunct="1"/>
            <a:r>
              <a:rPr lang="en-US" altLang="zh-CN">
                <a:sym typeface="+mn-ea"/>
              </a:rPr>
              <a:t>1.2.1  </a:t>
            </a:r>
            <a:r>
              <a:rPr lang="zh-CN" altLang="en-US">
                <a:sym typeface="+mn-ea"/>
              </a:rPr>
              <a:t>两类数据模型</a:t>
            </a:r>
            <a:endParaRPr lang="zh-CN" altLang="en-US"/>
          </a:p>
        </p:txBody>
      </p:sp>
      <p:sp>
        <p:nvSpPr>
          <p:cNvPr id="11267" name="Rectangle 3"/>
          <p:cNvSpPr>
            <a:spLocks noGrp="1"/>
          </p:cNvSpPr>
          <p:nvPr>
            <p:ph idx="1"/>
          </p:nvPr>
        </p:nvSpPr>
        <p:spPr>
          <a:xfrm>
            <a:off x="424180" y="687070"/>
            <a:ext cx="11343005" cy="1614805"/>
          </a:xfrm>
        </p:spPr>
        <p:txBody>
          <a:bodyPr vert="horz" wrap="square" anchor="t">
            <a:spAutoFit/>
          </a:bodyPr>
          <a:p>
            <a:pPr lvl="0" eaLnBrk="1" fontAlgn="base" hangingPunct="1"/>
            <a:r>
              <a:rPr lang="zh-CN" altLang="en-US" strike="noStrike" noProof="1" dirty="0"/>
              <a:t>数据模型是数据库系统的核心和</a:t>
            </a:r>
            <a:r>
              <a:rPr lang="zh-CN" altLang="en-US" strike="noStrike" noProof="1" dirty="0"/>
              <a:t>基础，如何将现实世界中我们需要的数据及其复杂关系最终反映到数据库中去，这需要有一个逐步转化的过程。</a:t>
            </a:r>
            <a:endParaRPr lang="zh-CN" altLang="en-US" strike="noStrike" noProof="1" dirty="0"/>
          </a:p>
        </p:txBody>
      </p:sp>
      <p:sp>
        <p:nvSpPr>
          <p:cNvPr id="3" name="Rectangle 3"/>
          <p:cNvSpPr>
            <a:spLocks noGrp="1"/>
          </p:cNvSpPr>
          <p:nvPr/>
        </p:nvSpPr>
        <p:spPr>
          <a:xfrm>
            <a:off x="424180" y="2480310"/>
            <a:ext cx="11343005" cy="4052570"/>
          </a:xfrm>
          <a:prstGeom prst="rect">
            <a:avLst/>
          </a:prstGeom>
          <a:noFill/>
          <a:ln w="9525">
            <a:noFill/>
          </a:ln>
        </p:spPr>
        <p:txBody>
          <a:bodyPr vert="horz" wrap="square" anchor="t">
            <a:spAutoFit/>
          </a:bodyPr>
          <a:lstStyle>
            <a:lvl1pPr marL="342900" lvl="0" indent="-342900" algn="l" defTabSz="914400" eaLnBrk="0" fontAlgn="base" latinLnBrk="0" hangingPunct="0">
              <a:lnSpc>
                <a:spcPct val="12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9pPr>
          </a:lstStyle>
          <a:p>
            <a:pPr lvl="0" eaLnBrk="1" fontAlgn="base" hangingPunct="1">
              <a:lnSpc>
                <a:spcPct val="100000"/>
              </a:lnSpc>
              <a:buClr>
                <a:srgbClr val="C00000"/>
              </a:buClr>
              <a:buSzPct val="85000"/>
            </a:pP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我们用</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建立在不同抽象层次上的</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dirty="0">
                <a:solidFill>
                  <a:srgbClr val="FF0000"/>
                </a:solidFill>
                <a:effectLst>
                  <a:outerShdw blurRad="38100" dist="38100" dir="2700000">
                    <a:srgbClr val="000000"/>
                  </a:outerShdw>
                </a:effectLst>
                <a:latin typeface="Times New Roman" panose="02020603050405020304" pitchFamily="2" charset="0"/>
                <a:ea typeface="楷体" panose="02010609060101010101" charset="-122"/>
                <a:cs typeface="Times New Roman" panose="02020603050405020304" pitchFamily="2" charset="0"/>
              </a:rPr>
              <a:t>数据模型</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来表示每一步转化的结果（两大类、共三种类型</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的数据</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模型）</a:t>
            </a:r>
            <a:endPar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2" indent="-354330" eaLnBrk="1" fontAlgn="base" hangingPunct="1">
              <a:lnSpc>
                <a:spcPct val="100000"/>
              </a:lnSpc>
              <a:buClr>
                <a:srgbClr val="C00000"/>
              </a:buClr>
              <a:buSzPct val="85000"/>
              <a:buFont typeface="Wingdings" panose="05000000000000000000" charset="0"/>
              <a:buChar char="Ø"/>
            </a:pPr>
            <a:r>
              <a:rPr lang="zh-CN" altLang="en-US" sz="2800" strike="noStrike" noProof="1" dirty="0">
                <a:solidFill>
                  <a:srgbClr val="FF0000"/>
                </a:solidFill>
                <a:latin typeface="Times New Roman" panose="02020603050405020304" pitchFamily="2" charset="0"/>
                <a:ea typeface="楷体" panose="02010609060101010101" charset="-122"/>
                <a:cs typeface="Times New Roman" panose="02020603050405020304" pitchFamily="2" charset="0"/>
              </a:rPr>
              <a:t>概念数据模型</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en-US" altLang="x-none"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conceptual data model)</a:t>
            </a:r>
            <a:endParaRPr lang="en-US" altLang="x-none"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eaLnBrk="1" fontAlgn="base" hangingPunct="1">
              <a:lnSpc>
                <a:spcPct val="100000"/>
              </a:lnSpc>
              <a:spcBef>
                <a:spcPts val="0"/>
              </a:spcBef>
              <a:spcAft>
                <a:spcPts val="1000"/>
              </a:spcAft>
            </a:pP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又简称为 </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dirty="0">
                <a:solidFill>
                  <a:srgbClr val="FF0000"/>
                </a:solidFill>
                <a:latin typeface="Times New Roman" panose="02020603050405020304" pitchFamily="2" charset="0"/>
                <a:ea typeface="楷体" panose="02010609060101010101" charset="-122"/>
                <a:cs typeface="Times New Roman" panose="02020603050405020304" pitchFamily="2" charset="0"/>
              </a:rPr>
              <a:t>概念模型</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2" indent="-335280" eaLnBrk="1" fontAlgn="base" hangingPunct="1">
              <a:lnSpc>
                <a:spcPct val="100000"/>
              </a:lnSpc>
              <a:buClr>
                <a:srgbClr val="C00000"/>
              </a:buClr>
              <a:buSzPct val="85000"/>
              <a:buFont typeface="Wingdings" panose="05000000000000000000" charset="0"/>
              <a:buChar char="Ø"/>
            </a:pPr>
            <a:r>
              <a:rPr lang="zh-CN" altLang="en-US" sz="2800" strike="noStrike" noProof="1" dirty="0">
                <a:solidFill>
                  <a:srgbClr val="FF0000"/>
                </a:solidFill>
                <a:latin typeface="Times New Roman" panose="02020603050405020304" pitchFamily="2" charset="0"/>
                <a:ea typeface="楷体" panose="02010609060101010101" charset="-122"/>
                <a:cs typeface="Times New Roman" panose="02020603050405020304" pitchFamily="2" charset="0"/>
              </a:rPr>
              <a:t>逻辑数据模型</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en-US" altLang="x-none"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logic data model)</a:t>
            </a:r>
            <a:endParaRPr lang="en-US" altLang="x-none"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eaLnBrk="1" fontAlgn="base" hangingPunct="1">
              <a:lnSpc>
                <a:spcPct val="100000"/>
              </a:lnSpc>
              <a:spcBef>
                <a:spcPts val="0"/>
              </a:spcBef>
              <a:spcAft>
                <a:spcPts val="1000"/>
              </a:spcAft>
            </a:pP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又简称为 </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dirty="0">
                <a:solidFill>
                  <a:srgbClr val="FF0000"/>
                </a:solidFill>
                <a:latin typeface="Times New Roman" panose="02020603050405020304" pitchFamily="2" charset="0"/>
                <a:ea typeface="楷体" panose="02010609060101010101" charset="-122"/>
                <a:cs typeface="Times New Roman" panose="02020603050405020304" pitchFamily="2" charset="0"/>
              </a:rPr>
              <a:t>逻辑模型</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800" strike="noStrike" noProof="1" dirty="0">
              <a:latin typeface="Times New Roman" panose="02020603050405020304" pitchFamily="2" charset="0"/>
              <a:ea typeface="楷体" panose="02010609060101010101" charset="-122"/>
              <a:cs typeface="Times New Roman" panose="02020603050405020304" pitchFamily="2" charset="0"/>
            </a:endParaRPr>
          </a:p>
          <a:p>
            <a:pPr lvl="2" indent="-306705" eaLnBrk="1" fontAlgn="base" hangingPunct="1">
              <a:lnSpc>
                <a:spcPct val="100000"/>
              </a:lnSpc>
              <a:buClr>
                <a:srgbClr val="C00000"/>
              </a:buClr>
              <a:buSzPct val="85000"/>
              <a:buFont typeface="Wingdings" panose="05000000000000000000" charset="0"/>
              <a:buChar char="Ø"/>
            </a:pPr>
            <a:r>
              <a:rPr lang="zh-CN" altLang="en-US" sz="2800" strike="noStrike" noProof="1" dirty="0">
                <a:solidFill>
                  <a:srgbClr val="FF0000"/>
                </a:solidFill>
                <a:latin typeface="Times New Roman" panose="02020603050405020304" pitchFamily="2" charset="0"/>
                <a:ea typeface="楷体" panose="02010609060101010101" charset="-122"/>
                <a:cs typeface="Times New Roman" panose="02020603050405020304" pitchFamily="2" charset="0"/>
              </a:rPr>
              <a:t>物理数据模型</a:t>
            </a: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en-US" altLang="x-none"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physical data model)</a:t>
            </a:r>
            <a:endParaRPr lang="en-US" altLang="x-none"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eaLnBrk="1" fontAlgn="base" hangingPunct="1">
              <a:lnSpc>
                <a:spcPct val="100000"/>
              </a:lnSpc>
              <a:spcBef>
                <a:spcPts val="0"/>
              </a:spcBef>
              <a:spcAft>
                <a:spcPts val="0"/>
              </a:spcAft>
            </a:pPr>
            <a:r>
              <a:rPr lang="zh-CN" altLang="en-US"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又简称为 </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strike="noStrike" noProof="1" dirty="0">
                <a:solidFill>
                  <a:srgbClr val="FF0000"/>
                </a:solidFill>
                <a:latin typeface="Times New Roman" panose="02020603050405020304" pitchFamily="2" charset="0"/>
                <a:ea typeface="楷体" panose="02010609060101010101" charset="-122"/>
                <a:cs typeface="Times New Roman" panose="02020603050405020304" pitchFamily="2" charset="0"/>
              </a:rPr>
              <a:t>物理模型</a:t>
            </a:r>
            <a:r>
              <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en-US" altLang="zh-CN" sz="2800" strike="noStrike" noProof="1" dirty="0">
              <a:solidFill>
                <a:srgbClr val="1F2DA8"/>
              </a:solidFill>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zh-CN" dirty="0"/>
              <a:t> </a:t>
            </a:r>
            <a:r>
              <a:rPr lang="zh-CN" altLang="en-US" dirty="0"/>
              <a:t>概念模型</a:t>
            </a:r>
            <a:r>
              <a:rPr lang="en-US" altLang="zh-CN" dirty="0"/>
              <a:t> / </a:t>
            </a:r>
            <a:r>
              <a:rPr lang="zh-CN" altLang="en-US" dirty="0"/>
              <a:t>逻辑模型</a:t>
            </a:r>
            <a:r>
              <a:rPr lang="en-US" altLang="zh-CN" dirty="0"/>
              <a:t> / </a:t>
            </a:r>
            <a:r>
              <a:rPr lang="zh-CN" altLang="en-US" dirty="0"/>
              <a:t>物理模型</a:t>
            </a:r>
            <a:endParaRPr lang="zh-CN" altLang="en-US" dirty="0"/>
          </a:p>
        </p:txBody>
      </p:sp>
      <p:sp>
        <p:nvSpPr>
          <p:cNvPr id="56323" name="Rectangle 3"/>
          <p:cNvSpPr>
            <a:spLocks noGrp="1" noChangeArrowheads="1"/>
          </p:cNvSpPr>
          <p:nvPr>
            <p:ph idx="1"/>
          </p:nvPr>
        </p:nvSpPr>
        <p:spPr/>
        <p:txBody>
          <a:bodyPr>
            <a:normAutofit/>
          </a:bodyPr>
          <a:lstStyle/>
          <a:p>
            <a:pPr>
              <a:lnSpc>
                <a:spcPct val="150000"/>
              </a:lnSpc>
            </a:pPr>
            <a:r>
              <a:rPr lang="zh-CN" altLang="en-US" dirty="0">
                <a:solidFill>
                  <a:srgbClr val="FF0000"/>
                </a:solidFill>
              </a:rPr>
              <a:t>概念模型</a:t>
            </a:r>
            <a:r>
              <a:rPr lang="zh-CN" altLang="en-US" dirty="0"/>
              <a:t>，也称信息模型</a:t>
            </a:r>
            <a:endParaRPr lang="en-US" altLang="zh-CN" dirty="0"/>
          </a:p>
          <a:p>
            <a:pPr lvl="1"/>
            <a:r>
              <a:rPr lang="zh-CN" altLang="en-US" dirty="0"/>
              <a:t>按用户的观点来对数据和信息建模，用于数据库设计</a:t>
            </a:r>
            <a:endParaRPr lang="zh-CN" altLang="en-US" dirty="0"/>
          </a:p>
          <a:p>
            <a:pPr>
              <a:lnSpc>
                <a:spcPct val="150000"/>
              </a:lnSpc>
            </a:pPr>
            <a:r>
              <a:rPr lang="zh-CN" altLang="en-US" dirty="0">
                <a:solidFill>
                  <a:srgbClr val="FF0000"/>
                </a:solidFill>
              </a:rPr>
              <a:t>逻辑模型</a:t>
            </a:r>
            <a:endParaRPr lang="en-US" altLang="zh-CN" dirty="0"/>
          </a:p>
          <a:p>
            <a:pPr lvl="1"/>
            <a:r>
              <a:rPr lang="zh-CN" altLang="en-US" dirty="0"/>
              <a:t>按计算机系统的观点对数据建模，用于</a:t>
            </a:r>
            <a:r>
              <a:rPr lang="en-US" altLang="zh-CN" dirty="0"/>
              <a:t>DBMS</a:t>
            </a:r>
            <a:r>
              <a:rPr lang="zh-CN" altLang="en-US" dirty="0"/>
              <a:t>实现</a:t>
            </a:r>
            <a:endParaRPr lang="en-US" altLang="zh-CN" dirty="0"/>
          </a:p>
          <a:p>
            <a:pPr lvl="1"/>
            <a:r>
              <a:rPr lang="zh-CN" altLang="en-US" dirty="0"/>
              <a:t>主要包括网状模型、层次模型、关系模型、面向对象数据模型、对象关系数据模型、半结构化数据模型等。</a:t>
            </a:r>
            <a:endParaRPr lang="zh-CN" altLang="en-US" dirty="0"/>
          </a:p>
          <a:p>
            <a:pPr>
              <a:lnSpc>
                <a:spcPct val="150000"/>
              </a:lnSpc>
            </a:pPr>
            <a:r>
              <a:rPr lang="zh-CN" altLang="en-US" dirty="0">
                <a:solidFill>
                  <a:srgbClr val="FF0000"/>
                </a:solidFill>
              </a:rPr>
              <a:t>物理模型</a:t>
            </a:r>
            <a:endParaRPr lang="en-US" altLang="zh-CN" dirty="0"/>
          </a:p>
          <a:p>
            <a:pPr lvl="1"/>
            <a:r>
              <a:rPr lang="zh-CN" altLang="en-US" dirty="0"/>
              <a:t>是对数据最底层的抽象，描述数据在系统内部的表示方式和存取方法。</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dirty="0"/>
              <a:t>图</a:t>
            </a:r>
            <a:r>
              <a:rPr lang="en-US" altLang="zh-CN" dirty="0"/>
              <a:t>1.7  </a:t>
            </a:r>
            <a:r>
              <a:rPr lang="zh-CN" altLang="en-US" dirty="0"/>
              <a:t>客观对象的抽象过程</a:t>
            </a:r>
            <a:r>
              <a:rPr lang="en-US" altLang="zh-CN" dirty="0"/>
              <a:t>---</a:t>
            </a:r>
            <a:r>
              <a:rPr lang="zh-CN" altLang="en-US" dirty="0"/>
              <a:t>两步抽象</a:t>
            </a:r>
            <a:endParaRPr lang="zh-CN" altLang="en-US" dirty="0"/>
          </a:p>
        </p:txBody>
      </p:sp>
      <p:sp>
        <p:nvSpPr>
          <p:cNvPr id="57347" name="Rectangle 3"/>
          <p:cNvSpPr>
            <a:spLocks noGrp="1" noChangeArrowheads="1"/>
          </p:cNvSpPr>
          <p:nvPr>
            <p:ph idx="1"/>
          </p:nvPr>
        </p:nvSpPr>
        <p:spPr/>
        <p:txBody>
          <a:bodyPr>
            <a:normAutofit/>
          </a:bodyPr>
          <a:lstStyle/>
          <a:p>
            <a:pPr>
              <a:lnSpc>
                <a:spcPct val="100000"/>
              </a:lnSpc>
            </a:pPr>
            <a:r>
              <a:rPr lang="zh-CN" altLang="en-US" dirty="0"/>
              <a:t>将现实世界中的</a:t>
            </a:r>
            <a:r>
              <a:rPr lang="zh-CN" altLang="en-US" dirty="0">
                <a:solidFill>
                  <a:srgbClr val="C00000"/>
                </a:solidFill>
              </a:rPr>
              <a:t>客观对象</a:t>
            </a:r>
            <a:r>
              <a:rPr lang="zh-CN" altLang="en-US" dirty="0"/>
              <a:t>抽象为</a:t>
            </a:r>
            <a:r>
              <a:rPr lang="zh-CN" altLang="en-US" dirty="0">
                <a:solidFill>
                  <a:srgbClr val="C00000"/>
                </a:solidFill>
              </a:rPr>
              <a:t>概念模型</a:t>
            </a:r>
            <a:endParaRPr lang="en-US" altLang="zh-CN" dirty="0"/>
          </a:p>
          <a:p>
            <a:pPr lvl="1">
              <a:lnSpc>
                <a:spcPct val="100000"/>
              </a:lnSpc>
            </a:pPr>
            <a:r>
              <a:rPr lang="zh-CN" altLang="en-US" dirty="0"/>
              <a:t>将</a:t>
            </a:r>
            <a:r>
              <a:rPr lang="zh-CN" altLang="en-US" dirty="0">
                <a:solidFill>
                  <a:srgbClr val="C00000"/>
                </a:solidFill>
              </a:rPr>
              <a:t>现实世界</a:t>
            </a:r>
            <a:r>
              <a:rPr lang="zh-CN" altLang="en-US" dirty="0"/>
              <a:t>抽象为</a:t>
            </a:r>
            <a:r>
              <a:rPr lang="zh-CN" altLang="en-US" dirty="0">
                <a:solidFill>
                  <a:srgbClr val="C00000"/>
                </a:solidFill>
              </a:rPr>
              <a:t>信息世界</a:t>
            </a:r>
            <a:endParaRPr lang="zh-CN" altLang="en-US" dirty="0"/>
          </a:p>
          <a:p>
            <a:pPr>
              <a:lnSpc>
                <a:spcPct val="100000"/>
              </a:lnSpc>
            </a:pPr>
            <a:r>
              <a:rPr lang="zh-CN" altLang="en-US" dirty="0"/>
              <a:t>把</a:t>
            </a:r>
            <a:r>
              <a:rPr lang="zh-CN" altLang="en-US" dirty="0">
                <a:solidFill>
                  <a:srgbClr val="C00000"/>
                </a:solidFill>
              </a:rPr>
              <a:t>概念模型</a:t>
            </a:r>
            <a:r>
              <a:rPr lang="zh-CN" altLang="en-US" dirty="0"/>
              <a:t>转换为特定</a:t>
            </a:r>
            <a:r>
              <a:rPr lang="en-US" altLang="zh-CN" dirty="0"/>
              <a:t>DBMS</a:t>
            </a:r>
            <a:r>
              <a:rPr lang="zh-CN" altLang="en-US" dirty="0"/>
              <a:t>支持的</a:t>
            </a:r>
            <a:r>
              <a:rPr lang="zh-CN" altLang="en-US" dirty="0">
                <a:solidFill>
                  <a:srgbClr val="C00000"/>
                </a:solidFill>
              </a:rPr>
              <a:t>数据模型</a:t>
            </a:r>
            <a:r>
              <a:rPr lang="en-US" altLang="zh-CN" dirty="0">
                <a:solidFill>
                  <a:srgbClr val="C00000"/>
                </a:solidFill>
              </a:rPr>
              <a:t>(</a:t>
            </a:r>
            <a:r>
              <a:rPr lang="zh-CN" altLang="en-US" dirty="0">
                <a:solidFill>
                  <a:srgbClr val="C00000"/>
                </a:solidFill>
              </a:rPr>
              <a:t>逻辑模型</a:t>
            </a:r>
            <a:r>
              <a:rPr lang="en-US" altLang="zh-CN" dirty="0">
                <a:solidFill>
                  <a:srgbClr val="C00000"/>
                </a:solidFill>
              </a:rPr>
              <a:t>&amp;</a:t>
            </a:r>
            <a:r>
              <a:rPr lang="zh-CN" altLang="en-US" dirty="0">
                <a:solidFill>
                  <a:srgbClr val="C00000"/>
                </a:solidFill>
              </a:rPr>
              <a:t>物理模型</a:t>
            </a:r>
            <a:r>
              <a:rPr lang="en-US" altLang="zh-CN" dirty="0">
                <a:solidFill>
                  <a:srgbClr val="C00000"/>
                </a:solidFill>
              </a:rPr>
              <a:t>)</a:t>
            </a:r>
            <a:endParaRPr lang="en-US" altLang="zh-CN" dirty="0"/>
          </a:p>
          <a:p>
            <a:pPr lvl="1">
              <a:lnSpc>
                <a:spcPct val="100000"/>
              </a:lnSpc>
            </a:pPr>
            <a:r>
              <a:rPr lang="zh-CN" altLang="zh-CN" dirty="0"/>
              <a:t>将</a:t>
            </a:r>
            <a:r>
              <a:rPr lang="zh-CN" altLang="zh-CN" dirty="0">
                <a:solidFill>
                  <a:srgbClr val="C00000"/>
                </a:solidFill>
              </a:rPr>
              <a:t>信息世界</a:t>
            </a:r>
            <a:r>
              <a:rPr lang="zh-CN" altLang="zh-CN" dirty="0"/>
              <a:t>转换为</a:t>
            </a:r>
            <a:r>
              <a:rPr lang="zh-CN" altLang="zh-CN" dirty="0">
                <a:solidFill>
                  <a:srgbClr val="C00000"/>
                </a:solidFill>
              </a:rPr>
              <a:t>机器世界</a:t>
            </a:r>
            <a:endParaRPr lang="zh-CN" altLang="zh-CN" dirty="0">
              <a:solidFill>
                <a:srgbClr val="C00000"/>
              </a:solidFill>
            </a:endParaRPr>
          </a:p>
        </p:txBody>
      </p:sp>
      <p:grpSp>
        <p:nvGrpSpPr>
          <p:cNvPr id="2" name="组合 1"/>
          <p:cNvGrpSpPr/>
          <p:nvPr/>
        </p:nvGrpSpPr>
        <p:grpSpPr>
          <a:xfrm>
            <a:off x="1653540" y="2853055"/>
            <a:ext cx="9436735" cy="3547110"/>
            <a:chOff x="4610" y="4493"/>
            <a:chExt cx="14861" cy="5586"/>
          </a:xfrm>
        </p:grpSpPr>
        <p:sp>
          <p:nvSpPr>
            <p:cNvPr id="7" name="Rectangle 4"/>
            <p:cNvSpPr>
              <a:spLocks noChangeArrowheads="1"/>
            </p:cNvSpPr>
            <p:nvPr/>
          </p:nvSpPr>
          <p:spPr bwMode="auto">
            <a:xfrm>
              <a:off x="6552" y="9081"/>
              <a:ext cx="4733" cy="998"/>
            </a:xfrm>
            <a:prstGeom prst="rect">
              <a:avLst/>
            </a:prstGeom>
            <a:gradFill rotWithShape="0">
              <a:gsLst>
                <a:gs pos="0">
                  <a:srgbClr val="FFFFFF"/>
                </a:gs>
                <a:gs pos="100000">
                  <a:srgbClr val="BBBBBB"/>
                </a:gs>
              </a:gsLst>
              <a:lin ang="5400000" scaled="1"/>
            </a:gradFill>
            <a:ln w="25400" algn="ctr">
              <a:solidFill>
                <a:schemeClr val="tx1"/>
              </a:solidFill>
              <a:miter lim="800000"/>
            </a:ln>
          </p:spPr>
          <p:txBody>
            <a:bodyPr wrap="none" anchor="ctr" anchorCtr="0"/>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t>数据库管理系统支持的数据模型</a:t>
              </a:r>
              <a:endParaRPr lang="zh-CN" altLang="en-US" sz="1600" b="1" dirty="0"/>
            </a:p>
          </p:txBody>
        </p:sp>
        <p:sp>
          <p:nvSpPr>
            <p:cNvPr id="8" name="Rectangle 5"/>
            <p:cNvSpPr>
              <a:spLocks noChangeArrowheads="1"/>
            </p:cNvSpPr>
            <p:nvPr/>
          </p:nvSpPr>
          <p:spPr bwMode="auto">
            <a:xfrm>
              <a:off x="7590" y="7685"/>
              <a:ext cx="2660" cy="798"/>
            </a:xfrm>
            <a:prstGeom prst="rect">
              <a:avLst/>
            </a:prstGeom>
            <a:gradFill rotWithShape="0">
              <a:gsLst>
                <a:gs pos="0">
                  <a:srgbClr val="FFFFFF"/>
                </a:gs>
                <a:gs pos="100000">
                  <a:srgbClr val="BBBBBB"/>
                </a:gs>
              </a:gsLst>
              <a:lin ang="5400000" scaled="1"/>
            </a:gradFill>
            <a:ln w="25400" algn="ctr">
              <a:solidFill>
                <a:schemeClr val="tx1"/>
              </a:solidFill>
              <a:miter lim="800000"/>
            </a:ln>
          </p:spPr>
          <p:txBody>
            <a:bodyPr wrap="none" anchor="ctr" anchorCtr="0"/>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t>概念模型</a:t>
              </a:r>
              <a:endParaRPr lang="zh-CN" altLang="en-US" sz="1600" b="1" dirty="0"/>
            </a:p>
          </p:txBody>
        </p:sp>
        <p:sp>
          <p:nvSpPr>
            <p:cNvPr id="9" name="AutoShape 6"/>
            <p:cNvSpPr>
              <a:spLocks noChangeArrowheads="1"/>
            </p:cNvSpPr>
            <p:nvPr/>
          </p:nvSpPr>
          <p:spPr bwMode="auto">
            <a:xfrm>
              <a:off x="8189" y="6188"/>
              <a:ext cx="1252" cy="1097"/>
            </a:xfrm>
            <a:prstGeom prst="smileyFace">
              <a:avLst>
                <a:gd name="adj" fmla="val 4653"/>
              </a:avLst>
            </a:prstGeom>
            <a:gradFill rotWithShape="0">
              <a:gsLst>
                <a:gs pos="0">
                  <a:srgbClr val="FFFFFF"/>
                </a:gs>
                <a:gs pos="100000">
                  <a:srgbClr val="BBBBBB"/>
                </a:gs>
              </a:gsLst>
              <a:lin ang="5400000" scaled="1"/>
            </a:gradFill>
            <a:ln w="25400">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p>
          </p:txBody>
        </p:sp>
        <p:sp>
          <p:nvSpPr>
            <p:cNvPr id="10" name="AutoShape 9"/>
            <p:cNvSpPr>
              <a:spLocks noChangeArrowheads="1"/>
            </p:cNvSpPr>
            <p:nvPr/>
          </p:nvSpPr>
          <p:spPr bwMode="auto">
            <a:xfrm flipH="1">
              <a:off x="10427" y="5590"/>
              <a:ext cx="1480" cy="1396"/>
            </a:xfrm>
            <a:prstGeom prst="wedgeEllipseCallout">
              <a:avLst>
                <a:gd name="adj1" fmla="val 117250"/>
                <a:gd name="adj2" fmla="val 16611"/>
              </a:avLst>
            </a:prstGeom>
            <a:gradFill rotWithShape="0">
              <a:gsLst>
                <a:gs pos="0">
                  <a:srgbClr val="FFFFFF"/>
                </a:gs>
                <a:gs pos="100000">
                  <a:srgbClr val="BBBBBB"/>
                </a:gs>
              </a:gsLst>
              <a:lin ang="5400000" scaled="1"/>
            </a:gradFill>
            <a:ln w="25400" algn="ctr">
              <a:solidFill>
                <a:schemeClr val="tx1"/>
              </a:solidFill>
              <a:miter lim="800000"/>
            </a:ln>
          </p:spPr>
          <p:txBody>
            <a:bodyPr anchor="ctr" anchorCtr="0"/>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t>认识</a:t>
              </a:r>
              <a:endParaRPr lang="zh-CN" altLang="en-US" sz="1600" b="1"/>
            </a:p>
            <a:p>
              <a:pPr algn="ctr" eaLnBrk="1" hangingPunct="1"/>
              <a:r>
                <a:rPr lang="zh-CN" altLang="en-US" sz="1600" b="1"/>
                <a:t>抽象</a:t>
              </a:r>
              <a:endParaRPr lang="zh-CN" altLang="en-US" sz="1600" b="1"/>
            </a:p>
          </p:txBody>
        </p:sp>
        <p:sp>
          <p:nvSpPr>
            <p:cNvPr id="11" name="Text Box 10"/>
            <p:cNvSpPr txBox="1">
              <a:spLocks noChangeArrowheads="1"/>
            </p:cNvSpPr>
            <p:nvPr/>
          </p:nvSpPr>
          <p:spPr bwMode="auto">
            <a:xfrm>
              <a:off x="4610" y="7874"/>
              <a:ext cx="1576"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信息世界</a:t>
              </a:r>
              <a:endParaRPr lang="zh-CN" altLang="en-US" sz="1600" b="1"/>
            </a:p>
          </p:txBody>
        </p:sp>
        <p:sp>
          <p:nvSpPr>
            <p:cNvPr id="12" name="Text Box 11"/>
            <p:cNvSpPr txBox="1">
              <a:spLocks noChangeArrowheads="1"/>
            </p:cNvSpPr>
            <p:nvPr/>
          </p:nvSpPr>
          <p:spPr bwMode="auto">
            <a:xfrm>
              <a:off x="4610" y="9378"/>
              <a:ext cx="1576"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机器世界</a:t>
              </a:r>
              <a:endParaRPr lang="zh-CN" altLang="en-US" sz="1600" b="1"/>
            </a:p>
          </p:txBody>
        </p:sp>
        <p:sp>
          <p:nvSpPr>
            <p:cNvPr id="13" name="Cloud"/>
            <p:cNvSpPr>
              <a:spLocks noChangeAspect="1" noEditPoints="1" noChangeArrowheads="1"/>
            </p:cNvSpPr>
            <p:nvPr/>
          </p:nvSpPr>
          <p:spPr bwMode="auto">
            <a:xfrm>
              <a:off x="7568" y="4493"/>
              <a:ext cx="2464" cy="1271"/>
            </a:xfrm>
            <a:custGeom>
              <a:avLst/>
              <a:gdLst>
                <a:gd name="T0" fmla="*/ 5584 w 21600"/>
                <a:gd name="T1" fmla="*/ 458788 h 21600"/>
                <a:gd name="T2" fmla="*/ 900113 w 21600"/>
                <a:gd name="T3" fmla="*/ 916598 h 21600"/>
                <a:gd name="T4" fmla="*/ 1798725 w 21600"/>
                <a:gd name="T5" fmla="*/ 458788 h 21600"/>
                <a:gd name="T6" fmla="*/ 900113 w 21600"/>
                <a:gd name="T7" fmla="*/ 52463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ln>
            <a:effectLst>
              <a:outerShdw dist="107763" dir="2700000" algn="ctr" rotWithShape="0">
                <a:srgbClr val="808080"/>
              </a:outerShdw>
            </a:effectLst>
          </p:spPr>
          <p:txBody>
            <a:bodyPr anchor="ctr" anchorCtr="0"/>
            <a:lstStyle/>
            <a:p>
              <a:pPr marL="342900" indent="-342900" algn="ctr">
                <a:defRPr/>
              </a:pPr>
              <a:r>
                <a:rPr lang="zh-CN" altLang="en-US" sz="1600" b="1" dirty="0"/>
                <a:t>现实世界</a:t>
              </a:r>
              <a:endParaRPr lang="zh-CN" altLang="en-US" sz="1600" b="1" dirty="0"/>
            </a:p>
          </p:txBody>
        </p:sp>
        <p:sp>
          <p:nvSpPr>
            <p:cNvPr id="14" name="Line 16"/>
            <p:cNvSpPr>
              <a:spLocks noChangeShapeType="1"/>
            </p:cNvSpPr>
            <p:nvPr/>
          </p:nvSpPr>
          <p:spPr bwMode="auto">
            <a:xfrm>
              <a:off x="8752" y="5790"/>
              <a:ext cx="0" cy="39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15" name="Line 17"/>
            <p:cNvSpPr>
              <a:spLocks noChangeShapeType="1"/>
            </p:cNvSpPr>
            <p:nvPr/>
          </p:nvSpPr>
          <p:spPr bwMode="auto">
            <a:xfrm>
              <a:off x="8752" y="7285"/>
              <a:ext cx="0" cy="39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16" name="Line 18"/>
            <p:cNvSpPr>
              <a:spLocks noChangeShapeType="1"/>
            </p:cNvSpPr>
            <p:nvPr/>
          </p:nvSpPr>
          <p:spPr bwMode="auto">
            <a:xfrm>
              <a:off x="8850" y="8483"/>
              <a:ext cx="0" cy="59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mc:AlternateContent xmlns:mc="http://schemas.openxmlformats.org/markup-compatibility/2006">
          <mc:Choice xmlns:a14="http://schemas.microsoft.com/office/drawing/2010/main" Requires="a14">
            <p:sp>
              <p:nvSpPr>
                <p:cNvPr id="24" name="Text Box 22"/>
                <p:cNvSpPr txBox="1">
                  <a:spLocks noChangeArrowheads="1"/>
                </p:cNvSpPr>
                <p:nvPr/>
              </p:nvSpPr>
              <p:spPr bwMode="auto">
                <a:xfrm>
                  <a:off x="12302" y="5511"/>
                  <a:ext cx="7162" cy="1113"/>
                </a:xfrm>
                <a:prstGeom prst="rect">
                  <a:avLst/>
                </a:prstGeom>
                <a:no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eaLnBrk="1" hangingPunct="1"/>
                  <a:r>
                    <a:rPr lang="zh-CN" altLang="en-US" sz="2000">
                      <a:solidFill>
                        <a:srgbClr val="C00000"/>
                      </a:solidFill>
                      <a:latin typeface="标准粗黑" panose="02000503000000000000" charset="-122"/>
                      <a:ea typeface="标准粗黑" panose="02000503000000000000" charset="-122"/>
                    </a:rPr>
                    <a:t>现实世界</a:t>
                  </a:r>
                  <a:r>
                    <a:rPr lang="zh-CN" altLang="en-US" sz="2000" b="1"/>
                    <a:t>  </a:t>
                  </a:r>
                  <a:r>
                    <a:rPr lang="en-US" altLang="zh-CN" sz="2000" b="1"/>
                    <a:t>    </a:t>
                  </a:r>
                  <a:r>
                    <a:rPr lang="zh-CN" altLang="en-US" sz="2000" b="1"/>
                    <a:t>  </a:t>
                  </a:r>
                  <a14:m>
                    <m:oMath xmlns:m="http://schemas.openxmlformats.org/officeDocument/2006/math">
                      <m:r>
                        <a:rPr lang="en-US" altLang="zh-CN" sz="2000" b="1" i="1">
                          <a:latin typeface="Cambria Math" panose="02040503050406030204" charset="0"/>
                          <a:cs typeface="Cambria Math" panose="02040503050406030204" charset="0"/>
                        </a:rPr>
                        <m:t>⟹</m:t>
                      </m:r>
                    </m:oMath>
                  </a14:m>
                  <a:r>
                    <a:rPr lang="zh-CN" altLang="en-US" sz="2000" b="1"/>
                    <a:t> </a:t>
                  </a:r>
                  <a:r>
                    <a:rPr lang="en-US" altLang="zh-CN" sz="2000" b="1"/>
                    <a:t>    </a:t>
                  </a:r>
                  <a:r>
                    <a:rPr lang="zh-CN" altLang="en-US" sz="2000" b="1"/>
                    <a:t>  </a:t>
                  </a:r>
                  <a:r>
                    <a:rPr lang="zh-CN" altLang="en-US" sz="2000">
                      <a:solidFill>
                        <a:srgbClr val="C00000"/>
                      </a:solidFill>
                      <a:latin typeface="标准粗黑" panose="02000503000000000000" charset="-122"/>
                      <a:ea typeface="标准粗黑" panose="02000503000000000000" charset="-122"/>
                    </a:rPr>
                    <a:t>概念模型</a:t>
                  </a:r>
                  <a:endParaRPr lang="zh-CN" altLang="en-US" sz="2000" b="1"/>
                </a:p>
                <a:p>
                  <a:pPr algn="ctr" eaLnBrk="1" hangingPunct="1"/>
                  <a:r>
                    <a:rPr lang="zh-CN" altLang="en-US" sz="2000" b="1"/>
                    <a:t>数据库设计人员完成</a:t>
                  </a:r>
                  <a:endParaRPr lang="zh-CN" altLang="en-US" sz="2000" b="1"/>
                </a:p>
              </p:txBody>
            </p:sp>
          </mc:Choice>
          <mc:Fallback>
            <p:sp>
              <p:nvSpPr>
                <p:cNvPr id="24" name="Text Box 22"/>
                <p:cNvSpPr txBox="1">
                  <a:spLocks noRot="1" noChangeAspect="1" noMove="1" noResize="1" noEditPoints="1" noAdjustHandles="1" noChangeArrowheads="1" noChangeShapeType="1" noTextEdit="1"/>
                </p:cNvSpPr>
                <p:nvPr/>
              </p:nvSpPr>
              <p:spPr bwMode="auto">
                <a:xfrm>
                  <a:off x="12302" y="5511"/>
                  <a:ext cx="7162" cy="1113"/>
                </a:xfrm>
                <a:prstGeom prst="rect">
                  <a:avLst/>
                </a:prstGeom>
                <a:blipFill rotWithShape="1">
                  <a:blip r:embed="rId1"/>
                </a:blip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Text Box 20"/>
                <p:cNvSpPr txBox="1">
                  <a:spLocks noChangeArrowheads="1"/>
                </p:cNvSpPr>
                <p:nvPr/>
              </p:nvSpPr>
              <p:spPr bwMode="auto">
                <a:xfrm>
                  <a:off x="12303" y="8966"/>
                  <a:ext cx="7168" cy="1113"/>
                </a:xfrm>
                <a:prstGeom prst="rect">
                  <a:avLst/>
                </a:prstGeom>
                <a:no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eaLnBrk="1" hangingPunct="1"/>
                  <a:r>
                    <a:rPr lang="zh-CN" altLang="en-US" sz="2000">
                      <a:solidFill>
                        <a:srgbClr val="C00000"/>
                      </a:solidFill>
                      <a:latin typeface="标准粗黑" panose="02000503000000000000" charset="-122"/>
                      <a:ea typeface="标准粗黑" panose="02000503000000000000" charset="-122"/>
                    </a:rPr>
                    <a:t>逻辑模型</a:t>
                  </a:r>
                  <a:r>
                    <a:rPr lang="zh-CN" altLang="en-US" sz="2000" b="1"/>
                    <a:t>  </a:t>
                  </a:r>
                  <a:r>
                    <a:rPr lang="en-US" altLang="zh-CN" sz="2000" b="1"/>
                    <a:t>    </a:t>
                  </a:r>
                  <a:r>
                    <a:rPr lang="zh-CN" altLang="en-US" sz="2000" b="1"/>
                    <a:t>  </a:t>
                  </a:r>
                  <a14:m>
                    <m:oMath xmlns:m="http://schemas.openxmlformats.org/officeDocument/2006/math">
                      <m:r>
                        <a:rPr lang="en-US" altLang="zh-CN" sz="2000" b="1" i="1">
                          <a:latin typeface="Cambria Math" panose="02040503050406030204" charset="0"/>
                          <a:cs typeface="Cambria Math" panose="02040503050406030204" charset="0"/>
                        </a:rPr>
                        <m:t>⟹</m:t>
                      </m:r>
                    </m:oMath>
                  </a14:m>
                  <a:r>
                    <a:rPr lang="zh-CN" altLang="en-US" sz="2000" b="1"/>
                    <a:t>  </a:t>
                  </a:r>
                  <a:r>
                    <a:rPr lang="en-US" altLang="zh-CN" sz="2000" b="1"/>
                    <a:t>    </a:t>
                  </a:r>
                  <a:r>
                    <a:rPr lang="zh-CN" altLang="en-US" sz="2000" b="1"/>
                    <a:t> </a:t>
                  </a:r>
                  <a:r>
                    <a:rPr lang="zh-CN" altLang="en-US" sz="2000">
                      <a:solidFill>
                        <a:srgbClr val="C00000"/>
                      </a:solidFill>
                      <a:latin typeface="标准粗黑" panose="02000503000000000000" charset="-122"/>
                      <a:ea typeface="标准粗黑" panose="02000503000000000000" charset="-122"/>
                    </a:rPr>
                    <a:t>物理模型</a:t>
                  </a:r>
                  <a:endParaRPr lang="zh-CN" altLang="en-US" sz="2000" b="1"/>
                </a:p>
                <a:p>
                  <a:pPr algn="ctr" eaLnBrk="1" hangingPunct="1"/>
                  <a:r>
                    <a:rPr lang="zh-CN" altLang="en-US" sz="2000" b="1"/>
                    <a:t>由</a:t>
                  </a:r>
                  <a:r>
                    <a:rPr lang="en-US" altLang="zh-CN" sz="2000" b="1"/>
                    <a:t>DBMS</a:t>
                  </a:r>
                  <a:r>
                    <a:rPr lang="zh-CN" altLang="en-US" sz="2000" b="1"/>
                    <a:t>完成</a:t>
                  </a:r>
                  <a:endParaRPr lang="zh-CN" altLang="en-US" sz="2000" b="1"/>
                </a:p>
              </p:txBody>
            </p:sp>
          </mc:Choice>
          <mc:Fallback>
            <p:sp>
              <p:nvSpPr>
                <p:cNvPr id="22" name="Text Box 20"/>
                <p:cNvSpPr txBox="1">
                  <a:spLocks noRot="1" noChangeAspect="1" noMove="1" noResize="1" noEditPoints="1" noAdjustHandles="1" noChangeArrowheads="1" noChangeShapeType="1" noTextEdit="1"/>
                </p:cNvSpPr>
                <p:nvPr/>
              </p:nvSpPr>
              <p:spPr bwMode="auto">
                <a:xfrm>
                  <a:off x="12303" y="8966"/>
                  <a:ext cx="7168" cy="1113"/>
                </a:xfrm>
                <a:prstGeom prst="rect">
                  <a:avLst/>
                </a:prstGeom>
                <a:blipFill rotWithShape="1">
                  <a:blip r:embed="rId2"/>
                </a:blip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Text Box 33"/>
                <p:cNvSpPr txBox="1">
                  <a:spLocks noChangeArrowheads="1"/>
                </p:cNvSpPr>
                <p:nvPr/>
              </p:nvSpPr>
              <p:spPr bwMode="auto">
                <a:xfrm>
                  <a:off x="12303" y="6986"/>
                  <a:ext cx="7164" cy="1598"/>
                </a:xfrm>
                <a:prstGeom prst="rect">
                  <a:avLst/>
                </a:prstGeom>
                <a:no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eaLnBrk="1" hangingPunct="1"/>
                  <a:r>
                    <a:rPr lang="zh-CN" altLang="en-US" sz="2000">
                      <a:solidFill>
                        <a:srgbClr val="C00000"/>
                      </a:solidFill>
                      <a:latin typeface="标准粗黑" panose="02000503000000000000" charset="-122"/>
                      <a:ea typeface="标准粗黑" panose="02000503000000000000" charset="-122"/>
                    </a:rPr>
                    <a:t>概念模型</a:t>
                  </a:r>
                  <a:r>
                    <a:rPr lang="zh-CN" altLang="en-US" sz="2000" b="1"/>
                    <a:t> </a:t>
                  </a:r>
                  <a:r>
                    <a:rPr lang="en-US" altLang="zh-CN" sz="2000" b="1"/>
                    <a:t>    </a:t>
                  </a:r>
                  <a:r>
                    <a:rPr lang="zh-CN" altLang="en-US" sz="2000" b="1"/>
                    <a:t>   </a:t>
                  </a:r>
                  <a14:m>
                    <m:oMath xmlns:m="http://schemas.openxmlformats.org/officeDocument/2006/math">
                      <m:r>
                        <a:rPr lang="en-US" altLang="zh-CN" sz="2000" b="1" i="1">
                          <a:latin typeface="Cambria Math" panose="02040503050406030204" charset="0"/>
                          <a:cs typeface="Cambria Math" panose="02040503050406030204" charset="0"/>
                        </a:rPr>
                        <m:t>⟹</m:t>
                      </m:r>
                    </m:oMath>
                  </a14:m>
                  <a:r>
                    <a:rPr lang="zh-CN" altLang="en-US" sz="2000" b="1"/>
                    <a:t> </a:t>
                  </a:r>
                  <a:r>
                    <a:rPr lang="en-US" altLang="zh-CN" sz="2000" b="1"/>
                    <a:t>    </a:t>
                  </a:r>
                  <a:r>
                    <a:rPr lang="zh-CN" altLang="en-US" sz="2000" b="1"/>
                    <a:t>  </a:t>
                  </a:r>
                  <a:r>
                    <a:rPr lang="zh-CN" altLang="en-US" sz="2000">
                      <a:solidFill>
                        <a:srgbClr val="C00000"/>
                      </a:solidFill>
                      <a:latin typeface="标准粗黑" panose="02000503000000000000" charset="-122"/>
                      <a:ea typeface="标准粗黑" panose="02000503000000000000" charset="-122"/>
                    </a:rPr>
                    <a:t>逻辑模型</a:t>
                  </a:r>
                  <a:endParaRPr lang="zh-CN" altLang="en-US" sz="2000" b="1"/>
                </a:p>
                <a:p>
                  <a:pPr algn="ctr" eaLnBrk="1" hangingPunct="1"/>
                  <a:r>
                    <a:rPr lang="zh-CN" altLang="en-US" sz="2000" b="1"/>
                    <a:t>数据库设计人员完成</a:t>
                  </a:r>
                  <a:endParaRPr lang="en-US" altLang="zh-CN" sz="2000" b="1"/>
                </a:p>
                <a:p>
                  <a:pPr algn="ctr" eaLnBrk="1" hangingPunct="1"/>
                  <a:r>
                    <a:rPr lang="zh-CN" altLang="en-US" sz="2000" b="1"/>
                    <a:t>数据库设计工具协助完成</a:t>
                  </a:r>
                  <a:endParaRPr lang="zh-CN" altLang="en-US" sz="2000" b="1"/>
                </a:p>
              </p:txBody>
            </p:sp>
          </mc:Choice>
          <mc:Fallback>
            <p:sp>
              <p:nvSpPr>
                <p:cNvPr id="20" name="Text Box 33"/>
                <p:cNvSpPr txBox="1">
                  <a:spLocks noRot="1" noChangeAspect="1" noMove="1" noResize="1" noEditPoints="1" noAdjustHandles="1" noChangeArrowheads="1" noChangeShapeType="1" noTextEdit="1"/>
                </p:cNvSpPr>
                <p:nvPr/>
              </p:nvSpPr>
              <p:spPr bwMode="auto">
                <a:xfrm>
                  <a:off x="12303" y="6986"/>
                  <a:ext cx="7164" cy="1598"/>
                </a:xfrm>
                <a:prstGeom prst="rect">
                  <a:avLst/>
                </a:prstGeom>
                <a:blipFill rotWithShape="1">
                  <a:blip r:embed="rId3"/>
                </a:blipFill>
                <a:ln w="12700" algn="ctr">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2289"/>
          <p:cNvSpPr>
            <a:spLocks noGrp="1"/>
          </p:cNvSpPr>
          <p:nvPr>
            <p:ph type="title"/>
          </p:nvPr>
        </p:nvSpPr>
        <p:spPr/>
        <p:txBody>
          <a:bodyPr tIns="0" bIns="0" anchor="ctr"/>
          <a:p>
            <a:r>
              <a:rPr lang="zh-CN" altLang="en-US"/>
              <a:t>三种数据模型之间的关系</a:t>
            </a:r>
            <a:endParaRPr lang="zh-CN" altLang="en-US"/>
          </a:p>
        </p:txBody>
      </p:sp>
      <p:grpSp>
        <p:nvGrpSpPr>
          <p:cNvPr id="12291" name="组合 12290"/>
          <p:cNvGrpSpPr/>
          <p:nvPr/>
        </p:nvGrpSpPr>
        <p:grpSpPr>
          <a:xfrm>
            <a:off x="1296482" y="674386"/>
            <a:ext cx="2206178" cy="4037659"/>
            <a:chOff x="-905" y="318"/>
            <a:chExt cx="3477" cy="6358"/>
          </a:xfrm>
        </p:grpSpPr>
        <p:sp>
          <p:nvSpPr>
            <p:cNvPr id="2" name="文本框 12291"/>
            <p:cNvSpPr txBox="1"/>
            <p:nvPr/>
          </p:nvSpPr>
          <p:spPr>
            <a:xfrm>
              <a:off x="-68" y="704"/>
              <a:ext cx="2640" cy="729"/>
            </a:xfrm>
            <a:prstGeom prst="rect">
              <a:avLst/>
            </a:prstGeom>
            <a:noFill/>
            <a:ln w="19050" cap="flat" cmpd="sng">
              <a:solidFill>
                <a:schemeClr val="tx1"/>
              </a:solidFill>
              <a:prstDash val="solid"/>
              <a:miter/>
              <a:headEnd type="none" w="med" len="med"/>
              <a:tailEnd type="none" w="med" len="med"/>
            </a:ln>
          </p:spPr>
          <p:txBody>
            <a:bodyPr wrap="square" lIns="90170" tIns="46990" rIns="90170" bIns="46990" anchor="t">
              <a:spAutoFit/>
            </a:bodyPr>
            <a:p>
              <a:pPr algn="ctr"/>
              <a:r>
                <a:rPr lang="zh-CN" altLang="en-US" sz="2400" b="1" dirty="0">
                  <a:ea typeface="楷体" panose="02010609060101010101" charset="-122"/>
                  <a:cs typeface="Times New Roman" panose="02020603050405020304" pitchFamily="2" charset="0"/>
                </a:rPr>
                <a:t>应用需求</a:t>
              </a:r>
              <a:r>
                <a:rPr lang="en-US" altLang="zh-CN" sz="2400" b="1" dirty="0">
                  <a:ea typeface="楷体" panose="02010609060101010101" charset="-122"/>
                  <a:cs typeface="Times New Roman" panose="02020603050405020304" pitchFamily="2" charset="0"/>
                </a:rPr>
                <a:t>1</a:t>
              </a:r>
              <a:endParaRPr lang="en-US" altLang="zh-CN" sz="2400" b="1" dirty="0">
                <a:ea typeface="楷体" panose="02010609060101010101" charset="-122"/>
                <a:cs typeface="Times New Roman" panose="02020603050405020304" pitchFamily="2" charset="0"/>
              </a:endParaRPr>
            </a:p>
          </p:txBody>
        </p:sp>
        <p:sp>
          <p:nvSpPr>
            <p:cNvPr id="12292" name="文本框 12292"/>
            <p:cNvSpPr txBox="1"/>
            <p:nvPr/>
          </p:nvSpPr>
          <p:spPr>
            <a:xfrm>
              <a:off x="-905" y="318"/>
              <a:ext cx="870" cy="1661"/>
            </a:xfrm>
            <a:prstGeom prst="rect">
              <a:avLst/>
            </a:prstGeom>
            <a:noFill/>
            <a:ln w="9525">
              <a:noFill/>
            </a:ln>
          </p:spPr>
          <p:txBody>
            <a:bodyPr vert="eaVert" wrap="square" anchor="t">
              <a:spAutoFit/>
            </a:bodyPr>
            <a:p>
              <a:pPr algn="ctr"/>
              <a:r>
                <a:rPr lang="zh-CN" altLang="en-US" sz="2400" b="1" dirty="0">
                  <a:ea typeface="楷体" panose="02010609060101010101" charset="-122"/>
                  <a:cs typeface="Times New Roman" panose="02020603050405020304" pitchFamily="2" charset="0"/>
                </a:rPr>
                <a:t>应用 1</a:t>
              </a:r>
              <a:endParaRPr lang="zh-CN" altLang="en-US" sz="2400" b="1" dirty="0">
                <a:ea typeface="楷体" panose="02010609060101010101" charset="-122"/>
                <a:cs typeface="Times New Roman" panose="02020603050405020304" pitchFamily="2" charset="0"/>
              </a:endParaRPr>
            </a:p>
          </p:txBody>
        </p:sp>
        <p:sp>
          <p:nvSpPr>
            <p:cNvPr id="12293" name="文本框 12293"/>
            <p:cNvSpPr txBox="1"/>
            <p:nvPr/>
          </p:nvSpPr>
          <p:spPr>
            <a:xfrm>
              <a:off x="-94" y="2486"/>
              <a:ext cx="2640" cy="729"/>
            </a:xfrm>
            <a:prstGeom prst="rect">
              <a:avLst/>
            </a:prstGeom>
            <a:noFill/>
            <a:ln w="19050" cap="flat" cmpd="sng">
              <a:solidFill>
                <a:schemeClr val="tx1"/>
              </a:solidFill>
              <a:prstDash val="solid"/>
              <a:miter/>
              <a:headEnd type="none" w="med" len="med"/>
              <a:tailEnd type="none" w="med" len="med"/>
            </a:ln>
          </p:spPr>
          <p:txBody>
            <a:bodyPr wrap="square" lIns="90170" tIns="46990" rIns="90170" bIns="46990" anchor="t">
              <a:spAutoFit/>
            </a:bodyPr>
            <a:p>
              <a:pPr algn="ctr"/>
              <a:r>
                <a:rPr lang="zh-CN" altLang="en-US" sz="2400" b="1" dirty="0">
                  <a:ea typeface="楷体" panose="02010609060101010101" charset="-122"/>
                  <a:cs typeface="Times New Roman" panose="02020603050405020304" pitchFamily="2" charset="0"/>
                </a:rPr>
                <a:t>应用需求</a:t>
              </a:r>
              <a:r>
                <a:rPr lang="en-US" altLang="zh-CN" sz="2400" b="1" dirty="0">
                  <a:ea typeface="楷体" panose="02010609060101010101" charset="-122"/>
                  <a:cs typeface="Times New Roman" panose="02020603050405020304" pitchFamily="2" charset="0"/>
                </a:rPr>
                <a:t>2</a:t>
              </a:r>
              <a:endParaRPr lang="en-US" altLang="zh-CN" sz="2400" b="1" dirty="0">
                <a:ea typeface="楷体" panose="02010609060101010101" charset="-122"/>
                <a:cs typeface="Times New Roman" panose="02020603050405020304" pitchFamily="2" charset="0"/>
              </a:endParaRPr>
            </a:p>
          </p:txBody>
        </p:sp>
        <p:sp>
          <p:nvSpPr>
            <p:cNvPr id="12294" name="文本框 12294"/>
            <p:cNvSpPr txBox="1"/>
            <p:nvPr/>
          </p:nvSpPr>
          <p:spPr>
            <a:xfrm>
              <a:off x="-905" y="2135"/>
              <a:ext cx="870" cy="1629"/>
            </a:xfrm>
            <a:prstGeom prst="rect">
              <a:avLst/>
            </a:prstGeom>
            <a:noFill/>
            <a:ln w="9525">
              <a:noFill/>
            </a:ln>
          </p:spPr>
          <p:txBody>
            <a:bodyPr vert="eaVert" wrap="square" anchor="t">
              <a:spAutoFit/>
            </a:bodyPr>
            <a:p>
              <a:pPr algn="ctr"/>
              <a:r>
                <a:rPr lang="zh-CN" altLang="en-US" sz="2400" b="1" dirty="0">
                  <a:ea typeface="楷体" panose="02010609060101010101" charset="-122"/>
                  <a:cs typeface="Times New Roman" panose="02020603050405020304" pitchFamily="2" charset="0"/>
                </a:rPr>
                <a:t>应用 2</a:t>
              </a:r>
              <a:endParaRPr lang="zh-CN" altLang="en-US" sz="2400" b="1" dirty="0">
                <a:ea typeface="楷体" panose="02010609060101010101" charset="-122"/>
                <a:cs typeface="Times New Roman" panose="02020603050405020304" pitchFamily="2" charset="0"/>
              </a:endParaRPr>
            </a:p>
          </p:txBody>
        </p:sp>
        <p:sp>
          <p:nvSpPr>
            <p:cNvPr id="12295" name="文本框 12295"/>
            <p:cNvSpPr txBox="1"/>
            <p:nvPr/>
          </p:nvSpPr>
          <p:spPr>
            <a:xfrm>
              <a:off x="-120" y="5398"/>
              <a:ext cx="2640" cy="729"/>
            </a:xfrm>
            <a:prstGeom prst="rect">
              <a:avLst/>
            </a:prstGeom>
            <a:noFill/>
            <a:ln w="19050" cap="flat" cmpd="sng">
              <a:solidFill>
                <a:schemeClr val="tx1"/>
              </a:solidFill>
              <a:prstDash val="solid"/>
              <a:miter/>
              <a:headEnd type="none" w="med" len="med"/>
              <a:tailEnd type="none" w="med" len="med"/>
            </a:ln>
          </p:spPr>
          <p:txBody>
            <a:bodyPr wrap="square" lIns="90170" tIns="46990" rIns="90170" bIns="46990" anchor="t">
              <a:spAutoFit/>
            </a:bodyPr>
            <a:p>
              <a:pPr algn="ctr"/>
              <a:r>
                <a:rPr lang="zh-CN" altLang="en-US" sz="2400" b="1" dirty="0">
                  <a:ea typeface="楷体" panose="02010609060101010101" charset="-122"/>
                  <a:cs typeface="Times New Roman" panose="02020603050405020304" pitchFamily="2" charset="0"/>
                </a:rPr>
                <a:t>应用需求</a:t>
              </a:r>
              <a:r>
                <a:rPr lang="en-US" altLang="zh-CN" sz="2400" b="1" dirty="0">
                  <a:ea typeface="楷体" panose="02010609060101010101" charset="-122"/>
                  <a:cs typeface="Times New Roman" panose="02020603050405020304" pitchFamily="2" charset="0"/>
                </a:rPr>
                <a:t>n</a:t>
              </a:r>
              <a:endParaRPr lang="en-US" altLang="zh-CN" sz="2400" b="1" dirty="0">
                <a:ea typeface="楷体" panose="02010609060101010101" charset="-122"/>
                <a:cs typeface="Times New Roman" panose="02020603050405020304" pitchFamily="2" charset="0"/>
              </a:endParaRPr>
            </a:p>
          </p:txBody>
        </p:sp>
        <p:sp>
          <p:nvSpPr>
            <p:cNvPr id="12296" name="文本框 12296"/>
            <p:cNvSpPr txBox="1"/>
            <p:nvPr/>
          </p:nvSpPr>
          <p:spPr>
            <a:xfrm>
              <a:off x="-905" y="5012"/>
              <a:ext cx="870" cy="1664"/>
            </a:xfrm>
            <a:prstGeom prst="rect">
              <a:avLst/>
            </a:prstGeom>
            <a:noFill/>
            <a:ln w="9525">
              <a:noFill/>
            </a:ln>
          </p:spPr>
          <p:txBody>
            <a:bodyPr vert="eaVert" wrap="square" anchor="t">
              <a:spAutoFit/>
            </a:bodyPr>
            <a:p>
              <a:pPr algn="ctr"/>
              <a:r>
                <a:rPr lang="zh-CN" altLang="en-US" sz="2400" b="1" dirty="0">
                  <a:ea typeface="楷体" panose="02010609060101010101" charset="-122"/>
                  <a:cs typeface="Times New Roman" panose="02020603050405020304" pitchFamily="2" charset="0"/>
                </a:rPr>
                <a:t>应用 n</a:t>
              </a:r>
              <a:endParaRPr lang="zh-CN" altLang="en-US" sz="2400" b="1" dirty="0">
                <a:ea typeface="楷体" panose="02010609060101010101" charset="-122"/>
                <a:cs typeface="Times New Roman" panose="02020603050405020304" pitchFamily="2" charset="0"/>
              </a:endParaRPr>
            </a:p>
          </p:txBody>
        </p:sp>
        <p:sp>
          <p:nvSpPr>
            <p:cNvPr id="12297" name="直接连接符 12297"/>
            <p:cNvSpPr/>
            <p:nvPr/>
          </p:nvSpPr>
          <p:spPr>
            <a:xfrm>
              <a:off x="1212" y="3726"/>
              <a:ext cx="1" cy="1361"/>
            </a:xfrm>
            <a:prstGeom prst="line">
              <a:avLst/>
            </a:prstGeom>
            <a:ln w="38100" cap="flat" cmpd="sng">
              <a:solidFill>
                <a:schemeClr val="tx1"/>
              </a:solidFill>
              <a:prstDash val="sysDot"/>
              <a:round/>
              <a:headEnd type="none" w="med" len="med"/>
              <a:tailEnd type="none" w="med" len="med"/>
            </a:ln>
          </p:spPr>
        </p:sp>
      </p:grpSp>
      <p:sp>
        <p:nvSpPr>
          <p:cNvPr id="12299" name="文本框 12298"/>
          <p:cNvSpPr txBox="1"/>
          <p:nvPr/>
        </p:nvSpPr>
        <p:spPr>
          <a:xfrm>
            <a:off x="4740910" y="1772285"/>
            <a:ext cx="852488" cy="1570990"/>
          </a:xfrm>
          <a:prstGeom prst="rect">
            <a:avLst/>
          </a:prstGeom>
          <a:solidFill>
            <a:schemeClr val="bg1"/>
          </a:solidFill>
          <a:ln w="19050" cap="flat" cmpd="sng">
            <a:solidFill>
              <a:schemeClr val="tx1"/>
            </a:solidFill>
            <a:prstDash val="solid"/>
            <a:miter/>
            <a:headEnd type="none" w="med" len="med"/>
            <a:tailEnd type="none" w="med" len="med"/>
          </a:ln>
        </p:spPr>
        <p:txBody>
          <a:bodyPr wrap="square" lIns="90170" tIns="46990" rIns="90170" bIns="46990" anchor="t">
            <a:spAutoFit/>
          </a:bodyPr>
          <a:p>
            <a:pPr algn="ctr"/>
            <a:endParaRPr lang="zh-CN" altLang="en-US" sz="2400" b="1" dirty="0">
              <a:solidFill>
                <a:srgbClr val="FF0000"/>
              </a:solidFill>
              <a:ea typeface="楷体" panose="02010609060101010101" charset="-122"/>
            </a:endParaRPr>
          </a:p>
          <a:p>
            <a:pPr algn="ctr"/>
            <a:r>
              <a:rPr lang="zh-CN" altLang="en-US" sz="2400" b="1" dirty="0">
                <a:solidFill>
                  <a:srgbClr val="FF0000"/>
                </a:solidFill>
                <a:ea typeface="楷体" panose="02010609060101010101" charset="-122"/>
              </a:rPr>
              <a:t>概念模型</a:t>
            </a:r>
            <a:endParaRPr lang="zh-CN" altLang="en-US" sz="2400" b="1" dirty="0">
              <a:solidFill>
                <a:srgbClr val="FF0000"/>
              </a:solidFill>
              <a:ea typeface="楷体" panose="02010609060101010101" charset="-122"/>
            </a:endParaRPr>
          </a:p>
          <a:p>
            <a:pPr algn="ctr"/>
            <a:endParaRPr lang="zh-CN" altLang="en-US" sz="2400" b="1" dirty="0">
              <a:solidFill>
                <a:srgbClr val="FF0000"/>
              </a:solidFill>
              <a:ea typeface="楷体" panose="02010609060101010101" charset="-122"/>
            </a:endParaRPr>
          </a:p>
        </p:txBody>
      </p:sp>
      <p:grpSp>
        <p:nvGrpSpPr>
          <p:cNvPr id="12300" name="组合 12299"/>
          <p:cNvGrpSpPr/>
          <p:nvPr/>
        </p:nvGrpSpPr>
        <p:grpSpPr>
          <a:xfrm>
            <a:off x="3503631" y="896303"/>
            <a:ext cx="1224579" cy="3917950"/>
            <a:chOff x="114" y="0"/>
            <a:chExt cx="1928" cy="6170"/>
          </a:xfrm>
        </p:grpSpPr>
        <p:sp>
          <p:nvSpPr>
            <p:cNvPr id="3" name="直接连接符 12300"/>
            <p:cNvSpPr/>
            <p:nvPr/>
          </p:nvSpPr>
          <p:spPr>
            <a:xfrm>
              <a:off x="795" y="0"/>
              <a:ext cx="1" cy="5557"/>
            </a:xfrm>
            <a:prstGeom prst="line">
              <a:avLst/>
            </a:prstGeom>
            <a:ln w="25400" cap="flat" cmpd="sng">
              <a:solidFill>
                <a:srgbClr val="0000FF"/>
              </a:solidFill>
              <a:prstDash val="solid"/>
              <a:round/>
              <a:headEnd type="none" w="med" len="med"/>
              <a:tailEnd type="none" w="med" len="med"/>
            </a:ln>
          </p:spPr>
        </p:sp>
        <p:sp>
          <p:nvSpPr>
            <p:cNvPr id="12301" name="文本框 12301"/>
            <p:cNvSpPr txBox="1"/>
            <p:nvPr/>
          </p:nvSpPr>
          <p:spPr>
            <a:xfrm>
              <a:off x="115" y="5445"/>
              <a:ext cx="1361" cy="725"/>
            </a:xfrm>
            <a:prstGeom prst="rect">
              <a:avLst/>
            </a:prstGeom>
            <a:noFill/>
            <a:ln w="9525">
              <a:noFill/>
            </a:ln>
          </p:spPr>
          <p:txBody>
            <a:bodyPr wrap="square" anchor="t">
              <a:spAutoFit/>
            </a:bodyPr>
            <a:p>
              <a:pPr algn="ctr"/>
              <a:r>
                <a:rPr lang="zh-CN" altLang="en-US" sz="2400" b="1" dirty="0">
                  <a:solidFill>
                    <a:srgbClr val="FF0000"/>
                  </a:solidFill>
                  <a:ea typeface="楷体" panose="02010609060101010101" charset="-122"/>
                </a:rPr>
                <a:t>集成</a:t>
              </a:r>
              <a:endParaRPr lang="zh-CN" altLang="en-US" sz="2400" b="1" dirty="0">
                <a:solidFill>
                  <a:srgbClr val="FF0000"/>
                </a:solidFill>
                <a:ea typeface="楷体" panose="02010609060101010101" charset="-122"/>
              </a:endParaRPr>
            </a:p>
          </p:txBody>
        </p:sp>
        <p:sp>
          <p:nvSpPr>
            <p:cNvPr id="12302" name="箭头 2275"/>
            <p:cNvSpPr/>
            <p:nvPr/>
          </p:nvSpPr>
          <p:spPr>
            <a:xfrm>
              <a:off x="114" y="339"/>
              <a:ext cx="1928" cy="1040"/>
            </a:xfrm>
            <a:prstGeom prst="line">
              <a:avLst/>
            </a:prstGeom>
            <a:ln w="19050" cap="flat" cmpd="sng">
              <a:solidFill>
                <a:schemeClr val="tx1"/>
              </a:solidFill>
              <a:prstDash val="solid"/>
              <a:round/>
              <a:headEnd type="none" w="med" len="med"/>
              <a:tailEnd type="arrow" w="lg" len="lg"/>
            </a:ln>
          </p:spPr>
        </p:sp>
        <p:sp>
          <p:nvSpPr>
            <p:cNvPr id="12303" name="箭头 2275"/>
            <p:cNvSpPr/>
            <p:nvPr/>
          </p:nvSpPr>
          <p:spPr>
            <a:xfrm flipV="1">
              <a:off x="114" y="2153"/>
              <a:ext cx="1928" cy="1"/>
            </a:xfrm>
            <a:prstGeom prst="line">
              <a:avLst/>
            </a:prstGeom>
            <a:ln w="19050" cap="flat" cmpd="sng">
              <a:solidFill>
                <a:schemeClr val="tx1"/>
              </a:solidFill>
              <a:prstDash val="solid"/>
              <a:round/>
              <a:headEnd type="none" w="med" len="med"/>
              <a:tailEnd type="arrow" w="lg" len="lg"/>
            </a:ln>
          </p:spPr>
        </p:sp>
        <p:sp>
          <p:nvSpPr>
            <p:cNvPr id="12304" name="箭头 2275"/>
            <p:cNvSpPr/>
            <p:nvPr/>
          </p:nvSpPr>
          <p:spPr>
            <a:xfrm flipV="1">
              <a:off x="114" y="3855"/>
              <a:ext cx="1928" cy="1246"/>
            </a:xfrm>
            <a:prstGeom prst="line">
              <a:avLst/>
            </a:prstGeom>
            <a:ln w="19050" cap="flat" cmpd="sng">
              <a:solidFill>
                <a:schemeClr val="tx1"/>
              </a:solidFill>
              <a:prstDash val="solid"/>
              <a:round/>
              <a:headEnd type="none" w="med" len="med"/>
              <a:tailEnd type="arrow" w="lg" len="lg"/>
            </a:ln>
          </p:spPr>
        </p:sp>
      </p:grpSp>
      <p:sp>
        <p:nvSpPr>
          <p:cNvPr id="12307" name="文本框 12306"/>
          <p:cNvSpPr txBox="1"/>
          <p:nvPr/>
        </p:nvSpPr>
        <p:spPr>
          <a:xfrm>
            <a:off x="6804660" y="1770698"/>
            <a:ext cx="876300" cy="1570990"/>
          </a:xfrm>
          <a:prstGeom prst="rect">
            <a:avLst/>
          </a:prstGeom>
          <a:solidFill>
            <a:schemeClr val="bg1"/>
          </a:solidFill>
          <a:ln w="19050" cap="flat" cmpd="sng">
            <a:solidFill>
              <a:schemeClr val="tx1"/>
            </a:solidFill>
            <a:prstDash val="solid"/>
            <a:miter/>
            <a:headEnd type="none" w="med" len="med"/>
            <a:tailEnd type="none" w="med" len="med"/>
          </a:ln>
        </p:spPr>
        <p:txBody>
          <a:bodyPr wrap="square" lIns="90170" tIns="46990" rIns="90170" bIns="46990" anchor="t">
            <a:spAutoFit/>
          </a:bodyPr>
          <a:p>
            <a:pPr algn="ctr"/>
            <a:endParaRPr lang="zh-CN" altLang="en-US" sz="2400" b="1" dirty="0">
              <a:solidFill>
                <a:srgbClr val="FF0000"/>
              </a:solidFill>
              <a:ea typeface="楷体" panose="02010609060101010101" charset="-122"/>
            </a:endParaRPr>
          </a:p>
          <a:p>
            <a:pPr algn="ctr"/>
            <a:r>
              <a:rPr lang="zh-CN" altLang="en-US" sz="2400" b="1" dirty="0">
                <a:solidFill>
                  <a:srgbClr val="FF0000"/>
                </a:solidFill>
                <a:ea typeface="楷体" panose="02010609060101010101" charset="-122"/>
              </a:rPr>
              <a:t>逻辑模型</a:t>
            </a:r>
            <a:endParaRPr lang="zh-CN" altLang="en-US" sz="2400" b="1" dirty="0">
              <a:solidFill>
                <a:srgbClr val="FF0000"/>
              </a:solidFill>
              <a:ea typeface="楷体" panose="02010609060101010101" charset="-122"/>
            </a:endParaRPr>
          </a:p>
          <a:p>
            <a:pPr algn="ctr"/>
            <a:endParaRPr lang="zh-CN" altLang="en-US" sz="2400" b="1" dirty="0">
              <a:solidFill>
                <a:srgbClr val="FF0000"/>
              </a:solidFill>
              <a:ea typeface="楷体" panose="02010609060101010101" charset="-122"/>
            </a:endParaRPr>
          </a:p>
        </p:txBody>
      </p:sp>
      <p:grpSp>
        <p:nvGrpSpPr>
          <p:cNvPr id="12308" name="组合 12307"/>
          <p:cNvGrpSpPr/>
          <p:nvPr/>
        </p:nvGrpSpPr>
        <p:grpSpPr>
          <a:xfrm>
            <a:off x="8976360" y="1617028"/>
            <a:ext cx="1511300" cy="1656397"/>
            <a:chOff x="0" y="0"/>
            <a:chExt cx="2380" cy="2609"/>
          </a:xfrm>
        </p:grpSpPr>
        <p:grpSp>
          <p:nvGrpSpPr>
            <p:cNvPr id="4" name="组合 12308"/>
            <p:cNvGrpSpPr/>
            <p:nvPr/>
          </p:nvGrpSpPr>
          <p:grpSpPr>
            <a:xfrm>
              <a:off x="0" y="0"/>
              <a:ext cx="2380" cy="2609"/>
              <a:chOff x="0" y="0"/>
              <a:chExt cx="1585" cy="1929"/>
            </a:xfrm>
          </p:grpSpPr>
          <p:sp>
            <p:nvSpPr>
              <p:cNvPr id="12309" name="圆柱形 12309"/>
              <p:cNvSpPr/>
              <p:nvPr/>
            </p:nvSpPr>
            <p:spPr>
              <a:xfrm>
                <a:off x="679" y="0"/>
                <a:ext cx="907" cy="1587"/>
              </a:xfrm>
              <a:prstGeom prst="can">
                <a:avLst>
                  <a:gd name="adj" fmla="val 43741"/>
                </a:avLst>
              </a:prstGeom>
              <a:solidFill>
                <a:schemeClr val="bg1"/>
              </a:solidFill>
              <a:ln w="19050" cap="flat" cmpd="sng">
                <a:solidFill>
                  <a:schemeClr val="tx1"/>
                </a:solidFill>
                <a:prstDash val="solid"/>
                <a:round/>
                <a:headEnd type="none" w="med" len="med"/>
                <a:tailEnd type="none" w="med" len="med"/>
              </a:ln>
            </p:spPr>
            <p:txBody>
              <a:bodyPr wrap="none" lIns="90170" tIns="46990" rIns="90170" bIns="46990" anchor="ctr"/>
              <a:p>
                <a:pPr algn="ctr"/>
                <a:endParaRPr lang="en-US" altLang="en-US" sz="2400">
                  <a:solidFill>
                    <a:srgbClr val="FF0000"/>
                  </a:solidFill>
                  <a:ea typeface="楷体" panose="02010609060101010101" charset="-122"/>
                  <a:cs typeface="Times New Roman" panose="02020603050405020304" pitchFamily="2" charset="0"/>
                </a:endParaRPr>
              </a:p>
            </p:txBody>
          </p:sp>
          <p:sp>
            <p:nvSpPr>
              <p:cNvPr id="12310" name="圆柱形 12310"/>
              <p:cNvSpPr/>
              <p:nvPr/>
            </p:nvSpPr>
            <p:spPr>
              <a:xfrm>
                <a:off x="0" y="343"/>
                <a:ext cx="907" cy="1587"/>
              </a:xfrm>
              <a:prstGeom prst="can">
                <a:avLst>
                  <a:gd name="adj" fmla="val 43741"/>
                </a:avLst>
              </a:prstGeom>
              <a:solidFill>
                <a:schemeClr val="bg1"/>
              </a:solidFill>
              <a:ln w="19050" cap="flat" cmpd="sng">
                <a:solidFill>
                  <a:schemeClr val="tx1"/>
                </a:solidFill>
                <a:prstDash val="solid"/>
                <a:round/>
                <a:headEnd type="none" w="med" len="med"/>
                <a:tailEnd type="none" w="med" len="med"/>
              </a:ln>
            </p:spPr>
            <p:txBody>
              <a:bodyPr wrap="none" lIns="90170" tIns="46990" rIns="90170" bIns="46990" anchor="ctr"/>
              <a:p>
                <a:pPr algn="ctr"/>
                <a:endParaRPr lang="en-US" altLang="en-US" sz="2400">
                  <a:solidFill>
                    <a:srgbClr val="FF0000"/>
                  </a:solidFill>
                  <a:ea typeface="楷体" panose="02010609060101010101" charset="-122"/>
                  <a:cs typeface="Times New Roman" panose="02020603050405020304" pitchFamily="2" charset="0"/>
                </a:endParaRPr>
              </a:p>
            </p:txBody>
          </p:sp>
        </p:grpSp>
        <p:sp>
          <p:nvSpPr>
            <p:cNvPr id="12311" name="文本框 12311"/>
            <p:cNvSpPr txBox="1"/>
            <p:nvPr/>
          </p:nvSpPr>
          <p:spPr>
            <a:xfrm>
              <a:off x="227" y="1133"/>
              <a:ext cx="1702" cy="1163"/>
            </a:xfrm>
            <a:prstGeom prst="rect">
              <a:avLst/>
            </a:prstGeom>
            <a:solidFill>
              <a:schemeClr val="bg1"/>
            </a:solidFill>
            <a:ln w="9525">
              <a:noFill/>
            </a:ln>
          </p:spPr>
          <p:txBody>
            <a:bodyPr wrap="square" lIns="90170" tIns="0" rIns="90170" bIns="0" anchor="t">
              <a:spAutoFit/>
            </a:bodyPr>
            <a:p>
              <a:pPr algn="dist">
                <a:lnSpc>
                  <a:spcPct val="100000"/>
                </a:lnSpc>
                <a:spcBef>
                  <a:spcPts val="0"/>
                </a:spcBef>
                <a:spcAft>
                  <a:spcPts val="0"/>
                </a:spcAft>
              </a:pPr>
              <a:r>
                <a:rPr lang="zh-CN" altLang="en-US" sz="2400" b="1" dirty="0">
                  <a:solidFill>
                    <a:srgbClr val="FF0000"/>
                  </a:solidFill>
                  <a:ea typeface="楷体" panose="02010609060101010101" charset="-122"/>
                </a:rPr>
                <a:t>物理模型</a:t>
              </a:r>
              <a:endParaRPr lang="zh-CN" altLang="en-US" sz="2400" b="1" dirty="0">
                <a:solidFill>
                  <a:srgbClr val="FF0000"/>
                </a:solidFill>
                <a:ea typeface="楷体" panose="02010609060101010101" charset="-122"/>
              </a:endParaRPr>
            </a:p>
          </p:txBody>
        </p:sp>
      </p:grpSp>
      <p:grpSp>
        <p:nvGrpSpPr>
          <p:cNvPr id="12313" name="组合 12312"/>
          <p:cNvGrpSpPr/>
          <p:nvPr/>
        </p:nvGrpSpPr>
        <p:grpSpPr>
          <a:xfrm>
            <a:off x="7726998" y="1256665"/>
            <a:ext cx="1223962" cy="3551285"/>
            <a:chOff x="0" y="0"/>
            <a:chExt cx="1928" cy="5592"/>
          </a:xfrm>
        </p:grpSpPr>
        <p:sp>
          <p:nvSpPr>
            <p:cNvPr id="5" name="箭头 2275"/>
            <p:cNvSpPr/>
            <p:nvPr/>
          </p:nvSpPr>
          <p:spPr>
            <a:xfrm>
              <a:off x="0" y="2012"/>
              <a:ext cx="1928" cy="1"/>
            </a:xfrm>
            <a:prstGeom prst="line">
              <a:avLst/>
            </a:prstGeom>
            <a:ln w="19050" cap="flat" cmpd="sng">
              <a:solidFill>
                <a:schemeClr val="tx1"/>
              </a:solidFill>
              <a:prstDash val="solid"/>
              <a:round/>
              <a:headEnd type="none" w="med" len="med"/>
              <a:tailEnd type="arrow" w="lg" len="lg"/>
            </a:ln>
          </p:spPr>
        </p:sp>
        <p:sp>
          <p:nvSpPr>
            <p:cNvPr id="12314" name="直接连接符 12314"/>
            <p:cNvSpPr/>
            <p:nvPr/>
          </p:nvSpPr>
          <p:spPr>
            <a:xfrm flipH="1">
              <a:off x="947" y="0"/>
              <a:ext cx="1" cy="4081"/>
            </a:xfrm>
            <a:prstGeom prst="line">
              <a:avLst/>
            </a:prstGeom>
            <a:ln w="25400" cap="flat" cmpd="sng">
              <a:solidFill>
                <a:srgbClr val="0000FF"/>
              </a:solidFill>
              <a:prstDash val="solid"/>
              <a:round/>
              <a:headEnd type="none" w="med" len="med"/>
              <a:tailEnd type="none" w="med" len="med"/>
            </a:ln>
          </p:spPr>
        </p:sp>
        <p:sp>
          <p:nvSpPr>
            <p:cNvPr id="12315" name="文本框 12315"/>
            <p:cNvSpPr txBox="1"/>
            <p:nvPr/>
          </p:nvSpPr>
          <p:spPr>
            <a:xfrm>
              <a:off x="284" y="4867"/>
              <a:ext cx="1361" cy="725"/>
            </a:xfrm>
            <a:prstGeom prst="rect">
              <a:avLst/>
            </a:prstGeom>
            <a:noFill/>
            <a:ln w="9525">
              <a:noFill/>
            </a:ln>
          </p:spPr>
          <p:txBody>
            <a:bodyPr wrap="square" anchor="t">
              <a:spAutoFit/>
            </a:bodyPr>
            <a:p>
              <a:pPr algn="ctr"/>
              <a:r>
                <a:rPr lang="zh-CN" altLang="en-US" sz="2400" b="1" dirty="0">
                  <a:solidFill>
                    <a:srgbClr val="FF0000"/>
                  </a:solidFill>
                  <a:ea typeface="楷体" panose="02010609060101010101" charset="-122"/>
                </a:rPr>
                <a:t>映射</a:t>
              </a:r>
              <a:endParaRPr lang="zh-CN" altLang="en-US" sz="2400" b="1" dirty="0">
                <a:solidFill>
                  <a:srgbClr val="FF0000"/>
                </a:solidFill>
                <a:ea typeface="楷体" panose="02010609060101010101" charset="-122"/>
              </a:endParaRPr>
            </a:p>
          </p:txBody>
        </p:sp>
      </p:grpSp>
      <p:grpSp>
        <p:nvGrpSpPr>
          <p:cNvPr id="12317" name="组合 12316"/>
          <p:cNvGrpSpPr/>
          <p:nvPr/>
        </p:nvGrpSpPr>
        <p:grpSpPr>
          <a:xfrm>
            <a:off x="5591810" y="1240790"/>
            <a:ext cx="1223963" cy="3566885"/>
            <a:chOff x="0" y="0"/>
            <a:chExt cx="1928" cy="5616"/>
          </a:xfrm>
        </p:grpSpPr>
        <p:sp>
          <p:nvSpPr>
            <p:cNvPr id="6" name="箭头 2275"/>
            <p:cNvSpPr/>
            <p:nvPr/>
          </p:nvSpPr>
          <p:spPr>
            <a:xfrm>
              <a:off x="0" y="2064"/>
              <a:ext cx="1928" cy="1"/>
            </a:xfrm>
            <a:prstGeom prst="line">
              <a:avLst/>
            </a:prstGeom>
            <a:ln w="19050" cap="flat" cmpd="sng">
              <a:solidFill>
                <a:schemeClr val="tx1"/>
              </a:solidFill>
              <a:prstDash val="solid"/>
              <a:round/>
              <a:headEnd type="none" w="med" len="med"/>
              <a:tailEnd type="arrow" w="lg" len="lg"/>
            </a:ln>
          </p:spPr>
        </p:sp>
        <p:sp>
          <p:nvSpPr>
            <p:cNvPr id="12318" name="文本框 12318"/>
            <p:cNvSpPr txBox="1"/>
            <p:nvPr/>
          </p:nvSpPr>
          <p:spPr>
            <a:xfrm>
              <a:off x="328" y="4891"/>
              <a:ext cx="1361" cy="725"/>
            </a:xfrm>
            <a:prstGeom prst="rect">
              <a:avLst/>
            </a:prstGeom>
            <a:noFill/>
            <a:ln w="9525">
              <a:noFill/>
            </a:ln>
          </p:spPr>
          <p:txBody>
            <a:bodyPr wrap="square" anchor="t">
              <a:spAutoFit/>
            </a:bodyPr>
            <a:p>
              <a:pPr algn="ctr"/>
              <a:r>
                <a:rPr lang="zh-CN" altLang="en-US" sz="2400" b="1" dirty="0">
                  <a:solidFill>
                    <a:srgbClr val="FF0000"/>
                  </a:solidFill>
                  <a:ea typeface="楷体" panose="02010609060101010101" charset="-122"/>
                </a:rPr>
                <a:t>转换</a:t>
              </a:r>
              <a:endParaRPr lang="zh-CN" altLang="en-US" sz="2400" b="1" dirty="0">
                <a:solidFill>
                  <a:srgbClr val="FF0000"/>
                </a:solidFill>
                <a:ea typeface="楷体" panose="02010609060101010101" charset="-122"/>
              </a:endParaRPr>
            </a:p>
          </p:txBody>
        </p:sp>
        <p:sp>
          <p:nvSpPr>
            <p:cNvPr id="12319" name="直接连接符 12319"/>
            <p:cNvSpPr/>
            <p:nvPr/>
          </p:nvSpPr>
          <p:spPr>
            <a:xfrm flipH="1">
              <a:off x="1008" y="0"/>
              <a:ext cx="1" cy="4081"/>
            </a:xfrm>
            <a:prstGeom prst="line">
              <a:avLst/>
            </a:prstGeom>
            <a:ln w="25400" cap="flat" cmpd="sng">
              <a:solidFill>
                <a:srgbClr val="0000FF"/>
              </a:solidFill>
              <a:prstDash val="solid"/>
              <a:round/>
              <a:headEnd type="none" w="med" len="med"/>
              <a:tailEnd type="none" w="med" len="med"/>
            </a:ln>
          </p:spPr>
        </p:sp>
      </p:grpSp>
      <p:grpSp>
        <p:nvGrpSpPr>
          <p:cNvPr id="10" name="组合 9"/>
          <p:cNvGrpSpPr/>
          <p:nvPr/>
        </p:nvGrpSpPr>
        <p:grpSpPr>
          <a:xfrm>
            <a:off x="4296410" y="4047490"/>
            <a:ext cx="6264910" cy="2055497"/>
            <a:chOff x="4366" y="6850"/>
            <a:chExt cx="9866" cy="3237"/>
          </a:xfrm>
        </p:grpSpPr>
        <p:grpSp>
          <p:nvGrpSpPr>
            <p:cNvPr id="12321" name="组合 12320"/>
            <p:cNvGrpSpPr/>
            <p:nvPr/>
          </p:nvGrpSpPr>
          <p:grpSpPr>
            <a:xfrm>
              <a:off x="4366" y="6875"/>
              <a:ext cx="2606" cy="2961"/>
              <a:chOff x="0" y="0"/>
              <a:chExt cx="2607" cy="2960"/>
            </a:xfrm>
          </p:grpSpPr>
          <p:sp>
            <p:nvSpPr>
              <p:cNvPr id="7" name="上箭头 12321"/>
              <p:cNvSpPr/>
              <p:nvPr/>
            </p:nvSpPr>
            <p:spPr>
              <a:xfrm>
                <a:off x="1019" y="0"/>
                <a:ext cx="454" cy="1814"/>
              </a:xfrm>
              <a:prstGeom prst="upArrow">
                <a:avLst>
                  <a:gd name="adj1" fmla="val 50000"/>
                  <a:gd name="adj2" fmla="val 99723"/>
                </a:avLst>
              </a:prstGeom>
              <a:solidFill>
                <a:schemeClr val="accent1"/>
              </a:solidFill>
              <a:ln w="9525" cap="flat" cmpd="sng">
                <a:solidFill>
                  <a:schemeClr val="tx1"/>
                </a:solidFill>
                <a:prstDash val="solid"/>
                <a:miter/>
                <a:headEnd type="none" w="med" len="med"/>
                <a:tailEnd type="none" w="med" len="med"/>
              </a:ln>
            </p:spPr>
            <p:txBody>
              <a:bodyPr anchor="t"/>
              <a:p>
                <a:pPr algn="ctr"/>
                <a:endParaRPr lang="zh-CN" altLang="en-US" sz="2400">
                  <a:cs typeface="Times New Roman" panose="02020603050405020304" pitchFamily="2" charset="0"/>
                </a:endParaRPr>
              </a:p>
            </p:txBody>
          </p:sp>
          <p:sp>
            <p:nvSpPr>
              <p:cNvPr id="12322" name="文本框 12322"/>
              <p:cNvSpPr txBox="1"/>
              <p:nvPr/>
            </p:nvSpPr>
            <p:spPr>
              <a:xfrm>
                <a:off x="0" y="1927"/>
                <a:ext cx="2607" cy="1033"/>
              </a:xfrm>
              <a:prstGeom prst="rect">
                <a:avLst/>
              </a:prstGeom>
              <a:noFill/>
              <a:ln w="9525">
                <a:noFill/>
              </a:ln>
            </p:spPr>
            <p:txBody>
              <a:bodyPr wrap="square" lIns="0" tIns="46990" rIns="0" bIns="46990" anchor="t">
                <a:spAutoFit/>
              </a:bodyPr>
              <a:p>
                <a:pPr algn="ctr"/>
                <a:r>
                  <a:rPr lang="zh-CN" altLang="en-US" sz="2400" b="1" dirty="0">
                    <a:ea typeface="楷体" panose="02010609060101010101" charset="-122"/>
                  </a:rPr>
                  <a:t>面向客观世界和用户</a:t>
                </a:r>
                <a:endParaRPr lang="zh-CN" altLang="en-US" sz="2400" b="1" dirty="0">
                  <a:ea typeface="楷体" panose="02010609060101010101" charset="-122"/>
                </a:endParaRPr>
              </a:p>
            </p:txBody>
          </p:sp>
        </p:grpSp>
        <p:grpSp>
          <p:nvGrpSpPr>
            <p:cNvPr id="12324" name="组合 12323"/>
            <p:cNvGrpSpPr/>
            <p:nvPr/>
          </p:nvGrpSpPr>
          <p:grpSpPr>
            <a:xfrm>
              <a:off x="7731" y="6850"/>
              <a:ext cx="2606" cy="2779"/>
              <a:chOff x="0" y="0"/>
              <a:chExt cx="2607" cy="2781"/>
            </a:xfrm>
          </p:grpSpPr>
          <p:sp>
            <p:nvSpPr>
              <p:cNvPr id="8" name="上箭头 12324"/>
              <p:cNvSpPr/>
              <p:nvPr/>
            </p:nvSpPr>
            <p:spPr>
              <a:xfrm>
                <a:off x="1019" y="0"/>
                <a:ext cx="454" cy="1814"/>
              </a:xfrm>
              <a:prstGeom prst="upArrow">
                <a:avLst>
                  <a:gd name="adj1" fmla="val 50000"/>
                  <a:gd name="adj2" fmla="val 99723"/>
                </a:avLst>
              </a:prstGeom>
              <a:solidFill>
                <a:schemeClr val="accent1"/>
              </a:solidFill>
              <a:ln w="9525" cap="flat" cmpd="sng">
                <a:solidFill>
                  <a:schemeClr val="tx1"/>
                </a:solidFill>
                <a:prstDash val="solid"/>
                <a:miter/>
                <a:headEnd type="none" w="med" len="med"/>
                <a:tailEnd type="none" w="med" len="med"/>
              </a:ln>
            </p:spPr>
            <p:txBody>
              <a:bodyPr anchor="t"/>
              <a:p>
                <a:pPr algn="ctr"/>
                <a:endParaRPr lang="zh-CN" altLang="en-US" sz="2400">
                  <a:cs typeface="Times New Roman" panose="02020603050405020304" pitchFamily="2" charset="0"/>
                </a:endParaRPr>
              </a:p>
            </p:txBody>
          </p:sp>
          <p:sp>
            <p:nvSpPr>
              <p:cNvPr id="12325" name="文本框 12325"/>
              <p:cNvSpPr txBox="1"/>
              <p:nvPr/>
            </p:nvSpPr>
            <p:spPr>
              <a:xfrm>
                <a:off x="0" y="1927"/>
                <a:ext cx="2607" cy="854"/>
              </a:xfrm>
              <a:prstGeom prst="rect">
                <a:avLst/>
              </a:prstGeom>
              <a:noFill/>
              <a:ln w="9525">
                <a:noFill/>
              </a:ln>
            </p:spPr>
            <p:txBody>
              <a:bodyPr wrap="square" lIns="0" tIns="46990" rIns="0" bIns="46990" anchor="t">
                <a:spAutoFit/>
              </a:bodyPr>
              <a:p>
                <a:pPr algn="ctr"/>
                <a:r>
                  <a:rPr lang="zh-CN" altLang="en-US" sz="2400" b="1" dirty="0">
                    <a:ea typeface="楷体" panose="02010609060101010101" charset="-122"/>
                    <a:cs typeface="Times New Roman" panose="02020603050405020304" pitchFamily="2" charset="0"/>
                  </a:rPr>
                  <a:t>面向数据库系统和DBA</a:t>
                </a:r>
                <a:endParaRPr lang="zh-CN" altLang="en-US" sz="2400" b="1" dirty="0">
                  <a:ea typeface="楷体" panose="02010609060101010101" charset="-122"/>
                  <a:cs typeface="Times New Roman" panose="02020603050405020304" pitchFamily="2" charset="0"/>
                </a:endParaRPr>
              </a:p>
            </p:txBody>
          </p:sp>
        </p:grpSp>
        <p:grpSp>
          <p:nvGrpSpPr>
            <p:cNvPr id="12327" name="组合 12326"/>
            <p:cNvGrpSpPr/>
            <p:nvPr/>
          </p:nvGrpSpPr>
          <p:grpSpPr>
            <a:xfrm>
              <a:off x="10905" y="6850"/>
              <a:ext cx="3327" cy="3237"/>
              <a:chOff x="-441" y="0"/>
              <a:chExt cx="3326" cy="3239"/>
            </a:xfrm>
          </p:grpSpPr>
          <p:sp>
            <p:nvSpPr>
              <p:cNvPr id="9" name="上箭头 12327"/>
              <p:cNvSpPr/>
              <p:nvPr/>
            </p:nvSpPr>
            <p:spPr>
              <a:xfrm>
                <a:off x="1244" y="0"/>
                <a:ext cx="454" cy="1814"/>
              </a:xfrm>
              <a:prstGeom prst="upArrow">
                <a:avLst>
                  <a:gd name="adj1" fmla="val 50000"/>
                  <a:gd name="adj2" fmla="val 99723"/>
                </a:avLst>
              </a:prstGeom>
              <a:solidFill>
                <a:schemeClr val="accent1"/>
              </a:solidFill>
              <a:ln w="9525" cap="flat" cmpd="sng">
                <a:solidFill>
                  <a:schemeClr val="tx1"/>
                </a:solidFill>
                <a:prstDash val="solid"/>
                <a:miter/>
                <a:headEnd type="none" w="med" len="med"/>
                <a:tailEnd type="none" w="med" len="med"/>
              </a:ln>
            </p:spPr>
            <p:txBody>
              <a:bodyPr anchor="t"/>
              <a:p>
                <a:pPr algn="ctr"/>
                <a:endParaRPr lang="zh-CN" altLang="en-US" sz="2400">
                  <a:cs typeface="Times New Roman" panose="02020603050405020304" pitchFamily="2" charset="0"/>
                </a:endParaRPr>
              </a:p>
            </p:txBody>
          </p:sp>
          <p:sp>
            <p:nvSpPr>
              <p:cNvPr id="12328" name="文本框 12328"/>
              <p:cNvSpPr txBox="1"/>
              <p:nvPr/>
            </p:nvSpPr>
            <p:spPr>
              <a:xfrm>
                <a:off x="-441" y="1927"/>
                <a:ext cx="3326" cy="1312"/>
              </a:xfrm>
              <a:prstGeom prst="rect">
                <a:avLst/>
              </a:prstGeom>
              <a:noFill/>
              <a:ln w="9525">
                <a:noFill/>
              </a:ln>
            </p:spPr>
            <p:txBody>
              <a:bodyPr wrap="square" lIns="0" tIns="46990" rIns="0" bIns="46990" anchor="t">
                <a:spAutoFit/>
              </a:bodyPr>
              <a:p>
                <a:pPr algn="ctr"/>
                <a:r>
                  <a:rPr lang="zh-CN" altLang="en-US" sz="2400" b="1" dirty="0">
                    <a:ea typeface="楷体" panose="02010609060101010101" charset="-122"/>
                  </a:rPr>
                  <a:t>面向计算机系统和物理实现</a:t>
                </a:r>
                <a:endParaRPr lang="zh-CN" altLang="en-US" sz="2400" b="1" dirty="0">
                  <a:ea typeface="楷体" panose="02010609060101010101" charset="-122"/>
                </a:endParaRPr>
              </a:p>
            </p:txBody>
          </p:sp>
        </p:grpSp>
      </p:grpSp>
      <p:sp>
        <p:nvSpPr>
          <p:cNvPr id="11" name="灯片编号占位符 10"/>
          <p:cNvSpPr>
            <a:spLocks noGrp="1"/>
          </p:cNvSpPr>
          <p:nvPr>
            <p:ph type="sldNum" sz="quarter" idx="11"/>
          </p:nvPr>
        </p:nvSpPr>
        <p:spPr>
          <a:xfrm>
            <a:off x="0" y="6695365"/>
            <a:ext cx="4114800"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12" name="页脚占位符 1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blinds(horizontal)">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300"/>
                                        </p:tgtEl>
                                        <p:attrNameLst>
                                          <p:attrName>style.visibility</p:attrName>
                                        </p:attrNameLst>
                                      </p:cBhvr>
                                      <p:to>
                                        <p:strVal val="visible"/>
                                      </p:to>
                                    </p:set>
                                    <p:animEffect transition="in" filter="blinds(horizontal)">
                                      <p:cBhvr>
                                        <p:cTn id="12" dur="500"/>
                                        <p:tgtEl>
                                          <p:spTgt spid="12300"/>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1229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317"/>
                                        </p:tgtEl>
                                        <p:attrNameLst>
                                          <p:attrName>style.visibility</p:attrName>
                                        </p:attrNameLst>
                                      </p:cBhvr>
                                      <p:to>
                                        <p:strVal val="visible"/>
                                      </p:to>
                                    </p:set>
                                    <p:animEffect transition="in" filter="blinds(horizontal)">
                                      <p:cBhvr>
                                        <p:cTn id="20" dur="500"/>
                                        <p:tgtEl>
                                          <p:spTgt spid="12317"/>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1230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2313"/>
                                        </p:tgtEl>
                                        <p:attrNameLst>
                                          <p:attrName>style.visibility</p:attrName>
                                        </p:attrNameLst>
                                      </p:cBhvr>
                                      <p:to>
                                        <p:strVal val="visible"/>
                                      </p:to>
                                    </p:set>
                                    <p:animEffect transition="in" filter="blinds(horizontal)">
                                      <p:cBhvr>
                                        <p:cTn id="28" dur="500"/>
                                        <p:tgtEl>
                                          <p:spTgt spid="12313"/>
                                        </p:tgtEl>
                                      </p:cBhvr>
                                    </p:animEffec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1230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linds(horizontal)">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 grpId="0" bldLvl="0" animBg="1"/>
      <p:bldP spid="1230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dirty="0"/>
              <a:t>1.2.2  </a:t>
            </a:r>
            <a:r>
              <a:rPr lang="zh-CN" altLang="en-US" dirty="0"/>
              <a:t>概念模型</a:t>
            </a:r>
            <a:endParaRPr lang="zh-CN" altLang="en-US" dirty="0"/>
          </a:p>
        </p:txBody>
      </p:sp>
      <p:sp>
        <p:nvSpPr>
          <p:cNvPr id="60419" name="Rectangle 3"/>
          <p:cNvSpPr>
            <a:spLocks noGrp="1" noChangeArrowheads="1"/>
          </p:cNvSpPr>
          <p:nvPr>
            <p:ph idx="1"/>
          </p:nvPr>
        </p:nvSpPr>
        <p:spPr/>
        <p:txBody>
          <a:bodyPr>
            <a:noAutofit/>
          </a:bodyPr>
          <a:lstStyle/>
          <a:p>
            <a:pPr>
              <a:lnSpc>
                <a:spcPct val="100000"/>
              </a:lnSpc>
              <a:spcBef>
                <a:spcPct val="0"/>
              </a:spcBef>
            </a:pPr>
            <a:r>
              <a:rPr lang="zh-CN" altLang="en-US" dirty="0">
                <a:solidFill>
                  <a:srgbClr val="FF0000"/>
                </a:solidFill>
              </a:rPr>
              <a:t>概念模型的用途</a:t>
            </a:r>
            <a:endParaRPr lang="zh-CN" altLang="en-US" dirty="0">
              <a:solidFill>
                <a:srgbClr val="1F2DA8"/>
              </a:solidFill>
            </a:endParaRPr>
          </a:p>
          <a:p>
            <a:pPr lvl="1">
              <a:lnSpc>
                <a:spcPct val="100000"/>
              </a:lnSpc>
              <a:spcBef>
                <a:spcPct val="0"/>
              </a:spcBef>
            </a:pPr>
            <a:r>
              <a:rPr lang="zh-CN" altLang="en-US" dirty="0">
                <a:solidFill>
                  <a:srgbClr val="1F2DA8"/>
                </a:solidFill>
              </a:rPr>
              <a:t>概念模型用于信息世界的建模</a:t>
            </a:r>
            <a:endParaRPr lang="zh-CN" altLang="en-US" dirty="0">
              <a:solidFill>
                <a:srgbClr val="1F2DA8"/>
              </a:solidFill>
            </a:endParaRPr>
          </a:p>
          <a:p>
            <a:pPr lvl="1">
              <a:lnSpc>
                <a:spcPct val="100000"/>
              </a:lnSpc>
              <a:spcBef>
                <a:spcPct val="0"/>
              </a:spcBef>
            </a:pPr>
            <a:r>
              <a:rPr lang="zh-CN" altLang="en-US" dirty="0">
                <a:solidFill>
                  <a:srgbClr val="1F2DA8"/>
                </a:solidFill>
              </a:rPr>
              <a:t>是现实世界到机器世界的一个中间层次</a:t>
            </a:r>
            <a:endParaRPr lang="zh-CN" altLang="en-US" dirty="0">
              <a:solidFill>
                <a:srgbClr val="1F2DA8"/>
              </a:solidFill>
            </a:endParaRPr>
          </a:p>
          <a:p>
            <a:pPr lvl="1">
              <a:lnSpc>
                <a:spcPct val="100000"/>
              </a:lnSpc>
              <a:spcBef>
                <a:spcPct val="0"/>
              </a:spcBef>
            </a:pPr>
            <a:r>
              <a:rPr lang="zh-CN" altLang="en-US" dirty="0">
                <a:solidFill>
                  <a:srgbClr val="1F2DA8"/>
                </a:solidFill>
              </a:rPr>
              <a:t>是数据库设计的有力工具</a:t>
            </a:r>
            <a:endParaRPr lang="zh-CN" altLang="en-US" dirty="0">
              <a:solidFill>
                <a:srgbClr val="1F2DA8"/>
              </a:solidFill>
            </a:endParaRPr>
          </a:p>
          <a:p>
            <a:pPr lvl="1">
              <a:lnSpc>
                <a:spcPct val="100000"/>
              </a:lnSpc>
              <a:spcBef>
                <a:spcPct val="0"/>
              </a:spcBef>
            </a:pPr>
            <a:r>
              <a:rPr lang="zh-CN" altLang="en-US" dirty="0">
                <a:solidFill>
                  <a:srgbClr val="1F2DA8"/>
                </a:solidFill>
              </a:rPr>
              <a:t>是数据库设计人员和用户之间进行交流的语言</a:t>
            </a:r>
            <a:endParaRPr lang="zh-CN" altLang="en-US" dirty="0">
              <a:solidFill>
                <a:srgbClr val="1F2DA8"/>
              </a:solidFill>
            </a:endParaRPr>
          </a:p>
          <a:p>
            <a:pPr>
              <a:lnSpc>
                <a:spcPct val="100000"/>
              </a:lnSpc>
              <a:spcBef>
                <a:spcPts val="2000"/>
              </a:spcBef>
            </a:pPr>
            <a:r>
              <a:rPr lang="zh-CN" altLang="en-US" dirty="0">
                <a:solidFill>
                  <a:srgbClr val="FF0000"/>
                </a:solidFill>
              </a:rPr>
              <a:t>对概念模型的基本要求</a:t>
            </a:r>
            <a:endParaRPr lang="zh-CN" altLang="en-US" dirty="0">
              <a:solidFill>
                <a:srgbClr val="1F2DA8"/>
              </a:solidFill>
            </a:endParaRPr>
          </a:p>
          <a:p>
            <a:pPr lvl="1">
              <a:lnSpc>
                <a:spcPct val="100000"/>
              </a:lnSpc>
              <a:spcBef>
                <a:spcPct val="0"/>
              </a:spcBef>
            </a:pPr>
            <a:r>
              <a:rPr lang="zh-CN" altLang="en-US" dirty="0">
                <a:solidFill>
                  <a:srgbClr val="1F2DA8"/>
                </a:solidFill>
              </a:rPr>
              <a:t>较强的语义表达能力</a:t>
            </a:r>
            <a:endParaRPr lang="zh-CN" altLang="en-US" dirty="0">
              <a:solidFill>
                <a:srgbClr val="1F2DA8"/>
              </a:solidFill>
            </a:endParaRPr>
          </a:p>
          <a:p>
            <a:pPr lvl="1">
              <a:lnSpc>
                <a:spcPct val="100000"/>
              </a:lnSpc>
              <a:spcBef>
                <a:spcPct val="0"/>
              </a:spcBef>
            </a:pPr>
            <a:r>
              <a:rPr lang="zh-CN" altLang="en-US" dirty="0">
                <a:solidFill>
                  <a:srgbClr val="1F2DA8"/>
                </a:solidFill>
              </a:rPr>
              <a:t>简单、清晰、易于用户理解</a:t>
            </a:r>
            <a:endParaRPr lang="zh-CN" altLang="en-US" dirty="0">
              <a:solidFill>
                <a:srgbClr val="1F2DA8"/>
              </a:solidFill>
            </a:endParaRPr>
          </a:p>
          <a:p>
            <a:pPr lvl="0">
              <a:lnSpc>
                <a:spcPct val="100000"/>
              </a:lnSpc>
              <a:spcBef>
                <a:spcPts val="2000"/>
              </a:spcBef>
            </a:pPr>
            <a:r>
              <a:rPr lang="zh-CN" altLang="en-US" sz="2800" dirty="0">
                <a:solidFill>
                  <a:srgbClr val="FF0000"/>
                </a:solidFill>
                <a:sym typeface="+mn-ea"/>
              </a:rPr>
              <a:t>概念模型的特点</a:t>
            </a:r>
            <a:endParaRPr lang="zh-CN" altLang="en-US" sz="2800" dirty="0">
              <a:solidFill>
                <a:srgbClr val="1F2DA8"/>
              </a:solidFill>
            </a:endParaRPr>
          </a:p>
          <a:p>
            <a:pPr lvl="1" eaLnBrk="1" hangingPunct="1">
              <a:lnSpc>
                <a:spcPct val="100000"/>
              </a:lnSpc>
              <a:spcBef>
                <a:spcPct val="0"/>
              </a:spcBef>
            </a:pPr>
            <a:r>
              <a:rPr lang="zh-CN" altLang="en-US" sz="2800" dirty="0">
                <a:solidFill>
                  <a:srgbClr val="1F2DA8"/>
                </a:solidFill>
                <a:sym typeface="+mn-ea"/>
              </a:rPr>
              <a:t>侧重于对客观世界中复杂事物的结构描述及它们之间的内在联系的刻划，不涉及具体的描述细节和物理实现因素。</a:t>
            </a:r>
            <a:endParaRPr lang="zh-CN" altLang="en-US" sz="2800" dirty="0">
              <a:solidFill>
                <a:srgbClr val="1F2DA8"/>
              </a:solidFill>
            </a:endParaRPr>
          </a:p>
          <a:p>
            <a:pPr lvl="1" eaLnBrk="1" hangingPunct="1">
              <a:lnSpc>
                <a:spcPct val="100000"/>
              </a:lnSpc>
              <a:spcBef>
                <a:spcPct val="0"/>
              </a:spcBef>
            </a:pPr>
            <a:r>
              <a:rPr lang="zh-CN" altLang="en-US" sz="2800" dirty="0">
                <a:solidFill>
                  <a:srgbClr val="1F2DA8"/>
                </a:solidFill>
                <a:sym typeface="+mn-ea"/>
              </a:rPr>
              <a:t>是一种面向客观世界和用户的模型，与</a:t>
            </a:r>
            <a:r>
              <a:rPr lang="en-US" altLang="x-none" sz="2800" dirty="0">
                <a:solidFill>
                  <a:srgbClr val="1F2DA8"/>
                </a:solidFill>
                <a:sym typeface="+mn-ea"/>
              </a:rPr>
              <a:t>DBMS</a:t>
            </a:r>
            <a:r>
              <a:rPr lang="zh-CN" altLang="en-US" sz="2800" dirty="0">
                <a:solidFill>
                  <a:srgbClr val="1F2DA8"/>
                </a:solidFill>
                <a:sym typeface="+mn-ea"/>
              </a:rPr>
              <a:t>及计算机实现无关。</a:t>
            </a:r>
            <a:endParaRPr lang="zh-CN" altLang="en-US" sz="2800" dirty="0">
              <a:solidFill>
                <a:srgbClr val="1F2DA8"/>
              </a:solidFill>
              <a:sym typeface="+mn-ea"/>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7" dur="500"/>
                                        <p:tgtEl>
                                          <p:spTgt spid="60419">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10" dur="500"/>
                                        <p:tgtEl>
                                          <p:spTgt spid="60419">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13" dur="500"/>
                                        <p:tgtEl>
                                          <p:spTgt spid="60419">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0419">
                                            <p:txEl>
                                              <p:pRg st="8" end="8"/>
                                            </p:txEl>
                                          </p:spTgt>
                                        </p:tgtEl>
                                        <p:attrNameLst>
                                          <p:attrName>style.visibility</p:attrName>
                                        </p:attrNameLst>
                                      </p:cBhvr>
                                      <p:to>
                                        <p:strVal val="visible"/>
                                      </p:to>
                                    </p:set>
                                    <p:anim calcmode="lin" valueType="num">
                                      <p:cBhvr additive="base">
                                        <p:cTn id="18" dur="500" fill="hold"/>
                                        <p:tgtEl>
                                          <p:spTgt spid="60419">
                                            <p:txEl>
                                              <p:pRg st="8" end="8"/>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0419">
                                            <p:txEl>
                                              <p:pRg st="8" end="8"/>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60419">
                                            <p:txEl>
                                              <p:pRg st="9" end="9"/>
                                            </p:txEl>
                                          </p:spTgt>
                                        </p:tgtEl>
                                        <p:attrNameLst>
                                          <p:attrName>style.visibility</p:attrName>
                                        </p:attrNameLst>
                                      </p:cBhvr>
                                      <p:to>
                                        <p:strVal val="visible"/>
                                      </p:to>
                                    </p:set>
                                    <p:anim calcmode="lin" valueType="num">
                                      <p:cBhvr additive="base">
                                        <p:cTn id="22" dur="500" fill="hold"/>
                                        <p:tgtEl>
                                          <p:spTgt spid="60419">
                                            <p:txEl>
                                              <p:pRg st="9" end="9"/>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0419">
                                            <p:txEl>
                                              <p:pRg st="9" end="9"/>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60419">
                                            <p:txEl>
                                              <p:pRg st="10" end="10"/>
                                            </p:txEl>
                                          </p:spTgt>
                                        </p:tgtEl>
                                        <p:attrNameLst>
                                          <p:attrName>style.visibility</p:attrName>
                                        </p:attrNameLst>
                                      </p:cBhvr>
                                      <p:to>
                                        <p:strVal val="visible"/>
                                      </p:to>
                                    </p:set>
                                    <p:anim calcmode="lin" valueType="num">
                                      <p:cBhvr additive="base">
                                        <p:cTn id="26" dur="500" fill="hold"/>
                                        <p:tgtEl>
                                          <p:spTgt spid="60419">
                                            <p:txEl>
                                              <p:pRg st="10" end="1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041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dirty="0"/>
              <a:t>信息世界中的基本概念（</a:t>
            </a:r>
            <a:r>
              <a:rPr lang="en-US" altLang="zh-CN" dirty="0"/>
              <a:t>1</a:t>
            </a:r>
            <a:r>
              <a:rPr lang="zh-CN" altLang="en-US" dirty="0"/>
              <a:t>）</a:t>
            </a:r>
            <a:endParaRPr lang="zh-CN" altLang="en-US" dirty="0"/>
          </a:p>
        </p:txBody>
      </p:sp>
      <p:sp>
        <p:nvSpPr>
          <p:cNvPr id="62467" name="Rectangle 3"/>
          <p:cNvSpPr>
            <a:spLocks noGrp="1" noChangeArrowheads="1"/>
          </p:cNvSpPr>
          <p:nvPr>
            <p:ph idx="1"/>
          </p:nvPr>
        </p:nvSpPr>
        <p:spPr/>
        <p:txBody>
          <a:bodyPr>
            <a:noAutofit/>
          </a:bodyPr>
          <a:lstStyle/>
          <a:p>
            <a:pPr>
              <a:lnSpc>
                <a:spcPct val="100000"/>
              </a:lnSpc>
            </a:pPr>
            <a:r>
              <a:rPr lang="zh-CN" altLang="en-US" dirty="0">
                <a:solidFill>
                  <a:srgbClr val="FF0000"/>
                </a:solidFill>
              </a:rPr>
              <a:t>实体</a:t>
            </a:r>
            <a:r>
              <a:rPr lang="zh-CN" altLang="en-US" dirty="0"/>
              <a:t>（</a:t>
            </a:r>
            <a:r>
              <a:rPr lang="en-US" altLang="zh-CN" dirty="0"/>
              <a:t>Entity</a:t>
            </a:r>
            <a:r>
              <a:rPr lang="zh-CN" altLang="en-US" dirty="0"/>
              <a:t>） </a:t>
            </a:r>
            <a:endParaRPr lang="zh-CN" altLang="en-US" dirty="0"/>
          </a:p>
          <a:p>
            <a:pPr lvl="1">
              <a:lnSpc>
                <a:spcPct val="100000"/>
              </a:lnSpc>
            </a:pPr>
            <a:r>
              <a:rPr lang="zh-CN" altLang="en-US" dirty="0"/>
              <a:t>客观存在并可相互区别的事物称为实体。可以是具体的人、事、物或抽象的概念。</a:t>
            </a:r>
            <a:endParaRPr lang="zh-CN" altLang="en-US" dirty="0"/>
          </a:p>
          <a:p>
            <a:pPr lvl="1">
              <a:lnSpc>
                <a:spcPct val="100000"/>
              </a:lnSpc>
            </a:pPr>
            <a:r>
              <a:rPr lang="zh-CN" altLang="en-US" dirty="0">
                <a:sym typeface="+mn-ea"/>
              </a:rPr>
              <a:t>每一个实体有</a:t>
            </a:r>
            <a:r>
              <a:rPr lang="zh-CN" altLang="en-US" dirty="0">
                <a:latin typeface="Times New Roman" panose="02020603050405020304" pitchFamily="2" charset="0"/>
                <a:cs typeface="Times New Roman" panose="02020603050405020304" pitchFamily="2" charset="0"/>
                <a:sym typeface="+mn-ea"/>
              </a:rPr>
              <a:t>一个</a:t>
            </a: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sym typeface="+mn-ea"/>
              </a:rPr>
              <a:t>实体名</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，同类实体具有相同的实体名。</a:t>
            </a:r>
            <a:endParaRPr lang="zh-CN" altLang="en-US" dirty="0"/>
          </a:p>
          <a:p>
            <a:pPr>
              <a:lnSpc>
                <a:spcPct val="100000"/>
              </a:lnSpc>
              <a:spcBef>
                <a:spcPts val="2000"/>
              </a:spcBef>
            </a:pPr>
            <a:r>
              <a:rPr lang="zh-CN" altLang="en-US" dirty="0">
                <a:solidFill>
                  <a:srgbClr val="FF0000"/>
                </a:solidFill>
              </a:rPr>
              <a:t>属性</a:t>
            </a:r>
            <a:r>
              <a:rPr lang="zh-CN" altLang="en-US" dirty="0"/>
              <a:t>（</a:t>
            </a:r>
            <a:r>
              <a:rPr lang="en-US" altLang="zh-CN" dirty="0"/>
              <a:t>Attribute</a:t>
            </a:r>
            <a:r>
              <a:rPr lang="zh-CN" altLang="en-US" dirty="0"/>
              <a:t>） </a:t>
            </a:r>
            <a:endParaRPr lang="zh-CN" altLang="en-US" dirty="0"/>
          </a:p>
          <a:p>
            <a:pPr lvl="1">
              <a:lnSpc>
                <a:spcPct val="100000"/>
              </a:lnSpc>
            </a:pPr>
            <a:r>
              <a:rPr lang="zh-CN" altLang="en-US" dirty="0"/>
              <a:t>实体具有的某一特性称为属性。一个实体可以由若干个属性来刻画。  </a:t>
            </a:r>
            <a:endParaRPr lang="zh-CN" altLang="en-US" dirty="0"/>
          </a:p>
          <a:p>
            <a:pPr lvl="1">
              <a:lnSpc>
                <a:spcPct val="100000"/>
              </a:lnSpc>
            </a:pPr>
            <a:r>
              <a:rPr lang="zh-CN" altLang="en-US" dirty="0">
                <a:latin typeface="Times New Roman" panose="02020603050405020304" pitchFamily="2" charset="0"/>
                <a:cs typeface="Times New Roman" panose="02020603050405020304" pitchFamily="2" charset="0"/>
                <a:sym typeface="+mn-ea"/>
              </a:rPr>
              <a:t>每一个属性有一个</a:t>
            </a: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sym typeface="+mn-ea"/>
              </a:rPr>
              <a:t>属性名</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，在同一个实体内属性名互不</a:t>
            </a:r>
            <a:r>
              <a:rPr lang="zh-CN" altLang="en-US" dirty="0">
                <a:latin typeface="Times New Roman" panose="02020603050405020304" pitchFamily="2" charset="0"/>
                <a:cs typeface="Times New Roman" panose="02020603050405020304" pitchFamily="2" charset="0"/>
                <a:sym typeface="+mn-ea"/>
              </a:rPr>
              <a:t>相同。</a:t>
            </a:r>
            <a:endParaRPr lang="zh-CN" altLang="en-US" dirty="0">
              <a:latin typeface="Times New Roman" panose="02020603050405020304" pitchFamily="2" charset="0"/>
              <a:cs typeface="Times New Roman" panose="02020603050405020304" pitchFamily="2" charset="0"/>
              <a:sym typeface="+mn-ea"/>
            </a:endParaRPr>
          </a:p>
          <a:p>
            <a:pPr lvl="1">
              <a:lnSpc>
                <a:spcPct val="100000"/>
              </a:lnSpc>
            </a:pPr>
            <a:r>
              <a:rPr lang="zh-CN" altLang="en-US" dirty="0">
                <a:latin typeface="Times New Roman" panose="02020603050405020304" pitchFamily="2" charset="0"/>
                <a:cs typeface="Times New Roman" panose="02020603050405020304" pitchFamily="2" charset="0"/>
                <a:sym typeface="+mn-ea"/>
              </a:rPr>
              <a:t>同类实体有相同的属性组成，但在同名属性上的取值可能互不相同</a:t>
            </a:r>
            <a:endParaRPr lang="zh-CN" altLang="en-US" dirty="0"/>
          </a:p>
          <a:p>
            <a:pPr>
              <a:lnSpc>
                <a:spcPct val="100000"/>
              </a:lnSpc>
              <a:spcBef>
                <a:spcPts val="2000"/>
              </a:spcBef>
            </a:pPr>
            <a:r>
              <a:rPr lang="zh-CN" altLang="en-US" sz="3000" dirty="0">
                <a:solidFill>
                  <a:srgbClr val="FF0000"/>
                </a:solidFill>
                <a:sym typeface="+mn-ea"/>
              </a:rPr>
              <a:t>联系</a:t>
            </a:r>
            <a:r>
              <a:rPr lang="zh-CN" altLang="en-US" sz="3000" dirty="0">
                <a:sym typeface="+mn-ea"/>
              </a:rPr>
              <a:t>（</a:t>
            </a:r>
            <a:r>
              <a:rPr lang="en-US" altLang="zh-CN" sz="3000" dirty="0">
                <a:sym typeface="+mn-ea"/>
              </a:rPr>
              <a:t>Relationship</a:t>
            </a:r>
            <a:r>
              <a:rPr lang="zh-CN" altLang="en-US" sz="3000" dirty="0">
                <a:sym typeface="+mn-ea"/>
              </a:rPr>
              <a:t>）  </a:t>
            </a:r>
            <a:endParaRPr lang="zh-CN" altLang="en-US" sz="3000" dirty="0"/>
          </a:p>
          <a:p>
            <a:pPr lvl="1">
              <a:lnSpc>
                <a:spcPct val="100000"/>
              </a:lnSpc>
            </a:pPr>
            <a:r>
              <a:rPr lang="zh-CN" altLang="en-US" sz="3000" dirty="0">
                <a:sym typeface="+mn-ea"/>
              </a:rPr>
              <a:t>现实世界中事物内部以及事物之间的联系，在信息世界中反映为</a:t>
            </a:r>
            <a:r>
              <a:rPr lang="zh-CN" altLang="en-US" sz="3000" dirty="0">
                <a:solidFill>
                  <a:srgbClr val="C00000"/>
                </a:solidFill>
                <a:sym typeface="+mn-ea"/>
              </a:rPr>
              <a:t>实体（型）内部的联系</a:t>
            </a:r>
            <a:r>
              <a:rPr lang="zh-CN" altLang="en-US" sz="3000" dirty="0">
                <a:sym typeface="+mn-ea"/>
              </a:rPr>
              <a:t>和</a:t>
            </a:r>
            <a:r>
              <a:rPr lang="zh-CN" altLang="en-US" sz="3000" dirty="0">
                <a:solidFill>
                  <a:srgbClr val="C00000"/>
                </a:solidFill>
                <a:sym typeface="+mn-ea"/>
              </a:rPr>
              <a:t>实体（型）之间的联系</a:t>
            </a:r>
            <a:r>
              <a:rPr lang="zh-CN" altLang="en-US" sz="3000" dirty="0">
                <a:sym typeface="+mn-ea"/>
              </a:rPr>
              <a:t>。</a:t>
            </a:r>
            <a:endParaRPr lang="zh-CN" altLang="en-US" sz="3000" dirty="0"/>
          </a:p>
          <a:p>
            <a:pPr lvl="1">
              <a:lnSpc>
                <a:spcPct val="100000"/>
              </a:lnSpc>
            </a:pPr>
            <a:r>
              <a:rPr lang="zh-CN" altLang="en-US" sz="3000" dirty="0">
                <a:sym typeface="+mn-ea"/>
              </a:rPr>
              <a:t>每一个联系有一个</a:t>
            </a:r>
            <a:r>
              <a:rPr lang="en-US" altLang="zh-CN" sz="3000" dirty="0">
                <a:latin typeface="Times New Roman" panose="02020603050405020304" pitchFamily="2" charset="0"/>
                <a:cs typeface="Times New Roman" panose="02020603050405020304" pitchFamily="2" charset="0"/>
                <a:sym typeface="+mn-ea"/>
              </a:rPr>
              <a:t>‘</a:t>
            </a:r>
            <a:r>
              <a:rPr lang="zh-CN" altLang="en-US" sz="3000" dirty="0">
                <a:solidFill>
                  <a:srgbClr val="FF0000"/>
                </a:solidFill>
                <a:latin typeface="Times New Roman" panose="02020603050405020304" pitchFamily="2" charset="0"/>
                <a:cs typeface="Times New Roman" panose="02020603050405020304" pitchFamily="2" charset="0"/>
                <a:sym typeface="+mn-ea"/>
              </a:rPr>
              <a:t>联系名</a:t>
            </a:r>
            <a:r>
              <a:rPr lang="en-US" altLang="zh-CN" sz="3000" dirty="0">
                <a:latin typeface="Times New Roman" panose="02020603050405020304" pitchFamily="2" charset="0"/>
                <a:cs typeface="Times New Roman" panose="02020603050405020304" pitchFamily="2" charset="0"/>
                <a:sym typeface="+mn-ea"/>
              </a:rPr>
              <a:t>’</a:t>
            </a:r>
            <a:endParaRPr lang="en-US" altLang="zh-CN"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Effect transition="in" filter="blinds(horizontal)">
                                      <p:cBhvr>
                                        <p:cTn id="7" dur="500"/>
                                        <p:tgtEl>
                                          <p:spTgt spid="624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2467">
                                            <p:txEl>
                                              <p:pRg st="2" end="2"/>
                                            </p:txEl>
                                          </p:spTgt>
                                        </p:tgtEl>
                                        <p:attrNameLst>
                                          <p:attrName>style.visibility</p:attrName>
                                        </p:attrNameLst>
                                      </p:cBhvr>
                                      <p:to>
                                        <p:strVal val="visible"/>
                                      </p:to>
                                    </p:set>
                                    <p:animEffect transition="in" filter="blinds(horizontal)">
                                      <p:cBhvr>
                                        <p:cTn id="10" dur="500"/>
                                        <p:tgtEl>
                                          <p:spTgt spid="6246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2467">
                                            <p:txEl>
                                              <p:pRg st="4" end="4"/>
                                            </p:txEl>
                                          </p:spTgt>
                                        </p:tgtEl>
                                        <p:attrNameLst>
                                          <p:attrName>style.visibility</p:attrName>
                                        </p:attrNameLst>
                                      </p:cBhvr>
                                      <p:to>
                                        <p:strVal val="visible"/>
                                      </p:to>
                                    </p:set>
                                    <p:animEffect transition="in" filter="blinds(horizontal)">
                                      <p:cBhvr>
                                        <p:cTn id="15" dur="500"/>
                                        <p:tgtEl>
                                          <p:spTgt spid="62467">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2467">
                                            <p:txEl>
                                              <p:pRg st="5" end="5"/>
                                            </p:txEl>
                                          </p:spTgt>
                                        </p:tgtEl>
                                        <p:attrNameLst>
                                          <p:attrName>style.visibility</p:attrName>
                                        </p:attrNameLst>
                                      </p:cBhvr>
                                      <p:to>
                                        <p:strVal val="visible"/>
                                      </p:to>
                                    </p:set>
                                    <p:animEffect transition="in" filter="blinds(horizontal)">
                                      <p:cBhvr>
                                        <p:cTn id="18" dur="500"/>
                                        <p:tgtEl>
                                          <p:spTgt spid="62467">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2467">
                                            <p:txEl>
                                              <p:pRg st="6" end="6"/>
                                            </p:txEl>
                                          </p:spTgt>
                                        </p:tgtEl>
                                        <p:attrNameLst>
                                          <p:attrName>style.visibility</p:attrName>
                                        </p:attrNameLst>
                                      </p:cBhvr>
                                      <p:to>
                                        <p:strVal val="visible"/>
                                      </p:to>
                                    </p:set>
                                    <p:animEffect transition="in" filter="blinds(horizontal)">
                                      <p:cBhvr>
                                        <p:cTn id="21" dur="500"/>
                                        <p:tgtEl>
                                          <p:spTgt spid="62467">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2467">
                                            <p:txEl>
                                              <p:pRg st="8" end="8"/>
                                            </p:txEl>
                                          </p:spTgt>
                                        </p:tgtEl>
                                        <p:attrNameLst>
                                          <p:attrName>style.visibility</p:attrName>
                                        </p:attrNameLst>
                                      </p:cBhvr>
                                      <p:to>
                                        <p:strVal val="visible"/>
                                      </p:to>
                                    </p:set>
                                    <p:anim calcmode="lin" valueType="num">
                                      <p:cBhvr additive="base">
                                        <p:cTn id="26" dur="500" fill="hold"/>
                                        <p:tgtEl>
                                          <p:spTgt spid="62467">
                                            <p:txEl>
                                              <p:pRg st="8" end="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2467">
                                            <p:txEl>
                                              <p:pRg st="8" end="8"/>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62467">
                                            <p:txEl>
                                              <p:pRg st="9" end="9"/>
                                            </p:txEl>
                                          </p:spTgt>
                                        </p:tgtEl>
                                        <p:attrNameLst>
                                          <p:attrName>style.visibility</p:attrName>
                                        </p:attrNameLst>
                                      </p:cBhvr>
                                      <p:to>
                                        <p:strVal val="visible"/>
                                      </p:to>
                                    </p:set>
                                    <p:anim calcmode="lin" valueType="num">
                                      <p:cBhvr additive="base">
                                        <p:cTn id="30" dur="500" fill="hold"/>
                                        <p:tgtEl>
                                          <p:spTgt spid="62467">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246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dirty="0"/>
              <a:t>信息世界中的基本概念（</a:t>
            </a:r>
            <a:r>
              <a:rPr lang="en-US" altLang="zh-CN" dirty="0"/>
              <a:t>2</a:t>
            </a:r>
            <a:r>
              <a:rPr lang="zh-CN" altLang="en-US" dirty="0"/>
              <a:t>）</a:t>
            </a:r>
            <a:endParaRPr lang="zh-CN" altLang="en-US" dirty="0"/>
          </a:p>
        </p:txBody>
      </p:sp>
      <p:sp>
        <p:nvSpPr>
          <p:cNvPr id="63491" name="Rectangle 3"/>
          <p:cNvSpPr>
            <a:spLocks noGrp="1" noChangeArrowheads="1"/>
          </p:cNvSpPr>
          <p:nvPr>
            <p:ph idx="1"/>
          </p:nvPr>
        </p:nvSpPr>
        <p:spPr/>
        <p:txBody>
          <a:bodyPr>
            <a:noAutofit/>
          </a:bodyPr>
          <a:lstStyle/>
          <a:p>
            <a:pPr>
              <a:lnSpc>
                <a:spcPct val="100000"/>
              </a:lnSpc>
              <a:spcBef>
                <a:spcPct val="0"/>
              </a:spcBef>
            </a:pPr>
            <a:r>
              <a:rPr lang="zh-CN" altLang="en-US" dirty="0">
                <a:solidFill>
                  <a:srgbClr val="FF0000"/>
                </a:solidFill>
              </a:rPr>
              <a:t>实体型</a:t>
            </a:r>
            <a:r>
              <a:rPr lang="zh-CN" altLang="en-US" dirty="0"/>
              <a:t>（</a:t>
            </a:r>
            <a:r>
              <a:rPr lang="en-US" altLang="zh-CN" dirty="0"/>
              <a:t>Entity Type</a:t>
            </a:r>
            <a:r>
              <a:rPr lang="zh-CN" altLang="en-US" dirty="0"/>
              <a:t>） </a:t>
            </a:r>
            <a:endParaRPr lang="zh-CN" altLang="en-US" dirty="0"/>
          </a:p>
          <a:p>
            <a:pPr lvl="1">
              <a:lnSpc>
                <a:spcPct val="100000"/>
              </a:lnSpc>
              <a:spcBef>
                <a:spcPct val="0"/>
              </a:spcBef>
            </a:pPr>
            <a:r>
              <a:rPr lang="zh-CN" altLang="en-US" dirty="0"/>
              <a:t>用实体名及其所有</a:t>
            </a:r>
            <a:r>
              <a:rPr lang="zh-CN" altLang="en-US" dirty="0">
                <a:latin typeface="Times New Roman" panose="02020603050405020304" pitchFamily="2" charset="0"/>
                <a:cs typeface="Times New Roman" panose="02020603050405020304" pitchFamily="2" charset="0"/>
              </a:rPr>
              <a:t>属性名</a:t>
            </a:r>
            <a:r>
              <a:rPr lang="zh-CN" altLang="en-US" dirty="0">
                <a:latin typeface="Times New Roman" panose="02020603050405020304" pitchFamily="2" charset="0"/>
                <a:cs typeface="Times New Roman" panose="02020603050405020304" pitchFamily="2" charset="0"/>
              </a:rPr>
              <a:t>的集合来抽象和刻画同类实体</a:t>
            </a:r>
            <a:endParaRPr lang="zh-CN" altLang="en-US" dirty="0">
              <a:latin typeface="Times New Roman" panose="02020603050405020304" pitchFamily="2" charset="0"/>
              <a:cs typeface="Times New Roman" panose="02020603050405020304" pitchFamily="2" charset="0"/>
            </a:endParaRP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实体的实体名及其所有属性名的集合，称为该实体的</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实体型</a:t>
            </a:r>
            <a:r>
              <a:rPr lang="en-US" altLang="zh-CN" dirty="0">
                <a:latin typeface="Times New Roman" panose="02020603050405020304" pitchFamily="2" charset="0"/>
                <a:cs typeface="Times New Roman" panose="02020603050405020304" pitchFamily="2" charset="0"/>
              </a:rPr>
              <a:t>’</a:t>
            </a:r>
            <a:endParaRPr lang="en-US" altLang="zh-CN" dirty="0">
              <a:latin typeface="Times New Roman" panose="02020603050405020304" pitchFamily="2" charset="0"/>
              <a:cs typeface="Times New Roman" panose="02020603050405020304" pitchFamily="2" charset="0"/>
            </a:endParaRPr>
          </a:p>
          <a:p>
            <a:pPr lvl="0">
              <a:lnSpc>
                <a:spcPct val="100000"/>
              </a:lnSpc>
              <a:spcBef>
                <a:spcPct val="0"/>
              </a:spcBef>
            </a:pPr>
            <a:r>
              <a:rPr lang="zh-CN" altLang="en-US" sz="3000" dirty="0">
                <a:solidFill>
                  <a:srgbClr val="FF0000"/>
                </a:solidFill>
                <a:latin typeface="Times New Roman" panose="02020603050405020304" pitchFamily="2" charset="0"/>
                <a:cs typeface="Times New Roman" panose="02020603050405020304" pitchFamily="2" charset="0"/>
              </a:rPr>
              <a:t>实体值</a:t>
            </a:r>
            <a:r>
              <a:rPr lang="zh-CN" altLang="en-US" sz="3000" dirty="0">
                <a:latin typeface="Times New Roman" panose="02020603050405020304" pitchFamily="2" charset="0"/>
                <a:cs typeface="Times New Roman" panose="02020603050405020304" pitchFamily="2" charset="0"/>
              </a:rPr>
              <a:t>（</a:t>
            </a:r>
            <a:r>
              <a:rPr lang="en-US" altLang="zh-CN" sz="3000" dirty="0">
                <a:latin typeface="Times New Roman" panose="02020603050405020304" pitchFamily="2" charset="0"/>
                <a:cs typeface="Times New Roman" panose="02020603050405020304" pitchFamily="2" charset="0"/>
              </a:rPr>
              <a:t>Entity Value</a:t>
            </a:r>
            <a:r>
              <a:rPr lang="zh-CN" altLang="en-US" sz="3000" dirty="0">
                <a:latin typeface="Times New Roman" panose="02020603050405020304" pitchFamily="2" charset="0"/>
                <a:cs typeface="Times New Roman" panose="02020603050405020304" pitchFamily="2" charset="0"/>
              </a:rPr>
              <a:t>）</a:t>
            </a:r>
            <a:endParaRPr lang="en-US" altLang="zh-CN" dirty="0">
              <a:latin typeface="Times New Roman" panose="02020603050405020304" pitchFamily="2" charset="0"/>
              <a:cs typeface="Times New Roman" panose="02020603050405020304" pitchFamily="2" charset="0"/>
            </a:endParaRP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实体中的属性可以有值，一个实体的所有属性值的集合被称为该实体的</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实体值</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。（也被称为</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实体实例</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a:t>
            </a:r>
            <a:r>
              <a:rPr lang="en-US" altLang="zh-CN" dirty="0">
                <a:solidFill>
                  <a:srgbClr val="FF0000"/>
                </a:solidFill>
                <a:latin typeface="Times New Roman" panose="02020603050405020304" pitchFamily="2" charset="0"/>
                <a:cs typeface="Times New Roman" panose="02020603050405020304" pitchFamily="2" charset="0"/>
              </a:rPr>
              <a:t>Entity Instance</a:t>
            </a:r>
            <a:r>
              <a:rPr lang="zh-CN" altLang="en-US" dirty="0">
                <a:latin typeface="Times New Roman" panose="02020603050405020304" pitchFamily="2" charset="0"/>
                <a:cs typeface="Times New Roman" panose="02020603050405020304" pitchFamily="2" charset="0"/>
              </a:rPr>
              <a:t>）</a:t>
            </a:r>
            <a:endParaRPr lang="en-US" altLang="zh-CN" dirty="0">
              <a:latin typeface="Times New Roman" panose="02020603050405020304" pitchFamily="2" charset="0"/>
              <a:cs typeface="Times New Roman" panose="02020603050405020304" pitchFamily="2" charset="0"/>
            </a:endParaRPr>
          </a:p>
          <a:p>
            <a:pPr>
              <a:lnSpc>
                <a:spcPct val="100000"/>
              </a:lnSpc>
            </a:pPr>
            <a:r>
              <a:rPr lang="zh-CN" altLang="en-US" dirty="0">
                <a:solidFill>
                  <a:srgbClr val="FF0000"/>
                </a:solidFill>
                <a:latin typeface="Times New Roman" panose="02020603050405020304" pitchFamily="2" charset="0"/>
                <a:cs typeface="Times New Roman" panose="02020603050405020304" pitchFamily="2" charset="0"/>
              </a:rPr>
              <a:t>实体集</a:t>
            </a:r>
            <a:r>
              <a:rPr lang="zh-CN" altLang="en-US" dirty="0">
                <a:latin typeface="Times New Roman" panose="02020603050405020304" pitchFamily="2" charset="0"/>
                <a:cs typeface="Times New Roman" panose="02020603050405020304" pitchFamily="2" charset="0"/>
              </a:rPr>
              <a:t>（</a:t>
            </a:r>
            <a:r>
              <a:rPr lang="en-US" altLang="zh-CN" dirty="0">
                <a:latin typeface="Times New Roman" panose="02020603050405020304" pitchFamily="2" charset="0"/>
                <a:cs typeface="Times New Roman" panose="02020603050405020304" pitchFamily="2" charset="0"/>
              </a:rPr>
              <a:t>Entity Set</a:t>
            </a:r>
            <a:r>
              <a:rPr lang="zh-CN" altLang="en-US" dirty="0">
                <a:latin typeface="Times New Roman" panose="02020603050405020304" pitchFamily="2" charset="0"/>
                <a:cs typeface="Times New Roman" panose="02020603050405020304" pitchFamily="2" charset="0"/>
              </a:rPr>
              <a:t>） </a:t>
            </a:r>
            <a:endParaRPr lang="zh-CN" altLang="en-US" dirty="0">
              <a:latin typeface="Times New Roman" panose="02020603050405020304" pitchFamily="2" charset="0"/>
              <a:cs typeface="Times New Roman" panose="02020603050405020304" pitchFamily="2" charset="0"/>
            </a:endParaRP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同一类型实体的集合，称为</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实体集</a:t>
            </a:r>
            <a:r>
              <a:rPr lang="en-US" altLang="zh-CN" dirty="0">
                <a:latin typeface="Times New Roman" panose="02020603050405020304" pitchFamily="2" charset="0"/>
                <a:cs typeface="Times New Roman" panose="02020603050405020304" pitchFamily="2" charset="0"/>
              </a:rPr>
              <a:t>’</a:t>
            </a:r>
            <a:endParaRPr lang="en-US" altLang="zh-CN" dirty="0">
              <a:latin typeface="Times New Roman" panose="02020603050405020304" pitchFamily="2" charset="0"/>
              <a:cs typeface="Times New Roman" panose="02020603050405020304" pitchFamily="2" charset="0"/>
            </a:endParaRP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同一个实体集中的所有实体，具有相同</a:t>
            </a:r>
            <a:r>
              <a:rPr lang="zh-CN" altLang="en-US" dirty="0"/>
              <a:t>的实体型</a:t>
            </a:r>
            <a:r>
              <a:rPr lang="zh-CN" altLang="en-US" dirty="0"/>
              <a:t>但实体值互不</a:t>
            </a:r>
            <a:r>
              <a:rPr lang="zh-CN" altLang="en-US" dirty="0"/>
              <a:t>相同。</a:t>
            </a:r>
            <a:endParaRPr lang="zh-CN" altLang="en-US" dirty="0"/>
          </a:p>
          <a:p>
            <a:pPr lvl="0">
              <a:lnSpc>
                <a:spcPct val="100000"/>
              </a:lnSpc>
              <a:spcBef>
                <a:spcPct val="0"/>
              </a:spcBef>
            </a:pPr>
            <a:r>
              <a:rPr lang="zh-CN" altLang="en-US" dirty="0">
                <a:solidFill>
                  <a:srgbClr val="FF0000"/>
                </a:solidFill>
                <a:sym typeface="+mn-ea"/>
              </a:rPr>
              <a:t>码</a:t>
            </a:r>
            <a:r>
              <a:rPr lang="zh-CN" altLang="en-US" dirty="0">
                <a:sym typeface="+mn-ea"/>
              </a:rPr>
              <a:t>（</a:t>
            </a:r>
            <a:r>
              <a:rPr lang="en-US" altLang="zh-CN" dirty="0">
                <a:sym typeface="+mn-ea"/>
              </a:rPr>
              <a:t>Key</a:t>
            </a:r>
            <a:r>
              <a:rPr lang="zh-CN" altLang="en-US" dirty="0">
                <a:sym typeface="+mn-ea"/>
              </a:rPr>
              <a:t>） </a:t>
            </a:r>
            <a:endParaRPr lang="zh-CN" altLang="en-US" dirty="0"/>
          </a:p>
          <a:p>
            <a:pPr lvl="1">
              <a:lnSpc>
                <a:spcPct val="100000"/>
              </a:lnSpc>
              <a:spcBef>
                <a:spcPct val="0"/>
              </a:spcBef>
            </a:pPr>
            <a:r>
              <a:rPr lang="zh-CN" altLang="en-US" dirty="0">
                <a:sym typeface="+mn-ea"/>
              </a:rPr>
              <a:t>唯一标识实体的属性集称为码。</a:t>
            </a:r>
            <a:endParaRPr lang="zh-CN" altLang="en-US" dirty="0"/>
          </a:p>
          <a:p>
            <a:pPr lvl="1">
              <a:lnSpc>
                <a:spcPct val="100000"/>
              </a:lnSpc>
              <a:spcBef>
                <a:spcPct val="0"/>
              </a:spcBef>
            </a:pP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sym typeface="+mn-ea"/>
              </a:rPr>
              <a:t>码</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也</a:t>
            </a:r>
            <a:r>
              <a:rPr lang="zh-CN" altLang="en-US" dirty="0">
                <a:sym typeface="+mn-ea"/>
              </a:rPr>
              <a:t>被称为</a:t>
            </a:r>
            <a:r>
              <a:rPr lang="zh-CN" altLang="en-US" dirty="0">
                <a:solidFill>
                  <a:srgbClr val="FF0000"/>
                </a:solidFill>
                <a:sym typeface="+mn-ea"/>
              </a:rPr>
              <a:t>关键字</a:t>
            </a:r>
            <a:r>
              <a:rPr lang="zh-CN" altLang="en-US" dirty="0">
                <a:sym typeface="+mn-ea"/>
              </a:rPr>
              <a:t>、</a:t>
            </a:r>
            <a:r>
              <a:rPr lang="zh-CN" altLang="en-US" dirty="0">
                <a:solidFill>
                  <a:srgbClr val="FF0000"/>
                </a:solidFill>
                <a:sym typeface="+mn-ea"/>
              </a:rPr>
              <a:t>键</a:t>
            </a:r>
            <a:r>
              <a:rPr lang="zh-CN" altLang="en-US" dirty="0">
                <a:sym typeface="+mn-ea"/>
              </a:rPr>
              <a:t>、</a:t>
            </a:r>
            <a:r>
              <a:rPr lang="zh-CN" altLang="en-US" dirty="0">
                <a:solidFill>
                  <a:srgbClr val="FF0000"/>
                </a:solidFill>
                <a:sym typeface="+mn-ea"/>
              </a:rPr>
              <a:t>标识符</a:t>
            </a:r>
            <a:r>
              <a:rPr lang="en-US" altLang="zh-CN" dirty="0">
                <a:sym typeface="+mn-ea"/>
              </a:rPr>
              <a:t>(Identifier)</a:t>
            </a:r>
            <a:endParaRPr lang="en-US" altLang="zh-CN" dirty="0">
              <a:sym typeface="+mn-ea"/>
            </a:endParaRPr>
          </a:p>
          <a:p>
            <a:pPr lvl="1">
              <a:lnSpc>
                <a:spcPct val="100000"/>
              </a:lnSpc>
              <a:spcBef>
                <a:spcPct val="0"/>
              </a:spcBef>
            </a:pPr>
            <a:r>
              <a:rPr lang="zh-CN" altLang="en-US" dirty="0">
                <a:latin typeface="Times New Roman" panose="02020603050405020304" pitchFamily="2" charset="0"/>
                <a:cs typeface="Times New Roman" panose="02020603050405020304" pitchFamily="2" charset="0"/>
              </a:rPr>
              <a:t>在一个实体集中，可以通过</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码</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的取值来区分不同的</a:t>
            </a:r>
            <a:r>
              <a:rPr lang="zh-CN" altLang="en-US" dirty="0">
                <a:latin typeface="Times New Roman" panose="02020603050405020304" pitchFamily="2" charset="0"/>
                <a:cs typeface="Times New Roman" panose="02020603050405020304" pitchFamily="2" charset="0"/>
              </a:rPr>
              <a:t>实体。</a:t>
            </a:r>
            <a:endParaRPr lang="zh-CN" altLang="en-US" dirty="0">
              <a:latin typeface="Times New Roman" panose="02020603050405020304" pitchFamily="2" charset="0"/>
              <a:cs typeface="Times New Roman" panose="02020603050405020304" pitchFamily="2"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xEl>
                                              <p:pRg st="5" end="5"/>
                                            </p:txEl>
                                          </p:spTgt>
                                        </p:tgtEl>
                                        <p:attrNameLst>
                                          <p:attrName>style.visibility</p:attrName>
                                        </p:attrNameLst>
                                      </p:cBhvr>
                                      <p:to>
                                        <p:strVal val="visible"/>
                                      </p:to>
                                    </p:set>
                                    <p:anim calcmode="lin" valueType="num">
                                      <p:cBhvr additive="base">
                                        <p:cTn id="7" dur="500" fill="hold"/>
                                        <p:tgtEl>
                                          <p:spTgt spid="6349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1">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1">
                                            <p:txEl>
                                              <p:pRg st="6" end="6"/>
                                            </p:txEl>
                                          </p:spTgt>
                                        </p:tgtEl>
                                        <p:attrNameLst>
                                          <p:attrName>style.visibility</p:attrName>
                                        </p:attrNameLst>
                                      </p:cBhvr>
                                      <p:to>
                                        <p:strVal val="visible"/>
                                      </p:to>
                                    </p:set>
                                    <p:anim calcmode="lin" valueType="num">
                                      <p:cBhvr additive="base">
                                        <p:cTn id="11" dur="500" fill="hold"/>
                                        <p:tgtEl>
                                          <p:spTgt spid="6349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491">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3491">
                                            <p:txEl>
                                              <p:pRg st="7" end="7"/>
                                            </p:txEl>
                                          </p:spTgt>
                                        </p:tgtEl>
                                        <p:attrNameLst>
                                          <p:attrName>style.visibility</p:attrName>
                                        </p:attrNameLst>
                                      </p:cBhvr>
                                      <p:to>
                                        <p:strVal val="visible"/>
                                      </p:to>
                                    </p:set>
                                    <p:anim calcmode="lin" valueType="num">
                                      <p:cBhvr additive="base">
                                        <p:cTn id="15" dur="500" fill="hold"/>
                                        <p:tgtEl>
                                          <p:spTgt spid="63491">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34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3491">
                                            <p:txEl>
                                              <p:pRg st="8" end="8"/>
                                            </p:txEl>
                                          </p:spTgt>
                                        </p:tgtEl>
                                        <p:attrNameLst>
                                          <p:attrName>style.visibility</p:attrName>
                                        </p:attrNameLst>
                                      </p:cBhvr>
                                      <p:to>
                                        <p:strVal val="visible"/>
                                      </p:to>
                                    </p:set>
                                    <p:anim calcmode="lin" valueType="num">
                                      <p:cBhvr additive="base">
                                        <p:cTn id="21" dur="500" fill="hold"/>
                                        <p:tgtEl>
                                          <p:spTgt spid="63491">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491">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3491">
                                            <p:txEl>
                                              <p:pRg st="9" end="9"/>
                                            </p:txEl>
                                          </p:spTgt>
                                        </p:tgtEl>
                                        <p:attrNameLst>
                                          <p:attrName>style.visibility</p:attrName>
                                        </p:attrNameLst>
                                      </p:cBhvr>
                                      <p:to>
                                        <p:strVal val="visible"/>
                                      </p:to>
                                    </p:set>
                                    <p:anim calcmode="lin" valueType="num">
                                      <p:cBhvr additive="base">
                                        <p:cTn id="25" dur="500" fill="hold"/>
                                        <p:tgtEl>
                                          <p:spTgt spid="63491">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491">
                                            <p:txEl>
                                              <p:pRg st="9" end="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3491">
                                            <p:txEl>
                                              <p:pRg st="10" end="10"/>
                                            </p:txEl>
                                          </p:spTgt>
                                        </p:tgtEl>
                                        <p:attrNameLst>
                                          <p:attrName>style.visibility</p:attrName>
                                        </p:attrNameLst>
                                      </p:cBhvr>
                                      <p:to>
                                        <p:strVal val="visible"/>
                                      </p:to>
                                    </p:set>
                                    <p:anim calcmode="lin" valueType="num">
                                      <p:cBhvr additive="base">
                                        <p:cTn id="29" dur="500" fill="hold"/>
                                        <p:tgtEl>
                                          <p:spTgt spid="63491">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3491">
                                            <p:txEl>
                                              <p:pRg st="10" end="1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3491">
                                            <p:txEl>
                                              <p:pRg st="11" end="11"/>
                                            </p:txEl>
                                          </p:spTgt>
                                        </p:tgtEl>
                                        <p:attrNameLst>
                                          <p:attrName>style.visibility</p:attrName>
                                        </p:attrNameLst>
                                      </p:cBhvr>
                                      <p:to>
                                        <p:strVal val="visible"/>
                                      </p:to>
                                    </p:set>
                                    <p:anim calcmode="lin" valueType="num">
                                      <p:cBhvr additive="base">
                                        <p:cTn id="33" dur="500" fill="hold"/>
                                        <p:tgtEl>
                                          <p:spTgt spid="63491">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349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lgn="ctr"/>
            <a:r>
              <a:rPr lang="zh-CN" altLang="en-US" sz="2800" b="1" dirty="0">
                <a:latin typeface="宋体" panose="02010600030101010101" pitchFamily="2" charset="-122"/>
                <a:ea typeface="宋体" panose="02010600030101010101" pitchFamily="2" charset="-122"/>
                <a:cs typeface="宋体" panose="02010600030101010101" pitchFamily="2" charset="-122"/>
              </a:rPr>
              <a:t>实体之间的联系</a:t>
            </a:r>
            <a:endParaRPr lang="zh-CN" altLang="en-US" sz="2800" b="1" dirty="0">
              <a:latin typeface="宋体" panose="02010600030101010101" pitchFamily="2" charset="-122"/>
              <a:ea typeface="宋体" panose="02010600030101010101" pitchFamily="2" charset="-122"/>
              <a:cs typeface="宋体" panose="02010600030101010101" pitchFamily="2" charset="-122"/>
            </a:endParaRPr>
          </a:p>
        </p:txBody>
      </p:sp>
      <p:sp>
        <p:nvSpPr>
          <p:cNvPr id="3" name="内容占位符 2"/>
          <p:cNvSpPr>
            <a:spLocks noGrp="1"/>
          </p:cNvSpPr>
          <p:nvPr>
            <p:ph idx="1"/>
          </p:nvPr>
        </p:nvSpPr>
        <p:spPr/>
        <p:txBody>
          <a:bodyPr>
            <a:normAutofit/>
          </a:bodyPr>
          <a:lstStyle/>
          <a:p>
            <a:pPr>
              <a:lnSpc>
                <a:spcPct val="100000"/>
              </a:lnSpc>
            </a:pPr>
            <a:r>
              <a:rPr lang="zh-CN" altLang="en-US" dirty="0"/>
              <a:t>实体之间的联系通常是指不同实体集之间的联系</a:t>
            </a:r>
            <a:endParaRPr lang="en-US" altLang="zh-CN" dirty="0"/>
          </a:p>
          <a:p>
            <a:pPr>
              <a:lnSpc>
                <a:spcPct val="100000"/>
              </a:lnSpc>
            </a:pPr>
            <a:r>
              <a:rPr lang="zh-CN" altLang="en-US" dirty="0"/>
              <a:t>实体之间的联系有</a:t>
            </a:r>
            <a:r>
              <a:rPr lang="en-US" altLang="zh-CN" dirty="0"/>
              <a:t>‘</a:t>
            </a:r>
            <a:r>
              <a:rPr lang="zh-CN" altLang="en-US" dirty="0"/>
              <a:t>一对一、一对多、多对多</a:t>
            </a:r>
            <a:r>
              <a:rPr lang="en-US" altLang="zh-CN" dirty="0"/>
              <a:t>’</a:t>
            </a:r>
            <a:r>
              <a:rPr lang="zh-CN" altLang="en-US" dirty="0"/>
              <a:t>等多种类型，在</a:t>
            </a:r>
            <a:r>
              <a:rPr lang="en-US" altLang="zh-CN" dirty="0"/>
              <a:t>ER</a:t>
            </a:r>
            <a:r>
              <a:rPr lang="zh-CN" altLang="en-US" dirty="0"/>
              <a:t>模型中被称为</a:t>
            </a:r>
            <a:r>
              <a:rPr lang="en-US" altLang="zh-CN" dirty="0"/>
              <a:t>‘</a:t>
            </a:r>
            <a:r>
              <a:rPr lang="zh-CN" altLang="en-US" dirty="0">
                <a:solidFill>
                  <a:srgbClr val="FF0000"/>
                </a:solidFill>
              </a:rPr>
              <a:t>联系的函数关系</a:t>
            </a:r>
            <a:r>
              <a:rPr lang="en-US" altLang="zh-CN" dirty="0"/>
              <a:t>’</a:t>
            </a:r>
            <a:endParaRPr lang="en-US" altLang="zh-CN" dirty="0"/>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fld>
            <a:endParaRPr lang="en-US" altLang="zh-CN" dirty="0"/>
          </a:p>
        </p:txBody>
      </p:sp>
      <p:grpSp>
        <p:nvGrpSpPr>
          <p:cNvPr id="7" name="组合 6"/>
          <p:cNvGrpSpPr/>
          <p:nvPr/>
        </p:nvGrpSpPr>
        <p:grpSpPr>
          <a:xfrm>
            <a:off x="1805305" y="2355215"/>
            <a:ext cx="2142490" cy="3842385"/>
            <a:chOff x="2843" y="3352"/>
            <a:chExt cx="3374" cy="6051"/>
          </a:xfrm>
        </p:grpSpPr>
        <p:sp>
          <p:nvSpPr>
            <p:cNvPr id="33" name="Text Box 5"/>
            <p:cNvSpPr txBox="1">
              <a:spLocks noChangeArrowheads="1"/>
            </p:cNvSpPr>
            <p:nvPr/>
          </p:nvSpPr>
          <p:spPr bwMode="auto">
            <a:xfrm>
              <a:off x="3202" y="3352"/>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 1</a:t>
              </a:r>
              <a:endPar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34" name="AutoShape 6"/>
            <p:cNvSpPr>
              <a:spLocks noChangeArrowheads="1"/>
            </p:cNvSpPr>
            <p:nvPr/>
          </p:nvSpPr>
          <p:spPr bwMode="auto">
            <a:xfrm>
              <a:off x="3202" y="5272"/>
              <a:ext cx="260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联系名</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5" name="Text Box 7"/>
            <p:cNvSpPr txBox="1">
              <a:spLocks noChangeArrowheads="1"/>
            </p:cNvSpPr>
            <p:nvPr/>
          </p:nvSpPr>
          <p:spPr bwMode="auto">
            <a:xfrm>
              <a:off x="3202" y="7606"/>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2</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38" name="Text Box 10"/>
            <p:cNvSpPr txBox="1">
              <a:spLocks noChangeArrowheads="1"/>
            </p:cNvSpPr>
            <p:nvPr/>
          </p:nvSpPr>
          <p:spPr bwMode="auto">
            <a:xfrm>
              <a:off x="3906" y="431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9" name="Text Box 11"/>
            <p:cNvSpPr txBox="1">
              <a:spLocks noChangeArrowheads="1"/>
            </p:cNvSpPr>
            <p:nvPr/>
          </p:nvSpPr>
          <p:spPr bwMode="auto">
            <a:xfrm>
              <a:off x="3906" y="662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0" name="Text Box 12"/>
            <p:cNvSpPr txBox="1">
              <a:spLocks noChangeArrowheads="1"/>
            </p:cNvSpPr>
            <p:nvPr/>
          </p:nvSpPr>
          <p:spPr bwMode="auto">
            <a:xfrm>
              <a:off x="2843" y="8581"/>
              <a:ext cx="3375"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1:1 </a:t>
              </a: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联系</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endParaRPr>
            </a:p>
          </p:txBody>
        </p:sp>
        <p:cxnSp>
          <p:nvCxnSpPr>
            <p:cNvPr id="5" name="直接连接符 4"/>
            <p:cNvCxnSpPr>
              <a:stCxn id="33" idx="2"/>
              <a:endCxn id="34" idx="0"/>
            </p:cNvCxnSpPr>
            <p:nvPr/>
          </p:nvCxnSpPr>
          <p:spPr>
            <a:xfrm>
              <a:off x="4506" y="4174"/>
              <a:ext cx="0" cy="1098"/>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a:stCxn id="34" idx="2"/>
              <a:endCxn id="35" idx="0"/>
            </p:cNvCxnSpPr>
            <p:nvPr>
              <p:custDataLst>
                <p:tags r:id="rId1"/>
              </p:custDataLst>
            </p:nvPr>
          </p:nvCxnSpPr>
          <p:spPr>
            <a:xfrm>
              <a:off x="4506" y="6472"/>
              <a:ext cx="0" cy="1134"/>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8" name="组合 7"/>
          <p:cNvGrpSpPr/>
          <p:nvPr/>
        </p:nvGrpSpPr>
        <p:grpSpPr>
          <a:xfrm>
            <a:off x="4741545" y="2355215"/>
            <a:ext cx="2143125" cy="3842385"/>
            <a:chOff x="2843" y="3352"/>
            <a:chExt cx="3375" cy="6051"/>
          </a:xfrm>
        </p:grpSpPr>
        <p:sp>
          <p:nvSpPr>
            <p:cNvPr id="9" name="Text Box 5"/>
            <p:cNvSpPr txBox="1">
              <a:spLocks noChangeArrowheads="1"/>
            </p:cNvSpPr>
            <p:nvPr>
              <p:custDataLst>
                <p:tags r:id="rId2"/>
              </p:custDataLst>
            </p:nvPr>
          </p:nvSpPr>
          <p:spPr bwMode="auto">
            <a:xfrm>
              <a:off x="3202" y="3352"/>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 1</a:t>
              </a:r>
              <a:endPar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10" name="AutoShape 6"/>
            <p:cNvSpPr>
              <a:spLocks noChangeArrowheads="1"/>
            </p:cNvSpPr>
            <p:nvPr>
              <p:custDataLst>
                <p:tags r:id="rId3"/>
              </p:custDataLst>
            </p:nvPr>
          </p:nvSpPr>
          <p:spPr bwMode="auto">
            <a:xfrm>
              <a:off x="3202" y="5272"/>
              <a:ext cx="260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联系名</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11" name="Text Box 7"/>
            <p:cNvSpPr txBox="1">
              <a:spLocks noChangeArrowheads="1"/>
            </p:cNvSpPr>
            <p:nvPr>
              <p:custDataLst>
                <p:tags r:id="rId4"/>
              </p:custDataLst>
            </p:nvPr>
          </p:nvSpPr>
          <p:spPr bwMode="auto">
            <a:xfrm>
              <a:off x="3202" y="7606"/>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2</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12" name="Text Box 10"/>
            <p:cNvSpPr txBox="1">
              <a:spLocks noChangeArrowheads="1"/>
            </p:cNvSpPr>
            <p:nvPr>
              <p:custDataLst>
                <p:tags r:id="rId5"/>
              </p:custDataLst>
            </p:nvPr>
          </p:nvSpPr>
          <p:spPr bwMode="auto">
            <a:xfrm>
              <a:off x="3906" y="431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13" name="Text Box 11"/>
            <p:cNvSpPr txBox="1">
              <a:spLocks noChangeArrowheads="1"/>
            </p:cNvSpPr>
            <p:nvPr>
              <p:custDataLst>
                <p:tags r:id="rId6"/>
              </p:custDataLst>
            </p:nvPr>
          </p:nvSpPr>
          <p:spPr bwMode="auto">
            <a:xfrm>
              <a:off x="3906" y="662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n</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14" name="Text Box 12"/>
            <p:cNvSpPr txBox="1">
              <a:spLocks noChangeArrowheads="1"/>
            </p:cNvSpPr>
            <p:nvPr>
              <p:custDataLst>
                <p:tags r:id="rId7"/>
              </p:custDataLst>
            </p:nvPr>
          </p:nvSpPr>
          <p:spPr bwMode="auto">
            <a:xfrm>
              <a:off x="2843" y="8581"/>
              <a:ext cx="3375"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1:n </a:t>
              </a: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联系</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endParaRPr>
            </a:p>
          </p:txBody>
        </p:sp>
        <p:cxnSp>
          <p:nvCxnSpPr>
            <p:cNvPr id="15" name="直接连接符 14"/>
            <p:cNvCxnSpPr>
              <a:stCxn id="9" idx="2"/>
              <a:endCxn id="10" idx="0"/>
            </p:cNvCxnSpPr>
            <p:nvPr>
              <p:custDataLst>
                <p:tags r:id="rId8"/>
              </p:custDataLst>
            </p:nvPr>
          </p:nvCxnSpPr>
          <p:spPr>
            <a:xfrm>
              <a:off x="4506" y="4174"/>
              <a:ext cx="0" cy="1098"/>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a:stCxn id="10" idx="2"/>
              <a:endCxn id="11" idx="0"/>
            </p:cNvCxnSpPr>
            <p:nvPr>
              <p:custDataLst>
                <p:tags r:id="rId9"/>
              </p:custDataLst>
            </p:nvPr>
          </p:nvCxnSpPr>
          <p:spPr>
            <a:xfrm>
              <a:off x="4506" y="6472"/>
              <a:ext cx="0" cy="1134"/>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17" name="组合 16"/>
          <p:cNvGrpSpPr/>
          <p:nvPr/>
        </p:nvGrpSpPr>
        <p:grpSpPr>
          <a:xfrm>
            <a:off x="7900670" y="2355215"/>
            <a:ext cx="2143125" cy="3842385"/>
            <a:chOff x="2843" y="3352"/>
            <a:chExt cx="3375" cy="6051"/>
          </a:xfrm>
        </p:grpSpPr>
        <p:sp>
          <p:nvSpPr>
            <p:cNvPr id="18" name="Text Box 5"/>
            <p:cNvSpPr txBox="1">
              <a:spLocks noChangeArrowheads="1"/>
            </p:cNvSpPr>
            <p:nvPr>
              <p:custDataLst>
                <p:tags r:id="rId10"/>
              </p:custDataLst>
            </p:nvPr>
          </p:nvSpPr>
          <p:spPr bwMode="auto">
            <a:xfrm>
              <a:off x="3202" y="3352"/>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 1</a:t>
              </a:r>
              <a:endPar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19" name="AutoShape 6"/>
            <p:cNvSpPr>
              <a:spLocks noChangeArrowheads="1"/>
            </p:cNvSpPr>
            <p:nvPr>
              <p:custDataLst>
                <p:tags r:id="rId11"/>
              </p:custDataLst>
            </p:nvPr>
          </p:nvSpPr>
          <p:spPr bwMode="auto">
            <a:xfrm>
              <a:off x="3202" y="5272"/>
              <a:ext cx="260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联系名</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20" name="Text Box 7"/>
            <p:cNvSpPr txBox="1">
              <a:spLocks noChangeArrowheads="1"/>
            </p:cNvSpPr>
            <p:nvPr>
              <p:custDataLst>
                <p:tags r:id="rId12"/>
              </p:custDataLst>
            </p:nvPr>
          </p:nvSpPr>
          <p:spPr bwMode="auto">
            <a:xfrm>
              <a:off x="3202" y="7606"/>
              <a:ext cx="2608"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实体型</a:t>
              </a: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2</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21" name="Text Box 10"/>
            <p:cNvSpPr txBox="1">
              <a:spLocks noChangeArrowheads="1"/>
            </p:cNvSpPr>
            <p:nvPr>
              <p:custDataLst>
                <p:tags r:id="rId13"/>
              </p:custDataLst>
            </p:nvPr>
          </p:nvSpPr>
          <p:spPr bwMode="auto">
            <a:xfrm>
              <a:off x="3906" y="431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m</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22" name="Text Box 11"/>
            <p:cNvSpPr txBox="1">
              <a:spLocks noChangeArrowheads="1"/>
            </p:cNvSpPr>
            <p:nvPr>
              <p:custDataLst>
                <p:tags r:id="rId14"/>
              </p:custDataLst>
            </p:nvPr>
          </p:nvSpPr>
          <p:spPr bwMode="auto">
            <a:xfrm>
              <a:off x="3906" y="662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n</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23" name="Text Box 12"/>
            <p:cNvSpPr txBox="1">
              <a:spLocks noChangeArrowheads="1"/>
            </p:cNvSpPr>
            <p:nvPr>
              <p:custDataLst>
                <p:tags r:id="rId15"/>
              </p:custDataLst>
            </p:nvPr>
          </p:nvSpPr>
          <p:spPr bwMode="auto">
            <a:xfrm>
              <a:off x="2843" y="8581"/>
              <a:ext cx="3375"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m:n </a:t>
              </a: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rPr>
                <a:t>联系</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cs typeface="楷体" panose="02010609060101010101" charset="-122"/>
              </a:endParaRPr>
            </a:p>
          </p:txBody>
        </p:sp>
        <p:cxnSp>
          <p:nvCxnSpPr>
            <p:cNvPr id="24" name="直接连接符 23"/>
            <p:cNvCxnSpPr>
              <a:stCxn id="18" idx="2"/>
              <a:endCxn id="19" idx="0"/>
            </p:cNvCxnSpPr>
            <p:nvPr>
              <p:custDataLst>
                <p:tags r:id="rId16"/>
              </p:custDataLst>
            </p:nvPr>
          </p:nvCxnSpPr>
          <p:spPr>
            <a:xfrm>
              <a:off x="4506" y="4174"/>
              <a:ext cx="0" cy="1098"/>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a:stCxn id="19" idx="2"/>
              <a:endCxn id="20" idx="0"/>
            </p:cNvCxnSpPr>
            <p:nvPr>
              <p:custDataLst>
                <p:tags r:id="rId17"/>
              </p:custDataLst>
            </p:nvPr>
          </p:nvCxnSpPr>
          <p:spPr>
            <a:xfrm>
              <a:off x="4506" y="6472"/>
              <a:ext cx="0" cy="1134"/>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26" name="文本框 25"/>
          <p:cNvSpPr txBox="1"/>
          <p:nvPr/>
        </p:nvSpPr>
        <p:spPr>
          <a:xfrm>
            <a:off x="1207770" y="6187440"/>
            <a:ext cx="9927590" cy="460375"/>
          </a:xfrm>
          <a:prstGeom prst="rect">
            <a:avLst/>
          </a:prstGeom>
          <a:solidFill>
            <a:schemeClr val="accent1">
              <a:lumMod val="20000"/>
              <a:lumOff val="80000"/>
              <a:alpha val="60000"/>
            </a:schemeClr>
          </a:solidFill>
        </p:spPr>
        <p:txBody>
          <a:bodyPr wrap="square" rtlCol="0">
            <a:spAutoFit/>
          </a:bodyPr>
          <a:p>
            <a:pPr algn="ct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（说明：用数字</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 1 </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表示</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一</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，用字母表示</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多</a:t>
            </a:r>
            <a:r>
              <a:rPr lang="en-US" altLang="zh-CN" sz="2400" b="1">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400" b="1">
              <a:solidFill>
                <a:srgbClr val="1F2DA8"/>
              </a:solidFill>
              <a:latin typeface="Times New Roman" panose="02020603050405020304" pitchFamily="2" charset="0"/>
              <a:ea typeface="楷体" panose="02010609060101010101" charset="-122"/>
              <a:cs typeface="Times New Roman" panose="02020603050405020304" pitchFamily="2" charset="0"/>
            </a:endParaRPr>
          </a:p>
        </p:txBody>
      </p:sp>
      <p:sp>
        <p:nvSpPr>
          <p:cNvPr id="27" name="页脚占位符 26"/>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46081"/>
          <p:cNvSpPr>
            <a:spLocks noGrp="1"/>
          </p:cNvSpPr>
          <p:nvPr>
            <p:ph type="title"/>
          </p:nvPr>
        </p:nvSpPr>
        <p:spPr/>
        <p:txBody>
          <a:bodyPr tIns="0" bIns="0" anchor="ctr"/>
          <a:p>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800"/>
          </a:p>
        </p:txBody>
      </p:sp>
      <p:sp>
        <p:nvSpPr>
          <p:cNvPr id="46082" name="文本占位符 46082"/>
          <p:cNvSpPr>
            <a:spLocks noGrp="1"/>
          </p:cNvSpPr>
          <p:nvPr>
            <p:ph idx="1"/>
          </p:nvPr>
        </p:nvSpPr>
        <p:spPr>
          <a:xfrm>
            <a:off x="424180" y="687070"/>
            <a:ext cx="11343005" cy="2738120"/>
          </a:xfrm>
        </p:spPr>
        <p:txBody>
          <a:bodyPr anchor="t">
            <a:spAutoFit/>
          </a:bodyPr>
          <a:p>
            <a:pPr>
              <a:lnSpc>
                <a:spcPct val="100000"/>
              </a:lnSpc>
            </a:pPr>
            <a:r>
              <a:rPr lang="zh-CN" altLang="en-US" dirty="0"/>
              <a:t>为了描</a:t>
            </a:r>
            <a:r>
              <a:rPr lang="zh-CN" altLang="en-US" dirty="0">
                <a:latin typeface="Times New Roman" panose="02020603050405020304" pitchFamily="2" charset="0"/>
                <a:cs typeface="Times New Roman" panose="02020603050405020304" pitchFamily="2" charset="0"/>
              </a:rPr>
              <a:t>述清楚函数关系，我们用示意图来解释三种不同的函数关系。如下图所示，其中：</a:t>
            </a:r>
            <a:endParaRPr lang="zh-CN" altLang="en-US" dirty="0">
              <a:latin typeface="Times New Roman" panose="02020603050405020304" pitchFamily="2" charset="0"/>
              <a:cs typeface="Times New Roman" panose="02020603050405020304" pitchFamily="2" charset="0"/>
            </a:endParaRPr>
          </a:p>
          <a:p>
            <a:pPr lvl="1">
              <a:lnSpc>
                <a:spcPct val="100000"/>
              </a:lnSpc>
              <a:buClr>
                <a:srgbClr val="C00000"/>
              </a:buClr>
            </a:pPr>
            <a:r>
              <a:rPr lang="zh-CN" altLang="en-US" dirty="0">
                <a:latin typeface="Times New Roman" panose="02020603050405020304" pitchFamily="2" charset="0"/>
                <a:cs typeface="Times New Roman" panose="02020603050405020304" pitchFamily="2" charset="0"/>
              </a:rPr>
              <a:t>椭圆形代表 </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实体集</a:t>
            </a:r>
            <a:r>
              <a:rPr lang="en-US" altLang="zh-CN"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lnSpc>
                <a:spcPct val="100000"/>
              </a:lnSpc>
              <a:buClr>
                <a:srgbClr val="C00000"/>
              </a:buClr>
            </a:pPr>
            <a:r>
              <a:rPr lang="zh-CN" altLang="en-US" dirty="0">
                <a:solidFill>
                  <a:srgbClr val="FF0000"/>
                </a:solidFill>
                <a:latin typeface="Times New Roman" panose="02020603050405020304" pitchFamily="2" charset="0"/>
                <a:cs typeface="Times New Roman" panose="02020603050405020304" pitchFamily="2" charset="0"/>
              </a:rPr>
              <a:t>点</a:t>
            </a:r>
            <a:r>
              <a:rPr lang="zh-CN" altLang="en-US" dirty="0">
                <a:latin typeface="Times New Roman" panose="02020603050405020304" pitchFamily="2" charset="0"/>
                <a:cs typeface="Times New Roman" panose="02020603050405020304" pitchFamily="2" charset="0"/>
              </a:rPr>
              <a:t> </a:t>
            </a:r>
            <a:r>
              <a:rPr lang="en-US" altLang="x-none" dirty="0">
                <a:latin typeface="Times New Roman" panose="02020603050405020304" pitchFamily="2" charset="0"/>
                <a:cs typeface="Times New Roman" panose="02020603050405020304" pitchFamily="2" charset="0"/>
              </a:rPr>
              <a:t>(dot) </a:t>
            </a:r>
            <a:r>
              <a:rPr lang="zh-CN" altLang="en-US" dirty="0">
                <a:latin typeface="Times New Roman" panose="02020603050405020304" pitchFamily="2" charset="0"/>
                <a:cs typeface="Times New Roman" panose="02020603050405020304" pitchFamily="2" charset="0"/>
              </a:rPr>
              <a:t>代表 </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实体</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（是现实世界中的某个客观对象在</a:t>
            </a:r>
            <a:r>
              <a:rPr lang="en-US" altLang="zh-CN" dirty="0">
                <a:latin typeface="Times New Roman" panose="02020603050405020304" pitchFamily="2" charset="0"/>
                <a:cs typeface="Times New Roman" panose="02020603050405020304" pitchFamily="2" charset="0"/>
              </a:rPr>
              <a:t>ER</a:t>
            </a:r>
            <a:r>
              <a:rPr lang="zh-CN" altLang="en-US" dirty="0">
                <a:latin typeface="Times New Roman" panose="02020603050405020304" pitchFamily="2" charset="0"/>
                <a:cs typeface="Times New Roman" panose="02020603050405020304" pitchFamily="2" charset="0"/>
              </a:rPr>
              <a:t>模型中的抽象表示）</a:t>
            </a:r>
            <a:endParaRPr lang="zh-CN" altLang="en-US" dirty="0">
              <a:latin typeface="Times New Roman" panose="02020603050405020304" pitchFamily="2" charset="0"/>
              <a:cs typeface="Times New Roman" panose="02020603050405020304" pitchFamily="2" charset="0"/>
            </a:endParaRPr>
          </a:p>
          <a:p>
            <a:pPr lvl="1">
              <a:lnSpc>
                <a:spcPct val="100000"/>
              </a:lnSpc>
              <a:buClr>
                <a:srgbClr val="C00000"/>
              </a:buClr>
            </a:pPr>
            <a:r>
              <a:rPr lang="zh-CN" altLang="en-US" dirty="0">
                <a:solidFill>
                  <a:srgbClr val="1F2DA8"/>
                </a:solidFill>
                <a:latin typeface="Times New Roman" panose="02020603050405020304" pitchFamily="2" charset="0"/>
                <a:cs typeface="Times New Roman" panose="02020603050405020304" pitchFamily="2" charset="0"/>
              </a:rPr>
              <a:t>点与点之间的</a:t>
            </a:r>
            <a:r>
              <a:rPr lang="zh-CN" altLang="en-US" dirty="0">
                <a:solidFill>
                  <a:srgbClr val="FF0000"/>
                </a:solidFill>
                <a:latin typeface="Times New Roman" panose="02020603050405020304" pitchFamily="2" charset="0"/>
                <a:cs typeface="Times New Roman" panose="02020603050405020304" pitchFamily="2" charset="0"/>
              </a:rPr>
              <a:t>线</a:t>
            </a:r>
            <a:r>
              <a:rPr lang="en-US" altLang="x-none" dirty="0">
                <a:latin typeface="Times New Roman" panose="02020603050405020304" pitchFamily="2" charset="0"/>
                <a:cs typeface="Times New Roman" panose="02020603050405020304" pitchFamily="2" charset="0"/>
              </a:rPr>
              <a:t>(line)</a:t>
            </a:r>
            <a:r>
              <a:rPr lang="zh-CN" altLang="en-US" dirty="0">
                <a:latin typeface="Times New Roman" panose="02020603050405020304" pitchFamily="2" charset="0"/>
                <a:cs typeface="Times New Roman" panose="02020603050405020304" pitchFamily="2" charset="0"/>
              </a:rPr>
              <a:t>代表在现实世界中的</a:t>
            </a:r>
            <a:r>
              <a:rPr lang="en-US" altLang="zh-CN" dirty="0">
                <a:latin typeface="Times New Roman" panose="02020603050405020304" pitchFamily="2" charset="0"/>
                <a:cs typeface="Times New Roman" panose="02020603050405020304" pitchFamily="2" charset="0"/>
                <a:sym typeface="+mn-ea"/>
              </a:rPr>
              <a:t>‘</a:t>
            </a:r>
            <a:r>
              <a:rPr lang="zh-CN" altLang="en-US" dirty="0">
                <a:solidFill>
                  <a:srgbClr val="FF0000"/>
                </a:solidFill>
                <a:latin typeface="Times New Roman" panose="02020603050405020304" pitchFamily="2" charset="0"/>
                <a:cs typeface="Times New Roman" panose="02020603050405020304" pitchFamily="2" charset="0"/>
              </a:rPr>
              <a:t>实体之间的联系</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情况</a:t>
            </a:r>
            <a:endParaRPr lang="zh-CN" altLang="en-US" dirty="0">
              <a:latin typeface="Times New Roman" panose="02020603050405020304" pitchFamily="2" charset="0"/>
              <a:cs typeface="Times New Roman" panose="02020603050405020304" pitchFamily="2" charset="0"/>
            </a:endParaRPr>
          </a:p>
        </p:txBody>
      </p:sp>
      <p:grpSp>
        <p:nvGrpSpPr>
          <p:cNvPr id="6" name="组合 5"/>
          <p:cNvGrpSpPr/>
          <p:nvPr/>
        </p:nvGrpSpPr>
        <p:grpSpPr>
          <a:xfrm>
            <a:off x="2741295" y="3538220"/>
            <a:ext cx="6117590" cy="2038350"/>
            <a:chOff x="1917" y="1402"/>
            <a:chExt cx="9634" cy="3210"/>
          </a:xfrm>
        </p:grpSpPr>
        <p:pic>
          <p:nvPicPr>
            <p:cNvPr id="3" name="图片 2"/>
            <p:cNvPicPr>
              <a:picLocks noChangeAspect="1"/>
            </p:cNvPicPr>
            <p:nvPr/>
          </p:nvPicPr>
          <p:blipFill>
            <a:blip r:embed="rId1"/>
            <a:stretch>
              <a:fillRect/>
            </a:stretch>
          </p:blipFill>
          <p:spPr>
            <a:xfrm>
              <a:off x="4152" y="1402"/>
              <a:ext cx="5164" cy="3210"/>
            </a:xfrm>
            <a:prstGeom prst="rect">
              <a:avLst/>
            </a:prstGeom>
          </p:spPr>
        </p:pic>
        <p:sp>
          <p:nvSpPr>
            <p:cNvPr id="4" name="文本框 3"/>
            <p:cNvSpPr txBox="1"/>
            <p:nvPr/>
          </p:nvSpPr>
          <p:spPr>
            <a:xfrm>
              <a:off x="1917" y="2777"/>
              <a:ext cx="2235" cy="1501"/>
            </a:xfrm>
            <a:prstGeom prst="rect">
              <a:avLst/>
            </a:prstGeom>
            <a:noFill/>
          </p:spPr>
          <p:txBody>
            <a:bodyPr wrap="square" rtlCol="0">
              <a:spAutoFit/>
            </a:bodyPr>
            <a:p>
              <a:pPr algn="ctr"/>
              <a:r>
                <a:rPr lang="zh-CN" altLang="en-US" sz="2800" b="1">
                  <a:latin typeface="楷体" panose="02010609060101010101" charset="-122"/>
                  <a:ea typeface="楷体" panose="02010609060101010101" charset="-122"/>
                  <a:cs typeface="楷体" panose="02010609060101010101" charset="-122"/>
                </a:rPr>
                <a:t>实体集</a:t>
              </a:r>
              <a:r>
                <a:rPr lang="en-US" altLang="zh-CN" sz="2800" b="1">
                  <a:latin typeface="楷体" panose="02010609060101010101" charset="-122"/>
                  <a:ea typeface="楷体" panose="02010609060101010101" charset="-122"/>
                  <a:cs typeface="楷体" panose="02010609060101010101" charset="-122"/>
                </a:rPr>
                <a:t>A</a:t>
              </a:r>
              <a:endParaRPr lang="en-US" altLang="zh-CN" sz="2800" b="1">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9316" y="2645"/>
              <a:ext cx="2235" cy="1501"/>
            </a:xfrm>
            <a:prstGeom prst="rect">
              <a:avLst/>
            </a:prstGeom>
            <a:noFill/>
          </p:spPr>
          <p:txBody>
            <a:bodyPr wrap="square" rtlCol="0">
              <a:spAutoFit/>
            </a:bodyPr>
            <a:p>
              <a:pPr algn="ctr"/>
              <a:r>
                <a:rPr lang="zh-CN" altLang="en-US" sz="2800" b="1">
                  <a:latin typeface="楷体" panose="02010609060101010101" charset="-122"/>
                  <a:ea typeface="楷体" panose="02010609060101010101" charset="-122"/>
                  <a:cs typeface="楷体" panose="02010609060101010101" charset="-122"/>
                </a:rPr>
                <a:t>实体集</a:t>
              </a:r>
              <a:r>
                <a:rPr lang="en-US" altLang="zh-CN" sz="2800" b="1">
                  <a:latin typeface="楷体" panose="02010609060101010101" charset="-122"/>
                  <a:ea typeface="楷体" panose="02010609060101010101" charset="-122"/>
                  <a:cs typeface="楷体" panose="02010609060101010101" charset="-122"/>
                </a:rPr>
                <a:t>B</a:t>
              </a:r>
              <a:endParaRPr lang="en-US" altLang="zh-CN" sz="2800" b="1">
                <a:latin typeface="楷体" panose="02010609060101010101" charset="-122"/>
                <a:ea typeface="楷体" panose="02010609060101010101" charset="-122"/>
                <a:cs typeface="楷体" panose="02010609060101010101" charset="-122"/>
              </a:endParaRPr>
            </a:p>
          </p:txBody>
        </p:sp>
      </p:grpSp>
      <p:sp>
        <p:nvSpPr>
          <p:cNvPr id="2" name="文本框 1"/>
          <p:cNvSpPr txBox="1"/>
          <p:nvPr/>
        </p:nvSpPr>
        <p:spPr>
          <a:xfrm>
            <a:off x="424180" y="5953760"/>
            <a:ext cx="11343005" cy="460375"/>
          </a:xfrm>
          <a:prstGeom prst="rect">
            <a:avLst/>
          </a:prstGeom>
          <a:solidFill>
            <a:schemeClr val="accent1">
              <a:lumMod val="20000"/>
              <a:lumOff val="80000"/>
              <a:alpha val="60000"/>
            </a:schemeClr>
          </a:solidFill>
        </p:spPr>
        <p:txBody>
          <a:bodyPr wrap="square" rtlCol="0">
            <a:spAutoFit/>
          </a:bodyPr>
          <a:p>
            <a:r>
              <a:rPr lang="zh-CN" altLang="en-US" sz="2400" b="1">
                <a:latin typeface="Times New Roman" panose="02020603050405020304" pitchFamily="2" charset="0"/>
                <a:ea typeface="楷体" panose="02010609060101010101" charset="-122"/>
                <a:cs typeface="Times New Roman" panose="02020603050405020304" pitchFamily="2" charset="0"/>
              </a:rPr>
              <a:t>注：这里是解释</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函数关系</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的示意图，不是</a:t>
            </a:r>
            <a:r>
              <a:rPr lang="en-US" altLang="zh-CN" sz="2400" b="1">
                <a:latin typeface="Times New Roman" panose="02020603050405020304" pitchFamily="2" charset="0"/>
                <a:ea typeface="楷体" panose="02010609060101010101" charset="-122"/>
                <a:cs typeface="Times New Roman" panose="02020603050405020304" pitchFamily="2" charset="0"/>
              </a:rPr>
              <a:t>ER</a:t>
            </a:r>
            <a:r>
              <a:rPr lang="zh-CN" altLang="en-US" sz="2400" b="1">
                <a:latin typeface="Times New Roman" panose="02020603050405020304" pitchFamily="2" charset="0"/>
                <a:ea typeface="楷体" panose="02010609060101010101" charset="-122"/>
                <a:cs typeface="Times New Roman" panose="02020603050405020304" pitchFamily="2" charset="0"/>
              </a:rPr>
              <a:t>图中用来表示属性的</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椭圆</a:t>
            </a:r>
            <a:r>
              <a:rPr lang="en-US" altLang="zh-CN" sz="2400" b="1">
                <a:latin typeface="Times New Roman" panose="02020603050405020304" pitchFamily="2" charset="0"/>
                <a:ea typeface="楷体" panose="02010609060101010101" charset="-122"/>
                <a:cs typeface="Times New Roman" panose="02020603050405020304" pitchFamily="2" charset="0"/>
              </a:rPr>
              <a:t>’</a:t>
            </a:r>
            <a:r>
              <a:rPr lang="zh-CN" altLang="en-US" sz="2400" b="1">
                <a:latin typeface="Times New Roman" panose="02020603050405020304" pitchFamily="2" charset="0"/>
                <a:ea typeface="楷体" panose="02010609060101010101" charset="-122"/>
                <a:cs typeface="Times New Roman" panose="02020603050405020304" pitchFamily="2" charset="0"/>
              </a:rPr>
              <a:t>符号！</a:t>
            </a:r>
            <a:endParaRPr lang="zh-CN" altLang="en-US" sz="2400" b="1">
              <a:latin typeface="Times New Roman" panose="02020603050405020304" pitchFamily="2" charset="0"/>
              <a:ea typeface="楷体" panose="02010609060101010101" charset="-122"/>
              <a:cs typeface="Times New Roman" panose="02020603050405020304" pitchFamily="2" charset="0"/>
            </a:endParaRPr>
          </a:p>
        </p:txBody>
      </p:sp>
      <p:sp>
        <p:nvSpPr>
          <p:cNvPr id="7" name="灯片编号占位符 6"/>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8" name="页脚占位符 7"/>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标题 8"/>
          <p:cNvSpPr>
            <a:spLocks noGrp="1"/>
          </p:cNvSpPr>
          <p:nvPr>
            <p:ph type="title"/>
          </p:nvPr>
        </p:nvSpPr>
        <p:spPr/>
        <p:txBody>
          <a:bodyPr/>
          <a:p>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a:p>
        </p:txBody>
      </p:sp>
      <p:sp>
        <p:nvSpPr>
          <p:cNvPr id="10" name="内容占位符 9"/>
          <p:cNvSpPr>
            <a:spLocks noGrp="1"/>
          </p:cNvSpPr>
          <p:nvPr>
            <p:ph idx="1"/>
          </p:nvPr>
        </p:nvSpPr>
        <p:spPr/>
        <p:txBody>
          <a:bodyPr/>
          <a:p>
            <a:pPr lvl="0" eaLnBrk="1" hangingPunct="1">
              <a:lnSpc>
                <a:spcPct val="100000"/>
              </a:lnSpc>
              <a:spcBef>
                <a:spcPct val="0"/>
              </a:spcBef>
            </a:pPr>
            <a:r>
              <a:rPr lang="zh-CN" altLang="en-US" dirty="0">
                <a:solidFill>
                  <a:srgbClr val="FF0000"/>
                </a:solidFill>
                <a:sym typeface="+mn-ea"/>
              </a:rPr>
              <a:t>一对</a:t>
            </a:r>
            <a:r>
              <a:rPr lang="zh-CN" altLang="en-US" dirty="0">
                <a:solidFill>
                  <a:srgbClr val="FF0000"/>
                </a:solidFill>
                <a:sym typeface="+mn-ea"/>
              </a:rPr>
              <a:t>一</a:t>
            </a:r>
            <a:endParaRPr lang="en-US" altLang="x-none" dirty="0"/>
          </a:p>
          <a:p>
            <a:pPr marL="457200" lvl="1" indent="0" eaLnBrk="1" hangingPunct="1">
              <a:lnSpc>
                <a:spcPct val="100000"/>
              </a:lnSpc>
              <a:spcBef>
                <a:spcPct val="0"/>
              </a:spcBef>
              <a:buNone/>
            </a:pPr>
            <a:r>
              <a:rPr lang="zh-CN" altLang="en-US" sz="2400" dirty="0">
                <a:latin typeface="+mn-ea"/>
                <a:cs typeface="+mn-ea"/>
                <a:sym typeface="+mn-ea"/>
              </a:rPr>
              <a:t>一</a:t>
            </a:r>
            <a:r>
              <a:rPr lang="zh-CN" altLang="en-US" sz="2400" dirty="0">
                <a:latin typeface="+mn-ea"/>
                <a:cs typeface="+mn-ea"/>
                <a:sym typeface="+mn-ea"/>
              </a:rPr>
              <a:t>对</a:t>
            </a:r>
            <a:r>
              <a:rPr lang="zh-CN" altLang="en-US" sz="2400" dirty="0">
                <a:latin typeface="+mn-ea"/>
                <a:cs typeface="+mn-ea"/>
                <a:sym typeface="+mn-ea"/>
              </a:rPr>
              <a:t>一的联系应该具备以下两个性质（</a:t>
            </a:r>
            <a:r>
              <a:rPr lang="en-US" altLang="zh-CN" sz="2400" dirty="0">
                <a:latin typeface="+mn-ea"/>
                <a:cs typeface="+mn-ea"/>
                <a:sym typeface="+mn-ea"/>
              </a:rPr>
              <a:t>a</a:t>
            </a:r>
            <a:r>
              <a:rPr lang="zh-CN" altLang="en-US" sz="2400" dirty="0">
                <a:latin typeface="+mn-ea"/>
                <a:cs typeface="+mn-ea"/>
                <a:sym typeface="+mn-ea"/>
              </a:rPr>
              <a:t>和</a:t>
            </a:r>
            <a:r>
              <a:rPr lang="en-US" altLang="zh-CN" sz="2400" dirty="0">
                <a:latin typeface="+mn-ea"/>
                <a:cs typeface="+mn-ea"/>
                <a:sym typeface="+mn-ea"/>
              </a:rPr>
              <a:t>b</a:t>
            </a:r>
            <a:r>
              <a:rPr lang="zh-CN" altLang="en-US" sz="2400" dirty="0">
                <a:latin typeface="+mn-ea"/>
                <a:cs typeface="+mn-ea"/>
                <a:sym typeface="+mn-ea"/>
              </a:rPr>
              <a:t>分别是实体集</a:t>
            </a:r>
            <a:r>
              <a:rPr lang="en-US" altLang="zh-CN" sz="2400" dirty="0">
                <a:latin typeface="+mn-ea"/>
                <a:cs typeface="+mn-ea"/>
                <a:sym typeface="+mn-ea"/>
              </a:rPr>
              <a:t>A</a:t>
            </a:r>
            <a:r>
              <a:rPr lang="zh-CN" altLang="en-US" sz="2400" dirty="0">
                <a:latin typeface="+mn-ea"/>
                <a:cs typeface="+mn-ea"/>
                <a:sym typeface="+mn-ea"/>
              </a:rPr>
              <a:t>和实体集</a:t>
            </a:r>
            <a:r>
              <a:rPr lang="en-US" altLang="zh-CN" sz="2400" dirty="0">
                <a:latin typeface="+mn-ea"/>
                <a:cs typeface="+mn-ea"/>
                <a:sym typeface="+mn-ea"/>
              </a:rPr>
              <a:t>B</a:t>
            </a:r>
            <a:r>
              <a:rPr lang="zh-CN" altLang="en-US" sz="2400" dirty="0">
                <a:latin typeface="+mn-ea"/>
                <a:cs typeface="+mn-ea"/>
                <a:sym typeface="+mn-ea"/>
              </a:rPr>
              <a:t>中的一个实体）：</a:t>
            </a:r>
            <a:endParaRPr lang="en-US" altLang="x-none" sz="2400" dirty="0">
              <a:latin typeface="+mn-ea"/>
              <a:cs typeface="+mn-ea"/>
            </a:endParaRPr>
          </a:p>
          <a:p>
            <a:pPr marL="971550" lvl="1" indent="-514350" eaLnBrk="1" hangingPunct="1">
              <a:lnSpc>
                <a:spcPct val="100000"/>
              </a:lnSpc>
              <a:spcBef>
                <a:spcPct val="0"/>
              </a:spcBef>
              <a:buFont typeface="+mj-ea"/>
              <a:buAutoNum type="circleNumDbPlain"/>
            </a:pPr>
            <a:r>
              <a:rPr lang="zh-CN" altLang="en-US" sz="2400" dirty="0">
                <a:solidFill>
                  <a:srgbClr val="FF0000"/>
                </a:solidFill>
                <a:latin typeface="+mn-ea"/>
                <a:cs typeface="+mn-ea"/>
                <a:sym typeface="+mn-ea"/>
              </a:rPr>
              <a:t>一个实体</a:t>
            </a:r>
            <a:r>
              <a:rPr lang="en-US" altLang="zh-CN" sz="2400" dirty="0">
                <a:solidFill>
                  <a:srgbClr val="FF0000"/>
                </a:solidFill>
                <a:latin typeface="+mn-ea"/>
                <a:cs typeface="+mn-ea"/>
                <a:sym typeface="+mn-ea"/>
              </a:rPr>
              <a:t>a</a:t>
            </a:r>
            <a:r>
              <a:rPr lang="zh-CN" altLang="en-US" sz="2400" dirty="0">
                <a:solidFill>
                  <a:srgbClr val="FF0000"/>
                </a:solidFill>
                <a:latin typeface="+mn-ea"/>
                <a:cs typeface="+mn-ea"/>
                <a:sym typeface="+mn-ea"/>
              </a:rPr>
              <a:t>最多只能对应唯一的一个实体</a:t>
            </a:r>
            <a:r>
              <a:rPr lang="en-US" altLang="zh-CN" sz="2400" dirty="0">
                <a:solidFill>
                  <a:srgbClr val="FF0000"/>
                </a:solidFill>
                <a:latin typeface="+mn-ea"/>
                <a:cs typeface="+mn-ea"/>
                <a:sym typeface="+mn-ea"/>
              </a:rPr>
              <a:t>b</a:t>
            </a:r>
            <a:endParaRPr lang="en-US" altLang="zh-CN" sz="2400" dirty="0">
              <a:solidFill>
                <a:srgbClr val="FF0000"/>
              </a:solidFill>
              <a:latin typeface="+mn-ea"/>
              <a:cs typeface="+mn-ea"/>
            </a:endParaRPr>
          </a:p>
          <a:p>
            <a:pPr marL="971550" lvl="1" indent="-514350" eaLnBrk="1" hangingPunct="1">
              <a:lnSpc>
                <a:spcPct val="100000"/>
              </a:lnSpc>
              <a:spcBef>
                <a:spcPct val="0"/>
              </a:spcBef>
              <a:buFont typeface="+mj-ea"/>
              <a:buAutoNum type="circleNumDbPlain"/>
            </a:pPr>
            <a:r>
              <a:rPr lang="zh-CN" altLang="en-US" sz="2400" dirty="0">
                <a:solidFill>
                  <a:srgbClr val="FF0000"/>
                </a:solidFill>
                <a:latin typeface="+mn-ea"/>
                <a:cs typeface="+mn-ea"/>
                <a:sym typeface="+mn-ea"/>
              </a:rPr>
              <a:t>一个实体</a:t>
            </a:r>
            <a:r>
              <a:rPr lang="en-US" altLang="zh-CN" sz="2400" dirty="0">
                <a:solidFill>
                  <a:srgbClr val="FF0000"/>
                </a:solidFill>
                <a:latin typeface="+mn-ea"/>
                <a:cs typeface="+mn-ea"/>
                <a:sym typeface="+mn-ea"/>
              </a:rPr>
              <a:t>b</a:t>
            </a:r>
            <a:r>
              <a:rPr lang="zh-CN" altLang="en-US" sz="2400" dirty="0">
                <a:solidFill>
                  <a:srgbClr val="FF0000"/>
                </a:solidFill>
                <a:latin typeface="+mn-ea"/>
                <a:cs typeface="+mn-ea"/>
                <a:sym typeface="+mn-ea"/>
              </a:rPr>
              <a:t>最多只能对应唯一的一个实体</a:t>
            </a:r>
            <a:r>
              <a:rPr lang="en-US" altLang="zh-CN" sz="2400" dirty="0">
                <a:solidFill>
                  <a:srgbClr val="FF0000"/>
                </a:solidFill>
                <a:latin typeface="+mn-ea"/>
                <a:cs typeface="+mn-ea"/>
                <a:sym typeface="+mn-ea"/>
              </a:rPr>
              <a:t>a</a:t>
            </a:r>
            <a:endParaRPr lang="en-US" altLang="zh-CN" sz="2400" dirty="0">
              <a:solidFill>
                <a:srgbClr val="FF0000"/>
              </a:solidFill>
              <a:latin typeface="+mn-ea"/>
              <a:cs typeface="+mn-ea"/>
              <a:sym typeface="+mn-ea"/>
            </a:endParaRPr>
          </a:p>
          <a:p>
            <a:endParaRPr lang="en-US" altLang="zh-CN" sz="2400" dirty="0">
              <a:solidFill>
                <a:srgbClr val="FF0000"/>
              </a:solidFill>
              <a:latin typeface="+mn-ea"/>
              <a:cs typeface="+mn-ea"/>
              <a:sym typeface="+mn-ea"/>
            </a:endParaRPr>
          </a:p>
        </p:txBody>
      </p:sp>
      <p:sp>
        <p:nvSpPr>
          <p:cNvPr id="47110" name="Rectangle 4"/>
          <p:cNvSpPr/>
          <p:nvPr/>
        </p:nvSpPr>
        <p:spPr>
          <a:xfrm>
            <a:off x="5847715" y="2905125"/>
            <a:ext cx="4672330" cy="1676400"/>
          </a:xfrm>
          <a:prstGeom prst="rect">
            <a:avLst/>
          </a:prstGeom>
          <a:noFill/>
          <a:ln w="9525">
            <a:noFill/>
          </a:ln>
        </p:spPr>
        <p:txBody>
          <a:bodyPr wrap="square" anchor="t">
            <a:spAutoFit/>
          </a:bodyPr>
          <a:p>
            <a:pPr marL="457200" indent="-457200">
              <a:lnSpc>
                <a:spcPct val="100000"/>
              </a:lnSpc>
              <a:spcBef>
                <a:spcPts val="0"/>
              </a:spcBef>
              <a:spcAft>
                <a:spcPts val="1000"/>
              </a:spcAft>
              <a:buClr>
                <a:srgbClr val="C00000"/>
              </a:buClr>
              <a:buSzPct val="85000"/>
              <a:buFont typeface="Wingdings" panose="05000000000000000000" charset="0"/>
              <a:buChar char="Ø"/>
            </a:pPr>
            <a:r>
              <a:rPr lang="en-US" altLang="zh-CN" sz="2600" b="1" dirty="0">
                <a:solidFill>
                  <a:srgbClr val="1F2DA8"/>
                </a:solidFill>
                <a:ea typeface="楷体" panose="02010609060101010101" charset="-122"/>
                <a:cs typeface="Times New Roman" panose="02020603050405020304" pitchFamily="2" charset="0"/>
              </a:rPr>
              <a:t>‘</a:t>
            </a:r>
            <a:r>
              <a:rPr lang="zh-CN" altLang="en-US" sz="2600" b="1" dirty="0">
                <a:solidFill>
                  <a:srgbClr val="1F2DA8"/>
                </a:solidFill>
                <a:ea typeface="楷体" panose="02010609060101010101" charset="-122"/>
                <a:cs typeface="Times New Roman" panose="02020603050405020304" pitchFamily="2" charset="0"/>
              </a:rPr>
              <a:t>一对一</a:t>
            </a:r>
            <a:r>
              <a:rPr lang="en-US" altLang="zh-CN" sz="2600" b="1" dirty="0">
                <a:solidFill>
                  <a:srgbClr val="1F2DA8"/>
                </a:solidFill>
                <a:ea typeface="楷体" panose="02010609060101010101" charset="-122"/>
                <a:cs typeface="Times New Roman" panose="02020603050405020304" pitchFamily="2" charset="0"/>
              </a:rPr>
              <a:t>’ </a:t>
            </a:r>
            <a:r>
              <a:rPr lang="zh-CN" altLang="en-US" sz="2600" b="1" dirty="0">
                <a:solidFill>
                  <a:srgbClr val="1F2DA8"/>
                </a:solidFill>
                <a:ea typeface="楷体" panose="02010609060101010101" charset="-122"/>
                <a:cs typeface="Times New Roman" panose="02020603050405020304" pitchFamily="2" charset="0"/>
              </a:rPr>
              <a:t>联系的</a:t>
            </a:r>
            <a:r>
              <a:rPr lang="zh-CN" altLang="en-US" sz="2600" b="1" dirty="0">
                <a:solidFill>
                  <a:srgbClr val="1F2DA8"/>
                </a:solidFill>
                <a:ea typeface="楷体" panose="02010609060101010101" charset="-122"/>
                <a:cs typeface="Times New Roman" panose="02020603050405020304" pitchFamily="2" charset="0"/>
              </a:rPr>
              <a:t>例子</a:t>
            </a:r>
            <a:endParaRPr lang="zh-CN" altLang="en-US" sz="2600" b="1" dirty="0">
              <a:solidFill>
                <a:srgbClr val="1F2DA8"/>
              </a:solidFill>
              <a:ea typeface="楷体" panose="02010609060101010101" charset="-122"/>
              <a:cs typeface="Times New Roman" panose="02020603050405020304" pitchFamily="2" charset="0"/>
            </a:endParaRPr>
          </a:p>
          <a:p>
            <a:pPr marL="914400" lvl="1" indent="-457200">
              <a:lnSpc>
                <a:spcPct val="100000"/>
              </a:lnSpc>
              <a:spcBef>
                <a:spcPts val="0"/>
              </a:spcBef>
              <a:spcAft>
                <a:spcPts val="1000"/>
              </a:spcAft>
              <a:buClr>
                <a:srgbClr val="C00000"/>
              </a:buClr>
              <a:buSzPct val="85000"/>
              <a:buFont typeface="Arial" panose="020B0604020202020204" pitchFamily="34" charset="0"/>
              <a:buChar char="•"/>
            </a:pP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居民</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rPr>
              <a:t>vs.</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身份证</a:t>
            </a:r>
            <a:r>
              <a:rPr lang="en-US" altLang="zh-CN" sz="2600" b="1" dirty="0">
                <a:solidFill>
                  <a:srgbClr val="1F2DA8"/>
                </a:solidFill>
                <a:ea typeface="楷体" panose="02010609060101010101" charset="-122"/>
                <a:cs typeface="Times New Roman" panose="02020603050405020304" pitchFamily="2" charset="0"/>
                <a:sym typeface="+mn-ea"/>
              </a:rPr>
              <a:t>’</a:t>
            </a:r>
            <a:endParaRPr lang="zh-CN" altLang="en-US" sz="2600" b="1" dirty="0">
              <a:solidFill>
                <a:srgbClr val="1F2DA8"/>
              </a:solidFill>
              <a:ea typeface="楷体" panose="02010609060101010101" charset="-122"/>
              <a:cs typeface="Times New Roman" panose="02020603050405020304" pitchFamily="2" charset="0"/>
            </a:endParaRPr>
          </a:p>
          <a:p>
            <a:pPr marL="914400" lvl="1" indent="-457200">
              <a:lnSpc>
                <a:spcPct val="100000"/>
              </a:lnSpc>
              <a:spcBef>
                <a:spcPts val="1000"/>
              </a:spcBef>
              <a:spcAft>
                <a:spcPts val="1000"/>
              </a:spcAft>
              <a:buClr>
                <a:srgbClr val="C00000"/>
              </a:buClr>
              <a:buSzPct val="85000"/>
              <a:buFont typeface="Arial" panose="020B0604020202020204" pitchFamily="34" charset="0"/>
              <a:buChar char="•"/>
            </a:pPr>
            <a:r>
              <a:rPr lang="en-US" altLang="zh-CN" sz="2600" b="1" dirty="0">
                <a:solidFill>
                  <a:srgbClr val="1F2DA8"/>
                </a:solidFill>
                <a:ea typeface="楷体" panose="02010609060101010101" charset="-122"/>
                <a:cs typeface="Times New Roman" panose="02020603050405020304" pitchFamily="2" charset="0"/>
              </a:rPr>
              <a:t>‘</a:t>
            </a:r>
            <a:r>
              <a:rPr lang="zh-CN" altLang="en-US" sz="2600" b="1" dirty="0">
                <a:solidFill>
                  <a:srgbClr val="1F2DA8"/>
                </a:solidFill>
                <a:ea typeface="楷体" panose="02010609060101010101" charset="-122"/>
                <a:cs typeface="Times New Roman" panose="02020603050405020304" pitchFamily="2" charset="0"/>
              </a:rPr>
              <a:t>学生</a:t>
            </a:r>
            <a:r>
              <a:rPr lang="en-US" altLang="zh-CN"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sym typeface="+mn-ea"/>
              </a:rPr>
              <a:t>vs.</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rPr>
              <a:t>‘</a:t>
            </a:r>
            <a:r>
              <a:rPr lang="zh-CN" altLang="en-US" sz="2600" b="1" dirty="0">
                <a:solidFill>
                  <a:srgbClr val="1F2DA8"/>
                </a:solidFill>
                <a:ea typeface="楷体" panose="02010609060101010101" charset="-122"/>
                <a:cs typeface="Times New Roman" panose="02020603050405020304" pitchFamily="2" charset="0"/>
              </a:rPr>
              <a:t>学生证</a:t>
            </a:r>
            <a:r>
              <a:rPr lang="en-US" altLang="zh-CN" sz="2600" b="1" dirty="0">
                <a:solidFill>
                  <a:srgbClr val="1F2DA8"/>
                </a:solidFill>
                <a:ea typeface="楷体" panose="02010609060101010101" charset="-122"/>
                <a:cs typeface="Times New Roman" panose="02020603050405020304" pitchFamily="2" charset="0"/>
              </a:rPr>
              <a:t>’</a:t>
            </a:r>
            <a:endParaRPr lang="en-US" altLang="zh-CN" sz="2600" b="1" dirty="0">
              <a:solidFill>
                <a:srgbClr val="1F2DA8"/>
              </a:solidFill>
              <a:ea typeface="楷体" panose="02010609060101010101" charset="-122"/>
              <a:cs typeface="Times New Roman" panose="02020603050405020304" pitchFamily="2" charset="0"/>
            </a:endParaRPr>
          </a:p>
        </p:txBody>
      </p:sp>
      <p:grpSp>
        <p:nvGrpSpPr>
          <p:cNvPr id="8" name="组合 7"/>
          <p:cNvGrpSpPr/>
          <p:nvPr/>
        </p:nvGrpSpPr>
        <p:grpSpPr>
          <a:xfrm>
            <a:off x="1946910" y="2776855"/>
            <a:ext cx="3353435" cy="2517775"/>
            <a:chOff x="666" y="1548"/>
            <a:chExt cx="5281" cy="3965"/>
          </a:xfrm>
        </p:grpSpPr>
        <p:grpSp>
          <p:nvGrpSpPr>
            <p:cNvPr id="6" name="组合 5"/>
            <p:cNvGrpSpPr/>
            <p:nvPr/>
          </p:nvGrpSpPr>
          <p:grpSpPr>
            <a:xfrm>
              <a:off x="666" y="4788"/>
              <a:ext cx="5281" cy="725"/>
              <a:chOff x="441" y="4760"/>
              <a:chExt cx="5281" cy="725"/>
            </a:xfrm>
          </p:grpSpPr>
          <p:sp>
            <p:nvSpPr>
              <p:cNvPr id="4" name="文本框 3"/>
              <p:cNvSpPr txBox="1"/>
              <p:nvPr/>
            </p:nvSpPr>
            <p:spPr>
              <a:xfrm>
                <a:off x="441" y="4760"/>
                <a:ext cx="2235" cy="725"/>
              </a:xfrm>
              <a:prstGeom prst="rect">
                <a:avLst/>
              </a:prstGeom>
              <a:noFill/>
            </p:spPr>
            <p:txBody>
              <a:bodyPr wrap="square" rtlCol="0">
                <a:spAutoFit/>
              </a:bodyPr>
              <a:p>
                <a:pPr algn="ctr"/>
                <a:r>
                  <a:rPr lang="zh-CN" altLang="en-US" sz="2400" b="1">
                    <a:latin typeface="楷体" panose="02010609060101010101" charset="-122"/>
                    <a:ea typeface="楷体" panose="02010609060101010101" charset="-122"/>
                    <a:cs typeface="楷体" panose="02010609060101010101" charset="-122"/>
                  </a:rPr>
                  <a:t>实体集</a:t>
                </a:r>
                <a:r>
                  <a:rPr lang="en-US" altLang="zh-CN" sz="2400" b="1">
                    <a:latin typeface="楷体" panose="02010609060101010101" charset="-122"/>
                    <a:ea typeface="楷体" panose="02010609060101010101" charset="-122"/>
                    <a:cs typeface="楷体" panose="02010609060101010101" charset="-122"/>
                  </a:rPr>
                  <a:t>A</a:t>
                </a:r>
                <a:endParaRPr lang="en-US" altLang="zh-CN" sz="2400" b="1">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3487" y="4760"/>
                <a:ext cx="2235" cy="725"/>
              </a:xfrm>
              <a:prstGeom prst="rect">
                <a:avLst/>
              </a:prstGeom>
              <a:noFill/>
            </p:spPr>
            <p:txBody>
              <a:bodyPr wrap="square" rtlCol="0">
                <a:spAutoFit/>
              </a:bodyPr>
              <a:p>
                <a:pPr algn="ctr"/>
                <a:r>
                  <a:rPr lang="zh-CN" altLang="en-US" sz="2400" b="1">
                    <a:latin typeface="楷体" panose="02010609060101010101" charset="-122"/>
                    <a:ea typeface="楷体" panose="02010609060101010101" charset="-122"/>
                    <a:cs typeface="楷体" panose="02010609060101010101" charset="-122"/>
                  </a:rPr>
                  <a:t>实体集</a:t>
                </a:r>
                <a:r>
                  <a:rPr lang="en-US" altLang="zh-CN" sz="2400" b="1">
                    <a:latin typeface="楷体" panose="02010609060101010101" charset="-122"/>
                    <a:ea typeface="楷体" panose="02010609060101010101" charset="-122"/>
                    <a:cs typeface="楷体" panose="02010609060101010101" charset="-122"/>
                  </a:rPr>
                  <a:t>B</a:t>
                </a:r>
                <a:endParaRPr lang="en-US" altLang="zh-CN" sz="2400" b="1">
                  <a:latin typeface="楷体" panose="02010609060101010101" charset="-122"/>
                  <a:ea typeface="楷体" panose="02010609060101010101" charset="-122"/>
                  <a:cs typeface="楷体" panose="02010609060101010101" charset="-122"/>
                </a:endParaRPr>
              </a:p>
            </p:txBody>
          </p:sp>
        </p:grpSp>
        <p:pic>
          <p:nvPicPr>
            <p:cNvPr id="7" name="图片 6"/>
            <p:cNvPicPr>
              <a:picLocks noChangeAspect="1"/>
            </p:cNvPicPr>
            <p:nvPr/>
          </p:nvPicPr>
          <p:blipFill>
            <a:blip r:embed="rId1"/>
            <a:stretch>
              <a:fillRect/>
            </a:stretch>
          </p:blipFill>
          <p:spPr>
            <a:xfrm>
              <a:off x="666" y="1548"/>
              <a:ext cx="5281" cy="3240"/>
            </a:xfrm>
            <a:prstGeom prst="rect">
              <a:avLst/>
            </a:prstGeom>
          </p:spPr>
        </p:pic>
      </p:grpSp>
      <p:sp>
        <p:nvSpPr>
          <p:cNvPr id="2" name="Rectangle 4"/>
          <p:cNvSpPr/>
          <p:nvPr/>
        </p:nvSpPr>
        <p:spPr>
          <a:xfrm>
            <a:off x="5847715" y="4497705"/>
            <a:ext cx="4672330" cy="691515"/>
          </a:xfrm>
          <a:prstGeom prst="rect">
            <a:avLst/>
          </a:prstGeom>
          <a:noFill/>
          <a:ln w="9525">
            <a:noFill/>
          </a:ln>
        </p:spPr>
        <p:txBody>
          <a:bodyPr wrap="square" anchor="t">
            <a:spAutoFit/>
          </a:bodyPr>
          <a:p>
            <a:pPr marL="914400" lvl="1" indent="-457200">
              <a:lnSpc>
                <a:spcPct val="150000"/>
              </a:lnSpc>
              <a:spcBef>
                <a:spcPct val="20000"/>
              </a:spcBef>
              <a:buClr>
                <a:srgbClr val="C00000"/>
              </a:buClr>
              <a:buSzPct val="85000"/>
              <a:buFont typeface="Arial" panose="020B0604020202020204" pitchFamily="34" charset="0"/>
              <a:buChar char="•"/>
            </a:pP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居民</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rPr>
              <a:t>vs.</a:t>
            </a:r>
            <a:r>
              <a:rPr lang="zh-CN" altLang="en-US" sz="2600" b="1" dirty="0">
                <a:solidFill>
                  <a:srgbClr val="1F2DA8"/>
                </a:solidFill>
                <a:ea typeface="楷体" panose="02010609060101010101" charset="-122"/>
                <a:cs typeface="Times New Roman" panose="02020603050405020304" pitchFamily="2" charset="0"/>
              </a:rPr>
              <a:t>   </a:t>
            </a:r>
            <a:r>
              <a:rPr lang="en-US" altLang="zh-CN" sz="2600" b="1" dirty="0">
                <a:solidFill>
                  <a:srgbClr val="1F2DA8"/>
                </a:solidFill>
                <a:ea typeface="楷体" panose="02010609060101010101" charset="-122"/>
                <a:cs typeface="Times New Roman" panose="02020603050405020304" pitchFamily="2" charset="0"/>
                <a:sym typeface="+mn-ea"/>
              </a:rPr>
              <a:t>‘</a:t>
            </a:r>
            <a:r>
              <a:rPr lang="zh-CN" altLang="en-US" sz="2600" b="1" dirty="0">
                <a:solidFill>
                  <a:srgbClr val="1F2DA8"/>
                </a:solidFill>
                <a:ea typeface="楷体" panose="02010609060101010101" charset="-122"/>
                <a:cs typeface="Times New Roman" panose="02020603050405020304" pitchFamily="2" charset="0"/>
              </a:rPr>
              <a:t>驾驶证</a:t>
            </a:r>
            <a:r>
              <a:rPr lang="en-US" altLang="zh-CN" sz="2600" b="1" dirty="0">
                <a:solidFill>
                  <a:srgbClr val="1F2DA8"/>
                </a:solidFill>
                <a:ea typeface="楷体" panose="02010609060101010101" charset="-122"/>
                <a:cs typeface="Times New Roman" panose="02020603050405020304" pitchFamily="2" charset="0"/>
                <a:sym typeface="+mn-ea"/>
              </a:rPr>
              <a:t>’</a:t>
            </a:r>
            <a:endParaRPr lang="en-US" altLang="zh-CN" sz="2600" b="1" dirty="0">
              <a:solidFill>
                <a:srgbClr val="1F2DA8"/>
              </a:solidFill>
              <a:ea typeface="楷体" panose="02010609060101010101" charset="-122"/>
              <a:cs typeface="Times New Roman" panose="02020603050405020304" pitchFamily="2" charset="0"/>
              <a:sym typeface="+mn-ea"/>
            </a:endParaRPr>
          </a:p>
        </p:txBody>
      </p:sp>
      <p:sp>
        <p:nvSpPr>
          <p:cNvPr id="3" name="Rectangle 4"/>
          <p:cNvSpPr/>
          <p:nvPr/>
        </p:nvSpPr>
        <p:spPr>
          <a:xfrm>
            <a:off x="423545" y="5445760"/>
            <a:ext cx="11344275" cy="1198880"/>
          </a:xfrm>
          <a:prstGeom prst="rect">
            <a:avLst/>
          </a:prstGeom>
          <a:noFill/>
          <a:ln w="9525">
            <a:noFill/>
          </a:ln>
        </p:spPr>
        <p:txBody>
          <a:bodyPr wrap="square" anchor="t">
            <a:spAutoFit/>
          </a:bodyPr>
          <a:p>
            <a:pPr lvl="0">
              <a:lnSpc>
                <a:spcPct val="100000"/>
              </a:lnSpc>
              <a:spcBef>
                <a:spcPct val="20000"/>
              </a:spcBef>
            </a:pPr>
            <a:r>
              <a:rPr lang="zh-CN" altLang="en-US" sz="2400" b="1" dirty="0">
                <a:solidFill>
                  <a:srgbClr val="1F2DA8"/>
                </a:solidFill>
                <a:ea typeface="楷体" panose="02010609060101010101" charset="-122"/>
                <a:cs typeface="Times New Roman" panose="02020603050405020304" pitchFamily="2" charset="0"/>
                <a:sym typeface="+mn-ea"/>
              </a:rPr>
              <a:t>【思考】在</a:t>
            </a:r>
            <a:r>
              <a:rPr lang="en-US" altLang="zh-CN" sz="2400" b="1" dirty="0">
                <a:solidFill>
                  <a:srgbClr val="1F2DA8"/>
                </a:solidFill>
                <a:ea typeface="楷体" panose="02010609060101010101" charset="-122"/>
                <a:cs typeface="Times New Roman" panose="02020603050405020304" pitchFamily="2" charset="0"/>
                <a:sym typeface="+mn-ea"/>
              </a:rPr>
              <a:t>‘</a:t>
            </a:r>
            <a:r>
              <a:rPr lang="zh-CN" altLang="en-US" sz="2400" b="1" dirty="0">
                <a:solidFill>
                  <a:srgbClr val="1F2DA8"/>
                </a:solidFill>
                <a:ea typeface="楷体" panose="02010609060101010101" charset="-122"/>
                <a:cs typeface="Times New Roman" panose="02020603050405020304" pitchFamily="2" charset="0"/>
                <a:sym typeface="+mn-ea"/>
              </a:rPr>
              <a:t>一</a:t>
            </a:r>
            <a:r>
              <a:rPr lang="zh-CN" altLang="en-US" sz="2400" b="1" dirty="0">
                <a:solidFill>
                  <a:srgbClr val="1F2DA8"/>
                </a:solidFill>
                <a:ea typeface="楷体" panose="02010609060101010101" charset="-122"/>
                <a:cs typeface="Times New Roman" panose="02020603050405020304" pitchFamily="2" charset="0"/>
                <a:sym typeface="+mn-ea"/>
              </a:rPr>
              <a:t>对</a:t>
            </a:r>
            <a:r>
              <a:rPr lang="zh-CN" altLang="en-US" sz="2400" b="1" dirty="0">
                <a:solidFill>
                  <a:srgbClr val="1F2DA8"/>
                </a:solidFill>
                <a:ea typeface="楷体" panose="02010609060101010101" charset="-122"/>
                <a:cs typeface="Times New Roman" panose="02020603050405020304" pitchFamily="2" charset="0"/>
                <a:sym typeface="+mn-ea"/>
              </a:rPr>
              <a:t>一</a:t>
            </a:r>
            <a:r>
              <a:rPr lang="en-US" altLang="zh-CN" sz="2400" b="1" dirty="0">
                <a:solidFill>
                  <a:srgbClr val="1F2DA8"/>
                </a:solidFill>
                <a:ea typeface="楷体" panose="02010609060101010101" charset="-122"/>
                <a:cs typeface="Times New Roman" panose="02020603050405020304" pitchFamily="2" charset="0"/>
                <a:sym typeface="+mn-ea"/>
              </a:rPr>
              <a:t>’</a:t>
            </a:r>
            <a:r>
              <a:rPr lang="zh-CN" altLang="en-US" sz="2400" b="1" dirty="0">
                <a:solidFill>
                  <a:srgbClr val="1F2DA8"/>
                </a:solidFill>
                <a:ea typeface="楷体" panose="02010609060101010101" charset="-122"/>
                <a:cs typeface="Times New Roman" panose="02020603050405020304" pitchFamily="2" charset="0"/>
                <a:sym typeface="+mn-ea"/>
              </a:rPr>
              <a:t>联系中，允许一个实体集中</a:t>
            </a:r>
            <a:r>
              <a:rPr lang="zh-CN" altLang="en-US" sz="2400" b="1" dirty="0">
                <a:solidFill>
                  <a:srgbClr val="1F2DA8"/>
                </a:solidFill>
                <a:ea typeface="楷体" panose="02010609060101010101" charset="-122"/>
                <a:cs typeface="Times New Roman" panose="02020603050405020304" pitchFamily="2" charset="0"/>
                <a:sym typeface="+mn-ea"/>
              </a:rPr>
              <a:t>的某些实体，在另一个实体集中不存在与之对应的任何实体。请列举一个这样的二元联系例子，在两个实体集中，都存在着某些实体，与另一个实体集中的任何实体没有联系。</a:t>
            </a:r>
            <a:endParaRPr lang="zh-CN" altLang="en-US" sz="2400" b="1" dirty="0">
              <a:solidFill>
                <a:srgbClr val="1F2DA8"/>
              </a:solidFill>
              <a:ea typeface="楷体" panose="02010609060101010101" charset="-122"/>
              <a:cs typeface="Times New Roman" panose="02020603050405020304" pitchFamily="2" charset="0"/>
              <a:sym typeface="+mn-ea"/>
            </a:endParaRPr>
          </a:p>
        </p:txBody>
      </p:sp>
      <p:sp>
        <p:nvSpPr>
          <p:cNvPr id="11" name="灯片编号占位符 10"/>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12" name="页脚占位符 1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10"/>
                                        </p:tgtEl>
                                        <p:attrNameLst>
                                          <p:attrName>style.visibility</p:attrName>
                                        </p:attrNameLst>
                                      </p:cBhvr>
                                      <p:to>
                                        <p:strVal val="visible"/>
                                      </p:to>
                                    </p:set>
                                    <p:animEffect transition="in" filter="blinds(horizontal)">
                                      <p:cBhvr>
                                        <p:cTn id="7" dur="500"/>
                                        <p:tgtEl>
                                          <p:spTgt spid="471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p:txBody>
          <a:bodyPr wrap="square" tIns="0" bIns="0" anchor="ctr"/>
          <a:p>
            <a:pPr eaLnBrk="1" hangingPunct="1"/>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p>
                <a:pPr lvl="0" eaLnBrk="1" hangingPunct="1">
                  <a:lnSpc>
                    <a:spcPct val="100000"/>
                  </a:lnSpc>
                </a:pPr>
                <a:r>
                  <a:rPr lang="zh-CN" altLang="en-US" dirty="0">
                    <a:solidFill>
                      <a:srgbClr val="FF0000"/>
                    </a:solidFill>
                    <a:sym typeface="+mn-ea"/>
                  </a:rPr>
                  <a:t>一</a:t>
                </a:r>
                <a:r>
                  <a:rPr lang="zh-CN" altLang="en-US" dirty="0">
                    <a:solidFill>
                      <a:srgbClr val="FF0000"/>
                    </a:solidFill>
                    <a:sym typeface="+mn-ea"/>
                  </a:rPr>
                  <a:t>对</a:t>
                </a:r>
                <a:r>
                  <a:rPr lang="zh-CN" altLang="en-US" dirty="0">
                    <a:solidFill>
                      <a:srgbClr val="FF0000"/>
                    </a:solidFill>
                    <a:sym typeface="+mn-ea"/>
                  </a:rPr>
                  <a:t>多</a:t>
                </a:r>
                <a:endParaRPr lang="en-US" altLang="x-none" dirty="0"/>
              </a:p>
              <a:p>
                <a:pPr marL="457200" lvl="1" indent="0" eaLnBrk="1" hangingPunct="1">
                  <a:lnSpc>
                    <a:spcPct val="100000"/>
                  </a:lnSpc>
                  <a:spcBef>
                    <a:spcPts val="600"/>
                  </a:spcBef>
                  <a:buNone/>
                </a:pPr>
                <a:r>
                  <a:rPr lang="zh-CN" altLang="en-US" dirty="0">
                    <a:sym typeface="+mn-ea"/>
                  </a:rPr>
                  <a:t>假设在实体集</a:t>
                </a:r>
                <a:r>
                  <a:rPr lang="en-US" altLang="zh-CN" dirty="0">
                    <a:sym typeface="+mn-ea"/>
                  </a:rPr>
                  <a:t>A</a:t>
                </a:r>
                <a:r>
                  <a:rPr lang="zh-CN" altLang="en-US" dirty="0">
                    <a:sym typeface="+mn-ea"/>
                  </a:rPr>
                  <a:t>与实体集</a:t>
                </a:r>
                <a:r>
                  <a:rPr lang="en-US" altLang="zh-CN" dirty="0">
                    <a:sym typeface="+mn-ea"/>
                  </a:rPr>
                  <a:t>B</a:t>
                </a:r>
                <a:r>
                  <a:rPr lang="zh-CN" altLang="en-US" dirty="0">
                    <a:sym typeface="+mn-ea"/>
                  </a:rPr>
                  <a:t>之间存在一个</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一</a:t>
                </a:r>
                <a:r>
                  <a:rPr lang="zh-CN" altLang="en-US" dirty="0">
                    <a:latin typeface="Times New Roman" panose="02020603050405020304" pitchFamily="2" charset="0"/>
                    <a:cs typeface="Times New Roman" panose="02020603050405020304" pitchFamily="2" charset="0"/>
                    <a:sym typeface="+mn-ea"/>
                  </a:rPr>
                  <a:t>对</a:t>
                </a:r>
                <a:r>
                  <a:rPr lang="zh-CN" altLang="en-US" dirty="0">
                    <a:latin typeface="Times New Roman" panose="02020603050405020304" pitchFamily="2" charset="0"/>
                    <a:cs typeface="Times New Roman" panose="02020603050405020304" pitchFamily="2" charset="0"/>
                    <a:sym typeface="+mn-ea"/>
                  </a:rPr>
                  <a:t>多</a:t>
                </a:r>
                <a:r>
                  <a:rPr lang="en-US" altLang="zh-CN" dirty="0">
                    <a:latin typeface="Times New Roman" panose="02020603050405020304" pitchFamily="2" charset="0"/>
                    <a:cs typeface="Times New Roman" panose="02020603050405020304" pitchFamily="2" charset="0"/>
                    <a:sym typeface="+mn-ea"/>
                  </a:rPr>
                  <a:t>’</a:t>
                </a:r>
                <a:r>
                  <a:rPr lang="zh-CN" altLang="en-US" dirty="0">
                    <a:sym typeface="+mn-ea"/>
                  </a:rPr>
                  <a:t>的联系，则该联系具备以下性质</a:t>
                </a:r>
                <a:r>
                  <a:rPr lang="en-US" altLang="zh-CN" dirty="0">
                    <a:latin typeface="+mn-ea"/>
                    <a:cs typeface="+mn-ea"/>
                    <a:sym typeface="+mn-ea"/>
                  </a:rPr>
                  <a:t>(</a:t>
                </a:r>
                <a:r>
                  <a:rPr lang="zh-CN" altLang="en-US" dirty="0">
                    <a:latin typeface="+mn-ea"/>
                    <a:cs typeface="+mn-ea"/>
                    <a:sym typeface="+mn-ea"/>
                  </a:rPr>
                  <a:t>实体</a:t>
                </a:r>
                <a:r>
                  <a:rPr lang="en-US" altLang="zh-CN" dirty="0">
                    <a:latin typeface="+mn-ea"/>
                    <a:cs typeface="+mn-ea"/>
                    <a:sym typeface="+mn-ea"/>
                  </a:rPr>
                  <a:t>a</a:t>
                </a:r>
                <a14:m>
                  <m:oMath xmlns:m="http://schemas.openxmlformats.org/officeDocument/2006/math">
                    <m:r>
                      <a:rPr lang="en-US" altLang="zh-CN" dirty="0">
                        <a:latin typeface="Cambria Math" panose="02040503050406030204" charset="0"/>
                        <a:ea typeface="微软雅黑" panose="020B0503020204020204" charset="-122"/>
                        <a:cs typeface="Cambria Math" panose="02040503050406030204" charset="0"/>
                        <a:sym typeface="+mn-ea"/>
                      </a:rPr>
                      <m:t> </m:t>
                    </m:r>
                    <m:r>
                      <a:rPr lang="en-US" altLang="zh-CN" dirty="0">
                        <a:latin typeface="Cambria Math" panose="02040503050406030204" charset="0"/>
                        <a:ea typeface="微软雅黑" panose="020B0503020204020204" charset="-122"/>
                        <a:cs typeface="Cambria Math" panose="02040503050406030204" charset="0"/>
                        <a:sym typeface="+mn-ea"/>
                      </a:rPr>
                      <m:t>∈</m:t>
                    </m:r>
                    <m:r>
                      <a:rPr lang="en-US" altLang="zh-CN" dirty="0">
                        <a:latin typeface="Cambria Math" panose="02040503050406030204" charset="0"/>
                        <a:ea typeface="微软雅黑" panose="020B0503020204020204" charset="-122"/>
                        <a:cs typeface="Cambria Math" panose="02040503050406030204" charset="0"/>
                        <a:sym typeface="+mn-ea"/>
                      </a:rPr>
                      <m:t> </m:t>
                    </m:r>
                  </m:oMath>
                </a14:m>
                <a:r>
                  <a:rPr lang="zh-CN" altLang="en-US" dirty="0">
                    <a:latin typeface="+mn-ea"/>
                    <a:cs typeface="+mn-ea"/>
                    <a:sym typeface="+mn-ea"/>
                  </a:rPr>
                  <a:t>实体集</a:t>
                </a:r>
                <a:r>
                  <a:rPr lang="en-US" altLang="zh-CN" dirty="0">
                    <a:latin typeface="+mn-ea"/>
                    <a:cs typeface="+mn-ea"/>
                    <a:sym typeface="+mn-ea"/>
                  </a:rPr>
                  <a:t>A,  </a:t>
                </a:r>
                <a:r>
                  <a:rPr lang="zh-CN" altLang="en-US" dirty="0">
                    <a:latin typeface="+mn-ea"/>
                    <a:cs typeface="+mn-ea"/>
                    <a:sym typeface="+mn-ea"/>
                  </a:rPr>
                  <a:t>实体</a:t>
                </a:r>
                <a:r>
                  <a:rPr lang="en-US" altLang="zh-CN" dirty="0">
                    <a:latin typeface="+mn-ea"/>
                    <a:cs typeface="+mn-ea"/>
                    <a:sym typeface="+mn-ea"/>
                  </a:rPr>
                  <a:t>b</a:t>
                </a:r>
                <a14:m>
                  <m:oMath xmlns:m="http://schemas.openxmlformats.org/officeDocument/2006/math">
                    <m:r>
                      <a:rPr lang="en-US" altLang="zh-CN" dirty="0">
                        <a:latin typeface="Cambria Math" panose="02040503050406030204" charset="0"/>
                        <a:ea typeface="微软雅黑" panose="020B0503020204020204" charset="-122"/>
                        <a:cs typeface="Cambria Math" panose="02040503050406030204" charset="0"/>
                        <a:sym typeface="+mn-ea"/>
                      </a:rPr>
                      <m:t> </m:t>
                    </m:r>
                    <m:r>
                      <a:rPr lang="en-US" altLang="zh-CN" dirty="0">
                        <a:latin typeface="Cambria Math" panose="02040503050406030204" charset="0"/>
                        <a:ea typeface="微软雅黑" panose="020B0503020204020204" charset="-122"/>
                        <a:cs typeface="Cambria Math" panose="02040503050406030204" charset="0"/>
                        <a:sym typeface="+mn-ea"/>
                      </a:rPr>
                      <m:t>∈</m:t>
                    </m:r>
                    <m:r>
                      <a:rPr lang="en-US" altLang="zh-CN" dirty="0">
                        <a:latin typeface="Cambria Math" panose="02040503050406030204" charset="0"/>
                        <a:ea typeface="微软雅黑" panose="020B0503020204020204" charset="-122"/>
                        <a:cs typeface="Cambria Math" panose="02040503050406030204" charset="0"/>
                        <a:sym typeface="+mn-ea"/>
                      </a:rPr>
                      <m:t> </m:t>
                    </m:r>
                  </m:oMath>
                </a14:m>
                <a:r>
                  <a:rPr lang="zh-CN" altLang="en-US" dirty="0">
                    <a:latin typeface="+mn-ea"/>
                    <a:cs typeface="+mn-ea"/>
                    <a:sym typeface="+mn-ea"/>
                  </a:rPr>
                  <a:t>实体集</a:t>
                </a:r>
                <a:r>
                  <a:rPr lang="en-US" altLang="zh-CN" dirty="0">
                    <a:latin typeface="+mn-ea"/>
                    <a:cs typeface="+mn-ea"/>
                    <a:sym typeface="+mn-ea"/>
                  </a:rPr>
                  <a:t>B)</a:t>
                </a:r>
                <a:endParaRPr lang="en-US" altLang="x-none" dirty="0"/>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允许一个实体</a:t>
                </a:r>
                <a:r>
                  <a:rPr lang="en-US" altLang="zh-CN" dirty="0">
                    <a:solidFill>
                      <a:srgbClr val="FF0000"/>
                    </a:solidFill>
                    <a:sym typeface="+mn-ea"/>
                  </a:rPr>
                  <a:t>a</a:t>
                </a:r>
                <a:r>
                  <a:rPr lang="zh-CN" altLang="en-US" dirty="0">
                    <a:solidFill>
                      <a:srgbClr val="FF0000"/>
                    </a:solidFill>
                    <a:sym typeface="+mn-ea"/>
                  </a:rPr>
                  <a:t>对应多个实体</a:t>
                </a:r>
                <a:r>
                  <a:rPr lang="en-US" altLang="zh-CN" dirty="0">
                    <a:solidFill>
                      <a:srgbClr val="FF0000"/>
                    </a:solidFill>
                    <a:sym typeface="+mn-ea"/>
                  </a:rPr>
                  <a:t>b</a:t>
                </a:r>
                <a:r>
                  <a:rPr lang="zh-CN" altLang="en-US" dirty="0">
                    <a:solidFill>
                      <a:srgbClr val="FF0000"/>
                    </a:solidFill>
                    <a:sym typeface="+mn-ea"/>
                  </a:rPr>
                  <a:t>，但是</a:t>
                </a:r>
                <a:endParaRPr lang="en-US" altLang="zh-CN" dirty="0">
                  <a:solidFill>
                    <a:srgbClr val="FF0000"/>
                  </a:solidFill>
                </a:endParaRPr>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一个实体</a:t>
                </a:r>
                <a:r>
                  <a:rPr lang="en-US" altLang="zh-CN" dirty="0">
                    <a:solidFill>
                      <a:srgbClr val="FF0000"/>
                    </a:solidFill>
                    <a:sym typeface="+mn-ea"/>
                  </a:rPr>
                  <a:t>b</a:t>
                </a:r>
                <a:r>
                  <a:rPr lang="zh-CN" altLang="en-US" dirty="0">
                    <a:solidFill>
                      <a:srgbClr val="FF0000"/>
                    </a:solidFill>
                    <a:sym typeface="+mn-ea"/>
                  </a:rPr>
                  <a:t>最多只能对应唯一的一个实体</a:t>
                </a:r>
                <a:r>
                  <a:rPr lang="en-US" altLang="zh-CN" dirty="0">
                    <a:solidFill>
                      <a:srgbClr val="FF0000"/>
                    </a:solidFill>
                    <a:sym typeface="+mn-ea"/>
                  </a:rPr>
                  <a:t>a</a:t>
                </a:r>
                <a:endParaRPr lang="en-US" altLang="zh-CN" dirty="0">
                  <a:solidFill>
                    <a:srgbClr val="FF0000"/>
                  </a:solidFill>
                  <a:sym typeface="+mn-ea"/>
                </a:endParaRPr>
              </a:p>
              <a:p>
                <a:endParaRPr lang="en-US" altLang="zh-CN" dirty="0">
                  <a:solidFill>
                    <a:srgbClr val="FF0000"/>
                  </a:solidFill>
                  <a:sym typeface="+mn-ea"/>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sp>
        <p:nvSpPr>
          <p:cNvPr id="48134" name="Rectangle 5"/>
          <p:cNvSpPr/>
          <p:nvPr/>
        </p:nvSpPr>
        <p:spPr>
          <a:xfrm>
            <a:off x="5166995" y="3404870"/>
            <a:ext cx="5121910" cy="2202180"/>
          </a:xfrm>
          <a:prstGeom prst="rect">
            <a:avLst/>
          </a:prstGeom>
          <a:noFill/>
          <a:ln w="9525">
            <a:noFill/>
          </a:ln>
        </p:spPr>
        <p:txBody>
          <a:bodyPr anchor="t">
            <a:spAutoFit/>
          </a:bodyPr>
          <a:p>
            <a:pPr marL="457200" indent="-457200">
              <a:lnSpc>
                <a:spcPct val="150000"/>
              </a:lnSpc>
              <a:spcBef>
                <a:spcPct val="20000"/>
              </a:spcBef>
              <a:buClr>
                <a:srgbClr val="C00000"/>
              </a:buClr>
              <a:buSzPct val="85000"/>
              <a:buFont typeface="Wingdings" panose="05000000000000000000" charset="0"/>
              <a:buChar char="Ø"/>
            </a:pPr>
            <a:r>
              <a:rPr lang="zh-CN" altLang="en-US" sz="2800" b="1" dirty="0">
                <a:solidFill>
                  <a:srgbClr val="1F2DA8"/>
                </a:solidFill>
                <a:ea typeface="楷体" panose="02010609060101010101" charset="-122"/>
                <a:cs typeface="Times New Roman" panose="02020603050405020304" pitchFamily="2" charset="0"/>
              </a:rPr>
              <a:t>例如（从左到右的</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一</a:t>
            </a:r>
            <a:r>
              <a:rPr lang="zh-CN" altLang="en-US" sz="2800" b="1" dirty="0">
                <a:solidFill>
                  <a:srgbClr val="1F2DA8"/>
                </a:solidFill>
                <a:ea typeface="楷体" panose="02010609060101010101" charset="-122"/>
                <a:cs typeface="Times New Roman" panose="02020603050405020304" pitchFamily="2" charset="0"/>
                <a:sym typeface="+mn-ea"/>
              </a:rPr>
              <a:t>对</a:t>
            </a:r>
            <a:r>
              <a:rPr lang="zh-CN" altLang="en-US" sz="2800" b="1" dirty="0">
                <a:solidFill>
                  <a:srgbClr val="1F2DA8"/>
                </a:solidFill>
                <a:ea typeface="楷体" panose="02010609060101010101" charset="-122"/>
                <a:cs typeface="Times New Roman" panose="02020603050405020304" pitchFamily="2" charset="0"/>
              </a:rPr>
              <a:t>多</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a:t>
            </a:r>
            <a:endParaRPr lang="zh-CN" altLang="en-US" sz="2800" b="1" dirty="0">
              <a:solidFill>
                <a:srgbClr val="1F2DA8"/>
              </a:solidFill>
              <a:ea typeface="楷体" panose="02010609060101010101" charset="-122"/>
              <a:cs typeface="Times New Roman" panose="02020603050405020304" pitchFamily="2" charset="0"/>
            </a:endParaRPr>
          </a:p>
          <a:p>
            <a:pPr marL="914400" lvl="1" indent="-457200">
              <a:lnSpc>
                <a:spcPct val="150000"/>
              </a:lnSpc>
              <a:spcBef>
                <a:spcPct val="20000"/>
              </a:spcBef>
              <a:buClr>
                <a:srgbClr val="C00000"/>
              </a:buClr>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住宿</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宿舍</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学生</a:t>
            </a:r>
            <a:r>
              <a:rPr lang="en-US" altLang="zh-CN" sz="2800" b="1" dirty="0">
                <a:solidFill>
                  <a:srgbClr val="1F2DA8"/>
                </a:solidFill>
                <a:ea typeface="楷体" panose="02010609060101010101" charset="-122"/>
                <a:cs typeface="Times New Roman" panose="02020603050405020304" pitchFamily="2" charset="0"/>
              </a:rPr>
              <a:t>’</a:t>
            </a:r>
            <a:endParaRPr lang="en-US" altLang="zh-CN" sz="2800" b="1" dirty="0">
              <a:solidFill>
                <a:srgbClr val="1F2DA8"/>
              </a:solidFill>
              <a:ea typeface="楷体" panose="02010609060101010101" charset="-122"/>
              <a:cs typeface="Times New Roman" panose="02020603050405020304" pitchFamily="2" charset="0"/>
            </a:endParaRPr>
          </a:p>
          <a:p>
            <a:pPr marL="914400" lvl="1" indent="-457200">
              <a:lnSpc>
                <a:spcPct val="150000"/>
              </a:lnSpc>
              <a:spcBef>
                <a:spcPct val="20000"/>
              </a:spcBef>
              <a:buClr>
                <a:srgbClr val="C00000"/>
              </a:buClr>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拥有</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人</a:t>
            </a:r>
            <a:r>
              <a:rPr lang="en-US" altLang="zh-CN"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银行卡</a:t>
            </a:r>
            <a:r>
              <a:rPr lang="en-US" altLang="zh-CN" sz="2800" b="1" dirty="0">
                <a:solidFill>
                  <a:srgbClr val="1F2DA8"/>
                </a:solidFill>
                <a:ea typeface="楷体" panose="02010609060101010101" charset="-122"/>
                <a:cs typeface="Times New Roman" panose="02020603050405020304" pitchFamily="2" charset="0"/>
              </a:rPr>
              <a:t>’</a:t>
            </a:r>
            <a:endParaRPr lang="en-US" altLang="zh-CN" sz="2800" b="1" dirty="0">
              <a:solidFill>
                <a:srgbClr val="1F2DA8"/>
              </a:solidFill>
              <a:ea typeface="楷体" panose="02010609060101010101" charset="-122"/>
              <a:cs typeface="Times New Roman" panose="02020603050405020304" pitchFamily="2" charset="0"/>
            </a:endParaRPr>
          </a:p>
        </p:txBody>
      </p:sp>
      <p:grpSp>
        <p:nvGrpSpPr>
          <p:cNvPr id="7" name="组合 6"/>
          <p:cNvGrpSpPr/>
          <p:nvPr/>
        </p:nvGrpSpPr>
        <p:grpSpPr>
          <a:xfrm>
            <a:off x="1594485" y="3142615"/>
            <a:ext cx="2997200" cy="3117850"/>
            <a:chOff x="927" y="5559"/>
            <a:chExt cx="4720" cy="4910"/>
          </a:xfrm>
        </p:grpSpPr>
        <p:pic>
          <p:nvPicPr>
            <p:cNvPr id="4" name="图片 3"/>
            <p:cNvPicPr>
              <a:picLocks noChangeAspect="1"/>
            </p:cNvPicPr>
            <p:nvPr/>
          </p:nvPicPr>
          <p:blipFill>
            <a:blip r:embed="rId2"/>
            <a:stretch>
              <a:fillRect/>
            </a:stretch>
          </p:blipFill>
          <p:spPr>
            <a:xfrm>
              <a:off x="1080" y="5559"/>
              <a:ext cx="4295" cy="3270"/>
            </a:xfrm>
            <a:prstGeom prst="rect">
              <a:avLst/>
            </a:prstGeom>
          </p:spPr>
        </p:pic>
        <p:sp>
          <p:nvSpPr>
            <p:cNvPr id="5" name="文本框 4"/>
            <p:cNvSpPr txBox="1"/>
            <p:nvPr/>
          </p:nvSpPr>
          <p:spPr>
            <a:xfrm>
              <a:off x="927" y="9065"/>
              <a:ext cx="2235" cy="1404"/>
            </a:xfrm>
            <a:prstGeom prst="rect">
              <a:avLst/>
            </a:prstGeom>
            <a:noFill/>
          </p:spPr>
          <p:txBody>
            <a:bodyPr wrap="square" rtlCol="0">
              <a:spAutoFit/>
            </a:bodyPr>
            <a:p>
              <a:pPr algn="ctr"/>
              <a:r>
                <a:rPr lang="zh-CN" altLang="en-US" sz="2600" b="1">
                  <a:ea typeface="楷体" panose="02010609060101010101" charset="-122"/>
                  <a:cs typeface="Times New Roman" panose="02020603050405020304" pitchFamily="2" charset="0"/>
                </a:rPr>
                <a:t>实体集</a:t>
              </a:r>
              <a:endParaRPr lang="zh-CN" altLang="en-US" sz="2600" b="1">
                <a:ea typeface="楷体" panose="02010609060101010101" charset="-122"/>
                <a:cs typeface="Times New Roman" panose="02020603050405020304" pitchFamily="2" charset="0"/>
              </a:endParaRPr>
            </a:p>
            <a:p>
              <a:pPr algn="ctr"/>
              <a:r>
                <a:rPr lang="en-US" altLang="zh-CN" sz="2600" b="1">
                  <a:ea typeface="楷体" panose="02010609060101010101" charset="-122"/>
                  <a:cs typeface="Times New Roman" panose="02020603050405020304" pitchFamily="2" charset="0"/>
                </a:rPr>
                <a:t>A</a:t>
              </a:r>
              <a:endParaRPr lang="en-US" altLang="zh-CN" sz="2600" b="1">
                <a:ea typeface="楷体" panose="02010609060101010101" charset="-122"/>
                <a:cs typeface="Times New Roman" panose="02020603050405020304" pitchFamily="2" charset="0"/>
              </a:endParaRPr>
            </a:p>
          </p:txBody>
        </p:sp>
        <p:sp>
          <p:nvSpPr>
            <p:cNvPr id="6" name="文本框 5"/>
            <p:cNvSpPr txBox="1"/>
            <p:nvPr/>
          </p:nvSpPr>
          <p:spPr>
            <a:xfrm>
              <a:off x="3412" y="9065"/>
              <a:ext cx="2235" cy="1404"/>
            </a:xfrm>
            <a:prstGeom prst="rect">
              <a:avLst/>
            </a:prstGeom>
            <a:noFill/>
          </p:spPr>
          <p:txBody>
            <a:bodyPr wrap="square" rtlCol="0">
              <a:spAutoFit/>
            </a:bodyPr>
            <a:p>
              <a:pPr algn="ctr"/>
              <a:r>
                <a:rPr lang="zh-CN" altLang="en-US" sz="2600" b="1">
                  <a:ea typeface="楷体" panose="02010609060101010101" charset="-122"/>
                  <a:cs typeface="Times New Roman" panose="02020603050405020304" pitchFamily="2" charset="0"/>
                </a:rPr>
                <a:t>实体集</a:t>
              </a:r>
              <a:endParaRPr lang="zh-CN" altLang="en-US" sz="2600" b="1">
                <a:ea typeface="楷体" panose="02010609060101010101" charset="-122"/>
                <a:cs typeface="Times New Roman" panose="02020603050405020304" pitchFamily="2" charset="0"/>
              </a:endParaRPr>
            </a:p>
            <a:p>
              <a:pPr algn="ctr"/>
              <a:r>
                <a:rPr lang="en-US" altLang="zh-CN" sz="2600" b="1">
                  <a:ea typeface="楷体" panose="02010609060101010101" charset="-122"/>
                  <a:cs typeface="Times New Roman" panose="02020603050405020304" pitchFamily="2" charset="0"/>
                </a:rPr>
                <a:t>B</a:t>
              </a:r>
              <a:endParaRPr lang="en-US" altLang="zh-CN" sz="2600" b="1">
                <a:ea typeface="楷体" panose="02010609060101010101" charset="-122"/>
                <a:cs typeface="Times New Roman" panose="02020603050405020304" pitchFamily="2" charset="0"/>
              </a:endParaRPr>
            </a:p>
          </p:txBody>
        </p:sp>
      </p:gr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8" name="页脚占位符 7"/>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Effect transition="in" filter="blinds(horizontal)">
                                      <p:cBhvr>
                                        <p:cTn id="7" dur="500"/>
                                        <p:tgtEl>
                                          <p:spTgt spid="48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p:txBody>
          <a:bodyPr wrap="square" tIns="0" bIns="0" anchor="ctr"/>
          <a:p>
            <a:pPr eaLnBrk="1" hangingPunct="1"/>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4</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p>
                <a:pPr lvl="0" eaLnBrk="1" hangingPunct="1">
                  <a:lnSpc>
                    <a:spcPct val="100000"/>
                  </a:lnSpc>
                </a:pPr>
                <a:r>
                  <a:rPr lang="zh-CN" altLang="en-US" dirty="0">
                    <a:solidFill>
                      <a:srgbClr val="FF0000"/>
                    </a:solidFill>
                    <a:sym typeface="+mn-ea"/>
                  </a:rPr>
                  <a:t>多</a:t>
                </a:r>
                <a:r>
                  <a:rPr lang="zh-CN" altLang="en-US" dirty="0">
                    <a:solidFill>
                      <a:srgbClr val="FF0000"/>
                    </a:solidFill>
                    <a:sym typeface="+mn-ea"/>
                  </a:rPr>
                  <a:t>对</a:t>
                </a:r>
                <a:r>
                  <a:rPr lang="zh-CN" altLang="en-US" dirty="0">
                    <a:solidFill>
                      <a:srgbClr val="FF0000"/>
                    </a:solidFill>
                    <a:sym typeface="+mn-ea"/>
                  </a:rPr>
                  <a:t>多</a:t>
                </a:r>
                <a:endParaRPr lang="en-US" altLang="x-none" dirty="0"/>
              </a:p>
              <a:p>
                <a:pPr marL="457200" lvl="1" indent="0" eaLnBrk="1" hangingPunct="1">
                  <a:lnSpc>
                    <a:spcPct val="100000"/>
                  </a:lnSpc>
                  <a:spcBef>
                    <a:spcPts val="600"/>
                  </a:spcBef>
                  <a:buNone/>
                </a:pP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多</a:t>
                </a:r>
                <a:r>
                  <a:rPr lang="zh-CN" altLang="en-US" dirty="0">
                    <a:latin typeface="Times New Roman" panose="02020603050405020304" pitchFamily="2" charset="0"/>
                    <a:cs typeface="Times New Roman" panose="02020603050405020304" pitchFamily="2" charset="0"/>
                    <a:sym typeface="+mn-ea"/>
                  </a:rPr>
                  <a:t>对多</a:t>
                </a:r>
                <a:r>
                  <a:rPr lang="en-US" altLang="zh-CN" dirty="0">
                    <a:latin typeface="Times New Roman" panose="02020603050405020304" pitchFamily="2" charset="0"/>
                    <a:cs typeface="Times New Roman" panose="02020603050405020304" pitchFamily="2" charset="0"/>
                    <a:sym typeface="+mn-ea"/>
                  </a:rPr>
                  <a:t>’</a:t>
                </a:r>
                <a:r>
                  <a:rPr lang="zh-CN" altLang="en-US" dirty="0">
                    <a:sym typeface="+mn-ea"/>
                  </a:rPr>
                  <a:t>的联系具备以下性质</a:t>
                </a:r>
                <a:r>
                  <a:rPr lang="en-US" altLang="zh-CN" dirty="0">
                    <a:latin typeface="+mn-ea"/>
                    <a:cs typeface="+mn-ea"/>
                    <a:sym typeface="+mn-ea"/>
                  </a:rPr>
                  <a:t>(a</a:t>
                </a:r>
                <a14:m>
                  <m:oMath xmlns:m="http://schemas.openxmlformats.org/officeDocument/2006/math">
                    <m:r>
                      <a:rPr lang="en-US" altLang="zh-CN" dirty="0">
                        <a:latin typeface="Cambria Math" panose="02040503050406030204" charset="0"/>
                        <a:cs typeface="Cambria Math" panose="02040503050406030204" charset="0"/>
                        <a:sym typeface="+mn-ea"/>
                      </a:rPr>
                      <m:t> </m:t>
                    </m:r>
                    <m:r>
                      <a:rPr lang="en-US" altLang="zh-CN" dirty="0">
                        <a:latin typeface="Cambria Math" panose="02040503050406030204" charset="0"/>
                        <a:ea typeface="微软雅黑" panose="020B0503020204020204" charset="-122"/>
                        <a:cs typeface="Cambria Math" panose="02040503050406030204" charset="0"/>
                        <a:sym typeface="+mn-ea"/>
                      </a:rPr>
                      <m:t>∈ </m:t>
                    </m:r>
                  </m:oMath>
                </a14:m>
                <a:r>
                  <a:rPr lang="zh-CN" altLang="en-US" dirty="0">
                    <a:latin typeface="+mn-ea"/>
                    <a:cs typeface="+mn-ea"/>
                    <a:sym typeface="+mn-ea"/>
                  </a:rPr>
                  <a:t>实体集</a:t>
                </a:r>
                <a:r>
                  <a:rPr lang="en-US" altLang="zh-CN" dirty="0">
                    <a:latin typeface="+mn-ea"/>
                    <a:cs typeface="+mn-ea"/>
                    <a:sym typeface="+mn-ea"/>
                  </a:rPr>
                  <a:t>A,  b</a:t>
                </a:r>
                <a14:m>
                  <m:oMath xmlns:m="http://schemas.openxmlformats.org/officeDocument/2006/math">
                    <m:r>
                      <a:rPr lang="en-US" altLang="zh-CN" dirty="0">
                        <a:latin typeface="Cambria Math" panose="02040503050406030204" charset="0"/>
                        <a:cs typeface="Cambria Math" panose="02040503050406030204" charset="0"/>
                        <a:sym typeface="+mn-ea"/>
                      </a:rPr>
                      <m:t> </m:t>
                    </m:r>
                    <m:r>
                      <a:rPr lang="en-US" altLang="zh-CN" dirty="0">
                        <a:latin typeface="Cambria Math" panose="02040503050406030204" charset="0"/>
                        <a:ea typeface="微软雅黑" panose="020B0503020204020204" charset="-122"/>
                        <a:cs typeface="Cambria Math" panose="02040503050406030204" charset="0"/>
                        <a:sym typeface="+mn-ea"/>
                      </a:rPr>
                      <m:t>∈</m:t>
                    </m:r>
                    <m:r>
                      <a:rPr lang="en-US" altLang="zh-CN" dirty="0">
                        <a:latin typeface="Cambria Math" panose="02040503050406030204" charset="0"/>
                        <a:ea typeface="微软雅黑" panose="020B0503020204020204" charset="-122"/>
                        <a:cs typeface="Cambria Math" panose="02040503050406030204" charset="0"/>
                        <a:sym typeface="+mn-ea"/>
                      </a:rPr>
                      <m:t> </m:t>
                    </m:r>
                  </m:oMath>
                </a14:m>
                <a:r>
                  <a:rPr lang="zh-CN" altLang="en-US" dirty="0">
                    <a:latin typeface="+mn-ea"/>
                    <a:cs typeface="+mn-ea"/>
                    <a:sym typeface="+mn-ea"/>
                  </a:rPr>
                  <a:t>实体集</a:t>
                </a:r>
                <a:r>
                  <a:rPr lang="en-US" altLang="zh-CN" dirty="0">
                    <a:latin typeface="+mn-ea"/>
                    <a:cs typeface="+mn-ea"/>
                    <a:sym typeface="+mn-ea"/>
                  </a:rPr>
                  <a:t>B)</a:t>
                </a:r>
                <a:endParaRPr lang="en-US" altLang="x-none" dirty="0"/>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一个实体</a:t>
                </a:r>
                <a:r>
                  <a:rPr lang="en-US" altLang="zh-CN" dirty="0">
                    <a:solidFill>
                      <a:srgbClr val="FF0000"/>
                    </a:solidFill>
                    <a:sym typeface="+mn-ea"/>
                  </a:rPr>
                  <a:t>a</a:t>
                </a:r>
                <a:r>
                  <a:rPr lang="zh-CN" altLang="en-US" dirty="0">
                    <a:solidFill>
                      <a:srgbClr val="FF0000"/>
                    </a:solidFill>
                    <a:sym typeface="+mn-ea"/>
                  </a:rPr>
                  <a:t>可以对应多个实体</a:t>
                </a:r>
                <a:r>
                  <a:rPr lang="en-US" altLang="zh-CN" dirty="0">
                    <a:solidFill>
                      <a:srgbClr val="FF0000"/>
                    </a:solidFill>
                    <a:sym typeface="+mn-ea"/>
                  </a:rPr>
                  <a:t>b</a:t>
                </a:r>
                <a:endParaRPr lang="en-US" altLang="zh-CN" dirty="0">
                  <a:solidFill>
                    <a:srgbClr val="FF0000"/>
                  </a:solidFill>
                </a:endParaRPr>
              </a:p>
              <a:p>
                <a:pPr marL="971550" lvl="1" indent="-514350" eaLnBrk="1" hangingPunct="1">
                  <a:lnSpc>
                    <a:spcPct val="100000"/>
                  </a:lnSpc>
                  <a:spcBef>
                    <a:spcPts val="600"/>
                  </a:spcBef>
                  <a:buFont typeface="+mj-ea"/>
                  <a:buAutoNum type="circleNumDbPlain"/>
                </a:pPr>
                <a:r>
                  <a:rPr lang="zh-CN" altLang="en-US" dirty="0">
                    <a:solidFill>
                      <a:srgbClr val="FF0000"/>
                    </a:solidFill>
                    <a:sym typeface="+mn-ea"/>
                  </a:rPr>
                  <a:t>一个实体</a:t>
                </a:r>
                <a:r>
                  <a:rPr lang="en-US" altLang="zh-CN" dirty="0">
                    <a:solidFill>
                      <a:srgbClr val="FF0000"/>
                    </a:solidFill>
                    <a:sym typeface="+mn-ea"/>
                  </a:rPr>
                  <a:t>b</a:t>
                </a:r>
                <a:r>
                  <a:rPr lang="zh-CN" altLang="en-US" dirty="0">
                    <a:solidFill>
                      <a:srgbClr val="FF0000"/>
                    </a:solidFill>
                    <a:sym typeface="+mn-ea"/>
                  </a:rPr>
                  <a:t>可以对应多个实体</a:t>
                </a:r>
                <a:r>
                  <a:rPr lang="en-US" altLang="zh-CN" dirty="0">
                    <a:solidFill>
                      <a:srgbClr val="FF0000"/>
                    </a:solidFill>
                    <a:sym typeface="+mn-ea"/>
                  </a:rPr>
                  <a:t>a</a:t>
                </a:r>
                <a:endParaRPr lang="en-US" altLang="zh-CN" dirty="0">
                  <a:solidFill>
                    <a:srgbClr val="FF0000"/>
                  </a:solidFill>
                  <a:sym typeface="+mn-ea"/>
                </a:endParaRPr>
              </a:p>
              <a:p>
                <a:endParaRPr lang="en-US" altLang="zh-CN" dirty="0">
                  <a:solidFill>
                    <a:srgbClr val="FF0000"/>
                  </a:solidFill>
                  <a:sym typeface="+mn-ea"/>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sp>
        <p:nvSpPr>
          <p:cNvPr id="49158" name="Rectangle 6"/>
          <p:cNvSpPr/>
          <p:nvPr/>
        </p:nvSpPr>
        <p:spPr>
          <a:xfrm>
            <a:off x="5027930" y="2985135"/>
            <a:ext cx="5570855" cy="2202180"/>
          </a:xfrm>
          <a:prstGeom prst="rect">
            <a:avLst/>
          </a:prstGeom>
          <a:noFill/>
          <a:ln w="9525">
            <a:noFill/>
          </a:ln>
        </p:spPr>
        <p:txBody>
          <a:bodyPr anchor="t">
            <a:spAutoFit/>
          </a:bodyPr>
          <a:p>
            <a:pPr marL="457200" indent="-457200">
              <a:lnSpc>
                <a:spcPct val="150000"/>
              </a:lnSpc>
              <a:spcBef>
                <a:spcPct val="20000"/>
              </a:spcBef>
              <a:buClr>
                <a:srgbClr val="C00000"/>
              </a:buClr>
              <a:buSzPct val="85000"/>
              <a:buFont typeface="Wingdings" panose="05000000000000000000" charset="0"/>
              <a:buChar char="Ø"/>
            </a:pPr>
            <a:r>
              <a:rPr lang="en-US" altLang="zh-CN" sz="2800" b="1" dirty="0">
                <a:solidFill>
                  <a:srgbClr val="1F2DA8"/>
                </a:solidFill>
                <a:ea typeface="楷体" panose="02010609060101010101" charset="-122"/>
                <a:cs typeface="Times New Roman" panose="02020603050405020304" pitchFamily="2" charset="0"/>
                <a:sym typeface="+mn-ea"/>
              </a:rPr>
              <a:t>‘</a:t>
            </a:r>
            <a:r>
              <a:rPr lang="zh-CN" altLang="en-US" sz="2800" b="1" dirty="0">
                <a:solidFill>
                  <a:srgbClr val="1F2DA8"/>
                </a:solidFill>
                <a:ea typeface="楷体" panose="02010609060101010101" charset="-122"/>
                <a:cs typeface="Times New Roman" panose="02020603050405020304" pitchFamily="2" charset="0"/>
                <a:sym typeface="+mn-ea"/>
              </a:rPr>
              <a:t>多对多</a:t>
            </a:r>
            <a:r>
              <a:rPr lang="en-US" altLang="zh-CN" sz="2800" b="1" dirty="0">
                <a:solidFill>
                  <a:srgbClr val="1F2DA8"/>
                </a:solidFill>
                <a:ea typeface="楷体" panose="02010609060101010101" charset="-122"/>
                <a:cs typeface="Times New Roman" panose="02020603050405020304" pitchFamily="2" charset="0"/>
                <a:sym typeface="+mn-ea"/>
              </a:rPr>
              <a:t>’ </a:t>
            </a:r>
            <a:r>
              <a:rPr lang="zh-CN" altLang="en-US" sz="2800" b="1" dirty="0">
                <a:solidFill>
                  <a:srgbClr val="1F2DA8"/>
                </a:solidFill>
                <a:ea typeface="楷体" panose="02010609060101010101" charset="-122"/>
                <a:cs typeface="Times New Roman" panose="02020603050405020304" pitchFamily="2" charset="0"/>
                <a:sym typeface="+mn-ea"/>
              </a:rPr>
              <a:t>联系的例子</a:t>
            </a:r>
            <a:endParaRPr lang="zh-CN" altLang="en-US" sz="2800" b="1" dirty="0">
              <a:solidFill>
                <a:srgbClr val="1F2DA8"/>
              </a:solidFill>
              <a:ea typeface="楷体" panose="02010609060101010101" charset="-122"/>
              <a:cs typeface="Times New Roman" panose="02020603050405020304" pitchFamily="2" charset="0"/>
            </a:endParaRPr>
          </a:p>
          <a:p>
            <a:pPr marL="914400" lvl="1" indent="-457200">
              <a:lnSpc>
                <a:spcPct val="150000"/>
              </a:lnSpc>
              <a:spcBef>
                <a:spcPct val="20000"/>
              </a:spcBef>
              <a:buClr>
                <a:srgbClr val="C00000"/>
              </a:buClr>
              <a:buSzPct val="85000"/>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选修</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学生</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课程</a:t>
            </a:r>
            <a:r>
              <a:rPr lang="en-US" altLang="zh-CN" sz="2800" b="1" dirty="0">
                <a:solidFill>
                  <a:srgbClr val="1F2DA8"/>
                </a:solidFill>
                <a:ea typeface="楷体" panose="02010609060101010101" charset="-122"/>
                <a:cs typeface="Times New Roman" panose="02020603050405020304" pitchFamily="2" charset="0"/>
              </a:rPr>
              <a:t>’</a:t>
            </a:r>
            <a:endParaRPr lang="en-US" altLang="zh-CN" sz="2800" b="1" dirty="0">
              <a:solidFill>
                <a:srgbClr val="1F2DA8"/>
              </a:solidFill>
              <a:ea typeface="楷体" panose="02010609060101010101" charset="-122"/>
              <a:cs typeface="Times New Roman" panose="02020603050405020304" pitchFamily="2" charset="0"/>
            </a:endParaRPr>
          </a:p>
          <a:p>
            <a:pPr marL="914400" lvl="1" indent="-457200">
              <a:lnSpc>
                <a:spcPct val="150000"/>
              </a:lnSpc>
              <a:spcBef>
                <a:spcPct val="20000"/>
              </a:spcBef>
              <a:buClr>
                <a:srgbClr val="C00000"/>
              </a:buClr>
              <a:buSzPct val="85000"/>
              <a:buFont typeface="Arial" panose="020B0604020202020204" pitchFamily="34" charset="0"/>
              <a:buChar char="•"/>
            </a:pPr>
            <a:r>
              <a:rPr lang="zh-CN" altLang="en-US" sz="2800" b="1" u="sng" dirty="0">
                <a:solidFill>
                  <a:srgbClr val="1F2DA8"/>
                </a:solidFill>
                <a:ea typeface="楷体" panose="02010609060101010101" charset="-122"/>
                <a:cs typeface="Times New Roman" panose="02020603050405020304" pitchFamily="2" charset="0"/>
              </a:rPr>
              <a:t>乘坐</a:t>
            </a:r>
            <a:r>
              <a:rPr lang="zh-CN" altLang="en-US" sz="2800" b="1" dirty="0">
                <a:solidFill>
                  <a:srgbClr val="1F2DA8"/>
                </a:solidFill>
                <a:ea typeface="楷体" panose="02010609060101010101" charset="-122"/>
                <a:cs typeface="Times New Roman" panose="02020603050405020304" pitchFamily="2" charset="0"/>
              </a:rPr>
              <a:t>：</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旅客</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sym typeface="+mn-ea"/>
              </a:rPr>
              <a:t>vs.</a:t>
            </a:r>
            <a:r>
              <a:rPr lang="zh-CN" altLang="en-US" sz="2800" b="1" dirty="0">
                <a:solidFill>
                  <a:srgbClr val="1F2DA8"/>
                </a:solidFill>
                <a:ea typeface="楷体" panose="02010609060101010101" charset="-122"/>
                <a:cs typeface="Times New Roman" panose="02020603050405020304" pitchFamily="2" charset="0"/>
                <a:sym typeface="+mn-ea"/>
              </a:rPr>
              <a:t>   </a:t>
            </a:r>
            <a:r>
              <a:rPr lang="en-US" altLang="zh-CN" sz="2800" b="1" dirty="0">
                <a:solidFill>
                  <a:srgbClr val="1F2DA8"/>
                </a:solidFill>
                <a:ea typeface="楷体" panose="02010609060101010101" charset="-122"/>
                <a:cs typeface="Times New Roman" panose="02020603050405020304" pitchFamily="2" charset="0"/>
              </a:rPr>
              <a:t>‘</a:t>
            </a:r>
            <a:r>
              <a:rPr lang="zh-CN" altLang="en-US" sz="2800" b="1" dirty="0">
                <a:solidFill>
                  <a:srgbClr val="1F2DA8"/>
                </a:solidFill>
                <a:ea typeface="楷体" panose="02010609060101010101" charset="-122"/>
                <a:cs typeface="Times New Roman" panose="02020603050405020304" pitchFamily="2" charset="0"/>
              </a:rPr>
              <a:t>航班</a:t>
            </a:r>
            <a:r>
              <a:rPr lang="en-US" altLang="zh-CN" sz="2800" b="1" dirty="0">
                <a:solidFill>
                  <a:srgbClr val="1F2DA8"/>
                </a:solidFill>
                <a:ea typeface="楷体" panose="02010609060101010101" charset="-122"/>
                <a:cs typeface="Times New Roman" panose="02020603050405020304" pitchFamily="2" charset="0"/>
              </a:rPr>
              <a:t>’</a:t>
            </a:r>
            <a:endParaRPr lang="en-US" altLang="zh-CN" sz="2800" b="1" dirty="0">
              <a:solidFill>
                <a:srgbClr val="1F2DA8"/>
              </a:solidFill>
              <a:ea typeface="楷体" panose="02010609060101010101" charset="-122"/>
              <a:cs typeface="Times New Roman" panose="02020603050405020304" pitchFamily="2" charset="0"/>
            </a:endParaRPr>
          </a:p>
        </p:txBody>
      </p:sp>
      <p:grpSp>
        <p:nvGrpSpPr>
          <p:cNvPr id="7" name="组合 6"/>
          <p:cNvGrpSpPr/>
          <p:nvPr/>
        </p:nvGrpSpPr>
        <p:grpSpPr>
          <a:xfrm>
            <a:off x="1361440" y="2985135"/>
            <a:ext cx="3094355" cy="2972435"/>
            <a:chOff x="842" y="5336"/>
            <a:chExt cx="4873" cy="4681"/>
          </a:xfrm>
        </p:grpSpPr>
        <p:pic>
          <p:nvPicPr>
            <p:cNvPr id="3" name="图片 2"/>
            <p:cNvPicPr>
              <a:picLocks noChangeAspect="1"/>
            </p:cNvPicPr>
            <p:nvPr/>
          </p:nvPicPr>
          <p:blipFill>
            <a:blip r:embed="rId2"/>
            <a:stretch>
              <a:fillRect/>
            </a:stretch>
          </p:blipFill>
          <p:spPr>
            <a:xfrm>
              <a:off x="1079" y="5336"/>
              <a:ext cx="4296" cy="3225"/>
            </a:xfrm>
            <a:prstGeom prst="rect">
              <a:avLst/>
            </a:prstGeom>
          </p:spPr>
        </p:pic>
        <p:sp>
          <p:nvSpPr>
            <p:cNvPr id="5" name="文本框 4"/>
            <p:cNvSpPr txBox="1"/>
            <p:nvPr/>
          </p:nvSpPr>
          <p:spPr>
            <a:xfrm>
              <a:off x="842" y="8613"/>
              <a:ext cx="2235" cy="1404"/>
            </a:xfrm>
            <a:prstGeom prst="rect">
              <a:avLst/>
            </a:prstGeom>
            <a:noFill/>
          </p:spPr>
          <p:txBody>
            <a:bodyPr wrap="square" rtlCol="0">
              <a:spAutoFit/>
            </a:bodyPr>
            <a:p>
              <a:pPr algn="ctr"/>
              <a:r>
                <a:rPr lang="zh-CN" altLang="en-US" sz="2600" b="1">
                  <a:ea typeface="楷体" panose="02010609060101010101" charset="-122"/>
                  <a:cs typeface="Times New Roman" panose="02020603050405020304" pitchFamily="2" charset="0"/>
                </a:rPr>
                <a:t>实体集</a:t>
              </a:r>
              <a:endParaRPr lang="zh-CN" altLang="en-US" sz="2600" b="1">
                <a:ea typeface="楷体" panose="02010609060101010101" charset="-122"/>
                <a:cs typeface="Times New Roman" panose="02020603050405020304" pitchFamily="2" charset="0"/>
              </a:endParaRPr>
            </a:p>
            <a:p>
              <a:pPr algn="ctr"/>
              <a:r>
                <a:rPr lang="en-US" altLang="zh-CN" sz="2600" b="1">
                  <a:ea typeface="楷体" panose="02010609060101010101" charset="-122"/>
                  <a:cs typeface="Times New Roman" panose="02020603050405020304" pitchFamily="2" charset="0"/>
                </a:rPr>
                <a:t>A</a:t>
              </a:r>
              <a:endParaRPr lang="en-US" altLang="zh-CN" sz="2600" b="1">
                <a:ea typeface="楷体" panose="02010609060101010101" charset="-122"/>
                <a:cs typeface="Times New Roman" panose="02020603050405020304" pitchFamily="2" charset="0"/>
              </a:endParaRPr>
            </a:p>
          </p:txBody>
        </p:sp>
        <p:sp>
          <p:nvSpPr>
            <p:cNvPr id="6" name="文本框 5"/>
            <p:cNvSpPr txBox="1"/>
            <p:nvPr/>
          </p:nvSpPr>
          <p:spPr>
            <a:xfrm>
              <a:off x="3480" y="8613"/>
              <a:ext cx="2235" cy="1404"/>
            </a:xfrm>
            <a:prstGeom prst="rect">
              <a:avLst/>
            </a:prstGeom>
            <a:noFill/>
          </p:spPr>
          <p:txBody>
            <a:bodyPr wrap="square" rtlCol="0">
              <a:spAutoFit/>
            </a:bodyPr>
            <a:p>
              <a:pPr algn="ctr"/>
              <a:r>
                <a:rPr lang="zh-CN" altLang="en-US" sz="2600" b="1">
                  <a:ea typeface="楷体" panose="02010609060101010101" charset="-122"/>
                  <a:cs typeface="Times New Roman" panose="02020603050405020304" pitchFamily="2" charset="0"/>
                </a:rPr>
                <a:t>实体集</a:t>
              </a:r>
              <a:endParaRPr lang="zh-CN" altLang="en-US" sz="2600" b="1">
                <a:ea typeface="楷体" panose="02010609060101010101" charset="-122"/>
                <a:cs typeface="Times New Roman" panose="02020603050405020304" pitchFamily="2" charset="0"/>
              </a:endParaRPr>
            </a:p>
            <a:p>
              <a:pPr algn="ctr"/>
              <a:r>
                <a:rPr lang="en-US" altLang="zh-CN" sz="2600" b="1">
                  <a:ea typeface="楷体" panose="02010609060101010101" charset="-122"/>
                  <a:cs typeface="Times New Roman" panose="02020603050405020304" pitchFamily="2" charset="0"/>
                </a:rPr>
                <a:t>B</a:t>
              </a:r>
              <a:endParaRPr lang="en-US" altLang="zh-CN" sz="2600" b="1">
                <a:ea typeface="楷体" panose="02010609060101010101" charset="-122"/>
                <a:cs typeface="Times New Roman" panose="02020603050405020304" pitchFamily="2" charset="0"/>
              </a:endParaRPr>
            </a:p>
          </p:txBody>
        </p:sp>
      </p:grpSp>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8" name="页脚占位符 7"/>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8"/>
                                        </p:tgtEl>
                                        <p:attrNameLst>
                                          <p:attrName>style.visibility</p:attrName>
                                        </p:attrNameLst>
                                      </p:cBhvr>
                                      <p:to>
                                        <p:strVal val="visible"/>
                                      </p:to>
                                    </p:set>
                                    <p:anim calcmode="lin" valueType="num">
                                      <p:cBhvr additive="base">
                                        <p:cTn id="7" dur="500" fill="hold"/>
                                        <p:tgtEl>
                                          <p:spTgt spid="49158"/>
                                        </p:tgtEl>
                                        <p:attrNameLst>
                                          <p:attrName>ppt_x</p:attrName>
                                        </p:attrNameLst>
                                      </p:cBhvr>
                                      <p:tavLst>
                                        <p:tav tm="0">
                                          <p:val>
                                            <p:strVal val="#ppt_x"/>
                                          </p:val>
                                        </p:tav>
                                        <p:tav tm="100000">
                                          <p:val>
                                            <p:strVal val="#ppt_x"/>
                                          </p:val>
                                        </p:tav>
                                      </p:tavLst>
                                    </p:anim>
                                    <p:anim calcmode="lin" valueType="num">
                                      <p:cBhvr additive="base">
                                        <p:cTn id="8" dur="500" fill="hold"/>
                                        <p:tgtEl>
                                          <p:spTgt spid="491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p:txBody>
          <a:bodyPr wrap="square" tIns="0" bIns="0" anchor="ctr"/>
          <a:p>
            <a:pPr eaLnBrk="1" hangingPunct="1"/>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联系的函数关系（</a:t>
            </a:r>
            <a:r>
              <a:rPr lang="en-US" altLang="zh-CN" b="1" kern="0" dirty="0">
                <a:latin typeface="宋体" panose="02010600030101010101" pitchFamily="2" charset="-122"/>
                <a:ea typeface="宋体" panose="02010600030101010101" pitchFamily="2" charset="-122"/>
                <a:cs typeface="宋体" panose="02010600030101010101" pitchFamily="2" charset="-122"/>
                <a:sym typeface="+mn-ea"/>
              </a:rPr>
              <a:t>5</a:t>
            </a:r>
            <a:r>
              <a:rPr lang="zh-CN" altLang="en-US" b="1" kern="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b="1" kern="0"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50184" name="Text Box 9"/>
          <p:cNvSpPr txBox="1"/>
          <p:nvPr/>
        </p:nvSpPr>
        <p:spPr>
          <a:xfrm>
            <a:off x="1723390" y="2675890"/>
            <a:ext cx="2057400" cy="953135"/>
          </a:xfrm>
          <a:prstGeom prst="rect">
            <a:avLst/>
          </a:prstGeom>
          <a:noFill/>
          <a:ln w="9525">
            <a:noFill/>
          </a:ln>
        </p:spPr>
        <p:txBody>
          <a:bodyPr anchor="t">
            <a:spAutoFit/>
          </a:bodyPr>
          <a:p>
            <a:pPr algn="ctr"/>
            <a:r>
              <a:rPr lang="zh-CN" altLang="en-US" sz="2800" b="1" dirty="0">
                <a:solidFill>
                  <a:srgbClr val="1F2DA8"/>
                </a:solidFill>
                <a:ea typeface="楷体" panose="02010609060101010101" charset="-122"/>
                <a:cs typeface="Times New Roman" panose="02020603050405020304" pitchFamily="2" charset="0"/>
              </a:rPr>
              <a:t>1:1</a:t>
            </a:r>
            <a:endParaRPr lang="zh-CN" altLang="en-US" sz="2800" b="1" dirty="0">
              <a:solidFill>
                <a:srgbClr val="1F2DA8"/>
              </a:solidFill>
              <a:ea typeface="楷体" panose="02010609060101010101" charset="-122"/>
              <a:cs typeface="Times New Roman" panose="02020603050405020304" pitchFamily="2" charset="0"/>
            </a:endParaRPr>
          </a:p>
          <a:p>
            <a:pPr algn="ctr"/>
            <a:r>
              <a:rPr lang="zh-CN" altLang="en-US" sz="2800" b="1" dirty="0">
                <a:solidFill>
                  <a:srgbClr val="1F2DA8"/>
                </a:solidFill>
                <a:ea typeface="楷体" panose="02010609060101010101" charset="-122"/>
                <a:cs typeface="Times New Roman" panose="02020603050405020304" pitchFamily="2" charset="0"/>
              </a:rPr>
              <a:t>函数关系</a:t>
            </a:r>
            <a:endParaRPr lang="zh-CN" altLang="en-US" sz="2800" b="1" dirty="0">
              <a:solidFill>
                <a:srgbClr val="1F2DA8"/>
              </a:solidFill>
              <a:ea typeface="楷体" panose="02010609060101010101" charset="-122"/>
              <a:cs typeface="Times New Roman" panose="02020603050405020304" pitchFamily="2" charset="0"/>
            </a:endParaRPr>
          </a:p>
        </p:txBody>
      </p:sp>
      <p:sp>
        <p:nvSpPr>
          <p:cNvPr id="50185" name="Text Box 10"/>
          <p:cNvSpPr txBox="1"/>
          <p:nvPr/>
        </p:nvSpPr>
        <p:spPr>
          <a:xfrm>
            <a:off x="4947285" y="2675890"/>
            <a:ext cx="2057400" cy="953135"/>
          </a:xfrm>
          <a:prstGeom prst="rect">
            <a:avLst/>
          </a:prstGeom>
          <a:noFill/>
          <a:ln w="9525">
            <a:noFill/>
          </a:ln>
        </p:spPr>
        <p:txBody>
          <a:bodyPr anchor="t">
            <a:spAutoFit/>
          </a:bodyPr>
          <a:p>
            <a:pPr algn="ctr"/>
            <a:r>
              <a:rPr lang="zh-CN" altLang="en-US" sz="2800" b="1" dirty="0">
                <a:solidFill>
                  <a:srgbClr val="1F2DA8"/>
                </a:solidFill>
                <a:ea typeface="楷体" panose="02010609060101010101" charset="-122"/>
                <a:cs typeface="Times New Roman" panose="02020603050405020304" pitchFamily="2" charset="0"/>
              </a:rPr>
              <a:t>1:</a:t>
            </a:r>
            <a:r>
              <a:rPr lang="en-US" altLang="x-none" sz="2800" b="1" dirty="0">
                <a:solidFill>
                  <a:srgbClr val="1F2DA8"/>
                </a:solidFill>
                <a:ea typeface="楷体" panose="02010609060101010101" charset="-122"/>
                <a:cs typeface="Times New Roman" panose="02020603050405020304" pitchFamily="2" charset="0"/>
              </a:rPr>
              <a:t>m</a:t>
            </a:r>
            <a:endParaRPr lang="en-US" altLang="x-none" sz="2800" b="1" dirty="0">
              <a:solidFill>
                <a:srgbClr val="1F2DA8"/>
              </a:solidFill>
              <a:ea typeface="楷体" panose="02010609060101010101" charset="-122"/>
              <a:cs typeface="Times New Roman" panose="02020603050405020304" pitchFamily="2" charset="0"/>
            </a:endParaRPr>
          </a:p>
          <a:p>
            <a:pPr algn="ctr"/>
            <a:r>
              <a:rPr lang="zh-CN" altLang="en-US" sz="2800" b="1" dirty="0">
                <a:solidFill>
                  <a:srgbClr val="1F2DA8"/>
                </a:solidFill>
                <a:ea typeface="楷体" panose="02010609060101010101" charset="-122"/>
                <a:cs typeface="Times New Roman" panose="02020603050405020304" pitchFamily="2" charset="0"/>
              </a:rPr>
              <a:t>函数关系</a:t>
            </a:r>
            <a:endParaRPr lang="zh-CN" altLang="en-US" sz="2800" b="1" dirty="0">
              <a:solidFill>
                <a:srgbClr val="1F2DA8"/>
              </a:solidFill>
              <a:ea typeface="楷体" panose="02010609060101010101" charset="-122"/>
              <a:cs typeface="Times New Roman" panose="02020603050405020304" pitchFamily="2" charset="0"/>
            </a:endParaRPr>
          </a:p>
        </p:txBody>
      </p:sp>
      <p:sp>
        <p:nvSpPr>
          <p:cNvPr id="50186" name="Text Box 11"/>
          <p:cNvSpPr txBox="1"/>
          <p:nvPr/>
        </p:nvSpPr>
        <p:spPr>
          <a:xfrm>
            <a:off x="8420735" y="2675890"/>
            <a:ext cx="2057400" cy="953135"/>
          </a:xfrm>
          <a:prstGeom prst="rect">
            <a:avLst/>
          </a:prstGeom>
          <a:noFill/>
          <a:ln w="9525">
            <a:noFill/>
          </a:ln>
        </p:spPr>
        <p:txBody>
          <a:bodyPr anchor="t">
            <a:spAutoFit/>
          </a:bodyPr>
          <a:p>
            <a:pPr algn="ctr"/>
            <a:r>
              <a:rPr lang="en-US" altLang="x-none" sz="2800" b="1" dirty="0">
                <a:solidFill>
                  <a:srgbClr val="1F2DA8"/>
                </a:solidFill>
                <a:ea typeface="楷体" panose="02010609060101010101" charset="-122"/>
                <a:cs typeface="Times New Roman" panose="02020603050405020304" pitchFamily="2" charset="0"/>
              </a:rPr>
              <a:t>m:n</a:t>
            </a:r>
            <a:endParaRPr lang="en-US" altLang="x-none" sz="2800" b="1" dirty="0">
              <a:solidFill>
                <a:srgbClr val="1F2DA8"/>
              </a:solidFill>
              <a:ea typeface="楷体" panose="02010609060101010101" charset="-122"/>
              <a:cs typeface="Times New Roman" panose="02020603050405020304" pitchFamily="2" charset="0"/>
            </a:endParaRPr>
          </a:p>
          <a:p>
            <a:pPr algn="ctr"/>
            <a:r>
              <a:rPr lang="zh-CN" altLang="en-US" sz="2800" b="1" dirty="0">
                <a:solidFill>
                  <a:srgbClr val="1F2DA8"/>
                </a:solidFill>
                <a:ea typeface="楷体" panose="02010609060101010101" charset="-122"/>
                <a:cs typeface="Times New Roman" panose="02020603050405020304" pitchFamily="2" charset="0"/>
              </a:rPr>
              <a:t>函数关系</a:t>
            </a:r>
            <a:endParaRPr lang="zh-CN" altLang="en-US" sz="2800" b="1" dirty="0">
              <a:solidFill>
                <a:srgbClr val="1F2DA8"/>
              </a:solidFill>
              <a:ea typeface="楷体" panose="02010609060101010101" charset="-122"/>
              <a:cs typeface="Times New Roman" panose="02020603050405020304" pitchFamily="2" charset="0"/>
            </a:endParaRPr>
          </a:p>
        </p:txBody>
      </p:sp>
      <p:sp>
        <p:nvSpPr>
          <p:cNvPr id="50187" name="Line 12"/>
          <p:cNvSpPr/>
          <p:nvPr/>
        </p:nvSpPr>
        <p:spPr>
          <a:xfrm>
            <a:off x="4334510" y="681355"/>
            <a:ext cx="0" cy="3060000"/>
          </a:xfrm>
          <a:prstGeom prst="line">
            <a:avLst/>
          </a:prstGeom>
          <a:ln w="25400" cap="rnd" cmpd="sng">
            <a:solidFill>
              <a:schemeClr val="folHlink"/>
            </a:solidFill>
            <a:prstDash val="sysDot"/>
            <a:round/>
            <a:headEnd type="none" w="med" len="med"/>
            <a:tailEnd type="none" w="med" len="med"/>
          </a:ln>
        </p:spPr>
      </p:sp>
      <p:sp>
        <p:nvSpPr>
          <p:cNvPr id="50188" name="Line 13"/>
          <p:cNvSpPr/>
          <p:nvPr/>
        </p:nvSpPr>
        <p:spPr>
          <a:xfrm>
            <a:off x="7639685" y="681355"/>
            <a:ext cx="0" cy="3060000"/>
          </a:xfrm>
          <a:prstGeom prst="line">
            <a:avLst/>
          </a:prstGeom>
          <a:ln w="25400" cap="rnd" cmpd="sng">
            <a:solidFill>
              <a:schemeClr val="folHlink"/>
            </a:solidFill>
            <a:prstDash val="sysDot"/>
            <a:round/>
            <a:headEnd type="none" w="med" len="med"/>
            <a:tailEnd type="none" w="med" len="med"/>
          </a:ln>
        </p:spPr>
      </p:sp>
      <p:pic>
        <p:nvPicPr>
          <p:cNvPr id="7" name="图片 6"/>
          <p:cNvPicPr>
            <a:picLocks noChangeAspect="1"/>
          </p:cNvPicPr>
          <p:nvPr/>
        </p:nvPicPr>
        <p:blipFill>
          <a:blip r:embed="rId1"/>
          <a:stretch>
            <a:fillRect/>
          </a:stretch>
        </p:blipFill>
        <p:spPr>
          <a:xfrm>
            <a:off x="1419860" y="770255"/>
            <a:ext cx="2520019" cy="2056640"/>
          </a:xfrm>
          <a:prstGeom prst="rect">
            <a:avLst/>
          </a:prstGeom>
        </p:spPr>
      </p:pic>
      <p:pic>
        <p:nvPicPr>
          <p:cNvPr id="4" name="图片 3"/>
          <p:cNvPicPr>
            <a:picLocks noChangeAspect="1"/>
          </p:cNvPicPr>
          <p:nvPr/>
        </p:nvPicPr>
        <p:blipFill>
          <a:blip r:embed="rId2"/>
          <a:stretch>
            <a:fillRect/>
          </a:stretch>
        </p:blipFill>
        <p:spPr>
          <a:xfrm>
            <a:off x="4715510" y="770255"/>
            <a:ext cx="2520019" cy="1918617"/>
          </a:xfrm>
          <a:prstGeom prst="rect">
            <a:avLst/>
          </a:prstGeom>
        </p:spPr>
      </p:pic>
      <p:pic>
        <p:nvPicPr>
          <p:cNvPr id="3" name="图片 2"/>
          <p:cNvPicPr>
            <a:picLocks noChangeAspect="1"/>
          </p:cNvPicPr>
          <p:nvPr/>
        </p:nvPicPr>
        <p:blipFill>
          <a:blip r:embed="rId3"/>
          <a:stretch>
            <a:fillRect/>
          </a:stretch>
        </p:blipFill>
        <p:spPr>
          <a:xfrm>
            <a:off x="8121015" y="796925"/>
            <a:ext cx="2520019" cy="1891774"/>
          </a:xfrm>
          <a:prstGeom prst="rect">
            <a:avLst/>
          </a:prstGeom>
        </p:spPr>
      </p:pic>
      <p:sp>
        <p:nvSpPr>
          <p:cNvPr id="2" name="文本框 1"/>
          <p:cNvSpPr txBox="1"/>
          <p:nvPr/>
        </p:nvSpPr>
        <p:spPr>
          <a:xfrm>
            <a:off x="469265" y="3830320"/>
            <a:ext cx="11105515" cy="2804795"/>
          </a:xfrm>
          <a:prstGeom prst="rect">
            <a:avLst/>
          </a:prstGeom>
          <a:noFill/>
        </p:spPr>
        <p:txBody>
          <a:bodyPr wrap="square" rtlCol="0">
            <a:spAutoFit/>
          </a:bodyPr>
          <a:p>
            <a:pPr marL="342900" indent="-342900">
              <a:buClr>
                <a:srgbClr val="C00000"/>
              </a:buClr>
              <a:buSzPct val="85000"/>
              <a:buFont typeface="Wingdings" panose="05000000000000000000" charset="0"/>
              <a:buChar char="Ø"/>
            </a:pPr>
            <a:r>
              <a:rPr lang="zh-CN" altLang="en-US" sz="2800" b="1">
                <a:solidFill>
                  <a:srgbClr val="1F2DA8"/>
                </a:solidFill>
                <a:ea typeface="楷体" panose="02010609060101010101" charset="-122"/>
                <a:cs typeface="Times New Roman" panose="02020603050405020304" pitchFamily="2" charset="0"/>
              </a:rPr>
              <a:t>不论是哪一种函数关系，也允许一个实体集中的某些实体没有参与到该联系中去（即没有与之相关的连线，或者说在另一个实体集中不存在与之有联系的实体）</a:t>
            </a:r>
            <a:endParaRPr lang="zh-CN" altLang="en-US" sz="2800" b="1">
              <a:solidFill>
                <a:srgbClr val="1F2DA8"/>
              </a:solidFill>
              <a:ea typeface="楷体" panose="02010609060101010101" charset="-122"/>
              <a:cs typeface="Times New Roman" panose="02020603050405020304" pitchFamily="2" charset="0"/>
            </a:endParaRPr>
          </a:p>
          <a:p>
            <a:pPr marL="342900" indent="-342900">
              <a:lnSpc>
                <a:spcPct val="100000"/>
              </a:lnSpc>
              <a:spcBef>
                <a:spcPts val="1000"/>
              </a:spcBef>
              <a:spcAft>
                <a:spcPts val="0"/>
              </a:spcAft>
              <a:buClr>
                <a:srgbClr val="C00000"/>
              </a:buClr>
              <a:buSzPct val="85000"/>
              <a:buFont typeface="Wingdings" panose="05000000000000000000" charset="0"/>
              <a:buChar char="Ø"/>
            </a:pPr>
            <a:r>
              <a:rPr lang="zh-CN" altLang="en-US" sz="2800" b="1">
                <a:solidFill>
                  <a:srgbClr val="1F2DA8"/>
                </a:solidFill>
                <a:ea typeface="楷体" panose="02010609060101010101" charset="-122"/>
                <a:cs typeface="Times New Roman" panose="02020603050405020304" pitchFamily="2" charset="0"/>
              </a:rPr>
              <a:t>在</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一多对应</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的联系中，也允许某些</a:t>
            </a:r>
            <a:r>
              <a:rPr lang="zh-CN" altLang="en-US" sz="2800" b="1">
                <a:solidFill>
                  <a:srgbClr val="1F2DA8"/>
                </a:solidFill>
                <a:ea typeface="楷体" panose="02010609060101010101" charset="-122"/>
                <a:cs typeface="Times New Roman" panose="02020603050405020304" pitchFamily="2" charset="0"/>
                <a:sym typeface="+mn-ea"/>
              </a:rPr>
              <a:t>实体</a:t>
            </a:r>
            <a:r>
              <a:rPr lang="zh-CN" altLang="en-US" sz="2800" b="1">
                <a:solidFill>
                  <a:srgbClr val="1F2DA8"/>
                </a:solidFill>
                <a:ea typeface="楷体" panose="02010609060101010101" charset="-122"/>
                <a:cs typeface="Times New Roman" panose="02020603050405020304" pitchFamily="2" charset="0"/>
              </a:rPr>
              <a:t>之间是</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一一对应</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的关系；同理，在</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多多对应</a:t>
            </a:r>
            <a:r>
              <a:rPr lang="en-US" altLang="zh-CN" sz="2800" b="1">
                <a:solidFill>
                  <a:srgbClr val="1F2DA8"/>
                </a:solidFill>
                <a:ea typeface="楷体" panose="02010609060101010101" charset="-122"/>
                <a:cs typeface="Times New Roman" panose="02020603050405020304" pitchFamily="2" charset="0"/>
              </a:rPr>
              <a:t>”</a:t>
            </a:r>
            <a:r>
              <a:rPr lang="zh-CN" altLang="en-US" sz="2800" b="1">
                <a:solidFill>
                  <a:srgbClr val="1F2DA8"/>
                </a:solidFill>
                <a:ea typeface="楷体" panose="02010609060101010101" charset="-122"/>
                <a:cs typeface="Times New Roman" panose="02020603050405020304" pitchFamily="2" charset="0"/>
              </a:rPr>
              <a:t>中，</a:t>
            </a:r>
            <a:r>
              <a:rPr lang="zh-CN" altLang="en-US" sz="2800" b="1">
                <a:solidFill>
                  <a:srgbClr val="1F2DA8"/>
                </a:solidFill>
                <a:ea typeface="楷体" panose="02010609060101010101" charset="-122"/>
                <a:cs typeface="Times New Roman" panose="02020603050405020304" pitchFamily="2" charset="0"/>
                <a:sym typeface="+mn-ea"/>
              </a:rPr>
              <a:t>也允许某些实体之间是</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一多对应</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或</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一一对应</a:t>
            </a:r>
            <a:r>
              <a:rPr lang="en-US" altLang="zh-CN" sz="2800" b="1">
                <a:solidFill>
                  <a:srgbClr val="1F2DA8"/>
                </a:solidFill>
                <a:ea typeface="楷体" panose="02010609060101010101" charset="-122"/>
                <a:cs typeface="Times New Roman" panose="02020603050405020304" pitchFamily="2" charset="0"/>
                <a:sym typeface="+mn-ea"/>
              </a:rPr>
              <a:t>”</a:t>
            </a:r>
            <a:r>
              <a:rPr lang="zh-CN" altLang="en-US" sz="2800" b="1">
                <a:solidFill>
                  <a:srgbClr val="1F2DA8"/>
                </a:solidFill>
                <a:ea typeface="楷体" panose="02010609060101010101" charset="-122"/>
                <a:cs typeface="Times New Roman" panose="02020603050405020304" pitchFamily="2" charset="0"/>
                <a:sym typeface="+mn-ea"/>
              </a:rPr>
              <a:t>的关系。</a:t>
            </a:r>
            <a:endParaRPr lang="zh-CN" altLang="en-US" sz="2800" b="1">
              <a:solidFill>
                <a:srgbClr val="1F2DA8"/>
              </a:solidFill>
              <a:ea typeface="楷体" panose="02010609060101010101" charset="-122"/>
              <a:cs typeface="Times New Roman" panose="02020603050405020304" pitchFamily="2" charset="0"/>
              <a:sym typeface="+mn-ea"/>
            </a:endParaRPr>
          </a:p>
        </p:txBody>
      </p:sp>
      <p:sp>
        <p:nvSpPr>
          <p:cNvPr id="5" name="灯片编号占位符 4"/>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6" name="页脚占位符 5"/>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实体内部的联系</a:t>
            </a:r>
            <a:endParaRPr lang="zh-CN" altLang="en-US" dirty="0"/>
          </a:p>
        </p:txBody>
      </p:sp>
      <p:sp>
        <p:nvSpPr>
          <p:cNvPr id="3" name="内容占位符 2"/>
          <p:cNvSpPr>
            <a:spLocks noGrp="1"/>
          </p:cNvSpPr>
          <p:nvPr>
            <p:ph idx="1"/>
          </p:nvPr>
        </p:nvSpPr>
        <p:spPr/>
        <p:txBody>
          <a:bodyPr/>
          <a:lstStyle/>
          <a:p>
            <a:r>
              <a:rPr lang="zh-CN" altLang="en-US" dirty="0"/>
              <a:t>实体内部的联系通常是指：同一个实体集中</a:t>
            </a:r>
            <a:r>
              <a:rPr lang="zh-CN" altLang="en-US" dirty="0"/>
              <a:t>不同实体之间的联系</a:t>
            </a:r>
            <a:endParaRPr lang="zh-CN" altLang="en-US" dirty="0"/>
          </a:p>
          <a:p>
            <a:r>
              <a:rPr lang="zh-CN" altLang="en-US" dirty="0">
                <a:sym typeface="+mn-ea"/>
              </a:rPr>
              <a:t>实体内部的联系</a:t>
            </a:r>
            <a:r>
              <a:rPr lang="zh-CN" altLang="en-US" dirty="0">
                <a:sym typeface="+mn-ea"/>
              </a:rPr>
              <a:t>也有</a:t>
            </a:r>
            <a:r>
              <a:rPr lang="en-US" altLang="zh-CN" dirty="0">
                <a:sym typeface="+mn-ea"/>
              </a:rPr>
              <a:t>‘</a:t>
            </a:r>
            <a:r>
              <a:rPr lang="zh-CN" altLang="en-US" dirty="0">
                <a:sym typeface="+mn-ea"/>
              </a:rPr>
              <a:t>一对一、一对多、多对多</a:t>
            </a:r>
            <a:r>
              <a:rPr lang="en-US" altLang="zh-CN" dirty="0">
                <a:sym typeface="+mn-ea"/>
              </a:rPr>
              <a:t>’</a:t>
            </a:r>
            <a:r>
              <a:rPr lang="zh-CN" altLang="en-US" dirty="0">
                <a:sym typeface="+mn-ea"/>
              </a:rPr>
              <a:t>等多种类型</a:t>
            </a:r>
            <a:endParaRPr lang="zh-CN" altLang="en-US" dirty="0"/>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fld>
            <a:endParaRPr lang="en-US" altLang="zh-CN" dirty="0"/>
          </a:p>
        </p:txBody>
      </p:sp>
      <p:sp>
        <p:nvSpPr>
          <p:cNvPr id="11" name="矩形 10"/>
          <p:cNvSpPr/>
          <p:nvPr/>
        </p:nvSpPr>
        <p:spPr>
          <a:xfrm>
            <a:off x="4677410" y="2609215"/>
            <a:ext cx="1838960" cy="533400"/>
          </a:xfrm>
          <a:prstGeom prst="rect">
            <a:avLst/>
          </a:prstGeom>
          <a:solidFill>
            <a:srgbClr val="BBE0E3"/>
          </a:solidFill>
          <a:ln w="25400" cap="flat" cmpd="sng" algn="ctr">
            <a:solidFill>
              <a:srgbClr val="BBE0E3">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实体型</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endParaRPr>
          </a:p>
        </p:txBody>
      </p:sp>
      <p:cxnSp>
        <p:nvCxnSpPr>
          <p:cNvPr id="13" name="直接连接符 12"/>
          <p:cNvCxnSpPr/>
          <p:nvPr/>
        </p:nvCxnSpPr>
        <p:spPr>
          <a:xfrm>
            <a:off x="5128713" y="3144203"/>
            <a:ext cx="0" cy="1224000"/>
          </a:xfrm>
          <a:prstGeom prst="line">
            <a:avLst/>
          </a:prstGeom>
          <a:noFill/>
          <a:ln w="9525" cap="flat" cmpd="sng" algn="ctr">
            <a:solidFill>
              <a:srgbClr val="000000"/>
            </a:solidFill>
            <a:prstDash val="solid"/>
          </a:ln>
          <a:effectLst/>
        </p:spPr>
      </p:cxnSp>
      <p:cxnSp>
        <p:nvCxnSpPr>
          <p:cNvPr id="14" name="直接连接符 13"/>
          <p:cNvCxnSpPr/>
          <p:nvPr/>
        </p:nvCxnSpPr>
        <p:spPr>
          <a:xfrm flipH="1">
            <a:off x="6101533" y="3144203"/>
            <a:ext cx="10160" cy="1224000"/>
          </a:xfrm>
          <a:prstGeom prst="line">
            <a:avLst/>
          </a:prstGeom>
          <a:noFill/>
          <a:ln w="9525" cap="flat" cmpd="sng" algn="ctr">
            <a:solidFill>
              <a:srgbClr val="000000"/>
            </a:solidFill>
            <a:prstDash val="solid"/>
          </a:ln>
          <a:effectLst/>
        </p:spPr>
      </p:cxnSp>
      <p:sp>
        <p:nvSpPr>
          <p:cNvPr id="5" name="文本框 4"/>
          <p:cNvSpPr txBox="1"/>
          <p:nvPr/>
        </p:nvSpPr>
        <p:spPr>
          <a:xfrm>
            <a:off x="4705985" y="3340100"/>
            <a:ext cx="422910" cy="521970"/>
          </a:xfrm>
          <a:prstGeom prst="rect">
            <a:avLst/>
          </a:prstGeom>
          <a:noFill/>
        </p:spPr>
        <p:txBody>
          <a:bodyPr wrap="square" rtlCol="0">
            <a:spAutoFit/>
          </a:bodyPr>
          <a:p>
            <a:r>
              <a:rPr lang="en-US" altLang="zh-CN" sz="2800"/>
              <a:t>1</a:t>
            </a:r>
            <a:endParaRPr lang="en-US" altLang="zh-CN" sz="2800"/>
          </a:p>
        </p:txBody>
      </p:sp>
      <p:sp>
        <p:nvSpPr>
          <p:cNvPr id="6" name="文本框 5"/>
          <p:cNvSpPr txBox="1"/>
          <p:nvPr/>
        </p:nvSpPr>
        <p:spPr>
          <a:xfrm>
            <a:off x="6278245" y="3340100"/>
            <a:ext cx="422910" cy="521970"/>
          </a:xfrm>
          <a:prstGeom prst="rect">
            <a:avLst/>
          </a:prstGeom>
          <a:noFill/>
        </p:spPr>
        <p:txBody>
          <a:bodyPr wrap="square" rtlCol="0">
            <a:spAutoFit/>
          </a:bodyPr>
          <a:p>
            <a:r>
              <a:rPr lang="en-US" altLang="zh-CN" sz="2800"/>
              <a:t>m</a:t>
            </a:r>
            <a:endParaRPr lang="en-US" altLang="zh-CN" sz="2800"/>
          </a:p>
        </p:txBody>
      </p:sp>
      <p:sp>
        <p:nvSpPr>
          <p:cNvPr id="12" name="菱形 11"/>
          <p:cNvSpPr/>
          <p:nvPr/>
        </p:nvSpPr>
        <p:spPr>
          <a:xfrm>
            <a:off x="4677410" y="4110990"/>
            <a:ext cx="1838960" cy="838200"/>
          </a:xfrm>
          <a:prstGeom prst="diamond">
            <a:avLst/>
          </a:prstGeom>
          <a:solidFill>
            <a:srgbClr val="BBE0E3"/>
          </a:solidFill>
          <a:ln w="25400" cap="flat" cmpd="sng" algn="ctr">
            <a:solidFill>
              <a:srgbClr val="BBE0E3">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2800" b="1" kern="0" dirty="0">
                <a:solidFill>
                  <a:srgbClr val="000000"/>
                </a:solidFill>
                <a:latin typeface="楷体" panose="02010609060101010101" charset="-122"/>
                <a:ea typeface="楷体" panose="02010609060101010101" charset="-122"/>
              </a:rPr>
              <a:t>联系</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mn-cs"/>
            </a:endParaRPr>
          </a:p>
        </p:txBody>
      </p:sp>
      <p:sp>
        <p:nvSpPr>
          <p:cNvPr id="7" name="页脚占位符 6"/>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zh-CN"/>
              <a:t>实体</a:t>
            </a:r>
            <a:r>
              <a:rPr lang="en-US" altLang="zh-CN"/>
              <a:t>-</a:t>
            </a:r>
            <a:r>
              <a:rPr lang="zh-CN" altLang="zh-CN"/>
              <a:t>联系方法</a:t>
            </a:r>
            <a:endParaRPr lang="zh-CN" altLang="en-US"/>
          </a:p>
        </p:txBody>
      </p:sp>
      <p:sp>
        <p:nvSpPr>
          <p:cNvPr id="65539" name="内容占位符 2"/>
          <p:cNvSpPr>
            <a:spLocks noGrp="1"/>
          </p:cNvSpPr>
          <p:nvPr>
            <p:ph idx="1"/>
          </p:nvPr>
        </p:nvSpPr>
        <p:spPr/>
        <p:txBody>
          <a:bodyPr/>
          <a:lstStyle/>
          <a:p>
            <a:r>
              <a:rPr lang="zh-CN" altLang="zh-CN" dirty="0"/>
              <a:t>实体</a:t>
            </a:r>
            <a:r>
              <a:rPr lang="en-US" altLang="zh-CN" dirty="0"/>
              <a:t>-</a:t>
            </a:r>
            <a:r>
              <a:rPr lang="zh-CN" altLang="zh-CN" dirty="0"/>
              <a:t>联系方法（</a:t>
            </a:r>
            <a:r>
              <a:rPr lang="en-US" altLang="zh-CN" dirty="0"/>
              <a:t>Entity-Relationship Approach</a:t>
            </a:r>
            <a:r>
              <a:rPr lang="zh-CN" altLang="en-US" dirty="0"/>
              <a:t>）</a:t>
            </a:r>
            <a:endParaRPr lang="en-US" altLang="zh-CN" dirty="0"/>
          </a:p>
          <a:p>
            <a:pPr lvl="1"/>
            <a:r>
              <a:rPr lang="zh-CN" altLang="zh-CN" dirty="0"/>
              <a:t>用</a:t>
            </a:r>
            <a:r>
              <a:rPr lang="en-US" altLang="zh-CN" dirty="0"/>
              <a:t>E-R</a:t>
            </a:r>
            <a:r>
              <a:rPr lang="zh-CN" altLang="zh-CN" dirty="0"/>
              <a:t>图来描述现实世界的概念模型</a:t>
            </a:r>
            <a:endParaRPr lang="en-US" altLang="zh-CN" dirty="0"/>
          </a:p>
          <a:p>
            <a:pPr lvl="1"/>
            <a:r>
              <a:rPr lang="en-US" altLang="zh-CN" dirty="0"/>
              <a:t>E-R</a:t>
            </a:r>
            <a:r>
              <a:rPr lang="zh-CN" altLang="zh-CN" dirty="0"/>
              <a:t>方法也称为</a:t>
            </a:r>
            <a:r>
              <a:rPr lang="en-US" altLang="zh-CN" dirty="0"/>
              <a:t>E-R</a:t>
            </a:r>
            <a:r>
              <a:rPr lang="zh-CN" altLang="zh-CN" dirty="0"/>
              <a:t>模型</a:t>
            </a:r>
            <a:endParaRPr lang="zh-CN" altLang="zh-CN" dirty="0"/>
          </a:p>
          <a:p>
            <a:pPr lvl="1"/>
            <a:endParaRPr lang="zh-CN" altLang="zh-CN" dirty="0"/>
          </a:p>
          <a:p>
            <a:pPr lvl="1"/>
            <a:r>
              <a:rPr lang="en-US" altLang="zh-CN" dirty="0"/>
              <a:t>E-R</a:t>
            </a:r>
            <a:r>
              <a:rPr lang="zh-CN" altLang="en-US" dirty="0"/>
              <a:t>模型中的三个基本概念及其图形化表示</a:t>
            </a:r>
            <a:endParaRPr lang="en-US" altLang="zh-CN" dirty="0"/>
          </a:p>
          <a:p>
            <a:pPr lvl="2">
              <a:lnSpc>
                <a:spcPct val="200000"/>
              </a:lnSpc>
            </a:pPr>
            <a:r>
              <a:rPr lang="zh-CN" altLang="en-US" dirty="0"/>
              <a:t>实体</a:t>
            </a:r>
            <a:endParaRPr lang="en-US" altLang="zh-CN" dirty="0"/>
          </a:p>
          <a:p>
            <a:pPr lvl="2">
              <a:lnSpc>
                <a:spcPct val="200000"/>
              </a:lnSpc>
            </a:pPr>
            <a:r>
              <a:rPr lang="zh-CN" altLang="en-US" dirty="0"/>
              <a:t>属性</a:t>
            </a:r>
            <a:endParaRPr lang="en-US" altLang="zh-CN" dirty="0"/>
          </a:p>
          <a:p>
            <a:pPr lvl="2">
              <a:lnSpc>
                <a:spcPct val="200000"/>
              </a:lnSpc>
            </a:pPr>
            <a:r>
              <a:rPr lang="zh-CN" altLang="en-US" dirty="0"/>
              <a:t>联系</a:t>
            </a:r>
            <a:endParaRPr lang="zh-CN" altLang="en-US" dirty="0"/>
          </a:p>
        </p:txBody>
      </p:sp>
      <p:sp>
        <p:nvSpPr>
          <p:cNvPr id="10" name="Text Box 5"/>
          <p:cNvSpPr txBox="1">
            <a:spLocks noChangeArrowheads="1"/>
          </p:cNvSpPr>
          <p:nvPr/>
        </p:nvSpPr>
        <p:spPr bwMode="auto">
          <a:xfrm>
            <a:off x="4214495" y="3375025"/>
            <a:ext cx="2590165" cy="521970"/>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实体</a:t>
            </a: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名</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2" name="Oval 9"/>
          <p:cNvSpPr>
            <a:spLocks noChangeArrowheads="1"/>
          </p:cNvSpPr>
          <p:nvPr/>
        </p:nvSpPr>
        <p:spPr bwMode="auto">
          <a:xfrm>
            <a:off x="4213860" y="4164965"/>
            <a:ext cx="2590800" cy="53086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属性</a:t>
            </a: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名</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4" name="AutoShape 24"/>
          <p:cNvSpPr>
            <a:spLocks noChangeArrowheads="1"/>
          </p:cNvSpPr>
          <p:nvPr/>
        </p:nvSpPr>
        <p:spPr bwMode="auto">
          <a:xfrm>
            <a:off x="4213860" y="4897755"/>
            <a:ext cx="2590800" cy="7620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联系</a:t>
            </a: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名</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1</a:t>
            </a:r>
            <a:r>
              <a:rPr lang="zh-CN" altLang="en-US" dirty="0"/>
              <a:t>）</a:t>
            </a:r>
            <a:endParaRPr lang="zh-CN" altLang="en-US" dirty="0"/>
          </a:p>
        </p:txBody>
      </p:sp>
      <p:sp>
        <p:nvSpPr>
          <p:cNvPr id="9" name="内容占位符 8"/>
          <p:cNvSpPr>
            <a:spLocks noGrp="1"/>
          </p:cNvSpPr>
          <p:nvPr>
            <p:ph idx="1"/>
          </p:nvPr>
        </p:nvSpPr>
        <p:spPr/>
        <p:txBody>
          <a:bodyPr/>
          <a:p>
            <a:r>
              <a:rPr lang="zh-CN" altLang="en-US"/>
              <a:t>实体</a:t>
            </a:r>
            <a:r>
              <a:rPr lang="zh-CN" altLang="en-US"/>
              <a:t>型的</a:t>
            </a:r>
            <a:r>
              <a:rPr lang="zh-CN" altLang="en-US"/>
              <a:t>表示</a:t>
            </a:r>
            <a:endParaRPr lang="zh-CN" altLang="en-US"/>
          </a:p>
        </p:txBody>
      </p:sp>
      <p:sp>
        <p:nvSpPr>
          <p:cNvPr id="4" name="灯片编号占位符 3"/>
          <p:cNvSpPr>
            <a:spLocks noGrp="1"/>
          </p:cNvSpPr>
          <p:nvPr>
            <p:ph type="sldNum" sz="quarter" idx="12"/>
          </p:nvPr>
        </p:nvSpPr>
        <p:spPr>
          <a:xfrm>
            <a:off x="0" y="6695365"/>
            <a:ext cx="4114800" cy="153670"/>
          </a:xfrm>
        </p:spPr>
        <p:txBody>
          <a:bodyPr/>
          <a:lstStyle/>
          <a:p>
            <a:pPr>
              <a:defRPr/>
            </a:pPr>
            <a:fld id="{759762E9-AABD-478B-B116-8B8B54DC7F1E}" type="slidenum">
              <a:rPr lang="en-US" altLang="zh-CN" smtClean="0"/>
            </a:fld>
            <a:endParaRPr lang="en-US" altLang="zh-CN" dirty="0"/>
          </a:p>
        </p:txBody>
      </p:sp>
      <p:grpSp>
        <p:nvGrpSpPr>
          <p:cNvPr id="8" name="组合 7"/>
          <p:cNvGrpSpPr/>
          <p:nvPr/>
        </p:nvGrpSpPr>
        <p:grpSpPr>
          <a:xfrm>
            <a:off x="2952115" y="2296160"/>
            <a:ext cx="6091555" cy="1779270"/>
            <a:chOff x="4649" y="3616"/>
            <a:chExt cx="9593" cy="2802"/>
          </a:xfrm>
        </p:grpSpPr>
        <p:sp>
          <p:nvSpPr>
            <p:cNvPr id="17" name="Text Box 5"/>
            <p:cNvSpPr txBox="1">
              <a:spLocks noChangeArrowheads="1"/>
            </p:cNvSpPr>
            <p:nvPr/>
          </p:nvSpPr>
          <p:spPr bwMode="auto">
            <a:xfrm>
              <a:off x="8700" y="3616"/>
              <a:ext cx="1440" cy="823"/>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学生</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9" name="Oval 7"/>
            <p:cNvSpPr>
              <a:spLocks noChangeArrowheads="1"/>
            </p:cNvSpPr>
            <p:nvPr/>
          </p:nvSpPr>
          <p:spPr bwMode="auto">
            <a:xfrm>
              <a:off x="4649"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学号</a:t>
              </a: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 name="Oval 8"/>
            <p:cNvSpPr>
              <a:spLocks noChangeArrowheads="1"/>
            </p:cNvSpPr>
            <p:nvPr/>
          </p:nvSpPr>
          <p:spPr bwMode="auto">
            <a:xfrm>
              <a:off x="12302"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年龄</a:t>
              </a: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Oval 9"/>
            <p:cNvSpPr>
              <a:spLocks noChangeArrowheads="1"/>
            </p:cNvSpPr>
            <p:nvPr/>
          </p:nvSpPr>
          <p:spPr bwMode="auto">
            <a:xfrm>
              <a:off x="9751"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性别</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Oval 10"/>
            <p:cNvSpPr>
              <a:spLocks noChangeArrowheads="1"/>
            </p:cNvSpPr>
            <p:nvPr/>
          </p:nvSpPr>
          <p:spPr bwMode="auto">
            <a:xfrm>
              <a:off x="7200" y="5386"/>
              <a:ext cx="1940" cy="1033"/>
            </a:xfrm>
            <a:prstGeom prst="ellipse">
              <a:avLst/>
            </a:prstGeom>
            <a:solidFill>
              <a:srgbClr val="BBE0E3"/>
            </a:solidFill>
            <a:ln w="9525">
              <a:solidFill>
                <a:srgbClr val="000000"/>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姓名</a:t>
              </a: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cxnSp>
          <p:nvCxnSpPr>
            <p:cNvPr id="3" name="直接连接符 2"/>
            <p:cNvCxnSpPr>
              <a:stCxn id="17" idx="2"/>
              <a:endCxn id="19" idx="7"/>
            </p:cNvCxnSpPr>
            <p:nvPr/>
          </p:nvCxnSpPr>
          <p:spPr>
            <a:xfrm flipH="1">
              <a:off x="6305" y="4439"/>
              <a:ext cx="3115"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a:stCxn id="17" idx="2"/>
              <a:endCxn id="22" idx="7"/>
            </p:cNvCxnSpPr>
            <p:nvPr>
              <p:custDataLst>
                <p:tags r:id="rId1"/>
              </p:custDataLst>
            </p:nvPr>
          </p:nvCxnSpPr>
          <p:spPr>
            <a:xfrm flipH="1">
              <a:off x="8856" y="4439"/>
              <a:ext cx="564"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a:stCxn id="17" idx="2"/>
              <a:endCxn id="21" idx="1"/>
            </p:cNvCxnSpPr>
            <p:nvPr>
              <p:custDataLst>
                <p:tags r:id="rId2"/>
              </p:custDataLst>
            </p:nvPr>
          </p:nvCxnSpPr>
          <p:spPr>
            <a:xfrm>
              <a:off x="9420" y="4439"/>
              <a:ext cx="615"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a:stCxn id="17" idx="2"/>
              <a:endCxn id="20" idx="1"/>
            </p:cNvCxnSpPr>
            <p:nvPr>
              <p:custDataLst>
                <p:tags r:id="rId3"/>
              </p:custDataLst>
            </p:nvPr>
          </p:nvCxnSpPr>
          <p:spPr>
            <a:xfrm>
              <a:off x="9420" y="4439"/>
              <a:ext cx="3166"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sp>
        <p:nvSpPr>
          <p:cNvPr id="10" name="页脚占位符 9"/>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2</a:t>
            </a:r>
            <a:r>
              <a:rPr lang="zh-CN" altLang="en-US" dirty="0"/>
              <a:t>）</a:t>
            </a:r>
            <a:endParaRPr lang="zh-CN" altLang="en-US" dirty="0"/>
          </a:p>
        </p:txBody>
      </p:sp>
      <p:sp>
        <p:nvSpPr>
          <p:cNvPr id="3" name="内容占位符 2"/>
          <p:cNvSpPr>
            <a:spLocks noGrp="1"/>
          </p:cNvSpPr>
          <p:nvPr>
            <p:ph idx="1"/>
          </p:nvPr>
        </p:nvSpPr>
        <p:spPr/>
        <p:txBody>
          <a:bodyPr/>
          <a:p>
            <a:r>
              <a:rPr lang="zh-CN" altLang="en-US"/>
              <a:t>二元联系及联系上的</a:t>
            </a:r>
            <a:r>
              <a:rPr lang="zh-CN" altLang="en-US"/>
              <a:t>属性</a:t>
            </a:r>
            <a:endParaRPr lang="zh-CN" altLang="en-US"/>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fld>
            <a:endParaRPr lang="en-US" altLang="zh-CN" dirty="0"/>
          </a:p>
        </p:txBody>
      </p:sp>
      <p:grpSp>
        <p:nvGrpSpPr>
          <p:cNvPr id="35" name="组合 34"/>
          <p:cNvGrpSpPr/>
          <p:nvPr/>
        </p:nvGrpSpPr>
        <p:grpSpPr>
          <a:xfrm>
            <a:off x="1080000" y="1692000"/>
            <a:ext cx="2504440" cy="4255770"/>
            <a:chOff x="3243" y="2760"/>
            <a:chExt cx="3944" cy="6702"/>
          </a:xfrm>
        </p:grpSpPr>
        <p:sp>
          <p:nvSpPr>
            <p:cNvPr id="25" name="Text Box 5"/>
            <p:cNvSpPr txBox="1">
              <a:spLocks noChangeArrowheads="1"/>
            </p:cNvSpPr>
            <p:nvPr/>
          </p:nvSpPr>
          <p:spPr bwMode="auto">
            <a:xfrm>
              <a:off x="3270" y="2760"/>
              <a:ext cx="3916"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班级</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26" name="AutoShape 6"/>
            <p:cNvSpPr>
              <a:spLocks noChangeArrowheads="1"/>
            </p:cNvSpPr>
            <p:nvPr/>
          </p:nvSpPr>
          <p:spPr bwMode="auto">
            <a:xfrm>
              <a:off x="3269" y="4680"/>
              <a:ext cx="391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班级</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a:t>
              </a: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班长</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27" name="Text Box 7"/>
            <p:cNvSpPr txBox="1">
              <a:spLocks noChangeArrowheads="1"/>
            </p:cNvSpPr>
            <p:nvPr/>
          </p:nvSpPr>
          <p:spPr bwMode="auto">
            <a:xfrm>
              <a:off x="3272" y="7320"/>
              <a:ext cx="3915"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班长</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0" name="Text Box 10"/>
            <p:cNvSpPr txBox="1">
              <a:spLocks noChangeArrowheads="1"/>
            </p:cNvSpPr>
            <p:nvPr/>
          </p:nvSpPr>
          <p:spPr bwMode="auto">
            <a:xfrm>
              <a:off x="4608" y="379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Text Box 11"/>
            <p:cNvSpPr txBox="1">
              <a:spLocks noChangeArrowheads="1"/>
            </p:cNvSpPr>
            <p:nvPr/>
          </p:nvSpPr>
          <p:spPr bwMode="auto">
            <a:xfrm>
              <a:off x="4680"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Text Box 12"/>
            <p:cNvSpPr txBox="1">
              <a:spLocks noChangeArrowheads="1"/>
            </p:cNvSpPr>
            <p:nvPr/>
          </p:nvSpPr>
          <p:spPr bwMode="auto">
            <a:xfrm>
              <a:off x="3243" y="8640"/>
              <a:ext cx="3943"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1:1</a:t>
              </a: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联系</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cxnSp>
          <p:nvCxnSpPr>
            <p:cNvPr id="33" name="直接连接符 32"/>
            <p:cNvCxnSpPr>
              <a:stCxn id="25" idx="2"/>
              <a:endCxn id="26" idx="0"/>
            </p:cNvCxnSpPr>
            <p:nvPr/>
          </p:nvCxnSpPr>
          <p:spPr>
            <a:xfrm>
              <a:off x="5228" y="3582"/>
              <a:ext cx="0"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26" idx="2"/>
              <a:endCxn id="27" idx="0"/>
            </p:cNvCxnSpPr>
            <p:nvPr/>
          </p:nvCxnSpPr>
          <p:spPr>
            <a:xfrm>
              <a:off x="5228" y="5880"/>
              <a:ext cx="2" cy="1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36" name="组合 35"/>
          <p:cNvGrpSpPr/>
          <p:nvPr/>
        </p:nvGrpSpPr>
        <p:grpSpPr>
          <a:xfrm>
            <a:off x="4320000" y="1692000"/>
            <a:ext cx="2504440" cy="4255770"/>
            <a:chOff x="3243" y="2760"/>
            <a:chExt cx="3944" cy="6702"/>
          </a:xfrm>
        </p:grpSpPr>
        <p:sp>
          <p:nvSpPr>
            <p:cNvPr id="37" name="Text Box 5"/>
            <p:cNvSpPr txBox="1">
              <a:spLocks noChangeArrowheads="1"/>
            </p:cNvSpPr>
            <p:nvPr>
              <p:custDataLst>
                <p:tags r:id="rId1"/>
              </p:custDataLst>
            </p:nvPr>
          </p:nvSpPr>
          <p:spPr bwMode="auto">
            <a:xfrm>
              <a:off x="3270" y="2760"/>
              <a:ext cx="3916"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班级</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8" name="AutoShape 6"/>
            <p:cNvSpPr>
              <a:spLocks noChangeArrowheads="1"/>
            </p:cNvSpPr>
            <p:nvPr>
              <p:custDataLst>
                <p:tags r:id="rId2"/>
              </p:custDataLst>
            </p:nvPr>
          </p:nvSpPr>
          <p:spPr bwMode="auto">
            <a:xfrm>
              <a:off x="3269" y="4680"/>
              <a:ext cx="391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组成</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39" name="Text Box 7"/>
            <p:cNvSpPr txBox="1">
              <a:spLocks noChangeArrowheads="1"/>
            </p:cNvSpPr>
            <p:nvPr>
              <p:custDataLst>
                <p:tags r:id="rId3"/>
              </p:custDataLst>
            </p:nvPr>
          </p:nvSpPr>
          <p:spPr bwMode="auto">
            <a:xfrm>
              <a:off x="3272" y="7320"/>
              <a:ext cx="3915"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学生</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0" name="Text Box 10"/>
            <p:cNvSpPr txBox="1">
              <a:spLocks noChangeArrowheads="1"/>
            </p:cNvSpPr>
            <p:nvPr>
              <p:custDataLst>
                <p:tags r:id="rId4"/>
              </p:custDataLst>
            </p:nvPr>
          </p:nvSpPr>
          <p:spPr bwMode="auto">
            <a:xfrm>
              <a:off x="4608" y="379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1" name="Text Box 11"/>
            <p:cNvSpPr txBox="1">
              <a:spLocks noChangeArrowheads="1"/>
            </p:cNvSpPr>
            <p:nvPr>
              <p:custDataLst>
                <p:tags r:id="rId5"/>
              </p:custDataLst>
            </p:nvPr>
          </p:nvSpPr>
          <p:spPr bwMode="auto">
            <a:xfrm>
              <a:off x="4680"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n</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2" name="Text Box 12"/>
            <p:cNvSpPr txBox="1">
              <a:spLocks noChangeArrowheads="1"/>
            </p:cNvSpPr>
            <p:nvPr>
              <p:custDataLst>
                <p:tags r:id="rId6"/>
              </p:custDataLst>
            </p:nvPr>
          </p:nvSpPr>
          <p:spPr bwMode="auto">
            <a:xfrm>
              <a:off x="3243" y="8640"/>
              <a:ext cx="3943"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1:n</a:t>
              </a: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联系</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cxnSp>
          <p:nvCxnSpPr>
            <p:cNvPr id="43" name="直接连接符 42"/>
            <p:cNvCxnSpPr>
              <a:stCxn id="37" idx="2"/>
              <a:endCxn id="38" idx="0"/>
            </p:cNvCxnSpPr>
            <p:nvPr>
              <p:custDataLst>
                <p:tags r:id="rId7"/>
              </p:custDataLst>
            </p:nvPr>
          </p:nvCxnSpPr>
          <p:spPr>
            <a:xfrm>
              <a:off x="5228" y="3582"/>
              <a:ext cx="0"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a:stCxn id="38" idx="2"/>
              <a:endCxn id="39" idx="0"/>
            </p:cNvCxnSpPr>
            <p:nvPr>
              <p:custDataLst>
                <p:tags r:id="rId8"/>
              </p:custDataLst>
            </p:nvPr>
          </p:nvCxnSpPr>
          <p:spPr>
            <a:xfrm>
              <a:off x="5228" y="5880"/>
              <a:ext cx="2" cy="1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5" name="组合 4"/>
          <p:cNvGrpSpPr/>
          <p:nvPr/>
        </p:nvGrpSpPr>
        <p:grpSpPr>
          <a:xfrm>
            <a:off x="7560310" y="1692275"/>
            <a:ext cx="4051300" cy="4255770"/>
            <a:chOff x="11906" y="2665"/>
            <a:chExt cx="6380" cy="6702"/>
          </a:xfrm>
        </p:grpSpPr>
        <p:grpSp>
          <p:nvGrpSpPr>
            <p:cNvPr id="56" name="组合 55"/>
            <p:cNvGrpSpPr/>
            <p:nvPr/>
          </p:nvGrpSpPr>
          <p:grpSpPr>
            <a:xfrm>
              <a:off x="11906" y="2665"/>
              <a:ext cx="6381" cy="6702"/>
              <a:chOff x="11906" y="2665"/>
              <a:chExt cx="6381" cy="6702"/>
            </a:xfrm>
          </p:grpSpPr>
          <p:grpSp>
            <p:nvGrpSpPr>
              <p:cNvPr id="45" name="组合 44"/>
              <p:cNvGrpSpPr/>
              <p:nvPr/>
            </p:nvGrpSpPr>
            <p:grpSpPr>
              <a:xfrm>
                <a:off x="11906" y="2665"/>
                <a:ext cx="3944" cy="6702"/>
                <a:chOff x="3243" y="2760"/>
                <a:chExt cx="3944" cy="6702"/>
              </a:xfrm>
            </p:grpSpPr>
            <p:sp>
              <p:nvSpPr>
                <p:cNvPr id="46" name="Text Box 5"/>
                <p:cNvSpPr txBox="1">
                  <a:spLocks noChangeArrowheads="1"/>
                </p:cNvSpPr>
                <p:nvPr>
                  <p:custDataLst>
                    <p:tags r:id="rId9"/>
                  </p:custDataLst>
                </p:nvPr>
              </p:nvSpPr>
              <p:spPr bwMode="auto">
                <a:xfrm>
                  <a:off x="3270" y="2760"/>
                  <a:ext cx="3916"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课程</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7" name="AutoShape 6"/>
                <p:cNvSpPr>
                  <a:spLocks noChangeArrowheads="1"/>
                </p:cNvSpPr>
                <p:nvPr>
                  <p:custDataLst>
                    <p:tags r:id="rId10"/>
                  </p:custDataLst>
                </p:nvPr>
              </p:nvSpPr>
              <p:spPr bwMode="auto">
                <a:xfrm>
                  <a:off x="3269" y="4680"/>
                  <a:ext cx="3918"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选修</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48" name="Text Box 7"/>
                <p:cNvSpPr txBox="1">
                  <a:spLocks noChangeArrowheads="1"/>
                </p:cNvSpPr>
                <p:nvPr>
                  <p:custDataLst>
                    <p:tags r:id="rId11"/>
                  </p:custDataLst>
                </p:nvPr>
              </p:nvSpPr>
              <p:spPr bwMode="auto">
                <a:xfrm>
                  <a:off x="3272" y="7320"/>
                  <a:ext cx="3915" cy="822"/>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学生</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9" name="Text Box 10"/>
                <p:cNvSpPr txBox="1">
                  <a:spLocks noChangeArrowheads="1"/>
                </p:cNvSpPr>
                <p:nvPr>
                  <p:custDataLst>
                    <p:tags r:id="rId12"/>
                  </p:custDataLst>
                </p:nvPr>
              </p:nvSpPr>
              <p:spPr bwMode="auto">
                <a:xfrm>
                  <a:off x="4608" y="3792"/>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m</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Text Box 11"/>
                <p:cNvSpPr txBox="1">
                  <a:spLocks noChangeArrowheads="1"/>
                </p:cNvSpPr>
                <p:nvPr>
                  <p:custDataLst>
                    <p:tags r:id="rId13"/>
                  </p:custDataLst>
                </p:nvPr>
              </p:nvSpPr>
              <p:spPr bwMode="auto">
                <a:xfrm>
                  <a:off x="4680"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n</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Text Box 12"/>
                <p:cNvSpPr txBox="1">
                  <a:spLocks noChangeArrowheads="1"/>
                </p:cNvSpPr>
                <p:nvPr>
                  <p:custDataLst>
                    <p:tags r:id="rId14"/>
                  </p:custDataLst>
                </p:nvPr>
              </p:nvSpPr>
              <p:spPr bwMode="auto">
                <a:xfrm>
                  <a:off x="3243" y="8640"/>
                  <a:ext cx="3943"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m:n</a:t>
                  </a: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联系</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cxnSp>
              <p:nvCxnSpPr>
                <p:cNvPr id="52" name="直接连接符 51"/>
                <p:cNvCxnSpPr>
                  <a:stCxn id="46" idx="2"/>
                  <a:endCxn id="47" idx="0"/>
                </p:cNvCxnSpPr>
                <p:nvPr>
                  <p:custDataLst>
                    <p:tags r:id="rId15"/>
                  </p:custDataLst>
                </p:nvPr>
              </p:nvCxnSpPr>
              <p:spPr>
                <a:xfrm>
                  <a:off x="5228" y="3582"/>
                  <a:ext cx="0" cy="109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3" name="直接连接符 52"/>
                <p:cNvCxnSpPr>
                  <a:stCxn id="47" idx="2"/>
                  <a:endCxn id="48" idx="0"/>
                </p:cNvCxnSpPr>
                <p:nvPr>
                  <p:custDataLst>
                    <p:tags r:id="rId16"/>
                  </p:custDataLst>
                </p:nvPr>
              </p:nvCxnSpPr>
              <p:spPr>
                <a:xfrm>
                  <a:off x="5228" y="5880"/>
                  <a:ext cx="2" cy="1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sp>
            <p:nvSpPr>
              <p:cNvPr id="54" name="Oval 13"/>
              <p:cNvSpPr>
                <a:spLocks noChangeArrowheads="1"/>
              </p:cNvSpPr>
              <p:nvPr>
                <p:custDataLst>
                  <p:tags r:id="rId17"/>
                </p:custDataLst>
              </p:nvPr>
            </p:nvSpPr>
            <p:spPr bwMode="auto">
              <a:xfrm>
                <a:off x="16367" y="4765"/>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成绩</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grpSp>
        <p:cxnSp>
          <p:nvCxnSpPr>
            <p:cNvPr id="55" name="直接连接符 54"/>
            <p:cNvCxnSpPr>
              <a:stCxn id="47" idx="3"/>
              <a:endCxn id="54" idx="2"/>
            </p:cNvCxnSpPr>
            <p:nvPr/>
          </p:nvCxnSpPr>
          <p:spPr>
            <a:xfrm>
              <a:off x="15850" y="5185"/>
              <a:ext cx="517"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6" name="页脚占位符 5"/>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3</a:t>
            </a:r>
            <a:r>
              <a:rPr lang="zh-CN" altLang="en-US" dirty="0"/>
              <a:t>）</a:t>
            </a:r>
            <a:endParaRPr lang="zh-CN" altLang="en-US" dirty="0"/>
          </a:p>
        </p:txBody>
      </p:sp>
      <p:sp>
        <p:nvSpPr>
          <p:cNvPr id="3" name="内容占位符 2"/>
          <p:cNvSpPr>
            <a:spLocks noGrp="1"/>
          </p:cNvSpPr>
          <p:nvPr>
            <p:ph idx="1"/>
          </p:nvPr>
        </p:nvSpPr>
        <p:spPr/>
        <p:txBody>
          <a:bodyPr/>
          <a:p>
            <a:r>
              <a:rPr lang="zh-CN" altLang="en-US"/>
              <a:t>允许在</a:t>
            </a:r>
            <a:r>
              <a:rPr lang="zh-CN" altLang="en-US"/>
              <a:t>同一组实体</a:t>
            </a:r>
            <a:r>
              <a:rPr lang="zh-CN" altLang="en-US"/>
              <a:t>型之间建立多个不同的</a:t>
            </a:r>
            <a:r>
              <a:rPr lang="zh-CN" altLang="en-US"/>
              <a:t>联系</a:t>
            </a:r>
            <a:endParaRPr lang="zh-CN" altLang="en-US"/>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fld>
            <a:endParaRPr lang="en-US" altLang="zh-CN" dirty="0"/>
          </a:p>
        </p:txBody>
      </p:sp>
      <p:sp>
        <p:nvSpPr>
          <p:cNvPr id="26" name="AutoShape 6"/>
          <p:cNvSpPr>
            <a:spLocks noChangeArrowheads="1"/>
          </p:cNvSpPr>
          <p:nvPr>
            <p:custDataLst>
              <p:tags r:id="rId1"/>
            </p:custDataLst>
          </p:nvPr>
        </p:nvSpPr>
        <p:spPr bwMode="auto">
          <a:xfrm>
            <a:off x="2498725" y="2911475"/>
            <a:ext cx="2487930" cy="7620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班级</a:t>
            </a: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a:t>
            </a: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班长</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30" name="Text Box 10"/>
          <p:cNvSpPr txBox="1">
            <a:spLocks noChangeArrowheads="1"/>
          </p:cNvSpPr>
          <p:nvPr>
            <p:custDataLst>
              <p:tags r:id="rId2"/>
            </p:custDataLst>
          </p:nvPr>
        </p:nvSpPr>
        <p:spPr bwMode="auto">
          <a:xfrm>
            <a:off x="3592830" y="234759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Text Box 11"/>
          <p:cNvSpPr txBox="1">
            <a:spLocks noChangeArrowheads="1"/>
          </p:cNvSpPr>
          <p:nvPr>
            <p:custDataLst>
              <p:tags r:id="rId3"/>
            </p:custDataLst>
          </p:nvPr>
        </p:nvSpPr>
        <p:spPr bwMode="auto">
          <a:xfrm>
            <a:off x="3638550" y="390207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cxnSp>
        <p:nvCxnSpPr>
          <p:cNvPr id="33" name="直接连接符 32"/>
          <p:cNvCxnSpPr>
            <a:stCxn id="37" idx="1"/>
            <a:endCxn id="26" idx="0"/>
          </p:cNvCxnSpPr>
          <p:nvPr>
            <p:custDataLst>
              <p:tags r:id="rId4"/>
            </p:custDataLst>
          </p:nvPr>
        </p:nvCxnSpPr>
        <p:spPr>
          <a:xfrm flipH="1">
            <a:off x="3742690" y="1953260"/>
            <a:ext cx="954405" cy="9582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26" idx="2"/>
            <a:endCxn id="39" idx="1"/>
          </p:cNvCxnSpPr>
          <p:nvPr>
            <p:custDataLst>
              <p:tags r:id="rId5"/>
            </p:custDataLst>
          </p:nvPr>
        </p:nvCxnSpPr>
        <p:spPr>
          <a:xfrm>
            <a:off x="3742690" y="3673475"/>
            <a:ext cx="955675" cy="11753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7" name="Text Box 5"/>
          <p:cNvSpPr txBox="1">
            <a:spLocks noChangeArrowheads="1"/>
          </p:cNvSpPr>
          <p:nvPr>
            <p:custDataLst>
              <p:tags r:id="rId6"/>
            </p:custDataLst>
          </p:nvPr>
        </p:nvSpPr>
        <p:spPr bwMode="auto">
          <a:xfrm>
            <a:off x="4697095" y="1692275"/>
            <a:ext cx="2486660" cy="521970"/>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班级</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8" name="AutoShape 6"/>
          <p:cNvSpPr>
            <a:spLocks noChangeArrowheads="1"/>
          </p:cNvSpPr>
          <p:nvPr>
            <p:custDataLst>
              <p:tags r:id="rId7"/>
            </p:custDataLst>
          </p:nvPr>
        </p:nvSpPr>
        <p:spPr bwMode="auto">
          <a:xfrm>
            <a:off x="6748780" y="2911475"/>
            <a:ext cx="2487930" cy="7620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rPr>
              <a:t>组成</a:t>
            </a:r>
            <a:endParaRPr kumimoji="0" lang="zh-CN" altLang="en-US"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39" name="Text Box 7"/>
          <p:cNvSpPr txBox="1">
            <a:spLocks noChangeArrowheads="1"/>
          </p:cNvSpPr>
          <p:nvPr>
            <p:custDataLst>
              <p:tags r:id="rId8"/>
            </p:custDataLst>
          </p:nvPr>
        </p:nvSpPr>
        <p:spPr bwMode="auto">
          <a:xfrm>
            <a:off x="4698365" y="4587875"/>
            <a:ext cx="2486025" cy="521970"/>
          </a:xfrm>
          <a:prstGeom prst="rect">
            <a:avLst/>
          </a:prstGeom>
          <a:solidFill>
            <a:srgbClr val="BBE0E3"/>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学生</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0" name="Text Box 10"/>
          <p:cNvSpPr txBox="1">
            <a:spLocks noChangeArrowheads="1"/>
          </p:cNvSpPr>
          <p:nvPr>
            <p:custDataLst>
              <p:tags r:id="rId9"/>
            </p:custDataLst>
          </p:nvPr>
        </p:nvSpPr>
        <p:spPr bwMode="auto">
          <a:xfrm>
            <a:off x="7720965" y="226631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1" name="Text Box 11"/>
          <p:cNvSpPr txBox="1">
            <a:spLocks noChangeArrowheads="1"/>
          </p:cNvSpPr>
          <p:nvPr>
            <p:custDataLst>
              <p:tags r:id="rId10"/>
            </p:custDataLst>
          </p:nvPr>
        </p:nvSpPr>
        <p:spPr bwMode="auto">
          <a:xfrm>
            <a:off x="7766685" y="3820795"/>
            <a:ext cx="38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n</a:t>
            </a:r>
            <a:endPar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cxnSp>
        <p:nvCxnSpPr>
          <p:cNvPr id="43" name="直接连接符 42"/>
          <p:cNvCxnSpPr>
            <a:stCxn id="37" idx="3"/>
            <a:endCxn id="38" idx="0"/>
          </p:cNvCxnSpPr>
          <p:nvPr>
            <p:custDataLst>
              <p:tags r:id="rId11"/>
            </p:custDataLst>
          </p:nvPr>
        </p:nvCxnSpPr>
        <p:spPr>
          <a:xfrm>
            <a:off x="7183755" y="1953260"/>
            <a:ext cx="808990" cy="9582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a:stCxn id="38" idx="2"/>
            <a:endCxn id="39" idx="3"/>
          </p:cNvCxnSpPr>
          <p:nvPr>
            <p:custDataLst>
              <p:tags r:id="rId12"/>
            </p:custDataLst>
          </p:nvPr>
        </p:nvCxnSpPr>
        <p:spPr>
          <a:xfrm flipH="1">
            <a:off x="7184390" y="3673475"/>
            <a:ext cx="808355" cy="11753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 name="页脚占位符 4"/>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4</a:t>
            </a:r>
            <a:r>
              <a:rPr lang="zh-CN" altLang="en-US" dirty="0"/>
              <a:t>）</a:t>
            </a:r>
            <a:endParaRPr lang="zh-CN" altLang="en-US" dirty="0"/>
          </a:p>
        </p:txBody>
      </p:sp>
      <p:sp>
        <p:nvSpPr>
          <p:cNvPr id="4" name="灯片编号占位符 3"/>
          <p:cNvSpPr>
            <a:spLocks noGrp="1"/>
          </p:cNvSpPr>
          <p:nvPr>
            <p:ph type="sldNum" sz="quarter" idx="11"/>
          </p:nvPr>
        </p:nvSpPr>
        <p:spPr>
          <a:xfrm>
            <a:off x="0" y="6695365"/>
            <a:ext cx="4114800" cy="153670"/>
          </a:xfrm>
        </p:spPr>
        <p:txBody>
          <a:bodyPr/>
          <a:lstStyle/>
          <a:p>
            <a:pPr>
              <a:defRPr/>
            </a:pPr>
            <a:fld id="{759762E9-AABD-478B-B116-8B8B54DC7F1E}" type="slidenum">
              <a:rPr lang="en-US" altLang="zh-CN" smtClean="0"/>
            </a:fld>
            <a:endParaRPr lang="en-US" altLang="zh-CN" dirty="0"/>
          </a:p>
        </p:txBody>
      </p:sp>
      <p:grpSp>
        <p:nvGrpSpPr>
          <p:cNvPr id="8" name="组合 7"/>
          <p:cNvGrpSpPr/>
          <p:nvPr/>
        </p:nvGrpSpPr>
        <p:grpSpPr>
          <a:xfrm>
            <a:off x="7772400" y="1640205"/>
            <a:ext cx="2286000" cy="3650615"/>
            <a:chOff x="10920" y="2784"/>
            <a:chExt cx="3600" cy="5749"/>
          </a:xfrm>
        </p:grpSpPr>
        <p:sp>
          <p:nvSpPr>
            <p:cNvPr id="43" name="Line 8"/>
            <p:cNvSpPr>
              <a:spLocks noChangeShapeType="1"/>
            </p:cNvSpPr>
            <p:nvPr/>
          </p:nvSpPr>
          <p:spPr bwMode="auto">
            <a:xfrm>
              <a:off x="13080" y="3600"/>
              <a:ext cx="0" cy="14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0" name="Text Box 5"/>
            <p:cNvSpPr txBox="1">
              <a:spLocks noChangeArrowheads="1"/>
            </p:cNvSpPr>
            <p:nvPr/>
          </p:nvSpPr>
          <p:spPr bwMode="auto">
            <a:xfrm>
              <a:off x="11640" y="2784"/>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职工</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1" name="AutoShape 6"/>
            <p:cNvSpPr>
              <a:spLocks noChangeArrowheads="1"/>
            </p:cNvSpPr>
            <p:nvPr/>
          </p:nvSpPr>
          <p:spPr bwMode="auto">
            <a:xfrm>
              <a:off x="11520" y="4800"/>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领导</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2" name="Line 7"/>
            <p:cNvSpPr>
              <a:spLocks noChangeShapeType="1"/>
            </p:cNvSpPr>
            <p:nvPr/>
          </p:nvSpPr>
          <p:spPr bwMode="auto">
            <a:xfrm flipV="1">
              <a:off x="12240" y="3600"/>
              <a:ext cx="0" cy="14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Text Box 9"/>
            <p:cNvSpPr txBox="1">
              <a:spLocks noChangeArrowheads="1"/>
            </p:cNvSpPr>
            <p:nvPr/>
          </p:nvSpPr>
          <p:spPr bwMode="auto">
            <a:xfrm>
              <a:off x="11520" y="396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1</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5" name="Text Box 10"/>
            <p:cNvSpPr txBox="1">
              <a:spLocks noChangeArrowheads="1"/>
            </p:cNvSpPr>
            <p:nvPr/>
          </p:nvSpPr>
          <p:spPr bwMode="auto">
            <a:xfrm>
              <a:off x="13200" y="396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n</a:t>
              </a:r>
              <a:endParaRPr kumimoji="0" lang="en-US" altLang="zh-CN"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46" name="Text Box 11"/>
            <p:cNvSpPr txBox="1">
              <a:spLocks noChangeArrowheads="1"/>
            </p:cNvSpPr>
            <p:nvPr/>
          </p:nvSpPr>
          <p:spPr bwMode="auto">
            <a:xfrm>
              <a:off x="10920" y="7032"/>
              <a:ext cx="3600" cy="1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同一实体型内部的联系</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grpSp>
      <p:grpSp>
        <p:nvGrpSpPr>
          <p:cNvPr id="7" name="组合 6"/>
          <p:cNvGrpSpPr/>
          <p:nvPr/>
        </p:nvGrpSpPr>
        <p:grpSpPr>
          <a:xfrm>
            <a:off x="916305" y="1290320"/>
            <a:ext cx="4975860" cy="4550410"/>
            <a:chOff x="3032" y="2416"/>
            <a:chExt cx="7836" cy="7166"/>
          </a:xfrm>
        </p:grpSpPr>
        <p:sp>
          <p:nvSpPr>
            <p:cNvPr id="29" name="Text Box 13"/>
            <p:cNvSpPr txBox="1">
              <a:spLocks noChangeArrowheads="1"/>
            </p:cNvSpPr>
            <p:nvPr/>
          </p:nvSpPr>
          <p:spPr bwMode="auto">
            <a:xfrm>
              <a:off x="6168" y="2416"/>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课程</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0" name="AutoShape 14"/>
            <p:cNvSpPr>
              <a:spLocks noChangeArrowheads="1"/>
            </p:cNvSpPr>
            <p:nvPr/>
          </p:nvSpPr>
          <p:spPr bwMode="auto">
            <a:xfrm>
              <a:off x="6000" y="4800"/>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讲授</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1" name="Text Box 15"/>
            <p:cNvSpPr txBox="1">
              <a:spLocks noChangeArrowheads="1"/>
            </p:cNvSpPr>
            <p:nvPr/>
          </p:nvSpPr>
          <p:spPr bwMode="auto">
            <a:xfrm>
              <a:off x="3856" y="7560"/>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教师</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4" name="Text Box 18"/>
            <p:cNvSpPr txBox="1">
              <a:spLocks noChangeArrowheads="1"/>
            </p:cNvSpPr>
            <p:nvPr/>
          </p:nvSpPr>
          <p:spPr bwMode="auto">
            <a:xfrm>
              <a:off x="6600" y="3718"/>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1</a:t>
              </a:r>
              <a:endPar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endParaRPr>
            </a:p>
          </p:txBody>
        </p:sp>
        <p:sp>
          <p:nvSpPr>
            <p:cNvPr id="35" name="Text Box 19"/>
            <p:cNvSpPr txBox="1">
              <a:spLocks noChangeArrowheads="1"/>
            </p:cNvSpPr>
            <p:nvPr/>
          </p:nvSpPr>
          <p:spPr bwMode="auto">
            <a:xfrm>
              <a:off x="4576"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m</a:t>
              </a:r>
              <a:endPar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endParaRPr>
            </a:p>
          </p:txBody>
        </p:sp>
        <p:sp>
          <p:nvSpPr>
            <p:cNvPr id="36" name="Text Box 20"/>
            <p:cNvSpPr txBox="1">
              <a:spLocks noChangeArrowheads="1"/>
            </p:cNvSpPr>
            <p:nvPr/>
          </p:nvSpPr>
          <p:spPr bwMode="auto">
            <a:xfrm>
              <a:off x="3032" y="8760"/>
              <a:ext cx="783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多个实体型间的联系</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endParaRPr>
            </a:p>
          </p:txBody>
        </p:sp>
        <p:sp>
          <p:nvSpPr>
            <p:cNvPr id="37" name="Text Box 21"/>
            <p:cNvSpPr txBox="1">
              <a:spLocks noChangeArrowheads="1"/>
            </p:cNvSpPr>
            <p:nvPr/>
          </p:nvSpPr>
          <p:spPr bwMode="auto">
            <a:xfrm>
              <a:off x="8448" y="7560"/>
              <a:ext cx="2040" cy="822"/>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rPr>
                <a:t>参考书</a:t>
              </a:r>
              <a:endParaRPr kumimoji="0" lang="zh-CN" altLang="en-US" sz="2800" b="1" i="0" u="none" strike="noStrike" kern="0" cap="none" spc="0" normalizeH="0" baseline="0" noProof="0">
                <a:ln>
                  <a:noFill/>
                </a:ln>
                <a:solidFill>
                  <a:srgbClr val="000000"/>
                </a:solidFill>
                <a:effectLst/>
                <a:uLnTx/>
                <a:uFillTx/>
                <a:latin typeface="楷体" panose="02010609060101010101" charset="-122"/>
                <a:ea typeface="楷体" panose="02010609060101010101" charset="-122"/>
              </a:endParaRPr>
            </a:p>
          </p:txBody>
        </p:sp>
        <p:sp>
          <p:nvSpPr>
            <p:cNvPr id="39" name="Text Box 23"/>
            <p:cNvSpPr txBox="1">
              <a:spLocks noChangeArrowheads="1"/>
            </p:cNvSpPr>
            <p:nvPr/>
          </p:nvSpPr>
          <p:spPr bwMode="auto">
            <a:xfrm>
              <a:off x="9168" y="6240"/>
              <a:ext cx="6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rPr>
                <a:t>n</a:t>
              </a:r>
              <a:endParaRPr kumimoji="0" lang="en-US" altLang="zh-CN" sz="2800" b="1" i="0" u="none" strike="noStrike" kern="0" cap="none" spc="0" normalizeH="0" baseline="0" noProof="0" dirty="0">
                <a:ln>
                  <a:noFill/>
                </a:ln>
                <a:solidFill>
                  <a:srgbClr val="000000"/>
                </a:solidFill>
                <a:effectLst/>
                <a:uLnTx/>
                <a:uFillTx/>
                <a:latin typeface="楷体" panose="02010609060101010101" charset="-122"/>
                <a:ea typeface="楷体" panose="02010609060101010101" charset="-122"/>
              </a:endParaRPr>
            </a:p>
          </p:txBody>
        </p:sp>
        <p:cxnSp>
          <p:nvCxnSpPr>
            <p:cNvPr id="3" name="直接连接符 2"/>
            <p:cNvCxnSpPr>
              <a:stCxn id="29" idx="2"/>
              <a:endCxn id="30" idx="0"/>
            </p:cNvCxnSpPr>
            <p:nvPr/>
          </p:nvCxnSpPr>
          <p:spPr>
            <a:xfrm>
              <a:off x="7188" y="3238"/>
              <a:ext cx="12" cy="1562"/>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a:stCxn id="30" idx="1"/>
              <a:endCxn id="31" idx="0"/>
            </p:cNvCxnSpPr>
            <p:nvPr>
              <p:custDataLst>
                <p:tags r:id="rId1"/>
              </p:custDataLst>
            </p:nvPr>
          </p:nvCxnSpPr>
          <p:spPr>
            <a:xfrm flipH="1">
              <a:off x="4876" y="5400"/>
              <a:ext cx="1124" cy="216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a:stCxn id="30" idx="3"/>
              <a:endCxn id="37" idx="0"/>
            </p:cNvCxnSpPr>
            <p:nvPr>
              <p:custDataLst>
                <p:tags r:id="rId2"/>
              </p:custDataLst>
            </p:nvPr>
          </p:nvCxnSpPr>
          <p:spPr>
            <a:xfrm>
              <a:off x="8400" y="5400"/>
              <a:ext cx="1068" cy="216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9" name="页脚占位符 8"/>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r>
              <a:rPr lang="en-US" altLang="zh-CN" dirty="0"/>
              <a:t>5</a:t>
            </a:r>
            <a:r>
              <a:rPr lang="zh-CN" altLang="en-US" dirty="0"/>
              <a:t>）</a:t>
            </a:r>
            <a:endParaRPr lang="zh-CN" altLang="en-US" dirty="0"/>
          </a:p>
        </p:txBody>
      </p:sp>
      <p:sp>
        <p:nvSpPr>
          <p:cNvPr id="4" name="灯片编号占位符 3"/>
          <p:cNvSpPr>
            <a:spLocks noGrp="1"/>
          </p:cNvSpPr>
          <p:nvPr>
            <p:ph type="sldNum" sz="quarter" idx="11"/>
          </p:nvPr>
        </p:nvSpPr>
        <p:spPr>
          <a:xfrm>
            <a:off x="0" y="6695365"/>
            <a:ext cx="4114800" cy="153670"/>
          </a:xfrm>
        </p:spPr>
        <p:txBody>
          <a:bodyPr/>
          <a:lstStyle/>
          <a:p>
            <a:pPr>
              <a:defRPr/>
            </a:pPr>
            <a:fld id="{759762E9-AABD-478B-B116-8B8B54DC7F1E}" type="slidenum">
              <a:rPr lang="en-US" altLang="zh-CN" smtClean="0"/>
            </a:fld>
            <a:endParaRPr lang="en-US" altLang="zh-CN" dirty="0"/>
          </a:p>
        </p:txBody>
      </p:sp>
      <p:grpSp>
        <p:nvGrpSpPr>
          <p:cNvPr id="3" name="组合 2"/>
          <p:cNvGrpSpPr/>
          <p:nvPr/>
        </p:nvGrpSpPr>
        <p:grpSpPr>
          <a:xfrm>
            <a:off x="1589287" y="827065"/>
            <a:ext cx="8970589" cy="5538175"/>
            <a:chOff x="2503" y="1766"/>
            <a:chExt cx="14127" cy="8722"/>
          </a:xfrm>
        </p:grpSpPr>
        <p:sp>
          <p:nvSpPr>
            <p:cNvPr id="36" name="Line 8"/>
            <p:cNvSpPr>
              <a:spLocks noChangeShapeType="1"/>
            </p:cNvSpPr>
            <p:nvPr/>
          </p:nvSpPr>
          <p:spPr bwMode="auto">
            <a:xfrm flipH="1" flipV="1">
              <a:off x="13239" y="7688"/>
              <a:ext cx="3005" cy="159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 name="Oval 13"/>
            <p:cNvSpPr>
              <a:spLocks noChangeArrowheads="1"/>
            </p:cNvSpPr>
            <p:nvPr/>
          </p:nvSpPr>
          <p:spPr bwMode="auto">
            <a:xfrm>
              <a:off x="5858" y="176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u="sng" kern="0" dirty="0">
                  <a:solidFill>
                    <a:srgbClr val="000000"/>
                  </a:solidFill>
                </a:rPr>
                <a:t>商店编号</a:t>
              </a:r>
              <a:endParaRPr kumimoji="0" lang="zh-CN" altLang="en-US" sz="1800" b="1"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 name="Oval 13"/>
            <p:cNvSpPr>
              <a:spLocks noChangeArrowheads="1"/>
            </p:cNvSpPr>
            <p:nvPr/>
          </p:nvSpPr>
          <p:spPr bwMode="auto">
            <a:xfrm>
              <a:off x="10109" y="176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地址</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Text Box 5"/>
            <p:cNvSpPr txBox="1">
              <a:spLocks noChangeArrowheads="1"/>
            </p:cNvSpPr>
            <p:nvPr/>
          </p:nvSpPr>
          <p:spPr bwMode="auto">
            <a:xfrm>
              <a:off x="4766" y="7538"/>
              <a:ext cx="2040" cy="580"/>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商品</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3" name="Oval 13"/>
            <p:cNvSpPr>
              <a:spLocks noChangeArrowheads="1"/>
            </p:cNvSpPr>
            <p:nvPr/>
          </p:nvSpPr>
          <p:spPr bwMode="auto">
            <a:xfrm>
              <a:off x="2567" y="8769"/>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u="sng" kern="0" dirty="0">
                  <a:solidFill>
                    <a:srgbClr val="000000"/>
                  </a:solidFill>
                </a:rPr>
                <a:t>商品号</a:t>
              </a:r>
              <a:endParaRPr kumimoji="0" lang="zh-CN" altLang="en-US" sz="1800" b="1"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6" name="Oval 13"/>
            <p:cNvSpPr>
              <a:spLocks noChangeArrowheads="1"/>
            </p:cNvSpPr>
            <p:nvPr/>
          </p:nvSpPr>
          <p:spPr bwMode="auto">
            <a:xfrm>
              <a:off x="7296" y="9563"/>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单价</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Line 8"/>
            <p:cNvSpPr>
              <a:spLocks noChangeShapeType="1"/>
            </p:cNvSpPr>
            <p:nvPr/>
          </p:nvSpPr>
          <p:spPr bwMode="auto">
            <a:xfrm flipH="1" flipV="1">
              <a:off x="6806" y="2635"/>
              <a:ext cx="2106" cy="4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Line 8"/>
            <p:cNvSpPr>
              <a:spLocks noChangeShapeType="1"/>
            </p:cNvSpPr>
            <p:nvPr/>
          </p:nvSpPr>
          <p:spPr bwMode="auto">
            <a:xfrm flipH="1">
              <a:off x="8880" y="2635"/>
              <a:ext cx="2194" cy="4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Line 8"/>
            <p:cNvSpPr>
              <a:spLocks noChangeShapeType="1"/>
            </p:cNvSpPr>
            <p:nvPr/>
          </p:nvSpPr>
          <p:spPr bwMode="auto">
            <a:xfrm flipH="1" flipV="1">
              <a:off x="8912" y="2602"/>
              <a:ext cx="0" cy="49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Line 8"/>
            <p:cNvSpPr>
              <a:spLocks noChangeShapeType="1"/>
            </p:cNvSpPr>
            <p:nvPr/>
          </p:nvSpPr>
          <p:spPr bwMode="auto">
            <a:xfrm flipV="1">
              <a:off x="3555" y="8118"/>
              <a:ext cx="2303" cy="6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Line 8"/>
            <p:cNvSpPr>
              <a:spLocks noChangeShapeType="1"/>
            </p:cNvSpPr>
            <p:nvPr/>
          </p:nvSpPr>
          <p:spPr bwMode="auto">
            <a:xfrm flipV="1">
              <a:off x="4560" y="8119"/>
              <a:ext cx="1298" cy="172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7" name="Line 8"/>
            <p:cNvSpPr>
              <a:spLocks noChangeShapeType="1"/>
            </p:cNvSpPr>
            <p:nvPr/>
          </p:nvSpPr>
          <p:spPr bwMode="auto">
            <a:xfrm flipH="1" flipV="1">
              <a:off x="5834" y="8119"/>
              <a:ext cx="477" cy="67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Line 8"/>
            <p:cNvSpPr>
              <a:spLocks noChangeShapeType="1"/>
            </p:cNvSpPr>
            <p:nvPr/>
          </p:nvSpPr>
          <p:spPr bwMode="auto">
            <a:xfrm flipH="1" flipV="1">
              <a:off x="5835" y="8119"/>
              <a:ext cx="2904" cy="14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5" name="Oval 13"/>
            <p:cNvSpPr>
              <a:spLocks noChangeArrowheads="1"/>
            </p:cNvSpPr>
            <p:nvPr/>
          </p:nvSpPr>
          <p:spPr bwMode="auto">
            <a:xfrm>
              <a:off x="5404" y="8797"/>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规格</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9" name="Text Box 5"/>
            <p:cNvSpPr txBox="1">
              <a:spLocks noChangeArrowheads="1"/>
            </p:cNvSpPr>
            <p:nvPr/>
          </p:nvSpPr>
          <p:spPr bwMode="auto">
            <a:xfrm>
              <a:off x="12170" y="7108"/>
              <a:ext cx="2040" cy="580"/>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职工</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0" name="Oval 13"/>
            <p:cNvSpPr>
              <a:spLocks noChangeArrowheads="1"/>
            </p:cNvSpPr>
            <p:nvPr/>
          </p:nvSpPr>
          <p:spPr bwMode="auto">
            <a:xfrm>
              <a:off x="9970" y="829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u="sng" kern="0" dirty="0">
                  <a:solidFill>
                    <a:srgbClr val="000000"/>
                  </a:solidFill>
                </a:rPr>
                <a:t>职工编号</a:t>
              </a:r>
              <a:endParaRPr kumimoji="0" lang="zh-CN" altLang="en-US" sz="1800" b="1"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Oval 13"/>
            <p:cNvSpPr>
              <a:spLocks noChangeArrowheads="1"/>
            </p:cNvSpPr>
            <p:nvPr/>
          </p:nvSpPr>
          <p:spPr bwMode="auto">
            <a:xfrm>
              <a:off x="10958" y="9367"/>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姓名</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Oval 13"/>
            <p:cNvSpPr>
              <a:spLocks noChangeArrowheads="1"/>
            </p:cNvSpPr>
            <p:nvPr/>
          </p:nvSpPr>
          <p:spPr bwMode="auto">
            <a:xfrm>
              <a:off x="14620" y="910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业</a:t>
              </a: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绩</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3" name="Line 8"/>
            <p:cNvSpPr>
              <a:spLocks noChangeShapeType="1"/>
            </p:cNvSpPr>
            <p:nvPr/>
          </p:nvSpPr>
          <p:spPr bwMode="auto">
            <a:xfrm flipV="1">
              <a:off x="10958" y="7703"/>
              <a:ext cx="2303" cy="5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4" name="Line 8"/>
            <p:cNvSpPr>
              <a:spLocks noChangeShapeType="1"/>
            </p:cNvSpPr>
            <p:nvPr/>
          </p:nvSpPr>
          <p:spPr bwMode="auto">
            <a:xfrm flipV="1">
              <a:off x="11964" y="7703"/>
              <a:ext cx="1298" cy="16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5" name="Line 8"/>
            <p:cNvSpPr>
              <a:spLocks noChangeShapeType="1"/>
            </p:cNvSpPr>
            <p:nvPr/>
          </p:nvSpPr>
          <p:spPr bwMode="auto">
            <a:xfrm flipH="1" flipV="1">
              <a:off x="13238" y="7703"/>
              <a:ext cx="477" cy="8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7" name="Oval 13"/>
            <p:cNvSpPr>
              <a:spLocks noChangeArrowheads="1"/>
            </p:cNvSpPr>
            <p:nvPr/>
          </p:nvSpPr>
          <p:spPr bwMode="auto">
            <a:xfrm>
              <a:off x="12712" y="851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性别</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8" name="AutoShape 6"/>
            <p:cNvSpPr>
              <a:spLocks noChangeArrowheads="1"/>
            </p:cNvSpPr>
            <p:nvPr/>
          </p:nvSpPr>
          <p:spPr bwMode="auto">
            <a:xfrm>
              <a:off x="4320" y="4680"/>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销售</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39" name="AutoShape 6"/>
            <p:cNvSpPr>
              <a:spLocks noChangeArrowheads="1"/>
            </p:cNvSpPr>
            <p:nvPr/>
          </p:nvSpPr>
          <p:spPr bwMode="auto">
            <a:xfrm>
              <a:off x="11810" y="4518"/>
              <a:ext cx="2400" cy="1200"/>
            </a:xfrm>
            <a:prstGeom prst="diamond">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聘用</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0" name="Oval 13"/>
            <p:cNvSpPr>
              <a:spLocks noChangeArrowheads="1"/>
            </p:cNvSpPr>
            <p:nvPr/>
          </p:nvSpPr>
          <p:spPr bwMode="auto">
            <a:xfrm>
              <a:off x="14590" y="365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月薪</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1" name="Oval 13"/>
            <p:cNvSpPr>
              <a:spLocks noChangeArrowheads="1"/>
            </p:cNvSpPr>
            <p:nvPr/>
          </p:nvSpPr>
          <p:spPr bwMode="auto">
            <a:xfrm>
              <a:off x="14710" y="5466"/>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聘期</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2" name="Oval 13"/>
            <p:cNvSpPr>
              <a:spLocks noChangeArrowheads="1"/>
            </p:cNvSpPr>
            <p:nvPr/>
          </p:nvSpPr>
          <p:spPr bwMode="auto">
            <a:xfrm>
              <a:off x="2503" y="5694"/>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月销量</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4" name="Line 8"/>
            <p:cNvSpPr>
              <a:spLocks noChangeShapeType="1"/>
            </p:cNvSpPr>
            <p:nvPr/>
          </p:nvSpPr>
          <p:spPr bwMode="auto">
            <a:xfrm flipH="1">
              <a:off x="5475" y="3657"/>
              <a:ext cx="3405" cy="102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Line 8"/>
            <p:cNvSpPr>
              <a:spLocks noChangeShapeType="1"/>
            </p:cNvSpPr>
            <p:nvPr/>
          </p:nvSpPr>
          <p:spPr bwMode="auto">
            <a:xfrm>
              <a:off x="8912" y="3677"/>
              <a:ext cx="4090" cy="84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Line 8"/>
            <p:cNvSpPr>
              <a:spLocks noChangeShapeType="1"/>
            </p:cNvSpPr>
            <p:nvPr/>
          </p:nvSpPr>
          <p:spPr bwMode="auto">
            <a:xfrm flipH="1" flipV="1">
              <a:off x="13002" y="5694"/>
              <a:ext cx="113" cy="141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Line 8"/>
            <p:cNvSpPr>
              <a:spLocks noChangeShapeType="1"/>
            </p:cNvSpPr>
            <p:nvPr/>
          </p:nvSpPr>
          <p:spPr bwMode="auto">
            <a:xfrm>
              <a:off x="5518" y="5880"/>
              <a:ext cx="294" cy="16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Line 8"/>
            <p:cNvSpPr>
              <a:spLocks noChangeShapeType="1"/>
            </p:cNvSpPr>
            <p:nvPr/>
          </p:nvSpPr>
          <p:spPr bwMode="auto">
            <a:xfrm flipV="1">
              <a:off x="3476" y="5287"/>
              <a:ext cx="844" cy="3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Line 8"/>
            <p:cNvSpPr>
              <a:spLocks noChangeShapeType="1"/>
            </p:cNvSpPr>
            <p:nvPr/>
          </p:nvSpPr>
          <p:spPr bwMode="auto">
            <a:xfrm flipV="1">
              <a:off x="14168" y="4104"/>
              <a:ext cx="422" cy="101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Line 8"/>
            <p:cNvSpPr>
              <a:spLocks noChangeShapeType="1"/>
            </p:cNvSpPr>
            <p:nvPr/>
          </p:nvSpPr>
          <p:spPr bwMode="auto">
            <a:xfrm>
              <a:off x="14168" y="5114"/>
              <a:ext cx="560" cy="6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Text Box 18"/>
            <p:cNvSpPr txBox="1">
              <a:spLocks noChangeArrowheads="1"/>
            </p:cNvSpPr>
            <p:nvPr/>
          </p:nvSpPr>
          <p:spPr bwMode="auto">
            <a:xfrm>
              <a:off x="11099" y="4222"/>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2" name="Text Box 23"/>
            <p:cNvSpPr txBox="1">
              <a:spLocks noChangeArrowheads="1"/>
            </p:cNvSpPr>
            <p:nvPr/>
          </p:nvSpPr>
          <p:spPr bwMode="auto">
            <a:xfrm>
              <a:off x="12313" y="6033"/>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n</a:t>
              </a:r>
              <a:endPar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3" name="Text Box 23"/>
            <p:cNvSpPr txBox="1">
              <a:spLocks noChangeArrowheads="1"/>
            </p:cNvSpPr>
            <p:nvPr/>
          </p:nvSpPr>
          <p:spPr bwMode="auto">
            <a:xfrm>
              <a:off x="5800" y="6301"/>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n</a:t>
              </a:r>
              <a:endPar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4" name="Text Box 19"/>
            <p:cNvSpPr txBox="1">
              <a:spLocks noChangeArrowheads="1"/>
            </p:cNvSpPr>
            <p:nvPr/>
          </p:nvSpPr>
          <p:spPr bwMode="auto">
            <a:xfrm>
              <a:off x="6518" y="3749"/>
              <a:ext cx="60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m</a:t>
              </a:r>
              <a:endParaRPr kumimoji="0" lang="en-US" altLang="zh-CN"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4" name="Oval 13"/>
            <p:cNvSpPr>
              <a:spLocks noChangeArrowheads="1"/>
            </p:cNvSpPr>
            <p:nvPr/>
          </p:nvSpPr>
          <p:spPr bwMode="auto">
            <a:xfrm>
              <a:off x="3715" y="9648"/>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商品名</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7" name="Oval 13"/>
            <p:cNvSpPr>
              <a:spLocks noChangeArrowheads="1"/>
            </p:cNvSpPr>
            <p:nvPr/>
          </p:nvSpPr>
          <p:spPr bwMode="auto">
            <a:xfrm>
              <a:off x="8012" y="1795"/>
              <a:ext cx="1920" cy="84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商店名</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 name="Text Box 5"/>
            <p:cNvSpPr txBox="1">
              <a:spLocks noChangeArrowheads="1"/>
            </p:cNvSpPr>
            <p:nvPr/>
          </p:nvSpPr>
          <p:spPr bwMode="auto">
            <a:xfrm>
              <a:off x="7892" y="3097"/>
              <a:ext cx="2040" cy="580"/>
            </a:xfrm>
            <a:prstGeom prst="rect">
              <a:avLst/>
            </a:prstGeom>
            <a:solidFill>
              <a:srgbClr val="BBE0E3"/>
            </a:solidFill>
            <a:ln w="9525">
              <a:solidFill>
                <a:srgbClr val="00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b="1" kern="0" dirty="0">
                  <a:solidFill>
                    <a:srgbClr val="000000"/>
                  </a:solidFill>
                </a:rPr>
                <a:t>商店</a:t>
              </a:r>
              <a:endPar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10" name="页脚占位符 9"/>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p:txBody>
          <a:bodyPr wrap="square" tIns="0" bIns="0" anchor="ctr"/>
          <a:p>
            <a:pPr eaLnBrk="1" hangingPunct="1"/>
            <a:r>
              <a:rPr lang="en-US" altLang="zh-CN">
                <a:sym typeface="+mn-ea"/>
              </a:rPr>
              <a:t>1.2.3  </a:t>
            </a:r>
            <a:r>
              <a:rPr lang="zh-CN" altLang="en-US">
                <a:sym typeface="+mn-ea"/>
              </a:rPr>
              <a:t>数据模型的组成</a:t>
            </a:r>
            <a:r>
              <a:rPr lang="zh-CN" altLang="en-US">
                <a:sym typeface="+mn-ea"/>
              </a:rPr>
              <a:t>要素</a:t>
            </a:r>
            <a:endParaRPr lang="zh-CN" altLang="en-US">
              <a:sym typeface="+mn-ea"/>
            </a:endParaRPr>
          </a:p>
        </p:txBody>
      </p:sp>
      <p:sp>
        <p:nvSpPr>
          <p:cNvPr id="8195" name="Rectangle 3"/>
          <p:cNvSpPr>
            <a:spLocks noGrp="1"/>
          </p:cNvSpPr>
          <p:nvPr>
            <p:ph idx="1"/>
          </p:nvPr>
        </p:nvSpPr>
        <p:spPr>
          <a:xfrm>
            <a:off x="424180" y="687070"/>
            <a:ext cx="11343005" cy="1640840"/>
          </a:xfrm>
        </p:spPr>
        <p:txBody>
          <a:bodyPr wrap="square" anchor="t">
            <a:spAutoFit/>
          </a:bodyPr>
          <a:p>
            <a:pPr eaLnBrk="1" hangingPunct="1">
              <a:lnSpc>
                <a:spcPct val="110000"/>
              </a:lnSpc>
              <a:spcBef>
                <a:spcPts val="1000"/>
              </a:spcBef>
            </a:pPr>
            <a:r>
              <a:rPr lang="zh-CN" altLang="en-US" sz="2800" dirty="0">
                <a:solidFill>
                  <a:srgbClr val="FF0000"/>
                </a:solidFill>
              </a:rPr>
              <a:t>数据模型</a:t>
            </a:r>
            <a:r>
              <a:rPr lang="zh-CN" altLang="en-US" sz="2800" dirty="0"/>
              <a:t>（</a:t>
            </a:r>
            <a:r>
              <a:rPr lang="en-US" altLang="x-none" sz="2800" dirty="0"/>
              <a:t>data model）</a:t>
            </a:r>
            <a:endParaRPr lang="en-US" altLang="x-none" sz="2800" dirty="0"/>
          </a:p>
          <a:p>
            <a:pPr lvl="1" eaLnBrk="1" hangingPunct="1">
              <a:lnSpc>
                <a:spcPct val="110000"/>
              </a:lnSpc>
              <a:spcBef>
                <a:spcPts val="1000"/>
              </a:spcBef>
            </a:pPr>
            <a:r>
              <a:rPr lang="zh-CN" altLang="en-US" sz="2800" dirty="0"/>
              <a:t>用于描述数据的</a:t>
            </a:r>
            <a:r>
              <a:rPr lang="zh-CN" altLang="en-US" sz="2800" dirty="0"/>
              <a:t>组织结构，定义在该数据结构上可以执行的操作，以及数据之间必须满足的约束条件。</a:t>
            </a:r>
            <a:endParaRPr lang="zh-CN" altLang="en-US" sz="2800" dirty="0"/>
          </a:p>
        </p:txBody>
      </p:sp>
      <p:grpSp>
        <p:nvGrpSpPr>
          <p:cNvPr id="8198" name="组合 8197"/>
          <p:cNvGrpSpPr/>
          <p:nvPr/>
        </p:nvGrpSpPr>
        <p:grpSpPr>
          <a:xfrm>
            <a:off x="6781800" y="3746500"/>
            <a:ext cx="1905000" cy="1752600"/>
            <a:chOff x="0" y="0"/>
            <a:chExt cx="1200" cy="1104"/>
          </a:xfrm>
        </p:grpSpPr>
        <p:sp>
          <p:nvSpPr>
            <p:cNvPr id="3" name="Rectangle 38"/>
            <p:cNvSpPr/>
            <p:nvPr/>
          </p:nvSpPr>
          <p:spPr>
            <a:xfrm>
              <a:off x="0" y="0"/>
              <a:ext cx="1200" cy="1104"/>
            </a:xfrm>
            <a:prstGeom prst="rect">
              <a:avLst/>
            </a:prstGeom>
            <a:solidFill>
              <a:srgbClr val="EAEAEA"/>
            </a:solidFill>
            <a:ln w="9525">
              <a:noFill/>
            </a:ln>
          </p:spPr>
          <p:txBody>
            <a:bodyPr wrap="none" anchor="ctr"/>
            <a:p>
              <a:pPr algn="ctr"/>
              <a:endParaRPr lang="zh-CN" altLang="en-US" sz="2800" dirty="0">
                <a:latin typeface="楷体" panose="02010609060101010101" charset="-122"/>
                <a:ea typeface="楷体" panose="02010609060101010101" charset="-122"/>
              </a:endParaRPr>
            </a:p>
          </p:txBody>
        </p:sp>
        <p:grpSp>
          <p:nvGrpSpPr>
            <p:cNvPr id="8199" name="组合 8199"/>
            <p:cNvGrpSpPr/>
            <p:nvPr/>
          </p:nvGrpSpPr>
          <p:grpSpPr>
            <a:xfrm>
              <a:off x="96" y="96"/>
              <a:ext cx="1008" cy="912"/>
              <a:chOff x="0" y="0"/>
              <a:chExt cx="2468" cy="2012"/>
            </a:xfrm>
          </p:grpSpPr>
          <p:sp>
            <p:nvSpPr>
              <p:cNvPr id="8200" name="Rectangle 6"/>
              <p:cNvSpPr/>
              <p:nvPr/>
            </p:nvSpPr>
            <p:spPr>
              <a:xfrm>
                <a:off x="0" y="591"/>
                <a:ext cx="1644" cy="1421"/>
              </a:xfrm>
              <a:prstGeom prst="rect">
                <a:avLst/>
              </a:prstGeom>
              <a:solidFill>
                <a:srgbClr val="EAEAEA"/>
              </a:solidFill>
              <a:ln w="3175" cap="flat" cmpd="sng">
                <a:solidFill>
                  <a:schemeClr val="tx1"/>
                </a:solidFill>
                <a:prstDash val="solid"/>
                <a:miter/>
                <a:headEnd type="none" w="med" len="med"/>
                <a:tailEnd type="none" w="med" len="med"/>
              </a:ln>
            </p:spPr>
            <p:txBody>
              <a:bodyPr anchor="t"/>
              <a:p>
                <a:pPr algn="ctr"/>
                <a:endParaRPr lang="zh-CN" altLang="en-US" sz="2800" dirty="0">
                  <a:latin typeface="楷体" panose="02010609060101010101" charset="-122"/>
                  <a:ea typeface="楷体" panose="02010609060101010101" charset="-122"/>
                </a:endParaRPr>
              </a:p>
            </p:txBody>
          </p:sp>
          <p:sp>
            <p:nvSpPr>
              <p:cNvPr id="8201" name="Line 7"/>
              <p:cNvSpPr/>
              <p:nvPr/>
            </p:nvSpPr>
            <p:spPr>
              <a:xfrm flipH="1">
                <a:off x="0" y="828"/>
                <a:ext cx="1644" cy="1"/>
              </a:xfrm>
              <a:prstGeom prst="line">
                <a:avLst/>
              </a:prstGeom>
              <a:ln w="3175" cap="flat" cmpd="sng">
                <a:solidFill>
                  <a:schemeClr val="tx1"/>
                </a:solidFill>
                <a:prstDash val="solid"/>
                <a:round/>
                <a:headEnd type="none" w="med" len="med"/>
                <a:tailEnd type="none" w="med" len="med"/>
              </a:ln>
            </p:spPr>
          </p:sp>
          <p:sp>
            <p:nvSpPr>
              <p:cNvPr id="8202" name="Line 8"/>
              <p:cNvSpPr/>
              <p:nvPr/>
            </p:nvSpPr>
            <p:spPr>
              <a:xfrm flipH="1">
                <a:off x="0" y="1065"/>
                <a:ext cx="1644" cy="1"/>
              </a:xfrm>
              <a:prstGeom prst="line">
                <a:avLst/>
              </a:prstGeom>
              <a:ln w="3175" cap="flat" cmpd="sng">
                <a:solidFill>
                  <a:schemeClr val="tx1"/>
                </a:solidFill>
                <a:prstDash val="solid"/>
                <a:round/>
                <a:headEnd type="none" w="med" len="med"/>
                <a:tailEnd type="none" w="med" len="med"/>
              </a:ln>
            </p:spPr>
          </p:sp>
          <p:sp>
            <p:nvSpPr>
              <p:cNvPr id="8203" name="Line 9"/>
              <p:cNvSpPr/>
              <p:nvPr/>
            </p:nvSpPr>
            <p:spPr>
              <a:xfrm flipH="1">
                <a:off x="0" y="1302"/>
                <a:ext cx="1644" cy="1"/>
              </a:xfrm>
              <a:prstGeom prst="line">
                <a:avLst/>
              </a:prstGeom>
              <a:ln w="3175" cap="flat" cmpd="sng">
                <a:solidFill>
                  <a:schemeClr val="tx1"/>
                </a:solidFill>
                <a:prstDash val="solid"/>
                <a:round/>
                <a:headEnd type="none" w="med" len="med"/>
                <a:tailEnd type="none" w="med" len="med"/>
              </a:ln>
            </p:spPr>
          </p:sp>
          <p:sp>
            <p:nvSpPr>
              <p:cNvPr id="8204" name="Line 10"/>
              <p:cNvSpPr/>
              <p:nvPr/>
            </p:nvSpPr>
            <p:spPr>
              <a:xfrm flipH="1">
                <a:off x="0" y="1539"/>
                <a:ext cx="1644" cy="1"/>
              </a:xfrm>
              <a:prstGeom prst="line">
                <a:avLst/>
              </a:prstGeom>
              <a:ln w="3175" cap="flat" cmpd="sng">
                <a:solidFill>
                  <a:schemeClr val="tx1"/>
                </a:solidFill>
                <a:prstDash val="solid"/>
                <a:round/>
                <a:headEnd type="none" w="med" len="med"/>
                <a:tailEnd type="none" w="med" len="med"/>
              </a:ln>
            </p:spPr>
          </p:sp>
          <p:sp>
            <p:nvSpPr>
              <p:cNvPr id="8205" name="Line 11"/>
              <p:cNvSpPr/>
              <p:nvPr/>
            </p:nvSpPr>
            <p:spPr>
              <a:xfrm flipH="1">
                <a:off x="0" y="1775"/>
                <a:ext cx="1644" cy="1"/>
              </a:xfrm>
              <a:prstGeom prst="line">
                <a:avLst/>
              </a:prstGeom>
              <a:ln w="3175" cap="flat" cmpd="sng">
                <a:solidFill>
                  <a:schemeClr val="tx1"/>
                </a:solidFill>
                <a:prstDash val="solid"/>
                <a:round/>
                <a:headEnd type="none" w="med" len="med"/>
                <a:tailEnd type="none" w="med" len="med"/>
              </a:ln>
            </p:spPr>
          </p:sp>
          <p:sp>
            <p:nvSpPr>
              <p:cNvPr id="8206" name="Line 12"/>
              <p:cNvSpPr/>
              <p:nvPr/>
            </p:nvSpPr>
            <p:spPr>
              <a:xfrm>
                <a:off x="274" y="591"/>
                <a:ext cx="1" cy="1421"/>
              </a:xfrm>
              <a:prstGeom prst="line">
                <a:avLst/>
              </a:prstGeom>
              <a:ln w="3175" cap="flat" cmpd="sng">
                <a:solidFill>
                  <a:schemeClr val="tx1"/>
                </a:solidFill>
                <a:prstDash val="solid"/>
                <a:round/>
                <a:headEnd type="none" w="med" len="med"/>
                <a:tailEnd type="none" w="med" len="med"/>
              </a:ln>
            </p:spPr>
          </p:sp>
          <p:sp>
            <p:nvSpPr>
              <p:cNvPr id="8207" name="Line 13"/>
              <p:cNvSpPr/>
              <p:nvPr/>
            </p:nvSpPr>
            <p:spPr>
              <a:xfrm>
                <a:off x="548" y="591"/>
                <a:ext cx="1" cy="1421"/>
              </a:xfrm>
              <a:prstGeom prst="line">
                <a:avLst/>
              </a:prstGeom>
              <a:ln w="3175" cap="flat" cmpd="sng">
                <a:solidFill>
                  <a:schemeClr val="tx1"/>
                </a:solidFill>
                <a:prstDash val="solid"/>
                <a:round/>
                <a:headEnd type="none" w="med" len="med"/>
                <a:tailEnd type="none" w="med" len="med"/>
              </a:ln>
            </p:spPr>
          </p:sp>
          <p:sp>
            <p:nvSpPr>
              <p:cNvPr id="8208" name="Line 14"/>
              <p:cNvSpPr/>
              <p:nvPr/>
            </p:nvSpPr>
            <p:spPr>
              <a:xfrm>
                <a:off x="822" y="591"/>
                <a:ext cx="1" cy="1421"/>
              </a:xfrm>
              <a:prstGeom prst="line">
                <a:avLst/>
              </a:prstGeom>
              <a:ln w="3175" cap="flat" cmpd="sng">
                <a:solidFill>
                  <a:schemeClr val="tx1"/>
                </a:solidFill>
                <a:prstDash val="solid"/>
                <a:round/>
                <a:headEnd type="none" w="med" len="med"/>
                <a:tailEnd type="none" w="med" len="med"/>
              </a:ln>
            </p:spPr>
          </p:sp>
          <p:sp>
            <p:nvSpPr>
              <p:cNvPr id="8209" name="Line 15"/>
              <p:cNvSpPr/>
              <p:nvPr/>
            </p:nvSpPr>
            <p:spPr>
              <a:xfrm>
                <a:off x="1096" y="591"/>
                <a:ext cx="1" cy="1421"/>
              </a:xfrm>
              <a:prstGeom prst="line">
                <a:avLst/>
              </a:prstGeom>
              <a:ln w="3175" cap="flat" cmpd="sng">
                <a:solidFill>
                  <a:schemeClr val="tx1"/>
                </a:solidFill>
                <a:prstDash val="solid"/>
                <a:round/>
                <a:headEnd type="none" w="med" len="med"/>
                <a:tailEnd type="none" w="med" len="med"/>
              </a:ln>
            </p:spPr>
          </p:sp>
          <p:sp>
            <p:nvSpPr>
              <p:cNvPr id="8210" name="Line 16"/>
              <p:cNvSpPr/>
              <p:nvPr/>
            </p:nvSpPr>
            <p:spPr>
              <a:xfrm>
                <a:off x="1370" y="591"/>
                <a:ext cx="1" cy="1421"/>
              </a:xfrm>
              <a:prstGeom prst="line">
                <a:avLst/>
              </a:prstGeom>
              <a:ln w="3175" cap="flat" cmpd="sng">
                <a:solidFill>
                  <a:schemeClr val="tx1"/>
                </a:solidFill>
                <a:prstDash val="solid"/>
                <a:round/>
                <a:headEnd type="none" w="med" len="med"/>
                <a:tailEnd type="none" w="med" len="med"/>
              </a:ln>
            </p:spPr>
          </p:sp>
          <p:sp>
            <p:nvSpPr>
              <p:cNvPr id="8211" name="Line 17"/>
              <p:cNvSpPr/>
              <p:nvPr/>
            </p:nvSpPr>
            <p:spPr>
              <a:xfrm flipH="1">
                <a:off x="0" y="0"/>
                <a:ext cx="822" cy="591"/>
              </a:xfrm>
              <a:prstGeom prst="line">
                <a:avLst/>
              </a:prstGeom>
              <a:ln w="3175" cap="flat" cmpd="sng">
                <a:solidFill>
                  <a:schemeClr val="tx1"/>
                </a:solidFill>
                <a:prstDash val="solid"/>
                <a:round/>
                <a:headEnd type="none" w="med" len="med"/>
                <a:tailEnd type="none" w="med" len="med"/>
              </a:ln>
            </p:spPr>
          </p:sp>
          <p:sp>
            <p:nvSpPr>
              <p:cNvPr id="8212" name="Line 18"/>
              <p:cNvSpPr/>
              <p:nvPr/>
            </p:nvSpPr>
            <p:spPr>
              <a:xfrm flipH="1">
                <a:off x="1644" y="0"/>
                <a:ext cx="823" cy="591"/>
              </a:xfrm>
              <a:prstGeom prst="line">
                <a:avLst/>
              </a:prstGeom>
              <a:ln w="3175" cap="flat" cmpd="sng">
                <a:solidFill>
                  <a:schemeClr val="tx1"/>
                </a:solidFill>
                <a:prstDash val="solid"/>
                <a:round/>
                <a:headEnd type="none" w="med" len="med"/>
                <a:tailEnd type="none" w="med" len="med"/>
              </a:ln>
            </p:spPr>
          </p:sp>
          <p:sp>
            <p:nvSpPr>
              <p:cNvPr id="8213" name="Line 19"/>
              <p:cNvSpPr/>
              <p:nvPr/>
            </p:nvSpPr>
            <p:spPr>
              <a:xfrm flipH="1">
                <a:off x="1644" y="1420"/>
                <a:ext cx="823" cy="592"/>
              </a:xfrm>
              <a:prstGeom prst="line">
                <a:avLst/>
              </a:prstGeom>
              <a:ln w="3175" cap="flat" cmpd="sng">
                <a:solidFill>
                  <a:schemeClr val="tx1"/>
                </a:solidFill>
                <a:prstDash val="solid"/>
                <a:round/>
                <a:headEnd type="none" w="med" len="med"/>
                <a:tailEnd type="none" w="med" len="med"/>
              </a:ln>
            </p:spPr>
          </p:sp>
          <p:sp>
            <p:nvSpPr>
              <p:cNvPr id="8214" name="Line 20"/>
              <p:cNvSpPr/>
              <p:nvPr/>
            </p:nvSpPr>
            <p:spPr>
              <a:xfrm flipH="1">
                <a:off x="822" y="0"/>
                <a:ext cx="1645" cy="1"/>
              </a:xfrm>
              <a:prstGeom prst="line">
                <a:avLst/>
              </a:prstGeom>
              <a:ln w="3175" cap="flat" cmpd="sng">
                <a:solidFill>
                  <a:schemeClr val="tx1"/>
                </a:solidFill>
                <a:prstDash val="solid"/>
                <a:round/>
                <a:headEnd type="none" w="med" len="med"/>
                <a:tailEnd type="none" w="med" len="med"/>
              </a:ln>
            </p:spPr>
          </p:sp>
          <p:sp>
            <p:nvSpPr>
              <p:cNvPr id="8215" name="Line 21"/>
              <p:cNvSpPr/>
              <p:nvPr/>
            </p:nvSpPr>
            <p:spPr>
              <a:xfrm flipH="1">
                <a:off x="685" y="118"/>
                <a:ext cx="1645" cy="1"/>
              </a:xfrm>
              <a:prstGeom prst="line">
                <a:avLst/>
              </a:prstGeom>
              <a:ln w="3175" cap="flat" cmpd="sng">
                <a:solidFill>
                  <a:schemeClr val="tx1"/>
                </a:solidFill>
                <a:prstDash val="solid"/>
                <a:round/>
                <a:headEnd type="none" w="med" len="med"/>
                <a:tailEnd type="none" w="med" len="med"/>
              </a:ln>
            </p:spPr>
          </p:sp>
          <p:sp>
            <p:nvSpPr>
              <p:cNvPr id="8216" name="Line 22"/>
              <p:cNvSpPr/>
              <p:nvPr/>
            </p:nvSpPr>
            <p:spPr>
              <a:xfrm flipH="1">
                <a:off x="411" y="295"/>
                <a:ext cx="1644" cy="1"/>
              </a:xfrm>
              <a:prstGeom prst="line">
                <a:avLst/>
              </a:prstGeom>
              <a:ln w="3175" cap="flat" cmpd="sng">
                <a:solidFill>
                  <a:schemeClr val="tx1"/>
                </a:solidFill>
                <a:prstDash val="solid"/>
                <a:round/>
                <a:headEnd type="none" w="med" len="med"/>
                <a:tailEnd type="none" w="med" len="med"/>
              </a:ln>
            </p:spPr>
          </p:sp>
          <p:sp>
            <p:nvSpPr>
              <p:cNvPr id="8217" name="Line 23"/>
              <p:cNvSpPr/>
              <p:nvPr/>
            </p:nvSpPr>
            <p:spPr>
              <a:xfrm flipH="1">
                <a:off x="205" y="473"/>
                <a:ext cx="1644" cy="1"/>
              </a:xfrm>
              <a:prstGeom prst="line">
                <a:avLst/>
              </a:prstGeom>
              <a:ln w="3175" cap="flat" cmpd="sng">
                <a:solidFill>
                  <a:schemeClr val="tx1"/>
                </a:solidFill>
                <a:prstDash val="solid"/>
                <a:round/>
                <a:headEnd type="none" w="med" len="med"/>
                <a:tailEnd type="none" w="med" len="med"/>
              </a:ln>
            </p:spPr>
          </p:sp>
          <p:sp>
            <p:nvSpPr>
              <p:cNvPr id="8218" name="Line 24"/>
              <p:cNvSpPr/>
              <p:nvPr/>
            </p:nvSpPr>
            <p:spPr>
              <a:xfrm>
                <a:off x="2467" y="0"/>
                <a:ext cx="1" cy="1420"/>
              </a:xfrm>
              <a:prstGeom prst="line">
                <a:avLst/>
              </a:prstGeom>
              <a:ln w="3175" cap="flat" cmpd="sng">
                <a:solidFill>
                  <a:schemeClr val="tx1"/>
                </a:solidFill>
                <a:prstDash val="solid"/>
                <a:round/>
                <a:headEnd type="none" w="med" len="med"/>
                <a:tailEnd type="none" w="med" len="med"/>
              </a:ln>
            </p:spPr>
          </p:sp>
          <p:sp>
            <p:nvSpPr>
              <p:cNvPr id="8219" name="Line 25"/>
              <p:cNvSpPr/>
              <p:nvPr/>
            </p:nvSpPr>
            <p:spPr>
              <a:xfrm>
                <a:off x="1849" y="473"/>
                <a:ext cx="1" cy="1421"/>
              </a:xfrm>
              <a:prstGeom prst="line">
                <a:avLst/>
              </a:prstGeom>
              <a:ln w="3175" cap="flat" cmpd="sng">
                <a:solidFill>
                  <a:schemeClr val="tx1"/>
                </a:solidFill>
                <a:prstDash val="solid"/>
                <a:round/>
                <a:headEnd type="none" w="med" len="med"/>
                <a:tailEnd type="none" w="med" len="med"/>
              </a:ln>
            </p:spPr>
          </p:sp>
          <p:sp>
            <p:nvSpPr>
              <p:cNvPr id="8220" name="Line 26"/>
              <p:cNvSpPr/>
              <p:nvPr/>
            </p:nvSpPr>
            <p:spPr>
              <a:xfrm>
                <a:off x="2330" y="118"/>
                <a:ext cx="1" cy="1421"/>
              </a:xfrm>
              <a:prstGeom prst="line">
                <a:avLst/>
              </a:prstGeom>
              <a:ln w="3175" cap="flat" cmpd="sng">
                <a:solidFill>
                  <a:schemeClr val="tx1"/>
                </a:solidFill>
                <a:prstDash val="solid"/>
                <a:round/>
                <a:headEnd type="none" w="med" len="med"/>
                <a:tailEnd type="none" w="med" len="med"/>
              </a:ln>
            </p:spPr>
          </p:sp>
          <p:sp>
            <p:nvSpPr>
              <p:cNvPr id="8221" name="Line 27"/>
              <p:cNvSpPr/>
              <p:nvPr/>
            </p:nvSpPr>
            <p:spPr>
              <a:xfrm>
                <a:off x="2055" y="295"/>
                <a:ext cx="1" cy="1420"/>
              </a:xfrm>
              <a:prstGeom prst="line">
                <a:avLst/>
              </a:prstGeom>
              <a:ln w="3175" cap="flat" cmpd="sng">
                <a:solidFill>
                  <a:schemeClr val="tx1"/>
                </a:solidFill>
                <a:prstDash val="solid"/>
                <a:round/>
                <a:headEnd type="none" w="med" len="med"/>
                <a:tailEnd type="none" w="med" len="med"/>
              </a:ln>
            </p:spPr>
          </p:sp>
          <p:sp>
            <p:nvSpPr>
              <p:cNvPr id="8222" name="Line 28"/>
              <p:cNvSpPr/>
              <p:nvPr/>
            </p:nvSpPr>
            <p:spPr>
              <a:xfrm flipH="1">
                <a:off x="274" y="0"/>
                <a:ext cx="822" cy="591"/>
              </a:xfrm>
              <a:prstGeom prst="line">
                <a:avLst/>
              </a:prstGeom>
              <a:ln w="3175" cap="flat" cmpd="sng">
                <a:solidFill>
                  <a:schemeClr val="tx1"/>
                </a:solidFill>
                <a:prstDash val="solid"/>
                <a:round/>
                <a:headEnd type="none" w="med" len="med"/>
                <a:tailEnd type="none" w="med" len="med"/>
              </a:ln>
            </p:spPr>
          </p:sp>
          <p:sp>
            <p:nvSpPr>
              <p:cNvPr id="8223" name="Line 29"/>
              <p:cNvSpPr/>
              <p:nvPr/>
            </p:nvSpPr>
            <p:spPr>
              <a:xfrm flipH="1">
                <a:off x="548" y="0"/>
                <a:ext cx="822" cy="591"/>
              </a:xfrm>
              <a:prstGeom prst="line">
                <a:avLst/>
              </a:prstGeom>
              <a:ln w="3175" cap="flat" cmpd="sng">
                <a:solidFill>
                  <a:schemeClr val="tx1"/>
                </a:solidFill>
                <a:prstDash val="solid"/>
                <a:round/>
                <a:headEnd type="none" w="med" len="med"/>
                <a:tailEnd type="none" w="med" len="med"/>
              </a:ln>
            </p:spPr>
          </p:sp>
          <p:sp>
            <p:nvSpPr>
              <p:cNvPr id="8224" name="Line 30"/>
              <p:cNvSpPr/>
              <p:nvPr/>
            </p:nvSpPr>
            <p:spPr>
              <a:xfrm flipH="1">
                <a:off x="822" y="0"/>
                <a:ext cx="822" cy="591"/>
              </a:xfrm>
              <a:prstGeom prst="line">
                <a:avLst/>
              </a:prstGeom>
              <a:ln w="3175" cap="flat" cmpd="sng">
                <a:solidFill>
                  <a:schemeClr val="tx1"/>
                </a:solidFill>
                <a:prstDash val="solid"/>
                <a:round/>
                <a:headEnd type="none" w="med" len="med"/>
                <a:tailEnd type="none" w="med" len="med"/>
              </a:ln>
            </p:spPr>
          </p:sp>
          <p:sp>
            <p:nvSpPr>
              <p:cNvPr id="8225" name="Line 31"/>
              <p:cNvSpPr/>
              <p:nvPr/>
            </p:nvSpPr>
            <p:spPr>
              <a:xfrm flipH="1">
                <a:off x="1096" y="0"/>
                <a:ext cx="822" cy="591"/>
              </a:xfrm>
              <a:prstGeom prst="line">
                <a:avLst/>
              </a:prstGeom>
              <a:ln w="3175" cap="flat" cmpd="sng">
                <a:solidFill>
                  <a:schemeClr val="tx1"/>
                </a:solidFill>
                <a:prstDash val="solid"/>
                <a:round/>
                <a:headEnd type="none" w="med" len="med"/>
                <a:tailEnd type="none" w="med" len="med"/>
              </a:ln>
            </p:spPr>
          </p:sp>
          <p:sp>
            <p:nvSpPr>
              <p:cNvPr id="8226" name="Line 32"/>
              <p:cNvSpPr/>
              <p:nvPr/>
            </p:nvSpPr>
            <p:spPr>
              <a:xfrm flipH="1">
                <a:off x="1370" y="0"/>
                <a:ext cx="822" cy="591"/>
              </a:xfrm>
              <a:prstGeom prst="line">
                <a:avLst/>
              </a:prstGeom>
              <a:ln w="3175" cap="flat" cmpd="sng">
                <a:solidFill>
                  <a:schemeClr val="tx1"/>
                </a:solidFill>
                <a:prstDash val="solid"/>
                <a:round/>
                <a:headEnd type="none" w="med" len="med"/>
                <a:tailEnd type="none" w="med" len="med"/>
              </a:ln>
            </p:spPr>
          </p:sp>
          <p:sp>
            <p:nvSpPr>
              <p:cNvPr id="8227" name="Line 33"/>
              <p:cNvSpPr/>
              <p:nvPr/>
            </p:nvSpPr>
            <p:spPr>
              <a:xfrm flipH="1">
                <a:off x="1644" y="236"/>
                <a:ext cx="823" cy="592"/>
              </a:xfrm>
              <a:prstGeom prst="line">
                <a:avLst/>
              </a:prstGeom>
              <a:ln w="3175" cap="flat" cmpd="sng">
                <a:solidFill>
                  <a:schemeClr val="tx1"/>
                </a:solidFill>
                <a:prstDash val="solid"/>
                <a:round/>
                <a:headEnd type="none" w="med" len="med"/>
                <a:tailEnd type="none" w="med" len="med"/>
              </a:ln>
            </p:spPr>
          </p:sp>
          <p:sp>
            <p:nvSpPr>
              <p:cNvPr id="8228" name="Line 34"/>
              <p:cNvSpPr/>
              <p:nvPr/>
            </p:nvSpPr>
            <p:spPr>
              <a:xfrm flipH="1">
                <a:off x="1644" y="473"/>
                <a:ext cx="823" cy="592"/>
              </a:xfrm>
              <a:prstGeom prst="line">
                <a:avLst/>
              </a:prstGeom>
              <a:ln w="3175" cap="flat" cmpd="sng">
                <a:solidFill>
                  <a:schemeClr val="tx1"/>
                </a:solidFill>
                <a:prstDash val="solid"/>
                <a:round/>
                <a:headEnd type="none" w="med" len="med"/>
                <a:tailEnd type="none" w="med" len="med"/>
              </a:ln>
            </p:spPr>
          </p:sp>
          <p:sp>
            <p:nvSpPr>
              <p:cNvPr id="8229" name="Line 35"/>
              <p:cNvSpPr/>
              <p:nvPr/>
            </p:nvSpPr>
            <p:spPr>
              <a:xfrm flipH="1">
                <a:off x="1644" y="710"/>
                <a:ext cx="823" cy="592"/>
              </a:xfrm>
              <a:prstGeom prst="line">
                <a:avLst/>
              </a:prstGeom>
              <a:ln w="3175" cap="flat" cmpd="sng">
                <a:solidFill>
                  <a:schemeClr val="tx1"/>
                </a:solidFill>
                <a:prstDash val="solid"/>
                <a:round/>
                <a:headEnd type="none" w="med" len="med"/>
                <a:tailEnd type="none" w="med" len="med"/>
              </a:ln>
            </p:spPr>
          </p:sp>
          <p:sp>
            <p:nvSpPr>
              <p:cNvPr id="8230" name="Line 36"/>
              <p:cNvSpPr/>
              <p:nvPr/>
            </p:nvSpPr>
            <p:spPr>
              <a:xfrm flipH="1">
                <a:off x="1644" y="947"/>
                <a:ext cx="823" cy="592"/>
              </a:xfrm>
              <a:prstGeom prst="line">
                <a:avLst/>
              </a:prstGeom>
              <a:ln w="3175" cap="flat" cmpd="sng">
                <a:solidFill>
                  <a:schemeClr val="tx1"/>
                </a:solidFill>
                <a:prstDash val="solid"/>
                <a:round/>
                <a:headEnd type="none" w="med" len="med"/>
                <a:tailEnd type="none" w="med" len="med"/>
              </a:ln>
            </p:spPr>
          </p:sp>
          <p:sp>
            <p:nvSpPr>
              <p:cNvPr id="8231" name="Line 37"/>
              <p:cNvSpPr/>
              <p:nvPr/>
            </p:nvSpPr>
            <p:spPr>
              <a:xfrm flipH="1">
                <a:off x="1644" y="1183"/>
                <a:ext cx="823" cy="592"/>
              </a:xfrm>
              <a:prstGeom prst="line">
                <a:avLst/>
              </a:prstGeom>
              <a:ln w="3175" cap="flat" cmpd="sng">
                <a:solidFill>
                  <a:schemeClr val="tx1"/>
                </a:solidFill>
                <a:prstDash val="solid"/>
                <a:round/>
                <a:headEnd type="none" w="med" len="med"/>
                <a:tailEnd type="none" w="med" len="med"/>
              </a:ln>
            </p:spPr>
          </p:sp>
        </p:grpSp>
        <p:sp>
          <p:nvSpPr>
            <p:cNvPr id="8232" name="Text Box 4"/>
            <p:cNvSpPr txBox="1"/>
            <p:nvPr/>
          </p:nvSpPr>
          <p:spPr>
            <a:xfrm>
              <a:off x="0" y="525"/>
              <a:ext cx="1048" cy="329"/>
            </a:xfrm>
            <a:prstGeom prst="rect">
              <a:avLst/>
            </a:prstGeom>
            <a:solidFill>
              <a:schemeClr val="bg1">
                <a:alpha val="50000"/>
              </a:schemeClr>
            </a:solidFill>
            <a:ln w="9525">
              <a:noFill/>
            </a:ln>
          </p:spPr>
          <p:txBody>
            <a:bodyPr wrap="square" anchor="t">
              <a:spAutoFit/>
            </a:bodyPr>
            <a:p>
              <a:pPr algn="ctr">
                <a:spcBef>
                  <a:spcPct val="50000"/>
                </a:spcBef>
              </a:pPr>
              <a:r>
                <a:rPr lang="zh-CN" altLang="en-US" sz="2800" b="1" dirty="0">
                  <a:solidFill>
                    <a:srgbClr val="FF0000"/>
                  </a:solidFill>
                  <a:effectLst>
                    <a:outerShdw blurRad="38100" dist="38100" dir="2700000" algn="tl">
                      <a:srgbClr val="000000">
                        <a:alpha val="43137"/>
                      </a:srgbClr>
                    </a:outerShdw>
                  </a:effectLst>
                  <a:latin typeface="楷体" panose="02010609060101010101" charset="-122"/>
                  <a:ea typeface="楷体" panose="02010609060101010101" charset="-122"/>
                </a:rPr>
                <a:t>数据结构</a:t>
              </a:r>
              <a:endParaRPr lang="zh-CN" altLang="en-US" sz="2800" b="1" dirty="0">
                <a:solidFill>
                  <a:srgbClr val="FF0000"/>
                </a:solidFill>
                <a:effectLst>
                  <a:outerShdw blurRad="38100" dist="38100" dir="2700000" algn="tl">
                    <a:srgbClr val="000000">
                      <a:alpha val="43137"/>
                    </a:srgbClr>
                  </a:outerShdw>
                </a:effectLst>
                <a:latin typeface="楷体" panose="02010609060101010101" charset="-122"/>
                <a:ea typeface="楷体" panose="02010609060101010101" charset="-122"/>
              </a:endParaRPr>
            </a:p>
          </p:txBody>
        </p:sp>
      </p:grpSp>
      <p:grpSp>
        <p:nvGrpSpPr>
          <p:cNvPr id="8234" name="组合 8233"/>
          <p:cNvGrpSpPr/>
          <p:nvPr/>
        </p:nvGrpSpPr>
        <p:grpSpPr>
          <a:xfrm>
            <a:off x="8763000" y="3870325"/>
            <a:ext cx="1047750" cy="1814513"/>
            <a:chOff x="0" y="0"/>
            <a:chExt cx="660" cy="1143"/>
          </a:xfrm>
        </p:grpSpPr>
        <p:sp>
          <p:nvSpPr>
            <p:cNvPr id="4" name="Text Box 41"/>
            <p:cNvSpPr txBox="1"/>
            <p:nvPr/>
          </p:nvSpPr>
          <p:spPr>
            <a:xfrm>
              <a:off x="372" y="0"/>
              <a:ext cx="288" cy="1143"/>
            </a:xfrm>
            <a:prstGeom prst="rect">
              <a:avLst/>
            </a:prstGeom>
            <a:noFill/>
            <a:ln w="9525">
              <a:noFill/>
            </a:ln>
          </p:spPr>
          <p:txBody>
            <a:bodyPr anchor="t">
              <a:spAutoFit/>
            </a:bodyPr>
            <a:p>
              <a:pPr algn="ctr">
                <a:spcBef>
                  <a:spcPct val="50000"/>
                </a:spcBef>
              </a:pPr>
              <a:r>
                <a:rPr lang="zh-CN" altLang="en-US" sz="2800" b="1" dirty="0">
                  <a:solidFill>
                    <a:srgbClr val="FF0000"/>
                  </a:solidFill>
                  <a:latin typeface="楷体" panose="02010609060101010101" charset="-122"/>
                  <a:ea typeface="楷体" panose="02010609060101010101" charset="-122"/>
                </a:rPr>
                <a:t>数据约束</a:t>
              </a:r>
              <a:endParaRPr lang="zh-CN" altLang="en-US" sz="2800" b="1" dirty="0">
                <a:solidFill>
                  <a:srgbClr val="FF0000"/>
                </a:solidFill>
                <a:latin typeface="楷体" panose="02010609060101010101" charset="-122"/>
                <a:ea typeface="楷体" panose="02010609060101010101" charset="-122"/>
              </a:endParaRPr>
            </a:p>
          </p:txBody>
        </p:sp>
        <p:sp>
          <p:nvSpPr>
            <p:cNvPr id="8235" name="AutoShape 44"/>
            <p:cNvSpPr/>
            <p:nvPr/>
          </p:nvSpPr>
          <p:spPr>
            <a:xfrm>
              <a:off x="0" y="450"/>
              <a:ext cx="336" cy="96"/>
            </a:xfrm>
            <a:prstGeom prst="leftArrow">
              <a:avLst>
                <a:gd name="adj1" fmla="val 50000"/>
                <a:gd name="adj2" fmla="val 87500"/>
              </a:avLst>
            </a:prstGeom>
            <a:solidFill>
              <a:schemeClr val="accent1"/>
            </a:solidFill>
            <a:ln w="9525" cap="flat" cmpd="sng">
              <a:solidFill>
                <a:schemeClr val="tx1"/>
              </a:solidFill>
              <a:prstDash val="solid"/>
              <a:miter/>
              <a:headEnd type="none" w="med" len="med"/>
              <a:tailEnd type="none" w="med" len="med"/>
            </a:ln>
          </p:spPr>
          <p:txBody>
            <a:bodyPr wrap="none" anchor="ctr"/>
            <a:p>
              <a:pPr algn="ctr"/>
              <a:endParaRPr lang="zh-CN" altLang="en-US" sz="2800" dirty="0">
                <a:latin typeface="楷体" panose="02010609060101010101" charset="-122"/>
                <a:ea typeface="楷体" panose="02010609060101010101" charset="-122"/>
              </a:endParaRPr>
            </a:p>
          </p:txBody>
        </p:sp>
      </p:grpSp>
      <p:grpSp>
        <p:nvGrpSpPr>
          <p:cNvPr id="8237" name="组合 8236"/>
          <p:cNvGrpSpPr/>
          <p:nvPr/>
        </p:nvGrpSpPr>
        <p:grpSpPr>
          <a:xfrm>
            <a:off x="6781800" y="2689225"/>
            <a:ext cx="1905000" cy="981075"/>
            <a:chOff x="0" y="-42"/>
            <a:chExt cx="1200" cy="618"/>
          </a:xfrm>
        </p:grpSpPr>
        <p:sp>
          <p:nvSpPr>
            <p:cNvPr id="5" name="AutoShape 46"/>
            <p:cNvSpPr/>
            <p:nvPr/>
          </p:nvSpPr>
          <p:spPr>
            <a:xfrm>
              <a:off x="528" y="288"/>
              <a:ext cx="96" cy="288"/>
            </a:xfrm>
            <a:prstGeom prst="downArrow">
              <a:avLst>
                <a:gd name="adj1" fmla="val 50000"/>
                <a:gd name="adj2" fmla="val 75000"/>
              </a:avLst>
            </a:prstGeom>
            <a:solidFill>
              <a:schemeClr val="accent1"/>
            </a:solidFill>
            <a:ln w="9525" cap="flat" cmpd="sng">
              <a:solidFill>
                <a:schemeClr val="tx1"/>
              </a:solidFill>
              <a:prstDash val="solid"/>
              <a:miter/>
              <a:headEnd type="none" w="med" len="med"/>
              <a:tailEnd type="none" w="med" len="med"/>
            </a:ln>
          </p:spPr>
          <p:txBody>
            <a:bodyPr wrap="none" anchor="ctr"/>
            <a:p>
              <a:pPr algn="ctr"/>
              <a:endParaRPr lang="zh-CN" altLang="en-US" sz="2800" dirty="0">
                <a:latin typeface="楷体" panose="02010609060101010101" charset="-122"/>
                <a:ea typeface="楷体" panose="02010609060101010101" charset="-122"/>
              </a:endParaRPr>
            </a:p>
          </p:txBody>
        </p:sp>
        <p:sp>
          <p:nvSpPr>
            <p:cNvPr id="8238" name="Text Box 47"/>
            <p:cNvSpPr txBox="1"/>
            <p:nvPr/>
          </p:nvSpPr>
          <p:spPr>
            <a:xfrm>
              <a:off x="0" y="-42"/>
              <a:ext cx="1200" cy="329"/>
            </a:xfrm>
            <a:prstGeom prst="rect">
              <a:avLst/>
            </a:prstGeom>
            <a:noFill/>
            <a:ln w="9525">
              <a:noFill/>
            </a:ln>
          </p:spPr>
          <p:txBody>
            <a:bodyPr anchor="t">
              <a:spAutoFit/>
            </a:bodyPr>
            <a:p>
              <a:pPr algn="ctr">
                <a:spcBef>
                  <a:spcPct val="50000"/>
                </a:spcBef>
              </a:pPr>
              <a:r>
                <a:rPr lang="zh-CN" altLang="en-US" sz="2800" b="1" dirty="0">
                  <a:solidFill>
                    <a:srgbClr val="FF0000"/>
                  </a:solidFill>
                  <a:latin typeface="楷体" panose="02010609060101010101" charset="-122"/>
                  <a:ea typeface="楷体" panose="02010609060101010101" charset="-122"/>
                </a:rPr>
                <a:t>数据操作</a:t>
              </a:r>
              <a:endParaRPr lang="zh-CN" altLang="en-US" sz="2800" b="1" dirty="0">
                <a:solidFill>
                  <a:srgbClr val="FF0000"/>
                </a:solidFill>
                <a:latin typeface="楷体" panose="02010609060101010101" charset="-122"/>
                <a:ea typeface="楷体" panose="02010609060101010101" charset="-122"/>
              </a:endParaRPr>
            </a:p>
          </p:txBody>
        </p:sp>
      </p:grpSp>
      <p:sp>
        <p:nvSpPr>
          <p:cNvPr id="6" name="Rectangle 3"/>
          <p:cNvSpPr>
            <a:spLocks noGrp="1"/>
          </p:cNvSpPr>
          <p:nvPr/>
        </p:nvSpPr>
        <p:spPr>
          <a:xfrm>
            <a:off x="424180" y="2806700"/>
            <a:ext cx="5215890" cy="2416175"/>
          </a:xfrm>
          <a:prstGeom prst="rect">
            <a:avLst/>
          </a:prstGeom>
          <a:noFill/>
          <a:ln w="9525">
            <a:noFill/>
          </a:ln>
        </p:spPr>
        <p:txBody>
          <a:bodyPr wrap="square" anchor="t">
            <a:spAutoFit/>
          </a:bodyPr>
          <a:lstStyle>
            <a:lvl1pPr marL="342900" lvl="0" indent="-342900" algn="l" defTabSz="914400" eaLnBrk="0" fontAlgn="base" latinLnBrk="0" hangingPunct="0">
              <a:lnSpc>
                <a:spcPct val="12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9pPr>
          </a:lstStyle>
          <a:p>
            <a:pPr lvl="1" eaLnBrk="1" hangingPunct="1">
              <a:buClr>
                <a:srgbClr val="C00000"/>
              </a:buClr>
              <a:buSzPct val="85000"/>
            </a:pPr>
            <a:r>
              <a:rPr lang="zh-CN" altLang="en-US" sz="2800" dirty="0">
                <a:solidFill>
                  <a:srgbClr val="1F2DA8"/>
                </a:solidFill>
                <a:latin typeface="楷体" panose="02010609060101010101" charset="-122"/>
                <a:ea typeface="楷体" panose="02010609060101010101" charset="-122"/>
              </a:rPr>
              <a:t>数据模型的组成要素</a:t>
            </a:r>
            <a:endParaRPr lang="zh-CN" altLang="en-US" sz="2800" dirty="0">
              <a:latin typeface="楷体" panose="02010609060101010101" charset="-122"/>
              <a:ea typeface="楷体" panose="02010609060101010101" charset="-122"/>
            </a:endParaRPr>
          </a:p>
          <a:p>
            <a:pPr lvl="2" eaLnBrk="1" hangingPunct="1">
              <a:buClr>
                <a:srgbClr val="C00000"/>
              </a:buClr>
              <a:buSzPct val="85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rPr>
              <a:t>数据结构</a:t>
            </a:r>
            <a:endParaRPr lang="zh-CN" altLang="en-US" sz="2800" dirty="0">
              <a:solidFill>
                <a:srgbClr val="FF0000"/>
              </a:solidFill>
              <a:latin typeface="楷体" panose="02010609060101010101" charset="-122"/>
              <a:ea typeface="楷体" panose="02010609060101010101" charset="-122"/>
            </a:endParaRPr>
          </a:p>
          <a:p>
            <a:pPr lvl="2" eaLnBrk="1" hangingPunct="1">
              <a:buClr>
                <a:srgbClr val="C00000"/>
              </a:buClr>
              <a:buSzPct val="85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rPr>
              <a:t>数据操作</a:t>
            </a:r>
            <a:endParaRPr lang="zh-CN" altLang="en-US" sz="2800" dirty="0">
              <a:solidFill>
                <a:srgbClr val="FF0000"/>
              </a:solidFill>
              <a:latin typeface="楷体" panose="02010609060101010101" charset="-122"/>
              <a:ea typeface="楷体" panose="02010609060101010101" charset="-122"/>
            </a:endParaRPr>
          </a:p>
          <a:p>
            <a:pPr lvl="2" eaLnBrk="1" hangingPunct="1">
              <a:buClr>
                <a:srgbClr val="C00000"/>
              </a:buClr>
              <a:buSzPct val="85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rPr>
              <a:t>数据约束</a:t>
            </a:r>
            <a:endParaRPr lang="zh-CN" altLang="en-US" sz="2800" dirty="0">
              <a:solidFill>
                <a:srgbClr val="FF0000"/>
              </a:solidFill>
              <a:latin typeface="楷体" panose="02010609060101010101" charset="-122"/>
              <a:ea typeface="楷体" panose="02010609060101010101" charset="-122"/>
            </a:endParaRPr>
          </a:p>
        </p:txBody>
      </p:sp>
      <p:sp>
        <p:nvSpPr>
          <p:cNvPr id="2" name="灯片编号占位符 1"/>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7" name="页脚占位符 6"/>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zh-CN" altLang="en-US" dirty="0"/>
              <a:t>数据模型的组成要素（</a:t>
            </a:r>
            <a:r>
              <a:rPr lang="en-US" altLang="zh-CN" dirty="0"/>
              <a:t>1</a:t>
            </a:r>
            <a:r>
              <a:rPr lang="zh-CN" altLang="en-US" dirty="0"/>
              <a:t>）</a:t>
            </a:r>
            <a:r>
              <a:rPr lang="en-US" altLang="zh-CN" dirty="0"/>
              <a:t> -  </a:t>
            </a:r>
            <a:r>
              <a:rPr lang="zh-CN" altLang="en-US" dirty="0"/>
              <a:t>数据结构</a:t>
            </a:r>
            <a:endParaRPr lang="zh-CN" altLang="en-US" dirty="0"/>
          </a:p>
        </p:txBody>
      </p:sp>
      <p:sp>
        <p:nvSpPr>
          <p:cNvPr id="68611" name="Rectangle 3"/>
          <p:cNvSpPr>
            <a:spLocks noGrp="1" noChangeArrowheads="1"/>
          </p:cNvSpPr>
          <p:nvPr>
            <p:ph idx="1"/>
          </p:nvPr>
        </p:nvSpPr>
        <p:spPr/>
        <p:txBody>
          <a:bodyPr/>
          <a:lstStyle/>
          <a:p>
            <a:pPr>
              <a:lnSpc>
                <a:spcPct val="100000"/>
              </a:lnSpc>
              <a:spcBef>
                <a:spcPct val="0"/>
              </a:spcBef>
            </a:pPr>
            <a:r>
              <a:rPr lang="zh-CN" altLang="en-US" dirty="0"/>
              <a:t>数据模型的数据结构</a:t>
            </a:r>
            <a:endParaRPr lang="zh-CN" altLang="en-US" dirty="0"/>
          </a:p>
          <a:p>
            <a:pPr lvl="1">
              <a:lnSpc>
                <a:spcPct val="100000"/>
              </a:lnSpc>
              <a:spcBef>
                <a:spcPct val="0"/>
              </a:spcBef>
            </a:pPr>
            <a:r>
              <a:rPr lang="zh-CN" altLang="en-US" dirty="0"/>
              <a:t>描述数据库的组成对象，以及对象之间的联系</a:t>
            </a:r>
            <a:endParaRPr lang="zh-CN" altLang="en-US" dirty="0"/>
          </a:p>
          <a:p>
            <a:pPr>
              <a:lnSpc>
                <a:spcPct val="100000"/>
              </a:lnSpc>
            </a:pPr>
            <a:r>
              <a:rPr lang="zh-CN" altLang="en-US" dirty="0"/>
              <a:t>描述的内容</a:t>
            </a:r>
            <a:endParaRPr lang="zh-CN" altLang="en-US" dirty="0"/>
          </a:p>
          <a:p>
            <a:pPr lvl="1">
              <a:lnSpc>
                <a:spcPct val="100000"/>
              </a:lnSpc>
              <a:spcBef>
                <a:spcPct val="0"/>
              </a:spcBef>
            </a:pPr>
            <a:r>
              <a:rPr lang="zh-CN" altLang="en-US" dirty="0"/>
              <a:t>与对象的类型、内容、性质有关</a:t>
            </a:r>
            <a:endParaRPr lang="zh-CN" altLang="en-US" dirty="0"/>
          </a:p>
          <a:p>
            <a:pPr lvl="1">
              <a:lnSpc>
                <a:spcPct val="100000"/>
              </a:lnSpc>
              <a:spcBef>
                <a:spcPct val="0"/>
              </a:spcBef>
            </a:pPr>
            <a:r>
              <a:rPr lang="zh-CN" altLang="en-US" dirty="0"/>
              <a:t>与数据之间联系有关</a:t>
            </a:r>
            <a:endParaRPr lang="zh-CN" altLang="en-US" dirty="0"/>
          </a:p>
          <a:p>
            <a:pPr>
              <a:lnSpc>
                <a:spcPct val="100000"/>
              </a:lnSpc>
            </a:pPr>
            <a:r>
              <a:rPr lang="zh-CN" altLang="en-US" dirty="0"/>
              <a:t>数据结构是对系统静态特性的描述</a:t>
            </a:r>
            <a:endParaRPr lang="zh-CN" altLang="en-US" dirty="0"/>
          </a:p>
        </p:txBody>
      </p:sp>
      <p:sp>
        <p:nvSpPr>
          <p:cNvPr id="2" name="Rectangle 3"/>
          <p:cNvSpPr>
            <a:spLocks noGrp="1"/>
          </p:cNvSpPr>
          <p:nvPr>
            <p:custDataLst>
              <p:tags r:id="rId1"/>
            </p:custDataLst>
          </p:nvPr>
        </p:nvSpPr>
        <p:spPr>
          <a:xfrm>
            <a:off x="424180" y="4044950"/>
            <a:ext cx="11343005" cy="2417445"/>
          </a:xfrm>
          <a:prstGeom prst="rect">
            <a:avLst/>
          </a:prstGeom>
          <a:noFill/>
          <a:ln w="9525">
            <a:noFill/>
          </a:ln>
        </p:spPr>
        <p:txBody>
          <a:bodyPr wrap="square" anchor="t">
            <a:spAutoFit/>
          </a:bodyPr>
          <a:lstStyle>
            <a:lvl1pPr marL="342900" lvl="0" indent="-342900" algn="l" defTabSz="914400" eaLnBrk="0" fontAlgn="base" latinLnBrk="0" hangingPunct="0">
              <a:lnSpc>
                <a:spcPct val="120000"/>
              </a:lnSpc>
              <a:spcBef>
                <a:spcPct val="20000"/>
              </a:spcBef>
              <a:spcAft>
                <a:spcPct val="0"/>
              </a:spcAft>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20000"/>
              </a:lnSpc>
              <a:spcBef>
                <a:spcPct val="20000"/>
              </a:spcBef>
              <a:spcAft>
                <a:spcPct val="0"/>
              </a:spcAft>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20000"/>
              </a:lnSpc>
              <a:spcBef>
                <a:spcPct val="20000"/>
              </a:spcBef>
              <a:spcAft>
                <a:spcPct val="0"/>
              </a:spcAft>
              <a:buFont typeface="Wingdings" panose="05000000000000000000" pitchFamily="2" charset="2"/>
              <a:buChar char="¤"/>
              <a:defRPr sz="2000" b="1" i="0" u="none" kern="1200" baseline="0">
                <a:solidFill>
                  <a:schemeClr val="accent2"/>
                </a:solidFill>
                <a:latin typeface="+mn-lt"/>
                <a:ea typeface="+mn-ea"/>
                <a:cs typeface="+mn-cs"/>
              </a:defRPr>
            </a:lvl9pPr>
          </a:lstStyle>
          <a:p>
            <a:pPr marL="461010" lvl="2" indent="-457200" eaLnBrk="1" hangingPunct="1">
              <a:lnSpc>
                <a:spcPct val="100000"/>
              </a:lnSpc>
              <a:buClr>
                <a:srgbClr val="C00000"/>
              </a:buClr>
              <a:buSzPct val="85000"/>
              <a:buFont typeface="Wingdings" panose="05000000000000000000" charset="0"/>
              <a:buChar char="q"/>
            </a:pPr>
            <a:r>
              <a:rPr lang="zh-CN" altLang="en-US" sz="2800" dirty="0">
                <a:solidFill>
                  <a:srgbClr val="1F2DA8"/>
                </a:solidFill>
                <a:latin typeface="楷体" panose="02010609060101010101" charset="-122"/>
                <a:ea typeface="楷体" panose="02010609060101010101" charset="-122"/>
                <a:cs typeface="楷体" panose="02010609060101010101" charset="-122"/>
              </a:rPr>
              <a:t>数据结构是一个数据模型的基础，数据操作与数据约束均是建立在相应的数据结构上的。</a:t>
            </a:r>
            <a:endParaRPr lang="zh-CN" altLang="en-US" sz="2800" dirty="0">
              <a:solidFill>
                <a:srgbClr val="1F2DA8"/>
              </a:solidFill>
              <a:latin typeface="楷体" panose="02010609060101010101" charset="-122"/>
              <a:ea typeface="楷体" panose="02010609060101010101" charset="-122"/>
              <a:cs typeface="楷体" panose="02010609060101010101" charset="-122"/>
            </a:endParaRPr>
          </a:p>
          <a:p>
            <a:pPr marL="918210" lvl="3" indent="-457200" eaLnBrk="1" hangingPunct="1">
              <a:lnSpc>
                <a:spcPct val="100000"/>
              </a:lnSpc>
              <a:buClr>
                <a:srgbClr val="C00000"/>
              </a:buClr>
              <a:buSzPct val="85000"/>
              <a:buFont typeface="Wingdings" panose="05000000000000000000" charset="0"/>
              <a:buChar char="q"/>
            </a:pPr>
            <a:r>
              <a:rPr lang="zh-CN" altLang="en-US" sz="2800" dirty="0">
                <a:solidFill>
                  <a:srgbClr val="1F2DA8"/>
                </a:solidFill>
                <a:latin typeface="楷体" panose="02010609060101010101" charset="-122"/>
                <a:ea typeface="楷体" panose="02010609060101010101" charset="-122"/>
                <a:cs typeface="楷体" panose="02010609060101010101" charset="-122"/>
              </a:rPr>
              <a:t>为了便于区别，数据模型中的数据</a:t>
            </a:r>
            <a:r>
              <a:rPr lang="zh-CN" altLang="en-US" sz="2800" dirty="0">
                <a:solidFill>
                  <a:srgbClr val="1F2DA8"/>
                </a:solidFill>
                <a:latin typeface="Times New Roman" panose="02020603050405020304" pitchFamily="2" charset="0"/>
                <a:ea typeface="楷体" panose="02010609060101010101" charset="-122"/>
                <a:cs typeface="Times New Roman" panose="02020603050405020304" pitchFamily="2" charset="0"/>
              </a:rPr>
              <a:t>结构被称为</a:t>
            </a:r>
            <a:r>
              <a:rPr lang="en-US" altLang="zh-CN" sz="2800" dirty="0">
                <a:solidFill>
                  <a:srgbClr val="1F2DA8"/>
                </a:solidFill>
                <a:latin typeface="Times New Roman" panose="02020603050405020304" pitchFamily="2" charset="0"/>
                <a:ea typeface="楷体" panose="02010609060101010101" charset="-122"/>
                <a:cs typeface="Times New Roman" panose="02020603050405020304" pitchFamily="2" charset="0"/>
              </a:rPr>
              <a:t>‘</a:t>
            </a:r>
            <a:r>
              <a:rPr lang="zh-CN" altLang="en-US" sz="2800" dirty="0">
                <a:solidFill>
                  <a:srgbClr val="FF0000"/>
                </a:solidFill>
                <a:latin typeface="Times New Roman" panose="02020603050405020304" pitchFamily="2" charset="0"/>
                <a:ea typeface="楷体" panose="02010609060101010101" charset="-122"/>
                <a:cs typeface="Times New Roman" panose="02020603050405020304" pitchFamily="2" charset="0"/>
              </a:rPr>
              <a:t>数据模式</a:t>
            </a:r>
            <a:r>
              <a:rPr lang="en-US" altLang="zh-CN" sz="2800" dirty="0">
                <a:solidFill>
                  <a:srgbClr val="1F2DA8"/>
                </a:solidFill>
                <a:latin typeface="Times New Roman" panose="02020603050405020304" pitchFamily="2" charset="0"/>
                <a:ea typeface="楷体" panose="02010609060101010101" charset="-122"/>
                <a:cs typeface="Times New Roman" panose="02020603050405020304" pitchFamily="2" charset="0"/>
              </a:rPr>
              <a:t>’ (data schema)</a:t>
            </a:r>
            <a:endParaRPr lang="en-US" altLang="zh-CN" sz="2800"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918210" lvl="3" indent="-457200" eaLnBrk="1" hangingPunct="1">
              <a:lnSpc>
                <a:spcPct val="100000"/>
              </a:lnSpc>
              <a:buClr>
                <a:srgbClr val="C00000"/>
              </a:buClr>
              <a:buSzPct val="85000"/>
              <a:buFont typeface="Wingdings" panose="05000000000000000000" charset="0"/>
              <a:buChar char="q"/>
            </a:pPr>
            <a:r>
              <a:rPr lang="en-US" altLang="zh-CN" sz="2800"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800"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数据模式</a:t>
            </a:r>
            <a:r>
              <a:rPr lang="en-US" altLang="zh-CN" sz="2800"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a:t>
            </a:r>
            <a:r>
              <a:rPr lang="zh-CN" altLang="en-US" sz="2800" dirty="0">
                <a:solidFill>
                  <a:srgbClr val="1F2DA8"/>
                </a:solidFill>
                <a:latin typeface="Times New Roman" panose="02020603050405020304" pitchFamily="2" charset="0"/>
                <a:ea typeface="楷体" panose="02010609060101010101" charset="-122"/>
                <a:cs typeface="Times New Roman" panose="02020603050405020304" pitchFamily="2" charset="0"/>
                <a:sym typeface="+mn-ea"/>
              </a:rPr>
              <a:t>是划分不同类型数据模型的</a:t>
            </a:r>
            <a:r>
              <a:rPr lang="zh-CN" altLang="en-US" sz="2800" dirty="0">
                <a:solidFill>
                  <a:srgbClr val="1F2DA8"/>
                </a:solidFill>
                <a:latin typeface="楷体" panose="02010609060101010101" charset="-122"/>
                <a:ea typeface="楷体" panose="02010609060101010101" charset="-122"/>
                <a:cs typeface="楷体" panose="02010609060101010101" charset="-122"/>
                <a:sym typeface="+mn-ea"/>
              </a:rPr>
              <a:t>依据。</a:t>
            </a:r>
            <a:endParaRPr lang="zh-CN" altLang="en-US" sz="2800" dirty="0">
              <a:solidFill>
                <a:srgbClr val="1F2DA8"/>
              </a:solidFill>
              <a:latin typeface="楷体" panose="02010609060101010101" charset="-122"/>
              <a:ea typeface="楷体" panose="02010609060101010101" charset="-122"/>
              <a:cs typeface="楷体" panose="02010609060101010101" charset="-122"/>
              <a:sym typeface="+mn-ea"/>
            </a:endParaRPr>
          </a:p>
        </p:txBody>
      </p:sp>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dirty="0"/>
              <a:t>数据模型的组成要素（</a:t>
            </a:r>
            <a:r>
              <a:rPr lang="en-US" altLang="zh-CN" dirty="0"/>
              <a:t>2</a:t>
            </a:r>
            <a:r>
              <a:rPr lang="zh-CN" altLang="en-US" dirty="0"/>
              <a:t>）</a:t>
            </a:r>
            <a:r>
              <a:rPr lang="en-US" altLang="zh-CN" dirty="0"/>
              <a:t>-  </a:t>
            </a:r>
            <a:r>
              <a:rPr lang="zh-CN" altLang="en-US" dirty="0"/>
              <a:t>数据操作 </a:t>
            </a:r>
            <a:endParaRPr lang="zh-CN" altLang="en-US" dirty="0"/>
          </a:p>
        </p:txBody>
      </p:sp>
      <p:sp>
        <p:nvSpPr>
          <p:cNvPr id="69635" name="Rectangle 3"/>
          <p:cNvSpPr>
            <a:spLocks noGrp="1" noChangeArrowheads="1"/>
          </p:cNvSpPr>
          <p:nvPr>
            <p:ph idx="1"/>
          </p:nvPr>
        </p:nvSpPr>
        <p:spPr/>
        <p:txBody>
          <a:bodyPr>
            <a:normAutofit/>
          </a:bodyPr>
          <a:lstStyle/>
          <a:p>
            <a:r>
              <a:rPr lang="zh-CN" altLang="en-US" dirty="0"/>
              <a:t>数据操作</a:t>
            </a:r>
            <a:endParaRPr lang="zh-CN" altLang="en-US" dirty="0"/>
          </a:p>
          <a:p>
            <a:pPr lvl="1"/>
            <a:r>
              <a:rPr lang="zh-CN" altLang="en-US" dirty="0"/>
              <a:t>对数据库中各种对象（型）的实例（值）允许执行的操作的集合，包括操作及有关的操作规则</a:t>
            </a:r>
            <a:endParaRPr lang="zh-CN" altLang="en-US" dirty="0"/>
          </a:p>
          <a:p>
            <a:r>
              <a:rPr lang="zh-CN" altLang="en-US" dirty="0"/>
              <a:t>数据操作的类型</a:t>
            </a:r>
            <a:endParaRPr lang="zh-CN" altLang="en-US" dirty="0"/>
          </a:p>
          <a:p>
            <a:pPr lvl="1"/>
            <a:r>
              <a:rPr lang="zh-CN" altLang="en-US" dirty="0"/>
              <a:t>查询</a:t>
            </a:r>
            <a:endParaRPr lang="zh-CN" altLang="en-US" dirty="0"/>
          </a:p>
          <a:p>
            <a:pPr lvl="1"/>
            <a:r>
              <a:rPr lang="zh-CN" altLang="en-US" dirty="0"/>
              <a:t>更新（包括插入、删除、修改）</a:t>
            </a:r>
            <a:endParaRPr lang="en-US" altLang="zh-CN" dirty="0"/>
          </a:p>
          <a:p>
            <a:pPr algn="just" eaLnBrk="1" hangingPunct="1"/>
            <a:r>
              <a:rPr lang="zh-CN" altLang="en-US" dirty="0"/>
              <a:t>数据模型对操作的定义</a:t>
            </a:r>
            <a:endParaRPr lang="zh-CN" altLang="en-US" dirty="0"/>
          </a:p>
          <a:p>
            <a:pPr lvl="1" algn="just" eaLnBrk="1" hangingPunct="1">
              <a:lnSpc>
                <a:spcPct val="130000"/>
              </a:lnSpc>
            </a:pPr>
            <a:r>
              <a:rPr lang="zh-CN" altLang="en-US" dirty="0"/>
              <a:t>操作的确切含义、操作符号、操作规则（如优先级）</a:t>
            </a:r>
            <a:endParaRPr lang="zh-CN" altLang="en-US" dirty="0"/>
          </a:p>
          <a:p>
            <a:pPr lvl="1" algn="just" eaLnBrk="1" hangingPunct="1">
              <a:lnSpc>
                <a:spcPct val="130000"/>
              </a:lnSpc>
            </a:pPr>
            <a:r>
              <a:rPr lang="zh-CN" altLang="en-US" dirty="0"/>
              <a:t>实现操作的语言</a:t>
            </a:r>
            <a:endParaRPr lang="zh-CN" altLang="en-US" dirty="0"/>
          </a:p>
          <a:p>
            <a:pPr algn="just" eaLnBrk="1" hangingPunct="1"/>
            <a:r>
              <a:rPr lang="zh-CN" altLang="en-US" dirty="0"/>
              <a:t>数据操作是对系统动态特性的描述</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5">
                                            <p:txEl>
                                              <p:pRg st="2" end="2"/>
                                            </p:txEl>
                                          </p:spTgt>
                                        </p:tgtEl>
                                        <p:attrNameLst>
                                          <p:attrName>style.visibility</p:attrName>
                                        </p:attrNameLst>
                                      </p:cBhvr>
                                      <p:to>
                                        <p:strVal val="visible"/>
                                      </p:to>
                                    </p:set>
                                    <p:anim calcmode="lin" valueType="num">
                                      <p:cBhvr additive="base">
                                        <p:cTn id="7"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9635">
                                            <p:txEl>
                                              <p:pRg st="3" end="3"/>
                                            </p:txEl>
                                          </p:spTgt>
                                        </p:tgtEl>
                                        <p:attrNameLst>
                                          <p:attrName>style.visibility</p:attrName>
                                        </p:attrNameLst>
                                      </p:cBhvr>
                                      <p:to>
                                        <p:strVal val="visible"/>
                                      </p:to>
                                    </p:set>
                                    <p:anim calcmode="lin" valueType="num">
                                      <p:cBhvr additive="base">
                                        <p:cTn id="11" dur="500" fill="hold"/>
                                        <p:tgtEl>
                                          <p:spTgt spid="6963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963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9635">
                                            <p:txEl>
                                              <p:pRg st="4" end="4"/>
                                            </p:txEl>
                                          </p:spTgt>
                                        </p:tgtEl>
                                        <p:attrNameLst>
                                          <p:attrName>style.visibility</p:attrName>
                                        </p:attrNameLst>
                                      </p:cBhvr>
                                      <p:to>
                                        <p:strVal val="visible"/>
                                      </p:to>
                                    </p:set>
                                    <p:anim calcmode="lin" valueType="num">
                                      <p:cBhvr additive="base">
                                        <p:cTn id="15" dur="500" fill="hold"/>
                                        <p:tgtEl>
                                          <p:spTgt spid="6963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96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9635">
                                            <p:txEl>
                                              <p:pRg st="5" end="5"/>
                                            </p:txEl>
                                          </p:spTgt>
                                        </p:tgtEl>
                                        <p:attrNameLst>
                                          <p:attrName>style.visibility</p:attrName>
                                        </p:attrNameLst>
                                      </p:cBhvr>
                                      <p:to>
                                        <p:strVal val="visible"/>
                                      </p:to>
                                    </p:set>
                                    <p:anim calcmode="lin" valueType="num">
                                      <p:cBhvr additive="base">
                                        <p:cTn id="21" dur="500" fill="hold"/>
                                        <p:tgtEl>
                                          <p:spTgt spid="6963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9635">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9635">
                                            <p:txEl>
                                              <p:pRg st="6" end="6"/>
                                            </p:txEl>
                                          </p:spTgt>
                                        </p:tgtEl>
                                        <p:attrNameLst>
                                          <p:attrName>style.visibility</p:attrName>
                                        </p:attrNameLst>
                                      </p:cBhvr>
                                      <p:to>
                                        <p:strVal val="visible"/>
                                      </p:to>
                                    </p:set>
                                    <p:anim calcmode="lin" valueType="num">
                                      <p:cBhvr additive="base">
                                        <p:cTn id="25" dur="500" fill="hold"/>
                                        <p:tgtEl>
                                          <p:spTgt spid="696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5">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9635">
                                            <p:txEl>
                                              <p:pRg st="7" end="7"/>
                                            </p:txEl>
                                          </p:spTgt>
                                        </p:tgtEl>
                                        <p:attrNameLst>
                                          <p:attrName>style.visibility</p:attrName>
                                        </p:attrNameLst>
                                      </p:cBhvr>
                                      <p:to>
                                        <p:strVal val="visible"/>
                                      </p:to>
                                    </p:set>
                                    <p:anim calcmode="lin" valueType="num">
                                      <p:cBhvr additive="base">
                                        <p:cTn id="29" dur="500" fill="hold"/>
                                        <p:tgtEl>
                                          <p:spTgt spid="6963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96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9635">
                                            <p:txEl>
                                              <p:pRg st="8" end="8"/>
                                            </p:txEl>
                                          </p:spTgt>
                                        </p:tgtEl>
                                        <p:attrNameLst>
                                          <p:attrName>style.visibility</p:attrName>
                                        </p:attrNameLst>
                                      </p:cBhvr>
                                      <p:to>
                                        <p:strVal val="visible"/>
                                      </p:to>
                                    </p:set>
                                    <p:anim calcmode="lin" valueType="num">
                                      <p:cBhvr additive="base">
                                        <p:cTn id="35" dur="500" fill="hold"/>
                                        <p:tgtEl>
                                          <p:spTgt spid="6963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96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dirty="0"/>
              <a:t>数据模型的组成要素（</a:t>
            </a:r>
            <a:r>
              <a:rPr lang="en-US" altLang="zh-CN" dirty="0"/>
              <a:t>3</a:t>
            </a:r>
            <a:r>
              <a:rPr lang="zh-CN" altLang="en-US" dirty="0"/>
              <a:t>）</a:t>
            </a:r>
            <a:r>
              <a:rPr lang="en-US" altLang="zh-CN" dirty="0"/>
              <a:t>-  </a:t>
            </a:r>
            <a:r>
              <a:rPr lang="zh-CN" altLang="en-US" dirty="0"/>
              <a:t>数据的完整性约束条件 </a:t>
            </a:r>
            <a:endParaRPr lang="zh-CN" altLang="en-US" dirty="0"/>
          </a:p>
        </p:txBody>
      </p:sp>
      <p:sp>
        <p:nvSpPr>
          <p:cNvPr id="71683" name="Rectangle 3"/>
          <p:cNvSpPr>
            <a:spLocks noGrp="1" noChangeArrowheads="1"/>
          </p:cNvSpPr>
          <p:nvPr>
            <p:ph idx="1"/>
          </p:nvPr>
        </p:nvSpPr>
        <p:spPr/>
        <p:txBody>
          <a:bodyPr>
            <a:normAutofit/>
          </a:bodyPr>
          <a:lstStyle/>
          <a:p>
            <a:pPr>
              <a:lnSpc>
                <a:spcPct val="110000"/>
              </a:lnSpc>
              <a:spcBef>
                <a:spcPts val="0"/>
              </a:spcBef>
            </a:pPr>
            <a:r>
              <a:rPr lang="zh-CN" altLang="en-US" dirty="0"/>
              <a:t>数据的</a:t>
            </a:r>
            <a:r>
              <a:rPr lang="zh-CN" altLang="en-US"/>
              <a:t>完整性约束条件</a:t>
            </a:r>
            <a:endParaRPr lang="zh-CN" altLang="en-US"/>
          </a:p>
          <a:p>
            <a:pPr lvl="1">
              <a:lnSpc>
                <a:spcPct val="110000"/>
              </a:lnSpc>
              <a:spcBef>
                <a:spcPts val="0"/>
              </a:spcBef>
            </a:pPr>
            <a:r>
              <a:rPr lang="zh-CN" altLang="en-US"/>
              <a:t>一</a:t>
            </a:r>
            <a:r>
              <a:rPr lang="zh-CN" altLang="en-US" dirty="0"/>
              <a:t>组</a:t>
            </a:r>
            <a:r>
              <a:rPr lang="zh-CN" altLang="en-US" dirty="0">
                <a:solidFill>
                  <a:srgbClr val="FF0000"/>
                </a:solidFill>
              </a:rPr>
              <a:t>完整性规则</a:t>
            </a:r>
            <a:r>
              <a:rPr lang="zh-CN" altLang="en-US" dirty="0"/>
              <a:t>的集合</a:t>
            </a:r>
            <a:endParaRPr lang="zh-CN" altLang="en-US" dirty="0"/>
          </a:p>
          <a:p>
            <a:pPr lvl="1">
              <a:lnSpc>
                <a:spcPct val="110000"/>
              </a:lnSpc>
              <a:spcBef>
                <a:spcPts val="0"/>
              </a:spcBef>
            </a:pPr>
            <a:r>
              <a:rPr lang="zh-CN" altLang="en-US" dirty="0">
                <a:solidFill>
                  <a:srgbClr val="FF0000"/>
                </a:solidFill>
              </a:rPr>
              <a:t>完整性规则</a:t>
            </a:r>
            <a:r>
              <a:rPr lang="zh-CN" altLang="en-US" dirty="0"/>
              <a:t>：给定的数据模型中数据及其联系所具有的制约和依存规则</a:t>
            </a:r>
            <a:endParaRPr lang="zh-CN" altLang="en-US" dirty="0"/>
          </a:p>
          <a:p>
            <a:pPr lvl="1">
              <a:lnSpc>
                <a:spcPct val="110000"/>
              </a:lnSpc>
              <a:spcBef>
                <a:spcPts val="0"/>
              </a:spcBef>
            </a:pPr>
            <a:r>
              <a:rPr lang="zh-CN" altLang="en-US" dirty="0"/>
              <a:t>用以限定符合数据模型的数据库状态以及状态的变化，以保证数据的正确、有效和相容</a:t>
            </a:r>
            <a:endParaRPr lang="zh-CN" altLang="en-US" dirty="0"/>
          </a:p>
          <a:p>
            <a:pPr lvl="1">
              <a:lnSpc>
                <a:spcPct val="110000"/>
              </a:lnSpc>
              <a:spcBef>
                <a:spcPts val="0"/>
              </a:spcBef>
            </a:pPr>
            <a:endParaRPr lang="en-US" altLang="zh-CN" dirty="0"/>
          </a:p>
          <a:p>
            <a:pPr>
              <a:lnSpc>
                <a:spcPct val="110000"/>
              </a:lnSpc>
              <a:spcBef>
                <a:spcPts val="0"/>
              </a:spcBef>
            </a:pPr>
            <a:r>
              <a:rPr lang="zh-CN" altLang="en-US" dirty="0"/>
              <a:t>数据模型对完整性约束条件的定义</a:t>
            </a:r>
            <a:endParaRPr lang="zh-CN" altLang="en-US" dirty="0"/>
          </a:p>
          <a:p>
            <a:pPr lvl="1">
              <a:lnSpc>
                <a:spcPct val="110000"/>
              </a:lnSpc>
              <a:spcBef>
                <a:spcPts val="0"/>
              </a:spcBef>
            </a:pPr>
            <a:r>
              <a:rPr lang="zh-CN" altLang="en-US" dirty="0"/>
              <a:t>反映和规定</a:t>
            </a:r>
            <a:r>
              <a:rPr lang="zh-CN" altLang="en-US" dirty="0">
                <a:solidFill>
                  <a:srgbClr val="C00000"/>
                </a:solidFill>
              </a:rPr>
              <a:t>必须遵守的基本的通用的</a:t>
            </a:r>
            <a:r>
              <a:rPr lang="zh-CN" altLang="en-US" dirty="0"/>
              <a:t>完整性约束条件。</a:t>
            </a:r>
            <a:endParaRPr lang="zh-CN" altLang="en-US" dirty="0"/>
          </a:p>
          <a:p>
            <a:pPr lvl="1">
              <a:lnSpc>
                <a:spcPct val="110000"/>
              </a:lnSpc>
              <a:spcBef>
                <a:spcPts val="0"/>
              </a:spcBef>
            </a:pPr>
            <a:r>
              <a:rPr lang="zh-CN" altLang="en-US" dirty="0"/>
              <a:t>提供定义完整性约束条件的机制，以反映</a:t>
            </a:r>
            <a:r>
              <a:rPr lang="zh-CN" altLang="en-US" dirty="0">
                <a:solidFill>
                  <a:srgbClr val="C00000"/>
                </a:solidFill>
              </a:rPr>
              <a:t>具体应用所涉及</a:t>
            </a:r>
            <a:r>
              <a:rPr lang="zh-CN" altLang="en-US" dirty="0"/>
              <a:t>的数据必须遵守的特定的语义约束条件。</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683">
                                            <p:txEl>
                                              <p:pRg st="5" end="5"/>
                                            </p:txEl>
                                          </p:spTgt>
                                        </p:tgtEl>
                                        <p:attrNameLst>
                                          <p:attrName>style.visibility</p:attrName>
                                        </p:attrNameLst>
                                      </p:cBhvr>
                                      <p:to>
                                        <p:strVal val="visible"/>
                                      </p:to>
                                    </p:set>
                                    <p:animEffect transition="in" filter="blinds(horizontal)">
                                      <p:cBhvr>
                                        <p:cTn id="7" dur="500"/>
                                        <p:tgtEl>
                                          <p:spTgt spid="7168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683">
                                            <p:txEl>
                                              <p:pRg st="6" end="6"/>
                                            </p:txEl>
                                          </p:spTgt>
                                        </p:tgtEl>
                                        <p:attrNameLst>
                                          <p:attrName>style.visibility</p:attrName>
                                        </p:attrNameLst>
                                      </p:cBhvr>
                                      <p:to>
                                        <p:strVal val="visible"/>
                                      </p:to>
                                    </p:set>
                                    <p:animEffect transition="in" filter="blinds(horizontal)">
                                      <p:cBhvr>
                                        <p:cTn id="10" dur="500"/>
                                        <p:tgtEl>
                                          <p:spTgt spid="71683">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683">
                                            <p:txEl>
                                              <p:pRg st="7" end="7"/>
                                            </p:txEl>
                                          </p:spTgt>
                                        </p:tgtEl>
                                        <p:attrNameLst>
                                          <p:attrName>style.visibility</p:attrName>
                                        </p:attrNameLst>
                                      </p:cBhvr>
                                      <p:to>
                                        <p:strVal val="visible"/>
                                      </p:to>
                                    </p:set>
                                    <p:animEffect transition="in" filter="blinds(horizontal)">
                                      <p:cBhvr>
                                        <p:cTn id="13" dur="500"/>
                                        <p:tgtEl>
                                          <p:spTgt spid="716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dirty="0"/>
              <a:t>逻辑模型</a:t>
            </a:r>
            <a:endParaRPr lang="zh-CN" altLang="en-US" dirty="0"/>
          </a:p>
        </p:txBody>
      </p:sp>
      <p:sp>
        <p:nvSpPr>
          <p:cNvPr id="60419" name="Rectangle 3"/>
          <p:cNvSpPr>
            <a:spLocks noGrp="1" noChangeArrowheads="1"/>
          </p:cNvSpPr>
          <p:nvPr>
            <p:ph idx="1"/>
          </p:nvPr>
        </p:nvSpPr>
        <p:spPr/>
        <p:txBody>
          <a:bodyPr>
            <a:normAutofit/>
          </a:bodyPr>
          <a:lstStyle/>
          <a:p>
            <a:pPr>
              <a:lnSpc>
                <a:spcPct val="110000"/>
              </a:lnSpc>
              <a:spcBef>
                <a:spcPts val="1000"/>
              </a:spcBef>
            </a:pPr>
            <a:r>
              <a:rPr lang="zh-CN" altLang="en-US" dirty="0"/>
              <a:t>如何“多快好省”地将信息世界转换为机器世界？</a:t>
            </a:r>
            <a:endParaRPr lang="en-US" altLang="zh-CN" dirty="0"/>
          </a:p>
          <a:p>
            <a:pPr lvl="1">
              <a:lnSpc>
                <a:spcPct val="110000"/>
              </a:lnSpc>
              <a:spcBef>
                <a:spcPts val="1000"/>
              </a:spcBef>
            </a:pPr>
            <a:r>
              <a:rPr lang="zh-CN" altLang="en-US" dirty="0"/>
              <a:t>基本问题，如何在机器世界中表达“低层”数据结构和“高层”数据结构？</a:t>
            </a:r>
            <a:endParaRPr lang="zh-CN" altLang="en-US" dirty="0"/>
          </a:p>
          <a:p>
            <a:pPr lvl="1">
              <a:lnSpc>
                <a:spcPct val="110000"/>
              </a:lnSpc>
              <a:spcBef>
                <a:spcPts val="1000"/>
              </a:spcBef>
            </a:pPr>
            <a:endParaRPr lang="en-US" altLang="zh-CN" dirty="0"/>
          </a:p>
          <a:p>
            <a:pPr lvl="1">
              <a:lnSpc>
                <a:spcPct val="110000"/>
              </a:lnSpc>
              <a:spcBef>
                <a:spcPts val="1000"/>
              </a:spcBef>
            </a:pPr>
            <a:r>
              <a:rPr lang="zh-CN" altLang="en-US" dirty="0"/>
              <a:t>方案</a:t>
            </a:r>
            <a:r>
              <a:rPr lang="en-US" altLang="zh-CN" dirty="0"/>
              <a:t>1</a:t>
            </a:r>
            <a:r>
              <a:rPr lang="zh-CN" altLang="en-US" dirty="0"/>
              <a:t>：尽量独立于应用层，采用“中立”的方式表达概念模型</a:t>
            </a:r>
            <a:endParaRPr lang="en-US" altLang="zh-CN" dirty="0"/>
          </a:p>
          <a:p>
            <a:pPr lvl="1">
              <a:lnSpc>
                <a:spcPct val="110000"/>
              </a:lnSpc>
              <a:spcBef>
                <a:spcPts val="1000"/>
              </a:spcBef>
            </a:pPr>
            <a:r>
              <a:rPr lang="zh-CN" altLang="en-US" dirty="0"/>
              <a:t>方案</a:t>
            </a:r>
            <a:r>
              <a:rPr lang="en-US" altLang="zh-CN" dirty="0"/>
              <a:t>2</a:t>
            </a:r>
            <a:r>
              <a:rPr lang="zh-CN" altLang="en-US" dirty="0"/>
              <a:t>：在应用层中，使用特定数据结构，并在逻辑模型中高效支持这一数据结构</a:t>
            </a:r>
            <a:endParaRPr lang="zh-CN" altLang="en-US" dirty="0"/>
          </a:p>
          <a:p>
            <a:pPr>
              <a:lnSpc>
                <a:spcPct val="110000"/>
              </a:lnSpc>
              <a:spcBef>
                <a:spcPts val="1000"/>
              </a:spcBef>
            </a:pPr>
            <a:endParaRPr lang="en-US" altLang="zh-CN" dirty="0"/>
          </a:p>
          <a:p>
            <a:pPr>
              <a:lnSpc>
                <a:spcPct val="110000"/>
              </a:lnSpc>
              <a:spcBef>
                <a:spcPts val="1000"/>
              </a:spcBef>
            </a:pPr>
            <a:r>
              <a:rPr lang="zh-CN" altLang="en-US" dirty="0"/>
              <a:t>方案</a:t>
            </a:r>
            <a:r>
              <a:rPr lang="en-US" altLang="zh-CN" dirty="0"/>
              <a:t>*</a:t>
            </a:r>
            <a:r>
              <a:rPr lang="zh-CN" altLang="en-US" dirty="0"/>
              <a:t>：通用数据结构采用方案</a:t>
            </a:r>
            <a:r>
              <a:rPr lang="en-US" altLang="zh-CN" dirty="0"/>
              <a:t>1</a:t>
            </a:r>
            <a:r>
              <a:rPr lang="zh-CN" altLang="en-US" dirty="0"/>
              <a:t>，关键性数据结构采用方案</a:t>
            </a:r>
            <a:r>
              <a:rPr lang="en-US" altLang="zh-CN" dirty="0"/>
              <a:t>2</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419">
                                            <p:txEl>
                                              <p:pRg st="6" end="6"/>
                                            </p:txEl>
                                          </p:spTgt>
                                        </p:tgtEl>
                                        <p:attrNameLst>
                                          <p:attrName>style.visibility</p:attrName>
                                        </p:attrNameLst>
                                      </p:cBhvr>
                                      <p:to>
                                        <p:strVal val="visible"/>
                                      </p:to>
                                    </p:set>
                                    <p:anim calcmode="lin" valueType="num">
                                      <p:cBhvr additive="base">
                                        <p:cTn id="7" dur="500" fill="hold"/>
                                        <p:tgtEl>
                                          <p:spTgt spid="6041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1.2.4  </a:t>
            </a:r>
            <a:r>
              <a:rPr lang="zh-CN" altLang="en-US" dirty="0"/>
              <a:t>常用数据模型</a:t>
            </a:r>
            <a:endParaRPr lang="zh-CN" altLang="en-US" dirty="0"/>
          </a:p>
        </p:txBody>
      </p:sp>
      <p:sp>
        <p:nvSpPr>
          <p:cNvPr id="3" name="内容占位符 2"/>
          <p:cNvSpPr>
            <a:spLocks noGrp="1"/>
          </p:cNvSpPr>
          <p:nvPr>
            <p:ph idx="1"/>
          </p:nvPr>
        </p:nvSpPr>
        <p:spPr/>
        <p:txBody>
          <a:bodyPr>
            <a:normAutofit/>
          </a:bodyPr>
          <a:lstStyle/>
          <a:p>
            <a:pPr eaLnBrk="1" hangingPunct="1">
              <a:lnSpc>
                <a:spcPct val="150000"/>
              </a:lnSpc>
            </a:pPr>
            <a:r>
              <a:rPr lang="zh-CN" altLang="en-US" sz="3200" dirty="0"/>
              <a:t>格式化模型</a:t>
            </a:r>
            <a:endParaRPr lang="en-US" altLang="zh-CN" sz="3200" dirty="0"/>
          </a:p>
          <a:p>
            <a:pPr lvl="1"/>
            <a:r>
              <a:rPr lang="zh-CN" altLang="en-US" dirty="0">
                <a:solidFill>
                  <a:srgbClr val="FF0000"/>
                </a:solidFill>
              </a:rPr>
              <a:t>层次模型</a:t>
            </a:r>
            <a:r>
              <a:rPr lang="zh-CN" altLang="en-US" dirty="0"/>
              <a:t>（</a:t>
            </a:r>
            <a:r>
              <a:rPr lang="en-US" altLang="zh-CN" dirty="0"/>
              <a:t>Hierarchical Model</a:t>
            </a:r>
            <a:r>
              <a:rPr lang="zh-CN" altLang="en-US" dirty="0"/>
              <a:t>）</a:t>
            </a:r>
            <a:endParaRPr lang="en-US" altLang="zh-CN" dirty="0"/>
          </a:p>
          <a:p>
            <a:pPr lvl="1" algn="just"/>
            <a:r>
              <a:rPr lang="zh-CN" altLang="en-US" dirty="0">
                <a:solidFill>
                  <a:srgbClr val="FF0000"/>
                </a:solidFill>
              </a:rPr>
              <a:t>网状模型</a:t>
            </a:r>
            <a:r>
              <a:rPr lang="zh-CN" altLang="en-US" dirty="0"/>
              <a:t>（</a:t>
            </a:r>
            <a:r>
              <a:rPr lang="en-US" altLang="zh-CN" dirty="0"/>
              <a:t>Network Model</a:t>
            </a:r>
            <a:r>
              <a:rPr lang="zh-CN" altLang="en-US" dirty="0"/>
              <a:t>）</a:t>
            </a:r>
            <a:endParaRPr lang="en-US" altLang="zh-CN" dirty="0"/>
          </a:p>
          <a:p>
            <a:pPr algn="just" eaLnBrk="1" hangingPunct="1">
              <a:lnSpc>
                <a:spcPct val="150000"/>
              </a:lnSpc>
            </a:pPr>
            <a:r>
              <a:rPr lang="zh-CN" altLang="en-US" sz="3200" dirty="0">
                <a:solidFill>
                  <a:srgbClr val="FF0000"/>
                </a:solidFill>
              </a:rPr>
              <a:t>关系模型</a:t>
            </a:r>
            <a:r>
              <a:rPr lang="zh-CN" altLang="en-US" sz="3200" dirty="0"/>
              <a:t>（</a:t>
            </a:r>
            <a:r>
              <a:rPr lang="en-US" altLang="zh-CN" sz="3200" dirty="0"/>
              <a:t>Relational Model)</a:t>
            </a:r>
            <a:r>
              <a:rPr lang="zh-CN" altLang="en-US" sz="3200" dirty="0"/>
              <a:t>）</a:t>
            </a:r>
            <a:endParaRPr lang="en-US" altLang="zh-CN" sz="3200" dirty="0"/>
          </a:p>
          <a:p>
            <a:pPr algn="just" eaLnBrk="1" hangingPunct="1">
              <a:lnSpc>
                <a:spcPct val="150000"/>
              </a:lnSpc>
            </a:pPr>
            <a:r>
              <a:rPr lang="zh-CN" altLang="en-US" sz="3200" dirty="0">
                <a:solidFill>
                  <a:srgbClr val="FF0000"/>
                </a:solidFill>
              </a:rPr>
              <a:t>对象模型</a:t>
            </a:r>
            <a:endParaRPr lang="en-US" altLang="zh-CN" sz="3200" dirty="0"/>
          </a:p>
          <a:p>
            <a:pPr lvl="1" algn="just"/>
            <a:r>
              <a:rPr lang="zh-CN" altLang="en-US" dirty="0"/>
              <a:t>面向对象数据模型（</a:t>
            </a:r>
            <a:r>
              <a:rPr lang="en-US" altLang="zh-CN" dirty="0"/>
              <a:t>Object Oriented Data Model</a:t>
            </a:r>
            <a:r>
              <a:rPr lang="zh-CN" altLang="en-US" dirty="0"/>
              <a:t>）</a:t>
            </a:r>
            <a:endParaRPr lang="zh-CN" altLang="en-US" dirty="0"/>
          </a:p>
          <a:p>
            <a:pPr lvl="1" algn="just"/>
            <a:r>
              <a:rPr lang="zh-CN" altLang="en-US" dirty="0"/>
              <a:t>对象关系数据模型（</a:t>
            </a:r>
            <a:r>
              <a:rPr lang="en-US" altLang="zh-CN" dirty="0"/>
              <a:t>Object Relational Data Model</a:t>
            </a:r>
            <a:r>
              <a:rPr lang="zh-CN" altLang="en-US" dirty="0"/>
              <a:t>）</a:t>
            </a:r>
            <a:endParaRPr lang="en-US" altLang="zh-CN" dirty="0"/>
          </a:p>
          <a:p>
            <a:pPr lvl="0" algn="just">
              <a:lnSpc>
                <a:spcPct val="150000"/>
              </a:lnSpc>
            </a:pPr>
            <a:r>
              <a:rPr lang="zh-CN" altLang="en-US" sz="3200" dirty="0">
                <a:solidFill>
                  <a:srgbClr val="FF0000"/>
                </a:solidFill>
              </a:rPr>
              <a:t>半结构化、非结构化</a:t>
            </a:r>
            <a:endParaRPr lang="zh-CN" altLang="en-US" sz="3200" dirty="0">
              <a:solidFill>
                <a:srgbClr val="FF0000"/>
              </a:solidFill>
            </a:endParaRPr>
          </a:p>
        </p:txBody>
      </p:sp>
      <p:sp>
        <p:nvSpPr>
          <p:cNvPr id="4" name="灯片编号占位符 3"/>
          <p:cNvSpPr>
            <a:spLocks noGrp="1"/>
          </p:cNvSpPr>
          <p:nvPr>
            <p:ph type="sldNum" sz="quarter" idx="11"/>
          </p:nvPr>
        </p:nvSpPr>
        <p:spPr>
          <a:xfrm>
            <a:off x="0" y="6695365"/>
            <a:ext cx="4114800" cy="153670"/>
          </a:xfrm>
        </p:spPr>
        <p:txBody>
          <a:bodyPr/>
          <a:lstStyle/>
          <a:p>
            <a:pPr>
              <a:defRPr/>
            </a:pPr>
            <a:fld id="{759762E9-AABD-478B-B116-8B8B54DC7F1E}" type="slidenum">
              <a:rPr lang="en-US" altLang="zh-CN" smtClean="0"/>
            </a:fld>
            <a:endParaRPr lang="en-US" altLang="zh-CN" dirty="0"/>
          </a:p>
        </p:txBody>
      </p:sp>
      <p:sp>
        <p:nvSpPr>
          <p:cNvPr id="5" name="页脚占位符 4"/>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Rectangle 2"/>
          <p:cNvSpPr>
            <a:spLocks noGrp="1"/>
          </p:cNvSpPr>
          <p:nvPr>
            <p:ph type="title"/>
          </p:nvPr>
        </p:nvSpPr>
        <p:spPr/>
        <p:txBody>
          <a:bodyPr wrap="square" tIns="0" bIns="0" anchor="ctr"/>
          <a:p>
            <a:pPr eaLnBrk="1" hangingPunct="1"/>
            <a:r>
              <a:rPr lang="en-US"/>
              <a:t>1.2.5 &amp; 1.2.6  </a:t>
            </a:r>
            <a:r>
              <a:rPr lang="zh-CN" altLang="en-US"/>
              <a:t>层次模型</a:t>
            </a:r>
            <a:r>
              <a:rPr lang="en-US" altLang="zh-CN"/>
              <a:t> &amp; </a:t>
            </a:r>
            <a:r>
              <a:rPr lang="zh-CN" altLang="en-US"/>
              <a:t>网状</a:t>
            </a:r>
            <a:r>
              <a:rPr lang="zh-CN" altLang="en-US"/>
              <a:t>模型</a:t>
            </a:r>
            <a:endParaRPr lang="zh-CN" altLang="en-US"/>
          </a:p>
        </p:txBody>
      </p:sp>
      <p:sp>
        <p:nvSpPr>
          <p:cNvPr id="135171" name="Rectangle 3"/>
          <p:cNvSpPr>
            <a:spLocks noGrp="1"/>
          </p:cNvSpPr>
          <p:nvPr>
            <p:ph idx="1"/>
          </p:nvPr>
        </p:nvSpPr>
        <p:spPr/>
        <p:txBody>
          <a:bodyPr vert="horz" wrap="square" anchor="t"/>
          <a:p>
            <a:pPr lvl="0" eaLnBrk="1" fontAlgn="base" hangingPunct="1">
              <a:lnSpc>
                <a:spcPct val="100000"/>
              </a:lnSpc>
            </a:pPr>
            <a:r>
              <a:rPr lang="en-US" altLang="x-none" sz="2800" u="sng" strike="noStrike" noProof="1" dirty="0">
                <a:solidFill>
                  <a:srgbClr val="FF0000"/>
                </a:solidFill>
                <a:latin typeface="+mn-lt"/>
                <a:cs typeface="+mn-lt"/>
              </a:rPr>
              <a:t>The ’60s：</a:t>
            </a:r>
            <a:r>
              <a:rPr lang="zh-CN" altLang="en-US" sz="2800" u="sng" strike="noStrike" noProof="1" dirty="0">
                <a:solidFill>
                  <a:srgbClr val="FF0000"/>
                </a:solidFill>
                <a:latin typeface="+mn-lt"/>
                <a:cs typeface="+mn-lt"/>
              </a:rPr>
              <a:t>数据库技术的萌芽阶段</a:t>
            </a:r>
            <a:endParaRPr lang="zh-CN" altLang="en-US" sz="2800" u="sng" strike="noStrike" noProof="1" dirty="0">
              <a:solidFill>
                <a:srgbClr val="FF0000"/>
              </a:solidFill>
              <a:latin typeface="+mn-lt"/>
              <a:cs typeface="+mn-lt"/>
            </a:endParaRPr>
          </a:p>
          <a:p>
            <a:pPr marL="457200" lvl="1" indent="0" eaLnBrk="1" fontAlgn="base" hangingPunct="1">
              <a:lnSpc>
                <a:spcPct val="100000"/>
              </a:lnSpc>
              <a:buNone/>
            </a:pPr>
            <a:r>
              <a:rPr lang="zh-CN" altLang="en-US" strike="noStrike" noProof="1" dirty="0">
                <a:latin typeface="+mn-lt"/>
                <a:cs typeface="+mn-lt"/>
              </a:rPr>
              <a:t>1961：</a:t>
            </a:r>
            <a:r>
              <a:rPr lang="en-US" altLang="x-none" strike="noStrike" noProof="1" dirty="0">
                <a:latin typeface="+mn-lt"/>
                <a:cs typeface="+mn-lt"/>
              </a:rPr>
              <a:t>IDS (Integrated Data Store)</a:t>
            </a:r>
            <a:endParaRPr lang="en-US" altLang="x-none" strike="noStrike" noProof="1" dirty="0">
              <a:latin typeface="+mn-lt"/>
              <a:cs typeface="+mn-lt"/>
            </a:endParaRPr>
          </a:p>
          <a:p>
            <a:pPr marL="457200" lvl="1" indent="0" eaLnBrk="1" fontAlgn="base" hangingPunct="1">
              <a:lnSpc>
                <a:spcPct val="100000"/>
              </a:lnSpc>
              <a:buNone/>
            </a:pPr>
            <a:endParaRPr lang="en-US" altLang="x-none" strike="noStrike" noProof="1" dirty="0">
              <a:latin typeface="+mn-lt"/>
              <a:cs typeface="+mn-lt"/>
            </a:endParaRPr>
          </a:p>
          <a:p>
            <a:pPr marL="800100" lvl="3" indent="-342900" eaLnBrk="1" fontAlgn="base" hangingPunct="1">
              <a:lnSpc>
                <a:spcPct val="100000"/>
              </a:lnSpc>
              <a:buSzPct val="85000"/>
              <a:buFont typeface="Wingdings" panose="05000000000000000000" charset="0"/>
              <a:buChar char="Ø"/>
            </a:pPr>
            <a:r>
              <a:rPr lang="en-US" altLang="x-none" strike="noStrike" noProof="1" dirty="0">
                <a:latin typeface="+mn-lt"/>
                <a:cs typeface="+mn-lt"/>
              </a:rPr>
              <a:t>Designed by Bachman</a:t>
            </a:r>
            <a:r>
              <a:rPr lang="zh-CN" altLang="en-US" strike="noStrike" noProof="1" dirty="0">
                <a:latin typeface="+mn-lt"/>
                <a:cs typeface="+mn-lt"/>
              </a:rPr>
              <a:t>（73年图灵奖）</a:t>
            </a:r>
            <a:endParaRPr lang="en-US" altLang="x-none" strike="noStrike" noProof="1" dirty="0">
              <a:latin typeface="+mn-lt"/>
              <a:cs typeface="+mn-lt"/>
            </a:endParaRPr>
          </a:p>
          <a:p>
            <a:pPr marL="800100" lvl="3" indent="-342900" eaLnBrk="1" fontAlgn="base" hangingPunct="1">
              <a:lnSpc>
                <a:spcPct val="100000"/>
              </a:lnSpc>
              <a:buSzPct val="85000"/>
              <a:buFont typeface="Wingdings" panose="05000000000000000000" charset="0"/>
              <a:buChar char="Ø"/>
            </a:pPr>
            <a:r>
              <a:rPr lang="zh-CN" altLang="en-US" strike="noStrike" noProof="1" dirty="0">
                <a:latin typeface="+mn-lt"/>
                <a:cs typeface="+mn-lt"/>
              </a:rPr>
              <a:t>奠定了网络数据模型(</a:t>
            </a:r>
            <a:r>
              <a:rPr lang="en-US" altLang="x-none" strike="noStrike" noProof="1" dirty="0">
                <a:latin typeface="+mn-lt"/>
                <a:cs typeface="+mn-lt"/>
              </a:rPr>
              <a:t>Network Data Model)</a:t>
            </a:r>
            <a:r>
              <a:rPr lang="zh-CN" altLang="en-US" strike="noStrike" noProof="1" dirty="0">
                <a:latin typeface="+mn-lt"/>
                <a:cs typeface="+mn-lt"/>
              </a:rPr>
              <a:t>的基础</a:t>
            </a:r>
            <a:endParaRPr lang="zh-CN" altLang="en-US" strike="noStrike" noProof="1" dirty="0">
              <a:latin typeface="+mn-lt"/>
              <a:cs typeface="+mn-lt"/>
            </a:endParaRPr>
          </a:p>
          <a:p>
            <a:pPr lvl="2" eaLnBrk="1" fontAlgn="base" hangingPunct="1">
              <a:lnSpc>
                <a:spcPct val="100000"/>
              </a:lnSpc>
              <a:buSzPct val="85000"/>
            </a:pPr>
            <a:r>
              <a:rPr lang="en-US" altLang="x-none" strike="noStrike" noProof="1" dirty="0">
                <a:latin typeface="+mn-lt"/>
                <a:cs typeface="+mn-lt"/>
              </a:rPr>
              <a:t>Conference on Data Systems Languages Database Task Group (CODASYL  </a:t>
            </a:r>
            <a:r>
              <a:rPr lang="en-US" altLang="x-none" strike="noStrike" noProof="1" dirty="0">
                <a:solidFill>
                  <a:schemeClr val="accent2"/>
                </a:solidFill>
                <a:latin typeface="+mn-lt"/>
                <a:cs typeface="+mn-lt"/>
              </a:rPr>
              <a:t>DBTG</a:t>
            </a:r>
            <a:r>
              <a:rPr lang="en-US" altLang="x-none" strike="noStrike" noProof="1" dirty="0">
                <a:latin typeface="+mn-lt"/>
                <a:cs typeface="+mn-lt"/>
              </a:rPr>
              <a:t>)</a:t>
            </a:r>
            <a:endParaRPr lang="en-US" altLang="x-none" strike="noStrike" noProof="1" dirty="0">
              <a:latin typeface="+mn-lt"/>
              <a:cs typeface="+mn-lt"/>
            </a:endParaRPr>
          </a:p>
          <a:p>
            <a:pPr lvl="1" eaLnBrk="1" fontAlgn="base" hangingPunct="1">
              <a:lnSpc>
                <a:spcPct val="100000"/>
              </a:lnSpc>
            </a:pPr>
            <a:endParaRPr lang="en-US" altLang="x-none" strike="noStrike" noProof="1" dirty="0">
              <a:latin typeface="+mn-lt"/>
              <a:cs typeface="+mn-lt"/>
            </a:endParaRPr>
          </a:p>
          <a:p>
            <a:pPr lvl="0" eaLnBrk="1" fontAlgn="base" hangingPunct="1">
              <a:lnSpc>
                <a:spcPct val="100000"/>
              </a:lnSpc>
            </a:pPr>
            <a:r>
              <a:rPr lang="zh-CN" altLang="zh-CN" strike="noStrike" noProof="1" dirty="0">
                <a:latin typeface="+mn-lt"/>
                <a:cs typeface="+mn-lt"/>
              </a:rPr>
              <a:t>主要贡献：</a:t>
            </a:r>
            <a:endParaRPr lang="zh-CN" altLang="zh-CN" strike="noStrike" noProof="1" dirty="0">
              <a:latin typeface="+mn-lt"/>
              <a:cs typeface="+mn-lt"/>
            </a:endParaRPr>
          </a:p>
          <a:p>
            <a:pPr lvl="1" eaLnBrk="1" fontAlgn="base" hangingPunct="1">
              <a:lnSpc>
                <a:spcPct val="100000"/>
              </a:lnSpc>
            </a:pPr>
            <a:r>
              <a:rPr lang="zh-CN" altLang="zh-CN" strike="noStrike" noProof="1" dirty="0">
                <a:latin typeface="+mn-lt"/>
                <a:cs typeface="+mn-lt"/>
              </a:rPr>
              <a:t>在通用电气公司任职期间，主持设计与开发了最早的网状数据库系统 </a:t>
            </a:r>
            <a:r>
              <a:rPr lang="en-US" altLang="zh-CN" strike="noStrike" noProof="1" dirty="0">
                <a:latin typeface="+mn-lt"/>
                <a:cs typeface="+mn-lt"/>
              </a:rPr>
              <a:t>IDS</a:t>
            </a:r>
            <a:endParaRPr lang="en-US" altLang="zh-CN" strike="noStrike" noProof="1" dirty="0">
              <a:latin typeface="+mn-lt"/>
              <a:cs typeface="+mn-lt"/>
            </a:endParaRPr>
          </a:p>
          <a:p>
            <a:pPr lvl="1" eaLnBrk="1" fontAlgn="base" hangingPunct="1">
              <a:lnSpc>
                <a:spcPct val="100000"/>
              </a:lnSpc>
            </a:pPr>
            <a:r>
              <a:rPr lang="zh-CN" altLang="en-US" strike="noStrike" noProof="1" dirty="0">
                <a:latin typeface="+mn-lt"/>
                <a:cs typeface="+mn-lt"/>
              </a:rPr>
              <a:t>积极推动与促成数据库标准的制定（</a:t>
            </a:r>
            <a:r>
              <a:rPr lang="en-US" altLang="zh-CN" strike="noStrike" noProof="1" dirty="0">
                <a:latin typeface="+mn-lt"/>
                <a:cs typeface="+mn-lt"/>
              </a:rPr>
              <a:t>DBTG</a:t>
            </a:r>
            <a:r>
              <a:rPr lang="zh-CN" altLang="en-US" strike="noStrike" noProof="1" dirty="0">
                <a:latin typeface="+mn-lt"/>
                <a:cs typeface="+mn-lt"/>
              </a:rPr>
              <a:t>）</a:t>
            </a:r>
            <a:endParaRPr lang="zh-CN" altLang="en-US" strike="noStrike" noProof="1" dirty="0">
              <a:latin typeface="+mn-lt"/>
              <a:cs typeface="+mn-lt"/>
            </a:endParaRPr>
          </a:p>
        </p:txBody>
      </p:sp>
      <p:pic>
        <p:nvPicPr>
          <p:cNvPr id="3" name="图片 135173" descr="t1973"/>
          <p:cNvPicPr>
            <a:picLocks noChangeAspect="1"/>
          </p:cNvPicPr>
          <p:nvPr/>
        </p:nvPicPr>
        <p:blipFill>
          <a:blip r:embed="rId1"/>
          <a:stretch>
            <a:fillRect/>
          </a:stretch>
        </p:blipFill>
        <p:spPr>
          <a:xfrm>
            <a:off x="9929495" y="595630"/>
            <a:ext cx="1531620" cy="2136775"/>
          </a:xfrm>
          <a:prstGeom prst="rect">
            <a:avLst/>
          </a:prstGeom>
          <a:noFill/>
          <a:ln w="9525">
            <a:noFill/>
          </a:ln>
        </p:spPr>
      </p:pic>
      <p:sp>
        <p:nvSpPr>
          <p:cNvPr id="2" name="灯片编号占位符 1"/>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Rectangle 2"/>
          <p:cNvSpPr>
            <a:spLocks noGrp="1"/>
          </p:cNvSpPr>
          <p:nvPr>
            <p:ph type="title"/>
          </p:nvPr>
        </p:nvSpPr>
        <p:spPr/>
        <p:txBody>
          <a:bodyPr wrap="square" tIns="0" bIns="0" anchor="ctr"/>
          <a:p>
            <a:pPr eaLnBrk="1" hangingPunct="1"/>
            <a:r>
              <a:rPr lang="en-US" altLang="zh-CN"/>
              <a:t>2.4 </a:t>
            </a:r>
            <a:r>
              <a:rPr lang="zh-CN" altLang="en-US"/>
              <a:t>信息世界与逻辑模型</a:t>
            </a:r>
            <a:endParaRPr lang="zh-CN" altLang="en-US"/>
          </a:p>
        </p:txBody>
      </p:sp>
      <p:sp>
        <p:nvSpPr>
          <p:cNvPr id="137218" name="Rectangle 3"/>
          <p:cNvSpPr>
            <a:spLocks noGrp="1"/>
          </p:cNvSpPr>
          <p:nvPr>
            <p:ph idx="1"/>
          </p:nvPr>
        </p:nvSpPr>
        <p:spPr/>
        <p:txBody>
          <a:bodyPr wrap="square" anchor="t"/>
          <a:p>
            <a:pPr lvl="0" eaLnBrk="1" hangingPunct="1">
              <a:lnSpc>
                <a:spcPct val="100000"/>
              </a:lnSpc>
            </a:pPr>
            <a:r>
              <a:rPr lang="en-US" altLang="x-none" dirty="0">
                <a:latin typeface="+mn-lt"/>
                <a:cs typeface="+mn-lt"/>
              </a:rPr>
              <a:t>1965-1970：</a:t>
            </a:r>
            <a:r>
              <a:rPr lang="en-US" altLang="x-none" dirty="0">
                <a:solidFill>
                  <a:srgbClr val="FF0000"/>
                </a:solidFill>
                <a:latin typeface="+mn-lt"/>
                <a:cs typeface="+mn-lt"/>
              </a:rPr>
              <a:t>IMS</a:t>
            </a:r>
            <a:r>
              <a:rPr lang="en-US" altLang="x-none" dirty="0">
                <a:latin typeface="+mn-lt"/>
                <a:cs typeface="+mn-lt"/>
              </a:rPr>
              <a:t> (Information Management System)</a:t>
            </a:r>
            <a:endParaRPr lang="en-US" altLang="x-none" dirty="0">
              <a:latin typeface="+mn-lt"/>
              <a:cs typeface="+mn-lt"/>
            </a:endParaRPr>
          </a:p>
          <a:p>
            <a:pPr marL="758825" lvl="3" indent="-299085" eaLnBrk="1" hangingPunct="1">
              <a:lnSpc>
                <a:spcPct val="100000"/>
              </a:lnSpc>
              <a:buSzPct val="85000"/>
              <a:buFont typeface="Wingdings" panose="05000000000000000000" charset="0"/>
              <a:buChar char="Ø"/>
            </a:pPr>
            <a:r>
              <a:rPr lang="en-US" altLang="x-none" dirty="0">
                <a:solidFill>
                  <a:srgbClr val="FF0000"/>
                </a:solidFill>
                <a:latin typeface="+mn-lt"/>
                <a:cs typeface="+mn-lt"/>
              </a:rPr>
              <a:t>Developed by IBM</a:t>
            </a:r>
            <a:r>
              <a:rPr lang="zh-CN" altLang="en-US" dirty="0">
                <a:solidFill>
                  <a:srgbClr val="FF0000"/>
                </a:solidFill>
                <a:latin typeface="+mn-lt"/>
                <a:cs typeface="+mn-lt"/>
              </a:rPr>
              <a:t>，奠定了层次数据模型</a:t>
            </a:r>
            <a:r>
              <a:rPr lang="zh-CN" altLang="en-US" dirty="0">
                <a:solidFill>
                  <a:srgbClr val="FF0000"/>
                </a:solidFill>
                <a:latin typeface="+mn-lt"/>
                <a:cs typeface="+mn-lt"/>
                <a:sym typeface="+mn-ea"/>
              </a:rPr>
              <a:t>(</a:t>
            </a:r>
            <a:r>
              <a:rPr lang="en-US" altLang="x-none" dirty="0">
                <a:solidFill>
                  <a:srgbClr val="FF0000"/>
                </a:solidFill>
                <a:latin typeface="+mn-lt"/>
                <a:cs typeface="+mn-lt"/>
                <a:sym typeface="+mn-ea"/>
              </a:rPr>
              <a:t>Hierarchical Data Model)</a:t>
            </a:r>
            <a:r>
              <a:rPr lang="zh-CN" altLang="en-US" dirty="0">
                <a:solidFill>
                  <a:srgbClr val="FF0000"/>
                </a:solidFill>
                <a:latin typeface="+mn-lt"/>
                <a:cs typeface="+mn-lt"/>
              </a:rPr>
              <a:t>的基础，允许对数据的多用户存取</a:t>
            </a:r>
            <a:endParaRPr lang="zh-CN" altLang="en-US" dirty="0">
              <a:solidFill>
                <a:srgbClr val="FF0000"/>
              </a:solidFill>
              <a:latin typeface="+mn-lt"/>
              <a:cs typeface="+mn-lt"/>
            </a:endParaRPr>
          </a:p>
          <a:p>
            <a:pPr marL="345440" lvl="2" indent="-342900" eaLnBrk="1" hangingPunct="1">
              <a:lnSpc>
                <a:spcPct val="100000"/>
              </a:lnSpc>
              <a:spcBef>
                <a:spcPts val="1000"/>
              </a:spcBef>
              <a:buSzPct val="85000"/>
              <a:buFont typeface="Wingdings" panose="05000000000000000000" charset="0"/>
              <a:buChar char="q"/>
            </a:pPr>
            <a:r>
              <a:rPr lang="en-US" altLang="x-none" dirty="0">
                <a:latin typeface="+mn-lt"/>
                <a:cs typeface="+mn-lt"/>
                <a:sym typeface="+mn-ea"/>
              </a:rPr>
              <a:t>Example of hierarchical data model</a:t>
            </a:r>
            <a:endParaRPr lang="zh-CN" altLang="en-US" dirty="0">
              <a:solidFill>
                <a:schemeClr val="accent6"/>
              </a:solidFill>
              <a:latin typeface="+mn-lt"/>
              <a:cs typeface="+mn-lt"/>
            </a:endParaRPr>
          </a:p>
        </p:txBody>
      </p:sp>
      <p:grpSp>
        <p:nvGrpSpPr>
          <p:cNvPr id="5" name="组合 4"/>
          <p:cNvGrpSpPr/>
          <p:nvPr/>
        </p:nvGrpSpPr>
        <p:grpSpPr>
          <a:xfrm>
            <a:off x="2855595" y="2715895"/>
            <a:ext cx="6192520" cy="4211955"/>
            <a:chOff x="2097" y="3586"/>
            <a:chExt cx="9752" cy="6633"/>
          </a:xfrm>
        </p:grpSpPr>
        <p:pic>
          <p:nvPicPr>
            <p:cNvPr id="3" name="图片 2"/>
            <p:cNvPicPr>
              <a:picLocks noChangeAspect="1"/>
            </p:cNvPicPr>
            <p:nvPr>
              <p:custDataLst>
                <p:tags r:id="rId1"/>
              </p:custDataLst>
            </p:nvPr>
          </p:nvPicPr>
          <p:blipFill>
            <a:blip r:embed="rId2"/>
            <a:stretch>
              <a:fillRect/>
            </a:stretch>
          </p:blipFill>
          <p:spPr>
            <a:xfrm>
              <a:off x="2097" y="3586"/>
              <a:ext cx="9708" cy="5916"/>
            </a:xfrm>
            <a:prstGeom prst="rect">
              <a:avLst/>
            </a:prstGeom>
          </p:spPr>
        </p:pic>
        <p:sp>
          <p:nvSpPr>
            <p:cNvPr id="4" name="文本框 3"/>
            <p:cNvSpPr txBox="1"/>
            <p:nvPr/>
          </p:nvSpPr>
          <p:spPr>
            <a:xfrm>
              <a:off x="2119" y="9397"/>
              <a:ext cx="9730" cy="822"/>
            </a:xfrm>
            <a:prstGeom prst="rect">
              <a:avLst/>
            </a:prstGeom>
            <a:noFill/>
          </p:spPr>
          <p:txBody>
            <a:bodyPr wrap="square" rtlCol="0">
              <a:spAutoFit/>
            </a:bodyPr>
            <a:p>
              <a:pPr algn="ctr"/>
              <a:r>
                <a:rPr lang="en-US" altLang="zh-CN" sz="2800" b="1">
                  <a:solidFill>
                    <a:srgbClr val="FF0000"/>
                  </a:solidFill>
                </a:rPr>
                <a:t>(</a:t>
              </a:r>
              <a:r>
                <a:rPr lang="en-US" altLang="x-none" sz="2800" b="1" dirty="0">
                  <a:solidFill>
                    <a:srgbClr val="FF0000"/>
                  </a:solidFill>
                  <a:sym typeface="+mn-ea"/>
                </a:rPr>
                <a:t>A directed tree)</a:t>
              </a:r>
              <a:endParaRPr lang="en-US" altLang="x-none" sz="2800" b="1" dirty="0">
                <a:solidFill>
                  <a:srgbClr val="FF0000"/>
                </a:solidFill>
                <a:sym typeface="+mn-ea"/>
              </a:endParaRPr>
            </a:p>
          </p:txBody>
        </p:sp>
      </p:grpSp>
      <p:sp>
        <p:nvSpPr>
          <p:cNvPr id="6" name="灯片编号占位符 5"/>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8">
                                            <p:txEl>
                                              <p:pRg st="2" end="2"/>
                                            </p:txEl>
                                          </p:spTgt>
                                        </p:tgtEl>
                                        <p:attrNameLst>
                                          <p:attrName>style.visibility</p:attrName>
                                        </p:attrNameLst>
                                      </p:cBhvr>
                                      <p:to>
                                        <p:strVal val="visible"/>
                                      </p:to>
                                    </p:set>
                                    <p:anim calcmode="lin" valueType="num">
                                      <p:cBhvr additive="base">
                                        <p:cTn id="7" dur="500" fill="hold"/>
                                        <p:tgtEl>
                                          <p:spTgt spid="13721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8">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ea typeface="宋体" panose="02010600030101010101" pitchFamily="2" charset="-122"/>
                <a:sym typeface="+mn-ea"/>
              </a:rPr>
              <a:t>Example of network data model</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567305" y="764540"/>
            <a:ext cx="6990080" cy="4793615"/>
          </a:xfrm>
          <a:prstGeom prst="rect">
            <a:avLst/>
          </a:prstGeom>
        </p:spPr>
      </p:pic>
      <p:sp>
        <p:nvSpPr>
          <p:cNvPr id="6" name="文本框 5"/>
          <p:cNvSpPr txBox="1"/>
          <p:nvPr/>
        </p:nvSpPr>
        <p:spPr>
          <a:xfrm>
            <a:off x="2927350" y="5622925"/>
            <a:ext cx="6114415" cy="521970"/>
          </a:xfrm>
          <a:prstGeom prst="rect">
            <a:avLst/>
          </a:prstGeom>
          <a:noFill/>
        </p:spPr>
        <p:txBody>
          <a:bodyPr wrap="square" rtlCol="0">
            <a:spAutoFit/>
          </a:bodyPr>
          <a:p>
            <a:pPr algn="ctr"/>
            <a:r>
              <a:rPr lang="en-US" altLang="x-none" sz="2800" b="1" dirty="0">
                <a:solidFill>
                  <a:srgbClr val="FF0000"/>
                </a:solidFill>
                <a:sym typeface="+mn-ea"/>
              </a:rPr>
              <a:t>(A directed graph without circuits)</a:t>
            </a:r>
            <a:endParaRPr lang="en-US" altLang="x-none" sz="2800" b="1" dirty="0">
              <a:solidFill>
                <a:srgbClr val="FF0000"/>
              </a:solidFill>
              <a:sym typeface="+mn-ea"/>
            </a:endParaRPr>
          </a:p>
        </p:txBody>
      </p:sp>
      <p:sp>
        <p:nvSpPr>
          <p:cNvPr id="8" name="灯片编号占位符 7"/>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dirty="0">
                <a:solidFill>
                  <a:srgbClr val="FF0000"/>
                </a:solidFill>
                <a:latin typeface="Arial" panose="020B0604020202020204" pitchFamily="34" charset="0"/>
                <a:ea typeface="宋体" panose="02010600030101010101" pitchFamily="2" charset="-122"/>
                <a:sym typeface="+mn-ea"/>
              </a:rPr>
              <a:t>Hierarchical Data Model vs. Network Data Model</a:t>
            </a:r>
            <a:endParaRPr lang="en-US" altLang="x-none" dirty="0">
              <a:solidFill>
                <a:srgbClr val="FF0000"/>
              </a:solidFill>
              <a:latin typeface="Arial" panose="020B0604020202020204" pitchFamily="34" charset="0"/>
              <a:ea typeface="宋体" panose="02010600030101010101" pitchFamily="2" charset="-122"/>
              <a:sym typeface="+mn-ea"/>
            </a:endParaRPr>
          </a:p>
        </p:txBody>
      </p:sp>
      <p:graphicFrame>
        <p:nvGraphicFramePr>
          <p:cNvPr id="22530" name="Object 4"/>
          <p:cNvGraphicFramePr>
            <a:graphicFrameLocks noChangeAspect="1"/>
          </p:cNvGraphicFramePr>
          <p:nvPr>
            <p:custDataLst>
              <p:tags r:id="rId1"/>
            </p:custDataLst>
          </p:nvPr>
        </p:nvGraphicFramePr>
        <p:xfrm>
          <a:off x="6402705" y="1048703"/>
          <a:ext cx="4597400" cy="3546475"/>
        </p:xfrm>
        <a:graphic>
          <a:graphicData uri="http://schemas.openxmlformats.org/presentationml/2006/ole">
            <mc:AlternateContent xmlns:mc="http://schemas.openxmlformats.org/markup-compatibility/2006">
              <mc:Choice xmlns:v="urn:schemas-microsoft-com:vml" Requires="v">
                <p:oleObj spid="_x0000_s3076" name="" r:id="rId2" imgW="3801110" imgH="2272030" progId="Word.Picture.8">
                  <p:embed/>
                </p:oleObj>
              </mc:Choice>
              <mc:Fallback>
                <p:oleObj name="" r:id="rId2" imgW="3801110" imgH="2272030" progId="Word.Picture.8">
                  <p:embed/>
                  <p:pic>
                    <p:nvPicPr>
                      <p:cNvPr id="0" name="图片 3075"/>
                      <p:cNvPicPr/>
                      <p:nvPr/>
                    </p:nvPicPr>
                    <p:blipFill>
                      <a:blip r:embed="rId3"/>
                      <a:stretch>
                        <a:fillRect/>
                      </a:stretch>
                    </p:blipFill>
                    <p:spPr>
                      <a:xfrm>
                        <a:off x="6402705" y="1048703"/>
                        <a:ext cx="4597400" cy="3546475"/>
                      </a:xfrm>
                      <a:prstGeom prst="rect">
                        <a:avLst/>
                      </a:prstGeom>
                      <a:solidFill>
                        <a:srgbClr val="D6D6F5">
                          <a:alpha val="50000"/>
                        </a:srgbClr>
                      </a:solidFill>
                      <a:ln w="38100">
                        <a:noFill/>
                        <a:miter/>
                      </a:ln>
                    </p:spPr>
                  </p:pic>
                </p:oleObj>
              </mc:Fallback>
            </mc:AlternateContent>
          </a:graphicData>
        </a:graphic>
      </p:graphicFrame>
      <p:pic>
        <p:nvPicPr>
          <p:cNvPr id="22532" name="图片 23"/>
          <p:cNvPicPr>
            <a:picLocks noChangeAspect="1"/>
          </p:cNvPicPr>
          <p:nvPr>
            <p:custDataLst>
              <p:tags r:id="rId4"/>
            </p:custDataLst>
          </p:nvPr>
        </p:nvPicPr>
        <p:blipFill>
          <a:blip r:embed="rId5"/>
          <a:stretch>
            <a:fillRect/>
          </a:stretch>
        </p:blipFill>
        <p:spPr>
          <a:xfrm>
            <a:off x="1132205" y="1056323"/>
            <a:ext cx="4337050" cy="3546475"/>
          </a:xfrm>
          <a:prstGeom prst="rect">
            <a:avLst/>
          </a:prstGeom>
          <a:noFill/>
          <a:ln w="9525">
            <a:noFill/>
          </a:ln>
        </p:spPr>
      </p:pic>
      <p:sp>
        <p:nvSpPr>
          <p:cNvPr id="6" name="文本框 5"/>
          <p:cNvSpPr txBox="1"/>
          <p:nvPr>
            <p:custDataLst>
              <p:tags r:id="rId6"/>
            </p:custDataLst>
          </p:nvPr>
        </p:nvSpPr>
        <p:spPr>
          <a:xfrm>
            <a:off x="760095" y="4652645"/>
            <a:ext cx="4953000" cy="460375"/>
          </a:xfrm>
          <a:prstGeom prst="rect">
            <a:avLst/>
          </a:prstGeom>
          <a:noFill/>
        </p:spPr>
        <p:txBody>
          <a:bodyPr wrap="square" rtlCol="0">
            <a:spAutoFit/>
          </a:bodyPr>
          <a:p>
            <a:pPr algn="ctr"/>
            <a:r>
              <a:rPr lang="en-US" altLang="x-none" sz="2400" b="1" dirty="0">
                <a:solidFill>
                  <a:srgbClr val="FF0000"/>
                </a:solidFill>
                <a:sym typeface="+mn-ea"/>
              </a:rPr>
              <a:t>(A directed graph without circuits)</a:t>
            </a:r>
            <a:endParaRPr lang="en-US" altLang="x-none" sz="2400" b="1" dirty="0">
              <a:solidFill>
                <a:srgbClr val="FF0000"/>
              </a:solidFill>
              <a:sym typeface="+mn-ea"/>
            </a:endParaRPr>
          </a:p>
        </p:txBody>
      </p:sp>
      <p:sp>
        <p:nvSpPr>
          <p:cNvPr id="4" name="文本框 3"/>
          <p:cNvSpPr txBox="1"/>
          <p:nvPr>
            <p:custDataLst>
              <p:tags r:id="rId7"/>
            </p:custDataLst>
          </p:nvPr>
        </p:nvSpPr>
        <p:spPr>
          <a:xfrm>
            <a:off x="6402705" y="4652645"/>
            <a:ext cx="4597400" cy="460375"/>
          </a:xfrm>
          <a:prstGeom prst="rect">
            <a:avLst/>
          </a:prstGeom>
          <a:noFill/>
        </p:spPr>
        <p:txBody>
          <a:bodyPr wrap="square" rtlCol="0">
            <a:spAutoFit/>
          </a:bodyPr>
          <a:p>
            <a:pPr algn="ctr"/>
            <a:r>
              <a:rPr lang="en-US" altLang="zh-CN" sz="2400" b="1">
                <a:solidFill>
                  <a:srgbClr val="FF0000"/>
                </a:solidFill>
              </a:rPr>
              <a:t>(</a:t>
            </a:r>
            <a:r>
              <a:rPr lang="en-US" altLang="x-none" sz="2400" b="1" dirty="0">
                <a:solidFill>
                  <a:srgbClr val="FF0000"/>
                </a:solidFill>
                <a:sym typeface="+mn-ea"/>
              </a:rPr>
              <a:t>A directed tree)</a:t>
            </a:r>
            <a:endParaRPr lang="en-US" altLang="x-none" sz="2400" b="1" dirty="0">
              <a:solidFill>
                <a:srgbClr val="FF0000"/>
              </a:solidFill>
              <a:sym typeface="+mn-ea"/>
            </a:endParaRPr>
          </a:p>
        </p:txBody>
      </p:sp>
      <p:sp>
        <p:nvSpPr>
          <p:cNvPr id="5" name="文本框 4"/>
          <p:cNvSpPr txBox="1"/>
          <p:nvPr/>
        </p:nvSpPr>
        <p:spPr>
          <a:xfrm>
            <a:off x="3209290" y="5647690"/>
            <a:ext cx="5767070" cy="521970"/>
          </a:xfrm>
          <a:prstGeom prst="rect">
            <a:avLst/>
          </a:prstGeom>
          <a:noFill/>
        </p:spPr>
        <p:txBody>
          <a:bodyPr wrap="square" rtlCol="0">
            <a:spAutoFit/>
          </a:bodyPr>
          <a:p>
            <a:pPr algn="ctr"/>
            <a:r>
              <a:rPr lang="zh-CN" altLang="en-US" sz="2800" b="1">
                <a:solidFill>
                  <a:srgbClr val="1F2DA8"/>
                </a:solidFill>
                <a:latin typeface="楷体" panose="02010609060101010101" charset="-122"/>
                <a:ea typeface="楷体" panose="02010609060101010101" charset="-122"/>
              </a:rPr>
              <a:t>第一代数据库系统</a:t>
            </a:r>
            <a:endParaRPr lang="zh-CN" altLang="en-US" sz="2800" b="1">
              <a:solidFill>
                <a:srgbClr val="1F2DA8"/>
              </a:solidFill>
              <a:latin typeface="楷体" panose="02010609060101010101" charset="-122"/>
              <a:ea typeface="楷体" panose="02010609060101010101" charset="-122"/>
            </a:endParaRPr>
          </a:p>
        </p:txBody>
      </p:sp>
      <p:sp>
        <p:nvSpPr>
          <p:cNvPr id="7" name="灯片编号占位符 6"/>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26"/>
          <p:cNvSpPr>
            <a:spLocks noGrp="1" noChangeArrowheads="1"/>
          </p:cNvSpPr>
          <p:nvPr>
            <p:ph type="title"/>
          </p:nvPr>
        </p:nvSpPr>
        <p:spPr/>
        <p:txBody>
          <a:bodyPr/>
          <a:lstStyle/>
          <a:p>
            <a:r>
              <a:rPr lang="en-US" altLang="zh-CN"/>
              <a:t>1.2.7  </a:t>
            </a:r>
            <a:r>
              <a:rPr lang="zh-CN" altLang="en-US"/>
              <a:t>关系模型</a:t>
            </a:r>
            <a:r>
              <a:rPr lang="en-US" altLang="zh-CN"/>
              <a:t> - </a:t>
            </a:r>
            <a:r>
              <a:rPr lang="zh-CN" altLang="en-US"/>
              <a:t>数据</a:t>
            </a:r>
            <a:r>
              <a:rPr lang="zh-CN" altLang="en-US"/>
              <a:t>结构</a:t>
            </a:r>
            <a:endParaRPr lang="zh-CN" altLang="en-US"/>
          </a:p>
        </p:txBody>
      </p:sp>
      <p:sp>
        <p:nvSpPr>
          <p:cNvPr id="98307" name="Rectangle 1027"/>
          <p:cNvSpPr>
            <a:spLocks noGrp="1" noChangeArrowheads="1"/>
          </p:cNvSpPr>
          <p:nvPr>
            <p:ph idx="1"/>
          </p:nvPr>
        </p:nvSpPr>
        <p:spPr>
          <a:xfrm>
            <a:off x="424180" y="687070"/>
            <a:ext cx="11343005" cy="1106805"/>
          </a:xfrm>
        </p:spPr>
        <p:txBody>
          <a:bodyPr>
            <a:noAutofit/>
          </a:bodyPr>
          <a:lstStyle/>
          <a:p>
            <a:r>
              <a:rPr lang="zh-CN" altLang="en-US" dirty="0"/>
              <a:t>在用户观点下，关系模型中数据的逻辑结构是一张二维表，它由行和列组成。</a:t>
            </a:r>
            <a:endParaRPr lang="zh-CN" altLang="en-US" dirty="0"/>
          </a:p>
        </p:txBody>
      </p:sp>
      <p:graphicFrame>
        <p:nvGraphicFramePr>
          <p:cNvPr id="18" name="Group 1284"/>
          <p:cNvGraphicFramePr/>
          <p:nvPr>
            <p:custDataLst>
              <p:tags r:id="rId1"/>
            </p:custDataLst>
          </p:nvPr>
        </p:nvGraphicFramePr>
        <p:xfrm>
          <a:off x="964565" y="2627630"/>
          <a:ext cx="10410190" cy="2999105"/>
        </p:xfrm>
        <a:graphic>
          <a:graphicData uri="http://schemas.openxmlformats.org/drawingml/2006/table">
            <a:tbl>
              <a:tblPr/>
              <a:tblGrid>
                <a:gridCol w="1736090"/>
                <a:gridCol w="1733550"/>
                <a:gridCol w="1736725"/>
                <a:gridCol w="1734185"/>
                <a:gridCol w="1736090"/>
                <a:gridCol w="1733550"/>
              </a:tblGrid>
              <a:tr h="51816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学  号</a:t>
                      </a:r>
                      <a:endPar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姓  名</a:t>
                      </a:r>
                      <a:endPar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年  龄</a:t>
                      </a:r>
                      <a:endPar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性  别</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系  名</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年  级</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54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2013004</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王小明</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19</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女</a:t>
                      </a:r>
                      <a:endPar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社会学</a:t>
                      </a:r>
                      <a:endParaRPr kumimoji="1" lang="zh-CN" altLang="en-US"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960EE">
                        <a:alpha val="50000"/>
                      </a:srgbClr>
                    </a:solidFill>
                  </a:tcPr>
                </a:tc>
              </a:tr>
              <a:tr h="65468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2013006</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黄大鹏</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20</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男</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商品学</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54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2013008</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张文斌</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18</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女</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rPr>
                        <a:t>法律</a:t>
                      </a:r>
                      <a:endParaRPr kumimoji="1" lang="zh-CN" altLang="en-US"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rPr>
                        <a:t>2013</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6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endParaRPr>
                    </a:p>
                  </a:txBody>
                  <a:tcPr anchor="ctr" anchorCtr="0"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endParaRPr kumimoji="1" lang="en-US" altLang="zh-CN" sz="2800" b="1" i="0" u="none" strike="noStrike" cap="none" normalizeH="0" baseline="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rPr>
                        <a:t>…</a:t>
                      </a:r>
                      <a:endParaRPr kumimoji="1" lang="en-US" altLang="zh-CN" sz="2800" b="1" i="0" u="none" strike="noStrike" cap="none" normalizeH="0" baseline="0" dirty="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endParaRPr>
                    </a:p>
                  </a:txBody>
                  <a:tcPr anchor="ctr" anchorCtr="0"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9" name="AutoShape 1285"/>
          <p:cNvSpPr>
            <a:spLocks noChangeArrowheads="1"/>
          </p:cNvSpPr>
          <p:nvPr/>
        </p:nvSpPr>
        <p:spPr bwMode="auto">
          <a:xfrm>
            <a:off x="3299763" y="1512312"/>
            <a:ext cx="914400" cy="609600"/>
          </a:xfrm>
          <a:prstGeom prst="wedgeRectCallout">
            <a:avLst>
              <a:gd name="adj1" fmla="val -148611"/>
              <a:gd name="adj2" fmla="val 126301"/>
            </a:avLst>
          </a:prstGeom>
          <a:gradFill rotWithShape="0">
            <a:gsLst>
              <a:gs pos="0">
                <a:srgbClr val="FFFFFF"/>
              </a:gs>
              <a:gs pos="100000">
                <a:srgbClr val="BBBBBB"/>
              </a:gs>
            </a:gsLst>
            <a:lin ang="5400000" scaled="1"/>
          </a:gradFill>
          <a:ln w="25400" algn="ctr">
            <a:solidFill>
              <a:schemeClr val="tx1"/>
            </a:solidFill>
            <a:miter lim="800000"/>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属性</a:t>
            </a:r>
            <a:endParaRPr lang="zh-CN" altLang="en-US" sz="2800" b="1"/>
          </a:p>
        </p:txBody>
      </p:sp>
      <p:sp>
        <p:nvSpPr>
          <p:cNvPr id="20" name="AutoShape 1286"/>
          <p:cNvSpPr>
            <a:spLocks noChangeArrowheads="1"/>
          </p:cNvSpPr>
          <p:nvPr/>
        </p:nvSpPr>
        <p:spPr bwMode="auto">
          <a:xfrm>
            <a:off x="10460340" y="1622802"/>
            <a:ext cx="914400" cy="609600"/>
          </a:xfrm>
          <a:prstGeom prst="wedgeRectCallout">
            <a:avLst>
              <a:gd name="adj1" fmla="val -70315"/>
              <a:gd name="adj2" fmla="val 204426"/>
            </a:avLst>
          </a:prstGeom>
          <a:gradFill rotWithShape="0">
            <a:gsLst>
              <a:gs pos="0">
                <a:srgbClr val="FFFFFF"/>
              </a:gs>
              <a:gs pos="100000">
                <a:srgbClr val="BBBBBB"/>
              </a:gs>
            </a:gsLst>
            <a:lin ang="5400000" scaled="1"/>
          </a:gradFill>
          <a:ln w="25400" algn="ctr">
            <a:solidFill>
              <a:schemeClr val="tx1"/>
            </a:solidFill>
            <a:miter lim="800000"/>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元组</a:t>
            </a:r>
            <a:endParaRPr lang="zh-CN" altLang="en-US" sz="2800" b="1"/>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
        <p:nvSpPr>
          <p:cNvPr id="4" name="Rectangle 1027"/>
          <p:cNvSpPr>
            <a:spLocks noGrp="1" noChangeArrowheads="1"/>
          </p:cNvSpPr>
          <p:nvPr/>
        </p:nvSpPr>
        <p:spPr>
          <a:xfrm>
            <a:off x="424180" y="5626735"/>
            <a:ext cx="11343005" cy="11068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Calibri" panose="020F0502020204030204" charset="0"/>
                <a:cs typeface="Calibri" panose="020F0502020204030204" charset="0"/>
              </a:rPr>
              <a:t>在关系模型中，符合特定约束条件的二维表被称为</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关系</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，表中的行和列被称为</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元组</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和</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属性</a:t>
            </a:r>
            <a:r>
              <a:rPr lang="en-US" altLang="zh-CN" dirty="0">
                <a:latin typeface="Calibri" panose="020F0502020204030204" charset="0"/>
                <a:cs typeface="Calibri" panose="020F0502020204030204" charset="0"/>
              </a:rPr>
              <a:t>’</a:t>
            </a:r>
            <a:endParaRPr lang="en-US" altLang="zh-CN" dirty="0">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026"/>
          <p:cNvSpPr>
            <a:spLocks noGrp="1" noChangeArrowheads="1"/>
          </p:cNvSpPr>
          <p:nvPr>
            <p:ph type="title"/>
          </p:nvPr>
        </p:nvSpPr>
        <p:spPr/>
        <p:txBody>
          <a:bodyPr/>
          <a:lstStyle/>
          <a:p>
            <a:r>
              <a:rPr lang="en-US" altLang="zh-CN">
                <a:sym typeface="+mn-ea"/>
              </a:rPr>
              <a:t>1.2.7  </a:t>
            </a:r>
            <a:r>
              <a:rPr lang="zh-CN" altLang="en-US">
                <a:sym typeface="+mn-ea"/>
              </a:rPr>
              <a:t>关系模型</a:t>
            </a:r>
            <a:r>
              <a:rPr lang="en-US" altLang="zh-CN">
                <a:sym typeface="+mn-ea"/>
              </a:rPr>
              <a:t> - </a:t>
            </a:r>
            <a:r>
              <a:rPr lang="zh-CN" altLang="en-US">
                <a:sym typeface="+mn-ea"/>
              </a:rPr>
              <a:t>基本</a:t>
            </a:r>
            <a:r>
              <a:rPr lang="zh-CN" altLang="en-US">
                <a:sym typeface="+mn-ea"/>
              </a:rPr>
              <a:t>概念</a:t>
            </a:r>
            <a:endParaRPr lang="zh-CN" altLang="en-US">
              <a:sym typeface="+mn-ea"/>
            </a:endParaRPr>
          </a:p>
        </p:txBody>
      </p:sp>
      <p:sp>
        <p:nvSpPr>
          <p:cNvPr id="99331" name="Rectangle 1027"/>
          <p:cNvSpPr>
            <a:spLocks noGrp="1" noChangeArrowheads="1"/>
          </p:cNvSpPr>
          <p:nvPr>
            <p:ph idx="1"/>
          </p:nvPr>
        </p:nvSpPr>
        <p:spPr/>
        <p:txBody>
          <a:bodyPr>
            <a:noAutofit/>
          </a:bodyPr>
          <a:lstStyle/>
          <a:p>
            <a:pPr lvl="0">
              <a:lnSpc>
                <a:spcPct val="100000"/>
              </a:lnSpc>
              <a:spcBef>
                <a:spcPts val="0"/>
              </a:spcBef>
            </a:pPr>
            <a:r>
              <a:rPr lang="zh-CN" altLang="en-US" sz="2800" dirty="0">
                <a:solidFill>
                  <a:srgbClr val="FF0000"/>
                </a:solidFill>
                <a:latin typeface="Calibri" panose="020F0502020204030204" charset="0"/>
                <a:cs typeface="Calibri" panose="020F0502020204030204" charset="0"/>
              </a:rPr>
              <a:t>关系</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Relation)</a:t>
            </a:r>
            <a:r>
              <a:rPr lang="zh-CN" altLang="en-US" sz="2800" dirty="0">
                <a:latin typeface="Calibri" panose="020F0502020204030204" charset="0"/>
                <a:cs typeface="Calibri" panose="020F0502020204030204" charset="0"/>
              </a:rPr>
              <a:t>：一个关系对应通常说的一张</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表</a:t>
            </a:r>
            <a:r>
              <a:rPr lang="en-US" altLang="zh-CN" sz="2800" dirty="0">
                <a:latin typeface="Calibri" panose="020F0502020204030204" charset="0"/>
                <a:cs typeface="Calibri" panose="020F0502020204030204" charset="0"/>
              </a:rPr>
              <a:t>’(table)</a:t>
            </a:r>
            <a:endParaRPr lang="zh-CN" altLang="en-US"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元组</a:t>
            </a:r>
            <a:r>
              <a:rPr lang="en-US" altLang="zh-CN" sz="2800" dirty="0">
                <a:latin typeface="Calibri" panose="020F0502020204030204" charset="0"/>
                <a:cs typeface="Calibri" panose="020F0502020204030204" charset="0"/>
              </a:rPr>
              <a:t>(Tuple</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：表中的一行即为一个</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元组</a:t>
            </a:r>
            <a:r>
              <a:rPr lang="en-US" altLang="zh-CN" sz="2800" dirty="0">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属性</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Attribute</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：表中的一列即为一个</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属性</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，给每一个属性起一个名称即</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属性名</a:t>
            </a:r>
            <a:r>
              <a:rPr lang="en-US" altLang="zh-CN" sz="2800" dirty="0">
                <a:latin typeface="Calibri" panose="020F0502020204030204" charset="0"/>
                <a:cs typeface="Calibri" panose="020F0502020204030204" charset="0"/>
              </a:rPr>
              <a:t>’</a:t>
            </a:r>
            <a:endParaRPr lang="en-US" altLang="zh-CN"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码</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Key</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：也称</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键</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。表中的某个属性组，它可以唯一确定表中的一个元组</a:t>
            </a:r>
            <a:endParaRPr lang="en-US" altLang="zh-CN"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域</a:t>
            </a:r>
            <a:r>
              <a:rPr lang="en-US" altLang="zh-CN" sz="2800" dirty="0">
                <a:latin typeface="Calibri" panose="020F0502020204030204" charset="0"/>
                <a:cs typeface="Calibri" panose="020F0502020204030204" charset="0"/>
                <a:sym typeface="+mn-ea"/>
              </a:rPr>
              <a:t>(</a:t>
            </a:r>
            <a:r>
              <a:rPr lang="en-US" altLang="zh-CN" sz="2800" dirty="0">
                <a:latin typeface="Calibri" panose="020F0502020204030204" charset="0"/>
                <a:cs typeface="Calibri" panose="020F0502020204030204" charset="0"/>
              </a:rPr>
              <a:t>Domain</a:t>
            </a:r>
            <a:r>
              <a:rPr lang="en-US" altLang="zh-CN" sz="2800" dirty="0">
                <a:latin typeface="Calibri" panose="020F0502020204030204" charset="0"/>
                <a:cs typeface="Calibri" panose="020F0502020204030204" charset="0"/>
                <a:sym typeface="+mn-ea"/>
              </a:rPr>
              <a:t>)</a:t>
            </a:r>
            <a:r>
              <a:rPr lang="zh-CN" altLang="en-US" sz="2800" dirty="0">
                <a:latin typeface="Calibri" panose="020F0502020204030204" charset="0"/>
                <a:cs typeface="Calibri" panose="020F0502020204030204" charset="0"/>
              </a:rPr>
              <a:t>：是一组具有相同数据类型的值的集合。属性的取值范围来自某个</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域</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分量</a:t>
            </a:r>
            <a:r>
              <a:rPr lang="zh-CN" altLang="en-US" sz="2800" dirty="0">
                <a:latin typeface="Calibri" panose="020F0502020204030204" charset="0"/>
                <a:cs typeface="Calibri" panose="020F0502020204030204" charset="0"/>
              </a:rPr>
              <a:t>：元组中的一个属性值。</a:t>
            </a:r>
            <a:endParaRPr lang="zh-CN" altLang="en-US" sz="2800" dirty="0">
              <a:latin typeface="Calibri" panose="020F0502020204030204" charset="0"/>
              <a:cs typeface="Calibri" panose="020F0502020204030204" charset="0"/>
            </a:endParaRPr>
          </a:p>
          <a:p>
            <a:pPr lvl="0">
              <a:lnSpc>
                <a:spcPct val="100000"/>
              </a:lnSpc>
              <a:spcBef>
                <a:spcPts val="600"/>
              </a:spcBef>
            </a:pPr>
            <a:r>
              <a:rPr lang="zh-CN" altLang="en-US" sz="2800" dirty="0">
                <a:solidFill>
                  <a:srgbClr val="FF0000"/>
                </a:solidFill>
                <a:latin typeface="Calibri" panose="020F0502020204030204" charset="0"/>
                <a:cs typeface="Calibri" panose="020F0502020204030204" charset="0"/>
              </a:rPr>
              <a:t>关系模式</a:t>
            </a:r>
            <a:r>
              <a:rPr lang="zh-CN" altLang="en-US" sz="2800" dirty="0">
                <a:solidFill>
                  <a:srgbClr val="1F2DA8"/>
                </a:solidFill>
                <a:latin typeface="Calibri" panose="020F0502020204030204" charset="0"/>
                <a:cs typeface="Calibri" panose="020F0502020204030204" charset="0"/>
              </a:rPr>
              <a:t>：由关系的</a:t>
            </a:r>
            <a:r>
              <a:rPr lang="zh-CN" altLang="en-US" sz="2800" dirty="0">
                <a:solidFill>
                  <a:srgbClr val="C00000"/>
                </a:solidFill>
                <a:latin typeface="Calibri" panose="020F0502020204030204" charset="0"/>
                <a:cs typeface="Calibri" panose="020F0502020204030204" charset="0"/>
              </a:rPr>
              <a:t>关系名</a:t>
            </a:r>
            <a:r>
              <a:rPr lang="zh-CN" altLang="en-US" sz="2800" dirty="0">
                <a:solidFill>
                  <a:srgbClr val="1F2DA8"/>
                </a:solidFill>
                <a:latin typeface="Calibri" panose="020F0502020204030204" charset="0"/>
                <a:cs typeface="Calibri" panose="020F0502020204030204" charset="0"/>
              </a:rPr>
              <a:t>及其</a:t>
            </a:r>
            <a:r>
              <a:rPr lang="zh-CN" altLang="en-US" sz="2800" dirty="0">
                <a:solidFill>
                  <a:srgbClr val="C00000"/>
                </a:solidFill>
                <a:latin typeface="Calibri" panose="020F0502020204030204" charset="0"/>
                <a:cs typeface="Calibri" panose="020F0502020204030204" charset="0"/>
              </a:rPr>
              <a:t>所有属性的属性名</a:t>
            </a:r>
            <a:r>
              <a:rPr lang="zh-CN" altLang="en-US" sz="2800" dirty="0">
                <a:solidFill>
                  <a:srgbClr val="1F2DA8"/>
                </a:solidFill>
                <a:latin typeface="Calibri" panose="020F0502020204030204" charset="0"/>
                <a:cs typeface="Calibri" panose="020F0502020204030204" charset="0"/>
              </a:rPr>
              <a:t>构成</a:t>
            </a:r>
            <a:r>
              <a:rPr lang="en-US" altLang="zh-CN" sz="2800" dirty="0">
                <a:solidFill>
                  <a:srgbClr val="1F2DA8"/>
                </a:solidFill>
                <a:latin typeface="Calibri" panose="020F0502020204030204" charset="0"/>
                <a:cs typeface="Calibri" panose="020F0502020204030204" charset="0"/>
              </a:rPr>
              <a:t>‘</a:t>
            </a:r>
            <a:r>
              <a:rPr lang="zh-CN" altLang="en-US" sz="2800" dirty="0">
                <a:solidFill>
                  <a:srgbClr val="1F2DA8"/>
                </a:solidFill>
                <a:latin typeface="Calibri" panose="020F0502020204030204" charset="0"/>
                <a:cs typeface="Calibri" panose="020F0502020204030204" charset="0"/>
              </a:rPr>
              <a:t>关系模式</a:t>
            </a:r>
            <a:r>
              <a:rPr lang="en-US" altLang="zh-CN" sz="2800" dirty="0">
                <a:solidFill>
                  <a:srgbClr val="1F2DA8"/>
                </a:solidFill>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lvl="1">
              <a:lnSpc>
                <a:spcPct val="100000"/>
              </a:lnSpc>
              <a:spcBef>
                <a:spcPts val="0"/>
              </a:spcBef>
            </a:pPr>
            <a:r>
              <a:rPr lang="zh-CN" altLang="en-US" sz="2800" dirty="0">
                <a:latin typeface="Calibri" panose="020F0502020204030204" charset="0"/>
                <a:cs typeface="Calibri" panose="020F0502020204030204" charset="0"/>
              </a:rPr>
              <a:t>关系模式是对关系的描述：关系名</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属性</a:t>
            </a:r>
            <a:r>
              <a:rPr lang="zh-CN" altLang="en-US" dirty="0">
                <a:latin typeface="Calibri" panose="020F0502020204030204" charset="0"/>
                <a:cs typeface="Calibri" panose="020F0502020204030204" charset="0"/>
                <a:sym typeface="+mn-ea"/>
              </a:rPr>
              <a:t>名</a:t>
            </a:r>
            <a:r>
              <a:rPr lang="en-US" altLang="zh-CN" sz="2800" dirty="0">
                <a:latin typeface="Calibri" panose="020F0502020204030204" charset="0"/>
                <a:cs typeface="Calibri" panose="020F0502020204030204" charset="0"/>
              </a:rPr>
              <a:t>1, </a:t>
            </a:r>
            <a:r>
              <a:rPr lang="zh-CN" altLang="en-US" sz="2800" dirty="0">
                <a:latin typeface="Calibri" panose="020F0502020204030204" charset="0"/>
                <a:cs typeface="Calibri" panose="020F0502020204030204" charset="0"/>
              </a:rPr>
              <a:t>属性</a:t>
            </a:r>
            <a:r>
              <a:rPr lang="zh-CN" altLang="en-US" dirty="0">
                <a:latin typeface="Calibri" panose="020F0502020204030204" charset="0"/>
                <a:cs typeface="Calibri" panose="020F0502020204030204" charset="0"/>
                <a:sym typeface="+mn-ea"/>
              </a:rPr>
              <a:t>名</a:t>
            </a:r>
            <a:r>
              <a:rPr lang="en-US" altLang="zh-CN" sz="2800" dirty="0">
                <a:latin typeface="Calibri" panose="020F0502020204030204" charset="0"/>
                <a:cs typeface="Calibri" panose="020F0502020204030204" charset="0"/>
              </a:rPr>
              <a:t>2, …, </a:t>
            </a:r>
            <a:r>
              <a:rPr lang="zh-CN" altLang="en-US" sz="2800" dirty="0">
                <a:latin typeface="Calibri" panose="020F0502020204030204" charset="0"/>
                <a:cs typeface="Calibri" panose="020F0502020204030204" charset="0"/>
              </a:rPr>
              <a:t>属性</a:t>
            </a:r>
            <a:r>
              <a:rPr lang="zh-CN" altLang="en-US" dirty="0">
                <a:latin typeface="Calibri" panose="020F0502020204030204" charset="0"/>
                <a:cs typeface="Calibri" panose="020F0502020204030204" charset="0"/>
                <a:sym typeface="+mn-ea"/>
              </a:rPr>
              <a:t>名</a:t>
            </a:r>
            <a:r>
              <a:rPr lang="en-US" altLang="zh-CN" sz="2800" dirty="0">
                <a:latin typeface="Calibri" panose="020F0502020204030204" charset="0"/>
                <a:cs typeface="Calibri" panose="020F0502020204030204" charset="0"/>
              </a:rPr>
              <a:t>n)</a:t>
            </a:r>
            <a:endParaRPr lang="zh-CN" altLang="en-US" sz="2800" dirty="0">
              <a:latin typeface="Calibri" panose="020F0502020204030204" charset="0"/>
              <a:cs typeface="Calibri" panose="020F0502020204030204" charset="0"/>
            </a:endParaRPr>
          </a:p>
          <a:p>
            <a:pPr lvl="1">
              <a:lnSpc>
                <a:spcPct val="100000"/>
              </a:lnSpc>
              <a:spcBef>
                <a:spcPts val="0"/>
              </a:spcBef>
            </a:pPr>
            <a:r>
              <a:rPr lang="zh-CN" altLang="en-US" sz="2800" dirty="0">
                <a:latin typeface="Calibri" panose="020F0502020204030204" charset="0"/>
                <a:cs typeface="Calibri" panose="020F0502020204030204" charset="0"/>
              </a:rPr>
              <a:t>例：学生</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学号</a:t>
            </a: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姓名</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年龄</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性别</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系名</a:t>
            </a:r>
            <a:r>
              <a:rPr lang="en-US" altLang="zh-CN" dirty="0">
                <a:latin typeface="Calibri" panose="020F0502020204030204" charset="0"/>
                <a:cs typeface="Calibri" panose="020F0502020204030204" charset="0"/>
                <a:sym typeface="+mn-ea"/>
              </a:rPr>
              <a:t>, </a:t>
            </a:r>
            <a:r>
              <a:rPr lang="zh-CN" altLang="en-US" sz="2800" dirty="0">
                <a:latin typeface="Calibri" panose="020F0502020204030204" charset="0"/>
                <a:cs typeface="Calibri" panose="020F0502020204030204" charset="0"/>
              </a:rPr>
              <a:t>年级</a:t>
            </a:r>
            <a:r>
              <a:rPr lang="en-US" altLang="zh-CN" sz="2800" dirty="0">
                <a:latin typeface="Calibri" panose="020F0502020204030204" charset="0"/>
                <a:cs typeface="Calibri" panose="020F0502020204030204" charset="0"/>
              </a:rPr>
              <a:t>)</a:t>
            </a:r>
            <a:endParaRPr lang="en-US" altLang="zh-CN" sz="2800" dirty="0">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Rectangle 2"/>
          <p:cNvSpPr>
            <a:spLocks noGrp="1" noChangeArrowheads="1"/>
          </p:cNvSpPr>
          <p:nvPr>
            <p:ph type="title"/>
          </p:nvPr>
        </p:nvSpPr>
        <p:spPr/>
        <p:txBody>
          <a:bodyPr/>
          <a:lstStyle/>
          <a:p>
            <a:r>
              <a:rPr lang="en-US" altLang="zh-CN">
                <a:sym typeface="+mn-ea"/>
              </a:rPr>
              <a:t>1.2.7  </a:t>
            </a:r>
            <a:r>
              <a:rPr lang="zh-CN" altLang="en-US">
                <a:sym typeface="+mn-ea"/>
              </a:rPr>
              <a:t>关系模型</a:t>
            </a:r>
            <a:r>
              <a:rPr lang="en-US" altLang="zh-CN">
                <a:sym typeface="+mn-ea"/>
              </a:rPr>
              <a:t> - </a:t>
            </a:r>
            <a:r>
              <a:rPr lang="zh-CN" altLang="en-US">
                <a:sym typeface="+mn-ea"/>
              </a:rPr>
              <a:t>模型的</a:t>
            </a:r>
            <a:r>
              <a:rPr lang="zh-CN" altLang="en-US">
                <a:sym typeface="+mn-ea"/>
              </a:rPr>
              <a:t>规范化</a:t>
            </a:r>
            <a:endParaRPr lang="zh-CN" altLang="en-US">
              <a:sym typeface="+mn-ea"/>
            </a:endParaRPr>
          </a:p>
        </p:txBody>
      </p:sp>
      <p:sp>
        <p:nvSpPr>
          <p:cNvPr id="2060" name="Rectangle 3"/>
          <p:cNvSpPr>
            <a:spLocks noGrp="1" noChangeArrowheads="1"/>
          </p:cNvSpPr>
          <p:nvPr>
            <p:ph idx="1"/>
          </p:nvPr>
        </p:nvSpPr>
        <p:spPr/>
        <p:txBody>
          <a:bodyPr>
            <a:normAutofit/>
          </a:bodyPr>
          <a:lstStyle/>
          <a:p>
            <a:r>
              <a:rPr lang="zh-CN" altLang="en-US" dirty="0"/>
              <a:t>关系必须是规范化的，满足一定的规范条件</a:t>
            </a:r>
            <a:endParaRPr lang="en-US" altLang="zh-CN" dirty="0"/>
          </a:p>
          <a:p>
            <a:pPr lvl="1"/>
            <a:r>
              <a:rPr lang="zh-CN" altLang="en-US" dirty="0"/>
              <a:t>最基本的规范条件：关系的每一个分量必须是一个不可分的数据项</a:t>
            </a:r>
            <a:r>
              <a:rPr lang="en-US" altLang="zh-CN" dirty="0"/>
              <a:t>, </a:t>
            </a:r>
            <a:r>
              <a:rPr lang="zh-CN" altLang="en-US" dirty="0"/>
              <a:t>不允许表中还有表</a:t>
            </a:r>
            <a:endParaRPr lang="zh-CN" altLang="en-US" dirty="0"/>
          </a:p>
          <a:p>
            <a:pPr lvl="1"/>
            <a:endParaRPr lang="zh-CN" altLang="en-US" dirty="0"/>
          </a:p>
          <a:p>
            <a:pPr lvl="0"/>
            <a:r>
              <a:rPr lang="zh-CN" altLang="en-US" dirty="0"/>
              <a:t>不符合规范化要求的</a:t>
            </a:r>
            <a:r>
              <a:rPr lang="zh-CN" altLang="en-US" dirty="0"/>
              <a:t>例子</a:t>
            </a:r>
            <a:endParaRPr lang="zh-CN" altLang="en-US" dirty="0"/>
          </a:p>
        </p:txBody>
      </p:sp>
      <p:pic>
        <p:nvPicPr>
          <p:cNvPr id="2" name="图片 1"/>
          <p:cNvPicPr>
            <a:picLocks noChangeAspect="1"/>
          </p:cNvPicPr>
          <p:nvPr>
            <p:custDataLst>
              <p:tags r:id="rId1"/>
            </p:custDataLst>
          </p:nvPr>
        </p:nvPicPr>
        <p:blipFill>
          <a:blip r:embed="rId2"/>
          <a:stretch>
            <a:fillRect/>
          </a:stretch>
        </p:blipFill>
        <p:spPr>
          <a:xfrm>
            <a:off x="1114425" y="3328035"/>
            <a:ext cx="10119995" cy="2564130"/>
          </a:xfrm>
          <a:prstGeom prst="rect">
            <a:avLst/>
          </a:prstGeom>
        </p:spPr>
      </p:pic>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zh-CN" altLang="en-US" dirty="0"/>
              <a:t>关系模型的操作与完整性约束</a:t>
            </a:r>
            <a:endParaRPr lang="zh-CN" altLang="en-US" dirty="0"/>
          </a:p>
        </p:txBody>
      </p:sp>
      <p:sp>
        <p:nvSpPr>
          <p:cNvPr id="102403" name="Rectangle 3"/>
          <p:cNvSpPr>
            <a:spLocks noGrp="1" noChangeArrowheads="1"/>
          </p:cNvSpPr>
          <p:nvPr>
            <p:ph idx="1"/>
          </p:nvPr>
        </p:nvSpPr>
        <p:spPr/>
        <p:txBody>
          <a:bodyPr>
            <a:normAutofit/>
          </a:bodyPr>
          <a:lstStyle/>
          <a:p>
            <a:r>
              <a:rPr lang="zh-CN" altLang="en-US" dirty="0"/>
              <a:t>数据操作（查询、插入、删除、更新）是集合操作，操作对象和操作结果都是关系</a:t>
            </a:r>
            <a:endParaRPr lang="zh-CN" altLang="en-US" dirty="0"/>
          </a:p>
          <a:p>
            <a:pPr>
              <a:lnSpc>
                <a:spcPct val="110000"/>
              </a:lnSpc>
              <a:spcBef>
                <a:spcPts val="3000"/>
              </a:spcBef>
            </a:pPr>
            <a:r>
              <a:rPr lang="zh-CN" altLang="en-US" dirty="0"/>
              <a:t>数据操作的非</a:t>
            </a:r>
            <a:r>
              <a:rPr lang="zh-CN" altLang="en-US" dirty="0"/>
              <a:t>过程化</a:t>
            </a:r>
            <a:endParaRPr lang="zh-CN" altLang="en-US" dirty="0"/>
          </a:p>
          <a:p>
            <a:pPr lvl="1">
              <a:lnSpc>
                <a:spcPct val="110000"/>
              </a:lnSpc>
              <a:spcBef>
                <a:spcPts val="1000"/>
              </a:spcBef>
            </a:pPr>
            <a:r>
              <a:rPr lang="zh-CN" altLang="en-US" dirty="0"/>
              <a:t>存取路径对用户隐蔽</a:t>
            </a:r>
            <a:endParaRPr lang="zh-CN" altLang="en-US" dirty="0"/>
          </a:p>
          <a:p>
            <a:pPr lvl="1">
              <a:lnSpc>
                <a:spcPct val="110000"/>
              </a:lnSpc>
              <a:spcBef>
                <a:spcPts val="1000"/>
              </a:spcBef>
            </a:pPr>
            <a:r>
              <a:rPr lang="zh-CN" altLang="en-US" dirty="0"/>
              <a:t>用户只要指出“干什么”，不必详细说明“怎么干”</a:t>
            </a:r>
            <a:endParaRPr lang="en-US" altLang="zh-CN" dirty="0"/>
          </a:p>
          <a:p>
            <a:pPr algn="just" eaLnBrk="1" hangingPunct="1">
              <a:lnSpc>
                <a:spcPct val="190000"/>
              </a:lnSpc>
            </a:pPr>
            <a:r>
              <a:rPr lang="zh-CN" altLang="en-US" dirty="0"/>
              <a:t>关系的完整性约束条件 </a:t>
            </a:r>
            <a:endParaRPr lang="zh-CN" altLang="en-US" dirty="0"/>
          </a:p>
          <a:p>
            <a:pPr lvl="1" algn="just" eaLnBrk="1" hangingPunct="1">
              <a:lnSpc>
                <a:spcPct val="120000"/>
              </a:lnSpc>
            </a:pPr>
            <a:r>
              <a:rPr lang="zh-CN" altLang="en-US" dirty="0"/>
              <a:t>实体完整性</a:t>
            </a:r>
            <a:endParaRPr lang="zh-CN" altLang="en-US" dirty="0"/>
          </a:p>
          <a:p>
            <a:pPr lvl="1" algn="just" eaLnBrk="1" hangingPunct="1">
              <a:lnSpc>
                <a:spcPct val="120000"/>
              </a:lnSpc>
            </a:pPr>
            <a:r>
              <a:rPr lang="zh-CN" altLang="en-US" dirty="0"/>
              <a:t>参照完整性</a:t>
            </a:r>
            <a:endParaRPr lang="zh-CN" altLang="en-US" dirty="0"/>
          </a:p>
          <a:p>
            <a:pPr lvl="1" algn="just" eaLnBrk="1" hangingPunct="1">
              <a:lnSpc>
                <a:spcPct val="120000"/>
              </a:lnSpc>
            </a:pPr>
            <a:r>
              <a:rPr lang="zh-CN" altLang="en-US" dirty="0"/>
              <a:t>用户定义的完整性</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r>
              <a:rPr lang="zh-CN" altLang="en-US" kern="0">
                <a:sym typeface="+mn-ea"/>
              </a:rPr>
              <a:t>关系模型的优缺点</a:t>
            </a:r>
            <a:endParaRPr lang="zh-CN" altLang="en-US"/>
          </a:p>
        </p:txBody>
      </p:sp>
      <p:sp>
        <p:nvSpPr>
          <p:cNvPr id="2" name="文本占位符 1"/>
          <p:cNvSpPr>
            <a:spLocks noGrp="1"/>
          </p:cNvSpPr>
          <p:nvPr>
            <p:ph type="body" idx="1"/>
          </p:nvPr>
        </p:nvSpPr>
        <p:spPr>
          <a:solidFill>
            <a:schemeClr val="accent3">
              <a:lumMod val="20000"/>
              <a:lumOff val="80000"/>
              <a:alpha val="50000"/>
            </a:schemeClr>
          </a:solidFill>
        </p:spPr>
        <p:txBody>
          <a:bodyPr/>
          <a:lstStyle/>
          <a:p>
            <a:r>
              <a:rPr lang="zh-CN" altLang="en-US" dirty="0"/>
              <a:t>优点</a:t>
            </a:r>
            <a:endParaRPr lang="zh-CN" altLang="en-US" dirty="0"/>
          </a:p>
        </p:txBody>
      </p:sp>
      <p:sp>
        <p:nvSpPr>
          <p:cNvPr id="3" name="内容占位符 2"/>
          <p:cNvSpPr>
            <a:spLocks noGrp="1"/>
          </p:cNvSpPr>
          <p:nvPr>
            <p:ph sz="half" idx="2"/>
          </p:nvPr>
        </p:nvSpPr>
        <p:spPr>
          <a:ln>
            <a:solidFill>
              <a:schemeClr val="accent1"/>
            </a:solidFill>
          </a:ln>
        </p:spPr>
        <p:txBody>
          <a:bodyPr>
            <a:normAutofit fontScale="92500"/>
          </a:bodyPr>
          <a:lstStyle/>
          <a:p>
            <a:r>
              <a:rPr lang="zh-CN" altLang="en-US" dirty="0"/>
              <a:t>建立在严格的数学概念的基础上</a:t>
            </a:r>
            <a:endParaRPr lang="zh-CN" altLang="en-US" dirty="0"/>
          </a:p>
          <a:p>
            <a:r>
              <a:rPr lang="zh-CN" altLang="en-US" dirty="0"/>
              <a:t>概念单一</a:t>
            </a:r>
            <a:endParaRPr lang="zh-CN" altLang="en-US" dirty="0"/>
          </a:p>
          <a:p>
            <a:pPr lvl="1"/>
            <a:r>
              <a:rPr lang="zh-CN" altLang="en-US" dirty="0"/>
              <a:t>实体和各类联系都用关系来表示</a:t>
            </a:r>
            <a:endParaRPr lang="zh-CN" altLang="en-US" dirty="0"/>
          </a:p>
          <a:p>
            <a:pPr lvl="1"/>
            <a:r>
              <a:rPr lang="zh-CN" altLang="en-US" dirty="0"/>
              <a:t>对数据的检索结果也是关系</a:t>
            </a:r>
            <a:endParaRPr lang="zh-CN" altLang="en-US" dirty="0"/>
          </a:p>
          <a:p>
            <a:r>
              <a:rPr lang="zh-CN" altLang="en-US" dirty="0"/>
              <a:t>关系模型的存取路径对用户透明</a:t>
            </a:r>
            <a:endParaRPr lang="zh-CN" altLang="en-US" dirty="0"/>
          </a:p>
          <a:p>
            <a:pPr lvl="1"/>
            <a:r>
              <a:rPr lang="zh-CN" altLang="en-US" dirty="0"/>
              <a:t>具有更高的数据独立性，更好的安全保密性</a:t>
            </a:r>
            <a:endParaRPr lang="zh-CN" altLang="en-US" dirty="0"/>
          </a:p>
          <a:p>
            <a:pPr lvl="1"/>
            <a:r>
              <a:rPr lang="zh-CN" altLang="en-US" dirty="0"/>
              <a:t>简化了程序员的工作和数据库开发建立的工作</a:t>
            </a:r>
            <a:endParaRPr lang="zh-CN" altLang="en-US" dirty="0"/>
          </a:p>
        </p:txBody>
      </p:sp>
      <p:sp>
        <p:nvSpPr>
          <p:cNvPr id="4" name="文本占位符 3"/>
          <p:cNvSpPr>
            <a:spLocks noGrp="1"/>
          </p:cNvSpPr>
          <p:nvPr>
            <p:ph type="body" sz="quarter" idx="3"/>
          </p:nvPr>
        </p:nvSpPr>
        <p:spPr>
          <a:solidFill>
            <a:schemeClr val="accent3">
              <a:lumMod val="20000"/>
              <a:lumOff val="80000"/>
              <a:alpha val="50000"/>
            </a:schemeClr>
          </a:solidFill>
        </p:spPr>
        <p:txBody>
          <a:bodyPr/>
          <a:lstStyle/>
          <a:p>
            <a:r>
              <a:rPr lang="zh-CN" altLang="en-US" dirty="0"/>
              <a:t>缺点</a:t>
            </a:r>
            <a:endParaRPr lang="zh-CN" altLang="en-US" dirty="0"/>
          </a:p>
        </p:txBody>
      </p:sp>
      <p:sp>
        <p:nvSpPr>
          <p:cNvPr id="5" name="内容占位符 4"/>
          <p:cNvSpPr>
            <a:spLocks noGrp="1"/>
          </p:cNvSpPr>
          <p:nvPr>
            <p:ph sz="quarter" idx="4"/>
          </p:nvPr>
        </p:nvSpPr>
        <p:spPr>
          <a:ln>
            <a:solidFill>
              <a:schemeClr val="accent1"/>
            </a:solidFill>
          </a:ln>
        </p:spPr>
        <p:txBody>
          <a:bodyPr/>
          <a:lstStyle/>
          <a:p>
            <a:pPr>
              <a:lnSpc>
                <a:spcPct val="110000"/>
              </a:lnSpc>
            </a:pPr>
            <a:r>
              <a:rPr lang="zh-CN" altLang="en-US" sz="2800" dirty="0"/>
              <a:t>存取路径对用户透明，查询效率往往不如格式化数据模型</a:t>
            </a:r>
            <a:endParaRPr lang="zh-CN" altLang="en-US" sz="2800" dirty="0"/>
          </a:p>
          <a:p>
            <a:pPr>
              <a:lnSpc>
                <a:spcPct val="110000"/>
              </a:lnSpc>
            </a:pPr>
            <a:r>
              <a:rPr lang="zh-CN" altLang="en-US" sz="2800" dirty="0"/>
              <a:t>为提高性能，必须对用户的查询请求进行优化，增加了开发</a:t>
            </a:r>
            <a:r>
              <a:rPr lang="en-US" altLang="zh-CN" sz="2800" dirty="0"/>
              <a:t>DBMS</a:t>
            </a:r>
            <a:r>
              <a:rPr lang="zh-CN" altLang="en-US" sz="2800" dirty="0"/>
              <a:t>的难度</a:t>
            </a:r>
            <a:endParaRPr lang="zh-CN" altLang="en-US" sz="2800" dirty="0"/>
          </a:p>
        </p:txBody>
      </p:sp>
      <p:sp>
        <p:nvSpPr>
          <p:cNvPr id="7" name="灯片编号占位符 6"/>
          <p:cNvSpPr>
            <a:spLocks noGrp="1"/>
          </p:cNvSpPr>
          <p:nvPr>
            <p:ph type="sldNum" sz="quarter" idx="12"/>
          </p:nvPr>
        </p:nvSpPr>
        <p:spPr/>
        <p:txBody>
          <a:bodyPr/>
          <a:p>
            <a:fld id="{565CE74E-AB26-4998-AD42-012C4C1AD076}" type="slidenum">
              <a:rPr lang="zh-CN" altLang="en-US" smtClean="0"/>
            </a:fld>
            <a:endParaRPr lang="zh-CN" altLang="en-US"/>
          </a:p>
        </p:txBody>
      </p:sp>
      <p:sp>
        <p:nvSpPr>
          <p:cNvPr id="8" name="页脚占位符 7"/>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wm#"/>
  <p:tag name="KSO_WM_TEMPLATE_CATEGORY" val="custom"/>
  <p:tag name="KSO_WM_TEMPLATE_INDEX" val="20205081"/>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DIAGRAM_VIRTUALLY_FRAME" val="{&quot;height&quot;:335.1216535433071,&quot;left&quot;:85.03937007874016,&quot;top&quot;:133.22834645669292,&quot;width&quot;:764.1291338582677}"/>
</p:tagLst>
</file>

<file path=ppt/tags/tag46.xml><?xml version="1.0" encoding="utf-8"?>
<p:tagLst xmlns:p="http://schemas.openxmlformats.org/presentationml/2006/main">
  <p:tag name="KSO_WM_DIAGRAM_VIRTUALLY_FRAME" val="{&quot;height&quot;:335.1216535433071,&quot;left&quot;:85.03937007874016,&quot;top&quot;:133.22834645669292,&quot;width&quot;:764.1291338582677}"/>
</p:tagLst>
</file>

<file path=ppt/tags/tag47.xml><?xml version="1.0" encoding="utf-8"?>
<p:tagLst xmlns:p="http://schemas.openxmlformats.org/presentationml/2006/main">
  <p:tag name="KSO_WM_DIAGRAM_VIRTUALLY_FRAME" val="{&quot;height&quot;:335.1216535433071,&quot;left&quot;:85.03937007874016,&quot;top&quot;:133.22834645669292,&quot;width&quot;:764.1291338582677}"/>
</p:tagLst>
</file>

<file path=ppt/tags/tag48.xml><?xml version="1.0" encoding="utf-8"?>
<p:tagLst xmlns:p="http://schemas.openxmlformats.org/presentationml/2006/main">
  <p:tag name="KSO_WM_DIAGRAM_VIRTUALLY_FRAME" val="{&quot;height&quot;:335.1216535433071,&quot;left&quot;:85.03937007874016,&quot;top&quot;:133.22834645669292,&quot;width&quot;:764.1291338582677}"/>
</p:tagLst>
</file>

<file path=ppt/tags/tag49.xml><?xml version="1.0" encoding="utf-8"?>
<p:tagLst xmlns:p="http://schemas.openxmlformats.org/presentationml/2006/main">
  <p:tag name="KSO_WM_DIAGRAM_VIRTUALLY_FRAME" val="{&quot;height&quot;:335.1216535433071,&quot;left&quot;:85.03937007874016,&quot;top&quot;:133.22834645669292,&quot;width&quot;:764.1291338582677}"/>
</p:tagLst>
</file>

<file path=ppt/tags/tag50.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1.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2.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3.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4.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5.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6.xml><?xml version="1.0" encoding="utf-8"?>
<p:tagLst xmlns:p="http://schemas.openxmlformats.org/presentationml/2006/main">
  <p:tag name="KSO_WM_BEAUTIFY_FLAG" val=""/>
  <p:tag name="KSO_WM_DIAGRAM_VIRTUALLY_FRAME" val="{&quot;height&quot;:335.1216535433071,&quot;left&quot;:85.03937007874016,&quot;top&quot;:133.22834645669292,&quot;width&quot;:764.1291338582677}"/>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TABLE_ENDDRAG_ORIGIN_RECT" val="819*210"/>
  <p:tag name="TABLE_ENDDRAG_RECT" val="75*206*819*210"/>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commondata" val="eyJoZGlkIjoiZGQ1YjIwMGNiOWJjNzI3MjRkMjdlNjcyYWIwMTY0NjM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5985</Words>
  <Application>WPS 演示</Application>
  <PresentationFormat>宽屏</PresentationFormat>
  <Paragraphs>831</Paragraphs>
  <Slides>38</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6" baseType="lpstr">
      <vt:lpstr>Arial</vt:lpstr>
      <vt:lpstr>宋体</vt:lpstr>
      <vt:lpstr>Wingdings</vt:lpstr>
      <vt:lpstr>楷体</vt:lpstr>
      <vt:lpstr>Wingdings</vt:lpstr>
      <vt:lpstr>微软雅黑</vt:lpstr>
      <vt:lpstr>Wingdings 3</vt:lpstr>
      <vt:lpstr>Times New Roman</vt:lpstr>
      <vt:lpstr>标准粗黑</vt:lpstr>
      <vt:lpstr>黑体</vt:lpstr>
      <vt:lpstr>Cambria Math</vt:lpstr>
      <vt:lpstr>Calibri</vt:lpstr>
      <vt:lpstr>Arial Unicode MS</vt:lpstr>
      <vt:lpstr>Wingdings 2</vt:lpstr>
      <vt:lpstr>Wingdings 3</vt:lpstr>
      <vt:lpstr>标准粗黑</vt:lpstr>
      <vt:lpstr>WPS</vt:lpstr>
      <vt:lpstr>Word.Picture.8</vt:lpstr>
      <vt:lpstr>PowerPoint 演示文稿</vt:lpstr>
      <vt:lpstr>第 1 章   绪  论</vt:lpstr>
      <vt:lpstr>1.2  数据模型</vt:lpstr>
      <vt:lpstr>1.2.1  两类数据模型</vt:lpstr>
      <vt:lpstr> 概念模型 / 逻辑模型 / 物理模型</vt:lpstr>
      <vt:lpstr>图1.7  客观对象的抽象过程---两步抽象</vt:lpstr>
      <vt:lpstr>三种数据模型之间的关系</vt:lpstr>
      <vt:lpstr>1.2.2  概念模型</vt:lpstr>
      <vt:lpstr>信息世界中的基本概念（1）</vt:lpstr>
      <vt:lpstr>信息世界中的基本概念（2）</vt:lpstr>
      <vt:lpstr>实体之间的联系</vt:lpstr>
      <vt:lpstr>联系的函数关系（1）</vt:lpstr>
      <vt:lpstr>联系的函数关系（2）</vt:lpstr>
      <vt:lpstr>联系的函数关系（3）</vt:lpstr>
      <vt:lpstr>联系的函数关系（4）</vt:lpstr>
      <vt:lpstr>联系的函数关系（5）</vt:lpstr>
      <vt:lpstr>实体内部的联系</vt:lpstr>
      <vt:lpstr>实体-联系方法</vt:lpstr>
      <vt:lpstr>一些例子（1）</vt:lpstr>
      <vt:lpstr>一些例子（2）</vt:lpstr>
      <vt:lpstr>一些例子（3）</vt:lpstr>
      <vt:lpstr>一些例子（4）</vt:lpstr>
      <vt:lpstr>一些例子（5）</vt:lpstr>
      <vt:lpstr>1.2.3  数据模型的组成要素</vt:lpstr>
      <vt:lpstr>数据模型的组成要素（1） -  数据结构</vt:lpstr>
      <vt:lpstr>数据模型的组成要素（2）-  数据操作 </vt:lpstr>
      <vt:lpstr>数据模型的组成要素（3）-  数据的完整性约束条件 </vt:lpstr>
      <vt:lpstr>逻辑模型</vt:lpstr>
      <vt:lpstr>1.2.4  常用数据模型</vt:lpstr>
      <vt:lpstr>1.2.5 &amp; 1.2.6  层次模型 &amp; 网状模型</vt:lpstr>
      <vt:lpstr>2.4 信息世界与逻辑模型</vt:lpstr>
      <vt:lpstr>Example of network data model</vt:lpstr>
      <vt:lpstr>Hierarchical Data Model vs. Network Data Model</vt:lpstr>
      <vt:lpstr>1.2.7  关系模型 - 数据结构</vt:lpstr>
      <vt:lpstr>1.2.7  关系模型 - 基本概念</vt:lpstr>
      <vt:lpstr>1.2.7  关系模型 - 模型的规范化</vt:lpstr>
      <vt:lpstr>关系模型的操作与完整性约束</vt:lpstr>
      <vt:lpstr>关系模型的优缺点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百老汇</cp:lastModifiedBy>
  <cp:revision>133</cp:revision>
  <dcterms:created xsi:type="dcterms:W3CDTF">2023-08-09T12:44:00Z</dcterms:created>
  <dcterms:modified xsi:type="dcterms:W3CDTF">2026-03-03T07:07:26Z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C62AF4A29FC649E299FE09F4A3B95D51_13</vt:lpwstr>
  </property>
  <property fmtid="{D5CDD505-2E9C-101B-9397-08002B2CF9AE}" pid="3" name="KSOProductBuildVer">
    <vt:lpwstr>2052-12.1.0.25222</vt:lpwstr>
  </property>
</Properties>
</file>