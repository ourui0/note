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heme/themeOverride1.xml" ContentType="application/vnd.openxmlformats-officedocument.themeOverr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9.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5" r:id="rId2"/>
  </p:sldMasterIdLst>
  <p:notesMasterIdLst>
    <p:notesMasterId r:id="rId71"/>
  </p:notesMasterIdLst>
  <p:sldIdLst>
    <p:sldId id="256" r:id="rId3"/>
    <p:sldId id="258" r:id="rId4"/>
    <p:sldId id="327" r:id="rId5"/>
    <p:sldId id="392" r:id="rId6"/>
    <p:sldId id="266" r:id="rId7"/>
    <p:sldId id="393" r:id="rId8"/>
    <p:sldId id="394" r:id="rId9"/>
    <p:sldId id="307" r:id="rId10"/>
    <p:sldId id="308" r:id="rId11"/>
    <p:sldId id="385" r:id="rId12"/>
    <p:sldId id="386" r:id="rId13"/>
    <p:sldId id="267" r:id="rId14"/>
    <p:sldId id="268" r:id="rId15"/>
    <p:sldId id="312" r:id="rId16"/>
    <p:sldId id="290" r:id="rId17"/>
    <p:sldId id="328" r:id="rId18"/>
    <p:sldId id="269" r:id="rId19"/>
    <p:sldId id="270" r:id="rId20"/>
    <p:sldId id="396" r:id="rId21"/>
    <p:sldId id="397" r:id="rId22"/>
    <p:sldId id="398" r:id="rId23"/>
    <p:sldId id="400" r:id="rId24"/>
    <p:sldId id="313" r:id="rId25"/>
    <p:sldId id="399" r:id="rId26"/>
    <p:sldId id="271" r:id="rId27"/>
    <p:sldId id="272" r:id="rId28"/>
    <p:sldId id="292" r:id="rId29"/>
    <p:sldId id="293" r:id="rId30"/>
    <p:sldId id="329" r:id="rId31"/>
    <p:sldId id="273" r:id="rId32"/>
    <p:sldId id="274" r:id="rId33"/>
    <p:sldId id="275" r:id="rId34"/>
    <p:sldId id="309" r:id="rId35"/>
    <p:sldId id="294" r:id="rId36"/>
    <p:sldId id="315" r:id="rId37"/>
    <p:sldId id="388" r:id="rId38"/>
    <p:sldId id="316" r:id="rId39"/>
    <p:sldId id="323" r:id="rId40"/>
    <p:sldId id="277" r:id="rId41"/>
    <p:sldId id="317" r:id="rId42"/>
    <p:sldId id="295" r:id="rId43"/>
    <p:sldId id="389" r:id="rId44"/>
    <p:sldId id="330" r:id="rId45"/>
    <p:sldId id="278" r:id="rId46"/>
    <p:sldId id="261" r:id="rId47"/>
    <p:sldId id="279" r:id="rId48"/>
    <p:sldId id="318" r:id="rId49"/>
    <p:sldId id="331" r:id="rId50"/>
    <p:sldId id="280" r:id="rId51"/>
    <p:sldId id="281" r:id="rId52"/>
    <p:sldId id="401" r:id="rId53"/>
    <p:sldId id="321" r:id="rId54"/>
    <p:sldId id="298" r:id="rId55"/>
    <p:sldId id="282" r:id="rId56"/>
    <p:sldId id="299" r:id="rId57"/>
    <p:sldId id="332" r:id="rId58"/>
    <p:sldId id="283" r:id="rId59"/>
    <p:sldId id="402" r:id="rId60"/>
    <p:sldId id="300" r:id="rId61"/>
    <p:sldId id="322" r:id="rId62"/>
    <p:sldId id="284" r:id="rId63"/>
    <p:sldId id="405" r:id="rId64"/>
    <p:sldId id="310" r:id="rId65"/>
    <p:sldId id="404" r:id="rId66"/>
    <p:sldId id="302" r:id="rId67"/>
    <p:sldId id="303" r:id="rId68"/>
    <p:sldId id="406" r:id="rId69"/>
    <p:sldId id="408" r:id="rId70"/>
  </p:sldIdLst>
  <p:sldSz cx="9144000" cy="6858000" type="screen4x3"/>
  <p:notesSz cx="6858000" cy="9144000"/>
  <p:defaultTextStyle>
    <a:defPPr>
      <a:defRPr lang="zh-CN"/>
    </a:defPPr>
    <a:lvl1pPr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3C97F"/>
    <a:srgbClr val="2D2D8A"/>
    <a:srgbClr val="F0F0F1"/>
    <a:srgbClr val="9DA2AD"/>
    <a:srgbClr val="C3C9D7"/>
    <a:srgbClr val="9ED3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68" autoAdjust="0"/>
  </p:normalViewPr>
  <p:slideViewPr>
    <p:cSldViewPr>
      <p:cViewPr varScale="1">
        <p:scale>
          <a:sx n="61" d="100"/>
          <a:sy n="61" d="100"/>
        </p:scale>
        <p:origin x="1440" y="48"/>
      </p:cViewPr>
      <p:guideLst>
        <p:guide orient="horz" pos="2125"/>
        <p:guide pos="2880"/>
      </p:guideLst>
    </p:cSldViewPr>
  </p:slideViewPr>
  <p:notesTextViewPr>
    <p:cViewPr>
      <p:scale>
        <a:sx n="1" d="1"/>
        <a:sy n="1" d="1"/>
      </p:scale>
      <p:origin x="0" y="0"/>
    </p:cViewPr>
  </p:notesTextViewPr>
  <p:sorterViewPr>
    <p:cViewPr>
      <p:scale>
        <a:sx n="100" d="100"/>
        <a:sy n="100" d="100"/>
      </p:scale>
      <p:origin x="0" y="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2215CB-AEC7-422C-AF91-4292D72C965E}"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zh-CN" altLang="en-US"/>
        </a:p>
      </dgm:t>
    </dgm:pt>
    <dgm:pt modelId="{74089C25-B75E-4DB1-908F-924EF9B068AB}">
      <dgm:prSet phldrT="[文本]"/>
      <dgm:spPr>
        <a:noFill/>
        <a:ln w="28575">
          <a:solidFill>
            <a:srgbClr val="C00000"/>
          </a:solidFill>
        </a:ln>
      </dgm:spPr>
      <dgm:t>
        <a:bodyPr/>
        <a:lstStyle/>
        <a:p>
          <a:r>
            <a:rPr lang="zh-CN" altLang="en-US" b="0" dirty="0">
              <a:solidFill>
                <a:schemeClr val="tx1"/>
              </a:solidFill>
              <a:latin typeface="微软雅黑" panose="020B0503020204020204" pitchFamily="34" charset="-122"/>
              <a:ea typeface="微软雅黑" panose="020B0503020204020204" pitchFamily="34" charset="-122"/>
            </a:rPr>
            <a:t>一般情形下要素（如劳动）使用的边际收益为边际收益产品</a:t>
          </a:r>
          <a:r>
            <a:rPr lang="en-US" altLang="zh-CN" b="0" dirty="0">
              <a:solidFill>
                <a:schemeClr val="tx1"/>
              </a:solidFill>
              <a:latin typeface="微软雅黑" panose="020B0503020204020204" pitchFamily="34" charset="-122"/>
              <a:ea typeface="微软雅黑" panose="020B0503020204020204" pitchFamily="34" charset="-122"/>
            </a:rPr>
            <a:t>MRP</a:t>
          </a:r>
          <a:endParaRPr lang="zh-CN" altLang="en-US" b="0" dirty="0">
            <a:solidFill>
              <a:schemeClr val="tx1"/>
            </a:solidFill>
            <a:latin typeface="微软雅黑" panose="020B0503020204020204" pitchFamily="34" charset="-122"/>
            <a:ea typeface="微软雅黑" panose="020B0503020204020204" pitchFamily="34" charset="-122"/>
          </a:endParaRPr>
        </a:p>
      </dgm:t>
    </dgm:pt>
    <dgm:pt modelId="{82FE166A-DC17-48AD-B631-9DACAD91EEAB}" type="parTrans" cxnId="{38BE1108-9D7E-4539-8367-A3A86AF6A5F6}">
      <dgm:prSet/>
      <dgm:spPr/>
      <dgm:t>
        <a:bodyPr/>
        <a:lstStyle/>
        <a:p>
          <a:endParaRPr lang="zh-CN" altLang="en-US"/>
        </a:p>
      </dgm:t>
    </dgm:pt>
    <dgm:pt modelId="{DDECE86E-460F-4372-92E6-9D907EEBEEA0}" type="sibTrans" cxnId="{38BE1108-9D7E-4539-8367-A3A86AF6A5F6}">
      <dgm:prSet/>
      <dgm:spPr/>
      <dgm:t>
        <a:bodyPr/>
        <a:lstStyle/>
        <a:p>
          <a:endParaRPr lang="zh-CN" altLang="en-US"/>
        </a:p>
      </dgm:t>
    </dgm:pt>
    <dgm:pt modelId="{7C32F484-BFF7-4EC0-9EA5-EBFFBCAF9A8F}">
      <dgm:prSet phldrT="[文本]"/>
      <dgm:spPr>
        <a:noFill/>
        <a:ln w="28575">
          <a:solidFill>
            <a:srgbClr val="C00000"/>
          </a:solidFill>
        </a:ln>
      </dgm:spPr>
      <dgm:t>
        <a:bodyPr/>
        <a:lstStyle/>
        <a:p>
          <a:endParaRPr lang="zh-CN" altLang="en-US" dirty="0"/>
        </a:p>
      </dgm:t>
    </dgm:pt>
    <dgm:pt modelId="{8F3234FE-C73C-41E9-88A3-304D129B1A96}" type="parTrans" cxnId="{1A01F782-3C48-48B1-8D91-BA83086F82DB}">
      <dgm:prSet/>
      <dgm:spPr>
        <a:ln w="28575">
          <a:solidFill>
            <a:srgbClr val="C00000"/>
          </a:solidFill>
        </a:ln>
      </dgm:spPr>
      <dgm:t>
        <a:bodyPr/>
        <a:lstStyle/>
        <a:p>
          <a:endParaRPr lang="zh-CN" altLang="en-US"/>
        </a:p>
      </dgm:t>
    </dgm:pt>
    <dgm:pt modelId="{49BA161C-527C-4E3F-B272-8EB2A11BBE6D}" type="sibTrans" cxnId="{1A01F782-3C48-48B1-8D91-BA83086F82DB}">
      <dgm:prSet/>
      <dgm:spPr/>
      <dgm:t>
        <a:bodyPr/>
        <a:lstStyle/>
        <a:p>
          <a:endParaRPr lang="zh-CN" altLang="en-US"/>
        </a:p>
      </dgm:t>
    </dgm:pt>
    <dgm:pt modelId="{90301D76-54AC-472B-B444-60A823815A8C}">
      <dgm:prSet phldrT="[文本]"/>
      <dgm:spPr>
        <a:noFill/>
        <a:ln w="28575">
          <a:solidFill>
            <a:srgbClr val="C00000"/>
          </a:solidFill>
        </a:ln>
      </dgm:spPr>
      <dgm:t>
        <a:bodyPr/>
        <a:lstStyle/>
        <a:p>
          <a:pPr algn="ctr"/>
          <a:endParaRPr lang="zh-CN" altLang="en-US" dirty="0"/>
        </a:p>
      </dgm:t>
    </dgm:pt>
    <dgm:pt modelId="{1E634FC3-F0D4-4980-B624-6C3A60AC0931}" type="parTrans" cxnId="{0339C5F5-96BE-4E78-9922-8A1D9EB95F15}">
      <dgm:prSet/>
      <dgm:spPr>
        <a:ln w="28575">
          <a:solidFill>
            <a:srgbClr val="C00000"/>
          </a:solidFill>
        </a:ln>
      </dgm:spPr>
      <dgm:t>
        <a:bodyPr/>
        <a:lstStyle/>
        <a:p>
          <a:endParaRPr lang="zh-CN" altLang="en-US"/>
        </a:p>
      </dgm:t>
    </dgm:pt>
    <dgm:pt modelId="{9011DD87-76E0-4A6E-B801-F0733F8E43BC}" type="sibTrans" cxnId="{0339C5F5-96BE-4E78-9922-8A1D9EB95F15}">
      <dgm:prSet/>
      <dgm:spPr/>
      <dgm:t>
        <a:bodyPr/>
        <a:lstStyle/>
        <a:p>
          <a:endParaRPr lang="zh-CN" altLang="en-US"/>
        </a:p>
      </dgm:t>
    </dgm:pt>
    <dgm:pt modelId="{64935BD1-55F9-487F-B3E0-E19821B26570}">
      <dgm:prSet phldrT="[文本]" custT="1"/>
      <dgm:spPr>
        <a:noFill/>
        <a:ln w="28575">
          <a:solidFill>
            <a:srgbClr val="C00000"/>
          </a:solidFill>
        </a:ln>
      </dgm:spPr>
      <dgm:t>
        <a:bodyPr/>
        <a:lstStyle/>
        <a:p>
          <a:pPr algn="ct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即：收益来源于产量，产量来自要素使用</a:t>
          </a:r>
          <a:r>
            <a:rPr lang="en-US" altLang="zh-CN" sz="1600" b="0" kern="1200" dirty="0">
              <a:solidFill>
                <a:schemeClr val="tx1"/>
              </a:solidFill>
              <a:latin typeface="微软雅黑" panose="020B0503020204020204" pitchFamily="34" charset="-122"/>
              <a:ea typeface="微软雅黑" panose="020B0503020204020204" pitchFamily="34" charset="-122"/>
              <a:cs typeface="+mn-cs"/>
              <a:sym typeface="Wingdings" panose="05000000000000000000" pitchFamily="2" charset="2"/>
            </a:rPr>
            <a:t> </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dgm:t>
    </dgm:pt>
    <dgm:pt modelId="{A2E9C8BE-6BB1-441C-8C75-029CE2FDA095}" type="parTrans" cxnId="{1B27291E-1B06-4B87-B472-942AB10D0724}">
      <dgm:prSet/>
      <dgm:spPr>
        <a:ln w="28575">
          <a:solidFill>
            <a:srgbClr val="C00000"/>
          </a:solidFill>
        </a:ln>
      </dgm:spPr>
      <dgm:t>
        <a:bodyPr/>
        <a:lstStyle/>
        <a:p>
          <a:endParaRPr lang="zh-CN" altLang="en-US"/>
        </a:p>
      </dgm:t>
    </dgm:pt>
    <dgm:pt modelId="{A0D4AB85-76B9-4CEF-A9EF-5A37DBDE0F13}" type="sibTrans" cxnId="{1B27291E-1B06-4B87-B472-942AB10D0724}">
      <dgm:prSet/>
      <dgm:spPr/>
      <dgm:t>
        <a:bodyPr/>
        <a:lstStyle/>
        <a:p>
          <a:endParaRPr lang="zh-CN" altLang="en-US"/>
        </a:p>
      </dgm:t>
    </dgm:pt>
    <dgm:pt modelId="{C88FEA6E-25AC-44C1-945E-EA09BEEF9113}">
      <dgm:prSet phldrT="[文本]" custT="1"/>
      <dgm:spPr>
        <a:noFill/>
        <a:ln w="28575">
          <a:solidFill>
            <a:srgbClr val="C00000"/>
          </a:solidFill>
        </a:ln>
      </dgm:spPr>
      <dgm:t>
        <a:bodyPr/>
        <a:lstStyle/>
        <a:p>
          <a:pPr algn="ctr" rtl="0" eaLnBrk="0" fontAlgn="base" hangingPunct="0">
            <a:spcBef>
              <a:spcPct val="0"/>
            </a:spcBef>
            <a:spcAft>
              <a:spcPct val="0"/>
            </a:spcAft>
            <a:buFont typeface="Arial" panose="020B0604020202020204" pitchFamily="34" charset="0"/>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即：每增加一单位要素</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L</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投入所增加的收益</a:t>
          </a:r>
        </a:p>
      </dgm:t>
    </dgm:pt>
    <dgm:pt modelId="{EBA7F585-EB8E-490F-9FB1-572707F0D3CB}" type="sibTrans" cxnId="{D2862CD9-A433-42F8-9892-A7D2EB140D0A}">
      <dgm:prSet/>
      <dgm:spPr/>
      <dgm:t>
        <a:bodyPr/>
        <a:lstStyle/>
        <a:p>
          <a:endParaRPr lang="zh-CN" altLang="en-US"/>
        </a:p>
      </dgm:t>
    </dgm:pt>
    <dgm:pt modelId="{FEF81F79-A175-4037-AE76-24B37F5B43C2}" type="parTrans" cxnId="{D2862CD9-A433-42F8-9892-A7D2EB140D0A}">
      <dgm:prSet/>
      <dgm:spPr>
        <a:ln w="28575">
          <a:solidFill>
            <a:srgbClr val="C00000"/>
          </a:solidFill>
        </a:ln>
      </dgm:spPr>
      <dgm:t>
        <a:bodyPr/>
        <a:lstStyle/>
        <a:p>
          <a:endParaRPr lang="zh-CN" altLang="en-US" dirty="0"/>
        </a:p>
      </dgm:t>
    </dgm:pt>
    <dgm:pt modelId="{1ECA8364-DE15-4D39-8F77-0DAD6515BEB6}" type="pres">
      <dgm:prSet presAssocID="{C62215CB-AEC7-422C-AF91-4292D72C965E}" presName="mainComposite" presStyleCnt="0">
        <dgm:presLayoutVars>
          <dgm:chPref val="1"/>
          <dgm:dir/>
          <dgm:animOne val="branch"/>
          <dgm:animLvl val="lvl"/>
          <dgm:resizeHandles val="exact"/>
        </dgm:presLayoutVars>
      </dgm:prSet>
      <dgm:spPr/>
      <dgm:t>
        <a:bodyPr/>
        <a:lstStyle/>
        <a:p>
          <a:endParaRPr lang="zh-CN" altLang="en-US"/>
        </a:p>
      </dgm:t>
    </dgm:pt>
    <dgm:pt modelId="{E77A372E-3D8B-4B59-A4D9-B072E73EBF1D}" type="pres">
      <dgm:prSet presAssocID="{C62215CB-AEC7-422C-AF91-4292D72C965E}" presName="hierFlow" presStyleCnt="0"/>
      <dgm:spPr/>
    </dgm:pt>
    <dgm:pt modelId="{2BEF5624-64A0-48BA-986B-9E2C5BC016DD}" type="pres">
      <dgm:prSet presAssocID="{C62215CB-AEC7-422C-AF91-4292D72C965E}" presName="hierChild1" presStyleCnt="0">
        <dgm:presLayoutVars>
          <dgm:chPref val="1"/>
          <dgm:animOne val="branch"/>
          <dgm:animLvl val="lvl"/>
        </dgm:presLayoutVars>
      </dgm:prSet>
      <dgm:spPr/>
    </dgm:pt>
    <dgm:pt modelId="{117A3E66-D8C2-404D-9395-BDD25996A18C}" type="pres">
      <dgm:prSet presAssocID="{74089C25-B75E-4DB1-908F-924EF9B068AB}" presName="Name17" presStyleCnt="0"/>
      <dgm:spPr/>
    </dgm:pt>
    <dgm:pt modelId="{68875F4A-A6F3-4020-930C-E6A9113E5390}" type="pres">
      <dgm:prSet presAssocID="{74089C25-B75E-4DB1-908F-924EF9B068AB}" presName="level1Shape" presStyleLbl="node0" presStyleIdx="0" presStyleCnt="1" custLinFactNeighborX="1194" custLinFactNeighborY="-41305">
        <dgm:presLayoutVars>
          <dgm:chPref val="3"/>
        </dgm:presLayoutVars>
      </dgm:prSet>
      <dgm:spPr/>
      <dgm:t>
        <a:bodyPr/>
        <a:lstStyle/>
        <a:p>
          <a:endParaRPr lang="zh-CN" altLang="en-US"/>
        </a:p>
      </dgm:t>
    </dgm:pt>
    <dgm:pt modelId="{C0BA1F01-25F8-431B-AE11-FA425384094A}" type="pres">
      <dgm:prSet presAssocID="{74089C25-B75E-4DB1-908F-924EF9B068AB}" presName="hierChild2" presStyleCnt="0"/>
      <dgm:spPr/>
    </dgm:pt>
    <dgm:pt modelId="{060A79B1-44A5-4236-ABEB-753426A9D915}" type="pres">
      <dgm:prSet presAssocID="{8F3234FE-C73C-41E9-88A3-304D129B1A96}" presName="Name25" presStyleLbl="parChTrans1D2" presStyleIdx="0" presStyleCnt="2"/>
      <dgm:spPr/>
      <dgm:t>
        <a:bodyPr/>
        <a:lstStyle/>
        <a:p>
          <a:endParaRPr lang="zh-CN" altLang="en-US"/>
        </a:p>
      </dgm:t>
    </dgm:pt>
    <dgm:pt modelId="{E43BA331-06FB-488B-BDB8-0C6230D8589E}" type="pres">
      <dgm:prSet presAssocID="{8F3234FE-C73C-41E9-88A3-304D129B1A96}" presName="connTx" presStyleLbl="parChTrans1D2" presStyleIdx="0" presStyleCnt="2"/>
      <dgm:spPr/>
      <dgm:t>
        <a:bodyPr/>
        <a:lstStyle/>
        <a:p>
          <a:endParaRPr lang="zh-CN" altLang="en-US"/>
        </a:p>
      </dgm:t>
    </dgm:pt>
    <dgm:pt modelId="{A58BF0DB-03C3-4F77-88E6-1F0E3CA62854}" type="pres">
      <dgm:prSet presAssocID="{7C32F484-BFF7-4EC0-9EA5-EBFFBCAF9A8F}" presName="Name30" presStyleCnt="0"/>
      <dgm:spPr/>
    </dgm:pt>
    <dgm:pt modelId="{EDF0F383-5FBB-4506-BB66-CC134BCC1391}" type="pres">
      <dgm:prSet presAssocID="{7C32F484-BFF7-4EC0-9EA5-EBFFBCAF9A8F}" presName="level2Shape" presStyleLbl="node2" presStyleIdx="0" presStyleCnt="2" custScaleX="85098" custLinFactNeighborX="868" custLinFactNeighborY="-24759"/>
      <dgm:spPr/>
      <dgm:t>
        <a:bodyPr/>
        <a:lstStyle/>
        <a:p>
          <a:endParaRPr lang="zh-CN" altLang="en-US"/>
        </a:p>
      </dgm:t>
    </dgm:pt>
    <dgm:pt modelId="{76977F23-8881-47F8-9B5F-2A9B3F6AC031}" type="pres">
      <dgm:prSet presAssocID="{7C32F484-BFF7-4EC0-9EA5-EBFFBCAF9A8F}" presName="hierChild3" presStyleCnt="0"/>
      <dgm:spPr/>
    </dgm:pt>
    <dgm:pt modelId="{5AEAD24C-779B-40F1-AC2F-A2637180453F}" type="pres">
      <dgm:prSet presAssocID="{FEF81F79-A175-4037-AE76-24B37F5B43C2}" presName="Name25" presStyleLbl="parChTrans1D3" presStyleIdx="0" presStyleCnt="2"/>
      <dgm:spPr/>
      <dgm:t>
        <a:bodyPr/>
        <a:lstStyle/>
        <a:p>
          <a:endParaRPr lang="zh-CN" altLang="en-US"/>
        </a:p>
      </dgm:t>
    </dgm:pt>
    <dgm:pt modelId="{EA14E15A-DE47-44AB-9EA6-3BF4D4A64A84}" type="pres">
      <dgm:prSet presAssocID="{FEF81F79-A175-4037-AE76-24B37F5B43C2}" presName="connTx" presStyleLbl="parChTrans1D3" presStyleIdx="0" presStyleCnt="2"/>
      <dgm:spPr/>
      <dgm:t>
        <a:bodyPr/>
        <a:lstStyle/>
        <a:p>
          <a:endParaRPr lang="zh-CN" altLang="en-US"/>
        </a:p>
      </dgm:t>
    </dgm:pt>
    <dgm:pt modelId="{CFA3DF44-D21E-43E4-A36C-9F245E093D08}" type="pres">
      <dgm:prSet presAssocID="{C88FEA6E-25AC-44C1-945E-EA09BEEF9113}" presName="Name30" presStyleCnt="0"/>
      <dgm:spPr/>
    </dgm:pt>
    <dgm:pt modelId="{81E1F0F7-BDD0-4460-8721-2110DC7B93DE}" type="pres">
      <dgm:prSet presAssocID="{C88FEA6E-25AC-44C1-945E-EA09BEEF9113}" presName="level2Shape" presStyleLbl="node3" presStyleIdx="0" presStyleCnt="2" custScaleX="118999" custLinFactNeighborX="26719" custLinFactNeighborY="-29189"/>
      <dgm:spPr/>
      <dgm:t>
        <a:bodyPr/>
        <a:lstStyle/>
        <a:p>
          <a:endParaRPr lang="zh-CN" altLang="en-US"/>
        </a:p>
      </dgm:t>
    </dgm:pt>
    <dgm:pt modelId="{4475E436-C598-48FD-8CCB-CD91F49E9DFD}" type="pres">
      <dgm:prSet presAssocID="{C88FEA6E-25AC-44C1-945E-EA09BEEF9113}" presName="hierChild3" presStyleCnt="0"/>
      <dgm:spPr/>
    </dgm:pt>
    <dgm:pt modelId="{4BA45008-39E0-4690-866D-9E80784B681E}" type="pres">
      <dgm:prSet presAssocID="{1E634FC3-F0D4-4980-B624-6C3A60AC0931}" presName="Name25" presStyleLbl="parChTrans1D2" presStyleIdx="1" presStyleCnt="2"/>
      <dgm:spPr/>
      <dgm:t>
        <a:bodyPr/>
        <a:lstStyle/>
        <a:p>
          <a:endParaRPr lang="zh-CN" altLang="en-US"/>
        </a:p>
      </dgm:t>
    </dgm:pt>
    <dgm:pt modelId="{966635F3-2EF7-4B5D-9C61-949A25AF5911}" type="pres">
      <dgm:prSet presAssocID="{1E634FC3-F0D4-4980-B624-6C3A60AC0931}" presName="connTx" presStyleLbl="parChTrans1D2" presStyleIdx="1" presStyleCnt="2"/>
      <dgm:spPr/>
      <dgm:t>
        <a:bodyPr/>
        <a:lstStyle/>
        <a:p>
          <a:endParaRPr lang="zh-CN" altLang="en-US"/>
        </a:p>
      </dgm:t>
    </dgm:pt>
    <dgm:pt modelId="{5079A8DB-0D79-4BD9-B9C7-768CA42B442B}" type="pres">
      <dgm:prSet presAssocID="{90301D76-54AC-472B-B444-60A823815A8C}" presName="Name30" presStyleCnt="0"/>
      <dgm:spPr/>
    </dgm:pt>
    <dgm:pt modelId="{1C31D084-7A31-4FE6-A71F-46C0D1CCC864}" type="pres">
      <dgm:prSet presAssocID="{90301D76-54AC-472B-B444-60A823815A8C}" presName="level2Shape" presStyleLbl="node2" presStyleIdx="1" presStyleCnt="2" custScaleX="133657" custLinFactNeighborX="868" custLinFactNeighborY="-31762"/>
      <dgm:spPr/>
      <dgm:t>
        <a:bodyPr/>
        <a:lstStyle/>
        <a:p>
          <a:endParaRPr lang="zh-CN" altLang="en-US"/>
        </a:p>
      </dgm:t>
    </dgm:pt>
    <dgm:pt modelId="{061F999B-7D21-4D7D-8858-034111F9EAA6}" type="pres">
      <dgm:prSet presAssocID="{90301D76-54AC-472B-B444-60A823815A8C}" presName="hierChild3" presStyleCnt="0"/>
      <dgm:spPr/>
    </dgm:pt>
    <dgm:pt modelId="{71FC55D2-7DE3-4AB4-A66E-F7DF88AACBD4}" type="pres">
      <dgm:prSet presAssocID="{A2E9C8BE-6BB1-441C-8C75-029CE2FDA095}" presName="Name25" presStyleLbl="parChTrans1D3" presStyleIdx="1" presStyleCnt="2"/>
      <dgm:spPr/>
      <dgm:t>
        <a:bodyPr/>
        <a:lstStyle/>
        <a:p>
          <a:endParaRPr lang="zh-CN" altLang="en-US"/>
        </a:p>
      </dgm:t>
    </dgm:pt>
    <dgm:pt modelId="{1FE214A1-4750-4128-AC35-FD339E6D2D10}" type="pres">
      <dgm:prSet presAssocID="{A2E9C8BE-6BB1-441C-8C75-029CE2FDA095}" presName="connTx" presStyleLbl="parChTrans1D3" presStyleIdx="1" presStyleCnt="2"/>
      <dgm:spPr/>
      <dgm:t>
        <a:bodyPr/>
        <a:lstStyle/>
        <a:p>
          <a:endParaRPr lang="zh-CN" altLang="en-US"/>
        </a:p>
      </dgm:t>
    </dgm:pt>
    <dgm:pt modelId="{9858AB93-6C15-4C26-A25E-727939901107}" type="pres">
      <dgm:prSet presAssocID="{64935BD1-55F9-487F-B3E0-E19821B26570}" presName="Name30" presStyleCnt="0"/>
      <dgm:spPr/>
    </dgm:pt>
    <dgm:pt modelId="{69C002E2-3F7E-47C4-A66F-54C0541A5131}" type="pres">
      <dgm:prSet presAssocID="{64935BD1-55F9-487F-B3E0-E19821B26570}" presName="level2Shape" presStyleLbl="node3" presStyleIdx="1" presStyleCnt="2" custScaleX="109360" custLinFactNeighborX="-10890" custLinFactNeighborY="-32390"/>
      <dgm:spPr/>
      <dgm:t>
        <a:bodyPr/>
        <a:lstStyle/>
        <a:p>
          <a:endParaRPr lang="zh-CN" altLang="en-US"/>
        </a:p>
      </dgm:t>
    </dgm:pt>
    <dgm:pt modelId="{B2E351E7-DCF0-4BE9-ABFC-2C0DF460F7E4}" type="pres">
      <dgm:prSet presAssocID="{64935BD1-55F9-487F-B3E0-E19821B26570}" presName="hierChild3" presStyleCnt="0"/>
      <dgm:spPr/>
    </dgm:pt>
    <dgm:pt modelId="{EF2D6D02-AF2B-4685-8C12-5826BBA21DD0}" type="pres">
      <dgm:prSet presAssocID="{C62215CB-AEC7-422C-AF91-4292D72C965E}" presName="bgShapesFlow" presStyleCnt="0"/>
      <dgm:spPr/>
    </dgm:pt>
  </dgm:ptLst>
  <dgm:cxnLst>
    <dgm:cxn modelId="{1A01F782-3C48-48B1-8D91-BA83086F82DB}" srcId="{74089C25-B75E-4DB1-908F-924EF9B068AB}" destId="{7C32F484-BFF7-4EC0-9EA5-EBFFBCAF9A8F}" srcOrd="0" destOrd="0" parTransId="{8F3234FE-C73C-41E9-88A3-304D129B1A96}" sibTransId="{49BA161C-527C-4E3F-B272-8EB2A11BBE6D}"/>
    <dgm:cxn modelId="{A1CF1B18-15E6-4678-BDC1-5788F7FE0310}" type="presOf" srcId="{64935BD1-55F9-487F-B3E0-E19821B26570}" destId="{69C002E2-3F7E-47C4-A66F-54C0541A5131}" srcOrd="0" destOrd="0" presId="urn:microsoft.com/office/officeart/2005/8/layout/hierarchy5"/>
    <dgm:cxn modelId="{27EC2766-9895-4525-9BD1-54612715F0E1}" type="presOf" srcId="{8F3234FE-C73C-41E9-88A3-304D129B1A96}" destId="{060A79B1-44A5-4236-ABEB-753426A9D915}" srcOrd="0" destOrd="0" presId="urn:microsoft.com/office/officeart/2005/8/layout/hierarchy5"/>
    <dgm:cxn modelId="{93D1FD6C-1FC3-4C42-8F19-4EB6B1C5C1FC}" type="presOf" srcId="{1E634FC3-F0D4-4980-B624-6C3A60AC0931}" destId="{966635F3-2EF7-4B5D-9C61-949A25AF5911}" srcOrd="1" destOrd="0" presId="urn:microsoft.com/office/officeart/2005/8/layout/hierarchy5"/>
    <dgm:cxn modelId="{C28D9573-D5D1-4593-98DE-18A685FF7E16}" type="presOf" srcId="{FEF81F79-A175-4037-AE76-24B37F5B43C2}" destId="{EA14E15A-DE47-44AB-9EA6-3BF4D4A64A84}" srcOrd="1" destOrd="0" presId="urn:microsoft.com/office/officeart/2005/8/layout/hierarchy5"/>
    <dgm:cxn modelId="{49112307-D6A6-42E9-8185-D73C521D98FD}" type="presOf" srcId="{8F3234FE-C73C-41E9-88A3-304D129B1A96}" destId="{E43BA331-06FB-488B-BDB8-0C6230D8589E}" srcOrd="1" destOrd="0" presId="urn:microsoft.com/office/officeart/2005/8/layout/hierarchy5"/>
    <dgm:cxn modelId="{DC03B154-AB17-4F1D-9B34-0CAD7E8F5A8B}" type="presOf" srcId="{1E634FC3-F0D4-4980-B624-6C3A60AC0931}" destId="{4BA45008-39E0-4690-866D-9E80784B681E}" srcOrd="0" destOrd="0" presId="urn:microsoft.com/office/officeart/2005/8/layout/hierarchy5"/>
    <dgm:cxn modelId="{367A3FB7-DCA9-4F0D-86D5-0D2902D3B619}" type="presOf" srcId="{A2E9C8BE-6BB1-441C-8C75-029CE2FDA095}" destId="{71FC55D2-7DE3-4AB4-A66E-F7DF88AACBD4}" srcOrd="0" destOrd="0" presId="urn:microsoft.com/office/officeart/2005/8/layout/hierarchy5"/>
    <dgm:cxn modelId="{08D76D0B-42A7-4E3F-B7E9-01502EB7AF70}" type="presOf" srcId="{A2E9C8BE-6BB1-441C-8C75-029CE2FDA095}" destId="{1FE214A1-4750-4128-AC35-FD339E6D2D10}" srcOrd="1" destOrd="0" presId="urn:microsoft.com/office/officeart/2005/8/layout/hierarchy5"/>
    <dgm:cxn modelId="{0339C5F5-96BE-4E78-9922-8A1D9EB95F15}" srcId="{74089C25-B75E-4DB1-908F-924EF9B068AB}" destId="{90301D76-54AC-472B-B444-60A823815A8C}" srcOrd="1" destOrd="0" parTransId="{1E634FC3-F0D4-4980-B624-6C3A60AC0931}" sibTransId="{9011DD87-76E0-4A6E-B801-F0733F8E43BC}"/>
    <dgm:cxn modelId="{0AD8CF1D-27AE-438F-A95D-B16FC6956F15}" type="presOf" srcId="{90301D76-54AC-472B-B444-60A823815A8C}" destId="{1C31D084-7A31-4FE6-A71F-46C0D1CCC864}" srcOrd="0" destOrd="0" presId="urn:microsoft.com/office/officeart/2005/8/layout/hierarchy5"/>
    <dgm:cxn modelId="{63EACF96-F917-4E11-9FC4-A6A6665178C7}" type="presOf" srcId="{C62215CB-AEC7-422C-AF91-4292D72C965E}" destId="{1ECA8364-DE15-4D39-8F77-0DAD6515BEB6}" srcOrd="0" destOrd="0" presId="urn:microsoft.com/office/officeart/2005/8/layout/hierarchy5"/>
    <dgm:cxn modelId="{D2862CD9-A433-42F8-9892-A7D2EB140D0A}" srcId="{7C32F484-BFF7-4EC0-9EA5-EBFFBCAF9A8F}" destId="{C88FEA6E-25AC-44C1-945E-EA09BEEF9113}" srcOrd="0" destOrd="0" parTransId="{FEF81F79-A175-4037-AE76-24B37F5B43C2}" sibTransId="{EBA7F585-EB8E-490F-9FB1-572707F0D3CB}"/>
    <dgm:cxn modelId="{38BE1108-9D7E-4539-8367-A3A86AF6A5F6}" srcId="{C62215CB-AEC7-422C-AF91-4292D72C965E}" destId="{74089C25-B75E-4DB1-908F-924EF9B068AB}" srcOrd="0" destOrd="0" parTransId="{82FE166A-DC17-48AD-B631-9DACAD91EEAB}" sibTransId="{DDECE86E-460F-4372-92E6-9D907EEBEEA0}"/>
    <dgm:cxn modelId="{1B27291E-1B06-4B87-B472-942AB10D0724}" srcId="{90301D76-54AC-472B-B444-60A823815A8C}" destId="{64935BD1-55F9-487F-B3E0-E19821B26570}" srcOrd="0" destOrd="0" parTransId="{A2E9C8BE-6BB1-441C-8C75-029CE2FDA095}" sibTransId="{A0D4AB85-76B9-4CEF-A9EF-5A37DBDE0F13}"/>
    <dgm:cxn modelId="{1B60C6FA-FDC3-47A8-B33F-63162D909BC0}" type="presOf" srcId="{7C32F484-BFF7-4EC0-9EA5-EBFFBCAF9A8F}" destId="{EDF0F383-5FBB-4506-BB66-CC134BCC1391}" srcOrd="0" destOrd="0" presId="urn:microsoft.com/office/officeart/2005/8/layout/hierarchy5"/>
    <dgm:cxn modelId="{52AC5C59-E558-40D4-AC1B-12E766D4A8AF}" type="presOf" srcId="{C88FEA6E-25AC-44C1-945E-EA09BEEF9113}" destId="{81E1F0F7-BDD0-4460-8721-2110DC7B93DE}" srcOrd="0" destOrd="0" presId="urn:microsoft.com/office/officeart/2005/8/layout/hierarchy5"/>
    <dgm:cxn modelId="{B71235B6-E6DC-4138-9C84-6C4EBA6550A0}" type="presOf" srcId="{74089C25-B75E-4DB1-908F-924EF9B068AB}" destId="{68875F4A-A6F3-4020-930C-E6A9113E5390}" srcOrd="0" destOrd="0" presId="urn:microsoft.com/office/officeart/2005/8/layout/hierarchy5"/>
    <dgm:cxn modelId="{EDCC8270-DE08-4703-BFC8-71E8DFB81F78}" type="presOf" srcId="{FEF81F79-A175-4037-AE76-24B37F5B43C2}" destId="{5AEAD24C-779B-40F1-AC2F-A2637180453F}" srcOrd="0" destOrd="0" presId="urn:microsoft.com/office/officeart/2005/8/layout/hierarchy5"/>
    <dgm:cxn modelId="{FD376E60-24C9-4029-BABB-D0F407889DEE}" type="presParOf" srcId="{1ECA8364-DE15-4D39-8F77-0DAD6515BEB6}" destId="{E77A372E-3D8B-4B59-A4D9-B072E73EBF1D}" srcOrd="0" destOrd="0" presId="urn:microsoft.com/office/officeart/2005/8/layout/hierarchy5"/>
    <dgm:cxn modelId="{26B7995B-FD4A-4C37-A480-3B25C7419F2C}" type="presParOf" srcId="{E77A372E-3D8B-4B59-A4D9-B072E73EBF1D}" destId="{2BEF5624-64A0-48BA-986B-9E2C5BC016DD}" srcOrd="0" destOrd="0" presId="urn:microsoft.com/office/officeart/2005/8/layout/hierarchy5"/>
    <dgm:cxn modelId="{7543310B-44C3-46D0-80A2-3501AFD2CFCA}" type="presParOf" srcId="{2BEF5624-64A0-48BA-986B-9E2C5BC016DD}" destId="{117A3E66-D8C2-404D-9395-BDD25996A18C}" srcOrd="0" destOrd="0" presId="urn:microsoft.com/office/officeart/2005/8/layout/hierarchy5"/>
    <dgm:cxn modelId="{C5987479-0E85-42C8-91B9-AA9AC1AD25C5}" type="presParOf" srcId="{117A3E66-D8C2-404D-9395-BDD25996A18C}" destId="{68875F4A-A6F3-4020-930C-E6A9113E5390}" srcOrd="0" destOrd="0" presId="urn:microsoft.com/office/officeart/2005/8/layout/hierarchy5"/>
    <dgm:cxn modelId="{4B61B9A6-177A-436F-91BD-77A6445E1101}" type="presParOf" srcId="{117A3E66-D8C2-404D-9395-BDD25996A18C}" destId="{C0BA1F01-25F8-431B-AE11-FA425384094A}" srcOrd="1" destOrd="0" presId="urn:microsoft.com/office/officeart/2005/8/layout/hierarchy5"/>
    <dgm:cxn modelId="{33F89D59-4E89-40D7-8BA3-A72C023DC20A}" type="presParOf" srcId="{C0BA1F01-25F8-431B-AE11-FA425384094A}" destId="{060A79B1-44A5-4236-ABEB-753426A9D915}" srcOrd="0" destOrd="0" presId="urn:microsoft.com/office/officeart/2005/8/layout/hierarchy5"/>
    <dgm:cxn modelId="{1F7CF568-A2CB-44D3-AEFB-7CD2BA6891BA}" type="presParOf" srcId="{060A79B1-44A5-4236-ABEB-753426A9D915}" destId="{E43BA331-06FB-488B-BDB8-0C6230D8589E}" srcOrd="0" destOrd="0" presId="urn:microsoft.com/office/officeart/2005/8/layout/hierarchy5"/>
    <dgm:cxn modelId="{AD7C35A6-1D55-436E-9868-CC38DD4CE007}" type="presParOf" srcId="{C0BA1F01-25F8-431B-AE11-FA425384094A}" destId="{A58BF0DB-03C3-4F77-88E6-1F0E3CA62854}" srcOrd="1" destOrd="0" presId="urn:microsoft.com/office/officeart/2005/8/layout/hierarchy5"/>
    <dgm:cxn modelId="{B4D29B7A-2A77-409A-BAA9-22CD879B4823}" type="presParOf" srcId="{A58BF0DB-03C3-4F77-88E6-1F0E3CA62854}" destId="{EDF0F383-5FBB-4506-BB66-CC134BCC1391}" srcOrd="0" destOrd="0" presId="urn:microsoft.com/office/officeart/2005/8/layout/hierarchy5"/>
    <dgm:cxn modelId="{F130ED65-675F-42B1-883D-BC52BFB82C88}" type="presParOf" srcId="{A58BF0DB-03C3-4F77-88E6-1F0E3CA62854}" destId="{76977F23-8881-47F8-9B5F-2A9B3F6AC031}" srcOrd="1" destOrd="0" presId="urn:microsoft.com/office/officeart/2005/8/layout/hierarchy5"/>
    <dgm:cxn modelId="{0BE0C3B6-42B1-422A-B443-7878D6BAF102}" type="presParOf" srcId="{76977F23-8881-47F8-9B5F-2A9B3F6AC031}" destId="{5AEAD24C-779B-40F1-AC2F-A2637180453F}" srcOrd="0" destOrd="0" presId="urn:microsoft.com/office/officeart/2005/8/layout/hierarchy5"/>
    <dgm:cxn modelId="{EC37B6E6-443D-4AC2-9782-514FA2EAF1E1}" type="presParOf" srcId="{5AEAD24C-779B-40F1-AC2F-A2637180453F}" destId="{EA14E15A-DE47-44AB-9EA6-3BF4D4A64A84}" srcOrd="0" destOrd="0" presId="urn:microsoft.com/office/officeart/2005/8/layout/hierarchy5"/>
    <dgm:cxn modelId="{D80C7349-41F6-4F6F-B7CC-A8DD09253375}" type="presParOf" srcId="{76977F23-8881-47F8-9B5F-2A9B3F6AC031}" destId="{CFA3DF44-D21E-43E4-A36C-9F245E093D08}" srcOrd="1" destOrd="0" presId="urn:microsoft.com/office/officeart/2005/8/layout/hierarchy5"/>
    <dgm:cxn modelId="{66B5A56E-8105-4CB8-8121-C9CABD5014C3}" type="presParOf" srcId="{CFA3DF44-D21E-43E4-A36C-9F245E093D08}" destId="{81E1F0F7-BDD0-4460-8721-2110DC7B93DE}" srcOrd="0" destOrd="0" presId="urn:microsoft.com/office/officeart/2005/8/layout/hierarchy5"/>
    <dgm:cxn modelId="{C346F7E7-8B9B-41B6-A181-08DC2D6E734A}" type="presParOf" srcId="{CFA3DF44-D21E-43E4-A36C-9F245E093D08}" destId="{4475E436-C598-48FD-8CCB-CD91F49E9DFD}" srcOrd="1" destOrd="0" presId="urn:microsoft.com/office/officeart/2005/8/layout/hierarchy5"/>
    <dgm:cxn modelId="{4E2679DD-1CB0-4924-B472-4B182F75F2F8}" type="presParOf" srcId="{C0BA1F01-25F8-431B-AE11-FA425384094A}" destId="{4BA45008-39E0-4690-866D-9E80784B681E}" srcOrd="2" destOrd="0" presId="urn:microsoft.com/office/officeart/2005/8/layout/hierarchy5"/>
    <dgm:cxn modelId="{5800838D-F581-4C92-A641-ADD1EA814565}" type="presParOf" srcId="{4BA45008-39E0-4690-866D-9E80784B681E}" destId="{966635F3-2EF7-4B5D-9C61-949A25AF5911}" srcOrd="0" destOrd="0" presId="urn:microsoft.com/office/officeart/2005/8/layout/hierarchy5"/>
    <dgm:cxn modelId="{B35BDFAD-E4D8-4547-B0F1-DB4C66CDA8C5}" type="presParOf" srcId="{C0BA1F01-25F8-431B-AE11-FA425384094A}" destId="{5079A8DB-0D79-4BD9-B9C7-768CA42B442B}" srcOrd="3" destOrd="0" presId="urn:microsoft.com/office/officeart/2005/8/layout/hierarchy5"/>
    <dgm:cxn modelId="{16082B70-62B7-498E-B350-A66989AD97B3}" type="presParOf" srcId="{5079A8DB-0D79-4BD9-B9C7-768CA42B442B}" destId="{1C31D084-7A31-4FE6-A71F-46C0D1CCC864}" srcOrd="0" destOrd="0" presId="urn:microsoft.com/office/officeart/2005/8/layout/hierarchy5"/>
    <dgm:cxn modelId="{4B829FAE-B15E-460C-8BB0-C1E668E3A2FE}" type="presParOf" srcId="{5079A8DB-0D79-4BD9-B9C7-768CA42B442B}" destId="{061F999B-7D21-4D7D-8858-034111F9EAA6}" srcOrd="1" destOrd="0" presId="urn:microsoft.com/office/officeart/2005/8/layout/hierarchy5"/>
    <dgm:cxn modelId="{5E534C95-1407-4FF2-AF8F-EB9D5EBD8E79}" type="presParOf" srcId="{061F999B-7D21-4D7D-8858-034111F9EAA6}" destId="{71FC55D2-7DE3-4AB4-A66E-F7DF88AACBD4}" srcOrd="0" destOrd="0" presId="urn:microsoft.com/office/officeart/2005/8/layout/hierarchy5"/>
    <dgm:cxn modelId="{835C71F4-6430-4577-AC19-D73ED95639B2}" type="presParOf" srcId="{71FC55D2-7DE3-4AB4-A66E-F7DF88AACBD4}" destId="{1FE214A1-4750-4128-AC35-FD339E6D2D10}" srcOrd="0" destOrd="0" presId="urn:microsoft.com/office/officeart/2005/8/layout/hierarchy5"/>
    <dgm:cxn modelId="{8A032A6B-A00B-48AA-A8BB-C1978357BCCB}" type="presParOf" srcId="{061F999B-7D21-4D7D-8858-034111F9EAA6}" destId="{9858AB93-6C15-4C26-A25E-727939901107}" srcOrd="1" destOrd="0" presId="urn:microsoft.com/office/officeart/2005/8/layout/hierarchy5"/>
    <dgm:cxn modelId="{33A5A804-31B3-4348-95B9-4FAF319A3F37}" type="presParOf" srcId="{9858AB93-6C15-4C26-A25E-727939901107}" destId="{69C002E2-3F7E-47C4-A66F-54C0541A5131}" srcOrd="0" destOrd="0" presId="urn:microsoft.com/office/officeart/2005/8/layout/hierarchy5"/>
    <dgm:cxn modelId="{37AD550E-676D-4318-BDB5-8C0AB0A19CD9}" type="presParOf" srcId="{9858AB93-6C15-4C26-A25E-727939901107}" destId="{B2E351E7-DCF0-4BE9-ABFC-2C0DF460F7E4}" srcOrd="1" destOrd="0" presId="urn:microsoft.com/office/officeart/2005/8/layout/hierarchy5"/>
    <dgm:cxn modelId="{50634686-5123-475C-BC70-1E8A3F5EBC84}" type="presParOf" srcId="{1ECA8364-DE15-4D39-8F77-0DAD6515BEB6}" destId="{EF2D6D02-AF2B-4685-8C12-5826BBA21DD0}"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2215CB-AEC7-422C-AF91-4292D72C965E}"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zh-CN" altLang="en-US"/>
        </a:p>
      </dgm:t>
    </dgm:pt>
    <dgm:pt modelId="{74089C25-B75E-4DB1-908F-924EF9B068AB}">
      <dgm:prSet phldrT="[文本]"/>
      <dgm:spPr>
        <a:noFill/>
        <a:ln w="28575">
          <a:solidFill>
            <a:srgbClr val="C00000"/>
          </a:solidFill>
        </a:ln>
      </dgm:spPr>
      <dgm:t>
        <a:bodyPr/>
        <a:lstStyle/>
        <a:p>
          <a:r>
            <a:rPr lang="zh-CN" altLang="en-US" b="0" dirty="0">
              <a:solidFill>
                <a:schemeClr val="tx1"/>
              </a:solidFill>
              <a:latin typeface="微软雅黑" panose="020B0503020204020204" pitchFamily="34" charset="-122"/>
              <a:ea typeface="微软雅黑" panose="020B0503020204020204" pitchFamily="34" charset="-122"/>
            </a:rPr>
            <a:t>一般情形下要素（如劳动）使用的边际收益为边际收益产品</a:t>
          </a:r>
          <a:r>
            <a:rPr lang="en-US" altLang="zh-CN" b="0" dirty="0">
              <a:solidFill>
                <a:schemeClr val="tx1"/>
              </a:solidFill>
              <a:latin typeface="微软雅黑" panose="020B0503020204020204" pitchFamily="34" charset="-122"/>
              <a:ea typeface="微软雅黑" panose="020B0503020204020204" pitchFamily="34" charset="-122"/>
            </a:rPr>
            <a:t>MRP</a:t>
          </a:r>
          <a:endParaRPr lang="zh-CN" altLang="en-US" b="0" dirty="0">
            <a:solidFill>
              <a:schemeClr val="tx1"/>
            </a:solidFill>
            <a:latin typeface="微软雅黑" panose="020B0503020204020204" pitchFamily="34" charset="-122"/>
            <a:ea typeface="微软雅黑" panose="020B0503020204020204" pitchFamily="34" charset="-122"/>
          </a:endParaRPr>
        </a:p>
      </dgm:t>
    </dgm:pt>
    <dgm:pt modelId="{82FE166A-DC17-48AD-B631-9DACAD91EEAB}" type="parTrans" cxnId="{38BE1108-9D7E-4539-8367-A3A86AF6A5F6}">
      <dgm:prSet/>
      <dgm:spPr/>
      <dgm:t>
        <a:bodyPr/>
        <a:lstStyle/>
        <a:p>
          <a:endParaRPr lang="zh-CN" altLang="en-US"/>
        </a:p>
      </dgm:t>
    </dgm:pt>
    <dgm:pt modelId="{DDECE86E-460F-4372-92E6-9D907EEBEEA0}" type="sibTrans" cxnId="{38BE1108-9D7E-4539-8367-A3A86AF6A5F6}">
      <dgm:prSet/>
      <dgm:spPr/>
      <dgm:t>
        <a:bodyPr/>
        <a:lstStyle/>
        <a:p>
          <a:endParaRPr lang="zh-CN" altLang="en-US"/>
        </a:p>
      </dgm:t>
    </dgm:pt>
    <dgm:pt modelId="{7C32F484-BFF7-4EC0-9EA5-EBFFBCAF9A8F}">
      <dgm:prSet phldrT="[文本]"/>
      <dgm:spPr>
        <a:noFill/>
        <a:ln w="28575">
          <a:solidFill>
            <a:srgbClr val="C00000"/>
          </a:solidFill>
        </a:ln>
      </dgm:spPr>
      <dgm:t>
        <a:bodyPr/>
        <a:lstStyle/>
        <a:p>
          <a:endParaRPr lang="zh-CN" altLang="en-US" dirty="0"/>
        </a:p>
      </dgm:t>
    </dgm:pt>
    <dgm:pt modelId="{8F3234FE-C73C-41E9-88A3-304D129B1A96}" type="parTrans" cxnId="{1A01F782-3C48-48B1-8D91-BA83086F82DB}">
      <dgm:prSet/>
      <dgm:spPr>
        <a:ln w="28575">
          <a:solidFill>
            <a:srgbClr val="C00000"/>
          </a:solidFill>
        </a:ln>
      </dgm:spPr>
      <dgm:t>
        <a:bodyPr/>
        <a:lstStyle/>
        <a:p>
          <a:endParaRPr lang="zh-CN" altLang="en-US"/>
        </a:p>
      </dgm:t>
    </dgm:pt>
    <dgm:pt modelId="{49BA161C-527C-4E3F-B272-8EB2A11BBE6D}" type="sibTrans" cxnId="{1A01F782-3C48-48B1-8D91-BA83086F82DB}">
      <dgm:prSet/>
      <dgm:spPr/>
      <dgm:t>
        <a:bodyPr/>
        <a:lstStyle/>
        <a:p>
          <a:endParaRPr lang="zh-CN" altLang="en-US"/>
        </a:p>
      </dgm:t>
    </dgm:pt>
    <dgm:pt modelId="{90301D76-54AC-472B-B444-60A823815A8C}">
      <dgm:prSet phldrT="[文本]"/>
      <dgm:spPr>
        <a:noFill/>
        <a:ln w="28575">
          <a:solidFill>
            <a:srgbClr val="C00000"/>
          </a:solidFill>
        </a:ln>
      </dgm:spPr>
      <dgm:t>
        <a:bodyPr/>
        <a:lstStyle/>
        <a:p>
          <a:pPr algn="ctr"/>
          <a:endParaRPr lang="zh-CN" altLang="en-US" dirty="0"/>
        </a:p>
      </dgm:t>
    </dgm:pt>
    <dgm:pt modelId="{1E634FC3-F0D4-4980-B624-6C3A60AC0931}" type="parTrans" cxnId="{0339C5F5-96BE-4E78-9922-8A1D9EB95F15}">
      <dgm:prSet/>
      <dgm:spPr>
        <a:ln w="28575">
          <a:solidFill>
            <a:srgbClr val="C00000"/>
          </a:solidFill>
        </a:ln>
      </dgm:spPr>
      <dgm:t>
        <a:bodyPr/>
        <a:lstStyle/>
        <a:p>
          <a:endParaRPr lang="zh-CN" altLang="en-US"/>
        </a:p>
      </dgm:t>
    </dgm:pt>
    <dgm:pt modelId="{9011DD87-76E0-4A6E-B801-F0733F8E43BC}" type="sibTrans" cxnId="{0339C5F5-96BE-4E78-9922-8A1D9EB95F15}">
      <dgm:prSet/>
      <dgm:spPr/>
      <dgm:t>
        <a:bodyPr/>
        <a:lstStyle/>
        <a:p>
          <a:endParaRPr lang="zh-CN" altLang="en-US"/>
        </a:p>
      </dgm:t>
    </dgm:pt>
    <dgm:pt modelId="{64935BD1-55F9-487F-B3E0-E19821B26570}">
      <dgm:prSet phldrT="[文本]" custT="1"/>
      <dgm:spPr>
        <a:noFill/>
        <a:ln w="28575">
          <a:solidFill>
            <a:srgbClr val="C00000"/>
          </a:solidFill>
        </a:ln>
      </dgm:spPr>
      <dgm:t>
        <a:bodyPr/>
        <a:lstStyle/>
        <a:p>
          <a:pPr algn="ct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即：收益来源于产量，产量来自要素使用</a:t>
          </a:r>
          <a:r>
            <a:rPr lang="en-US" altLang="zh-CN" sz="1600" b="0" kern="1200" dirty="0">
              <a:solidFill>
                <a:schemeClr val="tx1"/>
              </a:solidFill>
              <a:latin typeface="微软雅黑" panose="020B0503020204020204" pitchFamily="34" charset="-122"/>
              <a:ea typeface="微软雅黑" panose="020B0503020204020204" pitchFamily="34" charset="-122"/>
              <a:cs typeface="+mn-cs"/>
              <a:sym typeface="Wingdings" panose="05000000000000000000" pitchFamily="2" charset="2"/>
            </a:rPr>
            <a:t> </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dgm:t>
    </dgm:pt>
    <dgm:pt modelId="{A2E9C8BE-6BB1-441C-8C75-029CE2FDA095}" type="parTrans" cxnId="{1B27291E-1B06-4B87-B472-942AB10D0724}">
      <dgm:prSet/>
      <dgm:spPr>
        <a:ln w="28575">
          <a:solidFill>
            <a:srgbClr val="C00000"/>
          </a:solidFill>
        </a:ln>
      </dgm:spPr>
      <dgm:t>
        <a:bodyPr/>
        <a:lstStyle/>
        <a:p>
          <a:endParaRPr lang="zh-CN" altLang="en-US"/>
        </a:p>
      </dgm:t>
    </dgm:pt>
    <dgm:pt modelId="{A0D4AB85-76B9-4CEF-A9EF-5A37DBDE0F13}" type="sibTrans" cxnId="{1B27291E-1B06-4B87-B472-942AB10D0724}">
      <dgm:prSet/>
      <dgm:spPr/>
      <dgm:t>
        <a:bodyPr/>
        <a:lstStyle/>
        <a:p>
          <a:endParaRPr lang="zh-CN" altLang="en-US"/>
        </a:p>
      </dgm:t>
    </dgm:pt>
    <dgm:pt modelId="{C88FEA6E-25AC-44C1-945E-EA09BEEF9113}">
      <dgm:prSet phldrT="[文本]" custT="1"/>
      <dgm:spPr>
        <a:noFill/>
        <a:ln w="28575">
          <a:solidFill>
            <a:srgbClr val="C00000"/>
          </a:solidFill>
        </a:ln>
      </dgm:spPr>
      <dgm:t>
        <a:bodyPr/>
        <a:lstStyle/>
        <a:p>
          <a:pPr algn="ctr" rtl="0" eaLnBrk="0" fontAlgn="base" hangingPunct="0">
            <a:spcBef>
              <a:spcPct val="0"/>
            </a:spcBef>
            <a:spcAft>
              <a:spcPct val="0"/>
            </a:spcAft>
            <a:buFont typeface="Arial" panose="020B0604020202020204" pitchFamily="34" charset="0"/>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即：每增加一单位要素</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L</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投入所增加的收益</a:t>
          </a:r>
        </a:p>
      </dgm:t>
    </dgm:pt>
    <dgm:pt modelId="{EBA7F585-EB8E-490F-9FB1-572707F0D3CB}" type="sibTrans" cxnId="{D2862CD9-A433-42F8-9892-A7D2EB140D0A}">
      <dgm:prSet/>
      <dgm:spPr/>
      <dgm:t>
        <a:bodyPr/>
        <a:lstStyle/>
        <a:p>
          <a:endParaRPr lang="zh-CN" altLang="en-US"/>
        </a:p>
      </dgm:t>
    </dgm:pt>
    <dgm:pt modelId="{FEF81F79-A175-4037-AE76-24B37F5B43C2}" type="parTrans" cxnId="{D2862CD9-A433-42F8-9892-A7D2EB140D0A}">
      <dgm:prSet/>
      <dgm:spPr>
        <a:ln w="28575">
          <a:solidFill>
            <a:srgbClr val="C00000"/>
          </a:solidFill>
        </a:ln>
      </dgm:spPr>
      <dgm:t>
        <a:bodyPr/>
        <a:lstStyle/>
        <a:p>
          <a:endParaRPr lang="zh-CN" altLang="en-US" dirty="0"/>
        </a:p>
      </dgm:t>
    </dgm:pt>
    <dgm:pt modelId="{1ECA8364-DE15-4D39-8F77-0DAD6515BEB6}" type="pres">
      <dgm:prSet presAssocID="{C62215CB-AEC7-422C-AF91-4292D72C965E}" presName="mainComposite" presStyleCnt="0">
        <dgm:presLayoutVars>
          <dgm:chPref val="1"/>
          <dgm:dir/>
          <dgm:animOne val="branch"/>
          <dgm:animLvl val="lvl"/>
          <dgm:resizeHandles val="exact"/>
        </dgm:presLayoutVars>
      </dgm:prSet>
      <dgm:spPr/>
    </dgm:pt>
    <dgm:pt modelId="{E77A372E-3D8B-4B59-A4D9-B072E73EBF1D}" type="pres">
      <dgm:prSet presAssocID="{C62215CB-AEC7-422C-AF91-4292D72C965E}" presName="hierFlow" presStyleCnt="0"/>
      <dgm:spPr/>
    </dgm:pt>
    <dgm:pt modelId="{2BEF5624-64A0-48BA-986B-9E2C5BC016DD}" type="pres">
      <dgm:prSet presAssocID="{C62215CB-AEC7-422C-AF91-4292D72C965E}" presName="hierChild1" presStyleCnt="0">
        <dgm:presLayoutVars>
          <dgm:chPref val="1"/>
          <dgm:animOne val="branch"/>
          <dgm:animLvl val="lvl"/>
        </dgm:presLayoutVars>
      </dgm:prSet>
      <dgm:spPr/>
    </dgm:pt>
    <dgm:pt modelId="{117A3E66-D8C2-404D-9395-BDD25996A18C}" type="pres">
      <dgm:prSet presAssocID="{74089C25-B75E-4DB1-908F-924EF9B068AB}" presName="Name17" presStyleCnt="0"/>
      <dgm:spPr/>
    </dgm:pt>
    <dgm:pt modelId="{68875F4A-A6F3-4020-930C-E6A9113E5390}" type="pres">
      <dgm:prSet presAssocID="{74089C25-B75E-4DB1-908F-924EF9B068AB}" presName="level1Shape" presStyleLbl="node0" presStyleIdx="0" presStyleCnt="1" custLinFactNeighborX="1194" custLinFactNeighborY="-41305">
        <dgm:presLayoutVars>
          <dgm:chPref val="3"/>
        </dgm:presLayoutVars>
      </dgm:prSet>
      <dgm:spPr/>
    </dgm:pt>
    <dgm:pt modelId="{C0BA1F01-25F8-431B-AE11-FA425384094A}" type="pres">
      <dgm:prSet presAssocID="{74089C25-B75E-4DB1-908F-924EF9B068AB}" presName="hierChild2" presStyleCnt="0"/>
      <dgm:spPr/>
    </dgm:pt>
    <dgm:pt modelId="{060A79B1-44A5-4236-ABEB-753426A9D915}" type="pres">
      <dgm:prSet presAssocID="{8F3234FE-C73C-41E9-88A3-304D129B1A96}" presName="Name25" presStyleLbl="parChTrans1D2" presStyleIdx="0" presStyleCnt="2"/>
      <dgm:spPr/>
    </dgm:pt>
    <dgm:pt modelId="{E43BA331-06FB-488B-BDB8-0C6230D8589E}" type="pres">
      <dgm:prSet presAssocID="{8F3234FE-C73C-41E9-88A3-304D129B1A96}" presName="connTx" presStyleLbl="parChTrans1D2" presStyleIdx="0" presStyleCnt="2"/>
      <dgm:spPr/>
    </dgm:pt>
    <dgm:pt modelId="{A58BF0DB-03C3-4F77-88E6-1F0E3CA62854}" type="pres">
      <dgm:prSet presAssocID="{7C32F484-BFF7-4EC0-9EA5-EBFFBCAF9A8F}" presName="Name30" presStyleCnt="0"/>
      <dgm:spPr/>
    </dgm:pt>
    <dgm:pt modelId="{EDF0F383-5FBB-4506-BB66-CC134BCC1391}" type="pres">
      <dgm:prSet presAssocID="{7C32F484-BFF7-4EC0-9EA5-EBFFBCAF9A8F}" presName="level2Shape" presStyleLbl="node2" presStyleIdx="0" presStyleCnt="2" custScaleX="85098" custLinFactNeighborX="868" custLinFactNeighborY="-24759"/>
      <dgm:spPr/>
    </dgm:pt>
    <dgm:pt modelId="{76977F23-8881-47F8-9B5F-2A9B3F6AC031}" type="pres">
      <dgm:prSet presAssocID="{7C32F484-BFF7-4EC0-9EA5-EBFFBCAF9A8F}" presName="hierChild3" presStyleCnt="0"/>
      <dgm:spPr/>
    </dgm:pt>
    <dgm:pt modelId="{5AEAD24C-779B-40F1-AC2F-A2637180453F}" type="pres">
      <dgm:prSet presAssocID="{FEF81F79-A175-4037-AE76-24B37F5B43C2}" presName="Name25" presStyleLbl="parChTrans1D3" presStyleIdx="0" presStyleCnt="2"/>
      <dgm:spPr/>
    </dgm:pt>
    <dgm:pt modelId="{EA14E15A-DE47-44AB-9EA6-3BF4D4A64A84}" type="pres">
      <dgm:prSet presAssocID="{FEF81F79-A175-4037-AE76-24B37F5B43C2}" presName="connTx" presStyleLbl="parChTrans1D3" presStyleIdx="0" presStyleCnt="2"/>
      <dgm:spPr/>
    </dgm:pt>
    <dgm:pt modelId="{CFA3DF44-D21E-43E4-A36C-9F245E093D08}" type="pres">
      <dgm:prSet presAssocID="{C88FEA6E-25AC-44C1-945E-EA09BEEF9113}" presName="Name30" presStyleCnt="0"/>
      <dgm:spPr/>
    </dgm:pt>
    <dgm:pt modelId="{81E1F0F7-BDD0-4460-8721-2110DC7B93DE}" type="pres">
      <dgm:prSet presAssocID="{C88FEA6E-25AC-44C1-945E-EA09BEEF9113}" presName="level2Shape" presStyleLbl="node3" presStyleIdx="0" presStyleCnt="2" custScaleX="118999" custLinFactNeighborX="26719" custLinFactNeighborY="-29189"/>
      <dgm:spPr/>
    </dgm:pt>
    <dgm:pt modelId="{4475E436-C598-48FD-8CCB-CD91F49E9DFD}" type="pres">
      <dgm:prSet presAssocID="{C88FEA6E-25AC-44C1-945E-EA09BEEF9113}" presName="hierChild3" presStyleCnt="0"/>
      <dgm:spPr/>
    </dgm:pt>
    <dgm:pt modelId="{4BA45008-39E0-4690-866D-9E80784B681E}" type="pres">
      <dgm:prSet presAssocID="{1E634FC3-F0D4-4980-B624-6C3A60AC0931}" presName="Name25" presStyleLbl="parChTrans1D2" presStyleIdx="1" presStyleCnt="2"/>
      <dgm:spPr/>
    </dgm:pt>
    <dgm:pt modelId="{966635F3-2EF7-4B5D-9C61-949A25AF5911}" type="pres">
      <dgm:prSet presAssocID="{1E634FC3-F0D4-4980-B624-6C3A60AC0931}" presName="connTx" presStyleLbl="parChTrans1D2" presStyleIdx="1" presStyleCnt="2"/>
      <dgm:spPr/>
    </dgm:pt>
    <dgm:pt modelId="{5079A8DB-0D79-4BD9-B9C7-768CA42B442B}" type="pres">
      <dgm:prSet presAssocID="{90301D76-54AC-472B-B444-60A823815A8C}" presName="Name30" presStyleCnt="0"/>
      <dgm:spPr/>
    </dgm:pt>
    <dgm:pt modelId="{1C31D084-7A31-4FE6-A71F-46C0D1CCC864}" type="pres">
      <dgm:prSet presAssocID="{90301D76-54AC-472B-B444-60A823815A8C}" presName="level2Shape" presStyleLbl="node2" presStyleIdx="1" presStyleCnt="2" custScaleX="133657" custLinFactNeighborX="868" custLinFactNeighborY="-31762"/>
      <dgm:spPr/>
    </dgm:pt>
    <dgm:pt modelId="{061F999B-7D21-4D7D-8858-034111F9EAA6}" type="pres">
      <dgm:prSet presAssocID="{90301D76-54AC-472B-B444-60A823815A8C}" presName="hierChild3" presStyleCnt="0"/>
      <dgm:spPr/>
    </dgm:pt>
    <dgm:pt modelId="{71FC55D2-7DE3-4AB4-A66E-F7DF88AACBD4}" type="pres">
      <dgm:prSet presAssocID="{A2E9C8BE-6BB1-441C-8C75-029CE2FDA095}" presName="Name25" presStyleLbl="parChTrans1D3" presStyleIdx="1" presStyleCnt="2"/>
      <dgm:spPr/>
    </dgm:pt>
    <dgm:pt modelId="{1FE214A1-4750-4128-AC35-FD339E6D2D10}" type="pres">
      <dgm:prSet presAssocID="{A2E9C8BE-6BB1-441C-8C75-029CE2FDA095}" presName="connTx" presStyleLbl="parChTrans1D3" presStyleIdx="1" presStyleCnt="2"/>
      <dgm:spPr/>
    </dgm:pt>
    <dgm:pt modelId="{9858AB93-6C15-4C26-A25E-727939901107}" type="pres">
      <dgm:prSet presAssocID="{64935BD1-55F9-487F-B3E0-E19821B26570}" presName="Name30" presStyleCnt="0"/>
      <dgm:spPr/>
    </dgm:pt>
    <dgm:pt modelId="{69C002E2-3F7E-47C4-A66F-54C0541A5131}" type="pres">
      <dgm:prSet presAssocID="{64935BD1-55F9-487F-B3E0-E19821B26570}" presName="level2Shape" presStyleLbl="node3" presStyleIdx="1" presStyleCnt="2" custScaleX="109360" custLinFactNeighborX="-10890" custLinFactNeighborY="-32390"/>
      <dgm:spPr/>
    </dgm:pt>
    <dgm:pt modelId="{B2E351E7-DCF0-4BE9-ABFC-2C0DF460F7E4}" type="pres">
      <dgm:prSet presAssocID="{64935BD1-55F9-487F-B3E0-E19821B26570}" presName="hierChild3" presStyleCnt="0"/>
      <dgm:spPr/>
    </dgm:pt>
    <dgm:pt modelId="{EF2D6D02-AF2B-4685-8C12-5826BBA21DD0}" type="pres">
      <dgm:prSet presAssocID="{C62215CB-AEC7-422C-AF91-4292D72C965E}" presName="bgShapesFlow" presStyleCnt="0"/>
      <dgm:spPr/>
    </dgm:pt>
  </dgm:ptLst>
  <dgm:cxnLst>
    <dgm:cxn modelId="{49112307-D6A6-42E9-8185-D73C521D98FD}" type="presOf" srcId="{8F3234FE-C73C-41E9-88A3-304D129B1A96}" destId="{E43BA331-06FB-488B-BDB8-0C6230D8589E}" srcOrd="1" destOrd="0" presId="urn:microsoft.com/office/officeart/2005/8/layout/hierarchy5"/>
    <dgm:cxn modelId="{38BE1108-9D7E-4539-8367-A3A86AF6A5F6}" srcId="{C62215CB-AEC7-422C-AF91-4292D72C965E}" destId="{74089C25-B75E-4DB1-908F-924EF9B068AB}" srcOrd="0" destOrd="0" parTransId="{82FE166A-DC17-48AD-B631-9DACAD91EEAB}" sibTransId="{DDECE86E-460F-4372-92E6-9D907EEBEEA0}"/>
    <dgm:cxn modelId="{08D76D0B-42A7-4E3F-B7E9-01502EB7AF70}" type="presOf" srcId="{A2E9C8BE-6BB1-441C-8C75-029CE2FDA095}" destId="{1FE214A1-4750-4128-AC35-FD339E6D2D10}" srcOrd="1" destOrd="0" presId="urn:microsoft.com/office/officeart/2005/8/layout/hierarchy5"/>
    <dgm:cxn modelId="{A1CF1B18-15E6-4678-BDC1-5788F7FE0310}" type="presOf" srcId="{64935BD1-55F9-487F-B3E0-E19821B26570}" destId="{69C002E2-3F7E-47C4-A66F-54C0541A5131}" srcOrd="0" destOrd="0" presId="urn:microsoft.com/office/officeart/2005/8/layout/hierarchy5"/>
    <dgm:cxn modelId="{0AD8CF1D-27AE-438F-A95D-B16FC6956F15}" type="presOf" srcId="{90301D76-54AC-472B-B444-60A823815A8C}" destId="{1C31D084-7A31-4FE6-A71F-46C0D1CCC864}" srcOrd="0" destOrd="0" presId="urn:microsoft.com/office/officeart/2005/8/layout/hierarchy5"/>
    <dgm:cxn modelId="{1B27291E-1B06-4B87-B472-942AB10D0724}" srcId="{90301D76-54AC-472B-B444-60A823815A8C}" destId="{64935BD1-55F9-487F-B3E0-E19821B26570}" srcOrd="0" destOrd="0" parTransId="{A2E9C8BE-6BB1-441C-8C75-029CE2FDA095}" sibTransId="{A0D4AB85-76B9-4CEF-A9EF-5A37DBDE0F13}"/>
    <dgm:cxn modelId="{27EC2766-9895-4525-9BD1-54612715F0E1}" type="presOf" srcId="{8F3234FE-C73C-41E9-88A3-304D129B1A96}" destId="{060A79B1-44A5-4236-ABEB-753426A9D915}" srcOrd="0" destOrd="0" presId="urn:microsoft.com/office/officeart/2005/8/layout/hierarchy5"/>
    <dgm:cxn modelId="{93D1FD6C-1FC3-4C42-8F19-4EB6B1C5C1FC}" type="presOf" srcId="{1E634FC3-F0D4-4980-B624-6C3A60AC0931}" destId="{966635F3-2EF7-4B5D-9C61-949A25AF5911}" srcOrd="1" destOrd="0" presId="urn:microsoft.com/office/officeart/2005/8/layout/hierarchy5"/>
    <dgm:cxn modelId="{EDCC8270-DE08-4703-BFC8-71E8DFB81F78}" type="presOf" srcId="{FEF81F79-A175-4037-AE76-24B37F5B43C2}" destId="{5AEAD24C-779B-40F1-AC2F-A2637180453F}" srcOrd="0" destOrd="0" presId="urn:microsoft.com/office/officeart/2005/8/layout/hierarchy5"/>
    <dgm:cxn modelId="{C28D9573-D5D1-4593-98DE-18A685FF7E16}" type="presOf" srcId="{FEF81F79-A175-4037-AE76-24B37F5B43C2}" destId="{EA14E15A-DE47-44AB-9EA6-3BF4D4A64A84}" srcOrd="1" destOrd="0" presId="urn:microsoft.com/office/officeart/2005/8/layout/hierarchy5"/>
    <dgm:cxn modelId="{DC03B154-AB17-4F1D-9B34-0CAD7E8F5A8B}" type="presOf" srcId="{1E634FC3-F0D4-4980-B624-6C3A60AC0931}" destId="{4BA45008-39E0-4690-866D-9E80784B681E}" srcOrd="0" destOrd="0" presId="urn:microsoft.com/office/officeart/2005/8/layout/hierarchy5"/>
    <dgm:cxn modelId="{52AC5C59-E558-40D4-AC1B-12E766D4A8AF}" type="presOf" srcId="{C88FEA6E-25AC-44C1-945E-EA09BEEF9113}" destId="{81E1F0F7-BDD0-4460-8721-2110DC7B93DE}" srcOrd="0" destOrd="0" presId="urn:microsoft.com/office/officeart/2005/8/layout/hierarchy5"/>
    <dgm:cxn modelId="{1A01F782-3C48-48B1-8D91-BA83086F82DB}" srcId="{74089C25-B75E-4DB1-908F-924EF9B068AB}" destId="{7C32F484-BFF7-4EC0-9EA5-EBFFBCAF9A8F}" srcOrd="0" destOrd="0" parTransId="{8F3234FE-C73C-41E9-88A3-304D129B1A96}" sibTransId="{49BA161C-527C-4E3F-B272-8EB2A11BBE6D}"/>
    <dgm:cxn modelId="{63EACF96-F917-4E11-9FC4-A6A6665178C7}" type="presOf" srcId="{C62215CB-AEC7-422C-AF91-4292D72C965E}" destId="{1ECA8364-DE15-4D39-8F77-0DAD6515BEB6}" srcOrd="0" destOrd="0" presId="urn:microsoft.com/office/officeart/2005/8/layout/hierarchy5"/>
    <dgm:cxn modelId="{B71235B6-E6DC-4138-9C84-6C4EBA6550A0}" type="presOf" srcId="{74089C25-B75E-4DB1-908F-924EF9B068AB}" destId="{68875F4A-A6F3-4020-930C-E6A9113E5390}" srcOrd="0" destOrd="0" presId="urn:microsoft.com/office/officeart/2005/8/layout/hierarchy5"/>
    <dgm:cxn modelId="{367A3FB7-DCA9-4F0D-86D5-0D2902D3B619}" type="presOf" srcId="{A2E9C8BE-6BB1-441C-8C75-029CE2FDA095}" destId="{71FC55D2-7DE3-4AB4-A66E-F7DF88AACBD4}" srcOrd="0" destOrd="0" presId="urn:microsoft.com/office/officeart/2005/8/layout/hierarchy5"/>
    <dgm:cxn modelId="{D2862CD9-A433-42F8-9892-A7D2EB140D0A}" srcId="{7C32F484-BFF7-4EC0-9EA5-EBFFBCAF9A8F}" destId="{C88FEA6E-25AC-44C1-945E-EA09BEEF9113}" srcOrd="0" destOrd="0" parTransId="{FEF81F79-A175-4037-AE76-24B37F5B43C2}" sibTransId="{EBA7F585-EB8E-490F-9FB1-572707F0D3CB}"/>
    <dgm:cxn modelId="{0339C5F5-96BE-4E78-9922-8A1D9EB95F15}" srcId="{74089C25-B75E-4DB1-908F-924EF9B068AB}" destId="{90301D76-54AC-472B-B444-60A823815A8C}" srcOrd="1" destOrd="0" parTransId="{1E634FC3-F0D4-4980-B624-6C3A60AC0931}" sibTransId="{9011DD87-76E0-4A6E-B801-F0733F8E43BC}"/>
    <dgm:cxn modelId="{1B60C6FA-FDC3-47A8-B33F-63162D909BC0}" type="presOf" srcId="{7C32F484-BFF7-4EC0-9EA5-EBFFBCAF9A8F}" destId="{EDF0F383-5FBB-4506-BB66-CC134BCC1391}" srcOrd="0" destOrd="0" presId="urn:microsoft.com/office/officeart/2005/8/layout/hierarchy5"/>
    <dgm:cxn modelId="{FD376E60-24C9-4029-BABB-D0F407889DEE}" type="presParOf" srcId="{1ECA8364-DE15-4D39-8F77-0DAD6515BEB6}" destId="{E77A372E-3D8B-4B59-A4D9-B072E73EBF1D}" srcOrd="0" destOrd="0" presId="urn:microsoft.com/office/officeart/2005/8/layout/hierarchy5"/>
    <dgm:cxn modelId="{26B7995B-FD4A-4C37-A480-3B25C7419F2C}" type="presParOf" srcId="{E77A372E-3D8B-4B59-A4D9-B072E73EBF1D}" destId="{2BEF5624-64A0-48BA-986B-9E2C5BC016DD}" srcOrd="0" destOrd="0" presId="urn:microsoft.com/office/officeart/2005/8/layout/hierarchy5"/>
    <dgm:cxn modelId="{7543310B-44C3-46D0-80A2-3501AFD2CFCA}" type="presParOf" srcId="{2BEF5624-64A0-48BA-986B-9E2C5BC016DD}" destId="{117A3E66-D8C2-404D-9395-BDD25996A18C}" srcOrd="0" destOrd="0" presId="urn:microsoft.com/office/officeart/2005/8/layout/hierarchy5"/>
    <dgm:cxn modelId="{C5987479-0E85-42C8-91B9-AA9AC1AD25C5}" type="presParOf" srcId="{117A3E66-D8C2-404D-9395-BDD25996A18C}" destId="{68875F4A-A6F3-4020-930C-E6A9113E5390}" srcOrd="0" destOrd="0" presId="urn:microsoft.com/office/officeart/2005/8/layout/hierarchy5"/>
    <dgm:cxn modelId="{4B61B9A6-177A-436F-91BD-77A6445E1101}" type="presParOf" srcId="{117A3E66-D8C2-404D-9395-BDD25996A18C}" destId="{C0BA1F01-25F8-431B-AE11-FA425384094A}" srcOrd="1" destOrd="0" presId="urn:microsoft.com/office/officeart/2005/8/layout/hierarchy5"/>
    <dgm:cxn modelId="{33F89D59-4E89-40D7-8BA3-A72C023DC20A}" type="presParOf" srcId="{C0BA1F01-25F8-431B-AE11-FA425384094A}" destId="{060A79B1-44A5-4236-ABEB-753426A9D915}" srcOrd="0" destOrd="0" presId="urn:microsoft.com/office/officeart/2005/8/layout/hierarchy5"/>
    <dgm:cxn modelId="{1F7CF568-A2CB-44D3-AEFB-7CD2BA6891BA}" type="presParOf" srcId="{060A79B1-44A5-4236-ABEB-753426A9D915}" destId="{E43BA331-06FB-488B-BDB8-0C6230D8589E}" srcOrd="0" destOrd="0" presId="urn:microsoft.com/office/officeart/2005/8/layout/hierarchy5"/>
    <dgm:cxn modelId="{AD7C35A6-1D55-436E-9868-CC38DD4CE007}" type="presParOf" srcId="{C0BA1F01-25F8-431B-AE11-FA425384094A}" destId="{A58BF0DB-03C3-4F77-88E6-1F0E3CA62854}" srcOrd="1" destOrd="0" presId="urn:microsoft.com/office/officeart/2005/8/layout/hierarchy5"/>
    <dgm:cxn modelId="{B4D29B7A-2A77-409A-BAA9-22CD879B4823}" type="presParOf" srcId="{A58BF0DB-03C3-4F77-88E6-1F0E3CA62854}" destId="{EDF0F383-5FBB-4506-BB66-CC134BCC1391}" srcOrd="0" destOrd="0" presId="urn:microsoft.com/office/officeart/2005/8/layout/hierarchy5"/>
    <dgm:cxn modelId="{F130ED65-675F-42B1-883D-BC52BFB82C88}" type="presParOf" srcId="{A58BF0DB-03C3-4F77-88E6-1F0E3CA62854}" destId="{76977F23-8881-47F8-9B5F-2A9B3F6AC031}" srcOrd="1" destOrd="0" presId="urn:microsoft.com/office/officeart/2005/8/layout/hierarchy5"/>
    <dgm:cxn modelId="{0BE0C3B6-42B1-422A-B443-7878D6BAF102}" type="presParOf" srcId="{76977F23-8881-47F8-9B5F-2A9B3F6AC031}" destId="{5AEAD24C-779B-40F1-AC2F-A2637180453F}" srcOrd="0" destOrd="0" presId="urn:microsoft.com/office/officeart/2005/8/layout/hierarchy5"/>
    <dgm:cxn modelId="{EC37B6E6-443D-4AC2-9782-514FA2EAF1E1}" type="presParOf" srcId="{5AEAD24C-779B-40F1-AC2F-A2637180453F}" destId="{EA14E15A-DE47-44AB-9EA6-3BF4D4A64A84}" srcOrd="0" destOrd="0" presId="urn:microsoft.com/office/officeart/2005/8/layout/hierarchy5"/>
    <dgm:cxn modelId="{D80C7349-41F6-4F6F-B7CC-A8DD09253375}" type="presParOf" srcId="{76977F23-8881-47F8-9B5F-2A9B3F6AC031}" destId="{CFA3DF44-D21E-43E4-A36C-9F245E093D08}" srcOrd="1" destOrd="0" presId="urn:microsoft.com/office/officeart/2005/8/layout/hierarchy5"/>
    <dgm:cxn modelId="{66B5A56E-8105-4CB8-8121-C9CABD5014C3}" type="presParOf" srcId="{CFA3DF44-D21E-43E4-A36C-9F245E093D08}" destId="{81E1F0F7-BDD0-4460-8721-2110DC7B93DE}" srcOrd="0" destOrd="0" presId="urn:microsoft.com/office/officeart/2005/8/layout/hierarchy5"/>
    <dgm:cxn modelId="{C346F7E7-8B9B-41B6-A181-08DC2D6E734A}" type="presParOf" srcId="{CFA3DF44-D21E-43E4-A36C-9F245E093D08}" destId="{4475E436-C598-48FD-8CCB-CD91F49E9DFD}" srcOrd="1" destOrd="0" presId="urn:microsoft.com/office/officeart/2005/8/layout/hierarchy5"/>
    <dgm:cxn modelId="{4E2679DD-1CB0-4924-B472-4B182F75F2F8}" type="presParOf" srcId="{C0BA1F01-25F8-431B-AE11-FA425384094A}" destId="{4BA45008-39E0-4690-866D-9E80784B681E}" srcOrd="2" destOrd="0" presId="urn:microsoft.com/office/officeart/2005/8/layout/hierarchy5"/>
    <dgm:cxn modelId="{5800838D-F581-4C92-A641-ADD1EA814565}" type="presParOf" srcId="{4BA45008-39E0-4690-866D-9E80784B681E}" destId="{966635F3-2EF7-4B5D-9C61-949A25AF5911}" srcOrd="0" destOrd="0" presId="urn:microsoft.com/office/officeart/2005/8/layout/hierarchy5"/>
    <dgm:cxn modelId="{B35BDFAD-E4D8-4547-B0F1-DB4C66CDA8C5}" type="presParOf" srcId="{C0BA1F01-25F8-431B-AE11-FA425384094A}" destId="{5079A8DB-0D79-4BD9-B9C7-768CA42B442B}" srcOrd="3" destOrd="0" presId="urn:microsoft.com/office/officeart/2005/8/layout/hierarchy5"/>
    <dgm:cxn modelId="{16082B70-62B7-498E-B350-A66989AD97B3}" type="presParOf" srcId="{5079A8DB-0D79-4BD9-B9C7-768CA42B442B}" destId="{1C31D084-7A31-4FE6-A71F-46C0D1CCC864}" srcOrd="0" destOrd="0" presId="urn:microsoft.com/office/officeart/2005/8/layout/hierarchy5"/>
    <dgm:cxn modelId="{4B829FAE-B15E-460C-8BB0-C1E668E3A2FE}" type="presParOf" srcId="{5079A8DB-0D79-4BD9-B9C7-768CA42B442B}" destId="{061F999B-7D21-4D7D-8858-034111F9EAA6}" srcOrd="1" destOrd="0" presId="urn:microsoft.com/office/officeart/2005/8/layout/hierarchy5"/>
    <dgm:cxn modelId="{5E534C95-1407-4FF2-AF8F-EB9D5EBD8E79}" type="presParOf" srcId="{061F999B-7D21-4D7D-8858-034111F9EAA6}" destId="{71FC55D2-7DE3-4AB4-A66E-F7DF88AACBD4}" srcOrd="0" destOrd="0" presId="urn:microsoft.com/office/officeart/2005/8/layout/hierarchy5"/>
    <dgm:cxn modelId="{835C71F4-6430-4577-AC19-D73ED95639B2}" type="presParOf" srcId="{71FC55D2-7DE3-4AB4-A66E-F7DF88AACBD4}" destId="{1FE214A1-4750-4128-AC35-FD339E6D2D10}" srcOrd="0" destOrd="0" presId="urn:microsoft.com/office/officeart/2005/8/layout/hierarchy5"/>
    <dgm:cxn modelId="{8A032A6B-A00B-48AA-A8BB-C1978357BCCB}" type="presParOf" srcId="{061F999B-7D21-4D7D-8858-034111F9EAA6}" destId="{9858AB93-6C15-4C26-A25E-727939901107}" srcOrd="1" destOrd="0" presId="urn:microsoft.com/office/officeart/2005/8/layout/hierarchy5"/>
    <dgm:cxn modelId="{33A5A804-31B3-4348-95B9-4FAF319A3F37}" type="presParOf" srcId="{9858AB93-6C15-4C26-A25E-727939901107}" destId="{69C002E2-3F7E-47C4-A66F-54C0541A5131}" srcOrd="0" destOrd="0" presId="urn:microsoft.com/office/officeart/2005/8/layout/hierarchy5"/>
    <dgm:cxn modelId="{37AD550E-676D-4318-BDB5-8C0AB0A19CD9}" type="presParOf" srcId="{9858AB93-6C15-4C26-A25E-727939901107}" destId="{B2E351E7-DCF0-4BE9-ABFC-2C0DF460F7E4}" srcOrd="1" destOrd="0" presId="urn:microsoft.com/office/officeart/2005/8/layout/hierarchy5"/>
    <dgm:cxn modelId="{50634686-5123-475C-BC70-1E8A3F5EBC84}" type="presParOf" srcId="{1ECA8364-DE15-4D39-8F77-0DAD6515BEB6}" destId="{EF2D6D02-AF2B-4685-8C12-5826BBA21DD0}"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875F4A-A6F3-4020-930C-E6A9113E5390}">
      <dsp:nvSpPr>
        <dsp:cNvPr id="0" name=""/>
        <dsp:cNvSpPr/>
      </dsp:nvSpPr>
      <dsp:spPr>
        <a:xfrm>
          <a:off x="27301" y="488728"/>
          <a:ext cx="1972754" cy="986377"/>
        </a:xfrm>
        <a:prstGeom prst="roundRect">
          <a:avLst>
            <a:gd name="adj" fmla="val 10000"/>
          </a:avLst>
        </a:prstGeom>
        <a:noFill/>
        <a:ln w="28575"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b="0" kern="1200" dirty="0">
              <a:solidFill>
                <a:schemeClr val="tx1"/>
              </a:solidFill>
              <a:latin typeface="微软雅黑" panose="020B0503020204020204" pitchFamily="34" charset="-122"/>
              <a:ea typeface="微软雅黑" panose="020B0503020204020204" pitchFamily="34" charset="-122"/>
            </a:rPr>
            <a:t>一般情形下要素（如劳动）使用的边际收益为边际收益产品</a:t>
          </a:r>
          <a:r>
            <a:rPr lang="en-US" altLang="zh-CN" sz="1400" b="0" kern="1200" dirty="0">
              <a:solidFill>
                <a:schemeClr val="tx1"/>
              </a:solidFill>
              <a:latin typeface="微软雅黑" panose="020B0503020204020204" pitchFamily="34" charset="-122"/>
              <a:ea typeface="微软雅黑" panose="020B0503020204020204" pitchFamily="34" charset="-122"/>
            </a:rPr>
            <a:t>MRP</a:t>
          </a:r>
          <a:endParaRPr lang="zh-CN" altLang="en-US" sz="1400" b="0" kern="1200" dirty="0">
            <a:solidFill>
              <a:schemeClr val="tx1"/>
            </a:solidFill>
            <a:latin typeface="微软雅黑" panose="020B0503020204020204" pitchFamily="34" charset="-122"/>
            <a:ea typeface="微软雅黑" panose="020B0503020204020204" pitchFamily="34" charset="-122"/>
          </a:endParaRPr>
        </a:p>
      </dsp:txBody>
      <dsp:txXfrm>
        <a:off x="56191" y="517618"/>
        <a:ext cx="1914974" cy="928597"/>
      </dsp:txXfrm>
    </dsp:sp>
    <dsp:sp modelId="{060A79B1-44A5-4236-ABEB-753426A9D915}">
      <dsp:nvSpPr>
        <dsp:cNvPr id="0" name=""/>
        <dsp:cNvSpPr/>
      </dsp:nvSpPr>
      <dsp:spPr>
        <a:xfrm rot="19962019">
          <a:off x="1951005" y="747988"/>
          <a:ext cx="880770" cy="63896"/>
        </a:xfrm>
        <a:custGeom>
          <a:avLst/>
          <a:gdLst/>
          <a:ahLst/>
          <a:cxnLst/>
          <a:rect l="0" t="0" r="0" b="0"/>
          <a:pathLst>
            <a:path>
              <a:moveTo>
                <a:pt x="0" y="31948"/>
              </a:moveTo>
              <a:lnTo>
                <a:pt x="880770" y="31948"/>
              </a:lnTo>
            </a:path>
          </a:pathLst>
        </a:custGeom>
        <a:noFill/>
        <a:ln w="28575" cap="flat" cmpd="sng" algn="ctr">
          <a:solidFill>
            <a:srgbClr val="C0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369371" y="757917"/>
        <a:ext cx="44038" cy="44038"/>
      </dsp:txXfrm>
    </dsp:sp>
    <dsp:sp modelId="{EDF0F383-5FBB-4506-BB66-CC134BCC1391}">
      <dsp:nvSpPr>
        <dsp:cNvPr id="0" name=""/>
        <dsp:cNvSpPr/>
      </dsp:nvSpPr>
      <dsp:spPr>
        <a:xfrm>
          <a:off x="2782726" y="84767"/>
          <a:ext cx="1678774" cy="986377"/>
        </a:xfrm>
        <a:prstGeom prst="roundRect">
          <a:avLst>
            <a:gd name="adj" fmla="val 10000"/>
          </a:avLst>
        </a:prstGeom>
        <a:noFill/>
        <a:ln w="28575"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endParaRPr lang="zh-CN" altLang="en-US" sz="1400" kern="1200" dirty="0"/>
        </a:p>
      </dsp:txBody>
      <dsp:txXfrm>
        <a:off x="2811616" y="113657"/>
        <a:ext cx="1620994" cy="928597"/>
      </dsp:txXfrm>
    </dsp:sp>
    <dsp:sp modelId="{5AEAD24C-779B-40F1-AC2F-A2637180453F}">
      <dsp:nvSpPr>
        <dsp:cNvPr id="0" name=""/>
        <dsp:cNvSpPr/>
      </dsp:nvSpPr>
      <dsp:spPr>
        <a:xfrm rot="21484410">
          <a:off x="4461133" y="524159"/>
          <a:ext cx="1299813" cy="63896"/>
        </a:xfrm>
        <a:custGeom>
          <a:avLst/>
          <a:gdLst/>
          <a:ahLst/>
          <a:cxnLst/>
          <a:rect l="0" t="0" r="0" b="0"/>
          <a:pathLst>
            <a:path>
              <a:moveTo>
                <a:pt x="0" y="31948"/>
              </a:moveTo>
              <a:lnTo>
                <a:pt x="1299813" y="31948"/>
              </a:lnTo>
            </a:path>
          </a:pathLst>
        </a:custGeom>
        <a:noFill/>
        <a:ln w="28575" cap="flat" cmpd="sng" algn="ctr">
          <a:solidFill>
            <a:srgbClr val="C0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dirty="0"/>
        </a:p>
      </dsp:txBody>
      <dsp:txXfrm>
        <a:off x="5078544" y="523612"/>
        <a:ext cx="64990" cy="64990"/>
      </dsp:txXfrm>
    </dsp:sp>
    <dsp:sp modelId="{81E1F0F7-BDD0-4460-8721-2110DC7B93DE}">
      <dsp:nvSpPr>
        <dsp:cNvPr id="0" name=""/>
        <dsp:cNvSpPr/>
      </dsp:nvSpPr>
      <dsp:spPr>
        <a:xfrm>
          <a:off x="5760579" y="41070"/>
          <a:ext cx="2347557" cy="986377"/>
        </a:xfrm>
        <a:prstGeom prst="roundRect">
          <a:avLst>
            <a:gd name="adj" fmla="val 10000"/>
          </a:avLst>
        </a:prstGeom>
        <a:noFill/>
        <a:ln w="28575"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eaLnBrk="0" fontAlgn="base" hangingPunct="0">
            <a:lnSpc>
              <a:spcPct val="90000"/>
            </a:lnSpc>
            <a:spcBef>
              <a:spcPct val="0"/>
            </a:spcBef>
            <a:spcAft>
              <a:spcPct val="0"/>
            </a:spcAft>
            <a:buFont typeface="Arial" panose="020B0604020202020204" pitchFamily="34" charset="0"/>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即：每增加一单位要素</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L</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投入所增加的收益</a:t>
          </a:r>
        </a:p>
      </dsp:txBody>
      <dsp:txXfrm>
        <a:off x="5789469" y="69960"/>
        <a:ext cx="2289777" cy="928597"/>
      </dsp:txXfrm>
    </dsp:sp>
    <dsp:sp modelId="{4BA45008-39E0-4690-866D-9E80784B681E}">
      <dsp:nvSpPr>
        <dsp:cNvPr id="0" name=""/>
        <dsp:cNvSpPr/>
      </dsp:nvSpPr>
      <dsp:spPr>
        <a:xfrm rot="2411715">
          <a:off x="1879071" y="1280617"/>
          <a:ext cx="1024639" cy="63896"/>
        </a:xfrm>
        <a:custGeom>
          <a:avLst/>
          <a:gdLst/>
          <a:ahLst/>
          <a:cxnLst/>
          <a:rect l="0" t="0" r="0" b="0"/>
          <a:pathLst>
            <a:path>
              <a:moveTo>
                <a:pt x="0" y="31948"/>
              </a:moveTo>
              <a:lnTo>
                <a:pt x="1024639" y="31948"/>
              </a:lnTo>
            </a:path>
          </a:pathLst>
        </a:custGeom>
        <a:noFill/>
        <a:ln w="28575" cap="flat" cmpd="sng" algn="ctr">
          <a:solidFill>
            <a:srgbClr val="C0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365775" y="1286949"/>
        <a:ext cx="51231" cy="51231"/>
      </dsp:txXfrm>
    </dsp:sp>
    <dsp:sp modelId="{1C31D084-7A31-4FE6-A71F-46C0D1CCC864}">
      <dsp:nvSpPr>
        <dsp:cNvPr id="0" name=""/>
        <dsp:cNvSpPr/>
      </dsp:nvSpPr>
      <dsp:spPr>
        <a:xfrm>
          <a:off x="2782726" y="1150025"/>
          <a:ext cx="2636724" cy="986377"/>
        </a:xfrm>
        <a:prstGeom prst="roundRect">
          <a:avLst>
            <a:gd name="adj" fmla="val 10000"/>
          </a:avLst>
        </a:prstGeom>
        <a:noFill/>
        <a:ln w="28575"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endParaRPr lang="zh-CN" altLang="en-US" sz="1400" kern="1200" dirty="0"/>
        </a:p>
      </dsp:txBody>
      <dsp:txXfrm>
        <a:off x="2811616" y="1178915"/>
        <a:ext cx="2578944" cy="928597"/>
      </dsp:txXfrm>
    </dsp:sp>
    <dsp:sp modelId="{71FC55D2-7DE3-4AB4-A66E-F7DF88AACBD4}">
      <dsp:nvSpPr>
        <dsp:cNvPr id="0" name=""/>
        <dsp:cNvSpPr/>
      </dsp:nvSpPr>
      <dsp:spPr>
        <a:xfrm rot="21561780">
          <a:off x="5419433" y="1608168"/>
          <a:ext cx="557179" cy="63896"/>
        </a:xfrm>
        <a:custGeom>
          <a:avLst/>
          <a:gdLst/>
          <a:ahLst/>
          <a:cxnLst/>
          <a:rect l="0" t="0" r="0" b="0"/>
          <a:pathLst>
            <a:path>
              <a:moveTo>
                <a:pt x="0" y="31948"/>
              </a:moveTo>
              <a:lnTo>
                <a:pt x="557179" y="31948"/>
              </a:lnTo>
            </a:path>
          </a:pathLst>
        </a:custGeom>
        <a:noFill/>
        <a:ln w="28575" cap="flat" cmpd="sng" algn="ctr">
          <a:solidFill>
            <a:srgbClr val="C0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5684093" y="1626187"/>
        <a:ext cx="27858" cy="27858"/>
      </dsp:txXfrm>
    </dsp:sp>
    <dsp:sp modelId="{69C002E2-3F7E-47C4-A66F-54C0541A5131}">
      <dsp:nvSpPr>
        <dsp:cNvPr id="0" name=""/>
        <dsp:cNvSpPr/>
      </dsp:nvSpPr>
      <dsp:spPr>
        <a:xfrm>
          <a:off x="5976595" y="1143830"/>
          <a:ext cx="2157404" cy="986377"/>
        </a:xfrm>
        <a:prstGeom prst="roundRect">
          <a:avLst>
            <a:gd name="adj" fmla="val 10000"/>
          </a:avLst>
        </a:prstGeom>
        <a:noFill/>
        <a:ln w="28575"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即：收益来源于产量，产量来自要素使用</a:t>
          </a:r>
          <a:r>
            <a:rPr lang="en-US" altLang="zh-CN" sz="1600" b="0" kern="1200" dirty="0">
              <a:solidFill>
                <a:schemeClr val="tx1"/>
              </a:solidFill>
              <a:latin typeface="微软雅黑" panose="020B0503020204020204" pitchFamily="34" charset="-122"/>
              <a:ea typeface="微软雅黑" panose="020B0503020204020204" pitchFamily="34" charset="-122"/>
              <a:cs typeface="+mn-cs"/>
              <a:sym typeface="Wingdings" panose="05000000000000000000" pitchFamily="2" charset="2"/>
            </a:rPr>
            <a:t> </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dsp:txBody>
      <dsp:txXfrm>
        <a:off x="6005485" y="1172720"/>
        <a:ext cx="2099624" cy="9285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3075"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3338DCEF-DB8F-4B4B-A0B7-F894D62304AD}" type="datetime1">
              <a:rPr lang="zh-CN" altLang="en-US"/>
              <a:pPr/>
              <a:t>2024/5/30</a:t>
            </a:fld>
            <a:endParaRPr lang="zh-CN" altLang="en-US" sz="1200"/>
          </a:p>
        </p:txBody>
      </p:sp>
      <p:sp>
        <p:nvSpPr>
          <p:cNvPr id="3076"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spcBef>
                <a:spcPct val="30000"/>
              </a:spcBef>
              <a:defRPr sz="1200">
                <a:solidFill>
                  <a:schemeClr val="tx1"/>
                </a:solidFill>
                <a:latin typeface="Arial" panose="020B0604020202020204" pitchFamily="34" charset="0"/>
              </a:defRPr>
            </a:lvl1pPr>
            <a:lvl2pPr defTabSz="0">
              <a:spcBef>
                <a:spcPct val="30000"/>
              </a:spcBef>
              <a:defRPr sz="1200">
                <a:solidFill>
                  <a:schemeClr val="tx1"/>
                </a:solidFill>
                <a:latin typeface="Arial" panose="020B0604020202020204" pitchFamily="34" charset="0"/>
              </a:defRPr>
            </a:lvl2pPr>
            <a:lvl3pPr defTabSz="0">
              <a:spcBef>
                <a:spcPct val="30000"/>
              </a:spcBef>
              <a:defRPr sz="1200">
                <a:solidFill>
                  <a:schemeClr val="tx1"/>
                </a:solidFill>
                <a:latin typeface="Arial" panose="020B0604020202020204" pitchFamily="34" charset="0"/>
              </a:defRPr>
            </a:lvl3pPr>
            <a:lvl4pPr defTabSz="0">
              <a:spcBef>
                <a:spcPct val="30000"/>
              </a:spcBef>
              <a:defRPr sz="1200">
                <a:solidFill>
                  <a:schemeClr val="tx1"/>
                </a:solidFill>
                <a:latin typeface="Arial" panose="020B0604020202020204" pitchFamily="34" charset="0"/>
              </a:defRPr>
            </a:lvl4pPr>
            <a:lvl5pPr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altLang="zh-CN" b="0"/>
              <a:t>单击此处编辑母版文本样式</a:t>
            </a:r>
          </a:p>
          <a:p>
            <a:pPr>
              <a:buFontTx/>
              <a:buNone/>
            </a:pPr>
            <a:r>
              <a:rPr lang="zh-CN" altLang="zh-CN" b="0"/>
              <a:t>第二级</a:t>
            </a:r>
          </a:p>
          <a:p>
            <a:pPr>
              <a:buFontTx/>
              <a:buNone/>
            </a:pPr>
            <a:r>
              <a:rPr lang="zh-CN" altLang="zh-CN" b="0"/>
              <a:t>第三级</a:t>
            </a:r>
          </a:p>
          <a:p>
            <a:pPr>
              <a:buFontTx/>
              <a:buNone/>
            </a:pPr>
            <a:r>
              <a:rPr lang="zh-CN" altLang="zh-CN" b="0"/>
              <a:t>第四级</a:t>
            </a:r>
          </a:p>
          <a:p>
            <a:pPr>
              <a:buFontTx/>
              <a:buNone/>
            </a:pPr>
            <a:r>
              <a:rPr lang="zh-CN" altLang="zh-CN" b="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01D02C61-49D2-4402-9F90-73EE6BCBCD12}" type="slidenum">
              <a:rPr lang="zh-CN" altLang="en-US"/>
              <a:pPr/>
              <a:t>‹#›</a:t>
            </a:fld>
            <a:endParaRPr lang="zh-CN" altLang="en-US" sz="1200"/>
          </a:p>
        </p:txBody>
      </p:sp>
    </p:spTree>
    <p:extLst>
      <p:ext uri="{BB962C8B-B14F-4D97-AF65-F5344CB8AC3E}">
        <p14:creationId xmlns:p14="http://schemas.microsoft.com/office/powerpoint/2010/main" val="744811245"/>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4</a:t>
            </a:fld>
            <a:endParaRPr lang="zh-CN" altLang="en-US" sz="1200"/>
          </a:p>
        </p:txBody>
      </p:sp>
    </p:spTree>
    <p:extLst>
      <p:ext uri="{BB962C8B-B14F-4D97-AF65-F5344CB8AC3E}">
        <p14:creationId xmlns:p14="http://schemas.microsoft.com/office/powerpoint/2010/main" val="3295294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5</a:t>
            </a:fld>
            <a:endParaRPr lang="zh-CN" altLang="en-US" sz="1200"/>
          </a:p>
        </p:txBody>
      </p:sp>
    </p:spTree>
    <p:extLst>
      <p:ext uri="{BB962C8B-B14F-4D97-AF65-F5344CB8AC3E}">
        <p14:creationId xmlns:p14="http://schemas.microsoft.com/office/powerpoint/2010/main" val="141276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6</a:t>
            </a:fld>
            <a:endParaRPr lang="zh-CN" altLang="en-US" sz="1200"/>
          </a:p>
        </p:txBody>
      </p:sp>
    </p:spTree>
    <p:extLst>
      <p:ext uri="{BB962C8B-B14F-4D97-AF65-F5344CB8AC3E}">
        <p14:creationId xmlns:p14="http://schemas.microsoft.com/office/powerpoint/2010/main" val="3804312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5"/>
          </p:nvPr>
        </p:nvSpPr>
        <p:spPr/>
        <p:txBody>
          <a:bodyPr/>
          <a:lstStyle/>
          <a:p>
            <a:fld id="{01D02C61-49D2-4402-9F90-73EE6BCBCD12}" type="slidenum">
              <a:rPr lang="zh-CN" altLang="en-US" smtClean="0"/>
              <a:pPr/>
              <a:t>8</a:t>
            </a:fld>
            <a:endParaRPr lang="zh-CN" altLang="en-US" sz="1200"/>
          </a:p>
        </p:txBody>
      </p:sp>
    </p:spTree>
    <p:extLst>
      <p:ext uri="{BB962C8B-B14F-4D97-AF65-F5344CB8AC3E}">
        <p14:creationId xmlns:p14="http://schemas.microsoft.com/office/powerpoint/2010/main" val="2419394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5"/>
          </p:nvPr>
        </p:nvSpPr>
        <p:spPr/>
        <p:txBody>
          <a:bodyPr/>
          <a:lstStyle/>
          <a:p>
            <a:fld id="{01D02C61-49D2-4402-9F90-73EE6BCBCD12}" type="slidenum">
              <a:rPr lang="zh-CN" altLang="en-US" smtClean="0"/>
              <a:pPr/>
              <a:t>11</a:t>
            </a:fld>
            <a:endParaRPr lang="zh-CN" altLang="en-US" sz="1200"/>
          </a:p>
        </p:txBody>
      </p:sp>
    </p:spTree>
    <p:extLst>
      <p:ext uri="{BB962C8B-B14F-4D97-AF65-F5344CB8AC3E}">
        <p14:creationId xmlns:p14="http://schemas.microsoft.com/office/powerpoint/2010/main" val="781224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12</a:t>
            </a:fld>
            <a:endParaRPr lang="zh-CN" altLang="en-US" sz="1200"/>
          </a:p>
        </p:txBody>
      </p:sp>
    </p:spTree>
    <p:extLst>
      <p:ext uri="{BB962C8B-B14F-4D97-AF65-F5344CB8AC3E}">
        <p14:creationId xmlns:p14="http://schemas.microsoft.com/office/powerpoint/2010/main" val="3885680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5"/>
          </p:nvPr>
        </p:nvSpPr>
        <p:spPr/>
        <p:txBody>
          <a:bodyPr/>
          <a:lstStyle/>
          <a:p>
            <a:fld id="{01D02C61-49D2-4402-9F90-73EE6BCBCD12}" type="slidenum">
              <a:rPr lang="zh-CN" altLang="en-US" smtClean="0"/>
              <a:pPr/>
              <a:t>36</a:t>
            </a:fld>
            <a:endParaRPr lang="zh-CN" altLang="en-US" sz="1200"/>
          </a:p>
        </p:txBody>
      </p:sp>
    </p:spTree>
    <p:extLst>
      <p:ext uri="{BB962C8B-B14F-4D97-AF65-F5344CB8AC3E}">
        <p14:creationId xmlns:p14="http://schemas.microsoft.com/office/powerpoint/2010/main" val="3710193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37</a:t>
            </a:fld>
            <a:endParaRPr lang="zh-CN" altLang="en-US" sz="1200"/>
          </a:p>
        </p:txBody>
      </p:sp>
    </p:spTree>
    <p:extLst>
      <p:ext uri="{BB962C8B-B14F-4D97-AF65-F5344CB8AC3E}">
        <p14:creationId xmlns:p14="http://schemas.microsoft.com/office/powerpoint/2010/main" val="24203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51</a:t>
            </a:fld>
            <a:endParaRPr lang="zh-CN" altLang="en-US" sz="1200"/>
          </a:p>
        </p:txBody>
      </p:sp>
    </p:spTree>
    <p:extLst>
      <p:ext uri="{BB962C8B-B14F-4D97-AF65-F5344CB8AC3E}">
        <p14:creationId xmlns:p14="http://schemas.microsoft.com/office/powerpoint/2010/main" val="2828372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66</a:t>
            </a:fld>
            <a:endParaRPr lang="zh-CN" altLang="en-US" sz="1200"/>
          </a:p>
        </p:txBody>
      </p:sp>
    </p:spTree>
    <p:extLst>
      <p:ext uri="{BB962C8B-B14F-4D97-AF65-F5344CB8AC3E}">
        <p14:creationId xmlns:p14="http://schemas.microsoft.com/office/powerpoint/2010/main" val="2034703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3338DCEF-DB8F-4B4B-A0B7-F894D62304AD}" type="datetime1">
              <a:rPr lang="zh-CN" altLang="en-US" smtClean="0"/>
              <a:pPr/>
              <a:t>2024/5/30</a:t>
            </a:fld>
            <a:endParaRPr lang="zh-CN" altLang="en-US" sz="1200"/>
          </a:p>
        </p:txBody>
      </p:sp>
      <p:sp>
        <p:nvSpPr>
          <p:cNvPr id="5" name="灯片编号占位符 4"/>
          <p:cNvSpPr>
            <a:spLocks noGrp="1"/>
          </p:cNvSpPr>
          <p:nvPr>
            <p:ph type="sldNum" sz="quarter" idx="11"/>
          </p:nvPr>
        </p:nvSpPr>
        <p:spPr/>
        <p:txBody>
          <a:bodyPr/>
          <a:lstStyle/>
          <a:p>
            <a:fld id="{01D02C61-49D2-4402-9F90-73EE6BCBCD12}" type="slidenum">
              <a:rPr lang="zh-CN" altLang="en-US" smtClean="0"/>
              <a:pPr/>
              <a:t>67</a:t>
            </a:fld>
            <a:endParaRPr lang="zh-CN" altLang="en-US" sz="1200"/>
          </a:p>
        </p:txBody>
      </p:sp>
    </p:spTree>
    <p:extLst>
      <p:ext uri="{BB962C8B-B14F-4D97-AF65-F5344CB8AC3E}">
        <p14:creationId xmlns:p14="http://schemas.microsoft.com/office/powerpoint/2010/main" val="1304124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F0B81C0D-1489-4BAC-8E63-89F87919F02C}" type="slidenum">
              <a:rPr lang="zh-CN" altLang="en-US"/>
              <a:pPr/>
              <a:t>‹#›</a:t>
            </a:fld>
            <a:endParaRPr lang="en-US" altLang="zh-CN" sz="1800" b="1"/>
          </a:p>
        </p:txBody>
      </p:sp>
    </p:spTree>
    <p:extLst>
      <p:ext uri="{BB962C8B-B14F-4D97-AF65-F5344CB8AC3E}">
        <p14:creationId xmlns:p14="http://schemas.microsoft.com/office/powerpoint/2010/main" val="1720552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D15ADD8C-0B65-494C-8BB7-54F6734B735B}" type="slidenum">
              <a:rPr lang="zh-CN" altLang="en-US"/>
              <a:pPr/>
              <a:t>‹#›</a:t>
            </a:fld>
            <a:endParaRPr lang="en-US" altLang="zh-CN" sz="1800" b="1"/>
          </a:p>
        </p:txBody>
      </p:sp>
    </p:spTree>
    <p:extLst>
      <p:ext uri="{BB962C8B-B14F-4D97-AF65-F5344CB8AC3E}">
        <p14:creationId xmlns:p14="http://schemas.microsoft.com/office/powerpoint/2010/main" val="308551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C6E5B837-10AE-4F74-B2CC-4A64436C84AD}" type="slidenum">
              <a:rPr lang="zh-CN" altLang="en-US"/>
              <a:pPr/>
              <a:t>‹#›</a:t>
            </a:fld>
            <a:endParaRPr lang="en-US" altLang="zh-CN" sz="1800" b="1"/>
          </a:p>
        </p:txBody>
      </p:sp>
    </p:spTree>
    <p:extLst>
      <p:ext uri="{BB962C8B-B14F-4D97-AF65-F5344CB8AC3E}">
        <p14:creationId xmlns:p14="http://schemas.microsoft.com/office/powerpoint/2010/main" val="381740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2D10F1F-E349-44E3-BE40-E2E14C522942}" type="slidenum">
              <a:rPr lang="zh-CN" altLang="en-US"/>
              <a:pPr/>
              <a:t>‹#›</a:t>
            </a:fld>
            <a:endParaRPr lang="en-US" altLang="zh-CN" sz="1800" b="1"/>
          </a:p>
        </p:txBody>
      </p:sp>
    </p:spTree>
    <p:extLst>
      <p:ext uri="{BB962C8B-B14F-4D97-AF65-F5344CB8AC3E}">
        <p14:creationId xmlns:p14="http://schemas.microsoft.com/office/powerpoint/2010/main" val="198031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29F3D238-4273-4425-BA95-3C1D60A1DEFA}" type="slidenum">
              <a:rPr lang="zh-CN" altLang="en-US"/>
              <a:pPr/>
              <a:t>‹#›</a:t>
            </a:fld>
            <a:endParaRPr lang="en-US" altLang="zh-CN" sz="1800" b="1"/>
          </a:p>
        </p:txBody>
      </p:sp>
    </p:spTree>
    <p:extLst>
      <p:ext uri="{BB962C8B-B14F-4D97-AF65-F5344CB8AC3E}">
        <p14:creationId xmlns:p14="http://schemas.microsoft.com/office/powerpoint/2010/main" val="976263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6CC1460B-061A-4EE8-AE1B-F9FDD665ECCE}" type="slidenum">
              <a:rPr lang="zh-CN" altLang="en-US"/>
              <a:pPr/>
              <a:t>‹#›</a:t>
            </a:fld>
            <a:endParaRPr lang="en-US" altLang="zh-CN" sz="1800" b="1"/>
          </a:p>
        </p:txBody>
      </p:sp>
    </p:spTree>
    <p:extLst>
      <p:ext uri="{BB962C8B-B14F-4D97-AF65-F5344CB8AC3E}">
        <p14:creationId xmlns:p14="http://schemas.microsoft.com/office/powerpoint/2010/main" val="1672340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D859E446-BE2E-4E9A-A923-E74A6E3B8056}" type="slidenum">
              <a:rPr lang="zh-CN" altLang="en-US"/>
              <a:pPr/>
              <a:t>‹#›</a:t>
            </a:fld>
            <a:endParaRPr lang="en-US" altLang="zh-CN" sz="1800" b="1"/>
          </a:p>
        </p:txBody>
      </p:sp>
    </p:spTree>
    <p:extLst>
      <p:ext uri="{BB962C8B-B14F-4D97-AF65-F5344CB8AC3E}">
        <p14:creationId xmlns:p14="http://schemas.microsoft.com/office/powerpoint/2010/main" val="71581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ED8A70C7-F238-430C-96A3-E3589D5B7643}" type="slidenum">
              <a:rPr lang="zh-CN" altLang="en-US"/>
              <a:pPr/>
              <a:t>‹#›</a:t>
            </a:fld>
            <a:endParaRPr lang="en-US" altLang="zh-CN" sz="1800" b="1"/>
          </a:p>
        </p:txBody>
      </p:sp>
    </p:spTree>
    <p:extLst>
      <p:ext uri="{BB962C8B-B14F-4D97-AF65-F5344CB8AC3E}">
        <p14:creationId xmlns:p14="http://schemas.microsoft.com/office/powerpoint/2010/main" val="4130645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44F62CBD-EB45-4A46-A6F4-E8C8BB86D8AB}" type="slidenum">
              <a:rPr lang="zh-CN" altLang="en-US"/>
              <a:pPr/>
              <a:t>‹#›</a:t>
            </a:fld>
            <a:endParaRPr lang="en-US" altLang="zh-CN" sz="1800" b="1"/>
          </a:p>
        </p:txBody>
      </p:sp>
    </p:spTree>
    <p:extLst>
      <p:ext uri="{BB962C8B-B14F-4D97-AF65-F5344CB8AC3E}">
        <p14:creationId xmlns:p14="http://schemas.microsoft.com/office/powerpoint/2010/main" val="342216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AF8F5297-E419-41BE-9E2B-E8E57603974B}" type="slidenum">
              <a:rPr lang="zh-CN" altLang="en-US"/>
              <a:pPr/>
              <a:t>‹#›</a:t>
            </a:fld>
            <a:endParaRPr lang="en-US" altLang="zh-CN" sz="1800" b="1"/>
          </a:p>
        </p:txBody>
      </p:sp>
    </p:spTree>
    <p:extLst>
      <p:ext uri="{BB962C8B-B14F-4D97-AF65-F5344CB8AC3E}">
        <p14:creationId xmlns:p14="http://schemas.microsoft.com/office/powerpoint/2010/main" val="2497687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FFE4806E-D580-4DBD-A1A2-277DC851715C}" type="slidenum">
              <a:rPr lang="zh-CN" altLang="en-US"/>
              <a:pPr/>
              <a:t>‹#›</a:t>
            </a:fld>
            <a:endParaRPr lang="en-US" altLang="zh-CN" sz="1800" b="1"/>
          </a:p>
        </p:txBody>
      </p:sp>
    </p:spTree>
    <p:extLst>
      <p:ext uri="{BB962C8B-B14F-4D97-AF65-F5344CB8AC3E}">
        <p14:creationId xmlns:p14="http://schemas.microsoft.com/office/powerpoint/2010/main" val="3353991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3707ABE1-EC9F-4F20-B761-1E6870023E49}" type="slidenum">
              <a:rPr lang="zh-CN" altLang="en-US"/>
              <a:pPr/>
              <a:t>‹#›</a:t>
            </a:fld>
            <a:endParaRPr lang="en-US" altLang="zh-CN" sz="1800" b="1"/>
          </a:p>
        </p:txBody>
      </p:sp>
    </p:spTree>
    <p:extLst>
      <p:ext uri="{BB962C8B-B14F-4D97-AF65-F5344CB8AC3E}">
        <p14:creationId xmlns:p14="http://schemas.microsoft.com/office/powerpoint/2010/main" val="766145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520FFA08-5544-43FD-A04E-AD48BB3FA729}" type="slidenum">
              <a:rPr lang="zh-CN" altLang="en-US"/>
              <a:pPr/>
              <a:t>‹#›</a:t>
            </a:fld>
            <a:endParaRPr lang="en-US" altLang="zh-CN" sz="1800" b="1"/>
          </a:p>
        </p:txBody>
      </p:sp>
    </p:spTree>
    <p:extLst>
      <p:ext uri="{BB962C8B-B14F-4D97-AF65-F5344CB8AC3E}">
        <p14:creationId xmlns:p14="http://schemas.microsoft.com/office/powerpoint/2010/main" val="2213128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6EEA27D2-4B16-4EA0-9DC4-ECFFC1EEFBB2}" type="slidenum">
              <a:rPr lang="zh-CN" altLang="en-US"/>
              <a:pPr/>
              <a:t>‹#›</a:t>
            </a:fld>
            <a:endParaRPr lang="en-US" altLang="zh-CN" sz="1800" b="1"/>
          </a:p>
        </p:txBody>
      </p:sp>
    </p:spTree>
    <p:extLst>
      <p:ext uri="{BB962C8B-B14F-4D97-AF65-F5344CB8AC3E}">
        <p14:creationId xmlns:p14="http://schemas.microsoft.com/office/powerpoint/2010/main" val="2105817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52F25C96-0BC0-40A7-9CD3-7FE6F4F00FE3}" type="slidenum">
              <a:rPr lang="zh-CN" altLang="en-US"/>
              <a:pPr/>
              <a:t>‹#›</a:t>
            </a:fld>
            <a:endParaRPr lang="en-US" altLang="zh-CN" sz="1800" b="1"/>
          </a:p>
        </p:txBody>
      </p:sp>
    </p:spTree>
    <p:extLst>
      <p:ext uri="{BB962C8B-B14F-4D97-AF65-F5344CB8AC3E}">
        <p14:creationId xmlns:p14="http://schemas.microsoft.com/office/powerpoint/2010/main" val="2813962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4391997C-2591-4BCE-9353-C8868D9302DC}" type="slidenum">
              <a:rPr lang="zh-CN" altLang="en-US"/>
              <a:pPr/>
              <a:t>‹#›</a:t>
            </a:fld>
            <a:endParaRPr lang="en-US" altLang="zh-CN" sz="1800" b="1"/>
          </a:p>
        </p:txBody>
      </p:sp>
    </p:spTree>
    <p:extLst>
      <p:ext uri="{BB962C8B-B14F-4D97-AF65-F5344CB8AC3E}">
        <p14:creationId xmlns:p14="http://schemas.microsoft.com/office/powerpoint/2010/main" val="39713713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A74FDD80-AFDA-4D2F-A16C-3C222015DF68}" type="slidenum">
              <a:rPr lang="zh-CN" altLang="en-US"/>
              <a:pPr/>
              <a:t>‹#›</a:t>
            </a:fld>
            <a:endParaRPr lang="en-US" altLang="zh-CN" sz="1800" b="1"/>
          </a:p>
        </p:txBody>
      </p:sp>
    </p:spTree>
    <p:extLst>
      <p:ext uri="{BB962C8B-B14F-4D97-AF65-F5344CB8AC3E}">
        <p14:creationId xmlns:p14="http://schemas.microsoft.com/office/powerpoint/2010/main" val="2234465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61B142BB-958C-47C3-A43A-0811AB071F79}" type="slidenum">
              <a:rPr lang="zh-CN" altLang="en-US"/>
              <a:pPr/>
              <a:t>‹#›</a:t>
            </a:fld>
            <a:endParaRPr lang="en-US" altLang="zh-CN" sz="1800" b="1"/>
          </a:p>
        </p:txBody>
      </p:sp>
    </p:spTree>
    <p:extLst>
      <p:ext uri="{BB962C8B-B14F-4D97-AF65-F5344CB8AC3E}">
        <p14:creationId xmlns:p14="http://schemas.microsoft.com/office/powerpoint/2010/main" val="250826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4A9A8B5D-5624-42B9-BDAE-3E457AA8BDCF}" type="slidenum">
              <a:rPr lang="zh-CN" altLang="en-US"/>
              <a:pPr/>
              <a:t>‹#›</a:t>
            </a:fld>
            <a:endParaRPr lang="en-US" altLang="zh-CN" sz="1800" b="1"/>
          </a:p>
        </p:txBody>
      </p:sp>
    </p:spTree>
    <p:extLst>
      <p:ext uri="{BB962C8B-B14F-4D97-AF65-F5344CB8AC3E}">
        <p14:creationId xmlns:p14="http://schemas.microsoft.com/office/powerpoint/2010/main" val="3416926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974B1C0-C453-4527-A23D-2379A56259DF}" type="slidenum">
              <a:rPr lang="zh-CN" altLang="en-US"/>
              <a:pPr/>
              <a:t>‹#›</a:t>
            </a:fld>
            <a:endParaRPr lang="en-US" altLang="zh-CN" sz="1800" b="1"/>
          </a:p>
        </p:txBody>
      </p:sp>
    </p:spTree>
    <p:extLst>
      <p:ext uri="{BB962C8B-B14F-4D97-AF65-F5344CB8AC3E}">
        <p14:creationId xmlns:p14="http://schemas.microsoft.com/office/powerpoint/2010/main" val="680626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F508968E-E02E-4E1D-BE19-515BE386A5B0}" type="slidenum">
              <a:rPr lang="zh-CN" altLang="en-US"/>
              <a:pPr/>
              <a:t>‹#›</a:t>
            </a:fld>
            <a:endParaRPr lang="en-US" altLang="zh-CN" sz="1800" b="1"/>
          </a:p>
        </p:txBody>
      </p:sp>
    </p:spTree>
    <p:extLst>
      <p:ext uri="{BB962C8B-B14F-4D97-AF65-F5344CB8AC3E}">
        <p14:creationId xmlns:p14="http://schemas.microsoft.com/office/powerpoint/2010/main" val="2913291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6B4BFDA-EDF6-4E08-8F65-CFA38C1D1CC5}" type="slidenum">
              <a:rPr lang="zh-CN" altLang="en-US"/>
              <a:pPr/>
              <a:t>‹#›</a:t>
            </a:fld>
            <a:endParaRPr lang="en-US" altLang="zh-CN" sz="1800" b="1"/>
          </a:p>
        </p:txBody>
      </p:sp>
    </p:spTree>
    <p:extLst>
      <p:ext uri="{BB962C8B-B14F-4D97-AF65-F5344CB8AC3E}">
        <p14:creationId xmlns:p14="http://schemas.microsoft.com/office/powerpoint/2010/main" val="1045091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Arial" panose="020B0604020202020204" pitchFamily="34" charset="0"/>
              </a:rPr>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b="0">
                <a:sym typeface="Arial" panose="020B0604020202020204" pitchFamily="34" charset="0"/>
              </a:defRPr>
            </a:lvl1pPr>
          </a:lstStyle>
          <a:p>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b="0">
                <a:sym typeface="Arial" panose="020B0604020202020204" pitchFamily="34" charset="0"/>
              </a:defRPr>
            </a:lvl1pPr>
          </a:lstStyle>
          <a:p>
            <a:endParaRPr lang="zh-CN"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b="0">
                <a:sym typeface="Arial" panose="020B0604020202020204" pitchFamily="34" charset="0"/>
              </a:defRPr>
            </a:lvl1pPr>
          </a:lstStyle>
          <a:p>
            <a:fld id="{90474CB5-9B3E-401D-ABBE-835C86DE699E}" type="slidenum">
              <a:rPr lang="zh-CN" altLang="en-US"/>
              <a:pPr/>
              <a:t>‹#›</a:t>
            </a:fld>
            <a:endParaRPr lang="en-US" altLang="zh-CN" sz="1800" b="1"/>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sym typeface="Arial" panose="020B0604020202020204" pitchFamily="34" charset="0"/>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idx="4294967295"/>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Arial" panose="020B0604020202020204" pitchFamily="34" charset="0"/>
              </a:rPr>
              <a:t>单击此处编辑母版标题样式</a:t>
            </a:r>
          </a:p>
        </p:txBody>
      </p:sp>
      <p:sp>
        <p:nvSpPr>
          <p:cNvPr id="2051"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b="0">
                <a:sym typeface="Arial" panose="020B0604020202020204" pitchFamily="34" charset="0"/>
              </a:defRPr>
            </a:lvl1pPr>
          </a:lstStyle>
          <a:p>
            <a:endParaRPr lang="zh-CN" altLang="zh-CN"/>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b="0">
                <a:sym typeface="Arial" panose="020B0604020202020204" pitchFamily="34" charset="0"/>
              </a:defRPr>
            </a:lvl1pPr>
          </a:lstStyle>
          <a:p>
            <a:endParaRPr lang="zh-CN" altLang="zh-CN"/>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b="0">
                <a:sym typeface="Arial" panose="020B0604020202020204" pitchFamily="34" charset="0"/>
              </a:defRPr>
            </a:lvl1pPr>
          </a:lstStyle>
          <a:p>
            <a:fld id="{CAAD4323-10AF-43D7-80C9-FC8E7C7A9423}" type="slidenum">
              <a:rPr lang="zh-CN" altLang="en-US"/>
              <a:pPr/>
              <a:t>‹#›</a:t>
            </a:fld>
            <a:endParaRPr lang="en-US" altLang="zh-CN" sz="1800" b="1"/>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sym typeface="Arial" panose="020B0604020202020204" pitchFamily="34" charset="0"/>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5" Type="http://schemas.openxmlformats.org/officeDocument/2006/relationships/image" Target="../media/image6.png"/><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 Id="rId1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5.bin"/><Relationship Id="rId3" Type="http://schemas.openxmlformats.org/officeDocument/2006/relationships/notesSlide" Target="../notesSlides/notesSlide3.xml"/><Relationship Id="rId7" Type="http://schemas.openxmlformats.org/officeDocument/2006/relationships/oleObject" Target="../embeddings/oleObject2.bin"/><Relationship Id="rId12" Type="http://schemas.openxmlformats.org/officeDocument/2006/relationships/image" Target="../media/image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6.wmf"/><Relationship Id="rId4" Type="http://schemas.openxmlformats.org/officeDocument/2006/relationships/image" Target="../media/image12.png"/><Relationship Id="rId9" Type="http://schemas.openxmlformats.org/officeDocument/2006/relationships/oleObject" Target="../embeddings/oleObject3.bin"/><Relationship Id="rId14" Type="http://schemas.openxmlformats.org/officeDocument/2006/relationships/image" Target="../media/image8.wmf"/></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notesSlide" Target="../notesSlides/notesSlide4.xml"/><Relationship Id="rId7" Type="http://schemas.openxmlformats.org/officeDocument/2006/relationships/image" Target="../media/image14.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11.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5.wmf"/></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tags" Target="../tags/tag10.xml"/><Relationship Id="rId7" Type="http://schemas.openxmlformats.org/officeDocument/2006/relationships/oleObject" Target="../embeddings/oleObject15.bin"/><Relationship Id="rId2" Type="http://schemas.openxmlformats.org/officeDocument/2006/relationships/tags" Target="../tags/tag9.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slideLayout" Target="../slideLayouts/slideLayout1.xm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21.png"/><Relationship Id="rId7"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6.bin"/><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3.wmf"/><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oleObject" Target="../embeddings/oleObject18.bin"/><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6.xml"/><Relationship Id="rId7" Type="http://schemas.openxmlformats.org/officeDocument/2006/relationships/image" Target="../media/image25.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9.bin"/><Relationship Id="rId5" Type="http://schemas.openxmlformats.org/officeDocument/2006/relationships/image" Target="../media/image22.png"/><Relationship Id="rId10" Type="http://schemas.openxmlformats.org/officeDocument/2006/relationships/image" Target="../media/image26.wmf"/><Relationship Id="rId4" Type="http://schemas.openxmlformats.org/officeDocument/2006/relationships/image" Target="../media/image21.png"/><Relationship Id="rId9" Type="http://schemas.openxmlformats.org/officeDocument/2006/relationships/oleObject" Target="../embeddings/oleObject21.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23.bin"/><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tags" Target="../tags/tag2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2.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tags" Target="../tags/tag31.xml"/><Relationship Id="rId7" Type="http://schemas.openxmlformats.org/officeDocument/2006/relationships/oleObject" Target="../embeddings/oleObject25.bin"/><Relationship Id="rId12" Type="http://schemas.openxmlformats.org/officeDocument/2006/relationships/image" Target="../media/image34.wmf"/><Relationship Id="rId2" Type="http://schemas.openxmlformats.org/officeDocument/2006/relationships/tags" Target="../tags/tag30.xml"/><Relationship Id="rId1" Type="http://schemas.openxmlformats.org/officeDocument/2006/relationships/vmlDrawing" Target="../drawings/vmlDrawing9.vml"/><Relationship Id="rId6" Type="http://schemas.openxmlformats.org/officeDocument/2006/relationships/image" Target="../media/image31.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33.wmf"/><Relationship Id="rId4" Type="http://schemas.openxmlformats.org/officeDocument/2006/relationships/slideLayout" Target="../slideLayouts/slideLayout1.xml"/><Relationship Id="rId9" Type="http://schemas.openxmlformats.org/officeDocument/2006/relationships/oleObject" Target="../embeddings/oleObject26.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35.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60.png"/><Relationship Id="rId7"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35.wmf"/><Relationship Id="rId5" Type="http://schemas.openxmlformats.org/officeDocument/2006/relationships/oleObject" Target="../embeddings/oleObject28.bin"/><Relationship Id="rId10" Type="http://schemas.openxmlformats.org/officeDocument/2006/relationships/image" Target="../media/image37.wmf"/><Relationship Id="rId4" Type="http://schemas.openxmlformats.org/officeDocument/2006/relationships/image" Target="../media/image55.png"/><Relationship Id="rId9"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oleObject" Target="../embeddings/oleObject31.bin"/><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39.wmf"/><Relationship Id="rId5" Type="http://schemas.openxmlformats.org/officeDocument/2006/relationships/oleObject" Target="../embeddings/oleObject32.bin"/><Relationship Id="rId4" Type="http://schemas.openxmlformats.org/officeDocument/2006/relationships/image" Target="../media/image38.wmf"/><Relationship Id="rId9" Type="http://schemas.openxmlformats.org/officeDocument/2006/relationships/image" Target="../media/image40.wmf"/></Relationships>
</file>

<file path=ppt/slides/_rels/slide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emf"/><Relationship Id="rId1" Type="http://schemas.openxmlformats.org/officeDocument/2006/relationships/slideLayout" Target="../slideLayouts/slideLayout1.xml"/><Relationship Id="rId4" Type="http://schemas.openxmlformats.org/officeDocument/2006/relationships/image" Target="../media/image43.wmf"/></Relationships>
</file>

<file path=ppt/slides/_rels/slide26.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slideLayout" Target="../slideLayouts/slideLayout1.xml"/><Relationship Id="rId4" Type="http://schemas.openxmlformats.org/officeDocument/2006/relationships/tags" Target="../tags/tag3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image" Target="../media/image44.wm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image" Target="../media/image45.wmf"/></Relationships>
</file>

<file path=ppt/slides/_rels/slide29.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slideLayout" Target="../slideLayouts/slideLayout1.xml"/><Relationship Id="rId10" Type="http://schemas.openxmlformats.org/officeDocument/2006/relationships/tags" Target="../tags/tag51.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9.emf"/><Relationship Id="rId7" Type="http://schemas.openxmlformats.org/officeDocument/2006/relationships/oleObject" Target="../embeddings/oleObject34.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3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45.w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slideLayout" Target="../slideLayouts/slideLayout1.xml"/><Relationship Id="rId4" Type="http://schemas.openxmlformats.org/officeDocument/2006/relationships/tags" Target="../tags/tag63.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Layout" Target="../slideLayouts/slideLayout1.xml"/><Relationship Id="rId5" Type="http://schemas.openxmlformats.org/officeDocument/2006/relationships/tags" Target="../tags/tag70.xml"/><Relationship Id="rId4" Type="http://schemas.openxmlformats.org/officeDocument/2006/relationships/tags" Target="../tags/tag69.xml"/></Relationships>
</file>

<file path=ppt/slides/_rels/slide44.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slideLayout" Target="../slideLayouts/slideLayout1.xml"/><Relationship Id="rId4" Type="http://schemas.openxmlformats.org/officeDocument/2006/relationships/tags" Target="../tags/tag74.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1.xml"/><Relationship Id="rId1" Type="http://schemas.openxmlformats.org/officeDocument/2006/relationships/vmlDrawing" Target="../drawings/vmlDrawing13.vml"/><Relationship Id="rId5" Type="http://schemas.openxmlformats.org/officeDocument/2006/relationships/image" Target="../media/image54.wmf"/><Relationship Id="rId4" Type="http://schemas.openxmlformats.org/officeDocument/2006/relationships/oleObject" Target="../embeddings/oleObject35.bin"/></Relationships>
</file>

<file path=ppt/slides/_rels/slide4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30.png"/><Relationship Id="rId5" Type="http://schemas.openxmlformats.org/officeDocument/2006/relationships/slideLayout" Target="../slideLayouts/slideLayout1.xml"/><Relationship Id="rId4" Type="http://schemas.openxmlformats.org/officeDocument/2006/relationships/tags" Target="../tags/tag78.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xml"/><Relationship Id="rId1" Type="http://schemas.openxmlformats.org/officeDocument/2006/relationships/vmlDrawing" Target="../drawings/vmlDrawing14.vml"/><Relationship Id="rId5" Type="http://schemas.openxmlformats.org/officeDocument/2006/relationships/image" Target="../media/image55.wmf"/><Relationship Id="rId4" Type="http://schemas.openxmlformats.org/officeDocument/2006/relationships/oleObject" Target="../embeddings/oleObject36.bin"/></Relationships>
</file>

<file path=ppt/slides/_rels/slide48.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tags" Target="../tags/tag87.xml"/></Relationships>
</file>

<file path=ppt/slides/_rels/slide51.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86.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890.png"/><Relationship Id="rId5" Type="http://schemas.openxmlformats.org/officeDocument/2006/relationships/tags" Target="../tags/tag93.xml"/><Relationship Id="rId10" Type="http://schemas.openxmlformats.org/officeDocument/2006/relationships/notesSlide" Target="../notesSlides/notesSlide9.xml"/><Relationship Id="rId4" Type="http://schemas.openxmlformats.org/officeDocument/2006/relationships/tags" Target="../tags/tag92.xml"/><Relationship Id="rId9"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image" Target="../media/image57.wmf"/><Relationship Id="rId3" Type="http://schemas.openxmlformats.org/officeDocument/2006/relationships/image" Target="../media/image58.wmf"/><Relationship Id="rId7" Type="http://schemas.openxmlformats.org/officeDocument/2006/relationships/image" Target="../media/image62.wmf"/><Relationship Id="rId12"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61.wmf"/><Relationship Id="rId11" Type="http://schemas.openxmlformats.org/officeDocument/2006/relationships/image" Target="../media/image56.wmf"/><Relationship Id="rId5" Type="http://schemas.openxmlformats.org/officeDocument/2006/relationships/image" Target="../media/image60.wmf"/><Relationship Id="rId10" Type="http://schemas.openxmlformats.org/officeDocument/2006/relationships/oleObject" Target="../embeddings/oleObject37.bin"/><Relationship Id="rId4" Type="http://schemas.openxmlformats.org/officeDocument/2006/relationships/image" Target="../media/image59.wmf"/><Relationship Id="rId9" Type="http://schemas.openxmlformats.org/officeDocument/2006/relationships/image" Target="../media/image64.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30.png"/><Relationship Id="rId5" Type="http://schemas.openxmlformats.org/officeDocument/2006/relationships/slideLayout" Target="../slideLayouts/slideLayout1.xml"/><Relationship Id="rId4" Type="http://schemas.openxmlformats.org/officeDocument/2006/relationships/tags" Target="../tags/tag10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slideLayout" Target="../slideLayouts/slideLayout1.xml"/><Relationship Id="rId5" Type="http://schemas.openxmlformats.org/officeDocument/2006/relationships/tags" Target="../tags/tag105.xml"/><Relationship Id="rId4" Type="http://schemas.openxmlformats.org/officeDocument/2006/relationships/tags" Target="../tags/tag104.xml"/></Relationships>
</file>

<file path=ppt/slides/_rels/slide5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slideLayout" Target="../slideLayouts/slideLayout1.xml"/><Relationship Id="rId4" Type="http://schemas.openxmlformats.org/officeDocument/2006/relationships/tags" Target="../tags/tag109.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1.xml"/><Relationship Id="rId1" Type="http://schemas.openxmlformats.org/officeDocument/2006/relationships/tags" Target="../tags/tag110.xml"/></Relationships>
</file>

<file path=ppt/slides/_rels/slide6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xml"/><Relationship Id="rId1" Type="http://schemas.openxmlformats.org/officeDocument/2006/relationships/vmlDrawing" Target="../drawings/vmlDrawing16.vml"/><Relationship Id="rId4" Type="http://schemas.openxmlformats.org/officeDocument/2006/relationships/image" Target="../media/image65.wmf"/></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1187765" y="2204915"/>
            <a:ext cx="7238333" cy="1441450"/>
          </a:xfrm>
          <a:ln/>
        </p:spPr>
        <p:txBody>
          <a:bodyPr/>
          <a:lstStyle/>
          <a:p>
            <a:pPr defTabSz="457200" eaLnBrk="1" hangingPunct="1"/>
            <a:r>
              <a:rPr lang="zh-CN" altLang="en-US" dirty="0">
                <a:solidFill>
                  <a:schemeClr val="tx1"/>
                </a:solidFill>
                <a:latin typeface="微软雅黑" panose="020B0503020204020204" pitchFamily="34" charset="-122"/>
                <a:ea typeface="微软雅黑" panose="020B0503020204020204" pitchFamily="34" charset="-122"/>
              </a:rPr>
              <a:t>第六章</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生产要素市场和收入分配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平行四边形 37">
            <a:extLst>
              <a:ext uri="{FF2B5EF4-FFF2-40B4-BE49-F238E27FC236}">
                <a16:creationId xmlns:a16="http://schemas.microsoft.com/office/drawing/2014/main" id="{4B2478EE-47E8-42AE-A3F7-79920093293C}"/>
              </a:ext>
            </a:extLst>
          </p:cNvPr>
          <p:cNvSpPr/>
          <p:nvPr/>
        </p:nvSpPr>
        <p:spPr>
          <a:xfrm rot="16200000">
            <a:off x="5628909" y="2396686"/>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1" name="矩形 40">
            <a:extLst>
              <a:ext uri="{FF2B5EF4-FFF2-40B4-BE49-F238E27FC236}">
                <a16:creationId xmlns:a16="http://schemas.microsoft.com/office/drawing/2014/main" id="{4A4DC721-CBFD-4846-A4CB-F9D633FEE025}"/>
              </a:ext>
            </a:extLst>
          </p:cNvPr>
          <p:cNvSpPr/>
          <p:nvPr/>
        </p:nvSpPr>
        <p:spPr>
          <a:xfrm>
            <a:off x="6899983" y="1586891"/>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2" name="任意多边形 52">
            <a:extLst>
              <a:ext uri="{FF2B5EF4-FFF2-40B4-BE49-F238E27FC236}">
                <a16:creationId xmlns:a16="http://schemas.microsoft.com/office/drawing/2014/main" id="{E555E2C3-462B-448B-B9E4-91FF00E99C12}"/>
              </a:ext>
            </a:extLst>
          </p:cNvPr>
          <p:cNvSpPr/>
          <p:nvPr/>
        </p:nvSpPr>
        <p:spPr>
          <a:xfrm>
            <a:off x="7012520" y="1407192"/>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122" name="Rectangle 2"/>
          <p:cNvSpPr>
            <a:spLocks noGrp="1" noChangeArrowheads="1"/>
          </p:cNvSpPr>
          <p:nvPr>
            <p:ph type="title" idx="4294967295"/>
          </p:nvPr>
        </p:nvSpPr>
        <p:spPr>
          <a:xfrm>
            <a:off x="357188" y="565150"/>
            <a:ext cx="8229600" cy="863600"/>
          </a:xfrm>
          <a:ln/>
        </p:spPr>
        <p:txBody>
          <a:bodyPr/>
          <a:lstStyle/>
          <a:p>
            <a:pPr algn="ctr" defTabSz="457200" eaLnBrk="1" hangingPunct="1"/>
            <a:r>
              <a:rPr lang="zh-CN" altLang="en-US" b="1" dirty="0">
                <a:solidFill>
                  <a:schemeClr val="tx1"/>
                </a:solidFill>
                <a:latin typeface="微软雅黑" panose="020B0503020204020204" pitchFamily="34" charset="-122"/>
                <a:ea typeface="微软雅黑" panose="020B0503020204020204" pitchFamily="34" charset="-122"/>
              </a:rPr>
              <a:t>第六章</a:t>
            </a:r>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生产要素市场和收入分配</a:t>
            </a:r>
          </a:p>
        </p:txBody>
      </p:sp>
      <p:sp>
        <p:nvSpPr>
          <p:cNvPr id="4" name="平行四边形 3">
            <a:extLst>
              <a:ext uri="{FF2B5EF4-FFF2-40B4-BE49-F238E27FC236}">
                <a16:creationId xmlns:a16="http://schemas.microsoft.com/office/drawing/2014/main" id="{86F1DC63-CB2F-459E-B0E0-E14F93622BE5}"/>
              </a:ext>
            </a:extLst>
          </p:cNvPr>
          <p:cNvSpPr/>
          <p:nvPr/>
        </p:nvSpPr>
        <p:spPr>
          <a:xfrm rot="16200000">
            <a:off x="1814125" y="2379544"/>
            <a:ext cx="2103957"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 name="直角三角形 4">
            <a:extLst>
              <a:ext uri="{FF2B5EF4-FFF2-40B4-BE49-F238E27FC236}">
                <a16:creationId xmlns:a16="http://schemas.microsoft.com/office/drawing/2014/main" id="{6B0F1CDE-5B9D-48FC-8E24-7B17CE22CD96}"/>
              </a:ext>
            </a:extLst>
          </p:cNvPr>
          <p:cNvSpPr/>
          <p:nvPr/>
        </p:nvSpPr>
        <p:spPr>
          <a:xfrm>
            <a:off x="1826357" y="1410748"/>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 name="矩形 5">
            <a:extLst>
              <a:ext uri="{FF2B5EF4-FFF2-40B4-BE49-F238E27FC236}">
                <a16:creationId xmlns:a16="http://schemas.microsoft.com/office/drawing/2014/main" id="{29D4621B-7639-47DA-B16C-EC41E72F8F64}"/>
              </a:ext>
            </a:extLst>
          </p:cNvPr>
          <p:cNvSpPr/>
          <p:nvPr/>
        </p:nvSpPr>
        <p:spPr>
          <a:xfrm>
            <a:off x="1224528" y="1586892"/>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任意多边形 42">
            <a:extLst>
              <a:ext uri="{FF2B5EF4-FFF2-40B4-BE49-F238E27FC236}">
                <a16:creationId xmlns:a16="http://schemas.microsoft.com/office/drawing/2014/main" id="{D15E878E-A5CB-456F-B538-CB5BD387BB4F}"/>
              </a:ext>
            </a:extLst>
          </p:cNvPr>
          <p:cNvSpPr/>
          <p:nvPr/>
        </p:nvSpPr>
        <p:spPr>
          <a:xfrm>
            <a:off x="1337065" y="141074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平行四边形 7">
            <a:extLst>
              <a:ext uri="{FF2B5EF4-FFF2-40B4-BE49-F238E27FC236}">
                <a16:creationId xmlns:a16="http://schemas.microsoft.com/office/drawing/2014/main" id="{4B2478EE-47E8-42AE-A3F7-79920093293C}"/>
              </a:ext>
            </a:extLst>
          </p:cNvPr>
          <p:cNvSpPr/>
          <p:nvPr/>
        </p:nvSpPr>
        <p:spPr>
          <a:xfrm rot="16200000">
            <a:off x="3715029" y="2379544"/>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9" name="直角三角形 8">
            <a:extLst>
              <a:ext uri="{FF2B5EF4-FFF2-40B4-BE49-F238E27FC236}">
                <a16:creationId xmlns:a16="http://schemas.microsoft.com/office/drawing/2014/main" id="{63FD15F2-20EB-4398-9A93-79D58E63A579}"/>
              </a:ext>
            </a:extLst>
          </p:cNvPr>
          <p:cNvSpPr/>
          <p:nvPr/>
        </p:nvSpPr>
        <p:spPr>
          <a:xfrm>
            <a:off x="3733729" y="1410748"/>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0" name="矩形 9">
            <a:extLst>
              <a:ext uri="{FF2B5EF4-FFF2-40B4-BE49-F238E27FC236}">
                <a16:creationId xmlns:a16="http://schemas.microsoft.com/office/drawing/2014/main" id="{DE181C83-B592-44B6-BA5C-47F7309748C2}"/>
              </a:ext>
            </a:extLst>
          </p:cNvPr>
          <p:cNvSpPr/>
          <p:nvPr/>
        </p:nvSpPr>
        <p:spPr>
          <a:xfrm>
            <a:off x="3131900" y="1586892"/>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1" name="任意多边形 47">
            <a:extLst>
              <a:ext uri="{FF2B5EF4-FFF2-40B4-BE49-F238E27FC236}">
                <a16:creationId xmlns:a16="http://schemas.microsoft.com/office/drawing/2014/main" id="{9F82F987-B480-402E-8016-1CFD72EB4C0F}"/>
              </a:ext>
            </a:extLst>
          </p:cNvPr>
          <p:cNvSpPr/>
          <p:nvPr/>
        </p:nvSpPr>
        <p:spPr>
          <a:xfrm>
            <a:off x="3244437" y="141074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2" name="直角三角形 11">
            <a:extLst>
              <a:ext uri="{FF2B5EF4-FFF2-40B4-BE49-F238E27FC236}">
                <a16:creationId xmlns:a16="http://schemas.microsoft.com/office/drawing/2014/main" id="{F7536217-FD7D-4482-A71D-A6335D83FDD7}"/>
              </a:ext>
            </a:extLst>
          </p:cNvPr>
          <p:cNvSpPr/>
          <p:nvPr/>
        </p:nvSpPr>
        <p:spPr>
          <a:xfrm>
            <a:off x="5628163" y="1410748"/>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3" name="矩形 12">
            <a:extLst>
              <a:ext uri="{FF2B5EF4-FFF2-40B4-BE49-F238E27FC236}">
                <a16:creationId xmlns:a16="http://schemas.microsoft.com/office/drawing/2014/main" id="{4A4DC721-CBFD-4846-A4CB-F9D633FEE025}"/>
              </a:ext>
            </a:extLst>
          </p:cNvPr>
          <p:cNvSpPr/>
          <p:nvPr/>
        </p:nvSpPr>
        <p:spPr>
          <a:xfrm>
            <a:off x="5026334" y="1586892"/>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任意多边形 52">
            <a:extLst>
              <a:ext uri="{FF2B5EF4-FFF2-40B4-BE49-F238E27FC236}">
                <a16:creationId xmlns:a16="http://schemas.microsoft.com/office/drawing/2014/main" id="{E555E2C3-462B-448B-B9E4-91FF00E99C12}"/>
              </a:ext>
            </a:extLst>
          </p:cNvPr>
          <p:cNvSpPr/>
          <p:nvPr/>
        </p:nvSpPr>
        <p:spPr>
          <a:xfrm>
            <a:off x="5138871" y="141074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5" name="文本框 32">
            <a:extLst>
              <a:ext uri="{FF2B5EF4-FFF2-40B4-BE49-F238E27FC236}">
                <a16:creationId xmlns:a16="http://schemas.microsoft.com/office/drawing/2014/main" id="{F33D56E3-2885-47AA-9F5F-B8481E44F3B7}"/>
              </a:ext>
            </a:extLst>
          </p:cNvPr>
          <p:cNvSpPr txBox="1"/>
          <p:nvPr/>
        </p:nvSpPr>
        <p:spPr>
          <a:xfrm>
            <a:off x="1305488" y="1390667"/>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16" name="文本框 33">
            <a:extLst>
              <a:ext uri="{FF2B5EF4-FFF2-40B4-BE49-F238E27FC236}">
                <a16:creationId xmlns:a16="http://schemas.microsoft.com/office/drawing/2014/main" id="{C749D56D-E7B7-423A-AA90-478147768720}"/>
              </a:ext>
            </a:extLst>
          </p:cNvPr>
          <p:cNvSpPr txBox="1"/>
          <p:nvPr/>
        </p:nvSpPr>
        <p:spPr>
          <a:xfrm>
            <a:off x="3244438" y="1390667"/>
            <a:ext cx="1164515"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第二节</a:t>
            </a:r>
          </a:p>
        </p:txBody>
      </p:sp>
      <p:sp>
        <p:nvSpPr>
          <p:cNvPr id="17" name="文本框 34">
            <a:extLst>
              <a:ext uri="{FF2B5EF4-FFF2-40B4-BE49-F238E27FC236}">
                <a16:creationId xmlns:a16="http://schemas.microsoft.com/office/drawing/2014/main" id="{017493A6-3E27-41AA-BA90-8414F87F75FF}"/>
              </a:ext>
            </a:extLst>
          </p:cNvPr>
          <p:cNvSpPr txBox="1"/>
          <p:nvPr/>
        </p:nvSpPr>
        <p:spPr>
          <a:xfrm>
            <a:off x="5097651" y="1390667"/>
            <a:ext cx="124695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第三节</a:t>
            </a:r>
          </a:p>
        </p:txBody>
      </p:sp>
      <p:sp>
        <p:nvSpPr>
          <p:cNvPr id="18" name="文本框 1">
            <a:extLst>
              <a:ext uri="{FF2B5EF4-FFF2-40B4-BE49-F238E27FC236}">
                <a16:creationId xmlns:a16="http://schemas.microsoft.com/office/drawing/2014/main" id="{D58D668A-7FC8-42DD-A372-640E8BCE6583}"/>
              </a:ext>
            </a:extLst>
          </p:cNvPr>
          <p:cNvSpPr txBox="1"/>
          <p:nvPr/>
        </p:nvSpPr>
        <p:spPr>
          <a:xfrm>
            <a:off x="1224528" y="1958757"/>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完全竞争和要素需求</a:t>
            </a:r>
          </a:p>
        </p:txBody>
      </p:sp>
      <p:sp>
        <p:nvSpPr>
          <p:cNvPr id="19" name="文本框 44">
            <a:extLst>
              <a:ext uri="{FF2B5EF4-FFF2-40B4-BE49-F238E27FC236}">
                <a16:creationId xmlns:a16="http://schemas.microsoft.com/office/drawing/2014/main" id="{6AF3D053-C2BA-4DE9-B50B-04DAF4075925}"/>
              </a:ext>
            </a:extLst>
          </p:cNvPr>
          <p:cNvSpPr txBox="1"/>
          <p:nvPr/>
        </p:nvSpPr>
        <p:spPr>
          <a:xfrm>
            <a:off x="3131900" y="1958757"/>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要素供给的一般理论</a:t>
            </a:r>
            <a:endParaRPr lang="en-US" altLang="zh-CN" sz="2400" b="0" spc="150" dirty="0">
              <a:latin typeface="微软雅黑" panose="020B0503020204020204" pitchFamily="34" charset="-122"/>
              <a:ea typeface="微软雅黑" panose="020B0503020204020204" pitchFamily="34" charset="-122"/>
            </a:endParaRPr>
          </a:p>
        </p:txBody>
      </p:sp>
      <p:sp>
        <p:nvSpPr>
          <p:cNvPr id="20" name="文本框 48">
            <a:extLst>
              <a:ext uri="{FF2B5EF4-FFF2-40B4-BE49-F238E27FC236}">
                <a16:creationId xmlns:a16="http://schemas.microsoft.com/office/drawing/2014/main" id="{9AE0FE04-A5D0-48CD-88B1-F28DCE68671D}"/>
              </a:ext>
            </a:extLst>
          </p:cNvPr>
          <p:cNvSpPr txBox="1"/>
          <p:nvPr/>
        </p:nvSpPr>
        <p:spPr>
          <a:xfrm>
            <a:off x="5026334" y="1958757"/>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劳动</a:t>
            </a:r>
            <a:endParaRPr lang="en-US" altLang="zh-CN" sz="2400" b="0" spc="150" dirty="0">
              <a:latin typeface="微软雅黑" panose="020B0503020204020204" pitchFamily="34" charset="-122"/>
              <a:ea typeface="微软雅黑" panose="020B0503020204020204" pitchFamily="34" charset="-122"/>
            </a:endParaRPr>
          </a:p>
          <a:p>
            <a:pPr algn="ctr">
              <a:lnSpc>
                <a:spcPct val="120000"/>
              </a:lnSpc>
            </a:pPr>
            <a:r>
              <a:rPr lang="zh-CN" altLang="en-US" sz="2400" b="0" spc="150" dirty="0">
                <a:latin typeface="微软雅黑" panose="020B0503020204020204" pitchFamily="34" charset="-122"/>
                <a:ea typeface="微软雅黑" panose="020B0503020204020204" pitchFamily="34" charset="-122"/>
              </a:rPr>
              <a:t>和工资</a:t>
            </a:r>
            <a:endParaRPr lang="en-US" altLang="zh-CN" sz="2400" b="0" spc="150" dirty="0">
              <a:latin typeface="微软雅黑" panose="020B0503020204020204" pitchFamily="34" charset="-122"/>
              <a:ea typeface="微软雅黑" panose="020B0503020204020204" pitchFamily="34" charset="-122"/>
            </a:endParaRPr>
          </a:p>
        </p:txBody>
      </p:sp>
      <p:sp>
        <p:nvSpPr>
          <p:cNvPr id="21" name="平行四边形 20">
            <a:extLst>
              <a:ext uri="{FF2B5EF4-FFF2-40B4-BE49-F238E27FC236}">
                <a16:creationId xmlns:a16="http://schemas.microsoft.com/office/drawing/2014/main" id="{19AF637F-02DB-4D09-BD02-F5EF37EFEC30}"/>
              </a:ext>
            </a:extLst>
          </p:cNvPr>
          <p:cNvSpPr/>
          <p:nvPr/>
        </p:nvSpPr>
        <p:spPr>
          <a:xfrm rot="16200000">
            <a:off x="2759283" y="4834927"/>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2" name="直角三角形 21">
            <a:extLst>
              <a:ext uri="{FF2B5EF4-FFF2-40B4-BE49-F238E27FC236}">
                <a16:creationId xmlns:a16="http://schemas.microsoft.com/office/drawing/2014/main" id="{747DBFF2-7D2F-4306-89CD-B35495FFB255}"/>
              </a:ext>
            </a:extLst>
          </p:cNvPr>
          <p:cNvSpPr/>
          <p:nvPr/>
        </p:nvSpPr>
        <p:spPr>
          <a:xfrm>
            <a:off x="2771515" y="3866131"/>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3" name="矩形 22">
            <a:extLst>
              <a:ext uri="{FF2B5EF4-FFF2-40B4-BE49-F238E27FC236}">
                <a16:creationId xmlns:a16="http://schemas.microsoft.com/office/drawing/2014/main" id="{979887FE-8715-4168-8D68-BE32EFD5CA09}"/>
              </a:ext>
            </a:extLst>
          </p:cNvPr>
          <p:cNvSpPr/>
          <p:nvPr/>
        </p:nvSpPr>
        <p:spPr>
          <a:xfrm>
            <a:off x="2169686" y="4042275"/>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任意多边形 30">
            <a:extLst>
              <a:ext uri="{FF2B5EF4-FFF2-40B4-BE49-F238E27FC236}">
                <a16:creationId xmlns:a16="http://schemas.microsoft.com/office/drawing/2014/main" id="{974FD1F3-AE2F-4A58-A485-7CF905BD2443}"/>
              </a:ext>
            </a:extLst>
          </p:cNvPr>
          <p:cNvSpPr/>
          <p:nvPr/>
        </p:nvSpPr>
        <p:spPr>
          <a:xfrm>
            <a:off x="2260205" y="3866131"/>
            <a:ext cx="1208552"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5" name="平行四边形 24">
            <a:extLst>
              <a:ext uri="{FF2B5EF4-FFF2-40B4-BE49-F238E27FC236}">
                <a16:creationId xmlns:a16="http://schemas.microsoft.com/office/drawing/2014/main" id="{64FF09FA-DCDF-4FCC-BBEB-63F4F4B97A41}"/>
              </a:ext>
            </a:extLst>
          </p:cNvPr>
          <p:cNvSpPr/>
          <p:nvPr/>
        </p:nvSpPr>
        <p:spPr>
          <a:xfrm rot="16200000">
            <a:off x="4660187" y="4834927"/>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6" name="直角三角形 25">
            <a:extLst>
              <a:ext uri="{FF2B5EF4-FFF2-40B4-BE49-F238E27FC236}">
                <a16:creationId xmlns:a16="http://schemas.microsoft.com/office/drawing/2014/main" id="{F0F8F43B-CAC3-49C8-8712-2B4DD9528475}"/>
              </a:ext>
            </a:extLst>
          </p:cNvPr>
          <p:cNvSpPr/>
          <p:nvPr/>
        </p:nvSpPr>
        <p:spPr>
          <a:xfrm>
            <a:off x="4672418" y="3866131"/>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18C2DD5B-358B-41DC-9F28-44249ACDAAC8}"/>
              </a:ext>
            </a:extLst>
          </p:cNvPr>
          <p:cNvSpPr/>
          <p:nvPr/>
        </p:nvSpPr>
        <p:spPr>
          <a:xfrm>
            <a:off x="4070589" y="4042275"/>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8" name="任意多边形 27">
            <a:extLst>
              <a:ext uri="{FF2B5EF4-FFF2-40B4-BE49-F238E27FC236}">
                <a16:creationId xmlns:a16="http://schemas.microsoft.com/office/drawing/2014/main" id="{51D12C3E-F1F5-4D38-A014-B8DF1BE90578}"/>
              </a:ext>
            </a:extLst>
          </p:cNvPr>
          <p:cNvSpPr/>
          <p:nvPr/>
        </p:nvSpPr>
        <p:spPr>
          <a:xfrm>
            <a:off x="4183126" y="3866131"/>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9" name="直角三角形 28">
            <a:extLst>
              <a:ext uri="{FF2B5EF4-FFF2-40B4-BE49-F238E27FC236}">
                <a16:creationId xmlns:a16="http://schemas.microsoft.com/office/drawing/2014/main" id="{4FE6D17F-2BFE-43C6-8A3A-CD738B2E3A7F}"/>
              </a:ext>
            </a:extLst>
          </p:cNvPr>
          <p:cNvSpPr/>
          <p:nvPr/>
        </p:nvSpPr>
        <p:spPr>
          <a:xfrm>
            <a:off x="6573321" y="3866131"/>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0" name="矩形 29">
            <a:extLst>
              <a:ext uri="{FF2B5EF4-FFF2-40B4-BE49-F238E27FC236}">
                <a16:creationId xmlns:a16="http://schemas.microsoft.com/office/drawing/2014/main" id="{29CD9A00-D4AC-46AD-A6F1-C7B6C7304A92}"/>
              </a:ext>
            </a:extLst>
          </p:cNvPr>
          <p:cNvSpPr/>
          <p:nvPr/>
        </p:nvSpPr>
        <p:spPr>
          <a:xfrm>
            <a:off x="5971492" y="4042275"/>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1" name="任意多边形 24">
            <a:extLst>
              <a:ext uri="{FF2B5EF4-FFF2-40B4-BE49-F238E27FC236}">
                <a16:creationId xmlns:a16="http://schemas.microsoft.com/office/drawing/2014/main" id="{0D07B7FA-424A-4263-A206-A8F17BBE9160}"/>
              </a:ext>
            </a:extLst>
          </p:cNvPr>
          <p:cNvSpPr/>
          <p:nvPr/>
        </p:nvSpPr>
        <p:spPr>
          <a:xfrm>
            <a:off x="6084105" y="3866131"/>
            <a:ext cx="1164364"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2" name="文本框 35">
            <a:extLst>
              <a:ext uri="{FF2B5EF4-FFF2-40B4-BE49-F238E27FC236}">
                <a16:creationId xmlns:a16="http://schemas.microsoft.com/office/drawing/2014/main" id="{E5018863-4328-48DB-88F2-A8293A5BEEFA}"/>
              </a:ext>
            </a:extLst>
          </p:cNvPr>
          <p:cNvSpPr txBox="1"/>
          <p:nvPr/>
        </p:nvSpPr>
        <p:spPr>
          <a:xfrm>
            <a:off x="2282223" y="3838076"/>
            <a:ext cx="116451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第五节</a:t>
            </a:r>
          </a:p>
        </p:txBody>
      </p:sp>
      <p:sp>
        <p:nvSpPr>
          <p:cNvPr id="33" name="文本框 36">
            <a:extLst>
              <a:ext uri="{FF2B5EF4-FFF2-40B4-BE49-F238E27FC236}">
                <a16:creationId xmlns:a16="http://schemas.microsoft.com/office/drawing/2014/main" id="{64762B03-5E0A-4FF5-84DA-3A801C9D5AB7}"/>
              </a:ext>
            </a:extLst>
          </p:cNvPr>
          <p:cNvSpPr txBox="1"/>
          <p:nvPr/>
        </p:nvSpPr>
        <p:spPr>
          <a:xfrm>
            <a:off x="4170371" y="3838076"/>
            <a:ext cx="119002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第六节</a:t>
            </a:r>
          </a:p>
        </p:txBody>
      </p:sp>
      <p:sp>
        <p:nvSpPr>
          <p:cNvPr id="34" name="文本框 37">
            <a:extLst>
              <a:ext uri="{FF2B5EF4-FFF2-40B4-BE49-F238E27FC236}">
                <a16:creationId xmlns:a16="http://schemas.microsoft.com/office/drawing/2014/main" id="{B96BF525-8F76-48F6-BC29-BBFE35C0CB6F}"/>
              </a:ext>
            </a:extLst>
          </p:cNvPr>
          <p:cNvSpPr txBox="1"/>
          <p:nvPr/>
        </p:nvSpPr>
        <p:spPr>
          <a:xfrm>
            <a:off x="6084105" y="3838076"/>
            <a:ext cx="11643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第七节</a:t>
            </a:r>
          </a:p>
        </p:txBody>
      </p:sp>
      <p:sp>
        <p:nvSpPr>
          <p:cNvPr id="35" name="文本框 49">
            <a:extLst>
              <a:ext uri="{FF2B5EF4-FFF2-40B4-BE49-F238E27FC236}">
                <a16:creationId xmlns:a16="http://schemas.microsoft.com/office/drawing/2014/main" id="{7D4F0D52-3445-4413-BD2D-D491610B3455}"/>
              </a:ext>
            </a:extLst>
          </p:cNvPr>
          <p:cNvSpPr txBox="1"/>
          <p:nvPr/>
        </p:nvSpPr>
        <p:spPr>
          <a:xfrm>
            <a:off x="2169686" y="4414140"/>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资本</a:t>
            </a:r>
            <a:endParaRPr lang="en-US" altLang="zh-CN" sz="2400" b="0" spc="150" dirty="0">
              <a:latin typeface="微软雅黑" panose="020B0503020204020204" pitchFamily="34" charset="-122"/>
              <a:ea typeface="微软雅黑" panose="020B0503020204020204" pitchFamily="34" charset="-122"/>
            </a:endParaRPr>
          </a:p>
          <a:p>
            <a:pPr algn="ctr">
              <a:lnSpc>
                <a:spcPct val="120000"/>
              </a:lnSpc>
            </a:pPr>
            <a:r>
              <a:rPr lang="zh-CN" altLang="en-US" sz="2400" b="0" spc="150" dirty="0">
                <a:latin typeface="微软雅黑" panose="020B0503020204020204" pitchFamily="34" charset="-122"/>
                <a:ea typeface="微软雅黑" panose="020B0503020204020204" pitchFamily="34" charset="-122"/>
              </a:rPr>
              <a:t>和利息</a:t>
            </a:r>
            <a:endParaRPr lang="en-US" altLang="zh-CN" sz="2400" b="0" spc="150" dirty="0">
              <a:latin typeface="微软雅黑" panose="020B0503020204020204" pitchFamily="34" charset="-122"/>
              <a:ea typeface="微软雅黑" panose="020B0503020204020204" pitchFamily="34" charset="-122"/>
            </a:endParaRPr>
          </a:p>
        </p:txBody>
      </p:sp>
      <p:sp>
        <p:nvSpPr>
          <p:cNvPr id="36" name="文本框 53">
            <a:extLst>
              <a:ext uri="{FF2B5EF4-FFF2-40B4-BE49-F238E27FC236}">
                <a16:creationId xmlns:a16="http://schemas.microsoft.com/office/drawing/2014/main" id="{3206073B-0493-41FB-85B2-DBB55C8A9ADC}"/>
              </a:ext>
            </a:extLst>
          </p:cNvPr>
          <p:cNvSpPr txBox="1"/>
          <p:nvPr/>
        </p:nvSpPr>
        <p:spPr>
          <a:xfrm>
            <a:off x="4070589" y="4414140"/>
            <a:ext cx="1389590" cy="1732092"/>
          </a:xfrm>
          <a:prstGeom prst="rect">
            <a:avLst/>
          </a:prstGeom>
          <a:noFill/>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0" spc="150" dirty="0">
                <a:latin typeface="微软雅黑" panose="020B0503020204020204" pitchFamily="34" charset="-122"/>
                <a:ea typeface="微软雅黑" panose="020B0503020204020204" pitchFamily="34" charset="-122"/>
              </a:rPr>
              <a:t>垄断条件下要素使用量和价格的决定</a:t>
            </a:r>
            <a:endParaRPr lang="en-US" altLang="zh-CN" sz="2000" b="0" spc="150" dirty="0">
              <a:latin typeface="微软雅黑" panose="020B0503020204020204" pitchFamily="34" charset="-122"/>
              <a:ea typeface="微软雅黑" panose="020B0503020204020204" pitchFamily="34" charset="-122"/>
            </a:endParaRPr>
          </a:p>
        </p:txBody>
      </p:sp>
      <p:sp>
        <p:nvSpPr>
          <p:cNvPr id="37" name="文本框 54">
            <a:extLst>
              <a:ext uri="{FF2B5EF4-FFF2-40B4-BE49-F238E27FC236}">
                <a16:creationId xmlns:a16="http://schemas.microsoft.com/office/drawing/2014/main" id="{855210AE-515C-45A3-A433-799FF648F335}"/>
              </a:ext>
            </a:extLst>
          </p:cNvPr>
          <p:cNvSpPr txBox="1"/>
          <p:nvPr/>
        </p:nvSpPr>
        <p:spPr>
          <a:xfrm>
            <a:off x="5971492" y="4414140"/>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本章</a:t>
            </a:r>
            <a:endParaRPr lang="en-US" altLang="zh-CN" sz="2400" b="0" spc="150" dirty="0">
              <a:latin typeface="微软雅黑" panose="020B0503020204020204" pitchFamily="34" charset="-122"/>
              <a:ea typeface="微软雅黑" panose="020B0503020204020204" pitchFamily="34" charset="-122"/>
            </a:endParaRPr>
          </a:p>
          <a:p>
            <a:pPr algn="ctr">
              <a:lnSpc>
                <a:spcPct val="120000"/>
              </a:lnSpc>
            </a:pPr>
            <a:r>
              <a:rPr lang="zh-CN" altLang="en-US" sz="2400" b="0" spc="150" dirty="0">
                <a:latin typeface="微软雅黑" panose="020B0503020204020204" pitchFamily="34" charset="-122"/>
                <a:ea typeface="微软雅黑" panose="020B0503020204020204" pitchFamily="34" charset="-122"/>
              </a:rPr>
              <a:t>评析</a:t>
            </a:r>
            <a:endParaRPr lang="en-US" altLang="zh-CN" sz="2400" b="0" spc="150" dirty="0">
              <a:latin typeface="微软雅黑" panose="020B0503020204020204" pitchFamily="34" charset="-122"/>
              <a:ea typeface="微软雅黑" panose="020B0503020204020204" pitchFamily="34" charset="-122"/>
            </a:endParaRPr>
          </a:p>
        </p:txBody>
      </p:sp>
      <p:sp>
        <p:nvSpPr>
          <p:cNvPr id="39" name="文本框 34">
            <a:extLst>
              <a:ext uri="{FF2B5EF4-FFF2-40B4-BE49-F238E27FC236}">
                <a16:creationId xmlns:a16="http://schemas.microsoft.com/office/drawing/2014/main" id="{017493A6-3E27-41AA-BA90-8414F87F75FF}"/>
              </a:ext>
            </a:extLst>
          </p:cNvPr>
          <p:cNvSpPr txBox="1"/>
          <p:nvPr/>
        </p:nvSpPr>
        <p:spPr>
          <a:xfrm>
            <a:off x="7021663" y="1429784"/>
            <a:ext cx="124695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a:t>
            </a:r>
            <a:r>
              <a:rPr lang="zh-CN" altLang="en-US" sz="2400" spc="150" dirty="0">
                <a:solidFill>
                  <a:schemeClr val="bg1"/>
                </a:solidFill>
                <a:latin typeface="微软雅黑" panose="020B0503020204020204" pitchFamily="34" charset="-122"/>
                <a:ea typeface="微软雅黑" panose="020B0503020204020204" pitchFamily="34" charset="-122"/>
              </a:rPr>
              <a:t>四</a:t>
            </a:r>
            <a:r>
              <a:rPr lang="zh-CN" altLang="en-US" sz="2400" b="1" spc="150" dirty="0">
                <a:solidFill>
                  <a:schemeClr val="bg1"/>
                </a:solidFill>
                <a:latin typeface="微软雅黑" panose="020B0503020204020204" pitchFamily="34" charset="-122"/>
                <a:ea typeface="微软雅黑" panose="020B0503020204020204" pitchFamily="34" charset="-122"/>
              </a:rPr>
              <a:t>节</a:t>
            </a:r>
          </a:p>
        </p:txBody>
      </p:sp>
      <p:sp>
        <p:nvSpPr>
          <p:cNvPr id="40" name="文本框 48">
            <a:extLst>
              <a:ext uri="{FF2B5EF4-FFF2-40B4-BE49-F238E27FC236}">
                <a16:creationId xmlns:a16="http://schemas.microsoft.com/office/drawing/2014/main" id="{9AE0FE04-A5D0-48CD-88B1-F28DCE68671D}"/>
              </a:ext>
            </a:extLst>
          </p:cNvPr>
          <p:cNvSpPr txBox="1"/>
          <p:nvPr/>
        </p:nvSpPr>
        <p:spPr>
          <a:xfrm>
            <a:off x="6932873" y="192510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0" spc="150" dirty="0">
                <a:latin typeface="微软雅黑" panose="020B0503020204020204" pitchFamily="34" charset="-122"/>
                <a:ea typeface="微软雅黑" panose="020B0503020204020204" pitchFamily="34" charset="-122"/>
              </a:rPr>
              <a:t>土地</a:t>
            </a:r>
            <a:endParaRPr lang="en-US" altLang="zh-CN" sz="2400" b="0" spc="150" dirty="0">
              <a:latin typeface="微软雅黑" panose="020B0503020204020204" pitchFamily="34" charset="-122"/>
              <a:ea typeface="微软雅黑" panose="020B0503020204020204" pitchFamily="34" charset="-122"/>
            </a:endParaRPr>
          </a:p>
          <a:p>
            <a:pPr algn="ctr">
              <a:lnSpc>
                <a:spcPct val="120000"/>
              </a:lnSpc>
            </a:pPr>
            <a:r>
              <a:rPr lang="zh-CN" altLang="en-US" sz="2400" b="0" spc="150" dirty="0">
                <a:latin typeface="微软雅黑" panose="020B0503020204020204" pitchFamily="34" charset="-122"/>
                <a:ea typeface="微软雅黑" panose="020B0503020204020204" pitchFamily="34" charset="-122"/>
              </a:rPr>
              <a:t>和地租</a:t>
            </a:r>
            <a:endParaRPr lang="en-US" altLang="zh-CN" sz="2400" b="0" spc="15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randombar(horizontal)">
                                      <p:cBhvr>
                                        <p:cTn id="24" dur="500"/>
                                        <p:tgtEl>
                                          <p:spTgt spid="8"/>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randombar(horizontal)">
                                      <p:cBhvr>
                                        <p:cTn id="30" dur="500"/>
                                        <p:tgtEl>
                                          <p:spTgt spid="10"/>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horizontal)">
                                      <p:cBhvr>
                                        <p:cTn id="33" dur="500"/>
                                        <p:tgtEl>
                                          <p:spTgt spid="11"/>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randombar(horizontal)">
                                      <p:cBhvr>
                                        <p:cTn id="36" dur="500"/>
                                        <p:tgtEl>
                                          <p:spTgt spid="12"/>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randombar(horizontal)">
                                      <p:cBhvr>
                                        <p:cTn id="39" dur="500"/>
                                        <p:tgtEl>
                                          <p:spTgt spid="13"/>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randombar(horizontal)">
                                      <p:cBhvr>
                                        <p:cTn id="42" dur="500"/>
                                        <p:tgtEl>
                                          <p:spTgt spid="14"/>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randombar(horizontal)">
                                      <p:cBhvr>
                                        <p:cTn id="45" dur="500"/>
                                        <p:tgtEl>
                                          <p:spTgt spid="15"/>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randombar(horizontal)">
                                      <p:cBhvr>
                                        <p:cTn id="48" dur="500"/>
                                        <p:tgtEl>
                                          <p:spTgt spid="16"/>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randombar(horizontal)">
                                      <p:cBhvr>
                                        <p:cTn id="51" dur="500"/>
                                        <p:tgtEl>
                                          <p:spTgt spid="17"/>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randombar(horizontal)">
                                      <p:cBhvr>
                                        <p:cTn id="54" dur="500"/>
                                        <p:tgtEl>
                                          <p:spTgt spid="18"/>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randombar(horizontal)">
                                      <p:cBhvr>
                                        <p:cTn id="57" dur="500"/>
                                        <p:tgtEl>
                                          <p:spTgt spid="19"/>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randombar(horizontal)">
                                      <p:cBhvr>
                                        <p:cTn id="60" dur="500"/>
                                        <p:tgtEl>
                                          <p:spTgt spid="20"/>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randombar(horizontal)">
                                      <p:cBhvr>
                                        <p:cTn id="63" dur="500"/>
                                        <p:tgtEl>
                                          <p:spTgt spid="21"/>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randombar(horizontal)">
                                      <p:cBhvr>
                                        <p:cTn id="66" dur="500"/>
                                        <p:tgtEl>
                                          <p:spTgt spid="22"/>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randombar(horizontal)">
                                      <p:cBhvr>
                                        <p:cTn id="69" dur="500"/>
                                        <p:tgtEl>
                                          <p:spTgt spid="23"/>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randombar(horizontal)">
                                      <p:cBhvr>
                                        <p:cTn id="72" dur="500"/>
                                        <p:tgtEl>
                                          <p:spTgt spid="24"/>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randombar(horizontal)">
                                      <p:cBhvr>
                                        <p:cTn id="75" dur="500"/>
                                        <p:tgtEl>
                                          <p:spTgt spid="25"/>
                                        </p:tgtEl>
                                      </p:cBhvr>
                                    </p:animEffect>
                                  </p:childTnLst>
                                </p:cTn>
                              </p:par>
                              <p:par>
                                <p:cTn id="76" presetID="14" presetClass="entr" presetSubtype="1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randombar(horizontal)">
                                      <p:cBhvr>
                                        <p:cTn id="78" dur="500"/>
                                        <p:tgtEl>
                                          <p:spTgt spid="26"/>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randombar(horizontal)">
                                      <p:cBhvr>
                                        <p:cTn id="81" dur="500"/>
                                        <p:tgtEl>
                                          <p:spTgt spid="27"/>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randombar(horizontal)">
                                      <p:cBhvr>
                                        <p:cTn id="84" dur="500"/>
                                        <p:tgtEl>
                                          <p:spTgt spid="28"/>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randombar(horizontal)">
                                      <p:cBhvr>
                                        <p:cTn id="87" dur="500"/>
                                        <p:tgtEl>
                                          <p:spTgt spid="29"/>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randombar(horizontal)">
                                      <p:cBhvr>
                                        <p:cTn id="90" dur="500"/>
                                        <p:tgtEl>
                                          <p:spTgt spid="30"/>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randombar(horizontal)">
                                      <p:cBhvr>
                                        <p:cTn id="93" dur="500"/>
                                        <p:tgtEl>
                                          <p:spTgt spid="31"/>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randombar(horizontal)">
                                      <p:cBhvr>
                                        <p:cTn id="96" dur="500"/>
                                        <p:tgtEl>
                                          <p:spTgt spid="32"/>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randombar(horizontal)">
                                      <p:cBhvr>
                                        <p:cTn id="99" dur="500"/>
                                        <p:tgtEl>
                                          <p:spTgt spid="33"/>
                                        </p:tgtEl>
                                      </p:cBhvr>
                                    </p:animEffect>
                                  </p:childTnLst>
                                </p:cTn>
                              </p:par>
                              <p:par>
                                <p:cTn id="100" presetID="14" presetClass="entr" presetSubtype="1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randombar(horizontal)">
                                      <p:cBhvr>
                                        <p:cTn id="102" dur="500"/>
                                        <p:tgtEl>
                                          <p:spTgt spid="34"/>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randombar(horizontal)">
                                      <p:cBhvr>
                                        <p:cTn id="105" dur="500"/>
                                        <p:tgtEl>
                                          <p:spTgt spid="35"/>
                                        </p:tgtEl>
                                      </p:cBhvr>
                                    </p:animEffect>
                                  </p:childTnLst>
                                </p:cTn>
                              </p:par>
                              <p:par>
                                <p:cTn id="106" presetID="14" presetClass="entr" presetSubtype="1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randombar(horizontal)">
                                      <p:cBhvr>
                                        <p:cTn id="108" dur="500"/>
                                        <p:tgtEl>
                                          <p:spTgt spid="36"/>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randombar(horizontal)">
                                      <p:cBhvr>
                                        <p:cTn id="111" dur="500"/>
                                        <p:tgtEl>
                                          <p:spTgt spid="37"/>
                                        </p:tgtEl>
                                      </p:cBhvr>
                                    </p:animEffect>
                                  </p:childTnLst>
                                </p:cTn>
                              </p:par>
                              <p:par>
                                <p:cTn id="112" presetID="14" presetClass="entr" presetSubtype="1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randombar(horizontal)">
                                      <p:cBhvr>
                                        <p:cTn id="114" dur="500"/>
                                        <p:tgtEl>
                                          <p:spTgt spid="38"/>
                                        </p:tgtEl>
                                      </p:cBhvr>
                                    </p:animEffect>
                                  </p:childTnLst>
                                </p:cTn>
                              </p:par>
                              <p:par>
                                <p:cTn id="115" presetID="14" presetClass="entr" presetSubtype="10"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randombar(horizontal)">
                                      <p:cBhvr>
                                        <p:cTn id="117" dur="500"/>
                                        <p:tgtEl>
                                          <p:spTgt spid="39"/>
                                        </p:tgtEl>
                                      </p:cBhvr>
                                    </p:animEffect>
                                  </p:childTnLst>
                                </p:cTn>
                              </p:par>
                              <p:par>
                                <p:cTn id="118" presetID="14" presetClass="entr" presetSubtype="1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randombar(horizontal)">
                                      <p:cBhvr>
                                        <p:cTn id="120" dur="500"/>
                                        <p:tgtEl>
                                          <p:spTgt spid="40"/>
                                        </p:tgtEl>
                                      </p:cBhvr>
                                    </p:animEffect>
                                  </p:childTnLst>
                                </p:cTn>
                              </p:par>
                              <p:par>
                                <p:cTn id="121" presetID="14" presetClass="entr" presetSubtype="1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randombar(horizontal)">
                                      <p:cBhvr>
                                        <p:cTn id="123" dur="500"/>
                                        <p:tgtEl>
                                          <p:spTgt spid="41"/>
                                        </p:tgtEl>
                                      </p:cBhvr>
                                    </p:animEffect>
                                  </p:childTnLst>
                                </p:cTn>
                              </p:par>
                              <p:par>
                                <p:cTn id="124" presetID="14" presetClass="entr" presetSubtype="1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randombar(horizontal)">
                                      <p:cBhvr>
                                        <p:cTn id="12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1" grpId="0" animBg="1"/>
      <p:bldP spid="42" grpId="0" animBg="1"/>
      <p:bldP spid="5122" grpId="0"/>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p:bldP spid="16" grpId="0"/>
      <p:bldP spid="17" grpId="0"/>
      <p:bldP spid="18" grpId="0"/>
      <p:bldP spid="19" grpId="0"/>
      <p:bldP spid="20" grpId="0"/>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p:bldP spid="39" grpId="0"/>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a:xfrm>
            <a:off x="539720" y="1124841"/>
            <a:ext cx="8229600" cy="720050"/>
          </a:xfrm>
          <a:ln/>
        </p:spPr>
        <p:txBody>
          <a:bodyPr/>
          <a:lstStyle/>
          <a:p>
            <a:pPr indent="-342900"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第一节  完全竞争和要素需求</a:t>
            </a:r>
          </a:p>
          <a:p>
            <a:pPr algn="l" eaLnBrk="1" hangingPunct="1"/>
            <a:endParaRPr lang="zh-CN" altLang="en-US" sz="3200" dirty="0"/>
          </a:p>
          <a:p>
            <a:pPr marL="742950" lvl="1" indent="-285750" algn="l" eaLnBrk="1" hangingPunct="1">
              <a:buFontTx/>
              <a:buChar char="–"/>
            </a:pPr>
            <a:endParaRPr lang="zh-CN" altLang="en-US" sz="2800" dirty="0"/>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904073" y="276232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835810" y="246069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904073" y="388409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835810" y="358246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904073" y="506090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835810" y="475927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cxnSpLocks/>
            <a:stCxn id="4" idx="2"/>
            <a:endCxn id="6" idx="0"/>
          </p:cNvCxnSpPr>
          <p:nvPr>
            <p:custDataLst>
              <p:tags r:id="rId7"/>
            </p:custDataLst>
          </p:nvPr>
        </p:nvCxnSpPr>
        <p:spPr>
          <a:xfrm>
            <a:off x="2415248" y="2816299"/>
            <a:ext cx="0" cy="76616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8"/>
            </p:custDataLst>
          </p:nvPr>
        </p:nvCxnSpPr>
        <p:spPr>
          <a:xfrm>
            <a:off x="2415248" y="3938067"/>
            <a:ext cx="0" cy="82120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201085" y="2420426"/>
            <a:ext cx="4435830" cy="461665"/>
          </a:xfrm>
          <a:prstGeom prst="rect">
            <a:avLst/>
          </a:prstGeom>
        </p:spPr>
        <p:txBody>
          <a:bodyPr wrap="none">
            <a:spAutoFit/>
          </a:bodyPr>
          <a:lstStyle/>
          <a:p>
            <a:r>
              <a:rPr lang="zh-CN" altLang="en-US" sz="2400" b="0" spc="150" dirty="0">
                <a:latin typeface="微软雅黑" panose="020B0503020204020204" pitchFamily="34" charset="-122"/>
                <a:ea typeface="微软雅黑" panose="020B0503020204020204" pitchFamily="34" charset="-122"/>
              </a:rPr>
              <a:t>完全竞争企业的要素使用原则</a:t>
            </a:r>
          </a:p>
        </p:txBody>
      </p:sp>
      <p:sp>
        <p:nvSpPr>
          <p:cNvPr id="18" name="矩形 17">
            <a:extLst>
              <a:ext uri="{FF2B5EF4-FFF2-40B4-BE49-F238E27FC236}">
                <a16:creationId xmlns:a16="http://schemas.microsoft.com/office/drawing/2014/main" id="{6BA99CA7-A4CC-4245-BA58-DB89FA49F037}"/>
              </a:ext>
            </a:extLst>
          </p:cNvPr>
          <p:cNvSpPr/>
          <p:nvPr/>
        </p:nvSpPr>
        <p:spPr>
          <a:xfrm>
            <a:off x="2771875" y="3494391"/>
            <a:ext cx="4897495" cy="461665"/>
          </a:xfrm>
          <a:prstGeom prst="rect">
            <a:avLst/>
          </a:prstGeom>
        </p:spPr>
        <p:txBody>
          <a:bodyPr wrap="none">
            <a:spAutoFit/>
          </a:bodyPr>
          <a:lstStyle/>
          <a:p>
            <a:pPr marL="742950" lvl="1" indent="-285750"/>
            <a:r>
              <a:rPr lang="zh-CN" altLang="en-US" sz="2400" b="0" spc="150" dirty="0">
                <a:latin typeface="微软雅黑" panose="020B0503020204020204" pitchFamily="34" charset="-122"/>
                <a:ea typeface="微软雅黑" panose="020B0503020204020204" pitchFamily="34" charset="-122"/>
              </a:rPr>
              <a:t>完全竞争企业的要素需求曲线</a:t>
            </a:r>
            <a:endParaRPr lang="en-US" altLang="zh-CN" sz="2400" b="0" spc="150"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018105B0-EC74-4F50-9B33-7F18FF6C04E7}"/>
              </a:ext>
            </a:extLst>
          </p:cNvPr>
          <p:cNvSpPr/>
          <p:nvPr/>
        </p:nvSpPr>
        <p:spPr>
          <a:xfrm>
            <a:off x="2783708" y="4725090"/>
            <a:ext cx="4897495" cy="461665"/>
          </a:xfrm>
          <a:prstGeom prst="rect">
            <a:avLst/>
          </a:prstGeom>
        </p:spPr>
        <p:txBody>
          <a:bodyPr wrap="none">
            <a:spAutoFit/>
          </a:bodyPr>
          <a:lstStyle/>
          <a:p>
            <a:pPr marL="742950" lvl="1" indent="-285750"/>
            <a:r>
              <a:rPr lang="zh-CN" altLang="en-US" sz="2400" b="0" spc="150" dirty="0">
                <a:latin typeface="微软雅黑" panose="020B0503020204020204" pitchFamily="34" charset="-122"/>
                <a:ea typeface="微软雅黑" panose="020B0503020204020204" pitchFamily="34" charset="-122"/>
              </a:rPr>
              <a:t>完全竞争市场的要素需求曲线</a:t>
            </a:r>
            <a:endParaRPr lang="en-US" altLang="zh-CN" sz="2400" b="0" spc="15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fade">
                                      <p:cBhvr>
                                        <p:cTn id="7" dur="500"/>
                                        <p:tgtEl>
                                          <p:spTgt spid="6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P spid="3" grpId="0" animBg="1"/>
      <p:bldP spid="4" grpId="0" animBg="1"/>
      <p:bldP spid="5" grpId="0" animBg="1"/>
      <p:bldP spid="6" grpId="0" animBg="1"/>
      <p:bldP spid="7" grpId="0" animBg="1"/>
      <p:bldP spid="8" grpId="0" animBg="1"/>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467544" y="1284584"/>
            <a:ext cx="1872130" cy="576040"/>
          </a:xfrm>
          <a:ln/>
        </p:spPr>
        <p:txBody>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假定：</a:t>
            </a:r>
            <a:endParaRPr lang="en-US" altLang="zh-CN" sz="2000" b="0" dirty="0">
              <a:latin typeface="微软雅黑" panose="020B0503020204020204" pitchFamily="34" charset="-122"/>
              <a:ea typeface="微软雅黑" panose="020B0503020204020204" pitchFamily="34" charset="-122"/>
            </a:endParaRPr>
          </a:p>
        </p:txBody>
      </p:sp>
      <p:sp>
        <p:nvSpPr>
          <p:cNvPr id="7172" name="标题 1"/>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11" name="矩形 10"/>
          <p:cNvSpPr/>
          <p:nvPr/>
        </p:nvSpPr>
        <p:spPr>
          <a:xfrm>
            <a:off x="899745" y="1700880"/>
            <a:ext cx="7614370" cy="4302268"/>
          </a:xfrm>
          <a:prstGeom prst="rect">
            <a:avLst/>
          </a:prstGeom>
        </p:spPr>
        <p:txBody>
          <a:bodyPr wrap="square">
            <a:spAutoFit/>
          </a:bodyPr>
          <a:lstStyle/>
          <a:p>
            <a:pPr marL="457200" lvl="2" indent="-4572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一种生产要素一种产品</a:t>
            </a:r>
            <a:endParaRPr lang="en-US" altLang="zh-CN" sz="1800" b="0" dirty="0">
              <a:latin typeface="微软雅黑" panose="020B0503020204020204" pitchFamily="34" charset="-122"/>
              <a:ea typeface="微软雅黑" panose="020B0503020204020204" pitchFamily="34" charset="-122"/>
            </a:endParaRPr>
          </a:p>
          <a:p>
            <a:pPr marL="914400" lvl="3" indent="-457200" eaLnBrk="1" hangingPunct="1">
              <a:lnSpc>
                <a:spcPct val="150000"/>
              </a:lnSpc>
              <a:buSzPct val="100000"/>
              <a:buFontTx/>
              <a:buChar char="•"/>
            </a:pPr>
            <a:r>
              <a:rPr lang="zh-CN" altLang="en-US" sz="1800" b="0" dirty="0">
                <a:latin typeface="微软雅黑" panose="020B0503020204020204" pitchFamily="34" charset="-122"/>
                <a:ea typeface="微软雅黑" panose="020B0503020204020204" pitchFamily="34" charset="-122"/>
              </a:rPr>
              <a:t>一种生产要素</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，价格为</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，由市场决定，是外生的</a:t>
            </a:r>
            <a:endParaRPr lang="en-US" altLang="zh-CN" sz="1800" b="0" dirty="0">
              <a:latin typeface="微软雅黑" panose="020B0503020204020204" pitchFamily="34" charset="-122"/>
              <a:ea typeface="微软雅黑" panose="020B0503020204020204" pitchFamily="34" charset="-122"/>
            </a:endParaRPr>
          </a:p>
          <a:p>
            <a:pPr marL="914400" lvl="3" indent="-457200" eaLnBrk="1" hangingPunct="1">
              <a:lnSpc>
                <a:spcPct val="150000"/>
              </a:lnSpc>
              <a:buSzPct val="100000"/>
              <a:buFontTx/>
              <a:buChar char="•"/>
            </a:pPr>
            <a:r>
              <a:rPr lang="zh-CN" altLang="en-US" sz="1800" b="0" dirty="0">
                <a:latin typeface="微软雅黑" panose="020B0503020204020204" pitchFamily="34" charset="-122"/>
                <a:ea typeface="微软雅黑" panose="020B0503020204020204" pitchFamily="34" charset="-122"/>
              </a:rPr>
              <a:t>单一产品</a:t>
            </a:r>
            <a:r>
              <a:rPr lang="en-US" altLang="zh-CN" sz="1800" b="0" dirty="0">
                <a:latin typeface="微软雅黑" panose="020B0503020204020204" pitchFamily="34" charset="-122"/>
                <a:ea typeface="微软雅黑" panose="020B0503020204020204" pitchFamily="34" charset="-122"/>
              </a:rPr>
              <a:t>Q</a:t>
            </a:r>
            <a:r>
              <a:rPr lang="zh-CN" altLang="en-US"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产品价格</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P</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，由市场决定，是外生的</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对要素使用者而言，需求要素时</a:t>
            </a:r>
            <a:endParaRPr lang="en-US" altLang="zh-CN" sz="1800" b="0" dirty="0">
              <a:latin typeface="微软雅黑" panose="020B0503020204020204" pitchFamily="34" charset="-122"/>
              <a:ea typeface="微软雅黑" panose="020B0503020204020204" pitchFamily="34" charset="-122"/>
            </a:endParaRPr>
          </a:p>
          <a:p>
            <a:pPr marL="914400" lvl="3" indent="-457200" eaLnBrk="1" hangingPunct="1">
              <a:lnSpc>
                <a:spcPct val="150000"/>
              </a:lnSpc>
              <a:buFontTx/>
              <a:buChar char="•"/>
            </a:pPr>
            <a:r>
              <a:rPr lang="zh-CN" altLang="en-US" sz="1800" b="0" dirty="0">
                <a:latin typeface="微软雅黑" panose="020B0503020204020204" pitchFamily="34" charset="-122"/>
                <a:ea typeface="微软雅黑" panose="020B0503020204020204" pitchFamily="34" charset="-122"/>
              </a:rPr>
              <a:t>收益</a:t>
            </a:r>
            <a:r>
              <a:rPr lang="en-US" altLang="zh-CN" sz="1800" b="0" dirty="0">
                <a:latin typeface="微软雅黑" panose="020B0503020204020204" pitchFamily="34" charset="-122"/>
                <a:ea typeface="微软雅黑" panose="020B0503020204020204" pitchFamily="34" charset="-122"/>
              </a:rPr>
              <a:t>——L</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800" b="0" dirty="0">
                <a:latin typeface="微软雅黑" panose="020B0503020204020204" pitchFamily="34" charset="-122"/>
                <a:ea typeface="微软雅黑" panose="020B0503020204020204" pitchFamily="34" charset="-122"/>
              </a:rPr>
              <a:t>Q=Q(L) </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800" b="0" dirty="0">
                <a:latin typeface="微软雅黑" panose="020B0503020204020204" pitchFamily="34" charset="-122"/>
                <a:ea typeface="微软雅黑" panose="020B0503020204020204" pitchFamily="34" charset="-122"/>
              </a:rPr>
              <a:t>R=PQ(L)</a:t>
            </a:r>
          </a:p>
          <a:p>
            <a:pPr marL="914400" lvl="3" indent="-457200" eaLnBrk="1" hangingPunct="1">
              <a:lnSpc>
                <a:spcPct val="150000"/>
              </a:lnSpc>
              <a:buFontTx/>
              <a:buChar char="•"/>
            </a:pPr>
            <a:r>
              <a:rPr lang="zh-CN" altLang="en-US" sz="1800" b="0" dirty="0">
                <a:latin typeface="微软雅黑" panose="020B0503020204020204" pitchFamily="34" charset="-122"/>
                <a:ea typeface="微软雅黑" panose="020B0503020204020204" pitchFamily="34" charset="-122"/>
              </a:rPr>
              <a:t>成本</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和</a:t>
            </a:r>
            <a:r>
              <a:rPr lang="en-US" altLang="zh-CN" sz="1800" b="0" dirty="0">
                <a:latin typeface="微软雅黑" panose="020B0503020204020204" pitchFamily="34" charset="-122"/>
                <a:ea typeface="微软雅黑" panose="020B0503020204020204" pitchFamily="34" charset="-122"/>
              </a:rPr>
              <a:t>L</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要素使用成本</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=WL</a:t>
            </a:r>
          </a:p>
          <a:p>
            <a:pPr marL="457200" lvl="2" indent="-4572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对要素所有者而言，供给要素时</a:t>
            </a:r>
            <a:endParaRPr lang="en-US" altLang="zh-CN" sz="1800" b="0" dirty="0">
              <a:latin typeface="微软雅黑" panose="020B0503020204020204" pitchFamily="34" charset="-122"/>
              <a:ea typeface="微软雅黑" panose="020B0503020204020204" pitchFamily="34" charset="-122"/>
              <a:sym typeface="Wingdings" panose="05000000000000000000" pitchFamily="2" charset="2"/>
            </a:endParaRPr>
          </a:p>
          <a:p>
            <a:pPr marL="914400" lvl="3" indent="-457200" eaLnBrk="1" hangingPunct="1">
              <a:lnSpc>
                <a:spcPct val="150000"/>
              </a:lnSpc>
              <a:buFontTx/>
              <a:buChar char="•"/>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收益方面：</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W</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和</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L</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货币报酬</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=WL </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获得效用</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U(WL)</a:t>
            </a:r>
          </a:p>
          <a:p>
            <a:pPr marL="914400" lvl="3" indent="-457200" eaLnBrk="1" hangingPunct="1">
              <a:lnSpc>
                <a:spcPct val="150000"/>
              </a:lnSpc>
              <a:buFontTx/>
              <a:buChar char="•"/>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成本方面：放弃了自用</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损失了效用</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U(L)</a:t>
            </a:r>
          </a:p>
          <a:p>
            <a:pPr marL="457200" lvl="3" indent="0" eaLnBrk="1" hangingPunct="1">
              <a:lnSpc>
                <a:spcPct val="200000"/>
              </a:lnSpc>
              <a:buNone/>
            </a:pPr>
            <a:r>
              <a:rPr lang="zh-CN" altLang="en-US"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注意：</a:t>
            </a:r>
            <a:r>
              <a:rPr lang="en-US" altLang="zh-CN"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L</a:t>
            </a:r>
            <a:r>
              <a:rPr lang="zh-CN" altLang="en-US"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如果供给出去就得到</a:t>
            </a:r>
            <a:r>
              <a:rPr lang="en-US" altLang="zh-CN"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WL</a:t>
            </a:r>
            <a:r>
              <a:rPr lang="zh-CN" altLang="en-US"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和</a:t>
            </a:r>
            <a:r>
              <a:rPr lang="en-US" altLang="zh-CN"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U(WL)</a:t>
            </a:r>
            <a:r>
              <a:rPr lang="zh-CN" altLang="en-US"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，自用得到</a:t>
            </a:r>
            <a:r>
              <a:rPr lang="en-US" altLang="zh-CN" sz="1800" b="0" i="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U(L)</a:t>
            </a:r>
            <a:endParaRPr lang="zh-CN" altLang="en-US" sz="1800" b="0" i="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951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barn(inVertical)">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barn(inVertical)">
                                      <p:cBhvr>
                                        <p:cTn id="22" dur="500"/>
                                        <p:tgtEl>
                                          <p:spTgt spid="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animEffect transition="in" filter="barn(inVertical)">
                                      <p:cBhvr>
                                        <p:cTn id="27" dur="500"/>
                                        <p:tgtEl>
                                          <p:spTgt spid="1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1">
                                            <p:txEl>
                                              <p:pRg st="3" end="3"/>
                                            </p:txEl>
                                          </p:spTgt>
                                        </p:tgtEl>
                                        <p:attrNameLst>
                                          <p:attrName>style.visibility</p:attrName>
                                        </p:attrNameLst>
                                      </p:cBhvr>
                                      <p:to>
                                        <p:strVal val="visible"/>
                                      </p:to>
                                    </p:set>
                                    <p:animEffect transition="in" filter="barn(inVertical)">
                                      <p:cBhvr>
                                        <p:cTn id="32" dur="500"/>
                                        <p:tgtEl>
                                          <p:spTgt spid="1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1">
                                            <p:txEl>
                                              <p:pRg st="4" end="4"/>
                                            </p:txEl>
                                          </p:spTgt>
                                        </p:tgtEl>
                                        <p:attrNameLst>
                                          <p:attrName>style.visibility</p:attrName>
                                        </p:attrNameLst>
                                      </p:cBhvr>
                                      <p:to>
                                        <p:strVal val="visible"/>
                                      </p:to>
                                    </p:set>
                                    <p:animEffect transition="in" filter="barn(inVertical)">
                                      <p:cBhvr>
                                        <p:cTn id="37" dur="500"/>
                                        <p:tgtEl>
                                          <p:spTgt spid="1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1">
                                            <p:txEl>
                                              <p:pRg st="5" end="5"/>
                                            </p:txEl>
                                          </p:spTgt>
                                        </p:tgtEl>
                                        <p:attrNameLst>
                                          <p:attrName>style.visibility</p:attrName>
                                        </p:attrNameLst>
                                      </p:cBhvr>
                                      <p:to>
                                        <p:strVal val="visible"/>
                                      </p:to>
                                    </p:set>
                                    <p:animEffect transition="in" filter="barn(inVertical)">
                                      <p:cBhvr>
                                        <p:cTn id="42" dur="500"/>
                                        <p:tgtEl>
                                          <p:spTgt spid="11">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1">
                                            <p:txEl>
                                              <p:pRg st="6" end="6"/>
                                            </p:txEl>
                                          </p:spTgt>
                                        </p:tgtEl>
                                        <p:attrNameLst>
                                          <p:attrName>style.visibility</p:attrName>
                                        </p:attrNameLst>
                                      </p:cBhvr>
                                      <p:to>
                                        <p:strVal val="visible"/>
                                      </p:to>
                                    </p:set>
                                    <p:animEffect transition="in" filter="barn(inVertical)">
                                      <p:cBhvr>
                                        <p:cTn id="47" dur="500"/>
                                        <p:tgtEl>
                                          <p:spTgt spid="11">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1">
                                            <p:txEl>
                                              <p:pRg st="7" end="7"/>
                                            </p:txEl>
                                          </p:spTgt>
                                        </p:tgtEl>
                                        <p:attrNameLst>
                                          <p:attrName>style.visibility</p:attrName>
                                        </p:attrNameLst>
                                      </p:cBhvr>
                                      <p:to>
                                        <p:strVal val="visible"/>
                                      </p:to>
                                    </p:set>
                                    <p:animEffect transition="in" filter="barn(inVertical)">
                                      <p:cBhvr>
                                        <p:cTn id="52" dur="500"/>
                                        <p:tgtEl>
                                          <p:spTgt spid="11">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11">
                                            <p:txEl>
                                              <p:pRg st="8" end="8"/>
                                            </p:txEl>
                                          </p:spTgt>
                                        </p:tgtEl>
                                        <p:attrNameLst>
                                          <p:attrName>style.visibility</p:attrName>
                                        </p:attrNameLst>
                                      </p:cBhvr>
                                      <p:to>
                                        <p:strVal val="visible"/>
                                      </p:to>
                                    </p:set>
                                    <p:animEffect transition="in" filter="barn(inVertical)">
                                      <p:cBhvr>
                                        <p:cTn id="57" dur="500"/>
                                        <p:tgtEl>
                                          <p:spTgt spid="11">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11">
                                            <p:txEl>
                                              <p:pRg st="9" end="9"/>
                                            </p:txEl>
                                          </p:spTgt>
                                        </p:tgtEl>
                                        <p:attrNameLst>
                                          <p:attrName>style.visibility</p:attrName>
                                        </p:attrNameLst>
                                      </p:cBhvr>
                                      <p:to>
                                        <p:strVal val="visible"/>
                                      </p:to>
                                    </p:set>
                                    <p:animEffect transition="in" filter="randombar(horizontal)">
                                      <p:cBhvr>
                                        <p:cTn id="62"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a:extLst>
              <a:ext uri="{FF2B5EF4-FFF2-40B4-BE49-F238E27FC236}">
                <a16:creationId xmlns:a16="http://schemas.microsoft.com/office/drawing/2014/main" id="{6CCEA132-2B21-4D39-BF3F-0B9984CF947A}"/>
              </a:ext>
            </a:extLst>
          </p:cNvPr>
          <p:cNvSpPr/>
          <p:nvPr/>
        </p:nvSpPr>
        <p:spPr bwMode="auto">
          <a:xfrm>
            <a:off x="481530" y="2142060"/>
            <a:ext cx="2016313" cy="998715"/>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4" name="矩形: 圆角 23">
            <a:extLst>
              <a:ext uri="{FF2B5EF4-FFF2-40B4-BE49-F238E27FC236}">
                <a16:creationId xmlns:a16="http://schemas.microsoft.com/office/drawing/2014/main" id="{F450BCC5-9453-42AB-A983-9C5A6D78CDB5}"/>
              </a:ext>
            </a:extLst>
          </p:cNvPr>
          <p:cNvSpPr/>
          <p:nvPr/>
        </p:nvSpPr>
        <p:spPr bwMode="auto">
          <a:xfrm>
            <a:off x="3275486" y="1717040"/>
            <a:ext cx="1656540" cy="979513"/>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5" name="矩形: 圆角 24">
            <a:extLst>
              <a:ext uri="{FF2B5EF4-FFF2-40B4-BE49-F238E27FC236}">
                <a16:creationId xmlns:a16="http://schemas.microsoft.com/office/drawing/2014/main" id="{A91E168D-D783-48E0-9E5A-5BB25536F437}"/>
              </a:ext>
            </a:extLst>
          </p:cNvPr>
          <p:cNvSpPr/>
          <p:nvPr/>
        </p:nvSpPr>
        <p:spPr bwMode="auto">
          <a:xfrm>
            <a:off x="3275486" y="2801082"/>
            <a:ext cx="2592604" cy="979513"/>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6" name="矩形: 圆角 25">
            <a:extLst>
              <a:ext uri="{FF2B5EF4-FFF2-40B4-BE49-F238E27FC236}">
                <a16:creationId xmlns:a16="http://schemas.microsoft.com/office/drawing/2014/main" id="{2CFE6D72-8758-4017-9DCA-198EEBE3D129}"/>
              </a:ext>
            </a:extLst>
          </p:cNvPr>
          <p:cNvSpPr/>
          <p:nvPr/>
        </p:nvSpPr>
        <p:spPr bwMode="auto">
          <a:xfrm>
            <a:off x="6241506" y="1661904"/>
            <a:ext cx="2377746" cy="979513"/>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7" name="矩形: 圆角 26">
            <a:extLst>
              <a:ext uri="{FF2B5EF4-FFF2-40B4-BE49-F238E27FC236}">
                <a16:creationId xmlns:a16="http://schemas.microsoft.com/office/drawing/2014/main" id="{8B357EB3-F611-4F70-8871-F45F5AB979AD}"/>
              </a:ext>
            </a:extLst>
          </p:cNvPr>
          <p:cNvSpPr/>
          <p:nvPr/>
        </p:nvSpPr>
        <p:spPr bwMode="auto">
          <a:xfrm>
            <a:off x="6456364" y="2793440"/>
            <a:ext cx="2162888" cy="979513"/>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8" name="矩形: 圆角 27">
            <a:extLst>
              <a:ext uri="{FF2B5EF4-FFF2-40B4-BE49-F238E27FC236}">
                <a16:creationId xmlns:a16="http://schemas.microsoft.com/office/drawing/2014/main" id="{0676C985-07AE-421D-8E83-5DBD0AF9E4C6}"/>
              </a:ext>
            </a:extLst>
          </p:cNvPr>
          <p:cNvSpPr/>
          <p:nvPr/>
        </p:nvSpPr>
        <p:spPr bwMode="auto">
          <a:xfrm>
            <a:off x="467542" y="4808634"/>
            <a:ext cx="1804541" cy="611207"/>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9" name="矩形: 圆角 28">
            <a:extLst>
              <a:ext uri="{FF2B5EF4-FFF2-40B4-BE49-F238E27FC236}">
                <a16:creationId xmlns:a16="http://schemas.microsoft.com/office/drawing/2014/main" id="{FA00DF06-E83A-4820-8626-A330AB37E5E3}"/>
              </a:ext>
            </a:extLst>
          </p:cNvPr>
          <p:cNvSpPr/>
          <p:nvPr/>
        </p:nvSpPr>
        <p:spPr bwMode="auto">
          <a:xfrm>
            <a:off x="2817793" y="4085795"/>
            <a:ext cx="3143246" cy="584776"/>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0" name="矩形: 圆角 29">
            <a:extLst>
              <a:ext uri="{FF2B5EF4-FFF2-40B4-BE49-F238E27FC236}">
                <a16:creationId xmlns:a16="http://schemas.microsoft.com/office/drawing/2014/main" id="{4E3867A2-343D-4139-85FA-CD8CD4601B56}"/>
              </a:ext>
            </a:extLst>
          </p:cNvPr>
          <p:cNvSpPr/>
          <p:nvPr/>
        </p:nvSpPr>
        <p:spPr bwMode="auto">
          <a:xfrm>
            <a:off x="2832347" y="4719261"/>
            <a:ext cx="2876594" cy="736917"/>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1" name="矩形: 圆角 30">
            <a:extLst>
              <a:ext uri="{FF2B5EF4-FFF2-40B4-BE49-F238E27FC236}">
                <a16:creationId xmlns:a16="http://schemas.microsoft.com/office/drawing/2014/main" id="{79757B78-3DEB-4DF2-9F8B-271C3E4F3988}"/>
              </a:ext>
            </a:extLst>
          </p:cNvPr>
          <p:cNvSpPr/>
          <p:nvPr/>
        </p:nvSpPr>
        <p:spPr bwMode="auto">
          <a:xfrm>
            <a:off x="2817794" y="5486335"/>
            <a:ext cx="2489882" cy="590877"/>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2" name="矩形: 圆角 31">
            <a:extLst>
              <a:ext uri="{FF2B5EF4-FFF2-40B4-BE49-F238E27FC236}">
                <a16:creationId xmlns:a16="http://schemas.microsoft.com/office/drawing/2014/main" id="{8CA02FE5-2137-4D0B-94EC-EF47E61E1994}"/>
              </a:ext>
            </a:extLst>
          </p:cNvPr>
          <p:cNvSpPr/>
          <p:nvPr/>
        </p:nvSpPr>
        <p:spPr bwMode="auto">
          <a:xfrm>
            <a:off x="6368854" y="4582222"/>
            <a:ext cx="2256901" cy="1078933"/>
          </a:xfrm>
          <a:prstGeom prst="roundRect">
            <a:avLst/>
          </a:prstGeom>
          <a:solidFill>
            <a:srgbClr val="F3C97F">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7170" name="Rectangle 3"/>
          <p:cNvSpPr>
            <a:spLocks noGrp="1" noChangeArrowheads="1"/>
          </p:cNvSpPr>
          <p:nvPr>
            <p:ph type="body" idx="4294967295"/>
          </p:nvPr>
        </p:nvSpPr>
        <p:spPr>
          <a:xfrm>
            <a:off x="447486" y="1196845"/>
            <a:ext cx="6212660" cy="451855"/>
          </a:xfrm>
          <a:ln/>
        </p:spPr>
        <p:txBody>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企业使用要素的边际收益：</a:t>
            </a:r>
            <a:r>
              <a:rPr lang="en-US" altLang="zh-CN" sz="2000" b="0" dirty="0">
                <a:latin typeface="微软雅黑" panose="020B0503020204020204" pitchFamily="34" charset="-122"/>
                <a:ea typeface="微软雅黑" panose="020B0503020204020204" pitchFamily="34" charset="-122"/>
              </a:rPr>
              <a:t>MRP</a:t>
            </a:r>
            <a:r>
              <a:rPr lang="zh-CN" altLang="en-US" sz="2000" b="0" dirty="0">
                <a:latin typeface="微软雅黑" panose="020B0503020204020204" pitchFamily="34" charset="-122"/>
                <a:ea typeface="微软雅黑" panose="020B0503020204020204" pitchFamily="34" charset="-122"/>
              </a:rPr>
              <a:t>和</a:t>
            </a:r>
            <a:r>
              <a:rPr lang="en-US" altLang="zh-CN" sz="2000" b="0" dirty="0">
                <a:latin typeface="微软雅黑" panose="020B0503020204020204" pitchFamily="34" charset="-122"/>
                <a:ea typeface="微软雅黑" panose="020B0503020204020204" pitchFamily="34" charset="-122"/>
              </a:rPr>
              <a:t>VMP</a:t>
            </a: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467543" y="1644406"/>
            <a:ext cx="8352580" cy="2778680"/>
            <a:chOff x="467543" y="1644406"/>
            <a:chExt cx="8352580" cy="2778680"/>
          </a:xfrm>
          <a:solidFill>
            <a:srgbClr val="F3C97F"/>
          </a:solidFill>
        </p:grpSpPr>
        <mc:AlternateContent xmlns:mc="http://schemas.openxmlformats.org/markup-compatibility/2006" xmlns:a14="http://schemas.microsoft.com/office/drawing/2010/main">
          <mc:Choice Requires="a14">
            <p:graphicFrame>
              <p:nvGraphicFramePr>
                <p:cNvPr id="5" name="图示 4"/>
                <p:cNvGraphicFramePr/>
                <p:nvPr>
                  <p:extLst>
                    <p:ext uri="{D42A27DB-BD31-4B8C-83A1-F6EECF244321}">
                      <p14:modId xmlns:p14="http://schemas.microsoft.com/office/powerpoint/2010/main" val="3189395271"/>
                    </p:ext>
                  </p:extLst>
                </p:nvPr>
              </p:nvGraphicFramePr>
              <p:xfrm>
                <a:off x="467543" y="1644406"/>
                <a:ext cx="8352580" cy="2778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图示 4"/>
                <p:cNvGraphicFramePr/>
                <p:nvPr>
                  <p:extLst>
                    <p:ext uri="{D42A27DB-BD31-4B8C-83A1-F6EECF244321}">
                      <p14:modId xmlns:p14="http://schemas.microsoft.com/office/powerpoint/2010/main" val="3189395271"/>
                    </p:ext>
                  </p:extLst>
                </p:nvPr>
              </p:nvGraphicFramePr>
              <p:xfrm>
                <a:off x="467543" y="1644406"/>
                <a:ext cx="8352580" cy="27786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mc:AlternateContent xmlns:mc="http://schemas.openxmlformats.org/markup-compatibility/2006" xmlns:a14="http://schemas.microsoft.com/office/drawing/2010/main">
          <mc:Choice Requires="a14">
            <p:sp>
              <p:nvSpPr>
                <p:cNvPr id="9" name="文本框 8"/>
                <p:cNvSpPr txBox="1"/>
                <p:nvPr/>
              </p:nvSpPr>
              <p:spPr>
                <a:xfrm>
                  <a:off x="3205537" y="2939547"/>
                  <a:ext cx="2755502" cy="870688"/>
                </a:xfrm>
                <a:prstGeom prst="rect">
                  <a:avLst/>
                </a:prstGeom>
                <a:noFill/>
                <a:ln>
                  <a:noFill/>
                </a:ln>
              </p:spPr>
              <p:txBody>
                <a:bodyPr wrap="square" rtlCol="0">
                  <a:spAutoFit/>
                </a:bodyPr>
                <a:lstStyle/>
                <a:p>
                  <a:pPr marL="0" lvl="2"/>
                  <a:r>
                    <a:rPr lang="en-US" altLang="zh-CN" b="0" dirty="0">
                      <a:solidFill>
                        <a:schemeClr val="tx1"/>
                      </a:solidFill>
                      <a:latin typeface="微软雅黑" panose="020B0503020204020204" pitchFamily="34" charset="-122"/>
                      <a:ea typeface="微软雅黑" panose="020B0503020204020204" pitchFamily="34" charset="-122"/>
                    </a:rPr>
                    <a:t>MRP</a:t>
                  </a:r>
                  <a:r>
                    <a:rPr lang="zh-CN" altLang="en-US" b="0" dirty="0">
                      <a:solidFill>
                        <a:schemeClr val="tx1"/>
                      </a:solidFill>
                      <a:latin typeface="微软雅黑" panose="020B0503020204020204" pitchFamily="34" charset="-122"/>
                      <a:ea typeface="微软雅黑" panose="020B0503020204020204" pitchFamily="34" charset="-122"/>
                    </a:rPr>
                    <a:t>决定于</a:t>
                  </a:r>
                  <a:r>
                    <a:rPr lang="en-US" altLang="zh-CN" b="0" dirty="0">
                      <a:solidFill>
                        <a:schemeClr val="tx1"/>
                      </a:solidFill>
                      <a:latin typeface="微软雅黑" panose="020B0503020204020204" pitchFamily="34" charset="-122"/>
                      <a:ea typeface="微软雅黑" panose="020B0503020204020204" pitchFamily="34" charset="-122"/>
                    </a:rPr>
                    <a:t>MR</a:t>
                  </a:r>
                  <a:r>
                    <a:rPr lang="zh-CN" altLang="en-US" b="0" dirty="0">
                      <a:solidFill>
                        <a:schemeClr val="tx1"/>
                      </a:solidFill>
                      <a:latin typeface="微软雅黑" panose="020B0503020204020204" pitchFamily="34" charset="-122"/>
                      <a:ea typeface="微软雅黑" panose="020B0503020204020204" pitchFamily="34" charset="-122"/>
                    </a:rPr>
                    <a:t>和</a:t>
                  </a:r>
                  <a:r>
                    <a:rPr lang="en-US" altLang="zh-CN" b="0" dirty="0">
                      <a:solidFill>
                        <a:schemeClr val="tx1"/>
                      </a:solidFill>
                      <a:latin typeface="微软雅黑" panose="020B0503020204020204" pitchFamily="34" charset="-122"/>
                      <a:ea typeface="微软雅黑" panose="020B0503020204020204" pitchFamily="34" charset="-122"/>
                    </a:rPr>
                    <a:t>MP</a:t>
                  </a:r>
                  <a:r>
                    <a:rPr lang="zh-CN" altLang="en-US" b="0" dirty="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a:p>
                  <a:pPr marL="0" lvl="2"/>
                  <a14:m>
                    <m:oMath xmlns:m="http://schemas.openxmlformats.org/officeDocument/2006/math">
                      <m:r>
                        <a:rPr lang="en-US" altLang="zh-CN" sz="1200" b="0" i="1">
                          <a:solidFill>
                            <a:schemeClr val="tx1"/>
                          </a:solidFill>
                          <a:latin typeface="Cambria Math" panose="02040503050406030204" pitchFamily="18" charset="0"/>
                        </a:rPr>
                        <m:t>𝑀𝑅𝑃</m:t>
                      </m:r>
                      <m:r>
                        <a:rPr lang="en-US" altLang="zh-CN" sz="1200" b="0" i="1">
                          <a:solidFill>
                            <a:schemeClr val="tx1"/>
                          </a:solidFill>
                          <a:latin typeface="Cambria Math" panose="02040503050406030204" pitchFamily="18" charset="0"/>
                        </a:rPr>
                        <m:t>=</m:t>
                      </m:r>
                      <m:f>
                        <m:fPr>
                          <m:ctrlPr>
                            <a:rPr lang="en-US" altLang="zh-CN" sz="1200" b="0" i="1">
                              <a:solidFill>
                                <a:schemeClr val="tx1"/>
                              </a:solidFill>
                              <a:latin typeface="Cambria Math" panose="02040503050406030204" pitchFamily="18" charset="0"/>
                            </a:rPr>
                          </m:ctrlPr>
                        </m:fPr>
                        <m:num>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𝑅</m:t>
                          </m:r>
                        </m:num>
                        <m:den>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𝐿</m:t>
                          </m:r>
                        </m:den>
                      </m:f>
                      <m:r>
                        <a:rPr lang="en-US" altLang="zh-CN" sz="1200" b="0" i="1">
                          <a:solidFill>
                            <a:schemeClr val="tx1"/>
                          </a:solidFill>
                          <a:latin typeface="Cambria Math" panose="02040503050406030204" pitchFamily="18" charset="0"/>
                        </a:rPr>
                        <m:t>=</m:t>
                      </m:r>
                      <m:f>
                        <m:fPr>
                          <m:ctrlPr>
                            <a:rPr lang="en-US" altLang="zh-CN" sz="1200" b="0" i="1">
                              <a:solidFill>
                                <a:schemeClr val="tx1"/>
                              </a:solidFill>
                              <a:latin typeface="Cambria Math" panose="02040503050406030204" pitchFamily="18" charset="0"/>
                            </a:rPr>
                          </m:ctrlPr>
                        </m:fPr>
                        <m:num>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𝑅</m:t>
                          </m:r>
                        </m:num>
                        <m:den>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𝑄</m:t>
                          </m:r>
                        </m:den>
                      </m:f>
                      <m:r>
                        <a:rPr lang="en-US" altLang="zh-CN" sz="1200" b="0" i="1">
                          <a:solidFill>
                            <a:schemeClr val="tx1"/>
                          </a:solidFill>
                          <a:latin typeface="Cambria Math" panose="02040503050406030204" pitchFamily="18" charset="0"/>
                          <a:ea typeface="Cambria Math" panose="02040503050406030204" pitchFamily="18" charset="0"/>
                        </a:rPr>
                        <m:t>∙</m:t>
                      </m:r>
                      <m:f>
                        <m:fPr>
                          <m:ctrlPr>
                            <a:rPr lang="en-US" altLang="zh-CN" sz="1200" b="0" i="1">
                              <a:solidFill>
                                <a:schemeClr val="tx1"/>
                              </a:solidFill>
                              <a:latin typeface="Cambria Math" panose="02040503050406030204" pitchFamily="18" charset="0"/>
                            </a:rPr>
                          </m:ctrlPr>
                        </m:fPr>
                        <m:num>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𝑄</m:t>
                          </m:r>
                        </m:num>
                        <m:den>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𝐿</m:t>
                          </m:r>
                        </m:den>
                      </m:f>
                    </m:oMath>
                  </a14:m>
                  <a:r>
                    <a:rPr lang="en-US" altLang="zh-CN" sz="1200" b="0" dirty="0">
                      <a:solidFill>
                        <a:schemeClr val="tx1"/>
                      </a:solidFill>
                      <a:sym typeface="Wingdings" panose="05000000000000000000" pitchFamily="2" charset="2"/>
                    </a:rPr>
                    <a:t></a:t>
                  </a:r>
                  <a14:m>
                    <m:oMath xmlns:m="http://schemas.openxmlformats.org/officeDocument/2006/math">
                      <m:r>
                        <a:rPr lang="en-US" altLang="zh-CN" sz="1200" b="0" i="1">
                          <a:solidFill>
                            <a:schemeClr val="tx1"/>
                          </a:solidFill>
                          <a:latin typeface="Cambria Math" panose="02040503050406030204" pitchFamily="18" charset="0"/>
                        </a:rPr>
                        <m:t>𝑀𝑅𝑃</m:t>
                      </m:r>
                      <m:r>
                        <a:rPr lang="en-US" altLang="zh-CN" sz="1200" b="0" i="1">
                          <a:solidFill>
                            <a:schemeClr val="tx1"/>
                          </a:solidFill>
                          <a:latin typeface="Cambria Math" panose="02040503050406030204" pitchFamily="18" charset="0"/>
                        </a:rPr>
                        <m:t>=</m:t>
                      </m:r>
                      <m:r>
                        <a:rPr lang="en-US" altLang="zh-CN" sz="1200" b="0" i="1">
                          <a:solidFill>
                            <a:schemeClr val="tx1"/>
                          </a:solidFill>
                          <a:latin typeface="Cambria Math" panose="02040503050406030204" pitchFamily="18" charset="0"/>
                        </a:rPr>
                        <m:t>𝑀𝑅</m:t>
                      </m:r>
                      <m:r>
                        <a:rPr lang="en-US" altLang="zh-CN" sz="1200" b="0" i="1">
                          <a:solidFill>
                            <a:schemeClr val="tx1"/>
                          </a:solidFill>
                          <a:latin typeface="Cambria Math" panose="02040503050406030204" pitchFamily="18" charset="0"/>
                          <a:ea typeface="Cambria Math" panose="02040503050406030204" pitchFamily="18" charset="0"/>
                        </a:rPr>
                        <m:t>∙</m:t>
                      </m:r>
                      <m:r>
                        <a:rPr lang="en-US" altLang="zh-CN" sz="1200" b="0" i="1">
                          <a:solidFill>
                            <a:schemeClr val="tx1"/>
                          </a:solidFill>
                          <a:latin typeface="Cambria Math" panose="02040503050406030204" pitchFamily="18" charset="0"/>
                        </a:rPr>
                        <m:t>𝑀</m:t>
                      </m:r>
                    </m:oMath>
                  </a14:m>
                  <a:r>
                    <a:rPr lang="en-US" altLang="zh-CN" sz="1200" b="0" dirty="0">
                      <a:solidFill>
                        <a:schemeClr val="tx1"/>
                      </a:solidFill>
                    </a:rPr>
                    <a:t>P</a:t>
                  </a:r>
                </a:p>
                <a:p>
                  <a:endParaRPr lang="zh-CN" altLang="en-US"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205537" y="2939547"/>
                  <a:ext cx="2755502" cy="870688"/>
                </a:xfrm>
                <a:prstGeom prst="rect">
                  <a:avLst/>
                </a:prstGeom>
                <a:blipFill>
                  <a:blip r:embed="rId12"/>
                  <a:stretch>
                    <a:fillRect l="-1327" t="-209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440013" y="1866589"/>
                  <a:ext cx="1342034" cy="799578"/>
                </a:xfrm>
                <a:prstGeom prst="rect">
                  <a:avLst/>
                </a:prstGeom>
                <a:noFill/>
                <a:ln>
                  <a:noFill/>
                </a:ln>
              </p:spPr>
              <p:txBody>
                <a:bodyPr wrap="none">
                  <a:spAutoFit/>
                </a:bodyPr>
                <a:lstStyle/>
                <a:p>
                  <a:pPr lvl="0"/>
                  <a:r>
                    <a:rPr lang="en-US" altLang="zh-CN" b="0" dirty="0">
                      <a:solidFill>
                        <a:schemeClr val="tx1"/>
                      </a:solidFill>
                      <a:latin typeface="微软雅黑" panose="020B0503020204020204" pitchFamily="34" charset="-122"/>
                      <a:ea typeface="微软雅黑" panose="020B0503020204020204" pitchFamily="34" charset="-122"/>
                    </a:rPr>
                    <a:t>MRP</a:t>
                  </a:r>
                  <a:r>
                    <a:rPr lang="zh-CN" altLang="en-US" b="0" dirty="0">
                      <a:solidFill>
                        <a:schemeClr val="tx1"/>
                      </a:solidFill>
                      <a:latin typeface="微软雅黑" panose="020B0503020204020204" pitchFamily="34" charset="-122"/>
                      <a:ea typeface="微软雅黑" panose="020B0503020204020204" pitchFamily="34" charset="-122"/>
                    </a:rPr>
                    <a:t>定义：</a:t>
                  </a:r>
                  <a:endParaRPr lang="en-US" altLang="zh-CN" b="0" dirty="0">
                    <a:solidFill>
                      <a:schemeClr val="tx1"/>
                    </a:solidFill>
                    <a:latin typeface="微软雅黑" panose="020B0503020204020204" pitchFamily="34" charset="-122"/>
                    <a:ea typeface="微软雅黑" panose="020B0503020204020204" pitchFamily="34" charset="-122"/>
                  </a:endParaRPr>
                </a:p>
                <a:p>
                  <a:pPr lvl="0"/>
                  <a14:m>
                    <m:oMathPara xmlns:m="http://schemas.openxmlformats.org/officeDocument/2006/math">
                      <m:oMathParaPr>
                        <m:jc m:val="centerGroup"/>
                      </m:oMathParaPr>
                      <m:oMath xmlns:m="http://schemas.openxmlformats.org/officeDocument/2006/math">
                        <m:r>
                          <a:rPr lang="en-US" altLang="zh-CN" b="0" i="1">
                            <a:solidFill>
                              <a:schemeClr val="tx1"/>
                            </a:solidFill>
                            <a:latin typeface="Cambria Math" panose="02040503050406030204" pitchFamily="18" charset="0"/>
                          </a:rPr>
                          <m:t>𝑀𝑅𝑃</m:t>
                        </m:r>
                        <m:r>
                          <a:rPr lang="en-US" altLang="zh-CN" b="0" i="1">
                            <a:solidFill>
                              <a:schemeClr val="tx1"/>
                            </a:solidFill>
                            <a:latin typeface="Cambria Math" panose="02040503050406030204" pitchFamily="18" charset="0"/>
                          </a:rPr>
                          <m:t>=</m:t>
                        </m:r>
                        <m:f>
                          <m:fPr>
                            <m:ctrlPr>
                              <a:rPr lang="en-US" altLang="zh-CN" b="0"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𝑅</m:t>
                            </m:r>
                          </m:num>
                          <m:den>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𝐿</m:t>
                            </m:r>
                          </m:den>
                        </m:f>
                      </m:oMath>
                    </m:oMathPara>
                  </a14:m>
                  <a:endParaRPr lang="zh-CN" altLang="en-US"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3440013" y="1866589"/>
                  <a:ext cx="1342034" cy="799578"/>
                </a:xfrm>
                <a:prstGeom prst="rect">
                  <a:avLst/>
                </a:prstGeom>
                <a:blipFill>
                  <a:blip r:embed="rId13"/>
                  <a:stretch>
                    <a:fillRect l="-2273" t="-2290"/>
                  </a:stretch>
                </a:blipFill>
                <a:ln>
                  <a:noFill/>
                </a:ln>
              </p:spPr>
              <p:txBody>
                <a:bodyPr/>
                <a:lstStyle/>
                <a:p>
                  <a:r>
                    <a:rPr lang="zh-CN" altLang="en-US">
                      <a:noFill/>
                    </a:rPr>
                    <a:t> </a:t>
                  </a:r>
                </a:p>
              </p:txBody>
            </p:sp>
          </mc:Fallback>
        </mc:AlternateContent>
      </p:grpSp>
      <p:grpSp>
        <p:nvGrpSpPr>
          <p:cNvPr id="22" name="组合 21">
            <a:extLst>
              <a:ext uri="{FF2B5EF4-FFF2-40B4-BE49-F238E27FC236}">
                <a16:creationId xmlns:a16="http://schemas.microsoft.com/office/drawing/2014/main" id="{341D2316-44F4-4722-A000-6F98380F87E7}"/>
              </a:ext>
            </a:extLst>
          </p:cNvPr>
          <p:cNvGrpSpPr/>
          <p:nvPr/>
        </p:nvGrpSpPr>
        <p:grpSpPr>
          <a:xfrm>
            <a:off x="467542" y="4083615"/>
            <a:ext cx="8151710" cy="2014658"/>
            <a:chOff x="467542" y="4141216"/>
            <a:chExt cx="8151710" cy="2014658"/>
          </a:xfrm>
        </p:grpSpPr>
        <p:sp>
          <p:nvSpPr>
            <p:cNvPr id="6" name="任意多边形: 形状 5">
              <a:extLst>
                <a:ext uri="{FF2B5EF4-FFF2-40B4-BE49-F238E27FC236}">
                  <a16:creationId xmlns:a16="http://schemas.microsoft.com/office/drawing/2014/main" id="{4C89E006-DA9F-4568-9E30-F51BEB2DF53C}"/>
                </a:ext>
              </a:extLst>
            </p:cNvPr>
            <p:cNvSpPr/>
            <p:nvPr/>
          </p:nvSpPr>
          <p:spPr>
            <a:xfrm>
              <a:off x="467542" y="4887789"/>
              <a:ext cx="1797990" cy="590876"/>
            </a:xfrm>
            <a:custGeom>
              <a:avLst/>
              <a:gdLst>
                <a:gd name="connsiteX0" fmla="*/ 0 w 1797990"/>
                <a:gd name="connsiteY0" fmla="*/ 59088 h 590876"/>
                <a:gd name="connsiteX1" fmla="*/ 59088 w 1797990"/>
                <a:gd name="connsiteY1" fmla="*/ 0 h 590876"/>
                <a:gd name="connsiteX2" fmla="*/ 1738902 w 1797990"/>
                <a:gd name="connsiteY2" fmla="*/ 0 h 590876"/>
                <a:gd name="connsiteX3" fmla="*/ 1797990 w 1797990"/>
                <a:gd name="connsiteY3" fmla="*/ 59088 h 590876"/>
                <a:gd name="connsiteX4" fmla="*/ 1797990 w 1797990"/>
                <a:gd name="connsiteY4" fmla="*/ 531788 h 590876"/>
                <a:gd name="connsiteX5" fmla="*/ 1738902 w 1797990"/>
                <a:gd name="connsiteY5" fmla="*/ 590876 h 590876"/>
                <a:gd name="connsiteX6" fmla="*/ 59088 w 1797990"/>
                <a:gd name="connsiteY6" fmla="*/ 590876 h 590876"/>
                <a:gd name="connsiteX7" fmla="*/ 0 w 1797990"/>
                <a:gd name="connsiteY7" fmla="*/ 531788 h 590876"/>
                <a:gd name="connsiteX8" fmla="*/ 0 w 1797990"/>
                <a:gd name="connsiteY8" fmla="*/ 59088 h 59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7990" h="590876">
                  <a:moveTo>
                    <a:pt x="0" y="59088"/>
                  </a:moveTo>
                  <a:cubicBezTo>
                    <a:pt x="0" y="26455"/>
                    <a:pt x="26455" y="0"/>
                    <a:pt x="59088" y="0"/>
                  </a:cubicBezTo>
                  <a:lnTo>
                    <a:pt x="1738902" y="0"/>
                  </a:lnTo>
                  <a:cubicBezTo>
                    <a:pt x="1771535" y="0"/>
                    <a:pt x="1797990" y="26455"/>
                    <a:pt x="1797990" y="59088"/>
                  </a:cubicBezTo>
                  <a:lnTo>
                    <a:pt x="1797990" y="531788"/>
                  </a:lnTo>
                  <a:cubicBezTo>
                    <a:pt x="1797990" y="564421"/>
                    <a:pt x="1771535" y="590876"/>
                    <a:pt x="1738902" y="590876"/>
                  </a:cubicBezTo>
                  <a:lnTo>
                    <a:pt x="59088" y="590876"/>
                  </a:lnTo>
                  <a:cubicBezTo>
                    <a:pt x="26455" y="590876"/>
                    <a:pt x="0" y="564421"/>
                    <a:pt x="0" y="531788"/>
                  </a:cubicBezTo>
                  <a:lnTo>
                    <a:pt x="0" y="59088"/>
                  </a:lnTo>
                  <a:close/>
                </a:path>
              </a:pathLst>
            </a:custGeom>
            <a:noFill/>
            <a:ln w="28575">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7466" tIns="27466" rIns="27466" bIns="27466"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竞争条件下，</a:t>
              </a:r>
              <a:r>
                <a:rPr lang="en-US" altLang="zh-CN" sz="1600" b="0" kern="1200" dirty="0">
                  <a:solidFill>
                    <a:schemeClr val="tx1"/>
                  </a:solidFill>
                </a:rPr>
                <a:t>MRP=VMP</a:t>
              </a:r>
              <a:endParaRPr lang="zh-CN" altLang="en-US" sz="1600" b="0" kern="1200" dirty="0">
                <a:solidFill>
                  <a:schemeClr val="tx1"/>
                </a:solidFill>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62C76EF4-5BA4-4E76-B413-67E4B04D1FC0}"/>
                </a:ext>
              </a:extLst>
            </p:cNvPr>
            <p:cNvSpPr/>
            <p:nvPr/>
          </p:nvSpPr>
          <p:spPr>
            <a:xfrm rot="18350508">
              <a:off x="2074683" y="4790803"/>
              <a:ext cx="920970" cy="38276"/>
            </a:xfrm>
            <a:custGeom>
              <a:avLst/>
              <a:gdLst>
                <a:gd name="connsiteX0" fmla="*/ 0 w 920970"/>
                <a:gd name="connsiteY0" fmla="*/ 19138 h 38276"/>
                <a:gd name="connsiteX1" fmla="*/ 920970 w 920970"/>
                <a:gd name="connsiteY1" fmla="*/ 19138 h 38276"/>
              </a:gdLst>
              <a:ahLst/>
              <a:cxnLst>
                <a:cxn ang="0">
                  <a:pos x="connsiteX0" y="connsiteY0"/>
                </a:cxn>
                <a:cxn ang="0">
                  <a:pos x="connsiteX1" y="connsiteY1"/>
                </a:cxn>
              </a:cxnLst>
              <a:rect l="l" t="t" r="r" b="b"/>
              <a:pathLst>
                <a:path w="920970" h="38276">
                  <a:moveTo>
                    <a:pt x="0" y="19138"/>
                  </a:moveTo>
                  <a:lnTo>
                    <a:pt x="920970" y="19138"/>
                  </a:lnTo>
                </a:path>
              </a:pathLst>
            </a:custGeom>
            <a:noFill/>
            <a:ln w="28575">
              <a:solidFill>
                <a:srgbClr val="C0000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450160" tIns="-3886" rIns="450161" bIns="-3887"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12" name="任意多边形: 形状 11">
              <a:extLst>
                <a:ext uri="{FF2B5EF4-FFF2-40B4-BE49-F238E27FC236}">
                  <a16:creationId xmlns:a16="http://schemas.microsoft.com/office/drawing/2014/main" id="{E5234A14-D06E-4CC7-94C9-E0F223CF551F}"/>
                </a:ext>
              </a:extLst>
            </p:cNvPr>
            <p:cNvSpPr/>
            <p:nvPr/>
          </p:nvSpPr>
          <p:spPr>
            <a:xfrm>
              <a:off x="2804805" y="4141216"/>
              <a:ext cx="3156237" cy="590876"/>
            </a:xfrm>
            <a:custGeom>
              <a:avLst/>
              <a:gdLst>
                <a:gd name="connsiteX0" fmla="*/ 0 w 3156237"/>
                <a:gd name="connsiteY0" fmla="*/ 59088 h 590876"/>
                <a:gd name="connsiteX1" fmla="*/ 59088 w 3156237"/>
                <a:gd name="connsiteY1" fmla="*/ 0 h 590876"/>
                <a:gd name="connsiteX2" fmla="*/ 3097149 w 3156237"/>
                <a:gd name="connsiteY2" fmla="*/ 0 h 590876"/>
                <a:gd name="connsiteX3" fmla="*/ 3156237 w 3156237"/>
                <a:gd name="connsiteY3" fmla="*/ 59088 h 590876"/>
                <a:gd name="connsiteX4" fmla="*/ 3156237 w 3156237"/>
                <a:gd name="connsiteY4" fmla="*/ 531788 h 590876"/>
                <a:gd name="connsiteX5" fmla="*/ 3097149 w 3156237"/>
                <a:gd name="connsiteY5" fmla="*/ 590876 h 590876"/>
                <a:gd name="connsiteX6" fmla="*/ 59088 w 3156237"/>
                <a:gd name="connsiteY6" fmla="*/ 590876 h 590876"/>
                <a:gd name="connsiteX7" fmla="*/ 0 w 3156237"/>
                <a:gd name="connsiteY7" fmla="*/ 531788 h 590876"/>
                <a:gd name="connsiteX8" fmla="*/ 0 w 3156237"/>
                <a:gd name="connsiteY8" fmla="*/ 59088 h 59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6237" h="590876">
                  <a:moveTo>
                    <a:pt x="0" y="59088"/>
                  </a:moveTo>
                  <a:cubicBezTo>
                    <a:pt x="0" y="26455"/>
                    <a:pt x="26455" y="0"/>
                    <a:pt x="59088" y="0"/>
                  </a:cubicBezTo>
                  <a:lnTo>
                    <a:pt x="3097149" y="0"/>
                  </a:lnTo>
                  <a:cubicBezTo>
                    <a:pt x="3129782" y="0"/>
                    <a:pt x="3156237" y="26455"/>
                    <a:pt x="3156237" y="59088"/>
                  </a:cubicBezTo>
                  <a:lnTo>
                    <a:pt x="3156237" y="531788"/>
                  </a:lnTo>
                  <a:cubicBezTo>
                    <a:pt x="3156237" y="564421"/>
                    <a:pt x="3129782" y="590876"/>
                    <a:pt x="3097149" y="590876"/>
                  </a:cubicBezTo>
                  <a:lnTo>
                    <a:pt x="59088" y="590876"/>
                  </a:lnTo>
                  <a:cubicBezTo>
                    <a:pt x="26455" y="590876"/>
                    <a:pt x="0" y="564421"/>
                    <a:pt x="0" y="531788"/>
                  </a:cubicBezTo>
                  <a:lnTo>
                    <a:pt x="0" y="59088"/>
                  </a:lnTo>
                  <a:close/>
                </a:path>
              </a:pathLst>
            </a:custGeom>
            <a:noFill/>
            <a:ln w="28575">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1436" tIns="41436" rIns="41436" bIns="41436" numCol="1" spcCol="1270" anchor="ctr" anchorCtr="0">
              <a:noAutofit/>
            </a:bodyPr>
            <a:lstStyle/>
            <a:p>
              <a:pPr marL="0" lvl="0" indent="0" algn="ctr" defTabSz="1689100">
                <a:lnSpc>
                  <a:spcPct val="90000"/>
                </a:lnSpc>
                <a:spcBef>
                  <a:spcPct val="0"/>
                </a:spcBef>
                <a:spcAft>
                  <a:spcPct val="35000"/>
                </a:spcAft>
                <a:buNone/>
              </a:pPr>
              <a:endParaRPr lang="zh-CN" altLang="en-US" sz="3800" kern="1200" dirty="0"/>
            </a:p>
          </p:txBody>
        </p:sp>
        <p:sp>
          <p:nvSpPr>
            <p:cNvPr id="16" name="任意多边形: 形状 15">
              <a:extLst>
                <a:ext uri="{FF2B5EF4-FFF2-40B4-BE49-F238E27FC236}">
                  <a16:creationId xmlns:a16="http://schemas.microsoft.com/office/drawing/2014/main" id="{5985FC97-B4A9-41DC-84AF-0ABF9F66C227}"/>
                </a:ext>
              </a:extLst>
            </p:cNvPr>
            <p:cNvSpPr/>
            <p:nvPr/>
          </p:nvSpPr>
          <p:spPr>
            <a:xfrm flipV="1">
              <a:off x="5715491" y="4687080"/>
              <a:ext cx="680907" cy="920368"/>
            </a:xfrm>
            <a:custGeom>
              <a:avLst/>
              <a:gdLst>
                <a:gd name="connsiteX0" fmla="*/ 0 w 471918"/>
                <a:gd name="connsiteY0" fmla="*/ 19138 h 38276"/>
                <a:gd name="connsiteX1" fmla="*/ 471918 w 471918"/>
                <a:gd name="connsiteY1" fmla="*/ 19138 h 38276"/>
              </a:gdLst>
              <a:ahLst/>
              <a:cxnLst>
                <a:cxn ang="0">
                  <a:pos x="connsiteX0" y="connsiteY0"/>
                </a:cxn>
                <a:cxn ang="0">
                  <a:pos x="connsiteX1" y="connsiteY1"/>
                </a:cxn>
              </a:cxnLst>
              <a:rect l="l" t="t" r="r" b="b"/>
              <a:pathLst>
                <a:path w="471918" h="38276">
                  <a:moveTo>
                    <a:pt x="0" y="19138"/>
                  </a:moveTo>
                  <a:lnTo>
                    <a:pt x="471918" y="19138"/>
                  </a:lnTo>
                </a:path>
              </a:pathLst>
            </a:custGeom>
            <a:noFill/>
            <a:ln w="28575">
              <a:solidFill>
                <a:srgbClr val="C0000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36860" tIns="7340" rIns="236862" bIns="7340"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17" name="任意多边形: 形状 16">
              <a:extLst>
                <a:ext uri="{FF2B5EF4-FFF2-40B4-BE49-F238E27FC236}">
                  <a16:creationId xmlns:a16="http://schemas.microsoft.com/office/drawing/2014/main" id="{934C9C98-01D9-446B-B466-39BF20F9F87D}"/>
                </a:ext>
              </a:extLst>
            </p:cNvPr>
            <p:cNvSpPr/>
            <p:nvPr/>
          </p:nvSpPr>
          <p:spPr>
            <a:xfrm>
              <a:off x="6393231" y="4643760"/>
              <a:ext cx="2226021" cy="1078934"/>
            </a:xfrm>
            <a:custGeom>
              <a:avLst/>
              <a:gdLst>
                <a:gd name="connsiteX0" fmla="*/ 0 w 2451263"/>
                <a:gd name="connsiteY0" fmla="*/ 107893 h 1078934"/>
                <a:gd name="connsiteX1" fmla="*/ 107893 w 2451263"/>
                <a:gd name="connsiteY1" fmla="*/ 0 h 1078934"/>
                <a:gd name="connsiteX2" fmla="*/ 2343370 w 2451263"/>
                <a:gd name="connsiteY2" fmla="*/ 0 h 1078934"/>
                <a:gd name="connsiteX3" fmla="*/ 2451263 w 2451263"/>
                <a:gd name="connsiteY3" fmla="*/ 107893 h 1078934"/>
                <a:gd name="connsiteX4" fmla="*/ 2451263 w 2451263"/>
                <a:gd name="connsiteY4" fmla="*/ 971041 h 1078934"/>
                <a:gd name="connsiteX5" fmla="*/ 2343370 w 2451263"/>
                <a:gd name="connsiteY5" fmla="*/ 1078934 h 1078934"/>
                <a:gd name="connsiteX6" fmla="*/ 107893 w 2451263"/>
                <a:gd name="connsiteY6" fmla="*/ 1078934 h 1078934"/>
                <a:gd name="connsiteX7" fmla="*/ 0 w 2451263"/>
                <a:gd name="connsiteY7" fmla="*/ 971041 h 1078934"/>
                <a:gd name="connsiteX8" fmla="*/ 0 w 2451263"/>
                <a:gd name="connsiteY8" fmla="*/ 107893 h 107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1263" h="1078934">
                  <a:moveTo>
                    <a:pt x="0" y="107893"/>
                  </a:moveTo>
                  <a:cubicBezTo>
                    <a:pt x="0" y="48305"/>
                    <a:pt x="48305" y="0"/>
                    <a:pt x="107893" y="0"/>
                  </a:cubicBezTo>
                  <a:lnTo>
                    <a:pt x="2343370" y="0"/>
                  </a:lnTo>
                  <a:cubicBezTo>
                    <a:pt x="2402958" y="0"/>
                    <a:pt x="2451263" y="48305"/>
                    <a:pt x="2451263" y="107893"/>
                  </a:cubicBezTo>
                  <a:lnTo>
                    <a:pt x="2451263" y="971041"/>
                  </a:lnTo>
                  <a:cubicBezTo>
                    <a:pt x="2451263" y="1030629"/>
                    <a:pt x="2402958" y="1078934"/>
                    <a:pt x="2343370" y="1078934"/>
                  </a:cubicBezTo>
                  <a:lnTo>
                    <a:pt x="107893" y="1078934"/>
                  </a:lnTo>
                  <a:cubicBezTo>
                    <a:pt x="48305" y="1078934"/>
                    <a:pt x="0" y="1030629"/>
                    <a:pt x="0" y="971041"/>
                  </a:cubicBezTo>
                  <a:lnTo>
                    <a:pt x="0" y="107893"/>
                  </a:lnTo>
                  <a:close/>
                </a:path>
              </a:pathLst>
            </a:custGeom>
            <a:noFill/>
            <a:ln w="28575">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1761" tIns="41761" rIns="41761" bIns="41761" numCol="1" spcCol="1270" anchor="ctr" anchorCtr="0">
              <a:noAutofit/>
            </a:bodyPr>
            <a:lstStyle/>
            <a:p>
              <a:pPr marL="0" lvl="0" indent="0" algn="ctr" defTabSz="711200" rtl="0" eaLnBrk="0" fontAlgn="base" hangingPunct="0">
                <a:lnSpc>
                  <a:spcPct val="90000"/>
                </a:lnSpc>
                <a:spcBef>
                  <a:spcPct val="0"/>
                </a:spcBef>
                <a:spcAft>
                  <a:spcPct val="0"/>
                </a:spcAft>
                <a:buFont typeface="Arial" panose="020B0604020202020204" pitchFamily="34" charset="0"/>
                <a:buNone/>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即：</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VMP</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是每增加一单位要素</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L</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投入时所增加的产量的价值</a:t>
              </a:r>
            </a:p>
          </p:txBody>
        </p:sp>
        <p:sp>
          <p:nvSpPr>
            <p:cNvPr id="18" name="任意多边形: 形状 17">
              <a:extLst>
                <a:ext uri="{FF2B5EF4-FFF2-40B4-BE49-F238E27FC236}">
                  <a16:creationId xmlns:a16="http://schemas.microsoft.com/office/drawing/2014/main" id="{8F33B37F-D559-4A82-AFD5-448762B82D1F}"/>
                </a:ext>
              </a:extLst>
            </p:cNvPr>
            <p:cNvSpPr/>
            <p:nvPr/>
          </p:nvSpPr>
          <p:spPr>
            <a:xfrm rot="21391486">
              <a:off x="2265023" y="5147320"/>
              <a:ext cx="553278" cy="38276"/>
            </a:xfrm>
            <a:custGeom>
              <a:avLst/>
              <a:gdLst>
                <a:gd name="connsiteX0" fmla="*/ 0 w 553278"/>
                <a:gd name="connsiteY0" fmla="*/ 19138 h 38276"/>
                <a:gd name="connsiteX1" fmla="*/ 553278 w 553278"/>
                <a:gd name="connsiteY1" fmla="*/ 19138 h 38276"/>
              </a:gdLst>
              <a:ahLst/>
              <a:cxnLst>
                <a:cxn ang="0">
                  <a:pos x="connsiteX0" y="connsiteY0"/>
                </a:cxn>
                <a:cxn ang="0">
                  <a:pos x="connsiteX1" y="connsiteY1"/>
                </a:cxn>
              </a:cxnLst>
              <a:rect l="l" t="t" r="r" b="b"/>
              <a:pathLst>
                <a:path w="553278" h="38276">
                  <a:moveTo>
                    <a:pt x="0" y="19138"/>
                  </a:moveTo>
                  <a:lnTo>
                    <a:pt x="553278" y="19138"/>
                  </a:lnTo>
                </a:path>
              </a:pathLst>
            </a:custGeom>
            <a:noFill/>
            <a:ln w="28575">
              <a:solidFill>
                <a:srgbClr val="C0000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75507" tIns="5305" rIns="275507" bIns="5307" numCol="1" spcCol="1270" anchor="ctr" anchorCtr="0">
              <a:noAutofit/>
            </a:bodyPr>
            <a:lstStyle/>
            <a:p>
              <a:pPr marL="0" lvl="0" indent="0" algn="ctr" defTabSz="222250">
                <a:lnSpc>
                  <a:spcPct val="90000"/>
                </a:lnSpc>
                <a:spcBef>
                  <a:spcPct val="0"/>
                </a:spcBef>
                <a:spcAft>
                  <a:spcPct val="35000"/>
                </a:spcAft>
                <a:buNone/>
              </a:pPr>
              <a:endParaRPr lang="zh-CN" altLang="en-US" sz="500" kern="1200"/>
            </a:p>
          </p:txBody>
        </p:sp>
        <p:sp>
          <p:nvSpPr>
            <p:cNvPr id="19" name="任意多边形: 形状 18">
              <a:extLst>
                <a:ext uri="{FF2B5EF4-FFF2-40B4-BE49-F238E27FC236}">
                  <a16:creationId xmlns:a16="http://schemas.microsoft.com/office/drawing/2014/main" id="{2D303082-0E5C-4038-8DF2-234FE93C9DB3}"/>
                </a:ext>
              </a:extLst>
            </p:cNvPr>
            <p:cNvSpPr/>
            <p:nvPr/>
          </p:nvSpPr>
          <p:spPr>
            <a:xfrm>
              <a:off x="2817793" y="4781230"/>
              <a:ext cx="2891147" cy="736917"/>
            </a:xfrm>
            <a:custGeom>
              <a:avLst/>
              <a:gdLst>
                <a:gd name="connsiteX0" fmla="*/ 0 w 2891147"/>
                <a:gd name="connsiteY0" fmla="*/ 73692 h 736917"/>
                <a:gd name="connsiteX1" fmla="*/ 73692 w 2891147"/>
                <a:gd name="connsiteY1" fmla="*/ 0 h 736917"/>
                <a:gd name="connsiteX2" fmla="*/ 2817455 w 2891147"/>
                <a:gd name="connsiteY2" fmla="*/ 0 h 736917"/>
                <a:gd name="connsiteX3" fmla="*/ 2891147 w 2891147"/>
                <a:gd name="connsiteY3" fmla="*/ 73692 h 736917"/>
                <a:gd name="connsiteX4" fmla="*/ 2891147 w 2891147"/>
                <a:gd name="connsiteY4" fmla="*/ 663225 h 736917"/>
                <a:gd name="connsiteX5" fmla="*/ 2817455 w 2891147"/>
                <a:gd name="connsiteY5" fmla="*/ 736917 h 736917"/>
                <a:gd name="connsiteX6" fmla="*/ 73692 w 2891147"/>
                <a:gd name="connsiteY6" fmla="*/ 736917 h 736917"/>
                <a:gd name="connsiteX7" fmla="*/ 0 w 2891147"/>
                <a:gd name="connsiteY7" fmla="*/ 663225 h 736917"/>
                <a:gd name="connsiteX8" fmla="*/ 0 w 2891147"/>
                <a:gd name="connsiteY8" fmla="*/ 73692 h 73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1147" h="736917">
                  <a:moveTo>
                    <a:pt x="0" y="73692"/>
                  </a:moveTo>
                  <a:cubicBezTo>
                    <a:pt x="0" y="32993"/>
                    <a:pt x="32993" y="0"/>
                    <a:pt x="73692" y="0"/>
                  </a:cubicBezTo>
                  <a:lnTo>
                    <a:pt x="2817455" y="0"/>
                  </a:lnTo>
                  <a:cubicBezTo>
                    <a:pt x="2858154" y="0"/>
                    <a:pt x="2891147" y="32993"/>
                    <a:pt x="2891147" y="73692"/>
                  </a:cubicBezTo>
                  <a:lnTo>
                    <a:pt x="2891147" y="663225"/>
                  </a:lnTo>
                  <a:cubicBezTo>
                    <a:pt x="2891147" y="703924"/>
                    <a:pt x="2858154" y="736917"/>
                    <a:pt x="2817455" y="736917"/>
                  </a:cubicBezTo>
                  <a:lnTo>
                    <a:pt x="73692" y="736917"/>
                  </a:lnTo>
                  <a:cubicBezTo>
                    <a:pt x="32993" y="736917"/>
                    <a:pt x="0" y="703924"/>
                    <a:pt x="0" y="663225"/>
                  </a:cubicBezTo>
                  <a:lnTo>
                    <a:pt x="0" y="73692"/>
                  </a:lnTo>
                  <a:close/>
                </a:path>
              </a:pathLst>
            </a:custGeom>
            <a:noFill/>
            <a:ln w="28575">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1429" tIns="51429" rIns="51429" bIns="51429" numCol="1" spcCol="1270" anchor="ctr" anchorCtr="0">
              <a:noAutofit/>
            </a:bodyPr>
            <a:lstStyle/>
            <a:p>
              <a:pPr marL="0" lvl="0" indent="0" algn="ctr" defTabSz="2089150">
                <a:lnSpc>
                  <a:spcPct val="90000"/>
                </a:lnSpc>
                <a:spcBef>
                  <a:spcPct val="0"/>
                </a:spcBef>
                <a:spcAft>
                  <a:spcPct val="35000"/>
                </a:spcAft>
                <a:buNone/>
              </a:pPr>
              <a:endParaRPr lang="zh-CN" altLang="en-US" sz="4700" kern="1200" dirty="0"/>
            </a:p>
          </p:txBody>
        </p:sp>
        <p:sp>
          <p:nvSpPr>
            <p:cNvPr id="20" name="任意多边形: 形状 19">
              <a:extLst>
                <a:ext uri="{FF2B5EF4-FFF2-40B4-BE49-F238E27FC236}">
                  <a16:creationId xmlns:a16="http://schemas.microsoft.com/office/drawing/2014/main" id="{5A40F86D-4860-4A3C-A59D-0A272F7D7DB7}"/>
                </a:ext>
              </a:extLst>
            </p:cNvPr>
            <p:cNvSpPr/>
            <p:nvPr/>
          </p:nvSpPr>
          <p:spPr>
            <a:xfrm rot="2970144">
              <a:off x="2109424" y="5502694"/>
              <a:ext cx="890557" cy="38276"/>
            </a:xfrm>
            <a:custGeom>
              <a:avLst/>
              <a:gdLst>
                <a:gd name="connsiteX0" fmla="*/ 0 w 890557"/>
                <a:gd name="connsiteY0" fmla="*/ 19138 h 38276"/>
                <a:gd name="connsiteX1" fmla="*/ 890557 w 890557"/>
                <a:gd name="connsiteY1" fmla="*/ 19138 h 38276"/>
              </a:gdLst>
              <a:ahLst/>
              <a:cxnLst>
                <a:cxn ang="0">
                  <a:pos x="connsiteX0" y="connsiteY0"/>
                </a:cxn>
                <a:cxn ang="0">
                  <a:pos x="connsiteX1" y="connsiteY1"/>
                </a:cxn>
              </a:cxnLst>
              <a:rect l="l" t="t" r="r" b="b"/>
              <a:pathLst>
                <a:path w="890557" h="38276">
                  <a:moveTo>
                    <a:pt x="0" y="19138"/>
                  </a:moveTo>
                  <a:lnTo>
                    <a:pt x="890557" y="19138"/>
                  </a:lnTo>
                </a:path>
              </a:pathLst>
            </a:custGeom>
            <a:noFill/>
            <a:ln w="28575">
              <a:solidFill>
                <a:srgbClr val="C0000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435714" tIns="-3127" rIns="435715" bIns="-3125" numCol="1" spcCol="1270" anchor="ctr" anchorCtr="0">
              <a:noAutofit/>
            </a:bodyPr>
            <a:lstStyle/>
            <a:p>
              <a:pPr marL="0" lvl="0" indent="0" algn="ctr" defTabSz="222250">
                <a:lnSpc>
                  <a:spcPct val="90000"/>
                </a:lnSpc>
                <a:spcBef>
                  <a:spcPct val="0"/>
                </a:spcBef>
                <a:spcAft>
                  <a:spcPct val="35000"/>
                </a:spcAft>
                <a:buNone/>
              </a:pPr>
              <a:endParaRPr lang="zh-CN" altLang="en-US" sz="500" kern="1200" dirty="0"/>
            </a:p>
          </p:txBody>
        </p:sp>
        <p:sp>
          <p:nvSpPr>
            <p:cNvPr id="21" name="任意多边形: 形状 20">
              <a:extLst>
                <a:ext uri="{FF2B5EF4-FFF2-40B4-BE49-F238E27FC236}">
                  <a16:creationId xmlns:a16="http://schemas.microsoft.com/office/drawing/2014/main" id="{AA423930-106E-4E73-8DC7-F303DF9755A4}"/>
                </a:ext>
              </a:extLst>
            </p:cNvPr>
            <p:cNvSpPr/>
            <p:nvPr/>
          </p:nvSpPr>
          <p:spPr>
            <a:xfrm>
              <a:off x="2843874" y="5564998"/>
              <a:ext cx="2463801" cy="590876"/>
            </a:xfrm>
            <a:custGeom>
              <a:avLst/>
              <a:gdLst>
                <a:gd name="connsiteX0" fmla="*/ 0 w 2463801"/>
                <a:gd name="connsiteY0" fmla="*/ 59088 h 590876"/>
                <a:gd name="connsiteX1" fmla="*/ 59088 w 2463801"/>
                <a:gd name="connsiteY1" fmla="*/ 0 h 590876"/>
                <a:gd name="connsiteX2" fmla="*/ 2404713 w 2463801"/>
                <a:gd name="connsiteY2" fmla="*/ 0 h 590876"/>
                <a:gd name="connsiteX3" fmla="*/ 2463801 w 2463801"/>
                <a:gd name="connsiteY3" fmla="*/ 59088 h 590876"/>
                <a:gd name="connsiteX4" fmla="*/ 2463801 w 2463801"/>
                <a:gd name="connsiteY4" fmla="*/ 531788 h 590876"/>
                <a:gd name="connsiteX5" fmla="*/ 2404713 w 2463801"/>
                <a:gd name="connsiteY5" fmla="*/ 590876 h 590876"/>
                <a:gd name="connsiteX6" fmla="*/ 59088 w 2463801"/>
                <a:gd name="connsiteY6" fmla="*/ 590876 h 590876"/>
                <a:gd name="connsiteX7" fmla="*/ 0 w 2463801"/>
                <a:gd name="connsiteY7" fmla="*/ 531788 h 590876"/>
                <a:gd name="connsiteX8" fmla="*/ 0 w 2463801"/>
                <a:gd name="connsiteY8" fmla="*/ 59088 h 59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3801" h="590876">
                  <a:moveTo>
                    <a:pt x="0" y="59088"/>
                  </a:moveTo>
                  <a:cubicBezTo>
                    <a:pt x="0" y="26455"/>
                    <a:pt x="26455" y="0"/>
                    <a:pt x="59088" y="0"/>
                  </a:cubicBezTo>
                  <a:lnTo>
                    <a:pt x="2404713" y="0"/>
                  </a:lnTo>
                  <a:cubicBezTo>
                    <a:pt x="2437346" y="0"/>
                    <a:pt x="2463801" y="26455"/>
                    <a:pt x="2463801" y="59088"/>
                  </a:cubicBezTo>
                  <a:lnTo>
                    <a:pt x="2463801" y="531788"/>
                  </a:lnTo>
                  <a:cubicBezTo>
                    <a:pt x="2463801" y="564421"/>
                    <a:pt x="2437346" y="590876"/>
                    <a:pt x="2404713" y="590876"/>
                  </a:cubicBezTo>
                  <a:lnTo>
                    <a:pt x="59088" y="590876"/>
                  </a:lnTo>
                  <a:cubicBezTo>
                    <a:pt x="26455" y="590876"/>
                    <a:pt x="0" y="564421"/>
                    <a:pt x="0" y="531788"/>
                  </a:cubicBezTo>
                  <a:lnTo>
                    <a:pt x="0" y="59088"/>
                  </a:lnTo>
                  <a:close/>
                </a:path>
              </a:pathLst>
            </a:custGeom>
            <a:noFill/>
            <a:ln w="28575">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1436" tIns="41436" rIns="41436" bIns="41436" numCol="1" spcCol="1270" anchor="ctr" anchorCtr="0">
              <a:noAutofit/>
            </a:bodyPr>
            <a:lstStyle/>
            <a:p>
              <a:pPr marL="0" lvl="0" indent="0" algn="ctr" defTabSz="1689100">
                <a:lnSpc>
                  <a:spcPct val="90000"/>
                </a:lnSpc>
                <a:spcBef>
                  <a:spcPct val="0"/>
                </a:spcBef>
                <a:spcAft>
                  <a:spcPct val="35000"/>
                </a:spcAft>
                <a:buNone/>
              </a:pPr>
              <a:endParaRPr lang="zh-CN" altLang="en-US" sz="3800" kern="1200" dirty="0"/>
            </a:p>
          </p:txBody>
        </p:sp>
        <mc:AlternateContent xmlns:mc="http://schemas.openxmlformats.org/markup-compatibility/2006" xmlns:a14="http://schemas.microsoft.com/office/drawing/2010/main">
          <mc:Choice Requires="a14">
            <p:sp>
              <p:nvSpPr>
                <p:cNvPr id="11" name="文本框 10"/>
                <p:cNvSpPr txBox="1"/>
                <p:nvPr/>
              </p:nvSpPr>
              <p:spPr>
                <a:xfrm>
                  <a:off x="2429230" y="4289762"/>
                  <a:ext cx="3600422" cy="338554"/>
                </a:xfrm>
                <a:prstGeom prst="rect">
                  <a:avLst/>
                </a:prstGeom>
                <a:noFill/>
              </p:spPr>
              <p:txBody>
                <a:bodyPr wrap="square" rtlCol="0">
                  <a:spAutoFit/>
                </a:bodyPr>
                <a:lstStyle/>
                <a:p>
                  <a:pPr marL="400050" lvl="2" eaLnBrk="1" hangingPunct="1"/>
                  <a:r>
                    <a:rPr lang="zh-CN" altLang="en-US" b="0" dirty="0">
                      <a:solidFill>
                        <a:schemeClr val="tx1"/>
                      </a:solidFill>
                      <a:latin typeface="微软雅黑" panose="020B0503020204020204" pitchFamily="34" charset="-122"/>
                      <a:ea typeface="微软雅黑" panose="020B0503020204020204" pitchFamily="34" charset="-122"/>
                    </a:rPr>
                    <a:t>竞争</a:t>
                  </a:r>
                  <a:r>
                    <a:rPr lang="en-US" altLang="zh-CN"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MR = P   </a:t>
                  </a:r>
                  <a14:m>
                    <m:oMath xmlns:m="http://schemas.openxmlformats.org/officeDocument/2006/math">
                      <m:r>
                        <a:rPr lang="en-US" altLang="zh-CN" b="0">
                          <a:solidFill>
                            <a:schemeClr val="tx1"/>
                          </a:solidFill>
                          <a:latin typeface="Cambria Math" panose="02040503050406030204" pitchFamily="18" charset="0"/>
                          <a:ea typeface="微软雅黑" panose="020B0503020204020204" pitchFamily="34" charset="-122"/>
                        </a:rPr>
                        <m:t>𝑀𝑅𝑃</m:t>
                      </m:r>
                      <m:r>
                        <a:rPr lang="en-US" altLang="zh-CN" b="0">
                          <a:solidFill>
                            <a:schemeClr val="tx1"/>
                          </a:solidFill>
                          <a:latin typeface="Cambria Math" panose="02040503050406030204" pitchFamily="18" charset="0"/>
                          <a:ea typeface="微软雅黑" panose="020B0503020204020204" pitchFamily="34" charset="-122"/>
                        </a:rPr>
                        <m:t>=</m:t>
                      </m:r>
                      <m:r>
                        <a:rPr lang="en-US" altLang="zh-CN" b="0">
                          <a:solidFill>
                            <a:schemeClr val="tx1"/>
                          </a:solidFill>
                          <a:latin typeface="Cambria Math" panose="02040503050406030204" pitchFamily="18" charset="0"/>
                          <a:ea typeface="微软雅黑" panose="020B0503020204020204" pitchFamily="34" charset="-122"/>
                        </a:rPr>
                        <m:t>𝑃</m:t>
                      </m:r>
                      <m:r>
                        <a:rPr lang="en-US" altLang="zh-CN" b="0">
                          <a:solidFill>
                            <a:schemeClr val="tx1"/>
                          </a:solidFill>
                          <a:latin typeface="Cambria Math" panose="02040503050406030204" pitchFamily="18" charset="0"/>
                          <a:ea typeface="微软雅黑" panose="020B0503020204020204" pitchFamily="34" charset="-122"/>
                        </a:rPr>
                        <m:t>∙</m:t>
                      </m:r>
                      <m:r>
                        <a:rPr lang="en-US" altLang="zh-CN" b="0">
                          <a:solidFill>
                            <a:schemeClr val="tx1"/>
                          </a:solidFill>
                          <a:latin typeface="Cambria Math" panose="02040503050406030204" pitchFamily="18" charset="0"/>
                          <a:ea typeface="微软雅黑" panose="020B0503020204020204" pitchFamily="34" charset="-122"/>
                        </a:rPr>
                        <m:t>𝑀</m:t>
                      </m:r>
                      <m:r>
                        <m:rPr>
                          <m:sty m:val="p"/>
                        </m:rPr>
                        <a:rPr lang="en-US" altLang="zh-CN" b="0">
                          <a:solidFill>
                            <a:schemeClr val="tx1"/>
                          </a:solidFill>
                          <a:latin typeface="Cambria Math" panose="02040503050406030204" pitchFamily="18" charset="0"/>
                          <a:ea typeface="微软雅黑" panose="020B0503020204020204" pitchFamily="34" charset="-122"/>
                        </a:rPr>
                        <m:t>P</m:t>
                      </m:r>
                    </m:oMath>
                  </a14:m>
                  <a:endParaRPr lang="en-US" altLang="zh-CN"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2429230" y="4289762"/>
                  <a:ext cx="3600422" cy="338554"/>
                </a:xfrm>
                <a:prstGeom prst="rect">
                  <a:avLst/>
                </a:prstGeom>
                <a:blipFill>
                  <a:blip r:embed="rId14"/>
                  <a:stretch>
                    <a:fillRect t="-5357" b="-21429"/>
                  </a:stretch>
                </a:blipFill>
              </p:spPr>
              <p:txBody>
                <a:bodyPr/>
                <a:lstStyle/>
                <a:p>
                  <a:r>
                    <a:rPr lang="zh-CN" altLang="en-US">
                      <a:noFill/>
                    </a:rPr>
                    <a:t> </a:t>
                  </a:r>
                </a:p>
              </p:txBody>
            </p:sp>
          </mc:Fallback>
        </mc:AlternateContent>
        <p:sp>
          <p:nvSpPr>
            <p:cNvPr id="15" name="矩形 14"/>
            <p:cNvSpPr/>
            <p:nvPr/>
          </p:nvSpPr>
          <p:spPr>
            <a:xfrm>
              <a:off x="2555688" y="5551824"/>
              <a:ext cx="3168392" cy="461665"/>
            </a:xfrm>
            <a:prstGeom prst="rect">
              <a:avLst/>
            </a:prstGeom>
          </p:spPr>
          <p:txBody>
            <a:bodyPr wrap="square">
              <a:spAutoFit/>
            </a:bodyPr>
            <a:lstStyle/>
            <a:p>
              <a:pPr marL="400050" lvl="2" eaLnBrk="1" hangingPunct="1"/>
              <a:r>
                <a:rPr lang="zh-CN" altLang="en-US" b="0" dirty="0">
                  <a:latin typeface="微软雅黑" panose="020B0503020204020204" pitchFamily="34" charset="-122"/>
                  <a:ea typeface="微软雅黑" panose="020B0503020204020204" pitchFamily="34" charset="-122"/>
                </a:rPr>
                <a:t>因此</a:t>
              </a:r>
              <a:r>
                <a:rPr lang="zh-CN" altLang="en-US" dirty="0">
                  <a:latin typeface="微软雅黑" panose="020B0503020204020204" pitchFamily="34" charset="-122"/>
                  <a:ea typeface="微软雅黑" panose="020B0503020204020204" pitchFamily="34" charset="-122"/>
                </a:rPr>
                <a:t>，</a:t>
              </a:r>
              <a:r>
                <a:rPr lang="en-US" altLang="zh-CN" sz="2400" b="0" dirty="0"/>
                <a:t> </a:t>
              </a:r>
              <a:r>
                <a:rPr lang="en-US" altLang="zh-CN" b="0" dirty="0">
                  <a:latin typeface="微软雅黑" panose="020B0503020204020204" pitchFamily="34" charset="-122"/>
                  <a:ea typeface="微软雅黑" panose="020B0503020204020204" pitchFamily="34" charset="-122"/>
                </a:rPr>
                <a:t>MRP = VMP</a:t>
              </a:r>
            </a:p>
          </p:txBody>
        </p:sp>
      </p:grpSp>
      <p:sp>
        <p:nvSpPr>
          <p:cNvPr id="35" name="标题 1">
            <a:extLst>
              <a:ext uri="{FF2B5EF4-FFF2-40B4-BE49-F238E27FC236}">
                <a16:creationId xmlns:a16="http://schemas.microsoft.com/office/drawing/2014/main" id="{66A1FDAF-7BCD-4F4E-9E91-DFBBA0E5214B}"/>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A1EB1855-540B-4F85-AF2F-70FB53ABFA4D}"/>
                  </a:ext>
                </a:extLst>
              </p:cNvPr>
              <p:cNvSpPr txBox="1"/>
              <p:nvPr/>
            </p:nvSpPr>
            <p:spPr>
              <a:xfrm>
                <a:off x="2497843" y="4791969"/>
                <a:ext cx="3463196" cy="584775"/>
              </a:xfrm>
              <a:prstGeom prst="rect">
                <a:avLst/>
              </a:prstGeom>
              <a:noFill/>
            </p:spPr>
            <p:txBody>
              <a:bodyPr wrap="square" rtlCol="0">
                <a:spAutoFit/>
              </a:bodyPr>
              <a:lstStyle/>
              <a:p>
                <a:pPr marL="400050" lvl="2" eaLnBrk="1" hangingPunct="1"/>
                <a14:m>
                  <m:oMath xmlns:m="http://schemas.openxmlformats.org/officeDocument/2006/math">
                    <m:r>
                      <a:rPr lang="en-US" altLang="zh-CN" b="0" smtClean="0">
                        <a:solidFill>
                          <a:schemeClr val="tx1"/>
                        </a:solidFill>
                        <a:latin typeface="Cambria Math" panose="02040503050406030204" pitchFamily="18" charset="0"/>
                        <a:ea typeface="微软雅黑" panose="020B0503020204020204" pitchFamily="34" charset="-122"/>
                      </a:rPr>
                      <m:t>𝑃</m:t>
                    </m:r>
                    <m:r>
                      <a:rPr lang="en-US" altLang="zh-CN" b="0" smtClean="0">
                        <a:solidFill>
                          <a:schemeClr val="tx1"/>
                        </a:solidFill>
                        <a:latin typeface="Cambria Math" panose="02040503050406030204" pitchFamily="18" charset="0"/>
                        <a:ea typeface="微软雅黑" panose="020B0503020204020204" pitchFamily="34" charset="-122"/>
                      </a:rPr>
                      <m:t>∙</m:t>
                    </m:r>
                    <m:r>
                      <a:rPr lang="en-US" altLang="zh-CN" b="0" smtClean="0">
                        <a:solidFill>
                          <a:schemeClr val="tx1"/>
                        </a:solidFill>
                        <a:latin typeface="Cambria Math" panose="02040503050406030204" pitchFamily="18" charset="0"/>
                        <a:ea typeface="微软雅黑" panose="020B0503020204020204" pitchFamily="34" charset="-122"/>
                      </a:rPr>
                      <m:t>𝑀</m:t>
                    </m:r>
                    <m:r>
                      <m:rPr>
                        <m:sty m:val="p"/>
                      </m:rPr>
                      <a:rPr lang="en-US" altLang="zh-CN" b="0" smtClean="0">
                        <a:solidFill>
                          <a:schemeClr val="tx1"/>
                        </a:solidFill>
                        <a:latin typeface="Cambria Math" panose="02040503050406030204" pitchFamily="18" charset="0"/>
                        <a:ea typeface="微软雅黑" panose="020B0503020204020204" pitchFamily="34" charset="-122"/>
                      </a:rPr>
                      <m:t>P</m:t>
                    </m:r>
                    <m:r>
                      <a:rPr lang="zh-CN" altLang="en-US" b="0">
                        <a:solidFill>
                          <a:schemeClr val="tx1"/>
                        </a:solidFill>
                        <a:latin typeface="Cambria Math" panose="02040503050406030204" pitchFamily="18" charset="0"/>
                        <a:ea typeface="微软雅黑" panose="020B0503020204020204" pitchFamily="34" charset="-122"/>
                      </a:rPr>
                      <m:t>被</m:t>
                    </m:r>
                  </m:oMath>
                </a14:m>
                <a:r>
                  <a:rPr lang="zh-CN" altLang="en-US" b="0" dirty="0">
                    <a:solidFill>
                      <a:schemeClr val="tx1"/>
                    </a:solidFill>
                    <a:latin typeface="微软雅黑" panose="020B0503020204020204" pitchFamily="34" charset="-122"/>
                    <a:ea typeface="微软雅黑" panose="020B0503020204020204" pitchFamily="34" charset="-122"/>
                  </a:rPr>
                  <a:t>叫做</a:t>
                </a:r>
                <a:r>
                  <a:rPr lang="en-US" altLang="zh-CN" b="0" dirty="0">
                    <a:solidFill>
                      <a:schemeClr val="tx1"/>
                    </a:solidFill>
                    <a:latin typeface="微软雅黑" panose="020B0503020204020204" pitchFamily="34" charset="-122"/>
                    <a:ea typeface="微软雅黑" panose="020B0503020204020204" pitchFamily="34" charset="-122"/>
                  </a:rPr>
                  <a:t>VMP</a:t>
                </a:r>
                <a:r>
                  <a:rPr lang="zh-CN" altLang="en-US" b="0" dirty="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a:p>
                <a:pPr marL="400050" lvl="2" eaLnBrk="1" hangingPunct="1"/>
                <a:r>
                  <a:rPr lang="zh-CN" altLang="en-US" b="0" dirty="0">
                    <a:solidFill>
                      <a:schemeClr val="tx1"/>
                    </a:solidFill>
                    <a:latin typeface="微软雅黑" panose="020B0503020204020204" pitchFamily="34" charset="-122"/>
                    <a:ea typeface="微软雅黑" panose="020B0503020204020204" pitchFamily="34" charset="-122"/>
                  </a:rPr>
                  <a:t>即按照定义，</a:t>
                </a:r>
                <a14:m>
                  <m:oMath xmlns:m="http://schemas.openxmlformats.org/officeDocument/2006/math">
                    <m:r>
                      <a:rPr lang="en-US" altLang="zh-CN" b="0">
                        <a:solidFill>
                          <a:schemeClr val="tx1"/>
                        </a:solidFill>
                        <a:latin typeface="Cambria Math" panose="02040503050406030204" pitchFamily="18" charset="0"/>
                        <a:ea typeface="微软雅黑" panose="020B0503020204020204" pitchFamily="34" charset="-122"/>
                      </a:rPr>
                      <m:t>𝑉𝑀𝑃</m:t>
                    </m:r>
                    <m:r>
                      <a:rPr lang="en-US" altLang="zh-CN" b="0">
                        <a:solidFill>
                          <a:schemeClr val="tx1"/>
                        </a:solidFill>
                        <a:latin typeface="Cambria Math" panose="02040503050406030204" pitchFamily="18" charset="0"/>
                        <a:ea typeface="微软雅黑" panose="020B0503020204020204" pitchFamily="34" charset="-122"/>
                      </a:rPr>
                      <m:t>=</m:t>
                    </m:r>
                    <m:r>
                      <a:rPr lang="en-US" altLang="zh-CN" b="0">
                        <a:solidFill>
                          <a:schemeClr val="tx1"/>
                        </a:solidFill>
                        <a:latin typeface="Cambria Math" panose="02040503050406030204" pitchFamily="18" charset="0"/>
                        <a:ea typeface="微软雅黑" panose="020B0503020204020204" pitchFamily="34" charset="-122"/>
                      </a:rPr>
                      <m:t>𝑃</m:t>
                    </m:r>
                    <m:r>
                      <a:rPr lang="en-US" altLang="zh-CN" b="0">
                        <a:solidFill>
                          <a:schemeClr val="tx1"/>
                        </a:solidFill>
                        <a:latin typeface="Cambria Math" panose="02040503050406030204" pitchFamily="18" charset="0"/>
                        <a:ea typeface="微软雅黑" panose="020B0503020204020204" pitchFamily="34" charset="-122"/>
                      </a:rPr>
                      <m:t>∙</m:t>
                    </m:r>
                    <m:r>
                      <a:rPr lang="en-US" altLang="zh-CN" b="0">
                        <a:solidFill>
                          <a:schemeClr val="tx1"/>
                        </a:solidFill>
                        <a:latin typeface="Cambria Math" panose="02040503050406030204" pitchFamily="18" charset="0"/>
                        <a:ea typeface="微软雅黑" panose="020B0503020204020204" pitchFamily="34" charset="-122"/>
                      </a:rPr>
                      <m:t>𝑀𝑃</m:t>
                    </m:r>
                  </m:oMath>
                </a14:m>
                <a:endParaRPr lang="en-US" altLang="zh-CN"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3" name="文本框 32">
                <a:extLst>
                  <a:ext uri="{FF2B5EF4-FFF2-40B4-BE49-F238E27FC236}">
                    <a16:creationId xmlns:a16="http://schemas.microsoft.com/office/drawing/2014/main" id="{A1EB1855-540B-4F85-AF2F-70FB53ABFA4D}"/>
                  </a:ext>
                </a:extLst>
              </p:cNvPr>
              <p:cNvSpPr txBox="1">
                <a:spLocks noRot="1" noChangeAspect="1" noMove="1" noResize="1" noEditPoints="1" noAdjustHandles="1" noChangeArrowheads="1" noChangeShapeType="1" noTextEdit="1"/>
              </p:cNvSpPr>
              <p:nvPr/>
            </p:nvSpPr>
            <p:spPr>
              <a:xfrm>
                <a:off x="2497843" y="4791969"/>
                <a:ext cx="3463196" cy="584775"/>
              </a:xfrm>
              <a:prstGeom prst="rect">
                <a:avLst/>
              </a:prstGeom>
              <a:blipFill>
                <a:blip r:embed="rId15"/>
                <a:stretch>
                  <a:fillRect t="-3125" b="-1250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fade">
                                      <p:cBhvr>
                                        <p:cTn id="7" dur="500"/>
                                        <p:tgtEl>
                                          <p:spTgt spid="7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left)">
                                      <p:cBhvr>
                                        <p:cTn id="20" dur="500"/>
                                        <p:tgtEl>
                                          <p:spTgt spid="3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26" presetClass="emph" presetSubtype="0" repeatCount="3000" fill="hold" grpId="1" nodeType="withEffect">
                                  <p:stCondLst>
                                    <p:cond delay="0"/>
                                  </p:stCondLst>
                                  <p:childTnLst>
                                    <p:animEffect transition="out" filter="fade">
                                      <p:cBhvr>
                                        <p:cTn id="27" dur="750" tmFilter="0, 0; .2, .5; .8, .5; 1, 0"/>
                                        <p:tgtEl>
                                          <p:spTgt spid="23"/>
                                        </p:tgtEl>
                                      </p:cBhvr>
                                    </p:animEffect>
                                    <p:animScale>
                                      <p:cBhvr>
                                        <p:cTn id="28" dur="375" autoRev="1" fill="hold"/>
                                        <p:tgtEl>
                                          <p:spTgt spid="23"/>
                                        </p:tgtEl>
                                      </p:cBhvr>
                                      <p:by x="105000" y="105000"/>
                                    </p:animScale>
                                  </p:childTnLst>
                                </p:cTn>
                              </p:par>
                            </p:childTnLst>
                          </p:cTn>
                        </p:par>
                        <p:par>
                          <p:cTn id="29" fill="hold">
                            <p:stCondLst>
                              <p:cond delay="2250"/>
                            </p:stCondLst>
                            <p:childTnLst>
                              <p:par>
                                <p:cTn id="30" presetID="1" presetClass="exit" presetSubtype="0" fill="hold" grpId="2" nodeType="afterEffect">
                                  <p:stCondLst>
                                    <p:cond delay="1000"/>
                                  </p:stCondLst>
                                  <p:childTnLst>
                                    <p:set>
                                      <p:cBhvr>
                                        <p:cTn id="31" dur="1" fill="hold">
                                          <p:stCondLst>
                                            <p:cond delay="0"/>
                                          </p:stCondLst>
                                        </p:cTn>
                                        <p:tgtEl>
                                          <p:spTgt spid="2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26" presetClass="emph" presetSubtype="0" repeatCount="3000" fill="hold" grpId="1" nodeType="withEffect">
                                  <p:stCondLst>
                                    <p:cond delay="0"/>
                                  </p:stCondLst>
                                  <p:childTnLst>
                                    <p:animEffect transition="out" filter="fade">
                                      <p:cBhvr>
                                        <p:cTn id="38" dur="750" tmFilter="0, 0; .2, .5; .8, .5; 1, 0"/>
                                        <p:tgtEl>
                                          <p:spTgt spid="24"/>
                                        </p:tgtEl>
                                      </p:cBhvr>
                                    </p:animEffect>
                                    <p:animScale>
                                      <p:cBhvr>
                                        <p:cTn id="39" dur="375" autoRev="1" fill="hold"/>
                                        <p:tgtEl>
                                          <p:spTgt spid="24"/>
                                        </p:tgtEl>
                                      </p:cBhvr>
                                      <p:by x="105000" y="105000"/>
                                    </p:animScale>
                                  </p:childTnLst>
                                </p:cTn>
                              </p:par>
                            </p:childTnLst>
                          </p:cTn>
                        </p:par>
                        <p:par>
                          <p:cTn id="40" fill="hold">
                            <p:stCondLst>
                              <p:cond delay="2250"/>
                            </p:stCondLst>
                            <p:childTnLst>
                              <p:par>
                                <p:cTn id="41" presetID="1" presetClass="exit" presetSubtype="0" fill="hold" grpId="2" nodeType="afterEffect">
                                  <p:stCondLst>
                                    <p:cond delay="1000"/>
                                  </p:stCondLst>
                                  <p:childTnLst>
                                    <p:set>
                                      <p:cBhvr>
                                        <p:cTn id="42" dur="1" fill="hold">
                                          <p:stCondLst>
                                            <p:cond delay="0"/>
                                          </p:stCondLst>
                                        </p:cTn>
                                        <p:tgtEl>
                                          <p:spTgt spid="2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26" presetClass="emph" presetSubtype="0" repeatCount="3000" fill="hold" grpId="1" nodeType="withEffect">
                                  <p:stCondLst>
                                    <p:cond delay="0"/>
                                  </p:stCondLst>
                                  <p:childTnLst>
                                    <p:animEffect transition="out" filter="fade">
                                      <p:cBhvr>
                                        <p:cTn id="49" dur="750" tmFilter="0, 0; .2, .5; .8, .5; 1, 0"/>
                                        <p:tgtEl>
                                          <p:spTgt spid="25"/>
                                        </p:tgtEl>
                                      </p:cBhvr>
                                    </p:animEffect>
                                    <p:animScale>
                                      <p:cBhvr>
                                        <p:cTn id="50" dur="375" autoRev="1" fill="hold"/>
                                        <p:tgtEl>
                                          <p:spTgt spid="25"/>
                                        </p:tgtEl>
                                      </p:cBhvr>
                                      <p:by x="105000" y="105000"/>
                                    </p:animScale>
                                  </p:childTnLst>
                                </p:cTn>
                              </p:par>
                            </p:childTnLst>
                          </p:cTn>
                        </p:par>
                        <p:par>
                          <p:cTn id="51" fill="hold">
                            <p:stCondLst>
                              <p:cond delay="2250"/>
                            </p:stCondLst>
                            <p:childTnLst>
                              <p:par>
                                <p:cTn id="52" presetID="1" presetClass="exit" presetSubtype="0" fill="hold" grpId="2" nodeType="afterEffect">
                                  <p:stCondLst>
                                    <p:cond delay="1000"/>
                                  </p:stCondLst>
                                  <p:childTnLst>
                                    <p:set>
                                      <p:cBhvr>
                                        <p:cTn id="53" dur="1" fill="hold">
                                          <p:stCondLst>
                                            <p:cond delay="0"/>
                                          </p:stCondLst>
                                        </p:cTn>
                                        <p:tgtEl>
                                          <p:spTgt spid="2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26" presetClass="emph" presetSubtype="0" repeatCount="3000" fill="hold" grpId="1" nodeType="withEffect">
                                  <p:stCondLst>
                                    <p:cond delay="0"/>
                                  </p:stCondLst>
                                  <p:childTnLst>
                                    <p:animEffect transition="out" filter="fade">
                                      <p:cBhvr>
                                        <p:cTn id="60" dur="750" tmFilter="0, 0; .2, .5; .8, .5; 1, 0"/>
                                        <p:tgtEl>
                                          <p:spTgt spid="26"/>
                                        </p:tgtEl>
                                      </p:cBhvr>
                                    </p:animEffect>
                                    <p:animScale>
                                      <p:cBhvr>
                                        <p:cTn id="61" dur="375" autoRev="1" fill="hold"/>
                                        <p:tgtEl>
                                          <p:spTgt spid="26"/>
                                        </p:tgtEl>
                                      </p:cBhvr>
                                      <p:by x="105000" y="105000"/>
                                    </p:animScale>
                                  </p:childTnLst>
                                </p:cTn>
                              </p:par>
                            </p:childTnLst>
                          </p:cTn>
                        </p:par>
                        <p:par>
                          <p:cTn id="62" fill="hold">
                            <p:stCondLst>
                              <p:cond delay="2250"/>
                            </p:stCondLst>
                            <p:childTnLst>
                              <p:par>
                                <p:cTn id="63" presetID="1" presetClass="exit" presetSubtype="0" fill="hold" grpId="2" nodeType="afterEffect">
                                  <p:stCondLst>
                                    <p:cond delay="1000"/>
                                  </p:stCondLst>
                                  <p:childTnLst>
                                    <p:set>
                                      <p:cBhvr>
                                        <p:cTn id="64" dur="1" fill="hold">
                                          <p:stCondLst>
                                            <p:cond delay="0"/>
                                          </p:stCondLst>
                                        </p:cTn>
                                        <p:tgtEl>
                                          <p:spTgt spid="26"/>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par>
                                <p:cTn id="70" presetID="26" presetClass="emph" presetSubtype="0" repeatCount="3000" fill="hold" grpId="1" nodeType="withEffect">
                                  <p:stCondLst>
                                    <p:cond delay="0"/>
                                  </p:stCondLst>
                                  <p:childTnLst>
                                    <p:animEffect transition="out" filter="fade">
                                      <p:cBhvr>
                                        <p:cTn id="71" dur="750" tmFilter="0, 0; .2, .5; .8, .5; 1, 0"/>
                                        <p:tgtEl>
                                          <p:spTgt spid="27"/>
                                        </p:tgtEl>
                                      </p:cBhvr>
                                    </p:animEffect>
                                    <p:animScale>
                                      <p:cBhvr>
                                        <p:cTn id="72" dur="375" autoRev="1" fill="hold"/>
                                        <p:tgtEl>
                                          <p:spTgt spid="27"/>
                                        </p:tgtEl>
                                      </p:cBhvr>
                                      <p:by x="105000" y="105000"/>
                                    </p:animScale>
                                  </p:childTnLst>
                                </p:cTn>
                              </p:par>
                            </p:childTnLst>
                          </p:cTn>
                        </p:par>
                        <p:par>
                          <p:cTn id="73" fill="hold">
                            <p:stCondLst>
                              <p:cond delay="2250"/>
                            </p:stCondLst>
                            <p:childTnLst>
                              <p:par>
                                <p:cTn id="74" presetID="1" presetClass="exit" presetSubtype="0" fill="hold" grpId="2" nodeType="afterEffect">
                                  <p:stCondLst>
                                    <p:cond delay="1000"/>
                                  </p:stCondLst>
                                  <p:childTnLst>
                                    <p:set>
                                      <p:cBhvr>
                                        <p:cTn id="75" dur="1" fill="hold">
                                          <p:stCondLst>
                                            <p:cond delay="0"/>
                                          </p:stCondLst>
                                        </p:cTn>
                                        <p:tgtEl>
                                          <p:spTgt spid="27"/>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26" presetClass="emph" presetSubtype="0" repeatCount="3000" fill="hold" grpId="1" nodeType="withEffect">
                                  <p:stCondLst>
                                    <p:cond delay="0"/>
                                  </p:stCondLst>
                                  <p:childTnLst>
                                    <p:animEffect transition="out" filter="fade">
                                      <p:cBhvr>
                                        <p:cTn id="82" dur="750" tmFilter="0, 0; .2, .5; .8, .5; 1, 0"/>
                                        <p:tgtEl>
                                          <p:spTgt spid="28"/>
                                        </p:tgtEl>
                                      </p:cBhvr>
                                    </p:animEffect>
                                    <p:animScale>
                                      <p:cBhvr>
                                        <p:cTn id="83" dur="375" autoRev="1" fill="hold"/>
                                        <p:tgtEl>
                                          <p:spTgt spid="28"/>
                                        </p:tgtEl>
                                      </p:cBhvr>
                                      <p:by x="105000" y="105000"/>
                                    </p:animScale>
                                  </p:childTnLst>
                                </p:cTn>
                              </p:par>
                            </p:childTnLst>
                          </p:cTn>
                        </p:par>
                        <p:par>
                          <p:cTn id="84" fill="hold">
                            <p:stCondLst>
                              <p:cond delay="2250"/>
                            </p:stCondLst>
                            <p:childTnLst>
                              <p:par>
                                <p:cTn id="85" presetID="1" presetClass="exit" presetSubtype="0" fill="hold" grpId="2" nodeType="afterEffect">
                                  <p:stCondLst>
                                    <p:cond delay="1000"/>
                                  </p:stCondLst>
                                  <p:childTnLst>
                                    <p:set>
                                      <p:cBhvr>
                                        <p:cTn id="86" dur="1" fill="hold">
                                          <p:stCondLst>
                                            <p:cond delay="0"/>
                                          </p:stCondLst>
                                        </p:cTn>
                                        <p:tgtEl>
                                          <p:spTgt spid="2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par>
                                <p:cTn id="92" presetID="26" presetClass="emph" presetSubtype="0" repeatCount="3000" fill="hold" grpId="1" nodeType="withEffect">
                                  <p:stCondLst>
                                    <p:cond delay="0"/>
                                  </p:stCondLst>
                                  <p:childTnLst>
                                    <p:animEffect transition="out" filter="fade">
                                      <p:cBhvr>
                                        <p:cTn id="93" dur="750" tmFilter="0, 0; .2, .5; .8, .5; 1, 0"/>
                                        <p:tgtEl>
                                          <p:spTgt spid="29"/>
                                        </p:tgtEl>
                                      </p:cBhvr>
                                    </p:animEffect>
                                    <p:animScale>
                                      <p:cBhvr>
                                        <p:cTn id="94" dur="375" autoRev="1" fill="hold"/>
                                        <p:tgtEl>
                                          <p:spTgt spid="29"/>
                                        </p:tgtEl>
                                      </p:cBhvr>
                                      <p:by x="105000" y="105000"/>
                                    </p:animScale>
                                  </p:childTnLst>
                                </p:cTn>
                              </p:par>
                            </p:childTnLst>
                          </p:cTn>
                        </p:par>
                        <p:par>
                          <p:cTn id="95" fill="hold">
                            <p:stCondLst>
                              <p:cond delay="2250"/>
                            </p:stCondLst>
                            <p:childTnLst>
                              <p:par>
                                <p:cTn id="96" presetID="1" presetClass="exit" presetSubtype="0" fill="hold" grpId="2" nodeType="afterEffect">
                                  <p:stCondLst>
                                    <p:cond delay="1000"/>
                                  </p:stCondLst>
                                  <p:childTnLst>
                                    <p:set>
                                      <p:cBhvr>
                                        <p:cTn id="97" dur="1" fill="hold">
                                          <p:stCondLst>
                                            <p:cond delay="0"/>
                                          </p:stCondLst>
                                        </p:cTn>
                                        <p:tgtEl>
                                          <p:spTgt spid="29"/>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par>
                                <p:cTn id="103" presetID="26" presetClass="emph" presetSubtype="0" repeatCount="3000" fill="hold" grpId="1" nodeType="withEffect">
                                  <p:stCondLst>
                                    <p:cond delay="0"/>
                                  </p:stCondLst>
                                  <p:childTnLst>
                                    <p:animEffect transition="out" filter="fade">
                                      <p:cBhvr>
                                        <p:cTn id="104" dur="750" tmFilter="0, 0; .2, .5; .8, .5; 1, 0"/>
                                        <p:tgtEl>
                                          <p:spTgt spid="30"/>
                                        </p:tgtEl>
                                      </p:cBhvr>
                                    </p:animEffect>
                                    <p:animScale>
                                      <p:cBhvr>
                                        <p:cTn id="105" dur="375" autoRev="1" fill="hold"/>
                                        <p:tgtEl>
                                          <p:spTgt spid="30"/>
                                        </p:tgtEl>
                                      </p:cBhvr>
                                      <p:by x="105000" y="105000"/>
                                    </p:animScale>
                                  </p:childTnLst>
                                </p:cTn>
                              </p:par>
                            </p:childTnLst>
                          </p:cTn>
                        </p:par>
                        <p:par>
                          <p:cTn id="106" fill="hold">
                            <p:stCondLst>
                              <p:cond delay="2250"/>
                            </p:stCondLst>
                            <p:childTnLst>
                              <p:par>
                                <p:cTn id="107" presetID="1" presetClass="exit" presetSubtype="0" fill="hold" grpId="2" nodeType="afterEffect">
                                  <p:stCondLst>
                                    <p:cond delay="1000"/>
                                  </p:stCondLst>
                                  <p:childTnLst>
                                    <p:set>
                                      <p:cBhvr>
                                        <p:cTn id="108" dur="1" fill="hold">
                                          <p:stCondLst>
                                            <p:cond delay="0"/>
                                          </p:stCondLst>
                                        </p:cTn>
                                        <p:tgtEl>
                                          <p:spTgt spid="30"/>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31"/>
                                        </p:tgtEl>
                                        <p:attrNameLst>
                                          <p:attrName>style.visibility</p:attrName>
                                        </p:attrNameLst>
                                      </p:cBhvr>
                                      <p:to>
                                        <p:strVal val="visible"/>
                                      </p:to>
                                    </p:set>
                                    <p:animEffect transition="in" filter="fade">
                                      <p:cBhvr>
                                        <p:cTn id="113" dur="500"/>
                                        <p:tgtEl>
                                          <p:spTgt spid="31"/>
                                        </p:tgtEl>
                                      </p:cBhvr>
                                    </p:animEffect>
                                  </p:childTnLst>
                                </p:cTn>
                              </p:par>
                              <p:par>
                                <p:cTn id="114" presetID="26" presetClass="emph" presetSubtype="0" repeatCount="3000" fill="hold" grpId="1" nodeType="withEffect">
                                  <p:stCondLst>
                                    <p:cond delay="0"/>
                                  </p:stCondLst>
                                  <p:childTnLst>
                                    <p:animEffect transition="out" filter="fade">
                                      <p:cBhvr>
                                        <p:cTn id="115" dur="750" tmFilter="0, 0; .2, .5; .8, .5; 1, 0"/>
                                        <p:tgtEl>
                                          <p:spTgt spid="31"/>
                                        </p:tgtEl>
                                      </p:cBhvr>
                                    </p:animEffect>
                                    <p:animScale>
                                      <p:cBhvr>
                                        <p:cTn id="116" dur="375" autoRev="1" fill="hold"/>
                                        <p:tgtEl>
                                          <p:spTgt spid="31"/>
                                        </p:tgtEl>
                                      </p:cBhvr>
                                      <p:by x="105000" y="105000"/>
                                    </p:animScale>
                                  </p:childTnLst>
                                </p:cTn>
                              </p:par>
                            </p:childTnLst>
                          </p:cTn>
                        </p:par>
                        <p:par>
                          <p:cTn id="117" fill="hold">
                            <p:stCondLst>
                              <p:cond delay="2250"/>
                            </p:stCondLst>
                            <p:childTnLst>
                              <p:par>
                                <p:cTn id="118" presetID="1" presetClass="exit" presetSubtype="0" fill="hold" grpId="2" nodeType="afterEffect">
                                  <p:stCondLst>
                                    <p:cond delay="1000"/>
                                  </p:stCondLst>
                                  <p:childTnLst>
                                    <p:set>
                                      <p:cBhvr>
                                        <p:cTn id="119" dur="1" fill="hold">
                                          <p:stCondLst>
                                            <p:cond delay="0"/>
                                          </p:stCondLst>
                                        </p:cTn>
                                        <p:tgtEl>
                                          <p:spTgt spid="31"/>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32"/>
                                        </p:tgtEl>
                                        <p:attrNameLst>
                                          <p:attrName>style.visibility</p:attrName>
                                        </p:attrNameLst>
                                      </p:cBhvr>
                                      <p:to>
                                        <p:strVal val="visible"/>
                                      </p:to>
                                    </p:set>
                                    <p:animEffect transition="in" filter="fade">
                                      <p:cBhvr>
                                        <p:cTn id="124" dur="500"/>
                                        <p:tgtEl>
                                          <p:spTgt spid="32"/>
                                        </p:tgtEl>
                                      </p:cBhvr>
                                    </p:animEffect>
                                  </p:childTnLst>
                                </p:cTn>
                              </p:par>
                              <p:par>
                                <p:cTn id="125" presetID="26" presetClass="emph" presetSubtype="0" repeatCount="3000" fill="hold" grpId="1" nodeType="withEffect">
                                  <p:stCondLst>
                                    <p:cond delay="0"/>
                                  </p:stCondLst>
                                  <p:childTnLst>
                                    <p:animEffect transition="out" filter="fade">
                                      <p:cBhvr>
                                        <p:cTn id="126" dur="750" tmFilter="0, 0; .2, .5; .8, .5; 1, 0"/>
                                        <p:tgtEl>
                                          <p:spTgt spid="32"/>
                                        </p:tgtEl>
                                      </p:cBhvr>
                                    </p:animEffect>
                                    <p:animScale>
                                      <p:cBhvr>
                                        <p:cTn id="127" dur="375" autoRev="1" fill="hold"/>
                                        <p:tgtEl>
                                          <p:spTgt spid="32"/>
                                        </p:tgtEl>
                                      </p:cBhvr>
                                      <p:by x="105000" y="105000"/>
                                    </p:animScale>
                                  </p:childTnLst>
                                </p:cTn>
                              </p:par>
                            </p:childTnLst>
                          </p:cTn>
                        </p:par>
                        <p:par>
                          <p:cTn id="128" fill="hold">
                            <p:stCondLst>
                              <p:cond delay="2250"/>
                            </p:stCondLst>
                            <p:childTnLst>
                              <p:par>
                                <p:cTn id="129" presetID="1" presetClass="exit" presetSubtype="0" fill="hold" grpId="2" nodeType="afterEffect">
                                  <p:stCondLst>
                                    <p:cond delay="1000"/>
                                  </p:stCondLst>
                                  <p:childTnLst>
                                    <p:set>
                                      <p:cBhvr>
                                        <p:cTn id="130"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P spid="24" grpId="0" animBg="1"/>
      <p:bldP spid="24" grpId="1" animBg="1"/>
      <p:bldP spid="24" grpId="2" animBg="1"/>
      <p:bldP spid="25" grpId="0" animBg="1"/>
      <p:bldP spid="25" grpId="1" animBg="1"/>
      <p:bldP spid="25" grpId="2" animBg="1"/>
      <p:bldP spid="26" grpId="0" animBg="1"/>
      <p:bldP spid="26" grpId="1" animBg="1"/>
      <p:bldP spid="26" grpId="2" animBg="1"/>
      <p:bldP spid="27" grpId="0" animBg="1"/>
      <p:bldP spid="27" grpId="1" animBg="1"/>
      <p:bldP spid="27" grpId="2" animBg="1"/>
      <p:bldP spid="28" grpId="0" animBg="1"/>
      <p:bldP spid="28" grpId="1" animBg="1"/>
      <p:bldP spid="28" grpId="2" animBg="1"/>
      <p:bldP spid="29" grpId="0" animBg="1"/>
      <p:bldP spid="29" grpId="1" animBg="1"/>
      <p:bldP spid="29" grpId="2" animBg="1"/>
      <p:bldP spid="30" grpId="0" animBg="1"/>
      <p:bldP spid="30" grpId="1" animBg="1"/>
      <p:bldP spid="30" grpId="2" animBg="1"/>
      <p:bldP spid="31" grpId="0" animBg="1"/>
      <p:bldP spid="31" grpId="1" animBg="1"/>
      <p:bldP spid="31" grpId="2" animBg="1"/>
      <p:bldP spid="32" grpId="0" animBg="1"/>
      <p:bldP spid="32" grpId="1" animBg="1"/>
      <p:bldP spid="32" grpId="2" animBg="1"/>
      <p:bldP spid="7170" grpId="0" build="p"/>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5211728" y="6470662"/>
            <a:ext cx="338138"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14" name="矩形 13">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627420" y="1882107"/>
            <a:ext cx="7729874" cy="2067066"/>
            <a:chOff x="627420" y="1882107"/>
            <a:chExt cx="7729874" cy="2067066"/>
          </a:xfrm>
        </p:grpSpPr>
        <p:grpSp>
          <p:nvGrpSpPr>
            <p:cNvPr id="19" name="组合 18"/>
            <p:cNvGrpSpPr/>
            <p:nvPr/>
          </p:nvGrpSpPr>
          <p:grpSpPr>
            <a:xfrm>
              <a:off x="627420" y="1882107"/>
              <a:ext cx="7729874" cy="1616389"/>
              <a:chOff x="627420" y="1882107"/>
              <a:chExt cx="7729874" cy="1616389"/>
            </a:xfrm>
          </p:grpSpPr>
          <p:sp>
            <p:nvSpPr>
              <p:cNvPr id="22" name="任意多边形 21"/>
              <p:cNvSpPr/>
              <p:nvPr/>
            </p:nvSpPr>
            <p:spPr>
              <a:xfrm>
                <a:off x="627420" y="2018385"/>
                <a:ext cx="2515070" cy="1219537"/>
              </a:xfrm>
              <a:custGeom>
                <a:avLst/>
                <a:gdLst>
                  <a:gd name="connsiteX0" fmla="*/ 0 w 2515070"/>
                  <a:gd name="connsiteY0" fmla="*/ 126826 h 1268263"/>
                  <a:gd name="connsiteX1" fmla="*/ 126826 w 2515070"/>
                  <a:gd name="connsiteY1" fmla="*/ 0 h 1268263"/>
                  <a:gd name="connsiteX2" fmla="*/ 2388244 w 2515070"/>
                  <a:gd name="connsiteY2" fmla="*/ 0 h 1268263"/>
                  <a:gd name="connsiteX3" fmla="*/ 2515070 w 2515070"/>
                  <a:gd name="connsiteY3" fmla="*/ 126826 h 1268263"/>
                  <a:gd name="connsiteX4" fmla="*/ 2515070 w 2515070"/>
                  <a:gd name="connsiteY4" fmla="*/ 1141437 h 1268263"/>
                  <a:gd name="connsiteX5" fmla="*/ 2388244 w 2515070"/>
                  <a:gd name="connsiteY5" fmla="*/ 1268263 h 1268263"/>
                  <a:gd name="connsiteX6" fmla="*/ 126826 w 2515070"/>
                  <a:gd name="connsiteY6" fmla="*/ 1268263 h 1268263"/>
                  <a:gd name="connsiteX7" fmla="*/ 0 w 2515070"/>
                  <a:gd name="connsiteY7" fmla="*/ 1141437 h 1268263"/>
                  <a:gd name="connsiteX8" fmla="*/ 0 w 2515070"/>
                  <a:gd name="connsiteY8" fmla="*/ 126826 h 126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5070" h="1268263">
                    <a:moveTo>
                      <a:pt x="0" y="126826"/>
                    </a:moveTo>
                    <a:cubicBezTo>
                      <a:pt x="0" y="56782"/>
                      <a:pt x="56782" y="0"/>
                      <a:pt x="126826" y="0"/>
                    </a:cubicBezTo>
                    <a:lnTo>
                      <a:pt x="2388244" y="0"/>
                    </a:lnTo>
                    <a:cubicBezTo>
                      <a:pt x="2458288" y="0"/>
                      <a:pt x="2515070" y="56782"/>
                      <a:pt x="2515070" y="126826"/>
                    </a:cubicBezTo>
                    <a:lnTo>
                      <a:pt x="2515070" y="1141437"/>
                    </a:lnTo>
                    <a:cubicBezTo>
                      <a:pt x="2515070" y="1211481"/>
                      <a:pt x="2458288" y="1268263"/>
                      <a:pt x="2388244" y="1268263"/>
                    </a:cubicBezTo>
                    <a:lnTo>
                      <a:pt x="126826" y="1268263"/>
                    </a:lnTo>
                    <a:cubicBezTo>
                      <a:pt x="56782" y="1268263"/>
                      <a:pt x="0" y="1211481"/>
                      <a:pt x="0" y="1141437"/>
                    </a:cubicBezTo>
                    <a:lnTo>
                      <a:pt x="0" y="126826"/>
                    </a:lnTo>
                    <a:close/>
                  </a:path>
                </a:pathLst>
              </a:custGeom>
              <a:noFill/>
              <a:ln w="28575">
                <a:solidFill>
                  <a:srgbClr val="C00000"/>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7306" tIns="47306" rIns="47306" bIns="47306" numCol="1" spcCol="1270" anchor="ctr" anchorCtr="0">
                <a:noAutofit/>
              </a:bodyPr>
              <a:lstStyle/>
              <a:p>
                <a:pPr lvl="0" algn="ctr" defTabSz="711200">
                  <a:lnSpc>
                    <a:spcPct val="150000"/>
                  </a:lnSpc>
                  <a:spcBef>
                    <a:spcPct val="0"/>
                  </a:spcBef>
                  <a:spcAft>
                    <a:spcPct val="35000"/>
                  </a:spcAft>
                </a:pPr>
                <a:r>
                  <a:rPr lang="zh-CN" altLang="en-US" sz="1600" b="0" kern="1200" dirty="0">
                    <a:solidFill>
                      <a:schemeClr val="tx1"/>
                    </a:solidFill>
                    <a:latin typeface="微软雅黑" panose="020B0503020204020204" pitchFamily="34" charset="-122"/>
                    <a:ea typeface="微软雅黑" panose="020B0503020204020204" pitchFamily="34" charset="-122"/>
                  </a:rPr>
                  <a:t>竞争企业要素使用的边际收益</a:t>
                </a:r>
                <a:r>
                  <a:rPr lang="en-US" altLang="zh-CN" sz="1600" b="0" kern="1200" dirty="0">
                    <a:solidFill>
                      <a:schemeClr val="tx1"/>
                    </a:solidFill>
                    <a:latin typeface="微软雅黑" panose="020B0503020204020204" pitchFamily="34" charset="-122"/>
                    <a:ea typeface="微软雅黑" panose="020B0503020204020204" pitchFamily="34" charset="-122"/>
                  </a:rPr>
                  <a:t>(VMP)</a:t>
                </a:r>
                <a:r>
                  <a:rPr lang="zh-CN" altLang="en-US" sz="1600" b="0" kern="1200" dirty="0">
                    <a:solidFill>
                      <a:schemeClr val="tx1"/>
                    </a:solidFill>
                    <a:latin typeface="微软雅黑" panose="020B0503020204020204" pitchFamily="34" charset="-122"/>
                    <a:ea typeface="微软雅黑" panose="020B0503020204020204" pitchFamily="34" charset="-122"/>
                  </a:rPr>
                  <a:t>：一种要素一种产品的情形</a:t>
                </a:r>
              </a:p>
            </p:txBody>
          </p:sp>
          <p:sp>
            <p:nvSpPr>
              <p:cNvPr id="23" name="任意多边形 22"/>
              <p:cNvSpPr/>
              <p:nvPr/>
            </p:nvSpPr>
            <p:spPr>
              <a:xfrm rot="20085813">
                <a:off x="3092188" y="2401041"/>
                <a:ext cx="1054075" cy="53541"/>
              </a:xfrm>
              <a:custGeom>
                <a:avLst/>
                <a:gdLst>
                  <a:gd name="connsiteX0" fmla="*/ 0 w 1054075"/>
                  <a:gd name="connsiteY0" fmla="*/ 26770 h 53541"/>
                  <a:gd name="connsiteX1" fmla="*/ 1054075 w 1054075"/>
                  <a:gd name="connsiteY1" fmla="*/ 26770 h 53541"/>
                </a:gdLst>
                <a:ahLst/>
                <a:cxnLst>
                  <a:cxn ang="0">
                    <a:pos x="connsiteX0" y="connsiteY0"/>
                  </a:cxn>
                  <a:cxn ang="0">
                    <a:pos x="connsiteX1" y="connsiteY1"/>
                  </a:cxn>
                </a:cxnLst>
                <a:rect l="l" t="t" r="r" b="b"/>
                <a:pathLst>
                  <a:path w="1054075" h="53541">
                    <a:moveTo>
                      <a:pt x="0" y="26770"/>
                    </a:moveTo>
                    <a:lnTo>
                      <a:pt x="1054075" y="26770"/>
                    </a:lnTo>
                  </a:path>
                </a:pathLst>
              </a:custGeom>
              <a:noFill/>
              <a:ln w="28575">
                <a:solidFill>
                  <a:srgbClr val="C00000"/>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13385" tIns="419" rIns="513386" bIns="418"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24" name="任意多边形 23"/>
              <p:cNvSpPr/>
              <p:nvPr/>
            </p:nvSpPr>
            <p:spPr>
              <a:xfrm>
                <a:off x="4095961" y="1882107"/>
                <a:ext cx="4261333" cy="642000"/>
              </a:xfrm>
              <a:custGeom>
                <a:avLst/>
                <a:gdLst>
                  <a:gd name="connsiteX0" fmla="*/ 0 w 4261333"/>
                  <a:gd name="connsiteY0" fmla="*/ 64200 h 642000"/>
                  <a:gd name="connsiteX1" fmla="*/ 64200 w 4261333"/>
                  <a:gd name="connsiteY1" fmla="*/ 0 h 642000"/>
                  <a:gd name="connsiteX2" fmla="*/ 4197133 w 4261333"/>
                  <a:gd name="connsiteY2" fmla="*/ 0 h 642000"/>
                  <a:gd name="connsiteX3" fmla="*/ 4261333 w 4261333"/>
                  <a:gd name="connsiteY3" fmla="*/ 64200 h 642000"/>
                  <a:gd name="connsiteX4" fmla="*/ 4261333 w 4261333"/>
                  <a:gd name="connsiteY4" fmla="*/ 577800 h 642000"/>
                  <a:gd name="connsiteX5" fmla="*/ 4197133 w 4261333"/>
                  <a:gd name="connsiteY5" fmla="*/ 642000 h 642000"/>
                  <a:gd name="connsiteX6" fmla="*/ 64200 w 4261333"/>
                  <a:gd name="connsiteY6" fmla="*/ 642000 h 642000"/>
                  <a:gd name="connsiteX7" fmla="*/ 0 w 4261333"/>
                  <a:gd name="connsiteY7" fmla="*/ 577800 h 642000"/>
                  <a:gd name="connsiteX8" fmla="*/ 0 w 4261333"/>
                  <a:gd name="connsiteY8" fmla="*/ 64200 h 6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333" h="642000">
                    <a:moveTo>
                      <a:pt x="0" y="64200"/>
                    </a:moveTo>
                    <a:cubicBezTo>
                      <a:pt x="0" y="28743"/>
                      <a:pt x="28743" y="0"/>
                      <a:pt x="64200" y="0"/>
                    </a:cubicBezTo>
                    <a:lnTo>
                      <a:pt x="4197133" y="0"/>
                    </a:lnTo>
                    <a:cubicBezTo>
                      <a:pt x="4232590" y="0"/>
                      <a:pt x="4261333" y="28743"/>
                      <a:pt x="4261333" y="64200"/>
                    </a:cubicBezTo>
                    <a:lnTo>
                      <a:pt x="4261333" y="577800"/>
                    </a:lnTo>
                    <a:cubicBezTo>
                      <a:pt x="4261333" y="613257"/>
                      <a:pt x="4232590" y="642000"/>
                      <a:pt x="4197133" y="642000"/>
                    </a:cubicBezTo>
                    <a:lnTo>
                      <a:pt x="64200" y="642000"/>
                    </a:lnTo>
                    <a:cubicBezTo>
                      <a:pt x="28743" y="642000"/>
                      <a:pt x="0" y="613257"/>
                      <a:pt x="0" y="577800"/>
                    </a:cubicBezTo>
                    <a:lnTo>
                      <a:pt x="0" y="64200"/>
                    </a:lnTo>
                    <a:close/>
                  </a:path>
                </a:pathLst>
              </a:custGeom>
              <a:noFill/>
              <a:ln w="28575">
                <a:solidFill>
                  <a:srgbClr val="C00000"/>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4839" tIns="44839" rIns="44839" bIns="44839" numCol="1" spcCol="1270" anchor="ctr" anchorCtr="0">
                <a:noAutofit/>
              </a:bodyPr>
              <a:lstStyle/>
              <a:p>
                <a:pPr algn="ctr" defTabSz="1822450">
                  <a:lnSpc>
                    <a:spcPct val="90000"/>
                  </a:lnSpc>
                  <a:spcAft>
                    <a:spcPct val="35000"/>
                  </a:spcAft>
                </a:pPr>
                <a:r>
                  <a:rPr lang="zh-CN" altLang="en-US" b="0" dirty="0">
                    <a:solidFill>
                      <a:schemeClr val="tx1"/>
                    </a:solidFill>
                  </a:rPr>
                  <a:t>“</a:t>
                </a:r>
                <a:r>
                  <a:rPr lang="en-US" altLang="zh-CN" b="0" dirty="0">
                    <a:solidFill>
                      <a:schemeClr val="tx1"/>
                    </a:solidFill>
                  </a:rPr>
                  <a:t>L——Q——R</a:t>
                </a:r>
                <a:r>
                  <a:rPr lang="zh-CN" altLang="en-US" b="0" dirty="0">
                    <a:solidFill>
                      <a:schemeClr val="tx1"/>
                    </a:solidFill>
                  </a:rPr>
                  <a:t>”</a:t>
                </a:r>
                <a:r>
                  <a:rPr lang="en-US" altLang="zh-CN" b="0" dirty="0">
                    <a:solidFill>
                      <a:schemeClr val="tx1"/>
                    </a:solidFill>
                    <a:sym typeface="Wingdings" panose="05000000000000000000" pitchFamily="2" charset="2"/>
                  </a:rPr>
                  <a:t>  </a:t>
                </a:r>
                <a:r>
                  <a:rPr lang="en-US" altLang="zh-CN" b="0" dirty="0">
                    <a:solidFill>
                      <a:schemeClr val="tx1"/>
                    </a:solidFill>
                  </a:rPr>
                  <a:t>R(Q(L)) = P Q(L)</a:t>
                </a:r>
              </a:p>
            </p:txBody>
          </p:sp>
          <p:sp>
            <p:nvSpPr>
              <p:cNvPr id="25" name="任意多边形 24"/>
              <p:cNvSpPr/>
              <p:nvPr/>
            </p:nvSpPr>
            <p:spPr>
              <a:xfrm rot="1164982">
                <a:off x="3113743" y="2793784"/>
                <a:ext cx="1010966" cy="53541"/>
              </a:xfrm>
              <a:custGeom>
                <a:avLst/>
                <a:gdLst>
                  <a:gd name="connsiteX0" fmla="*/ 0 w 1010966"/>
                  <a:gd name="connsiteY0" fmla="*/ 26770 h 53541"/>
                  <a:gd name="connsiteX1" fmla="*/ 1010966 w 1010966"/>
                  <a:gd name="connsiteY1" fmla="*/ 26770 h 53541"/>
                </a:gdLst>
                <a:ahLst/>
                <a:cxnLst>
                  <a:cxn ang="0">
                    <a:pos x="connsiteX0" y="connsiteY0"/>
                  </a:cxn>
                  <a:cxn ang="0">
                    <a:pos x="connsiteX1" y="connsiteY1"/>
                  </a:cxn>
                </a:cxnLst>
                <a:rect l="l" t="t" r="r" b="b"/>
                <a:pathLst>
                  <a:path w="1010966" h="53541">
                    <a:moveTo>
                      <a:pt x="0" y="26770"/>
                    </a:moveTo>
                    <a:lnTo>
                      <a:pt x="1010966" y="26770"/>
                    </a:lnTo>
                  </a:path>
                </a:pathLst>
              </a:custGeom>
              <a:noFill/>
              <a:ln w="28575">
                <a:solidFill>
                  <a:srgbClr val="C00000"/>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492909" tIns="1496" rIns="492908" bIns="1496"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26" name="任意多边形 25"/>
              <p:cNvSpPr/>
              <p:nvPr/>
            </p:nvSpPr>
            <p:spPr>
              <a:xfrm>
                <a:off x="4095961" y="2623869"/>
                <a:ext cx="4258655" cy="874627"/>
              </a:xfrm>
              <a:custGeom>
                <a:avLst/>
                <a:gdLst>
                  <a:gd name="connsiteX0" fmla="*/ 0 w 4258655"/>
                  <a:gd name="connsiteY0" fmla="*/ 87179 h 871792"/>
                  <a:gd name="connsiteX1" fmla="*/ 87179 w 4258655"/>
                  <a:gd name="connsiteY1" fmla="*/ 0 h 871792"/>
                  <a:gd name="connsiteX2" fmla="*/ 4171476 w 4258655"/>
                  <a:gd name="connsiteY2" fmla="*/ 0 h 871792"/>
                  <a:gd name="connsiteX3" fmla="*/ 4258655 w 4258655"/>
                  <a:gd name="connsiteY3" fmla="*/ 87179 h 871792"/>
                  <a:gd name="connsiteX4" fmla="*/ 4258655 w 4258655"/>
                  <a:gd name="connsiteY4" fmla="*/ 784613 h 871792"/>
                  <a:gd name="connsiteX5" fmla="*/ 4171476 w 4258655"/>
                  <a:gd name="connsiteY5" fmla="*/ 871792 h 871792"/>
                  <a:gd name="connsiteX6" fmla="*/ 87179 w 4258655"/>
                  <a:gd name="connsiteY6" fmla="*/ 871792 h 871792"/>
                  <a:gd name="connsiteX7" fmla="*/ 0 w 4258655"/>
                  <a:gd name="connsiteY7" fmla="*/ 784613 h 871792"/>
                  <a:gd name="connsiteX8" fmla="*/ 0 w 4258655"/>
                  <a:gd name="connsiteY8" fmla="*/ 87179 h 87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8655" h="871792">
                    <a:moveTo>
                      <a:pt x="0" y="87179"/>
                    </a:moveTo>
                    <a:cubicBezTo>
                      <a:pt x="0" y="39031"/>
                      <a:pt x="39031" y="0"/>
                      <a:pt x="87179" y="0"/>
                    </a:cubicBezTo>
                    <a:lnTo>
                      <a:pt x="4171476" y="0"/>
                    </a:lnTo>
                    <a:cubicBezTo>
                      <a:pt x="4219624" y="0"/>
                      <a:pt x="4258655" y="39031"/>
                      <a:pt x="4258655" y="87179"/>
                    </a:cubicBezTo>
                    <a:lnTo>
                      <a:pt x="4258655" y="784613"/>
                    </a:lnTo>
                    <a:cubicBezTo>
                      <a:pt x="4258655" y="832761"/>
                      <a:pt x="4219624" y="871792"/>
                      <a:pt x="4171476" y="871792"/>
                    </a:cubicBezTo>
                    <a:lnTo>
                      <a:pt x="87179" y="871792"/>
                    </a:lnTo>
                    <a:cubicBezTo>
                      <a:pt x="39031" y="871792"/>
                      <a:pt x="0" y="832761"/>
                      <a:pt x="0" y="784613"/>
                    </a:cubicBezTo>
                    <a:lnTo>
                      <a:pt x="0" y="87179"/>
                    </a:lnTo>
                    <a:close/>
                  </a:path>
                </a:pathLst>
              </a:custGeom>
              <a:noFill/>
              <a:ln w="28575">
                <a:solidFill>
                  <a:srgbClr val="C00000"/>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0459" tIns="60459" rIns="60459" bIns="60459" numCol="1" spcCol="1270" anchor="ctr" anchorCtr="0">
                <a:noAutofit/>
              </a:bodyPr>
              <a:lstStyle/>
              <a:p>
                <a:pPr lvl="0" algn="ctr" defTabSz="2444750">
                  <a:lnSpc>
                    <a:spcPct val="90000"/>
                  </a:lnSpc>
                  <a:spcBef>
                    <a:spcPct val="0"/>
                  </a:spcBef>
                  <a:spcAft>
                    <a:spcPct val="35000"/>
                  </a:spcAft>
                </a:pPr>
                <a:endParaRPr lang="zh-CN" altLang="en-US" sz="5500" kern="1200" dirty="0"/>
              </a:p>
            </p:txBody>
          </p:sp>
        </p:grpSp>
        <mc:AlternateContent xmlns:mc="http://schemas.openxmlformats.org/markup-compatibility/2006" xmlns:a14="http://schemas.microsoft.com/office/drawing/2010/main">
          <mc:Choice Requires="a14">
            <p:sp>
              <p:nvSpPr>
                <p:cNvPr id="2" name="文本框 1"/>
                <p:cNvSpPr txBox="1"/>
                <p:nvPr/>
              </p:nvSpPr>
              <p:spPr>
                <a:xfrm>
                  <a:off x="4372465" y="2650676"/>
                  <a:ext cx="3700052" cy="1298497"/>
                </a:xfrm>
                <a:prstGeom prst="rect">
                  <a:avLst/>
                </a:prstGeom>
                <a:noFill/>
              </p:spPr>
              <p:txBody>
                <a:bodyPr wrap="none" rtlCol="0">
                  <a:spAutoFit/>
                </a:bodyPr>
                <a:lstStyle/>
                <a:p>
                  <a:pPr marL="0" lvl="2"/>
                  <a:r>
                    <a:rPr lang="zh-CN" altLang="en-US" b="0" dirty="0">
                      <a:solidFill>
                        <a:schemeClr val="tx1"/>
                      </a:solidFill>
                      <a:latin typeface="微软雅黑" panose="020B0503020204020204" pitchFamily="34" charset="-122"/>
                      <a:ea typeface="微软雅黑" panose="020B0503020204020204" pitchFamily="34" charset="-122"/>
                    </a:rPr>
                    <a:t>使用要素的边际收益</a:t>
                  </a:r>
                  <a:r>
                    <a:rPr lang="en-US" altLang="zh-CN" b="0" dirty="0">
                      <a:solidFill>
                        <a:schemeClr val="tx1"/>
                      </a:solidFill>
                      <a:latin typeface="微软雅黑" panose="020B0503020204020204" pitchFamily="34" charset="-122"/>
                      <a:ea typeface="微软雅黑" panose="020B0503020204020204" pitchFamily="34" charset="-122"/>
                    </a:rPr>
                    <a:t>MR</a:t>
                  </a:r>
                  <a:r>
                    <a:rPr lang="zh-CN" altLang="en-US" b="0" dirty="0">
                      <a:solidFill>
                        <a:schemeClr val="tx1"/>
                      </a:solidFill>
                      <a:latin typeface="微软雅黑" panose="020B0503020204020204" pitchFamily="34" charset="-122"/>
                      <a:ea typeface="微软雅黑" panose="020B0503020204020204" pitchFamily="34" charset="-122"/>
                    </a:rPr>
                    <a:t>此时为</a:t>
                  </a:r>
                  <a:r>
                    <a:rPr lang="en-US" altLang="zh-CN" b="0" dirty="0">
                      <a:solidFill>
                        <a:schemeClr val="tx1"/>
                      </a:solidFill>
                      <a:latin typeface="微软雅黑" panose="020B0503020204020204" pitchFamily="34" charset="-122"/>
                      <a:ea typeface="微软雅黑" panose="020B0503020204020204" pitchFamily="34" charset="-122"/>
                    </a:rPr>
                    <a:t>VMP</a:t>
                  </a:r>
                  <a:r>
                    <a:rPr lang="zh-CN" altLang="en-US" b="0" dirty="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a:p>
                  <a:pPr marL="0" lvl="2"/>
                  <a14:m>
                    <m:oMathPara xmlns:m="http://schemas.openxmlformats.org/officeDocument/2006/math">
                      <m:oMathParaPr>
                        <m:jc m:val="centerGroup"/>
                      </m:oMathParaPr>
                      <m:oMath xmlns:m="http://schemas.openxmlformats.org/officeDocument/2006/math">
                        <m:f>
                          <m:fPr>
                            <m:ctrlPr>
                              <a:rPr lang="en-US" altLang="zh-CN" b="0" i="1" smtClean="0">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𝑑𝑅</m:t>
                            </m:r>
                          </m:num>
                          <m:den>
                            <m:r>
                              <a:rPr lang="en-US" altLang="zh-CN" b="0" i="1">
                                <a:solidFill>
                                  <a:schemeClr val="tx1"/>
                                </a:solidFill>
                                <a:latin typeface="Cambria Math" panose="02040503050406030204" pitchFamily="18" charset="0"/>
                              </a:rPr>
                              <m:t>𝑑𝐿</m:t>
                            </m:r>
                          </m:den>
                        </m:f>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𝑃</m:t>
                        </m:r>
                        <m:r>
                          <a:rPr lang="en-US" altLang="zh-CN" b="0" i="1">
                            <a:solidFill>
                              <a:schemeClr val="tx1"/>
                            </a:solidFill>
                            <a:latin typeface="Cambria Math" panose="02040503050406030204" pitchFamily="18" charset="0"/>
                            <a:ea typeface="Cambria Math" panose="02040503050406030204" pitchFamily="18" charset="0"/>
                          </a:rPr>
                          <m:t>∙</m:t>
                        </m:r>
                        <m:f>
                          <m:fPr>
                            <m:ctrlPr>
                              <a:rPr lang="en-US" altLang="zh-CN" b="0"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𝑑𝑄</m:t>
                            </m:r>
                          </m:num>
                          <m:den>
                            <m:r>
                              <a:rPr lang="en-US" altLang="zh-CN" b="0" i="1">
                                <a:solidFill>
                                  <a:schemeClr val="tx1"/>
                                </a:solidFill>
                                <a:latin typeface="Cambria Math" panose="02040503050406030204" pitchFamily="18" charset="0"/>
                              </a:rPr>
                              <m:t>𝑑𝐿</m:t>
                            </m:r>
                          </m:den>
                        </m:f>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𝑃</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𝑀𝑃</m:t>
                        </m:r>
                      </m:oMath>
                    </m:oMathPara>
                  </a14:m>
                  <a:endParaRPr lang="en-US" altLang="zh-CN" b="0" dirty="0">
                    <a:solidFill>
                      <a:schemeClr val="tx1"/>
                    </a:solidFill>
                  </a:endParaRPr>
                </a:p>
                <a:p>
                  <a:pPr marL="0" lvl="2"/>
                  <a:endParaRPr lang="en-US" altLang="zh-CN" b="0" dirty="0">
                    <a:solidFill>
                      <a:schemeClr val="tx1"/>
                    </a:solidFill>
                    <a:latin typeface="微软雅黑" panose="020B0503020204020204" pitchFamily="34" charset="-122"/>
                    <a:ea typeface="微软雅黑" panose="020B0503020204020204" pitchFamily="34" charset="-122"/>
                  </a:endParaRPr>
                </a:p>
                <a:p>
                  <a:endParaRPr lang="zh-CN" altLang="en-US" b="0" dirty="0">
                    <a:solidFill>
                      <a:schemeClr val="tx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372465" y="2650676"/>
                  <a:ext cx="3700052" cy="1298497"/>
                </a:xfrm>
                <a:prstGeom prst="rect">
                  <a:avLst/>
                </a:prstGeom>
                <a:blipFill>
                  <a:blip r:embed="rId4"/>
                  <a:stretch>
                    <a:fillRect l="-824" t="-1408"/>
                  </a:stretch>
                </a:blipFill>
              </p:spPr>
              <p:txBody>
                <a:bodyPr/>
                <a:lstStyle/>
                <a:p>
                  <a:r>
                    <a:rPr lang="zh-CN" altLang="en-US">
                      <a:noFill/>
                    </a:rPr>
                    <a:t> </a:t>
                  </a:r>
                </a:p>
              </p:txBody>
            </p:sp>
          </mc:Fallback>
        </mc:AlternateContent>
      </p:grpSp>
      <p:grpSp>
        <p:nvGrpSpPr>
          <p:cNvPr id="6" name="组合 5"/>
          <p:cNvGrpSpPr/>
          <p:nvPr/>
        </p:nvGrpSpPr>
        <p:grpSpPr>
          <a:xfrm>
            <a:off x="789384" y="3341343"/>
            <a:ext cx="4033441" cy="2900333"/>
            <a:chOff x="789384" y="3341343"/>
            <a:chExt cx="4033441" cy="2900333"/>
          </a:xfrm>
        </p:grpSpPr>
        <p:grpSp>
          <p:nvGrpSpPr>
            <p:cNvPr id="18" name="组合 17"/>
            <p:cNvGrpSpPr/>
            <p:nvPr/>
          </p:nvGrpSpPr>
          <p:grpSpPr>
            <a:xfrm>
              <a:off x="1192206" y="3533441"/>
              <a:ext cx="3379794" cy="2525338"/>
              <a:chOff x="1219166" y="3455999"/>
              <a:chExt cx="4071937" cy="3098800"/>
            </a:xfrm>
          </p:grpSpPr>
          <p:sp>
            <p:nvSpPr>
              <p:cNvPr id="4" name="Line 4"/>
              <p:cNvSpPr>
                <a:spLocks noChangeShapeType="1"/>
              </p:cNvSpPr>
              <p:nvPr/>
            </p:nvSpPr>
            <p:spPr bwMode="auto">
              <a:xfrm flipV="1">
                <a:off x="1219166" y="3455999"/>
                <a:ext cx="1587" cy="309721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 name="Line 5"/>
              <p:cNvSpPr>
                <a:spLocks noChangeShapeType="1"/>
              </p:cNvSpPr>
              <p:nvPr/>
            </p:nvSpPr>
            <p:spPr bwMode="auto">
              <a:xfrm>
                <a:off x="1219166" y="6553212"/>
                <a:ext cx="4071937"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9" name="Line 9"/>
              <p:cNvSpPr>
                <a:spLocks noChangeShapeType="1"/>
              </p:cNvSpPr>
              <p:nvPr/>
            </p:nvSpPr>
            <p:spPr bwMode="auto">
              <a:xfrm>
                <a:off x="1768441" y="3876687"/>
                <a:ext cx="2895600" cy="2259012"/>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1" name="Line 11"/>
              <p:cNvSpPr>
                <a:spLocks noChangeShapeType="1"/>
              </p:cNvSpPr>
              <p:nvPr/>
            </p:nvSpPr>
            <p:spPr bwMode="auto">
              <a:xfrm>
                <a:off x="1689066" y="5214949"/>
                <a:ext cx="2897187" cy="108902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grpSp>
        <p:graphicFrame>
          <p:nvGraphicFramePr>
            <p:cNvPr id="27" name="对象 26"/>
            <p:cNvGraphicFramePr>
              <a:graphicFrameLocks noChangeAspect="1"/>
            </p:cNvGraphicFramePr>
            <p:nvPr>
              <p:extLst>
                <p:ext uri="{D42A27DB-BD31-4B8C-83A1-F6EECF244321}">
                  <p14:modId xmlns:p14="http://schemas.microsoft.com/office/powerpoint/2010/main" val="1735481274"/>
                </p:ext>
              </p:extLst>
            </p:nvPr>
          </p:nvGraphicFramePr>
          <p:xfrm>
            <a:off x="789384" y="3341343"/>
            <a:ext cx="1021492" cy="314305"/>
          </p:xfrm>
          <a:graphic>
            <a:graphicData uri="http://schemas.openxmlformats.org/presentationml/2006/ole">
              <mc:AlternateContent xmlns:mc="http://schemas.openxmlformats.org/markup-compatibility/2006">
                <mc:Choice xmlns:v="urn:schemas-microsoft-com:vml" Requires="v">
                  <p:oleObj spid="_x0000_s31561" name="Equation" r:id="rId5" imgW="660240" imgH="203040" progId="Equation.3">
                    <p:embed/>
                  </p:oleObj>
                </mc:Choice>
                <mc:Fallback>
                  <p:oleObj name="Equation" r:id="rId5" imgW="660240" imgH="203040" progId="Equation.3">
                    <p:embed/>
                    <p:pic>
                      <p:nvPicPr>
                        <p:cNvPr id="0" name=""/>
                        <p:cNvPicPr/>
                        <p:nvPr/>
                      </p:nvPicPr>
                      <p:blipFill>
                        <a:blip r:embed="rId6"/>
                        <a:stretch>
                          <a:fillRect/>
                        </a:stretch>
                      </p:blipFill>
                      <p:spPr>
                        <a:xfrm>
                          <a:off x="789384" y="3341343"/>
                          <a:ext cx="1021492" cy="31430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704408549"/>
                </p:ext>
              </p:extLst>
            </p:nvPr>
          </p:nvGraphicFramePr>
          <p:xfrm>
            <a:off x="1371700" y="3596991"/>
            <a:ext cx="616078" cy="287503"/>
          </p:xfrm>
          <a:graphic>
            <a:graphicData uri="http://schemas.openxmlformats.org/presentationml/2006/ole">
              <mc:AlternateContent xmlns:mc="http://schemas.openxmlformats.org/markup-compatibility/2006">
                <mc:Choice xmlns:v="urn:schemas-microsoft-com:vml" Requires="v">
                  <p:oleObj spid="_x0000_s31562" name="Equation" r:id="rId7" imgW="380880" imgH="177480" progId="Equation.3">
                    <p:embed/>
                  </p:oleObj>
                </mc:Choice>
                <mc:Fallback>
                  <p:oleObj name="Equation" r:id="rId7" imgW="380880" imgH="177480" progId="Equation.3">
                    <p:embed/>
                    <p:pic>
                      <p:nvPicPr>
                        <p:cNvPr id="0" name=""/>
                        <p:cNvPicPr/>
                        <p:nvPr/>
                      </p:nvPicPr>
                      <p:blipFill>
                        <a:blip r:embed="rId8"/>
                        <a:stretch>
                          <a:fillRect/>
                        </a:stretch>
                      </p:blipFill>
                      <p:spPr>
                        <a:xfrm>
                          <a:off x="1371700" y="3596991"/>
                          <a:ext cx="616078" cy="287503"/>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47073825"/>
                </p:ext>
              </p:extLst>
            </p:nvPr>
          </p:nvGraphicFramePr>
          <p:xfrm>
            <a:off x="1231700" y="4810568"/>
            <a:ext cx="404720" cy="250541"/>
          </p:xfrm>
          <a:graphic>
            <a:graphicData uri="http://schemas.openxmlformats.org/presentationml/2006/ole">
              <mc:AlternateContent xmlns:mc="http://schemas.openxmlformats.org/markup-compatibility/2006">
                <mc:Choice xmlns:v="urn:schemas-microsoft-com:vml" Requires="v">
                  <p:oleObj spid="_x0000_s31563" name="Equation" r:id="rId9" imgW="266400" imgH="164880" progId="Equation.3">
                    <p:embed/>
                  </p:oleObj>
                </mc:Choice>
                <mc:Fallback>
                  <p:oleObj name="Equation" r:id="rId9" imgW="266400" imgH="164880" progId="Equation.3">
                    <p:embed/>
                    <p:pic>
                      <p:nvPicPr>
                        <p:cNvPr id="0" name=""/>
                        <p:cNvPicPr/>
                        <p:nvPr/>
                      </p:nvPicPr>
                      <p:blipFill>
                        <a:blip r:embed="rId10"/>
                        <a:stretch>
                          <a:fillRect/>
                        </a:stretch>
                      </p:blipFill>
                      <p:spPr>
                        <a:xfrm>
                          <a:off x="1231700" y="4810568"/>
                          <a:ext cx="404720" cy="250541"/>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4152154981"/>
                </p:ext>
              </p:extLst>
            </p:nvPr>
          </p:nvGraphicFramePr>
          <p:xfrm>
            <a:off x="885729" y="5922455"/>
            <a:ext cx="273618" cy="319221"/>
          </p:xfrm>
          <a:graphic>
            <a:graphicData uri="http://schemas.openxmlformats.org/presentationml/2006/ole">
              <mc:AlternateContent xmlns:mc="http://schemas.openxmlformats.org/markup-compatibility/2006">
                <mc:Choice xmlns:v="urn:schemas-microsoft-com:vml" Requires="v">
                  <p:oleObj spid="_x0000_s31564" name="Equation" r:id="rId11" imgW="152280" imgH="177480" progId="Equation.3">
                    <p:embed/>
                  </p:oleObj>
                </mc:Choice>
                <mc:Fallback>
                  <p:oleObj name="Equation" r:id="rId11" imgW="152280" imgH="177480" progId="Equation.3">
                    <p:embed/>
                    <p:pic>
                      <p:nvPicPr>
                        <p:cNvPr id="0" name=""/>
                        <p:cNvPicPr/>
                        <p:nvPr/>
                      </p:nvPicPr>
                      <p:blipFill>
                        <a:blip r:embed="rId12"/>
                        <a:stretch>
                          <a:fillRect/>
                        </a:stretch>
                      </p:blipFill>
                      <p:spPr>
                        <a:xfrm>
                          <a:off x="885729" y="5922455"/>
                          <a:ext cx="273618" cy="319221"/>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593412304"/>
                </p:ext>
              </p:extLst>
            </p:nvPr>
          </p:nvGraphicFramePr>
          <p:xfrm>
            <a:off x="4595813" y="5946775"/>
            <a:ext cx="227012" cy="269875"/>
          </p:xfrm>
          <a:graphic>
            <a:graphicData uri="http://schemas.openxmlformats.org/presentationml/2006/ole">
              <mc:AlternateContent xmlns:mc="http://schemas.openxmlformats.org/markup-compatibility/2006">
                <mc:Choice xmlns:v="urn:schemas-microsoft-com:vml" Requires="v">
                  <p:oleObj spid="_x0000_s31565" name="Equation" r:id="rId13" imgW="139680" imgH="164880" progId="Equation.3">
                    <p:embed/>
                  </p:oleObj>
                </mc:Choice>
                <mc:Fallback>
                  <p:oleObj name="Equation" r:id="rId13" imgW="139680" imgH="164880" progId="Equation.3">
                    <p:embed/>
                    <p:pic>
                      <p:nvPicPr>
                        <p:cNvPr id="0" name=""/>
                        <p:cNvPicPr/>
                        <p:nvPr/>
                      </p:nvPicPr>
                      <p:blipFill>
                        <a:blip r:embed="rId14"/>
                        <a:stretch>
                          <a:fillRect/>
                        </a:stretch>
                      </p:blipFill>
                      <p:spPr>
                        <a:xfrm>
                          <a:off x="4595813" y="5946775"/>
                          <a:ext cx="227012" cy="269875"/>
                        </a:xfrm>
                        <a:prstGeom prst="rect">
                          <a:avLst/>
                        </a:prstGeom>
                      </p:spPr>
                    </p:pic>
                  </p:oleObj>
                </mc:Fallback>
              </mc:AlternateContent>
            </a:graphicData>
          </a:graphic>
        </p:graphicFrame>
      </p:grpSp>
      <p:sp>
        <p:nvSpPr>
          <p:cNvPr id="32" name="Rectangle 3">
            <a:extLst>
              <a:ext uri="{FF2B5EF4-FFF2-40B4-BE49-F238E27FC236}">
                <a16:creationId xmlns:a16="http://schemas.microsoft.com/office/drawing/2014/main" id="{BA6C97EA-B6AF-4EF7-9946-B25E34E92BD2}"/>
              </a:ext>
            </a:extLst>
          </p:cNvPr>
          <p:cNvSpPr txBox="1">
            <a:spLocks noChangeArrowheads="1"/>
          </p:cNvSpPr>
          <p:nvPr/>
        </p:nvSpPr>
        <p:spPr bwMode="auto">
          <a:xfrm>
            <a:off x="447486" y="1196845"/>
            <a:ext cx="6212660" cy="45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2" indent="-457200" eaLnBrk="1" hangingPunct="1">
              <a:buFont typeface="Wingdings" panose="05000000000000000000" pitchFamily="2" charset="2"/>
              <a:buChar char="u"/>
            </a:pPr>
            <a:r>
              <a:rPr lang="zh-CN" altLang="en-US" sz="2000" b="0">
                <a:latin typeface="微软雅黑" panose="020B0503020204020204" pitchFamily="34" charset="-122"/>
                <a:ea typeface="微软雅黑" panose="020B0503020204020204" pitchFamily="34" charset="-122"/>
              </a:rPr>
              <a:t>企业使用要素的边际收益：</a:t>
            </a:r>
            <a:r>
              <a:rPr lang="en-US" altLang="zh-CN" sz="2000" b="0">
                <a:latin typeface="微软雅黑" panose="020B0503020204020204" pitchFamily="34" charset="-122"/>
                <a:ea typeface="微软雅黑" panose="020B0503020204020204" pitchFamily="34" charset="-122"/>
              </a:rPr>
              <a:t>MRP</a:t>
            </a:r>
            <a:r>
              <a:rPr lang="zh-CN" altLang="en-US" sz="2000" b="0">
                <a:latin typeface="微软雅黑" panose="020B0503020204020204" pitchFamily="34" charset="-122"/>
                <a:ea typeface="微软雅黑" panose="020B0503020204020204" pitchFamily="34" charset="-122"/>
              </a:rPr>
              <a:t>和</a:t>
            </a:r>
            <a:r>
              <a:rPr lang="en-US" altLang="zh-CN" sz="2000" b="0">
                <a:latin typeface="微软雅黑" panose="020B0503020204020204" pitchFamily="34" charset="-122"/>
                <a:ea typeface="微软雅黑" panose="020B0503020204020204" pitchFamily="34" charset="-122"/>
              </a:rPr>
              <a:t>VMP</a:t>
            </a:r>
            <a:endParaRPr lang="en-US" altLang="zh-CN" sz="2000" b="0" dirty="0">
              <a:latin typeface="微软雅黑" panose="020B0503020204020204" pitchFamily="34" charset="-122"/>
              <a:ea typeface="微软雅黑" panose="020B0503020204020204" pitchFamily="34" charset="-122"/>
            </a:endParaRPr>
          </a:p>
        </p:txBody>
      </p:sp>
      <p:sp>
        <p:nvSpPr>
          <p:cNvPr id="33" name="标题 1">
            <a:extLst>
              <a:ext uri="{FF2B5EF4-FFF2-40B4-BE49-F238E27FC236}">
                <a16:creationId xmlns:a16="http://schemas.microsoft.com/office/drawing/2014/main" id="{1BA2199E-EC0C-49A8-9EB7-B52B8DFE5C2D}"/>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grpSp>
        <p:nvGrpSpPr>
          <p:cNvPr id="10" name="组合 9">
            <a:extLst>
              <a:ext uri="{FF2B5EF4-FFF2-40B4-BE49-F238E27FC236}">
                <a16:creationId xmlns:a16="http://schemas.microsoft.com/office/drawing/2014/main" id="{52F118F7-F473-4FF1-9340-48B9C5F86924}"/>
              </a:ext>
            </a:extLst>
          </p:cNvPr>
          <p:cNvGrpSpPr/>
          <p:nvPr/>
        </p:nvGrpSpPr>
        <p:grpSpPr>
          <a:xfrm>
            <a:off x="4051525" y="3949173"/>
            <a:ext cx="4262553" cy="1710689"/>
            <a:chOff x="4051525" y="3949173"/>
            <a:chExt cx="4262553" cy="1710689"/>
          </a:xfrm>
        </p:grpSpPr>
        <p:sp>
          <p:nvSpPr>
            <p:cNvPr id="21" name="矩形 20">
              <a:extLst>
                <a:ext uri="{FF2B5EF4-FFF2-40B4-BE49-F238E27FC236}">
                  <a16:creationId xmlns:a16="http://schemas.microsoft.com/office/drawing/2014/main" id="{D2162600-114A-4C05-A7A2-48990CE89835}"/>
                </a:ext>
              </a:extLst>
            </p:cNvPr>
            <p:cNvSpPr/>
            <p:nvPr/>
          </p:nvSpPr>
          <p:spPr>
            <a:xfrm>
              <a:off x="4130904" y="3949173"/>
              <a:ext cx="4183174" cy="1526187"/>
            </a:xfrm>
            <a:prstGeom prst="rect">
              <a:avLst/>
            </a:prstGeom>
            <a:noFill/>
          </p:spPr>
          <p:txBody>
            <a:bodyPr wrap="square">
              <a:spAutoFit/>
            </a:bodyPr>
            <a:lstStyle/>
            <a:p>
              <a:pPr defTabSz="457200" eaLnBrk="1" hangingPunct="1">
                <a:lnSpc>
                  <a:spcPct val="150000"/>
                </a:lnSpc>
              </a:pPr>
              <a:r>
                <a:rPr lang="zh-CN" altLang="en-US" b="0" spc="15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边际产品价值曲线与边际产品曲线一样均向右下方倾斜。 二者的相对位置关系则取决于产品价格是大于还是小于或等于</a:t>
              </a:r>
              <a:r>
                <a:rPr lang="en-US" altLang="zh-CN" b="0" spc="15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endParaRPr lang="zh-CN" altLang="en-US" b="0" spc="15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对话气泡: 圆角矩形 6">
              <a:extLst>
                <a:ext uri="{FF2B5EF4-FFF2-40B4-BE49-F238E27FC236}">
                  <a16:creationId xmlns:a16="http://schemas.microsoft.com/office/drawing/2014/main" id="{668E3414-18F9-486E-800A-81BF6F7B123D}"/>
                </a:ext>
              </a:extLst>
            </p:cNvPr>
            <p:cNvSpPr/>
            <p:nvPr/>
          </p:nvSpPr>
          <p:spPr bwMode="auto">
            <a:xfrm>
              <a:off x="4051525" y="3949173"/>
              <a:ext cx="4183174" cy="1710689"/>
            </a:xfrm>
            <a:prstGeom prst="wedgeRoundRectCallout">
              <a:avLst>
                <a:gd name="adj1" fmla="val -73180"/>
                <a:gd name="adj2" fmla="val 10454"/>
                <a:gd name="adj3" fmla="val 16667"/>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84724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259245" y="2588828"/>
            <a:ext cx="8892299" cy="2470943"/>
          </a:xfrm>
          <a:ln/>
        </p:spPr>
        <p:txBody>
          <a:bodyPr/>
          <a:lstStyle/>
          <a:p>
            <a:pPr marL="742950" lvl="2"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要素使用的边际成本叫做边际要素成本（</a:t>
            </a:r>
            <a:r>
              <a:rPr lang="en-US" altLang="zh-CN" sz="1800" b="0" dirty="0">
                <a:latin typeface="微软雅黑" panose="020B0503020204020204" pitchFamily="34" charset="-122"/>
                <a:ea typeface="微软雅黑" panose="020B0503020204020204" pitchFamily="34" charset="-122"/>
              </a:rPr>
              <a:t>MFC</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857250" lvl="3" indent="0" eaLnBrk="1" hangingPunct="1">
              <a:lnSpc>
                <a:spcPct val="150000"/>
              </a:lnSpc>
              <a:buNone/>
            </a:pPr>
            <a:r>
              <a:rPr lang="en-US" altLang="zh-CN" sz="1800" b="0" dirty="0">
                <a:latin typeface="微软雅黑" panose="020B0503020204020204" pitchFamily="34" charset="-122"/>
                <a:ea typeface="微软雅黑" panose="020B0503020204020204" pitchFamily="34" charset="-122"/>
              </a:rPr>
              <a:t>MFC</a:t>
            </a:r>
            <a:r>
              <a:rPr lang="zh-CN" altLang="en-US" sz="1800" b="0" dirty="0">
                <a:latin typeface="微软雅黑" panose="020B0503020204020204" pitchFamily="34" charset="-122"/>
                <a:ea typeface="微软雅黑" panose="020B0503020204020204" pitchFamily="34" charset="-122"/>
              </a:rPr>
              <a:t>定义：</a:t>
            </a:r>
            <a:endParaRPr lang="en-US" altLang="zh-CN" sz="1800" b="0" i="1"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竞争条件下的边际成本就是要素的价格</a:t>
            </a:r>
            <a:r>
              <a:rPr lang="en-US" altLang="zh-CN" sz="1800" b="0" dirty="0">
                <a:latin typeface="微软雅黑" panose="020B0503020204020204" pitchFamily="34" charset="-122"/>
                <a:ea typeface="微软雅黑" panose="020B0503020204020204" pitchFamily="34" charset="-122"/>
              </a:rPr>
              <a:t>W</a:t>
            </a:r>
          </a:p>
          <a:p>
            <a:pPr marL="857250" lvl="3" indent="0" eaLnBrk="1" hangingPunct="1">
              <a:lnSpc>
                <a:spcPct val="150000"/>
              </a:lnSpc>
              <a:buNone/>
            </a:pPr>
            <a:endParaRPr lang="en-US" altLang="zh-CN" sz="1800" b="0" dirty="0">
              <a:latin typeface="微软雅黑" panose="020B0503020204020204" pitchFamily="34" charset="-122"/>
              <a:ea typeface="微软雅黑" panose="020B0503020204020204" pitchFamily="34" charset="-122"/>
            </a:endParaRPr>
          </a:p>
          <a:p>
            <a:pPr marL="857250" lvl="3" indent="0" eaLnBrk="1" hangingPunct="1">
              <a:lnSpc>
                <a:spcPct val="150000"/>
              </a:lnSpc>
              <a:buNone/>
            </a:pPr>
            <a:r>
              <a:rPr lang="zh-CN" altLang="en-US" sz="1800" b="0" dirty="0">
                <a:latin typeface="微软雅黑" panose="020B0503020204020204" pitchFamily="34" charset="-122"/>
                <a:ea typeface="微软雅黑" panose="020B0503020204020204" pitchFamily="34" charset="-122"/>
              </a:rPr>
              <a:t>这是因为，竞争企业无论使用多少要素，不影响要素价格                  </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1800" b="0" dirty="0">
              <a:latin typeface="微软雅黑" panose="020B0503020204020204" pitchFamily="34" charset="-122"/>
              <a:ea typeface="微软雅黑" panose="020B0503020204020204" pitchFamily="34" charset="-122"/>
              <a:sym typeface="Wingdings" panose="05000000000000000000" pitchFamily="2" charset="2"/>
            </a:endParaRPr>
          </a:p>
          <a:p>
            <a:pPr marL="857250" lvl="3" indent="0" eaLnBrk="1" hangingPunct="1">
              <a:lnSpc>
                <a:spcPct val="150000"/>
              </a:lnSpc>
              <a:buNone/>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即：</a:t>
            </a:r>
            <a:endParaRPr lang="en-US" altLang="zh-CN" sz="1800" b="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34228" y="1977422"/>
            <a:ext cx="6655989" cy="369332"/>
          </a:xfrm>
          <a:prstGeom prst="rect">
            <a:avLst/>
          </a:prstGeom>
          <a:noFill/>
        </p:spPr>
        <p:txBody>
          <a:bodyPr wrap="none" rtlCol="0">
            <a:spAutoFit/>
          </a:bodyPr>
          <a:lstStyle/>
          <a:p>
            <a:pPr marL="0" lvl="1"/>
            <a:r>
              <a:rPr lang="zh-CN" altLang="en-US" sz="1800" b="0" dirty="0">
                <a:solidFill>
                  <a:srgbClr val="C00000"/>
                </a:solidFill>
                <a:latin typeface="微软雅黑" panose="020B0503020204020204" pitchFamily="34" charset="-122"/>
                <a:ea typeface="微软雅黑" panose="020B0503020204020204" pitchFamily="34" charset="-122"/>
              </a:rPr>
              <a:t>竞争企业要素使用的边际成本</a:t>
            </a:r>
            <a:r>
              <a:rPr lang="en-US" altLang="zh-CN" sz="1800" b="0" dirty="0">
                <a:solidFill>
                  <a:srgbClr val="C00000"/>
                </a:solidFill>
                <a:latin typeface="微软雅黑" panose="020B0503020204020204" pitchFamily="34" charset="-122"/>
                <a:ea typeface="微软雅黑" panose="020B0503020204020204" pitchFamily="34" charset="-122"/>
              </a:rPr>
              <a:t>(MFC)</a:t>
            </a:r>
            <a:r>
              <a:rPr lang="zh-CN" altLang="en-US" sz="1800" b="0" dirty="0">
                <a:solidFill>
                  <a:srgbClr val="C00000"/>
                </a:solidFill>
                <a:latin typeface="微软雅黑" panose="020B0503020204020204" pitchFamily="34" charset="-122"/>
                <a:ea typeface="微软雅黑" panose="020B0503020204020204" pitchFamily="34" charset="-122"/>
              </a:rPr>
              <a:t>：一种要素一种产品的情形</a:t>
            </a:r>
            <a:endParaRPr lang="en-US" altLang="zh-CN" sz="1800" b="0" dirty="0">
              <a:solidFill>
                <a:srgbClr val="C0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81518" y="1227441"/>
            <a:ext cx="4281941" cy="400110"/>
          </a:xfrm>
          <a:prstGeom prst="rect">
            <a:avLst/>
          </a:prstGeom>
          <a:noFill/>
        </p:spPr>
        <p:txBody>
          <a:bodyPr wrap="none" rtlCol="0">
            <a:spAutoFit/>
          </a:bodyPr>
          <a:lstStyle/>
          <a:p>
            <a:pPr marL="457200" lvl="2" indent="-457200" defTabSz="0" eaLnBrk="1" hangingPunct="1">
              <a:spcBef>
                <a:spcPct val="2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企业使用要素的边际成本：</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MFC</a:t>
            </a:r>
          </a:p>
        </p:txBody>
      </p:sp>
      <p:graphicFrame>
        <p:nvGraphicFramePr>
          <p:cNvPr id="10" name="对象 9"/>
          <p:cNvGraphicFramePr>
            <a:graphicFrameLocks noChangeAspect="1"/>
          </p:cNvGraphicFramePr>
          <p:nvPr>
            <p:extLst>
              <p:ext uri="{D42A27DB-BD31-4B8C-83A1-F6EECF244321}">
                <p14:modId xmlns:p14="http://schemas.microsoft.com/office/powerpoint/2010/main" val="1054403102"/>
              </p:ext>
            </p:extLst>
          </p:nvPr>
        </p:nvGraphicFramePr>
        <p:xfrm>
          <a:off x="2411850" y="3066129"/>
          <a:ext cx="1008070" cy="548249"/>
        </p:xfrm>
        <a:graphic>
          <a:graphicData uri="http://schemas.openxmlformats.org/presentationml/2006/ole">
            <mc:AlternateContent xmlns:mc="http://schemas.openxmlformats.org/markup-compatibility/2006">
              <mc:Choice xmlns:v="urn:schemas-microsoft-com:vml" Requires="v">
                <p:oleObj spid="_x0000_s32307" name="Equation" r:id="rId3" imgW="723600" imgH="393480" progId="Equation.3">
                  <p:embed/>
                </p:oleObj>
              </mc:Choice>
              <mc:Fallback>
                <p:oleObj name="Equation" r:id="rId3" imgW="723600" imgH="393480" progId="Equation.3">
                  <p:embed/>
                  <p:pic>
                    <p:nvPicPr>
                      <p:cNvPr id="0" name=""/>
                      <p:cNvPicPr/>
                      <p:nvPr/>
                    </p:nvPicPr>
                    <p:blipFill>
                      <a:blip r:embed="rId4"/>
                      <a:stretch>
                        <a:fillRect/>
                      </a:stretch>
                    </p:blipFill>
                    <p:spPr>
                      <a:xfrm>
                        <a:off x="2411850" y="3066129"/>
                        <a:ext cx="1008070" cy="548249"/>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23613755"/>
              </p:ext>
            </p:extLst>
          </p:nvPr>
        </p:nvGraphicFramePr>
        <p:xfrm>
          <a:off x="3563930" y="3975249"/>
          <a:ext cx="1560683" cy="589744"/>
        </p:xfrm>
        <a:graphic>
          <a:graphicData uri="http://schemas.openxmlformats.org/presentationml/2006/ole">
            <mc:AlternateContent xmlns:mc="http://schemas.openxmlformats.org/markup-compatibility/2006">
              <mc:Choice xmlns:v="urn:schemas-microsoft-com:vml" Requires="v">
                <p:oleObj spid="_x0000_s32308" name="Equation" r:id="rId5" imgW="1041120" imgH="393480" progId="Equation.3">
                  <p:embed/>
                </p:oleObj>
              </mc:Choice>
              <mc:Fallback>
                <p:oleObj name="Equation" r:id="rId5" imgW="1041120" imgH="393480" progId="Equation.3">
                  <p:embed/>
                  <p:pic>
                    <p:nvPicPr>
                      <p:cNvPr id="10" name="对象 9"/>
                      <p:cNvPicPr/>
                      <p:nvPr/>
                    </p:nvPicPr>
                    <p:blipFill>
                      <a:blip r:embed="rId6"/>
                      <a:stretch>
                        <a:fillRect/>
                      </a:stretch>
                    </p:blipFill>
                    <p:spPr>
                      <a:xfrm>
                        <a:off x="3563930" y="3975249"/>
                        <a:ext cx="1560683" cy="589744"/>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862743352"/>
              </p:ext>
            </p:extLst>
          </p:nvPr>
        </p:nvGraphicFramePr>
        <p:xfrm>
          <a:off x="6948165" y="4584815"/>
          <a:ext cx="1261800" cy="273680"/>
        </p:xfrm>
        <a:graphic>
          <a:graphicData uri="http://schemas.openxmlformats.org/presentationml/2006/ole">
            <mc:AlternateContent xmlns:mc="http://schemas.openxmlformats.org/markup-compatibility/2006">
              <mc:Choice xmlns:v="urn:schemas-microsoft-com:vml" Requires="v">
                <p:oleObj spid="_x0000_s32309" name="Equation" r:id="rId7" imgW="850680" imgH="177480" progId="Equation.3">
                  <p:embed/>
                </p:oleObj>
              </mc:Choice>
              <mc:Fallback>
                <p:oleObj name="Equation" r:id="rId7" imgW="850680" imgH="177480" progId="Equation.3">
                  <p:embed/>
                  <p:pic>
                    <p:nvPicPr>
                      <p:cNvPr id="0" name=""/>
                      <p:cNvPicPr/>
                      <p:nvPr/>
                    </p:nvPicPr>
                    <p:blipFill>
                      <a:blip r:embed="rId8"/>
                      <a:stretch>
                        <a:fillRect/>
                      </a:stretch>
                    </p:blipFill>
                    <p:spPr>
                      <a:xfrm>
                        <a:off x="6948165" y="4584815"/>
                        <a:ext cx="1261800" cy="27368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35300046"/>
              </p:ext>
            </p:extLst>
          </p:nvPr>
        </p:nvGraphicFramePr>
        <p:xfrm>
          <a:off x="1896393" y="4930083"/>
          <a:ext cx="2232155" cy="606989"/>
        </p:xfrm>
        <a:graphic>
          <a:graphicData uri="http://schemas.openxmlformats.org/presentationml/2006/ole">
            <mc:AlternateContent xmlns:mc="http://schemas.openxmlformats.org/markup-compatibility/2006">
              <mc:Choice xmlns:v="urn:schemas-microsoft-com:vml" Requires="v">
                <p:oleObj spid="_x0000_s32310" name="Equation" r:id="rId9" imgW="1447560" imgH="393480" progId="Equation.3">
                  <p:embed/>
                </p:oleObj>
              </mc:Choice>
              <mc:Fallback>
                <p:oleObj name="Equation" r:id="rId9" imgW="1447560" imgH="393480" progId="Equation.3">
                  <p:embed/>
                  <p:pic>
                    <p:nvPicPr>
                      <p:cNvPr id="0" name=""/>
                      <p:cNvPicPr/>
                      <p:nvPr/>
                    </p:nvPicPr>
                    <p:blipFill>
                      <a:blip r:embed="rId10"/>
                      <a:stretch>
                        <a:fillRect/>
                      </a:stretch>
                    </p:blipFill>
                    <p:spPr>
                      <a:xfrm>
                        <a:off x="1896393" y="4930083"/>
                        <a:ext cx="2232155" cy="606989"/>
                      </a:xfrm>
                      <a:prstGeom prst="rect">
                        <a:avLst/>
                      </a:prstGeom>
                    </p:spPr>
                  </p:pic>
                </p:oleObj>
              </mc:Fallback>
            </mc:AlternateContent>
          </a:graphicData>
        </a:graphic>
      </p:graphicFrame>
      <p:sp>
        <p:nvSpPr>
          <p:cNvPr id="14" name="标题 1">
            <a:extLst>
              <a:ext uri="{FF2B5EF4-FFF2-40B4-BE49-F238E27FC236}">
                <a16:creationId xmlns:a16="http://schemas.microsoft.com/office/drawing/2014/main" id="{36E4267B-7F7A-4EEB-8292-0DC664DA1833}"/>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324731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wipe(left)">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70">
                                            <p:txEl>
                                              <p:pRg st="1" end="1"/>
                                            </p:txEl>
                                          </p:spTgt>
                                        </p:tgtEl>
                                        <p:attrNameLst>
                                          <p:attrName>style.visibility</p:attrName>
                                        </p:attrNameLst>
                                      </p:cBhvr>
                                      <p:to>
                                        <p:strVal val="visible"/>
                                      </p:to>
                                    </p:set>
                                    <p:animEffect transition="in" filter="wipe(left)">
                                      <p:cBhvr>
                                        <p:cTn id="22" dur="500"/>
                                        <p:tgtEl>
                                          <p:spTgt spid="7170">
                                            <p:txEl>
                                              <p:pRg st="1" end="1"/>
                                            </p:txEl>
                                          </p:spTgt>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170">
                                            <p:txEl>
                                              <p:pRg st="2" end="2"/>
                                            </p:txEl>
                                          </p:spTgt>
                                        </p:tgtEl>
                                        <p:attrNameLst>
                                          <p:attrName>style.visibility</p:attrName>
                                        </p:attrNameLst>
                                      </p:cBhvr>
                                      <p:to>
                                        <p:strVal val="visible"/>
                                      </p:to>
                                    </p:set>
                                    <p:animEffect transition="in" filter="wipe(left)">
                                      <p:cBhvr>
                                        <p:cTn id="31" dur="500"/>
                                        <p:tgtEl>
                                          <p:spTgt spid="7170">
                                            <p:txEl>
                                              <p:pRg st="2" end="2"/>
                                            </p:txEl>
                                          </p:spTgt>
                                        </p:tgtEl>
                                      </p:cBhvr>
                                    </p:animEffect>
                                  </p:childTnLst>
                                </p:cTn>
                              </p:par>
                            </p:childTnLst>
                          </p:cTn>
                        </p:par>
                        <p:par>
                          <p:cTn id="32" fill="hold">
                            <p:stCondLst>
                              <p:cond delay="500"/>
                            </p:stCondLst>
                            <p:childTnLst>
                              <p:par>
                                <p:cTn id="33" presetID="14" presetClass="entr" presetSubtype="1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randombar(horizontal)">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170">
                                            <p:txEl>
                                              <p:pRg st="4" end="4"/>
                                            </p:txEl>
                                          </p:spTgt>
                                        </p:tgtEl>
                                        <p:attrNameLst>
                                          <p:attrName>style.visibility</p:attrName>
                                        </p:attrNameLst>
                                      </p:cBhvr>
                                      <p:to>
                                        <p:strVal val="visible"/>
                                      </p:to>
                                    </p:set>
                                    <p:animEffect transition="in" filter="wipe(left)">
                                      <p:cBhvr>
                                        <p:cTn id="40" dur="500"/>
                                        <p:tgtEl>
                                          <p:spTgt spid="7170">
                                            <p:txEl>
                                              <p:pRg st="4" end="4"/>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7170">
                                            <p:txEl>
                                              <p:pRg st="5" end="5"/>
                                            </p:txEl>
                                          </p:spTgt>
                                        </p:tgtEl>
                                        <p:attrNameLst>
                                          <p:attrName>style.visibility</p:attrName>
                                        </p:attrNameLst>
                                      </p:cBhvr>
                                      <p:to>
                                        <p:strVal val="visible"/>
                                      </p:to>
                                    </p:set>
                                    <p:animEffect transition="in" filter="wipe(left)">
                                      <p:cBhvr>
                                        <p:cTn id="43" dur="500"/>
                                        <p:tgtEl>
                                          <p:spTgt spid="7170">
                                            <p:txEl>
                                              <p:pRg st="5" end="5"/>
                                            </p:txEl>
                                          </p:spTgt>
                                        </p:tgtEl>
                                      </p:cBhvr>
                                    </p:animEffect>
                                  </p:childTnLst>
                                </p:cTn>
                              </p:par>
                            </p:childTnLst>
                          </p:cTn>
                        </p:par>
                        <p:par>
                          <p:cTn id="44" fill="hold">
                            <p:stCondLst>
                              <p:cond delay="500"/>
                            </p:stCondLst>
                            <p:childTnLst>
                              <p:par>
                                <p:cTn id="45" presetID="14" presetClass="entr" presetSubtype="1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randombar(horizontal)">
                                      <p:cBhvr>
                                        <p:cTn id="47" dur="500"/>
                                        <p:tgtEl>
                                          <p:spTgt spid="12"/>
                                        </p:tgtEl>
                                      </p:cBhvr>
                                    </p:animEffect>
                                  </p:childTnLst>
                                </p:cTn>
                              </p:par>
                              <p:par>
                                <p:cTn id="48" presetID="10" presetClass="entr" presetSubtype="0" fill="hold"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圆角矩形标注 10"/>
          <p:cNvSpPr>
            <a:spLocks noChangeArrowheads="1"/>
          </p:cNvSpPr>
          <p:nvPr/>
        </p:nvSpPr>
        <p:spPr bwMode="auto">
          <a:xfrm>
            <a:off x="5833220" y="2687911"/>
            <a:ext cx="2571750" cy="1634490"/>
          </a:xfrm>
          <a:prstGeom prst="wedgeRoundRectCallout">
            <a:avLst>
              <a:gd name="adj1" fmla="val -63727"/>
              <a:gd name="adj2" fmla="val 72241"/>
              <a:gd name="adj3" fmla="val 16667"/>
            </a:avLst>
          </a:prstGeom>
          <a:noFill/>
          <a:ln w="28575">
            <a:solidFill>
              <a:srgbClr val="C00000"/>
            </a:solidFill>
          </a:ln>
        </p:spPr>
        <p:txBody>
          <a:bodyPr>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假定要素价格也即要素的边际成本为</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W0,</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在完全竞争条件下，</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W0</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不随要素使用量</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的变化而变化。</a:t>
            </a:r>
            <a:endParaRPr lang="zh-CN" altLang="en-US" sz="1800"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D42FBAF9-BE7A-4601-ADF0-7D224C9641EC}"/>
              </a:ext>
            </a:extLst>
          </p:cNvPr>
          <p:cNvSpPr/>
          <p:nvPr/>
        </p:nvSpPr>
        <p:spPr>
          <a:xfrm>
            <a:off x="395710" y="1355113"/>
            <a:ext cx="5775940" cy="400110"/>
          </a:xfrm>
          <a:prstGeom prst="rect">
            <a:avLst/>
          </a:prstGeom>
        </p:spPr>
        <p:txBody>
          <a:bodyPr wrap="none">
            <a:spAutoFit/>
          </a:bodyPr>
          <a:lstStyle/>
          <a:p>
            <a:pPr marL="457200" lvl="2" indent="-457200" defTabSz="0" eaLnBrk="1" hangingPunct="1">
              <a:spcBef>
                <a:spcPct val="2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完全竞争企业使用要素的边际成本：曲线描述</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467544" y="2290317"/>
            <a:ext cx="5916639" cy="3663233"/>
            <a:chOff x="1547789" y="2104587"/>
            <a:chExt cx="5916639" cy="3663233"/>
          </a:xfrm>
        </p:grpSpPr>
        <p:sp>
          <p:nvSpPr>
            <p:cNvPr id="9219" name="Line 4"/>
            <p:cNvSpPr>
              <a:spLocks noChangeShapeType="1"/>
            </p:cNvSpPr>
            <p:nvPr/>
          </p:nvSpPr>
          <p:spPr bwMode="auto">
            <a:xfrm flipV="1">
              <a:off x="3105150" y="2214563"/>
              <a:ext cx="1588" cy="337820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9220" name="Line 5"/>
            <p:cNvSpPr>
              <a:spLocks noChangeShapeType="1"/>
            </p:cNvSpPr>
            <p:nvPr/>
          </p:nvSpPr>
          <p:spPr bwMode="auto">
            <a:xfrm>
              <a:off x="3105150" y="5592763"/>
              <a:ext cx="4132263" cy="317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9225" name="直接连接符 15"/>
            <p:cNvSpPr>
              <a:spLocks noChangeShapeType="1"/>
            </p:cNvSpPr>
            <p:nvPr/>
          </p:nvSpPr>
          <p:spPr bwMode="auto">
            <a:xfrm flipV="1">
              <a:off x="3119438" y="3643313"/>
              <a:ext cx="3667125" cy="25400"/>
            </a:xfrm>
            <a:prstGeom prst="line">
              <a:avLst/>
            </a:prstGeom>
            <a:noFill/>
            <a:ln w="28575"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4160750499"/>
                </p:ext>
              </p:extLst>
            </p:nvPr>
          </p:nvGraphicFramePr>
          <p:xfrm>
            <a:off x="1547789" y="2104587"/>
            <a:ext cx="1485233" cy="555283"/>
          </p:xfrm>
          <a:graphic>
            <a:graphicData uri="http://schemas.openxmlformats.org/presentationml/2006/ole">
              <mc:AlternateContent xmlns:mc="http://schemas.openxmlformats.org/markup-compatibility/2006">
                <mc:Choice xmlns:v="urn:schemas-microsoft-com:vml" Requires="v">
                  <p:oleObj spid="_x0000_s33319" name="Equation" r:id="rId4" imgW="1054080" imgH="393480" progId="Equation.3">
                    <p:embed/>
                  </p:oleObj>
                </mc:Choice>
                <mc:Fallback>
                  <p:oleObj name="Equation" r:id="rId4" imgW="1054080" imgH="393480" progId="Equation.3">
                    <p:embed/>
                    <p:pic>
                      <p:nvPicPr>
                        <p:cNvPr id="13" name="对象 12"/>
                        <p:cNvPicPr/>
                        <p:nvPr/>
                      </p:nvPicPr>
                      <p:blipFill>
                        <a:blip r:embed="rId5"/>
                        <a:stretch>
                          <a:fillRect/>
                        </a:stretch>
                      </p:blipFill>
                      <p:spPr>
                        <a:xfrm>
                          <a:off x="1547789" y="2104587"/>
                          <a:ext cx="1485233" cy="55528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62416728"/>
                </p:ext>
              </p:extLst>
            </p:nvPr>
          </p:nvGraphicFramePr>
          <p:xfrm>
            <a:off x="2577896" y="3530196"/>
            <a:ext cx="455126" cy="277033"/>
          </p:xfrm>
          <a:graphic>
            <a:graphicData uri="http://schemas.openxmlformats.org/presentationml/2006/ole">
              <mc:AlternateContent xmlns:mc="http://schemas.openxmlformats.org/markup-compatibility/2006">
                <mc:Choice xmlns:v="urn:schemas-microsoft-com:vml" Requires="v">
                  <p:oleObj spid="_x0000_s33320" name="Equation" r:id="rId6" imgW="291960" imgH="177480" progId="Equation.3">
                    <p:embed/>
                  </p:oleObj>
                </mc:Choice>
                <mc:Fallback>
                  <p:oleObj name="Equation" r:id="rId6" imgW="291960" imgH="177480" progId="Equation.3">
                    <p:embed/>
                    <p:pic>
                      <p:nvPicPr>
                        <p:cNvPr id="0" name=""/>
                        <p:cNvPicPr/>
                        <p:nvPr/>
                      </p:nvPicPr>
                      <p:blipFill>
                        <a:blip r:embed="rId7"/>
                        <a:stretch>
                          <a:fillRect/>
                        </a:stretch>
                      </p:blipFill>
                      <p:spPr>
                        <a:xfrm>
                          <a:off x="2577896" y="3530196"/>
                          <a:ext cx="455126" cy="27703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89095950"/>
                </p:ext>
              </p:extLst>
            </p:nvPr>
          </p:nvGraphicFramePr>
          <p:xfrm>
            <a:off x="2740807" y="5426902"/>
            <a:ext cx="292215" cy="340918"/>
          </p:xfrm>
          <a:graphic>
            <a:graphicData uri="http://schemas.openxmlformats.org/presentationml/2006/ole">
              <mc:AlternateContent xmlns:mc="http://schemas.openxmlformats.org/markup-compatibility/2006">
                <mc:Choice xmlns:v="urn:schemas-microsoft-com:vml" Requires="v">
                  <p:oleObj spid="_x0000_s33321" name="Equation" r:id="rId8" imgW="152280" imgH="177480" progId="Equation.3">
                    <p:embed/>
                  </p:oleObj>
                </mc:Choice>
                <mc:Fallback>
                  <p:oleObj name="Equation" r:id="rId8" imgW="152280" imgH="177480" progId="Equation.3">
                    <p:embed/>
                    <p:pic>
                      <p:nvPicPr>
                        <p:cNvPr id="0" name=""/>
                        <p:cNvPicPr/>
                        <p:nvPr/>
                      </p:nvPicPr>
                      <p:blipFill>
                        <a:blip r:embed="rId9"/>
                        <a:stretch>
                          <a:fillRect/>
                        </a:stretch>
                      </p:blipFill>
                      <p:spPr>
                        <a:xfrm>
                          <a:off x="2740807" y="5426902"/>
                          <a:ext cx="292215" cy="34091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11445071"/>
                </p:ext>
              </p:extLst>
            </p:nvPr>
          </p:nvGraphicFramePr>
          <p:xfrm>
            <a:off x="7250568" y="5515076"/>
            <a:ext cx="213860" cy="252744"/>
          </p:xfrm>
          <a:graphic>
            <a:graphicData uri="http://schemas.openxmlformats.org/presentationml/2006/ole">
              <mc:AlternateContent xmlns:mc="http://schemas.openxmlformats.org/markup-compatibility/2006">
                <mc:Choice xmlns:v="urn:schemas-microsoft-com:vml" Requires="v">
                  <p:oleObj spid="_x0000_s33322" name="Equation" r:id="rId10" imgW="139680" imgH="164880" progId="Equation.3">
                    <p:embed/>
                  </p:oleObj>
                </mc:Choice>
                <mc:Fallback>
                  <p:oleObj name="Equation" r:id="rId10" imgW="139680" imgH="164880" progId="Equation.3">
                    <p:embed/>
                    <p:pic>
                      <p:nvPicPr>
                        <p:cNvPr id="0" name=""/>
                        <p:cNvPicPr/>
                        <p:nvPr/>
                      </p:nvPicPr>
                      <p:blipFill>
                        <a:blip r:embed="rId11"/>
                        <a:stretch>
                          <a:fillRect/>
                        </a:stretch>
                      </p:blipFill>
                      <p:spPr>
                        <a:xfrm>
                          <a:off x="7250568" y="5515076"/>
                          <a:ext cx="213860" cy="252744"/>
                        </a:xfrm>
                        <a:prstGeom prst="rect">
                          <a:avLst/>
                        </a:prstGeom>
                      </p:spPr>
                    </p:pic>
                  </p:oleObj>
                </mc:Fallback>
              </mc:AlternateContent>
            </a:graphicData>
          </a:graphic>
        </p:graphicFrame>
      </p:grpSp>
      <p:sp>
        <p:nvSpPr>
          <p:cNvPr id="14" name="标题 1">
            <a:extLst>
              <a:ext uri="{FF2B5EF4-FFF2-40B4-BE49-F238E27FC236}">
                <a16:creationId xmlns:a16="http://schemas.microsoft.com/office/drawing/2014/main" id="{F04C8A2D-6FB3-4961-9ACE-266524542ECA}"/>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 grpId="0" animBg="1"/>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2E1D167-2D51-47EE-8CA8-1E1607A3745D}"/>
              </a:ext>
            </a:extLst>
          </p:cNvPr>
          <p:cNvSpPr/>
          <p:nvPr/>
        </p:nvSpPr>
        <p:spPr>
          <a:xfrm>
            <a:off x="611725" y="1359723"/>
            <a:ext cx="4237057" cy="400110"/>
          </a:xfrm>
          <a:prstGeom prst="rect">
            <a:avLst/>
          </a:prstGeom>
        </p:spPr>
        <p:txBody>
          <a:bodyPr wrap="none">
            <a:spAutoFit/>
          </a:bodyPr>
          <a:lstStyle/>
          <a:p>
            <a:pPr marL="457200" lvl="2" indent="-457200" defTabSz="0" eaLnBrk="1" hangingPunct="1">
              <a:spcBef>
                <a:spcPct val="2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完全竞争企业的要素使用原则：</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62C2827F-01FB-438D-944D-3AD41012E92D}"/>
              </a:ext>
            </a:extLst>
          </p:cNvPr>
          <p:cNvSpPr/>
          <p:nvPr/>
        </p:nvSpPr>
        <p:spPr>
          <a:xfrm>
            <a:off x="2247003" y="2034545"/>
            <a:ext cx="5243452" cy="461665"/>
          </a:xfrm>
          <a:prstGeom prst="rect">
            <a:avLst/>
          </a:prstGeom>
        </p:spPr>
        <p:txBody>
          <a:bodyPr wrap="square">
            <a:spAutoFit/>
          </a:bodyPr>
          <a:lstStyle/>
          <a:p>
            <a:pPr marL="0" lvl="2"/>
            <a:r>
              <a:rPr lang="zh-CN" altLang="en-US" sz="24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或者</a:t>
            </a:r>
            <a:r>
              <a:rPr lang="zh-CN" altLang="en-US" sz="24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利润最大化</a:t>
            </a: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55306092"/>
              </p:ext>
            </p:extLst>
          </p:nvPr>
        </p:nvGraphicFramePr>
        <p:xfrm>
          <a:off x="2174875" y="2138363"/>
          <a:ext cx="1198563" cy="309562"/>
        </p:xfrm>
        <a:graphic>
          <a:graphicData uri="http://schemas.openxmlformats.org/presentationml/2006/ole">
            <mc:AlternateContent xmlns:mc="http://schemas.openxmlformats.org/markup-compatibility/2006">
              <mc:Choice xmlns:v="urn:schemas-microsoft-com:vml" Requires="v">
                <p:oleObj spid="_x0000_s34741" name="Equation" r:id="rId5" imgW="685800" imgH="177480" progId="Equation.3">
                  <p:embed/>
                </p:oleObj>
              </mc:Choice>
              <mc:Fallback>
                <p:oleObj name="Equation" r:id="rId5" imgW="685800" imgH="177480" progId="Equation.3">
                  <p:embed/>
                  <p:pic>
                    <p:nvPicPr>
                      <p:cNvPr id="0" name=""/>
                      <p:cNvPicPr/>
                      <p:nvPr/>
                    </p:nvPicPr>
                    <p:blipFill>
                      <a:blip r:embed="rId6"/>
                      <a:stretch>
                        <a:fillRect/>
                      </a:stretch>
                    </p:blipFill>
                    <p:spPr>
                      <a:xfrm>
                        <a:off x="2174875" y="2138363"/>
                        <a:ext cx="1198563" cy="30956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59710562"/>
              </p:ext>
            </p:extLst>
          </p:nvPr>
        </p:nvGraphicFramePr>
        <p:xfrm>
          <a:off x="3975868" y="2123356"/>
          <a:ext cx="1592029" cy="309560"/>
        </p:xfrm>
        <a:graphic>
          <a:graphicData uri="http://schemas.openxmlformats.org/presentationml/2006/ole">
            <mc:AlternateContent xmlns:mc="http://schemas.openxmlformats.org/markup-compatibility/2006">
              <mc:Choice xmlns:v="urn:schemas-microsoft-com:vml" Requires="v">
                <p:oleObj spid="_x0000_s34742" name="Equation" r:id="rId7" imgW="914400" imgH="177480" progId="Equation.3">
                  <p:embed/>
                </p:oleObj>
              </mc:Choice>
              <mc:Fallback>
                <p:oleObj name="Equation" r:id="rId7" imgW="914400" imgH="177480" progId="Equation.3">
                  <p:embed/>
                  <p:pic>
                    <p:nvPicPr>
                      <p:cNvPr id="0" name=""/>
                      <p:cNvPicPr/>
                      <p:nvPr/>
                    </p:nvPicPr>
                    <p:blipFill>
                      <a:blip r:embed="rId8"/>
                      <a:stretch>
                        <a:fillRect/>
                      </a:stretch>
                    </p:blipFill>
                    <p:spPr>
                      <a:xfrm>
                        <a:off x="3975868" y="2123356"/>
                        <a:ext cx="1592029" cy="309560"/>
                      </a:xfrm>
                      <a:prstGeom prst="rect">
                        <a:avLst/>
                      </a:prstGeom>
                    </p:spPr>
                  </p:pic>
                </p:oleObj>
              </mc:Fallback>
            </mc:AlternateContent>
          </a:graphicData>
        </a:graphic>
      </p:graphicFrame>
      <p:sp>
        <p:nvSpPr>
          <p:cNvPr id="12" name="MH_Text_1">
            <a:extLst>
              <a:ext uri="{FF2B5EF4-FFF2-40B4-BE49-F238E27FC236}">
                <a16:creationId xmlns:a16="http://schemas.microsoft.com/office/drawing/2014/main" id="{7F1EE33B-DD63-42A8-86A7-757932B8049A}"/>
              </a:ext>
            </a:extLst>
          </p:cNvPr>
          <p:cNvSpPr/>
          <p:nvPr>
            <p:custDataLst>
              <p:tags r:id="rId2"/>
            </p:custDataLst>
          </p:nvPr>
        </p:nvSpPr>
        <p:spPr bwMode="auto">
          <a:xfrm>
            <a:off x="894347" y="2708950"/>
            <a:ext cx="1251200"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defTabSz="457200" eaLnBrk="1" hangingPunct="1">
              <a:defRPr/>
            </a:pPr>
            <a:r>
              <a:rPr lang="zh-CN" altLang="en-US" sz="1800" b="0" spc="150" dirty="0">
                <a:solidFill>
                  <a:srgbClr val="000000"/>
                </a:solidFill>
                <a:latin typeface="微软雅黑" panose="020B0503020204020204" pitchFamily="34" charset="-122"/>
                <a:ea typeface="微软雅黑" panose="020B0503020204020204" pitchFamily="34" charset="-122"/>
              </a:rPr>
              <a:t>注意</a:t>
            </a:r>
          </a:p>
        </p:txBody>
      </p:sp>
      <p:sp>
        <p:nvSpPr>
          <p:cNvPr id="13" name="MH_Other_2">
            <a:extLst>
              <a:ext uri="{FF2B5EF4-FFF2-40B4-BE49-F238E27FC236}">
                <a16:creationId xmlns:a16="http://schemas.microsoft.com/office/drawing/2014/main" id="{E635624F-D191-4C19-B11A-618C7FE0256E}"/>
              </a:ext>
            </a:extLst>
          </p:cNvPr>
          <p:cNvSpPr/>
          <p:nvPr>
            <p:custDataLst>
              <p:tags r:id="rId3"/>
            </p:custDataLst>
          </p:nvPr>
        </p:nvSpPr>
        <p:spPr bwMode="auto">
          <a:xfrm rot="10800000">
            <a:off x="2003149" y="2708950"/>
            <a:ext cx="142398" cy="104847"/>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sp>
        <p:nvSpPr>
          <p:cNvPr id="19" name="标题 1">
            <a:extLst>
              <a:ext uri="{FF2B5EF4-FFF2-40B4-BE49-F238E27FC236}">
                <a16:creationId xmlns:a16="http://schemas.microsoft.com/office/drawing/2014/main" id="{FD39C625-FB57-4CAB-A57D-A41A69584A15}"/>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20" name="矩形: 圆角 35">
            <a:extLst>
              <a:ext uri="{FF2B5EF4-FFF2-40B4-BE49-F238E27FC236}">
                <a16:creationId xmlns:a16="http://schemas.microsoft.com/office/drawing/2014/main" id="{9D72633B-1421-463C-BABB-D2CD873291BB}"/>
              </a:ext>
            </a:extLst>
          </p:cNvPr>
          <p:cNvSpPr/>
          <p:nvPr/>
        </p:nvSpPr>
        <p:spPr>
          <a:xfrm>
            <a:off x="8328555" y="-830288"/>
            <a:ext cx="2411558" cy="476358"/>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Slide 5</a:t>
            </a:r>
            <a:endParaRPr lang="zh-CN" altLang="en-US" sz="4000" dirty="0"/>
          </a:p>
        </p:txBody>
      </p:sp>
      <mc:AlternateContent xmlns:mc="http://schemas.openxmlformats.org/markup-compatibility/2006" xmlns:a14="http://schemas.microsoft.com/office/drawing/2010/main">
        <mc:Choice Requires="a14">
          <p:sp>
            <p:nvSpPr>
              <p:cNvPr id="25" name="矩形 24"/>
              <p:cNvSpPr/>
              <p:nvPr/>
            </p:nvSpPr>
            <p:spPr>
              <a:xfrm>
                <a:off x="827740" y="3520410"/>
                <a:ext cx="8435824" cy="2276072"/>
              </a:xfrm>
              <a:prstGeom prst="rect">
                <a:avLst/>
              </a:prstGeom>
            </p:spPr>
            <p:txBody>
              <a:bodyPr wrap="square">
                <a:spAutoFit/>
              </a:bodyPr>
              <a:lstStyle/>
              <a:p>
                <a:pPr marL="285750" lvl="2" indent="-28575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要素使用原则仍然是</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MR=MC</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，只是这里的</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MR</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和</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MC</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定义有了变化；</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285750" lvl="2" indent="-28575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这里定义的</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MR</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是</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MRP=</a:t>
                </a:r>
                <a14:m>
                  <m:oMath xmlns:m="http://schemas.openxmlformats.org/officeDocument/2006/math">
                    <m:f>
                      <m:f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b="0">
                            <a:latin typeface="Cambria Math" panose="02040503050406030204" pitchFamily="18" charset="0"/>
                            <a:ea typeface="微软雅黑" panose="020B0503020204020204" pitchFamily="34" charset="-122"/>
                            <a:sym typeface="Arial" panose="020B0604020202020204" pitchFamily="34" charset="0"/>
                          </a:rPr>
                          <m:t>𝑑𝑅</m:t>
                        </m:r>
                      </m:num>
                      <m:den>
                        <m:r>
                          <a:rPr lang="en-US" altLang="zh-CN" sz="1800" b="0">
                            <a:latin typeface="Cambria Math" panose="02040503050406030204" pitchFamily="18" charset="0"/>
                            <a:ea typeface="微软雅黑" panose="020B0503020204020204" pitchFamily="34" charset="-122"/>
                            <a:sym typeface="Arial" panose="020B0604020202020204" pitchFamily="34" charset="0"/>
                          </a:rPr>
                          <m:t>𝑑𝐿</m:t>
                        </m:r>
                      </m:den>
                    </m:f>
                    <m:r>
                      <a:rPr lang="en-US" altLang="zh-CN" sz="1800" b="0">
                        <a:latin typeface="Cambria Math" panose="02040503050406030204" pitchFamily="18" charset="0"/>
                        <a:ea typeface="微软雅黑" panose="020B0503020204020204" pitchFamily="34" charset="-122"/>
                        <a:sym typeface="Arial" panose="020B0604020202020204" pitchFamily="34" charset="0"/>
                      </a:rPr>
                      <m:t>=</m:t>
                    </m:r>
                    <m:r>
                      <a:rPr lang="en-US" altLang="zh-CN" sz="1800" b="0">
                        <a:latin typeface="Cambria Math" panose="02040503050406030204" pitchFamily="18" charset="0"/>
                        <a:ea typeface="微软雅黑" panose="020B0503020204020204" pitchFamily="34" charset="-122"/>
                        <a:sym typeface="Arial" panose="020B0604020202020204" pitchFamily="34" charset="0"/>
                      </a:rPr>
                      <m:t>𝑀𝑅</m:t>
                    </m:r>
                    <m:r>
                      <a:rPr lang="en-US" altLang="zh-CN" sz="1800" b="0">
                        <a:latin typeface="Cambria Math" panose="02040503050406030204" pitchFamily="18" charset="0"/>
                        <a:ea typeface="微软雅黑" panose="020B0503020204020204" pitchFamily="34" charset="-122"/>
                        <a:sym typeface="Arial" panose="020B0604020202020204" pitchFamily="34" charset="0"/>
                      </a:rPr>
                      <m:t>∙</m:t>
                    </m:r>
                    <m:r>
                      <a:rPr lang="en-US" altLang="zh-CN" sz="1800" b="0">
                        <a:latin typeface="Cambria Math" panose="02040503050406030204" pitchFamily="18" charset="0"/>
                        <a:ea typeface="微软雅黑" panose="020B0503020204020204" pitchFamily="34" charset="-122"/>
                        <a:sym typeface="Arial" panose="020B0604020202020204" pitchFamily="34" charset="0"/>
                      </a:rPr>
                      <m:t>𝑀𝑃</m:t>
                    </m:r>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而</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VMP</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定义是</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VMP=</a:t>
                </a:r>
                <a14:m>
                  <m:oMath xmlns:m="http://schemas.openxmlformats.org/officeDocument/2006/math">
                    <m:r>
                      <a:rPr lang="en-US" altLang="zh-CN" sz="1800" b="0">
                        <a:latin typeface="Cambria Math" panose="02040503050406030204" pitchFamily="18" charset="0"/>
                        <a:ea typeface="微软雅黑" panose="020B0503020204020204" pitchFamily="34" charset="-122"/>
                        <a:sym typeface="Arial" panose="020B0604020202020204" pitchFamily="34" charset="0"/>
                      </a:rPr>
                      <m:t>𝑃</m:t>
                    </m:r>
                    <m:r>
                      <a:rPr lang="en-US" altLang="zh-CN" sz="1800" b="0">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b="0">
                            <a:latin typeface="Cambria Math" panose="02040503050406030204" pitchFamily="18" charset="0"/>
                            <a:ea typeface="微软雅黑" panose="020B0503020204020204" pitchFamily="34" charset="-122"/>
                            <a:sym typeface="Arial" panose="020B0604020202020204" pitchFamily="34" charset="0"/>
                          </a:rPr>
                          <m:t>𝑑𝑄</m:t>
                        </m:r>
                      </m:num>
                      <m:den>
                        <m:r>
                          <a:rPr lang="en-US" altLang="zh-CN" sz="1800" b="0">
                            <a:latin typeface="Cambria Math" panose="02040503050406030204" pitchFamily="18" charset="0"/>
                            <a:ea typeface="微软雅黑" panose="020B0503020204020204" pitchFamily="34" charset="-122"/>
                            <a:sym typeface="Arial" panose="020B0604020202020204" pitchFamily="34" charset="0"/>
                          </a:rPr>
                          <m:t>𝑑𝐿</m:t>
                        </m:r>
                      </m:den>
                    </m:f>
                    <m:r>
                      <a:rPr lang="en-US" altLang="zh-CN" sz="1800" b="0">
                        <a:latin typeface="Cambria Math" panose="02040503050406030204" pitchFamily="18" charset="0"/>
                        <a:ea typeface="微软雅黑" panose="020B0503020204020204" pitchFamily="34" charset="-122"/>
                        <a:sym typeface="Arial" panose="020B0604020202020204" pitchFamily="34" charset="0"/>
                      </a:rPr>
                      <m:t>=</m:t>
                    </m:r>
                    <m:r>
                      <a:rPr lang="en-US" altLang="zh-CN" sz="1800" b="0">
                        <a:latin typeface="Cambria Math" panose="02040503050406030204" pitchFamily="18" charset="0"/>
                        <a:ea typeface="微软雅黑" panose="020B0503020204020204" pitchFamily="34" charset="-122"/>
                        <a:sym typeface="Arial" panose="020B0604020202020204" pitchFamily="34" charset="0"/>
                      </a:rPr>
                      <m:t>𝑃</m:t>
                    </m:r>
                    <m:r>
                      <a:rPr lang="en-US" altLang="zh-CN" sz="1800" b="0">
                        <a:latin typeface="Cambria Math" panose="02040503050406030204" pitchFamily="18" charset="0"/>
                        <a:ea typeface="微软雅黑" panose="020B0503020204020204" pitchFamily="34" charset="-122"/>
                        <a:sym typeface="Arial" panose="020B0604020202020204" pitchFamily="34" charset="0"/>
                      </a:rPr>
                      <m:t>∙</m:t>
                    </m:r>
                    <m:r>
                      <a:rPr lang="en-US" altLang="zh-CN" sz="1800" b="0">
                        <a:latin typeface="Cambria Math" panose="02040503050406030204" pitchFamily="18" charset="0"/>
                        <a:ea typeface="微软雅黑" panose="020B0503020204020204" pitchFamily="34" charset="-122"/>
                        <a:sym typeface="Arial" panose="020B0604020202020204" pitchFamily="34" charset="0"/>
                      </a:rPr>
                      <m:t>𝑀𝑃</m:t>
                    </m:r>
                  </m:oMath>
                </a14:m>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285750" lvl="2" indent="-28575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在竞争条件下，</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MR=P</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MRP=VMP</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，即</a:t>
                </a:r>
                <a14:m>
                  <m:oMath xmlns:m="http://schemas.openxmlformats.org/officeDocument/2006/math">
                    <m:f>
                      <m:f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b="0">
                            <a:latin typeface="Cambria Math" panose="02040503050406030204" pitchFamily="18" charset="0"/>
                            <a:ea typeface="微软雅黑" panose="020B0503020204020204" pitchFamily="34" charset="-122"/>
                            <a:sym typeface="Arial" panose="020B0604020202020204" pitchFamily="34" charset="0"/>
                          </a:rPr>
                          <m:t>𝑑𝑅</m:t>
                        </m:r>
                      </m:num>
                      <m:den>
                        <m:r>
                          <a:rPr lang="en-US" altLang="zh-CN" sz="1800" b="0">
                            <a:latin typeface="Cambria Math" panose="02040503050406030204" pitchFamily="18" charset="0"/>
                            <a:ea typeface="微软雅黑" panose="020B0503020204020204" pitchFamily="34" charset="-122"/>
                            <a:sym typeface="Arial" panose="020B0604020202020204" pitchFamily="34" charset="0"/>
                          </a:rPr>
                          <m:t>𝑑𝐿</m:t>
                        </m:r>
                      </m:den>
                    </m:f>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=VMP</a:t>
                </a:r>
              </a:p>
              <a:p>
                <a:pPr marL="285750" lvl="2" indent="-28575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同样，只有竞争条件下，才有</a:t>
                </a:r>
                <a14:m>
                  <m:oMath xmlns:m="http://schemas.openxmlformats.org/officeDocument/2006/math">
                    <m:f>
                      <m:f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b="0">
                            <a:latin typeface="Cambria Math" panose="02040503050406030204" pitchFamily="18" charset="0"/>
                            <a:ea typeface="微软雅黑" panose="020B0503020204020204" pitchFamily="34" charset="-122"/>
                            <a:sym typeface="Arial" panose="020B0604020202020204" pitchFamily="34" charset="0"/>
                          </a:rPr>
                          <m:t>𝑑𝐶</m:t>
                        </m:r>
                      </m:num>
                      <m:den>
                        <m:r>
                          <a:rPr lang="en-US" altLang="zh-CN" sz="1800" b="0">
                            <a:latin typeface="Cambria Math" panose="02040503050406030204" pitchFamily="18" charset="0"/>
                            <a:ea typeface="微软雅黑" panose="020B0503020204020204" pitchFamily="34" charset="-122"/>
                            <a:sym typeface="Arial" panose="020B0604020202020204" pitchFamily="34" charset="0"/>
                          </a:rPr>
                          <m:t>𝑑𝐿</m:t>
                        </m:r>
                      </m:den>
                    </m:f>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=W</a:t>
                </a:r>
              </a:p>
            </p:txBody>
          </p:sp>
        </mc:Choice>
        <mc:Fallback xmlns="">
          <p:sp>
            <p:nvSpPr>
              <p:cNvPr id="25" name="矩形 24"/>
              <p:cNvSpPr>
                <a:spLocks noRot="1" noChangeAspect="1" noMove="1" noResize="1" noEditPoints="1" noAdjustHandles="1" noChangeArrowheads="1" noChangeShapeType="1" noTextEdit="1"/>
              </p:cNvSpPr>
              <p:nvPr/>
            </p:nvSpPr>
            <p:spPr>
              <a:xfrm>
                <a:off x="827740" y="3520410"/>
                <a:ext cx="8435824" cy="2276072"/>
              </a:xfrm>
              <a:prstGeom prst="rect">
                <a:avLst/>
              </a:prstGeom>
              <a:blipFill>
                <a:blip r:embed="rId9"/>
                <a:stretch>
                  <a:fillRect l="-506" b="-53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animBg="1"/>
      <p:bldP spid="13"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7" name="Group 2"/>
          <p:cNvGraphicFramePr>
            <a:graphicFrameLocks noGrp="1"/>
          </p:cNvGraphicFramePr>
          <p:nvPr>
            <p:extLst>
              <p:ext uri="{D42A27DB-BD31-4B8C-83A1-F6EECF244321}">
                <p14:modId xmlns:p14="http://schemas.microsoft.com/office/powerpoint/2010/main" val="3885610971"/>
              </p:ext>
            </p:extLst>
          </p:nvPr>
        </p:nvGraphicFramePr>
        <p:xfrm>
          <a:off x="1115760" y="2504456"/>
          <a:ext cx="7058025" cy="3500264"/>
        </p:xfrm>
        <a:graphic>
          <a:graphicData uri="http://schemas.openxmlformats.org/drawingml/2006/table">
            <a:tbl>
              <a:tblPr>
                <a:tableStyleId>{5940675A-B579-460E-94D1-54222C63F5DA}</a:tableStyleId>
              </a:tblPr>
              <a:tblGrid>
                <a:gridCol w="1054100">
                  <a:extLst>
                    <a:ext uri="{9D8B030D-6E8A-4147-A177-3AD203B41FA5}">
                      <a16:colId xmlns:a16="http://schemas.microsoft.com/office/drawing/2014/main" val="4167910956"/>
                    </a:ext>
                  </a:extLst>
                </a:gridCol>
                <a:gridCol w="841375">
                  <a:extLst>
                    <a:ext uri="{9D8B030D-6E8A-4147-A177-3AD203B41FA5}">
                      <a16:colId xmlns:a16="http://schemas.microsoft.com/office/drawing/2014/main" val="3852426543"/>
                    </a:ext>
                  </a:extLst>
                </a:gridCol>
                <a:gridCol w="1458913">
                  <a:extLst>
                    <a:ext uri="{9D8B030D-6E8A-4147-A177-3AD203B41FA5}">
                      <a16:colId xmlns:a16="http://schemas.microsoft.com/office/drawing/2014/main" val="2346329686"/>
                    </a:ext>
                  </a:extLst>
                </a:gridCol>
                <a:gridCol w="1628775">
                  <a:extLst>
                    <a:ext uri="{9D8B030D-6E8A-4147-A177-3AD203B41FA5}">
                      <a16:colId xmlns:a16="http://schemas.microsoft.com/office/drawing/2014/main" val="1992400982"/>
                    </a:ext>
                  </a:extLst>
                </a:gridCol>
                <a:gridCol w="2074862">
                  <a:extLst>
                    <a:ext uri="{9D8B030D-6E8A-4147-A177-3AD203B41FA5}">
                      <a16:colId xmlns:a16="http://schemas.microsoft.com/office/drawing/2014/main" val="653811381"/>
                    </a:ext>
                  </a:extLst>
                </a:gridCol>
              </a:tblGrid>
              <a:tr h="657603">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劳动投入</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kern="1200" cap="none" normalizeH="0" baseline="0" dirty="0">
                          <a:ln>
                            <a:noFill/>
                          </a:ln>
                          <a:effectLst/>
                          <a:sym typeface="Times New Roman" panose="02020603050405020304" pitchFamily="18" charset="0"/>
                        </a:rPr>
                        <a:t>产量</a:t>
                      </a:r>
                      <a:endParaRPr kumimoji="0" lang="en-US" altLang="zh-CN"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kern="1200" cap="none" normalizeH="0" baseline="0" dirty="0">
                          <a:ln>
                            <a:noFill/>
                          </a:ln>
                          <a:effectLst/>
                          <a:sym typeface="Times New Roman" panose="02020603050405020304" pitchFamily="18" charset="0"/>
                        </a:rPr>
                        <a:t>产品价格</a:t>
                      </a:r>
                      <a:endParaRPr kumimoji="0" lang="en-US" altLang="zh-CN" sz="1600" u="none" strike="noStrike" kern="1200" cap="none" normalizeH="0" baseline="0" dirty="0">
                        <a:ln>
                          <a:noFill/>
                        </a:ln>
                        <a:effectLst/>
                        <a:sym typeface="Times New Roman" panose="02020603050405020304" pitchFamily="18" charset="0"/>
                      </a:endParaRPr>
                    </a:p>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kern="1200" cap="none" normalizeH="0" baseline="0" dirty="0">
                          <a:ln>
                            <a:noFill/>
                          </a:ln>
                          <a:effectLst/>
                          <a:sym typeface="Times New Roman" panose="02020603050405020304" pitchFamily="18" charset="0"/>
                        </a:rPr>
                        <a:t>边际收益</a:t>
                      </a:r>
                      <a:endParaRPr kumimoji="0" lang="en-US" altLang="zh-CN"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kern="1200" cap="none" normalizeH="0" baseline="0" dirty="0">
                          <a:ln>
                            <a:noFill/>
                          </a:ln>
                          <a:effectLst/>
                          <a:sym typeface="Times New Roman" panose="02020603050405020304" pitchFamily="18" charset="0"/>
                        </a:rPr>
                        <a:t>边际产品</a:t>
                      </a:r>
                      <a:r>
                        <a:rPr kumimoji="0" lang="en-US" altLang="zh-CN" sz="1600" u="none" strike="noStrike" kern="1200" cap="none" normalizeH="0" baseline="0" dirty="0">
                          <a:ln>
                            <a:noFill/>
                          </a:ln>
                          <a:effectLst/>
                          <a:sym typeface="Times New Roman" panose="02020603050405020304" pitchFamily="18" charset="0"/>
                        </a:rPr>
                        <a:t>MP</a:t>
                      </a:r>
                      <a:endPar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边际产品值</a:t>
                      </a:r>
                      <a:endParaRPr kumimoji="0" lang="en-US" altLang="zh-CN" sz="1600" u="none" strike="noStrike" cap="none" normalizeH="0" baseline="0" dirty="0">
                        <a:ln>
                          <a:noFill/>
                        </a:ln>
                        <a:effectLst/>
                        <a:sym typeface="Times New Roman" panose="02020603050405020304" pitchFamily="18" charset="0"/>
                      </a:endParaRPr>
                    </a:p>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边际收益产品</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1817316416"/>
                  </a:ext>
                </a:extLst>
              </a:tr>
              <a:tr h="475307">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L</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Q</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P=MR</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en-US"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en-US" altLang="zh-CN" sz="1600" b="0" i="1" u="none" strike="noStrike" cap="none" normalizeH="0" baseline="0" dirty="0">
                        <a:ln>
                          <a:noFill/>
                        </a:ln>
                        <a:solidFill>
                          <a:srgbClr val="7030A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3817563183"/>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0</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0</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dirty="0">
                        <a:ln>
                          <a:noFill/>
                        </a:ln>
                        <a:solidFill>
                          <a:srgbClr val="7030A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436797844"/>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100</a:t>
                      </a:r>
                      <a:endParaRPr kumimoji="0" lang="en-US" altLang="zh-CN" sz="1600" b="0" i="1"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3248432676"/>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8</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80</a:t>
                      </a:r>
                      <a:endParaRPr kumimoji="0" lang="en-US" altLang="zh-CN" sz="1600" b="0" i="1"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73286692"/>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3</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24</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6</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60</a:t>
                      </a:r>
                      <a:endParaRPr kumimoji="0" lang="en-US" altLang="zh-CN" sz="1600" b="0" i="1"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3157880193"/>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4</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4</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40</a:t>
                      </a:r>
                      <a:endParaRPr kumimoji="0" lang="en-US" altLang="zh-CN" sz="1600" b="0" i="1"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251597797"/>
                  </a:ext>
                </a:extLst>
              </a:tr>
              <a:tr h="394559">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5</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30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20</a:t>
                      </a:r>
                      <a:endParaRPr kumimoji="0" lang="en-US" altLang="zh-CN" sz="1600" b="0" i="1"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843159673"/>
                  </a:ext>
                </a:extLst>
              </a:tr>
            </a:tbl>
          </a:graphicData>
        </a:graphic>
      </p:graphicFrame>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97E6944-8BFF-4EC2-BEB6-936EF78F7FB9}"/>
              </a:ext>
            </a:extLst>
          </p:cNvPr>
          <p:cNvSpPr/>
          <p:nvPr/>
        </p:nvSpPr>
        <p:spPr>
          <a:xfrm>
            <a:off x="1424990" y="1264174"/>
            <a:ext cx="6091876" cy="875251"/>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A172BEFA-0D9A-4D9D-8E96-EAB12E0413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987364" y="1376141"/>
            <a:ext cx="875251" cy="875251"/>
          </a:xfrm>
          <a:prstGeom prst="rect">
            <a:avLst/>
          </a:prstGeom>
        </p:spPr>
      </p:pic>
      <p:pic>
        <p:nvPicPr>
          <p:cNvPr id="8" name="图片 7">
            <a:extLst>
              <a:ext uri="{FF2B5EF4-FFF2-40B4-BE49-F238E27FC236}">
                <a16:creationId xmlns:a16="http://schemas.microsoft.com/office/drawing/2014/main" id="{7EFE2494-C995-4CDB-A405-0D8167D137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6006" y="1701799"/>
            <a:ext cx="570860" cy="570860"/>
          </a:xfrm>
          <a:prstGeom prst="rect">
            <a:avLst/>
          </a:prstGeom>
        </p:spPr>
      </p:pic>
      <p:sp>
        <p:nvSpPr>
          <p:cNvPr id="9" name="矩形 8">
            <a:extLst>
              <a:ext uri="{FF2B5EF4-FFF2-40B4-BE49-F238E27FC236}">
                <a16:creationId xmlns:a16="http://schemas.microsoft.com/office/drawing/2014/main" id="{20E41E1C-F8E2-429A-B198-48C7C7BCCBD2}"/>
              </a:ext>
            </a:extLst>
          </p:cNvPr>
          <p:cNvSpPr/>
          <p:nvPr/>
        </p:nvSpPr>
        <p:spPr>
          <a:xfrm>
            <a:off x="1915488" y="1517133"/>
            <a:ext cx="4977645" cy="369332"/>
          </a:xfrm>
          <a:prstGeom prst="rect">
            <a:avLst/>
          </a:prstGeom>
        </p:spPr>
        <p:txBody>
          <a:bodyPr wrap="none">
            <a:spAutoFit/>
          </a:bodyPr>
          <a:lstStyle/>
          <a:p>
            <a:pPr algn="ctr" eaLnBrk="1" hangingPunct="1">
              <a:spcBef>
                <a:spcPct val="20000"/>
              </a:spcBef>
            </a:pPr>
            <a:r>
              <a:rPr lang="zh-CN" altLang="en-US" sz="1800" b="0" dirty="0">
                <a:latin typeface="微软雅黑" panose="020B0503020204020204" pitchFamily="34" charset="-122"/>
                <a:ea typeface="微软雅黑" panose="020B0503020204020204" pitchFamily="34" charset="-122"/>
                <a:sym typeface="Times New Roman" panose="02020603050405020304" pitchFamily="18" charset="0"/>
              </a:rPr>
              <a:t>完全竞争时商品价格固定的情形</a:t>
            </a:r>
            <a:r>
              <a:rPr lang="zh-CN" altLang="en-US" sz="1800" dirty="0">
                <a:solidFill>
                  <a:srgbClr val="000000"/>
                </a:solidFill>
                <a:latin typeface="Times New Roman" panose="02020603050405020304" pitchFamily="18" charset="0"/>
                <a:sym typeface="Times New Roman" panose="02020603050405020304" pitchFamily="18" charset="0"/>
              </a:rPr>
              <a:t>：</a:t>
            </a:r>
            <a:r>
              <a:rPr lang="en-US" altLang="zh-CN" sz="1800" dirty="0">
                <a:solidFill>
                  <a:srgbClr val="000000"/>
                </a:solidFill>
                <a:latin typeface="Times New Roman" panose="02020603050405020304" pitchFamily="18" charset="0"/>
                <a:sym typeface="Times New Roman" panose="02020603050405020304" pitchFamily="18" charset="0"/>
              </a:rPr>
              <a:t>P=10</a:t>
            </a:r>
            <a:r>
              <a:rPr lang="zh-CN" altLang="en-US" sz="1800" dirty="0">
                <a:solidFill>
                  <a:srgbClr val="000000"/>
                </a:solidFill>
                <a:latin typeface="Times New Roman" panose="02020603050405020304" pitchFamily="18" charset="0"/>
                <a:sym typeface="Times New Roman" panose="02020603050405020304" pitchFamily="18" charset="0"/>
              </a:rPr>
              <a:t>，</a:t>
            </a:r>
            <a:r>
              <a:rPr lang="en-US" altLang="zh-CN" sz="1800" dirty="0">
                <a:solidFill>
                  <a:srgbClr val="000000"/>
                </a:solidFill>
                <a:latin typeface="Times New Roman" panose="02020603050405020304" pitchFamily="18" charset="0"/>
                <a:sym typeface="Times New Roman" panose="02020603050405020304" pitchFamily="18" charset="0"/>
              </a:rPr>
              <a:t>W=50</a:t>
            </a:r>
          </a:p>
        </p:txBody>
      </p:sp>
      <p:graphicFrame>
        <p:nvGraphicFramePr>
          <p:cNvPr id="2" name="对象 1"/>
          <p:cNvGraphicFramePr>
            <a:graphicFrameLocks noChangeAspect="1"/>
          </p:cNvGraphicFramePr>
          <p:nvPr>
            <p:extLst>
              <p:ext uri="{D42A27DB-BD31-4B8C-83A1-F6EECF244321}">
                <p14:modId xmlns:p14="http://schemas.microsoft.com/office/powerpoint/2010/main" val="583963845"/>
              </p:ext>
            </p:extLst>
          </p:nvPr>
        </p:nvGraphicFramePr>
        <p:xfrm>
          <a:off x="4664744" y="3202668"/>
          <a:ext cx="1152080" cy="409629"/>
        </p:xfrm>
        <a:graphic>
          <a:graphicData uri="http://schemas.openxmlformats.org/presentationml/2006/ole">
            <mc:AlternateContent xmlns:mc="http://schemas.openxmlformats.org/markup-compatibility/2006">
              <mc:Choice xmlns:v="urn:schemas-microsoft-com:vml" Requires="v">
                <p:oleObj spid="_x0000_s35093" name="Equation" r:id="rId5" imgW="571320" imgH="203040" progId="Equation.3">
                  <p:embed/>
                </p:oleObj>
              </mc:Choice>
              <mc:Fallback>
                <p:oleObj name="Equation" r:id="rId5" imgW="571320" imgH="203040" progId="Equation.3">
                  <p:embed/>
                  <p:pic>
                    <p:nvPicPr>
                      <p:cNvPr id="0" name=""/>
                      <p:cNvPicPr/>
                      <p:nvPr/>
                    </p:nvPicPr>
                    <p:blipFill>
                      <a:blip r:embed="rId6"/>
                      <a:stretch>
                        <a:fillRect/>
                      </a:stretch>
                    </p:blipFill>
                    <p:spPr>
                      <a:xfrm>
                        <a:off x="4664744" y="3202668"/>
                        <a:ext cx="1152080" cy="40962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93246525"/>
              </p:ext>
            </p:extLst>
          </p:nvPr>
        </p:nvGraphicFramePr>
        <p:xfrm>
          <a:off x="6549597" y="3260624"/>
          <a:ext cx="1363677" cy="293715"/>
        </p:xfrm>
        <a:graphic>
          <a:graphicData uri="http://schemas.openxmlformats.org/presentationml/2006/ole">
            <mc:AlternateContent xmlns:mc="http://schemas.openxmlformats.org/markup-compatibility/2006">
              <mc:Choice xmlns:v="urn:schemas-microsoft-com:vml" Requires="v">
                <p:oleObj spid="_x0000_s35094" name="Equation" r:id="rId7" imgW="825480" imgH="177480" progId="Equation.3">
                  <p:embed/>
                </p:oleObj>
              </mc:Choice>
              <mc:Fallback>
                <p:oleObj name="Equation" r:id="rId7" imgW="825480" imgH="177480" progId="Equation.3">
                  <p:embed/>
                  <p:pic>
                    <p:nvPicPr>
                      <p:cNvPr id="0" name=""/>
                      <p:cNvPicPr/>
                      <p:nvPr/>
                    </p:nvPicPr>
                    <p:blipFill>
                      <a:blip r:embed="rId8"/>
                      <a:stretch>
                        <a:fillRect/>
                      </a:stretch>
                    </p:blipFill>
                    <p:spPr>
                      <a:xfrm>
                        <a:off x="6549597" y="3260624"/>
                        <a:ext cx="1363677" cy="293715"/>
                      </a:xfrm>
                      <a:prstGeom prst="rect">
                        <a:avLst/>
                      </a:prstGeom>
                    </p:spPr>
                  </p:pic>
                </p:oleObj>
              </mc:Fallback>
            </mc:AlternateContent>
          </a:graphicData>
        </a:graphic>
      </p:graphicFrame>
      <p:sp>
        <p:nvSpPr>
          <p:cNvPr id="11" name="标题 1">
            <a:extLst>
              <a:ext uri="{FF2B5EF4-FFF2-40B4-BE49-F238E27FC236}">
                <a16:creationId xmlns:a16="http://schemas.microsoft.com/office/drawing/2014/main" id="{AC541E54-5D30-4BF5-8E1C-C63264F7E50B}"/>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53"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fltVal val="0"/>
                                          </p:val>
                                        </p:tav>
                                        <p:tav tm="100000">
                                          <p:val>
                                            <p:strVal val="#ppt_w"/>
                                          </p:val>
                                        </p:tav>
                                      </p:tavLst>
                                    </p:anim>
                                    <p:anim calcmode="lin" valueType="num">
                                      <p:cBhvr>
                                        <p:cTn id="11" dur="500" fill="hold"/>
                                        <p:tgtEl>
                                          <p:spTgt spid="7"/>
                                        </p:tgtEl>
                                        <p:attrNameLst>
                                          <p:attrName>ppt_h</p:attrName>
                                        </p:attrNameLst>
                                      </p:cBhvr>
                                      <p:tavLst>
                                        <p:tav tm="0">
                                          <p:val>
                                            <p:fltVal val="0"/>
                                          </p:val>
                                        </p:tav>
                                        <p:tav tm="100000">
                                          <p:val>
                                            <p:strVal val="#ppt_h"/>
                                          </p:val>
                                        </p:tav>
                                      </p:tavLst>
                                    </p:anim>
                                    <p:animEffect transition="in" filter="fade">
                                      <p:cBhvr>
                                        <p:cTn id="12" dur="500"/>
                                        <p:tgtEl>
                                          <p:spTgt spid="7"/>
                                        </p:tgtEl>
                                      </p:cBhvr>
                                    </p:animEffect>
                                  </p:childTnLst>
                                </p:cTn>
                              </p:par>
                              <p:par>
                                <p:cTn id="13" presetID="53" presetClass="entr" presetSubtype="16"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267"/>
                                        </p:tgtEl>
                                        <p:attrNameLst>
                                          <p:attrName>style.visibility</p:attrName>
                                        </p:attrNameLst>
                                      </p:cBhvr>
                                      <p:to>
                                        <p:strVal val="visible"/>
                                      </p:to>
                                    </p:set>
                                    <p:animEffect transition="in" filter="fade">
                                      <p:cBhvr>
                                        <p:cTn id="26" dur="500"/>
                                        <p:tgtEl>
                                          <p:spTgt spid="11267"/>
                                        </p:tgtEl>
                                      </p:cBhvr>
                                    </p:animEffect>
                                  </p:childTnLst>
                                </p:cTn>
                              </p:par>
                              <p:par>
                                <p:cTn id="27" presetID="10"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par>
                                <p:cTn id="30" presetID="10" presetClass="entr" presetSubtype="0"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1" name="Group 2"/>
          <p:cNvGraphicFramePr>
            <a:graphicFrameLocks noGrp="1"/>
          </p:cNvGraphicFramePr>
          <p:nvPr>
            <p:extLst>
              <p:ext uri="{D42A27DB-BD31-4B8C-83A1-F6EECF244321}">
                <p14:modId xmlns:p14="http://schemas.microsoft.com/office/powerpoint/2010/main" val="1632330093"/>
              </p:ext>
            </p:extLst>
          </p:nvPr>
        </p:nvGraphicFramePr>
        <p:xfrm>
          <a:off x="719931" y="2474680"/>
          <a:ext cx="7704138" cy="3542597"/>
        </p:xfrm>
        <a:graphic>
          <a:graphicData uri="http://schemas.openxmlformats.org/drawingml/2006/table">
            <a:tbl>
              <a:tblPr>
                <a:tableStyleId>{5940675A-B579-460E-94D1-54222C63F5DA}</a:tableStyleId>
              </a:tblPr>
              <a:tblGrid>
                <a:gridCol w="660400">
                  <a:extLst>
                    <a:ext uri="{9D8B030D-6E8A-4147-A177-3AD203B41FA5}">
                      <a16:colId xmlns:a16="http://schemas.microsoft.com/office/drawing/2014/main" val="2621900453"/>
                    </a:ext>
                  </a:extLst>
                </a:gridCol>
                <a:gridCol w="671513">
                  <a:extLst>
                    <a:ext uri="{9D8B030D-6E8A-4147-A177-3AD203B41FA5}">
                      <a16:colId xmlns:a16="http://schemas.microsoft.com/office/drawing/2014/main" val="3783266944"/>
                    </a:ext>
                  </a:extLst>
                </a:gridCol>
                <a:gridCol w="795337">
                  <a:extLst>
                    <a:ext uri="{9D8B030D-6E8A-4147-A177-3AD203B41FA5}">
                      <a16:colId xmlns:a16="http://schemas.microsoft.com/office/drawing/2014/main" val="1978638167"/>
                    </a:ext>
                  </a:extLst>
                </a:gridCol>
                <a:gridCol w="871538">
                  <a:extLst>
                    <a:ext uri="{9D8B030D-6E8A-4147-A177-3AD203B41FA5}">
                      <a16:colId xmlns:a16="http://schemas.microsoft.com/office/drawing/2014/main" val="110641763"/>
                    </a:ext>
                  </a:extLst>
                </a:gridCol>
                <a:gridCol w="957262">
                  <a:extLst>
                    <a:ext uri="{9D8B030D-6E8A-4147-A177-3AD203B41FA5}">
                      <a16:colId xmlns:a16="http://schemas.microsoft.com/office/drawing/2014/main" val="4275141368"/>
                    </a:ext>
                  </a:extLst>
                </a:gridCol>
                <a:gridCol w="1068388">
                  <a:extLst>
                    <a:ext uri="{9D8B030D-6E8A-4147-A177-3AD203B41FA5}">
                      <a16:colId xmlns:a16="http://schemas.microsoft.com/office/drawing/2014/main" val="761978241"/>
                    </a:ext>
                  </a:extLst>
                </a:gridCol>
                <a:gridCol w="1444625">
                  <a:extLst>
                    <a:ext uri="{9D8B030D-6E8A-4147-A177-3AD203B41FA5}">
                      <a16:colId xmlns:a16="http://schemas.microsoft.com/office/drawing/2014/main" val="1460404989"/>
                    </a:ext>
                  </a:extLst>
                </a:gridCol>
                <a:gridCol w="1235075">
                  <a:extLst>
                    <a:ext uri="{9D8B030D-6E8A-4147-A177-3AD203B41FA5}">
                      <a16:colId xmlns:a16="http://schemas.microsoft.com/office/drawing/2014/main" val="1822070037"/>
                    </a:ext>
                  </a:extLst>
                </a:gridCol>
              </a:tblGrid>
              <a:tr h="49265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劳动投入</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产量</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产品</a:t>
                      </a:r>
                      <a:endParaRPr kumimoji="0" lang="en-US" altLang="zh-CN" sz="1600" u="none" strike="noStrike" cap="none" normalizeH="0" baseline="0" dirty="0">
                        <a:ln>
                          <a:noFill/>
                        </a:ln>
                        <a:effectLst/>
                        <a:sym typeface="Times New Roman" panose="02020603050405020304" pitchFamily="18" charset="0"/>
                      </a:endParaRPr>
                    </a:p>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价格</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zh-CN" altLang="zh-CN" sz="1600" u="none" strike="noStrike" cap="none" normalizeH="0" baseline="0" dirty="0">
                          <a:ln>
                            <a:noFill/>
                          </a:ln>
                          <a:effectLst/>
                          <a:sym typeface="Times New Roman" panose="02020603050405020304" pitchFamily="18" charset="0"/>
                        </a:rPr>
                        <a:t>总收益</a:t>
                      </a:r>
                      <a:endParaRPr kumimoji="0" lang="zh-CN"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边际</a:t>
                      </a:r>
                      <a:endParaRPr kumimoji="0" lang="en-US" altLang="zh-CN" sz="1600" u="none" strike="noStrike" cap="none" normalizeH="0" baseline="0" dirty="0">
                        <a:ln>
                          <a:noFill/>
                        </a:ln>
                        <a:effectLst/>
                        <a:sym typeface="Times New Roman" panose="02020603050405020304" pitchFamily="18" charset="0"/>
                      </a:endParaRPr>
                    </a:p>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收益</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a:t>
                      </a:r>
                      <a:r>
                        <a:rPr kumimoji="0" lang="zh-CN" altLang="en-US" sz="1600" u="none" strike="noStrike" kern="1200" cap="none" normalizeH="0" baseline="0" dirty="0">
                          <a:ln>
                            <a:noFill/>
                          </a:ln>
                          <a:effectLst/>
                          <a:sym typeface="Times New Roman" panose="02020603050405020304" pitchFamily="18" charset="0"/>
                        </a:rPr>
                        <a:t>际产品</a:t>
                      </a:r>
                      <a:endParaRPr kumimoji="0" lang="en-US" altLang="zh-CN"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边际收益产品</a:t>
                      </a:r>
                      <a:endParaRPr kumimoji="0" lang="en-US" altLang="zh-CN" sz="1600" b="0" i="0"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zh-CN" altLang="en-US" sz="1600" u="none" strike="noStrike" cap="none" normalizeH="0" baseline="0" dirty="0">
                          <a:ln>
                            <a:noFill/>
                          </a:ln>
                          <a:effectLst/>
                          <a:sym typeface="Times New Roman" panose="02020603050405020304" pitchFamily="18" charset="0"/>
                        </a:rPr>
                        <a:t>边际产品值</a:t>
                      </a:r>
                      <a:endParaRPr kumimoji="0" lang="en-US" altLang="zh-CN" sz="1600" b="0" i="0"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212846970"/>
                  </a:ext>
                </a:extLst>
              </a:tr>
              <a:tr h="449664">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L</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Q</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P</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R</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MR</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MP</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MRP</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VMP</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799782955"/>
                  </a:ext>
                </a:extLst>
              </a:tr>
              <a:tr h="358734">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endParaRPr kumimoji="0" lang="zh-CN" altLang="zh-CN" sz="1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endParaRPr kumimoji="0" lang="zh-CN"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777045984"/>
                  </a:ext>
                </a:extLst>
              </a:tr>
              <a:tr h="442190">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100</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100</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100</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376165461"/>
                  </a:ext>
                </a:extLst>
              </a:tr>
              <a:tr h="442190">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9</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162</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7.75</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62</a:t>
                      </a:r>
                      <a:endParaRPr kumimoji="0" lang="en-US" altLang="zh-CN" sz="1600" b="0" i="1" u="none" strike="noStrike" cap="none" normalizeH="0" baseline="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72</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476965764"/>
                  </a:ext>
                </a:extLst>
              </a:tr>
              <a:tr h="358734">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3</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24</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192</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5</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6</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30</a:t>
                      </a:r>
                      <a:endParaRPr kumimoji="0" lang="en-US" altLang="zh-CN" sz="1600" b="0" i="1" u="none" strike="noStrike" cap="none" normalizeH="0" baseline="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48</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1654409049"/>
                  </a:ext>
                </a:extLst>
              </a:tr>
              <a:tr h="411050">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4</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28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7</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196</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4</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4</a:t>
                      </a:r>
                      <a:endParaRPr kumimoji="0" lang="en-US" altLang="zh-CN" sz="1600" b="0" i="1" u="none" strike="noStrike" cap="none" normalizeH="0" baseline="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28</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3359230417"/>
                  </a:ext>
                </a:extLst>
              </a:tr>
              <a:tr h="45215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5</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30</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6</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180</a:t>
                      </a:r>
                      <a:endParaRPr kumimoji="0" lang="en-US" altLang="zh-CN" sz="16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-8</a:t>
                      </a:r>
                      <a:endParaRPr kumimoji="0" lang="en-US" altLang="zh-CN" sz="1600" b="0"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2</a:t>
                      </a:r>
                      <a:endParaRPr kumimoji="0" lang="en-US" altLang="zh-CN" sz="16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marL="742950" indent="-285750"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a:ln>
                            <a:noFill/>
                          </a:ln>
                          <a:effectLst/>
                          <a:sym typeface="Times New Roman" panose="02020603050405020304" pitchFamily="18" charset="0"/>
                        </a:rPr>
                        <a:t>-16</a:t>
                      </a:r>
                      <a:endParaRPr kumimoji="0" lang="en-US" altLang="zh-CN" sz="1600" b="0" i="1" u="none" strike="noStrike" cap="none" normalizeH="0" baseline="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20000"/>
                        </a:spcBef>
                        <a:spcAft>
                          <a:spcPct val="0"/>
                        </a:spcAft>
                        <a:buClrTx/>
                        <a:buSzTx/>
                        <a:buFontTx/>
                        <a:buNone/>
                        <a:tabLst/>
                      </a:pPr>
                      <a:r>
                        <a:rPr kumimoji="0" lang="en-US" altLang="zh-CN" sz="1600" u="none" strike="noStrike" cap="none" normalizeH="0" baseline="0" dirty="0">
                          <a:ln>
                            <a:noFill/>
                          </a:ln>
                          <a:effectLst/>
                          <a:sym typeface="Times New Roman" panose="02020603050405020304" pitchFamily="18" charset="0"/>
                        </a:rPr>
                        <a:t>12</a:t>
                      </a:r>
                      <a:endParaRPr kumimoji="0" lang="en-US" altLang="zh-CN" sz="1600" b="0" i="1" u="none" strike="noStrike" cap="none" normalizeH="0" baseline="0" dirty="0">
                        <a:ln>
                          <a:noFill/>
                        </a:ln>
                        <a:solidFill>
                          <a:schemeClr val="bg2">
                            <a:lumMod val="50000"/>
                          </a:schemeClr>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16" marB="45716" anchor="ctr" horzOverflow="overflow"/>
                </a:tc>
                <a:extLst>
                  <a:ext uri="{0D108BD9-81ED-4DB2-BD59-A6C34878D82A}">
                    <a16:rowId xmlns:a16="http://schemas.microsoft.com/office/drawing/2014/main" val="2993411784"/>
                  </a:ext>
                </a:extLst>
              </a:tr>
            </a:tbl>
          </a:graphicData>
        </a:graphic>
      </p:graphicFrame>
      <p:sp>
        <p:nvSpPr>
          <p:cNvPr id="7" name="矩形 6">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完全竞争企业的要素使用原则</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
        <p:nvSpPr>
          <p:cNvPr id="8" name="矩形: 圆角 4">
            <a:extLst>
              <a:ext uri="{FF2B5EF4-FFF2-40B4-BE49-F238E27FC236}">
                <a16:creationId xmlns:a16="http://schemas.microsoft.com/office/drawing/2014/main" id="{F5501FC4-6109-488A-9E7B-E591DF9E4D96}"/>
              </a:ext>
            </a:extLst>
          </p:cNvPr>
          <p:cNvSpPr/>
          <p:nvPr/>
        </p:nvSpPr>
        <p:spPr>
          <a:xfrm>
            <a:off x="827740" y="1196845"/>
            <a:ext cx="7056491" cy="671186"/>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2E1D167-2D51-47EE-8CA8-1E1607A3745D}"/>
              </a:ext>
            </a:extLst>
          </p:cNvPr>
          <p:cNvSpPr/>
          <p:nvPr/>
        </p:nvSpPr>
        <p:spPr>
          <a:xfrm>
            <a:off x="851376" y="1340855"/>
            <a:ext cx="6434775" cy="369332"/>
          </a:xfrm>
          <a:prstGeom prst="rect">
            <a:avLst/>
          </a:prstGeom>
        </p:spPr>
        <p:txBody>
          <a:bodyPr wrap="none">
            <a:spAutoFit/>
          </a:bodyPr>
          <a:lstStyle/>
          <a:p>
            <a:pPr algn="ctr" eaLnBrk="1" hangingPunct="1">
              <a:spcBef>
                <a:spcPct val="20000"/>
              </a:spcBef>
            </a:pPr>
            <a:r>
              <a:rPr lang="zh-CN" altLang="en-US" sz="1800" b="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不完全竞争时商品价格递减（需求曲线倾斜）的情形：</a:t>
            </a:r>
            <a:r>
              <a:rPr lang="en-US" altLang="zh-CN" sz="1800" b="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W=50</a:t>
            </a:r>
          </a:p>
        </p:txBody>
      </p:sp>
      <p:pic>
        <p:nvPicPr>
          <p:cNvPr id="11" name="图片 10">
            <a:extLst>
              <a:ext uri="{FF2B5EF4-FFF2-40B4-BE49-F238E27FC236}">
                <a16:creationId xmlns:a16="http://schemas.microsoft.com/office/drawing/2014/main" id="{26C14FD7-288B-4EBC-97AB-25CDCA7265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4181" y="1198316"/>
            <a:ext cx="1065715" cy="1065715"/>
          </a:xfrm>
          <a:prstGeom prst="rect">
            <a:avLst/>
          </a:prstGeom>
        </p:spPr>
      </p:pic>
      <mc:AlternateContent xmlns:mc="http://schemas.openxmlformats.org/markup-compatibility/2006" xmlns:a14="http://schemas.microsoft.com/office/drawing/2010/main">
        <mc:Choice Requires="a14">
          <p:sp>
            <p:nvSpPr>
              <p:cNvPr id="2" name="对象 1"/>
              <p:cNvSpPr txBox="1"/>
              <p:nvPr/>
            </p:nvSpPr>
            <p:spPr>
              <a:xfrm>
                <a:off x="1691800" y="2010570"/>
                <a:ext cx="1656115" cy="356393"/>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𝑉𝑀𝑃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𝑀𝑃</m:t>
                      </m:r>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oMath>
                  </m:oMathPara>
                </a14:m>
                <a:endParaRPr lang="zh-CN" altLang="en-US" dirty="0"/>
              </a:p>
            </p:txBody>
          </p:sp>
        </mc:Choice>
        <mc:Fallback xmlns="">
          <p:sp>
            <p:nvSpPr>
              <p:cNvPr id="2" name="对象 1"/>
              <p:cNvSpPr txBox="1">
                <a:spLocks noRot="1" noChangeAspect="1" noMove="1" noResize="1" noEditPoints="1" noAdjustHandles="1" noChangeArrowheads="1" noChangeShapeType="1" noTextEdit="1"/>
              </p:cNvSpPr>
              <p:nvPr/>
            </p:nvSpPr>
            <p:spPr>
              <a:xfrm>
                <a:off x="1691800" y="2010570"/>
                <a:ext cx="1656115" cy="356393"/>
              </a:xfrm>
              <a:prstGeom prst="rect">
                <a:avLst/>
              </a:prstGeom>
              <a:blipFill>
                <a:blip r:embed="rId5"/>
                <a:stretch>
                  <a:fillRect/>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4293228913"/>
              </p:ext>
            </p:extLst>
          </p:nvPr>
        </p:nvGraphicFramePr>
        <p:xfrm>
          <a:off x="4090988" y="2084388"/>
          <a:ext cx="1779587" cy="282575"/>
        </p:xfrm>
        <a:graphic>
          <a:graphicData uri="http://schemas.openxmlformats.org/presentationml/2006/ole">
            <mc:AlternateContent xmlns:mc="http://schemas.openxmlformats.org/markup-compatibility/2006">
              <mc:Choice xmlns:v="urn:schemas-microsoft-com:vml" Requires="v">
                <p:oleObj spid="_x0000_s36106" name="Equation" r:id="rId6" imgW="1041120" imgH="164880" progId="Equation.3">
                  <p:embed/>
                </p:oleObj>
              </mc:Choice>
              <mc:Fallback>
                <p:oleObj name="Equation" r:id="rId6" imgW="1041120" imgH="164880" progId="Equation.3">
                  <p:embed/>
                  <p:pic>
                    <p:nvPicPr>
                      <p:cNvPr id="0" name=""/>
                      <p:cNvPicPr/>
                      <p:nvPr/>
                    </p:nvPicPr>
                    <p:blipFill>
                      <a:blip r:embed="rId7"/>
                      <a:stretch>
                        <a:fillRect/>
                      </a:stretch>
                    </p:blipFill>
                    <p:spPr>
                      <a:xfrm>
                        <a:off x="4090988" y="2084388"/>
                        <a:ext cx="1779587" cy="282575"/>
                      </a:xfrm>
                      <a:prstGeom prst="rect">
                        <a:avLst/>
                      </a:prstGeom>
                    </p:spPr>
                  </p:pic>
                </p:oleObj>
              </mc:Fallback>
            </mc:AlternateContent>
          </a:graphicData>
        </a:graphic>
      </p:graphicFrame>
      <p:sp>
        <p:nvSpPr>
          <p:cNvPr id="10" name="标题 1">
            <a:extLst>
              <a:ext uri="{FF2B5EF4-FFF2-40B4-BE49-F238E27FC236}">
                <a16:creationId xmlns:a16="http://schemas.microsoft.com/office/drawing/2014/main" id="{8EBB4066-F8D0-47CC-B8E8-756DC13F8DB7}"/>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2291"/>
                                        </p:tgtEl>
                                        <p:attrNameLst>
                                          <p:attrName>style.visibility</p:attrName>
                                        </p:attrNameLst>
                                      </p:cBhvr>
                                      <p:to>
                                        <p:strVal val="visible"/>
                                      </p:to>
                                    </p:set>
                                    <p:animEffect transition="in" filter="barn(inVertical)">
                                      <p:cBhvr>
                                        <p:cTn id="21"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5" name="圆角矩形标注 26"/>
          <p:cNvSpPr>
            <a:spLocks noChangeArrowheads="1"/>
          </p:cNvSpPr>
          <p:nvPr/>
        </p:nvSpPr>
        <p:spPr bwMode="auto">
          <a:xfrm>
            <a:off x="3635010" y="2243060"/>
            <a:ext cx="2571750" cy="1293971"/>
          </a:xfrm>
          <a:prstGeom prst="wedgeRoundRectCallout">
            <a:avLst>
              <a:gd name="adj1" fmla="val -19708"/>
              <a:gd name="adj2" fmla="val 43667"/>
              <a:gd name="adj3" fmla="val 16667"/>
            </a:avLst>
          </a:prstGeom>
          <a:noFill/>
          <a:ln w="28575">
            <a:solidFill>
              <a:schemeClr val="accent3">
                <a:lumMod val="50000"/>
              </a:schemeClr>
            </a:solidFill>
          </a:ln>
        </p:spPr>
        <p:txBody>
          <a:bodyPr>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完全竞争企业的要素需求曲线反映的是</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在其他条件不变时</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完全竞争企业对要素的需求量与要素价格之间的对应关系</a:t>
            </a:r>
            <a:endParaRPr lang="zh-CN" altLang="en-US" sz="1400" b="0" dirty="0">
              <a:latin typeface="微软雅黑" panose="020B0503020204020204" pitchFamily="34" charset="-122"/>
              <a:ea typeface="微软雅黑" panose="020B0503020204020204" pitchFamily="34" charset="-122"/>
            </a:endParaRPr>
          </a:p>
        </p:txBody>
      </p:sp>
      <p:sp>
        <p:nvSpPr>
          <p:cNvPr id="13336" name="圆角矩形标注 27"/>
          <p:cNvSpPr>
            <a:spLocks noChangeArrowheads="1"/>
          </p:cNvSpPr>
          <p:nvPr/>
        </p:nvSpPr>
        <p:spPr bwMode="auto">
          <a:xfrm>
            <a:off x="6360748" y="3336672"/>
            <a:ext cx="2634837" cy="817245"/>
          </a:xfrm>
          <a:prstGeom prst="wedgeRoundRectCallout">
            <a:avLst>
              <a:gd name="adj1" fmla="val -146727"/>
              <a:gd name="adj2" fmla="val 875"/>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要素使用原则</a:t>
            </a:r>
            <a:endParaRPr lang="en-US" altLang="zh-CN" sz="1400" b="0" dirty="0">
              <a:latin typeface="微软雅黑" panose="020B0503020204020204" pitchFamily="34" charset="-122"/>
              <a:ea typeface="微软雅黑" panose="020B0503020204020204" pitchFamily="34" charset="-122"/>
              <a:sym typeface="Arial" panose="020B0604020202020204" pitchFamily="34" charset="0"/>
            </a:endParaRPr>
          </a:p>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在几何上的表示就是</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MP</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曲线与</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W0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曲线的交点</a:t>
            </a:r>
          </a:p>
        </p:txBody>
      </p:sp>
      <p:sp>
        <p:nvSpPr>
          <p:cNvPr id="13337" name="圆角矩形标注 28"/>
          <p:cNvSpPr>
            <a:spLocks noChangeArrowheads="1"/>
          </p:cNvSpPr>
          <p:nvPr/>
        </p:nvSpPr>
        <p:spPr bwMode="auto">
          <a:xfrm>
            <a:off x="265037" y="3377794"/>
            <a:ext cx="1787293" cy="1532334"/>
          </a:xfrm>
          <a:prstGeom prst="wedgeRoundRectCallout">
            <a:avLst>
              <a:gd name="adj1" fmla="val 207603"/>
              <a:gd name="adj2" fmla="val 61503"/>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给定一个要素价格</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就有一个唯一的最优要素使用量</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与之对应。 故要素</a:t>
            </a:r>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需求曲线与边际产品价值曲线重合</a:t>
            </a:r>
            <a:endParaRPr lang="zh-CN" altLang="en-US" sz="1400" b="0" dirty="0">
              <a:solidFill>
                <a:srgbClr val="C00000"/>
              </a:solidFill>
              <a:latin typeface="微软雅黑" panose="020B0503020204020204" pitchFamily="34" charset="-122"/>
              <a:ea typeface="微软雅黑" panose="020B0503020204020204" pitchFamily="34" charset="-122"/>
            </a:endParaRPr>
          </a:p>
        </p:txBody>
      </p:sp>
      <p:sp>
        <p:nvSpPr>
          <p:cNvPr id="13339" name="圆角矩形标注 30"/>
          <p:cNvSpPr>
            <a:spLocks noChangeArrowheads="1"/>
          </p:cNvSpPr>
          <p:nvPr/>
        </p:nvSpPr>
        <p:spPr bwMode="auto">
          <a:xfrm>
            <a:off x="6217323" y="4300303"/>
            <a:ext cx="2633939" cy="1055608"/>
          </a:xfrm>
          <a:prstGeom prst="wedgeRoundRectCallout">
            <a:avLst>
              <a:gd name="adj1" fmla="val -133500"/>
              <a:gd name="adj2" fmla="val -81250"/>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表明</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当要素价格为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W0 ,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要素需求量为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L0</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边际产品价值曲线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VMP</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上的点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也是要素需求曲线上的一点。 </a:t>
            </a:r>
          </a:p>
        </p:txBody>
      </p:sp>
      <p:sp>
        <p:nvSpPr>
          <p:cNvPr id="29" name="矩形 28">
            <a:extLst>
              <a:ext uri="{FF2B5EF4-FFF2-40B4-BE49-F238E27FC236}">
                <a16:creationId xmlns:a16="http://schemas.microsoft.com/office/drawing/2014/main" id="{F68E5273-CD77-47B9-B841-9D29349C133D}"/>
              </a:ext>
            </a:extLst>
          </p:cNvPr>
          <p:cNvSpPr/>
          <p:nvPr/>
        </p:nvSpPr>
        <p:spPr>
          <a:xfrm>
            <a:off x="467544" y="548680"/>
            <a:ext cx="480131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二、完全竞争企业的要素需求曲线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397E6944-8BFF-4EC2-BEB6-936EF78F7FB9}"/>
              </a:ext>
            </a:extLst>
          </p:cNvPr>
          <p:cNvSpPr/>
          <p:nvPr/>
        </p:nvSpPr>
        <p:spPr>
          <a:xfrm>
            <a:off x="1553050" y="1173806"/>
            <a:ext cx="6091876" cy="875251"/>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A172BEFA-0D9A-4D9D-8E96-EAB12E0413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115424" y="1285773"/>
            <a:ext cx="875251" cy="875251"/>
          </a:xfrm>
          <a:prstGeom prst="rect">
            <a:avLst/>
          </a:prstGeom>
        </p:spPr>
      </p:pic>
      <p:pic>
        <p:nvPicPr>
          <p:cNvPr id="32" name="图片 31">
            <a:extLst>
              <a:ext uri="{FF2B5EF4-FFF2-40B4-BE49-F238E27FC236}">
                <a16:creationId xmlns:a16="http://schemas.microsoft.com/office/drawing/2014/main" id="{7EFE2494-C995-4CDB-A405-0D8167D137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74066" y="1611431"/>
            <a:ext cx="570860" cy="570860"/>
          </a:xfrm>
          <a:prstGeom prst="rect">
            <a:avLst/>
          </a:prstGeom>
        </p:spPr>
      </p:pic>
      <p:sp>
        <p:nvSpPr>
          <p:cNvPr id="33" name="矩形 32">
            <a:extLst>
              <a:ext uri="{FF2B5EF4-FFF2-40B4-BE49-F238E27FC236}">
                <a16:creationId xmlns:a16="http://schemas.microsoft.com/office/drawing/2014/main" id="{20E41E1C-F8E2-429A-B198-48C7C7BCCBD2}"/>
              </a:ext>
            </a:extLst>
          </p:cNvPr>
          <p:cNvSpPr/>
          <p:nvPr/>
        </p:nvSpPr>
        <p:spPr>
          <a:xfrm>
            <a:off x="2332038" y="1419488"/>
            <a:ext cx="3185487" cy="369332"/>
          </a:xfrm>
          <a:prstGeom prst="rect">
            <a:avLst/>
          </a:prstGeom>
        </p:spPr>
        <p:txBody>
          <a:bodyPr wrap="none">
            <a:spAutoFit/>
          </a:bodyPr>
          <a:lstStyle/>
          <a:p>
            <a:pPr marL="0" lvl="1" eaLnBrk="1" hangingPunct="1"/>
            <a:r>
              <a:rPr lang="zh-CN" altLang="en-US" sz="1800" b="0" dirty="0">
                <a:latin typeface="微软雅黑" panose="020B0503020204020204" pitchFamily="34" charset="-122"/>
                <a:ea typeface="微软雅黑" panose="020B0503020204020204" pitchFamily="34" charset="-122"/>
              </a:rPr>
              <a:t>企业（厂商）要素需求曲线：</a:t>
            </a:r>
            <a:endParaRPr lang="en-US" altLang="zh-CN" b="0" dirty="0"/>
          </a:p>
        </p:txBody>
      </p:sp>
      <p:graphicFrame>
        <p:nvGraphicFramePr>
          <p:cNvPr id="2" name="对象 1"/>
          <p:cNvGraphicFramePr>
            <a:graphicFrameLocks noChangeAspect="1"/>
          </p:cNvGraphicFramePr>
          <p:nvPr>
            <p:extLst>
              <p:ext uri="{D42A27DB-BD31-4B8C-83A1-F6EECF244321}">
                <p14:modId xmlns:p14="http://schemas.microsoft.com/office/powerpoint/2010/main" val="472163442"/>
              </p:ext>
            </p:extLst>
          </p:nvPr>
        </p:nvGraphicFramePr>
        <p:xfrm>
          <a:off x="5835650" y="1473200"/>
          <a:ext cx="1506538" cy="742950"/>
        </p:xfrm>
        <a:graphic>
          <a:graphicData uri="http://schemas.openxmlformats.org/presentationml/2006/ole">
            <mc:AlternateContent xmlns:mc="http://schemas.openxmlformats.org/markup-compatibility/2006">
              <mc:Choice xmlns:v="urn:schemas-microsoft-com:vml" Requires="v">
                <p:oleObj spid="_x0000_s37277" name="Equation" r:id="rId6" imgW="876240" imgH="431640" progId="Equation.3">
                  <p:embed/>
                </p:oleObj>
              </mc:Choice>
              <mc:Fallback>
                <p:oleObj name="Equation" r:id="rId6" imgW="876240" imgH="431640" progId="Equation.3">
                  <p:embed/>
                  <p:pic>
                    <p:nvPicPr>
                      <p:cNvPr id="0" name=""/>
                      <p:cNvPicPr/>
                      <p:nvPr/>
                    </p:nvPicPr>
                    <p:blipFill>
                      <a:blip r:embed="rId7"/>
                      <a:stretch>
                        <a:fillRect/>
                      </a:stretch>
                    </p:blipFill>
                    <p:spPr>
                      <a:xfrm>
                        <a:off x="5835650" y="1473200"/>
                        <a:ext cx="1506538" cy="742950"/>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778395445"/>
              </p:ext>
            </p:extLst>
          </p:nvPr>
        </p:nvGraphicFramePr>
        <p:xfrm>
          <a:off x="7602896" y="3423300"/>
          <a:ext cx="1140374" cy="561923"/>
        </p:xfrm>
        <a:graphic>
          <a:graphicData uri="http://schemas.openxmlformats.org/presentationml/2006/ole">
            <mc:AlternateContent xmlns:mc="http://schemas.openxmlformats.org/markup-compatibility/2006">
              <mc:Choice xmlns:v="urn:schemas-microsoft-com:vml" Requires="v">
                <p:oleObj spid="_x0000_s37278" name="Equation" r:id="rId8" imgW="876240" imgH="431640" progId="Equation.3">
                  <p:embed/>
                </p:oleObj>
              </mc:Choice>
              <mc:Fallback>
                <p:oleObj name="Equation" r:id="rId8" imgW="876240" imgH="431640" progId="Equation.3">
                  <p:embed/>
                  <p:pic>
                    <p:nvPicPr>
                      <p:cNvPr id="2" name="对象 1"/>
                      <p:cNvPicPr/>
                      <p:nvPr/>
                    </p:nvPicPr>
                    <p:blipFill>
                      <a:blip r:embed="rId7"/>
                      <a:stretch>
                        <a:fillRect/>
                      </a:stretch>
                    </p:blipFill>
                    <p:spPr>
                      <a:xfrm>
                        <a:off x="7602896" y="3423300"/>
                        <a:ext cx="1140374" cy="561923"/>
                      </a:xfrm>
                      <a:prstGeom prst="rect">
                        <a:avLst/>
                      </a:prstGeom>
                    </p:spPr>
                  </p:pic>
                </p:oleObj>
              </mc:Fallback>
            </mc:AlternateContent>
          </a:graphicData>
        </a:graphic>
      </p:graphicFrame>
      <p:grpSp>
        <p:nvGrpSpPr>
          <p:cNvPr id="4" name="组合 3"/>
          <p:cNvGrpSpPr/>
          <p:nvPr/>
        </p:nvGrpSpPr>
        <p:grpSpPr>
          <a:xfrm>
            <a:off x="1686598" y="2576543"/>
            <a:ext cx="4689475" cy="3786188"/>
            <a:chOff x="1686598" y="2576543"/>
            <a:chExt cx="4689475" cy="3786188"/>
          </a:xfrm>
        </p:grpSpPr>
        <p:sp>
          <p:nvSpPr>
            <p:cNvPr id="13315" name="Line 4"/>
            <p:cNvSpPr>
              <a:spLocks noChangeShapeType="1"/>
            </p:cNvSpPr>
            <p:nvPr/>
          </p:nvSpPr>
          <p:spPr bwMode="auto">
            <a:xfrm flipV="1">
              <a:off x="2361285" y="2651156"/>
              <a:ext cx="1588" cy="336232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16" name="Line 5"/>
            <p:cNvSpPr>
              <a:spLocks noChangeShapeType="1"/>
            </p:cNvSpPr>
            <p:nvPr/>
          </p:nvSpPr>
          <p:spPr bwMode="auto">
            <a:xfrm>
              <a:off x="2361285" y="6013481"/>
              <a:ext cx="4014788"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17" name="Text Box 6"/>
            <p:cNvSpPr>
              <a:spLocks noChangeArrowheads="1"/>
            </p:cNvSpPr>
            <p:nvPr/>
          </p:nvSpPr>
          <p:spPr bwMode="auto">
            <a:xfrm>
              <a:off x="1975523" y="2576543"/>
              <a:ext cx="6159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endParaRPr lang="zh-CN" altLang="en-US" dirty="0">
                <a:latin typeface="Times New Roman" panose="02020603050405020304" pitchFamily="18" charset="0"/>
                <a:cs typeface="Times New Roman" panose="02020603050405020304" pitchFamily="18" charset="0"/>
              </a:endParaRPr>
            </a:p>
          </p:txBody>
        </p:sp>
        <p:sp>
          <p:nvSpPr>
            <p:cNvPr id="13318" name="Text Box 7"/>
            <p:cNvSpPr>
              <a:spLocks noChangeArrowheads="1"/>
            </p:cNvSpPr>
            <p:nvPr/>
          </p:nvSpPr>
          <p:spPr bwMode="auto">
            <a:xfrm>
              <a:off x="2053310" y="5864256"/>
              <a:ext cx="3333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O</a:t>
              </a:r>
              <a:endParaRPr lang="zh-CN" altLang="en-US" dirty="0">
                <a:latin typeface="Times New Roman" panose="02020603050405020304" pitchFamily="18" charset="0"/>
                <a:cs typeface="Times New Roman" panose="02020603050405020304" pitchFamily="18" charset="0"/>
              </a:endParaRPr>
            </a:p>
          </p:txBody>
        </p:sp>
        <p:sp>
          <p:nvSpPr>
            <p:cNvPr id="13319" name="Text Box 8"/>
            <p:cNvSpPr>
              <a:spLocks noChangeArrowheads="1"/>
            </p:cNvSpPr>
            <p:nvPr/>
          </p:nvSpPr>
          <p:spPr bwMode="auto">
            <a:xfrm>
              <a:off x="5964139" y="5975700"/>
              <a:ext cx="333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endParaRPr lang="zh-CN" altLang="en-US" dirty="0">
                <a:latin typeface="Times New Roman" panose="02020603050405020304" pitchFamily="18" charset="0"/>
                <a:cs typeface="Times New Roman" panose="02020603050405020304" pitchFamily="18" charset="0"/>
              </a:endParaRPr>
            </a:p>
          </p:txBody>
        </p:sp>
        <p:sp>
          <p:nvSpPr>
            <p:cNvPr id="13320" name="Line 9"/>
            <p:cNvSpPr>
              <a:spLocks noChangeShapeType="1"/>
            </p:cNvSpPr>
            <p:nvPr/>
          </p:nvSpPr>
          <p:spPr bwMode="auto">
            <a:xfrm>
              <a:off x="2980410" y="3249643"/>
              <a:ext cx="2855913" cy="2166938"/>
            </a:xfrm>
            <a:prstGeom prst="line">
              <a:avLst/>
            </a:prstGeom>
            <a:noFill/>
            <a:ln w="28575"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22" name="Text Box 11"/>
            <p:cNvSpPr>
              <a:spLocks noChangeArrowheads="1"/>
            </p:cNvSpPr>
            <p:nvPr/>
          </p:nvSpPr>
          <p:spPr bwMode="auto">
            <a:xfrm>
              <a:off x="1975523" y="3697318"/>
              <a:ext cx="5397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3323" name="Line 12"/>
            <p:cNvSpPr>
              <a:spLocks noChangeShapeType="1"/>
            </p:cNvSpPr>
            <p:nvPr/>
          </p:nvSpPr>
          <p:spPr bwMode="auto">
            <a:xfrm>
              <a:off x="2361285" y="3921156"/>
              <a:ext cx="1547813"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24" name="Line 13"/>
            <p:cNvSpPr>
              <a:spLocks noChangeShapeType="1"/>
            </p:cNvSpPr>
            <p:nvPr/>
          </p:nvSpPr>
          <p:spPr bwMode="auto">
            <a:xfrm>
              <a:off x="2361285" y="4818093"/>
              <a:ext cx="2700338" cy="15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25" name="Line 14"/>
            <p:cNvSpPr>
              <a:spLocks noChangeShapeType="1"/>
            </p:cNvSpPr>
            <p:nvPr/>
          </p:nvSpPr>
          <p:spPr bwMode="auto">
            <a:xfrm>
              <a:off x="3905923" y="3921156"/>
              <a:ext cx="1587" cy="209391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26" name="Line 15"/>
            <p:cNvSpPr>
              <a:spLocks noChangeShapeType="1"/>
            </p:cNvSpPr>
            <p:nvPr/>
          </p:nvSpPr>
          <p:spPr bwMode="auto">
            <a:xfrm>
              <a:off x="5063210" y="4818093"/>
              <a:ext cx="0" cy="119697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3327" name="Text Box 16"/>
            <p:cNvSpPr>
              <a:spLocks noChangeArrowheads="1"/>
            </p:cNvSpPr>
            <p:nvPr/>
          </p:nvSpPr>
          <p:spPr bwMode="auto">
            <a:xfrm>
              <a:off x="1686598" y="4699031"/>
              <a:ext cx="520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13328" name="Text Box 17"/>
            <p:cNvSpPr>
              <a:spLocks noChangeArrowheads="1"/>
            </p:cNvSpPr>
            <p:nvPr/>
          </p:nvSpPr>
          <p:spPr bwMode="auto">
            <a:xfrm>
              <a:off x="1975523" y="4668868"/>
              <a:ext cx="508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1</a:t>
              </a:r>
              <a:endParaRPr lang="zh-CN" altLang="en-US"/>
            </a:p>
          </p:txBody>
        </p:sp>
        <p:sp>
          <p:nvSpPr>
            <p:cNvPr id="13329" name="Text Box 18"/>
            <p:cNvSpPr>
              <a:spLocks noChangeArrowheads="1"/>
            </p:cNvSpPr>
            <p:nvPr/>
          </p:nvSpPr>
          <p:spPr bwMode="auto">
            <a:xfrm>
              <a:off x="3828135" y="3622706"/>
              <a:ext cx="3857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endParaRPr lang="zh-CN" altLang="en-US" dirty="0">
                <a:latin typeface="Times New Roman" panose="02020603050405020304" pitchFamily="18" charset="0"/>
                <a:cs typeface="Times New Roman" panose="02020603050405020304" pitchFamily="18" charset="0"/>
              </a:endParaRPr>
            </a:p>
          </p:txBody>
        </p:sp>
        <p:sp>
          <p:nvSpPr>
            <p:cNvPr id="13330" name="Text Box 19"/>
            <p:cNvSpPr>
              <a:spLocks noChangeArrowheads="1"/>
            </p:cNvSpPr>
            <p:nvPr/>
          </p:nvSpPr>
          <p:spPr bwMode="auto">
            <a:xfrm>
              <a:off x="5680748" y="3697318"/>
              <a:ext cx="333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3331" name="Text Box 20"/>
            <p:cNvSpPr>
              <a:spLocks noChangeArrowheads="1"/>
            </p:cNvSpPr>
            <p:nvPr/>
          </p:nvSpPr>
          <p:spPr bwMode="auto">
            <a:xfrm>
              <a:off x="2218410" y="3959256"/>
              <a:ext cx="3317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3332" name="Text Box 23"/>
            <p:cNvSpPr>
              <a:spLocks noChangeArrowheads="1"/>
            </p:cNvSpPr>
            <p:nvPr/>
          </p:nvSpPr>
          <p:spPr bwMode="auto">
            <a:xfrm>
              <a:off x="4931448" y="4522818"/>
              <a:ext cx="4397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B</a:t>
              </a:r>
              <a:endParaRPr lang="zh-CN" altLang="en-US" dirty="0">
                <a:latin typeface="Times New Roman" panose="02020603050405020304" pitchFamily="18" charset="0"/>
                <a:cs typeface="Times New Roman" panose="02020603050405020304" pitchFamily="18" charset="0"/>
              </a:endParaRPr>
            </a:p>
          </p:txBody>
        </p:sp>
        <p:sp>
          <p:nvSpPr>
            <p:cNvPr id="13333" name="Text Box 24"/>
            <p:cNvSpPr>
              <a:spLocks noChangeArrowheads="1"/>
            </p:cNvSpPr>
            <p:nvPr/>
          </p:nvSpPr>
          <p:spPr bwMode="auto">
            <a:xfrm>
              <a:off x="3751935" y="6015068"/>
              <a:ext cx="50958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3334" name="Text Box 25"/>
            <p:cNvSpPr>
              <a:spLocks noChangeArrowheads="1"/>
            </p:cNvSpPr>
            <p:nvPr/>
          </p:nvSpPr>
          <p:spPr bwMode="auto">
            <a:xfrm>
              <a:off x="4909223" y="6015068"/>
              <a:ext cx="45561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1</a:t>
              </a:r>
              <a:endParaRPr lang="zh-CN" altLang="en-US" dirty="0">
                <a:latin typeface="Times New Roman" panose="02020603050405020304" pitchFamily="18" charset="0"/>
                <a:cs typeface="Times New Roman" panose="02020603050405020304" pitchFamily="18" charset="0"/>
              </a:endParaRPr>
            </a:p>
          </p:txBody>
        </p:sp>
        <p:sp>
          <p:nvSpPr>
            <p:cNvPr id="13338" name="矩形 29"/>
            <p:cNvSpPr>
              <a:spLocks noChangeArrowheads="1"/>
            </p:cNvSpPr>
            <p:nvPr/>
          </p:nvSpPr>
          <p:spPr bwMode="auto">
            <a:xfrm>
              <a:off x="5258473" y="5219731"/>
              <a:ext cx="3095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a:t>
              </a:r>
              <a:endParaRPr lang="zh-CN" altLang="en-US" dirty="0">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74851048"/>
                </p:ext>
              </p:extLst>
            </p:nvPr>
          </p:nvGraphicFramePr>
          <p:xfrm>
            <a:off x="2510180" y="2880796"/>
            <a:ext cx="940460" cy="334386"/>
          </p:xfrm>
          <a:graphic>
            <a:graphicData uri="http://schemas.openxmlformats.org/presentationml/2006/ole">
              <mc:AlternateContent xmlns:mc="http://schemas.openxmlformats.org/markup-compatibility/2006">
                <mc:Choice xmlns:v="urn:schemas-microsoft-com:vml" Requires="v">
                  <p:oleObj spid="_x0000_s37279" name="Equation" r:id="rId9" imgW="571320" imgH="203040" progId="Equation.3">
                    <p:embed/>
                  </p:oleObj>
                </mc:Choice>
                <mc:Fallback>
                  <p:oleObj name="Equation" r:id="rId9" imgW="571320" imgH="203040" progId="Equation.3">
                    <p:embed/>
                    <p:pic>
                      <p:nvPicPr>
                        <p:cNvPr id="0" name=""/>
                        <p:cNvPicPr/>
                        <p:nvPr/>
                      </p:nvPicPr>
                      <p:blipFill>
                        <a:blip r:embed="rId10"/>
                        <a:stretch>
                          <a:fillRect/>
                        </a:stretch>
                      </p:blipFill>
                      <p:spPr>
                        <a:xfrm>
                          <a:off x="2510180" y="2880796"/>
                          <a:ext cx="940460" cy="334386"/>
                        </a:xfrm>
                        <a:prstGeom prst="rect">
                          <a:avLst/>
                        </a:prstGeom>
                      </p:spPr>
                    </p:pic>
                  </p:oleObj>
                </mc:Fallback>
              </mc:AlternateContent>
            </a:graphicData>
          </a:graphic>
        </p:graphicFrame>
      </p:grpSp>
      <p:sp>
        <p:nvSpPr>
          <p:cNvPr id="37" name="标题 1">
            <a:extLst>
              <a:ext uri="{FF2B5EF4-FFF2-40B4-BE49-F238E27FC236}">
                <a16:creationId xmlns:a16="http://schemas.microsoft.com/office/drawing/2014/main" id="{E8C40B93-A2FC-48BB-A724-D26A4A8C0F5B}"/>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randombar(horizontal)">
                                      <p:cBhvr>
                                        <p:cTn id="12" dur="500"/>
                                        <p:tgtEl>
                                          <p:spTgt spid="30"/>
                                        </p:tgtEl>
                                      </p:cBhvr>
                                    </p:animEffect>
                                  </p:childTnLst>
                                </p:cTn>
                              </p:par>
                              <p:par>
                                <p:cTn id="13" presetID="14" presetClass="entr" presetSubtype="1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randombar(horizontal)">
                                      <p:cBhvr>
                                        <p:cTn id="15" dur="500"/>
                                        <p:tgtEl>
                                          <p:spTgt spid="31"/>
                                        </p:tgtEl>
                                      </p:cBhvr>
                                    </p:animEffect>
                                  </p:childTnLst>
                                </p:cTn>
                              </p:par>
                              <p:par>
                                <p:cTn id="16" presetID="14" presetClass="entr" presetSubtype="10" fill="hold"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randombar(horizontal)">
                                      <p:cBhvr>
                                        <p:cTn id="18" dur="500"/>
                                        <p:tgtEl>
                                          <p:spTgt spid="32"/>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randombar(horizontal)">
                                      <p:cBhvr>
                                        <p:cTn id="21" dur="500"/>
                                        <p:tgtEl>
                                          <p:spTgt spid="33"/>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randombar(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circle(in)">
                                      <p:cBhvr>
                                        <p:cTn id="29" dur="20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335"/>
                                        </p:tgtEl>
                                        <p:attrNameLst>
                                          <p:attrName>style.visibility</p:attrName>
                                        </p:attrNameLst>
                                      </p:cBhvr>
                                      <p:to>
                                        <p:strVal val="visible"/>
                                      </p:to>
                                    </p:set>
                                    <p:anim calcmode="lin" valueType="num">
                                      <p:cBhvr>
                                        <p:cTn id="34" dur="500" fill="hold"/>
                                        <p:tgtEl>
                                          <p:spTgt spid="13335"/>
                                        </p:tgtEl>
                                        <p:attrNameLst>
                                          <p:attrName>ppt_x</p:attrName>
                                        </p:attrNameLst>
                                      </p:cBhvr>
                                      <p:tavLst>
                                        <p:tav tm="0">
                                          <p:val>
                                            <p:strVal val="#ppt_x"/>
                                          </p:val>
                                        </p:tav>
                                        <p:tav tm="100000">
                                          <p:val>
                                            <p:strVal val="#ppt_x"/>
                                          </p:val>
                                        </p:tav>
                                      </p:tavLst>
                                    </p:anim>
                                    <p:anim calcmode="lin" valueType="num">
                                      <p:cBhvr>
                                        <p:cTn id="35" dur="500" fill="hold"/>
                                        <p:tgtEl>
                                          <p:spTgt spid="1333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3337"/>
                                        </p:tgtEl>
                                        <p:attrNameLst>
                                          <p:attrName>style.visibility</p:attrName>
                                        </p:attrNameLst>
                                      </p:cBhvr>
                                      <p:to>
                                        <p:strVal val="visible"/>
                                      </p:to>
                                    </p:set>
                                    <p:animEffect>
                                      <p:cBhvr>
                                        <p:cTn id="40" dur="500"/>
                                        <p:tgtEl>
                                          <p:spTgt spid="13337"/>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3339"/>
                                        </p:tgtEl>
                                        <p:attrNameLst>
                                          <p:attrName>style.visibility</p:attrName>
                                        </p:attrNameLst>
                                      </p:cBhvr>
                                      <p:to>
                                        <p:strVal val="visible"/>
                                      </p:to>
                                    </p:set>
                                    <p:animEffect>
                                      <p:cBhvr>
                                        <p:cTn id="45" dur="500"/>
                                        <p:tgtEl>
                                          <p:spTgt spid="13339"/>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heel(1)">
                                      <p:cBhvr>
                                        <p:cTn id="50" dur="2000"/>
                                        <p:tgtEl>
                                          <p:spTgt spid="35"/>
                                        </p:tgtEl>
                                      </p:cBhvr>
                                    </p:animEffect>
                                  </p:childTnLst>
                                </p:cTn>
                              </p:par>
                              <p:par>
                                <p:cTn id="51" presetID="21" presetClass="entr" presetSubtype="1" fill="hold" grpId="0" nodeType="withEffect">
                                  <p:stCondLst>
                                    <p:cond delay="0"/>
                                  </p:stCondLst>
                                  <p:childTnLst>
                                    <p:set>
                                      <p:cBhvr>
                                        <p:cTn id="52" dur="1" fill="hold">
                                          <p:stCondLst>
                                            <p:cond delay="0"/>
                                          </p:stCondLst>
                                        </p:cTn>
                                        <p:tgtEl>
                                          <p:spTgt spid="13336"/>
                                        </p:tgtEl>
                                        <p:attrNameLst>
                                          <p:attrName>style.visibility</p:attrName>
                                        </p:attrNameLst>
                                      </p:cBhvr>
                                      <p:to>
                                        <p:strVal val="visible"/>
                                      </p:to>
                                    </p:set>
                                    <p:animEffect transition="in" filter="wheel(1)">
                                      <p:cBhvr>
                                        <p:cTn id="53" dur="2000"/>
                                        <p:tgtEl>
                                          <p:spTgt spid="13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5" grpId="0" bldLvl="0" animBg="1"/>
      <p:bldP spid="13336" grpId="0" animBg="1"/>
      <p:bldP spid="13337" grpId="0" bldLvl="0" animBg="1" autoUpdateAnimBg="0"/>
      <p:bldP spid="13339" grpId="0" bldLvl="0" animBg="1" autoUpdateAnimBg="0"/>
      <p:bldP spid="29" grpId="0" animBg="1"/>
      <p:bldP spid="30" grpId="0" animBg="1"/>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5"/>
          <p:cNvSpPr>
            <a:spLocks noGrp="1"/>
          </p:cNvSpPr>
          <p:nvPr>
            <p:ph type="sldNum" sz="quarter" idx="12"/>
          </p:nvPr>
        </p:nvSpPr>
        <p:spPr/>
        <p:txBody>
          <a:bodyPr/>
          <a:lstStyle/>
          <a:p>
            <a:fld id="{680DE472-2628-488C-BF54-C10ADFD34F4B}" type="slidenum">
              <a:rPr lang="zh-CN" altLang="en-US"/>
              <a:pPr/>
              <a:t>13</a:t>
            </a:fld>
            <a:endParaRPr lang="en-US" altLang="zh-CN" sz="1800" b="1" dirty="0"/>
          </a:p>
        </p:txBody>
      </p:sp>
      <p:sp>
        <p:nvSpPr>
          <p:cNvPr id="14365" name="圆角矩形标注 29"/>
          <p:cNvSpPr>
            <a:spLocks noChangeArrowheads="1"/>
          </p:cNvSpPr>
          <p:nvPr/>
        </p:nvSpPr>
        <p:spPr bwMode="auto">
          <a:xfrm>
            <a:off x="4513274" y="2169478"/>
            <a:ext cx="3214688" cy="1055608"/>
          </a:xfrm>
          <a:prstGeom prst="wedgeRoundRectCallout">
            <a:avLst>
              <a:gd name="adj1" fmla="val -21736"/>
              <a:gd name="adj2" fmla="val 33750"/>
              <a:gd name="adj3" fmla="val 16667"/>
            </a:avLst>
          </a:prstGeom>
          <a:noFill/>
          <a:ln w="28575">
            <a:solidFill>
              <a:schemeClr val="accent3">
                <a:lumMod val="50000"/>
              </a:schemeClr>
            </a:solidFill>
          </a:ln>
        </p:spPr>
        <p:txBody>
          <a:bodyPr>
            <a:spAutoFit/>
          </a:bodyPr>
          <a:lstStyle/>
          <a:p>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假定其他企业也进行调整</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要素价格变动会引起所有企业的要素需求量和使用量的变动</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进而引起整个产品市场的产量和价格的变动。</a:t>
            </a:r>
            <a:endParaRPr lang="zh-CN" altLang="en-US" sz="1400" b="0" dirty="0">
              <a:latin typeface="微软雅黑" panose="020B0503020204020204" pitchFamily="34" charset="-122"/>
              <a:ea typeface="微软雅黑" panose="020B0503020204020204" pitchFamily="34" charset="-122"/>
            </a:endParaRPr>
          </a:p>
        </p:txBody>
      </p:sp>
      <p:sp>
        <p:nvSpPr>
          <p:cNvPr id="14366" name="圆角矩形标注 30"/>
          <p:cNvSpPr>
            <a:spLocks noChangeArrowheads="1"/>
          </p:cNvSpPr>
          <p:nvPr/>
        </p:nvSpPr>
        <p:spPr bwMode="auto">
          <a:xfrm>
            <a:off x="413940" y="2124175"/>
            <a:ext cx="1914923" cy="2208133"/>
          </a:xfrm>
          <a:prstGeom prst="wedgeRoundRectCallout">
            <a:avLst>
              <a:gd name="adj1" fmla="val 140289"/>
              <a:gd name="adj2" fmla="val 6788"/>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设点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为所求的要素需求曲线上一点。 </a:t>
            </a:r>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如果这时没有其他企业的调整</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则</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P</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·MP</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就可以看成是要素的需求曲线。要素价格下降到</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1</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要素的需求量增加到</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2</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b="0" dirty="0">
              <a:latin typeface="微软雅黑" panose="020B0503020204020204" pitchFamily="34" charset="-122"/>
              <a:ea typeface="微软雅黑" panose="020B0503020204020204" pitchFamily="34" charset="-122"/>
            </a:endParaRPr>
          </a:p>
        </p:txBody>
      </p:sp>
      <p:sp>
        <p:nvSpPr>
          <p:cNvPr id="14367" name="圆角矩形标注 31"/>
          <p:cNvSpPr>
            <a:spLocks noChangeArrowheads="1"/>
          </p:cNvSpPr>
          <p:nvPr/>
        </p:nvSpPr>
        <p:spPr bwMode="auto">
          <a:xfrm>
            <a:off x="446744" y="4519633"/>
            <a:ext cx="1966012" cy="1532334"/>
          </a:xfrm>
          <a:prstGeom prst="wedgeRoundRectCallout">
            <a:avLst>
              <a:gd name="adj1" fmla="val 116924"/>
              <a:gd name="adj2" fmla="val -81668"/>
              <a:gd name="adj3" fmla="val 16667"/>
            </a:avLst>
          </a:prstGeom>
          <a:noFill/>
          <a:ln w="28575">
            <a:solidFill>
              <a:schemeClr val="accent3">
                <a:lumMod val="50000"/>
              </a:schemeClr>
            </a:solidFill>
          </a:ln>
        </p:spPr>
        <p:txBody>
          <a:bodyPr wrap="square">
            <a:spAutoFit/>
          </a:bodyPr>
          <a:lstStyle/>
          <a:p>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现在由于其他企业也要进行调整</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要素价格下降到</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1</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导致产品价格也下降</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从而边际产品价值曲线向左下方移动到</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P</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1</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·MP</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368" name="圆角矩形标注 32"/>
          <p:cNvSpPr>
            <a:spLocks noChangeArrowheads="1"/>
          </p:cNvSpPr>
          <p:nvPr/>
        </p:nvSpPr>
        <p:spPr bwMode="auto">
          <a:xfrm>
            <a:off x="6581076" y="3300518"/>
            <a:ext cx="2071688" cy="1293971"/>
          </a:xfrm>
          <a:prstGeom prst="wedgeRoundRectCallout">
            <a:avLst>
              <a:gd name="adj1" fmla="val -114233"/>
              <a:gd name="adj2" fmla="val 32491"/>
              <a:gd name="adj3" fmla="val 16667"/>
            </a:avLst>
          </a:prstGeom>
          <a:noFill/>
          <a:ln w="28575">
            <a:solidFill>
              <a:schemeClr val="accent3">
                <a:lumMod val="50000"/>
              </a:schemeClr>
            </a:solidFill>
          </a:ln>
        </p:spPr>
        <p:txBody>
          <a:bodyPr>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根据新的边际产品价值曲线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在要素价格</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1</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下</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要素的需求量为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1</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得到要素需求曲线上另外一点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B</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369" name="圆角矩形标注 33"/>
          <p:cNvSpPr>
            <a:spLocks noChangeArrowheads="1"/>
          </p:cNvSpPr>
          <p:nvPr/>
        </p:nvSpPr>
        <p:spPr bwMode="auto">
          <a:xfrm>
            <a:off x="6738640" y="4664320"/>
            <a:ext cx="1922057" cy="817245"/>
          </a:xfrm>
          <a:prstGeom prst="wedgeRoundRectCallout">
            <a:avLst>
              <a:gd name="adj1" fmla="val -115403"/>
              <a:gd name="adj2" fmla="val -3980"/>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其他与</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B</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性质相同的点的集合即为行业调整曲线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d</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矩形 35">
            <a:extLst>
              <a:ext uri="{FF2B5EF4-FFF2-40B4-BE49-F238E27FC236}">
                <a16:creationId xmlns:a16="http://schemas.microsoft.com/office/drawing/2014/main" id="{F68E5273-CD77-47B9-B841-9D29349C133D}"/>
              </a:ext>
            </a:extLst>
          </p:cNvPr>
          <p:cNvSpPr/>
          <p:nvPr/>
        </p:nvSpPr>
        <p:spPr>
          <a:xfrm>
            <a:off x="467544" y="548680"/>
            <a:ext cx="480131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三、完全竞争市场的要素需求曲线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20E41E1C-F8E2-429A-B198-48C7C7BCCBD2}"/>
              </a:ext>
            </a:extLst>
          </p:cNvPr>
          <p:cNvSpPr/>
          <p:nvPr/>
        </p:nvSpPr>
        <p:spPr>
          <a:xfrm>
            <a:off x="682318" y="1372661"/>
            <a:ext cx="2185214" cy="707886"/>
          </a:xfrm>
          <a:prstGeom prst="rect">
            <a:avLst/>
          </a:prstGeom>
        </p:spPr>
        <p:txBody>
          <a:bodyPr wrap="none">
            <a:spAutoFit/>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行业调整曲线</a:t>
            </a:r>
            <a:endParaRPr lang="en-US" altLang="zh-CN" sz="2000" b="0" dirty="0">
              <a:latin typeface="微软雅黑" panose="020B0503020204020204" pitchFamily="34" charset="-122"/>
              <a:ea typeface="微软雅黑" panose="020B0503020204020204" pitchFamily="34" charset="-122"/>
            </a:endParaRPr>
          </a:p>
          <a:p>
            <a:pPr marL="342900" lvl="2" indent="-342900" eaLnBrk="1" hangingPunct="1"/>
            <a:endParaRPr lang="zh-CN" altLang="en-US" sz="2000" b="0" dirty="0"/>
          </a:p>
        </p:txBody>
      </p:sp>
      <p:grpSp>
        <p:nvGrpSpPr>
          <p:cNvPr id="3" name="组合 2"/>
          <p:cNvGrpSpPr/>
          <p:nvPr/>
        </p:nvGrpSpPr>
        <p:grpSpPr>
          <a:xfrm>
            <a:off x="1931690" y="2401871"/>
            <a:ext cx="5353050" cy="3437354"/>
            <a:chOff x="1928813" y="2571750"/>
            <a:chExt cx="5353050" cy="3437354"/>
          </a:xfrm>
        </p:grpSpPr>
        <p:sp>
          <p:nvSpPr>
            <p:cNvPr id="14339" name="Line 4"/>
            <p:cNvSpPr>
              <a:spLocks noChangeShapeType="1"/>
            </p:cNvSpPr>
            <p:nvPr/>
          </p:nvSpPr>
          <p:spPr bwMode="auto">
            <a:xfrm flipH="1" flipV="1">
              <a:off x="2695575" y="2644775"/>
              <a:ext cx="0" cy="302101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0" name="Line 5"/>
            <p:cNvSpPr>
              <a:spLocks noChangeShapeType="1"/>
            </p:cNvSpPr>
            <p:nvPr/>
          </p:nvSpPr>
          <p:spPr bwMode="auto">
            <a:xfrm>
              <a:off x="2693988" y="5668963"/>
              <a:ext cx="4559300"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1" name="Text Box 6"/>
            <p:cNvSpPr>
              <a:spLocks noChangeArrowheads="1"/>
            </p:cNvSpPr>
            <p:nvPr/>
          </p:nvSpPr>
          <p:spPr bwMode="auto">
            <a:xfrm>
              <a:off x="2257425" y="2573338"/>
              <a:ext cx="7000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endParaRPr lang="zh-CN" altLang="en-US" dirty="0">
                <a:latin typeface="Times New Roman" panose="02020603050405020304" pitchFamily="18" charset="0"/>
                <a:cs typeface="Times New Roman" panose="02020603050405020304" pitchFamily="18" charset="0"/>
              </a:endParaRPr>
            </a:p>
          </p:txBody>
        </p:sp>
        <p:sp>
          <p:nvSpPr>
            <p:cNvPr id="14342" name="Text Box 7"/>
            <p:cNvSpPr>
              <a:spLocks noChangeArrowheads="1"/>
            </p:cNvSpPr>
            <p:nvPr/>
          </p:nvSpPr>
          <p:spPr bwMode="auto">
            <a:xfrm>
              <a:off x="2344738" y="5526088"/>
              <a:ext cx="3778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O</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14343" name="Text Box 8"/>
            <p:cNvSpPr>
              <a:spLocks noChangeArrowheads="1"/>
            </p:cNvSpPr>
            <p:nvPr/>
          </p:nvSpPr>
          <p:spPr bwMode="auto">
            <a:xfrm>
              <a:off x="6904038" y="5670550"/>
              <a:ext cx="3778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14344" name="Line 9"/>
            <p:cNvSpPr>
              <a:spLocks noChangeShapeType="1"/>
            </p:cNvSpPr>
            <p:nvPr/>
          </p:nvSpPr>
          <p:spPr bwMode="auto">
            <a:xfrm>
              <a:off x="3397250" y="2932113"/>
              <a:ext cx="3070225" cy="187483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6" name="Text Box 11"/>
            <p:cNvSpPr>
              <a:spLocks noChangeArrowheads="1"/>
            </p:cNvSpPr>
            <p:nvPr/>
          </p:nvSpPr>
          <p:spPr bwMode="auto">
            <a:xfrm>
              <a:off x="2257425" y="3221038"/>
              <a:ext cx="612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W0</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14347" name="Line 12"/>
            <p:cNvSpPr>
              <a:spLocks noChangeShapeType="1"/>
            </p:cNvSpPr>
            <p:nvPr/>
          </p:nvSpPr>
          <p:spPr bwMode="auto">
            <a:xfrm>
              <a:off x="2693988" y="3363913"/>
              <a:ext cx="1403350"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8" name="Line 13"/>
            <p:cNvSpPr>
              <a:spLocks noChangeShapeType="1"/>
            </p:cNvSpPr>
            <p:nvPr/>
          </p:nvSpPr>
          <p:spPr bwMode="auto">
            <a:xfrm>
              <a:off x="2693988" y="4733925"/>
              <a:ext cx="3595687"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9" name="Line 14"/>
            <p:cNvSpPr>
              <a:spLocks noChangeShapeType="1"/>
            </p:cNvSpPr>
            <p:nvPr/>
          </p:nvSpPr>
          <p:spPr bwMode="auto">
            <a:xfrm>
              <a:off x="4097338" y="3363913"/>
              <a:ext cx="1587" cy="230663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50" name="Line 15"/>
            <p:cNvSpPr>
              <a:spLocks noChangeShapeType="1"/>
            </p:cNvSpPr>
            <p:nvPr/>
          </p:nvSpPr>
          <p:spPr bwMode="auto">
            <a:xfrm>
              <a:off x="6289675" y="4733925"/>
              <a:ext cx="0" cy="93662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51" name="Text Box 16"/>
            <p:cNvSpPr>
              <a:spLocks noChangeArrowheads="1"/>
            </p:cNvSpPr>
            <p:nvPr/>
          </p:nvSpPr>
          <p:spPr bwMode="auto">
            <a:xfrm>
              <a:off x="1928813" y="4403725"/>
              <a:ext cx="592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14352" name="Text Box 17"/>
            <p:cNvSpPr>
              <a:spLocks noChangeArrowheads="1"/>
            </p:cNvSpPr>
            <p:nvPr/>
          </p:nvSpPr>
          <p:spPr bwMode="auto">
            <a:xfrm>
              <a:off x="2257425" y="4591050"/>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W1</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14353" name="Text Box 18"/>
            <p:cNvSpPr>
              <a:spLocks noChangeArrowheads="1"/>
            </p:cNvSpPr>
            <p:nvPr/>
          </p:nvSpPr>
          <p:spPr bwMode="auto">
            <a:xfrm>
              <a:off x="4097338" y="3076575"/>
              <a:ext cx="436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14354" name="Text Box 19"/>
            <p:cNvSpPr>
              <a:spLocks noChangeArrowheads="1"/>
            </p:cNvSpPr>
            <p:nvPr/>
          </p:nvSpPr>
          <p:spPr bwMode="auto">
            <a:xfrm>
              <a:off x="6464300" y="3435350"/>
              <a:ext cx="3778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a:solidFill>
                  <a:srgbClr val="000000"/>
                </a:solidFill>
                <a:sym typeface="Arial" panose="020B0604020202020204" pitchFamily="34" charset="0"/>
              </a:endParaRPr>
            </a:p>
          </p:txBody>
        </p:sp>
        <p:sp>
          <p:nvSpPr>
            <p:cNvPr id="14355" name="Text Box 20"/>
            <p:cNvSpPr>
              <a:spLocks noChangeArrowheads="1"/>
            </p:cNvSpPr>
            <p:nvPr/>
          </p:nvSpPr>
          <p:spPr bwMode="auto">
            <a:xfrm>
              <a:off x="2532063" y="3689350"/>
              <a:ext cx="3762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a:solidFill>
                  <a:srgbClr val="000000"/>
                </a:solidFill>
                <a:sym typeface="Arial" panose="020B0604020202020204" pitchFamily="34" charset="0"/>
              </a:endParaRPr>
            </a:p>
          </p:txBody>
        </p:sp>
        <p:sp>
          <p:nvSpPr>
            <p:cNvPr id="14356" name="Text Box 21"/>
            <p:cNvSpPr>
              <a:spLocks noChangeArrowheads="1"/>
            </p:cNvSpPr>
            <p:nvPr/>
          </p:nvSpPr>
          <p:spPr bwMode="auto">
            <a:xfrm>
              <a:off x="6113463" y="5670550"/>
              <a:ext cx="6572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endParaRPr lang="zh-CN" altLang="en-US" dirty="0">
                <a:latin typeface="Times New Roman" panose="02020603050405020304" pitchFamily="18" charset="0"/>
                <a:cs typeface="Times New Roman" panose="02020603050405020304" pitchFamily="18" charset="0"/>
              </a:endParaRPr>
            </a:p>
          </p:txBody>
        </p:sp>
        <p:sp>
          <p:nvSpPr>
            <p:cNvPr id="14358" name="Text Box 23"/>
            <p:cNvSpPr>
              <a:spLocks noChangeArrowheads="1"/>
            </p:cNvSpPr>
            <p:nvPr/>
          </p:nvSpPr>
          <p:spPr bwMode="auto">
            <a:xfrm>
              <a:off x="5043488" y="4457268"/>
              <a:ext cx="498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B</a:t>
              </a:r>
              <a:endParaRPr lang="zh-CN" altLang="en-US" dirty="0">
                <a:latin typeface="Times New Roman" panose="02020603050405020304" pitchFamily="18" charset="0"/>
                <a:cs typeface="Times New Roman" panose="02020603050405020304" pitchFamily="18" charset="0"/>
              </a:endParaRPr>
            </a:p>
          </p:txBody>
        </p:sp>
        <p:sp>
          <p:nvSpPr>
            <p:cNvPr id="14359" name="Text Box 24"/>
            <p:cNvSpPr>
              <a:spLocks noChangeArrowheads="1"/>
            </p:cNvSpPr>
            <p:nvPr/>
          </p:nvSpPr>
          <p:spPr bwMode="auto">
            <a:xfrm>
              <a:off x="3922713" y="5670550"/>
              <a:ext cx="5810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4360" name="Text Box 25"/>
            <p:cNvSpPr>
              <a:spLocks noChangeArrowheads="1"/>
            </p:cNvSpPr>
            <p:nvPr/>
          </p:nvSpPr>
          <p:spPr bwMode="auto">
            <a:xfrm>
              <a:off x="4975225" y="5670550"/>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1</a:t>
              </a:r>
              <a:endParaRPr lang="zh-CN" altLang="en-US" dirty="0">
                <a:latin typeface="Times New Roman" panose="02020603050405020304" pitchFamily="18" charset="0"/>
                <a:cs typeface="Times New Roman" panose="02020603050405020304" pitchFamily="18" charset="0"/>
              </a:endParaRPr>
            </a:p>
          </p:txBody>
        </p:sp>
        <p:sp>
          <p:nvSpPr>
            <p:cNvPr id="14361" name="Line 26"/>
            <p:cNvSpPr>
              <a:spLocks noChangeShapeType="1"/>
            </p:cNvSpPr>
            <p:nvPr/>
          </p:nvSpPr>
          <p:spPr bwMode="auto">
            <a:xfrm>
              <a:off x="3748088" y="2860675"/>
              <a:ext cx="1752600" cy="237807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62" name="Line 27"/>
            <p:cNvSpPr>
              <a:spLocks noChangeShapeType="1"/>
            </p:cNvSpPr>
            <p:nvPr/>
          </p:nvSpPr>
          <p:spPr bwMode="auto">
            <a:xfrm>
              <a:off x="3135313" y="3508375"/>
              <a:ext cx="2803525" cy="173037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63" name="Line 28"/>
            <p:cNvSpPr>
              <a:spLocks noChangeShapeType="1"/>
            </p:cNvSpPr>
            <p:nvPr/>
          </p:nvSpPr>
          <p:spPr bwMode="auto">
            <a:xfrm>
              <a:off x="5148263" y="4733925"/>
              <a:ext cx="3175" cy="93662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64" name="Text Box 29"/>
            <p:cNvSpPr>
              <a:spLocks noChangeArrowheads="1"/>
            </p:cNvSpPr>
            <p:nvPr/>
          </p:nvSpPr>
          <p:spPr bwMode="auto">
            <a:xfrm>
              <a:off x="3748088" y="2571750"/>
              <a:ext cx="449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a:t>
              </a:r>
              <a:endParaRPr lang="zh-CN" altLang="en-US"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24414319"/>
                </p:ext>
              </p:extLst>
            </p:nvPr>
          </p:nvGraphicFramePr>
          <p:xfrm>
            <a:off x="2962277" y="3853221"/>
            <a:ext cx="761326" cy="267493"/>
          </p:xfrm>
          <a:graphic>
            <a:graphicData uri="http://schemas.openxmlformats.org/presentationml/2006/ole">
              <mc:AlternateContent xmlns:mc="http://schemas.openxmlformats.org/markup-compatibility/2006">
                <mc:Choice xmlns:v="urn:schemas-microsoft-com:vml" Requires="v">
                  <p:oleObj spid="_x0000_s38162" name="Equation" r:id="rId3" imgW="469800" imgH="164880" progId="Equation.3">
                    <p:embed/>
                  </p:oleObj>
                </mc:Choice>
                <mc:Fallback>
                  <p:oleObj name="Equation" r:id="rId3" imgW="469800" imgH="164880" progId="Equation.3">
                    <p:embed/>
                    <p:pic>
                      <p:nvPicPr>
                        <p:cNvPr id="0" name=""/>
                        <p:cNvPicPr/>
                        <p:nvPr/>
                      </p:nvPicPr>
                      <p:blipFill>
                        <a:blip r:embed="rId4"/>
                        <a:stretch>
                          <a:fillRect/>
                        </a:stretch>
                      </p:blipFill>
                      <p:spPr>
                        <a:xfrm>
                          <a:off x="2962277" y="3853221"/>
                          <a:ext cx="761326" cy="267493"/>
                        </a:xfrm>
                        <a:prstGeom prst="rect">
                          <a:avLst/>
                        </a:prstGeom>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1861704987"/>
                </p:ext>
              </p:extLst>
            </p:nvPr>
          </p:nvGraphicFramePr>
          <p:xfrm>
            <a:off x="5217319" y="3743325"/>
            <a:ext cx="781050" cy="288925"/>
          </p:xfrm>
          <a:graphic>
            <a:graphicData uri="http://schemas.openxmlformats.org/presentationml/2006/ole">
              <mc:AlternateContent xmlns:mc="http://schemas.openxmlformats.org/markup-compatibility/2006">
                <mc:Choice xmlns:v="urn:schemas-microsoft-com:vml" Requires="v">
                  <p:oleObj spid="_x0000_s38163" name="Equation" r:id="rId5" imgW="482400" imgH="177480" progId="Equation.3">
                    <p:embed/>
                  </p:oleObj>
                </mc:Choice>
                <mc:Fallback>
                  <p:oleObj name="Equation" r:id="rId5" imgW="482400" imgH="177480" progId="Equation.3">
                    <p:embed/>
                    <p:pic>
                      <p:nvPicPr>
                        <p:cNvPr id="2" name="对象 1"/>
                        <p:cNvPicPr/>
                        <p:nvPr/>
                      </p:nvPicPr>
                      <p:blipFill>
                        <a:blip r:embed="rId6"/>
                        <a:stretch>
                          <a:fillRect/>
                        </a:stretch>
                      </p:blipFill>
                      <p:spPr>
                        <a:xfrm>
                          <a:off x="5217319" y="3743325"/>
                          <a:ext cx="781050" cy="288925"/>
                        </a:xfrm>
                        <a:prstGeom prst="rect">
                          <a:avLst/>
                        </a:prstGeom>
                      </p:spPr>
                    </p:pic>
                  </p:oleObj>
                </mc:Fallback>
              </mc:AlternateContent>
            </a:graphicData>
          </a:graphic>
        </p:graphicFrame>
      </p:grpSp>
      <p:sp>
        <p:nvSpPr>
          <p:cNvPr id="38" name="标题 1">
            <a:extLst>
              <a:ext uri="{FF2B5EF4-FFF2-40B4-BE49-F238E27FC236}">
                <a16:creationId xmlns:a16="http://schemas.microsoft.com/office/drawing/2014/main" id="{96824ACD-B415-4B37-B57F-A29E035656EF}"/>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4366"/>
                                        </p:tgtEl>
                                        <p:attrNameLst>
                                          <p:attrName>style.visibility</p:attrName>
                                        </p:attrNameLst>
                                      </p:cBhvr>
                                      <p:to>
                                        <p:strVal val="visible"/>
                                      </p:to>
                                    </p:set>
                                    <p:animEffect>
                                      <p:cBhvr>
                                        <p:cTn id="20" dur="500"/>
                                        <p:tgtEl>
                                          <p:spTgt spid="1436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365"/>
                                        </p:tgtEl>
                                        <p:attrNameLst>
                                          <p:attrName>style.visibility</p:attrName>
                                        </p:attrNameLst>
                                      </p:cBhvr>
                                      <p:to>
                                        <p:strVal val="visible"/>
                                      </p:to>
                                    </p:set>
                                    <p:animEffect>
                                      <p:cBhvr>
                                        <p:cTn id="25" dur="500"/>
                                        <p:tgtEl>
                                          <p:spTgt spid="1436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4367"/>
                                        </p:tgtEl>
                                        <p:attrNameLst>
                                          <p:attrName>style.visibility</p:attrName>
                                        </p:attrNameLst>
                                      </p:cBhvr>
                                      <p:to>
                                        <p:strVal val="visible"/>
                                      </p:to>
                                    </p:set>
                                    <p:animEffect>
                                      <p:cBhvr>
                                        <p:cTn id="30" dur="500"/>
                                        <p:tgtEl>
                                          <p:spTgt spid="14367"/>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14368"/>
                                        </p:tgtEl>
                                        <p:attrNameLst>
                                          <p:attrName>style.visibility</p:attrName>
                                        </p:attrNameLst>
                                      </p:cBhvr>
                                      <p:to>
                                        <p:strVal val="visible"/>
                                      </p:to>
                                    </p:set>
                                    <p:animEffect>
                                      <p:cBhvr>
                                        <p:cTn id="35" dur="500"/>
                                        <p:tgtEl>
                                          <p:spTgt spid="1436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4369"/>
                                        </p:tgtEl>
                                        <p:attrNameLst>
                                          <p:attrName>style.visibility</p:attrName>
                                        </p:attrNameLst>
                                      </p:cBhvr>
                                      <p:to>
                                        <p:strVal val="visible"/>
                                      </p:to>
                                    </p:set>
                                    <p:animEffect>
                                      <p:cBhvr>
                                        <p:cTn id="40" dur="500"/>
                                        <p:tgtEl>
                                          <p:spTgt spid="14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7" grpId="0" bldLvl="0" animBg="1"/>
      <p:bldP spid="14368" grpId="0" bldLvl="0" animBg="1"/>
      <p:bldP spid="14369" grpId="0" bldLvl="0" animBg="1"/>
      <p:bldP spid="36" grpId="0" animBg="1"/>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ChangeArrowheads="1"/>
          </p:cNvSpPr>
          <p:nvPr/>
        </p:nvSpPr>
        <p:spPr bwMode="auto">
          <a:xfrm>
            <a:off x="2411849" y="2174070"/>
            <a:ext cx="6048420" cy="385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0" lvl="2" indent="0">
              <a:spcBef>
                <a:spcPct val="20000"/>
              </a:spcBef>
            </a:pPr>
            <a:endParaRPr lang="zh-CN" altLang="en-US" sz="1800" dirty="0">
              <a:solidFill>
                <a:srgbClr val="000000"/>
              </a:solidFill>
              <a:sym typeface="Arial" panose="020B0604020202020204" pitchFamily="34" charset="0"/>
            </a:endParaRPr>
          </a:p>
          <a:p>
            <a:pPr marL="800100" lvl="1" indent="-342900">
              <a:lnSpc>
                <a:spcPct val="200000"/>
              </a:lnSpc>
              <a:spcBef>
                <a:spcPct val="20000"/>
              </a:spcBef>
              <a:buSzPct val="100000"/>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完全竞争市场的要素需求曲线</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不是把单个的完全竞争企业的边际产品价值曲线的简单加总</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200000"/>
              </a:lnSpc>
              <a:spcBef>
                <a:spcPct val="20000"/>
              </a:spcBef>
              <a:buSzPct val="100000"/>
              <a:buFont typeface="Wingdings" panose="05000000000000000000" pitchFamily="2" charset="2"/>
              <a:buChar char="Ø"/>
            </a:pP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200000"/>
              </a:lnSpc>
              <a:spcBef>
                <a:spcPct val="20000"/>
              </a:spcBef>
              <a:buSzPct val="100000"/>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完全竞争市场的要素需求曲线</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是所有完全竞争企业的行业调整曲线的简单水平相加（见下图）</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1257300" lvl="2" indent="-1257300">
              <a:spcBef>
                <a:spcPct val="20000"/>
              </a:spcBef>
              <a:buSzPct val="100000"/>
              <a:buFont typeface="Arial" panose="020B0604020202020204" pitchFamily="34" charset="0"/>
              <a:buChar char="•"/>
            </a:pPr>
            <a:endParaRPr lang="zh-CN" altLang="en-US" sz="1800" b="0" dirty="0">
              <a:solidFill>
                <a:srgbClr val="000000"/>
              </a:solidFill>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480131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三、完全竞争市场的要素需求曲线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467688"/>
            <a:ext cx="3456240" cy="514350"/>
            <a:chOff x="295990" y="1820719"/>
            <a:chExt cx="4707869" cy="514350"/>
          </a:xfrm>
        </p:grpSpPr>
        <p:sp>
          <p:nvSpPr>
            <p:cNvPr id="6"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295990" y="1820719"/>
              <a:ext cx="470786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a:spcBef>
                  <a:spcPct val="20000"/>
                </a:spcBef>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完全竞争市场的要素需求曲线：</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4876859" y="1820719"/>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pic>
        <p:nvPicPr>
          <p:cNvPr id="8" name="图片 7">
            <a:extLst>
              <a:ext uri="{FF2B5EF4-FFF2-40B4-BE49-F238E27FC236}">
                <a16:creationId xmlns:a16="http://schemas.microsoft.com/office/drawing/2014/main" id="{04B8D496-EE33-4EC1-A8B3-5A3967AD336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971750" y="2342656"/>
            <a:ext cx="1810953" cy="3495420"/>
          </a:xfrm>
          <a:prstGeom prst="rect">
            <a:avLst/>
          </a:prstGeom>
        </p:spPr>
      </p:pic>
      <p:sp>
        <p:nvSpPr>
          <p:cNvPr id="9" name="标题 1">
            <a:extLst>
              <a:ext uri="{FF2B5EF4-FFF2-40B4-BE49-F238E27FC236}">
                <a16:creationId xmlns:a16="http://schemas.microsoft.com/office/drawing/2014/main" id="{812247E7-BE04-4C41-8F69-793B7A64A3BA}"/>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362">
                                            <p:txEl>
                                              <p:pRg st="1" end="1"/>
                                            </p:txEl>
                                          </p:spTgt>
                                        </p:tgtEl>
                                        <p:attrNameLst>
                                          <p:attrName>style.visibility</p:attrName>
                                        </p:attrNameLst>
                                      </p:cBhvr>
                                      <p:to>
                                        <p:strVal val="visible"/>
                                      </p:to>
                                    </p:set>
                                    <p:animEffect>
                                      <p:cBhvr>
                                        <p:cTn id="17" dur="500"/>
                                        <p:tgtEl>
                                          <p:spTgt spid="153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362">
                                            <p:txEl>
                                              <p:pRg st="3" end="3"/>
                                            </p:txEl>
                                          </p:spTgt>
                                        </p:tgtEl>
                                        <p:attrNameLst>
                                          <p:attrName>style.visibility</p:attrName>
                                        </p:attrNameLst>
                                      </p:cBhvr>
                                      <p:to>
                                        <p:strVal val="visible"/>
                                      </p:to>
                                    </p:set>
                                    <p:animEffect>
                                      <p:cBhvr>
                                        <p:cTn id="22" dur="500"/>
                                        <p:tgtEl>
                                          <p:spTgt spid="153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9" name="Text Box 26"/>
          <p:cNvSpPr>
            <a:spLocks noChangeArrowheads="1"/>
          </p:cNvSpPr>
          <p:nvPr/>
        </p:nvSpPr>
        <p:spPr bwMode="auto">
          <a:xfrm>
            <a:off x="4446588" y="4467225"/>
            <a:ext cx="485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16414" name="圆角矩形标注 30"/>
          <p:cNvSpPr>
            <a:spLocks noChangeArrowheads="1"/>
          </p:cNvSpPr>
          <p:nvPr/>
        </p:nvSpPr>
        <p:spPr bwMode="auto">
          <a:xfrm>
            <a:off x="2067939" y="2321368"/>
            <a:ext cx="2571750" cy="1192212"/>
          </a:xfrm>
          <a:prstGeom prst="wedgeRoundRectCallout">
            <a:avLst>
              <a:gd name="adj1" fmla="val -19144"/>
              <a:gd name="adj2" fmla="val 52815"/>
              <a:gd name="adj3" fmla="val 16667"/>
            </a:avLst>
          </a:prstGeom>
          <a:noFill/>
          <a:ln w="28575">
            <a:solidFill>
              <a:schemeClr val="accent3">
                <a:lumMod val="50000"/>
              </a:schemeClr>
            </a:solidFill>
          </a:ln>
        </p:spPr>
        <p:txBody>
          <a:bodyPr>
            <a:spAutoFit/>
          </a:bodyPr>
          <a:lstStyle/>
          <a:p>
            <a:r>
              <a:rPr lang="zh-CN" altLang="en-US" b="0" dirty="0">
                <a:latin typeface="微软雅黑" panose="020B0503020204020204" pitchFamily="34" charset="-122"/>
                <a:ea typeface="微软雅黑" panose="020B0503020204020204" pitchFamily="34" charset="-122"/>
                <a:sym typeface="Arial" panose="020B0604020202020204" pitchFamily="34" charset="0"/>
              </a:rPr>
              <a:t>完全竞争市场的要素需求曲线</a:t>
            </a:r>
            <a:r>
              <a:rPr lang="en-US" altLang="zh-CN" b="0" dirty="0">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latin typeface="微软雅黑" panose="020B0503020204020204" pitchFamily="34" charset="-122"/>
                <a:ea typeface="微软雅黑" panose="020B0503020204020204" pitchFamily="34" charset="-122"/>
                <a:sym typeface="Arial" panose="020B0604020202020204" pitchFamily="34" charset="0"/>
              </a:rPr>
              <a:t>是所有完全竞争企业的行业调整曲线的简单水平相加</a:t>
            </a:r>
          </a:p>
        </p:txBody>
      </p:sp>
      <p:grpSp>
        <p:nvGrpSpPr>
          <p:cNvPr id="7" name="组合 6"/>
          <p:cNvGrpSpPr/>
          <p:nvPr/>
        </p:nvGrpSpPr>
        <p:grpSpPr>
          <a:xfrm>
            <a:off x="557933" y="2254374"/>
            <a:ext cx="3893417" cy="3854523"/>
            <a:chOff x="557933" y="2420938"/>
            <a:chExt cx="3893417" cy="3854523"/>
          </a:xfrm>
        </p:grpSpPr>
        <p:grpSp>
          <p:nvGrpSpPr>
            <p:cNvPr id="4" name="组合 3"/>
            <p:cNvGrpSpPr/>
            <p:nvPr/>
          </p:nvGrpSpPr>
          <p:grpSpPr>
            <a:xfrm>
              <a:off x="557933" y="2420938"/>
              <a:ext cx="3893417" cy="3651666"/>
              <a:chOff x="557933" y="2420938"/>
              <a:chExt cx="3893417" cy="3651666"/>
            </a:xfrm>
          </p:grpSpPr>
          <p:sp>
            <p:nvSpPr>
              <p:cNvPr id="16387" name="Line 4"/>
              <p:cNvSpPr>
                <a:spLocks noChangeShapeType="1"/>
              </p:cNvSpPr>
              <p:nvPr/>
            </p:nvSpPr>
            <p:spPr bwMode="auto">
              <a:xfrm flipV="1">
                <a:off x="971550" y="2492375"/>
                <a:ext cx="1588" cy="323850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388" name="Line 5"/>
              <p:cNvSpPr>
                <a:spLocks noChangeShapeType="1"/>
              </p:cNvSpPr>
              <p:nvPr/>
            </p:nvSpPr>
            <p:spPr bwMode="auto">
              <a:xfrm>
                <a:off x="971550" y="5732463"/>
                <a:ext cx="3457575"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389" name="Text Box 6"/>
              <p:cNvSpPr>
                <a:spLocks noChangeArrowheads="1"/>
              </p:cNvSpPr>
              <p:nvPr/>
            </p:nvSpPr>
            <p:spPr bwMode="auto">
              <a:xfrm>
                <a:off x="612775" y="2420938"/>
                <a:ext cx="5746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endParaRPr lang="zh-CN" altLang="en-US" dirty="0">
                  <a:latin typeface="Times New Roman" panose="02020603050405020304" pitchFamily="18" charset="0"/>
                  <a:cs typeface="Times New Roman" panose="02020603050405020304" pitchFamily="18" charset="0"/>
                </a:endParaRPr>
              </a:p>
            </p:txBody>
          </p:sp>
          <p:sp>
            <p:nvSpPr>
              <p:cNvPr id="16390" name="Text Box 7"/>
              <p:cNvSpPr>
                <a:spLocks noChangeArrowheads="1"/>
              </p:cNvSpPr>
              <p:nvPr/>
            </p:nvSpPr>
            <p:spPr bwMode="auto">
              <a:xfrm>
                <a:off x="684213" y="5589588"/>
                <a:ext cx="311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O</a:t>
                </a:r>
                <a:endParaRPr lang="zh-CN" altLang="en-US" dirty="0">
                  <a:latin typeface="Times New Roman" panose="02020603050405020304" pitchFamily="18" charset="0"/>
                  <a:cs typeface="Times New Roman" panose="02020603050405020304" pitchFamily="18" charset="0"/>
                </a:endParaRPr>
              </a:p>
            </p:txBody>
          </p:sp>
          <p:sp>
            <p:nvSpPr>
              <p:cNvPr id="16391" name="Text Box 8"/>
              <p:cNvSpPr>
                <a:spLocks noChangeArrowheads="1"/>
              </p:cNvSpPr>
              <p:nvPr/>
            </p:nvSpPr>
            <p:spPr bwMode="auto">
              <a:xfrm>
                <a:off x="4140200" y="5734050"/>
                <a:ext cx="311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endParaRPr lang="zh-CN" altLang="en-US" dirty="0">
                  <a:latin typeface="Times New Roman" panose="02020603050405020304" pitchFamily="18" charset="0"/>
                  <a:cs typeface="Times New Roman" panose="02020603050405020304" pitchFamily="18" charset="0"/>
                </a:endParaRPr>
              </a:p>
            </p:txBody>
          </p:sp>
          <p:sp>
            <p:nvSpPr>
              <p:cNvPr id="16392" name="Line 9"/>
              <p:cNvSpPr>
                <a:spLocks noChangeShapeType="1"/>
              </p:cNvSpPr>
              <p:nvPr/>
            </p:nvSpPr>
            <p:spPr bwMode="auto">
              <a:xfrm>
                <a:off x="1260475" y="2854325"/>
                <a:ext cx="2520950" cy="2519363"/>
              </a:xfrm>
              <a:prstGeom prst="line">
                <a:avLst/>
              </a:prstGeom>
              <a:noFill/>
              <a:ln w="28575"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393" name="Text Box 10"/>
              <p:cNvSpPr>
                <a:spLocks noChangeArrowheads="1"/>
              </p:cNvSpPr>
              <p:nvPr/>
            </p:nvSpPr>
            <p:spPr bwMode="auto">
              <a:xfrm>
                <a:off x="557933" y="3500438"/>
                <a:ext cx="5032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6394" name="Line 11"/>
              <p:cNvSpPr>
                <a:spLocks noChangeShapeType="1"/>
              </p:cNvSpPr>
              <p:nvPr/>
            </p:nvSpPr>
            <p:spPr bwMode="auto">
              <a:xfrm>
                <a:off x="971550" y="3717925"/>
                <a:ext cx="1152525"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395" name="Line 12"/>
              <p:cNvSpPr>
                <a:spLocks noChangeShapeType="1"/>
              </p:cNvSpPr>
              <p:nvPr/>
            </p:nvSpPr>
            <p:spPr bwMode="auto">
              <a:xfrm>
                <a:off x="2124075" y="3717925"/>
                <a:ext cx="0" cy="201612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396" name="Text Box 13"/>
              <p:cNvSpPr>
                <a:spLocks noChangeArrowheads="1"/>
              </p:cNvSpPr>
              <p:nvPr/>
            </p:nvSpPr>
            <p:spPr bwMode="auto">
              <a:xfrm>
                <a:off x="4068763" y="3500438"/>
                <a:ext cx="3095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6397" name="Text Box 14"/>
              <p:cNvSpPr>
                <a:spLocks noChangeArrowheads="1"/>
              </p:cNvSpPr>
              <p:nvPr/>
            </p:nvSpPr>
            <p:spPr bwMode="auto">
              <a:xfrm>
                <a:off x="838200" y="3754438"/>
                <a:ext cx="30956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6398" name="Text Box 15"/>
              <p:cNvSpPr>
                <a:spLocks noChangeArrowheads="1"/>
              </p:cNvSpPr>
              <p:nvPr/>
            </p:nvSpPr>
            <p:spPr bwMode="auto">
              <a:xfrm>
                <a:off x="3708400" y="5302250"/>
                <a:ext cx="568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i</a:t>
                </a:r>
                <a:endParaRPr lang="zh-CN" altLang="en-US" dirty="0">
                  <a:latin typeface="Times New Roman" panose="02020603050405020304" pitchFamily="18" charset="0"/>
                  <a:cs typeface="Times New Roman" panose="02020603050405020304" pitchFamily="18" charset="0"/>
                </a:endParaRPr>
              </a:p>
            </p:txBody>
          </p:sp>
          <p:sp>
            <p:nvSpPr>
              <p:cNvPr id="16399" name="Text Box 16"/>
              <p:cNvSpPr>
                <a:spLocks noChangeArrowheads="1"/>
              </p:cNvSpPr>
              <p:nvPr/>
            </p:nvSpPr>
            <p:spPr bwMode="auto">
              <a:xfrm>
                <a:off x="1979613" y="5734050"/>
                <a:ext cx="4762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grpSp>
        <p:sp>
          <p:nvSpPr>
            <p:cNvPr id="2" name="矩形 1"/>
            <p:cNvSpPr/>
            <p:nvPr/>
          </p:nvSpPr>
          <p:spPr>
            <a:xfrm>
              <a:off x="1260475" y="5936907"/>
              <a:ext cx="1838965" cy="338554"/>
            </a:xfrm>
            <a:prstGeom prst="rect">
              <a:avLst/>
            </a:prstGeom>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rPr>
                <a:t>企业要素需求曲线</a:t>
              </a:r>
            </a:p>
          </p:txBody>
        </p:sp>
      </p:grpSp>
      <p:grpSp>
        <p:nvGrpSpPr>
          <p:cNvPr id="6" name="组合 5"/>
          <p:cNvGrpSpPr/>
          <p:nvPr/>
        </p:nvGrpSpPr>
        <p:grpSpPr>
          <a:xfrm>
            <a:off x="3214688" y="2254374"/>
            <a:ext cx="5413376" cy="3860560"/>
            <a:chOff x="3214688" y="2420938"/>
            <a:chExt cx="5413376" cy="3860560"/>
          </a:xfrm>
        </p:grpSpPr>
        <p:sp>
          <p:nvSpPr>
            <p:cNvPr id="16400" name="Line 17"/>
            <p:cNvSpPr>
              <a:spLocks noChangeShapeType="1"/>
            </p:cNvSpPr>
            <p:nvPr/>
          </p:nvSpPr>
          <p:spPr bwMode="auto">
            <a:xfrm flipV="1">
              <a:off x="5076825" y="2492375"/>
              <a:ext cx="0" cy="323850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401" name="Line 18"/>
            <p:cNvSpPr>
              <a:spLocks noChangeShapeType="1"/>
            </p:cNvSpPr>
            <p:nvPr/>
          </p:nvSpPr>
          <p:spPr bwMode="auto">
            <a:xfrm>
              <a:off x="5076825" y="5732463"/>
              <a:ext cx="3384550"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402" name="Text Box 19"/>
            <p:cNvSpPr>
              <a:spLocks noChangeArrowheads="1"/>
            </p:cNvSpPr>
            <p:nvPr/>
          </p:nvSpPr>
          <p:spPr bwMode="auto">
            <a:xfrm>
              <a:off x="4716463" y="2420938"/>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endParaRPr lang="zh-CN" altLang="en-US" dirty="0">
                <a:latin typeface="Times New Roman" panose="02020603050405020304" pitchFamily="18" charset="0"/>
                <a:cs typeface="Times New Roman" panose="02020603050405020304" pitchFamily="18" charset="0"/>
              </a:endParaRPr>
            </a:p>
          </p:txBody>
        </p:sp>
        <p:sp>
          <p:nvSpPr>
            <p:cNvPr id="16403" name="Text Box 20"/>
            <p:cNvSpPr>
              <a:spLocks noChangeArrowheads="1"/>
            </p:cNvSpPr>
            <p:nvPr/>
          </p:nvSpPr>
          <p:spPr bwMode="auto">
            <a:xfrm>
              <a:off x="4787900" y="5589588"/>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16404" name="Text Box 21"/>
            <p:cNvSpPr>
              <a:spLocks noChangeArrowheads="1"/>
            </p:cNvSpPr>
            <p:nvPr/>
          </p:nvSpPr>
          <p:spPr bwMode="auto">
            <a:xfrm>
              <a:off x="8316913" y="5734050"/>
              <a:ext cx="311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L</a:t>
              </a:r>
              <a:endParaRPr lang="zh-CN" altLang="en-US" dirty="0">
                <a:latin typeface="Times New Roman" panose="02020603050405020304" pitchFamily="18" charset="0"/>
                <a:cs typeface="Times New Roman" panose="02020603050405020304" pitchFamily="18" charset="0"/>
              </a:endParaRPr>
            </a:p>
          </p:txBody>
        </p:sp>
        <p:sp>
          <p:nvSpPr>
            <p:cNvPr id="16405" name="Line 22"/>
            <p:cNvSpPr>
              <a:spLocks noChangeShapeType="1"/>
            </p:cNvSpPr>
            <p:nvPr/>
          </p:nvSpPr>
          <p:spPr bwMode="auto">
            <a:xfrm>
              <a:off x="5940425" y="2924175"/>
              <a:ext cx="2374900" cy="2376488"/>
            </a:xfrm>
            <a:prstGeom prst="line">
              <a:avLst/>
            </a:prstGeom>
            <a:noFill/>
            <a:ln w="28575"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406" name="Text Box 23"/>
            <p:cNvSpPr>
              <a:spLocks noChangeArrowheads="1"/>
            </p:cNvSpPr>
            <p:nvPr/>
          </p:nvSpPr>
          <p:spPr bwMode="auto">
            <a:xfrm>
              <a:off x="4667251" y="3513580"/>
              <a:ext cx="503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W</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6407" name="Line 24"/>
            <p:cNvSpPr>
              <a:spLocks noChangeShapeType="1"/>
            </p:cNvSpPr>
            <p:nvPr/>
          </p:nvSpPr>
          <p:spPr bwMode="auto">
            <a:xfrm>
              <a:off x="5076825" y="3717925"/>
              <a:ext cx="1657350"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408" name="Line 25"/>
            <p:cNvSpPr>
              <a:spLocks noChangeShapeType="1"/>
            </p:cNvSpPr>
            <p:nvPr/>
          </p:nvSpPr>
          <p:spPr bwMode="auto">
            <a:xfrm>
              <a:off x="6732588" y="3717925"/>
              <a:ext cx="1587" cy="201612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6410" name="Text Box 27"/>
            <p:cNvSpPr>
              <a:spLocks noChangeArrowheads="1"/>
            </p:cNvSpPr>
            <p:nvPr/>
          </p:nvSpPr>
          <p:spPr bwMode="auto">
            <a:xfrm>
              <a:off x="8172450" y="3500438"/>
              <a:ext cx="30956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6411" name="Text Box 28"/>
            <p:cNvSpPr>
              <a:spLocks noChangeArrowheads="1"/>
            </p:cNvSpPr>
            <p:nvPr/>
          </p:nvSpPr>
          <p:spPr bwMode="auto">
            <a:xfrm>
              <a:off x="4941888" y="3754438"/>
              <a:ext cx="3095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16412" name="Text Box 29"/>
            <p:cNvSpPr>
              <a:spLocks noChangeArrowheads="1"/>
            </p:cNvSpPr>
            <p:nvPr/>
          </p:nvSpPr>
          <p:spPr bwMode="auto">
            <a:xfrm>
              <a:off x="8245476" y="5157788"/>
              <a:ext cx="382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a:t>
              </a:r>
              <a:endParaRPr lang="zh-CN" altLang="en-US" dirty="0">
                <a:latin typeface="Times New Roman" panose="02020603050405020304" pitchFamily="18" charset="0"/>
                <a:cs typeface="Times New Roman" panose="02020603050405020304" pitchFamily="18" charset="0"/>
              </a:endParaRPr>
            </a:p>
          </p:txBody>
        </p:sp>
        <p:sp>
          <p:nvSpPr>
            <p:cNvPr id="16413" name="Text Box 30"/>
            <p:cNvSpPr>
              <a:spLocks noChangeArrowheads="1"/>
            </p:cNvSpPr>
            <p:nvPr/>
          </p:nvSpPr>
          <p:spPr bwMode="auto">
            <a:xfrm>
              <a:off x="6516688" y="57340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nL</a:t>
              </a:r>
              <a:r>
                <a:rPr lang="zh-CN" altLang="en-US" sz="1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0</a:t>
              </a:r>
              <a:endParaRPr lang="zh-CN" altLang="en-US" dirty="0">
                <a:latin typeface="Times New Roman" panose="02020603050405020304" pitchFamily="18" charset="0"/>
                <a:cs typeface="Times New Roman" panose="02020603050405020304" pitchFamily="18" charset="0"/>
              </a:endParaRPr>
            </a:p>
          </p:txBody>
        </p:sp>
        <p:sp>
          <p:nvSpPr>
            <p:cNvPr id="16415" name="右箭头 31"/>
            <p:cNvSpPr>
              <a:spLocks/>
            </p:cNvSpPr>
            <p:nvPr/>
          </p:nvSpPr>
          <p:spPr bwMode="auto">
            <a:xfrm>
              <a:off x="3214688" y="3857625"/>
              <a:ext cx="1285875" cy="500063"/>
            </a:xfrm>
            <a:prstGeom prst="rightArrow">
              <a:avLst>
                <a:gd name="adj1" fmla="val 50000"/>
                <a:gd name="adj2" fmla="val 50024"/>
              </a:avLst>
            </a:prstGeom>
            <a:solidFill>
              <a:srgbClr val="9DA2AD"/>
            </a:solidFill>
            <a:ln w="9525" cap="flat" cmpd="sng">
              <a:solidFill>
                <a:schemeClr val="tx1"/>
              </a:solidFill>
              <a:miter lim="800000"/>
              <a:headEnd/>
              <a:tailEnd/>
            </a:ln>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b="0" i="1">
                <a:sym typeface="Arial" panose="020B0604020202020204" pitchFamily="34" charset="0"/>
              </a:endParaRPr>
            </a:p>
          </p:txBody>
        </p:sp>
        <p:sp>
          <p:nvSpPr>
            <p:cNvPr id="3" name="矩形 2"/>
            <p:cNvSpPr/>
            <p:nvPr/>
          </p:nvSpPr>
          <p:spPr>
            <a:xfrm>
              <a:off x="5849617" y="5942944"/>
              <a:ext cx="1838965" cy="338554"/>
            </a:xfrm>
            <a:prstGeom prst="rect">
              <a:avLst/>
            </a:prstGeom>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rPr>
                <a:t>市场要素需求曲线</a:t>
              </a:r>
            </a:p>
          </p:txBody>
        </p:sp>
      </p:grpSp>
      <p:sp>
        <p:nvSpPr>
          <p:cNvPr id="35" name="矩形 34">
            <a:extLst>
              <a:ext uri="{FF2B5EF4-FFF2-40B4-BE49-F238E27FC236}">
                <a16:creationId xmlns:a16="http://schemas.microsoft.com/office/drawing/2014/main" id="{F68E5273-CD77-47B9-B841-9D29349C133D}"/>
              </a:ext>
            </a:extLst>
          </p:cNvPr>
          <p:cNvSpPr/>
          <p:nvPr/>
        </p:nvSpPr>
        <p:spPr>
          <a:xfrm>
            <a:off x="467544" y="548680"/>
            <a:ext cx="480131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三、完全竞争市场的要素需求曲线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39" name="组合 38">
            <a:extLst>
              <a:ext uri="{FF2B5EF4-FFF2-40B4-BE49-F238E27FC236}">
                <a16:creationId xmlns:a16="http://schemas.microsoft.com/office/drawing/2014/main" id="{627AE83D-F3D9-4FE1-841C-38AA09ECDF1C}"/>
              </a:ext>
            </a:extLst>
          </p:cNvPr>
          <p:cNvGrpSpPr/>
          <p:nvPr/>
        </p:nvGrpSpPr>
        <p:grpSpPr>
          <a:xfrm>
            <a:off x="467544" y="1382935"/>
            <a:ext cx="4474344" cy="514350"/>
            <a:chOff x="295990" y="1820719"/>
            <a:chExt cx="4707869" cy="514350"/>
          </a:xfrm>
        </p:grpSpPr>
        <p:sp>
          <p:nvSpPr>
            <p:cNvPr id="40"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295990" y="1820719"/>
              <a:ext cx="470786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1" algn="ctr"/>
              <a:r>
                <a:rPr lang="zh-CN" altLang="en-US" sz="1800" b="0" dirty="0">
                  <a:solidFill>
                    <a:srgbClr val="000000"/>
                  </a:solidFill>
                  <a:latin typeface="微软雅黑" panose="020B0503020204020204" pitchFamily="34" charset="-122"/>
                  <a:ea typeface="微软雅黑" panose="020B0503020204020204" pitchFamily="34" charset="-122"/>
                </a:rPr>
                <a:t>从企业要素需求曲线到市场要素需求曲线</a:t>
              </a:r>
              <a:endParaRPr lang="en-US" altLang="zh-CN" sz="1800" b="0" dirty="0">
                <a:solidFill>
                  <a:srgbClr val="000000"/>
                </a:solidFill>
                <a:latin typeface="微软雅黑" panose="020B0503020204020204" pitchFamily="34" charset="-122"/>
                <a:ea typeface="微软雅黑" panose="020B0503020204020204" pitchFamily="34" charset="-122"/>
              </a:endParaRPr>
            </a:p>
          </p:txBody>
        </p:sp>
        <p:sp>
          <p:nvSpPr>
            <p:cNvPr id="41"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4876859" y="1820719"/>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42" name="标题 1">
            <a:extLst>
              <a:ext uri="{FF2B5EF4-FFF2-40B4-BE49-F238E27FC236}">
                <a16:creationId xmlns:a16="http://schemas.microsoft.com/office/drawing/2014/main" id="{6184D9E3-E116-4083-B032-C76797EE3393}"/>
              </a:ext>
            </a:extLst>
          </p:cNvPr>
          <p:cNvSpPr>
            <a:spLocks noChangeArrowheads="1"/>
          </p:cNvSpPr>
          <p:nvPr/>
        </p:nvSpPr>
        <p:spPr bwMode="auto">
          <a:xfrm>
            <a:off x="1619795" y="-13579"/>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完全竞争和要素需求</a:t>
            </a:r>
            <a: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
            </a:r>
            <a:br>
              <a:rPr lang="zh-CN" altLang="en-US" sz="180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16414"/>
                                        </p:tgtEl>
                                        <p:attrNameLst>
                                          <p:attrName>style.visibility</p:attrName>
                                        </p:attrNameLst>
                                      </p:cBhvr>
                                      <p:to>
                                        <p:strVal val="visible"/>
                                      </p:to>
                                    </p:set>
                                    <p:animEffect transition="in" filter="circle(in)">
                                      <p:cBhvr>
                                        <p:cTn id="21" dur="2000"/>
                                        <p:tgtEl>
                                          <p:spTgt spid="16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1547790" y="764816"/>
            <a:ext cx="8229600" cy="720050"/>
          </a:xfrm>
          <a:ln/>
        </p:spPr>
        <p:txBody>
          <a:bodyPr/>
          <a:lstStyle/>
          <a:p>
            <a:pPr indent="-342900" algn="l"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第二节  要素供给的一般理论</a:t>
            </a:r>
          </a:p>
          <a:p>
            <a:pPr marL="742950" lvl="1" indent="-285750" algn="l" eaLnBrk="1" hangingPunct="1">
              <a:buFontTx/>
              <a:buChar char="–"/>
            </a:pPr>
            <a:endParaRPr lang="zh-CN" altLang="en-US" sz="2800" dirty="0"/>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552118" y="233079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483855" y="202917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552118" y="340511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483855" y="310348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552118" y="442827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483855" y="412664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552118" y="548005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483855" y="518001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3063293" y="2384773"/>
            <a:ext cx="0" cy="718714"/>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3063293" y="3459087"/>
            <a:ext cx="0" cy="667560"/>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3063293" y="4482247"/>
            <a:ext cx="0" cy="697766"/>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849130" y="1988900"/>
            <a:ext cx="2040943" cy="461665"/>
          </a:xfrm>
          <a:prstGeom prst="rect">
            <a:avLst/>
          </a:prstGeom>
        </p:spPr>
        <p:txBody>
          <a:bodyPr wrap="none">
            <a:spAutoFit/>
          </a:bodyPr>
          <a:lstStyle/>
          <a:p>
            <a:r>
              <a:rPr lang="zh-CN" altLang="en-US" sz="2400" b="0" dirty="0">
                <a:latin typeface="微软雅黑" panose="020B0503020204020204" pitchFamily="34" charset="-122"/>
                <a:ea typeface="微软雅黑" panose="020B0503020204020204" pitchFamily="34" charset="-122"/>
              </a:rPr>
              <a:t>要素供给问题</a:t>
            </a:r>
            <a:endParaRPr lang="zh-CN" altLang="en-US" sz="2400" b="0" spc="150" dirty="0">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6BA99CA7-A4CC-4245-BA58-DB89FA49F037}"/>
              </a:ext>
            </a:extLst>
          </p:cNvPr>
          <p:cNvSpPr/>
          <p:nvPr/>
        </p:nvSpPr>
        <p:spPr>
          <a:xfrm>
            <a:off x="3397083" y="3074545"/>
            <a:ext cx="2492990" cy="461665"/>
          </a:xfrm>
          <a:prstGeom prst="rect">
            <a:avLst/>
          </a:prstGeom>
        </p:spPr>
        <p:txBody>
          <a:bodyPr wrap="none">
            <a:spAutoFit/>
          </a:bodyPr>
          <a:lstStyle/>
          <a:p>
            <a:pPr marL="742950" lvl="1" indent="-285750"/>
            <a:r>
              <a:rPr lang="zh-CN" altLang="en-US" sz="2400" b="0" dirty="0">
                <a:latin typeface="微软雅黑" panose="020B0503020204020204" pitchFamily="34" charset="-122"/>
                <a:ea typeface="微软雅黑" panose="020B0503020204020204" pitchFamily="34" charset="-122"/>
              </a:rPr>
              <a:t>要素供给原则</a:t>
            </a:r>
            <a:endParaRPr lang="en-US" altLang="zh-CN" sz="2400" b="0"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018105B0-EC74-4F50-9B33-7F18FF6C04E7}"/>
              </a:ext>
            </a:extLst>
          </p:cNvPr>
          <p:cNvSpPr/>
          <p:nvPr/>
        </p:nvSpPr>
        <p:spPr>
          <a:xfrm>
            <a:off x="3431756" y="4112969"/>
            <a:ext cx="4031873" cy="461665"/>
          </a:xfrm>
          <a:prstGeom prst="rect">
            <a:avLst/>
          </a:prstGeom>
        </p:spPr>
        <p:txBody>
          <a:bodyPr wrap="none">
            <a:spAutoFit/>
          </a:bodyPr>
          <a:lstStyle/>
          <a:p>
            <a:pPr marL="742950" lvl="1" indent="-285750"/>
            <a:r>
              <a:rPr lang="zh-CN" altLang="en-US" sz="2400" b="0" dirty="0">
                <a:latin typeface="微软雅黑" panose="020B0503020204020204" pitchFamily="34" charset="-122"/>
                <a:ea typeface="微软雅黑" panose="020B0503020204020204" pitchFamily="34" charset="-122"/>
              </a:rPr>
              <a:t>预算线和无差异曲线分析</a:t>
            </a:r>
            <a:endParaRPr lang="en-US" altLang="zh-CN" sz="2400" b="0" dirty="0">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E52AEF20-C2D6-4C68-8E54-0EF930AB28A2}"/>
              </a:ext>
            </a:extLst>
          </p:cNvPr>
          <p:cNvSpPr/>
          <p:nvPr/>
        </p:nvSpPr>
        <p:spPr>
          <a:xfrm>
            <a:off x="3431756" y="5143831"/>
            <a:ext cx="2492990" cy="461665"/>
          </a:xfrm>
          <a:prstGeom prst="rect">
            <a:avLst/>
          </a:prstGeom>
        </p:spPr>
        <p:txBody>
          <a:bodyPr wrap="none">
            <a:spAutoFit/>
          </a:bodyPr>
          <a:lstStyle/>
          <a:p>
            <a:pPr marL="742950" lvl="1" indent="-285750"/>
            <a:r>
              <a:rPr lang="zh-CN" altLang="en-US" sz="2400" b="0" dirty="0">
                <a:latin typeface="微软雅黑" panose="020B0503020204020204" pitchFamily="34" charset="-122"/>
                <a:ea typeface="微软雅黑" panose="020B0503020204020204" pitchFamily="34" charset="-122"/>
              </a:rPr>
              <a:t>要素供给曲线</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fade">
                                      <p:cBhvr>
                                        <p:cTn id="7" dur="5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1"/>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一、要素供给问题</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3E1C021F-7A4D-4D09-A06C-812B99742F8B}"/>
              </a:ext>
            </a:extLst>
          </p:cNvPr>
          <p:cNvSpPr/>
          <p:nvPr/>
        </p:nvSpPr>
        <p:spPr>
          <a:xfrm>
            <a:off x="331618" y="2204915"/>
            <a:ext cx="5565607" cy="79310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eaLnBrk="1" hangingPunct="1">
              <a:spcBef>
                <a:spcPct val="40000"/>
              </a:spcBef>
            </a:pPr>
            <a:r>
              <a:rPr lang="zh-CN" altLang="en-US" sz="2000" b="0" dirty="0">
                <a:solidFill>
                  <a:schemeClr val="tx1"/>
                </a:solidFill>
                <a:latin typeface="微软雅黑" panose="020B0503020204020204" pitchFamily="34" charset="-122"/>
                <a:ea typeface="微软雅黑" panose="020B0503020204020204" pitchFamily="34" charset="-122"/>
              </a:rPr>
              <a:t>资源总量在一定时点上或时期内是既定不变</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E1C021F-7A4D-4D09-A06C-812B99742F8B}"/>
              </a:ext>
            </a:extLst>
          </p:cNvPr>
          <p:cNvSpPr/>
          <p:nvPr/>
        </p:nvSpPr>
        <p:spPr>
          <a:xfrm>
            <a:off x="331618" y="3752863"/>
            <a:ext cx="5565607" cy="79310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eaLnBrk="1" hangingPunct="1">
              <a:spcBef>
                <a:spcPct val="40000"/>
              </a:spcBef>
            </a:pPr>
            <a:r>
              <a:rPr lang="zh-CN" altLang="en-US" sz="2000" b="0" dirty="0">
                <a:solidFill>
                  <a:schemeClr val="tx1"/>
                </a:solidFill>
                <a:latin typeface="微软雅黑" panose="020B0503020204020204" pitchFamily="34" charset="-122"/>
                <a:ea typeface="微软雅黑" panose="020B0503020204020204" pitchFamily="34" charset="-122"/>
              </a:rPr>
              <a:t>面临要素供给和保留自用间的取舍</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7F0725F4-84E9-475B-BF77-A5FC405D1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12100" y="2998017"/>
            <a:ext cx="2932062" cy="31630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4294967295"/>
          </p:nvPr>
        </p:nvSpPr>
        <p:spPr>
          <a:xfrm>
            <a:off x="462852" y="1437750"/>
            <a:ext cx="8229600" cy="5256365"/>
          </a:xfrm>
          <a:ln/>
        </p:spPr>
        <p:txBody>
          <a:bodyPr/>
          <a:lstStyle/>
          <a:p>
            <a:pPr marL="0" lvl="2" indent="0" eaLnBrk="1" hangingPunct="1">
              <a:spcBef>
                <a:spcPct val="40000"/>
              </a:spcBef>
              <a:buNone/>
            </a:pPr>
            <a:endParaRPr lang="en-US" altLang="zh-CN" sz="2800" b="0" dirty="0"/>
          </a:p>
          <a:p>
            <a:pPr marL="342900" lvl="1" indent="-342900"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供给要素带来的收益</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间接效用</a:t>
            </a:r>
            <a:endParaRPr lang="en-US" altLang="zh-CN" sz="1800" b="0" dirty="0">
              <a:latin typeface="微软雅黑" panose="020B0503020204020204" pitchFamily="34" charset="-122"/>
              <a:ea typeface="微软雅黑" panose="020B0503020204020204" pitchFamily="34" charset="-122"/>
            </a:endParaRPr>
          </a:p>
          <a:p>
            <a:pPr marL="742950" lvl="2" indent="-342900" eaLnBrk="1" hangingPunct="1">
              <a:lnSpc>
                <a:spcPct val="150000"/>
              </a:lnSpc>
              <a:spcBef>
                <a:spcPct val="4000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供给要素</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获得收入</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购买商品</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得到效用。</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供给要素带来的成本：丧失了自用所能获得的效用</a:t>
            </a:r>
            <a:endParaRPr lang="en-US" altLang="zh-CN" sz="1800" b="0" dirty="0">
              <a:latin typeface="微软雅黑" panose="020B0503020204020204" pitchFamily="34" charset="-122"/>
              <a:ea typeface="微软雅黑" panose="020B0503020204020204" pitchFamily="34" charset="-122"/>
            </a:endParaRPr>
          </a:p>
          <a:p>
            <a:pPr marL="742950" lvl="2" indent="-342900" eaLnBrk="1" hangingPunct="1">
              <a:lnSpc>
                <a:spcPct val="150000"/>
              </a:lnSpc>
              <a:spcBef>
                <a:spcPct val="4000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自用资源既可以带来间接效用</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亦可以带来直接效用。为了简单起见</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我们假定自用资源都是直接效用。</a:t>
            </a:r>
            <a:endParaRPr lang="en-US" altLang="zh-CN" sz="1800" b="0" dirty="0">
              <a:latin typeface="微软雅黑" panose="020B0503020204020204" pitchFamily="34" charset="-122"/>
              <a:ea typeface="微软雅黑" panose="020B0503020204020204" pitchFamily="34" charset="-122"/>
            </a:endParaRPr>
          </a:p>
          <a:p>
            <a:pPr marL="742950" lvl="2" indent="-342900" eaLnBrk="1" hangingPunct="1">
              <a:lnSpc>
                <a:spcPct val="150000"/>
              </a:lnSpc>
              <a:spcBef>
                <a:spcPct val="4000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供给要素</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牺牲了自用能够带来的效用</a:t>
            </a:r>
            <a:endParaRPr lang="en-US" altLang="zh-CN" sz="1800" b="0" dirty="0">
              <a:latin typeface="微软雅黑" panose="020B0503020204020204" pitchFamily="34" charset="-122"/>
              <a:ea typeface="微软雅黑" panose="020B0503020204020204" pitchFamily="34" charset="-122"/>
              <a:sym typeface="Wingdings" panose="05000000000000000000" pitchFamily="2" charset="2"/>
            </a:endParaRPr>
          </a:p>
          <a:p>
            <a:pPr marL="742950" lvl="2" indent="-342900" eaLnBrk="1" hangingPunct="1">
              <a:lnSpc>
                <a:spcPct val="150000"/>
              </a:lnSpc>
              <a:spcBef>
                <a:spcPct val="4000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即，供给要素是有机会成本的，例如，供给劳动的机会成本就是本来可以享受闲暇的价值</a:t>
            </a:r>
            <a:endParaRPr lang="en-US" altLang="zh-CN" sz="1800" b="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15BCAD35-C9C8-4AE1-874B-7737C5F09A87}"/>
              </a:ext>
            </a:extLst>
          </p:cNvPr>
          <p:cNvGrpSpPr/>
          <p:nvPr/>
        </p:nvGrpSpPr>
        <p:grpSpPr>
          <a:xfrm>
            <a:off x="611725" y="1310750"/>
            <a:ext cx="3888270" cy="514350"/>
            <a:chOff x="467544" y="4012032"/>
            <a:chExt cx="3682770" cy="514350"/>
          </a:xfrm>
        </p:grpSpPr>
        <p:sp>
          <p:nvSpPr>
            <p:cNvPr id="6"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4012032"/>
              <a:ext cx="367242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70000" lnSpcReduction="20000"/>
            </a:bodyPr>
            <a:lstStyle/>
            <a:p>
              <a:pPr marL="0" lvl="2" eaLnBrk="1" hangingPunct="1">
                <a:spcBef>
                  <a:spcPct val="40000"/>
                </a:spcBef>
              </a:pPr>
              <a:r>
                <a:rPr lang="zh-CN" altLang="en-US" sz="2800" b="0" dirty="0">
                  <a:solidFill>
                    <a:schemeClr val="tx1"/>
                  </a:solidFill>
                  <a:latin typeface="微软雅黑" panose="020B0503020204020204" pitchFamily="34" charset="-122"/>
                  <a:ea typeface="微软雅黑" panose="020B0503020204020204" pitchFamily="34" charset="-122"/>
                </a:rPr>
                <a:t> 要素供给的收益（效用）和成本</a:t>
              </a:r>
              <a:endParaRPr lang="en-US" altLang="zh-CN" sz="2800" b="0" dirty="0">
                <a:solidFill>
                  <a:schemeClr val="tx1"/>
                </a:solidFill>
                <a:latin typeface="微软雅黑" panose="020B0503020204020204" pitchFamily="34" charset="-122"/>
                <a:ea typeface="微软雅黑" panose="020B0503020204020204" pitchFamily="34" charset="-122"/>
              </a:endParaRPr>
            </a:p>
          </p:txBody>
        </p:sp>
        <p:sp>
          <p:nvSpPr>
            <p:cNvPr id="7"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4023314" y="401203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8" name="标题 1">
            <a:extLst>
              <a:ext uri="{FF2B5EF4-FFF2-40B4-BE49-F238E27FC236}">
                <a16:creationId xmlns:a16="http://schemas.microsoft.com/office/drawing/2014/main" id="{6A303183-384B-4061-847F-2C122A8910DA}"/>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458">
                                            <p:txEl>
                                              <p:pRg st="1" end="1"/>
                                            </p:txEl>
                                          </p:spTgt>
                                        </p:tgtEl>
                                        <p:attrNameLst>
                                          <p:attrName>style.visibility</p:attrName>
                                        </p:attrNameLst>
                                      </p:cBhvr>
                                      <p:to>
                                        <p:strVal val="visible"/>
                                      </p:to>
                                    </p:set>
                                    <p:animEffect>
                                      <p:cBhvr>
                                        <p:cTn id="16" dur="500"/>
                                        <p:tgtEl>
                                          <p:spTgt spid="1945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9458">
                                            <p:txEl>
                                              <p:pRg st="2" end="2"/>
                                            </p:txEl>
                                          </p:spTgt>
                                        </p:tgtEl>
                                        <p:attrNameLst>
                                          <p:attrName>style.visibility</p:attrName>
                                        </p:attrNameLst>
                                      </p:cBhvr>
                                      <p:to>
                                        <p:strVal val="visible"/>
                                      </p:to>
                                    </p:set>
                                    <p:animEffect>
                                      <p:cBhvr>
                                        <p:cTn id="21" dur="500"/>
                                        <p:tgtEl>
                                          <p:spTgt spid="1945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19458">
                                            <p:txEl>
                                              <p:pRg st="3" end="3"/>
                                            </p:txEl>
                                          </p:spTgt>
                                        </p:tgtEl>
                                        <p:attrNameLst>
                                          <p:attrName>style.visibility</p:attrName>
                                        </p:attrNameLst>
                                      </p:cBhvr>
                                      <p:to>
                                        <p:strVal val="visible"/>
                                      </p:to>
                                    </p:set>
                                    <p:animEffect>
                                      <p:cBhvr>
                                        <p:cTn id="26" dur="2000"/>
                                        <p:tgtEl>
                                          <p:spTgt spid="19458">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19458">
                                            <p:txEl>
                                              <p:pRg st="4" end="4"/>
                                            </p:txEl>
                                          </p:spTgt>
                                        </p:tgtEl>
                                        <p:attrNameLst>
                                          <p:attrName>style.visibility</p:attrName>
                                        </p:attrNameLst>
                                      </p:cBhvr>
                                      <p:to>
                                        <p:strVal val="visible"/>
                                      </p:to>
                                    </p:set>
                                    <p:animEffect>
                                      <p:cBhvr>
                                        <p:cTn id="31" dur="2000"/>
                                        <p:tgtEl>
                                          <p:spTgt spid="19458">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19458">
                                            <p:txEl>
                                              <p:pRg st="5" end="5"/>
                                            </p:txEl>
                                          </p:spTgt>
                                        </p:tgtEl>
                                        <p:attrNameLst>
                                          <p:attrName>style.visibility</p:attrName>
                                        </p:attrNameLst>
                                      </p:cBhvr>
                                      <p:to>
                                        <p:strVal val="visible"/>
                                      </p:to>
                                    </p:set>
                                    <p:animEffect>
                                      <p:cBhvr>
                                        <p:cTn id="36" dur="2000"/>
                                        <p:tgtEl>
                                          <p:spTgt spid="19458">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nodeType="clickEffect">
                                  <p:stCondLst>
                                    <p:cond delay="0"/>
                                  </p:stCondLst>
                                  <p:childTnLst>
                                    <p:set>
                                      <p:cBhvr>
                                        <p:cTn id="40" dur="1" fill="hold">
                                          <p:stCondLst>
                                            <p:cond delay="0"/>
                                          </p:stCondLst>
                                        </p:cTn>
                                        <p:tgtEl>
                                          <p:spTgt spid="19458">
                                            <p:txEl>
                                              <p:pRg st="6" end="6"/>
                                            </p:txEl>
                                          </p:spTgt>
                                        </p:tgtEl>
                                        <p:attrNameLst>
                                          <p:attrName>style.visibility</p:attrName>
                                        </p:attrNameLst>
                                      </p:cBhvr>
                                      <p:to>
                                        <p:strVal val="visible"/>
                                      </p:to>
                                    </p:set>
                                    <p:animEffect>
                                      <p:cBhvr>
                                        <p:cTn id="41" dur="2000"/>
                                        <p:tgtEl>
                                          <p:spTgt spid="1945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15BCAD35-C9C8-4AE1-874B-7737C5F09A87}"/>
              </a:ext>
            </a:extLst>
          </p:cNvPr>
          <p:cNvGrpSpPr/>
          <p:nvPr/>
        </p:nvGrpSpPr>
        <p:grpSpPr>
          <a:xfrm>
            <a:off x="467544" y="1321295"/>
            <a:ext cx="2974136" cy="514350"/>
            <a:chOff x="467544" y="4012032"/>
            <a:chExt cx="3682770" cy="514350"/>
          </a:xfrm>
        </p:grpSpPr>
        <p:sp>
          <p:nvSpPr>
            <p:cNvPr id="6"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4012032"/>
              <a:ext cx="367242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eaLnBrk="1" hangingPunct="1">
                <a:spcBef>
                  <a:spcPct val="40000"/>
                </a:spcBef>
              </a:pPr>
              <a:r>
                <a:rPr lang="zh-CN" altLang="en-US" sz="1800" b="0" dirty="0">
                  <a:solidFill>
                    <a:schemeClr val="tx1"/>
                  </a:solidFill>
                  <a:latin typeface="微软雅黑" panose="020B0503020204020204" pitchFamily="34" charset="-122"/>
                  <a:ea typeface="微软雅黑" panose="020B0503020204020204" pitchFamily="34" charset="-122"/>
                </a:rPr>
                <a:t>   要素供给行为的理论分析</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7"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4023314" y="401203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pic>
        <p:nvPicPr>
          <p:cNvPr id="14" name="图片 13">
            <a:extLst>
              <a:ext uri="{FF2B5EF4-FFF2-40B4-BE49-F238E27FC236}">
                <a16:creationId xmlns:a16="http://schemas.microsoft.com/office/drawing/2014/main" id="{FF30363B-4F3C-4ECE-9CCE-A9F197C89E7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971750" y="2342656"/>
            <a:ext cx="1810953" cy="3495420"/>
          </a:xfrm>
          <a:prstGeom prst="rect">
            <a:avLst/>
          </a:prstGeom>
        </p:spPr>
      </p:pic>
      <p:sp>
        <p:nvSpPr>
          <p:cNvPr id="15" name="标题 1">
            <a:extLst>
              <a:ext uri="{FF2B5EF4-FFF2-40B4-BE49-F238E27FC236}">
                <a16:creationId xmlns:a16="http://schemas.microsoft.com/office/drawing/2014/main" id="{832E889A-3A6D-46BB-BE79-9DF3B9FA5440}"/>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12" name="矩形 11"/>
              <p:cNvSpPr/>
              <p:nvPr/>
            </p:nvSpPr>
            <p:spPr>
              <a:xfrm>
                <a:off x="3527610" y="1916895"/>
                <a:ext cx="5616390" cy="4733347"/>
              </a:xfrm>
              <a:prstGeom prst="rect">
                <a:avLst/>
              </a:prstGeom>
            </p:spPr>
            <p:txBody>
              <a:bodyPr wrap="square">
                <a:spAutoFit/>
              </a:bodyPr>
              <a:lstStyle/>
              <a:p>
                <a:pPr marL="628650" lvl="1" indent="-285750" defTabSz="0"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要素所有者供给要素时的效用函数</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400050" lvl="2" defTabSz="0" eaLnBrk="1" hangingPunct="1">
                  <a:lnSpc>
                    <a:spcPct val="150000"/>
                  </a:lnSpc>
                  <a:spcBef>
                    <a:spcPct val="40000"/>
                  </a:spcBef>
                </a:pP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U = U (C, H)</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，其中</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C =WL</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H= </a:t>
                </a:r>
                <a14:m>
                  <m:oMath xmlns:m="http://schemas.openxmlformats.org/officeDocument/2006/math">
                    <m:acc>
                      <m:accPr>
                        <m:chr m:val="̅"/>
                        <m:ctrlPr>
                          <a:rPr lang="en-US" altLang="zh-CN" sz="1800" b="0" i="1" dirty="0">
                            <a:latin typeface="Cambria Math" panose="02040503050406030204" pitchFamily="18" charset="0"/>
                            <a:ea typeface="微软雅黑" panose="020B0503020204020204" pitchFamily="34" charset="-122"/>
                            <a:sym typeface="Arial" panose="020B0604020202020204" pitchFamily="34" charset="0"/>
                          </a:rPr>
                        </m:ctrlPr>
                      </m:accPr>
                      <m:e>
                        <m:r>
                          <m:rPr>
                            <m:sty m:val="p"/>
                          </m:rPr>
                          <a:rPr lang="en-US" altLang="zh-CN" sz="1800" b="0" dirty="0">
                            <a:latin typeface="Cambria Math" panose="02040503050406030204" pitchFamily="18" charset="0"/>
                            <a:ea typeface="微软雅黑" panose="020B0503020204020204" pitchFamily="34" charset="-122"/>
                            <a:sym typeface="Arial" panose="020B0604020202020204" pitchFamily="34" charset="0"/>
                          </a:rPr>
                          <m:t>L</m:t>
                        </m:r>
                      </m:e>
                    </m:acc>
                    <m:r>
                      <a:rPr lang="en-US" altLang="zh-CN" sz="1800" b="0" dirty="0">
                        <a:latin typeface="Cambria Math" panose="02040503050406030204" pitchFamily="18" charset="0"/>
                        <a:ea typeface="微软雅黑" panose="020B0503020204020204" pitchFamily="34" charset="-122"/>
                        <a:sym typeface="Arial" panose="020B0604020202020204" pitchFamily="34" charset="0"/>
                      </a:rPr>
                      <m:t>−</m:t>
                    </m:r>
                    <m:r>
                      <m:rPr>
                        <m:sty m:val="p"/>
                      </m:rPr>
                      <a:rPr lang="en-US" altLang="zh-CN" sz="1800" b="0" dirty="0">
                        <a:latin typeface="Cambria Math" panose="02040503050406030204" pitchFamily="18" charset="0"/>
                        <a:ea typeface="微软雅黑" panose="020B0503020204020204" pitchFamily="34" charset="-122"/>
                        <a:sym typeface="Arial" panose="020B0604020202020204" pitchFamily="34" charset="0"/>
                      </a:rPr>
                      <m:t>L</m:t>
                    </m:r>
                  </m:oMath>
                </a14:m>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857250" lvl="3" defTabSz="0" eaLnBrk="1" hangingPunct="1">
                  <a:lnSpc>
                    <a:spcPct val="150000"/>
                  </a:lnSpc>
                  <a:spcBef>
                    <a:spcPct val="40000"/>
                  </a:spcBef>
                </a:pP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L——</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要素供给的数量</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857250" lvl="3" defTabSz="0" eaLnBrk="1" hangingPunct="1">
                  <a:lnSpc>
                    <a:spcPct val="150000"/>
                  </a:lnSpc>
                  <a:spcBef>
                    <a:spcPct val="40000"/>
                  </a:spcBef>
                </a:pP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H——</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自用要素的数量</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857250" lvl="3" defTabSz="0" eaLnBrk="1" hangingPunct="1">
                  <a:lnSpc>
                    <a:spcPct val="150000"/>
                  </a:lnSpc>
                  <a:spcBef>
                    <a:spcPct val="40000"/>
                  </a:spcBef>
                </a:pPr>
                <a14:m>
                  <m:oMath xmlns:m="http://schemas.openxmlformats.org/officeDocument/2006/math">
                    <m:acc>
                      <m:accPr>
                        <m:chr m:val="̅"/>
                        <m:ctrlPr>
                          <a:rPr lang="en-US" altLang="zh-CN" sz="1800" b="0" i="1" dirty="0">
                            <a:latin typeface="Cambria Math" panose="02040503050406030204" pitchFamily="18" charset="0"/>
                            <a:ea typeface="微软雅黑" panose="020B0503020204020204" pitchFamily="34" charset="-122"/>
                            <a:sym typeface="Arial" panose="020B0604020202020204" pitchFamily="34" charset="0"/>
                          </a:rPr>
                        </m:ctrlPr>
                      </m:accPr>
                      <m:e>
                        <m:r>
                          <m:rPr>
                            <m:sty m:val="p"/>
                          </m:rPr>
                          <a:rPr lang="en-US" altLang="zh-CN" sz="1800" b="0" dirty="0">
                            <a:latin typeface="Cambria Math" panose="02040503050406030204" pitchFamily="18" charset="0"/>
                            <a:ea typeface="微软雅黑" panose="020B0503020204020204" pitchFamily="34" charset="-122"/>
                            <a:sym typeface="Arial" panose="020B0604020202020204" pitchFamily="34" charset="0"/>
                          </a:rPr>
                          <m:t>L</m:t>
                        </m:r>
                      </m:e>
                    </m:acc>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拥有的全部要素数量，即，</a:t>
                </a:r>
                <a14:m>
                  <m:oMath xmlns:m="http://schemas.openxmlformats.org/officeDocument/2006/math">
                    <m:acc>
                      <m:accPr>
                        <m:chr m:val="̅"/>
                        <m:ctrlPr>
                          <a:rPr lang="en-US" altLang="zh-CN" sz="1800" b="0" i="1" dirty="0">
                            <a:latin typeface="Cambria Math" panose="02040503050406030204" pitchFamily="18" charset="0"/>
                            <a:ea typeface="微软雅黑" panose="020B0503020204020204" pitchFamily="34" charset="-122"/>
                            <a:sym typeface="Arial" panose="020B0604020202020204" pitchFamily="34" charset="0"/>
                          </a:rPr>
                        </m:ctrlPr>
                      </m:accPr>
                      <m:e>
                        <m:r>
                          <m:rPr>
                            <m:sty m:val="p"/>
                          </m:rPr>
                          <a:rPr lang="en-US" altLang="zh-CN" sz="1800" b="0" dirty="0">
                            <a:latin typeface="Cambria Math" panose="02040503050406030204" pitchFamily="18" charset="0"/>
                            <a:ea typeface="微软雅黑" panose="020B0503020204020204" pitchFamily="34" charset="-122"/>
                            <a:sym typeface="Arial" panose="020B0604020202020204" pitchFamily="34" charset="0"/>
                          </a:rPr>
                          <m:t>L</m:t>
                        </m:r>
                      </m:e>
                    </m:acc>
                    <m:r>
                      <a:rPr lang="en-US" altLang="zh-CN" sz="1800" b="0" dirty="0">
                        <a:latin typeface="Cambria Math" panose="02040503050406030204" pitchFamily="18" charset="0"/>
                        <a:ea typeface="微软雅黑" panose="020B0503020204020204" pitchFamily="34" charset="-122"/>
                        <a:sym typeface="Arial" panose="020B0604020202020204" pitchFamily="34" charset="0"/>
                      </a:rPr>
                      <m:t>=</m:t>
                    </m:r>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L+H</a:t>
                </a:r>
              </a:p>
              <a:p>
                <a:pPr marL="628650" lvl="1" indent="-285750" defTabSz="0"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要素所有者的行为可以描述为</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857250" lvl="3" defTabSz="0" eaLnBrk="1" hangingPunct="1">
                  <a:lnSpc>
                    <a:spcPct val="150000"/>
                  </a:lnSpc>
                  <a:spcBef>
                    <a:spcPct val="40000"/>
                  </a:spcBef>
                </a:pPr>
                <a14:m>
                  <m:oMathPara xmlns:m="http://schemas.openxmlformats.org/officeDocument/2006/math">
                    <m:oMathParaPr>
                      <m:jc m:val="centerGroup"/>
                    </m:oMathParaPr>
                    <m:oMath xmlns:m="http://schemas.openxmlformats.org/officeDocument/2006/math">
                      <m:func>
                        <m:func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funcPr>
                        <m:fName>
                          <m:limLow>
                            <m:limLowPr>
                              <m:ctrlPr>
                                <a:rPr lang="en-US" altLang="zh-CN" sz="1800" b="0" i="1">
                                  <a:latin typeface="Cambria Math" panose="02040503050406030204" pitchFamily="18" charset="0"/>
                                  <a:ea typeface="微软雅黑" panose="020B0503020204020204" pitchFamily="34" charset="-122"/>
                                  <a:sym typeface="Arial" panose="020B0604020202020204" pitchFamily="34" charset="0"/>
                                </a:rPr>
                              </m:ctrlPr>
                            </m:limLowPr>
                            <m:e>
                              <m:r>
                                <m:rPr>
                                  <m:sty m:val="p"/>
                                </m:rPr>
                                <a:rPr lang="en-US" altLang="zh-CN" sz="1800" b="0">
                                  <a:latin typeface="Cambria Math" panose="02040503050406030204" pitchFamily="18" charset="0"/>
                                  <a:ea typeface="微软雅黑" panose="020B0503020204020204" pitchFamily="34" charset="-122"/>
                                  <a:sym typeface="Arial" panose="020B0604020202020204" pitchFamily="34" charset="0"/>
                                </a:rPr>
                                <m:t>max</m:t>
                              </m:r>
                            </m:e>
                            <m:lim>
                              <m:r>
                                <a:rPr lang="en-US" altLang="zh-CN" sz="1800" b="0">
                                  <a:latin typeface="Cambria Math" panose="02040503050406030204" pitchFamily="18" charset="0"/>
                                  <a:ea typeface="微软雅黑" panose="020B0503020204020204" pitchFamily="34" charset="-122"/>
                                  <a:sym typeface="Arial" panose="020B0604020202020204" pitchFamily="34" charset="0"/>
                                </a:rPr>
                                <m:t>𝐻</m:t>
                              </m:r>
                            </m:lim>
                          </m:limLow>
                        </m:fName>
                        <m:e>
                          <m:r>
                            <a:rPr lang="en-US" altLang="zh-CN" sz="1800" b="0">
                              <a:latin typeface="Cambria Math" panose="02040503050406030204" pitchFamily="18" charset="0"/>
                              <a:ea typeface="微软雅黑" panose="020B0503020204020204" pitchFamily="34" charset="-122"/>
                              <a:sym typeface="Arial" panose="020B0604020202020204" pitchFamily="34" charset="0"/>
                            </a:rPr>
                            <m:t>𝑈</m:t>
                          </m:r>
                          <m:r>
                            <a:rPr lang="en-US" altLang="zh-CN" sz="1800" b="0">
                              <a:latin typeface="Cambria Math" panose="02040503050406030204" pitchFamily="18" charset="0"/>
                              <a:ea typeface="微软雅黑" panose="020B0503020204020204" pitchFamily="34" charset="-122"/>
                              <a:sym typeface="Arial" panose="020B0604020202020204" pitchFamily="34" charset="0"/>
                            </a:rPr>
                            <m:t>(</m:t>
                          </m:r>
                          <m:r>
                            <a:rPr lang="en-US" altLang="zh-CN" sz="1800" b="0">
                              <a:latin typeface="Cambria Math" panose="02040503050406030204" pitchFamily="18" charset="0"/>
                              <a:ea typeface="微软雅黑" panose="020B0503020204020204" pitchFamily="34" charset="-122"/>
                              <a:sym typeface="Arial" panose="020B0604020202020204" pitchFamily="34" charset="0"/>
                            </a:rPr>
                            <m:t>𝐶</m:t>
                          </m:r>
                          <m:r>
                            <a:rPr lang="en-US" altLang="zh-CN" sz="1800" b="0">
                              <a:latin typeface="Cambria Math" panose="02040503050406030204" pitchFamily="18" charset="0"/>
                              <a:ea typeface="微软雅黑" panose="020B0503020204020204" pitchFamily="34" charset="-122"/>
                              <a:sym typeface="Arial" panose="020B0604020202020204" pitchFamily="34" charset="0"/>
                            </a:rPr>
                            <m:t>, </m:t>
                          </m:r>
                          <m:r>
                            <a:rPr lang="en-US" altLang="zh-CN" sz="1800" b="0">
                              <a:latin typeface="Cambria Math" panose="02040503050406030204" pitchFamily="18" charset="0"/>
                              <a:ea typeface="微软雅黑" panose="020B0503020204020204" pitchFamily="34" charset="-122"/>
                              <a:sym typeface="Arial" panose="020B0604020202020204" pitchFamily="34" charset="0"/>
                            </a:rPr>
                            <m:t>𝐻</m:t>
                          </m:r>
                          <m:r>
                            <a:rPr lang="en-US" altLang="zh-CN" sz="1800" b="0">
                              <a:latin typeface="Cambria Math" panose="02040503050406030204" pitchFamily="18" charset="0"/>
                              <a:ea typeface="微软雅黑" panose="020B0503020204020204" pitchFamily="34" charset="-122"/>
                              <a:sym typeface="Arial" panose="020B0604020202020204" pitchFamily="34" charset="0"/>
                            </a:rPr>
                            <m:t>)</m:t>
                          </m:r>
                        </m:e>
                      </m:func>
                    </m:oMath>
                  </m:oMathPara>
                </a14:m>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marL="857250" lvl="3" defTabSz="0" eaLnBrk="1" hangingPunct="1">
                  <a:lnSpc>
                    <a:spcPct val="150000"/>
                  </a:lnSpc>
                  <a:spcBef>
                    <a:spcPct val="40000"/>
                  </a:spcBef>
                </a:pP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1800" b="0" dirty="0" err="1">
                    <a:latin typeface="微软雅黑" panose="020B0503020204020204" pitchFamily="34" charset="-122"/>
                    <a:ea typeface="微软雅黑" panose="020B0503020204020204" pitchFamily="34" charset="-122"/>
                    <a:sym typeface="Arial" panose="020B0604020202020204" pitchFamily="34" charset="0"/>
                  </a:rPr>
                  <a:t>s.t.</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a:t>
                </a:r>
                <a14:m>
                  <m:oMath xmlns:m="http://schemas.openxmlformats.org/officeDocument/2006/math">
                    <m:acc>
                      <m:accPr>
                        <m:chr m:val="̅"/>
                        <m:ctrlPr>
                          <a:rPr lang="en-US" altLang="zh-CN" sz="1800" b="0" i="1" dirty="0">
                            <a:latin typeface="Cambria Math" panose="02040503050406030204" pitchFamily="18" charset="0"/>
                            <a:ea typeface="微软雅黑" panose="020B0503020204020204" pitchFamily="34" charset="-122"/>
                            <a:sym typeface="Arial" panose="020B0604020202020204" pitchFamily="34" charset="0"/>
                          </a:rPr>
                        </m:ctrlPr>
                      </m:accPr>
                      <m:e>
                        <m:r>
                          <m:rPr>
                            <m:sty m:val="p"/>
                          </m:rPr>
                          <a:rPr lang="en-US" altLang="zh-CN" sz="1800" b="0" dirty="0">
                            <a:latin typeface="Cambria Math" panose="02040503050406030204" pitchFamily="18" charset="0"/>
                            <a:ea typeface="微软雅黑" panose="020B0503020204020204" pitchFamily="34" charset="-122"/>
                            <a:sym typeface="Arial" panose="020B0604020202020204" pitchFamily="34" charset="0"/>
                          </a:rPr>
                          <m:t>L</m:t>
                        </m:r>
                      </m:e>
                    </m:acc>
                    <m:r>
                      <a:rPr lang="en-US" altLang="zh-CN" sz="1800" b="0" dirty="0">
                        <a:latin typeface="Cambria Math" panose="02040503050406030204" pitchFamily="18" charset="0"/>
                        <a:ea typeface="微软雅黑" panose="020B0503020204020204" pitchFamily="34" charset="-122"/>
                        <a:sym typeface="Arial" panose="020B0604020202020204" pitchFamily="34" charset="0"/>
                      </a:rPr>
                      <m:t>=</m:t>
                    </m:r>
                  </m:oMath>
                </a14:m>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L+H and C = WL</a:t>
                </a:r>
              </a:p>
              <a:p>
                <a:pPr marL="857250" lvl="3" defTabSz="0" eaLnBrk="1" hangingPunct="1">
                  <a:lnSpc>
                    <a:spcPct val="150000"/>
                  </a:lnSpc>
                  <a:spcBef>
                    <a:spcPct val="40000"/>
                  </a:spcBef>
                </a:pP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12" name="矩形 11"/>
              <p:cNvSpPr>
                <a:spLocks noRot="1" noChangeAspect="1" noMove="1" noResize="1" noEditPoints="1" noAdjustHandles="1" noChangeArrowheads="1" noChangeShapeType="1" noTextEdit="1"/>
              </p:cNvSpPr>
              <p:nvPr/>
            </p:nvSpPr>
            <p:spPr>
              <a:xfrm>
                <a:off x="3527610" y="1916895"/>
                <a:ext cx="5616390" cy="4733347"/>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802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bwMode="auto">
          <a:xfrm>
            <a:off x="3563930" y="5421836"/>
            <a:ext cx="2357201" cy="641745"/>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圆角矩形 15"/>
          <p:cNvSpPr/>
          <p:nvPr/>
        </p:nvSpPr>
        <p:spPr bwMode="auto">
          <a:xfrm>
            <a:off x="3114422" y="3974500"/>
            <a:ext cx="3185698" cy="833227"/>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圆角矩形 1"/>
          <p:cNvSpPr/>
          <p:nvPr/>
        </p:nvSpPr>
        <p:spPr bwMode="auto">
          <a:xfrm>
            <a:off x="2411849" y="1989723"/>
            <a:ext cx="4392305" cy="1210051"/>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下箭头 2"/>
          <p:cNvSpPr/>
          <p:nvPr/>
        </p:nvSpPr>
        <p:spPr bwMode="auto">
          <a:xfrm>
            <a:off x="4535996" y="3298970"/>
            <a:ext cx="252019" cy="576334"/>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下箭头 7"/>
          <p:cNvSpPr/>
          <p:nvPr/>
        </p:nvSpPr>
        <p:spPr bwMode="auto">
          <a:xfrm>
            <a:off x="4526515" y="4859776"/>
            <a:ext cx="261500" cy="441716"/>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15BCAD35-C9C8-4AE1-874B-7737C5F09A87}"/>
              </a:ext>
            </a:extLst>
          </p:cNvPr>
          <p:cNvGrpSpPr/>
          <p:nvPr/>
        </p:nvGrpSpPr>
        <p:grpSpPr>
          <a:xfrm>
            <a:off x="467715" y="1348542"/>
            <a:ext cx="2873963" cy="514350"/>
            <a:chOff x="467544" y="4012032"/>
            <a:chExt cx="3682770" cy="514350"/>
          </a:xfrm>
        </p:grpSpPr>
        <p:sp>
          <p:nvSpPr>
            <p:cNvPr id="12" name="MH_Text_1">
              <a:extLst>
                <a:ext uri="{FF2B5EF4-FFF2-40B4-BE49-F238E27FC236}">
                  <a16:creationId xmlns:a16="http://schemas.microsoft.com/office/drawing/2014/main" id="{2B16FD77-75F5-478E-AAA0-B4711F002B71}"/>
                </a:ext>
              </a:extLst>
            </p:cNvPr>
            <p:cNvSpPr/>
            <p:nvPr>
              <p:custDataLst>
                <p:tags r:id="rId2"/>
              </p:custDataLst>
            </p:nvPr>
          </p:nvSpPr>
          <p:spPr bwMode="auto">
            <a:xfrm>
              <a:off x="467544" y="4012032"/>
              <a:ext cx="367242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eaLnBrk="1" hangingPunct="1">
                <a:spcBef>
                  <a:spcPct val="40000"/>
                </a:spcBef>
              </a:pPr>
              <a:r>
                <a:rPr lang="zh-CN" altLang="en-US" sz="1800" b="0" dirty="0">
                  <a:solidFill>
                    <a:schemeClr val="tx1"/>
                  </a:solidFill>
                  <a:latin typeface="微软雅黑" panose="020B0503020204020204" pitchFamily="34" charset="-122"/>
                  <a:ea typeface="微软雅黑" panose="020B0503020204020204" pitchFamily="34" charset="-122"/>
                </a:rPr>
                <a:t>   要素供给行为的理论分析</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13" name="MH_Other_2">
              <a:extLst>
                <a:ext uri="{FF2B5EF4-FFF2-40B4-BE49-F238E27FC236}">
                  <a16:creationId xmlns:a16="http://schemas.microsoft.com/office/drawing/2014/main" id="{2CAC8690-3479-4DBB-9B16-A4FF61D047C3}"/>
                </a:ext>
              </a:extLst>
            </p:cNvPr>
            <p:cNvSpPr/>
            <p:nvPr>
              <p:custDataLst>
                <p:tags r:id="rId3"/>
              </p:custDataLst>
            </p:nvPr>
          </p:nvSpPr>
          <p:spPr bwMode="auto">
            <a:xfrm rot="10800000">
              <a:off x="4023314" y="401203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aphicFrame>
        <p:nvGraphicFramePr>
          <p:cNvPr id="14" name="对象 13"/>
          <p:cNvGraphicFramePr>
            <a:graphicFrameLocks noChangeAspect="1"/>
          </p:cNvGraphicFramePr>
          <p:nvPr>
            <p:extLst>
              <p:ext uri="{D42A27DB-BD31-4B8C-83A1-F6EECF244321}">
                <p14:modId xmlns:p14="http://schemas.microsoft.com/office/powerpoint/2010/main" val="969084139"/>
              </p:ext>
            </p:extLst>
          </p:nvPr>
        </p:nvGraphicFramePr>
        <p:xfrm>
          <a:off x="4139970" y="1979577"/>
          <a:ext cx="1440100" cy="765053"/>
        </p:xfrm>
        <a:graphic>
          <a:graphicData uri="http://schemas.openxmlformats.org/presentationml/2006/ole">
            <mc:AlternateContent xmlns:mc="http://schemas.openxmlformats.org/markup-compatibility/2006">
              <mc:Choice xmlns:v="urn:schemas-microsoft-com:vml" Requires="v">
                <p:oleObj spid="_x0000_s40486" name="Equation" r:id="rId5" imgW="812520" imgH="431640" progId="Equation.3">
                  <p:embed/>
                </p:oleObj>
              </mc:Choice>
              <mc:Fallback>
                <p:oleObj name="Equation" r:id="rId5" imgW="812520" imgH="431640" progId="Equation.3">
                  <p:embed/>
                  <p:pic>
                    <p:nvPicPr>
                      <p:cNvPr id="10" name="对象 9"/>
                      <p:cNvPicPr/>
                      <p:nvPr/>
                    </p:nvPicPr>
                    <p:blipFill>
                      <a:blip r:embed="rId6"/>
                      <a:stretch>
                        <a:fillRect/>
                      </a:stretch>
                    </p:blipFill>
                    <p:spPr>
                      <a:xfrm>
                        <a:off x="4139970" y="1979577"/>
                        <a:ext cx="1440100" cy="765053"/>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386667020"/>
              </p:ext>
            </p:extLst>
          </p:nvPr>
        </p:nvGraphicFramePr>
        <p:xfrm>
          <a:off x="3305175" y="2749185"/>
          <a:ext cx="3109913" cy="395287"/>
        </p:xfrm>
        <a:graphic>
          <a:graphicData uri="http://schemas.openxmlformats.org/presentationml/2006/ole">
            <mc:AlternateContent xmlns:mc="http://schemas.openxmlformats.org/markup-compatibility/2006">
              <mc:Choice xmlns:v="urn:schemas-microsoft-com:vml" Requires="v">
                <p:oleObj spid="_x0000_s40487" name="Equation" r:id="rId7" imgW="1600200" imgH="203040" progId="Equation.3">
                  <p:embed/>
                </p:oleObj>
              </mc:Choice>
              <mc:Fallback>
                <p:oleObj name="Equation" r:id="rId7" imgW="1600200" imgH="203040" progId="Equation.3">
                  <p:embed/>
                  <p:pic>
                    <p:nvPicPr>
                      <p:cNvPr id="11" name="对象 10"/>
                      <p:cNvPicPr/>
                      <p:nvPr/>
                    </p:nvPicPr>
                    <p:blipFill>
                      <a:blip r:embed="rId8"/>
                      <a:stretch>
                        <a:fillRect/>
                      </a:stretch>
                    </p:blipFill>
                    <p:spPr>
                      <a:xfrm>
                        <a:off x="3305175" y="2749185"/>
                        <a:ext cx="3109913" cy="39528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5218633"/>
              </p:ext>
            </p:extLst>
          </p:nvPr>
        </p:nvGraphicFramePr>
        <p:xfrm>
          <a:off x="3563930" y="4032013"/>
          <a:ext cx="2357201" cy="801448"/>
        </p:xfrm>
        <a:graphic>
          <a:graphicData uri="http://schemas.openxmlformats.org/presentationml/2006/ole">
            <mc:AlternateContent xmlns:mc="http://schemas.openxmlformats.org/markup-compatibility/2006">
              <mc:Choice xmlns:v="urn:schemas-microsoft-com:vml" Requires="v">
                <p:oleObj spid="_x0000_s40488" name="Equation" r:id="rId9" imgW="1269720" imgH="431640" progId="Equation.3">
                  <p:embed/>
                </p:oleObj>
              </mc:Choice>
              <mc:Fallback>
                <p:oleObj name="Equation" r:id="rId9" imgW="1269720" imgH="431640" progId="Equation.3">
                  <p:embed/>
                  <p:pic>
                    <p:nvPicPr>
                      <p:cNvPr id="0" name=""/>
                      <p:cNvPicPr/>
                      <p:nvPr/>
                    </p:nvPicPr>
                    <p:blipFill>
                      <a:blip r:embed="rId10"/>
                      <a:stretch>
                        <a:fillRect/>
                      </a:stretch>
                    </p:blipFill>
                    <p:spPr>
                      <a:xfrm>
                        <a:off x="3563930" y="4032013"/>
                        <a:ext cx="2357201" cy="80144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76086713"/>
              </p:ext>
            </p:extLst>
          </p:nvPr>
        </p:nvGraphicFramePr>
        <p:xfrm>
          <a:off x="3914472" y="5421836"/>
          <a:ext cx="1656115" cy="641745"/>
        </p:xfrm>
        <a:graphic>
          <a:graphicData uri="http://schemas.openxmlformats.org/presentationml/2006/ole">
            <mc:AlternateContent xmlns:mc="http://schemas.openxmlformats.org/markup-compatibility/2006">
              <mc:Choice xmlns:v="urn:schemas-microsoft-com:vml" Requires="v">
                <p:oleObj spid="_x0000_s40489" name="Equation" r:id="rId11" imgW="1015920" imgH="393480" progId="Equation.3">
                  <p:embed/>
                </p:oleObj>
              </mc:Choice>
              <mc:Fallback>
                <p:oleObj name="Equation" r:id="rId11" imgW="1015920" imgH="393480" progId="Equation.3">
                  <p:embed/>
                  <p:pic>
                    <p:nvPicPr>
                      <p:cNvPr id="0" name=""/>
                      <p:cNvPicPr/>
                      <p:nvPr/>
                    </p:nvPicPr>
                    <p:blipFill>
                      <a:blip r:embed="rId12"/>
                      <a:stretch>
                        <a:fillRect/>
                      </a:stretch>
                    </p:blipFill>
                    <p:spPr>
                      <a:xfrm>
                        <a:off x="3914472" y="5421836"/>
                        <a:ext cx="1656115" cy="641745"/>
                      </a:xfrm>
                      <a:prstGeom prst="rect">
                        <a:avLst/>
                      </a:prstGeom>
                    </p:spPr>
                  </p:pic>
                </p:oleObj>
              </mc:Fallback>
            </mc:AlternateContent>
          </a:graphicData>
        </a:graphic>
      </p:graphicFrame>
      <p:sp>
        <p:nvSpPr>
          <p:cNvPr id="18" name="标题 1">
            <a:extLst>
              <a:ext uri="{FF2B5EF4-FFF2-40B4-BE49-F238E27FC236}">
                <a16:creationId xmlns:a16="http://schemas.microsoft.com/office/drawing/2014/main" id="{BF0652C1-4BB1-4EF6-8085-D539B6735F0D}"/>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27795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randombar(horizontal)">
                                      <p:cBhvr>
                                        <p:cTn id="23" dur="500"/>
                                        <p:tgtEl>
                                          <p:spTgt spid="3"/>
                                        </p:tgtEl>
                                      </p:cBhvr>
                                    </p:animEffect>
                                  </p:childTnLst>
                                </p:cTn>
                              </p:par>
                              <p:par>
                                <p:cTn id="24" presetID="14" presetClass="entr" presetSubtype="1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randombar(horizontal)">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randombar(horizontal)">
                                      <p:cBhvr>
                                        <p:cTn id="34" dur="500"/>
                                        <p:tgtEl>
                                          <p:spTgt spid="8"/>
                                        </p:tgtEl>
                                      </p:cBhvr>
                                    </p:animEffect>
                                  </p:childTnLst>
                                </p:cTn>
                              </p:par>
                              <p:par>
                                <p:cTn id="35" presetID="14" presetClass="entr" presetSubtype="1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randombar(horizontal)">
                                      <p:cBhvr>
                                        <p:cTn id="37" dur="500"/>
                                        <p:tgtEl>
                                          <p:spTgt spid="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2" grpId="0" animBg="1"/>
      <p:bldP spid="3"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15BCAD35-C9C8-4AE1-874B-7737C5F09A87}"/>
              </a:ext>
            </a:extLst>
          </p:cNvPr>
          <p:cNvGrpSpPr/>
          <p:nvPr/>
        </p:nvGrpSpPr>
        <p:grpSpPr>
          <a:xfrm>
            <a:off x="467544" y="1340855"/>
            <a:ext cx="3153461" cy="522037"/>
            <a:chOff x="467544" y="4004345"/>
            <a:chExt cx="3672426" cy="522037"/>
          </a:xfrm>
        </p:grpSpPr>
        <p:sp>
          <p:nvSpPr>
            <p:cNvPr id="10"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4012032"/>
              <a:ext cx="367242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eaLnBrk="1" hangingPunct="1">
                <a:spcBef>
                  <a:spcPct val="40000"/>
                </a:spcBef>
              </a:pPr>
              <a:r>
                <a:rPr lang="zh-CN" altLang="en-US" sz="2400" b="0" dirty="0">
                  <a:solidFill>
                    <a:schemeClr val="tx1"/>
                  </a:solidFill>
                  <a:latin typeface="微软雅黑" panose="020B0503020204020204" pitchFamily="34" charset="-122"/>
                  <a:ea typeface="微软雅黑" panose="020B0503020204020204" pitchFamily="34" charset="-122"/>
                </a:rPr>
                <a:t>   </a:t>
              </a:r>
              <a:r>
                <a:rPr lang="zh-CN" altLang="en-US" sz="2000" b="0" dirty="0">
                  <a:solidFill>
                    <a:schemeClr val="tx1"/>
                  </a:solidFill>
                  <a:latin typeface="微软雅黑" panose="020B0503020204020204" pitchFamily="34" charset="-122"/>
                  <a:ea typeface="微软雅黑" panose="020B0503020204020204" pitchFamily="34" charset="-122"/>
                </a:rPr>
                <a:t>要素供给行为的理论分析</a:t>
              </a:r>
              <a:endParaRPr lang="en-US" altLang="zh-CN" sz="2200" b="0" dirty="0">
                <a:solidFill>
                  <a:schemeClr val="tx1"/>
                </a:solidFill>
                <a:latin typeface="微软雅黑" panose="020B0503020204020204" pitchFamily="34" charset="-122"/>
                <a:ea typeface="微软雅黑" panose="020B0503020204020204" pitchFamily="34" charset="-122"/>
              </a:endParaRPr>
            </a:p>
          </p:txBody>
        </p:sp>
        <p:sp>
          <p:nvSpPr>
            <p:cNvPr id="11"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4008006" y="4004345"/>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pic>
        <p:nvPicPr>
          <p:cNvPr id="28" name="图片 27">
            <a:extLst>
              <a:ext uri="{FF2B5EF4-FFF2-40B4-BE49-F238E27FC236}">
                <a16:creationId xmlns:a16="http://schemas.microsoft.com/office/drawing/2014/main" id="{E366E5F2-1D48-4C7A-B748-B0C2502BE34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897117" y="2144485"/>
            <a:ext cx="1810953" cy="3495420"/>
          </a:xfrm>
          <a:prstGeom prst="rect">
            <a:avLst/>
          </a:prstGeom>
        </p:spPr>
      </p:pic>
      <p:sp>
        <p:nvSpPr>
          <p:cNvPr id="29" name="标题 1">
            <a:extLst>
              <a:ext uri="{FF2B5EF4-FFF2-40B4-BE49-F238E27FC236}">
                <a16:creationId xmlns:a16="http://schemas.microsoft.com/office/drawing/2014/main" id="{008E1175-F3AA-4B76-B896-B4A56E209816}"/>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4" name="矩形 3"/>
              <p:cNvSpPr/>
              <p:nvPr/>
            </p:nvSpPr>
            <p:spPr>
              <a:xfrm>
                <a:off x="2356184" y="2416027"/>
                <a:ext cx="6688265" cy="3309496"/>
              </a:xfrm>
              <a:prstGeom prst="rect">
                <a:avLst/>
              </a:prstGeom>
            </p:spPr>
            <p:txBody>
              <a:bodyPr wrap="square">
                <a:spAutoFit/>
              </a:bodyPr>
              <a:lstStyle/>
              <a:p>
                <a:pPr marL="857250" lvl="3" indent="0" eaLnBrk="1" hangingPunct="1">
                  <a:spcBef>
                    <a:spcPct val="40000"/>
                  </a:spcBef>
                  <a:buNone/>
                </a:pPr>
                <a:r>
                  <a:rPr lang="en-US" altLang="zh-CN" sz="2000" b="0" dirty="0"/>
                  <a:t> </a:t>
                </a:r>
                <a14:m>
                  <m:oMath xmlns:m="http://schemas.openxmlformats.org/officeDocument/2006/math">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𝑑𝑈</m:t>
                        </m:r>
                      </m:num>
                      <m:den>
                        <m:r>
                          <a:rPr lang="en-US" altLang="zh-CN" sz="2000" b="0" i="1">
                            <a:latin typeface="Cambria Math" panose="02040503050406030204" pitchFamily="18" charset="0"/>
                          </a:rPr>
                          <m:t>𝑑𝐻</m:t>
                        </m:r>
                      </m:den>
                    </m:f>
                    <m:r>
                      <a:rPr lang="en-US" altLang="zh-CN" sz="2000" b="0" i="1">
                        <a:latin typeface="Cambria Math" panose="02040503050406030204" pitchFamily="18" charset="0"/>
                      </a:rPr>
                      <m:t>=</m:t>
                    </m:r>
                  </m:oMath>
                </a14:m>
                <a:r>
                  <a:rPr lang="en-US" altLang="zh-CN" sz="2000" b="0" dirty="0"/>
                  <a:t> </a:t>
                </a:r>
                <a14:m>
                  <m:oMath xmlns:m="http://schemas.openxmlformats.org/officeDocument/2006/math">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𝐶</m:t>
                        </m:r>
                      </m:den>
                    </m:f>
                    <m:r>
                      <m:rPr>
                        <m:nor/>
                      </m:rPr>
                      <a:rPr lang="en-US" altLang="zh-CN" sz="2000" b="0" dirty="0"/>
                      <m:t>. </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𝐶</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𝐶</m:t>
                        </m:r>
                      </m:den>
                    </m:f>
                    <m:r>
                      <m:rPr>
                        <m:nor/>
                      </m:rPr>
                      <a:rPr lang="en-US" altLang="zh-CN" sz="2000" b="0" dirty="0"/>
                      <m:t>. </m:t>
                    </m:r>
                    <m:r>
                      <a:rPr lang="en-US" altLang="zh-CN" sz="2000" b="0" i="1">
                        <a:latin typeface="Cambria Math" panose="02040503050406030204" pitchFamily="18" charset="0"/>
                      </a:rPr>
                      <m:t>𝑊</m:t>
                    </m:r>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oMath>
                </a14:m>
                <a:endParaRPr lang="en-US" altLang="zh-CN" sz="2000" b="0" dirty="0"/>
              </a:p>
              <a:p>
                <a:pPr marL="857250" lvl="3" indent="0" eaLnBrk="1" hangingPunct="1">
                  <a:spcBef>
                    <a:spcPct val="40000"/>
                  </a:spcBef>
                  <a:buNone/>
                </a:pPr>
                <a14:m>
                  <m:oMath xmlns:m="http://schemas.openxmlformats.org/officeDocument/2006/math">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𝑑𝑈</m:t>
                        </m:r>
                      </m:num>
                      <m:den>
                        <m:r>
                          <a:rPr lang="en-US" altLang="zh-CN" sz="2000" b="0" i="1">
                            <a:latin typeface="Cambria Math" panose="02040503050406030204" pitchFamily="18" charset="0"/>
                          </a:rPr>
                          <m:t>𝑑𝐻</m:t>
                        </m:r>
                      </m:den>
                    </m:f>
                    <m:r>
                      <a:rPr lang="en-US" altLang="zh-CN" sz="2000" b="0" i="1">
                        <a:latin typeface="Cambria Math" panose="02040503050406030204" pitchFamily="18" charset="0"/>
                      </a:rPr>
                      <m:t>=0 </m:t>
                    </m:r>
                  </m:oMath>
                </a14:m>
                <a:r>
                  <a:rPr lang="en-US" altLang="zh-CN" sz="2000" b="0" dirty="0">
                    <a:sym typeface="Wingdings" panose="05000000000000000000" pitchFamily="2" charset="2"/>
                  </a:rPr>
                  <a:t>      </a:t>
                </a:r>
                <a14:m>
                  <m:oMath xmlns:m="http://schemas.openxmlformats.org/officeDocument/2006/math">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𝐶</m:t>
                        </m:r>
                      </m:den>
                    </m:f>
                    <m:r>
                      <m:rPr>
                        <m:nor/>
                      </m:rPr>
                      <a:rPr lang="en-US" altLang="zh-CN" sz="2000" b="0" dirty="0"/>
                      <m:t>. </m:t>
                    </m:r>
                    <m:r>
                      <a:rPr lang="en-US" altLang="zh-CN" sz="2000" b="0" i="1">
                        <a:latin typeface="Cambria Math" panose="02040503050406030204" pitchFamily="18" charset="0"/>
                      </a:rPr>
                      <m:t>𝑊</m:t>
                    </m:r>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oMath>
                </a14:m>
                <a:r>
                  <a:rPr lang="en-US" altLang="zh-CN" sz="2000" b="0" dirty="0"/>
                  <a:t>=0</a:t>
                </a:r>
              </a:p>
              <a:p>
                <a:pPr marL="1314450" lvl="3" indent="-457200" eaLnBrk="1" hangingPunct="1">
                  <a:spcBef>
                    <a:spcPct val="40000"/>
                  </a:spcBef>
                  <a:buFont typeface="Wingdings" panose="05000000000000000000" pitchFamily="2" charset="2"/>
                  <a:buChar char="è"/>
                </a:pPr>
                <a:r>
                  <a:rPr lang="en-US" altLang="zh-CN" sz="2000" b="0" dirty="0"/>
                  <a:t>          </a:t>
                </a:r>
                <a14:m>
                  <m:oMath xmlns:m="http://schemas.openxmlformats.org/officeDocument/2006/math">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𝐶</m:t>
                        </m:r>
                      </m:den>
                    </m:f>
                    <m:r>
                      <m:rPr>
                        <m:nor/>
                      </m:rPr>
                      <a:rPr lang="en-US" altLang="zh-CN" sz="2000" b="0" dirty="0"/>
                      <m:t>. </m:t>
                    </m:r>
                    <m:r>
                      <a:rPr lang="en-US" altLang="zh-CN" sz="2000" b="0" i="1">
                        <a:latin typeface="Cambria Math" panose="02040503050406030204" pitchFamily="18" charset="0"/>
                      </a:rPr>
                      <m:t>𝑊</m:t>
                    </m:r>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oMath>
                </a14:m>
                <a:endParaRPr lang="en-US" altLang="zh-CN" sz="2000" b="0" dirty="0"/>
              </a:p>
              <a:p>
                <a:pPr marL="1314450" lvl="3" indent="-457200" eaLnBrk="1" hangingPunct="1">
                  <a:spcBef>
                    <a:spcPct val="40000"/>
                  </a:spcBef>
                  <a:buFont typeface="Wingdings" panose="05000000000000000000" pitchFamily="2" charset="2"/>
                  <a:buChar char="è"/>
                </a:pPr>
                <a:r>
                  <a:rPr lang="en-US" altLang="zh-CN" sz="2000" b="0" dirty="0"/>
                  <a:t>         </a:t>
                </a:r>
                <a14:m>
                  <m:oMath xmlns:m="http://schemas.openxmlformats.org/officeDocument/2006/math">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𝐻</m:t>
                        </m:r>
                      </m:den>
                    </m:f>
                    <m:r>
                      <a:rPr lang="en-US" altLang="zh-CN" sz="2000" b="0" i="1" dirty="0">
                        <a:latin typeface="Cambria Math" panose="02040503050406030204" pitchFamily="18" charset="0"/>
                      </a:rPr>
                      <m:t>/</m:t>
                    </m:r>
                    <m:f>
                      <m:fPr>
                        <m:ctrlPr>
                          <a:rPr lang="en-US" altLang="zh-CN" sz="2000" b="0" i="1">
                            <a:latin typeface="Cambria Math" panose="02040503050406030204" pitchFamily="18" charset="0"/>
                          </a:rPr>
                        </m:ctrlPr>
                      </m:fPr>
                      <m:num>
                        <m:r>
                          <a:rPr lang="zh-CN" altLang="en-US" sz="2000" b="0" i="1">
                            <a:latin typeface="Cambria Math" panose="02040503050406030204" pitchFamily="18" charset="0"/>
                          </a:rPr>
                          <m:t>𝜕</m:t>
                        </m:r>
                        <m:r>
                          <a:rPr lang="en-US" altLang="zh-CN" sz="2000" b="0" i="1">
                            <a:latin typeface="Cambria Math" panose="02040503050406030204" pitchFamily="18" charset="0"/>
                          </a:rPr>
                          <m:t>𝑈</m:t>
                        </m:r>
                      </m:num>
                      <m:den>
                        <m:r>
                          <a:rPr lang="zh-CN" altLang="en-US" sz="2000" b="0" i="1">
                            <a:latin typeface="Cambria Math" panose="02040503050406030204" pitchFamily="18" charset="0"/>
                          </a:rPr>
                          <m:t>𝜕</m:t>
                        </m:r>
                        <m:r>
                          <a:rPr lang="en-US" altLang="zh-CN" sz="2000" b="0" i="1">
                            <a:latin typeface="Cambria Math" panose="02040503050406030204" pitchFamily="18" charset="0"/>
                          </a:rPr>
                          <m:t>𝐶</m:t>
                        </m:r>
                      </m:den>
                    </m:f>
                  </m:oMath>
                </a14:m>
                <a:r>
                  <a:rPr lang="en-US" altLang="zh-CN" sz="2000" b="0" dirty="0"/>
                  <a:t>=W</a:t>
                </a:r>
              </a:p>
              <a:p>
                <a:pPr marL="1314450" lvl="3" indent="-457200" eaLnBrk="1" hangingPunct="1">
                  <a:spcBef>
                    <a:spcPct val="40000"/>
                  </a:spcBef>
                  <a:buFont typeface="Wingdings" panose="05000000000000000000" pitchFamily="2" charset="2"/>
                  <a:buChar char="è"/>
                </a:pPr>
                <a:r>
                  <a:rPr lang="en-US" altLang="zh-CN" sz="2000" b="0" dirty="0"/>
                  <a:t>        </a:t>
                </a:r>
                <a14:m>
                  <m:oMath xmlns:m="http://schemas.openxmlformats.org/officeDocument/2006/math">
                    <m:sSub>
                      <m:sSubPr>
                        <m:ctrlPr>
                          <a:rPr lang="en-US" altLang="zh-CN" sz="2000" b="0" i="1" dirty="0">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dirty="0">
                            <a:latin typeface="Cambria Math" panose="02040503050406030204" pitchFamily="18" charset="0"/>
                          </a:rPr>
                          <m:t>𝐻</m:t>
                        </m:r>
                      </m:sub>
                    </m:sSub>
                    <m:r>
                      <a:rPr lang="en-US" altLang="zh-CN" sz="2000" b="0" i="1" dirty="0">
                        <a:latin typeface="Cambria Math" panose="02040503050406030204" pitchFamily="18" charset="0"/>
                      </a:rPr>
                      <m:t>/</m:t>
                    </m:r>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a:latin typeface="Cambria Math" panose="02040503050406030204" pitchFamily="18" charset="0"/>
                          </a:rPr>
                          <m:t>𝐶</m:t>
                        </m:r>
                      </m:sub>
                    </m:sSub>
                  </m:oMath>
                </a14:m>
                <a:r>
                  <a:rPr lang="en-US" altLang="zh-CN" sz="2000" b="0" dirty="0"/>
                  <a:t>=W</a:t>
                </a:r>
              </a:p>
              <a:p>
                <a:pPr marL="1314450" lvl="3" indent="-457200" eaLnBrk="1" hangingPunct="1">
                  <a:spcBef>
                    <a:spcPct val="40000"/>
                  </a:spcBef>
                  <a:buFont typeface="Wingdings" panose="05000000000000000000" pitchFamily="2" charset="2"/>
                  <a:buChar char="è"/>
                </a:pPr>
                <a:r>
                  <a:rPr lang="en-US" altLang="zh-CN" sz="2000" b="0" dirty="0"/>
                  <a:t>         </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𝑀𝑅𝑆</m:t>
                        </m:r>
                      </m:e>
                      <m:sub>
                        <m:r>
                          <a:rPr lang="en-US" altLang="zh-CN" sz="2000" b="0" i="1">
                            <a:latin typeface="Cambria Math" panose="02040503050406030204" pitchFamily="18" charset="0"/>
                          </a:rPr>
                          <m:t>𝐻𝐶</m:t>
                        </m:r>
                      </m:sub>
                    </m:sSub>
                  </m:oMath>
                </a14:m>
                <a:r>
                  <a:rPr lang="en-US" altLang="zh-CN" sz="2000" b="0" dirty="0"/>
                  <a:t>=W,      since </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𝑀𝑅𝑆</m:t>
                        </m:r>
                      </m:e>
                      <m:sub>
                        <m:r>
                          <a:rPr lang="en-US" altLang="zh-CN" sz="2000" b="0" i="1">
                            <a:latin typeface="Cambria Math" panose="02040503050406030204" pitchFamily="18" charset="0"/>
                          </a:rPr>
                          <m:t>𝐻𝐶</m:t>
                        </m:r>
                      </m:sub>
                    </m:sSub>
                  </m:oMath>
                </a14:m>
                <a:r>
                  <a:rPr lang="en-US" altLang="zh-CN" sz="2000" b="0" dirty="0"/>
                  <a:t>=</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a:latin typeface="Cambria Math" panose="02040503050406030204" pitchFamily="18" charset="0"/>
                          </a:rPr>
                          <m:t>𝐻</m:t>
                        </m:r>
                      </m:sub>
                    </m:sSub>
                    <m:r>
                      <a:rPr lang="en-US" altLang="zh-CN" sz="2000" b="0" i="1" dirty="0">
                        <a:latin typeface="Cambria Math" panose="02040503050406030204" pitchFamily="18" charset="0"/>
                      </a:rPr>
                      <m:t>/</m:t>
                    </m:r>
                    <m:sSub>
                      <m:sSubPr>
                        <m:ctrlPr>
                          <a:rPr lang="en-US" altLang="zh-CN" sz="2000" b="0" i="1" dirty="0">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a:latin typeface="Cambria Math" panose="02040503050406030204" pitchFamily="18" charset="0"/>
                          </a:rPr>
                          <m:t>𝐶</m:t>
                        </m:r>
                      </m:sub>
                    </m:sSub>
                  </m:oMath>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2356184" y="2416027"/>
                <a:ext cx="6688265" cy="3309496"/>
              </a:xfrm>
              <a:prstGeom prst="rect">
                <a:avLst/>
              </a:prstGeom>
              <a:blipFill>
                <a:blip r:embed="rId5"/>
                <a:stretch>
                  <a:fillRect b="-23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98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randombar(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458" name="Rectangle 3"/>
              <p:cNvSpPr>
                <a:spLocks noGrp="1" noChangeArrowheads="1"/>
              </p:cNvSpPr>
              <p:nvPr>
                <p:ph type="body" idx="4294967295"/>
              </p:nvPr>
            </p:nvSpPr>
            <p:spPr>
              <a:xfrm>
                <a:off x="467544" y="1118466"/>
                <a:ext cx="8229600" cy="795114"/>
              </a:xfrm>
              <a:ln/>
            </p:spPr>
            <p:txBody>
              <a:bodyPr/>
              <a:lstStyle/>
              <a:p>
                <a:pPr marL="457200" lvl="2" indent="-457200" eaLnBrk="1" hangingPunct="1">
                  <a:spcBef>
                    <a:spcPct val="4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关于</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𝑀𝑅𝑆</m:t>
                        </m:r>
                      </m:e>
                      <m:sub>
                        <m:r>
                          <a:rPr lang="en-US" altLang="zh-CN" sz="2000" b="0" i="1">
                            <a:latin typeface="Cambria Math" panose="02040503050406030204" pitchFamily="18" charset="0"/>
                          </a:rPr>
                          <m:t>𝐻𝐶</m:t>
                        </m:r>
                      </m:sub>
                    </m:sSub>
                  </m:oMath>
                </a14:m>
                <a:r>
                  <a:rPr lang="en-US" altLang="zh-CN" sz="2000" b="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smtClean="0">
                            <a:latin typeface="Cambria Math" panose="02040503050406030204" pitchFamily="18" charset="0"/>
                          </a:rPr>
                          <m:t>𝐻</m:t>
                        </m:r>
                      </m:sub>
                    </m:sSub>
                    <m:r>
                      <a:rPr lang="en-US" altLang="zh-CN" sz="2000" b="0" i="1" dirty="0">
                        <a:latin typeface="Cambria Math" panose="02040503050406030204" pitchFamily="18" charset="0"/>
                      </a:rPr>
                      <m:t>/</m:t>
                    </m:r>
                    <m:sSub>
                      <m:sSubPr>
                        <m:ctrlPr>
                          <a:rPr lang="en-US" altLang="zh-CN" sz="2000" b="0" i="1" dirty="0">
                            <a:latin typeface="Cambria Math" panose="02040503050406030204" pitchFamily="18" charset="0"/>
                          </a:rPr>
                        </m:ctrlPr>
                      </m:sSubPr>
                      <m:e>
                        <m:r>
                          <a:rPr lang="en-US" altLang="zh-CN" sz="2000" b="0" i="1">
                            <a:latin typeface="Cambria Math" panose="02040503050406030204" pitchFamily="18" charset="0"/>
                          </a:rPr>
                          <m:t>𝑀𝑈</m:t>
                        </m:r>
                      </m:e>
                      <m:sub>
                        <m:r>
                          <a:rPr lang="en-US" altLang="zh-CN" sz="2000" b="0" i="1" dirty="0" smtClean="0">
                            <a:latin typeface="Cambria Math" panose="02040503050406030204" pitchFamily="18" charset="0"/>
                          </a:rPr>
                          <m:t>𝐶</m:t>
                        </m:r>
                      </m:sub>
                    </m:sSub>
                  </m:oMath>
                </a14:m>
                <a:r>
                  <a:rPr lang="zh-CN" altLang="en-US" sz="2000" b="0" dirty="0">
                    <a:latin typeface="微软雅黑" panose="020B0503020204020204" pitchFamily="34" charset="-122"/>
                    <a:ea typeface="微软雅黑" panose="020B0503020204020204" pitchFamily="34" charset="-122"/>
                  </a:rPr>
                  <a:t>的补充解释</a:t>
                </a:r>
                <a:r>
                  <a:rPr lang="en-US" altLang="zh-CN" sz="2000" b="0" dirty="0">
                    <a:latin typeface="微软雅黑" panose="020B0503020204020204" pitchFamily="34" charset="-122"/>
                    <a:ea typeface="微软雅黑" panose="020B0503020204020204" pitchFamily="34" charset="-122"/>
                  </a:rPr>
                  <a:t>:</a:t>
                </a:r>
              </a:p>
              <a:p>
                <a:pPr marL="0" lvl="2" indent="0" eaLnBrk="1" hangingPunct="1">
                  <a:spcBef>
                    <a:spcPct val="40000"/>
                  </a:spcBef>
                  <a:buNone/>
                </a:pPr>
                <a:r>
                  <a:rPr lang="zh-CN" altLang="en-US" sz="1800" b="0" dirty="0">
                    <a:latin typeface="微软雅黑" panose="020B0503020204020204" pitchFamily="34" charset="-122"/>
                    <a:ea typeface="微软雅黑" panose="020B0503020204020204" pitchFamily="34" charset="-122"/>
                  </a:rPr>
                  <a:t>       在效用函数</a:t>
                </a:r>
                <a14:m>
                  <m:oMath xmlns:m="http://schemas.openxmlformats.org/officeDocument/2006/math">
                    <m:r>
                      <a:rPr lang="en-US" altLang="zh-CN" sz="1800" b="0" i="1">
                        <a:latin typeface="Cambria Math" panose="02040503050406030204" pitchFamily="18" charset="0"/>
                      </a:rPr>
                      <m:t>𝑈</m:t>
                    </m:r>
                    <m:r>
                      <a:rPr lang="en-US" altLang="zh-CN" sz="1800" b="0" i="1">
                        <a:latin typeface="Cambria Math" panose="02040503050406030204" pitchFamily="18" charset="0"/>
                      </a:rPr>
                      <m:t>(</m:t>
                    </m:r>
                    <m:r>
                      <a:rPr lang="en-US" altLang="zh-CN" sz="1800" b="0" i="1">
                        <a:latin typeface="Cambria Math" panose="02040503050406030204" pitchFamily="18" charset="0"/>
                      </a:rPr>
                      <m:t>𝐶</m:t>
                    </m:r>
                    <m:r>
                      <a:rPr lang="en-US" altLang="zh-CN" sz="1800" b="0" i="1">
                        <a:latin typeface="Cambria Math" panose="02040503050406030204" pitchFamily="18" charset="0"/>
                      </a:rPr>
                      <m:t>, </m:t>
                    </m:r>
                    <m:r>
                      <a:rPr lang="en-US" altLang="zh-CN" sz="1800" b="0" i="1">
                        <a:latin typeface="Cambria Math" panose="02040503050406030204" pitchFamily="18" charset="0"/>
                      </a:rPr>
                      <m:t>𝐻</m:t>
                    </m:r>
                    <m:r>
                      <a:rPr lang="en-US" altLang="zh-CN" sz="1800" b="0" i="1">
                        <a:latin typeface="Cambria Math" panose="02040503050406030204" pitchFamily="18" charset="0"/>
                      </a:rPr>
                      <m:t>)</m:t>
                    </m:r>
                  </m:oMath>
                </a14:m>
                <a:r>
                  <a:rPr lang="zh-CN" altLang="en-US" sz="1800" b="0" dirty="0">
                    <a:latin typeface="微软雅黑" panose="020B0503020204020204" pitchFamily="34" charset="-122"/>
                    <a:ea typeface="微软雅黑" panose="020B0503020204020204" pitchFamily="34" charset="-122"/>
                  </a:rPr>
                  <a:t>中，保持效用为</a:t>
                </a:r>
                <a:r>
                  <a:rPr lang="en-US" altLang="zh-CN" sz="1800" b="0" dirty="0">
                    <a:latin typeface="微软雅黑" panose="020B0503020204020204" pitchFamily="34" charset="-122"/>
                    <a:ea typeface="微软雅黑" panose="020B0503020204020204" pitchFamily="34" charset="-122"/>
                  </a:rPr>
                  <a:t>A</a:t>
                </a:r>
                <a:r>
                  <a:rPr lang="zh-CN" altLang="en-US" sz="1800" b="0" dirty="0">
                    <a:latin typeface="微软雅黑" panose="020B0503020204020204" pitchFamily="34" charset="-122"/>
                    <a:ea typeface="微软雅黑" panose="020B0503020204020204" pitchFamily="34" charset="-122"/>
                  </a:rPr>
                  <a:t>不变</a:t>
                </a:r>
                <a:endParaRPr lang="en-US" altLang="zh-CN" sz="1800" b="0" dirty="0">
                  <a:latin typeface="微软雅黑" panose="020B0503020204020204" pitchFamily="34" charset="-122"/>
                  <a:ea typeface="微软雅黑" panose="020B0503020204020204" pitchFamily="34" charset="-122"/>
                </a:endParaRPr>
              </a:p>
            </p:txBody>
          </p:sp>
        </mc:Choice>
        <mc:Fallback xmlns="">
          <p:sp>
            <p:nvSpPr>
              <p:cNvPr id="19458" name="Rectangle 3"/>
              <p:cNvSpPr>
                <a:spLocks noGrp="1" noRot="1" noChangeAspect="1" noMove="1" noResize="1" noEditPoints="1" noAdjustHandles="1" noChangeArrowheads="1" noChangeShapeType="1" noTextEdit="1"/>
              </p:cNvSpPr>
              <p:nvPr>
                <p:ph type="body" idx="4294967295"/>
              </p:nvPr>
            </p:nvSpPr>
            <p:spPr>
              <a:xfrm>
                <a:off x="467544" y="1118466"/>
                <a:ext cx="8229600" cy="795114"/>
              </a:xfrm>
              <a:blipFill>
                <a:blip r:embed="rId3"/>
                <a:stretch>
                  <a:fillRect l="-667" t="-3817" b="-9924"/>
                </a:stretch>
              </a:blipFill>
              <a:ln/>
            </p:spPr>
            <p:txBody>
              <a:bodyPr/>
              <a:lstStyle/>
              <a:p>
                <a:r>
                  <a:rPr lang="zh-CN" altLang="en-US">
                    <a:noFill/>
                  </a:rPr>
                  <a:t> </a:t>
                </a:r>
              </a:p>
            </p:txBody>
          </p:sp>
        </mc:Fallback>
      </mc:AlternateContent>
      <p:sp>
        <p:nvSpPr>
          <p:cNvPr id="3" name="下箭头 2"/>
          <p:cNvSpPr/>
          <p:nvPr/>
        </p:nvSpPr>
        <p:spPr bwMode="auto">
          <a:xfrm>
            <a:off x="4283980" y="2349421"/>
            <a:ext cx="432030" cy="427739"/>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3" name="Rectangle 3"/>
              <p:cNvSpPr txBox="1">
                <a:spLocks noChangeArrowheads="1"/>
              </p:cNvSpPr>
              <p:nvPr/>
            </p:nvSpPr>
            <p:spPr bwMode="auto">
              <a:xfrm>
                <a:off x="992035" y="4077045"/>
                <a:ext cx="7612245" cy="22992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eaLnBrk="1" hangingPunct="1">
                  <a:spcBef>
                    <a:spcPct val="40000"/>
                  </a:spcBef>
                  <a:buNone/>
                </a:pPr>
                <a:endParaRPr lang="en-US" altLang="zh-CN" sz="1800" b="0" i="1" dirty="0">
                  <a:latin typeface="微软雅黑" panose="020B0503020204020204" pitchFamily="34" charset="-122"/>
                  <a:ea typeface="微软雅黑" panose="020B0503020204020204" pitchFamily="34" charset="-122"/>
                </a:endParaRPr>
              </a:p>
              <a:p>
                <a:pPr marL="0" lvl="2" indent="0" eaLnBrk="1" hangingPunct="1">
                  <a:spcBef>
                    <a:spcPct val="40000"/>
                  </a:spcBef>
                  <a:buNone/>
                </a:pPr>
                <a:endParaRPr lang="en-US" altLang="zh-CN" sz="1800" b="0" dirty="0">
                  <a:latin typeface="微软雅黑" panose="020B0503020204020204" pitchFamily="34" charset="-122"/>
                  <a:ea typeface="微软雅黑" panose="020B0503020204020204" pitchFamily="34" charset="-122"/>
                </a:endParaRPr>
              </a:p>
              <a:p>
                <a:pPr marL="0" lvl="2" indent="0" eaLnBrk="1" hangingPunct="1">
                  <a:spcBef>
                    <a:spcPct val="40000"/>
                  </a:spcBef>
                  <a:buNone/>
                </a:pPr>
                <a:r>
                  <a:rPr lang="zh-CN" altLang="en-US" sz="1800" b="0"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1800" b="0" i="1">
                            <a:latin typeface="Cambria Math" panose="02040503050406030204" pitchFamily="18" charset="0"/>
                          </a:rPr>
                        </m:ctrlPr>
                      </m:sSubPr>
                      <m:e>
                        <m:r>
                          <a:rPr lang="en-US" altLang="zh-CN" sz="1800" b="0" i="1">
                            <a:latin typeface="Cambria Math" panose="02040503050406030204" pitchFamily="18" charset="0"/>
                          </a:rPr>
                          <m:t>𝑀𝑅𝑆</m:t>
                        </m:r>
                      </m:e>
                      <m:sub>
                        <m:r>
                          <a:rPr lang="en-US" altLang="zh-CN" sz="1800" b="0" i="1">
                            <a:latin typeface="Cambria Math" panose="02040503050406030204" pitchFamily="18" charset="0"/>
                          </a:rPr>
                          <m:t>𝐻𝐶</m:t>
                        </m:r>
                      </m:sub>
                    </m:sSub>
                  </m:oMath>
                </a14:m>
                <a:r>
                  <a:rPr lang="zh-CN" altLang="en-US" sz="1800" b="0" dirty="0">
                    <a:latin typeface="微软雅黑" panose="020B0503020204020204" pitchFamily="34" charset="-122"/>
                    <a:ea typeface="微软雅黑" panose="020B0503020204020204" pitchFamily="34" charset="-122"/>
                  </a:rPr>
                  <a:t>就被定义为</a:t>
                </a:r>
                <a14:m>
                  <m:oMath xmlns:m="http://schemas.openxmlformats.org/officeDocument/2006/math">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rPr>
                          <m:t>𝑑</m:t>
                        </m:r>
                        <m:r>
                          <a:rPr lang="en-US" altLang="zh-CN" sz="1800" b="0" i="1" smtClean="0">
                            <a:latin typeface="Cambria Math" panose="02040503050406030204" pitchFamily="18" charset="0"/>
                          </a:rPr>
                          <m:t>𝐶</m:t>
                        </m:r>
                      </m:num>
                      <m:den>
                        <m:r>
                          <a:rPr lang="en-US" altLang="zh-CN" sz="1800" b="0" i="1">
                            <a:latin typeface="Cambria Math" panose="02040503050406030204" pitchFamily="18" charset="0"/>
                          </a:rPr>
                          <m:t>𝑑</m:t>
                        </m:r>
                        <m:r>
                          <a:rPr lang="en-US" altLang="zh-CN" sz="1800" b="0" i="1" smtClean="0">
                            <a:latin typeface="Cambria Math" panose="02040503050406030204" pitchFamily="18" charset="0"/>
                          </a:rPr>
                          <m:t>𝐻</m:t>
                        </m:r>
                      </m:den>
                    </m:f>
                  </m:oMath>
                </a14:m>
                <a:r>
                  <a:rPr lang="zh-CN" altLang="en-US" sz="1800" b="0" dirty="0">
                    <a:latin typeface="微软雅黑" panose="020B0503020204020204" pitchFamily="34" charset="-122"/>
                    <a:ea typeface="微软雅黑" panose="020B0503020204020204" pitchFamily="34" charset="-122"/>
                  </a:rPr>
                  <a:t>，在保证效用不变时每增加一单位要素</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自用（获得</a:t>
                </a:r>
                <a:r>
                  <a:rPr lang="en-US" altLang="zh-CN" sz="1800" b="0" dirty="0">
                    <a:latin typeface="微软雅黑" panose="020B0503020204020204" pitchFamily="34" charset="-122"/>
                    <a:ea typeface="微软雅黑" panose="020B0503020204020204" pitchFamily="34" charset="-122"/>
                  </a:rPr>
                  <a:t>H</a:t>
                </a:r>
                <a:r>
                  <a:rPr lang="zh-CN" altLang="en-US" sz="1800" b="0" dirty="0">
                    <a:latin typeface="微软雅黑" panose="020B0503020204020204" pitchFamily="34" charset="-122"/>
                    <a:ea typeface="微软雅黑" panose="020B0503020204020204" pitchFamily="34" charset="-122"/>
                  </a:rPr>
                  <a:t>）所能替代的消费的数量（边际上测度）。或者相反，每加减少一单位自用</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H</a:t>
                </a:r>
                <a:r>
                  <a:rPr lang="zh-CN" altLang="en-US" sz="1800" b="0" dirty="0">
                    <a:latin typeface="微软雅黑" panose="020B0503020204020204" pitchFamily="34" charset="-122"/>
                    <a:ea typeface="微软雅黑" panose="020B0503020204020204" pitchFamily="34" charset="-122"/>
                  </a:rPr>
                  <a:t>减少）所必须补偿的消费量</a:t>
                </a:r>
                <a:endParaRPr lang="en-US" altLang="zh-CN" sz="1800" b="0" dirty="0">
                  <a:latin typeface="微软雅黑" panose="020B0503020204020204" pitchFamily="34" charset="-122"/>
                  <a:ea typeface="微软雅黑" panose="020B0503020204020204" pitchFamily="34" charset="-122"/>
                </a:endParaRPr>
              </a:p>
            </p:txBody>
          </p:sp>
        </mc:Choice>
        <mc:Fallback xmlns="">
          <p:sp>
            <p:nvSpPr>
              <p:cNvPr id="13" name="Rectangle 3"/>
              <p:cNvSpPr txBox="1">
                <a:spLocks noRot="1" noChangeAspect="1" noMove="1" noResize="1" noEditPoints="1" noAdjustHandles="1" noChangeArrowheads="1" noChangeShapeType="1" noTextEdit="1"/>
              </p:cNvSpPr>
              <p:nvPr/>
            </p:nvSpPr>
            <p:spPr bwMode="auto">
              <a:xfrm>
                <a:off x="992035" y="4077045"/>
                <a:ext cx="7612245" cy="2299274"/>
              </a:xfrm>
              <a:prstGeom prst="rect">
                <a:avLst/>
              </a:prstGeom>
              <a:blipFill>
                <a:blip r:embed="rId4"/>
                <a:stretch>
                  <a:fillRect l="-7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 name="下箭头 13"/>
          <p:cNvSpPr/>
          <p:nvPr/>
        </p:nvSpPr>
        <p:spPr bwMode="auto">
          <a:xfrm>
            <a:off x="4286179" y="3584505"/>
            <a:ext cx="432030" cy="427739"/>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758639240"/>
              </p:ext>
            </p:extLst>
          </p:nvPr>
        </p:nvGraphicFramePr>
        <p:xfrm>
          <a:off x="3713633" y="1966429"/>
          <a:ext cx="1536398" cy="372460"/>
        </p:xfrm>
        <a:graphic>
          <a:graphicData uri="http://schemas.openxmlformats.org/presentationml/2006/ole">
            <mc:AlternateContent xmlns:mc="http://schemas.openxmlformats.org/markup-compatibility/2006">
              <mc:Choice xmlns:v="urn:schemas-microsoft-com:vml" Requires="v">
                <p:oleObj spid="_x0000_s42413" name="Equation" r:id="rId5" imgW="838080" imgH="203040" progId="Equation.3">
                  <p:embed/>
                </p:oleObj>
              </mc:Choice>
              <mc:Fallback>
                <p:oleObj name="Equation" r:id="rId5" imgW="838080" imgH="203040" progId="Equation.3">
                  <p:embed/>
                  <p:pic>
                    <p:nvPicPr>
                      <p:cNvPr id="0" name=""/>
                      <p:cNvPicPr/>
                      <p:nvPr/>
                    </p:nvPicPr>
                    <p:blipFill>
                      <a:blip r:embed="rId6"/>
                      <a:stretch>
                        <a:fillRect/>
                      </a:stretch>
                    </p:blipFill>
                    <p:spPr>
                      <a:xfrm>
                        <a:off x="3713633" y="1966429"/>
                        <a:ext cx="1536398" cy="37246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37750744"/>
              </p:ext>
            </p:extLst>
          </p:nvPr>
        </p:nvGraphicFramePr>
        <p:xfrm>
          <a:off x="3366078" y="2831642"/>
          <a:ext cx="2500655" cy="698381"/>
        </p:xfrm>
        <a:graphic>
          <a:graphicData uri="http://schemas.openxmlformats.org/presentationml/2006/ole">
            <mc:AlternateContent xmlns:mc="http://schemas.openxmlformats.org/markup-compatibility/2006">
              <mc:Choice xmlns:v="urn:schemas-microsoft-com:vml" Requires="v">
                <p:oleObj spid="_x0000_s42414" name="Equation" r:id="rId7" imgW="1409400" imgH="393480" progId="Equation.3">
                  <p:embed/>
                </p:oleObj>
              </mc:Choice>
              <mc:Fallback>
                <p:oleObj name="Equation" r:id="rId7" imgW="1409400" imgH="393480" progId="Equation.3">
                  <p:embed/>
                  <p:pic>
                    <p:nvPicPr>
                      <p:cNvPr id="0" name=""/>
                      <p:cNvPicPr/>
                      <p:nvPr/>
                    </p:nvPicPr>
                    <p:blipFill>
                      <a:blip r:embed="rId8"/>
                      <a:stretch>
                        <a:fillRect/>
                      </a:stretch>
                    </p:blipFill>
                    <p:spPr>
                      <a:xfrm>
                        <a:off x="3366078" y="2831642"/>
                        <a:ext cx="2500655" cy="698381"/>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70414491"/>
              </p:ext>
            </p:extLst>
          </p:nvPr>
        </p:nvGraphicFramePr>
        <p:xfrm>
          <a:off x="3531620" y="4103644"/>
          <a:ext cx="1936750" cy="698500"/>
        </p:xfrm>
        <a:graphic>
          <a:graphicData uri="http://schemas.openxmlformats.org/presentationml/2006/ole">
            <mc:AlternateContent xmlns:mc="http://schemas.openxmlformats.org/markup-compatibility/2006">
              <mc:Choice xmlns:v="urn:schemas-microsoft-com:vml" Requires="v">
                <p:oleObj spid="_x0000_s42415" name="Equation" r:id="rId9" imgW="1091880" imgH="393480" progId="Equation.3">
                  <p:embed/>
                </p:oleObj>
              </mc:Choice>
              <mc:Fallback>
                <p:oleObj name="Equation" r:id="rId9" imgW="1091880" imgH="393480" progId="Equation.3">
                  <p:embed/>
                  <p:pic>
                    <p:nvPicPr>
                      <p:cNvPr id="4" name="对象 3"/>
                      <p:cNvPicPr/>
                      <p:nvPr/>
                    </p:nvPicPr>
                    <p:blipFill>
                      <a:blip r:embed="rId10"/>
                      <a:stretch>
                        <a:fillRect/>
                      </a:stretch>
                    </p:blipFill>
                    <p:spPr>
                      <a:xfrm>
                        <a:off x="3531620" y="4103644"/>
                        <a:ext cx="1936750" cy="698500"/>
                      </a:xfrm>
                      <a:prstGeom prst="rect">
                        <a:avLst/>
                      </a:prstGeom>
                    </p:spPr>
                  </p:pic>
                </p:oleObj>
              </mc:Fallback>
            </mc:AlternateContent>
          </a:graphicData>
        </a:graphic>
      </p:graphicFrame>
      <p:sp>
        <p:nvSpPr>
          <p:cNvPr id="11" name="标题 1">
            <a:extLst>
              <a:ext uri="{FF2B5EF4-FFF2-40B4-BE49-F238E27FC236}">
                <a16:creationId xmlns:a16="http://schemas.microsoft.com/office/drawing/2014/main" id="{109ED499-EA37-436F-8996-39ED9B497AE0}"/>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48605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p:cBhvr>
                                        <p:cTn id="12" dur="500"/>
                                        <p:tgtEl>
                                          <p:spTgt spid="194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91726" y="1058066"/>
            <a:ext cx="8229600" cy="202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indent="-457200">
              <a:lnSpc>
                <a:spcPct val="150000"/>
              </a:lnSpc>
              <a:spcBef>
                <a:spcPct val="2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要素供给原则的进一步解释</a:t>
            </a:r>
          </a:p>
          <a:p>
            <a:pPr marL="540000">
              <a:lnSpc>
                <a:spcPct val="150000"/>
              </a:lnSpc>
              <a:spcBef>
                <a:spcPct val="40000"/>
              </a:spcBef>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效用最大化条件：</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（一般意义上）</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40000"/>
              </a:spcBef>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要素供给带来的的边际效用（类似于</a:t>
            </a:r>
            <a:r>
              <a:rPr lang="en-US" altLang="zh-CN"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保留要素自用的边际效用（类似于</a:t>
            </a:r>
            <a:r>
              <a:rPr lang="en-US" altLang="zh-CN"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，是供给要素的机会成本）。</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540000" lvl="1" indent="-342900">
              <a:lnSpc>
                <a:spcPct val="150000"/>
              </a:lnSpc>
              <a:spcBef>
                <a:spcPct val="40000"/>
              </a:spcBef>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模型中的效用最大化条件为</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lvl="1" indent="0">
              <a:lnSpc>
                <a:spcPct val="150000"/>
              </a:lnSpc>
              <a:spcBef>
                <a:spcPct val="40000"/>
              </a:spcBef>
            </a:pP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683896627"/>
              </p:ext>
            </p:extLst>
          </p:nvPr>
        </p:nvGraphicFramePr>
        <p:xfrm>
          <a:off x="2987890" y="1749246"/>
          <a:ext cx="1110934" cy="288020"/>
        </p:xfrm>
        <a:graphic>
          <a:graphicData uri="http://schemas.openxmlformats.org/presentationml/2006/ole">
            <mc:AlternateContent xmlns:mc="http://schemas.openxmlformats.org/markup-compatibility/2006">
              <mc:Choice xmlns:v="urn:schemas-microsoft-com:vml" Requires="v">
                <p:oleObj spid="_x0000_s43424" name="Equation" r:id="rId3" imgW="685800" imgH="177480" progId="Equation.3">
                  <p:embed/>
                </p:oleObj>
              </mc:Choice>
              <mc:Fallback>
                <p:oleObj name="Equation" r:id="rId3" imgW="685800" imgH="177480" progId="Equation.3">
                  <p:embed/>
                  <p:pic>
                    <p:nvPicPr>
                      <p:cNvPr id="0" name=""/>
                      <p:cNvPicPr/>
                      <p:nvPr/>
                    </p:nvPicPr>
                    <p:blipFill>
                      <a:blip r:embed="rId4"/>
                      <a:stretch>
                        <a:fillRect/>
                      </a:stretch>
                    </p:blipFill>
                    <p:spPr>
                      <a:xfrm>
                        <a:off x="2987890" y="1749246"/>
                        <a:ext cx="1110934" cy="28802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17642287"/>
              </p:ext>
            </p:extLst>
          </p:nvPr>
        </p:nvGraphicFramePr>
        <p:xfrm>
          <a:off x="3994337" y="3079180"/>
          <a:ext cx="1380233" cy="311666"/>
        </p:xfrm>
        <a:graphic>
          <a:graphicData uri="http://schemas.openxmlformats.org/presentationml/2006/ole">
            <mc:AlternateContent xmlns:mc="http://schemas.openxmlformats.org/markup-compatibility/2006">
              <mc:Choice xmlns:v="urn:schemas-microsoft-com:vml" Requires="v">
                <p:oleObj spid="_x0000_s43425" name="Equation" r:id="rId5" imgW="787320" imgH="177480" progId="Equation.3">
                  <p:embed/>
                </p:oleObj>
              </mc:Choice>
              <mc:Fallback>
                <p:oleObj name="Equation" r:id="rId5" imgW="787320" imgH="177480" progId="Equation.3">
                  <p:embed/>
                  <p:pic>
                    <p:nvPicPr>
                      <p:cNvPr id="0" name=""/>
                      <p:cNvPicPr/>
                      <p:nvPr/>
                    </p:nvPicPr>
                    <p:blipFill>
                      <a:blip r:embed="rId6"/>
                      <a:stretch>
                        <a:fillRect/>
                      </a:stretch>
                    </p:blipFill>
                    <p:spPr>
                      <a:xfrm>
                        <a:off x="3994337" y="3079180"/>
                        <a:ext cx="1380233" cy="311666"/>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文本框 5"/>
              <p:cNvSpPr txBox="1"/>
              <p:nvPr/>
            </p:nvSpPr>
            <p:spPr>
              <a:xfrm>
                <a:off x="971750" y="3664325"/>
                <a:ext cx="7749576" cy="2529923"/>
              </a:xfrm>
              <a:prstGeom prst="rect">
                <a:avLst/>
              </a:prstGeom>
              <a:noFill/>
            </p:spPr>
            <p:txBody>
              <a:bodyPr wrap="square" rtlCol="0">
                <a:spAutoFit/>
              </a:bodyPr>
              <a:lstStyle/>
              <a:p>
                <a:pPr marL="285750" lvl="1" indent="-285750">
                  <a:spcBef>
                    <a:spcPct val="40000"/>
                  </a:spcBef>
                  <a:buFont typeface="Arial" panose="020B0604020202020204" pitchFamily="34" charset="0"/>
                  <a:buChar char="•"/>
                </a:pP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W</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可以解释为减少供给</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增加自用</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时要付出的代价（边际上测度），即所谓的</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lvl="1" indent="0">
                  <a:spcBef>
                    <a:spcPct val="40000"/>
                  </a:spcBef>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285750" lvl="1" indent="-285750">
                  <a:spcBef>
                    <a:spcPct val="40000"/>
                  </a:spcBef>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而</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𝑀𝑅𝑆</m:t>
                        </m:r>
                      </m:e>
                      <m:sub>
                        <m:r>
                          <a:rPr lang="en-US" altLang="zh-CN" b="0" i="1">
                            <a:latin typeface="Cambria Math" panose="02040503050406030204" pitchFamily="18" charset="0"/>
                          </a:rPr>
                          <m:t>𝐻𝐶</m:t>
                        </m:r>
                      </m:sub>
                    </m:sSub>
                  </m:oMath>
                </a14:m>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是指把</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转化成</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时用</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替代</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的替代率，即保持效用不变时每增加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单</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lvl="1" indent="0">
                  <a:spcBef>
                    <a:spcPct val="40000"/>
                  </a:spcBef>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位</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时所能替代的</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的数量（边际上测度）。增加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时愿意以</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减少为代价，是因 </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lvl="1" indent="0">
                  <a:spcBef>
                    <a:spcPct val="40000"/>
                  </a:spcBef>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增加是能带来效用增加的。因此</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𝑀𝑅𝑆</m:t>
                        </m:r>
                      </m:e>
                      <m:sub>
                        <m:r>
                          <a:rPr lang="en-US" altLang="zh-CN" b="0" i="1">
                            <a:latin typeface="Cambria Math" panose="02040503050406030204" pitchFamily="18" charset="0"/>
                          </a:rPr>
                          <m:t>𝐻𝐶</m:t>
                        </m:r>
                      </m:sub>
                    </m:sSub>
                  </m:oMath>
                </a14:m>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代表了增加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带来的效用增量，即所</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lvl="1" indent="0">
                  <a:spcBef>
                    <a:spcPct val="40000"/>
                  </a:spcBef>
                </a:pP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谓的“</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1">
                  <a:lnSpc>
                    <a:spcPct val="150000"/>
                  </a:lnSpc>
                  <a:spcBef>
                    <a:spcPct val="40000"/>
                  </a:spcBef>
                </a:pPr>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971750" y="3664325"/>
                <a:ext cx="7749576" cy="2529923"/>
              </a:xfrm>
              <a:prstGeom prst="rect">
                <a:avLst/>
              </a:prstGeom>
              <a:blipFill>
                <a:blip r:embed="rId7"/>
                <a:stretch>
                  <a:fillRect l="-314" t="-723"/>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extLst>
              <p:ext uri="{D42A27DB-BD31-4B8C-83A1-F6EECF244321}">
                <p14:modId xmlns:p14="http://schemas.microsoft.com/office/powerpoint/2010/main" val="3098138546"/>
              </p:ext>
            </p:extLst>
          </p:nvPr>
        </p:nvGraphicFramePr>
        <p:xfrm>
          <a:off x="4211975" y="5541874"/>
          <a:ext cx="1132132" cy="516119"/>
        </p:xfrm>
        <a:graphic>
          <a:graphicData uri="http://schemas.openxmlformats.org/presentationml/2006/ole">
            <mc:AlternateContent xmlns:mc="http://schemas.openxmlformats.org/markup-compatibility/2006">
              <mc:Choice xmlns:v="urn:schemas-microsoft-com:vml" Requires="v">
                <p:oleObj spid="_x0000_s43426" name="Equation" r:id="rId8" imgW="863280" imgH="393480" progId="Equation.3">
                  <p:embed/>
                </p:oleObj>
              </mc:Choice>
              <mc:Fallback>
                <p:oleObj name="Equation" r:id="rId8" imgW="863280" imgH="393480" progId="Equation.3">
                  <p:embed/>
                  <p:pic>
                    <p:nvPicPr>
                      <p:cNvPr id="0" name=""/>
                      <p:cNvPicPr/>
                      <p:nvPr/>
                    </p:nvPicPr>
                    <p:blipFill>
                      <a:blip r:embed="rId9"/>
                      <a:stretch>
                        <a:fillRect/>
                      </a:stretch>
                    </p:blipFill>
                    <p:spPr>
                      <a:xfrm>
                        <a:off x="4211975" y="5541874"/>
                        <a:ext cx="1132132" cy="516119"/>
                      </a:xfrm>
                      <a:prstGeom prst="rect">
                        <a:avLst/>
                      </a:prstGeom>
                    </p:spPr>
                  </p:pic>
                </p:oleObj>
              </mc:Fallback>
            </mc:AlternateContent>
          </a:graphicData>
        </a:graphic>
      </p:graphicFrame>
      <p:sp>
        <p:nvSpPr>
          <p:cNvPr id="9" name="标题 1">
            <a:extLst>
              <a:ext uri="{FF2B5EF4-FFF2-40B4-BE49-F238E27FC236}">
                <a16:creationId xmlns:a16="http://schemas.microsoft.com/office/drawing/2014/main" id="{FEF428B2-BC84-491D-98E6-09FA96152EB8}"/>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82">
                                            <p:txEl>
                                              <p:pRg st="0" end="0"/>
                                            </p:txEl>
                                          </p:spTgt>
                                        </p:tgtEl>
                                        <p:attrNameLst>
                                          <p:attrName>style.visibility</p:attrName>
                                        </p:attrNameLst>
                                      </p:cBhvr>
                                      <p:to>
                                        <p:strVal val="visible"/>
                                      </p:to>
                                    </p:set>
                                    <p:animEffect transition="in" filter="wipe(left)">
                                      <p:cBhvr>
                                        <p:cTn id="12" dur="500"/>
                                        <p:tgtEl>
                                          <p:spTgt spid="204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82">
                                            <p:txEl>
                                              <p:pRg st="1" end="1"/>
                                            </p:txEl>
                                          </p:spTgt>
                                        </p:tgtEl>
                                        <p:attrNameLst>
                                          <p:attrName>style.visibility</p:attrName>
                                        </p:attrNameLst>
                                      </p:cBhvr>
                                      <p:to>
                                        <p:strVal val="visible"/>
                                      </p:to>
                                    </p:set>
                                    <p:animEffect transition="in" filter="wipe(left)">
                                      <p:cBhvr>
                                        <p:cTn id="17" dur="500"/>
                                        <p:tgtEl>
                                          <p:spTgt spid="20482">
                                            <p:txEl>
                                              <p:pRg st="1" end="1"/>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0482">
                                            <p:txEl>
                                              <p:pRg st="2" end="2"/>
                                            </p:txEl>
                                          </p:spTgt>
                                        </p:tgtEl>
                                        <p:attrNameLst>
                                          <p:attrName>style.visibility</p:attrName>
                                        </p:attrNameLst>
                                      </p:cBhvr>
                                      <p:to>
                                        <p:strVal val="visible"/>
                                      </p:to>
                                    </p:set>
                                    <p:animEffect transition="in" filter="wipe(left)">
                                      <p:cBhvr>
                                        <p:cTn id="25" dur="500"/>
                                        <p:tgtEl>
                                          <p:spTgt spid="2048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0482">
                                            <p:txEl>
                                              <p:pRg st="3" end="3"/>
                                            </p:txEl>
                                          </p:spTgt>
                                        </p:tgtEl>
                                        <p:attrNameLst>
                                          <p:attrName>style.visibility</p:attrName>
                                        </p:attrNameLst>
                                      </p:cBhvr>
                                      <p:to>
                                        <p:strVal val="visible"/>
                                      </p:to>
                                    </p:set>
                                    <p:animEffect transition="in" filter="wipe(left)">
                                      <p:cBhvr>
                                        <p:cTn id="30" dur="500"/>
                                        <p:tgtEl>
                                          <p:spTgt spid="20482">
                                            <p:txEl>
                                              <p:pRg st="3" end="3"/>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wipe(left)">
                                      <p:cBhvr>
                                        <p:cTn id="39" dur="500"/>
                                        <p:tgtEl>
                                          <p:spTgt spid="6">
                                            <p:txEl>
                                              <p:pRg st="0" end="0"/>
                                            </p:txEl>
                                          </p:spTgt>
                                        </p:tgtEl>
                                      </p:cBhvr>
                                    </p:animEffect>
                                  </p:childTnLst>
                                </p:cTn>
                              </p:par>
                              <p:par>
                                <p:cTn id="40" presetID="22" presetClass="entr" presetSubtype="8" fill="hold" nodeType="with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Effect transition="in" filter="wipe(left)">
                                      <p:cBhvr>
                                        <p:cTn id="42" dur="500"/>
                                        <p:tgtEl>
                                          <p:spTgt spid="6">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animEffect transition="in" filter="wipe(left)">
                                      <p:cBhvr>
                                        <p:cTn id="47" dur="500"/>
                                        <p:tgtEl>
                                          <p:spTgt spid="6">
                                            <p:txEl>
                                              <p:pRg st="2" end="2"/>
                                            </p:txEl>
                                          </p:spTgt>
                                        </p:tgtEl>
                                      </p:cBhvr>
                                    </p:animEffect>
                                  </p:childTnLst>
                                </p:cTn>
                              </p:par>
                              <p:par>
                                <p:cTn id="48" presetID="22" presetClass="entr" presetSubtype="8" fill="hold" nodeType="withEffect">
                                  <p:stCondLst>
                                    <p:cond delay="0"/>
                                  </p:stCondLst>
                                  <p:childTnLst>
                                    <p:set>
                                      <p:cBhvr>
                                        <p:cTn id="49" dur="1" fill="hold">
                                          <p:stCondLst>
                                            <p:cond delay="0"/>
                                          </p:stCondLst>
                                        </p:cTn>
                                        <p:tgtEl>
                                          <p:spTgt spid="6">
                                            <p:txEl>
                                              <p:pRg st="3" end="3"/>
                                            </p:txEl>
                                          </p:spTgt>
                                        </p:tgtEl>
                                        <p:attrNameLst>
                                          <p:attrName>style.visibility</p:attrName>
                                        </p:attrNameLst>
                                      </p:cBhvr>
                                      <p:to>
                                        <p:strVal val="visible"/>
                                      </p:to>
                                    </p:set>
                                    <p:animEffect transition="in" filter="wipe(left)">
                                      <p:cBhvr>
                                        <p:cTn id="50" dur="500"/>
                                        <p:tgtEl>
                                          <p:spTgt spid="6">
                                            <p:txEl>
                                              <p:pRg st="3" end="3"/>
                                            </p:txEl>
                                          </p:spTgt>
                                        </p:tgtEl>
                                      </p:cBhvr>
                                    </p:animEffect>
                                  </p:childTnLst>
                                </p:cTn>
                              </p:par>
                              <p:par>
                                <p:cTn id="51" presetID="22" presetClass="entr" presetSubtype="8" fill="hold" nodeType="with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animEffect transition="in" filter="wipe(left)">
                                      <p:cBhvr>
                                        <p:cTn id="53" dur="500"/>
                                        <p:tgtEl>
                                          <p:spTgt spid="6">
                                            <p:txEl>
                                              <p:pRg st="4" end="4"/>
                                            </p:txEl>
                                          </p:spTgt>
                                        </p:tgtEl>
                                      </p:cBhvr>
                                    </p:animEffect>
                                  </p:childTnLst>
                                </p:cTn>
                              </p:par>
                              <p:par>
                                <p:cTn id="54" presetID="22" presetClass="entr" presetSubtype="8" fill="hold" nodeType="withEffect">
                                  <p:stCondLst>
                                    <p:cond delay="0"/>
                                  </p:stCondLst>
                                  <p:childTnLst>
                                    <p:set>
                                      <p:cBhvr>
                                        <p:cTn id="55" dur="1" fill="hold">
                                          <p:stCondLst>
                                            <p:cond delay="0"/>
                                          </p:stCondLst>
                                        </p:cTn>
                                        <p:tgtEl>
                                          <p:spTgt spid="6">
                                            <p:txEl>
                                              <p:pRg st="5" end="5"/>
                                            </p:txEl>
                                          </p:spTgt>
                                        </p:tgtEl>
                                        <p:attrNameLst>
                                          <p:attrName>style.visibility</p:attrName>
                                        </p:attrNameLst>
                                      </p:cBhvr>
                                      <p:to>
                                        <p:strVal val="visible"/>
                                      </p:to>
                                    </p:set>
                                    <p:animEffect transition="in" filter="wipe(left)">
                                      <p:cBhvr>
                                        <p:cTn id="56" dur="500"/>
                                        <p:tgtEl>
                                          <p:spTgt spid="6">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p:cTn id="61" dur="500" fill="hold"/>
                                        <p:tgtEl>
                                          <p:spTgt spid="7"/>
                                        </p:tgtEl>
                                        <p:attrNameLst>
                                          <p:attrName>ppt_w</p:attrName>
                                        </p:attrNameLst>
                                      </p:cBhvr>
                                      <p:tavLst>
                                        <p:tav tm="0">
                                          <p:val>
                                            <p:fltVal val="0"/>
                                          </p:val>
                                        </p:tav>
                                        <p:tav tm="100000">
                                          <p:val>
                                            <p:strVal val="#ppt_w"/>
                                          </p:val>
                                        </p:tav>
                                      </p:tavLst>
                                    </p:anim>
                                    <p:anim calcmode="lin" valueType="num">
                                      <p:cBhvr>
                                        <p:cTn id="62" dur="500" fill="hold"/>
                                        <p:tgtEl>
                                          <p:spTgt spid="7"/>
                                        </p:tgtEl>
                                        <p:attrNameLst>
                                          <p:attrName>ppt_h</p:attrName>
                                        </p:attrNameLst>
                                      </p:cBhvr>
                                      <p:tavLst>
                                        <p:tav tm="0">
                                          <p:val>
                                            <p:fltVal val="0"/>
                                          </p:val>
                                        </p:tav>
                                        <p:tav tm="100000">
                                          <p:val>
                                            <p:strVal val="#ppt_h"/>
                                          </p:val>
                                        </p:tav>
                                      </p:tavLst>
                                    </p:anim>
                                    <p:animEffect transition="in" filter="fade">
                                      <p:cBhvr>
                                        <p:cTn id="6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482" name="Rectangle 3"/>
              <p:cNvSpPr>
                <a:spLocks noChangeArrowheads="1"/>
              </p:cNvSpPr>
              <p:nvPr/>
            </p:nvSpPr>
            <p:spPr bwMode="auto">
              <a:xfrm>
                <a:off x="467544" y="1233407"/>
                <a:ext cx="8892300" cy="55391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要素供给原则的进一步解释</a:t>
                </a:r>
              </a:p>
              <a:p>
                <a:pPr marL="504000">
                  <a:lnSpc>
                    <a:spcPct val="200000"/>
                  </a:lnSpc>
                  <a:spcBef>
                    <a:spcPct val="40000"/>
                  </a:spcBef>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a:t>
                </a:r>
                <a14:m>
                  <m:oMath xmlns:m="http://schemas.openxmlformats.org/officeDocument/2006/math">
                    <m:sSub>
                      <m:sSubPr>
                        <m:ctrlPr>
                          <a:rPr lang="en-US" altLang="zh-CN" sz="1800" b="0" i="1">
                            <a:solidFill>
                              <a:srgbClr val="000000"/>
                            </a:solidFill>
                            <a:latin typeface="Cambria Math" panose="02040503050406030204" pitchFamily="18" charset="0"/>
                          </a:rPr>
                        </m:ctrlPr>
                      </m:sSubPr>
                      <m:e>
                        <m:r>
                          <a:rPr lang="en-US" altLang="zh-CN" sz="1800" b="0">
                            <a:solidFill>
                              <a:srgbClr val="000000"/>
                            </a:solidFill>
                            <a:latin typeface="Cambria Math" panose="02040503050406030204" pitchFamily="18" charset="0"/>
                          </a:rPr>
                          <m:t>𝑀𝑅𝑆</m:t>
                        </m:r>
                      </m:e>
                      <m:sub>
                        <m:r>
                          <a:rPr lang="en-US" altLang="zh-CN" sz="1800" b="0">
                            <a:solidFill>
                              <a:srgbClr val="000000"/>
                            </a:solidFill>
                            <a:latin typeface="Cambria Math" panose="02040503050406030204" pitchFamily="18" charset="0"/>
                          </a:rPr>
                          <m:t>𝐻𝐶</m:t>
                        </m:r>
                      </m:sub>
                    </m:sSub>
                  </m:oMath>
                </a14:m>
                <a:r>
                  <a:rPr lang="en-US" altLang="zh-CN" sz="1800" b="0" dirty="0">
                    <a:solidFill>
                      <a:srgbClr val="000000"/>
                    </a:solidFill>
                    <a:latin typeface="微软雅黑" panose="020B0503020204020204" pitchFamily="34" charset="-122"/>
                    <a:ea typeface="微软雅黑" panose="020B0503020204020204" pitchFamily="34" charset="-122"/>
                  </a:rPr>
                  <a:t>=W</a:t>
                </a:r>
                <a:r>
                  <a:rPr lang="zh-CN" altLang="en-US" sz="1800" b="0" dirty="0">
                    <a:solidFill>
                      <a:srgbClr val="000000"/>
                    </a:solidFill>
                    <a:latin typeface="微软雅黑" panose="020B0503020204020204" pitchFamily="34" charset="-122"/>
                    <a:ea typeface="微软雅黑" panose="020B0503020204020204" pitchFamily="34" charset="-122"/>
                  </a:rPr>
                  <a:t>条件中，理解起来不那么直观</a:t>
                </a:r>
                <a:endPar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504000">
                  <a:lnSpc>
                    <a:spcPct val="200000"/>
                  </a:lnSpc>
                  <a:spcBef>
                    <a:spcPct val="40000"/>
                  </a:spcBef>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如果</a:t>
                </a:r>
                <a14:m>
                  <m:oMath xmlns:m="http://schemas.openxmlformats.org/officeDocument/2006/math">
                    <m:r>
                      <a:rPr lang="zh-CN" altLang="en-US" sz="1800" b="0">
                        <a:solidFill>
                          <a:srgbClr val="000000"/>
                        </a:solidFill>
                        <a:latin typeface="Cambria Math" panose="02040503050406030204" pitchFamily="18" charset="0"/>
                        <a:sym typeface="Arial" panose="020B0604020202020204" pitchFamily="34" charset="0"/>
                      </a:rPr>
                      <m:t>用</m:t>
                    </m:r>
                    <m:sSub>
                      <m:sSubPr>
                        <m:ctrlPr>
                          <a:rPr lang="en-US" altLang="zh-CN" sz="1800" b="0" i="1">
                            <a:solidFill>
                              <a:srgbClr val="000000"/>
                            </a:solidFill>
                            <a:latin typeface="Cambria Math" panose="02040503050406030204" pitchFamily="18" charset="0"/>
                          </a:rPr>
                        </m:ctrlPr>
                      </m:sSubPr>
                      <m:e>
                        <m:r>
                          <a:rPr lang="en-US" altLang="zh-CN" sz="1800" b="0">
                            <a:solidFill>
                              <a:srgbClr val="000000"/>
                            </a:solidFill>
                            <a:latin typeface="Cambria Math" panose="02040503050406030204" pitchFamily="18" charset="0"/>
                          </a:rPr>
                          <m:t>𝑀𝑅𝑆</m:t>
                        </m:r>
                      </m:e>
                      <m:sub>
                        <m:r>
                          <a:rPr lang="en-US" altLang="zh-CN" sz="1800" b="0">
                            <a:solidFill>
                              <a:srgbClr val="000000"/>
                            </a:solidFill>
                            <a:latin typeface="Cambria Math" panose="02040503050406030204" pitchFamily="18" charset="0"/>
                          </a:rPr>
                          <m:t>𝐻𝐶</m:t>
                        </m:r>
                      </m:sub>
                    </m:sSub>
                  </m:oMath>
                </a14:m>
                <a:r>
                  <a:rPr lang="en-US" altLang="zh-CN" sz="1800" b="0" dirty="0">
                    <a:solidFill>
                      <a:srgbClr val="000000"/>
                    </a:solidFill>
                    <a:latin typeface="微软雅黑" panose="020B0503020204020204" pitchFamily="34" charset="-122"/>
                    <a:ea typeface="微软雅黑" panose="020B0503020204020204" pitchFamily="34" charset="-122"/>
                  </a:rPr>
                  <a:t>=W</a:t>
                </a:r>
                <a:r>
                  <a:rPr lang="zh-CN" altLang="en-US" sz="1800" b="0" dirty="0">
                    <a:solidFill>
                      <a:srgbClr val="000000"/>
                    </a:solidFill>
                    <a:latin typeface="微软雅黑" panose="020B0503020204020204" pitchFamily="34" charset="-122"/>
                    <a:ea typeface="微软雅黑" panose="020B0503020204020204" pitchFamily="34" charset="-122"/>
                  </a:rPr>
                  <a:t>的等价形式，</a:t>
                </a:r>
                <a14:m>
                  <m:oMath xmlns:m="http://schemas.openxmlformats.org/officeDocument/2006/math">
                    <m:f>
                      <m:fPr>
                        <m:ctrlPr>
                          <a:rPr lang="en-US" altLang="zh-CN" sz="1800" b="0" i="1">
                            <a:latin typeface="Cambria Math" panose="02040503050406030204" pitchFamily="18" charset="0"/>
                          </a:rPr>
                        </m:ctrlPr>
                      </m:fPr>
                      <m:num>
                        <m:r>
                          <a:rPr lang="zh-CN" altLang="en-US" sz="1800" b="0" i="1">
                            <a:latin typeface="Cambria Math" panose="02040503050406030204" pitchFamily="18" charset="0"/>
                          </a:rPr>
                          <m:t>𝜕</m:t>
                        </m:r>
                        <m:r>
                          <a:rPr lang="en-US" altLang="zh-CN" sz="1800" b="0" i="1">
                            <a:latin typeface="Cambria Math" panose="02040503050406030204" pitchFamily="18" charset="0"/>
                          </a:rPr>
                          <m:t>𝑈</m:t>
                        </m:r>
                      </m:num>
                      <m:den>
                        <m:r>
                          <a:rPr lang="zh-CN" altLang="en-US" sz="1800" b="0" i="1">
                            <a:latin typeface="Cambria Math" panose="02040503050406030204" pitchFamily="18" charset="0"/>
                          </a:rPr>
                          <m:t>𝜕</m:t>
                        </m:r>
                        <m:r>
                          <a:rPr lang="en-US" altLang="zh-CN" sz="1800" b="0" i="1">
                            <a:latin typeface="Cambria Math" panose="02040503050406030204" pitchFamily="18" charset="0"/>
                          </a:rPr>
                          <m:t>𝐶</m:t>
                        </m:r>
                      </m:den>
                    </m:f>
                    <m:r>
                      <m:rPr>
                        <m:nor/>
                      </m:rPr>
                      <a:rPr lang="en-US" altLang="zh-CN" sz="1800" b="0" dirty="0">
                        <a:latin typeface="微软雅黑" panose="020B0503020204020204" pitchFamily="34" charset="-122"/>
                        <a:ea typeface="微软雅黑" panose="020B0503020204020204" pitchFamily="34" charset="-122"/>
                      </a:rPr>
                      <m:t>. </m:t>
                    </m:r>
                    <m:r>
                      <a:rPr lang="en-US" altLang="zh-CN" sz="1800" b="0" i="1">
                        <a:latin typeface="Cambria Math" panose="02040503050406030204" pitchFamily="18" charset="0"/>
                      </a:rPr>
                      <m:t>𝑊</m:t>
                    </m:r>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r>
                          <a:rPr lang="zh-CN" altLang="en-US" sz="1800" b="0" i="1">
                            <a:latin typeface="Cambria Math" panose="02040503050406030204" pitchFamily="18" charset="0"/>
                          </a:rPr>
                          <m:t>𝜕</m:t>
                        </m:r>
                        <m:r>
                          <a:rPr lang="en-US" altLang="zh-CN" sz="1800" b="0" i="1">
                            <a:latin typeface="Cambria Math" panose="02040503050406030204" pitchFamily="18" charset="0"/>
                          </a:rPr>
                          <m:t>𝑈</m:t>
                        </m:r>
                      </m:num>
                      <m:den>
                        <m:r>
                          <a:rPr lang="zh-CN" altLang="en-US" sz="1800" b="0" i="1">
                            <a:latin typeface="Cambria Math" panose="02040503050406030204" pitchFamily="18" charset="0"/>
                          </a:rPr>
                          <m:t>𝜕</m:t>
                        </m:r>
                        <m:r>
                          <a:rPr lang="en-US" altLang="zh-CN" sz="1800" b="0" i="1">
                            <a:latin typeface="Cambria Math" panose="02040503050406030204" pitchFamily="18" charset="0"/>
                          </a:rPr>
                          <m:t>𝐻</m:t>
                        </m:r>
                      </m:den>
                    </m:f>
                  </m:oMath>
                </a14:m>
                <a:r>
                  <a:rPr lang="zh-CN" altLang="en-US" sz="1800" b="0" dirty="0">
                    <a:solidFill>
                      <a:srgbClr val="000000"/>
                    </a:solidFill>
                    <a:latin typeface="微软雅黑" panose="020B0503020204020204" pitchFamily="34" charset="-122"/>
                    <a:ea typeface="微软雅黑" panose="020B0503020204020204" pitchFamily="34" charset="-122"/>
                  </a:rPr>
                  <a:t>，理解起来更直观</a:t>
                </a:r>
                <a:endParaRPr lang="en-US" altLang="zh-CN" sz="1800" b="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0482" name="Rectangle 3"/>
              <p:cNvSpPr>
                <a:spLocks noRot="1" noChangeAspect="1" noMove="1" noResize="1" noEditPoints="1" noAdjustHandles="1" noChangeArrowheads="1" noChangeShapeType="1" noTextEdit="1"/>
              </p:cNvSpPr>
              <p:nvPr/>
            </p:nvSpPr>
            <p:spPr bwMode="auto">
              <a:xfrm>
                <a:off x="467544" y="1233407"/>
                <a:ext cx="8892300" cy="5539155"/>
              </a:xfrm>
              <a:prstGeom prst="rect">
                <a:avLst/>
              </a:prstGeom>
              <a:blipFill>
                <a:blip r:embed="rId2"/>
                <a:stretch>
                  <a:fillRect l="-6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二、要素供给原则</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6" name="Rectangle 3">
            <a:extLst>
              <a:ext uri="{FF2B5EF4-FFF2-40B4-BE49-F238E27FC236}">
                <a16:creationId xmlns:a16="http://schemas.microsoft.com/office/drawing/2014/main" id="{FD4A8872-E171-41CA-9E79-6384645DE4BA}"/>
              </a:ext>
            </a:extLst>
          </p:cNvPr>
          <p:cNvSpPr>
            <a:spLocks noChangeArrowheads="1"/>
          </p:cNvSpPr>
          <p:nvPr/>
        </p:nvSpPr>
        <p:spPr bwMode="auto">
          <a:xfrm>
            <a:off x="489654" y="3645015"/>
            <a:ext cx="8892300" cy="553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504000">
              <a:lnSpc>
                <a:spcPct val="150000"/>
              </a:lnSpc>
              <a:spcBef>
                <a:spcPct val="40000"/>
              </a:spcBef>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从增加一单位</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自用时的成本与收益来看：</a:t>
            </a:r>
          </a:p>
          <a:p>
            <a:pPr marL="846900" lvl="1">
              <a:lnSpc>
                <a:spcPct val="200000"/>
              </a:lnSpc>
              <a:spcBef>
                <a:spcPct val="40000"/>
              </a:spcBef>
              <a:buFont typeface="Arial" panose="020B0604020202020204" pitchFamily="34" charset="0"/>
              <a:buChar char="•"/>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𝜕𝑈</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𝜕𝐻表示增加要素自用时带来的效用增量</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——“MR”</a:t>
            </a:r>
          </a:p>
          <a:p>
            <a:pPr marL="846900" lvl="1">
              <a:lnSpc>
                <a:spcPct val="200000"/>
              </a:lnSpc>
              <a:spcBef>
                <a:spcPct val="40000"/>
              </a:spcBef>
              <a:buFont typeface="Arial" panose="020B0604020202020204" pitchFamily="34" charset="0"/>
              <a:buChar char="•"/>
            </a:pP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𝜕𝑈</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𝜕𝐶 </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 </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𝑊</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𝜕𝑈</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𝜕𝐶∙𝜕𝐶</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𝜕𝐻 表示，增加</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HC</a:t>
            </a:r>
            <a:r>
              <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减少减少效用</a:t>
            </a:r>
            <a:r>
              <a:rPr lang="en-US" altLang="zh-CN"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——“MC”</a:t>
            </a:r>
          </a:p>
        </p:txBody>
      </p:sp>
      <p:sp>
        <p:nvSpPr>
          <p:cNvPr id="7" name="标题 1">
            <a:extLst>
              <a:ext uri="{FF2B5EF4-FFF2-40B4-BE49-F238E27FC236}">
                <a16:creationId xmlns:a16="http://schemas.microsoft.com/office/drawing/2014/main" id="{320FCBD4-2FAA-4FC8-8505-B3BE5540DF1B}"/>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377879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wipe(left)">
                                      <p:cBhvr>
                                        <p:cTn id="7" dur="5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wipe(left)">
                                      <p:cBhvr>
                                        <p:cTn id="12" dur="500"/>
                                        <p:tgtEl>
                                          <p:spTgt spid="204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82">
                                            <p:txEl>
                                              <p:pRg st="2" end="2"/>
                                            </p:txEl>
                                          </p:spTgt>
                                        </p:tgtEl>
                                        <p:attrNameLst>
                                          <p:attrName>style.visibility</p:attrName>
                                        </p:attrNameLst>
                                      </p:cBhvr>
                                      <p:to>
                                        <p:strVal val="visible"/>
                                      </p:to>
                                    </p:set>
                                    <p:animEffect transition="in" filter="wipe(left)">
                                      <p:cBhvr>
                                        <p:cTn id="17" dur="500"/>
                                        <p:tgtEl>
                                          <p:spTgt spid="204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wipe(left)">
                                      <p:cBhvr>
                                        <p:cTn id="27" dur="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wipe(left)">
                                      <p:cBhvr>
                                        <p:cTn id="3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59202" y="2128370"/>
            <a:ext cx="4857750" cy="3929063"/>
            <a:chOff x="2059202" y="2128370"/>
            <a:chExt cx="4857750" cy="3929063"/>
          </a:xfrm>
        </p:grpSpPr>
        <p:pic>
          <p:nvPicPr>
            <p:cNvPr id="2150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5077" y="2342683"/>
              <a:ext cx="10795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Line 4"/>
            <p:cNvSpPr>
              <a:spLocks noChangeShapeType="1"/>
            </p:cNvSpPr>
            <p:nvPr/>
          </p:nvSpPr>
          <p:spPr bwMode="auto">
            <a:xfrm flipV="1">
              <a:off x="2513227" y="2202983"/>
              <a:ext cx="3175" cy="342582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1509" name="Line 5"/>
            <p:cNvSpPr>
              <a:spLocks noChangeShapeType="1"/>
            </p:cNvSpPr>
            <p:nvPr/>
          </p:nvSpPr>
          <p:spPr bwMode="auto">
            <a:xfrm>
              <a:off x="2513227" y="5630395"/>
              <a:ext cx="4375150" cy="1588"/>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1510" name="Text Box 6"/>
            <p:cNvSpPr>
              <a:spLocks noChangeArrowheads="1"/>
            </p:cNvSpPr>
            <p:nvPr/>
          </p:nvSpPr>
          <p:spPr bwMode="auto">
            <a:xfrm>
              <a:off x="2149690" y="2128370"/>
              <a:ext cx="7286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C</a:t>
              </a:r>
              <a:endParaRPr lang="zh-CN" altLang="en-US" dirty="0"/>
            </a:p>
          </p:txBody>
        </p:sp>
        <p:sp>
          <p:nvSpPr>
            <p:cNvPr id="21511" name="Text Box 7"/>
            <p:cNvSpPr>
              <a:spLocks noChangeArrowheads="1"/>
            </p:cNvSpPr>
            <p:nvPr/>
          </p:nvSpPr>
          <p:spPr bwMode="auto">
            <a:xfrm>
              <a:off x="2149690" y="5477995"/>
              <a:ext cx="3952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O</a:t>
              </a:r>
              <a:endParaRPr lang="zh-CN" altLang="en-US" dirty="0">
                <a:latin typeface="Cambria Math" panose="02040503050406030204" pitchFamily="18" charset="0"/>
              </a:endParaRPr>
            </a:p>
          </p:txBody>
        </p:sp>
        <p:sp>
          <p:nvSpPr>
            <p:cNvPr id="21512" name="Text Box 8"/>
            <p:cNvSpPr>
              <a:spLocks noChangeArrowheads="1"/>
            </p:cNvSpPr>
            <p:nvPr/>
          </p:nvSpPr>
          <p:spPr bwMode="auto">
            <a:xfrm>
              <a:off x="6523252" y="5630395"/>
              <a:ext cx="393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H</a:t>
              </a:r>
              <a:endParaRPr lang="zh-CN" altLang="en-US" dirty="0">
                <a:latin typeface="Cambria Math" panose="02040503050406030204" pitchFamily="18" charset="0"/>
              </a:endParaRPr>
            </a:p>
          </p:txBody>
        </p:sp>
        <p:sp>
          <p:nvSpPr>
            <p:cNvPr id="21513" name="Line 9"/>
            <p:cNvSpPr>
              <a:spLocks noChangeShapeType="1"/>
            </p:cNvSpPr>
            <p:nvPr/>
          </p:nvSpPr>
          <p:spPr bwMode="auto">
            <a:xfrm>
              <a:off x="2513227" y="2812583"/>
              <a:ext cx="3644900" cy="2817812"/>
            </a:xfrm>
            <a:prstGeom prst="line">
              <a:avLst/>
            </a:prstGeom>
            <a:noFill/>
            <a:ln w="19050"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1514" name="Text Box 10"/>
            <p:cNvSpPr>
              <a:spLocks noChangeArrowheads="1"/>
            </p:cNvSpPr>
            <p:nvPr/>
          </p:nvSpPr>
          <p:spPr bwMode="auto">
            <a:xfrm>
              <a:off x="2059202" y="4106395"/>
              <a:ext cx="636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C*</a:t>
              </a:r>
              <a:endParaRPr lang="zh-CN" altLang="en-US" sz="1000" dirty="0">
                <a:solidFill>
                  <a:srgbClr val="000000"/>
                </a:solidFill>
                <a:latin typeface="Cambria Math" panose="02040503050406030204" pitchFamily="18" charset="0"/>
                <a:sym typeface="Arial" panose="020B0604020202020204" pitchFamily="34" charset="0"/>
              </a:endParaRPr>
            </a:p>
          </p:txBody>
        </p:sp>
        <p:sp>
          <p:nvSpPr>
            <p:cNvPr id="21515" name="Line 11"/>
            <p:cNvSpPr>
              <a:spLocks noChangeShapeType="1"/>
            </p:cNvSpPr>
            <p:nvPr/>
          </p:nvSpPr>
          <p:spPr bwMode="auto">
            <a:xfrm>
              <a:off x="2513227" y="4260383"/>
              <a:ext cx="1914525"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1516" name="Line 12"/>
            <p:cNvSpPr>
              <a:spLocks noChangeShapeType="1"/>
            </p:cNvSpPr>
            <p:nvPr/>
          </p:nvSpPr>
          <p:spPr bwMode="auto">
            <a:xfrm>
              <a:off x="4427752" y="4260383"/>
              <a:ext cx="1588" cy="137160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1517" name="Text Box 13"/>
            <p:cNvSpPr>
              <a:spLocks noChangeArrowheads="1"/>
            </p:cNvSpPr>
            <p:nvPr/>
          </p:nvSpPr>
          <p:spPr bwMode="auto">
            <a:xfrm>
              <a:off x="6434352" y="3269783"/>
              <a:ext cx="3905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1518" name="Text Box 14"/>
            <p:cNvSpPr>
              <a:spLocks noChangeArrowheads="1"/>
            </p:cNvSpPr>
            <p:nvPr/>
          </p:nvSpPr>
          <p:spPr bwMode="auto">
            <a:xfrm>
              <a:off x="2343365" y="3538070"/>
              <a:ext cx="3937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1519" name="Text Box 15"/>
            <p:cNvSpPr>
              <a:spLocks noChangeArrowheads="1"/>
            </p:cNvSpPr>
            <p:nvPr/>
          </p:nvSpPr>
          <p:spPr bwMode="auto">
            <a:xfrm>
              <a:off x="4337265" y="3955583"/>
              <a:ext cx="7191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G*</a:t>
              </a:r>
              <a:endParaRPr lang="zh-CN" altLang="en-US" sz="1000" dirty="0">
                <a:solidFill>
                  <a:srgbClr val="000000"/>
                </a:solidFill>
                <a:latin typeface="Cambria Math" panose="02040503050406030204" pitchFamily="18" charset="0"/>
                <a:sym typeface="Arial" panose="020B0604020202020204" pitchFamily="34" charset="0"/>
              </a:endParaRPr>
            </a:p>
          </p:txBody>
        </p:sp>
        <p:sp>
          <p:nvSpPr>
            <p:cNvPr id="21520" name="未知"/>
            <p:cNvSpPr>
              <a:spLocks noChangeArrowheads="1"/>
            </p:cNvSpPr>
            <p:nvPr/>
          </p:nvSpPr>
          <p:spPr bwMode="auto">
            <a:xfrm>
              <a:off x="4154702" y="3498383"/>
              <a:ext cx="1108075" cy="1031875"/>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922" y="2712"/>
                    <a:pt x="1986" y="12676"/>
                    <a:pt x="5583" y="16273"/>
                  </a:cubicBezTo>
                  <a:cubicBezTo>
                    <a:pt x="9181" y="19871"/>
                    <a:pt x="18925" y="20714"/>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1521" name="未知"/>
            <p:cNvSpPr>
              <a:spLocks noChangeArrowheads="1"/>
            </p:cNvSpPr>
            <p:nvPr/>
          </p:nvSpPr>
          <p:spPr bwMode="auto">
            <a:xfrm rot="21360000">
              <a:off x="3881652" y="3879383"/>
              <a:ext cx="1109663" cy="1031875"/>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922" y="2712"/>
                    <a:pt x="1986" y="12676"/>
                    <a:pt x="5583" y="16273"/>
                  </a:cubicBezTo>
                  <a:cubicBezTo>
                    <a:pt x="9181" y="19871"/>
                    <a:pt x="18925" y="20714"/>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1522" name="未知"/>
            <p:cNvSpPr>
              <a:spLocks noChangeArrowheads="1"/>
            </p:cNvSpPr>
            <p:nvPr/>
          </p:nvSpPr>
          <p:spPr bwMode="auto">
            <a:xfrm>
              <a:off x="4518240" y="3193583"/>
              <a:ext cx="1111250" cy="1031875"/>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922" y="2712"/>
                    <a:pt x="1986" y="12676"/>
                    <a:pt x="5583" y="16273"/>
                  </a:cubicBezTo>
                  <a:cubicBezTo>
                    <a:pt x="9181" y="19871"/>
                    <a:pt x="18925" y="20714"/>
                    <a:pt x="21600" y="21600"/>
                  </a:cubicBezTo>
                </a:path>
              </a:pathLst>
            </a:custGeom>
            <a:noFill/>
            <a:ln w="28575" cmpd="sng">
              <a:solidFill>
                <a:srgbClr val="2D2D8A"/>
              </a:solidFill>
              <a:miter lim="800000"/>
              <a:headEnd/>
              <a:tailEnd/>
            </a:ln>
          </p:spPr>
          <p:txBody>
            <a:bodyPr/>
            <a:lstStyle/>
            <a:p>
              <a:endParaRPr lang="zh-CN" altLang="zh-CN">
                <a:solidFill>
                  <a:srgbClr val="000000"/>
                </a:solidFill>
                <a:sym typeface="Arial" panose="020B0604020202020204" pitchFamily="34" charset="0"/>
              </a:endParaRPr>
            </a:p>
          </p:txBody>
        </p:sp>
        <p:sp>
          <p:nvSpPr>
            <p:cNvPr id="21523" name="Text Box 19"/>
            <p:cNvSpPr>
              <a:spLocks noChangeArrowheads="1"/>
            </p:cNvSpPr>
            <p:nvPr/>
          </p:nvSpPr>
          <p:spPr bwMode="auto">
            <a:xfrm>
              <a:off x="5065927" y="4641383"/>
              <a:ext cx="514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U</a:t>
              </a:r>
              <a:r>
                <a:rPr lang="zh-CN" altLang="en-US" sz="1000" dirty="0">
                  <a:solidFill>
                    <a:srgbClr val="000000"/>
                  </a:solidFill>
                  <a:latin typeface="Cambria Math" panose="02040503050406030204" pitchFamily="18" charset="0"/>
                  <a:sym typeface="Arial" panose="020B0604020202020204" pitchFamily="34" charset="0"/>
                </a:rPr>
                <a:t>0</a:t>
              </a:r>
              <a:endParaRPr lang="zh-CN" altLang="en-US" dirty="0">
                <a:latin typeface="Cambria Math" panose="02040503050406030204" pitchFamily="18" charset="0"/>
              </a:endParaRPr>
            </a:p>
          </p:txBody>
        </p:sp>
        <p:sp>
          <p:nvSpPr>
            <p:cNvPr id="21524" name="Text Box 20"/>
            <p:cNvSpPr>
              <a:spLocks noChangeArrowheads="1"/>
            </p:cNvSpPr>
            <p:nvPr/>
          </p:nvSpPr>
          <p:spPr bwMode="auto">
            <a:xfrm>
              <a:off x="5246902" y="4411195"/>
              <a:ext cx="5603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U</a:t>
              </a:r>
              <a:r>
                <a:rPr lang="zh-CN" altLang="en-US" sz="1000" dirty="0">
                  <a:solidFill>
                    <a:srgbClr val="000000"/>
                  </a:solidFill>
                  <a:latin typeface="Cambria Math" panose="02040503050406030204" pitchFamily="18" charset="0"/>
                  <a:sym typeface="Arial" panose="020B0604020202020204" pitchFamily="34" charset="0"/>
                </a:rPr>
                <a:t>1</a:t>
              </a:r>
              <a:endParaRPr lang="zh-CN" altLang="en-US" dirty="0">
                <a:latin typeface="Cambria Math" panose="02040503050406030204" pitchFamily="18" charset="0"/>
              </a:endParaRPr>
            </a:p>
          </p:txBody>
        </p:sp>
        <p:sp>
          <p:nvSpPr>
            <p:cNvPr id="21525" name="Text Box 21"/>
            <p:cNvSpPr>
              <a:spLocks noChangeArrowheads="1"/>
            </p:cNvSpPr>
            <p:nvPr/>
          </p:nvSpPr>
          <p:spPr bwMode="auto">
            <a:xfrm>
              <a:off x="5613615" y="4106395"/>
              <a:ext cx="728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U</a:t>
              </a:r>
              <a:r>
                <a:rPr lang="zh-CN" altLang="en-US" sz="1000" dirty="0">
                  <a:solidFill>
                    <a:srgbClr val="000000"/>
                  </a:solidFill>
                  <a:latin typeface="Cambria Math" panose="02040503050406030204" pitchFamily="18" charset="0"/>
                  <a:sym typeface="Arial" panose="020B0604020202020204" pitchFamily="34" charset="0"/>
                </a:rPr>
                <a:t>2</a:t>
              </a:r>
              <a:endParaRPr lang="zh-CN" altLang="en-US" dirty="0">
                <a:latin typeface="Cambria Math" panose="02040503050406030204" pitchFamily="18" charset="0"/>
              </a:endParaRPr>
            </a:p>
          </p:txBody>
        </p:sp>
        <p:sp>
          <p:nvSpPr>
            <p:cNvPr id="21526" name="Text Box 22"/>
            <p:cNvSpPr>
              <a:spLocks noChangeArrowheads="1"/>
            </p:cNvSpPr>
            <p:nvPr/>
          </p:nvSpPr>
          <p:spPr bwMode="auto">
            <a:xfrm>
              <a:off x="4245190" y="5630395"/>
              <a:ext cx="6873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H*</a:t>
              </a:r>
              <a:endParaRPr lang="zh-CN" altLang="en-US" dirty="0">
                <a:latin typeface="Cambria Math" panose="02040503050406030204" pitchFamily="18" charset="0"/>
              </a:endParaRPr>
            </a:p>
          </p:txBody>
        </p:sp>
        <p:pic>
          <p:nvPicPr>
            <p:cNvPr id="21527" name="Object 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6827" y="5771683"/>
              <a:ext cx="2143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8" name="Object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6190" y="2607795"/>
              <a:ext cx="354012"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9" name="圆角矩形标注 29"/>
          <p:cNvSpPr>
            <a:spLocks noChangeArrowheads="1"/>
          </p:cNvSpPr>
          <p:nvPr/>
        </p:nvSpPr>
        <p:spPr bwMode="auto">
          <a:xfrm>
            <a:off x="5039154" y="2550685"/>
            <a:ext cx="2543443" cy="1055608"/>
          </a:xfrm>
          <a:prstGeom prst="wedgeRoundRectCallout">
            <a:avLst>
              <a:gd name="adj1" fmla="val -37984"/>
              <a:gd name="adj2" fmla="val 94286"/>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无差异曲线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（向右下方倾斜，凸向原点）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较高的无差异曲线代表较高的效用</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即</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U2&gt;U1&gt;U0</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1530" name="圆角矩形标注 30"/>
          <p:cNvSpPr>
            <a:spLocks noChangeArrowheads="1"/>
          </p:cNvSpPr>
          <p:nvPr/>
        </p:nvSpPr>
        <p:spPr bwMode="auto">
          <a:xfrm>
            <a:off x="5977946" y="3915895"/>
            <a:ext cx="2404540" cy="1293971"/>
          </a:xfrm>
          <a:prstGeom prst="wedgeRoundRectCallout">
            <a:avLst>
              <a:gd name="adj1" fmla="val -73580"/>
              <a:gd name="adj2" fmla="val 35781"/>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资源总量为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全部供给获得收入为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WL (W</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为要素价格</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是最大可能的消费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连接点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和点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的直线是该消费者的预算线。</a:t>
            </a:r>
            <a:endParaRPr lang="zh-CN" altLang="en-US" sz="1400" dirty="0">
              <a:latin typeface="微软雅黑" panose="020B0503020204020204" pitchFamily="34" charset="-122"/>
              <a:ea typeface="微软雅黑" panose="020B0503020204020204" pitchFamily="34" charset="-122"/>
            </a:endParaRPr>
          </a:p>
        </p:txBody>
      </p:sp>
      <p:sp>
        <p:nvSpPr>
          <p:cNvPr id="21531" name="圆角矩形标注 32"/>
          <p:cNvSpPr>
            <a:spLocks noChangeArrowheads="1"/>
          </p:cNvSpPr>
          <p:nvPr/>
        </p:nvSpPr>
        <p:spPr bwMode="auto">
          <a:xfrm>
            <a:off x="397090" y="2271245"/>
            <a:ext cx="1523999" cy="2168843"/>
          </a:xfrm>
          <a:prstGeom prst="wedgeRoundRectCallout">
            <a:avLst>
              <a:gd name="adj1" fmla="val 84986"/>
              <a:gd name="adj2" fmla="val 22454"/>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最优组合是预算线与无差异曲线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U1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的切点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G*</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，保留</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H*</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的资源自用</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L-H*</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作为要素供给以获得收入</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使消费恰好达到最优的</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C*</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1532" name="圆角矩形标注 33"/>
          <p:cNvSpPr>
            <a:spLocks noChangeArrowheads="1"/>
          </p:cNvSpPr>
          <p:nvPr/>
        </p:nvSpPr>
        <p:spPr bwMode="auto">
          <a:xfrm>
            <a:off x="2843428" y="1908870"/>
            <a:ext cx="2071687" cy="340519"/>
          </a:xfrm>
          <a:prstGeom prst="wedgeRoundRectCallout">
            <a:avLst>
              <a:gd name="adj1" fmla="val -27144"/>
              <a:gd name="adj2" fmla="val 93903"/>
              <a:gd name="adj3" fmla="val 16667"/>
            </a:avLst>
          </a:prstGeom>
          <a:noFill/>
          <a:ln>
            <a:noFill/>
          </a:ln>
        </p:spPr>
        <p:txBody>
          <a:bodyPr>
            <a:spAutoFit/>
          </a:bodyPr>
          <a:lstStyle/>
          <a:p>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最优点</a:t>
            </a:r>
            <a:r>
              <a:rPr lang="en-US" altLang="zh-CN"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G*</a:t>
            </a:r>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的必要条件</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F68E5273-CD77-47B9-B841-9D29349C133D}"/>
              </a:ext>
            </a:extLst>
          </p:cNvPr>
          <p:cNvSpPr/>
          <p:nvPr/>
        </p:nvSpPr>
        <p:spPr>
          <a:xfrm>
            <a:off x="467544" y="548680"/>
            <a:ext cx="4185761"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三、预算线和无差异曲线分析</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32" name="标题 1">
            <a:extLst>
              <a:ext uri="{FF2B5EF4-FFF2-40B4-BE49-F238E27FC236}">
                <a16:creationId xmlns:a16="http://schemas.microsoft.com/office/drawing/2014/main" id="{4336A1BB-C02D-4F00-B2F3-D24A7DEC5FDB}"/>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21529"/>
                                        </p:tgtEl>
                                        <p:attrNameLst>
                                          <p:attrName>style.visibility</p:attrName>
                                        </p:attrNameLst>
                                      </p:cBhvr>
                                      <p:to>
                                        <p:strVal val="visible"/>
                                      </p:to>
                                    </p:set>
                                    <p:animEffect>
                                      <p:cBhvr>
                                        <p:cTn id="15" dur="500"/>
                                        <p:tgtEl>
                                          <p:spTgt spid="215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530"/>
                                        </p:tgtEl>
                                        <p:attrNameLst>
                                          <p:attrName>style.visibility</p:attrName>
                                        </p:attrNameLst>
                                      </p:cBhvr>
                                      <p:to>
                                        <p:strVal val="visible"/>
                                      </p:to>
                                    </p:set>
                                    <p:animEffect transition="in" filter="fade">
                                      <p:cBhvr>
                                        <p:cTn id="20" dur="500"/>
                                        <p:tgtEl>
                                          <p:spTgt spid="215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532"/>
                                        </p:tgtEl>
                                        <p:attrNameLst>
                                          <p:attrName>style.visibility</p:attrName>
                                        </p:attrNameLst>
                                      </p:cBhvr>
                                      <p:to>
                                        <p:strVal val="visible"/>
                                      </p:to>
                                    </p:set>
                                    <p:animEffect transition="in" filter="fade">
                                      <p:cBhvr>
                                        <p:cTn id="25" dur="500"/>
                                        <p:tgtEl>
                                          <p:spTgt spid="2153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1531"/>
                                        </p:tgtEl>
                                        <p:attrNameLst>
                                          <p:attrName>style.visibility</p:attrName>
                                        </p:attrNameLst>
                                      </p:cBhvr>
                                      <p:to>
                                        <p:strVal val="visible"/>
                                      </p:to>
                                    </p:set>
                                    <p:animEffect>
                                      <p:cBhvr>
                                        <p:cTn id="30" dur="500"/>
                                        <p:tgtEl>
                                          <p:spTgt spid="21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0" grpId="0" animBg="1"/>
      <p:bldP spid="21532" grpId="0"/>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4294967295"/>
          </p:nvPr>
        </p:nvSpPr>
        <p:spPr>
          <a:xfrm>
            <a:off x="973022" y="4797095"/>
            <a:ext cx="8229600" cy="720974"/>
          </a:xfrm>
          <a:ln/>
        </p:spPr>
        <p:txBody>
          <a:bodyPr/>
          <a:lstStyle/>
          <a:p>
            <a:pPr marL="342900" lvl="1"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消费者的要素供给量等于既定资源总量减去最优自用资源量</a:t>
            </a:r>
            <a:endParaRPr lang="en-US" altLang="zh-CN" sz="1800" b="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四、要素供给曲线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627AE83D-F3D9-4FE1-841C-38AA09ECDF1C}"/>
              </a:ext>
            </a:extLst>
          </p:cNvPr>
          <p:cNvGrpSpPr/>
          <p:nvPr/>
        </p:nvGrpSpPr>
        <p:grpSpPr>
          <a:xfrm>
            <a:off x="467544" y="1556870"/>
            <a:ext cx="2304331" cy="557881"/>
            <a:chOff x="14189" y="-789473"/>
            <a:chExt cx="2547461" cy="514350"/>
          </a:xfrm>
        </p:grpSpPr>
        <p:sp>
          <p:nvSpPr>
            <p:cNvPr id="7"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14189" y="-789473"/>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algn="ctr" eaLnBrk="1" hangingPunct="1">
                <a:lnSpc>
                  <a:spcPct val="150000"/>
                </a:lnSpc>
              </a:pPr>
              <a:r>
                <a:rPr lang="zh-CN" altLang="en-US" sz="2000" b="0" dirty="0">
                  <a:solidFill>
                    <a:schemeClr val="tx1"/>
                  </a:solidFill>
                  <a:latin typeface="微软雅黑" panose="020B0503020204020204" pitchFamily="34" charset="-122"/>
                  <a:ea typeface="微软雅黑" panose="020B0503020204020204" pitchFamily="34" charset="-122"/>
                </a:rPr>
                <a:t>最优自用资源量</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429572" y="-78947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文本框 1"/>
          <p:cNvSpPr txBox="1"/>
          <p:nvPr/>
        </p:nvSpPr>
        <p:spPr>
          <a:xfrm>
            <a:off x="973022" y="2560302"/>
            <a:ext cx="6551794" cy="892552"/>
          </a:xfrm>
          <a:prstGeom prst="rect">
            <a:avLst/>
          </a:prstGeom>
          <a:noFill/>
        </p:spPr>
        <p:txBody>
          <a:bodyPr wrap="none" rtlCol="0">
            <a:spAutoFit/>
          </a:bodyPr>
          <a:lstStyle/>
          <a:p>
            <a:pPr marL="342900" lvl="1" indent="-342900">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给定消费者的初始资源数量和偏好</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对于每一个要素价格</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就</a:t>
            </a:r>
            <a:endParaRPr lang="en-US" altLang="zh-CN" sz="1800" b="0" dirty="0">
              <a:latin typeface="微软雅黑" panose="020B0503020204020204" pitchFamily="34" charset="-122"/>
              <a:ea typeface="微软雅黑" panose="020B0503020204020204" pitchFamily="34" charset="-122"/>
            </a:endParaRPr>
          </a:p>
          <a:p>
            <a:pPr marL="0" lvl="1"/>
            <a:r>
              <a:rPr lang="zh-CN" altLang="en-US" sz="1800" b="0" dirty="0">
                <a:latin typeface="微软雅黑" panose="020B0503020204020204" pitchFamily="34" charset="-122"/>
                <a:ea typeface="微软雅黑" panose="020B0503020204020204" pitchFamily="34" charset="-122"/>
              </a:rPr>
              <a:t>     有一个最优自用资源量。</a:t>
            </a:r>
            <a:endParaRPr lang="en-US" altLang="zh-CN" sz="1800" b="0" dirty="0">
              <a:latin typeface="微软雅黑" panose="020B0503020204020204" pitchFamily="34" charset="-122"/>
              <a:ea typeface="微软雅黑" panose="020B0503020204020204" pitchFamily="34" charset="-122"/>
            </a:endParaRPr>
          </a:p>
          <a:p>
            <a:endParaRPr lang="zh-CN" altLang="en-US" sz="1400" dirty="0"/>
          </a:p>
        </p:txBody>
      </p:sp>
      <p:grpSp>
        <p:nvGrpSpPr>
          <p:cNvPr id="10" name="组合 9">
            <a:extLst>
              <a:ext uri="{FF2B5EF4-FFF2-40B4-BE49-F238E27FC236}">
                <a16:creationId xmlns:a16="http://schemas.microsoft.com/office/drawing/2014/main" id="{627AE83D-F3D9-4FE1-841C-38AA09ECDF1C}"/>
              </a:ext>
            </a:extLst>
          </p:cNvPr>
          <p:cNvGrpSpPr/>
          <p:nvPr/>
        </p:nvGrpSpPr>
        <p:grpSpPr>
          <a:xfrm>
            <a:off x="467544" y="3758686"/>
            <a:ext cx="2304331" cy="557881"/>
            <a:chOff x="-142710" y="624738"/>
            <a:chExt cx="2547461"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142710" y="6247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algn="ctr" eaLnBrk="1" hangingPunct="1">
                <a:lnSpc>
                  <a:spcPct val="150000"/>
                </a:lnSpc>
              </a:pPr>
              <a:r>
                <a:rPr lang="zh-CN" altLang="en-US" sz="2000" b="0" dirty="0">
                  <a:solidFill>
                    <a:schemeClr val="tx1"/>
                  </a:solidFill>
                  <a:latin typeface="微软雅黑" panose="020B0503020204020204" pitchFamily="34" charset="-122"/>
                  <a:ea typeface="微软雅黑" panose="020B0503020204020204" pitchFamily="34" charset="-122"/>
                </a:rPr>
                <a:t>要素供给量</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277172" y="624738"/>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13" name="标题 1">
            <a:extLst>
              <a:ext uri="{FF2B5EF4-FFF2-40B4-BE49-F238E27FC236}">
                <a16:creationId xmlns:a16="http://schemas.microsoft.com/office/drawing/2014/main" id="{93F28251-7514-45C8-98F9-428A4BF8065D}"/>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22530">
                                            <p:txEl>
                                              <p:pRg st="0" end="0"/>
                                            </p:txEl>
                                          </p:spTgt>
                                        </p:tgtEl>
                                        <p:attrNameLst>
                                          <p:attrName>style.visibility</p:attrName>
                                        </p:attrNameLst>
                                      </p:cBhvr>
                                      <p:to>
                                        <p:strVal val="visible"/>
                                      </p:to>
                                    </p:set>
                                    <p:animEffect>
                                      <p:cBhvr>
                                        <p:cTn id="26" dur="500"/>
                                        <p:tgtEl>
                                          <p:spTgt spid="225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71688" y="2071688"/>
            <a:ext cx="5373995" cy="4205286"/>
            <a:chOff x="2071688" y="2071688"/>
            <a:chExt cx="5373995" cy="4205286"/>
          </a:xfrm>
        </p:grpSpPr>
        <p:sp>
          <p:nvSpPr>
            <p:cNvPr id="23555" name="Line 4"/>
            <p:cNvSpPr>
              <a:spLocks noChangeShapeType="1"/>
            </p:cNvSpPr>
            <p:nvPr/>
          </p:nvSpPr>
          <p:spPr bwMode="auto">
            <a:xfrm flipV="1">
              <a:off x="2573338" y="2154238"/>
              <a:ext cx="3175" cy="3744912"/>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56" name="Line 5"/>
            <p:cNvSpPr>
              <a:spLocks noChangeShapeType="1"/>
            </p:cNvSpPr>
            <p:nvPr/>
          </p:nvSpPr>
          <p:spPr bwMode="auto">
            <a:xfrm>
              <a:off x="2573338" y="5900738"/>
              <a:ext cx="4841875"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57" name="Text Box 6"/>
            <p:cNvSpPr>
              <a:spLocks noChangeArrowheads="1"/>
            </p:cNvSpPr>
            <p:nvPr/>
          </p:nvSpPr>
          <p:spPr bwMode="auto">
            <a:xfrm>
              <a:off x="2071688" y="2071688"/>
              <a:ext cx="804862"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C</a:t>
              </a:r>
              <a:endParaRPr lang="zh-CN" altLang="en-US" dirty="0"/>
            </a:p>
          </p:txBody>
        </p:sp>
        <p:sp>
          <p:nvSpPr>
            <p:cNvPr id="23558" name="Text Box 7"/>
            <p:cNvSpPr>
              <a:spLocks noChangeArrowheads="1"/>
            </p:cNvSpPr>
            <p:nvPr/>
          </p:nvSpPr>
          <p:spPr bwMode="auto">
            <a:xfrm>
              <a:off x="2171700" y="5735638"/>
              <a:ext cx="4349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23559" name="Text Box 8"/>
            <p:cNvSpPr>
              <a:spLocks noChangeArrowheads="1"/>
            </p:cNvSpPr>
            <p:nvPr/>
          </p:nvSpPr>
          <p:spPr bwMode="auto">
            <a:xfrm>
              <a:off x="7009120" y="5888037"/>
              <a:ext cx="436563"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H</a:t>
              </a:r>
              <a:endParaRPr lang="zh-CN" altLang="en-US" dirty="0"/>
            </a:p>
          </p:txBody>
        </p:sp>
        <p:sp>
          <p:nvSpPr>
            <p:cNvPr id="23560" name="Line 9"/>
            <p:cNvSpPr>
              <a:spLocks noChangeShapeType="1"/>
            </p:cNvSpPr>
            <p:nvPr/>
          </p:nvSpPr>
          <p:spPr bwMode="auto">
            <a:xfrm>
              <a:off x="2573338" y="2820988"/>
              <a:ext cx="4033837" cy="3079750"/>
            </a:xfrm>
            <a:prstGeom prst="line">
              <a:avLst/>
            </a:prstGeom>
            <a:noFill/>
            <a:ln w="19050"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1" name="Text Box 10"/>
            <p:cNvSpPr>
              <a:spLocks noChangeArrowheads="1"/>
            </p:cNvSpPr>
            <p:nvPr/>
          </p:nvSpPr>
          <p:spPr bwMode="auto">
            <a:xfrm>
              <a:off x="2071688" y="4652963"/>
              <a:ext cx="7048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r>
                <a:rPr lang="zh-CN" altLang="en-US" sz="1000">
                  <a:solidFill>
                    <a:srgbClr val="000000"/>
                  </a:solidFill>
                  <a:sym typeface="Arial" panose="020B0604020202020204" pitchFamily="34" charset="0"/>
                </a:rPr>
                <a:t>0</a:t>
              </a:r>
              <a:endParaRPr lang="zh-CN" altLang="en-US"/>
            </a:p>
          </p:txBody>
        </p:sp>
        <p:sp>
          <p:nvSpPr>
            <p:cNvPr id="23562" name="Line 11"/>
            <p:cNvSpPr>
              <a:spLocks noChangeShapeType="1"/>
            </p:cNvSpPr>
            <p:nvPr/>
          </p:nvSpPr>
          <p:spPr bwMode="auto">
            <a:xfrm>
              <a:off x="3986213" y="4570413"/>
              <a:ext cx="1587" cy="133191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3" name="Text Box 12"/>
            <p:cNvSpPr>
              <a:spLocks noChangeArrowheads="1"/>
            </p:cNvSpPr>
            <p:nvPr/>
          </p:nvSpPr>
          <p:spPr bwMode="auto">
            <a:xfrm>
              <a:off x="6810375" y="3319463"/>
              <a:ext cx="4318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3564" name="Text Box 13"/>
            <p:cNvSpPr>
              <a:spLocks noChangeArrowheads="1"/>
            </p:cNvSpPr>
            <p:nvPr/>
          </p:nvSpPr>
          <p:spPr bwMode="auto">
            <a:xfrm>
              <a:off x="2386013" y="3613150"/>
              <a:ext cx="4349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3565" name="Text Box 14"/>
            <p:cNvSpPr>
              <a:spLocks noChangeArrowheads="1"/>
            </p:cNvSpPr>
            <p:nvPr/>
          </p:nvSpPr>
          <p:spPr bwMode="auto">
            <a:xfrm>
              <a:off x="2071688" y="3652838"/>
              <a:ext cx="796925"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r>
                <a:rPr lang="zh-CN" altLang="en-US" sz="1000">
                  <a:solidFill>
                    <a:srgbClr val="000000"/>
                  </a:solidFill>
                  <a:sym typeface="Arial" panose="020B0604020202020204" pitchFamily="34" charset="0"/>
                </a:rPr>
                <a:t>1</a:t>
              </a:r>
              <a:endParaRPr lang="zh-CN" altLang="en-US"/>
            </a:p>
          </p:txBody>
        </p:sp>
        <p:sp>
          <p:nvSpPr>
            <p:cNvPr id="23566" name="Text Box 15"/>
            <p:cNvSpPr>
              <a:spLocks noChangeArrowheads="1"/>
            </p:cNvSpPr>
            <p:nvPr/>
          </p:nvSpPr>
          <p:spPr bwMode="auto">
            <a:xfrm>
              <a:off x="3078163" y="4570413"/>
              <a:ext cx="56832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0</a:t>
              </a:r>
              <a:endParaRPr lang="zh-CN" altLang="en-US"/>
            </a:p>
          </p:txBody>
        </p:sp>
        <p:sp>
          <p:nvSpPr>
            <p:cNvPr id="23567" name="Text Box 16"/>
            <p:cNvSpPr>
              <a:spLocks noChangeArrowheads="1"/>
            </p:cNvSpPr>
            <p:nvPr/>
          </p:nvSpPr>
          <p:spPr bwMode="auto">
            <a:xfrm>
              <a:off x="2978150" y="3570288"/>
              <a:ext cx="617538"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1</a:t>
              </a:r>
              <a:endParaRPr lang="zh-CN" altLang="en-US"/>
            </a:p>
          </p:txBody>
        </p:sp>
        <p:sp>
          <p:nvSpPr>
            <p:cNvPr id="23568" name="Text Box 17"/>
            <p:cNvSpPr>
              <a:spLocks noChangeArrowheads="1"/>
            </p:cNvSpPr>
            <p:nvPr/>
          </p:nvSpPr>
          <p:spPr bwMode="auto">
            <a:xfrm>
              <a:off x="2978150" y="2738438"/>
              <a:ext cx="8048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2</a:t>
              </a:r>
              <a:endParaRPr lang="zh-CN" altLang="en-US"/>
            </a:p>
          </p:txBody>
        </p:sp>
        <p:sp>
          <p:nvSpPr>
            <p:cNvPr id="23569" name="Text Box 18"/>
            <p:cNvSpPr>
              <a:spLocks noChangeArrowheads="1"/>
            </p:cNvSpPr>
            <p:nvPr/>
          </p:nvSpPr>
          <p:spPr bwMode="auto">
            <a:xfrm>
              <a:off x="2071688" y="2571750"/>
              <a:ext cx="731837"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r>
                <a:rPr lang="zh-CN" altLang="en-US" sz="1000">
                  <a:solidFill>
                    <a:srgbClr val="000000"/>
                  </a:solidFill>
                  <a:sym typeface="Arial" panose="020B0604020202020204" pitchFamily="34" charset="0"/>
                </a:rPr>
                <a:t>2</a:t>
              </a:r>
              <a:endParaRPr lang="zh-CN" altLang="en-US"/>
            </a:p>
          </p:txBody>
        </p:sp>
        <p:sp>
          <p:nvSpPr>
            <p:cNvPr id="23570" name="Text Box 19"/>
            <p:cNvSpPr>
              <a:spLocks noChangeArrowheads="1"/>
            </p:cNvSpPr>
            <p:nvPr/>
          </p:nvSpPr>
          <p:spPr bwMode="auto">
            <a:xfrm>
              <a:off x="4491038" y="5818188"/>
              <a:ext cx="760412"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0</a:t>
              </a:r>
              <a:endParaRPr lang="zh-CN" altLang="en-US"/>
            </a:p>
          </p:txBody>
        </p:sp>
        <p:sp>
          <p:nvSpPr>
            <p:cNvPr id="23571" name="Line 20"/>
            <p:cNvSpPr>
              <a:spLocks noChangeShapeType="1"/>
            </p:cNvSpPr>
            <p:nvPr/>
          </p:nvSpPr>
          <p:spPr bwMode="auto">
            <a:xfrm>
              <a:off x="2573338" y="3903663"/>
              <a:ext cx="4035425" cy="1998662"/>
            </a:xfrm>
            <a:prstGeom prst="line">
              <a:avLst/>
            </a:prstGeom>
            <a:noFill/>
            <a:ln w="19050"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72" name="Line 21"/>
            <p:cNvSpPr>
              <a:spLocks noChangeShapeType="1"/>
            </p:cNvSpPr>
            <p:nvPr/>
          </p:nvSpPr>
          <p:spPr bwMode="auto">
            <a:xfrm>
              <a:off x="2573338" y="4902200"/>
              <a:ext cx="4035425" cy="1000125"/>
            </a:xfrm>
            <a:prstGeom prst="line">
              <a:avLst/>
            </a:prstGeom>
            <a:noFill/>
            <a:ln w="19050"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73" name="未知"/>
            <p:cNvSpPr>
              <a:spLocks noChangeArrowheads="1"/>
            </p:cNvSpPr>
            <p:nvPr/>
          </p:nvSpPr>
          <p:spPr bwMode="auto">
            <a:xfrm rot="1140000">
              <a:off x="3078163" y="3402013"/>
              <a:ext cx="2217737" cy="706437"/>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1750" y="3011"/>
                    <a:pt x="6899" y="14677"/>
                    <a:pt x="10496" y="18138"/>
                  </a:cubicBezTo>
                  <a:cubicBezTo>
                    <a:pt x="14093" y="21600"/>
                    <a:pt x="19753" y="20363"/>
                    <a:pt x="21600" y="20813"/>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3574" name="未知"/>
            <p:cNvSpPr>
              <a:spLocks noChangeArrowheads="1"/>
            </p:cNvSpPr>
            <p:nvPr/>
          </p:nvSpPr>
          <p:spPr bwMode="auto">
            <a:xfrm rot="600000">
              <a:off x="3078163" y="4068763"/>
              <a:ext cx="2217737" cy="706437"/>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1750" y="3011"/>
                    <a:pt x="6899" y="14677"/>
                    <a:pt x="10496" y="18138"/>
                  </a:cubicBezTo>
                  <a:cubicBezTo>
                    <a:pt x="14093" y="21600"/>
                    <a:pt x="19753" y="20363"/>
                    <a:pt x="21600" y="20813"/>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3575" name="未知"/>
            <p:cNvSpPr>
              <a:spLocks noChangeArrowheads="1"/>
            </p:cNvSpPr>
            <p:nvPr/>
          </p:nvSpPr>
          <p:spPr bwMode="auto">
            <a:xfrm>
              <a:off x="3481388" y="4819650"/>
              <a:ext cx="2214562" cy="704850"/>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1750" y="3011"/>
                    <a:pt x="6899" y="14677"/>
                    <a:pt x="10496" y="18138"/>
                  </a:cubicBezTo>
                  <a:cubicBezTo>
                    <a:pt x="14093" y="21600"/>
                    <a:pt x="19753" y="20363"/>
                    <a:pt x="21600" y="20813"/>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3576" name="未知"/>
            <p:cNvSpPr>
              <a:spLocks noChangeArrowheads="1"/>
            </p:cNvSpPr>
            <p:nvPr/>
          </p:nvSpPr>
          <p:spPr bwMode="auto">
            <a:xfrm rot="21480000">
              <a:off x="3790950" y="3155950"/>
              <a:ext cx="1162050" cy="2563813"/>
            </a:xfrm>
            <a:custGeom>
              <a:avLst/>
              <a:gdLst>
                <a:gd name="T0" fmla="*/ 0 w 21600"/>
                <a:gd name="T1" fmla="*/ 0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cubicBezTo>
                    <a:pt x="661" y="2054"/>
                    <a:pt x="330" y="8739"/>
                    <a:pt x="3936" y="12341"/>
                  </a:cubicBezTo>
                  <a:cubicBezTo>
                    <a:pt x="7541" y="15943"/>
                    <a:pt x="18656" y="20058"/>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3577" name="Line 26"/>
            <p:cNvSpPr>
              <a:spLocks noChangeShapeType="1"/>
            </p:cNvSpPr>
            <p:nvPr/>
          </p:nvSpPr>
          <p:spPr bwMode="auto">
            <a:xfrm>
              <a:off x="4692650" y="5486400"/>
              <a:ext cx="3175" cy="41592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78" name="Line 27"/>
            <p:cNvSpPr>
              <a:spLocks noChangeShapeType="1"/>
            </p:cNvSpPr>
            <p:nvPr/>
          </p:nvSpPr>
          <p:spPr bwMode="auto">
            <a:xfrm>
              <a:off x="3784600" y="3736975"/>
              <a:ext cx="0" cy="2163763"/>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79" name="Text Box 28"/>
            <p:cNvSpPr>
              <a:spLocks noChangeArrowheads="1"/>
            </p:cNvSpPr>
            <p:nvPr/>
          </p:nvSpPr>
          <p:spPr bwMode="auto">
            <a:xfrm>
              <a:off x="3783013" y="5818188"/>
              <a:ext cx="6318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1</a:t>
              </a:r>
              <a:endParaRPr lang="zh-CN" altLang="en-US"/>
            </a:p>
          </p:txBody>
        </p:sp>
        <p:sp>
          <p:nvSpPr>
            <p:cNvPr id="23580" name="Text Box 29"/>
            <p:cNvSpPr>
              <a:spLocks noChangeArrowheads="1"/>
            </p:cNvSpPr>
            <p:nvPr/>
          </p:nvSpPr>
          <p:spPr bwMode="auto">
            <a:xfrm>
              <a:off x="3481388" y="5818188"/>
              <a:ext cx="741362"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2</a:t>
              </a:r>
              <a:endParaRPr lang="zh-CN" altLang="en-US"/>
            </a:p>
          </p:txBody>
        </p:sp>
        <p:sp>
          <p:nvSpPr>
            <p:cNvPr id="23581" name="Text Box 30"/>
            <p:cNvSpPr>
              <a:spLocks noChangeArrowheads="1"/>
            </p:cNvSpPr>
            <p:nvPr/>
          </p:nvSpPr>
          <p:spPr bwMode="auto">
            <a:xfrm>
              <a:off x="3481388" y="2738438"/>
              <a:ext cx="15049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PEP</a:t>
              </a:r>
              <a:endParaRPr lang="zh-CN" altLang="en-US"/>
            </a:p>
          </p:txBody>
        </p:sp>
        <p:pic>
          <p:nvPicPr>
            <p:cNvPr id="23582" name="Object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7150" y="5900738"/>
              <a:ext cx="3016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83" name="圆角矩形标注 32"/>
          <p:cNvSpPr>
            <a:spLocks noChangeArrowheads="1"/>
          </p:cNvSpPr>
          <p:nvPr/>
        </p:nvSpPr>
        <p:spPr bwMode="auto">
          <a:xfrm>
            <a:off x="4445308" y="2273328"/>
            <a:ext cx="3000375" cy="646986"/>
          </a:xfrm>
          <a:prstGeom prst="wedgeRoundRectCallout">
            <a:avLst>
              <a:gd name="adj1" fmla="val -51533"/>
              <a:gd name="adj2" fmla="val 237938"/>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随着要素价格的上升</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预算线将绕着横轴上的点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顺时针旋转</a:t>
            </a:r>
            <a:endParaRPr lang="zh-CN" altLang="en-US" dirty="0">
              <a:latin typeface="微软雅黑" panose="020B0503020204020204" pitchFamily="34" charset="-122"/>
              <a:ea typeface="微软雅黑" panose="020B0503020204020204" pitchFamily="34" charset="-122"/>
            </a:endParaRPr>
          </a:p>
        </p:txBody>
      </p:sp>
      <p:sp>
        <p:nvSpPr>
          <p:cNvPr id="23584" name="圆角矩形标注 33"/>
          <p:cNvSpPr>
            <a:spLocks noChangeArrowheads="1"/>
          </p:cNvSpPr>
          <p:nvPr/>
        </p:nvSpPr>
        <p:spPr bwMode="auto">
          <a:xfrm>
            <a:off x="5714999" y="3058843"/>
            <a:ext cx="2714625" cy="1736646"/>
          </a:xfrm>
          <a:prstGeom prst="wedgeRoundRectCallout">
            <a:avLst>
              <a:gd name="adj1" fmla="val -99208"/>
              <a:gd name="adj2" fmla="val 46040"/>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切点联结起来</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即得到所谓的价格扩展曲线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PEP</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PEP</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曲线反映了自用资源数量</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H(</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以及消费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如何随着要素价格</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的变化而变化</a:t>
            </a:r>
            <a:endParaRPr lang="zh-CN" altLang="en-US"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四、要素供给曲线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36" name="组合 35">
            <a:extLst>
              <a:ext uri="{FF2B5EF4-FFF2-40B4-BE49-F238E27FC236}">
                <a16:creationId xmlns:a16="http://schemas.microsoft.com/office/drawing/2014/main" id="{627AE83D-F3D9-4FE1-841C-38AA09ECDF1C}"/>
              </a:ext>
            </a:extLst>
          </p:cNvPr>
          <p:cNvGrpSpPr/>
          <p:nvPr/>
        </p:nvGrpSpPr>
        <p:grpSpPr>
          <a:xfrm>
            <a:off x="566962" y="1488710"/>
            <a:ext cx="1916894" cy="524892"/>
            <a:chOff x="566961" y="1488710"/>
            <a:chExt cx="2547461" cy="524892"/>
          </a:xfrm>
        </p:grpSpPr>
        <p:sp>
          <p:nvSpPr>
            <p:cNvPr id="37"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566961" y="1499252"/>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价格扩展线</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38"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987422" y="1488710"/>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9" name="标题 1">
            <a:extLst>
              <a:ext uri="{FF2B5EF4-FFF2-40B4-BE49-F238E27FC236}">
                <a16:creationId xmlns:a16="http://schemas.microsoft.com/office/drawing/2014/main" id="{1F72AB2E-7A65-42ED-BBD8-017A7BAA2413}"/>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3583"/>
                                        </p:tgtEl>
                                        <p:attrNameLst>
                                          <p:attrName>style.visibility</p:attrName>
                                        </p:attrNameLst>
                                      </p:cBhvr>
                                      <p:to>
                                        <p:strVal val="visible"/>
                                      </p:to>
                                    </p:set>
                                    <p:animEffect>
                                      <p:cBhvr>
                                        <p:cTn id="16" dur="500"/>
                                        <p:tgtEl>
                                          <p:spTgt spid="2358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3584"/>
                                        </p:tgtEl>
                                        <p:attrNameLst>
                                          <p:attrName>style.visibility</p:attrName>
                                        </p:attrNameLst>
                                      </p:cBhvr>
                                      <p:to>
                                        <p:strVal val="visible"/>
                                      </p:to>
                                    </p:set>
                                    <p:animEffect>
                                      <p:cBhvr>
                                        <p:cTn id="21" dur="500"/>
                                        <p:tgtEl>
                                          <p:spTgt spid="23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8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928813" y="1928813"/>
            <a:ext cx="5143500" cy="4356100"/>
            <a:chOff x="1928813" y="1928813"/>
            <a:chExt cx="5143500" cy="4356100"/>
          </a:xfrm>
        </p:grpSpPr>
        <p:sp>
          <p:nvSpPr>
            <p:cNvPr id="24579" name="Line 4"/>
            <p:cNvSpPr>
              <a:spLocks noChangeShapeType="1"/>
            </p:cNvSpPr>
            <p:nvPr/>
          </p:nvSpPr>
          <p:spPr bwMode="auto">
            <a:xfrm flipV="1">
              <a:off x="2657475" y="2014538"/>
              <a:ext cx="1588" cy="386873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80" name="Line 5"/>
            <p:cNvSpPr>
              <a:spLocks noChangeShapeType="1"/>
            </p:cNvSpPr>
            <p:nvPr/>
          </p:nvSpPr>
          <p:spPr bwMode="auto">
            <a:xfrm>
              <a:off x="2657475" y="5883275"/>
              <a:ext cx="4341813" cy="1588"/>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81" name="Text Box 6"/>
            <p:cNvSpPr>
              <a:spLocks noChangeArrowheads="1"/>
            </p:cNvSpPr>
            <p:nvPr/>
          </p:nvSpPr>
          <p:spPr bwMode="auto">
            <a:xfrm>
              <a:off x="2241550" y="1928813"/>
              <a:ext cx="66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24582" name="Text Box 7"/>
            <p:cNvSpPr>
              <a:spLocks noChangeArrowheads="1"/>
            </p:cNvSpPr>
            <p:nvPr/>
          </p:nvSpPr>
          <p:spPr bwMode="auto">
            <a:xfrm>
              <a:off x="2324100" y="5711825"/>
              <a:ext cx="3603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24583" name="Text Box 8"/>
            <p:cNvSpPr>
              <a:spLocks noChangeArrowheads="1"/>
            </p:cNvSpPr>
            <p:nvPr/>
          </p:nvSpPr>
          <p:spPr bwMode="auto">
            <a:xfrm>
              <a:off x="6665913" y="5884863"/>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24584" name="Text Box 9"/>
            <p:cNvSpPr>
              <a:spLocks noChangeArrowheads="1"/>
            </p:cNvSpPr>
            <p:nvPr/>
          </p:nvSpPr>
          <p:spPr bwMode="auto">
            <a:xfrm>
              <a:off x="2241550" y="3303588"/>
              <a:ext cx="919163"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2</a:t>
              </a:r>
              <a:endParaRPr lang="zh-CN" altLang="en-US"/>
            </a:p>
          </p:txBody>
        </p:sp>
        <p:sp>
          <p:nvSpPr>
            <p:cNvPr id="24585" name="Text Box 10"/>
            <p:cNvSpPr>
              <a:spLocks noChangeArrowheads="1"/>
            </p:cNvSpPr>
            <p:nvPr/>
          </p:nvSpPr>
          <p:spPr bwMode="auto">
            <a:xfrm>
              <a:off x="2241550" y="4767263"/>
              <a:ext cx="5842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0</a:t>
              </a:r>
              <a:endParaRPr lang="zh-CN" altLang="en-US"/>
            </a:p>
          </p:txBody>
        </p:sp>
        <p:sp>
          <p:nvSpPr>
            <p:cNvPr id="24586" name="Line 11"/>
            <p:cNvSpPr>
              <a:spLocks noChangeShapeType="1"/>
            </p:cNvSpPr>
            <p:nvPr/>
          </p:nvSpPr>
          <p:spPr bwMode="auto">
            <a:xfrm>
              <a:off x="2659063" y="3476625"/>
              <a:ext cx="3506787" cy="15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87" name="Line 12"/>
            <p:cNvSpPr>
              <a:spLocks noChangeShapeType="1"/>
            </p:cNvSpPr>
            <p:nvPr/>
          </p:nvSpPr>
          <p:spPr bwMode="auto">
            <a:xfrm>
              <a:off x="2657475" y="4510088"/>
              <a:ext cx="3092450"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88" name="Line 13"/>
            <p:cNvSpPr>
              <a:spLocks noChangeShapeType="1"/>
            </p:cNvSpPr>
            <p:nvPr/>
          </p:nvSpPr>
          <p:spPr bwMode="auto">
            <a:xfrm>
              <a:off x="6165850" y="3476625"/>
              <a:ext cx="0" cy="240823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89" name="Line 14"/>
            <p:cNvSpPr>
              <a:spLocks noChangeShapeType="1"/>
            </p:cNvSpPr>
            <p:nvPr/>
          </p:nvSpPr>
          <p:spPr bwMode="auto">
            <a:xfrm>
              <a:off x="5746750" y="4510088"/>
              <a:ext cx="0" cy="137636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590" name="Text Box 15"/>
            <p:cNvSpPr>
              <a:spLocks noChangeArrowheads="1"/>
            </p:cNvSpPr>
            <p:nvPr/>
          </p:nvSpPr>
          <p:spPr bwMode="auto">
            <a:xfrm>
              <a:off x="1928813" y="4371975"/>
              <a:ext cx="5635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24591" name="Text Box 16"/>
            <p:cNvSpPr>
              <a:spLocks noChangeArrowheads="1"/>
            </p:cNvSpPr>
            <p:nvPr/>
          </p:nvSpPr>
          <p:spPr bwMode="auto">
            <a:xfrm>
              <a:off x="2241550" y="4335463"/>
              <a:ext cx="5492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1</a:t>
              </a:r>
              <a:endParaRPr lang="zh-CN" altLang="en-US"/>
            </a:p>
          </p:txBody>
        </p:sp>
        <p:sp>
          <p:nvSpPr>
            <p:cNvPr id="24592" name="Text Box 17"/>
            <p:cNvSpPr>
              <a:spLocks noChangeArrowheads="1"/>
            </p:cNvSpPr>
            <p:nvPr/>
          </p:nvSpPr>
          <p:spPr bwMode="auto">
            <a:xfrm>
              <a:off x="5329238" y="4852988"/>
              <a:ext cx="417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24593" name="Text Box 18"/>
            <p:cNvSpPr>
              <a:spLocks noChangeArrowheads="1"/>
            </p:cNvSpPr>
            <p:nvPr/>
          </p:nvSpPr>
          <p:spPr bwMode="auto">
            <a:xfrm>
              <a:off x="6248400" y="3217863"/>
              <a:ext cx="358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4594" name="Text Box 19"/>
            <p:cNvSpPr>
              <a:spLocks noChangeArrowheads="1"/>
            </p:cNvSpPr>
            <p:nvPr/>
          </p:nvSpPr>
          <p:spPr bwMode="auto">
            <a:xfrm>
              <a:off x="2503488" y="3519488"/>
              <a:ext cx="3587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24595" name="Text Box 20"/>
            <p:cNvSpPr>
              <a:spLocks noChangeArrowheads="1"/>
            </p:cNvSpPr>
            <p:nvPr/>
          </p:nvSpPr>
          <p:spPr bwMode="auto">
            <a:xfrm>
              <a:off x="6207125" y="32908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a:p>
          </p:txBody>
        </p:sp>
        <p:sp>
          <p:nvSpPr>
            <p:cNvPr id="24596" name="Text Box 21"/>
            <p:cNvSpPr>
              <a:spLocks noChangeArrowheads="1"/>
            </p:cNvSpPr>
            <p:nvPr/>
          </p:nvSpPr>
          <p:spPr bwMode="auto">
            <a:xfrm>
              <a:off x="6165850" y="2271713"/>
              <a:ext cx="658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sz="1000">
                <a:solidFill>
                  <a:srgbClr val="000000"/>
                </a:solidFill>
                <a:sym typeface="Arial" panose="020B0604020202020204" pitchFamily="34" charset="0"/>
              </a:endParaRPr>
            </a:p>
          </p:txBody>
        </p:sp>
        <p:sp>
          <p:nvSpPr>
            <p:cNvPr id="24597" name="Text Box 22"/>
            <p:cNvSpPr>
              <a:spLocks noChangeArrowheads="1"/>
            </p:cNvSpPr>
            <p:nvPr/>
          </p:nvSpPr>
          <p:spPr bwMode="auto">
            <a:xfrm>
              <a:off x="5746750" y="4422775"/>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24598" name="Text Box 23"/>
            <p:cNvSpPr>
              <a:spLocks noChangeArrowheads="1"/>
            </p:cNvSpPr>
            <p:nvPr/>
          </p:nvSpPr>
          <p:spPr bwMode="auto">
            <a:xfrm>
              <a:off x="4911725" y="5884863"/>
              <a:ext cx="1003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0</a:t>
              </a:r>
              <a:endParaRPr lang="zh-CN" altLang="en-US"/>
            </a:p>
          </p:txBody>
        </p:sp>
        <p:sp>
          <p:nvSpPr>
            <p:cNvPr id="24599" name="Text Box 24"/>
            <p:cNvSpPr>
              <a:spLocks noChangeArrowheads="1"/>
            </p:cNvSpPr>
            <p:nvPr/>
          </p:nvSpPr>
          <p:spPr bwMode="auto">
            <a:xfrm>
              <a:off x="6237288" y="5884863"/>
              <a:ext cx="835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2</a:t>
              </a:r>
              <a:endParaRPr lang="zh-CN" altLang="en-US"/>
            </a:p>
          </p:txBody>
        </p:sp>
        <p:sp>
          <p:nvSpPr>
            <p:cNvPr id="24600" name="未知"/>
            <p:cNvSpPr>
              <a:spLocks noChangeArrowheads="1"/>
            </p:cNvSpPr>
            <p:nvPr/>
          </p:nvSpPr>
          <p:spPr bwMode="auto">
            <a:xfrm>
              <a:off x="3660775" y="2617788"/>
              <a:ext cx="2555875" cy="2790825"/>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w 21600"/>
                <a:gd name="T9" fmla="*/ 2147483647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21600" y="0"/>
                  </a:moveTo>
                  <a:cubicBezTo>
                    <a:pt x="21446" y="1405"/>
                    <a:pt x="21426" y="5908"/>
                    <a:pt x="20690" y="8446"/>
                  </a:cubicBezTo>
                  <a:cubicBezTo>
                    <a:pt x="19953" y="10983"/>
                    <a:pt x="19017" y="13246"/>
                    <a:pt x="17191" y="15230"/>
                  </a:cubicBezTo>
                  <a:cubicBezTo>
                    <a:pt x="15365" y="17213"/>
                    <a:pt x="12603" y="19290"/>
                    <a:pt x="9739" y="20351"/>
                  </a:cubicBezTo>
                  <a:cubicBezTo>
                    <a:pt x="6875" y="21413"/>
                    <a:pt x="1621" y="21390"/>
                    <a:pt x="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4601" name="Line 26"/>
            <p:cNvSpPr>
              <a:spLocks noChangeShapeType="1"/>
            </p:cNvSpPr>
            <p:nvPr/>
          </p:nvSpPr>
          <p:spPr bwMode="auto">
            <a:xfrm>
              <a:off x="2659063" y="4938713"/>
              <a:ext cx="2670175"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4602" name="Line 27"/>
            <p:cNvSpPr>
              <a:spLocks noChangeShapeType="1"/>
            </p:cNvSpPr>
            <p:nvPr/>
          </p:nvSpPr>
          <p:spPr bwMode="auto">
            <a:xfrm>
              <a:off x="5329238" y="4938713"/>
              <a:ext cx="1587" cy="94615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pic>
          <p:nvPicPr>
            <p:cNvPr id="24603" name="Object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2675" y="5884863"/>
              <a:ext cx="266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4" name="Object 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9175" y="5884863"/>
              <a:ext cx="2651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5" name="Object 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00688" y="5872163"/>
              <a:ext cx="266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06" name="矩形 34"/>
            <p:cNvSpPr>
              <a:spLocks noChangeArrowheads="1"/>
            </p:cNvSpPr>
            <p:nvPr/>
          </p:nvSpPr>
          <p:spPr bwMode="auto">
            <a:xfrm>
              <a:off x="5586413" y="5857875"/>
              <a:ext cx="485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rgbClr val="000000"/>
                  </a:solidFill>
                  <a:sym typeface="Arial" panose="020B0604020202020204" pitchFamily="34" charset="0"/>
                </a:rPr>
                <a:t>-H</a:t>
              </a:r>
              <a:r>
                <a:rPr lang="en-US" altLang="zh-CN" sz="1100">
                  <a:solidFill>
                    <a:srgbClr val="000000"/>
                  </a:solidFill>
                  <a:sym typeface="Arial" panose="020B0604020202020204" pitchFamily="34" charset="0"/>
                </a:rPr>
                <a:t>1</a:t>
              </a:r>
              <a:endParaRPr lang="zh-CN" altLang="en-US" sz="1000">
                <a:solidFill>
                  <a:srgbClr val="000000"/>
                </a:solidFill>
                <a:sym typeface="Arial" panose="020B0604020202020204" pitchFamily="34" charset="0"/>
              </a:endParaRPr>
            </a:p>
          </p:txBody>
        </p:sp>
      </p:grpSp>
      <p:sp>
        <p:nvSpPr>
          <p:cNvPr id="24607" name="圆角矩形标注 36"/>
          <p:cNvSpPr>
            <a:spLocks noChangeArrowheads="1"/>
          </p:cNvSpPr>
          <p:nvPr/>
        </p:nvSpPr>
        <p:spPr bwMode="auto">
          <a:xfrm>
            <a:off x="2983706" y="1879402"/>
            <a:ext cx="2857500" cy="1191816"/>
          </a:xfrm>
          <a:prstGeom prst="wedgeRoundRectCallout">
            <a:avLst>
              <a:gd name="adj1" fmla="val -9"/>
              <a:gd name="adj2" fmla="val 89241"/>
              <a:gd name="adj3" fmla="val 16667"/>
            </a:avLst>
          </a:prstGeom>
          <a:noFill/>
          <a:ln w="28575">
            <a:solidFill>
              <a:schemeClr val="accent3">
                <a:lumMod val="50000"/>
              </a:schemeClr>
            </a:solidFill>
          </a:ln>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0" lvl="1"/>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给定消费者的初始资源数量和偏好</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则对于每给定一个要素价格</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相应地就有一个要素供给量。 </a:t>
            </a:r>
          </a:p>
        </p:txBody>
      </p:sp>
      <p:sp>
        <p:nvSpPr>
          <p:cNvPr id="24608" name="圆角矩形标注 37"/>
          <p:cNvSpPr>
            <a:spLocks noChangeArrowheads="1"/>
          </p:cNvSpPr>
          <p:nvPr/>
        </p:nvSpPr>
        <p:spPr bwMode="auto">
          <a:xfrm>
            <a:off x="6527800" y="3146425"/>
            <a:ext cx="2143125" cy="919401"/>
          </a:xfrm>
          <a:prstGeom prst="wedgeRoundRectCallout">
            <a:avLst>
              <a:gd name="adj1" fmla="val -61634"/>
              <a:gd name="adj2" fmla="val -99322"/>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这正是我们所要确定的要素供给函数或</a:t>
            </a:r>
            <a:r>
              <a:rPr lang="zh-CN" altLang="en-US"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要素供给曲线</a:t>
            </a:r>
            <a:r>
              <a:rPr lang="zh-CN" altLang="en-US" b="0" dirty="0">
                <a:solidFill>
                  <a:srgbClr val="C00000"/>
                </a:solidFill>
                <a:sym typeface="Arial" panose="020B0604020202020204" pitchFamily="34" charset="0"/>
              </a:rPr>
              <a:t>。</a:t>
            </a:r>
            <a:endParaRPr lang="zh-CN" altLang="en-US" b="0" dirty="0">
              <a:solidFill>
                <a:srgbClr val="C00000"/>
              </a:solidFill>
            </a:endParaRPr>
          </a:p>
        </p:txBody>
      </p:sp>
      <p:sp>
        <p:nvSpPr>
          <p:cNvPr id="35" name="矩形 34">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四、要素供给曲线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36" name="组合 35">
            <a:extLst>
              <a:ext uri="{FF2B5EF4-FFF2-40B4-BE49-F238E27FC236}">
                <a16:creationId xmlns:a16="http://schemas.microsoft.com/office/drawing/2014/main" id="{627AE83D-F3D9-4FE1-841C-38AA09ECDF1C}"/>
              </a:ext>
            </a:extLst>
          </p:cNvPr>
          <p:cNvGrpSpPr/>
          <p:nvPr/>
        </p:nvGrpSpPr>
        <p:grpSpPr>
          <a:xfrm>
            <a:off x="467545" y="1287431"/>
            <a:ext cx="2035944" cy="524892"/>
            <a:chOff x="566961" y="1488710"/>
            <a:chExt cx="2547461" cy="524892"/>
          </a:xfrm>
        </p:grpSpPr>
        <p:sp>
          <p:nvSpPr>
            <p:cNvPr id="37"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566961" y="1499252"/>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algn="ctr"/>
              <a:r>
                <a:rPr lang="zh-CN" altLang="zh-CN" sz="2000" b="0" dirty="0">
                  <a:solidFill>
                    <a:schemeClr val="tx1"/>
                  </a:solidFill>
                  <a:latin typeface="微软雅黑" panose="020B0503020204020204" pitchFamily="34" charset="-122"/>
                  <a:ea typeface="微软雅黑" panose="020B0503020204020204" pitchFamily="34" charset="-122"/>
                </a:rPr>
                <a:t>要素供给曲线</a:t>
              </a:r>
            </a:p>
          </p:txBody>
        </p:sp>
        <p:sp>
          <p:nvSpPr>
            <p:cNvPr id="38"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987422" y="1488710"/>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9" name="标题 1">
            <a:extLst>
              <a:ext uri="{FF2B5EF4-FFF2-40B4-BE49-F238E27FC236}">
                <a16:creationId xmlns:a16="http://schemas.microsoft.com/office/drawing/2014/main" id="{7E7D7BC9-6D26-4311-A1E4-1282F50A7066}"/>
              </a:ext>
            </a:extLst>
          </p:cNvPr>
          <p:cNvSpPr>
            <a:spLocks noChangeArrowheads="1"/>
          </p:cNvSpPr>
          <p:nvPr/>
        </p:nvSpPr>
        <p:spPr bwMode="auto">
          <a:xfrm>
            <a:off x="161979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要素供给的一般理论</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60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24608"/>
                                        </p:tgtEl>
                                        <p:attrNameLst>
                                          <p:attrName>style.visibility</p:attrName>
                                        </p:attrNameLst>
                                      </p:cBhvr>
                                      <p:to>
                                        <p:strVal val="visible"/>
                                      </p:to>
                                    </p:set>
                                    <p:animEffect>
                                      <p:cBhvr>
                                        <p:cTn id="20" dur="500"/>
                                        <p:tgtEl>
                                          <p:spTgt spid="24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2201621" y="898484"/>
            <a:ext cx="4320300" cy="682281"/>
          </a:xfrm>
          <a:ln/>
        </p:spPr>
        <p:txBody>
          <a:bodyPr/>
          <a:lstStyle/>
          <a:p>
            <a:pPr indent="-342900" algn="l"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第三节  劳动和工资</a:t>
            </a:r>
          </a:p>
        </p:txBody>
      </p:sp>
      <p:sp>
        <p:nvSpPr>
          <p:cNvPr id="4"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904073" y="221852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5"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835810" y="191689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6"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904073" y="3102757"/>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7"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835810" y="2801132"/>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8"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904073" y="398699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9"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835810" y="368537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0"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1904073" y="487123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1"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1835810" y="4571195"/>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2" name="MH_Other_5">
            <a:extLst>
              <a:ext uri="{FF2B5EF4-FFF2-40B4-BE49-F238E27FC236}">
                <a16:creationId xmlns:a16="http://schemas.microsoft.com/office/drawing/2014/main" id="{25D06B7F-7DCD-4D03-A450-0AAC55A41525}"/>
              </a:ext>
            </a:extLst>
          </p:cNvPr>
          <p:cNvCxnSpPr>
            <a:stCxn id="5" idx="2"/>
            <a:endCxn id="7" idx="0"/>
          </p:cNvCxnSpPr>
          <p:nvPr>
            <p:custDataLst>
              <p:tags r:id="rId9"/>
            </p:custDataLst>
          </p:nvPr>
        </p:nvCxnSpPr>
        <p:spPr>
          <a:xfrm>
            <a:off x="2415248" y="2272495"/>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6">
            <a:extLst>
              <a:ext uri="{FF2B5EF4-FFF2-40B4-BE49-F238E27FC236}">
                <a16:creationId xmlns:a16="http://schemas.microsoft.com/office/drawing/2014/main" id="{B30D78AD-B3DA-44A6-A5F6-F28D02655A40}"/>
              </a:ext>
            </a:extLst>
          </p:cNvPr>
          <p:cNvCxnSpPr>
            <a:stCxn id="7" idx="2"/>
            <a:endCxn id="9" idx="0"/>
          </p:cNvCxnSpPr>
          <p:nvPr>
            <p:custDataLst>
              <p:tags r:id="rId10"/>
            </p:custDataLst>
          </p:nvPr>
        </p:nvCxnSpPr>
        <p:spPr>
          <a:xfrm>
            <a:off x="2415248" y="3156732"/>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4" name="MH_Other_7">
            <a:extLst>
              <a:ext uri="{FF2B5EF4-FFF2-40B4-BE49-F238E27FC236}">
                <a16:creationId xmlns:a16="http://schemas.microsoft.com/office/drawing/2014/main" id="{DF653FE5-3B26-45B8-A03B-DDBD47BE3AA3}"/>
              </a:ext>
            </a:extLst>
          </p:cNvPr>
          <p:cNvCxnSpPr>
            <a:stCxn id="9" idx="2"/>
            <a:endCxn id="11" idx="0"/>
          </p:cNvCxnSpPr>
          <p:nvPr>
            <p:custDataLst>
              <p:tags r:id="rId11"/>
            </p:custDataLst>
          </p:nvPr>
        </p:nvCxnSpPr>
        <p:spPr>
          <a:xfrm>
            <a:off x="2415248" y="4040970"/>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5" name="MH_Other_8">
            <a:extLst>
              <a:ext uri="{FF2B5EF4-FFF2-40B4-BE49-F238E27FC236}">
                <a16:creationId xmlns:a16="http://schemas.microsoft.com/office/drawing/2014/main" id="{77A701BE-7972-41BF-905D-AEBB5D217CA4}"/>
              </a:ext>
            </a:extLst>
          </p:cNvPr>
          <p:cNvSpPr>
            <a:spLocks/>
          </p:cNvSpPr>
          <p:nvPr>
            <p:custDataLst>
              <p:tags r:id="rId12"/>
            </p:custDataLst>
          </p:nvPr>
        </p:nvSpPr>
        <p:spPr bwMode="gray">
          <a:xfrm>
            <a:off x="1904073" y="572848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6" name="MH_SubTitle_5">
            <a:extLst>
              <a:ext uri="{FF2B5EF4-FFF2-40B4-BE49-F238E27FC236}">
                <a16:creationId xmlns:a16="http://schemas.microsoft.com/office/drawing/2014/main" id="{75368CAB-27CD-4703-8972-304F98A68B85}"/>
              </a:ext>
            </a:extLst>
          </p:cNvPr>
          <p:cNvSpPr>
            <a:spLocks noChangeArrowheads="1"/>
          </p:cNvSpPr>
          <p:nvPr>
            <p:custDataLst>
              <p:tags r:id="rId13"/>
            </p:custDataLst>
          </p:nvPr>
        </p:nvSpPr>
        <p:spPr bwMode="gray">
          <a:xfrm>
            <a:off x="1835810" y="542685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7" name="MH_Other_9">
            <a:extLst>
              <a:ext uri="{FF2B5EF4-FFF2-40B4-BE49-F238E27FC236}">
                <a16:creationId xmlns:a16="http://schemas.microsoft.com/office/drawing/2014/main" id="{F0DEA2FD-8402-4B14-A5DB-4DADFF8B4F5E}"/>
              </a:ext>
            </a:extLst>
          </p:cNvPr>
          <p:cNvCxnSpPr>
            <a:endCxn id="16" idx="0"/>
          </p:cNvCxnSpPr>
          <p:nvPr>
            <p:custDataLst>
              <p:tags r:id="rId14"/>
            </p:custDataLst>
          </p:nvPr>
        </p:nvCxnSpPr>
        <p:spPr>
          <a:xfrm>
            <a:off x="2415248" y="4898220"/>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8" name="矩形 17">
            <a:extLst>
              <a:ext uri="{FF2B5EF4-FFF2-40B4-BE49-F238E27FC236}">
                <a16:creationId xmlns:a16="http://schemas.microsoft.com/office/drawing/2014/main" id="{66A93A4A-F736-4CF5-82B6-87D5F4B7E4E5}"/>
              </a:ext>
            </a:extLst>
          </p:cNvPr>
          <p:cNvSpPr/>
          <p:nvPr/>
        </p:nvSpPr>
        <p:spPr>
          <a:xfrm>
            <a:off x="2769055" y="1857493"/>
            <a:ext cx="3416320" cy="461665"/>
          </a:xfrm>
          <a:prstGeom prst="rect">
            <a:avLst/>
          </a:prstGeom>
        </p:spPr>
        <p:txBody>
          <a:bodyPr wrap="none">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劳动供给和闲暇需求</a:t>
            </a:r>
            <a:endParaRPr lang="en-US" altLang="zh-CN" sz="2400" b="0"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6BA99CA7-A4CC-4245-BA58-DB89FA49F037}"/>
              </a:ext>
            </a:extLst>
          </p:cNvPr>
          <p:cNvSpPr/>
          <p:nvPr/>
        </p:nvSpPr>
        <p:spPr>
          <a:xfrm>
            <a:off x="2769055" y="2690474"/>
            <a:ext cx="2502608" cy="461665"/>
          </a:xfrm>
          <a:prstGeom prst="rect">
            <a:avLst/>
          </a:prstGeom>
        </p:spPr>
        <p:txBody>
          <a:bodyPr wrap="none">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劳动供给均衡</a:t>
            </a:r>
          </a:p>
        </p:txBody>
      </p:sp>
      <p:sp>
        <p:nvSpPr>
          <p:cNvPr id="20" name="矩形 19">
            <a:extLst>
              <a:ext uri="{FF2B5EF4-FFF2-40B4-BE49-F238E27FC236}">
                <a16:creationId xmlns:a16="http://schemas.microsoft.com/office/drawing/2014/main" id="{018105B0-EC74-4F50-9B33-7F18FF6C04E7}"/>
              </a:ext>
            </a:extLst>
          </p:cNvPr>
          <p:cNvSpPr/>
          <p:nvPr/>
        </p:nvSpPr>
        <p:spPr>
          <a:xfrm>
            <a:off x="2769055" y="3638687"/>
            <a:ext cx="2492990" cy="461665"/>
          </a:xfrm>
          <a:prstGeom prst="rect">
            <a:avLst/>
          </a:prstGeom>
        </p:spPr>
        <p:txBody>
          <a:bodyPr wrap="none">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劳动供给曲线</a:t>
            </a:r>
            <a:endParaRPr lang="en-US" altLang="zh-CN" sz="2400" b="0" dirty="0">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E52AEF20-C2D6-4C68-8E54-0EF930AB28A2}"/>
              </a:ext>
            </a:extLst>
          </p:cNvPr>
          <p:cNvSpPr/>
          <p:nvPr/>
        </p:nvSpPr>
        <p:spPr>
          <a:xfrm>
            <a:off x="2794878" y="4511515"/>
            <a:ext cx="3430747" cy="461665"/>
          </a:xfrm>
          <a:prstGeom prst="rect">
            <a:avLst/>
          </a:prstGeom>
        </p:spPr>
        <p:txBody>
          <a:bodyPr wrap="none">
            <a:spAutoFit/>
          </a:bodyPr>
          <a:lstStyle/>
          <a:p>
            <a:pPr marL="742950" lvl="1" indent="-285750" eaLnBrk="1" hangingPunct="1">
              <a:buFont typeface="Arial" panose="020B0604020202020204" pitchFamily="34" charset="0"/>
              <a:buNone/>
            </a:pPr>
            <a:r>
              <a:rPr lang="zh-CN" altLang="en-US" sz="2400" b="0" dirty="0">
                <a:latin typeface="微软雅黑" panose="020B0503020204020204" pitchFamily="34" charset="-122"/>
                <a:ea typeface="微软雅黑" panose="020B0503020204020204" pitchFamily="34" charset="-122"/>
              </a:rPr>
              <a:t>替代效应和收入效应</a:t>
            </a:r>
          </a:p>
        </p:txBody>
      </p:sp>
      <p:sp>
        <p:nvSpPr>
          <p:cNvPr id="22" name="矩形 21">
            <a:extLst>
              <a:ext uri="{FF2B5EF4-FFF2-40B4-BE49-F238E27FC236}">
                <a16:creationId xmlns:a16="http://schemas.microsoft.com/office/drawing/2014/main" id="{CA3460CE-2B2D-4AE6-AFC4-443A013EDC9B}"/>
              </a:ext>
            </a:extLst>
          </p:cNvPr>
          <p:cNvSpPr/>
          <p:nvPr/>
        </p:nvSpPr>
        <p:spPr>
          <a:xfrm>
            <a:off x="2802228" y="5388516"/>
            <a:ext cx="5262979" cy="461665"/>
          </a:xfrm>
          <a:prstGeom prst="rect">
            <a:avLst/>
          </a:prstGeom>
        </p:spPr>
        <p:txBody>
          <a:bodyPr wrap="none">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劳动市场的供求均衡和工资的决定</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up)">
                                      <p:cBhvr>
                                        <p:cTn id="41" dur="500"/>
                                        <p:tgtEl>
                                          <p:spTgt spid="8"/>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up)">
                                      <p:cBhvr>
                                        <p:cTn id="44" dur="500"/>
                                        <p:tgtEl>
                                          <p:spTgt spid="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up)">
                                      <p:cBhvr>
                                        <p:cTn id="56" dur="500"/>
                                        <p:tgtEl>
                                          <p:spTgt spid="10"/>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up)">
                                      <p:cBhvr>
                                        <p:cTn id="59" dur="500"/>
                                        <p:tgtEl>
                                          <p:spTgt spid="1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up)">
                                      <p:cBhvr>
                                        <p:cTn id="67" dur="500"/>
                                        <p:tgtEl>
                                          <p:spTgt spid="1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up)">
                                      <p:cBhvr>
                                        <p:cTn id="70" dur="500"/>
                                        <p:tgtEl>
                                          <p:spTgt spid="15"/>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wipe(up)">
                                      <p:cBhvr>
                                        <p:cTn id="73" dur="500"/>
                                        <p:tgtEl>
                                          <p:spTgt spid="16"/>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4" grpId="0" animBg="1"/>
      <p:bldP spid="5" grpId="0" animBg="1"/>
      <p:bldP spid="6" grpId="0" animBg="1"/>
      <p:bldP spid="7" grpId="0" animBg="1"/>
      <p:bldP spid="8" grpId="0" animBg="1"/>
      <p:bldP spid="9" grpId="0" animBg="1"/>
      <p:bldP spid="10" grpId="0" animBg="1"/>
      <p:bldP spid="11" grpId="0" animBg="1"/>
      <p:bldP spid="15" grpId="0" animBg="1"/>
      <p:bldP spid="16" grpId="0" animBg="1"/>
      <p:bldP spid="18" grpId="0"/>
      <p:bldP spid="19" grpId="0"/>
      <p:bldP spid="20" grpId="0"/>
      <p:bldP spid="21" grpId="0"/>
      <p:bldP spid="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4294967295"/>
          </p:nvPr>
        </p:nvSpPr>
        <p:spPr>
          <a:xfrm>
            <a:off x="3058028" y="3320467"/>
            <a:ext cx="8229600" cy="3310060"/>
          </a:xfrm>
          <a:ln/>
        </p:spPr>
        <p:txBody>
          <a:bodyPr/>
          <a:lstStyle/>
          <a:p>
            <a:pPr marL="342900" lvl="1" indent="-342900" eaLnBrk="1" hangingPunct="1">
              <a:lnSpc>
                <a:spcPct val="250000"/>
              </a:lnSpc>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劳动者把时间用于工作和休闲</a:t>
            </a:r>
            <a:endParaRPr lang="en-US" altLang="zh-CN" sz="1600" b="0" dirty="0">
              <a:latin typeface="微软雅黑" panose="020B0503020204020204" pitchFamily="34" charset="-122"/>
              <a:ea typeface="微软雅黑" panose="020B0503020204020204" pitchFamily="34" charset="-122"/>
            </a:endParaRPr>
          </a:p>
          <a:p>
            <a:pPr marL="342900" lvl="1" indent="-342900" eaLnBrk="1" hangingPunct="1">
              <a:lnSpc>
                <a:spcPct val="250000"/>
              </a:lnSpc>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享受闲暇可以直接增加效用</a:t>
            </a:r>
            <a:r>
              <a:rPr lang="en-US" altLang="zh-CN" sz="1600" b="0" dirty="0">
                <a:latin typeface="微软雅黑" panose="020B0503020204020204" pitchFamily="34" charset="-122"/>
                <a:ea typeface="微软雅黑" panose="020B0503020204020204" pitchFamily="34" charset="-122"/>
              </a:rPr>
              <a:t>, </a:t>
            </a:r>
            <a:endParaRPr lang="zh-CN" altLang="en-US" sz="1600" b="0" dirty="0">
              <a:latin typeface="微软雅黑" panose="020B0503020204020204" pitchFamily="34" charset="-122"/>
              <a:ea typeface="微软雅黑" panose="020B0503020204020204" pitchFamily="34" charset="-122"/>
            </a:endParaRPr>
          </a:p>
          <a:p>
            <a:pPr marL="342900" lvl="1" indent="-342900" eaLnBrk="1" hangingPunct="1">
              <a:lnSpc>
                <a:spcPct val="250000"/>
              </a:lnSpc>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供给劳动首先是带来收入</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通过收入用于消费再增加效用。</a:t>
            </a:r>
            <a:endParaRPr lang="en-US" altLang="zh-CN" sz="1600" b="0" dirty="0">
              <a:latin typeface="微软雅黑" panose="020B0503020204020204" pitchFamily="34" charset="-122"/>
              <a:ea typeface="微软雅黑" panose="020B0503020204020204" pitchFamily="34" charset="-122"/>
            </a:endParaRPr>
          </a:p>
          <a:p>
            <a:pPr marL="342900" lvl="1" indent="-342900" eaLnBrk="1" hangingPunct="1">
              <a:lnSpc>
                <a:spcPct val="250000"/>
              </a:lnSpc>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因此，从实质上说</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消费者是在闲暇和消费之间进行选择。</a:t>
            </a:r>
          </a:p>
        </p:txBody>
      </p:sp>
      <p:sp>
        <p:nvSpPr>
          <p:cNvPr id="26627"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357020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一、劳动供给和闲暇需求</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26CC98E5-B2B8-4C3B-B94F-E7BEACD62A0A}"/>
              </a:ext>
            </a:extLst>
          </p:cNvPr>
          <p:cNvGrpSpPr/>
          <p:nvPr/>
        </p:nvGrpSpPr>
        <p:grpSpPr>
          <a:xfrm>
            <a:off x="467544" y="1262980"/>
            <a:ext cx="4608491" cy="797925"/>
            <a:chOff x="467544" y="1268760"/>
            <a:chExt cx="8192278" cy="1306490"/>
          </a:xfrm>
        </p:grpSpPr>
        <p:sp>
          <p:nvSpPr>
            <p:cNvPr id="6" name="矩形 5">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a:extLst>
              <a:ext uri="{FF2B5EF4-FFF2-40B4-BE49-F238E27FC236}">
                <a16:creationId xmlns:a16="http://schemas.microsoft.com/office/drawing/2014/main" id="{49C733EB-F3D1-4EC8-8D19-B58AE2477326}"/>
              </a:ext>
            </a:extLst>
          </p:cNvPr>
          <p:cNvSpPr/>
          <p:nvPr/>
        </p:nvSpPr>
        <p:spPr>
          <a:xfrm>
            <a:off x="1300842" y="1484865"/>
            <a:ext cx="3518912" cy="400110"/>
          </a:xfrm>
          <a:prstGeom prst="rect">
            <a:avLst/>
          </a:prstGeom>
        </p:spPr>
        <p:txBody>
          <a:bodyPr wrap="none">
            <a:spAutoFit/>
          </a:bodyPr>
          <a:lstStyle/>
          <a:p>
            <a:pPr marL="0" lvl="2" eaLnBrk="1" hangingPunct="1"/>
            <a:r>
              <a:rPr lang="zh-CN" altLang="en-US" sz="2000" b="0" dirty="0">
                <a:latin typeface="微软雅黑" panose="020B0503020204020204" pitchFamily="34" charset="-122"/>
                <a:ea typeface="微软雅黑" panose="020B0503020204020204" pitchFamily="34" charset="-122"/>
              </a:rPr>
              <a:t>假定：劳动者的时间是有限的</a:t>
            </a:r>
            <a:endParaRPr lang="en-US" altLang="zh-CN" sz="2000" b="0"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910856D5-C79D-4924-8E1B-F628F801C8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3730" y="1340855"/>
            <a:ext cx="565211" cy="565211"/>
          </a:xfrm>
          <a:prstGeom prst="rect">
            <a:avLst/>
          </a:prstGeom>
          <a:effectLst>
            <a:innerShdw blurRad="114300">
              <a:prstClr val="black"/>
            </a:innerShdw>
          </a:effectLst>
        </p:spPr>
      </p:pic>
      <p:grpSp>
        <p:nvGrpSpPr>
          <p:cNvPr id="11" name="组合 10">
            <a:extLst>
              <a:ext uri="{FF2B5EF4-FFF2-40B4-BE49-F238E27FC236}">
                <a16:creationId xmlns:a16="http://schemas.microsoft.com/office/drawing/2014/main" id="{627AE83D-F3D9-4FE1-841C-38AA09ECDF1C}"/>
              </a:ext>
            </a:extLst>
          </p:cNvPr>
          <p:cNvGrpSpPr/>
          <p:nvPr/>
        </p:nvGrpSpPr>
        <p:grpSpPr>
          <a:xfrm>
            <a:off x="467544" y="2508297"/>
            <a:ext cx="3570208" cy="514350"/>
            <a:chOff x="590473" y="1360062"/>
            <a:chExt cx="2547461" cy="514350"/>
          </a:xfrm>
        </p:grpSpPr>
        <p:sp>
          <p:nvSpPr>
            <p:cNvPr id="12"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590473" y="1360062"/>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劳动者的时间资源使用行为</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3"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010934" y="136472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pic>
        <p:nvPicPr>
          <p:cNvPr id="14" name="图片 13">
            <a:extLst>
              <a:ext uri="{FF2B5EF4-FFF2-40B4-BE49-F238E27FC236}">
                <a16:creationId xmlns:a16="http://schemas.microsoft.com/office/drawing/2014/main" id="{3481EB3D-0D03-4EDA-B932-E4CC5E27832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8156"/>
          <a:stretch/>
        </p:blipFill>
        <p:spPr>
          <a:xfrm flipH="1">
            <a:off x="1300842" y="3212985"/>
            <a:ext cx="1443654" cy="27864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randombar(horizontal)">
                                      <p:cBhvr>
                                        <p:cTn id="14" dur="500"/>
                                        <p:tgtEl>
                                          <p:spTgt spid="9"/>
                                        </p:tgtEl>
                                      </p:cBhvr>
                                    </p:animEffect>
                                  </p:childTnLst>
                                </p:cTn>
                              </p:par>
                              <p:par>
                                <p:cTn id="15" presetID="14" presetClass="entr" presetSubtype="1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randombar(horizont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6626">
                                            <p:txEl>
                                              <p:pRg st="0" end="0"/>
                                            </p:txEl>
                                          </p:spTgt>
                                        </p:tgtEl>
                                        <p:attrNameLst>
                                          <p:attrName>style.visibility</p:attrName>
                                        </p:attrNameLst>
                                      </p:cBhvr>
                                      <p:to>
                                        <p:strVal val="visible"/>
                                      </p:to>
                                    </p:set>
                                    <p:animEffect transition="in" filter="fade">
                                      <p:cBhvr>
                                        <p:cTn id="34" dur="1000"/>
                                        <p:tgtEl>
                                          <p:spTgt spid="26626">
                                            <p:txEl>
                                              <p:pRg st="0" end="0"/>
                                            </p:txEl>
                                          </p:spTgt>
                                        </p:tgtEl>
                                      </p:cBhvr>
                                    </p:animEffect>
                                    <p:anim calcmode="lin" valueType="num">
                                      <p:cBhvr>
                                        <p:cTn id="35" dur="10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266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626">
                                            <p:txEl>
                                              <p:pRg st="1" end="1"/>
                                            </p:txEl>
                                          </p:spTgt>
                                        </p:tgtEl>
                                        <p:attrNameLst>
                                          <p:attrName>style.visibility</p:attrName>
                                        </p:attrNameLst>
                                      </p:cBhvr>
                                      <p:to>
                                        <p:strVal val="visible"/>
                                      </p:to>
                                    </p:set>
                                    <p:animEffect transition="in" filter="fade">
                                      <p:cBhvr>
                                        <p:cTn id="41" dur="1000"/>
                                        <p:tgtEl>
                                          <p:spTgt spid="26626">
                                            <p:txEl>
                                              <p:pRg st="1" end="1"/>
                                            </p:txEl>
                                          </p:spTgt>
                                        </p:tgtEl>
                                      </p:cBhvr>
                                    </p:animEffect>
                                    <p:anim calcmode="lin" valueType="num">
                                      <p:cBhvr>
                                        <p:cTn id="42" dur="1000" fill="hold"/>
                                        <p:tgtEl>
                                          <p:spTgt spid="26626">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2662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6626">
                                            <p:txEl>
                                              <p:pRg st="2" end="2"/>
                                            </p:txEl>
                                          </p:spTgt>
                                        </p:tgtEl>
                                        <p:attrNameLst>
                                          <p:attrName>style.visibility</p:attrName>
                                        </p:attrNameLst>
                                      </p:cBhvr>
                                      <p:to>
                                        <p:strVal val="visible"/>
                                      </p:to>
                                    </p:set>
                                    <p:animEffect transition="in" filter="fade">
                                      <p:cBhvr>
                                        <p:cTn id="48" dur="1000"/>
                                        <p:tgtEl>
                                          <p:spTgt spid="26626">
                                            <p:txEl>
                                              <p:pRg st="2" end="2"/>
                                            </p:txEl>
                                          </p:spTgt>
                                        </p:tgtEl>
                                      </p:cBhvr>
                                    </p:animEffect>
                                    <p:anim calcmode="lin" valueType="num">
                                      <p:cBhvr>
                                        <p:cTn id="49" dur="1000" fill="hold"/>
                                        <p:tgtEl>
                                          <p:spTgt spid="26626">
                                            <p:txEl>
                                              <p:pRg st="2" end="2"/>
                                            </p:txEl>
                                          </p:spTgt>
                                        </p:tgtEl>
                                        <p:attrNameLst>
                                          <p:attrName>ppt_x</p:attrName>
                                        </p:attrNameLst>
                                      </p:cBhvr>
                                      <p:tavLst>
                                        <p:tav tm="0">
                                          <p:val>
                                            <p:strVal val="#ppt_x"/>
                                          </p:val>
                                        </p:tav>
                                        <p:tav tm="100000">
                                          <p:val>
                                            <p:strVal val="#ppt_x"/>
                                          </p:val>
                                        </p:tav>
                                      </p:tavLst>
                                    </p:anim>
                                    <p:anim calcmode="lin" valueType="num">
                                      <p:cBhvr>
                                        <p:cTn id="50" dur="1000" fill="hold"/>
                                        <p:tgtEl>
                                          <p:spTgt spid="266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6626">
                                            <p:txEl>
                                              <p:pRg st="3" end="3"/>
                                            </p:txEl>
                                          </p:spTgt>
                                        </p:tgtEl>
                                        <p:attrNameLst>
                                          <p:attrName>style.visibility</p:attrName>
                                        </p:attrNameLst>
                                      </p:cBhvr>
                                      <p:to>
                                        <p:strVal val="visible"/>
                                      </p:to>
                                    </p:set>
                                    <p:animEffect transition="in" filter="fade">
                                      <p:cBhvr>
                                        <p:cTn id="55" dur="1000"/>
                                        <p:tgtEl>
                                          <p:spTgt spid="26626">
                                            <p:txEl>
                                              <p:pRg st="3" end="3"/>
                                            </p:txEl>
                                          </p:spTgt>
                                        </p:tgtEl>
                                      </p:cBhvr>
                                    </p:animEffect>
                                    <p:anim calcmode="lin" valueType="num">
                                      <p:cBhvr>
                                        <p:cTn id="56" dur="1000" fill="hold"/>
                                        <p:tgtEl>
                                          <p:spTgt spid="26626">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2662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uiExpand="1" build="p"/>
      <p:bldP spid="4"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4294967295"/>
          </p:nvPr>
        </p:nvSpPr>
        <p:spPr>
          <a:xfrm>
            <a:off x="1043755" y="1124840"/>
            <a:ext cx="8229600" cy="4784725"/>
          </a:xfrm>
          <a:ln/>
        </p:spPr>
        <p:txBody>
          <a:bodyPr/>
          <a:lstStyle/>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效用函数</a:t>
            </a:r>
            <a:endParaRPr lang="en-US" altLang="zh-CN" sz="1800" b="0" dirty="0">
              <a:latin typeface="微软雅黑" panose="020B0503020204020204" pitchFamily="34" charset="-122"/>
              <a:ea typeface="微软雅黑" panose="020B0503020204020204" pitchFamily="34" charset="-122"/>
            </a:endParaRPr>
          </a:p>
          <a:p>
            <a:pPr marL="0" lvl="2" indent="0" eaLnBrk="1" hangingPunct="1">
              <a:lnSpc>
                <a:spcPct val="200000"/>
              </a:lnSpc>
              <a:buFontTx/>
              <a:buNone/>
            </a:pPr>
            <a:r>
              <a:rPr lang="zh-CN" altLang="en-US" sz="1800" b="0" dirty="0">
                <a:latin typeface="微软雅黑" panose="020B0503020204020204" pitchFamily="34" charset="-122"/>
                <a:ea typeface="微软雅黑" panose="020B0503020204020204" pitchFamily="34" charset="-122"/>
              </a:rPr>
              <a:t>                                   C为消费，L为劳动时间</a:t>
            </a:r>
          </a:p>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预算约束</a:t>
            </a:r>
            <a:endParaRPr lang="en-US" altLang="zh-CN" sz="1800" b="0" dirty="0">
              <a:latin typeface="微软雅黑" panose="020B0503020204020204" pitchFamily="34" charset="-122"/>
              <a:ea typeface="微软雅黑" panose="020B0503020204020204" pitchFamily="34" charset="-122"/>
            </a:endParaRPr>
          </a:p>
          <a:p>
            <a:pPr marL="0" lvl="2" indent="0" eaLnBrk="1" hangingPunct="1">
              <a:lnSpc>
                <a:spcPct val="200000"/>
              </a:lnSpc>
              <a:buFontTx/>
              <a:buNone/>
            </a:pPr>
            <a:r>
              <a:rPr lang="zh-CN" altLang="en-US" sz="1800" b="0" dirty="0">
                <a:latin typeface="微软雅黑" panose="020B0503020204020204" pitchFamily="34" charset="-122"/>
                <a:ea typeface="微软雅黑" panose="020B0503020204020204" pitchFamily="34" charset="-122"/>
              </a:rPr>
              <a:t>                                  W为工资  ，  为其他收入。</a:t>
            </a:r>
          </a:p>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拉格朗日函数</a:t>
            </a:r>
            <a:endParaRPr lang="en-US" altLang="zh-CN" sz="1800" b="0" dirty="0">
              <a:latin typeface="微软雅黑" panose="020B0503020204020204" pitchFamily="34" charset="-122"/>
              <a:ea typeface="微软雅黑" panose="020B0503020204020204" pitchFamily="34" charset="-122"/>
            </a:endParaRPr>
          </a:p>
          <a:p>
            <a:pPr marL="342900" lvl="2" indent="-342900" eaLnBrk="1" hangingPunct="1">
              <a:lnSpc>
                <a:spcPct val="200000"/>
              </a:lnSpc>
            </a:pPr>
            <a:endParaRPr lang="zh-CN" altLang="en-US" sz="1800" b="0" dirty="0">
              <a:solidFill>
                <a:srgbClr val="CC0000"/>
              </a:solidFill>
              <a:latin typeface="微软雅黑" panose="020B0503020204020204" pitchFamily="34" charset="-122"/>
              <a:ea typeface="微软雅黑" panose="020B0503020204020204" pitchFamily="34" charset="-122"/>
            </a:endParaRPr>
          </a:p>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劳动供给的均衡条件</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200000"/>
              </a:lnSpc>
              <a:buFont typeface="Wingdings" panose="05000000000000000000" pitchFamily="2" charset="2"/>
              <a:buChar char="Ø"/>
            </a:pPr>
            <a:endParaRPr lang="zh-CN" altLang="en-US" sz="1800" b="0" dirty="0">
              <a:latin typeface="微软雅黑" panose="020B0503020204020204" pitchFamily="34" charset="-122"/>
              <a:ea typeface="微软雅黑" panose="020B0503020204020204" pitchFamily="34" charset="-122"/>
            </a:endParaRPr>
          </a:p>
        </p:txBody>
      </p:sp>
      <p:pic>
        <p:nvPicPr>
          <p:cNvPr id="2765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2547" y="1324225"/>
            <a:ext cx="2086926" cy="44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72547" y="2487176"/>
            <a:ext cx="1752362" cy="384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21395" y="4254598"/>
            <a:ext cx="4778218" cy="48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84685" y="5284467"/>
            <a:ext cx="1862650" cy="80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656" name="Object 8"/>
          <p:cNvGraphicFramePr>
            <a:graphicFrameLocks/>
          </p:cNvGraphicFramePr>
          <p:nvPr>
            <p:extLst>
              <p:ext uri="{D42A27DB-BD31-4B8C-83A1-F6EECF244321}">
                <p14:modId xmlns:p14="http://schemas.microsoft.com/office/powerpoint/2010/main" val="2107117757"/>
              </p:ext>
            </p:extLst>
          </p:nvPr>
        </p:nvGraphicFramePr>
        <p:xfrm>
          <a:off x="4555220" y="3083447"/>
          <a:ext cx="287337" cy="431800"/>
        </p:xfrm>
        <a:graphic>
          <a:graphicData uri="http://schemas.openxmlformats.org/presentationml/2006/ole">
            <mc:AlternateContent xmlns:mc="http://schemas.openxmlformats.org/markup-compatibility/2006">
              <mc:Choice xmlns:v="urn:schemas-microsoft-com:vml" Requires="v">
                <p:oleObj spid="_x0000_s27804" r:id="rId7" imgW="152597" imgH="190757" progId="Equation.KSEE3">
                  <p:embed/>
                </p:oleObj>
              </mc:Choice>
              <mc:Fallback>
                <p:oleObj r:id="rId7" imgW="152597" imgH="190757" progId="Equation.KSEE3">
                  <p:embed/>
                  <p:pic>
                    <p:nvPicPr>
                      <p:cNvPr id="0" name="Object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5220" y="3083447"/>
                        <a:ext cx="2873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二、劳动供给均衡</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7650">
                                            <p:txEl>
                                              <p:pRg st="0" end="0"/>
                                            </p:txEl>
                                          </p:spTgt>
                                        </p:tgtEl>
                                        <p:attrNameLst>
                                          <p:attrName>style.visibility</p:attrName>
                                        </p:attrNameLst>
                                      </p:cBhvr>
                                      <p:to>
                                        <p:strVal val="visible"/>
                                      </p:to>
                                    </p:set>
                                    <p:animEffect transition="in" filter="fade">
                                      <p:cBhvr>
                                        <p:cTn id="11" dur="1000"/>
                                        <p:tgtEl>
                                          <p:spTgt spid="27650">
                                            <p:txEl>
                                              <p:pRg st="0" end="0"/>
                                            </p:txEl>
                                          </p:spTgt>
                                        </p:tgtEl>
                                      </p:cBhvr>
                                    </p:animEffect>
                                    <p:anim calcmode="lin" valueType="num">
                                      <p:cBhvr>
                                        <p:cTn id="12" dur="1000" fill="hold"/>
                                        <p:tgtEl>
                                          <p:spTgt spid="27650">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7650">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27651"/>
                                        </p:tgtEl>
                                        <p:attrNameLst>
                                          <p:attrName>style.visibility</p:attrName>
                                        </p:attrNameLst>
                                      </p:cBhvr>
                                      <p:to>
                                        <p:strVal val="visible"/>
                                      </p:to>
                                    </p:set>
                                    <p:animEffect transition="in" filter="fade">
                                      <p:cBhvr>
                                        <p:cTn id="17" dur="1000"/>
                                        <p:tgtEl>
                                          <p:spTgt spid="27651"/>
                                        </p:tgtEl>
                                      </p:cBhvr>
                                    </p:animEffect>
                                    <p:anim calcmode="lin" valueType="num">
                                      <p:cBhvr>
                                        <p:cTn id="18" dur="1000" fill="hold"/>
                                        <p:tgtEl>
                                          <p:spTgt spid="27651"/>
                                        </p:tgtEl>
                                        <p:attrNameLst>
                                          <p:attrName>ppt_x</p:attrName>
                                        </p:attrNameLst>
                                      </p:cBhvr>
                                      <p:tavLst>
                                        <p:tav tm="0">
                                          <p:val>
                                            <p:strVal val="#ppt_x"/>
                                          </p:val>
                                        </p:tav>
                                        <p:tav tm="100000">
                                          <p:val>
                                            <p:strVal val="#ppt_x"/>
                                          </p:val>
                                        </p:tav>
                                      </p:tavLst>
                                    </p:anim>
                                    <p:anim calcmode="lin" valueType="num">
                                      <p:cBhvr>
                                        <p:cTn id="19" dur="1000" fill="hold"/>
                                        <p:tgtEl>
                                          <p:spTgt spid="2765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7650">
                                            <p:txEl>
                                              <p:pRg st="1" end="1"/>
                                            </p:txEl>
                                          </p:spTgt>
                                        </p:tgtEl>
                                        <p:attrNameLst>
                                          <p:attrName>style.visibility</p:attrName>
                                        </p:attrNameLst>
                                      </p:cBhvr>
                                      <p:to>
                                        <p:strVal val="visible"/>
                                      </p:to>
                                    </p:set>
                                    <p:animEffect transition="in" filter="fade">
                                      <p:cBhvr>
                                        <p:cTn id="24" dur="1000"/>
                                        <p:tgtEl>
                                          <p:spTgt spid="27650">
                                            <p:txEl>
                                              <p:pRg st="1" end="1"/>
                                            </p:txEl>
                                          </p:spTgt>
                                        </p:tgtEl>
                                      </p:cBhvr>
                                    </p:animEffect>
                                    <p:anim calcmode="lin" valueType="num">
                                      <p:cBhvr>
                                        <p:cTn id="25" dur="10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2765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7650">
                                            <p:txEl>
                                              <p:pRg st="2" end="2"/>
                                            </p:txEl>
                                          </p:spTgt>
                                        </p:tgtEl>
                                        <p:attrNameLst>
                                          <p:attrName>style.visibility</p:attrName>
                                        </p:attrNameLst>
                                      </p:cBhvr>
                                      <p:to>
                                        <p:strVal val="visible"/>
                                      </p:to>
                                    </p:set>
                                    <p:animEffect transition="in" filter="fade">
                                      <p:cBhvr>
                                        <p:cTn id="31" dur="1000"/>
                                        <p:tgtEl>
                                          <p:spTgt spid="27650">
                                            <p:txEl>
                                              <p:pRg st="2" end="2"/>
                                            </p:txEl>
                                          </p:spTgt>
                                        </p:tgtEl>
                                      </p:cBhvr>
                                    </p:animEffect>
                                    <p:anim calcmode="lin" valueType="num">
                                      <p:cBhvr>
                                        <p:cTn id="32" dur="10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27650">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27652"/>
                                        </p:tgtEl>
                                        <p:attrNameLst>
                                          <p:attrName>style.visibility</p:attrName>
                                        </p:attrNameLst>
                                      </p:cBhvr>
                                      <p:to>
                                        <p:strVal val="visible"/>
                                      </p:to>
                                    </p:set>
                                    <p:animEffect transition="in" filter="fade">
                                      <p:cBhvr>
                                        <p:cTn id="37" dur="1000"/>
                                        <p:tgtEl>
                                          <p:spTgt spid="27652"/>
                                        </p:tgtEl>
                                      </p:cBhvr>
                                    </p:animEffect>
                                    <p:anim calcmode="lin" valueType="num">
                                      <p:cBhvr>
                                        <p:cTn id="38" dur="1000" fill="hold"/>
                                        <p:tgtEl>
                                          <p:spTgt spid="27652"/>
                                        </p:tgtEl>
                                        <p:attrNameLst>
                                          <p:attrName>ppt_x</p:attrName>
                                        </p:attrNameLst>
                                      </p:cBhvr>
                                      <p:tavLst>
                                        <p:tav tm="0">
                                          <p:val>
                                            <p:strVal val="#ppt_x"/>
                                          </p:val>
                                        </p:tav>
                                        <p:tav tm="100000">
                                          <p:val>
                                            <p:strVal val="#ppt_x"/>
                                          </p:val>
                                        </p:tav>
                                      </p:tavLst>
                                    </p:anim>
                                    <p:anim calcmode="lin" valueType="num">
                                      <p:cBhvr>
                                        <p:cTn id="39" dur="1000" fill="hold"/>
                                        <p:tgtEl>
                                          <p:spTgt spid="2765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7650">
                                            <p:txEl>
                                              <p:pRg st="3" end="3"/>
                                            </p:txEl>
                                          </p:spTgt>
                                        </p:tgtEl>
                                        <p:attrNameLst>
                                          <p:attrName>style.visibility</p:attrName>
                                        </p:attrNameLst>
                                      </p:cBhvr>
                                      <p:to>
                                        <p:strVal val="visible"/>
                                      </p:to>
                                    </p:set>
                                    <p:animEffect transition="in" filter="fade">
                                      <p:cBhvr>
                                        <p:cTn id="44" dur="1000"/>
                                        <p:tgtEl>
                                          <p:spTgt spid="27650">
                                            <p:txEl>
                                              <p:pRg st="3" end="3"/>
                                            </p:txEl>
                                          </p:spTgt>
                                        </p:tgtEl>
                                      </p:cBhvr>
                                    </p:animEffect>
                                    <p:anim calcmode="lin" valueType="num">
                                      <p:cBhvr>
                                        <p:cTn id="45" dur="1000" fill="hold"/>
                                        <p:tgtEl>
                                          <p:spTgt spid="27650">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27650">
                                            <p:txEl>
                                              <p:pRg st="3" end="3"/>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7656"/>
                                        </p:tgtEl>
                                        <p:attrNameLst>
                                          <p:attrName>style.visibility</p:attrName>
                                        </p:attrNameLst>
                                      </p:cBhvr>
                                      <p:to>
                                        <p:strVal val="visible"/>
                                      </p:to>
                                    </p:set>
                                    <p:animEffect transition="in" filter="fade">
                                      <p:cBhvr>
                                        <p:cTn id="49" dur="1000"/>
                                        <p:tgtEl>
                                          <p:spTgt spid="27656"/>
                                        </p:tgtEl>
                                      </p:cBhvr>
                                    </p:animEffect>
                                    <p:anim calcmode="lin" valueType="num">
                                      <p:cBhvr>
                                        <p:cTn id="50" dur="1000" fill="hold"/>
                                        <p:tgtEl>
                                          <p:spTgt spid="27656"/>
                                        </p:tgtEl>
                                        <p:attrNameLst>
                                          <p:attrName>ppt_x</p:attrName>
                                        </p:attrNameLst>
                                      </p:cBhvr>
                                      <p:tavLst>
                                        <p:tav tm="0">
                                          <p:val>
                                            <p:strVal val="#ppt_x"/>
                                          </p:val>
                                        </p:tav>
                                        <p:tav tm="100000">
                                          <p:val>
                                            <p:strVal val="#ppt_x"/>
                                          </p:val>
                                        </p:tav>
                                      </p:tavLst>
                                    </p:anim>
                                    <p:anim calcmode="lin" valueType="num">
                                      <p:cBhvr>
                                        <p:cTn id="51" dur="1000" fill="hold"/>
                                        <p:tgtEl>
                                          <p:spTgt spid="276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7650">
                                            <p:txEl>
                                              <p:pRg st="4" end="4"/>
                                            </p:txEl>
                                          </p:spTgt>
                                        </p:tgtEl>
                                        <p:attrNameLst>
                                          <p:attrName>style.visibility</p:attrName>
                                        </p:attrNameLst>
                                      </p:cBhvr>
                                      <p:to>
                                        <p:strVal val="visible"/>
                                      </p:to>
                                    </p:set>
                                    <p:animEffect transition="in" filter="fade">
                                      <p:cBhvr>
                                        <p:cTn id="56" dur="1000"/>
                                        <p:tgtEl>
                                          <p:spTgt spid="27650">
                                            <p:txEl>
                                              <p:pRg st="4" end="4"/>
                                            </p:txEl>
                                          </p:spTgt>
                                        </p:tgtEl>
                                      </p:cBhvr>
                                    </p:animEffect>
                                    <p:anim calcmode="lin" valueType="num">
                                      <p:cBhvr>
                                        <p:cTn id="57" dur="1000" fill="hold"/>
                                        <p:tgtEl>
                                          <p:spTgt spid="2765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27650">
                                            <p:txEl>
                                              <p:pRg st="4" end="4"/>
                                            </p:txEl>
                                          </p:spTgt>
                                        </p:tgtEl>
                                        <p:attrNameLst>
                                          <p:attrName>ppt_y</p:attrName>
                                        </p:attrNameLst>
                                      </p:cBhvr>
                                      <p:tavLst>
                                        <p:tav tm="0">
                                          <p:val>
                                            <p:strVal val="#ppt_y+.1"/>
                                          </p:val>
                                        </p:tav>
                                        <p:tav tm="100000">
                                          <p:val>
                                            <p:strVal val="#ppt_y"/>
                                          </p:val>
                                        </p:tav>
                                      </p:tavLst>
                                    </p:anim>
                                  </p:childTnLst>
                                </p:cTn>
                              </p:par>
                            </p:childTnLst>
                          </p:cTn>
                        </p:par>
                        <p:par>
                          <p:cTn id="59" fill="hold">
                            <p:stCondLst>
                              <p:cond delay="1000"/>
                            </p:stCondLst>
                            <p:childTnLst>
                              <p:par>
                                <p:cTn id="60" presetID="53" presetClass="entr" presetSubtype="16" fill="hold" nodeType="afterEffect">
                                  <p:stCondLst>
                                    <p:cond delay="0"/>
                                  </p:stCondLst>
                                  <p:childTnLst>
                                    <p:set>
                                      <p:cBhvr>
                                        <p:cTn id="61" dur="1" fill="hold">
                                          <p:stCondLst>
                                            <p:cond delay="0"/>
                                          </p:stCondLst>
                                        </p:cTn>
                                        <p:tgtEl>
                                          <p:spTgt spid="27653"/>
                                        </p:tgtEl>
                                        <p:attrNameLst>
                                          <p:attrName>style.visibility</p:attrName>
                                        </p:attrNameLst>
                                      </p:cBhvr>
                                      <p:to>
                                        <p:strVal val="visible"/>
                                      </p:to>
                                    </p:set>
                                    <p:anim calcmode="lin" valueType="num">
                                      <p:cBhvr>
                                        <p:cTn id="62" dur="500" fill="hold"/>
                                        <p:tgtEl>
                                          <p:spTgt spid="27653"/>
                                        </p:tgtEl>
                                        <p:attrNameLst>
                                          <p:attrName>ppt_w</p:attrName>
                                        </p:attrNameLst>
                                      </p:cBhvr>
                                      <p:tavLst>
                                        <p:tav tm="0">
                                          <p:val>
                                            <p:fltVal val="0"/>
                                          </p:val>
                                        </p:tav>
                                        <p:tav tm="100000">
                                          <p:val>
                                            <p:strVal val="#ppt_w"/>
                                          </p:val>
                                        </p:tav>
                                      </p:tavLst>
                                    </p:anim>
                                    <p:anim calcmode="lin" valueType="num">
                                      <p:cBhvr>
                                        <p:cTn id="63" dur="500" fill="hold"/>
                                        <p:tgtEl>
                                          <p:spTgt spid="27653"/>
                                        </p:tgtEl>
                                        <p:attrNameLst>
                                          <p:attrName>ppt_h</p:attrName>
                                        </p:attrNameLst>
                                      </p:cBhvr>
                                      <p:tavLst>
                                        <p:tav tm="0">
                                          <p:val>
                                            <p:fltVal val="0"/>
                                          </p:val>
                                        </p:tav>
                                        <p:tav tm="100000">
                                          <p:val>
                                            <p:strVal val="#ppt_h"/>
                                          </p:val>
                                        </p:tav>
                                      </p:tavLst>
                                    </p:anim>
                                    <p:animEffect transition="in" filter="fade">
                                      <p:cBhvr>
                                        <p:cTn id="64" dur="500"/>
                                        <p:tgtEl>
                                          <p:spTgt spid="27653"/>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7650">
                                            <p:txEl>
                                              <p:pRg st="6" end="6"/>
                                            </p:txEl>
                                          </p:spTgt>
                                        </p:tgtEl>
                                        <p:attrNameLst>
                                          <p:attrName>style.visibility</p:attrName>
                                        </p:attrNameLst>
                                      </p:cBhvr>
                                      <p:to>
                                        <p:strVal val="visible"/>
                                      </p:to>
                                    </p:set>
                                    <p:animEffect transition="in" filter="fade">
                                      <p:cBhvr>
                                        <p:cTn id="69" dur="1000"/>
                                        <p:tgtEl>
                                          <p:spTgt spid="27650">
                                            <p:txEl>
                                              <p:pRg st="6" end="6"/>
                                            </p:txEl>
                                          </p:spTgt>
                                        </p:tgtEl>
                                      </p:cBhvr>
                                    </p:animEffect>
                                    <p:anim calcmode="lin" valueType="num">
                                      <p:cBhvr>
                                        <p:cTn id="70" dur="1000" fill="hold"/>
                                        <p:tgtEl>
                                          <p:spTgt spid="27650">
                                            <p:txEl>
                                              <p:pRg st="6" end="6"/>
                                            </p:txEl>
                                          </p:spTgt>
                                        </p:tgtEl>
                                        <p:attrNameLst>
                                          <p:attrName>ppt_x</p:attrName>
                                        </p:attrNameLst>
                                      </p:cBhvr>
                                      <p:tavLst>
                                        <p:tav tm="0">
                                          <p:val>
                                            <p:strVal val="#ppt_x"/>
                                          </p:val>
                                        </p:tav>
                                        <p:tav tm="100000">
                                          <p:val>
                                            <p:strVal val="#ppt_x"/>
                                          </p:val>
                                        </p:tav>
                                      </p:tavLst>
                                    </p:anim>
                                    <p:anim calcmode="lin" valueType="num">
                                      <p:cBhvr>
                                        <p:cTn id="71" dur="1000" fill="hold"/>
                                        <p:tgtEl>
                                          <p:spTgt spid="2765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27654"/>
                                        </p:tgtEl>
                                        <p:attrNameLst>
                                          <p:attrName>style.visibility</p:attrName>
                                        </p:attrNameLst>
                                      </p:cBhvr>
                                      <p:to>
                                        <p:strVal val="visible"/>
                                      </p:to>
                                    </p:set>
                                    <p:anim calcmode="lin" valueType="num">
                                      <p:cBhvr>
                                        <p:cTn id="76" dur="500" fill="hold"/>
                                        <p:tgtEl>
                                          <p:spTgt spid="27654"/>
                                        </p:tgtEl>
                                        <p:attrNameLst>
                                          <p:attrName>ppt_w</p:attrName>
                                        </p:attrNameLst>
                                      </p:cBhvr>
                                      <p:tavLst>
                                        <p:tav tm="0">
                                          <p:val>
                                            <p:fltVal val="0"/>
                                          </p:val>
                                        </p:tav>
                                        <p:tav tm="100000">
                                          <p:val>
                                            <p:strVal val="#ppt_w"/>
                                          </p:val>
                                        </p:tav>
                                      </p:tavLst>
                                    </p:anim>
                                    <p:anim calcmode="lin" valueType="num">
                                      <p:cBhvr>
                                        <p:cTn id="77" dur="500" fill="hold"/>
                                        <p:tgtEl>
                                          <p:spTgt spid="27654"/>
                                        </p:tgtEl>
                                        <p:attrNameLst>
                                          <p:attrName>ppt_h</p:attrName>
                                        </p:attrNameLst>
                                      </p:cBhvr>
                                      <p:tavLst>
                                        <p:tav tm="0">
                                          <p:val>
                                            <p:fltVal val="0"/>
                                          </p:val>
                                        </p:tav>
                                        <p:tav tm="100000">
                                          <p:val>
                                            <p:strVal val="#ppt_h"/>
                                          </p:val>
                                        </p:tav>
                                      </p:tavLst>
                                    </p:anim>
                                    <p:animEffect transition="in" filter="fade">
                                      <p:cBhvr>
                                        <p:cTn id="78"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4294967295"/>
          </p:nvPr>
        </p:nvSpPr>
        <p:spPr>
          <a:xfrm>
            <a:off x="596647" y="1127585"/>
            <a:ext cx="8229600" cy="4784725"/>
          </a:xfrm>
          <a:ln/>
        </p:spPr>
        <p:txBody>
          <a:bodyPr/>
          <a:lstStyle/>
          <a:p>
            <a:pPr marL="457200" lvl="2" indent="-457200" eaLnBrk="1" hangingPunct="1">
              <a:lnSpc>
                <a:spcPct val="25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劳动供给的均衡条件</a:t>
            </a:r>
            <a:endParaRPr lang="en-US" altLang="zh-CN" sz="1800" b="0" dirty="0">
              <a:latin typeface="微软雅黑" panose="020B0503020204020204" pitchFamily="34" charset="-122"/>
              <a:ea typeface="微软雅黑" panose="020B0503020204020204" pitchFamily="34" charset="-122"/>
            </a:endParaRPr>
          </a:p>
          <a:p>
            <a:pPr marL="720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在劳动供给的均衡条件即式                    中</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蕴涵着劳动供给函数。</a:t>
            </a:r>
            <a:endParaRPr lang="en-US" altLang="zh-CN" sz="1800" b="0" dirty="0">
              <a:latin typeface="微软雅黑" panose="020B0503020204020204" pitchFamily="34" charset="-122"/>
              <a:ea typeface="微软雅黑" panose="020B0503020204020204" pitchFamily="34" charset="-122"/>
            </a:endParaRPr>
          </a:p>
          <a:p>
            <a:pPr marL="720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因为</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任意给定等式右边的一个工资水平</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等式左边有且只有一个劳动供给量</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恰好能够使得                     式成立。</a:t>
            </a:r>
            <a:endParaRPr lang="en-US" altLang="zh-CN" sz="1800" b="0" dirty="0">
              <a:latin typeface="微软雅黑" panose="020B0503020204020204" pitchFamily="34" charset="-122"/>
              <a:ea typeface="微软雅黑" panose="020B0503020204020204" pitchFamily="34" charset="-122"/>
            </a:endParaRPr>
          </a:p>
          <a:p>
            <a:pPr marL="342900" lvl="2" indent="-342900" eaLnBrk="1" hangingPunct="1">
              <a:lnSpc>
                <a:spcPct val="25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劳动供给函数</a:t>
            </a:r>
            <a:endParaRPr lang="en-US" altLang="zh-CN" sz="1800" b="0" dirty="0">
              <a:latin typeface="微软雅黑" panose="020B0503020204020204" pitchFamily="34" charset="-122"/>
              <a:ea typeface="微软雅黑" panose="020B0503020204020204" pitchFamily="34" charset="-122"/>
            </a:endParaRPr>
          </a:p>
          <a:p>
            <a:pPr marL="720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一般而言</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工资提高时，劳动供给量增加</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但当工资非常高时</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进一步提高反而可能使劳动供给量减少。</a:t>
            </a:r>
          </a:p>
        </p:txBody>
      </p:sp>
      <p:pic>
        <p:nvPicPr>
          <p:cNvPr id="28675"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7164" y="2060905"/>
            <a:ext cx="1330901" cy="57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5975" y="3501005"/>
            <a:ext cx="1352040" cy="58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三、劳动供给曲线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8674">
                                            <p:txEl>
                                              <p:pRg st="0" end="0"/>
                                            </p:txEl>
                                          </p:spTgt>
                                        </p:tgtEl>
                                        <p:attrNameLst>
                                          <p:attrName>style.visibility</p:attrName>
                                        </p:attrNameLst>
                                      </p:cBhvr>
                                      <p:to>
                                        <p:strVal val="visible"/>
                                      </p:to>
                                    </p:set>
                                    <p:animEffect transition="in" filter="fade">
                                      <p:cBhvr>
                                        <p:cTn id="12" dur="1000"/>
                                        <p:tgtEl>
                                          <p:spTgt spid="28674">
                                            <p:txEl>
                                              <p:pRg st="0" end="0"/>
                                            </p:txEl>
                                          </p:spTgt>
                                        </p:tgtEl>
                                      </p:cBhvr>
                                    </p:animEffect>
                                    <p:anim calcmode="lin" valueType="num">
                                      <p:cBhvr>
                                        <p:cTn id="13" dur="1000" fill="hold"/>
                                        <p:tgtEl>
                                          <p:spTgt spid="2867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86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8674">
                                            <p:txEl>
                                              <p:pRg st="1" end="1"/>
                                            </p:txEl>
                                          </p:spTgt>
                                        </p:tgtEl>
                                        <p:attrNameLst>
                                          <p:attrName>style.visibility</p:attrName>
                                        </p:attrNameLst>
                                      </p:cBhvr>
                                      <p:to>
                                        <p:strVal val="visible"/>
                                      </p:to>
                                    </p:set>
                                    <p:animEffect transition="in" filter="fade">
                                      <p:cBhvr>
                                        <p:cTn id="19" dur="1000"/>
                                        <p:tgtEl>
                                          <p:spTgt spid="28674">
                                            <p:txEl>
                                              <p:pRg st="1" end="1"/>
                                            </p:txEl>
                                          </p:spTgt>
                                        </p:tgtEl>
                                      </p:cBhvr>
                                    </p:animEffect>
                                    <p:anim calcmode="lin" valueType="num">
                                      <p:cBhvr>
                                        <p:cTn id="20" dur="1000" fill="hold"/>
                                        <p:tgtEl>
                                          <p:spTgt spid="2867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8674">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8675"/>
                                        </p:tgtEl>
                                        <p:attrNameLst>
                                          <p:attrName>style.visibility</p:attrName>
                                        </p:attrNameLst>
                                      </p:cBhvr>
                                      <p:to>
                                        <p:strVal val="visible"/>
                                      </p:to>
                                    </p:set>
                                    <p:animEffect transition="in" filter="fade">
                                      <p:cBhvr>
                                        <p:cTn id="24" dur="1000"/>
                                        <p:tgtEl>
                                          <p:spTgt spid="28675"/>
                                        </p:tgtEl>
                                      </p:cBhvr>
                                    </p:animEffect>
                                    <p:anim calcmode="lin" valueType="num">
                                      <p:cBhvr>
                                        <p:cTn id="25" dur="1000" fill="hold"/>
                                        <p:tgtEl>
                                          <p:spTgt spid="28675"/>
                                        </p:tgtEl>
                                        <p:attrNameLst>
                                          <p:attrName>ppt_x</p:attrName>
                                        </p:attrNameLst>
                                      </p:cBhvr>
                                      <p:tavLst>
                                        <p:tav tm="0">
                                          <p:val>
                                            <p:strVal val="#ppt_x"/>
                                          </p:val>
                                        </p:tav>
                                        <p:tav tm="100000">
                                          <p:val>
                                            <p:strVal val="#ppt_x"/>
                                          </p:val>
                                        </p:tav>
                                      </p:tavLst>
                                    </p:anim>
                                    <p:anim calcmode="lin" valueType="num">
                                      <p:cBhvr>
                                        <p:cTn id="26" dur="1000" fill="hold"/>
                                        <p:tgtEl>
                                          <p:spTgt spid="2867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8674">
                                            <p:txEl>
                                              <p:pRg st="2" end="2"/>
                                            </p:txEl>
                                          </p:spTgt>
                                        </p:tgtEl>
                                        <p:attrNameLst>
                                          <p:attrName>style.visibility</p:attrName>
                                        </p:attrNameLst>
                                      </p:cBhvr>
                                      <p:to>
                                        <p:strVal val="visible"/>
                                      </p:to>
                                    </p:set>
                                    <p:animEffect transition="in" filter="fade">
                                      <p:cBhvr>
                                        <p:cTn id="31" dur="1000"/>
                                        <p:tgtEl>
                                          <p:spTgt spid="28674">
                                            <p:txEl>
                                              <p:pRg st="2" end="2"/>
                                            </p:txEl>
                                          </p:spTgt>
                                        </p:tgtEl>
                                      </p:cBhvr>
                                    </p:animEffect>
                                    <p:anim calcmode="lin" valueType="num">
                                      <p:cBhvr>
                                        <p:cTn id="32" dur="10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28674">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8676"/>
                                        </p:tgtEl>
                                        <p:attrNameLst>
                                          <p:attrName>style.visibility</p:attrName>
                                        </p:attrNameLst>
                                      </p:cBhvr>
                                      <p:to>
                                        <p:strVal val="visible"/>
                                      </p:to>
                                    </p:set>
                                    <p:animEffect transition="in" filter="fade">
                                      <p:cBhvr>
                                        <p:cTn id="36" dur="1000"/>
                                        <p:tgtEl>
                                          <p:spTgt spid="28676"/>
                                        </p:tgtEl>
                                      </p:cBhvr>
                                    </p:animEffect>
                                    <p:anim calcmode="lin" valueType="num">
                                      <p:cBhvr>
                                        <p:cTn id="37" dur="1000" fill="hold"/>
                                        <p:tgtEl>
                                          <p:spTgt spid="28676"/>
                                        </p:tgtEl>
                                        <p:attrNameLst>
                                          <p:attrName>ppt_x</p:attrName>
                                        </p:attrNameLst>
                                      </p:cBhvr>
                                      <p:tavLst>
                                        <p:tav tm="0">
                                          <p:val>
                                            <p:strVal val="#ppt_x"/>
                                          </p:val>
                                        </p:tav>
                                        <p:tav tm="100000">
                                          <p:val>
                                            <p:strVal val="#ppt_x"/>
                                          </p:val>
                                        </p:tav>
                                      </p:tavLst>
                                    </p:anim>
                                    <p:anim calcmode="lin" valueType="num">
                                      <p:cBhvr>
                                        <p:cTn id="38" dur="1000" fill="hold"/>
                                        <p:tgtEl>
                                          <p:spTgt spid="2867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8674">
                                            <p:txEl>
                                              <p:pRg st="3" end="3"/>
                                            </p:txEl>
                                          </p:spTgt>
                                        </p:tgtEl>
                                        <p:attrNameLst>
                                          <p:attrName>style.visibility</p:attrName>
                                        </p:attrNameLst>
                                      </p:cBhvr>
                                      <p:to>
                                        <p:strVal val="visible"/>
                                      </p:to>
                                    </p:set>
                                    <p:animEffect transition="in" filter="fade">
                                      <p:cBhvr>
                                        <p:cTn id="43" dur="1000"/>
                                        <p:tgtEl>
                                          <p:spTgt spid="28674">
                                            <p:txEl>
                                              <p:pRg st="3" end="3"/>
                                            </p:txEl>
                                          </p:spTgt>
                                        </p:tgtEl>
                                      </p:cBhvr>
                                    </p:animEffect>
                                    <p:anim calcmode="lin" valueType="num">
                                      <p:cBhvr>
                                        <p:cTn id="44" dur="1000" fill="hold"/>
                                        <p:tgtEl>
                                          <p:spTgt spid="28674">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286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8674">
                                            <p:txEl>
                                              <p:pRg st="4" end="4"/>
                                            </p:txEl>
                                          </p:spTgt>
                                        </p:tgtEl>
                                        <p:attrNameLst>
                                          <p:attrName>style.visibility</p:attrName>
                                        </p:attrNameLst>
                                      </p:cBhvr>
                                      <p:to>
                                        <p:strVal val="visible"/>
                                      </p:to>
                                    </p:set>
                                    <p:animEffect transition="in" filter="fade">
                                      <p:cBhvr>
                                        <p:cTn id="50" dur="1000"/>
                                        <p:tgtEl>
                                          <p:spTgt spid="28674">
                                            <p:txEl>
                                              <p:pRg st="4" end="4"/>
                                            </p:txEl>
                                          </p:spTgt>
                                        </p:tgtEl>
                                      </p:cBhvr>
                                    </p:animEffect>
                                    <p:anim calcmode="lin" valueType="num">
                                      <p:cBhvr>
                                        <p:cTn id="51" dur="1000" fill="hold"/>
                                        <p:tgtEl>
                                          <p:spTgt spid="28674">
                                            <p:txEl>
                                              <p:pRg st="4" end="4"/>
                                            </p:txEl>
                                          </p:spTgt>
                                        </p:tgtEl>
                                        <p:attrNameLst>
                                          <p:attrName>ppt_x</p:attrName>
                                        </p:attrNameLst>
                                      </p:cBhvr>
                                      <p:tavLst>
                                        <p:tav tm="0">
                                          <p:val>
                                            <p:strVal val="#ppt_x"/>
                                          </p:val>
                                        </p:tav>
                                        <p:tav tm="100000">
                                          <p:val>
                                            <p:strVal val="#ppt_x"/>
                                          </p:val>
                                        </p:tav>
                                      </p:tavLst>
                                    </p:anim>
                                    <p:anim calcmode="lin" valueType="num">
                                      <p:cBhvr>
                                        <p:cTn id="52" dur="1000" fill="hold"/>
                                        <p:tgtEl>
                                          <p:spTgt spid="2867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uiExpand="1" build="p"/>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4" name="TextBox 32"/>
          <p:cNvSpPr>
            <a:spLocks noChangeArrowheads="1"/>
          </p:cNvSpPr>
          <p:nvPr/>
        </p:nvSpPr>
        <p:spPr bwMode="auto">
          <a:xfrm>
            <a:off x="1790361" y="2091747"/>
            <a:ext cx="6254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29699" name="直接箭头连接符 4"/>
          <p:cNvSpPr>
            <a:spLocks noChangeShapeType="1"/>
          </p:cNvSpPr>
          <p:nvPr/>
        </p:nvSpPr>
        <p:spPr bwMode="auto">
          <a:xfrm rot="5400000" flipH="1" flipV="1">
            <a:off x="669925" y="3992563"/>
            <a:ext cx="3516313" cy="1588"/>
          </a:xfrm>
          <a:prstGeom prst="straightConnector1">
            <a:avLst/>
          </a:prstGeom>
          <a:noFill/>
          <a:ln w="28575"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00" name="直接箭头连接符 6"/>
          <p:cNvSpPr>
            <a:spLocks noChangeShapeType="1"/>
          </p:cNvSpPr>
          <p:nvPr/>
        </p:nvSpPr>
        <p:spPr bwMode="auto">
          <a:xfrm>
            <a:off x="2411413" y="5746750"/>
            <a:ext cx="4464050" cy="1588"/>
          </a:xfrm>
          <a:prstGeom prst="straightConnector1">
            <a:avLst/>
          </a:prstGeom>
          <a:noFill/>
          <a:ln w="28575"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01" name="直接连接符 12"/>
          <p:cNvSpPr>
            <a:spLocks noChangeShapeType="1"/>
          </p:cNvSpPr>
          <p:nvPr/>
        </p:nvSpPr>
        <p:spPr bwMode="auto">
          <a:xfrm rot="5400000">
            <a:off x="4375150" y="4410075"/>
            <a:ext cx="2681288" cy="1588"/>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2" name="直接连接符 14"/>
          <p:cNvSpPr>
            <a:spLocks noChangeShapeType="1"/>
          </p:cNvSpPr>
          <p:nvPr/>
        </p:nvSpPr>
        <p:spPr bwMode="auto">
          <a:xfrm>
            <a:off x="2411413" y="5194300"/>
            <a:ext cx="3303587" cy="15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3" name="直接连接符 16"/>
          <p:cNvSpPr>
            <a:spLocks noChangeShapeType="1"/>
          </p:cNvSpPr>
          <p:nvPr/>
        </p:nvSpPr>
        <p:spPr bwMode="auto">
          <a:xfrm>
            <a:off x="2411413" y="2974975"/>
            <a:ext cx="3303587" cy="221932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直接连接符 18"/>
          <p:cNvSpPr>
            <a:spLocks noChangeShapeType="1"/>
          </p:cNvSpPr>
          <p:nvPr/>
        </p:nvSpPr>
        <p:spPr bwMode="auto">
          <a:xfrm>
            <a:off x="2411413" y="3992563"/>
            <a:ext cx="3303587" cy="120173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直接连接符 20"/>
          <p:cNvSpPr>
            <a:spLocks noChangeShapeType="1"/>
          </p:cNvSpPr>
          <p:nvPr/>
        </p:nvSpPr>
        <p:spPr bwMode="auto">
          <a:xfrm>
            <a:off x="2411413" y="4824413"/>
            <a:ext cx="3303587" cy="36988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任意多边形 21"/>
          <p:cNvSpPr>
            <a:spLocks noChangeArrowheads="1"/>
          </p:cNvSpPr>
          <p:nvPr/>
        </p:nvSpPr>
        <p:spPr bwMode="auto">
          <a:xfrm>
            <a:off x="3105150" y="2665413"/>
            <a:ext cx="2619375" cy="2524125"/>
          </a:xfrm>
          <a:custGeom>
            <a:avLst/>
            <a:gdLst>
              <a:gd name="T0" fmla="*/ 5132340 w 2095500"/>
              <a:gd name="T1" fmla="*/ 0 h 1950720"/>
              <a:gd name="T2" fmla="*/ 90841 w 2095500"/>
              <a:gd name="T3" fmla="*/ 9351208 h 1950720"/>
              <a:gd name="T4" fmla="*/ 5677361 w 2095500"/>
              <a:gd name="T5" fmla="*/ 14386458 h 1950720"/>
              <a:gd name="T6" fmla="*/ 12490192 w 2095500"/>
              <a:gd name="T7" fmla="*/ 15105809 h 1950720"/>
              <a:gd name="T8" fmla="*/ 0 60000 65536"/>
              <a:gd name="T9" fmla="*/ 0 60000 65536"/>
              <a:gd name="T10" fmla="*/ 0 60000 65536"/>
              <a:gd name="T11" fmla="*/ 0 60000 65536"/>
              <a:gd name="T12" fmla="*/ 0 w 2095500"/>
              <a:gd name="T13" fmla="*/ 0 h 1950720"/>
              <a:gd name="T14" fmla="*/ 2095500 w 2095500"/>
              <a:gd name="T15" fmla="*/ 1950720 h 1950720"/>
            </a:gdLst>
            <a:ahLst/>
            <a:cxnLst>
              <a:cxn ang="T8">
                <a:pos x="T0" y="T1"/>
              </a:cxn>
              <a:cxn ang="T9">
                <a:pos x="T2" y="T3"/>
              </a:cxn>
              <a:cxn ang="T10">
                <a:pos x="T4" y="T5"/>
              </a:cxn>
              <a:cxn ang="T11">
                <a:pos x="T6" y="T7"/>
              </a:cxn>
            </a:cxnLst>
            <a:rect l="T12" t="T13" r="T14" b="T15"/>
            <a:pathLst>
              <a:path w="2095500" h="1950720">
                <a:moveTo>
                  <a:pt x="861060" y="0"/>
                </a:moveTo>
                <a:cubicBezTo>
                  <a:pt x="430530" y="441960"/>
                  <a:pt x="0" y="883920"/>
                  <a:pt x="15240" y="1188720"/>
                </a:cubicBezTo>
                <a:cubicBezTo>
                  <a:pt x="30480" y="1493520"/>
                  <a:pt x="605790" y="1706880"/>
                  <a:pt x="952500" y="1828800"/>
                </a:cubicBezTo>
                <a:cubicBezTo>
                  <a:pt x="1299210" y="1950720"/>
                  <a:pt x="1697355" y="1935480"/>
                  <a:pt x="2095500" y="1920240"/>
                </a:cubicBezTo>
              </a:path>
            </a:pathLst>
          </a:custGeom>
          <a:noFill/>
          <a:ln w="28575" cmpd="sng">
            <a:solidFill>
              <a:srgbClr val="9DA2AD"/>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9707" name="任意多边形 22"/>
          <p:cNvSpPr>
            <a:spLocks noChangeArrowheads="1"/>
          </p:cNvSpPr>
          <p:nvPr/>
        </p:nvSpPr>
        <p:spPr bwMode="auto">
          <a:xfrm>
            <a:off x="3152775" y="2989263"/>
            <a:ext cx="973138" cy="779462"/>
          </a:xfrm>
          <a:custGeom>
            <a:avLst/>
            <a:gdLst>
              <a:gd name="T0" fmla="*/ 0 w 777240"/>
              <a:gd name="T1" fmla="*/ 0 h 601980"/>
              <a:gd name="T2" fmla="*/ 1107100 w 777240"/>
              <a:gd name="T3" fmla="*/ 3961557 h 601980"/>
              <a:gd name="T4" fmla="*/ 4705173 w 777240"/>
              <a:gd name="T5" fmla="*/ 4681832 h 601980"/>
              <a:gd name="T6" fmla="*/ 0 60000 65536"/>
              <a:gd name="T7" fmla="*/ 0 60000 65536"/>
              <a:gd name="T8" fmla="*/ 0 60000 65536"/>
              <a:gd name="T9" fmla="*/ 0 w 777240"/>
              <a:gd name="T10" fmla="*/ 0 h 601980"/>
              <a:gd name="T11" fmla="*/ 777240 w 777240"/>
              <a:gd name="T12" fmla="*/ 601980 h 601980"/>
            </a:gdLst>
            <a:ahLst/>
            <a:cxnLst>
              <a:cxn ang="T6">
                <a:pos x="T0" y="T1"/>
              </a:cxn>
              <a:cxn ang="T7">
                <a:pos x="T2" y="T3"/>
              </a:cxn>
              <a:cxn ang="T8">
                <a:pos x="T4" y="T5"/>
              </a:cxn>
            </a:cxnLst>
            <a:rect l="T9" t="T10" r="T11" b="T12"/>
            <a:pathLst>
              <a:path w="777240" h="601980">
                <a:moveTo>
                  <a:pt x="0" y="0"/>
                </a:moveTo>
                <a:cubicBezTo>
                  <a:pt x="26670" y="201930"/>
                  <a:pt x="53340" y="403860"/>
                  <a:pt x="182880" y="502920"/>
                </a:cubicBezTo>
                <a:cubicBezTo>
                  <a:pt x="312420" y="601980"/>
                  <a:pt x="544830" y="598170"/>
                  <a:pt x="777240" y="59436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9708" name="任意多边形 23"/>
          <p:cNvSpPr>
            <a:spLocks noChangeArrowheads="1"/>
          </p:cNvSpPr>
          <p:nvPr/>
        </p:nvSpPr>
        <p:spPr bwMode="auto">
          <a:xfrm>
            <a:off x="2724150" y="3641725"/>
            <a:ext cx="1087438" cy="650875"/>
          </a:xfrm>
          <a:custGeom>
            <a:avLst/>
            <a:gdLst>
              <a:gd name="T0" fmla="*/ 0 w 868680"/>
              <a:gd name="T1" fmla="*/ 0 h 502920"/>
              <a:gd name="T2" fmla="*/ 1941341 w 868680"/>
              <a:gd name="T3" fmla="*/ 3429405 h 502920"/>
              <a:gd name="T4" fmla="*/ 5269341 w 868680"/>
              <a:gd name="T5" fmla="*/ 3248909 h 502920"/>
              <a:gd name="T6" fmla="*/ 0 60000 65536"/>
              <a:gd name="T7" fmla="*/ 0 60000 65536"/>
              <a:gd name="T8" fmla="*/ 0 60000 65536"/>
              <a:gd name="T9" fmla="*/ 0 w 868680"/>
              <a:gd name="T10" fmla="*/ 0 h 502920"/>
              <a:gd name="T11" fmla="*/ 868680 w 868680"/>
              <a:gd name="T12" fmla="*/ 502920 h 502920"/>
            </a:gdLst>
            <a:ahLst/>
            <a:cxnLst>
              <a:cxn ang="T6">
                <a:pos x="T0" y="T1"/>
              </a:cxn>
              <a:cxn ang="T7">
                <a:pos x="T2" y="T3"/>
              </a:cxn>
              <a:cxn ang="T8">
                <a:pos x="T4" y="T5"/>
              </a:cxn>
            </a:cxnLst>
            <a:rect l="T9" t="T10" r="T11" b="T12"/>
            <a:pathLst>
              <a:path w="868680" h="502920">
                <a:moveTo>
                  <a:pt x="0" y="0"/>
                </a:moveTo>
                <a:cubicBezTo>
                  <a:pt x="87630" y="182880"/>
                  <a:pt x="175260" y="365760"/>
                  <a:pt x="320040" y="434340"/>
                </a:cubicBezTo>
                <a:cubicBezTo>
                  <a:pt x="464820" y="502920"/>
                  <a:pt x="666750" y="457200"/>
                  <a:pt x="868680" y="41148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9709" name="任意多边形 24"/>
          <p:cNvSpPr>
            <a:spLocks noChangeArrowheads="1"/>
          </p:cNvSpPr>
          <p:nvPr/>
        </p:nvSpPr>
        <p:spPr bwMode="auto">
          <a:xfrm>
            <a:off x="3897313" y="4705350"/>
            <a:ext cx="885825" cy="404813"/>
          </a:xfrm>
          <a:custGeom>
            <a:avLst/>
            <a:gdLst>
              <a:gd name="T0" fmla="*/ 0 w 708660"/>
              <a:gd name="T1" fmla="*/ 0 h 312420"/>
              <a:gd name="T2" fmla="*/ 2306005 w 708660"/>
              <a:gd name="T3" fmla="*/ 2188273 h 312420"/>
              <a:gd name="T4" fmla="*/ 4205067 w 708660"/>
              <a:gd name="T5" fmla="*/ 1823553 h 312420"/>
              <a:gd name="T6" fmla="*/ 0 60000 65536"/>
              <a:gd name="T7" fmla="*/ 0 60000 65536"/>
              <a:gd name="T8" fmla="*/ 0 60000 65536"/>
              <a:gd name="T9" fmla="*/ 0 w 708660"/>
              <a:gd name="T10" fmla="*/ 0 h 312420"/>
              <a:gd name="T11" fmla="*/ 708660 w 708660"/>
              <a:gd name="T12" fmla="*/ 312420 h 312420"/>
            </a:gdLst>
            <a:ahLst/>
            <a:cxnLst>
              <a:cxn ang="T6">
                <a:pos x="T0" y="T1"/>
              </a:cxn>
              <a:cxn ang="T7">
                <a:pos x="T2" y="T3"/>
              </a:cxn>
              <a:cxn ang="T8">
                <a:pos x="T4" y="T5"/>
              </a:cxn>
            </a:cxnLst>
            <a:rect l="T9" t="T10" r="T11" b="T12"/>
            <a:pathLst>
              <a:path w="708660" h="312420">
                <a:moveTo>
                  <a:pt x="0" y="0"/>
                </a:moveTo>
                <a:cubicBezTo>
                  <a:pt x="135255" y="118110"/>
                  <a:pt x="270510" y="236220"/>
                  <a:pt x="388620" y="274320"/>
                </a:cubicBezTo>
                <a:cubicBezTo>
                  <a:pt x="506730" y="312420"/>
                  <a:pt x="607695" y="270510"/>
                  <a:pt x="708660" y="228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29710" name="直接连接符 26"/>
          <p:cNvSpPr>
            <a:spLocks noChangeShapeType="1"/>
          </p:cNvSpPr>
          <p:nvPr/>
        </p:nvSpPr>
        <p:spPr bwMode="auto">
          <a:xfrm flipH="1">
            <a:off x="4375150" y="5060950"/>
            <a:ext cx="7938" cy="6873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直接连接符 28"/>
          <p:cNvSpPr>
            <a:spLocks noChangeShapeType="1"/>
          </p:cNvSpPr>
          <p:nvPr/>
        </p:nvSpPr>
        <p:spPr bwMode="auto">
          <a:xfrm>
            <a:off x="3382963" y="3641725"/>
            <a:ext cx="11112" cy="2106613"/>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直接连接符 30"/>
          <p:cNvSpPr>
            <a:spLocks noChangeShapeType="1"/>
          </p:cNvSpPr>
          <p:nvPr/>
        </p:nvSpPr>
        <p:spPr bwMode="auto">
          <a:xfrm flipH="1">
            <a:off x="3125788" y="4203700"/>
            <a:ext cx="1587" cy="154463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3" name="TextBox 31"/>
          <p:cNvSpPr>
            <a:spLocks noChangeArrowheads="1"/>
          </p:cNvSpPr>
          <p:nvPr/>
        </p:nvSpPr>
        <p:spPr bwMode="auto">
          <a:xfrm>
            <a:off x="1803401" y="2759291"/>
            <a:ext cx="8032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endParaRPr lang="zh-CN" altLang="en-US" dirty="0">
              <a:solidFill>
                <a:srgbClr val="000000"/>
              </a:solidFill>
              <a:sym typeface="Arial" panose="020B0604020202020204" pitchFamily="34" charset="0"/>
            </a:endParaRPr>
          </a:p>
        </p:txBody>
      </p:sp>
      <p:sp>
        <p:nvSpPr>
          <p:cNvPr id="29715" name="TextBox 33"/>
          <p:cNvSpPr>
            <a:spLocks noChangeArrowheads="1"/>
          </p:cNvSpPr>
          <p:nvPr/>
        </p:nvSpPr>
        <p:spPr bwMode="auto">
          <a:xfrm>
            <a:off x="1803401" y="5008563"/>
            <a:ext cx="625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00"/>
                </a:solidFill>
                <a:sym typeface="Arial" panose="020B0604020202020204" pitchFamily="34" charset="0"/>
              </a:rPr>
              <a:t>Y</a:t>
            </a:r>
            <a:endParaRPr lang="zh-CN" altLang="en-US" sz="1800">
              <a:solidFill>
                <a:srgbClr val="000000"/>
              </a:solidFill>
              <a:sym typeface="Arial" panose="020B0604020202020204" pitchFamily="34" charset="0"/>
            </a:endParaRPr>
          </a:p>
        </p:txBody>
      </p:sp>
      <p:sp>
        <p:nvSpPr>
          <p:cNvPr id="29716" name="TextBox 34"/>
          <p:cNvSpPr>
            <a:spLocks noChangeArrowheads="1"/>
          </p:cNvSpPr>
          <p:nvPr/>
        </p:nvSpPr>
        <p:spPr bwMode="auto">
          <a:xfrm>
            <a:off x="1803401" y="3740150"/>
            <a:ext cx="6254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C</a:t>
            </a:r>
            <a:r>
              <a:rPr lang="en-US" altLang="zh-CN" sz="1100">
                <a:solidFill>
                  <a:srgbClr val="000000"/>
                </a:solidFill>
                <a:sym typeface="Arial" panose="020B0604020202020204" pitchFamily="34" charset="0"/>
              </a:rPr>
              <a:t>1</a:t>
            </a:r>
            <a:endParaRPr lang="zh-CN" altLang="en-US" sz="1100">
              <a:solidFill>
                <a:srgbClr val="000000"/>
              </a:solidFill>
              <a:sym typeface="Arial" panose="020B0604020202020204" pitchFamily="34" charset="0"/>
            </a:endParaRPr>
          </a:p>
        </p:txBody>
      </p:sp>
      <p:sp>
        <p:nvSpPr>
          <p:cNvPr id="29717" name="TextBox 35"/>
          <p:cNvSpPr>
            <a:spLocks noChangeArrowheads="1"/>
          </p:cNvSpPr>
          <p:nvPr/>
        </p:nvSpPr>
        <p:spPr bwMode="auto">
          <a:xfrm>
            <a:off x="1803401" y="4454525"/>
            <a:ext cx="7143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C</a:t>
            </a:r>
            <a:r>
              <a:rPr lang="en-US" altLang="zh-CN" sz="1100">
                <a:solidFill>
                  <a:srgbClr val="000000"/>
                </a:solidFill>
                <a:sym typeface="Arial" panose="020B0604020202020204" pitchFamily="34" charset="0"/>
              </a:rPr>
              <a:t>0</a:t>
            </a:r>
            <a:endParaRPr lang="zh-CN" altLang="en-US" sz="1100">
              <a:solidFill>
                <a:srgbClr val="000000"/>
              </a:solidFill>
              <a:sym typeface="Arial" panose="020B0604020202020204" pitchFamily="34" charset="0"/>
            </a:endParaRPr>
          </a:p>
        </p:txBody>
      </p:sp>
      <p:sp>
        <p:nvSpPr>
          <p:cNvPr id="29718" name="TextBox 36"/>
          <p:cNvSpPr>
            <a:spLocks noChangeArrowheads="1"/>
          </p:cNvSpPr>
          <p:nvPr/>
        </p:nvSpPr>
        <p:spPr bwMode="auto">
          <a:xfrm>
            <a:off x="1803401" y="5748338"/>
            <a:ext cx="625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00"/>
                </a:solidFill>
                <a:sym typeface="Arial" panose="020B0604020202020204" pitchFamily="34" charset="0"/>
              </a:rPr>
              <a:t>O</a:t>
            </a:r>
            <a:endParaRPr lang="zh-CN" altLang="en-US" sz="1800">
              <a:solidFill>
                <a:srgbClr val="000000"/>
              </a:solidFill>
              <a:sym typeface="Arial" panose="020B0604020202020204" pitchFamily="34" charset="0"/>
            </a:endParaRPr>
          </a:p>
        </p:txBody>
      </p:sp>
      <p:sp>
        <p:nvSpPr>
          <p:cNvPr id="29719" name="TextBox 37"/>
          <p:cNvSpPr>
            <a:spLocks noChangeArrowheads="1"/>
          </p:cNvSpPr>
          <p:nvPr/>
        </p:nvSpPr>
        <p:spPr bwMode="auto">
          <a:xfrm>
            <a:off x="2786063" y="574833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H</a:t>
            </a:r>
            <a:r>
              <a:rPr lang="en-US" altLang="zh-CN" sz="1100">
                <a:solidFill>
                  <a:srgbClr val="000000"/>
                </a:solidFill>
                <a:sym typeface="Arial" panose="020B0604020202020204" pitchFamily="34" charset="0"/>
              </a:rPr>
              <a:t>1</a:t>
            </a:r>
            <a:endParaRPr lang="zh-CN" altLang="en-US" sz="1100">
              <a:solidFill>
                <a:srgbClr val="000000"/>
              </a:solidFill>
              <a:sym typeface="Arial" panose="020B0604020202020204" pitchFamily="34" charset="0"/>
            </a:endParaRPr>
          </a:p>
        </p:txBody>
      </p:sp>
      <p:sp>
        <p:nvSpPr>
          <p:cNvPr id="29720" name="TextBox 38"/>
          <p:cNvSpPr>
            <a:spLocks noChangeArrowheads="1"/>
          </p:cNvSpPr>
          <p:nvPr/>
        </p:nvSpPr>
        <p:spPr bwMode="auto">
          <a:xfrm>
            <a:off x="3232151" y="574833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H</a:t>
            </a:r>
            <a:r>
              <a:rPr lang="en-US" altLang="zh-CN" sz="1100">
                <a:solidFill>
                  <a:srgbClr val="000000"/>
                </a:solidFill>
                <a:sym typeface="Arial" panose="020B0604020202020204" pitchFamily="34" charset="0"/>
              </a:rPr>
              <a:t>2</a:t>
            </a:r>
            <a:endParaRPr lang="zh-CN" altLang="en-US" sz="1100">
              <a:solidFill>
                <a:srgbClr val="000000"/>
              </a:solidFill>
              <a:sym typeface="Arial" panose="020B0604020202020204" pitchFamily="34" charset="0"/>
            </a:endParaRPr>
          </a:p>
        </p:txBody>
      </p:sp>
      <p:sp>
        <p:nvSpPr>
          <p:cNvPr id="29721" name="TextBox 39"/>
          <p:cNvSpPr>
            <a:spLocks noChangeArrowheads="1"/>
          </p:cNvSpPr>
          <p:nvPr/>
        </p:nvSpPr>
        <p:spPr bwMode="auto">
          <a:xfrm>
            <a:off x="4125913" y="5748338"/>
            <a:ext cx="62388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H</a:t>
            </a:r>
            <a:r>
              <a:rPr lang="en-US" altLang="zh-CN" sz="1100">
                <a:solidFill>
                  <a:srgbClr val="000000"/>
                </a:solidFill>
                <a:sym typeface="Arial" panose="020B0604020202020204" pitchFamily="34" charset="0"/>
              </a:rPr>
              <a:t>0</a:t>
            </a:r>
            <a:endParaRPr lang="zh-CN" altLang="en-US" sz="1100">
              <a:solidFill>
                <a:srgbClr val="000000"/>
              </a:solidFill>
              <a:sym typeface="Arial" panose="020B0604020202020204" pitchFamily="34" charset="0"/>
            </a:endParaRPr>
          </a:p>
        </p:txBody>
      </p:sp>
      <p:sp>
        <p:nvSpPr>
          <p:cNvPr id="29722" name="TextBox 40"/>
          <p:cNvSpPr>
            <a:spLocks noChangeArrowheads="1"/>
          </p:cNvSpPr>
          <p:nvPr/>
        </p:nvSpPr>
        <p:spPr bwMode="auto">
          <a:xfrm>
            <a:off x="5446713" y="574833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L</a:t>
            </a:r>
            <a:endParaRPr lang="zh-CN" altLang="en-US" sz="1100">
              <a:solidFill>
                <a:srgbClr val="000000"/>
              </a:solidFill>
              <a:sym typeface="Arial" panose="020B0604020202020204" pitchFamily="34" charset="0"/>
            </a:endParaRPr>
          </a:p>
        </p:txBody>
      </p:sp>
      <p:sp>
        <p:nvSpPr>
          <p:cNvPr id="29723" name="TextBox 41"/>
          <p:cNvSpPr>
            <a:spLocks noChangeArrowheads="1"/>
          </p:cNvSpPr>
          <p:nvPr/>
        </p:nvSpPr>
        <p:spPr bwMode="auto">
          <a:xfrm>
            <a:off x="5715000" y="491648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E</a:t>
            </a:r>
            <a:endParaRPr lang="zh-CN" altLang="en-US" sz="1100">
              <a:solidFill>
                <a:srgbClr val="000000"/>
              </a:solidFill>
              <a:sym typeface="Arial" panose="020B0604020202020204" pitchFamily="34" charset="0"/>
            </a:endParaRPr>
          </a:p>
        </p:txBody>
      </p:sp>
      <p:sp>
        <p:nvSpPr>
          <p:cNvPr id="29724" name="TextBox 42"/>
          <p:cNvSpPr>
            <a:spLocks noChangeArrowheads="1"/>
          </p:cNvSpPr>
          <p:nvPr/>
        </p:nvSpPr>
        <p:spPr bwMode="auto">
          <a:xfrm>
            <a:off x="4017962" y="5050631"/>
            <a:ext cx="6254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a:t>
            </a:r>
            <a:endParaRPr lang="zh-CN" altLang="en-US" sz="1100" dirty="0">
              <a:solidFill>
                <a:srgbClr val="000000"/>
              </a:solidFill>
              <a:sym typeface="Arial" panose="020B0604020202020204" pitchFamily="34" charset="0"/>
            </a:endParaRPr>
          </a:p>
        </p:txBody>
      </p:sp>
      <p:sp>
        <p:nvSpPr>
          <p:cNvPr id="29725" name="TextBox 43"/>
          <p:cNvSpPr>
            <a:spLocks noChangeArrowheads="1"/>
          </p:cNvSpPr>
          <p:nvPr/>
        </p:nvSpPr>
        <p:spPr bwMode="auto">
          <a:xfrm>
            <a:off x="2679700" y="4270375"/>
            <a:ext cx="62388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B</a:t>
            </a:r>
            <a:endParaRPr lang="zh-CN" altLang="en-US" sz="1100" dirty="0">
              <a:solidFill>
                <a:srgbClr val="000000"/>
              </a:solidFill>
              <a:sym typeface="Arial" panose="020B0604020202020204" pitchFamily="34" charset="0"/>
            </a:endParaRPr>
          </a:p>
        </p:txBody>
      </p:sp>
      <p:sp>
        <p:nvSpPr>
          <p:cNvPr id="29726" name="TextBox 44"/>
          <p:cNvSpPr>
            <a:spLocks noChangeArrowheads="1"/>
          </p:cNvSpPr>
          <p:nvPr/>
        </p:nvSpPr>
        <p:spPr bwMode="auto">
          <a:xfrm>
            <a:off x="3214688" y="2882900"/>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C</a:t>
            </a:r>
            <a:endParaRPr lang="zh-CN" altLang="en-US" sz="1100">
              <a:solidFill>
                <a:srgbClr val="000000"/>
              </a:solidFill>
              <a:sym typeface="Arial" panose="020B0604020202020204" pitchFamily="34" charset="0"/>
            </a:endParaRPr>
          </a:p>
        </p:txBody>
      </p:sp>
      <p:sp>
        <p:nvSpPr>
          <p:cNvPr id="29727" name="TextBox 45"/>
          <p:cNvSpPr>
            <a:spLocks noChangeArrowheads="1"/>
          </p:cNvSpPr>
          <p:nvPr/>
        </p:nvSpPr>
        <p:spPr bwMode="auto">
          <a:xfrm>
            <a:off x="4197350" y="2420938"/>
            <a:ext cx="89217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PEP</a:t>
            </a:r>
            <a:endParaRPr lang="zh-CN" altLang="en-US" sz="1100">
              <a:solidFill>
                <a:srgbClr val="000000"/>
              </a:solidFill>
              <a:sym typeface="Arial" panose="020B0604020202020204" pitchFamily="34" charset="0"/>
            </a:endParaRPr>
          </a:p>
        </p:txBody>
      </p:sp>
      <p:sp>
        <p:nvSpPr>
          <p:cNvPr id="29728" name="TextBox 46"/>
          <p:cNvSpPr>
            <a:spLocks noChangeArrowheads="1"/>
          </p:cNvSpPr>
          <p:nvPr/>
        </p:nvSpPr>
        <p:spPr bwMode="auto">
          <a:xfrm>
            <a:off x="6518275" y="574833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H</a:t>
            </a:r>
            <a:endParaRPr lang="zh-CN" altLang="en-US" sz="1100">
              <a:solidFill>
                <a:srgbClr val="000000"/>
              </a:solidFill>
              <a:sym typeface="Arial" panose="020B0604020202020204" pitchFamily="34" charset="0"/>
            </a:endParaRPr>
          </a:p>
        </p:txBody>
      </p:sp>
      <p:sp>
        <p:nvSpPr>
          <p:cNvPr id="29729" name="TextBox 47"/>
          <p:cNvSpPr>
            <a:spLocks noChangeArrowheads="1"/>
          </p:cNvSpPr>
          <p:nvPr/>
        </p:nvSpPr>
        <p:spPr bwMode="auto">
          <a:xfrm>
            <a:off x="4017963" y="3436938"/>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U</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29730" name="TextBox 48"/>
          <p:cNvSpPr>
            <a:spLocks noChangeArrowheads="1"/>
          </p:cNvSpPr>
          <p:nvPr/>
        </p:nvSpPr>
        <p:spPr bwMode="auto">
          <a:xfrm>
            <a:off x="3660775" y="3992563"/>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U</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29731" name="TextBox 49"/>
          <p:cNvSpPr>
            <a:spLocks noChangeArrowheads="1"/>
          </p:cNvSpPr>
          <p:nvPr/>
        </p:nvSpPr>
        <p:spPr bwMode="auto">
          <a:xfrm>
            <a:off x="4554538" y="4546600"/>
            <a:ext cx="625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U</a:t>
            </a:r>
            <a:r>
              <a:rPr lang="en-US" altLang="zh-CN" sz="1100">
                <a:solidFill>
                  <a:srgbClr val="000000"/>
                </a:solidFill>
                <a:sym typeface="Arial" panose="020B0604020202020204" pitchFamily="34" charset="0"/>
              </a:rPr>
              <a:t>0</a:t>
            </a:r>
            <a:endParaRPr lang="zh-CN" altLang="en-US" sz="1100">
              <a:solidFill>
                <a:srgbClr val="000000"/>
              </a:solidFill>
              <a:sym typeface="Arial" panose="020B0604020202020204" pitchFamily="34" charset="0"/>
            </a:endParaRPr>
          </a:p>
        </p:txBody>
      </p:sp>
      <p:sp>
        <p:nvSpPr>
          <p:cNvPr id="29732" name="圆角矩形标注 36"/>
          <p:cNvSpPr>
            <a:spLocks noChangeArrowheads="1"/>
          </p:cNvSpPr>
          <p:nvPr/>
        </p:nvSpPr>
        <p:spPr bwMode="auto">
          <a:xfrm>
            <a:off x="6245719" y="3069210"/>
            <a:ext cx="2764435" cy="1293971"/>
          </a:xfrm>
          <a:prstGeom prst="wedgeRoundRectCallout">
            <a:avLst>
              <a:gd name="adj1" fmla="val -120815"/>
              <a:gd name="adj2" fmla="val 61505"/>
              <a:gd name="adj3" fmla="val 16667"/>
            </a:avLst>
          </a:prstGeom>
          <a:noFill/>
          <a:ln w="28575">
            <a:solidFill>
              <a:schemeClr val="accent3">
                <a:lumMod val="50000"/>
              </a:schemeClr>
            </a:solidFill>
          </a:ln>
        </p:spPr>
        <p:txBody>
          <a:bodyPr wrap="square">
            <a:spAutoFit/>
          </a:bodyPr>
          <a:lstStyle/>
          <a:p>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W0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条件下的预算线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EC0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与无差异曲线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U0</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的切点为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与点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对应的最优闲暇量为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H0,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从而劳动供给量为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L-H0</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。同理，可得</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B,C</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9733" name="圆角矩形标注 37"/>
          <p:cNvSpPr>
            <a:spLocks noChangeArrowheads="1"/>
          </p:cNvSpPr>
          <p:nvPr/>
        </p:nvSpPr>
        <p:spPr bwMode="auto">
          <a:xfrm>
            <a:off x="6319837" y="4410869"/>
            <a:ext cx="2351684" cy="817245"/>
          </a:xfrm>
          <a:prstGeom prst="wedgeRoundRectCallout">
            <a:avLst>
              <a:gd name="adj1" fmla="val -65913"/>
              <a:gd name="adj2" fmla="val 23032"/>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消费者的初始状态为点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E,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它表示非劳动收入</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Y</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与时间资源总量</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的组合。 </a:t>
            </a:r>
            <a:endParaRPr lang="zh-CN" altLang="en-US" sz="1400" b="0" dirty="0">
              <a:latin typeface="微软雅黑" panose="020B0503020204020204" pitchFamily="34" charset="-122"/>
              <a:ea typeface="微软雅黑" panose="020B0503020204020204" pitchFamily="34" charset="-122"/>
            </a:endParaRPr>
          </a:p>
        </p:txBody>
      </p:sp>
      <p:sp>
        <p:nvSpPr>
          <p:cNvPr id="29734" name="圆角矩形标注 38"/>
          <p:cNvSpPr>
            <a:spLocks noChangeArrowheads="1"/>
          </p:cNvSpPr>
          <p:nvPr/>
        </p:nvSpPr>
        <p:spPr bwMode="auto">
          <a:xfrm>
            <a:off x="403225" y="2914939"/>
            <a:ext cx="1397000" cy="1938814"/>
          </a:xfrm>
          <a:prstGeom prst="wedgeRoundRectCallout">
            <a:avLst>
              <a:gd name="adj1" fmla="val 56364"/>
              <a:gd name="adj2" fmla="val 34273"/>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如果劳动价格即工资为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W0,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则最大可能的消费为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C0=W0L+Y,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即劳动收入与非劳动收入之和。 </a:t>
            </a:r>
            <a:endParaRPr lang="zh-CN" altLang="en-US" sz="1400" dirty="0">
              <a:latin typeface="微软雅黑" panose="020B0503020204020204" pitchFamily="34" charset="-122"/>
              <a:ea typeface="微软雅黑" panose="020B0503020204020204" pitchFamily="34" charset="-122"/>
            </a:endParaRPr>
          </a:p>
        </p:txBody>
      </p:sp>
      <p:sp>
        <p:nvSpPr>
          <p:cNvPr id="29735" name="圆角矩形标注 39"/>
          <p:cNvSpPr>
            <a:spLocks noChangeArrowheads="1"/>
          </p:cNvSpPr>
          <p:nvPr/>
        </p:nvSpPr>
        <p:spPr bwMode="auto">
          <a:xfrm>
            <a:off x="5708931" y="1836421"/>
            <a:ext cx="2851747" cy="817245"/>
          </a:xfrm>
          <a:prstGeom prst="wedgeRoundRectCallout">
            <a:avLst>
              <a:gd name="adj1" fmla="val -117542"/>
              <a:gd name="adj2" fmla="val 111143"/>
              <a:gd name="adj3" fmla="val 16667"/>
            </a:avLst>
          </a:prstGeom>
          <a:noFill/>
          <a:ln w="28575">
            <a:solidFill>
              <a:schemeClr val="accent3">
                <a:lumMod val="50000"/>
              </a:schemeClr>
            </a:solidFill>
          </a:ln>
        </p:spPr>
        <p:txBody>
          <a:bodyPr wrap="square">
            <a:spAutoFit/>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重复上述过程</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可得到类似于</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B</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和</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C</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的其他点。 这些点的集合即为价格扩展线</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PEP</a:t>
            </a:r>
            <a:endParaRPr lang="zh-CN" altLang="en-US" sz="14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41"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三、劳动供给曲线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627AE83D-F3D9-4FE1-841C-38AA09ECDF1C}"/>
              </a:ext>
            </a:extLst>
          </p:cNvPr>
          <p:cNvGrpSpPr/>
          <p:nvPr/>
        </p:nvGrpSpPr>
        <p:grpSpPr>
          <a:xfrm>
            <a:off x="521804" y="1341438"/>
            <a:ext cx="3186136" cy="514350"/>
            <a:chOff x="590472" y="1360062"/>
            <a:chExt cx="2729488" cy="514350"/>
          </a:xfrm>
        </p:grpSpPr>
        <p:sp>
          <p:nvSpPr>
            <p:cNvPr id="44"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590472" y="1360062"/>
              <a:ext cx="2729488"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algn="ctr" eaLnBrk="1" hangingPunct="1"/>
              <a:r>
                <a:rPr lang="zh-CN" altLang="en-US" sz="1800" b="0" dirty="0">
                  <a:solidFill>
                    <a:schemeClr val="tx2">
                      <a:lumMod val="85000"/>
                      <a:lumOff val="15000"/>
                    </a:schemeClr>
                  </a:solidFill>
                  <a:latin typeface="微软雅黑" panose="020B0503020204020204" pitchFamily="34" charset="-122"/>
                  <a:ea typeface="微软雅黑" panose="020B0503020204020204" pitchFamily="34" charset="-122"/>
                </a:rPr>
                <a:t>时间在闲暇和劳动之间的分配</a:t>
              </a:r>
              <a:endParaRPr lang="en-US" altLang="zh-CN" sz="1800" b="0" dirty="0">
                <a:solidFill>
                  <a:schemeClr val="tx2">
                    <a:lumMod val="85000"/>
                    <a:lumOff val="15000"/>
                  </a:schemeClr>
                </a:solidFill>
                <a:latin typeface="微软雅黑" panose="020B0503020204020204" pitchFamily="34" charset="-122"/>
                <a:ea typeface="微软雅黑" panose="020B0503020204020204" pitchFamily="34" charset="-122"/>
              </a:endParaRPr>
            </a:p>
          </p:txBody>
        </p:sp>
        <p:sp>
          <p:nvSpPr>
            <p:cNvPr id="45"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92960" y="1376550"/>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97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971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971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71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71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69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972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972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970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970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970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970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970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970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972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72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973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973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97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9711"/>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971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970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971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971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9733"/>
                                        </p:tgtEl>
                                        <p:attrNameLst>
                                          <p:attrName>style.visibility</p:attrName>
                                        </p:attrNameLst>
                                      </p:cBhvr>
                                      <p:to>
                                        <p:strVal val="visible"/>
                                      </p:to>
                                    </p:set>
                                    <p:animEffect transition="in" filter="fade">
                                      <p:cBhvr>
                                        <p:cTn id="66" dur="1000"/>
                                        <p:tgtEl>
                                          <p:spTgt spid="29733"/>
                                        </p:tgtEl>
                                      </p:cBhvr>
                                    </p:animEffect>
                                    <p:anim calcmode="lin" valueType="num">
                                      <p:cBhvr>
                                        <p:cTn id="67" dur="1000" fill="hold"/>
                                        <p:tgtEl>
                                          <p:spTgt spid="29733"/>
                                        </p:tgtEl>
                                        <p:attrNameLst>
                                          <p:attrName>ppt_x</p:attrName>
                                        </p:attrNameLst>
                                      </p:cBhvr>
                                      <p:tavLst>
                                        <p:tav tm="0">
                                          <p:val>
                                            <p:strVal val="#ppt_x"/>
                                          </p:val>
                                        </p:tav>
                                        <p:tav tm="100000">
                                          <p:val>
                                            <p:strVal val="#ppt_x"/>
                                          </p:val>
                                        </p:tav>
                                      </p:tavLst>
                                    </p:anim>
                                    <p:anim calcmode="lin" valueType="num">
                                      <p:cBhvr>
                                        <p:cTn id="68" dur="1000" fill="hold"/>
                                        <p:tgtEl>
                                          <p:spTgt spid="29733"/>
                                        </p:tgtEl>
                                        <p:attrNameLst>
                                          <p:attrName>ppt_y</p:attrName>
                                        </p:attrNameLst>
                                      </p:cBhvr>
                                      <p:tavLst>
                                        <p:tav tm="0">
                                          <p:val>
                                            <p:strVal val="#ppt_y+.1"/>
                                          </p:val>
                                        </p:tav>
                                        <p:tav tm="100000">
                                          <p:val>
                                            <p:strVal val="#ppt_y"/>
                                          </p:val>
                                        </p:tav>
                                      </p:tavLst>
                                    </p:anim>
                                  </p:childTnLst>
                                </p:cTn>
                              </p:par>
                              <p:par>
                                <p:cTn id="69" presetID="1" presetClass="entr" presetSubtype="0" fill="hold" grpId="0" nodeType="withEffect">
                                  <p:stCondLst>
                                    <p:cond delay="0"/>
                                  </p:stCondLst>
                                  <p:childTnLst>
                                    <p:set>
                                      <p:cBhvr>
                                        <p:cTn id="70" dur="1" fill="hold">
                                          <p:stCondLst>
                                            <p:cond delay="0"/>
                                          </p:stCondLst>
                                        </p:cTn>
                                        <p:tgtEl>
                                          <p:spTgt spid="297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72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97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70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970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970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734"/>
                                        </p:tgtEl>
                                        <p:attrNameLst>
                                          <p:attrName>style.visibility</p:attrName>
                                        </p:attrNameLst>
                                      </p:cBhvr>
                                      <p:to>
                                        <p:strVal val="visible"/>
                                      </p:to>
                                    </p:set>
                                    <p:animEffect transition="in" filter="fade">
                                      <p:cBhvr>
                                        <p:cTn id="91" dur="1000"/>
                                        <p:tgtEl>
                                          <p:spTgt spid="29734"/>
                                        </p:tgtEl>
                                      </p:cBhvr>
                                    </p:animEffect>
                                    <p:anim calcmode="lin" valueType="num">
                                      <p:cBhvr>
                                        <p:cTn id="92" dur="1000" fill="hold"/>
                                        <p:tgtEl>
                                          <p:spTgt spid="29734"/>
                                        </p:tgtEl>
                                        <p:attrNameLst>
                                          <p:attrName>ppt_x</p:attrName>
                                        </p:attrNameLst>
                                      </p:cBhvr>
                                      <p:tavLst>
                                        <p:tav tm="0">
                                          <p:val>
                                            <p:strVal val="#ppt_x"/>
                                          </p:val>
                                        </p:tav>
                                        <p:tav tm="100000">
                                          <p:val>
                                            <p:strVal val="#ppt_x"/>
                                          </p:val>
                                        </p:tav>
                                      </p:tavLst>
                                    </p:anim>
                                    <p:anim calcmode="lin" valueType="num">
                                      <p:cBhvr>
                                        <p:cTn id="93" dur="1000" fill="hold"/>
                                        <p:tgtEl>
                                          <p:spTgt spid="29734"/>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9732"/>
                                        </p:tgtEl>
                                        <p:attrNameLst>
                                          <p:attrName>style.visibility</p:attrName>
                                        </p:attrNameLst>
                                      </p:cBhvr>
                                      <p:to>
                                        <p:strVal val="visible"/>
                                      </p:to>
                                    </p:set>
                                    <p:animEffect transition="in" filter="fade">
                                      <p:cBhvr>
                                        <p:cTn id="98" dur="1000"/>
                                        <p:tgtEl>
                                          <p:spTgt spid="29732"/>
                                        </p:tgtEl>
                                      </p:cBhvr>
                                    </p:animEffect>
                                    <p:anim calcmode="lin" valueType="num">
                                      <p:cBhvr>
                                        <p:cTn id="99" dur="1000" fill="hold"/>
                                        <p:tgtEl>
                                          <p:spTgt spid="29732"/>
                                        </p:tgtEl>
                                        <p:attrNameLst>
                                          <p:attrName>ppt_x</p:attrName>
                                        </p:attrNameLst>
                                      </p:cBhvr>
                                      <p:tavLst>
                                        <p:tav tm="0">
                                          <p:val>
                                            <p:strVal val="#ppt_x"/>
                                          </p:val>
                                        </p:tav>
                                        <p:tav tm="100000">
                                          <p:val>
                                            <p:strVal val="#ppt_x"/>
                                          </p:val>
                                        </p:tav>
                                      </p:tavLst>
                                    </p:anim>
                                    <p:anim calcmode="lin" valueType="num">
                                      <p:cBhvr>
                                        <p:cTn id="100" dur="1000" fill="hold"/>
                                        <p:tgtEl>
                                          <p:spTgt spid="29732"/>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9735"/>
                                        </p:tgtEl>
                                        <p:attrNameLst>
                                          <p:attrName>style.visibility</p:attrName>
                                        </p:attrNameLst>
                                      </p:cBhvr>
                                      <p:to>
                                        <p:strVal val="visible"/>
                                      </p:to>
                                    </p:set>
                                    <p:animEffect transition="in" filter="fade">
                                      <p:cBhvr>
                                        <p:cTn id="105" dur="1000"/>
                                        <p:tgtEl>
                                          <p:spTgt spid="29735"/>
                                        </p:tgtEl>
                                      </p:cBhvr>
                                    </p:animEffect>
                                    <p:anim calcmode="lin" valueType="num">
                                      <p:cBhvr>
                                        <p:cTn id="106" dur="1000" fill="hold"/>
                                        <p:tgtEl>
                                          <p:spTgt spid="29735"/>
                                        </p:tgtEl>
                                        <p:attrNameLst>
                                          <p:attrName>ppt_x</p:attrName>
                                        </p:attrNameLst>
                                      </p:cBhvr>
                                      <p:tavLst>
                                        <p:tav tm="0">
                                          <p:val>
                                            <p:strVal val="#ppt_x"/>
                                          </p:val>
                                        </p:tav>
                                        <p:tav tm="100000">
                                          <p:val>
                                            <p:strVal val="#ppt_x"/>
                                          </p:val>
                                        </p:tav>
                                      </p:tavLst>
                                    </p:anim>
                                    <p:anim calcmode="lin" valueType="num">
                                      <p:cBhvr>
                                        <p:cTn id="107" dur="1000" fill="hold"/>
                                        <p:tgtEl>
                                          <p:spTgt spid="29735"/>
                                        </p:tgtEl>
                                        <p:attrNameLst>
                                          <p:attrName>ppt_y</p:attrName>
                                        </p:attrNameLst>
                                      </p:cBhvr>
                                      <p:tavLst>
                                        <p:tav tm="0">
                                          <p:val>
                                            <p:strVal val="#ppt_y+.1"/>
                                          </p:val>
                                        </p:tav>
                                        <p:tav tm="100000">
                                          <p:val>
                                            <p:strVal val="#ppt_y"/>
                                          </p:val>
                                        </p:tav>
                                      </p:tavLst>
                                    </p:anim>
                                  </p:childTnLst>
                                </p:cTn>
                              </p:par>
                              <p:par>
                                <p:cTn id="108" presetID="1" presetClass="entr" presetSubtype="0" fill="hold" grpId="0" nodeType="withEffect">
                                  <p:stCondLst>
                                    <p:cond delay="0"/>
                                  </p:stCondLst>
                                  <p:childTnLst>
                                    <p:set>
                                      <p:cBhvr>
                                        <p:cTn id="109" dur="1" fill="hold">
                                          <p:stCondLst>
                                            <p:cond delay="0"/>
                                          </p:stCondLst>
                                        </p:cTn>
                                        <p:tgtEl>
                                          <p:spTgt spid="29726"/>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29725"/>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29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4" grpId="0"/>
      <p:bldP spid="29699" grpId="0" animBg="1"/>
      <p:bldP spid="29700" grpId="0" animBg="1"/>
      <p:bldP spid="29701" grpId="0" animBg="1"/>
      <p:bldP spid="29702" grpId="0" animBg="1"/>
      <p:bldP spid="29703" grpId="0" animBg="1"/>
      <p:bldP spid="29704" grpId="0" animBg="1"/>
      <p:bldP spid="29705" grpId="0" animBg="1"/>
      <p:bldP spid="29706" grpId="0" animBg="1"/>
      <p:bldP spid="29707" grpId="0" animBg="1"/>
      <p:bldP spid="29708" grpId="0" animBg="1"/>
      <p:bldP spid="29709" grpId="0" animBg="1"/>
      <p:bldP spid="29710" grpId="0" animBg="1"/>
      <p:bldP spid="29711" grpId="0" animBg="1"/>
      <p:bldP spid="29712" grpId="0" animBg="1"/>
      <p:bldP spid="29713" grpId="0"/>
      <p:bldP spid="29715" grpId="0"/>
      <p:bldP spid="29716" grpId="0"/>
      <p:bldP spid="29717" grpId="0"/>
      <p:bldP spid="29718" grpId="0"/>
      <p:bldP spid="29719" grpId="0"/>
      <p:bldP spid="29720" grpId="0"/>
      <p:bldP spid="29721" grpId="0"/>
      <p:bldP spid="29722" grpId="0"/>
      <p:bldP spid="29723" grpId="0"/>
      <p:bldP spid="29724" grpId="0"/>
      <p:bldP spid="29725" grpId="0"/>
      <p:bldP spid="29726" grpId="0"/>
      <p:bldP spid="29727" grpId="0"/>
      <p:bldP spid="29728" grpId="0"/>
      <p:bldP spid="29729" grpId="0"/>
      <p:bldP spid="29730" grpId="0"/>
      <p:bldP spid="29731" grpId="0"/>
      <p:bldP spid="29732" grpId="0" animBg="1"/>
      <p:bldP spid="29733" grpId="0" animBg="1"/>
      <p:bldP spid="29734" grpId="0" animBg="1"/>
      <p:bldP spid="2973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Line 4"/>
          <p:cNvSpPr>
            <a:spLocks noChangeShapeType="1"/>
          </p:cNvSpPr>
          <p:nvPr/>
        </p:nvSpPr>
        <p:spPr bwMode="auto">
          <a:xfrm flipV="1">
            <a:off x="2599386" y="1835283"/>
            <a:ext cx="1588" cy="3805238"/>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24" name="Line 5"/>
          <p:cNvSpPr>
            <a:spLocks noChangeShapeType="1"/>
          </p:cNvSpPr>
          <p:nvPr/>
        </p:nvSpPr>
        <p:spPr bwMode="auto">
          <a:xfrm>
            <a:off x="2599386" y="5640521"/>
            <a:ext cx="4352925"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25" name="Text Box 6"/>
          <p:cNvSpPr>
            <a:spLocks noChangeArrowheads="1"/>
          </p:cNvSpPr>
          <p:nvPr/>
        </p:nvSpPr>
        <p:spPr bwMode="auto">
          <a:xfrm>
            <a:off x="2181874" y="1751146"/>
            <a:ext cx="6683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endParaRPr lang="zh-CN" altLang="en-US" dirty="0"/>
          </a:p>
        </p:txBody>
      </p:sp>
      <p:sp>
        <p:nvSpPr>
          <p:cNvPr id="30726" name="Text Box 7"/>
          <p:cNvSpPr>
            <a:spLocks noChangeArrowheads="1"/>
          </p:cNvSpPr>
          <p:nvPr/>
        </p:nvSpPr>
        <p:spPr bwMode="auto">
          <a:xfrm>
            <a:off x="2264424" y="5472246"/>
            <a:ext cx="3619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O</a:t>
            </a:r>
            <a:endParaRPr lang="zh-CN" altLang="en-US" dirty="0"/>
          </a:p>
        </p:txBody>
      </p:sp>
      <p:sp>
        <p:nvSpPr>
          <p:cNvPr id="30727" name="Text Box 8"/>
          <p:cNvSpPr>
            <a:spLocks noChangeArrowheads="1"/>
          </p:cNvSpPr>
          <p:nvPr/>
        </p:nvSpPr>
        <p:spPr bwMode="auto">
          <a:xfrm>
            <a:off x="6785624" y="5642108"/>
            <a:ext cx="3603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L</a:t>
            </a:r>
            <a:endParaRPr lang="zh-CN" altLang="en-US" dirty="0"/>
          </a:p>
        </p:txBody>
      </p:sp>
      <p:sp>
        <p:nvSpPr>
          <p:cNvPr id="30728" name="Text Box 9"/>
          <p:cNvSpPr>
            <a:spLocks noChangeArrowheads="1"/>
          </p:cNvSpPr>
          <p:nvPr/>
        </p:nvSpPr>
        <p:spPr bwMode="auto">
          <a:xfrm>
            <a:off x="2181874" y="2429008"/>
            <a:ext cx="92075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2</a:t>
            </a:r>
            <a:endParaRPr lang="zh-CN" altLang="en-US" dirty="0"/>
          </a:p>
        </p:txBody>
      </p:sp>
      <p:sp>
        <p:nvSpPr>
          <p:cNvPr id="30729" name="Text Box 10"/>
          <p:cNvSpPr>
            <a:spLocks noChangeArrowheads="1"/>
          </p:cNvSpPr>
          <p:nvPr/>
        </p:nvSpPr>
        <p:spPr bwMode="auto">
          <a:xfrm>
            <a:off x="2181874" y="4543558"/>
            <a:ext cx="585787"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0</a:t>
            </a:r>
            <a:endParaRPr lang="zh-CN" altLang="en-US" dirty="0"/>
          </a:p>
        </p:txBody>
      </p:sp>
      <p:sp>
        <p:nvSpPr>
          <p:cNvPr id="30730" name="Line 11"/>
          <p:cNvSpPr>
            <a:spLocks noChangeShapeType="1"/>
          </p:cNvSpPr>
          <p:nvPr/>
        </p:nvSpPr>
        <p:spPr bwMode="auto">
          <a:xfrm>
            <a:off x="2683524" y="2681421"/>
            <a:ext cx="3014662"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1" name="Line 12"/>
          <p:cNvSpPr>
            <a:spLocks noChangeShapeType="1"/>
          </p:cNvSpPr>
          <p:nvPr/>
        </p:nvSpPr>
        <p:spPr bwMode="auto">
          <a:xfrm>
            <a:off x="2599386" y="3443421"/>
            <a:ext cx="3683000"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2" name="Line 13"/>
          <p:cNvSpPr>
            <a:spLocks noChangeShapeType="1"/>
          </p:cNvSpPr>
          <p:nvPr/>
        </p:nvSpPr>
        <p:spPr bwMode="auto">
          <a:xfrm>
            <a:off x="6282386" y="3443421"/>
            <a:ext cx="1588" cy="21986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3" name="Line 14"/>
          <p:cNvSpPr>
            <a:spLocks noChangeShapeType="1"/>
          </p:cNvSpPr>
          <p:nvPr/>
        </p:nvSpPr>
        <p:spPr bwMode="auto">
          <a:xfrm>
            <a:off x="5698186" y="2681421"/>
            <a:ext cx="1588" cy="296227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4" name="Text Box 15"/>
          <p:cNvSpPr>
            <a:spLocks noChangeArrowheads="1"/>
          </p:cNvSpPr>
          <p:nvPr/>
        </p:nvSpPr>
        <p:spPr bwMode="auto">
          <a:xfrm>
            <a:off x="2181874" y="3273558"/>
            <a:ext cx="5492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1</a:t>
            </a:r>
            <a:endParaRPr lang="zh-CN" altLang="en-US" dirty="0"/>
          </a:p>
        </p:txBody>
      </p:sp>
      <p:sp>
        <p:nvSpPr>
          <p:cNvPr id="30735" name="Text Box 16"/>
          <p:cNvSpPr>
            <a:spLocks noChangeArrowheads="1"/>
          </p:cNvSpPr>
          <p:nvPr/>
        </p:nvSpPr>
        <p:spPr bwMode="auto">
          <a:xfrm>
            <a:off x="4777436" y="4627696"/>
            <a:ext cx="419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A</a:t>
            </a:r>
            <a:endParaRPr lang="zh-CN" altLang="en-US" dirty="0"/>
          </a:p>
        </p:txBody>
      </p:sp>
      <p:sp>
        <p:nvSpPr>
          <p:cNvPr id="30736" name="Text Box 17"/>
          <p:cNvSpPr>
            <a:spLocks noChangeArrowheads="1"/>
          </p:cNvSpPr>
          <p:nvPr/>
        </p:nvSpPr>
        <p:spPr bwMode="auto">
          <a:xfrm>
            <a:off x="5698186" y="2341696"/>
            <a:ext cx="3587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30737" name="Text Box 18"/>
          <p:cNvSpPr>
            <a:spLocks noChangeArrowheads="1"/>
          </p:cNvSpPr>
          <p:nvPr/>
        </p:nvSpPr>
        <p:spPr bwMode="auto">
          <a:xfrm>
            <a:off x="2443811" y="3316421"/>
            <a:ext cx="3603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30738" name="Text Box 19"/>
          <p:cNvSpPr>
            <a:spLocks noChangeArrowheads="1"/>
          </p:cNvSpPr>
          <p:nvPr/>
        </p:nvSpPr>
        <p:spPr bwMode="auto">
          <a:xfrm>
            <a:off x="5612461" y="2341696"/>
            <a:ext cx="625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sz="1800" b="0">
              <a:solidFill>
                <a:srgbClr val="000000"/>
              </a:solidFill>
              <a:sym typeface="Arial" panose="020B0604020202020204" pitchFamily="34" charset="0"/>
            </a:endParaRPr>
          </a:p>
        </p:txBody>
      </p:sp>
      <p:sp>
        <p:nvSpPr>
          <p:cNvPr id="30739" name="Text Box 20"/>
          <p:cNvSpPr>
            <a:spLocks noChangeArrowheads="1"/>
          </p:cNvSpPr>
          <p:nvPr/>
        </p:nvSpPr>
        <p:spPr bwMode="auto">
          <a:xfrm>
            <a:off x="4525024" y="1921008"/>
            <a:ext cx="6619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sz="1000">
              <a:solidFill>
                <a:srgbClr val="000000"/>
              </a:solidFill>
              <a:sym typeface="Arial" panose="020B0604020202020204" pitchFamily="34" charset="0"/>
            </a:endParaRPr>
          </a:p>
        </p:txBody>
      </p:sp>
      <p:sp>
        <p:nvSpPr>
          <p:cNvPr id="30740" name="Text Box 21"/>
          <p:cNvSpPr>
            <a:spLocks noChangeArrowheads="1"/>
          </p:cNvSpPr>
          <p:nvPr/>
        </p:nvSpPr>
        <p:spPr bwMode="auto">
          <a:xfrm>
            <a:off x="6282386" y="3273558"/>
            <a:ext cx="4810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30741" name="Text Box 22"/>
          <p:cNvSpPr>
            <a:spLocks noChangeArrowheads="1"/>
          </p:cNvSpPr>
          <p:nvPr/>
        </p:nvSpPr>
        <p:spPr bwMode="auto">
          <a:xfrm>
            <a:off x="4609161" y="5642108"/>
            <a:ext cx="1003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-H</a:t>
            </a:r>
            <a:r>
              <a:rPr lang="zh-CN" altLang="en-US" sz="1000" dirty="0">
                <a:solidFill>
                  <a:srgbClr val="000000"/>
                </a:solidFill>
                <a:sym typeface="Arial" panose="020B0604020202020204" pitchFamily="34" charset="0"/>
              </a:rPr>
              <a:t>0</a:t>
            </a:r>
            <a:endParaRPr lang="zh-CN" altLang="en-US" dirty="0"/>
          </a:p>
        </p:txBody>
      </p:sp>
      <p:sp>
        <p:nvSpPr>
          <p:cNvPr id="30742" name="Text Box 23"/>
          <p:cNvSpPr>
            <a:spLocks noChangeArrowheads="1"/>
          </p:cNvSpPr>
          <p:nvPr/>
        </p:nvSpPr>
        <p:spPr bwMode="auto">
          <a:xfrm>
            <a:off x="6701486" y="4881696"/>
            <a:ext cx="838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2</a:t>
            </a:r>
            <a:endParaRPr lang="zh-CN" altLang="en-US"/>
          </a:p>
        </p:txBody>
      </p:sp>
      <p:sp>
        <p:nvSpPr>
          <p:cNvPr id="30743" name="Line 24"/>
          <p:cNvSpPr>
            <a:spLocks noChangeShapeType="1"/>
          </p:cNvSpPr>
          <p:nvPr/>
        </p:nvSpPr>
        <p:spPr bwMode="auto">
          <a:xfrm>
            <a:off x="2600974" y="4711833"/>
            <a:ext cx="2176462" cy="15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4" name="Line 25"/>
          <p:cNvSpPr>
            <a:spLocks noChangeShapeType="1"/>
          </p:cNvSpPr>
          <p:nvPr/>
        </p:nvSpPr>
        <p:spPr bwMode="auto">
          <a:xfrm>
            <a:off x="4777436" y="4711833"/>
            <a:ext cx="0" cy="930275"/>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5" name="Line 26"/>
          <p:cNvSpPr>
            <a:spLocks noChangeShapeType="1"/>
          </p:cNvSpPr>
          <p:nvPr/>
        </p:nvSpPr>
        <p:spPr bwMode="auto">
          <a:xfrm flipH="1">
            <a:off x="5780736" y="5051558"/>
            <a:ext cx="838200" cy="506413"/>
          </a:xfrm>
          <a:prstGeom prst="line">
            <a:avLst/>
          </a:prstGeom>
          <a:noFill/>
          <a:ln w="952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6" name="Text Box 27"/>
          <p:cNvSpPr>
            <a:spLocks noChangeArrowheads="1"/>
          </p:cNvSpPr>
          <p:nvPr/>
        </p:nvSpPr>
        <p:spPr bwMode="auto">
          <a:xfrm>
            <a:off x="6117286" y="5642108"/>
            <a:ext cx="7000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r>
              <a:rPr lang="zh-CN" altLang="en-US" sz="1000">
                <a:solidFill>
                  <a:srgbClr val="000000"/>
                </a:solidFill>
                <a:sym typeface="Arial" panose="020B0604020202020204" pitchFamily="34" charset="0"/>
              </a:rPr>
              <a:t>1</a:t>
            </a:r>
            <a:endParaRPr lang="zh-CN" altLang="en-US"/>
          </a:p>
        </p:txBody>
      </p:sp>
      <p:sp>
        <p:nvSpPr>
          <p:cNvPr id="30747" name="未知"/>
          <p:cNvSpPr>
            <a:spLocks noChangeArrowheads="1"/>
          </p:cNvSpPr>
          <p:nvPr/>
        </p:nvSpPr>
        <p:spPr bwMode="auto">
          <a:xfrm>
            <a:off x="3520136" y="2175008"/>
            <a:ext cx="2792413" cy="27432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31" y="0"/>
                </a:moveTo>
                <a:cubicBezTo>
                  <a:pt x="11231" y="722"/>
                  <a:pt x="15344" y="2741"/>
                  <a:pt x="17218" y="4321"/>
                </a:cubicBezTo>
                <a:cubicBezTo>
                  <a:pt x="19092" y="5900"/>
                  <a:pt x="20971" y="7708"/>
                  <a:pt x="21285" y="9476"/>
                </a:cubicBezTo>
                <a:cubicBezTo>
                  <a:pt x="21600" y="11243"/>
                  <a:pt x="20674" y="13239"/>
                  <a:pt x="19114" y="14912"/>
                </a:cubicBezTo>
                <a:cubicBezTo>
                  <a:pt x="17555" y="16586"/>
                  <a:pt x="15116" y="18394"/>
                  <a:pt x="11928" y="19509"/>
                </a:cubicBezTo>
                <a:cubicBezTo>
                  <a:pt x="8740" y="20625"/>
                  <a:pt x="1988" y="21253"/>
                  <a:pt x="0" y="21600"/>
                </a:cubicBezTo>
              </a:path>
            </a:pathLst>
          </a:custGeom>
          <a:noFill/>
          <a:ln w="28575" cmpd="sng">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pic>
        <p:nvPicPr>
          <p:cNvPr id="30748" name="Object 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9011" y="5642108"/>
            <a:ext cx="2667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9" name="Object 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3211" y="4881696"/>
            <a:ext cx="268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0" name="Object 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886" y="5642108"/>
            <a:ext cx="2682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1" name="圆角矩形标注 31"/>
          <p:cNvSpPr>
            <a:spLocks noChangeArrowheads="1"/>
          </p:cNvSpPr>
          <p:nvPr/>
        </p:nvSpPr>
        <p:spPr bwMode="auto">
          <a:xfrm>
            <a:off x="323705" y="1822583"/>
            <a:ext cx="1643856" cy="2188488"/>
          </a:xfrm>
          <a:prstGeom prst="wedgeRoundRectCallout">
            <a:avLst>
              <a:gd name="adj1" fmla="val 148139"/>
              <a:gd name="adj2" fmla="val 42620"/>
              <a:gd name="adj3" fmla="val 16667"/>
            </a:avLst>
          </a:prstGeom>
          <a:noFill/>
          <a:ln w="28575">
            <a:solidFill>
              <a:schemeClr val="accent3">
                <a:lumMod val="50000"/>
              </a:schemeClr>
            </a:solidFill>
          </a:ln>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0" lvl="1"/>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给定工资</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W</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根据</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PEP,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最优闲暇为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H</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进而劳动供给量为</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L-H</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于是得到劳动供给曲线上的一点</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A(W</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,L-H</a:t>
            </a:r>
            <a:r>
              <a:rPr lang="en-US" altLang="zh-CN" sz="1400" b="0" baseline="-25000" dirty="0">
                <a:latin typeface="微软雅黑" panose="020B0503020204020204" pitchFamily="34" charset="-122"/>
                <a:ea typeface="微软雅黑" panose="020B0503020204020204" pitchFamily="34" charset="-122"/>
                <a:sym typeface="Arial" panose="020B0604020202020204" pitchFamily="34" charset="0"/>
              </a:rPr>
              <a:t>0</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，同理可确定定</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B,C</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b="0" dirty="0">
              <a:latin typeface="微软雅黑" panose="020B0503020204020204" pitchFamily="34" charset="-122"/>
              <a:ea typeface="微软雅黑" panose="020B0503020204020204" pitchFamily="34" charset="-122"/>
            </a:endParaRPr>
          </a:p>
        </p:txBody>
      </p:sp>
      <p:sp>
        <p:nvSpPr>
          <p:cNvPr id="30752" name="圆角矩形标注 32"/>
          <p:cNvSpPr>
            <a:spLocks noChangeArrowheads="1"/>
          </p:cNvSpPr>
          <p:nvPr/>
        </p:nvSpPr>
        <p:spPr bwMode="auto">
          <a:xfrm>
            <a:off x="3923434" y="980830"/>
            <a:ext cx="3071812" cy="817245"/>
          </a:xfrm>
          <a:prstGeom prst="wedgeRoundRectCallout">
            <a:avLst>
              <a:gd name="adj1" fmla="val -15136"/>
              <a:gd name="adj2" fmla="val 92937"/>
              <a:gd name="adj3" fmla="val 16667"/>
            </a:avLst>
          </a:prstGeom>
          <a:noFill/>
          <a:ln w="28575">
            <a:solidFill>
              <a:schemeClr val="accent3">
                <a:lumMod val="50000"/>
              </a:schemeClr>
            </a:solidFill>
          </a:ln>
        </p:spPr>
        <p:txBody>
          <a:bodyPr>
            <a:spAutoFit/>
          </a:bodyPr>
          <a:lstStyle/>
          <a:p>
            <a:pPr marL="0" lvl="1"/>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给定消费者的初始资源数量和偏好</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对于每一工资水平</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就有一个劳动供给量。 即为</a:t>
            </a:r>
            <a:r>
              <a:rPr lang="zh-CN" altLang="en-US" sz="1400"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劳动供给曲线。</a:t>
            </a:r>
            <a:endParaRPr lang="zh-CN" altLang="en-US" sz="1400" b="0" dirty="0">
              <a:solidFill>
                <a:srgbClr val="C00000"/>
              </a:solidFill>
              <a:latin typeface="微软雅黑" panose="020B0503020204020204" pitchFamily="34" charset="-122"/>
              <a:ea typeface="微软雅黑" panose="020B0503020204020204" pitchFamily="34" charset="-122"/>
            </a:endParaRPr>
          </a:p>
        </p:txBody>
      </p:sp>
      <p:sp>
        <p:nvSpPr>
          <p:cNvPr id="30753" name="圆角矩形 33"/>
          <p:cNvSpPr>
            <a:spLocks noChangeArrowheads="1"/>
          </p:cNvSpPr>
          <p:nvPr/>
        </p:nvSpPr>
        <p:spPr bwMode="auto">
          <a:xfrm>
            <a:off x="6107760" y="1989350"/>
            <a:ext cx="2699831" cy="1055608"/>
          </a:xfrm>
          <a:prstGeom prst="roundRect">
            <a:avLst>
              <a:gd name="adj" fmla="val 16667"/>
            </a:avLst>
          </a:prstGeom>
          <a:noFill/>
          <a:ln w="28575">
            <a:solidFill>
              <a:schemeClr val="accent3">
                <a:lumMod val="50000"/>
              </a:schemeClr>
            </a:solidFill>
          </a:ln>
        </p:spPr>
        <p:txBody>
          <a:bodyPr wrap="square">
            <a:spAutoFit/>
          </a:bodyPr>
          <a:lstStyle/>
          <a:p>
            <a:pPr marL="0" lvl="1"/>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当工资较低时</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随工资上升</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消费者会减少闲暇</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增加劳动供给。 此时</a:t>
            </a:r>
            <a:r>
              <a:rPr lang="en-US" altLang="zh-CN"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劳动供给曲线向右上方倾斜</a:t>
            </a:r>
            <a:endParaRPr lang="zh-CN" altLang="en-US" sz="1400" b="0" dirty="0">
              <a:latin typeface="微软雅黑" panose="020B0503020204020204" pitchFamily="34" charset="-122"/>
              <a:ea typeface="微软雅黑" panose="020B0503020204020204" pitchFamily="34" charset="-122"/>
            </a:endParaRPr>
          </a:p>
        </p:txBody>
      </p:sp>
      <p:sp>
        <p:nvSpPr>
          <p:cNvPr id="30754" name="矩形 34"/>
          <p:cNvSpPr>
            <a:spLocks noChangeArrowheads="1"/>
          </p:cNvSpPr>
          <p:nvPr/>
        </p:nvSpPr>
        <p:spPr bwMode="auto">
          <a:xfrm>
            <a:off x="6467330" y="3561134"/>
            <a:ext cx="2340261" cy="1384995"/>
          </a:xfrm>
          <a:prstGeom prst="rect">
            <a:avLst/>
          </a:prstGeom>
          <a:noFill/>
          <a:ln w="28575">
            <a:solidFill>
              <a:schemeClr val="accent3">
                <a:lumMod val="50000"/>
              </a:schemeClr>
            </a:solidFill>
          </a:ln>
        </p:spPr>
        <p:txBody>
          <a:bodyPr wrap="square">
            <a:spAutoFit/>
          </a:bodyPr>
          <a:lstStyle/>
          <a:p>
            <a:pPr marL="0" lvl="1"/>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当工资已经处于较高水平上时</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增加工资</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则劳动供给量可能不会增加</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反而会减少。 这意味着劳动供给曲线在较高的工资水平上可能向后弯曲。</a:t>
            </a:r>
            <a:endParaRPr lang="zh-CN" altLang="en-US" sz="1400" b="0" dirty="0">
              <a:solidFill>
                <a:srgbClr val="000000"/>
              </a:solidFill>
              <a:latin typeface="微软雅黑" panose="020B0503020204020204" pitchFamily="34" charset="-122"/>
              <a:ea typeface="微软雅黑" panose="020B0503020204020204" pitchFamily="34" charset="-122"/>
            </a:endParaRPr>
          </a:p>
        </p:txBody>
      </p:sp>
      <p:sp>
        <p:nvSpPr>
          <p:cNvPr id="36"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37" name="矩形 36">
            <a:extLst>
              <a:ext uri="{FF2B5EF4-FFF2-40B4-BE49-F238E27FC236}">
                <a16:creationId xmlns:a16="http://schemas.microsoft.com/office/drawing/2014/main" id="{F68E5273-CD77-47B9-B841-9D29349C133D}"/>
              </a:ext>
            </a:extLst>
          </p:cNvPr>
          <p:cNvSpPr/>
          <p:nvPr/>
        </p:nvSpPr>
        <p:spPr>
          <a:xfrm>
            <a:off x="467544" y="548680"/>
            <a:ext cx="264687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三、劳动供给曲线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7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7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7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7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7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7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7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74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7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7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7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7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7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74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7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7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73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0751"/>
                                        </p:tgtEl>
                                        <p:attrNameLst>
                                          <p:attrName>style.visibility</p:attrName>
                                        </p:attrNameLst>
                                      </p:cBhvr>
                                      <p:to>
                                        <p:strVal val="visible"/>
                                      </p:to>
                                    </p:set>
                                    <p:animEffect transition="in" filter="fade">
                                      <p:cBhvr>
                                        <p:cTn id="69" dur="1000"/>
                                        <p:tgtEl>
                                          <p:spTgt spid="30751"/>
                                        </p:tgtEl>
                                      </p:cBhvr>
                                    </p:animEffect>
                                    <p:anim calcmode="lin" valueType="num">
                                      <p:cBhvr>
                                        <p:cTn id="70" dur="1000" fill="hold"/>
                                        <p:tgtEl>
                                          <p:spTgt spid="30751"/>
                                        </p:tgtEl>
                                        <p:attrNameLst>
                                          <p:attrName>ppt_x</p:attrName>
                                        </p:attrNameLst>
                                      </p:cBhvr>
                                      <p:tavLst>
                                        <p:tav tm="0">
                                          <p:val>
                                            <p:strVal val="#ppt_x"/>
                                          </p:val>
                                        </p:tav>
                                        <p:tav tm="100000">
                                          <p:val>
                                            <p:strVal val="#ppt_x"/>
                                          </p:val>
                                        </p:tav>
                                      </p:tavLst>
                                    </p:anim>
                                    <p:anim calcmode="lin" valueType="num">
                                      <p:cBhvr>
                                        <p:cTn id="71" dur="1000" fill="hold"/>
                                        <p:tgtEl>
                                          <p:spTgt spid="3075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30752"/>
                                        </p:tgtEl>
                                        <p:attrNameLst>
                                          <p:attrName>style.visibility</p:attrName>
                                        </p:attrNameLst>
                                      </p:cBhvr>
                                      <p:to>
                                        <p:strVal val="visible"/>
                                      </p:to>
                                    </p:set>
                                    <p:animEffect transition="in" filter="fade">
                                      <p:cBhvr>
                                        <p:cTn id="76" dur="1000"/>
                                        <p:tgtEl>
                                          <p:spTgt spid="30752"/>
                                        </p:tgtEl>
                                      </p:cBhvr>
                                    </p:animEffect>
                                    <p:anim calcmode="lin" valueType="num">
                                      <p:cBhvr>
                                        <p:cTn id="77" dur="1000" fill="hold"/>
                                        <p:tgtEl>
                                          <p:spTgt spid="30752"/>
                                        </p:tgtEl>
                                        <p:attrNameLst>
                                          <p:attrName>ppt_x</p:attrName>
                                        </p:attrNameLst>
                                      </p:cBhvr>
                                      <p:tavLst>
                                        <p:tav tm="0">
                                          <p:val>
                                            <p:strVal val="#ppt_x"/>
                                          </p:val>
                                        </p:tav>
                                        <p:tav tm="100000">
                                          <p:val>
                                            <p:strVal val="#ppt_x"/>
                                          </p:val>
                                        </p:tav>
                                      </p:tavLst>
                                    </p:anim>
                                    <p:anim calcmode="lin" valueType="num">
                                      <p:cBhvr>
                                        <p:cTn id="78" dur="1000" fill="hold"/>
                                        <p:tgtEl>
                                          <p:spTgt spid="3075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30753"/>
                                        </p:tgtEl>
                                        <p:attrNameLst>
                                          <p:attrName>style.visibility</p:attrName>
                                        </p:attrNameLst>
                                      </p:cBhvr>
                                      <p:to>
                                        <p:strVal val="visible"/>
                                      </p:to>
                                    </p:set>
                                    <p:animEffect transition="in" filter="fade">
                                      <p:cBhvr>
                                        <p:cTn id="83" dur="1000"/>
                                        <p:tgtEl>
                                          <p:spTgt spid="30753"/>
                                        </p:tgtEl>
                                      </p:cBhvr>
                                    </p:animEffect>
                                    <p:anim calcmode="lin" valueType="num">
                                      <p:cBhvr>
                                        <p:cTn id="84" dur="1000" fill="hold"/>
                                        <p:tgtEl>
                                          <p:spTgt spid="30753"/>
                                        </p:tgtEl>
                                        <p:attrNameLst>
                                          <p:attrName>ppt_x</p:attrName>
                                        </p:attrNameLst>
                                      </p:cBhvr>
                                      <p:tavLst>
                                        <p:tav tm="0">
                                          <p:val>
                                            <p:strVal val="#ppt_x"/>
                                          </p:val>
                                        </p:tav>
                                        <p:tav tm="100000">
                                          <p:val>
                                            <p:strVal val="#ppt_x"/>
                                          </p:val>
                                        </p:tav>
                                      </p:tavLst>
                                    </p:anim>
                                    <p:anim calcmode="lin" valueType="num">
                                      <p:cBhvr>
                                        <p:cTn id="85" dur="1000" fill="hold"/>
                                        <p:tgtEl>
                                          <p:spTgt spid="30753"/>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30754"/>
                                        </p:tgtEl>
                                        <p:attrNameLst>
                                          <p:attrName>style.visibility</p:attrName>
                                        </p:attrNameLst>
                                      </p:cBhvr>
                                      <p:to>
                                        <p:strVal val="visible"/>
                                      </p:to>
                                    </p:set>
                                    <p:animEffect transition="in" filter="fade">
                                      <p:cBhvr>
                                        <p:cTn id="90" dur="1000"/>
                                        <p:tgtEl>
                                          <p:spTgt spid="30754"/>
                                        </p:tgtEl>
                                      </p:cBhvr>
                                    </p:animEffect>
                                    <p:anim calcmode="lin" valueType="num">
                                      <p:cBhvr>
                                        <p:cTn id="91" dur="1000" fill="hold"/>
                                        <p:tgtEl>
                                          <p:spTgt spid="30754"/>
                                        </p:tgtEl>
                                        <p:attrNameLst>
                                          <p:attrName>ppt_x</p:attrName>
                                        </p:attrNameLst>
                                      </p:cBhvr>
                                      <p:tavLst>
                                        <p:tav tm="0">
                                          <p:val>
                                            <p:strVal val="#ppt_x"/>
                                          </p:val>
                                        </p:tav>
                                        <p:tav tm="100000">
                                          <p:val>
                                            <p:strVal val="#ppt_x"/>
                                          </p:val>
                                        </p:tav>
                                      </p:tavLst>
                                    </p:anim>
                                    <p:anim calcmode="lin" valueType="num">
                                      <p:cBhvr>
                                        <p:cTn id="92" dur="1000" fill="hold"/>
                                        <p:tgtEl>
                                          <p:spTgt spid="307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p:bldP spid="30724" grpId="0" animBg="1"/>
      <p:bldP spid="30725" grpId="0"/>
      <p:bldP spid="30726" grpId="0"/>
      <p:bldP spid="30727" grpId="0"/>
      <p:bldP spid="30728" grpId="0"/>
      <p:bldP spid="30729" grpId="0"/>
      <p:bldP spid="30730" grpId="0" animBg="1"/>
      <p:bldP spid="30731" grpId="0" animBg="1"/>
      <p:bldP spid="30732" grpId="0" animBg="1"/>
      <p:bldP spid="30733" grpId="0" animBg="1"/>
      <p:bldP spid="30734" grpId="0"/>
      <p:bldP spid="30735" grpId="0"/>
      <p:bldP spid="30738" grpId="0"/>
      <p:bldP spid="30739" grpId="0"/>
      <p:bldP spid="30740" grpId="0"/>
      <p:bldP spid="30741" grpId="0"/>
      <p:bldP spid="30742" grpId="0"/>
      <p:bldP spid="30743" grpId="0" animBg="1"/>
      <p:bldP spid="30744" grpId="0" animBg="1"/>
      <p:bldP spid="30745" grpId="0" animBg="1"/>
      <p:bldP spid="30746" grpId="0"/>
      <p:bldP spid="30747" grpId="0" animBg="1"/>
      <p:bldP spid="30751" grpId="0" animBg="1"/>
      <p:bldP spid="30752" grpId="0" animBg="1"/>
      <p:bldP spid="30753" grpId="0" animBg="1"/>
      <p:bldP spid="3075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body" idx="4294967295"/>
          </p:nvPr>
        </p:nvSpPr>
        <p:spPr>
          <a:xfrm>
            <a:off x="318447" y="1700880"/>
            <a:ext cx="8507105" cy="5184360"/>
          </a:xfrm>
          <a:ln/>
        </p:spPr>
        <p:txBody>
          <a:bodyPr/>
          <a:lstStyle/>
          <a:p>
            <a:pPr marL="342900" lvl="2" indent="-342900" eaLnBrk="1" hangingPunct="1">
              <a:lnSpc>
                <a:spcPct val="15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替代效应</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导致闲暇的价格上涨</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闲暇相对于商品消费变得更加“昂贵”</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消费者将减少对闲暇的需求，用对商品的消费来替代。由于替代效应</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闲暇需求量与闲暇价格反方向变化。</a:t>
            </a:r>
            <a:endParaRPr lang="en-US" altLang="zh-CN" sz="1800" b="0" dirty="0">
              <a:latin typeface="微软雅黑" panose="020B0503020204020204" pitchFamily="34" charset="-122"/>
              <a:ea typeface="微软雅黑" panose="020B0503020204020204" pitchFamily="34" charset="-122"/>
            </a:endParaRPr>
          </a:p>
          <a:p>
            <a:pPr marL="342900" lvl="2" indent="-342900" eaLnBrk="1" hangingPunct="1">
              <a:lnSpc>
                <a:spcPct val="15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收入效应</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导致实际收入的上升</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 消费者买得起更多的闲暇和消费品。即使享受同样的闲暇或更多的闲暇时，同样的劳动供给或者较少的劳动供给也能带来更多</a:t>
            </a:r>
            <a:endParaRPr lang="en-US" altLang="zh-CN" sz="1800" b="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的收入。</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收入效应趋向于导致闲暇和消费同时增加</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闲暇需求量与时间成本（工资）</a:t>
            </a:r>
            <a:endParaRPr lang="en-US" altLang="zh-CN" sz="1800" b="0" dirty="0">
              <a:latin typeface="微软雅黑" panose="020B0503020204020204" pitchFamily="34" charset="-122"/>
              <a:ea typeface="微软雅黑" panose="020B0503020204020204" pitchFamily="34" charset="-122"/>
            </a:endParaRPr>
          </a:p>
          <a:p>
            <a:pPr marL="457200" lvl="1" indent="0" eaLnBrk="1" hangingPunct="1">
              <a:buNone/>
            </a:pP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同方向变化。</a:t>
            </a:r>
            <a:endParaRPr lang="en-US" altLang="zh-CN" sz="18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57020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2" indent="0" eaLnBrk="1" hangingPunct="1">
              <a:buNone/>
            </a:pPr>
            <a:r>
              <a:rPr lang="zh-CN" altLang="en-US" sz="2400" dirty="0">
                <a:solidFill>
                  <a:schemeClr val="bg1"/>
                </a:solidFill>
                <a:latin typeface="微软雅黑" panose="020B0503020204020204" pitchFamily="34" charset="-122"/>
                <a:ea typeface="微软雅黑" panose="020B0503020204020204" pitchFamily="34" charset="-122"/>
              </a:rPr>
              <a:t>四、替代效应和收入效应</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6" name="矩形: 圆角 4">
            <a:extLst>
              <a:ext uri="{FF2B5EF4-FFF2-40B4-BE49-F238E27FC236}">
                <a16:creationId xmlns:a16="http://schemas.microsoft.com/office/drawing/2014/main" id="{F5501FC4-6109-488A-9E7B-E591DF9E4D96}"/>
              </a:ext>
            </a:extLst>
          </p:cNvPr>
          <p:cNvSpPr/>
          <p:nvPr/>
        </p:nvSpPr>
        <p:spPr>
          <a:xfrm>
            <a:off x="467544" y="1162002"/>
            <a:ext cx="5472551" cy="538878"/>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65741" y="821820"/>
            <a:ext cx="1065715" cy="1065715"/>
          </a:xfrm>
          <a:prstGeom prst="rect">
            <a:avLst/>
          </a:prstGeom>
        </p:spPr>
      </p:pic>
      <p:sp>
        <p:nvSpPr>
          <p:cNvPr id="8" name="矩形 7">
            <a:extLst>
              <a:ext uri="{FF2B5EF4-FFF2-40B4-BE49-F238E27FC236}">
                <a16:creationId xmlns:a16="http://schemas.microsoft.com/office/drawing/2014/main" id="{F2E1D167-2D51-47EE-8CA8-1E1607A3745D}"/>
              </a:ext>
            </a:extLst>
          </p:cNvPr>
          <p:cNvSpPr/>
          <p:nvPr/>
        </p:nvSpPr>
        <p:spPr>
          <a:xfrm>
            <a:off x="683730" y="1119754"/>
            <a:ext cx="4051109" cy="499624"/>
          </a:xfrm>
          <a:prstGeom prst="rect">
            <a:avLst/>
          </a:prstGeom>
        </p:spPr>
        <p:txBody>
          <a:bodyPr wrap="none">
            <a:spAutoFit/>
          </a:bodyPr>
          <a:lstStyle/>
          <a:p>
            <a:pPr marL="0" lvl="2">
              <a:lnSpc>
                <a:spcPct val="150000"/>
              </a:lnSpc>
            </a:pPr>
            <a:r>
              <a:rPr lang="zh-CN" altLang="en-US" sz="2000" b="0" dirty="0">
                <a:latin typeface="微软雅黑" panose="020B0503020204020204" pitchFamily="34" charset="-122"/>
                <a:ea typeface="微软雅黑" panose="020B0503020204020204" pitchFamily="34" charset="-122"/>
              </a:rPr>
              <a:t>工资如果上涨，会有哪两种效应</a:t>
            </a:r>
            <a:r>
              <a:rPr lang="zh-CN" altLang="en-US" sz="2000" spc="150" dirty="0">
                <a:solidFill>
                  <a:srgbClr val="000000"/>
                </a:solidFill>
                <a:latin typeface="微软雅黑" panose="020B0503020204020204" pitchFamily="34" charset="-122"/>
                <a:ea typeface="微软雅黑" panose="020B0503020204020204" pitchFamily="34" charset="-122"/>
              </a:rPr>
              <a:t>？</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14"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3794">
                                            <p:txEl>
                                              <p:pRg st="0" end="0"/>
                                            </p:txEl>
                                          </p:spTgt>
                                        </p:tgtEl>
                                        <p:attrNameLst>
                                          <p:attrName>style.visibility</p:attrName>
                                        </p:attrNameLst>
                                      </p:cBhvr>
                                      <p:to>
                                        <p:strVal val="visible"/>
                                      </p:to>
                                    </p:set>
                                    <p:anim calcmode="lin" valueType="num">
                                      <p:cBhvr additive="base">
                                        <p:cTn id="23" dur="500" fill="hold"/>
                                        <p:tgtEl>
                                          <p:spTgt spid="33794">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7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3794">
                                            <p:txEl>
                                              <p:pRg st="1" end="1"/>
                                            </p:txEl>
                                          </p:spTgt>
                                        </p:tgtEl>
                                        <p:attrNameLst>
                                          <p:attrName>style.visibility</p:attrName>
                                        </p:attrNameLst>
                                      </p:cBhvr>
                                      <p:to>
                                        <p:strVal val="visible"/>
                                      </p:to>
                                    </p:set>
                                    <p:anim calcmode="lin" valueType="num">
                                      <p:cBhvr additive="base">
                                        <p:cTn id="29" dur="500" fill="hold"/>
                                        <p:tgtEl>
                                          <p:spTgt spid="33794">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3794">
                                            <p:txEl>
                                              <p:pRg st="2" end="2"/>
                                            </p:txEl>
                                          </p:spTgt>
                                        </p:tgtEl>
                                        <p:attrNameLst>
                                          <p:attrName>style.visibility</p:attrName>
                                        </p:attrNameLst>
                                      </p:cBhvr>
                                      <p:to>
                                        <p:strVal val="visible"/>
                                      </p:to>
                                    </p:set>
                                    <p:anim calcmode="lin" valueType="num">
                                      <p:cBhvr additive="base">
                                        <p:cTn id="35" dur="500" fill="hold"/>
                                        <p:tgtEl>
                                          <p:spTgt spid="33794">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37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3794">
                                            <p:txEl>
                                              <p:pRg st="3" end="3"/>
                                            </p:txEl>
                                          </p:spTgt>
                                        </p:tgtEl>
                                        <p:attrNameLst>
                                          <p:attrName>style.visibility</p:attrName>
                                        </p:attrNameLst>
                                      </p:cBhvr>
                                      <p:to>
                                        <p:strVal val="visible"/>
                                      </p:to>
                                    </p:set>
                                    <p:anim calcmode="lin" valueType="num">
                                      <p:cBhvr additive="base">
                                        <p:cTn id="41" dur="500" fill="hold"/>
                                        <p:tgtEl>
                                          <p:spTgt spid="33794">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37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3794">
                                            <p:txEl>
                                              <p:pRg st="4" end="4"/>
                                            </p:txEl>
                                          </p:spTgt>
                                        </p:tgtEl>
                                        <p:attrNameLst>
                                          <p:attrName>style.visibility</p:attrName>
                                        </p:attrNameLst>
                                      </p:cBhvr>
                                      <p:to>
                                        <p:strVal val="visible"/>
                                      </p:to>
                                    </p:set>
                                    <p:anim calcmode="lin" valueType="num">
                                      <p:cBhvr additive="base">
                                        <p:cTn id="47" dur="500" fill="hold"/>
                                        <p:tgtEl>
                                          <p:spTgt spid="33794">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7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3794">
                                            <p:txEl>
                                              <p:pRg st="5" end="5"/>
                                            </p:txEl>
                                          </p:spTgt>
                                        </p:tgtEl>
                                        <p:attrNameLst>
                                          <p:attrName>style.visibility</p:attrName>
                                        </p:attrNameLst>
                                      </p:cBhvr>
                                      <p:to>
                                        <p:strVal val="visible"/>
                                      </p:to>
                                    </p:set>
                                    <p:anim calcmode="lin" valueType="num">
                                      <p:cBhvr additive="base">
                                        <p:cTn id="53" dur="500" fill="hold"/>
                                        <p:tgtEl>
                                          <p:spTgt spid="33794">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37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3794">
                                            <p:txEl>
                                              <p:pRg st="6" end="6"/>
                                            </p:txEl>
                                          </p:spTgt>
                                        </p:tgtEl>
                                        <p:attrNameLst>
                                          <p:attrName>style.visibility</p:attrName>
                                        </p:attrNameLst>
                                      </p:cBhvr>
                                      <p:to>
                                        <p:strVal val="visible"/>
                                      </p:to>
                                    </p:set>
                                    <p:anim calcmode="lin" valueType="num">
                                      <p:cBhvr additive="base">
                                        <p:cTn id="59" dur="500" fill="hold"/>
                                        <p:tgtEl>
                                          <p:spTgt spid="33794">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379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uiExpand="1" build="p"/>
      <p:bldP spid="5" grpId="0" animBg="1"/>
      <p:bldP spid="6" grpId="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Line 6"/>
          <p:cNvSpPr>
            <a:spLocks noChangeShapeType="1"/>
          </p:cNvSpPr>
          <p:nvPr/>
        </p:nvSpPr>
        <p:spPr bwMode="auto">
          <a:xfrm>
            <a:off x="802140" y="1818260"/>
            <a:ext cx="578" cy="3421486"/>
          </a:xfrm>
          <a:prstGeom prst="line">
            <a:avLst/>
          </a:prstGeom>
          <a:noFill/>
          <a:ln w="9525" cap="flat" cmpd="sng">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34821" name="Line 7"/>
          <p:cNvSpPr>
            <a:spLocks noChangeShapeType="1"/>
          </p:cNvSpPr>
          <p:nvPr/>
        </p:nvSpPr>
        <p:spPr bwMode="auto">
          <a:xfrm>
            <a:off x="802140" y="5240183"/>
            <a:ext cx="5057133" cy="436"/>
          </a:xfrm>
          <a:prstGeom prst="line">
            <a:avLst/>
          </a:prstGeom>
          <a:noFill/>
          <a:ln w="9525" cap="flat" cmpd="sng">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34822" name="Line 11"/>
          <p:cNvSpPr>
            <a:spLocks noChangeShapeType="1"/>
          </p:cNvSpPr>
          <p:nvPr/>
        </p:nvSpPr>
        <p:spPr bwMode="auto">
          <a:xfrm>
            <a:off x="814274" y="1912938"/>
            <a:ext cx="4717372" cy="3285359"/>
          </a:xfrm>
          <a:prstGeom prst="line">
            <a:avLst/>
          </a:prstGeom>
          <a:noFill/>
          <a:ln w="9525" cap="flat" cmpd="sng">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34823" name="Line 12"/>
          <p:cNvSpPr>
            <a:spLocks noChangeShapeType="1"/>
          </p:cNvSpPr>
          <p:nvPr/>
        </p:nvSpPr>
        <p:spPr bwMode="auto">
          <a:xfrm>
            <a:off x="802140" y="3107099"/>
            <a:ext cx="4819647" cy="2133084"/>
          </a:xfrm>
          <a:prstGeom prst="line">
            <a:avLst/>
          </a:prstGeom>
          <a:noFill/>
          <a:ln w="9525" cap="flat" cmpd="sng">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34824" name="Arc 15"/>
          <p:cNvSpPr>
            <a:spLocks noChangeArrowheads="1"/>
          </p:cNvSpPr>
          <p:nvPr/>
        </p:nvSpPr>
        <p:spPr bwMode="auto">
          <a:xfrm rot="245612" flipH="1" flipV="1">
            <a:off x="1850316" y="1853165"/>
            <a:ext cx="3239871" cy="1986486"/>
          </a:xfrm>
          <a:custGeom>
            <a:avLst/>
            <a:gdLst>
              <a:gd name="T0" fmla="*/ 469932 w 21600"/>
              <a:gd name="T1" fmla="*/ 0 h 21354"/>
              <a:gd name="T2" fmla="*/ 3124200 w 21600"/>
              <a:gd name="T3" fmla="*/ 1965325 h 21354"/>
              <a:gd name="T4" fmla="*/ 0 w 21600"/>
              <a:gd name="T5" fmla="*/ 1965325 h 21354"/>
              <a:gd name="T6" fmla="*/ 0 60000 65536"/>
              <a:gd name="T7" fmla="*/ 0 60000 65536"/>
              <a:gd name="T8" fmla="*/ 0 60000 65536"/>
              <a:gd name="T9" fmla="*/ 0 w 21600"/>
              <a:gd name="T10" fmla="*/ 0 h 21354"/>
              <a:gd name="T11" fmla="*/ 21600 w 21600"/>
              <a:gd name="T12" fmla="*/ 21354 h 21354"/>
            </a:gdLst>
            <a:ahLst/>
            <a:cxnLst>
              <a:cxn ang="T6">
                <a:pos x="T0" y="T1"/>
              </a:cxn>
              <a:cxn ang="T7">
                <a:pos x="T2" y="T3"/>
              </a:cxn>
              <a:cxn ang="T8">
                <a:pos x="T4" y="T5"/>
              </a:cxn>
            </a:cxnLst>
            <a:rect l="T9" t="T10" r="T11" b="T12"/>
            <a:pathLst>
              <a:path w="21600" h="21354">
                <a:moveTo>
                  <a:pt x="3249" y="-1"/>
                </a:moveTo>
                <a:cubicBezTo>
                  <a:pt x="13802" y="1605"/>
                  <a:pt x="21600" y="10679"/>
                  <a:pt x="21600" y="21354"/>
                </a:cubicBezTo>
              </a:path>
              <a:path w="21600" h="21354">
                <a:moveTo>
                  <a:pt x="3249" y="-1"/>
                </a:moveTo>
                <a:cubicBezTo>
                  <a:pt x="13802" y="1605"/>
                  <a:pt x="21600" y="10679"/>
                  <a:pt x="21600" y="21354"/>
                </a:cubicBezTo>
                <a:lnTo>
                  <a:pt x="0" y="21354"/>
                </a:lnTo>
                <a:lnTo>
                  <a:pt x="3249" y="-1"/>
                </a:lnTo>
                <a:close/>
              </a:path>
            </a:pathLst>
          </a:custGeom>
          <a:noFill/>
          <a:ln w="9525" cap="flat" cmpd="sng">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34825" name="Text Box 19"/>
          <p:cNvSpPr>
            <a:spLocks noChangeArrowheads="1"/>
          </p:cNvSpPr>
          <p:nvPr/>
        </p:nvSpPr>
        <p:spPr bwMode="auto">
          <a:xfrm>
            <a:off x="1891342" y="5513744"/>
            <a:ext cx="4503576"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2000" dirty="0">
                <a:latin typeface="Times New Roman" panose="02020603050405020304" pitchFamily="18" charset="0"/>
              </a:rPr>
              <a:t>S</a:t>
            </a:r>
            <a:r>
              <a:rPr lang="zh-CN" altLang="en-US" sz="2000" dirty="0">
                <a:latin typeface="Times New Roman" panose="02020603050405020304" pitchFamily="18" charset="0"/>
              </a:rPr>
              <a:t>：闲暇</a:t>
            </a:r>
            <a:endParaRPr lang="en-US" altLang="zh-CN" sz="2000" dirty="0">
              <a:latin typeface="Times New Roman" panose="02020603050405020304" pitchFamily="18" charset="0"/>
            </a:endParaRPr>
          </a:p>
        </p:txBody>
      </p:sp>
      <p:sp>
        <p:nvSpPr>
          <p:cNvPr id="34826" name="Text Box 33"/>
          <p:cNvSpPr>
            <a:spLocks noChangeArrowheads="1"/>
          </p:cNvSpPr>
          <p:nvPr/>
        </p:nvSpPr>
        <p:spPr bwMode="auto">
          <a:xfrm>
            <a:off x="3159670" y="3856230"/>
            <a:ext cx="473817"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A</a:t>
            </a:r>
            <a:endParaRPr lang="zh-CN" altLang="en-US" sz="2000" dirty="0"/>
          </a:p>
        </p:txBody>
      </p:sp>
      <p:sp>
        <p:nvSpPr>
          <p:cNvPr id="34827" name="Text Box 34"/>
          <p:cNvSpPr>
            <a:spLocks noChangeArrowheads="1"/>
          </p:cNvSpPr>
          <p:nvPr/>
        </p:nvSpPr>
        <p:spPr bwMode="auto">
          <a:xfrm>
            <a:off x="2940096" y="3033364"/>
            <a:ext cx="409101"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B</a:t>
            </a:r>
            <a:endParaRPr lang="zh-CN" altLang="en-US" sz="2000" dirty="0"/>
          </a:p>
        </p:txBody>
      </p:sp>
      <p:sp>
        <p:nvSpPr>
          <p:cNvPr id="34828" name="Oval 37"/>
          <p:cNvSpPr>
            <a:spLocks noChangeArrowheads="1"/>
          </p:cNvSpPr>
          <p:nvPr/>
        </p:nvSpPr>
        <p:spPr bwMode="auto">
          <a:xfrm>
            <a:off x="3468807" y="4228397"/>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29" name="Oval 38"/>
          <p:cNvSpPr>
            <a:spLocks noChangeArrowheads="1"/>
          </p:cNvSpPr>
          <p:nvPr/>
        </p:nvSpPr>
        <p:spPr bwMode="auto">
          <a:xfrm>
            <a:off x="2728612" y="3232754"/>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30" name="Text Box 34"/>
          <p:cNvSpPr>
            <a:spLocks noChangeArrowheads="1"/>
          </p:cNvSpPr>
          <p:nvPr/>
        </p:nvSpPr>
        <p:spPr bwMode="auto">
          <a:xfrm>
            <a:off x="1050605" y="2329607"/>
            <a:ext cx="1027375"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BL</a:t>
            </a:r>
            <a:r>
              <a:rPr lang="en-US" altLang="zh-CN" sz="2000" baseline="-25000" dirty="0">
                <a:latin typeface="Times New Roman" panose="02020603050405020304" pitchFamily="18" charset="0"/>
              </a:rPr>
              <a:t>2</a:t>
            </a:r>
          </a:p>
        </p:txBody>
      </p:sp>
      <p:sp>
        <p:nvSpPr>
          <p:cNvPr id="34831" name="Text Box 34"/>
          <p:cNvSpPr>
            <a:spLocks noChangeArrowheads="1"/>
          </p:cNvSpPr>
          <p:nvPr/>
        </p:nvSpPr>
        <p:spPr bwMode="auto">
          <a:xfrm>
            <a:off x="915394" y="3300381"/>
            <a:ext cx="1027375" cy="401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BL</a:t>
            </a:r>
            <a:r>
              <a:rPr lang="en-US" altLang="zh-CN" sz="2000" baseline="-25000" dirty="0">
                <a:latin typeface="Times New Roman" panose="02020603050405020304" pitchFamily="18" charset="0"/>
              </a:rPr>
              <a:t>1</a:t>
            </a:r>
            <a:endParaRPr lang="zh-CN" altLang="en-US" sz="2000" dirty="0"/>
          </a:p>
        </p:txBody>
      </p:sp>
      <p:sp>
        <p:nvSpPr>
          <p:cNvPr id="34832" name="矩形 1"/>
          <p:cNvSpPr>
            <a:spLocks noChangeArrowheads="1"/>
          </p:cNvSpPr>
          <p:nvPr/>
        </p:nvSpPr>
        <p:spPr bwMode="auto">
          <a:xfrm>
            <a:off x="4871191" y="4240177"/>
            <a:ext cx="663922"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000" dirty="0">
                <a:solidFill>
                  <a:srgbClr val="000000"/>
                </a:solidFill>
                <a:latin typeface="Times New Roman" panose="02020603050405020304" pitchFamily="18" charset="0"/>
                <a:sym typeface="Times New Roman" panose="02020603050405020304" pitchFamily="18" charset="0"/>
              </a:rPr>
              <a:t>I</a:t>
            </a:r>
            <a:r>
              <a:rPr lang="en-US" altLang="zh-CN" sz="2000" baseline="-25000" dirty="0">
                <a:solidFill>
                  <a:srgbClr val="000000"/>
                </a:solidFill>
                <a:latin typeface="Times New Roman" panose="02020603050405020304" pitchFamily="18" charset="0"/>
                <a:sym typeface="Times New Roman" panose="02020603050405020304" pitchFamily="18" charset="0"/>
              </a:rPr>
              <a:t>1</a:t>
            </a:r>
            <a:endParaRPr lang="zh-CN" altLang="en-US" sz="2000" baseline="-25000" dirty="0">
              <a:solidFill>
                <a:srgbClr val="000000"/>
              </a:solidFill>
              <a:latin typeface="Times New Roman" panose="02020603050405020304" pitchFamily="18" charset="0"/>
              <a:sym typeface="Times New Roman" panose="02020603050405020304" pitchFamily="18" charset="0"/>
            </a:endParaRPr>
          </a:p>
        </p:txBody>
      </p:sp>
      <p:sp>
        <p:nvSpPr>
          <p:cNvPr id="34833" name="矩形 23"/>
          <p:cNvSpPr>
            <a:spLocks noChangeArrowheads="1"/>
          </p:cNvSpPr>
          <p:nvPr/>
        </p:nvSpPr>
        <p:spPr bwMode="auto">
          <a:xfrm>
            <a:off x="3932223" y="3379352"/>
            <a:ext cx="663922"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000" dirty="0">
                <a:solidFill>
                  <a:srgbClr val="000000"/>
                </a:solidFill>
                <a:latin typeface="Times New Roman" panose="02020603050405020304" pitchFamily="18" charset="0"/>
                <a:sym typeface="Times New Roman" panose="02020603050405020304" pitchFamily="18" charset="0"/>
              </a:rPr>
              <a:t>I</a:t>
            </a:r>
            <a:r>
              <a:rPr lang="en-US" altLang="zh-CN" sz="2000" baseline="-25000" dirty="0">
                <a:solidFill>
                  <a:srgbClr val="000000"/>
                </a:solidFill>
                <a:latin typeface="Times New Roman" panose="02020603050405020304" pitchFamily="18" charset="0"/>
                <a:sym typeface="Times New Roman" panose="02020603050405020304" pitchFamily="18" charset="0"/>
              </a:rPr>
              <a:t>2</a:t>
            </a:r>
            <a:endParaRPr lang="zh-CN" altLang="en-US" sz="2000" baseline="-25000" dirty="0">
              <a:solidFill>
                <a:srgbClr val="000000"/>
              </a:solidFill>
              <a:latin typeface="Times New Roman" panose="02020603050405020304" pitchFamily="18" charset="0"/>
              <a:sym typeface="Times New Roman" panose="02020603050405020304" pitchFamily="18" charset="0"/>
            </a:endParaRPr>
          </a:p>
        </p:txBody>
      </p:sp>
      <p:sp>
        <p:nvSpPr>
          <p:cNvPr id="34834" name="直接连接符 26"/>
          <p:cNvSpPr>
            <a:spLocks noChangeShapeType="1"/>
          </p:cNvSpPr>
          <p:nvPr/>
        </p:nvSpPr>
        <p:spPr bwMode="auto">
          <a:xfrm>
            <a:off x="3556637" y="4312603"/>
            <a:ext cx="9245" cy="924089"/>
          </a:xfrm>
          <a:prstGeom prst="line">
            <a:avLst/>
          </a:prstGeom>
          <a:noFill/>
          <a:ln w="9525" cap="flat" cmpd="sng">
            <a:solidFill>
              <a:schemeClr val="tx1"/>
            </a:solidFill>
            <a:prstDash val="sys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5" name="直接连接符 27"/>
          <p:cNvSpPr>
            <a:spLocks noChangeShapeType="1"/>
          </p:cNvSpPr>
          <p:nvPr/>
        </p:nvSpPr>
        <p:spPr bwMode="auto">
          <a:xfrm flipH="1">
            <a:off x="2801418" y="3303435"/>
            <a:ext cx="2311" cy="1898353"/>
          </a:xfrm>
          <a:prstGeom prst="line">
            <a:avLst/>
          </a:prstGeom>
          <a:noFill/>
          <a:ln w="9525" cap="flat" cmpd="sng">
            <a:solidFill>
              <a:schemeClr val="tx1"/>
            </a:solidFill>
            <a:prstDash val="sys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6" name="直接箭头连接符 34"/>
          <p:cNvSpPr>
            <a:spLocks noChangeShapeType="1"/>
          </p:cNvSpPr>
          <p:nvPr/>
        </p:nvSpPr>
        <p:spPr bwMode="auto">
          <a:xfrm flipH="1">
            <a:off x="2780038" y="4671680"/>
            <a:ext cx="785266" cy="436"/>
          </a:xfrm>
          <a:prstGeom prst="straightConnector1">
            <a:avLst/>
          </a:prstGeom>
          <a:noFill/>
          <a:ln w="9525" cap="flat" cmpd="sng">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7" name="Oval 38"/>
          <p:cNvSpPr>
            <a:spLocks noChangeArrowheads="1"/>
          </p:cNvSpPr>
          <p:nvPr/>
        </p:nvSpPr>
        <p:spPr bwMode="auto">
          <a:xfrm>
            <a:off x="5531068" y="5124999"/>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34838" name="Text Box 34"/>
          <p:cNvSpPr>
            <a:spLocks noChangeArrowheads="1"/>
          </p:cNvSpPr>
          <p:nvPr/>
        </p:nvSpPr>
        <p:spPr bwMode="auto">
          <a:xfrm>
            <a:off x="5610230" y="4819587"/>
            <a:ext cx="784688"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T</a:t>
            </a:r>
            <a:endParaRPr lang="en-US" altLang="zh-CN" sz="2000" baseline="-25000" dirty="0">
              <a:latin typeface="Times New Roman" panose="02020603050405020304" pitchFamily="18" charset="0"/>
            </a:endParaRPr>
          </a:p>
        </p:txBody>
      </p:sp>
      <p:sp>
        <p:nvSpPr>
          <p:cNvPr id="34839" name="任意多边形 42"/>
          <p:cNvSpPr>
            <a:spLocks/>
          </p:cNvSpPr>
          <p:nvPr/>
        </p:nvSpPr>
        <p:spPr bwMode="auto">
          <a:xfrm rot="20484456">
            <a:off x="2528106" y="2998459"/>
            <a:ext cx="2292236" cy="2042333"/>
          </a:xfrm>
          <a:custGeom>
            <a:avLst/>
            <a:gdLst>
              <a:gd name="T0" fmla="*/ 0 w 2950755"/>
              <a:gd name="T1" fmla="*/ 0 h 3422961"/>
              <a:gd name="T2" fmla="*/ 638355 w 2950755"/>
              <a:gd name="T3" fmla="*/ 1449238 h 3422961"/>
              <a:gd name="T4" fmla="*/ 1690778 w 2950755"/>
              <a:gd name="T5" fmla="*/ 2639683 h 3422961"/>
              <a:gd name="T6" fmla="*/ 2760453 w 2950755"/>
              <a:gd name="T7" fmla="*/ 3329796 h 3422961"/>
              <a:gd name="T8" fmla="*/ 2950234 w 2950755"/>
              <a:gd name="T9" fmla="*/ 3416060 h 3422961"/>
              <a:gd name="T10" fmla="*/ 2950234 w 2950755"/>
              <a:gd name="T11" fmla="*/ 3416060 h 3422961"/>
              <a:gd name="T12" fmla="*/ 0 60000 65536"/>
              <a:gd name="T13" fmla="*/ 0 60000 65536"/>
              <a:gd name="T14" fmla="*/ 0 60000 65536"/>
              <a:gd name="T15" fmla="*/ 0 60000 65536"/>
              <a:gd name="T16" fmla="*/ 0 60000 65536"/>
              <a:gd name="T17" fmla="*/ 0 60000 65536"/>
              <a:gd name="T18" fmla="*/ 0 w 2950755"/>
              <a:gd name="T19" fmla="*/ 0 h 3422961"/>
              <a:gd name="T20" fmla="*/ 2950755 w 2950755"/>
              <a:gd name="T21" fmla="*/ 3422961 h 3422961"/>
            </a:gdLst>
            <a:ahLst/>
            <a:cxnLst>
              <a:cxn ang="T12">
                <a:pos x="T0" y="T1"/>
              </a:cxn>
              <a:cxn ang="T13">
                <a:pos x="T2" y="T3"/>
              </a:cxn>
              <a:cxn ang="T14">
                <a:pos x="T4" y="T5"/>
              </a:cxn>
              <a:cxn ang="T15">
                <a:pos x="T6" y="T7"/>
              </a:cxn>
              <a:cxn ang="T16">
                <a:pos x="T8" y="T9"/>
              </a:cxn>
              <a:cxn ang="T17">
                <a:pos x="T10" y="T11"/>
              </a:cxn>
            </a:cxnLst>
            <a:rect l="T18" t="T19" r="T20" b="T21"/>
            <a:pathLst>
              <a:path w="2950755" h="3422961">
                <a:moveTo>
                  <a:pt x="0" y="0"/>
                </a:moveTo>
                <a:cubicBezTo>
                  <a:pt x="178279" y="504645"/>
                  <a:pt x="356559" y="1009291"/>
                  <a:pt x="638355" y="1449238"/>
                </a:cubicBezTo>
                <a:cubicBezTo>
                  <a:pt x="920151" y="1889185"/>
                  <a:pt x="1337095" y="2326257"/>
                  <a:pt x="1690778" y="2639683"/>
                </a:cubicBezTo>
                <a:cubicBezTo>
                  <a:pt x="2044461" y="2953109"/>
                  <a:pt x="2550544" y="3200400"/>
                  <a:pt x="2760453" y="3329796"/>
                </a:cubicBezTo>
                <a:cubicBezTo>
                  <a:pt x="2970362" y="3459192"/>
                  <a:pt x="2950234" y="3416060"/>
                  <a:pt x="2950234" y="3416060"/>
                </a:cubicBezTo>
                <a:lnTo>
                  <a:pt x="2950234" y="3416060"/>
                </a:lnTo>
              </a:path>
            </a:pathLst>
          </a:custGeom>
          <a:noFill/>
          <a:ln w="9525" cap="flat" cmpd="sng">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34840" name="左中括号 64"/>
          <p:cNvSpPr>
            <a:spLocks/>
          </p:cNvSpPr>
          <p:nvPr/>
        </p:nvSpPr>
        <p:spPr bwMode="auto">
          <a:xfrm rot="5400000" flipH="1">
            <a:off x="4413949" y="4407047"/>
            <a:ext cx="419287" cy="1972120"/>
          </a:xfrm>
          <a:prstGeom prst="leftBracket">
            <a:avLst>
              <a:gd name="adj" fmla="val 29596"/>
            </a:avLst>
          </a:prstGeom>
          <a:solidFill>
            <a:srgbClr val="9DA2AD">
              <a:alpha val="20999"/>
            </a:srgbClr>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34841" name="左中括号 65"/>
          <p:cNvSpPr>
            <a:spLocks/>
          </p:cNvSpPr>
          <p:nvPr/>
        </p:nvSpPr>
        <p:spPr bwMode="auto">
          <a:xfrm rot="16200000" flipH="1">
            <a:off x="4036767" y="3625899"/>
            <a:ext cx="270508" cy="2718094"/>
          </a:xfrm>
          <a:prstGeom prst="leftBracket">
            <a:avLst>
              <a:gd name="adj" fmla="val 63226"/>
            </a:avLst>
          </a:prstGeom>
          <a:solidFill>
            <a:srgbClr val="9DA2AD">
              <a:alpha val="20999"/>
            </a:srgbClr>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34842" name="Text Box 34"/>
          <p:cNvSpPr>
            <a:spLocks noChangeArrowheads="1"/>
          </p:cNvSpPr>
          <p:nvPr/>
        </p:nvSpPr>
        <p:spPr bwMode="auto">
          <a:xfrm>
            <a:off x="3330707" y="5268979"/>
            <a:ext cx="721127"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1</a:t>
            </a:r>
          </a:p>
        </p:txBody>
      </p:sp>
      <p:sp>
        <p:nvSpPr>
          <p:cNvPr id="34843" name="Text Box 34"/>
          <p:cNvSpPr>
            <a:spLocks noChangeArrowheads="1"/>
          </p:cNvSpPr>
          <p:nvPr/>
        </p:nvSpPr>
        <p:spPr bwMode="auto">
          <a:xfrm>
            <a:off x="2446055" y="5263743"/>
            <a:ext cx="766775"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2</a:t>
            </a:r>
          </a:p>
        </p:txBody>
      </p:sp>
      <p:sp>
        <p:nvSpPr>
          <p:cNvPr id="34844" name="Oval 38"/>
          <p:cNvSpPr>
            <a:spLocks noChangeArrowheads="1"/>
          </p:cNvSpPr>
          <p:nvPr/>
        </p:nvSpPr>
        <p:spPr bwMode="auto">
          <a:xfrm>
            <a:off x="3449161" y="5155104"/>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45" name="Oval 38"/>
          <p:cNvSpPr>
            <a:spLocks noChangeArrowheads="1"/>
          </p:cNvSpPr>
          <p:nvPr/>
        </p:nvSpPr>
        <p:spPr bwMode="auto">
          <a:xfrm>
            <a:off x="2700876" y="5144632"/>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46" name="Oval 38"/>
          <p:cNvSpPr>
            <a:spLocks noChangeArrowheads="1"/>
          </p:cNvSpPr>
          <p:nvPr/>
        </p:nvSpPr>
        <p:spPr bwMode="auto">
          <a:xfrm>
            <a:off x="735112" y="3078303"/>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47" name="Oval 38"/>
          <p:cNvSpPr>
            <a:spLocks noChangeArrowheads="1"/>
          </p:cNvSpPr>
          <p:nvPr/>
        </p:nvSpPr>
        <p:spPr bwMode="auto">
          <a:xfrm>
            <a:off x="722978" y="1892432"/>
            <a:ext cx="157747" cy="154015"/>
          </a:xfrm>
          <a:prstGeom prst="ellipse">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3600">
              <a:latin typeface="Times New Roman" panose="02020603050405020304" pitchFamily="18" charset="0"/>
            </a:endParaRPr>
          </a:p>
        </p:txBody>
      </p:sp>
      <p:sp>
        <p:nvSpPr>
          <p:cNvPr id="34848" name="矩形 9"/>
          <p:cNvSpPr>
            <a:spLocks noChangeArrowheads="1"/>
          </p:cNvSpPr>
          <p:nvPr/>
        </p:nvSpPr>
        <p:spPr bwMode="auto">
          <a:xfrm>
            <a:off x="323122" y="2992351"/>
            <a:ext cx="355941"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000" dirty="0">
                <a:solidFill>
                  <a:srgbClr val="000000"/>
                </a:solidFill>
                <a:latin typeface="Times New Roman" panose="02020603050405020304" pitchFamily="18" charset="0"/>
                <a:sym typeface="Times New Roman" panose="02020603050405020304" pitchFamily="18" charset="0"/>
              </a:rPr>
              <a:t>E</a:t>
            </a:r>
            <a:endParaRPr lang="zh-CN" altLang="en-US" sz="2000" dirty="0">
              <a:solidFill>
                <a:srgbClr val="000000"/>
              </a:solidFill>
              <a:latin typeface="Times New Roman" panose="02020603050405020304" pitchFamily="18" charset="0"/>
              <a:sym typeface="Times New Roman" panose="02020603050405020304" pitchFamily="18" charset="0"/>
            </a:endParaRPr>
          </a:p>
        </p:txBody>
      </p:sp>
      <p:sp>
        <p:nvSpPr>
          <p:cNvPr id="34849" name="矩形 41"/>
          <p:cNvSpPr>
            <a:spLocks noChangeArrowheads="1"/>
          </p:cNvSpPr>
          <p:nvPr/>
        </p:nvSpPr>
        <p:spPr bwMode="auto">
          <a:xfrm>
            <a:off x="365303" y="1772885"/>
            <a:ext cx="341495"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000" dirty="0">
                <a:solidFill>
                  <a:srgbClr val="000000"/>
                </a:solidFill>
                <a:latin typeface="Times New Roman" panose="02020603050405020304" pitchFamily="18" charset="0"/>
                <a:sym typeface="Times New Roman" panose="02020603050405020304" pitchFamily="18" charset="0"/>
              </a:rPr>
              <a:t>F</a:t>
            </a:r>
            <a:endParaRPr lang="zh-CN" altLang="en-US" sz="2000" dirty="0">
              <a:solidFill>
                <a:srgbClr val="000000"/>
              </a:solidFill>
              <a:latin typeface="Times New Roman" panose="02020603050405020304" pitchFamily="18" charset="0"/>
              <a:sym typeface="Times New Roman" panose="02020603050405020304" pitchFamily="18" charset="0"/>
            </a:endParaRPr>
          </a:p>
        </p:txBody>
      </p:sp>
      <p:sp>
        <p:nvSpPr>
          <p:cNvPr id="34850" name="矩形 35"/>
          <p:cNvSpPr>
            <a:spLocks noChangeArrowheads="1"/>
          </p:cNvSpPr>
          <p:nvPr/>
        </p:nvSpPr>
        <p:spPr bwMode="auto">
          <a:xfrm>
            <a:off x="4310122" y="5346204"/>
            <a:ext cx="440881"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50000"/>
              </a:spcBef>
            </a:pPr>
            <a:r>
              <a:rPr lang="en-US" altLang="zh-CN" sz="2000" dirty="0">
                <a:solidFill>
                  <a:srgbClr val="000000"/>
                </a:solidFill>
                <a:latin typeface="Times New Roman" panose="02020603050405020304" pitchFamily="18" charset="0"/>
                <a:sym typeface="Times New Roman" panose="02020603050405020304" pitchFamily="18" charset="0"/>
              </a:rPr>
              <a:t>L</a:t>
            </a:r>
            <a:r>
              <a:rPr lang="en-US" altLang="zh-CN" sz="2000" baseline="-25000" dirty="0">
                <a:solidFill>
                  <a:srgbClr val="000000"/>
                </a:solidFill>
                <a:latin typeface="Times New Roman" panose="02020603050405020304" pitchFamily="18" charset="0"/>
                <a:sym typeface="Times New Roman" panose="02020603050405020304" pitchFamily="18" charset="0"/>
              </a:rPr>
              <a:t>1</a:t>
            </a:r>
            <a:endParaRPr lang="zh-CN" altLang="en-US" sz="2000" dirty="0"/>
          </a:p>
        </p:txBody>
      </p:sp>
      <p:sp>
        <p:nvSpPr>
          <p:cNvPr id="34851" name="矩形 43"/>
          <p:cNvSpPr>
            <a:spLocks noChangeArrowheads="1"/>
          </p:cNvSpPr>
          <p:nvPr/>
        </p:nvSpPr>
        <p:spPr bwMode="auto">
          <a:xfrm>
            <a:off x="3739807" y="4753705"/>
            <a:ext cx="440881" cy="40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50000"/>
              </a:spcBef>
            </a:pPr>
            <a:r>
              <a:rPr lang="en-US" altLang="zh-CN" sz="2000" dirty="0">
                <a:solidFill>
                  <a:srgbClr val="000000"/>
                </a:solidFill>
                <a:latin typeface="Times New Roman" panose="02020603050405020304" pitchFamily="18" charset="0"/>
                <a:sym typeface="Times New Roman" panose="02020603050405020304" pitchFamily="18" charset="0"/>
              </a:rPr>
              <a:t>L</a:t>
            </a:r>
            <a:r>
              <a:rPr lang="en-US" altLang="zh-CN" sz="2000" baseline="-25000" dirty="0">
                <a:solidFill>
                  <a:srgbClr val="000000"/>
                </a:solidFill>
                <a:latin typeface="Times New Roman" panose="02020603050405020304" pitchFamily="18" charset="0"/>
                <a:sym typeface="Times New Roman" panose="02020603050405020304" pitchFamily="18" charset="0"/>
              </a:rPr>
              <a:t>2</a:t>
            </a:r>
            <a:endParaRPr lang="zh-CN" altLang="en-US" sz="2000" dirty="0"/>
          </a:p>
        </p:txBody>
      </p:sp>
      <p:sp>
        <p:nvSpPr>
          <p:cNvPr id="37"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38" name="矩形 37">
            <a:extLst>
              <a:ext uri="{FF2B5EF4-FFF2-40B4-BE49-F238E27FC236}">
                <a16:creationId xmlns:a16="http://schemas.microsoft.com/office/drawing/2014/main" id="{F68E5273-CD77-47B9-B841-9D29349C133D}"/>
              </a:ext>
            </a:extLst>
          </p:cNvPr>
          <p:cNvSpPr/>
          <p:nvPr/>
        </p:nvSpPr>
        <p:spPr>
          <a:xfrm>
            <a:off x="467544" y="548680"/>
            <a:ext cx="357020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2" indent="0" eaLnBrk="1" hangingPunct="1">
              <a:buNone/>
            </a:pPr>
            <a:r>
              <a:rPr lang="zh-CN" altLang="en-US" sz="2400" dirty="0">
                <a:solidFill>
                  <a:schemeClr val="bg1"/>
                </a:solidFill>
                <a:latin typeface="微软雅黑" panose="020B0503020204020204" pitchFamily="34" charset="-122"/>
                <a:ea typeface="微软雅黑" panose="020B0503020204020204" pitchFamily="34" charset="-122"/>
              </a:rPr>
              <a:t>四、替代效应和收入效应</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000B2A87-2B7D-4B94-87B8-61432F30D800}"/>
              </a:ext>
            </a:extLst>
          </p:cNvPr>
          <p:cNvSpPr/>
          <p:nvPr/>
        </p:nvSpPr>
        <p:spPr>
          <a:xfrm>
            <a:off x="5186652" y="2102269"/>
            <a:ext cx="3672255" cy="2059810"/>
          </a:xfrm>
          <a:prstGeom prst="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852" name="Text Box 20"/>
          <p:cNvSpPr>
            <a:spLocks noChangeArrowheads="1"/>
          </p:cNvSpPr>
          <p:nvPr/>
        </p:nvSpPr>
        <p:spPr bwMode="auto">
          <a:xfrm>
            <a:off x="5369161" y="2228035"/>
            <a:ext cx="3489746" cy="18466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5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工资率提高的影响：</a:t>
            </a:r>
            <a:endParaRPr lang="en-US" altLang="zh-CN" sz="1800" b="0" dirty="0">
              <a:latin typeface="微软雅黑" panose="020B0503020204020204" pitchFamily="34" charset="-122"/>
              <a:ea typeface="微软雅黑" panose="020B0503020204020204" pitchFamily="34" charset="-122"/>
            </a:endParaRPr>
          </a:p>
          <a:p>
            <a:pPr marL="285750" indent="-285750" eaLnBrk="1" hangingPunct="1">
              <a:spcBef>
                <a:spcPct val="50000"/>
              </a:spcBef>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预算线向外旋转移动，由</a:t>
            </a:r>
            <a:r>
              <a:rPr lang="en-US" altLang="zh-CN" b="0" dirty="0">
                <a:latin typeface="微软雅黑" panose="020B0503020204020204" pitchFamily="34" charset="-122"/>
                <a:ea typeface="微软雅黑" panose="020B0503020204020204" pitchFamily="34" charset="-122"/>
              </a:rPr>
              <a:t>BL</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变化</a:t>
            </a:r>
            <a:endParaRPr lang="en-US" altLang="zh-CN" b="0" dirty="0">
              <a:latin typeface="微软雅黑" panose="020B0503020204020204" pitchFamily="34" charset="-122"/>
              <a:ea typeface="微软雅黑" panose="020B0503020204020204" pitchFamily="34" charset="-122"/>
            </a:endParaRPr>
          </a:p>
          <a:p>
            <a:pPr eaLnBrk="1" hangingPunct="1">
              <a:spcBef>
                <a:spcPct val="50000"/>
              </a:spcBef>
            </a:pPr>
            <a:r>
              <a:rPr lang="zh-CN" altLang="en-US" b="0" dirty="0">
                <a:latin typeface="微软雅黑" panose="020B0503020204020204" pitchFamily="34" charset="-122"/>
                <a:ea typeface="微软雅黑" panose="020B0503020204020204" pitchFamily="34" charset="-122"/>
              </a:rPr>
              <a:t>    至</a:t>
            </a:r>
            <a:r>
              <a:rPr lang="en-US" altLang="zh-CN" b="0" dirty="0">
                <a:latin typeface="微软雅黑" panose="020B0503020204020204" pitchFamily="34" charset="-122"/>
                <a:ea typeface="微软雅黑" panose="020B0503020204020204" pitchFamily="34" charset="-122"/>
              </a:rPr>
              <a:t>BL</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285750" indent="-285750" eaLnBrk="1" hangingPunct="1">
              <a:spcBef>
                <a:spcPct val="50000"/>
              </a:spcBef>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均衡点由</a:t>
            </a:r>
            <a:r>
              <a:rPr lang="en-US" altLang="zh-CN" b="0" dirty="0">
                <a:latin typeface="微软雅黑" panose="020B0503020204020204" pitchFamily="34" charset="-122"/>
                <a:ea typeface="微软雅黑" panose="020B0503020204020204" pitchFamily="34" charset="-122"/>
              </a:rPr>
              <a:t>A</a:t>
            </a:r>
            <a:r>
              <a:rPr lang="zh-CN" altLang="en-US" b="0" dirty="0">
                <a:latin typeface="微软雅黑" panose="020B0503020204020204" pitchFamily="34" charset="-122"/>
                <a:ea typeface="微软雅黑" panose="020B0503020204020204" pitchFamily="34" charset="-122"/>
              </a:rPr>
              <a:t>到</a:t>
            </a:r>
            <a:r>
              <a:rPr lang="en-US" altLang="zh-CN" b="0" dirty="0">
                <a:latin typeface="微软雅黑" panose="020B0503020204020204" pitchFamily="34" charset="-122"/>
                <a:ea typeface="微软雅黑" panose="020B0503020204020204" pitchFamily="34" charset="-122"/>
              </a:rPr>
              <a:t>B</a:t>
            </a:r>
            <a:r>
              <a:rPr lang="zh-CN" altLang="en-US" b="0" dirty="0">
                <a:latin typeface="微软雅黑" panose="020B0503020204020204" pitchFamily="34" charset="-122"/>
                <a:ea typeface="微软雅黑" panose="020B0503020204020204" pitchFamily="34" charset="-122"/>
              </a:rPr>
              <a:t>，闲暇减少，劳动</a:t>
            </a:r>
            <a:endParaRPr lang="en-US" altLang="zh-CN" b="0" dirty="0">
              <a:latin typeface="微软雅黑" panose="020B0503020204020204" pitchFamily="34" charset="-122"/>
              <a:ea typeface="微软雅黑" panose="020B0503020204020204" pitchFamily="34" charset="-122"/>
            </a:endParaRPr>
          </a:p>
          <a:p>
            <a:pPr eaLnBrk="1" hangingPunct="1">
              <a:spcBef>
                <a:spcPct val="50000"/>
              </a:spcBef>
            </a:pPr>
            <a:r>
              <a:rPr lang="zh-CN" altLang="en-US" b="0" dirty="0">
                <a:latin typeface="微软雅黑" panose="020B0503020204020204" pitchFamily="34" charset="-122"/>
                <a:ea typeface="微软雅黑" panose="020B0503020204020204" pitchFamily="34" charset="-122"/>
              </a:rPr>
              <a:t>     供给增加。</a:t>
            </a:r>
            <a:endParaRPr lang="en-US" altLang="zh-CN"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arn(inVertical)">
                                      <p:cBhvr>
                                        <p:cTn id="7" dur="500"/>
                                        <p:tgtEl>
                                          <p:spTgt spid="3482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4821"/>
                                        </p:tgtEl>
                                        <p:attrNameLst>
                                          <p:attrName>style.visibility</p:attrName>
                                        </p:attrNameLst>
                                      </p:cBhvr>
                                      <p:to>
                                        <p:strVal val="visible"/>
                                      </p:to>
                                    </p:set>
                                    <p:animEffect transition="in" filter="barn(inVertical)">
                                      <p:cBhvr>
                                        <p:cTn id="10" dur="500"/>
                                        <p:tgtEl>
                                          <p:spTgt spid="3482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823"/>
                                        </p:tgtEl>
                                        <p:attrNameLst>
                                          <p:attrName>style.visibility</p:attrName>
                                        </p:attrNameLst>
                                      </p:cBhvr>
                                      <p:to>
                                        <p:strVal val="visible"/>
                                      </p:to>
                                    </p:set>
                                    <p:animEffect transition="in" filter="wipe(down)">
                                      <p:cBhvr>
                                        <p:cTn id="13" dur="500"/>
                                        <p:tgtEl>
                                          <p:spTgt spid="34823"/>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34848"/>
                                        </p:tgtEl>
                                        <p:attrNameLst>
                                          <p:attrName>style.visibility</p:attrName>
                                        </p:attrNameLst>
                                      </p:cBhvr>
                                      <p:to>
                                        <p:strVal val="visible"/>
                                      </p:to>
                                    </p:set>
                                    <p:animEffect transition="in" filter="fade">
                                      <p:cBhvr>
                                        <p:cTn id="16" dur="500"/>
                                        <p:tgtEl>
                                          <p:spTgt spid="34848"/>
                                        </p:tgtEl>
                                      </p:cBhvr>
                                    </p:animEffect>
                                    <p:anim calcmode="lin" valueType="num">
                                      <p:cBhvr>
                                        <p:cTn id="17" dur="500" fill="hold"/>
                                        <p:tgtEl>
                                          <p:spTgt spid="34848"/>
                                        </p:tgtEl>
                                        <p:attrNameLst>
                                          <p:attrName>ppt_x</p:attrName>
                                        </p:attrNameLst>
                                      </p:cBhvr>
                                      <p:tavLst>
                                        <p:tav tm="0">
                                          <p:val>
                                            <p:strVal val="#ppt_x"/>
                                          </p:val>
                                        </p:tav>
                                        <p:tav tm="100000">
                                          <p:val>
                                            <p:strVal val="#ppt_x"/>
                                          </p:val>
                                        </p:tav>
                                      </p:tavLst>
                                    </p:anim>
                                    <p:anim calcmode="lin" valueType="num">
                                      <p:cBhvr>
                                        <p:cTn id="18" dur="500" fill="hold"/>
                                        <p:tgtEl>
                                          <p:spTgt spid="34848"/>
                                        </p:tgtEl>
                                        <p:attrNameLst>
                                          <p:attrName>ppt_y</p:attrName>
                                        </p:attrNameLst>
                                      </p:cBhvr>
                                      <p:tavLst>
                                        <p:tav tm="0">
                                          <p:val>
                                            <p:strVal val="#ppt_y+.1"/>
                                          </p:val>
                                        </p:tav>
                                        <p:tav tm="100000">
                                          <p:val>
                                            <p:strVal val="#ppt_y"/>
                                          </p:val>
                                        </p:tav>
                                      </p:tavLst>
                                    </p:anim>
                                  </p:childTnLst>
                                </p:cTn>
                              </p:par>
                              <p:par>
                                <p:cTn id="19" presetID="22" presetClass="entr" presetSubtype="4" fill="hold" grpId="0" nodeType="withEffect">
                                  <p:stCondLst>
                                    <p:cond delay="0"/>
                                  </p:stCondLst>
                                  <p:childTnLst>
                                    <p:set>
                                      <p:cBhvr>
                                        <p:cTn id="20" dur="1" fill="hold">
                                          <p:stCondLst>
                                            <p:cond delay="0"/>
                                          </p:stCondLst>
                                        </p:cTn>
                                        <p:tgtEl>
                                          <p:spTgt spid="34831"/>
                                        </p:tgtEl>
                                        <p:attrNameLst>
                                          <p:attrName>style.visibility</p:attrName>
                                        </p:attrNameLst>
                                      </p:cBhvr>
                                      <p:to>
                                        <p:strVal val="visible"/>
                                      </p:to>
                                    </p:set>
                                    <p:animEffect transition="in" filter="wipe(down)">
                                      <p:cBhvr>
                                        <p:cTn id="21" dur="500"/>
                                        <p:tgtEl>
                                          <p:spTgt spid="34831"/>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34838"/>
                                        </p:tgtEl>
                                        <p:attrNameLst>
                                          <p:attrName>style.visibility</p:attrName>
                                        </p:attrNameLst>
                                      </p:cBhvr>
                                      <p:to>
                                        <p:strVal val="visible"/>
                                      </p:to>
                                    </p:set>
                                    <p:animEffect transition="in" filter="fade">
                                      <p:cBhvr>
                                        <p:cTn id="24" dur="500"/>
                                        <p:tgtEl>
                                          <p:spTgt spid="34838"/>
                                        </p:tgtEl>
                                      </p:cBhvr>
                                    </p:animEffect>
                                    <p:anim calcmode="lin" valueType="num">
                                      <p:cBhvr>
                                        <p:cTn id="25" dur="500" fill="hold"/>
                                        <p:tgtEl>
                                          <p:spTgt spid="34838"/>
                                        </p:tgtEl>
                                        <p:attrNameLst>
                                          <p:attrName>ppt_x</p:attrName>
                                        </p:attrNameLst>
                                      </p:cBhvr>
                                      <p:tavLst>
                                        <p:tav tm="0">
                                          <p:val>
                                            <p:strVal val="#ppt_x"/>
                                          </p:val>
                                        </p:tav>
                                        <p:tav tm="100000">
                                          <p:val>
                                            <p:strVal val="#ppt_x"/>
                                          </p:val>
                                        </p:tav>
                                      </p:tavLst>
                                    </p:anim>
                                    <p:anim calcmode="lin" valueType="num">
                                      <p:cBhvr>
                                        <p:cTn id="26" dur="500" fill="hold"/>
                                        <p:tgtEl>
                                          <p:spTgt spid="3483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4837"/>
                                        </p:tgtEl>
                                        <p:attrNameLst>
                                          <p:attrName>style.visibility</p:attrName>
                                        </p:attrNameLst>
                                      </p:cBhvr>
                                      <p:to>
                                        <p:strVal val="visible"/>
                                      </p:to>
                                    </p:set>
                                    <p:animEffect transition="in" filter="fade">
                                      <p:cBhvr>
                                        <p:cTn id="29" dur="500"/>
                                        <p:tgtEl>
                                          <p:spTgt spid="34837"/>
                                        </p:tgtEl>
                                      </p:cBhvr>
                                    </p:animEffect>
                                    <p:anim calcmode="lin" valueType="num">
                                      <p:cBhvr>
                                        <p:cTn id="30" dur="500" fill="hold"/>
                                        <p:tgtEl>
                                          <p:spTgt spid="34837"/>
                                        </p:tgtEl>
                                        <p:attrNameLst>
                                          <p:attrName>ppt_x</p:attrName>
                                        </p:attrNameLst>
                                      </p:cBhvr>
                                      <p:tavLst>
                                        <p:tav tm="0">
                                          <p:val>
                                            <p:strVal val="#ppt_x"/>
                                          </p:val>
                                        </p:tav>
                                        <p:tav tm="100000">
                                          <p:val>
                                            <p:strVal val="#ppt_x"/>
                                          </p:val>
                                        </p:tav>
                                      </p:tavLst>
                                    </p:anim>
                                    <p:anim calcmode="lin" valueType="num">
                                      <p:cBhvr>
                                        <p:cTn id="31" dur="500" fill="hold"/>
                                        <p:tgtEl>
                                          <p:spTgt spid="3483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4846"/>
                                        </p:tgtEl>
                                        <p:attrNameLst>
                                          <p:attrName>style.visibility</p:attrName>
                                        </p:attrNameLst>
                                      </p:cBhvr>
                                      <p:to>
                                        <p:strVal val="visible"/>
                                      </p:to>
                                    </p:set>
                                    <p:animEffect transition="in" filter="fade">
                                      <p:cBhvr>
                                        <p:cTn id="34" dur="500"/>
                                        <p:tgtEl>
                                          <p:spTgt spid="34846"/>
                                        </p:tgtEl>
                                      </p:cBhvr>
                                    </p:animEffect>
                                    <p:anim calcmode="lin" valueType="num">
                                      <p:cBhvr>
                                        <p:cTn id="35" dur="500" fill="hold"/>
                                        <p:tgtEl>
                                          <p:spTgt spid="34846"/>
                                        </p:tgtEl>
                                        <p:attrNameLst>
                                          <p:attrName>ppt_x</p:attrName>
                                        </p:attrNameLst>
                                      </p:cBhvr>
                                      <p:tavLst>
                                        <p:tav tm="0">
                                          <p:val>
                                            <p:strVal val="#ppt_x"/>
                                          </p:val>
                                        </p:tav>
                                        <p:tav tm="100000">
                                          <p:val>
                                            <p:strVal val="#ppt_x"/>
                                          </p:val>
                                        </p:tav>
                                      </p:tavLst>
                                    </p:anim>
                                    <p:anim calcmode="lin" valueType="num">
                                      <p:cBhvr>
                                        <p:cTn id="36" dur="500" fill="hold"/>
                                        <p:tgtEl>
                                          <p:spTgt spid="3484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4849"/>
                                        </p:tgtEl>
                                        <p:attrNameLst>
                                          <p:attrName>style.visibility</p:attrName>
                                        </p:attrNameLst>
                                      </p:cBhvr>
                                      <p:to>
                                        <p:strVal val="visible"/>
                                      </p:to>
                                    </p:set>
                                    <p:animEffect transition="in" filter="fade">
                                      <p:cBhvr>
                                        <p:cTn id="41" dur="500"/>
                                        <p:tgtEl>
                                          <p:spTgt spid="34849"/>
                                        </p:tgtEl>
                                      </p:cBhvr>
                                    </p:animEffect>
                                    <p:anim calcmode="lin" valueType="num">
                                      <p:cBhvr>
                                        <p:cTn id="42" dur="500" fill="hold"/>
                                        <p:tgtEl>
                                          <p:spTgt spid="34849"/>
                                        </p:tgtEl>
                                        <p:attrNameLst>
                                          <p:attrName>ppt_x</p:attrName>
                                        </p:attrNameLst>
                                      </p:cBhvr>
                                      <p:tavLst>
                                        <p:tav tm="0">
                                          <p:val>
                                            <p:strVal val="#ppt_x"/>
                                          </p:val>
                                        </p:tav>
                                        <p:tav tm="100000">
                                          <p:val>
                                            <p:strVal val="#ppt_x"/>
                                          </p:val>
                                        </p:tav>
                                      </p:tavLst>
                                    </p:anim>
                                    <p:anim calcmode="lin" valueType="num">
                                      <p:cBhvr>
                                        <p:cTn id="43" dur="500" fill="hold"/>
                                        <p:tgtEl>
                                          <p:spTgt spid="34849"/>
                                        </p:tgtEl>
                                        <p:attrNameLst>
                                          <p:attrName>ppt_y</p:attrName>
                                        </p:attrNameLst>
                                      </p:cBhvr>
                                      <p:tavLst>
                                        <p:tav tm="0">
                                          <p:val>
                                            <p:strVal val="#ppt_y+.1"/>
                                          </p:val>
                                        </p:tav>
                                        <p:tav tm="100000">
                                          <p:val>
                                            <p:strVal val="#ppt_y"/>
                                          </p:val>
                                        </p:tav>
                                      </p:tavLst>
                                    </p:anim>
                                  </p:childTnLst>
                                </p:cTn>
                              </p:par>
                              <p:par>
                                <p:cTn id="44" presetID="22" presetClass="entr" presetSubtype="4" fill="hold" grpId="0" nodeType="withEffect">
                                  <p:stCondLst>
                                    <p:cond delay="0"/>
                                  </p:stCondLst>
                                  <p:childTnLst>
                                    <p:set>
                                      <p:cBhvr>
                                        <p:cTn id="45" dur="1" fill="hold">
                                          <p:stCondLst>
                                            <p:cond delay="0"/>
                                          </p:stCondLst>
                                        </p:cTn>
                                        <p:tgtEl>
                                          <p:spTgt spid="34822"/>
                                        </p:tgtEl>
                                        <p:attrNameLst>
                                          <p:attrName>style.visibility</p:attrName>
                                        </p:attrNameLst>
                                      </p:cBhvr>
                                      <p:to>
                                        <p:strVal val="visible"/>
                                      </p:to>
                                    </p:set>
                                    <p:animEffect transition="in" filter="wipe(down)">
                                      <p:cBhvr>
                                        <p:cTn id="46" dur="500"/>
                                        <p:tgtEl>
                                          <p:spTgt spid="3482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4830"/>
                                        </p:tgtEl>
                                        <p:attrNameLst>
                                          <p:attrName>style.visibility</p:attrName>
                                        </p:attrNameLst>
                                      </p:cBhvr>
                                      <p:to>
                                        <p:strVal val="visible"/>
                                      </p:to>
                                    </p:set>
                                    <p:animEffect transition="in" filter="wipe(down)">
                                      <p:cBhvr>
                                        <p:cTn id="49" dur="500"/>
                                        <p:tgtEl>
                                          <p:spTgt spid="34830"/>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34847"/>
                                        </p:tgtEl>
                                        <p:attrNameLst>
                                          <p:attrName>style.visibility</p:attrName>
                                        </p:attrNameLst>
                                      </p:cBhvr>
                                      <p:to>
                                        <p:strVal val="visible"/>
                                      </p:to>
                                    </p:set>
                                    <p:animEffect transition="in" filter="fade">
                                      <p:cBhvr>
                                        <p:cTn id="52" dur="500"/>
                                        <p:tgtEl>
                                          <p:spTgt spid="34847"/>
                                        </p:tgtEl>
                                      </p:cBhvr>
                                    </p:animEffect>
                                    <p:anim calcmode="lin" valueType="num">
                                      <p:cBhvr>
                                        <p:cTn id="53" dur="500" fill="hold"/>
                                        <p:tgtEl>
                                          <p:spTgt spid="34847"/>
                                        </p:tgtEl>
                                        <p:attrNameLst>
                                          <p:attrName>ppt_x</p:attrName>
                                        </p:attrNameLst>
                                      </p:cBhvr>
                                      <p:tavLst>
                                        <p:tav tm="0">
                                          <p:val>
                                            <p:strVal val="#ppt_x"/>
                                          </p:val>
                                        </p:tav>
                                        <p:tav tm="100000">
                                          <p:val>
                                            <p:strVal val="#ppt_x"/>
                                          </p:val>
                                        </p:tav>
                                      </p:tavLst>
                                    </p:anim>
                                    <p:anim calcmode="lin" valueType="num">
                                      <p:cBhvr>
                                        <p:cTn id="54" dur="500" fill="hold"/>
                                        <p:tgtEl>
                                          <p:spTgt spid="34847"/>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34828"/>
                                        </p:tgtEl>
                                        <p:attrNameLst>
                                          <p:attrName>style.visibility</p:attrName>
                                        </p:attrNameLst>
                                      </p:cBhvr>
                                      <p:to>
                                        <p:strVal val="visible"/>
                                      </p:to>
                                    </p:set>
                                    <p:animEffect transition="in" filter="fade">
                                      <p:cBhvr>
                                        <p:cTn id="59" dur="500"/>
                                        <p:tgtEl>
                                          <p:spTgt spid="34828"/>
                                        </p:tgtEl>
                                      </p:cBhvr>
                                    </p:animEffect>
                                    <p:anim calcmode="lin" valueType="num">
                                      <p:cBhvr>
                                        <p:cTn id="60" dur="500" fill="hold"/>
                                        <p:tgtEl>
                                          <p:spTgt spid="34828"/>
                                        </p:tgtEl>
                                        <p:attrNameLst>
                                          <p:attrName>ppt_x</p:attrName>
                                        </p:attrNameLst>
                                      </p:cBhvr>
                                      <p:tavLst>
                                        <p:tav tm="0">
                                          <p:val>
                                            <p:strVal val="#ppt_x"/>
                                          </p:val>
                                        </p:tav>
                                        <p:tav tm="100000">
                                          <p:val>
                                            <p:strVal val="#ppt_x"/>
                                          </p:val>
                                        </p:tav>
                                      </p:tavLst>
                                    </p:anim>
                                    <p:anim calcmode="lin" valueType="num">
                                      <p:cBhvr>
                                        <p:cTn id="61" dur="500" fill="hold"/>
                                        <p:tgtEl>
                                          <p:spTgt spid="34828"/>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4826"/>
                                        </p:tgtEl>
                                        <p:attrNameLst>
                                          <p:attrName>style.visibility</p:attrName>
                                        </p:attrNameLst>
                                      </p:cBhvr>
                                      <p:to>
                                        <p:strVal val="visible"/>
                                      </p:to>
                                    </p:set>
                                    <p:animEffect transition="in" filter="fade">
                                      <p:cBhvr>
                                        <p:cTn id="64" dur="500"/>
                                        <p:tgtEl>
                                          <p:spTgt spid="34826"/>
                                        </p:tgtEl>
                                      </p:cBhvr>
                                    </p:animEffect>
                                    <p:anim calcmode="lin" valueType="num">
                                      <p:cBhvr>
                                        <p:cTn id="65" dur="500" fill="hold"/>
                                        <p:tgtEl>
                                          <p:spTgt spid="34826"/>
                                        </p:tgtEl>
                                        <p:attrNameLst>
                                          <p:attrName>ppt_x</p:attrName>
                                        </p:attrNameLst>
                                      </p:cBhvr>
                                      <p:tavLst>
                                        <p:tav tm="0">
                                          <p:val>
                                            <p:strVal val="#ppt_x"/>
                                          </p:val>
                                        </p:tav>
                                        <p:tav tm="100000">
                                          <p:val>
                                            <p:strVal val="#ppt_x"/>
                                          </p:val>
                                        </p:tav>
                                      </p:tavLst>
                                    </p:anim>
                                    <p:anim calcmode="lin" valueType="num">
                                      <p:cBhvr>
                                        <p:cTn id="66" dur="500" fill="hold"/>
                                        <p:tgtEl>
                                          <p:spTgt spid="34826"/>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4844"/>
                                        </p:tgtEl>
                                        <p:attrNameLst>
                                          <p:attrName>style.visibility</p:attrName>
                                        </p:attrNameLst>
                                      </p:cBhvr>
                                      <p:to>
                                        <p:strVal val="visible"/>
                                      </p:to>
                                    </p:set>
                                    <p:animEffect transition="in" filter="fade">
                                      <p:cBhvr>
                                        <p:cTn id="69" dur="500"/>
                                        <p:tgtEl>
                                          <p:spTgt spid="34844"/>
                                        </p:tgtEl>
                                      </p:cBhvr>
                                    </p:animEffect>
                                    <p:anim calcmode="lin" valueType="num">
                                      <p:cBhvr>
                                        <p:cTn id="70" dur="500" fill="hold"/>
                                        <p:tgtEl>
                                          <p:spTgt spid="34844"/>
                                        </p:tgtEl>
                                        <p:attrNameLst>
                                          <p:attrName>ppt_x</p:attrName>
                                        </p:attrNameLst>
                                      </p:cBhvr>
                                      <p:tavLst>
                                        <p:tav tm="0">
                                          <p:val>
                                            <p:strVal val="#ppt_x"/>
                                          </p:val>
                                        </p:tav>
                                        <p:tav tm="100000">
                                          <p:val>
                                            <p:strVal val="#ppt_x"/>
                                          </p:val>
                                        </p:tav>
                                      </p:tavLst>
                                    </p:anim>
                                    <p:anim calcmode="lin" valueType="num">
                                      <p:cBhvr>
                                        <p:cTn id="71" dur="500" fill="hold"/>
                                        <p:tgtEl>
                                          <p:spTgt spid="3484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34842"/>
                                        </p:tgtEl>
                                        <p:attrNameLst>
                                          <p:attrName>style.visibility</p:attrName>
                                        </p:attrNameLst>
                                      </p:cBhvr>
                                      <p:to>
                                        <p:strVal val="visible"/>
                                      </p:to>
                                    </p:set>
                                    <p:animEffect transition="in" filter="fade">
                                      <p:cBhvr>
                                        <p:cTn id="74" dur="500"/>
                                        <p:tgtEl>
                                          <p:spTgt spid="34842"/>
                                        </p:tgtEl>
                                      </p:cBhvr>
                                    </p:animEffect>
                                    <p:anim calcmode="lin" valueType="num">
                                      <p:cBhvr>
                                        <p:cTn id="75" dur="500" fill="hold"/>
                                        <p:tgtEl>
                                          <p:spTgt spid="34842"/>
                                        </p:tgtEl>
                                        <p:attrNameLst>
                                          <p:attrName>ppt_x</p:attrName>
                                        </p:attrNameLst>
                                      </p:cBhvr>
                                      <p:tavLst>
                                        <p:tav tm="0">
                                          <p:val>
                                            <p:strVal val="#ppt_x"/>
                                          </p:val>
                                        </p:tav>
                                        <p:tav tm="100000">
                                          <p:val>
                                            <p:strVal val="#ppt_x"/>
                                          </p:val>
                                        </p:tav>
                                      </p:tavLst>
                                    </p:anim>
                                    <p:anim calcmode="lin" valueType="num">
                                      <p:cBhvr>
                                        <p:cTn id="76" dur="500" fill="hold"/>
                                        <p:tgtEl>
                                          <p:spTgt spid="34842"/>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34834"/>
                                        </p:tgtEl>
                                        <p:attrNameLst>
                                          <p:attrName>style.visibility</p:attrName>
                                        </p:attrNameLst>
                                      </p:cBhvr>
                                      <p:to>
                                        <p:strVal val="visible"/>
                                      </p:to>
                                    </p:set>
                                    <p:animEffect transition="in" filter="fade">
                                      <p:cBhvr>
                                        <p:cTn id="79" dur="500"/>
                                        <p:tgtEl>
                                          <p:spTgt spid="34834"/>
                                        </p:tgtEl>
                                      </p:cBhvr>
                                    </p:animEffect>
                                    <p:anim calcmode="lin" valueType="num">
                                      <p:cBhvr>
                                        <p:cTn id="80" dur="500" fill="hold"/>
                                        <p:tgtEl>
                                          <p:spTgt spid="34834"/>
                                        </p:tgtEl>
                                        <p:attrNameLst>
                                          <p:attrName>ppt_x</p:attrName>
                                        </p:attrNameLst>
                                      </p:cBhvr>
                                      <p:tavLst>
                                        <p:tav tm="0">
                                          <p:val>
                                            <p:strVal val="#ppt_x"/>
                                          </p:val>
                                        </p:tav>
                                        <p:tav tm="100000">
                                          <p:val>
                                            <p:strVal val="#ppt_x"/>
                                          </p:val>
                                        </p:tav>
                                      </p:tavLst>
                                    </p:anim>
                                    <p:anim calcmode="lin" valueType="num">
                                      <p:cBhvr>
                                        <p:cTn id="81" dur="500" fill="hold"/>
                                        <p:tgtEl>
                                          <p:spTgt spid="3483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34840"/>
                                        </p:tgtEl>
                                        <p:attrNameLst>
                                          <p:attrName>style.visibility</p:attrName>
                                        </p:attrNameLst>
                                      </p:cBhvr>
                                      <p:to>
                                        <p:strVal val="visible"/>
                                      </p:to>
                                    </p:set>
                                    <p:animEffect transition="in" filter="fade">
                                      <p:cBhvr>
                                        <p:cTn id="84" dur="500"/>
                                        <p:tgtEl>
                                          <p:spTgt spid="34840"/>
                                        </p:tgtEl>
                                      </p:cBhvr>
                                    </p:animEffect>
                                    <p:anim calcmode="lin" valueType="num">
                                      <p:cBhvr>
                                        <p:cTn id="85" dur="500" fill="hold"/>
                                        <p:tgtEl>
                                          <p:spTgt spid="34840"/>
                                        </p:tgtEl>
                                        <p:attrNameLst>
                                          <p:attrName>ppt_x</p:attrName>
                                        </p:attrNameLst>
                                      </p:cBhvr>
                                      <p:tavLst>
                                        <p:tav tm="0">
                                          <p:val>
                                            <p:strVal val="#ppt_x"/>
                                          </p:val>
                                        </p:tav>
                                        <p:tav tm="100000">
                                          <p:val>
                                            <p:strVal val="#ppt_x"/>
                                          </p:val>
                                        </p:tav>
                                      </p:tavLst>
                                    </p:anim>
                                    <p:anim calcmode="lin" valueType="num">
                                      <p:cBhvr>
                                        <p:cTn id="86" dur="500" fill="hold"/>
                                        <p:tgtEl>
                                          <p:spTgt spid="34840"/>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4850"/>
                                        </p:tgtEl>
                                        <p:attrNameLst>
                                          <p:attrName>style.visibility</p:attrName>
                                        </p:attrNameLst>
                                      </p:cBhvr>
                                      <p:to>
                                        <p:strVal val="visible"/>
                                      </p:to>
                                    </p:set>
                                    <p:animEffect transition="in" filter="fade">
                                      <p:cBhvr>
                                        <p:cTn id="89" dur="500"/>
                                        <p:tgtEl>
                                          <p:spTgt spid="34850"/>
                                        </p:tgtEl>
                                      </p:cBhvr>
                                    </p:animEffect>
                                    <p:anim calcmode="lin" valueType="num">
                                      <p:cBhvr>
                                        <p:cTn id="90" dur="500" fill="hold"/>
                                        <p:tgtEl>
                                          <p:spTgt spid="34850"/>
                                        </p:tgtEl>
                                        <p:attrNameLst>
                                          <p:attrName>ppt_x</p:attrName>
                                        </p:attrNameLst>
                                      </p:cBhvr>
                                      <p:tavLst>
                                        <p:tav tm="0">
                                          <p:val>
                                            <p:strVal val="#ppt_x"/>
                                          </p:val>
                                        </p:tav>
                                        <p:tav tm="100000">
                                          <p:val>
                                            <p:strVal val="#ppt_x"/>
                                          </p:val>
                                        </p:tav>
                                      </p:tavLst>
                                    </p:anim>
                                    <p:anim calcmode="lin" valueType="num">
                                      <p:cBhvr>
                                        <p:cTn id="91" dur="500" fill="hold"/>
                                        <p:tgtEl>
                                          <p:spTgt spid="34850"/>
                                        </p:tgtEl>
                                        <p:attrNameLst>
                                          <p:attrName>ppt_y</p:attrName>
                                        </p:attrNameLst>
                                      </p:cBhvr>
                                      <p:tavLst>
                                        <p:tav tm="0">
                                          <p:val>
                                            <p:strVal val="#ppt_y+.1"/>
                                          </p:val>
                                        </p:tav>
                                        <p:tav tm="100000">
                                          <p:val>
                                            <p:strVal val="#ppt_y"/>
                                          </p:val>
                                        </p:tav>
                                      </p:tavLst>
                                    </p:anim>
                                  </p:childTnLst>
                                </p:cTn>
                              </p:par>
                              <p:par>
                                <p:cTn id="92" presetID="22" presetClass="entr" presetSubtype="8" fill="hold" grpId="0" nodeType="withEffect">
                                  <p:stCondLst>
                                    <p:cond delay="0"/>
                                  </p:stCondLst>
                                  <p:childTnLst>
                                    <p:set>
                                      <p:cBhvr>
                                        <p:cTn id="93" dur="1" fill="hold">
                                          <p:stCondLst>
                                            <p:cond delay="0"/>
                                          </p:stCondLst>
                                        </p:cTn>
                                        <p:tgtEl>
                                          <p:spTgt spid="34825"/>
                                        </p:tgtEl>
                                        <p:attrNameLst>
                                          <p:attrName>style.visibility</p:attrName>
                                        </p:attrNameLst>
                                      </p:cBhvr>
                                      <p:to>
                                        <p:strVal val="visible"/>
                                      </p:to>
                                    </p:set>
                                    <p:animEffect transition="in" filter="wipe(left)">
                                      <p:cBhvr>
                                        <p:cTn id="94" dur="500"/>
                                        <p:tgtEl>
                                          <p:spTgt spid="34825"/>
                                        </p:tgtEl>
                                      </p:cBhvr>
                                    </p:animEffect>
                                  </p:childTnLst>
                                </p:cTn>
                              </p:par>
                            </p:childTnLst>
                          </p:cTn>
                        </p:par>
                        <p:par>
                          <p:cTn id="95" fill="hold">
                            <p:stCondLst>
                              <p:cond delay="500"/>
                            </p:stCondLst>
                            <p:childTnLst>
                              <p:par>
                                <p:cTn id="96" presetID="22" presetClass="entr" presetSubtype="4" fill="hold" grpId="0" nodeType="afterEffect">
                                  <p:stCondLst>
                                    <p:cond delay="0"/>
                                  </p:stCondLst>
                                  <p:childTnLst>
                                    <p:set>
                                      <p:cBhvr>
                                        <p:cTn id="97" dur="1" fill="hold">
                                          <p:stCondLst>
                                            <p:cond delay="0"/>
                                          </p:stCondLst>
                                        </p:cTn>
                                        <p:tgtEl>
                                          <p:spTgt spid="34839"/>
                                        </p:tgtEl>
                                        <p:attrNameLst>
                                          <p:attrName>style.visibility</p:attrName>
                                        </p:attrNameLst>
                                      </p:cBhvr>
                                      <p:to>
                                        <p:strVal val="visible"/>
                                      </p:to>
                                    </p:set>
                                    <p:animEffect transition="in" filter="wipe(down)">
                                      <p:cBhvr>
                                        <p:cTn id="98" dur="500"/>
                                        <p:tgtEl>
                                          <p:spTgt spid="34839"/>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34832"/>
                                        </p:tgtEl>
                                        <p:attrNameLst>
                                          <p:attrName>style.visibility</p:attrName>
                                        </p:attrNameLst>
                                      </p:cBhvr>
                                      <p:to>
                                        <p:strVal val="visible"/>
                                      </p:to>
                                    </p:set>
                                    <p:animEffect transition="in" filter="wipe(down)">
                                      <p:cBhvr>
                                        <p:cTn id="101" dur="500"/>
                                        <p:tgtEl>
                                          <p:spTgt spid="34832"/>
                                        </p:tgtEl>
                                      </p:cBhvr>
                                    </p:animEffect>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34829"/>
                                        </p:tgtEl>
                                        <p:attrNameLst>
                                          <p:attrName>style.visibility</p:attrName>
                                        </p:attrNameLst>
                                      </p:cBhvr>
                                      <p:to>
                                        <p:strVal val="visible"/>
                                      </p:to>
                                    </p:set>
                                    <p:animEffect transition="in" filter="fade">
                                      <p:cBhvr>
                                        <p:cTn id="106" dur="500"/>
                                        <p:tgtEl>
                                          <p:spTgt spid="34829"/>
                                        </p:tgtEl>
                                      </p:cBhvr>
                                    </p:animEffect>
                                    <p:anim calcmode="lin" valueType="num">
                                      <p:cBhvr>
                                        <p:cTn id="107" dur="500" fill="hold"/>
                                        <p:tgtEl>
                                          <p:spTgt spid="34829"/>
                                        </p:tgtEl>
                                        <p:attrNameLst>
                                          <p:attrName>ppt_x</p:attrName>
                                        </p:attrNameLst>
                                      </p:cBhvr>
                                      <p:tavLst>
                                        <p:tav tm="0">
                                          <p:val>
                                            <p:strVal val="#ppt_x"/>
                                          </p:val>
                                        </p:tav>
                                        <p:tav tm="100000">
                                          <p:val>
                                            <p:strVal val="#ppt_x"/>
                                          </p:val>
                                        </p:tav>
                                      </p:tavLst>
                                    </p:anim>
                                    <p:anim calcmode="lin" valueType="num">
                                      <p:cBhvr>
                                        <p:cTn id="108" dur="500" fill="hold"/>
                                        <p:tgtEl>
                                          <p:spTgt spid="34829"/>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34845"/>
                                        </p:tgtEl>
                                        <p:attrNameLst>
                                          <p:attrName>style.visibility</p:attrName>
                                        </p:attrNameLst>
                                      </p:cBhvr>
                                      <p:to>
                                        <p:strVal val="visible"/>
                                      </p:to>
                                    </p:set>
                                    <p:animEffect transition="in" filter="fade">
                                      <p:cBhvr>
                                        <p:cTn id="111" dur="500"/>
                                        <p:tgtEl>
                                          <p:spTgt spid="34845"/>
                                        </p:tgtEl>
                                      </p:cBhvr>
                                    </p:animEffect>
                                    <p:anim calcmode="lin" valueType="num">
                                      <p:cBhvr>
                                        <p:cTn id="112" dur="500" fill="hold"/>
                                        <p:tgtEl>
                                          <p:spTgt spid="34845"/>
                                        </p:tgtEl>
                                        <p:attrNameLst>
                                          <p:attrName>ppt_x</p:attrName>
                                        </p:attrNameLst>
                                      </p:cBhvr>
                                      <p:tavLst>
                                        <p:tav tm="0">
                                          <p:val>
                                            <p:strVal val="#ppt_x"/>
                                          </p:val>
                                        </p:tav>
                                        <p:tav tm="100000">
                                          <p:val>
                                            <p:strVal val="#ppt_x"/>
                                          </p:val>
                                        </p:tav>
                                      </p:tavLst>
                                    </p:anim>
                                    <p:anim calcmode="lin" valueType="num">
                                      <p:cBhvr>
                                        <p:cTn id="113" dur="500" fill="hold"/>
                                        <p:tgtEl>
                                          <p:spTgt spid="34845"/>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4843"/>
                                        </p:tgtEl>
                                        <p:attrNameLst>
                                          <p:attrName>style.visibility</p:attrName>
                                        </p:attrNameLst>
                                      </p:cBhvr>
                                      <p:to>
                                        <p:strVal val="visible"/>
                                      </p:to>
                                    </p:set>
                                    <p:animEffect transition="in" filter="fade">
                                      <p:cBhvr>
                                        <p:cTn id="116" dur="500"/>
                                        <p:tgtEl>
                                          <p:spTgt spid="34843"/>
                                        </p:tgtEl>
                                      </p:cBhvr>
                                    </p:animEffect>
                                    <p:anim calcmode="lin" valueType="num">
                                      <p:cBhvr>
                                        <p:cTn id="117" dur="500" fill="hold"/>
                                        <p:tgtEl>
                                          <p:spTgt spid="34843"/>
                                        </p:tgtEl>
                                        <p:attrNameLst>
                                          <p:attrName>ppt_x</p:attrName>
                                        </p:attrNameLst>
                                      </p:cBhvr>
                                      <p:tavLst>
                                        <p:tav tm="0">
                                          <p:val>
                                            <p:strVal val="#ppt_x"/>
                                          </p:val>
                                        </p:tav>
                                        <p:tav tm="100000">
                                          <p:val>
                                            <p:strVal val="#ppt_x"/>
                                          </p:val>
                                        </p:tav>
                                      </p:tavLst>
                                    </p:anim>
                                    <p:anim calcmode="lin" valueType="num">
                                      <p:cBhvr>
                                        <p:cTn id="118" dur="500" fill="hold"/>
                                        <p:tgtEl>
                                          <p:spTgt spid="34843"/>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4841"/>
                                        </p:tgtEl>
                                        <p:attrNameLst>
                                          <p:attrName>style.visibility</p:attrName>
                                        </p:attrNameLst>
                                      </p:cBhvr>
                                      <p:to>
                                        <p:strVal val="visible"/>
                                      </p:to>
                                    </p:set>
                                    <p:animEffect transition="in" filter="fade">
                                      <p:cBhvr>
                                        <p:cTn id="121" dur="500"/>
                                        <p:tgtEl>
                                          <p:spTgt spid="34841"/>
                                        </p:tgtEl>
                                      </p:cBhvr>
                                    </p:animEffect>
                                    <p:anim calcmode="lin" valueType="num">
                                      <p:cBhvr>
                                        <p:cTn id="122" dur="500" fill="hold"/>
                                        <p:tgtEl>
                                          <p:spTgt spid="34841"/>
                                        </p:tgtEl>
                                        <p:attrNameLst>
                                          <p:attrName>ppt_x</p:attrName>
                                        </p:attrNameLst>
                                      </p:cBhvr>
                                      <p:tavLst>
                                        <p:tav tm="0">
                                          <p:val>
                                            <p:strVal val="#ppt_x"/>
                                          </p:val>
                                        </p:tav>
                                        <p:tav tm="100000">
                                          <p:val>
                                            <p:strVal val="#ppt_x"/>
                                          </p:val>
                                        </p:tav>
                                      </p:tavLst>
                                    </p:anim>
                                    <p:anim calcmode="lin" valueType="num">
                                      <p:cBhvr>
                                        <p:cTn id="123" dur="500" fill="hold"/>
                                        <p:tgtEl>
                                          <p:spTgt spid="34841"/>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4851"/>
                                        </p:tgtEl>
                                        <p:attrNameLst>
                                          <p:attrName>style.visibility</p:attrName>
                                        </p:attrNameLst>
                                      </p:cBhvr>
                                      <p:to>
                                        <p:strVal val="visible"/>
                                      </p:to>
                                    </p:set>
                                    <p:animEffect transition="in" filter="fade">
                                      <p:cBhvr>
                                        <p:cTn id="126" dur="500"/>
                                        <p:tgtEl>
                                          <p:spTgt spid="34851"/>
                                        </p:tgtEl>
                                      </p:cBhvr>
                                    </p:animEffect>
                                    <p:anim calcmode="lin" valueType="num">
                                      <p:cBhvr>
                                        <p:cTn id="127" dur="500" fill="hold"/>
                                        <p:tgtEl>
                                          <p:spTgt spid="34851"/>
                                        </p:tgtEl>
                                        <p:attrNameLst>
                                          <p:attrName>ppt_x</p:attrName>
                                        </p:attrNameLst>
                                      </p:cBhvr>
                                      <p:tavLst>
                                        <p:tav tm="0">
                                          <p:val>
                                            <p:strVal val="#ppt_x"/>
                                          </p:val>
                                        </p:tav>
                                        <p:tav tm="100000">
                                          <p:val>
                                            <p:strVal val="#ppt_x"/>
                                          </p:val>
                                        </p:tav>
                                      </p:tavLst>
                                    </p:anim>
                                    <p:anim calcmode="lin" valueType="num">
                                      <p:cBhvr>
                                        <p:cTn id="128" dur="500" fill="hold"/>
                                        <p:tgtEl>
                                          <p:spTgt spid="34851"/>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4835"/>
                                        </p:tgtEl>
                                        <p:attrNameLst>
                                          <p:attrName>style.visibility</p:attrName>
                                        </p:attrNameLst>
                                      </p:cBhvr>
                                      <p:to>
                                        <p:strVal val="visible"/>
                                      </p:to>
                                    </p:set>
                                    <p:animEffect transition="in" filter="fade">
                                      <p:cBhvr>
                                        <p:cTn id="131" dur="500"/>
                                        <p:tgtEl>
                                          <p:spTgt spid="34835"/>
                                        </p:tgtEl>
                                      </p:cBhvr>
                                    </p:animEffect>
                                    <p:anim calcmode="lin" valueType="num">
                                      <p:cBhvr>
                                        <p:cTn id="132" dur="500" fill="hold"/>
                                        <p:tgtEl>
                                          <p:spTgt spid="34835"/>
                                        </p:tgtEl>
                                        <p:attrNameLst>
                                          <p:attrName>ppt_x</p:attrName>
                                        </p:attrNameLst>
                                      </p:cBhvr>
                                      <p:tavLst>
                                        <p:tav tm="0">
                                          <p:val>
                                            <p:strVal val="#ppt_x"/>
                                          </p:val>
                                        </p:tav>
                                        <p:tav tm="100000">
                                          <p:val>
                                            <p:strVal val="#ppt_x"/>
                                          </p:val>
                                        </p:tav>
                                      </p:tavLst>
                                    </p:anim>
                                    <p:anim calcmode="lin" valueType="num">
                                      <p:cBhvr>
                                        <p:cTn id="133" dur="500" fill="hold"/>
                                        <p:tgtEl>
                                          <p:spTgt spid="34835"/>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4827"/>
                                        </p:tgtEl>
                                        <p:attrNameLst>
                                          <p:attrName>style.visibility</p:attrName>
                                        </p:attrNameLst>
                                      </p:cBhvr>
                                      <p:to>
                                        <p:strVal val="visible"/>
                                      </p:to>
                                    </p:set>
                                    <p:animEffect transition="in" filter="fade">
                                      <p:cBhvr>
                                        <p:cTn id="136" dur="500"/>
                                        <p:tgtEl>
                                          <p:spTgt spid="34827"/>
                                        </p:tgtEl>
                                      </p:cBhvr>
                                    </p:animEffect>
                                    <p:anim calcmode="lin" valueType="num">
                                      <p:cBhvr>
                                        <p:cTn id="137" dur="500" fill="hold"/>
                                        <p:tgtEl>
                                          <p:spTgt spid="34827"/>
                                        </p:tgtEl>
                                        <p:attrNameLst>
                                          <p:attrName>ppt_x</p:attrName>
                                        </p:attrNameLst>
                                      </p:cBhvr>
                                      <p:tavLst>
                                        <p:tav tm="0">
                                          <p:val>
                                            <p:strVal val="#ppt_x"/>
                                          </p:val>
                                        </p:tav>
                                        <p:tav tm="100000">
                                          <p:val>
                                            <p:strVal val="#ppt_x"/>
                                          </p:val>
                                        </p:tav>
                                      </p:tavLst>
                                    </p:anim>
                                    <p:anim calcmode="lin" valueType="num">
                                      <p:cBhvr>
                                        <p:cTn id="138" dur="500" fill="hold"/>
                                        <p:tgtEl>
                                          <p:spTgt spid="34827"/>
                                        </p:tgtEl>
                                        <p:attrNameLst>
                                          <p:attrName>ppt_y</p:attrName>
                                        </p:attrNameLst>
                                      </p:cBhvr>
                                      <p:tavLst>
                                        <p:tav tm="0">
                                          <p:val>
                                            <p:strVal val="#ppt_y+.1"/>
                                          </p:val>
                                        </p:tav>
                                        <p:tav tm="100000">
                                          <p:val>
                                            <p:strVal val="#ppt_y"/>
                                          </p:val>
                                        </p:tav>
                                      </p:tavLst>
                                    </p:anim>
                                  </p:childTnLst>
                                </p:cTn>
                              </p:par>
                            </p:childTnLst>
                          </p:cTn>
                        </p:par>
                        <p:par>
                          <p:cTn id="139" fill="hold">
                            <p:stCondLst>
                              <p:cond delay="500"/>
                            </p:stCondLst>
                            <p:childTnLst>
                              <p:par>
                                <p:cTn id="140" presetID="22" presetClass="entr" presetSubtype="4" fill="hold" grpId="0" nodeType="afterEffect">
                                  <p:stCondLst>
                                    <p:cond delay="0"/>
                                  </p:stCondLst>
                                  <p:childTnLst>
                                    <p:set>
                                      <p:cBhvr>
                                        <p:cTn id="141" dur="1" fill="hold">
                                          <p:stCondLst>
                                            <p:cond delay="0"/>
                                          </p:stCondLst>
                                        </p:cTn>
                                        <p:tgtEl>
                                          <p:spTgt spid="34836"/>
                                        </p:tgtEl>
                                        <p:attrNameLst>
                                          <p:attrName>style.visibility</p:attrName>
                                        </p:attrNameLst>
                                      </p:cBhvr>
                                      <p:to>
                                        <p:strVal val="visible"/>
                                      </p:to>
                                    </p:set>
                                    <p:animEffect transition="in" filter="wipe(down)">
                                      <p:cBhvr>
                                        <p:cTn id="142" dur="500"/>
                                        <p:tgtEl>
                                          <p:spTgt spid="34836"/>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34824"/>
                                        </p:tgtEl>
                                        <p:attrNameLst>
                                          <p:attrName>style.visibility</p:attrName>
                                        </p:attrNameLst>
                                      </p:cBhvr>
                                      <p:to>
                                        <p:strVal val="visible"/>
                                      </p:to>
                                    </p:set>
                                    <p:animEffect transition="in" filter="wipe(down)">
                                      <p:cBhvr>
                                        <p:cTn id="145" dur="500"/>
                                        <p:tgtEl>
                                          <p:spTgt spid="34824"/>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34833"/>
                                        </p:tgtEl>
                                        <p:attrNameLst>
                                          <p:attrName>style.visibility</p:attrName>
                                        </p:attrNameLst>
                                      </p:cBhvr>
                                      <p:to>
                                        <p:strVal val="visible"/>
                                      </p:to>
                                    </p:set>
                                    <p:animEffect transition="in" filter="wipe(down)">
                                      <p:cBhvr>
                                        <p:cTn id="148" dur="500"/>
                                        <p:tgtEl>
                                          <p:spTgt spid="34833"/>
                                        </p:tgtEl>
                                      </p:cBhvr>
                                    </p:animEffect>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39"/>
                                        </p:tgtEl>
                                        <p:attrNameLst>
                                          <p:attrName>style.visibility</p:attrName>
                                        </p:attrNameLst>
                                      </p:cBhvr>
                                      <p:to>
                                        <p:strVal val="visible"/>
                                      </p:to>
                                    </p:set>
                                    <p:animEffect transition="in" filter="fade">
                                      <p:cBhvr>
                                        <p:cTn id="153" dur="500"/>
                                        <p:tgtEl>
                                          <p:spTgt spid="39"/>
                                        </p:tgtEl>
                                      </p:cBhvr>
                                    </p:animEffect>
                                    <p:anim calcmode="lin" valueType="num">
                                      <p:cBhvr>
                                        <p:cTn id="154" dur="500" fill="hold"/>
                                        <p:tgtEl>
                                          <p:spTgt spid="39"/>
                                        </p:tgtEl>
                                        <p:attrNameLst>
                                          <p:attrName>ppt_x</p:attrName>
                                        </p:attrNameLst>
                                      </p:cBhvr>
                                      <p:tavLst>
                                        <p:tav tm="0">
                                          <p:val>
                                            <p:strVal val="#ppt_x"/>
                                          </p:val>
                                        </p:tav>
                                        <p:tav tm="100000">
                                          <p:val>
                                            <p:strVal val="#ppt_x"/>
                                          </p:val>
                                        </p:tav>
                                      </p:tavLst>
                                    </p:anim>
                                    <p:anim calcmode="lin" valueType="num">
                                      <p:cBhvr>
                                        <p:cTn id="155" dur="500" fill="hold"/>
                                        <p:tgtEl>
                                          <p:spTgt spid="39"/>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4852"/>
                                        </p:tgtEl>
                                        <p:attrNameLst>
                                          <p:attrName>style.visibility</p:attrName>
                                        </p:attrNameLst>
                                      </p:cBhvr>
                                      <p:to>
                                        <p:strVal val="visible"/>
                                      </p:to>
                                    </p:set>
                                    <p:animEffect transition="in" filter="fade">
                                      <p:cBhvr>
                                        <p:cTn id="158" dur="500"/>
                                        <p:tgtEl>
                                          <p:spTgt spid="34852"/>
                                        </p:tgtEl>
                                      </p:cBhvr>
                                    </p:animEffect>
                                    <p:anim calcmode="lin" valueType="num">
                                      <p:cBhvr>
                                        <p:cTn id="159" dur="500" fill="hold"/>
                                        <p:tgtEl>
                                          <p:spTgt spid="34852"/>
                                        </p:tgtEl>
                                        <p:attrNameLst>
                                          <p:attrName>ppt_x</p:attrName>
                                        </p:attrNameLst>
                                      </p:cBhvr>
                                      <p:tavLst>
                                        <p:tav tm="0">
                                          <p:val>
                                            <p:strVal val="#ppt_x"/>
                                          </p:val>
                                        </p:tav>
                                        <p:tav tm="100000">
                                          <p:val>
                                            <p:strVal val="#ppt_x"/>
                                          </p:val>
                                        </p:tav>
                                      </p:tavLst>
                                    </p:anim>
                                    <p:anim calcmode="lin" valueType="num">
                                      <p:cBhvr>
                                        <p:cTn id="160" dur="500" fill="hold"/>
                                        <p:tgtEl>
                                          <p:spTgt spid="348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nimBg="1"/>
      <p:bldP spid="34821" grpId="0" animBg="1"/>
      <p:bldP spid="34822" grpId="0" animBg="1"/>
      <p:bldP spid="34823" grpId="0" animBg="1"/>
      <p:bldP spid="34824" grpId="0" animBg="1"/>
      <p:bldP spid="34825" grpId="0"/>
      <p:bldP spid="34826" grpId="0"/>
      <p:bldP spid="34827" grpId="0"/>
      <p:bldP spid="34828" grpId="0" animBg="1"/>
      <p:bldP spid="34829" grpId="0" animBg="1"/>
      <p:bldP spid="34830" grpId="0"/>
      <p:bldP spid="34831" grpId="0"/>
      <p:bldP spid="34832" grpId="0"/>
      <p:bldP spid="34833" grpId="0"/>
      <p:bldP spid="34834" grpId="0" animBg="1"/>
      <p:bldP spid="34835" grpId="0" animBg="1"/>
      <p:bldP spid="34836" grpId="0" animBg="1"/>
      <p:bldP spid="34837" grpId="0" animBg="1"/>
      <p:bldP spid="34838" grpId="0"/>
      <p:bldP spid="34839" grpId="0" animBg="1"/>
      <p:bldP spid="34840" grpId="0" animBg="1"/>
      <p:bldP spid="34841" grpId="0" animBg="1"/>
      <p:bldP spid="34842" grpId="0"/>
      <p:bldP spid="34843" grpId="0"/>
      <p:bldP spid="34844" grpId="0" animBg="1"/>
      <p:bldP spid="34845" grpId="0" animBg="1"/>
      <p:bldP spid="34846" grpId="0" animBg="1"/>
      <p:bldP spid="34847" grpId="0" animBg="1"/>
      <p:bldP spid="34848" grpId="0"/>
      <p:bldP spid="34849" grpId="0"/>
      <p:bldP spid="34850" grpId="0"/>
      <p:bldP spid="34851" grpId="0"/>
      <p:bldP spid="39" grpId="0" animBg="1"/>
      <p:bldP spid="348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idx="4294967295"/>
          </p:nvPr>
        </p:nvSpPr>
        <p:spPr>
          <a:xfrm>
            <a:off x="467544" y="1238309"/>
            <a:ext cx="7704706" cy="1008070"/>
          </a:xfrm>
          <a:ln/>
        </p:spPr>
        <p:txBody>
          <a:bodyPr/>
          <a:lstStyle/>
          <a:p>
            <a:pPr marL="457200" lvl="2" indent="-457200" eaLnBrk="1" hangingPunct="1">
              <a:lnSpc>
                <a:spcPct val="150000"/>
              </a:lnSpc>
              <a:spcBef>
                <a:spcPct val="40000"/>
              </a:spcBef>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替代效应和收入效应的相对大小：普通商品和时间（劳动供给）的比较</a:t>
            </a:r>
            <a:endParaRPr lang="en-US" altLang="zh-CN" sz="2000" b="0" dirty="0">
              <a:latin typeface="微软雅黑" panose="020B0503020204020204" pitchFamily="34" charset="-122"/>
              <a:ea typeface="微软雅黑" panose="020B0503020204020204" pitchFamily="34" charset="-122"/>
            </a:endParaRPr>
          </a:p>
        </p:txBody>
      </p:sp>
      <p:sp>
        <p:nvSpPr>
          <p:cNvPr id="5"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357020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2" indent="0" eaLnBrk="1" hangingPunct="1">
              <a:buNone/>
            </a:pPr>
            <a:r>
              <a:rPr lang="zh-CN" altLang="en-US" sz="2400" dirty="0">
                <a:solidFill>
                  <a:schemeClr val="bg1"/>
                </a:solidFill>
                <a:latin typeface="微软雅黑" panose="020B0503020204020204" pitchFamily="34" charset="-122"/>
                <a:ea typeface="微软雅黑" panose="020B0503020204020204" pitchFamily="34" charset="-122"/>
              </a:rPr>
              <a:t>四、替代效应和收入效应</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7" name="左中括号 6">
            <a:extLst>
              <a:ext uri="{FF2B5EF4-FFF2-40B4-BE49-F238E27FC236}">
                <a16:creationId xmlns:a16="http://schemas.microsoft.com/office/drawing/2014/main" id="{46C7EA5B-3396-4782-9E16-0FBA89E2571E}"/>
              </a:ext>
            </a:extLst>
          </p:cNvPr>
          <p:cNvSpPr/>
          <p:nvPr/>
        </p:nvSpPr>
        <p:spPr>
          <a:xfrm>
            <a:off x="1410655" y="2327406"/>
            <a:ext cx="569167" cy="3551892"/>
          </a:xfrm>
          <a:prstGeom prst="leftBracket">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11701C7-5C3E-43E4-8C1C-9D4654F68497}"/>
              </a:ext>
            </a:extLst>
          </p:cNvPr>
          <p:cNvSpPr/>
          <p:nvPr/>
        </p:nvSpPr>
        <p:spPr>
          <a:xfrm>
            <a:off x="1979820" y="2776270"/>
            <a:ext cx="5426240" cy="1262205"/>
          </a:xfrm>
          <a:prstGeom prst="rect">
            <a:avLst/>
          </a:prstGeom>
        </p:spPr>
        <p:txBody>
          <a:bodyPr wrap="square">
            <a:spAutoFit/>
          </a:bodyPr>
          <a:lstStyle/>
          <a:p>
            <a:pPr marL="342900" indent="-342900">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收入效应通常要小于替代效应</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单种商品的价格变动通常不会对消费者的收入造成很大影响</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但非常容易引起消费者的替代行为。</a:t>
            </a:r>
            <a:endParaRPr lang="en-US" altLang="zh-CN" sz="1800" b="0" dirty="0">
              <a:latin typeface="微软雅黑" panose="020B0503020204020204" pitchFamily="34" charset="-122"/>
              <a:ea typeface="微软雅黑" panose="020B0503020204020204" pitchFamily="34" charset="-122"/>
            </a:endParaRPr>
          </a:p>
        </p:txBody>
      </p:sp>
      <p:sp>
        <p:nvSpPr>
          <p:cNvPr id="9" name="平行四边形 8">
            <a:extLst>
              <a:ext uri="{FF2B5EF4-FFF2-40B4-BE49-F238E27FC236}">
                <a16:creationId xmlns:a16="http://schemas.microsoft.com/office/drawing/2014/main" id="{CB454385-BA6E-4ED6-B306-69AF3AC853B8}"/>
              </a:ext>
            </a:extLst>
          </p:cNvPr>
          <p:cNvSpPr/>
          <p:nvPr/>
        </p:nvSpPr>
        <p:spPr>
          <a:xfrm>
            <a:off x="1979822" y="2219734"/>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0" dirty="0">
                <a:latin typeface="微软雅黑" panose="020B0503020204020204" pitchFamily="34" charset="-122"/>
                <a:ea typeface="微软雅黑" panose="020B0503020204020204" pitchFamily="34" charset="-122"/>
              </a:rPr>
              <a:t>对一般商品来说</a:t>
            </a:r>
            <a:endParaRPr lang="en-US" altLang="zh-CN" sz="1800" spc="150" dirty="0">
              <a:solidFill>
                <a:schemeClr val="bg1"/>
              </a:solidFill>
              <a:latin typeface="微软雅黑" panose="020B0503020204020204" pitchFamily="34" charset="-122"/>
              <a:ea typeface="微软雅黑" panose="020B0503020204020204" pitchFamily="34" charset="-122"/>
            </a:endParaRPr>
          </a:p>
        </p:txBody>
      </p:sp>
      <p:sp>
        <p:nvSpPr>
          <p:cNvPr id="10" name="平行四边形 9">
            <a:extLst>
              <a:ext uri="{FF2B5EF4-FFF2-40B4-BE49-F238E27FC236}">
                <a16:creationId xmlns:a16="http://schemas.microsoft.com/office/drawing/2014/main" id="{F26D4013-C82B-41ED-A645-05DC11DE7BEF}"/>
              </a:ext>
            </a:extLst>
          </p:cNvPr>
          <p:cNvSpPr/>
          <p:nvPr/>
        </p:nvSpPr>
        <p:spPr>
          <a:xfrm>
            <a:off x="1979820" y="4146146"/>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0" dirty="0">
                <a:latin typeface="微软雅黑" panose="020B0503020204020204" pitchFamily="34" charset="-122"/>
                <a:ea typeface="微软雅黑" panose="020B0503020204020204" pitchFamily="34" charset="-122"/>
              </a:rPr>
              <a:t>对于时间商品而言</a:t>
            </a:r>
            <a:endParaRPr lang="en-US" altLang="zh-CN" sz="1800" spc="15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009019" y="4760922"/>
            <a:ext cx="6426580" cy="1477328"/>
          </a:xfrm>
          <a:prstGeom prst="rect">
            <a:avLst/>
          </a:prstGeom>
          <a:noFill/>
        </p:spPr>
        <p:txBody>
          <a:bodyPr wrap="square" rtlCol="0">
            <a:spAutoFit/>
          </a:bodyPr>
          <a:lstStyle/>
          <a:p>
            <a:pPr marL="342900" lvl="1" indent="-342900">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劳动供给（时间）可能是其收入的主要来源。 </a:t>
            </a:r>
            <a:endParaRPr lang="en-US" altLang="zh-CN" sz="1800" b="0" dirty="0">
              <a:latin typeface="微软雅黑" panose="020B0503020204020204" pitchFamily="34" charset="-122"/>
              <a:ea typeface="微软雅黑" panose="020B0503020204020204" pitchFamily="34" charset="-122"/>
            </a:endParaRPr>
          </a:p>
          <a:p>
            <a:pPr marL="342900" lvl="1" indent="-34290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在这种情况下</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工资的上升会大大增加消费者的收入水平。因此，闲暇价格变化的收入效应较大。</a:t>
            </a:r>
          </a:p>
          <a:p>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p:cBhvr>
                                        <p:cTn id="7" dur="500"/>
                                        <p:tgtEl>
                                          <p:spTgt spid="358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animBg="1"/>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411625" y="1196845"/>
            <a:ext cx="8229600" cy="559820"/>
          </a:xfrm>
          <a:ln/>
        </p:spPr>
        <p:txBody>
          <a:bodyPr/>
          <a:lstStyle/>
          <a:p>
            <a:pPr marL="457200" lvl="2" indent="-457200" eaLnBrk="1" hangingPunct="1">
              <a:lnSpc>
                <a:spcPct val="1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工资率上升影响劳动供给的特点</a:t>
            </a:r>
            <a:endParaRPr lang="en-US" altLang="zh-CN" sz="20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57020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2" indent="0" eaLnBrk="1" hangingPunct="1">
              <a:buNone/>
            </a:pPr>
            <a:r>
              <a:rPr lang="zh-CN" altLang="en-US" sz="2400" dirty="0">
                <a:solidFill>
                  <a:schemeClr val="bg1"/>
                </a:solidFill>
                <a:latin typeface="微软雅黑" panose="020B0503020204020204" pitchFamily="34" charset="-122"/>
                <a:ea typeface="微软雅黑" panose="020B0503020204020204" pitchFamily="34" charset="-122"/>
              </a:rPr>
              <a:t>四、替代效应和收入效应</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627AE83D-F3D9-4FE1-841C-38AA09ECDF1C}"/>
              </a:ext>
            </a:extLst>
          </p:cNvPr>
          <p:cNvGrpSpPr/>
          <p:nvPr/>
        </p:nvGrpSpPr>
        <p:grpSpPr>
          <a:xfrm>
            <a:off x="467544" y="1914724"/>
            <a:ext cx="2547461" cy="514350"/>
            <a:chOff x="467544" y="2481986"/>
            <a:chExt cx="2547461" cy="514350"/>
          </a:xfrm>
        </p:grpSpPr>
        <p:sp>
          <p:nvSpPr>
            <p:cNvPr id="7"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1800" b="0" dirty="0">
                  <a:solidFill>
                    <a:schemeClr val="tx1"/>
                  </a:solidFill>
                  <a:latin typeface="微软雅黑" panose="020B0503020204020204" pitchFamily="34" charset="-122"/>
                  <a:ea typeface="微软雅黑" panose="020B0503020204020204" pitchFamily="34" charset="-122"/>
                </a:rPr>
                <a:t>如果原来的工资较低</a:t>
              </a:r>
              <a:endParaRPr lang="zh-CN" altLang="en-US" sz="1800" spc="150" dirty="0">
                <a:solidFill>
                  <a:schemeClr val="tx1"/>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885547" y="2496840"/>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文本框 1"/>
          <p:cNvSpPr txBox="1"/>
          <p:nvPr/>
        </p:nvSpPr>
        <p:spPr>
          <a:xfrm>
            <a:off x="791326" y="2572746"/>
            <a:ext cx="7668943" cy="1169551"/>
          </a:xfrm>
          <a:prstGeom prst="rect">
            <a:avLst/>
          </a:prstGeom>
          <a:noFill/>
        </p:spPr>
        <p:txBody>
          <a:bodyPr wrap="square" rtlCol="0">
            <a:spAutoFit/>
          </a:bodyPr>
          <a:lstStyle/>
          <a:p>
            <a:pPr marL="285750" lvl="1"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则此时工资上涨的收入效应不一定能超过替代效应</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因为此时的劳动供给量亦较小</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从而由工资上涨引起的劳动收入增量不会很大。</a:t>
            </a:r>
            <a:endParaRPr lang="en-US" altLang="zh-CN" sz="1800" b="0" dirty="0">
              <a:latin typeface="微软雅黑" panose="020B0503020204020204" pitchFamily="34" charset="-122"/>
              <a:ea typeface="微软雅黑" panose="020B0503020204020204" pitchFamily="34" charset="-122"/>
            </a:endParaRPr>
          </a:p>
          <a:p>
            <a:endParaRPr lang="zh-CN" altLang="en-US" dirty="0"/>
          </a:p>
        </p:txBody>
      </p:sp>
      <p:grpSp>
        <p:nvGrpSpPr>
          <p:cNvPr id="10" name="组合 9">
            <a:extLst>
              <a:ext uri="{FF2B5EF4-FFF2-40B4-BE49-F238E27FC236}">
                <a16:creationId xmlns:a16="http://schemas.microsoft.com/office/drawing/2014/main" id="{627AE83D-F3D9-4FE1-841C-38AA09ECDF1C}"/>
              </a:ext>
            </a:extLst>
          </p:cNvPr>
          <p:cNvGrpSpPr/>
          <p:nvPr/>
        </p:nvGrpSpPr>
        <p:grpSpPr>
          <a:xfrm>
            <a:off x="467544" y="3900480"/>
            <a:ext cx="2547461" cy="514350"/>
            <a:chOff x="467544" y="2481986"/>
            <a:chExt cx="2547461"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1800" b="0" dirty="0">
                  <a:solidFill>
                    <a:schemeClr val="tx1"/>
                  </a:solidFill>
                  <a:latin typeface="微软雅黑" panose="020B0503020204020204" pitchFamily="34" charset="-122"/>
                  <a:ea typeface="微软雅黑" panose="020B0503020204020204" pitchFamily="34" charset="-122"/>
                </a:rPr>
                <a:t>如果原来的工资较高</a:t>
              </a:r>
              <a:endParaRPr lang="zh-CN" altLang="en-US" sz="1800" spc="150" dirty="0">
                <a:solidFill>
                  <a:schemeClr val="tx1"/>
                </a:solidFill>
                <a:latin typeface="微软雅黑" panose="020B0503020204020204" pitchFamily="34" charset="-122"/>
                <a:ea typeface="微软雅黑" panose="020B0503020204020204" pitchFamily="34" charset="-122"/>
              </a:endParaRP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883807" y="2485715"/>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文本框 2"/>
          <p:cNvSpPr txBox="1"/>
          <p:nvPr/>
        </p:nvSpPr>
        <p:spPr>
          <a:xfrm>
            <a:off x="334752" y="4558378"/>
            <a:ext cx="8125518" cy="1585049"/>
          </a:xfrm>
          <a:prstGeom prst="rect">
            <a:avLst/>
          </a:prstGeom>
          <a:noFill/>
        </p:spPr>
        <p:txBody>
          <a:bodyPr wrap="square" rtlCol="0">
            <a:spAutoFit/>
          </a:bodyPr>
          <a:lstStyle/>
          <a:p>
            <a:pPr marL="742950" lvl="1" indent="-285750" eaLnBrk="1" hangingPunct="1">
              <a:lnSpc>
                <a:spcPct val="150000"/>
              </a:lnSpc>
              <a:buFont typeface="Arial" panose="020B0604020202020204" pitchFamily="34" charset="0"/>
              <a:buChar char="•"/>
            </a:pP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此时劳动供给量也相对较大</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则工资上涨引起的劳动收入增量就会很大</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从而收入效应可能超过替代效应。</a:t>
            </a:r>
            <a:endParaRPr lang="en-US" altLang="zh-CN" sz="1800" b="0" dirty="0">
              <a:latin typeface="微软雅黑" panose="020B0503020204020204" pitchFamily="34" charset="-122"/>
              <a:ea typeface="微软雅黑" panose="020B0503020204020204" pitchFamily="34" charset="-122"/>
            </a:endParaRPr>
          </a:p>
          <a:p>
            <a:pPr marL="742950" lvl="1" indent="-285750" eaLnBrk="1" hangingPunct="1">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于是</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在较高的工资水平上</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劳动供给曲线就可能向后弯曲。</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Effect>
                                      <p:cBhvr>
                                        <p:cTn id="7" dur="500"/>
                                        <p:tgtEl>
                                          <p:spTgt spid="368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4294967295"/>
          </p:nvPr>
        </p:nvSpPr>
        <p:spPr>
          <a:xfrm>
            <a:off x="611725" y="1916893"/>
            <a:ext cx="8229600" cy="3382065"/>
          </a:xfrm>
          <a:ln/>
        </p:spPr>
        <p:txBody>
          <a:bodyPr/>
          <a:lstStyle/>
          <a:p>
            <a:pPr marL="3429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市场的劳动供给曲线是所有单个消费者的劳动供给曲线的水平相加。</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尽管单个消费者的劳动供给曲线可能会向后弯曲</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但整个市场的劳动供给曲线却不一定也是如此。</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现有的工人也许会减少自己的劳动供给</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但高工资会吸引新工人进来</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因而整个市场的劳动供给还是会随工资的上升而增加</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从而市场的劳动供给曲线仍然向右上方倾斜。</a:t>
            </a:r>
            <a:endParaRPr lang="en-US" altLang="zh-CN" sz="18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五、劳动市场的供求均衡和工资的决定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627AE83D-F3D9-4FE1-841C-38AA09ECDF1C}"/>
              </a:ext>
            </a:extLst>
          </p:cNvPr>
          <p:cNvGrpSpPr/>
          <p:nvPr/>
        </p:nvGrpSpPr>
        <p:grpSpPr>
          <a:xfrm>
            <a:off x="467544" y="1340853"/>
            <a:ext cx="3260710" cy="576040"/>
            <a:chOff x="467544" y="2481986"/>
            <a:chExt cx="2547461" cy="450037"/>
          </a:xfrm>
        </p:grpSpPr>
        <p:sp>
          <p:nvSpPr>
            <p:cNvPr id="7"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81986"/>
              <a:ext cx="2547461" cy="450037"/>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noAutofit/>
            </a:bodyPr>
            <a:lstStyle/>
            <a:p>
              <a:pPr marL="0" lvl="2" algn="ctr" eaLnBrk="1" hangingPunct="1">
                <a:lnSpc>
                  <a:spcPct val="150000"/>
                </a:lnSpc>
              </a:pPr>
              <a:r>
                <a:rPr lang="zh-CN" altLang="en-US" sz="2200" b="0" dirty="0">
                  <a:solidFill>
                    <a:schemeClr val="tx2">
                      <a:lumMod val="85000"/>
                      <a:lumOff val="15000"/>
                    </a:schemeClr>
                  </a:solidFill>
                  <a:latin typeface="微软雅黑" panose="020B0503020204020204" pitchFamily="34" charset="-122"/>
                  <a:ea typeface="微软雅黑" panose="020B0503020204020204" pitchFamily="34" charset="-122"/>
                </a:rPr>
                <a:t>市场的劳动供给曲线</a:t>
              </a:r>
              <a:endParaRPr lang="en-US" altLang="zh-CN" sz="2200" b="0" dirty="0">
                <a:solidFill>
                  <a:schemeClr val="tx2">
                    <a:lumMod val="85000"/>
                    <a:lumOff val="15000"/>
                  </a:schemeClr>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888005" y="248198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7890">
                                            <p:txEl>
                                              <p:pRg st="0" end="0"/>
                                            </p:txEl>
                                          </p:spTgt>
                                        </p:tgtEl>
                                        <p:attrNameLst>
                                          <p:attrName>style.visibility</p:attrName>
                                        </p:attrNameLst>
                                      </p:cBhvr>
                                      <p:to>
                                        <p:strVal val="visible"/>
                                      </p:to>
                                    </p:set>
                                    <p:animEffect transition="in" filter="fade">
                                      <p:cBhvr>
                                        <p:cTn id="17" dur="1000"/>
                                        <p:tgtEl>
                                          <p:spTgt spid="37890">
                                            <p:txEl>
                                              <p:pRg st="0" end="0"/>
                                            </p:txEl>
                                          </p:spTgt>
                                        </p:tgtEl>
                                      </p:cBhvr>
                                    </p:animEffect>
                                    <p:anim calcmode="lin" valueType="num">
                                      <p:cBhvr>
                                        <p:cTn id="18" dur="10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789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7890">
                                            <p:txEl>
                                              <p:pRg st="1" end="1"/>
                                            </p:txEl>
                                          </p:spTgt>
                                        </p:tgtEl>
                                        <p:attrNameLst>
                                          <p:attrName>style.visibility</p:attrName>
                                        </p:attrNameLst>
                                      </p:cBhvr>
                                      <p:to>
                                        <p:strVal val="visible"/>
                                      </p:to>
                                    </p:set>
                                    <p:animEffect transition="in" filter="fade">
                                      <p:cBhvr>
                                        <p:cTn id="24" dur="1000"/>
                                        <p:tgtEl>
                                          <p:spTgt spid="37890">
                                            <p:txEl>
                                              <p:pRg st="1" end="1"/>
                                            </p:txEl>
                                          </p:spTgt>
                                        </p:tgtEl>
                                      </p:cBhvr>
                                    </p:animEffect>
                                    <p:anim calcmode="lin" valueType="num">
                                      <p:cBhvr>
                                        <p:cTn id="25" dur="10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789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7890">
                                            <p:txEl>
                                              <p:pRg st="2" end="2"/>
                                            </p:txEl>
                                          </p:spTgt>
                                        </p:tgtEl>
                                        <p:attrNameLst>
                                          <p:attrName>style.visibility</p:attrName>
                                        </p:attrNameLst>
                                      </p:cBhvr>
                                      <p:to>
                                        <p:strVal val="visible"/>
                                      </p:to>
                                    </p:set>
                                    <p:animEffect transition="in" filter="fade">
                                      <p:cBhvr>
                                        <p:cTn id="31" dur="1000"/>
                                        <p:tgtEl>
                                          <p:spTgt spid="37890">
                                            <p:txEl>
                                              <p:pRg st="2" end="2"/>
                                            </p:txEl>
                                          </p:spTgt>
                                        </p:tgtEl>
                                      </p:cBhvr>
                                    </p:animEffect>
                                    <p:anim calcmode="lin" valueType="num">
                                      <p:cBhvr>
                                        <p:cTn id="32" dur="1000" fill="hold"/>
                                        <p:tgtEl>
                                          <p:spTgt spid="37890">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3789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4294967295"/>
          </p:nvPr>
        </p:nvSpPr>
        <p:spPr>
          <a:xfrm>
            <a:off x="539720" y="1127585"/>
            <a:ext cx="8229600" cy="4784725"/>
          </a:xfrm>
          <a:ln/>
        </p:spPr>
        <p:txBody>
          <a:bodyPr/>
          <a:lstStyle/>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市场的劳动需求曲线</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由于要素的边际产品递减</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要素的市场需求曲线通常向右下方倾斜。 劳动的市场需求曲线也是如此。</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均衡的工资和劳动数量</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向右下方倾斜的劳动需求曲线和向右上方倾斜的劳动供给曲线合起来决定了均衡的工资水平。</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200000"/>
              </a:lnSpc>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均衡工资和劳动数量的变动</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比较静态分析，如下图。</a:t>
            </a:r>
          </a:p>
        </p:txBody>
      </p:sp>
      <p:sp>
        <p:nvSpPr>
          <p:cNvPr id="4"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五、劳动市场的供求均衡和工资的决定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p:cBhvr>
                                        <p:cTn id="7" dur="500"/>
                                        <p:tgtEl>
                                          <p:spTgt spid="389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914">
                                            <p:txEl>
                                              <p:pRg st="1" end="1"/>
                                            </p:txEl>
                                          </p:spTgt>
                                        </p:tgtEl>
                                        <p:attrNameLst>
                                          <p:attrName>style.visibility</p:attrName>
                                        </p:attrNameLst>
                                      </p:cBhvr>
                                      <p:to>
                                        <p:strVal val="visible"/>
                                      </p:to>
                                    </p:set>
                                    <p:animEffect>
                                      <p:cBhvr>
                                        <p:cTn id="12" dur="500"/>
                                        <p:tgtEl>
                                          <p:spTgt spid="389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8914">
                                            <p:txEl>
                                              <p:pRg st="2" end="2"/>
                                            </p:txEl>
                                          </p:spTgt>
                                        </p:tgtEl>
                                        <p:attrNameLst>
                                          <p:attrName>style.visibility</p:attrName>
                                        </p:attrNameLst>
                                      </p:cBhvr>
                                      <p:to>
                                        <p:strVal val="visible"/>
                                      </p:to>
                                    </p:set>
                                    <p:animEffect>
                                      <p:cBhvr>
                                        <p:cTn id="17" dur="500"/>
                                        <p:tgtEl>
                                          <p:spTgt spid="389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8914">
                                            <p:txEl>
                                              <p:pRg st="3" end="3"/>
                                            </p:txEl>
                                          </p:spTgt>
                                        </p:tgtEl>
                                        <p:attrNameLst>
                                          <p:attrName>style.visibility</p:attrName>
                                        </p:attrNameLst>
                                      </p:cBhvr>
                                      <p:to>
                                        <p:strVal val="visible"/>
                                      </p:to>
                                    </p:set>
                                    <p:animEffect>
                                      <p:cBhvr>
                                        <p:cTn id="22" dur="500"/>
                                        <p:tgtEl>
                                          <p:spTgt spid="389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914">
                                            <p:txEl>
                                              <p:pRg st="4" end="4"/>
                                            </p:txEl>
                                          </p:spTgt>
                                        </p:tgtEl>
                                        <p:attrNameLst>
                                          <p:attrName>style.visibility</p:attrName>
                                        </p:attrNameLst>
                                      </p:cBhvr>
                                      <p:to>
                                        <p:strVal val="visible"/>
                                      </p:to>
                                    </p:set>
                                    <p:animEffect>
                                      <p:cBhvr>
                                        <p:cTn id="27" dur="500"/>
                                        <p:tgtEl>
                                          <p:spTgt spid="389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8914">
                                            <p:txEl>
                                              <p:pRg st="5" end="5"/>
                                            </p:txEl>
                                          </p:spTgt>
                                        </p:tgtEl>
                                        <p:attrNameLst>
                                          <p:attrName>style.visibility</p:attrName>
                                        </p:attrNameLst>
                                      </p:cBhvr>
                                      <p:to>
                                        <p:strVal val="visible"/>
                                      </p:to>
                                    </p:set>
                                    <p:animEffect>
                                      <p:cBhvr>
                                        <p:cTn id="32" dur="500"/>
                                        <p:tgtEl>
                                          <p:spTgt spid="389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457200" y="1341438"/>
            <a:ext cx="4258810" cy="520699"/>
          </a:xfrm>
          <a:ln/>
        </p:spPr>
        <p:txBody>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均衡的工资和劳动数量</a:t>
            </a:r>
            <a:endParaRPr lang="en-US" altLang="zh-CN" sz="2000" b="0" dirty="0">
              <a:latin typeface="微软雅黑" panose="020B0503020204020204" pitchFamily="34" charset="-122"/>
              <a:ea typeface="微软雅黑" panose="020B0503020204020204" pitchFamily="34" charset="-122"/>
            </a:endParaRPr>
          </a:p>
          <a:p>
            <a:pPr lvl="1" eaLnBrk="1" hangingPunct="1"/>
            <a:endParaRPr lang="zh-CN" altLang="en-US" sz="2000" b="0"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2071688" y="2144713"/>
            <a:ext cx="5214937" cy="4141787"/>
            <a:chOff x="2071688" y="2144713"/>
            <a:chExt cx="5214937" cy="4141787"/>
          </a:xfrm>
        </p:grpSpPr>
        <p:sp>
          <p:nvSpPr>
            <p:cNvPr id="39939" name="Line 4"/>
            <p:cNvSpPr>
              <a:spLocks noChangeShapeType="1"/>
            </p:cNvSpPr>
            <p:nvPr/>
          </p:nvSpPr>
          <p:spPr bwMode="auto">
            <a:xfrm flipV="1">
              <a:off x="2762250" y="2228850"/>
              <a:ext cx="0" cy="3659188"/>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0" name="Line 5"/>
            <p:cNvSpPr>
              <a:spLocks noChangeShapeType="1"/>
            </p:cNvSpPr>
            <p:nvPr/>
          </p:nvSpPr>
          <p:spPr bwMode="auto">
            <a:xfrm>
              <a:off x="2762250" y="5889625"/>
              <a:ext cx="4341813" cy="317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1" name="Text Box 6"/>
            <p:cNvSpPr>
              <a:spLocks noChangeArrowheads="1"/>
            </p:cNvSpPr>
            <p:nvPr/>
          </p:nvSpPr>
          <p:spPr bwMode="auto">
            <a:xfrm>
              <a:off x="2366963" y="2144713"/>
              <a:ext cx="6318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39942" name="Text Box 7"/>
            <p:cNvSpPr>
              <a:spLocks noChangeArrowheads="1"/>
            </p:cNvSpPr>
            <p:nvPr/>
          </p:nvSpPr>
          <p:spPr bwMode="auto">
            <a:xfrm>
              <a:off x="2446338" y="5721350"/>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9943" name="Text Box 8"/>
            <p:cNvSpPr>
              <a:spLocks noChangeArrowheads="1"/>
            </p:cNvSpPr>
            <p:nvPr/>
          </p:nvSpPr>
          <p:spPr bwMode="auto">
            <a:xfrm>
              <a:off x="6945313" y="5889625"/>
              <a:ext cx="341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L</a:t>
              </a:r>
              <a:endParaRPr lang="zh-CN" altLang="en-US" dirty="0"/>
            </a:p>
          </p:txBody>
        </p:sp>
        <p:sp>
          <p:nvSpPr>
            <p:cNvPr id="39944" name="Line 9"/>
            <p:cNvSpPr>
              <a:spLocks noChangeShapeType="1"/>
            </p:cNvSpPr>
            <p:nvPr/>
          </p:nvSpPr>
          <p:spPr bwMode="auto">
            <a:xfrm>
              <a:off x="3708400" y="2568575"/>
              <a:ext cx="2603500" cy="2811463"/>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5" name="Text Box 10"/>
            <p:cNvSpPr>
              <a:spLocks noChangeArrowheads="1"/>
            </p:cNvSpPr>
            <p:nvPr/>
          </p:nvSpPr>
          <p:spPr bwMode="auto">
            <a:xfrm>
              <a:off x="2289175" y="3848100"/>
              <a:ext cx="5508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0</a:t>
              </a:r>
              <a:endParaRPr lang="zh-CN" altLang="en-US"/>
            </a:p>
          </p:txBody>
        </p:sp>
        <p:sp>
          <p:nvSpPr>
            <p:cNvPr id="39946" name="Line 11"/>
            <p:cNvSpPr>
              <a:spLocks noChangeShapeType="1"/>
            </p:cNvSpPr>
            <p:nvPr/>
          </p:nvSpPr>
          <p:spPr bwMode="auto">
            <a:xfrm>
              <a:off x="2762250" y="4103688"/>
              <a:ext cx="2368550"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7" name="Line 12"/>
            <p:cNvSpPr>
              <a:spLocks noChangeShapeType="1"/>
            </p:cNvSpPr>
            <p:nvPr/>
          </p:nvSpPr>
          <p:spPr bwMode="auto">
            <a:xfrm>
              <a:off x="5130800" y="4103688"/>
              <a:ext cx="1588" cy="178911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8" name="Text Box 13"/>
            <p:cNvSpPr>
              <a:spLocks noChangeArrowheads="1"/>
            </p:cNvSpPr>
            <p:nvPr/>
          </p:nvSpPr>
          <p:spPr bwMode="auto">
            <a:xfrm>
              <a:off x="2071688" y="4394200"/>
              <a:ext cx="5318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39949" name="Text Box 14"/>
            <p:cNvSpPr>
              <a:spLocks noChangeArrowheads="1"/>
            </p:cNvSpPr>
            <p:nvPr/>
          </p:nvSpPr>
          <p:spPr bwMode="auto">
            <a:xfrm>
              <a:off x="6156325" y="3251200"/>
              <a:ext cx="3381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39950" name="Text Box 15"/>
            <p:cNvSpPr>
              <a:spLocks noChangeArrowheads="1"/>
            </p:cNvSpPr>
            <p:nvPr/>
          </p:nvSpPr>
          <p:spPr bwMode="auto">
            <a:xfrm>
              <a:off x="2614613" y="3551238"/>
              <a:ext cx="3397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39951" name="Text Box 16"/>
            <p:cNvSpPr>
              <a:spLocks noChangeArrowheads="1"/>
            </p:cNvSpPr>
            <p:nvPr/>
          </p:nvSpPr>
          <p:spPr bwMode="auto">
            <a:xfrm>
              <a:off x="3314700" y="2312988"/>
              <a:ext cx="44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39952" name="Text Box 17"/>
            <p:cNvSpPr>
              <a:spLocks noChangeArrowheads="1"/>
            </p:cNvSpPr>
            <p:nvPr/>
          </p:nvSpPr>
          <p:spPr bwMode="auto">
            <a:xfrm>
              <a:off x="4894263" y="5889625"/>
              <a:ext cx="709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0</a:t>
              </a:r>
              <a:endParaRPr lang="zh-CN" altLang="en-US"/>
            </a:p>
          </p:txBody>
        </p:sp>
        <p:sp>
          <p:nvSpPr>
            <p:cNvPr id="39953" name="未知"/>
            <p:cNvSpPr>
              <a:spLocks noChangeArrowheads="1"/>
            </p:cNvSpPr>
            <p:nvPr/>
          </p:nvSpPr>
          <p:spPr bwMode="auto">
            <a:xfrm>
              <a:off x="3394075" y="2568575"/>
              <a:ext cx="2495550" cy="2319338"/>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551" y="2379"/>
                    <a:pt x="18900" y="10688"/>
                    <a:pt x="15303" y="14285"/>
                  </a:cubicBezTo>
                  <a:cubicBezTo>
                    <a:pt x="11706" y="17883"/>
                    <a:pt x="2548" y="20382"/>
                    <a:pt x="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9954" name="Text Box 19"/>
            <p:cNvSpPr>
              <a:spLocks noChangeArrowheads="1"/>
            </p:cNvSpPr>
            <p:nvPr/>
          </p:nvSpPr>
          <p:spPr bwMode="auto">
            <a:xfrm>
              <a:off x="5683250" y="2174875"/>
              <a:ext cx="6302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a:p>
          </p:txBody>
        </p:sp>
      </p:grpSp>
      <p:sp>
        <p:nvSpPr>
          <p:cNvPr id="39955" name="圆角矩形标注 19"/>
          <p:cNvSpPr>
            <a:spLocks noChangeArrowheads="1"/>
          </p:cNvSpPr>
          <p:nvPr/>
        </p:nvSpPr>
        <p:spPr bwMode="auto">
          <a:xfrm>
            <a:off x="3571875" y="2000250"/>
            <a:ext cx="1603289" cy="374571"/>
          </a:xfrm>
          <a:prstGeom prst="wedgeRoundRectCallout">
            <a:avLst>
              <a:gd name="adj1" fmla="val -27171"/>
              <a:gd name="adj2" fmla="val 105125"/>
              <a:gd name="adj3" fmla="val 16667"/>
            </a:avLst>
          </a:prstGeom>
          <a:solidFill>
            <a:schemeClr val="bg1">
              <a:lumMod val="85000"/>
            </a:schemeClr>
          </a:solidFill>
          <a:ln>
            <a:noFill/>
          </a:ln>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劳动需求曲线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9956" name="圆角矩形标注 20"/>
          <p:cNvSpPr>
            <a:spLocks noChangeArrowheads="1"/>
          </p:cNvSpPr>
          <p:nvPr/>
        </p:nvSpPr>
        <p:spPr bwMode="auto">
          <a:xfrm>
            <a:off x="6143625" y="2071688"/>
            <a:ext cx="1564073" cy="374571"/>
          </a:xfrm>
          <a:prstGeom prst="wedgeRoundRectCallout">
            <a:avLst>
              <a:gd name="adj1" fmla="val -62773"/>
              <a:gd name="adj2" fmla="val 139995"/>
              <a:gd name="adj3" fmla="val 16667"/>
            </a:avLst>
          </a:prstGeom>
          <a:solidFill>
            <a:schemeClr val="bg1">
              <a:lumMod val="85000"/>
            </a:schemeClr>
          </a:solidFill>
          <a:ln>
            <a:noFill/>
          </a:ln>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劳动供给曲线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S</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23" name="矩形 22">
            <a:extLst>
              <a:ext uri="{FF2B5EF4-FFF2-40B4-BE49-F238E27FC236}">
                <a16:creationId xmlns:a16="http://schemas.microsoft.com/office/drawing/2014/main" id="{F68E5273-CD77-47B9-B841-9D29349C133D}"/>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五、劳动市场的供求均衡和工资的决定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 calcmode="lin" valueType="num">
                                      <p:cBhvr>
                                        <p:cTn id="7" dur="500" fill="hold"/>
                                        <p:tgtEl>
                                          <p:spTgt spid="39938">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399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9955"/>
                                        </p:tgtEl>
                                        <p:attrNameLst>
                                          <p:attrName>style.visibility</p:attrName>
                                        </p:attrNameLst>
                                      </p:cBhvr>
                                      <p:to>
                                        <p:strVal val="visible"/>
                                      </p:to>
                                    </p:set>
                                    <p:animEffect>
                                      <p:cBhvr>
                                        <p:cTn id="18" dur="500"/>
                                        <p:tgtEl>
                                          <p:spTgt spid="3995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9956"/>
                                        </p:tgtEl>
                                        <p:attrNameLst>
                                          <p:attrName>style.visibility</p:attrName>
                                        </p:attrNameLst>
                                      </p:cBhvr>
                                      <p:to>
                                        <p:strVal val="visible"/>
                                      </p:to>
                                    </p:set>
                                    <p:animEffect>
                                      <p:cBhvr>
                                        <p:cTn id="23" dur="500"/>
                                        <p:tgtEl>
                                          <p:spTgt spid="39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5" grpId="0" bldLvl="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0964" name="Line 3"/>
          <p:cNvSpPr>
            <a:spLocks noChangeShapeType="1"/>
          </p:cNvSpPr>
          <p:nvPr/>
        </p:nvSpPr>
        <p:spPr bwMode="auto">
          <a:xfrm>
            <a:off x="4769184" y="3117651"/>
            <a:ext cx="2438061" cy="2439161"/>
          </a:xfrm>
          <a:prstGeom prst="line">
            <a:avLst/>
          </a:prstGeom>
          <a:noFill/>
          <a:ln w="28575" cap="flat" cmpd="sng">
            <a:solidFill>
              <a:srgbClr val="333399"/>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65" name="Line 4"/>
          <p:cNvSpPr>
            <a:spLocks noChangeShapeType="1"/>
          </p:cNvSpPr>
          <p:nvPr/>
        </p:nvSpPr>
        <p:spPr bwMode="auto">
          <a:xfrm flipV="1">
            <a:off x="4997752" y="3498770"/>
            <a:ext cx="2361872" cy="1753147"/>
          </a:xfrm>
          <a:prstGeom prst="line">
            <a:avLst/>
          </a:prstGeom>
          <a:noFill/>
          <a:ln w="28575" cap="flat" cmpd="sng">
            <a:solidFill>
              <a:srgbClr val="333399"/>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66" name="Line 5"/>
          <p:cNvSpPr>
            <a:spLocks noChangeShapeType="1"/>
          </p:cNvSpPr>
          <p:nvPr/>
        </p:nvSpPr>
        <p:spPr bwMode="auto">
          <a:xfrm flipV="1">
            <a:off x="4769184" y="2812756"/>
            <a:ext cx="635" cy="2896503"/>
          </a:xfrm>
          <a:prstGeom prst="line">
            <a:avLst/>
          </a:prstGeom>
          <a:noFill/>
          <a:ln w="38100" cap="flat" cmpd="sng">
            <a:solidFill>
              <a:srgbClr val="C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67" name="Line 6"/>
          <p:cNvSpPr>
            <a:spLocks noChangeShapeType="1"/>
          </p:cNvSpPr>
          <p:nvPr/>
        </p:nvSpPr>
        <p:spPr bwMode="auto">
          <a:xfrm>
            <a:off x="4769184" y="5709260"/>
            <a:ext cx="3428523" cy="635"/>
          </a:xfrm>
          <a:prstGeom prst="line">
            <a:avLst/>
          </a:prstGeom>
          <a:noFill/>
          <a:ln w="38100" cap="flat" cmpd="sng">
            <a:solidFill>
              <a:srgbClr val="C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68" name="Line 7"/>
          <p:cNvSpPr>
            <a:spLocks noChangeShapeType="1"/>
          </p:cNvSpPr>
          <p:nvPr/>
        </p:nvSpPr>
        <p:spPr bwMode="auto">
          <a:xfrm flipH="1">
            <a:off x="4769184" y="4413455"/>
            <a:ext cx="1295220" cy="635"/>
          </a:xfrm>
          <a:prstGeom prst="line">
            <a:avLst/>
          </a:prstGeom>
          <a:noFill/>
          <a:ln w="9525" cap="flat" cmpd="sng">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69" name="Line 8"/>
          <p:cNvSpPr>
            <a:spLocks noChangeShapeType="1"/>
          </p:cNvSpPr>
          <p:nvPr/>
        </p:nvSpPr>
        <p:spPr bwMode="auto">
          <a:xfrm>
            <a:off x="6064404" y="4413455"/>
            <a:ext cx="635" cy="1295804"/>
          </a:xfrm>
          <a:prstGeom prst="line">
            <a:avLst/>
          </a:prstGeom>
          <a:noFill/>
          <a:ln w="9525" cap="flat" cmpd="sng">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70" name="Rectangle 9"/>
          <p:cNvSpPr>
            <a:spLocks noChangeArrowheads="1"/>
          </p:cNvSpPr>
          <p:nvPr/>
        </p:nvSpPr>
        <p:spPr bwMode="auto">
          <a:xfrm>
            <a:off x="6750109" y="4642127"/>
            <a:ext cx="769513"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6600"/>
              </a:buClr>
              <a:buFont typeface="Wingdings" panose="05000000000000000000" pitchFamily="2" charset="2"/>
              <a:buNone/>
            </a:pPr>
            <a:r>
              <a:rPr lang="en-US" altLang="zh-CN" sz="2000" dirty="0">
                <a:latin typeface="Times New Roman" panose="02020603050405020304" pitchFamily="18" charset="0"/>
              </a:rPr>
              <a:t>VMP</a:t>
            </a:r>
            <a:endParaRPr lang="zh-CN" altLang="en-US" sz="2000" dirty="0"/>
          </a:p>
        </p:txBody>
      </p:sp>
      <p:sp>
        <p:nvSpPr>
          <p:cNvPr id="40971" name="Rectangle 10"/>
          <p:cNvSpPr>
            <a:spLocks noChangeArrowheads="1"/>
          </p:cNvSpPr>
          <p:nvPr/>
        </p:nvSpPr>
        <p:spPr bwMode="auto">
          <a:xfrm>
            <a:off x="7359624" y="3278991"/>
            <a:ext cx="327614"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S</a:t>
            </a:r>
            <a:endParaRPr lang="zh-CN" altLang="en-US" sz="2000" dirty="0"/>
          </a:p>
        </p:txBody>
      </p:sp>
      <p:sp>
        <p:nvSpPr>
          <p:cNvPr id="40972" name="矩形 11"/>
          <p:cNvSpPr>
            <a:spLocks noChangeArrowheads="1"/>
          </p:cNvSpPr>
          <p:nvPr/>
        </p:nvSpPr>
        <p:spPr bwMode="auto">
          <a:xfrm>
            <a:off x="4317127" y="2673012"/>
            <a:ext cx="415232" cy="36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pPr>
            <a:r>
              <a:rPr lang="en-US" altLang="zh-CN" sz="1800" dirty="0">
                <a:solidFill>
                  <a:srgbClr val="C00000"/>
                </a:solidFill>
                <a:latin typeface="Times New Roman" panose="02020603050405020304" pitchFamily="18" charset="0"/>
                <a:sym typeface="Times New Roman" panose="02020603050405020304" pitchFamily="18" charset="0"/>
              </a:rPr>
              <a:t>W</a:t>
            </a:r>
            <a:endParaRPr lang="zh-CN" altLang="en-US" sz="1800" dirty="0">
              <a:solidFill>
                <a:srgbClr val="C00000"/>
              </a:solidFill>
            </a:endParaRPr>
          </a:p>
        </p:txBody>
      </p:sp>
      <p:sp>
        <p:nvSpPr>
          <p:cNvPr id="40973" name="矩形 12"/>
          <p:cNvSpPr>
            <a:spLocks noChangeArrowheads="1"/>
          </p:cNvSpPr>
          <p:nvPr/>
        </p:nvSpPr>
        <p:spPr bwMode="auto">
          <a:xfrm>
            <a:off x="7991361" y="5720058"/>
            <a:ext cx="338408" cy="36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pPr>
            <a:r>
              <a:rPr lang="en-US" altLang="zh-CN" sz="1800" dirty="0">
                <a:solidFill>
                  <a:srgbClr val="C00000"/>
                </a:solidFill>
                <a:latin typeface="Times New Roman" panose="02020603050405020304" pitchFamily="18" charset="0"/>
                <a:sym typeface="Times New Roman" panose="02020603050405020304" pitchFamily="18" charset="0"/>
              </a:rPr>
              <a:t>L</a:t>
            </a:r>
            <a:endParaRPr lang="zh-CN" altLang="en-US" sz="1800" dirty="0">
              <a:solidFill>
                <a:srgbClr val="C00000"/>
              </a:solidFill>
            </a:endParaRPr>
          </a:p>
        </p:txBody>
      </p:sp>
      <p:sp>
        <p:nvSpPr>
          <p:cNvPr id="40974" name="Line 4"/>
          <p:cNvSpPr>
            <a:spLocks noChangeShapeType="1"/>
          </p:cNvSpPr>
          <p:nvPr/>
        </p:nvSpPr>
        <p:spPr bwMode="auto">
          <a:xfrm flipV="1">
            <a:off x="4899976" y="2385268"/>
            <a:ext cx="2361872" cy="1753147"/>
          </a:xfrm>
          <a:prstGeom prst="line">
            <a:avLst/>
          </a:prstGeom>
          <a:noFill/>
          <a:ln w="28575" cap="flat" cmpd="sng">
            <a:solidFill>
              <a:srgbClr val="333399"/>
            </a:solidFill>
            <a:prstDash val="lg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75" name="Rectangle 10"/>
          <p:cNvSpPr>
            <a:spLocks noChangeArrowheads="1"/>
          </p:cNvSpPr>
          <p:nvPr/>
        </p:nvSpPr>
        <p:spPr bwMode="auto">
          <a:xfrm>
            <a:off x="7154547" y="2296340"/>
            <a:ext cx="412058"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1</a:t>
            </a:r>
            <a:endParaRPr lang="en-US" altLang="zh-CN" sz="2000" dirty="0">
              <a:latin typeface="Times New Roman" panose="02020603050405020304" pitchFamily="18" charset="0"/>
            </a:endParaRPr>
          </a:p>
        </p:txBody>
      </p:sp>
      <p:sp>
        <p:nvSpPr>
          <p:cNvPr id="40976" name="Rectangle 10"/>
          <p:cNvSpPr>
            <a:spLocks noChangeArrowheads="1"/>
          </p:cNvSpPr>
          <p:nvPr/>
        </p:nvSpPr>
        <p:spPr bwMode="auto">
          <a:xfrm>
            <a:off x="5950755" y="3943409"/>
            <a:ext cx="370788"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A</a:t>
            </a:r>
            <a:endParaRPr lang="zh-CN" altLang="en-US" sz="2000" dirty="0"/>
          </a:p>
        </p:txBody>
      </p:sp>
      <p:sp>
        <p:nvSpPr>
          <p:cNvPr id="40977" name="Rectangle 10"/>
          <p:cNvSpPr>
            <a:spLocks noChangeArrowheads="1"/>
          </p:cNvSpPr>
          <p:nvPr/>
        </p:nvSpPr>
        <p:spPr bwMode="auto">
          <a:xfrm>
            <a:off x="5216162" y="3234528"/>
            <a:ext cx="356185"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B</a:t>
            </a:r>
          </a:p>
        </p:txBody>
      </p:sp>
      <p:sp>
        <p:nvSpPr>
          <p:cNvPr id="40978" name="椭圆 1"/>
          <p:cNvSpPr>
            <a:spLocks/>
          </p:cNvSpPr>
          <p:nvPr/>
        </p:nvSpPr>
        <p:spPr bwMode="auto">
          <a:xfrm>
            <a:off x="6052341" y="4356288"/>
            <a:ext cx="168252" cy="172774"/>
          </a:xfrm>
          <a:prstGeom prst="ellipse">
            <a:avLst/>
          </a:prstGeom>
          <a:solidFill>
            <a:schemeClr val="accent1"/>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40979" name="椭圆 17"/>
          <p:cNvSpPr>
            <a:spLocks/>
          </p:cNvSpPr>
          <p:nvPr/>
        </p:nvSpPr>
        <p:spPr bwMode="auto">
          <a:xfrm>
            <a:off x="5302510" y="3625174"/>
            <a:ext cx="168252" cy="172774"/>
          </a:xfrm>
          <a:prstGeom prst="ellipse">
            <a:avLst/>
          </a:prstGeom>
          <a:solidFill>
            <a:schemeClr val="accent1"/>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40980" name="Line 3"/>
          <p:cNvSpPr>
            <a:spLocks noChangeShapeType="1"/>
          </p:cNvSpPr>
          <p:nvPr/>
        </p:nvSpPr>
        <p:spPr bwMode="auto">
          <a:xfrm>
            <a:off x="5680282" y="2563758"/>
            <a:ext cx="2438061" cy="2439161"/>
          </a:xfrm>
          <a:prstGeom prst="line">
            <a:avLst/>
          </a:prstGeom>
          <a:noFill/>
          <a:ln w="28575" cap="flat" cmpd="sng">
            <a:solidFill>
              <a:srgbClr val="333399"/>
            </a:solidFill>
            <a:prstDash val="lg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40981" name="Rectangle 9"/>
          <p:cNvSpPr>
            <a:spLocks noChangeArrowheads="1"/>
          </p:cNvSpPr>
          <p:nvPr/>
        </p:nvSpPr>
        <p:spPr bwMode="auto">
          <a:xfrm>
            <a:off x="7453591" y="4017727"/>
            <a:ext cx="854591"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6600"/>
              </a:buClr>
              <a:buFont typeface="Wingdings" panose="05000000000000000000" pitchFamily="2" charset="2"/>
              <a:buNone/>
            </a:pPr>
            <a:r>
              <a:rPr lang="en-US" altLang="zh-CN" sz="2000" dirty="0">
                <a:latin typeface="Times New Roman" panose="02020603050405020304" pitchFamily="18" charset="0"/>
              </a:rPr>
              <a:t>VMP</a:t>
            </a:r>
            <a:r>
              <a:rPr lang="en-US" altLang="zh-CN" sz="2000" baseline="-25000" dirty="0">
                <a:latin typeface="Times New Roman" panose="02020603050405020304" pitchFamily="18" charset="0"/>
              </a:rPr>
              <a:t>1</a:t>
            </a:r>
            <a:endParaRPr lang="en-US" altLang="zh-CN" sz="2000" dirty="0">
              <a:latin typeface="Times New Roman" panose="02020603050405020304" pitchFamily="18" charset="0"/>
            </a:endParaRPr>
          </a:p>
        </p:txBody>
      </p:sp>
      <p:sp>
        <p:nvSpPr>
          <p:cNvPr id="40982" name="椭圆 20"/>
          <p:cNvSpPr>
            <a:spLocks/>
          </p:cNvSpPr>
          <p:nvPr/>
        </p:nvSpPr>
        <p:spPr bwMode="auto">
          <a:xfrm>
            <a:off x="6770426" y="3696952"/>
            <a:ext cx="168252" cy="172774"/>
          </a:xfrm>
          <a:prstGeom prst="ellipse">
            <a:avLst/>
          </a:prstGeom>
          <a:solidFill>
            <a:schemeClr val="accent1"/>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b="0" i="1">
              <a:latin typeface="Times New Roman" panose="02020603050405020304" pitchFamily="18" charset="0"/>
              <a:sym typeface="Times New Roman" panose="02020603050405020304" pitchFamily="18" charset="0"/>
            </a:endParaRPr>
          </a:p>
        </p:txBody>
      </p:sp>
      <p:sp>
        <p:nvSpPr>
          <p:cNvPr id="40983" name="Rectangle 10"/>
          <p:cNvSpPr>
            <a:spLocks noChangeArrowheads="1"/>
          </p:cNvSpPr>
          <p:nvPr/>
        </p:nvSpPr>
        <p:spPr bwMode="auto">
          <a:xfrm>
            <a:off x="6706300" y="3301859"/>
            <a:ext cx="370788" cy="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C</a:t>
            </a:r>
          </a:p>
        </p:txBody>
      </p:sp>
      <p:sp>
        <p:nvSpPr>
          <p:cNvPr id="26" name="标题 1"/>
          <p:cNvSpPr>
            <a:spLocks noChangeArrowheads="1"/>
          </p:cNvSpPr>
          <p:nvPr/>
        </p:nvSpPr>
        <p:spPr bwMode="auto">
          <a:xfrm>
            <a:off x="1043755" y="0"/>
            <a:ext cx="8229600" cy="43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劳动和工资</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27" name="矩形 26">
            <a:extLst>
              <a:ext uri="{FF2B5EF4-FFF2-40B4-BE49-F238E27FC236}">
                <a16:creationId xmlns:a16="http://schemas.microsoft.com/office/drawing/2014/main" id="{F68E5273-CD77-47B9-B841-9D29349C133D}"/>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五、劳动市场的供求均衡和工资的决定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28" name="矩形: 圆角 4">
            <a:extLst>
              <a:ext uri="{FF2B5EF4-FFF2-40B4-BE49-F238E27FC236}">
                <a16:creationId xmlns:a16="http://schemas.microsoft.com/office/drawing/2014/main" id="{F5501FC4-6109-488A-9E7B-E591DF9E4D96}"/>
              </a:ext>
            </a:extLst>
          </p:cNvPr>
          <p:cNvSpPr/>
          <p:nvPr/>
        </p:nvSpPr>
        <p:spPr>
          <a:xfrm>
            <a:off x="466515" y="1373747"/>
            <a:ext cx="5416868" cy="656609"/>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26C14FD7-288B-4EBC-97AB-25CDCA7265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7461" y="1127222"/>
            <a:ext cx="1065715" cy="1065715"/>
          </a:xfrm>
          <a:prstGeom prst="rect">
            <a:avLst/>
          </a:prstGeom>
        </p:spPr>
      </p:pic>
      <p:sp>
        <p:nvSpPr>
          <p:cNvPr id="30" name="矩形 29">
            <a:extLst>
              <a:ext uri="{FF2B5EF4-FFF2-40B4-BE49-F238E27FC236}">
                <a16:creationId xmlns:a16="http://schemas.microsoft.com/office/drawing/2014/main" id="{F2E1D167-2D51-47EE-8CA8-1E1607A3745D}"/>
              </a:ext>
            </a:extLst>
          </p:cNvPr>
          <p:cNvSpPr/>
          <p:nvPr/>
        </p:nvSpPr>
        <p:spPr>
          <a:xfrm>
            <a:off x="705366" y="1417271"/>
            <a:ext cx="3794629" cy="499624"/>
          </a:xfrm>
          <a:prstGeom prst="rect">
            <a:avLst/>
          </a:prstGeom>
        </p:spPr>
        <p:txBody>
          <a:bodyPr wrap="none">
            <a:spAutoFit/>
          </a:bodyPr>
          <a:lstStyle/>
          <a:p>
            <a:pPr>
              <a:lnSpc>
                <a:spcPct val="150000"/>
              </a:lnSpc>
            </a:pPr>
            <a:r>
              <a:rPr lang="zh-CN" altLang="en-US" sz="2000" b="0" dirty="0">
                <a:latin typeface="微软雅黑" panose="020B0503020204020204" pitchFamily="34" charset="-122"/>
                <a:ea typeface="微软雅黑" panose="020B0503020204020204" pitchFamily="34" charset="-122"/>
              </a:rPr>
              <a:t>为什么会存在着各种工资差异</a:t>
            </a:r>
            <a:r>
              <a:rPr lang="zh-CN" altLang="en-US" sz="2000" b="0" spc="150" dirty="0">
                <a:solidFill>
                  <a:srgbClr val="000000"/>
                </a:solidFill>
                <a:latin typeface="微软雅黑" panose="020B0503020204020204" pitchFamily="34" charset="-122"/>
                <a:ea typeface="微软雅黑" panose="020B0503020204020204" pitchFamily="34" charset="-122"/>
              </a:rPr>
              <a:t>？</a:t>
            </a:r>
            <a:endParaRPr lang="en-US" altLang="zh-CN" sz="2000" b="0" spc="150" dirty="0">
              <a:solidFill>
                <a:srgbClr val="0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75557" y="2496427"/>
            <a:ext cx="1911101" cy="400110"/>
          </a:xfrm>
          <a:prstGeom prst="rect">
            <a:avLst/>
          </a:prstGeom>
          <a:noFill/>
        </p:spPr>
        <p:txBody>
          <a:bodyPr wrap="none" rtlCol="0">
            <a:spAutoFit/>
          </a:bodyPr>
          <a:lstStyle/>
          <a:p>
            <a:pPr marL="457200" indent="-457200">
              <a:buFont typeface="Wingdings" panose="05000000000000000000" pitchFamily="2" charset="2"/>
              <a:buChar char="u"/>
            </a:pPr>
            <a:r>
              <a:rPr lang="en-US" altLang="zh-CN" sz="2000" b="0" i="1" dirty="0">
                <a:solidFill>
                  <a:srgbClr val="000000"/>
                </a:solidFill>
                <a:latin typeface="Times New Roman" panose="02020603050405020304" pitchFamily="18" charset="0"/>
                <a:sym typeface="Times New Roman" panose="02020603050405020304" pitchFamily="18" charset="0"/>
              </a:rPr>
              <a:t>W =  P·MP</a:t>
            </a:r>
            <a:r>
              <a:rPr lang="en-US" altLang="zh-CN" sz="2000" b="0" i="1" baseline="-25000" dirty="0">
                <a:solidFill>
                  <a:srgbClr val="000000"/>
                </a:solidFill>
                <a:latin typeface="Times New Roman" panose="02020603050405020304" pitchFamily="18" charset="0"/>
                <a:sym typeface="Times New Roman" panose="02020603050405020304" pitchFamily="18" charset="0"/>
              </a:rPr>
              <a:t>L</a:t>
            </a:r>
            <a:endParaRPr lang="zh-CN" altLang="en-US" sz="2000" b="0" i="1" baseline="-25000" dirty="0">
              <a:solidFill>
                <a:srgbClr val="000000"/>
              </a:solidFill>
              <a:latin typeface="Times New Roman" panose="02020603050405020304" pitchFamily="18" charset="0"/>
              <a:sym typeface="Times New Roman" panose="02020603050405020304" pitchFamily="18" charset="0"/>
            </a:endParaRPr>
          </a:p>
        </p:txBody>
      </p:sp>
      <p:sp>
        <p:nvSpPr>
          <p:cNvPr id="3" name="文本框 2"/>
          <p:cNvSpPr txBox="1"/>
          <p:nvPr/>
        </p:nvSpPr>
        <p:spPr>
          <a:xfrm>
            <a:off x="668052" y="3059534"/>
            <a:ext cx="3726535" cy="3886770"/>
          </a:xfrm>
          <a:prstGeom prst="rect">
            <a:avLst/>
          </a:prstGeom>
          <a:noFill/>
        </p:spPr>
        <p:txBody>
          <a:bodyPr wrap="square" rtlCol="0">
            <a:spAutoFit/>
          </a:bodyPr>
          <a:lstStyle/>
          <a:p>
            <a:pPr marL="285750" indent="-285750" eaLnBrk="1" hangingPunct="1">
              <a:lnSpc>
                <a:spcPct val="200000"/>
              </a:lnSpc>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不同人不同报酬，特殊技能（歌星）或人力资本（会计师）</a:t>
            </a:r>
            <a:r>
              <a:rPr lang="en-US" altLang="zh-CN"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右</a:t>
            </a:r>
            <a:r>
              <a:rPr lang="en-US" altLang="zh-CN"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VMP</a:t>
            </a:r>
            <a:r>
              <a:rPr lang="en-US" altLang="zh-CN" sz="1800" b="0" baseline="-250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1</a:t>
            </a:r>
            <a:r>
              <a:rPr lang="en-US" altLang="zh-CN"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工资</a:t>
            </a:r>
            <a:r>
              <a:rPr lang="en-US" altLang="zh-CN"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C</a:t>
            </a:r>
            <a:r>
              <a:rPr lang="zh-CN" altLang="en-US"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点</a:t>
            </a:r>
            <a:r>
              <a:rPr lang="zh-CN" altLang="en-US" sz="18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p>
          <a:p>
            <a:pPr marL="285750" indent="-285750" eaLnBrk="1" hangingPunct="1">
              <a:lnSpc>
                <a:spcPct val="200000"/>
              </a:lnSpc>
              <a:buFont typeface="Wingdings" panose="05000000000000000000" pitchFamily="2" charset="2"/>
              <a:buChar char="Ø"/>
            </a:pPr>
            <a:r>
              <a:rPr lang="zh-CN" altLang="en-US"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边际产出的不同决定了工资差异的存在。</a:t>
            </a:r>
            <a:endParaRPr lang="en-US" altLang="zh-CN" sz="1800" b="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lnSpc>
                <a:spcPct val="200000"/>
              </a:lnSpc>
              <a:buClr>
                <a:srgbClr val="FF6600"/>
              </a:buClr>
            </a:pPr>
            <a:endParaRPr lang="zh-CN" altLang="en-US" sz="1800" b="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lnSpc>
                <a:spcPct val="200000"/>
              </a:lnSpc>
            </a:pPr>
            <a:endParaRPr lang="zh-CN" altLang="en-US" sz="1800" dirty="0">
              <a:latin typeface="微软雅黑" panose="020B0503020204020204" pitchFamily="34" charset="-122"/>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par>
                                <p:cTn id="8" presetID="53" presetClass="entr" presetSubtype="16"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p:cTn id="10" dur="500" fill="hold"/>
                                        <p:tgtEl>
                                          <p:spTgt spid="29"/>
                                        </p:tgtEl>
                                        <p:attrNameLst>
                                          <p:attrName>ppt_w</p:attrName>
                                        </p:attrNameLst>
                                      </p:cBhvr>
                                      <p:tavLst>
                                        <p:tav tm="0">
                                          <p:val>
                                            <p:fltVal val="0"/>
                                          </p:val>
                                        </p:tav>
                                        <p:tav tm="100000">
                                          <p:val>
                                            <p:strVal val="#ppt_w"/>
                                          </p:val>
                                        </p:tav>
                                      </p:tavLst>
                                    </p:anim>
                                    <p:anim calcmode="lin" valueType="num">
                                      <p:cBhvr>
                                        <p:cTn id="11" dur="500" fill="hold"/>
                                        <p:tgtEl>
                                          <p:spTgt spid="29"/>
                                        </p:tgtEl>
                                        <p:attrNameLst>
                                          <p:attrName>ppt_h</p:attrName>
                                        </p:attrNameLst>
                                      </p:cBhvr>
                                      <p:tavLst>
                                        <p:tav tm="0">
                                          <p:val>
                                            <p:fltVal val="0"/>
                                          </p:val>
                                        </p:tav>
                                        <p:tav tm="100000">
                                          <p:val>
                                            <p:strVal val="#ppt_h"/>
                                          </p:val>
                                        </p:tav>
                                      </p:tavLst>
                                    </p:anim>
                                    <p:animEffect transition="in" filter="fade">
                                      <p:cBhvr>
                                        <p:cTn id="12" dur="500"/>
                                        <p:tgtEl>
                                          <p:spTgt spid="2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97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9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9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97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9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9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97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9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9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9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9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9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96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97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96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097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097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98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98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fade">
                                      <p:cBhvr>
                                        <p:cTn id="73" dur="500"/>
                                        <p:tgtEl>
                                          <p:spTgt spid="2"/>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3">
                                            <p:txEl>
                                              <p:pRg st="0" end="0"/>
                                            </p:txEl>
                                          </p:spTgt>
                                        </p:tgtEl>
                                        <p:attrNameLst>
                                          <p:attrName>style.visibility</p:attrName>
                                        </p:attrNameLst>
                                      </p:cBhvr>
                                      <p:to>
                                        <p:strVal val="visible"/>
                                      </p:to>
                                    </p:set>
                                    <p:animEffect transition="in" filter="fade">
                                      <p:cBhvr>
                                        <p:cTn id="78" dur="1000"/>
                                        <p:tgtEl>
                                          <p:spTgt spid="3">
                                            <p:txEl>
                                              <p:pRg st="0" end="0"/>
                                            </p:txEl>
                                          </p:spTgt>
                                        </p:tgtEl>
                                      </p:cBhvr>
                                    </p:animEffect>
                                    <p:anim calcmode="lin" valueType="num">
                                      <p:cBhvr>
                                        <p:cTn id="7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8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3">
                                            <p:txEl>
                                              <p:pRg st="1" end="1"/>
                                            </p:txEl>
                                          </p:spTgt>
                                        </p:tgtEl>
                                        <p:attrNameLst>
                                          <p:attrName>style.visibility</p:attrName>
                                        </p:attrNameLst>
                                      </p:cBhvr>
                                      <p:to>
                                        <p:strVal val="visible"/>
                                      </p:to>
                                    </p:set>
                                    <p:animEffect transition="in" filter="fade">
                                      <p:cBhvr>
                                        <p:cTn id="85" dur="1000"/>
                                        <p:tgtEl>
                                          <p:spTgt spid="3">
                                            <p:txEl>
                                              <p:pRg st="1" end="1"/>
                                            </p:txEl>
                                          </p:spTgt>
                                        </p:tgtEl>
                                      </p:cBhvr>
                                    </p:animEffect>
                                    <p:anim calcmode="lin" valueType="num">
                                      <p:cBhvr>
                                        <p:cTn id="8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8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nimBg="1"/>
      <p:bldP spid="40965" grpId="0" animBg="1"/>
      <p:bldP spid="40966" grpId="0" animBg="1"/>
      <p:bldP spid="40967" grpId="0" animBg="1"/>
      <p:bldP spid="40968" grpId="0" animBg="1"/>
      <p:bldP spid="40969" grpId="0" animBg="1"/>
      <p:bldP spid="40970" grpId="0"/>
      <p:bldP spid="40971" grpId="0"/>
      <p:bldP spid="40972" grpId="0"/>
      <p:bldP spid="40973" grpId="0"/>
      <p:bldP spid="40974" grpId="0" animBg="1"/>
      <p:bldP spid="40975" grpId="0"/>
      <p:bldP spid="40976" grpId="0"/>
      <p:bldP spid="40977" grpId="0"/>
      <p:bldP spid="40978" grpId="0" animBg="1"/>
      <p:bldP spid="40979" grpId="0" animBg="1"/>
      <p:bldP spid="40980" grpId="0" animBg="1"/>
      <p:bldP spid="40981" grpId="0"/>
      <p:bldP spid="40982" grpId="0" animBg="1"/>
      <p:bldP spid="40983" grpId="0"/>
      <p:bldP spid="28" grpId="0" animBg="1"/>
      <p:bldP spid="30" grpId="0"/>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339845" y="484124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1986" name="Rectangle 3"/>
          <p:cNvSpPr>
            <a:spLocks noGrp="1" noChangeArrowheads="1"/>
          </p:cNvSpPr>
          <p:nvPr>
            <p:ph type="body" idx="1"/>
          </p:nvPr>
        </p:nvSpPr>
        <p:spPr>
          <a:xfrm>
            <a:off x="2267840" y="908825"/>
            <a:ext cx="4608320" cy="792055"/>
          </a:xfrm>
          <a:ln/>
        </p:spPr>
        <p:txBody>
          <a:bodyPr/>
          <a:lstStyle/>
          <a:p>
            <a:pPr indent="-342900" algn="l"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第四节  土地和地租</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2"/>
            </p:custDataLst>
          </p:nvPr>
        </p:nvSpPr>
        <p:spPr bwMode="gray">
          <a:xfrm>
            <a:off x="2356796" y="285029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3"/>
            </p:custDataLst>
          </p:nvPr>
        </p:nvSpPr>
        <p:spPr bwMode="gray">
          <a:xfrm>
            <a:off x="2288533" y="254867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288533" y="454252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6" name="MH_Other_5">
            <a:extLst>
              <a:ext uri="{FF2B5EF4-FFF2-40B4-BE49-F238E27FC236}">
                <a16:creationId xmlns:a16="http://schemas.microsoft.com/office/drawing/2014/main" id="{25D06B7F-7DCD-4D03-A450-0AAC55A41525}"/>
              </a:ext>
            </a:extLst>
          </p:cNvPr>
          <p:cNvCxnSpPr>
            <a:stCxn id="4" idx="2"/>
            <a:endCxn id="5" idx="0"/>
          </p:cNvCxnSpPr>
          <p:nvPr>
            <p:custDataLst>
              <p:tags r:id="rId5"/>
            </p:custDataLst>
          </p:nvPr>
        </p:nvCxnSpPr>
        <p:spPr>
          <a:xfrm>
            <a:off x="2867971" y="2904270"/>
            <a:ext cx="0" cy="163825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7" name="矩形 6">
            <a:extLst>
              <a:ext uri="{FF2B5EF4-FFF2-40B4-BE49-F238E27FC236}">
                <a16:creationId xmlns:a16="http://schemas.microsoft.com/office/drawing/2014/main" id="{66A93A4A-F736-4CF5-82B6-87D5F4B7E4E5}"/>
              </a:ext>
            </a:extLst>
          </p:cNvPr>
          <p:cNvSpPr/>
          <p:nvPr/>
        </p:nvSpPr>
        <p:spPr>
          <a:xfrm>
            <a:off x="3379146" y="2507539"/>
            <a:ext cx="2935419" cy="461665"/>
          </a:xfrm>
          <a:prstGeom prst="rect">
            <a:avLst/>
          </a:prstGeom>
        </p:spPr>
        <p:txBody>
          <a:bodyPr wrap="none">
            <a:spAutoFit/>
          </a:bodyPr>
          <a:lstStyle/>
          <a:p>
            <a:pPr marL="742950" lvl="1" indent="-285750" eaLnBrk="1" hangingPunct="1">
              <a:spcBef>
                <a:spcPct val="50000"/>
              </a:spcBef>
            </a:pPr>
            <a:r>
              <a:rPr lang="zh-CN" altLang="en-US" sz="2400" b="0" spc="150" dirty="0">
                <a:latin typeface="微软雅黑" panose="020B0503020204020204" pitchFamily="34" charset="-122"/>
                <a:ea typeface="微软雅黑" panose="020B0503020204020204" pitchFamily="34" charset="-122"/>
              </a:rPr>
              <a:t>土地的供给曲线</a:t>
            </a:r>
            <a:endParaRPr lang="en-US" altLang="zh-CN" sz="2400" b="0" spc="15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6BA99CA7-A4CC-4245-BA58-DB89FA49F037}"/>
              </a:ext>
            </a:extLst>
          </p:cNvPr>
          <p:cNvSpPr/>
          <p:nvPr/>
        </p:nvSpPr>
        <p:spPr>
          <a:xfrm>
            <a:off x="3379146" y="4486249"/>
            <a:ext cx="3916457" cy="461665"/>
          </a:xfrm>
          <a:prstGeom prst="rect">
            <a:avLst/>
          </a:prstGeom>
        </p:spPr>
        <p:txBody>
          <a:bodyPr wrap="none">
            <a:spAutoFit/>
          </a:bodyPr>
          <a:lstStyle/>
          <a:p>
            <a:pPr marL="742950" lvl="1" indent="-285750" eaLnBrk="1" hangingPunct="1">
              <a:spcBef>
                <a:spcPct val="50000"/>
              </a:spcBef>
            </a:pPr>
            <a:r>
              <a:rPr lang="zh-CN" altLang="en-US" sz="2400" b="0" spc="150" dirty="0">
                <a:latin typeface="微软雅黑" panose="020B0503020204020204" pitchFamily="34" charset="-122"/>
                <a:ea typeface="微软雅黑" panose="020B0503020204020204" pitchFamily="34" charset="-122"/>
              </a:rPr>
              <a:t>使用土地的价格和地租</a:t>
            </a:r>
            <a:endParaRPr lang="en-US" altLang="zh-CN" sz="2400" b="0" spc="15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 calcmode="lin" valueType="num">
                                      <p:cBhvr additive="base">
                                        <p:cTn id="7" dur="500" fill="hold"/>
                                        <p:tgtEl>
                                          <p:spTgt spid="419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1986" grpId="0" build="p"/>
      <p:bldP spid="3" grpId="0" animBg="1"/>
      <p:bldP spid="4" grpId="0" animBg="1"/>
      <p:bldP spid="5" grpId="0" animBg="1"/>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4294967295"/>
          </p:nvPr>
        </p:nvSpPr>
        <p:spPr>
          <a:xfrm>
            <a:off x="1043755" y="4441736"/>
            <a:ext cx="7186857" cy="655363"/>
          </a:xfrm>
          <a:ln/>
        </p:spPr>
        <p:txBody>
          <a:bodyPr/>
          <a:lstStyle/>
          <a:p>
            <a:pPr marL="285750" lvl="1">
              <a:lnSpc>
                <a:spcPct val="250000"/>
              </a:lnSpc>
              <a:spcBef>
                <a:spcPct val="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假定下面讨论的土地供给和土地价格均是指土地服务的供给和土地服务的价格亦即“地租” 。</a:t>
            </a:r>
            <a:endParaRPr lang="en-US" altLang="zh-CN" sz="1800" b="0" dirty="0">
              <a:latin typeface="微软雅黑" panose="020B0503020204020204" pitchFamily="34" charset="-122"/>
              <a:ea typeface="微软雅黑" panose="020B0503020204020204" pitchFamily="34" charset="-122"/>
            </a:endParaRPr>
          </a:p>
          <a:p>
            <a:pPr marL="342900" lvl="1" indent="-342900">
              <a:lnSpc>
                <a:spcPct val="250000"/>
              </a:lnSpc>
              <a:spcBef>
                <a:spcPct val="0"/>
              </a:spcBef>
              <a:buFontTx/>
              <a:buNone/>
            </a:pPr>
            <a:endParaRPr lang="zh-CN" altLang="en-US" sz="1800" b="0" dirty="0">
              <a:latin typeface="微软雅黑" panose="020B0503020204020204" pitchFamily="34" charset="-122"/>
              <a:ea typeface="微软雅黑" panose="020B0503020204020204" pitchFamily="34" charset="-122"/>
            </a:endParaRPr>
          </a:p>
        </p:txBody>
      </p:sp>
      <p:sp>
        <p:nvSpPr>
          <p:cNvPr id="43011" name="标题 1"/>
          <p:cNvSpPr>
            <a:spLocks noChangeArrowheads="1"/>
          </p:cNvSpPr>
          <p:nvPr/>
        </p:nvSpPr>
        <p:spPr bwMode="auto">
          <a:xfrm>
            <a:off x="75573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土地和地租</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9546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一、土地的供给曲线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3" y="1461979"/>
            <a:ext cx="2666463" cy="514350"/>
            <a:chOff x="467544" y="2481986"/>
            <a:chExt cx="2547461" cy="514350"/>
          </a:xfrm>
        </p:grpSpPr>
        <p:sp>
          <p:nvSpPr>
            <p:cNvPr id="6"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algn="ctr" eaLnBrk="1" hangingPunct="1"/>
              <a:r>
                <a:rPr lang="zh-CN" altLang="en-US" sz="2000" b="0" dirty="0">
                  <a:solidFill>
                    <a:schemeClr val="tx1"/>
                  </a:solidFill>
                  <a:latin typeface="微软雅黑" panose="020B0503020204020204" pitchFamily="34" charset="-122"/>
                  <a:ea typeface="微软雅黑" panose="020B0503020204020204" pitchFamily="34" charset="-122"/>
                </a:rPr>
                <a:t>土 地</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7"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611745" y="2481986"/>
              <a:ext cx="403260" cy="141664"/>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8" name="组合 7">
            <a:extLst>
              <a:ext uri="{FF2B5EF4-FFF2-40B4-BE49-F238E27FC236}">
                <a16:creationId xmlns:a16="http://schemas.microsoft.com/office/drawing/2014/main" id="{627AE83D-F3D9-4FE1-841C-38AA09ECDF1C}"/>
              </a:ext>
            </a:extLst>
          </p:cNvPr>
          <p:cNvGrpSpPr/>
          <p:nvPr/>
        </p:nvGrpSpPr>
        <p:grpSpPr>
          <a:xfrm>
            <a:off x="467544" y="3762375"/>
            <a:ext cx="2666464" cy="514350"/>
            <a:chOff x="467544" y="2481986"/>
            <a:chExt cx="2547461" cy="514350"/>
          </a:xfrm>
        </p:grpSpPr>
        <p:sp>
          <p:nvSpPr>
            <p:cNvPr id="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土地服务及价格</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728540" y="2485988"/>
              <a:ext cx="286465" cy="18415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文本框 1"/>
          <p:cNvSpPr txBox="1"/>
          <p:nvPr/>
        </p:nvSpPr>
        <p:spPr>
          <a:xfrm>
            <a:off x="1043755" y="2119482"/>
            <a:ext cx="7186857" cy="1670778"/>
          </a:xfrm>
          <a:prstGeom prst="rect">
            <a:avLst/>
          </a:prstGeom>
          <a:noFill/>
        </p:spPr>
        <p:txBody>
          <a:bodyPr wrap="square" rtlCol="0">
            <a:spAutoFit/>
          </a:bodyPr>
          <a:lstStyle/>
          <a:p>
            <a:pPr marL="285750" lvl="1" indent="-285750">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土地通常泛指自然资源</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其显著特点是数量有限</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 它的“自然供给” 固定不变</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不会随土地价格的变化而变化。</a:t>
            </a:r>
            <a:endParaRPr lang="en-US" altLang="zh-CN" sz="1800" b="0" dirty="0">
              <a:latin typeface="微软雅黑" panose="020B0503020204020204" pitchFamily="34" charset="-122"/>
              <a:ea typeface="微软雅黑" panose="020B0503020204020204" pitchFamily="34" charset="-122"/>
            </a:endParaRPr>
          </a:p>
          <a:p>
            <a:pPr>
              <a:lnSpc>
                <a:spcPct val="200000"/>
              </a:lnSpc>
            </a:pP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3010">
                                            <p:txEl>
                                              <p:pRg st="0" end="0"/>
                                            </p:txEl>
                                          </p:spTgt>
                                        </p:tgtEl>
                                        <p:attrNameLst>
                                          <p:attrName>style.visibility</p:attrName>
                                        </p:attrNameLst>
                                      </p:cBhvr>
                                      <p:to>
                                        <p:strVal val="visible"/>
                                      </p:to>
                                    </p:set>
                                    <p:animEffect transition="in" filter="fade">
                                      <p:cBhvr>
                                        <p:cTn id="27" dur="500"/>
                                        <p:tgtEl>
                                          <p:spTgt spid="430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P spid="4" grpId="0" animBg="1"/>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457200" y="1341439"/>
            <a:ext cx="3322745" cy="628650"/>
          </a:xfrm>
          <a:ln/>
        </p:spPr>
        <p:txBody>
          <a:bodyPr/>
          <a:lstStyle/>
          <a:p>
            <a:pPr marL="457200" lvl="1"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土地的供给曲线</a:t>
            </a:r>
            <a:endParaRPr lang="en-US" altLang="zh-CN" sz="2000" b="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4046" name="圆角矩形标注 14"/>
              <p:cNvSpPr>
                <a:spLocks noChangeArrowheads="1"/>
              </p:cNvSpPr>
              <p:nvPr/>
            </p:nvSpPr>
            <p:spPr bwMode="auto">
              <a:xfrm>
                <a:off x="4593750" y="2472651"/>
                <a:ext cx="3286125" cy="2590071"/>
              </a:xfrm>
              <a:prstGeom prst="wedgeRoundRectCallout">
                <a:avLst>
                  <a:gd name="adj1" fmla="val -68078"/>
                  <a:gd name="adj2" fmla="val 16428"/>
                  <a:gd name="adj3" fmla="val 16667"/>
                </a:avLst>
              </a:prstGeom>
              <a:noFill/>
              <a:ln w="28575">
                <a:solidFill>
                  <a:schemeClr val="accent3">
                    <a:lumMod val="50000"/>
                  </a:schemeClr>
                </a:solidFill>
              </a:ln>
            </p:spPr>
            <p:txBody>
              <a:bodyPr>
                <a:spAutoFit/>
              </a:bodyPr>
              <a:lstStyle/>
              <a:p>
                <a:pPr>
                  <a:lnSpc>
                    <a:spcPct val="150000"/>
                  </a:lnSpc>
                </a:pP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假定土地所有者的效用只取决于消费。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在效用最大化条件下，土地所有者将把全部的土地都供给市场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无论土地价格</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用</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表示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是多少。 因此</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土地供给曲线将在</a:t>
                </a:r>
                <a14:m>
                  <m:oMath xmlns:m="http://schemas.openxmlformats.org/officeDocument/2006/math">
                    <m:acc>
                      <m:accPr>
                        <m:chr m:val="̅"/>
                        <m:ctrlPr>
                          <a:rPr lang="en-US" altLang="zh-CN" b="0"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accPr>
                      <m:e>
                        <m:r>
                          <a:rPr lang="en-US" altLang="zh-CN" b="0"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𝑀</m:t>
                        </m:r>
                      </m:e>
                    </m:acc>
                  </m:oMath>
                </a14:m>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的位置上垂直</a:t>
                </a:r>
                <a:endParaRPr lang="zh-CN" altLang="en-US" dirty="0">
                  <a:latin typeface="微软雅黑" panose="020B0503020204020204" pitchFamily="34" charset="-122"/>
                  <a:ea typeface="微软雅黑" panose="020B0503020204020204" pitchFamily="34" charset="-122"/>
                </a:endParaRPr>
              </a:p>
            </p:txBody>
          </p:sp>
        </mc:Choice>
        <mc:Fallback xmlns="">
          <p:sp>
            <p:nvSpPr>
              <p:cNvPr id="44046" name="圆角矩形标注 14"/>
              <p:cNvSpPr>
                <a:spLocks noRot="1" noChangeAspect="1" noMove="1" noResize="1" noEditPoints="1" noAdjustHandles="1" noChangeArrowheads="1" noChangeShapeType="1" noTextEdit="1"/>
              </p:cNvSpPr>
              <p:nvPr/>
            </p:nvSpPr>
            <p:spPr bwMode="auto">
              <a:xfrm>
                <a:off x="4593750" y="2472651"/>
                <a:ext cx="3286125" cy="2590071"/>
              </a:xfrm>
              <a:prstGeom prst="wedgeRoundRectCallout">
                <a:avLst>
                  <a:gd name="adj1" fmla="val -68078"/>
                  <a:gd name="adj2" fmla="val 16428"/>
                  <a:gd name="adj3" fmla="val 16667"/>
                </a:avLst>
              </a:prstGeom>
              <a:blipFill>
                <a:blip r:embed="rId3"/>
                <a:stretch>
                  <a:fillRect/>
                </a:stretch>
              </a:blipFill>
              <a:ln w="28575">
                <a:solidFill>
                  <a:schemeClr val="accent3">
                    <a:lumMod val="50000"/>
                  </a:schemeClr>
                </a:solidFill>
              </a:ln>
            </p:spPr>
            <p:txBody>
              <a:bodyPr/>
              <a:lstStyle/>
              <a:p>
                <a:r>
                  <a:rPr lang="zh-CN" altLang="en-US">
                    <a:noFill/>
                  </a:rPr>
                  <a:t> </a:t>
                </a:r>
              </a:p>
            </p:txBody>
          </p:sp>
        </mc:Fallback>
      </mc:AlternateContent>
      <p:sp>
        <p:nvSpPr>
          <p:cNvPr id="16" name="标题 1"/>
          <p:cNvSpPr>
            <a:spLocks noChangeArrowheads="1"/>
          </p:cNvSpPr>
          <p:nvPr/>
        </p:nvSpPr>
        <p:spPr bwMode="auto">
          <a:xfrm>
            <a:off x="75573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土地和地租</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17" name="矩形 16">
            <a:extLst>
              <a:ext uri="{FF2B5EF4-FFF2-40B4-BE49-F238E27FC236}">
                <a16:creationId xmlns:a16="http://schemas.microsoft.com/office/drawing/2014/main" id="{F68E5273-CD77-47B9-B841-9D29349C133D}"/>
              </a:ext>
            </a:extLst>
          </p:cNvPr>
          <p:cNvSpPr/>
          <p:nvPr/>
        </p:nvSpPr>
        <p:spPr>
          <a:xfrm>
            <a:off x="467544" y="548680"/>
            <a:ext cx="29546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一、土地的供给曲线</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1379063" y="1962629"/>
            <a:ext cx="4857750" cy="4251324"/>
            <a:chOff x="1379063" y="1962629"/>
            <a:chExt cx="4857750" cy="4251324"/>
          </a:xfrm>
        </p:grpSpPr>
        <p:sp>
          <p:nvSpPr>
            <p:cNvPr id="44035" name="Line 4"/>
            <p:cNvSpPr>
              <a:spLocks noChangeShapeType="1"/>
            </p:cNvSpPr>
            <p:nvPr/>
          </p:nvSpPr>
          <p:spPr bwMode="auto">
            <a:xfrm flipV="1">
              <a:off x="2110900" y="2046766"/>
              <a:ext cx="0" cy="380365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grpSp>
          <p:nvGrpSpPr>
            <p:cNvPr id="3" name="组合 2"/>
            <p:cNvGrpSpPr/>
            <p:nvPr/>
          </p:nvGrpSpPr>
          <p:grpSpPr>
            <a:xfrm>
              <a:off x="1379063" y="1962629"/>
              <a:ext cx="4857750" cy="4251324"/>
              <a:chOff x="1379063" y="1962629"/>
              <a:chExt cx="4857750" cy="4251324"/>
            </a:xfrm>
          </p:grpSpPr>
          <p:sp>
            <p:nvSpPr>
              <p:cNvPr id="44036" name="Line 5"/>
              <p:cNvSpPr>
                <a:spLocks noChangeShapeType="1"/>
              </p:cNvSpPr>
              <p:nvPr/>
            </p:nvSpPr>
            <p:spPr bwMode="auto">
              <a:xfrm>
                <a:off x="2110900" y="5852004"/>
                <a:ext cx="3932238"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4037" name="Text Box 6"/>
              <p:cNvSpPr>
                <a:spLocks noChangeArrowheads="1"/>
              </p:cNvSpPr>
              <p:nvPr/>
            </p:nvSpPr>
            <p:spPr bwMode="auto">
              <a:xfrm>
                <a:off x="1691800" y="1962629"/>
                <a:ext cx="6699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R</a:t>
                </a:r>
                <a:endParaRPr lang="zh-CN" altLang="en-US" dirty="0">
                  <a:latin typeface="Cambria Math" panose="02040503050406030204" pitchFamily="18" charset="0"/>
                </a:endParaRPr>
              </a:p>
            </p:txBody>
          </p:sp>
          <p:sp>
            <p:nvSpPr>
              <p:cNvPr id="44038" name="Text Box 7"/>
              <p:cNvSpPr>
                <a:spLocks noChangeArrowheads="1"/>
              </p:cNvSpPr>
              <p:nvPr/>
            </p:nvSpPr>
            <p:spPr bwMode="auto">
              <a:xfrm>
                <a:off x="1775938" y="5683729"/>
                <a:ext cx="3603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O</a:t>
                </a:r>
                <a:endParaRPr lang="zh-CN" altLang="en-US" dirty="0">
                  <a:latin typeface="Cambria Math" panose="02040503050406030204" pitchFamily="18" charset="0"/>
                </a:endParaRPr>
              </a:p>
            </p:txBody>
          </p:sp>
          <p:sp>
            <p:nvSpPr>
              <p:cNvPr id="44039" name="Text Box 8"/>
              <p:cNvSpPr>
                <a:spLocks noChangeArrowheads="1"/>
              </p:cNvSpPr>
              <p:nvPr/>
            </p:nvSpPr>
            <p:spPr bwMode="auto">
              <a:xfrm>
                <a:off x="5874863" y="5853591"/>
                <a:ext cx="3619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M</a:t>
                </a:r>
                <a:endParaRPr lang="zh-CN" altLang="en-US" dirty="0">
                  <a:latin typeface="Cambria Math" panose="02040503050406030204" pitchFamily="18" charset="0"/>
                </a:endParaRPr>
              </a:p>
            </p:txBody>
          </p:sp>
          <p:sp>
            <p:nvSpPr>
              <p:cNvPr id="44040" name="Text Box 9"/>
              <p:cNvSpPr>
                <a:spLocks noChangeArrowheads="1"/>
              </p:cNvSpPr>
              <p:nvPr/>
            </p:nvSpPr>
            <p:spPr bwMode="auto">
              <a:xfrm>
                <a:off x="1379063" y="4366104"/>
                <a:ext cx="5635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44041" name="Text Box 10"/>
              <p:cNvSpPr>
                <a:spLocks noChangeArrowheads="1"/>
              </p:cNvSpPr>
              <p:nvPr/>
            </p:nvSpPr>
            <p:spPr bwMode="auto">
              <a:xfrm>
                <a:off x="5708175" y="3231041"/>
                <a:ext cx="35877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44042" name="Text Box 11"/>
              <p:cNvSpPr>
                <a:spLocks noChangeArrowheads="1"/>
              </p:cNvSpPr>
              <p:nvPr/>
            </p:nvSpPr>
            <p:spPr bwMode="auto">
              <a:xfrm>
                <a:off x="1953738" y="3529491"/>
                <a:ext cx="360362"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44043" name="Line 12"/>
              <p:cNvSpPr>
                <a:spLocks noChangeShapeType="1"/>
              </p:cNvSpPr>
              <p:nvPr/>
            </p:nvSpPr>
            <p:spPr bwMode="auto">
              <a:xfrm>
                <a:off x="3952400" y="2892904"/>
                <a:ext cx="0" cy="2959100"/>
              </a:xfrm>
              <a:prstGeom prst="line">
                <a:avLst/>
              </a:prstGeom>
              <a:noFill/>
              <a:ln w="28575" cmpd="sng">
                <a:solidFill>
                  <a:srgbClr val="C00000"/>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4044" name="Text Box 13"/>
              <p:cNvSpPr>
                <a:spLocks noChangeArrowheads="1"/>
              </p:cNvSpPr>
              <p:nvPr/>
            </p:nvSpPr>
            <p:spPr bwMode="auto">
              <a:xfrm>
                <a:off x="3866675" y="2554766"/>
                <a:ext cx="3619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latin typeface="Cambria Math" panose="02040503050406030204" pitchFamily="18" charset="0"/>
                    <a:sym typeface="Arial" panose="020B0604020202020204" pitchFamily="34" charset="0"/>
                  </a:rPr>
                  <a:t>S</a:t>
                </a:r>
                <a:endParaRPr lang="zh-CN" altLang="en-US" dirty="0">
                  <a:latin typeface="Cambria Math" panose="020405030504060302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430185393"/>
                  </p:ext>
                </p:extLst>
              </p:nvPr>
            </p:nvGraphicFramePr>
            <p:xfrm>
              <a:off x="3778704" y="5886928"/>
              <a:ext cx="348827" cy="327025"/>
            </p:xfrm>
            <a:graphic>
              <a:graphicData uri="http://schemas.openxmlformats.org/presentationml/2006/ole">
                <mc:AlternateContent xmlns:mc="http://schemas.openxmlformats.org/markup-compatibility/2006">
                  <mc:Choice xmlns:v="urn:schemas-microsoft-com:vml" Requires="v">
                    <p:oleObj spid="_x0000_s44163" name="Equation" r:id="rId4" imgW="203040" imgH="190440" progId="Equation.3">
                      <p:embed/>
                    </p:oleObj>
                  </mc:Choice>
                  <mc:Fallback>
                    <p:oleObj name="Equation" r:id="rId4" imgW="203040" imgH="190440" progId="Equation.3">
                      <p:embed/>
                      <p:pic>
                        <p:nvPicPr>
                          <p:cNvPr id="0" name=""/>
                          <p:cNvPicPr/>
                          <p:nvPr/>
                        </p:nvPicPr>
                        <p:blipFill>
                          <a:blip r:embed="rId5"/>
                          <a:stretch>
                            <a:fillRect/>
                          </a:stretch>
                        </p:blipFill>
                        <p:spPr>
                          <a:xfrm>
                            <a:off x="3778704" y="5886928"/>
                            <a:ext cx="348827" cy="327025"/>
                          </a:xfrm>
                          <a:prstGeom prst="rect">
                            <a:avLst/>
                          </a:prstGeom>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animEffect transition="in" filter="fade">
                                      <p:cBhvr>
                                        <p:cTn id="7" dur="500"/>
                                        <p:tgtEl>
                                          <p:spTgt spid="440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4046"/>
                                        </p:tgtEl>
                                        <p:attrNameLst>
                                          <p:attrName>style.visibility</p:attrName>
                                        </p:attrNameLst>
                                      </p:cBhvr>
                                      <p:to>
                                        <p:strVal val="visible"/>
                                      </p:to>
                                    </p:set>
                                    <p:animEffect transition="in" filter="fade">
                                      <p:cBhvr>
                                        <p:cTn id="17" dur="1000"/>
                                        <p:tgtEl>
                                          <p:spTgt spid="44046"/>
                                        </p:tgtEl>
                                      </p:cBhvr>
                                    </p:animEffect>
                                    <p:anim calcmode="lin" valueType="num">
                                      <p:cBhvr>
                                        <p:cTn id="18" dur="1000" fill="hold"/>
                                        <p:tgtEl>
                                          <p:spTgt spid="44046"/>
                                        </p:tgtEl>
                                        <p:attrNameLst>
                                          <p:attrName>ppt_x</p:attrName>
                                        </p:attrNameLst>
                                      </p:cBhvr>
                                      <p:tavLst>
                                        <p:tav tm="0">
                                          <p:val>
                                            <p:strVal val="#ppt_x"/>
                                          </p:val>
                                        </p:tav>
                                        <p:tav tm="100000">
                                          <p:val>
                                            <p:strVal val="#ppt_x"/>
                                          </p:val>
                                        </p:tav>
                                      </p:tavLst>
                                    </p:anim>
                                    <p:anim calcmode="lin" valueType="num">
                                      <p:cBhvr>
                                        <p:cTn id="19" dur="1000" fill="hold"/>
                                        <p:tgtEl>
                                          <p:spTgt spid="440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P spid="4404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4294967295"/>
          </p:nvPr>
        </p:nvSpPr>
        <p:spPr>
          <a:xfrm>
            <a:off x="1191311" y="5241499"/>
            <a:ext cx="2430450" cy="480330"/>
          </a:xfrm>
          <a:ln/>
        </p:spPr>
        <p:txBody>
          <a:bodyPr/>
          <a:lstStyle/>
          <a:p>
            <a:pPr marL="285750" lvl="1" eaLnBrk="1" hangingPunct="1">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向右下方倾斜</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buFontTx/>
              <a:buNone/>
            </a:pPr>
            <a:endParaRPr lang="zh-CN" altLang="en-US" sz="1800" b="0" dirty="0">
              <a:latin typeface="微软雅黑" panose="020B0503020204020204" pitchFamily="34" charset="-122"/>
              <a:ea typeface="微软雅黑" panose="020B0503020204020204" pitchFamily="34" charset="-122"/>
            </a:endParaRPr>
          </a:p>
          <a:p>
            <a:pPr marL="342900" lvl="1" indent="-342900" eaLnBrk="1" hangingPunct="1"/>
            <a:endParaRPr lang="zh-CN" altLang="en-US" sz="18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75573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土地和地租</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87798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二、使用土地的价格和地租</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627AE83D-F3D9-4FE1-841C-38AA09ECDF1C}"/>
              </a:ext>
            </a:extLst>
          </p:cNvPr>
          <p:cNvGrpSpPr/>
          <p:nvPr/>
        </p:nvGrpSpPr>
        <p:grpSpPr>
          <a:xfrm>
            <a:off x="467544" y="1499184"/>
            <a:ext cx="2430450" cy="514350"/>
            <a:chOff x="-1057140" y="2481986"/>
            <a:chExt cx="4072145" cy="514350"/>
          </a:xfrm>
        </p:grpSpPr>
        <p:sp>
          <p:nvSpPr>
            <p:cNvPr id="7"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1057140" y="2481986"/>
              <a:ext cx="4072145"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algn="ctr" eaLnBrk="1" hangingPunct="1"/>
              <a:r>
                <a:rPr lang="zh-CN" altLang="en-US" sz="1800" b="0" dirty="0">
                  <a:solidFill>
                    <a:schemeClr val="tx1"/>
                  </a:solidFill>
                  <a:latin typeface="微软雅黑" panose="020B0503020204020204" pitchFamily="34" charset="-122"/>
                  <a:ea typeface="微软雅黑" panose="020B0503020204020204" pitchFamily="34" charset="-122"/>
                </a:rPr>
                <a:t>土地的市场供给曲线</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611745" y="2481986"/>
              <a:ext cx="403260" cy="141664"/>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sz="1800">
                <a:solidFill>
                  <a:schemeClr val="accent1">
                    <a:lumMod val="75000"/>
                  </a:schemeClr>
                </a:solidFill>
              </a:endParaRPr>
            </a:p>
          </p:txBody>
        </p:sp>
      </p:grpSp>
      <p:sp>
        <p:nvSpPr>
          <p:cNvPr id="2" name="文本框 1"/>
          <p:cNvSpPr txBox="1"/>
          <p:nvPr/>
        </p:nvSpPr>
        <p:spPr>
          <a:xfrm>
            <a:off x="1187765" y="2013534"/>
            <a:ext cx="7056490" cy="2224776"/>
          </a:xfrm>
          <a:prstGeom prst="rect">
            <a:avLst/>
          </a:prstGeom>
          <a:noFill/>
        </p:spPr>
        <p:txBody>
          <a:bodyPr wrap="square" rtlCol="0">
            <a:spAutoFit/>
          </a:bodyPr>
          <a:lstStyle/>
          <a:p>
            <a:pPr marL="342900" lvl="1"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假定土地没有自用价值的条件下</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单个土地所有者的土地供给曲线是一条垂直的直线。</a:t>
            </a:r>
            <a:endParaRPr lang="en-US" altLang="zh-CN" sz="1800" b="0" dirty="0">
              <a:latin typeface="微软雅黑" panose="020B0503020204020204" pitchFamily="34" charset="-122"/>
              <a:ea typeface="微软雅黑" panose="020B0503020204020204" pitchFamily="34" charset="-122"/>
            </a:endParaRPr>
          </a:p>
          <a:p>
            <a:pPr marL="342900" lvl="1"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市场的土地供给曲线是所有单个土地所有者的土地供给曲线的水平相加。</a:t>
            </a:r>
            <a:endParaRPr lang="en-US" altLang="zh-CN" sz="1800" b="0" dirty="0">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627AE83D-F3D9-4FE1-841C-38AA09ECDF1C}"/>
              </a:ext>
            </a:extLst>
          </p:cNvPr>
          <p:cNvGrpSpPr/>
          <p:nvPr/>
        </p:nvGrpSpPr>
        <p:grpSpPr>
          <a:xfrm>
            <a:off x="467544" y="4500362"/>
            <a:ext cx="2430450" cy="514350"/>
            <a:chOff x="-1057140" y="2481986"/>
            <a:chExt cx="4072145"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1057140" y="2481986"/>
              <a:ext cx="4072145"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algn="ctr" eaLnBrk="1" hangingPunct="1"/>
              <a:r>
                <a:rPr lang="zh-CN" altLang="en-US" sz="1800" b="0" dirty="0">
                  <a:solidFill>
                    <a:schemeClr val="tx1"/>
                  </a:solidFill>
                  <a:latin typeface="微软雅黑" panose="020B0503020204020204" pitchFamily="34" charset="-122"/>
                  <a:ea typeface="微软雅黑" panose="020B0503020204020204" pitchFamily="34" charset="-122"/>
                </a:rPr>
                <a:t>土地的市场需求曲线</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611745" y="2494148"/>
              <a:ext cx="403260" cy="141664"/>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sz="1800">
                <a:solidFill>
                  <a:schemeClr val="accent1">
                    <a:lumMod val="75000"/>
                  </a:schemeClr>
                </a:solidFill>
              </a:endParaRPr>
            </a:p>
          </p:txBody>
        </p:sp>
      </p:grpSp>
      <p:pic>
        <p:nvPicPr>
          <p:cNvPr id="13" name="图片 12">
            <a:extLst>
              <a:ext uri="{FF2B5EF4-FFF2-40B4-BE49-F238E27FC236}">
                <a16:creationId xmlns:a16="http://schemas.microsoft.com/office/drawing/2014/main" id="{D1F8F028-2DAC-426D-871B-3F098977D3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4035609" y="4149050"/>
            <a:ext cx="1669852" cy="19577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randombar(horizontal)">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5058">
                                            <p:txEl>
                                              <p:pRg st="0" end="0"/>
                                            </p:txEl>
                                          </p:spTgt>
                                        </p:tgtEl>
                                        <p:attrNameLst>
                                          <p:attrName>style.visibility</p:attrName>
                                        </p:attrNameLst>
                                      </p:cBhvr>
                                      <p:to>
                                        <p:strVal val="visible"/>
                                      </p:to>
                                    </p:set>
                                    <p:animEffect transition="in" filter="fade">
                                      <p:cBhvr>
                                        <p:cTn id="29" dur="500"/>
                                        <p:tgtEl>
                                          <p:spTgt spid="450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5" grpId="0" animBg="1"/>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0" name="Text Box 10"/>
          <p:cNvSpPr>
            <a:spLocks noChangeArrowheads="1"/>
          </p:cNvSpPr>
          <p:nvPr/>
        </p:nvSpPr>
        <p:spPr bwMode="auto">
          <a:xfrm>
            <a:off x="5029483" y="4101626"/>
            <a:ext cx="3762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46100" name="圆角矩形标注 24"/>
          <p:cNvSpPr>
            <a:spLocks noChangeArrowheads="1"/>
          </p:cNvSpPr>
          <p:nvPr/>
        </p:nvSpPr>
        <p:spPr bwMode="auto">
          <a:xfrm>
            <a:off x="4647974" y="3529088"/>
            <a:ext cx="3690196" cy="919401"/>
          </a:xfrm>
          <a:prstGeom prst="wedgeRoundRectCallout">
            <a:avLst>
              <a:gd name="adj1" fmla="val -62522"/>
              <a:gd name="adj2" fmla="val 43163"/>
              <a:gd name="adj3" fmla="val 16667"/>
            </a:avLst>
          </a:prstGeom>
          <a:noFill/>
          <a:ln w="28575">
            <a:solidFill>
              <a:schemeClr val="accent3">
                <a:lumMod val="50000"/>
              </a:schemeClr>
            </a:solidFill>
          </a:ln>
        </p:spPr>
        <p:txBody>
          <a:bodyPr wrap="squar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垂直的市场土地供给曲线与向右下方倾斜的市场土地需求曲线共同决定了使用土地的均衡价格。</a:t>
            </a:r>
            <a:endParaRPr lang="zh-CN" altLang="en-US" dirty="0">
              <a:latin typeface="微软雅黑" panose="020B0503020204020204" pitchFamily="34" charset="-122"/>
              <a:ea typeface="微软雅黑" panose="020B0503020204020204" pitchFamily="34" charset="-122"/>
            </a:endParaRPr>
          </a:p>
        </p:txBody>
      </p:sp>
      <p:sp>
        <p:nvSpPr>
          <p:cNvPr id="46101" name="圆角矩形标注 25"/>
          <p:cNvSpPr>
            <a:spLocks noChangeArrowheads="1"/>
          </p:cNvSpPr>
          <p:nvPr/>
        </p:nvSpPr>
        <p:spPr bwMode="auto">
          <a:xfrm>
            <a:off x="5055159" y="4707079"/>
            <a:ext cx="3286980" cy="646986"/>
          </a:xfrm>
          <a:prstGeom prst="wedgeRoundRectCallout">
            <a:avLst>
              <a:gd name="adj1" fmla="val -73993"/>
              <a:gd name="adj2" fmla="val 125102"/>
              <a:gd name="adj3" fmla="val 16667"/>
            </a:avLst>
          </a:prstGeom>
          <a:noFill/>
          <a:ln w="28575">
            <a:solidFill>
              <a:schemeClr val="accent3">
                <a:lumMod val="50000"/>
              </a:schemeClr>
            </a:solidFill>
          </a:ln>
        </p:spPr>
        <p:txBody>
          <a:bodyPr wrap="squar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当需求曲线下降到</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地租将消失</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即等于</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标题 1"/>
          <p:cNvSpPr>
            <a:spLocks noChangeArrowheads="1"/>
          </p:cNvSpPr>
          <p:nvPr/>
        </p:nvSpPr>
        <p:spPr bwMode="auto">
          <a:xfrm>
            <a:off x="755735" y="9512"/>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土地和地租</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24" name="矩形 23">
            <a:extLst>
              <a:ext uri="{FF2B5EF4-FFF2-40B4-BE49-F238E27FC236}">
                <a16:creationId xmlns:a16="http://schemas.microsoft.com/office/drawing/2014/main" id="{F68E5273-CD77-47B9-B841-9D29349C133D}"/>
              </a:ext>
            </a:extLst>
          </p:cNvPr>
          <p:cNvSpPr/>
          <p:nvPr/>
        </p:nvSpPr>
        <p:spPr>
          <a:xfrm>
            <a:off x="467544" y="548680"/>
            <a:ext cx="387798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二、使用土地的价格和地租</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25" name="矩形: 圆角 4">
            <a:extLst>
              <a:ext uri="{FF2B5EF4-FFF2-40B4-BE49-F238E27FC236}">
                <a16:creationId xmlns:a16="http://schemas.microsoft.com/office/drawing/2014/main" id="{F5501FC4-6109-488A-9E7B-E591DF9E4D96}"/>
              </a:ext>
            </a:extLst>
          </p:cNvPr>
          <p:cNvSpPr/>
          <p:nvPr/>
        </p:nvSpPr>
        <p:spPr>
          <a:xfrm>
            <a:off x="445102" y="1296125"/>
            <a:ext cx="4610058" cy="692608"/>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26C14FD7-288B-4EBC-97AB-25CDCA7265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7881" y="1072251"/>
            <a:ext cx="1065715" cy="1065715"/>
          </a:xfrm>
          <a:prstGeom prst="rect">
            <a:avLst/>
          </a:prstGeom>
        </p:spPr>
      </p:pic>
      <p:sp>
        <p:nvSpPr>
          <p:cNvPr id="27" name="矩形 26">
            <a:extLst>
              <a:ext uri="{FF2B5EF4-FFF2-40B4-BE49-F238E27FC236}">
                <a16:creationId xmlns:a16="http://schemas.microsoft.com/office/drawing/2014/main" id="{F2E1D167-2D51-47EE-8CA8-1E1607A3745D}"/>
              </a:ext>
            </a:extLst>
          </p:cNvPr>
          <p:cNvSpPr/>
          <p:nvPr/>
        </p:nvSpPr>
        <p:spPr>
          <a:xfrm>
            <a:off x="657055" y="1364821"/>
            <a:ext cx="2674642" cy="458908"/>
          </a:xfrm>
          <a:prstGeom prst="rect">
            <a:avLst/>
          </a:prstGeom>
        </p:spPr>
        <p:txBody>
          <a:bodyPr wrap="square">
            <a:spAutoFit/>
          </a:bodyPr>
          <a:lstStyle/>
          <a:p>
            <a:pPr marL="0" lvl="2">
              <a:lnSpc>
                <a:spcPct val="150000"/>
              </a:lnSpc>
            </a:pPr>
            <a:r>
              <a:rPr lang="zh-CN" altLang="en-US" sz="1800" b="0" dirty="0">
                <a:latin typeface="微软雅黑" panose="020B0503020204020204" pitchFamily="34" charset="-122"/>
                <a:ea typeface="微软雅黑" panose="020B0503020204020204" pitchFamily="34" charset="-122"/>
              </a:rPr>
              <a:t>地租产生的原因</a:t>
            </a:r>
            <a:r>
              <a:rPr lang="zh-CN" altLang="en-US" sz="1800" b="0" spc="150" dirty="0">
                <a:solidFill>
                  <a:srgbClr val="000000"/>
                </a:solidFill>
                <a:latin typeface="微软雅黑" panose="020B0503020204020204" pitchFamily="34" charset="-122"/>
                <a:ea typeface="微软雅黑" panose="020B0503020204020204" pitchFamily="34" charset="-122"/>
              </a:rPr>
              <a:t>？</a:t>
            </a:r>
            <a:endParaRPr lang="en-US" altLang="zh-CN" sz="1800" b="0" spc="150" dirty="0">
              <a:solidFill>
                <a:srgbClr val="000000"/>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62C2827F-01FB-438D-944D-3AD41012E92D}"/>
              </a:ext>
            </a:extLst>
          </p:cNvPr>
          <p:cNvSpPr/>
          <p:nvPr/>
        </p:nvSpPr>
        <p:spPr>
          <a:xfrm>
            <a:off x="467544" y="2148199"/>
            <a:ext cx="8257833" cy="923330"/>
          </a:xfrm>
          <a:prstGeom prst="rect">
            <a:avLst/>
          </a:prstGeom>
        </p:spPr>
        <p:txBody>
          <a:bodyPr wrap="square">
            <a:spAutoFit/>
          </a:bodyPr>
          <a:lstStyle/>
          <a:p>
            <a:pPr lvl="1" eaLnBrk="1" hangingPunct="1">
              <a:lnSpc>
                <a:spcPct val="150000"/>
              </a:lnSpc>
            </a:pPr>
            <a:r>
              <a:rPr lang="zh-CN" altLang="en-US" sz="1800" b="0" dirty="0">
                <a:latin typeface="微软雅黑" panose="020B0503020204020204" pitchFamily="34" charset="-122"/>
                <a:ea typeface="微软雅黑" panose="020B0503020204020204" pitchFamily="34" charset="-122"/>
              </a:rPr>
              <a:t>地租产生的根本原因为土地的稀少和固定不变</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而把地租产生的直接原因为土地需求曲线的右移。</a:t>
            </a:r>
            <a:endParaRPr lang="en-US" altLang="zh-CN" sz="1800" b="0" dirty="0">
              <a:latin typeface="微软雅黑" panose="020B0503020204020204" pitchFamily="34" charset="-122"/>
              <a:ea typeface="微软雅黑" panose="020B0503020204020204" pitchFamily="34" charset="-122"/>
            </a:endParaRPr>
          </a:p>
        </p:txBody>
      </p:sp>
      <p:sp>
        <p:nvSpPr>
          <p:cNvPr id="46083" name="Text Box 6"/>
          <p:cNvSpPr>
            <a:spLocks noChangeArrowheads="1"/>
          </p:cNvSpPr>
          <p:nvPr/>
        </p:nvSpPr>
        <p:spPr bwMode="auto">
          <a:xfrm>
            <a:off x="1488302" y="3099267"/>
            <a:ext cx="580805" cy="28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R</a:t>
            </a:r>
            <a:endParaRPr lang="zh-CN" altLang="en-US" dirty="0"/>
          </a:p>
        </p:txBody>
      </p:sp>
      <p:sp>
        <p:nvSpPr>
          <p:cNvPr id="46084" name="Text Box 9"/>
          <p:cNvSpPr>
            <a:spLocks noChangeArrowheads="1"/>
          </p:cNvSpPr>
          <p:nvPr/>
        </p:nvSpPr>
        <p:spPr bwMode="auto">
          <a:xfrm>
            <a:off x="1214438" y="4847221"/>
            <a:ext cx="492163" cy="31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46085" name="Text Box 19"/>
          <p:cNvSpPr>
            <a:spLocks noChangeArrowheads="1"/>
          </p:cNvSpPr>
          <p:nvPr/>
        </p:nvSpPr>
        <p:spPr bwMode="auto">
          <a:xfrm>
            <a:off x="1488302" y="4512326"/>
            <a:ext cx="747506" cy="28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R</a:t>
            </a:r>
            <a:r>
              <a:rPr lang="zh-CN" altLang="en-US" sz="1000" dirty="0">
                <a:solidFill>
                  <a:srgbClr val="000000"/>
                </a:solidFill>
                <a:sym typeface="Arial" panose="020B0604020202020204" pitchFamily="34" charset="0"/>
              </a:rPr>
              <a:t>0</a:t>
            </a:r>
            <a:endParaRPr lang="zh-CN" altLang="en-US" dirty="0"/>
          </a:p>
        </p:txBody>
      </p:sp>
      <p:sp>
        <p:nvSpPr>
          <p:cNvPr id="46086" name="Line 4"/>
          <p:cNvSpPr>
            <a:spLocks noChangeShapeType="1"/>
          </p:cNvSpPr>
          <p:nvPr/>
        </p:nvSpPr>
        <p:spPr bwMode="auto">
          <a:xfrm flipV="1">
            <a:off x="1869332" y="3193942"/>
            <a:ext cx="0" cy="2766769"/>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87" name="Line 5"/>
          <p:cNvSpPr>
            <a:spLocks noChangeShapeType="1"/>
          </p:cNvSpPr>
          <p:nvPr/>
        </p:nvSpPr>
        <p:spPr bwMode="auto">
          <a:xfrm>
            <a:off x="1850809" y="5926798"/>
            <a:ext cx="3422649" cy="141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88" name="Text Box 7"/>
          <p:cNvSpPr>
            <a:spLocks noChangeArrowheads="1"/>
          </p:cNvSpPr>
          <p:nvPr/>
        </p:nvSpPr>
        <p:spPr bwMode="auto">
          <a:xfrm>
            <a:off x="1559745" y="5806688"/>
            <a:ext cx="314878" cy="28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46089" name="Text Box 8"/>
          <p:cNvSpPr>
            <a:spLocks noChangeArrowheads="1"/>
          </p:cNvSpPr>
          <p:nvPr/>
        </p:nvSpPr>
        <p:spPr bwMode="auto">
          <a:xfrm>
            <a:off x="5126603" y="5928211"/>
            <a:ext cx="314878" cy="28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a:t>
            </a:r>
            <a:endParaRPr lang="zh-CN" altLang="en-US"/>
          </a:p>
        </p:txBody>
      </p:sp>
      <p:sp>
        <p:nvSpPr>
          <p:cNvPr id="46091" name="Text Box 11"/>
          <p:cNvSpPr>
            <a:spLocks noChangeArrowheads="1"/>
          </p:cNvSpPr>
          <p:nvPr/>
        </p:nvSpPr>
        <p:spPr bwMode="auto">
          <a:xfrm>
            <a:off x="1714539" y="4238192"/>
            <a:ext cx="313555" cy="28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46092" name="Line 12"/>
          <p:cNvSpPr>
            <a:spLocks noChangeShapeType="1"/>
          </p:cNvSpPr>
          <p:nvPr/>
        </p:nvSpPr>
        <p:spPr bwMode="auto">
          <a:xfrm>
            <a:off x="4180645" y="3776123"/>
            <a:ext cx="1323" cy="215067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3" name="Text Box 13"/>
          <p:cNvSpPr>
            <a:spLocks noChangeArrowheads="1"/>
          </p:cNvSpPr>
          <p:nvPr/>
        </p:nvSpPr>
        <p:spPr bwMode="auto">
          <a:xfrm>
            <a:off x="4107879" y="3530250"/>
            <a:ext cx="314878" cy="28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a:p>
        </p:txBody>
      </p:sp>
      <p:sp>
        <p:nvSpPr>
          <p:cNvPr id="46094" name="Line 14"/>
          <p:cNvSpPr>
            <a:spLocks noChangeShapeType="1"/>
          </p:cNvSpPr>
          <p:nvPr/>
        </p:nvSpPr>
        <p:spPr bwMode="auto">
          <a:xfrm>
            <a:off x="2943622" y="3715361"/>
            <a:ext cx="2111537" cy="1660344"/>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5" name="Line 15"/>
          <p:cNvSpPr>
            <a:spLocks noChangeShapeType="1"/>
          </p:cNvSpPr>
          <p:nvPr/>
        </p:nvSpPr>
        <p:spPr bwMode="auto">
          <a:xfrm>
            <a:off x="3016389" y="5004070"/>
            <a:ext cx="1383877" cy="1107838"/>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6" name="Line 16"/>
          <p:cNvSpPr>
            <a:spLocks noChangeShapeType="1"/>
          </p:cNvSpPr>
          <p:nvPr/>
        </p:nvSpPr>
        <p:spPr bwMode="auto">
          <a:xfrm flipH="1">
            <a:off x="1850809" y="4698850"/>
            <a:ext cx="2329836"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7" name="Text Box 17"/>
          <p:cNvSpPr>
            <a:spLocks noChangeArrowheads="1"/>
          </p:cNvSpPr>
          <p:nvPr/>
        </p:nvSpPr>
        <p:spPr bwMode="auto">
          <a:xfrm>
            <a:off x="2724001" y="3456771"/>
            <a:ext cx="363830" cy="28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46098" name="Text Box 18"/>
          <p:cNvSpPr>
            <a:spLocks noChangeArrowheads="1"/>
          </p:cNvSpPr>
          <p:nvPr/>
        </p:nvSpPr>
        <p:spPr bwMode="auto">
          <a:xfrm>
            <a:off x="2583762" y="4912222"/>
            <a:ext cx="432627" cy="28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D'</a:t>
            </a:r>
            <a:endParaRPr lang="zh-CN" altLang="en-US" dirty="0"/>
          </a:p>
        </p:txBody>
      </p:sp>
      <p:graphicFrame>
        <p:nvGraphicFramePr>
          <p:cNvPr id="30" name="对象 29"/>
          <p:cNvGraphicFramePr>
            <a:graphicFrameLocks noChangeAspect="1"/>
          </p:cNvGraphicFramePr>
          <p:nvPr>
            <p:extLst>
              <p:ext uri="{D42A27DB-BD31-4B8C-83A1-F6EECF244321}">
                <p14:modId xmlns:p14="http://schemas.microsoft.com/office/powerpoint/2010/main" val="322446874"/>
              </p:ext>
            </p:extLst>
          </p:nvPr>
        </p:nvGraphicFramePr>
        <p:xfrm>
          <a:off x="3915918" y="5949407"/>
          <a:ext cx="283366" cy="265655"/>
        </p:xfrm>
        <a:graphic>
          <a:graphicData uri="http://schemas.openxmlformats.org/presentationml/2006/ole">
            <mc:AlternateContent xmlns:mc="http://schemas.openxmlformats.org/markup-compatibility/2006">
              <mc:Choice xmlns:v="urn:schemas-microsoft-com:vml" Requires="v">
                <p:oleObj spid="_x0000_s45186" name="Equation" r:id="rId4" imgW="203040" imgH="190440" progId="Equation.3">
                  <p:embed/>
                </p:oleObj>
              </mc:Choice>
              <mc:Fallback>
                <p:oleObj name="Equation" r:id="rId4" imgW="203040" imgH="190440" progId="Equation.3">
                  <p:embed/>
                  <p:pic>
                    <p:nvPicPr>
                      <p:cNvPr id="2" name="对象 1"/>
                      <p:cNvPicPr/>
                      <p:nvPr/>
                    </p:nvPicPr>
                    <p:blipFill>
                      <a:blip r:embed="rId5"/>
                      <a:stretch>
                        <a:fillRect/>
                      </a:stretch>
                    </p:blipFill>
                    <p:spPr>
                      <a:xfrm>
                        <a:off x="3915918" y="5949407"/>
                        <a:ext cx="283366" cy="26565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0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0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0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08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0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09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09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09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09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09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09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608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09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46100"/>
                                        </p:tgtEl>
                                        <p:attrNameLst>
                                          <p:attrName>style.visibility</p:attrName>
                                        </p:attrNameLst>
                                      </p:cBhvr>
                                      <p:to>
                                        <p:strVal val="visible"/>
                                      </p:to>
                                    </p:set>
                                    <p:animEffect transition="in" filter="fade">
                                      <p:cBhvr>
                                        <p:cTn id="59" dur="1000"/>
                                        <p:tgtEl>
                                          <p:spTgt spid="46100"/>
                                        </p:tgtEl>
                                      </p:cBhvr>
                                    </p:animEffect>
                                    <p:anim calcmode="lin" valueType="num">
                                      <p:cBhvr>
                                        <p:cTn id="60" dur="1000" fill="hold"/>
                                        <p:tgtEl>
                                          <p:spTgt spid="46100"/>
                                        </p:tgtEl>
                                        <p:attrNameLst>
                                          <p:attrName>ppt_x</p:attrName>
                                        </p:attrNameLst>
                                      </p:cBhvr>
                                      <p:tavLst>
                                        <p:tav tm="0">
                                          <p:val>
                                            <p:strVal val="#ppt_x"/>
                                          </p:val>
                                        </p:tav>
                                        <p:tav tm="100000">
                                          <p:val>
                                            <p:strVal val="#ppt_x"/>
                                          </p:val>
                                        </p:tav>
                                      </p:tavLst>
                                    </p:anim>
                                    <p:anim calcmode="lin" valueType="num">
                                      <p:cBhvr>
                                        <p:cTn id="61" dur="1000" fill="hold"/>
                                        <p:tgtEl>
                                          <p:spTgt spid="46100"/>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46101"/>
                                        </p:tgtEl>
                                        <p:attrNameLst>
                                          <p:attrName>style.visibility</p:attrName>
                                        </p:attrNameLst>
                                      </p:cBhvr>
                                      <p:to>
                                        <p:strVal val="visible"/>
                                      </p:to>
                                    </p:set>
                                    <p:animEffect transition="in" filter="fade">
                                      <p:cBhvr>
                                        <p:cTn id="66" dur="1000"/>
                                        <p:tgtEl>
                                          <p:spTgt spid="46101"/>
                                        </p:tgtEl>
                                      </p:cBhvr>
                                    </p:animEffect>
                                    <p:anim calcmode="lin" valueType="num">
                                      <p:cBhvr>
                                        <p:cTn id="67" dur="1000" fill="hold"/>
                                        <p:tgtEl>
                                          <p:spTgt spid="46101"/>
                                        </p:tgtEl>
                                        <p:attrNameLst>
                                          <p:attrName>ppt_x</p:attrName>
                                        </p:attrNameLst>
                                      </p:cBhvr>
                                      <p:tavLst>
                                        <p:tav tm="0">
                                          <p:val>
                                            <p:strVal val="#ppt_x"/>
                                          </p:val>
                                        </p:tav>
                                        <p:tav tm="100000">
                                          <p:val>
                                            <p:strVal val="#ppt_x"/>
                                          </p:val>
                                        </p:tav>
                                      </p:tavLst>
                                    </p:anim>
                                    <p:anim calcmode="lin" valueType="num">
                                      <p:cBhvr>
                                        <p:cTn id="68" dur="1000" fill="hold"/>
                                        <p:tgtEl>
                                          <p:spTgt spid="461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0" grpId="0" animBg="1"/>
      <p:bldP spid="46101" grpId="0" animBg="1"/>
      <p:bldP spid="25" grpId="0" animBg="1"/>
      <p:bldP spid="27" grpId="0"/>
      <p:bldP spid="28" grpId="0"/>
      <p:bldP spid="46083" grpId="0"/>
      <p:bldP spid="46085" grpId="0"/>
      <p:bldP spid="46086" grpId="0" animBg="1"/>
      <p:bldP spid="46087" grpId="0" animBg="1"/>
      <p:bldP spid="46088" grpId="0"/>
      <p:bldP spid="46089" grpId="0"/>
      <p:bldP spid="46092" grpId="0" animBg="1"/>
      <p:bldP spid="46093" grpId="0"/>
      <p:bldP spid="46094" grpId="0" animBg="1"/>
      <p:bldP spid="46095" grpId="0" animBg="1"/>
      <p:bldP spid="46096" grpId="0" animBg="1"/>
      <p:bldP spid="46097" grpId="0"/>
      <p:bldP spid="4609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2483855" y="1048120"/>
            <a:ext cx="4176290" cy="694864"/>
          </a:xfrm>
          <a:ln/>
        </p:spPr>
        <p:txBody>
          <a:bodyPr/>
          <a:lstStyle/>
          <a:p>
            <a:pPr indent="-342900" algn="l"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第五节  资本和利息</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703394" y="267396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635131" y="237233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703394" y="386364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635131" y="356201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703394" y="505767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635131" y="475605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9" name="MH_Other_5">
            <a:extLst>
              <a:ext uri="{FF2B5EF4-FFF2-40B4-BE49-F238E27FC236}">
                <a16:creationId xmlns:a16="http://schemas.microsoft.com/office/drawing/2014/main" id="{25D06B7F-7DCD-4D03-A450-0AAC55A41525}"/>
              </a:ext>
            </a:extLst>
          </p:cNvPr>
          <p:cNvCxnSpPr>
            <a:stCxn id="4" idx="2"/>
            <a:endCxn id="6" idx="0"/>
          </p:cNvCxnSpPr>
          <p:nvPr>
            <p:custDataLst>
              <p:tags r:id="rId7"/>
            </p:custDataLst>
          </p:nvPr>
        </p:nvCxnSpPr>
        <p:spPr>
          <a:xfrm>
            <a:off x="3214569" y="2727937"/>
            <a:ext cx="0" cy="834082"/>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0" name="MH_Other_6">
            <a:extLst>
              <a:ext uri="{FF2B5EF4-FFF2-40B4-BE49-F238E27FC236}">
                <a16:creationId xmlns:a16="http://schemas.microsoft.com/office/drawing/2014/main" id="{B30D78AD-B3DA-44A6-A5F6-F28D02655A40}"/>
              </a:ext>
            </a:extLst>
          </p:cNvPr>
          <p:cNvCxnSpPr>
            <a:stCxn id="6" idx="2"/>
            <a:endCxn id="8" idx="0"/>
          </p:cNvCxnSpPr>
          <p:nvPr>
            <p:custDataLst>
              <p:tags r:id="rId8"/>
            </p:custDataLst>
          </p:nvPr>
        </p:nvCxnSpPr>
        <p:spPr>
          <a:xfrm>
            <a:off x="3214569" y="3917619"/>
            <a:ext cx="0" cy="83843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1" name="矩形 10">
            <a:extLst>
              <a:ext uri="{FF2B5EF4-FFF2-40B4-BE49-F238E27FC236}">
                <a16:creationId xmlns:a16="http://schemas.microsoft.com/office/drawing/2014/main" id="{66A93A4A-F736-4CF5-82B6-87D5F4B7E4E5}"/>
              </a:ext>
            </a:extLst>
          </p:cNvPr>
          <p:cNvSpPr/>
          <p:nvPr/>
        </p:nvSpPr>
        <p:spPr>
          <a:xfrm>
            <a:off x="3635935" y="2281758"/>
            <a:ext cx="3108543" cy="461665"/>
          </a:xfrm>
          <a:prstGeom prst="rect">
            <a:avLst/>
          </a:prstGeom>
        </p:spPr>
        <p:txBody>
          <a:bodyPr wrap="none">
            <a:spAutoFit/>
          </a:bodyPr>
          <a:lstStyle/>
          <a:p>
            <a:pPr marL="742950" lvl="1" indent="-285750" eaLnBrk="1" hangingPunct="1">
              <a:spcBef>
                <a:spcPct val="50000"/>
              </a:spcBef>
            </a:pPr>
            <a:r>
              <a:rPr lang="zh-CN" altLang="en-US" sz="2400" b="0" dirty="0">
                <a:latin typeface="微软雅黑" panose="020B0503020204020204" pitchFamily="34" charset="-122"/>
                <a:ea typeface="微软雅黑" panose="020B0503020204020204" pitchFamily="34" charset="-122"/>
              </a:rPr>
              <a:t>资本和利息的含义</a:t>
            </a:r>
            <a:endParaRPr lang="en-US" altLang="zh-CN" sz="2400" b="0"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6BA99CA7-A4CC-4245-BA58-DB89FA49F037}"/>
              </a:ext>
            </a:extLst>
          </p:cNvPr>
          <p:cNvSpPr/>
          <p:nvPr/>
        </p:nvSpPr>
        <p:spPr>
          <a:xfrm>
            <a:off x="3692718" y="3516730"/>
            <a:ext cx="2185214" cy="461665"/>
          </a:xfrm>
          <a:prstGeom prst="rect">
            <a:avLst/>
          </a:prstGeom>
        </p:spPr>
        <p:txBody>
          <a:bodyPr wrap="none">
            <a:spAutoFit/>
          </a:bodyPr>
          <a:lstStyle/>
          <a:p>
            <a:pPr marL="742950" lvl="1" indent="-285750" eaLnBrk="1" hangingPunct="1">
              <a:spcBef>
                <a:spcPct val="50000"/>
              </a:spcBef>
            </a:pPr>
            <a:r>
              <a:rPr lang="zh-CN" altLang="en-US" sz="2400" b="0" dirty="0">
                <a:latin typeface="微软雅黑" panose="020B0503020204020204" pitchFamily="34" charset="-122"/>
                <a:ea typeface="微软雅黑" panose="020B0503020204020204" pitchFamily="34" charset="-122"/>
              </a:rPr>
              <a:t>资本的供给</a:t>
            </a:r>
            <a:endParaRPr lang="en-US" altLang="zh-CN" sz="2400" b="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018105B0-EC74-4F50-9B33-7F18FF6C04E7}"/>
              </a:ext>
            </a:extLst>
          </p:cNvPr>
          <p:cNvSpPr/>
          <p:nvPr/>
        </p:nvSpPr>
        <p:spPr>
          <a:xfrm>
            <a:off x="3729470" y="4751701"/>
            <a:ext cx="2492990" cy="461665"/>
          </a:xfrm>
          <a:prstGeom prst="rect">
            <a:avLst/>
          </a:prstGeom>
        </p:spPr>
        <p:txBody>
          <a:bodyPr wrap="none">
            <a:spAutoFit/>
          </a:bodyPr>
          <a:lstStyle/>
          <a:p>
            <a:pPr marL="742950" lvl="1" indent="-285750" eaLnBrk="1" hangingPunct="1">
              <a:spcBef>
                <a:spcPct val="50000"/>
              </a:spcBef>
            </a:pPr>
            <a:r>
              <a:rPr lang="zh-CN" altLang="en-US" sz="2400" b="0" dirty="0">
                <a:latin typeface="微软雅黑" panose="020B0503020204020204" pitchFamily="34" charset="-122"/>
                <a:ea typeface="微软雅黑" panose="020B0503020204020204" pitchFamily="34" charset="-122"/>
              </a:rPr>
              <a:t>资本市场均衡</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anim calcmode="lin" valueType="num">
                                      <p:cBhvr additive="base">
                                        <p:cTn id="7" dur="500" fill="hold"/>
                                        <p:tgtEl>
                                          <p:spTgt spid="471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up)">
                                      <p:cBhvr>
                                        <p:cTn id="43" dur="500"/>
                                        <p:tgtEl>
                                          <p:spTgt spid="7"/>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up)">
                                      <p:cBhvr>
                                        <p:cTn id="46" dur="500"/>
                                        <p:tgtEl>
                                          <p:spTgt spid="8"/>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p:bldP spid="3" grpId="0" animBg="1"/>
      <p:bldP spid="4" grpId="0" animBg="1"/>
      <p:bldP spid="5" grpId="0" animBg="1"/>
      <p:bldP spid="6" grpId="0" animBg="1"/>
      <p:bldP spid="7" grpId="0" animBg="1"/>
      <p:bldP spid="8" grpId="0" animBg="1"/>
      <p:bldP spid="11" grpId="0"/>
      <p:bldP spid="12"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326243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一、资本和利息的含义</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541434" y="1412860"/>
            <a:ext cx="8206856" cy="4248295"/>
            <a:chOff x="541434" y="1412860"/>
            <a:chExt cx="8206856" cy="4248295"/>
          </a:xfrm>
        </p:grpSpPr>
        <p:sp>
          <p:nvSpPr>
            <p:cNvPr id="6" name="矩形 5"/>
            <p:cNvSpPr/>
            <p:nvPr/>
          </p:nvSpPr>
          <p:spPr bwMode="auto">
            <a:xfrm>
              <a:off x="4355985" y="1412860"/>
              <a:ext cx="4392305" cy="853235"/>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资本是由经济制度本身生产出来并被用作投入要素以便进一步生产更多的商品和服务的物品。</a:t>
              </a:r>
              <a:endParaRPr kumimoji="0" lang="zh-CN" altLang="en-US" sz="1600" b="1" i="0" u="none" strike="noStrike" cap="none" normalizeH="0" baseline="0" dirty="0">
                <a:ln>
                  <a:noFill/>
                </a:ln>
                <a:effectLst/>
                <a:latin typeface="微软雅黑" panose="020B0503020204020204" pitchFamily="34" charset="-122"/>
                <a:ea typeface="微软雅黑" panose="020B0503020204020204" pitchFamily="34" charset="-122"/>
              </a:endParaRPr>
            </a:p>
          </p:txBody>
        </p:sp>
        <p:cxnSp>
          <p:nvCxnSpPr>
            <p:cNvPr id="8" name="直接连接符 7"/>
            <p:cNvCxnSpPr/>
            <p:nvPr/>
          </p:nvCxnSpPr>
          <p:spPr bwMode="auto">
            <a:xfrm>
              <a:off x="3923955" y="1605807"/>
              <a:ext cx="0" cy="405534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 name="文本框 1"/>
            <p:cNvSpPr txBox="1"/>
            <p:nvPr/>
          </p:nvSpPr>
          <p:spPr>
            <a:xfrm>
              <a:off x="541434" y="1619764"/>
              <a:ext cx="646331" cy="584775"/>
            </a:xfrm>
            <a:prstGeom prst="rect">
              <a:avLst/>
            </a:prstGeom>
            <a:noFill/>
          </p:spPr>
          <p:txBody>
            <a:bodyPr wrap="none" rtlCol="0">
              <a:spAutoFit/>
            </a:bodyPr>
            <a:lstStyle/>
            <a:p>
              <a:pPr marL="0" lvl="2"/>
              <a:r>
                <a:rPr lang="zh-CN" altLang="en-US" sz="1800" b="0" dirty="0">
                  <a:latin typeface="微软雅黑" panose="020B0503020204020204" pitchFamily="34" charset="-122"/>
                  <a:ea typeface="微软雅黑" panose="020B0503020204020204" pitchFamily="34" charset="-122"/>
                </a:rPr>
                <a:t>资本</a:t>
              </a:r>
              <a:endParaRPr lang="en-US" altLang="zh-CN" sz="1800" b="0" dirty="0">
                <a:latin typeface="微软雅黑" panose="020B0503020204020204" pitchFamily="34" charset="-122"/>
                <a:ea typeface="微软雅黑" panose="020B0503020204020204" pitchFamily="34" charset="-122"/>
              </a:endParaRPr>
            </a:p>
            <a:p>
              <a:endParaRPr lang="zh-CN" altLang="en-US" sz="1400" dirty="0"/>
            </a:p>
          </p:txBody>
        </p:sp>
        <p:cxnSp>
          <p:nvCxnSpPr>
            <p:cNvPr id="17" name="直接连接符 16"/>
            <p:cNvCxnSpPr>
              <a:cxnSpLocks/>
            </p:cNvCxnSpPr>
            <p:nvPr/>
          </p:nvCxnSpPr>
          <p:spPr bwMode="auto">
            <a:xfrm>
              <a:off x="1187765" y="1839477"/>
              <a:ext cx="2542211" cy="15506"/>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23" name="组合 22"/>
          <p:cNvGrpSpPr/>
          <p:nvPr/>
        </p:nvGrpSpPr>
        <p:grpSpPr>
          <a:xfrm>
            <a:off x="467544" y="2707701"/>
            <a:ext cx="8280746" cy="1057461"/>
            <a:chOff x="467544" y="2707701"/>
            <a:chExt cx="8280746" cy="1057461"/>
          </a:xfrm>
        </p:grpSpPr>
        <p:sp>
          <p:nvSpPr>
            <p:cNvPr id="3" name="文本框 2"/>
            <p:cNvSpPr txBox="1"/>
            <p:nvPr/>
          </p:nvSpPr>
          <p:spPr>
            <a:xfrm>
              <a:off x="467544" y="2913265"/>
              <a:ext cx="2954655" cy="584775"/>
            </a:xfrm>
            <a:prstGeom prst="rect">
              <a:avLst/>
            </a:prstGeom>
            <a:noFill/>
          </p:spPr>
          <p:txBody>
            <a:bodyPr wrap="none" rtlCol="0">
              <a:spAutoFit/>
            </a:bodyPr>
            <a:lstStyle/>
            <a:p>
              <a:pPr marL="0" lvl="2"/>
              <a:r>
                <a:rPr lang="zh-CN" altLang="en-US" sz="1800" b="0" dirty="0">
                  <a:latin typeface="微软雅黑" panose="020B0503020204020204" pitchFamily="34" charset="-122"/>
                  <a:ea typeface="微软雅黑" panose="020B0503020204020204" pitchFamily="34" charset="-122"/>
                </a:rPr>
                <a:t>资本服务与其价格（利率）</a:t>
              </a:r>
              <a:endParaRPr lang="en-US" altLang="zh-CN" sz="1800" b="0" dirty="0">
                <a:latin typeface="微软雅黑" panose="020B0503020204020204" pitchFamily="34" charset="-122"/>
                <a:ea typeface="微软雅黑" panose="020B0503020204020204" pitchFamily="34" charset="-122"/>
              </a:endParaRPr>
            </a:p>
            <a:p>
              <a:endParaRPr lang="zh-CN" altLang="en-US" sz="1400" dirty="0"/>
            </a:p>
          </p:txBody>
        </p:sp>
        <p:sp>
          <p:nvSpPr>
            <p:cNvPr id="9" name="矩形 8"/>
            <p:cNvSpPr/>
            <p:nvPr/>
          </p:nvSpPr>
          <p:spPr bwMode="auto">
            <a:xfrm>
              <a:off x="4355985" y="2707701"/>
              <a:ext cx="4392305" cy="1057461"/>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lvl="1" indent="-342900">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作为生产服务的源泉</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资本本身有一个市场价格</a:t>
              </a:r>
              <a:endParaRPr lang="en-US" altLang="zh-CN" b="0" dirty="0">
                <a:latin typeface="微软雅黑" panose="020B0503020204020204" pitchFamily="34" charset="-122"/>
                <a:ea typeface="微软雅黑" panose="020B0503020204020204" pitchFamily="34" charset="-122"/>
              </a:endParaRPr>
            </a:p>
            <a:p>
              <a:pPr marL="342900" lvl="1" indent="-342900">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作为生产服务</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资本也有一个价格</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即使用资本的价格</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利率</a:t>
              </a:r>
            </a:p>
          </p:txBody>
        </p:sp>
        <p:cxnSp>
          <p:nvCxnSpPr>
            <p:cNvPr id="20" name="直接连接符 19"/>
            <p:cNvCxnSpPr>
              <a:cxnSpLocks/>
            </p:cNvCxnSpPr>
            <p:nvPr/>
          </p:nvCxnSpPr>
          <p:spPr bwMode="auto">
            <a:xfrm>
              <a:off x="3203905" y="3151073"/>
              <a:ext cx="670081" cy="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27" name="组合 26"/>
          <p:cNvGrpSpPr/>
          <p:nvPr/>
        </p:nvGrpSpPr>
        <p:grpSpPr>
          <a:xfrm>
            <a:off x="467544" y="3986771"/>
            <a:ext cx="8280746" cy="1867331"/>
            <a:chOff x="468352" y="3986771"/>
            <a:chExt cx="8353203" cy="1867331"/>
          </a:xfrm>
        </p:grpSpPr>
        <p:grpSp>
          <p:nvGrpSpPr>
            <p:cNvPr id="24" name="组合 23"/>
            <p:cNvGrpSpPr/>
            <p:nvPr/>
          </p:nvGrpSpPr>
          <p:grpSpPr>
            <a:xfrm>
              <a:off x="468352" y="3986771"/>
              <a:ext cx="8353203" cy="1867331"/>
              <a:chOff x="463668" y="3986771"/>
              <a:chExt cx="7933086" cy="1867331"/>
            </a:xfrm>
          </p:grpSpPr>
          <p:sp>
            <p:nvSpPr>
              <p:cNvPr id="5" name="文本框 4"/>
              <p:cNvSpPr txBox="1"/>
              <p:nvPr/>
            </p:nvSpPr>
            <p:spPr>
              <a:xfrm>
                <a:off x="463668" y="4510789"/>
                <a:ext cx="1503759" cy="584775"/>
              </a:xfrm>
              <a:prstGeom prst="rect">
                <a:avLst/>
              </a:prstGeom>
              <a:noFill/>
            </p:spPr>
            <p:txBody>
              <a:bodyPr wrap="none" rtlCol="0">
                <a:spAutoFit/>
              </a:bodyPr>
              <a:lstStyle/>
              <a:p>
                <a:pPr marL="0" lvl="2"/>
                <a:r>
                  <a:rPr lang="zh-CN" altLang="en-US" sz="1800" b="0" dirty="0">
                    <a:latin typeface="微软雅黑" panose="020B0503020204020204" pitchFamily="34" charset="-122"/>
                    <a:ea typeface="微软雅黑" panose="020B0503020204020204" pitchFamily="34" charset="-122"/>
                  </a:rPr>
                  <a:t>利率趋同倾向</a:t>
                </a:r>
                <a:endParaRPr lang="en-US" altLang="zh-CN" sz="1800" b="0" dirty="0">
                  <a:latin typeface="微软雅黑" panose="020B0503020204020204" pitchFamily="34" charset="-122"/>
                  <a:ea typeface="微软雅黑" panose="020B0503020204020204" pitchFamily="34" charset="-122"/>
                </a:endParaRPr>
              </a:p>
              <a:p>
                <a:endParaRPr lang="zh-CN" altLang="en-US" sz="1400" dirty="0"/>
              </a:p>
            </p:txBody>
          </p:sp>
          <mc:AlternateContent xmlns:mc="http://schemas.openxmlformats.org/markup-compatibility/2006" xmlns:a14="http://schemas.microsoft.com/office/drawing/2010/main">
            <mc:Choice Requires="a14">
              <p:sp>
                <p:nvSpPr>
                  <p:cNvPr id="10" name="矩形 9"/>
                  <p:cNvSpPr/>
                  <p:nvPr/>
                </p:nvSpPr>
                <p:spPr bwMode="auto">
                  <a:xfrm>
                    <a:off x="4186279" y="3986771"/>
                    <a:ext cx="4210475" cy="1867331"/>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lvl="1" indent="-342900">
                      <a:buFont typeface="Wingdings" panose="05000000000000000000" pitchFamily="2" charset="2"/>
                      <a:buChar char="Ø"/>
                    </a:pPr>
                    <a:r>
                      <a:rPr lang="zh-CN" altLang="en-US" b="0" dirty="0">
                        <a:solidFill>
                          <a:schemeClr val="tx1"/>
                        </a:solidFill>
                        <a:latin typeface="微软雅黑" panose="020B0503020204020204" pitchFamily="34" charset="-122"/>
                        <a:ea typeface="微软雅黑" panose="020B0503020204020204" pitchFamily="34" charset="-122"/>
                      </a:rPr>
                      <a:t>不同资本的价值或者年收入可能并不相同</a:t>
                    </a:r>
                    <a:r>
                      <a:rPr lang="en-US" altLang="zh-CN" b="0" dirty="0">
                        <a:solidFill>
                          <a:schemeClr val="tx1"/>
                        </a:solidFill>
                        <a:latin typeface="微软雅黑" panose="020B0503020204020204" pitchFamily="34" charset="-122"/>
                        <a:ea typeface="微软雅黑" panose="020B0503020204020204" pitchFamily="34" charset="-122"/>
                      </a:rPr>
                      <a:t>, </a:t>
                    </a:r>
                    <a:r>
                      <a:rPr lang="zh-CN" altLang="en-US" b="0" dirty="0">
                        <a:solidFill>
                          <a:schemeClr val="tx1"/>
                        </a:solidFill>
                        <a:latin typeface="微软雅黑" panose="020B0503020204020204" pitchFamily="34" charset="-122"/>
                        <a:ea typeface="微软雅黑" panose="020B0503020204020204" pitchFamily="34" charset="-122"/>
                      </a:rPr>
                      <a:t>但年收入与资本价值的比率却有趋同倾向。</a:t>
                    </a:r>
                    <a:endParaRPr lang="en-US" altLang="zh-CN" b="0" dirty="0">
                      <a:solidFill>
                        <a:schemeClr val="tx1"/>
                      </a:solidFill>
                      <a:latin typeface="微软雅黑" panose="020B0503020204020204" pitchFamily="34" charset="-122"/>
                      <a:ea typeface="微软雅黑" panose="020B0503020204020204" pitchFamily="34" charset="-122"/>
                    </a:endParaRPr>
                  </a:p>
                  <a:p>
                    <a:pPr lvl="1" algn="ctr" eaLnBrk="1" hangingPunct="1"/>
                    <a14:m>
                      <m:oMathPara xmlns:m="http://schemas.openxmlformats.org/officeDocument/2006/math">
                        <m:oMathParaPr>
                          <m:jc m:val="centerGroup"/>
                        </m:oMathParaPr>
                        <m:oMath xmlns:m="http://schemas.openxmlformats.org/officeDocument/2006/math">
                          <m:r>
                            <a:rPr lang="en-US" altLang="zh-CN" sz="2000" b="0" i="1">
                              <a:solidFill>
                                <a:schemeClr val="tx1"/>
                              </a:solidFill>
                              <a:latin typeface="Cambria Math" panose="02040503050406030204" pitchFamily="18" charset="0"/>
                            </a:rPr>
                            <m:t>𝑟</m:t>
                          </m:r>
                          <m:r>
                            <a:rPr lang="en-US" altLang="zh-CN" sz="2000" b="0" i="1">
                              <a:solidFill>
                                <a:schemeClr val="tx1"/>
                              </a:solidFill>
                              <a:latin typeface="Cambria Math" panose="02040503050406030204" pitchFamily="18" charset="0"/>
                            </a:rPr>
                            <m:t>=</m:t>
                          </m:r>
                          <m:f>
                            <m:fPr>
                              <m:ctrlPr>
                                <a:rPr lang="en-US" altLang="zh-CN" sz="2000" b="0" i="1">
                                  <a:solidFill>
                                    <a:schemeClr val="tx1"/>
                                  </a:solidFill>
                                  <a:latin typeface="Cambria Math" panose="02040503050406030204" pitchFamily="18" charset="0"/>
                                </a:rPr>
                              </m:ctrlPr>
                            </m:fPr>
                            <m:num>
                              <m:r>
                                <a:rPr lang="en-US" altLang="zh-CN" sz="2000" b="0" i="1">
                                  <a:solidFill>
                                    <a:schemeClr val="tx1"/>
                                  </a:solidFill>
                                  <a:latin typeface="Cambria Math" panose="02040503050406030204" pitchFamily="18" charset="0"/>
                                </a:rPr>
                                <m:t>𝑍</m:t>
                              </m:r>
                            </m:num>
                            <m:den>
                              <m:r>
                                <a:rPr lang="en-US" altLang="zh-CN" sz="2000" b="0" i="1">
                                  <a:solidFill>
                                    <a:schemeClr val="tx1"/>
                                  </a:solidFill>
                                  <a:latin typeface="Cambria Math" panose="02040503050406030204" pitchFamily="18" charset="0"/>
                                </a:rPr>
                                <m:t>𝑃</m:t>
                              </m:r>
                            </m:den>
                          </m:f>
                        </m:oMath>
                      </m:oMathPara>
                    </a14:m>
                    <a:endParaRPr lang="zh-CN" altLang="en-US" sz="2000" b="0" dirty="0">
                      <a:solidFill>
                        <a:schemeClr val="tx1"/>
                      </a:solidFill>
                    </a:endParaRPr>
                  </a:p>
                  <a:p>
                    <a:pPr marL="342900" lvl="1" indent="-342900">
                      <a:buFont typeface="Wingdings" panose="05000000000000000000" pitchFamily="2" charset="2"/>
                      <a:buChar char="Ø"/>
                    </a:pPr>
                    <a:r>
                      <a:rPr lang="en-US" altLang="zh-CN" b="0" dirty="0">
                        <a:solidFill>
                          <a:schemeClr val="tx1"/>
                        </a:solidFill>
                        <a:latin typeface="微软雅黑" panose="020B0503020204020204" pitchFamily="34" charset="-122"/>
                        <a:ea typeface="微软雅黑" panose="020B0503020204020204" pitchFamily="34" charset="-122"/>
                      </a:rPr>
                      <a:t>Z</a:t>
                    </a:r>
                    <a:r>
                      <a:rPr lang="zh-CN" altLang="en-US" b="0" dirty="0">
                        <a:solidFill>
                          <a:schemeClr val="tx1"/>
                        </a:solidFill>
                        <a:latin typeface="微软雅黑" panose="020B0503020204020204" pitchFamily="34" charset="-122"/>
                        <a:ea typeface="微软雅黑" panose="020B0503020204020204" pitchFamily="34" charset="-122"/>
                      </a:rPr>
                      <a:t>为资本服务的</a:t>
                    </a:r>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微软雅黑" panose="020B0503020204020204" pitchFamily="34" charset="-122"/>
                        <a:ea typeface="微软雅黑" panose="020B0503020204020204" pitchFamily="34" charset="-122"/>
                      </a:rPr>
                      <a:t>年</a:t>
                    </a:r>
                    <a:r>
                      <a:rPr lang="en-US" altLang="zh-CN" b="0" dirty="0">
                        <a:solidFill>
                          <a:schemeClr val="tx1"/>
                        </a:solidFill>
                        <a:latin typeface="微软雅黑" panose="020B0503020204020204" pitchFamily="34" charset="-122"/>
                        <a:ea typeface="微软雅黑" panose="020B0503020204020204" pitchFamily="34" charset="-122"/>
                      </a:rPr>
                      <a:t>) </a:t>
                    </a:r>
                    <a:r>
                      <a:rPr lang="zh-CN" altLang="en-US" b="0" dirty="0">
                        <a:solidFill>
                          <a:schemeClr val="tx1"/>
                        </a:solidFill>
                        <a:latin typeface="微软雅黑" panose="020B0503020204020204" pitchFamily="34" charset="-122"/>
                        <a:ea typeface="微软雅黑" panose="020B0503020204020204" pitchFamily="34" charset="-122"/>
                      </a:rPr>
                      <a:t>收入</a:t>
                    </a:r>
                    <a:r>
                      <a:rPr lang="en-US" altLang="zh-CN" b="0" dirty="0">
                        <a:solidFill>
                          <a:schemeClr val="tx1"/>
                        </a:solidFill>
                        <a:latin typeface="微软雅黑" panose="020B0503020204020204" pitchFamily="34" charset="-122"/>
                        <a:ea typeface="微软雅黑" panose="020B0503020204020204" pitchFamily="34" charset="-122"/>
                      </a:rPr>
                      <a:t>, P</a:t>
                    </a:r>
                    <a:r>
                      <a:rPr lang="zh-CN" altLang="en-US" b="0" dirty="0">
                        <a:solidFill>
                          <a:schemeClr val="tx1"/>
                        </a:solidFill>
                        <a:latin typeface="微软雅黑" panose="020B0503020204020204" pitchFamily="34" charset="-122"/>
                        <a:ea typeface="微软雅黑" panose="020B0503020204020204" pitchFamily="34" charset="-122"/>
                      </a:rPr>
                      <a:t>为资本价值。</a:t>
                    </a:r>
                  </a:p>
                  <a:p>
                    <a:pPr marL="342900" lvl="1" indent="-342900" eaLnBrk="1" hangingPunct="1"/>
                    <a:endParaRPr lang="zh-CN" altLang="en-US" b="0" dirty="0"/>
                  </a:p>
                </p:txBody>
              </p:sp>
            </mc:Choice>
            <mc:Fallback xmlns="">
              <p:sp>
                <p:nvSpPr>
                  <p:cNvPr id="10" name="矩形 9"/>
                  <p:cNvSpPr>
                    <a:spLocks noRot="1" noChangeAspect="1" noMove="1" noResize="1" noEditPoints="1" noAdjustHandles="1" noChangeArrowheads="1" noChangeShapeType="1" noTextEdit="1"/>
                  </p:cNvSpPr>
                  <p:nvPr/>
                </p:nvSpPr>
                <p:spPr bwMode="auto">
                  <a:xfrm>
                    <a:off x="4186279" y="3986771"/>
                    <a:ext cx="4210475" cy="1867331"/>
                  </a:xfrm>
                  <a:prstGeom prst="rect">
                    <a:avLst/>
                  </a:prstGeom>
                  <a:blipFill rotWithShape="0">
                    <a:blip r:embed="rId2"/>
                    <a:stretch>
                      <a:fillRect l="-275" t="-322"/>
                    </a:stretch>
                  </a:blipFill>
                  <a:ln w="28575" cap="flat" cmpd="sng" algn="ctr">
                    <a:solidFill>
                      <a:srgbClr val="C00000"/>
                    </a:solidFill>
                    <a:prstDash val="solid"/>
                    <a:round/>
                    <a:headEnd type="none" w="med" len="med"/>
                    <a:tailEnd type="none" w="med" len="med"/>
                  </a:ln>
                  <a:effectLst/>
                  <a:extLst/>
                </p:spPr>
                <p:txBody>
                  <a:bodyPr/>
                  <a:lstStyle/>
                  <a:p>
                    <a:r>
                      <a:rPr lang="zh-CN" altLang="en-US">
                        <a:noFill/>
                      </a:rPr>
                      <a:t> </a:t>
                    </a:r>
                  </a:p>
                </p:txBody>
              </p:sp>
            </mc:Fallback>
          </mc:AlternateContent>
        </p:grpSp>
        <p:cxnSp>
          <p:nvCxnSpPr>
            <p:cNvPr id="22" name="直接连接符 21"/>
            <p:cNvCxnSpPr>
              <a:cxnSpLocks/>
            </p:cNvCxnSpPr>
            <p:nvPr/>
          </p:nvCxnSpPr>
          <p:spPr bwMode="auto">
            <a:xfrm>
              <a:off x="2051747" y="4723070"/>
              <a:ext cx="1830630" cy="12113"/>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974869" y="2196336"/>
            <a:ext cx="7413396" cy="4784725"/>
          </a:xfrm>
          <a:ln/>
        </p:spPr>
        <p:txBody>
          <a:bodyPr/>
          <a:lstStyle/>
          <a:p>
            <a:pPr marL="457200" lvl="2" indent="-457200" eaLnBrk="1" hangingPunct="1">
              <a:lnSpc>
                <a:spcPct val="2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单个人通过 “储蓄”来增加自己的资本资源。 </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2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资本所有者的资本供给问题可以看成是如何将既定收入在消费和储蓄两方面进行分配的问题。</a:t>
            </a:r>
            <a:endParaRPr lang="en-US" altLang="zh-CN" sz="1800" b="0" dirty="0">
              <a:latin typeface="微软雅黑" panose="020B0503020204020204" pitchFamily="34" charset="-122"/>
              <a:ea typeface="微软雅黑" panose="020B0503020204020204" pitchFamily="34" charset="-122"/>
            </a:endParaRPr>
          </a:p>
          <a:p>
            <a:pPr marL="457200" lvl="2" indent="-457200" eaLnBrk="1" hangingPunct="1">
              <a:lnSpc>
                <a:spcPct val="2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储蓄是未来的消费，因此资本供给又可以进一步看成是不同时期的消费决策问题。</a:t>
            </a:r>
            <a:endParaRPr lang="en-US" altLang="zh-CN" sz="18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33910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二、资本的供给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4FBD33C8-9F7C-4586-8094-93FD18B5B724}"/>
              </a:ext>
            </a:extLst>
          </p:cNvPr>
          <p:cNvGrpSpPr/>
          <p:nvPr/>
        </p:nvGrpSpPr>
        <p:grpSpPr>
          <a:xfrm>
            <a:off x="468434" y="1543206"/>
            <a:ext cx="1831777" cy="514350"/>
            <a:chOff x="458213" y="4075203"/>
            <a:chExt cx="1708719" cy="514350"/>
          </a:xfrm>
        </p:grpSpPr>
        <p:sp>
          <p:nvSpPr>
            <p:cNvPr id="7"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indent="0" algn="ctr" eaLnBrk="1" hangingPunct="1">
                <a:spcBef>
                  <a:spcPct val="40000"/>
                </a:spcBef>
                <a:buNone/>
              </a:pPr>
              <a:r>
                <a:rPr lang="zh-CN" altLang="en-US" sz="2000" b="0" dirty="0">
                  <a:solidFill>
                    <a:schemeClr val="tx1"/>
                  </a:solidFill>
                  <a:latin typeface="微软雅黑" panose="020B0503020204020204" pitchFamily="34" charset="-122"/>
                  <a:ea typeface="微软雅黑" panose="020B0503020204020204" pitchFamily="34" charset="-122"/>
                </a:rPr>
                <a:t>资本供给特点</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039932" y="407520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178">
                                            <p:txEl>
                                              <p:pRg st="0" end="0"/>
                                            </p:txEl>
                                          </p:spTgt>
                                        </p:tgtEl>
                                        <p:attrNameLst>
                                          <p:attrName>style.visibility</p:attrName>
                                        </p:attrNameLst>
                                      </p:cBhvr>
                                      <p:to>
                                        <p:strVal val="visible"/>
                                      </p:to>
                                    </p:set>
                                    <p:animEffect transition="in" filter="fade">
                                      <p:cBhvr>
                                        <p:cTn id="12" dur="500"/>
                                        <p:tgtEl>
                                          <p:spTgt spid="5017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178">
                                            <p:txEl>
                                              <p:pRg st="1" end="1"/>
                                            </p:txEl>
                                          </p:spTgt>
                                        </p:tgtEl>
                                        <p:attrNameLst>
                                          <p:attrName>style.visibility</p:attrName>
                                        </p:attrNameLst>
                                      </p:cBhvr>
                                      <p:to>
                                        <p:strVal val="visible"/>
                                      </p:to>
                                    </p:set>
                                    <p:animEffect transition="in" filter="fade">
                                      <p:cBhvr>
                                        <p:cTn id="17" dur="500"/>
                                        <p:tgtEl>
                                          <p:spTgt spid="5017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178">
                                            <p:txEl>
                                              <p:pRg st="2" end="2"/>
                                            </p:txEl>
                                          </p:spTgt>
                                        </p:tgtEl>
                                        <p:attrNameLst>
                                          <p:attrName>style.visibility</p:attrName>
                                        </p:attrNameLst>
                                      </p:cBhvr>
                                      <p:to>
                                        <p:strVal val="visible"/>
                                      </p:to>
                                    </p:set>
                                    <p:animEffect transition="in" filter="fade">
                                      <p:cBhvr>
                                        <p:cTn id="22" dur="500"/>
                                        <p:tgtEl>
                                          <p:spTgt spid="50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178" name="Rectangle 3"/>
              <p:cNvSpPr>
                <a:spLocks noGrp="1" noChangeArrowheads="1"/>
              </p:cNvSpPr>
              <p:nvPr>
                <p:ph type="body" idx="4294967295"/>
              </p:nvPr>
            </p:nvSpPr>
            <p:spPr>
              <a:xfrm>
                <a:off x="5045038" y="1865610"/>
                <a:ext cx="2551286" cy="2360314"/>
              </a:xfrm>
              <a:ln/>
            </p:spPr>
            <p:txBody>
              <a:bodyPr/>
              <a:lstStyle/>
              <a:p>
                <a:pPr marL="0" lvl="2" indent="0" eaLnBrk="1" hangingPunct="1">
                  <a:spcBef>
                    <a:spcPct val="40000"/>
                  </a:spcBef>
                  <a:buNone/>
                </a:pPr>
                <a:endParaRPr lang="en-US" altLang="zh-CN" sz="2400" b="0" dirty="0"/>
              </a:p>
              <a:p>
                <a:pPr marL="285750" lvl="2" indent="-285750" eaLnBrk="1" hangingPunct="1">
                  <a:spcBef>
                    <a:spcPct val="40000"/>
                  </a:spcBef>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消费者受到收入和利率的约束</a:t>
                </a:r>
                <a:endParaRPr lang="en-US" altLang="zh-CN" sz="1600" b="0" dirty="0">
                  <a:latin typeface="微软雅黑" panose="020B0503020204020204" pitchFamily="34" charset="-122"/>
                  <a:ea typeface="微软雅黑" panose="020B0503020204020204" pitchFamily="34" charset="-122"/>
                </a:endParaRPr>
              </a:p>
              <a:p>
                <a:pPr marL="0" lvl="2" indent="0" eaLnBrk="1" hangingPunct="1">
                  <a:spcBef>
                    <a:spcPct val="40000"/>
                  </a:spcBef>
                  <a:buNone/>
                </a:pPr>
                <a14:m>
                  <m:oMathPara xmlns:m="http://schemas.openxmlformats.org/officeDocument/2006/math">
                    <m:oMathParaPr>
                      <m:jc m:val="centerGroup"/>
                    </m:oMathParaPr>
                    <m:oMath xmlns:m="http://schemas.openxmlformats.org/officeDocument/2006/math">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𝐶</m:t>
                          </m:r>
                        </m:e>
                        <m:sub>
                          <m:r>
                            <a:rPr lang="en-US" altLang="zh-CN" sz="1600" b="0">
                              <a:latin typeface="Cambria Math" panose="02040503050406030204" pitchFamily="18" charset="0"/>
                              <a:ea typeface="微软雅黑" panose="020B0503020204020204" pitchFamily="34" charset="-122"/>
                            </a:rPr>
                            <m:t>1</m:t>
                          </m:r>
                        </m:sub>
                      </m:sSub>
                      <m:r>
                        <a:rPr lang="en-US" altLang="zh-CN" sz="1600" b="0">
                          <a:latin typeface="Cambria Math" panose="02040503050406030204" pitchFamily="18" charset="0"/>
                          <a:ea typeface="微软雅黑" panose="020B0503020204020204" pitchFamily="34" charset="-122"/>
                        </a:rPr>
                        <m:t>=</m:t>
                      </m:r>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𝑀</m:t>
                          </m:r>
                        </m:e>
                        <m:sub>
                          <m:r>
                            <a:rPr lang="en-US" altLang="zh-CN" sz="1600" b="0">
                              <a:latin typeface="Cambria Math" panose="02040503050406030204" pitchFamily="18" charset="0"/>
                              <a:ea typeface="微软雅黑" panose="020B0503020204020204" pitchFamily="34" charset="-122"/>
                            </a:rPr>
                            <m:t>1</m:t>
                          </m:r>
                        </m:sub>
                      </m:sSub>
                      <m:r>
                        <a:rPr lang="en-US" altLang="zh-CN" sz="1600" b="0">
                          <a:latin typeface="Cambria Math" panose="02040503050406030204" pitchFamily="18" charset="0"/>
                          <a:ea typeface="微软雅黑" panose="020B0503020204020204" pitchFamily="34" charset="-122"/>
                        </a:rPr>
                        <m:t>+</m:t>
                      </m:r>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(1+</m:t>
                          </m:r>
                          <m:r>
                            <a:rPr lang="en-US" altLang="zh-CN" sz="1600" b="0">
                              <a:latin typeface="Cambria Math" panose="02040503050406030204" pitchFamily="18" charset="0"/>
                              <a:ea typeface="微软雅黑" panose="020B0503020204020204" pitchFamily="34" charset="-122"/>
                            </a:rPr>
                            <m:t>𝑟</m:t>
                          </m:r>
                          <m:r>
                            <a:rPr lang="en-US" altLang="zh-CN" sz="1600" b="0">
                              <a:latin typeface="Cambria Math" panose="02040503050406030204" pitchFamily="18" charset="0"/>
                              <a:ea typeface="微软雅黑" panose="020B0503020204020204" pitchFamily="34" charset="-122"/>
                            </a:rPr>
                            <m:t>)(</m:t>
                          </m:r>
                          <m:r>
                            <a:rPr lang="en-US" altLang="zh-CN" sz="1600" b="0">
                              <a:latin typeface="Cambria Math" panose="02040503050406030204" pitchFamily="18" charset="0"/>
                              <a:ea typeface="微软雅黑" panose="020B0503020204020204" pitchFamily="34" charset="-122"/>
                            </a:rPr>
                            <m:t>𝑀</m:t>
                          </m:r>
                        </m:e>
                        <m:sub>
                          <m:r>
                            <a:rPr lang="en-US" altLang="zh-CN" sz="1600" b="0">
                              <a:latin typeface="Cambria Math" panose="02040503050406030204" pitchFamily="18" charset="0"/>
                              <a:ea typeface="微软雅黑" panose="020B0503020204020204" pitchFamily="34" charset="-122"/>
                            </a:rPr>
                            <m:t>0</m:t>
                          </m:r>
                        </m:sub>
                      </m:sSub>
                      <m:r>
                        <a:rPr lang="en-US" altLang="zh-CN" sz="1600" b="0">
                          <a:latin typeface="Cambria Math" panose="02040503050406030204" pitchFamily="18" charset="0"/>
                          <a:ea typeface="微软雅黑" panose="020B0503020204020204" pitchFamily="34" charset="-122"/>
                        </a:rPr>
                        <m:t>−</m:t>
                      </m:r>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𝐶</m:t>
                          </m:r>
                        </m:e>
                        <m:sub>
                          <m:r>
                            <a:rPr lang="en-US" altLang="zh-CN" sz="1600" b="0">
                              <a:latin typeface="Cambria Math" panose="02040503050406030204" pitchFamily="18" charset="0"/>
                              <a:ea typeface="微软雅黑" panose="020B0503020204020204" pitchFamily="34" charset="-122"/>
                            </a:rPr>
                            <m:t>0</m:t>
                          </m:r>
                        </m:sub>
                      </m:sSub>
                      <m:r>
                        <a:rPr lang="en-US" altLang="zh-CN" sz="1600" b="0">
                          <a:latin typeface="Cambria Math" panose="02040503050406030204" pitchFamily="18" charset="0"/>
                          <a:ea typeface="微软雅黑" panose="020B0503020204020204" pitchFamily="34" charset="-122"/>
                        </a:rPr>
                        <m:t>)</m:t>
                      </m:r>
                    </m:oMath>
                  </m:oMathPara>
                </a14:m>
                <a:endParaRPr lang="en-US" altLang="zh-CN" sz="1600" b="0" dirty="0">
                  <a:latin typeface="微软雅黑" panose="020B0503020204020204" pitchFamily="34" charset="-122"/>
                  <a:ea typeface="微软雅黑" panose="020B0503020204020204" pitchFamily="34" charset="-122"/>
                </a:endParaRPr>
              </a:p>
              <a:p>
                <a:pPr marL="285750" lvl="2" indent="-285750" eaLnBrk="1" hangingPunct="1">
                  <a:spcBef>
                    <a:spcPct val="40000"/>
                  </a:spcBef>
                  <a:buFont typeface="Wingdings" panose="05000000000000000000" pitchFamily="2" charset="2"/>
                  <a:buChar char="Ø"/>
                </a:pPr>
                <a:r>
                  <a:rPr lang="zh-CN" altLang="en-US" sz="1600" b="0" dirty="0">
                    <a:latin typeface="微软雅黑" panose="020B0503020204020204" pitchFamily="34" charset="-122"/>
                    <a:ea typeface="微软雅黑" panose="020B0503020204020204" pitchFamily="34" charset="-122"/>
                  </a:rPr>
                  <a:t>斜率为     </a:t>
                </a:r>
                <a:endParaRPr lang="en-US" altLang="zh-CN" sz="1600" b="0" dirty="0">
                  <a:latin typeface="微软雅黑" panose="020B0503020204020204" pitchFamily="34" charset="-122"/>
                  <a:ea typeface="微软雅黑" panose="020B0503020204020204" pitchFamily="34" charset="-122"/>
                </a:endParaRPr>
              </a:p>
              <a:p>
                <a:pPr marL="0" lvl="2" indent="0" eaLnBrk="1" hangingPunct="1">
                  <a:spcBef>
                    <a:spcPct val="40000"/>
                  </a:spcBef>
                  <a:buNone/>
                </a:pPr>
                <a:r>
                  <a:rPr lang="zh-CN" altLang="en-US" sz="1600" b="0" dirty="0">
                    <a:latin typeface="微软雅黑" panose="020B0503020204020204" pitchFamily="34" charset="-122"/>
                    <a:ea typeface="微软雅黑" panose="020B0503020204020204" pitchFamily="34" charset="-122"/>
                  </a:rPr>
                  <a:t>     </a:t>
                </a:r>
                <a14:m>
                  <m:oMath xmlns:m="http://schemas.openxmlformats.org/officeDocument/2006/math">
                    <m:f>
                      <m:fPr>
                        <m:ctrlPr>
                          <a:rPr lang="en-US" altLang="zh-CN" sz="1600" b="0" i="1">
                            <a:latin typeface="Cambria Math" panose="02040503050406030204" pitchFamily="18" charset="0"/>
                            <a:ea typeface="微软雅黑" panose="020B0503020204020204" pitchFamily="34" charset="-122"/>
                          </a:rPr>
                        </m:ctrlPr>
                      </m:fPr>
                      <m:num>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𝑑𝐶</m:t>
                            </m:r>
                          </m:e>
                          <m:sub>
                            <m:r>
                              <a:rPr lang="en-US" altLang="zh-CN" sz="1600" b="0">
                                <a:latin typeface="Cambria Math" panose="02040503050406030204" pitchFamily="18" charset="0"/>
                                <a:ea typeface="微软雅黑" panose="020B0503020204020204" pitchFamily="34" charset="-122"/>
                              </a:rPr>
                              <m:t>1</m:t>
                            </m:r>
                          </m:sub>
                        </m:sSub>
                      </m:num>
                      <m:den>
                        <m:sSub>
                          <m:sSubPr>
                            <m:ctrlPr>
                              <a:rPr lang="en-US" altLang="zh-CN" sz="1600" b="0" i="1">
                                <a:latin typeface="Cambria Math" panose="02040503050406030204" pitchFamily="18" charset="0"/>
                                <a:ea typeface="微软雅黑" panose="020B0503020204020204" pitchFamily="34" charset="-122"/>
                              </a:rPr>
                            </m:ctrlPr>
                          </m:sSubPr>
                          <m:e>
                            <m:r>
                              <a:rPr lang="en-US" altLang="zh-CN" sz="1600" b="0">
                                <a:latin typeface="Cambria Math" panose="02040503050406030204" pitchFamily="18" charset="0"/>
                                <a:ea typeface="微软雅黑" panose="020B0503020204020204" pitchFamily="34" charset="-122"/>
                              </a:rPr>
                              <m:t>𝑑𝐶</m:t>
                            </m:r>
                          </m:e>
                          <m:sub>
                            <m:r>
                              <a:rPr lang="en-US" altLang="zh-CN" sz="1600" b="0">
                                <a:latin typeface="Cambria Math" panose="02040503050406030204" pitchFamily="18" charset="0"/>
                                <a:ea typeface="微软雅黑" panose="020B0503020204020204" pitchFamily="34" charset="-122"/>
                              </a:rPr>
                              <m:t>0</m:t>
                            </m:r>
                          </m:sub>
                        </m:sSub>
                      </m:den>
                    </m:f>
                    <m:r>
                      <a:rPr lang="en-US" altLang="zh-CN" sz="1600" b="0">
                        <a:latin typeface="Cambria Math" panose="02040503050406030204" pitchFamily="18" charset="0"/>
                        <a:ea typeface="微软雅黑" panose="020B0503020204020204" pitchFamily="34" charset="-122"/>
                      </a:rPr>
                      <m:t>=−(1+</m:t>
                    </m:r>
                    <m:r>
                      <a:rPr lang="en-US" altLang="zh-CN" sz="1600" b="0">
                        <a:latin typeface="Cambria Math" panose="02040503050406030204" pitchFamily="18" charset="0"/>
                        <a:ea typeface="微软雅黑" panose="020B0503020204020204" pitchFamily="34" charset="-122"/>
                      </a:rPr>
                      <m:t>𝑟</m:t>
                    </m:r>
                    <m:r>
                      <a:rPr lang="en-US" altLang="zh-CN" sz="1600" b="0">
                        <a:latin typeface="Cambria Math" panose="02040503050406030204" pitchFamily="18" charset="0"/>
                        <a:ea typeface="微软雅黑" panose="020B0503020204020204" pitchFamily="34" charset="-122"/>
                      </a:rPr>
                      <m:t>)</m:t>
                    </m:r>
                  </m:oMath>
                </a14:m>
                <a:endParaRPr lang="en-US" altLang="zh-CN" sz="1600" b="0" dirty="0">
                  <a:latin typeface="微软雅黑" panose="020B0503020204020204" pitchFamily="34" charset="-122"/>
                  <a:ea typeface="微软雅黑" panose="020B0503020204020204" pitchFamily="34" charset="-122"/>
                </a:endParaRPr>
              </a:p>
            </p:txBody>
          </p:sp>
        </mc:Choice>
        <mc:Fallback xmlns="">
          <p:sp>
            <p:nvSpPr>
              <p:cNvPr id="50178" name="Rectangle 3"/>
              <p:cNvSpPr>
                <a:spLocks noGrp="1" noRot="1" noChangeAspect="1" noMove="1" noResize="1" noEditPoints="1" noAdjustHandles="1" noChangeArrowheads="1" noChangeShapeType="1" noTextEdit="1"/>
              </p:cNvSpPr>
              <p:nvPr>
                <p:ph type="body" idx="4294967295"/>
              </p:nvPr>
            </p:nvSpPr>
            <p:spPr>
              <a:xfrm>
                <a:off x="5045038" y="1865610"/>
                <a:ext cx="2551286" cy="2360314"/>
              </a:xfrm>
              <a:blipFill>
                <a:blip r:embed="rId11"/>
                <a:stretch>
                  <a:fillRect l="-957"/>
                </a:stretch>
              </a:blipFill>
              <a:ln/>
            </p:spPr>
            <p:txBody>
              <a:bodyPr/>
              <a:lstStyle/>
              <a:p>
                <a:r>
                  <a:rPr lang="zh-CN" altLang="en-US">
                    <a:noFill/>
                  </a:rPr>
                  <a:t> </a:t>
                </a:r>
              </a:p>
            </p:txBody>
          </p:sp>
        </mc:Fallback>
      </mc:AlternateContent>
      <p:sp>
        <p:nvSpPr>
          <p:cNvPr id="4"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33910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二、资本的供给</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9" name="MH_SubTitle_3">
            <a:extLst>
              <a:ext uri="{FF2B5EF4-FFF2-40B4-BE49-F238E27FC236}">
                <a16:creationId xmlns:a16="http://schemas.microsoft.com/office/drawing/2014/main" id="{4FC8516E-8DC6-465B-9E9D-BD82563DAF92}"/>
              </a:ext>
            </a:extLst>
          </p:cNvPr>
          <p:cNvSpPr txBox="1"/>
          <p:nvPr>
            <p:custDataLst>
              <p:tags r:id="rId1"/>
            </p:custDataLst>
          </p:nvPr>
        </p:nvSpPr>
        <p:spPr bwMode="auto">
          <a:xfrm>
            <a:off x="5249762" y="1413972"/>
            <a:ext cx="2141840"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b="0" dirty="0"/>
              <a:t>约束</a:t>
            </a:r>
            <a:endParaRPr lang="zh-CN" altLang="en-US" dirty="0">
              <a:sym typeface="华文楷体" panose="02010600040101010101" pitchFamily="2" charset="-122"/>
            </a:endParaRPr>
          </a:p>
        </p:txBody>
      </p:sp>
      <p:sp>
        <p:nvSpPr>
          <p:cNvPr id="11" name="MH_Other_3">
            <a:extLst>
              <a:ext uri="{FF2B5EF4-FFF2-40B4-BE49-F238E27FC236}">
                <a16:creationId xmlns:a16="http://schemas.microsoft.com/office/drawing/2014/main" id="{1FE7FCDB-046B-4FBB-9C94-62F5D71092D0}"/>
              </a:ext>
            </a:extLst>
          </p:cNvPr>
          <p:cNvSpPr/>
          <p:nvPr>
            <p:custDataLst>
              <p:tags r:id="rId2"/>
            </p:custDataLst>
          </p:nvPr>
        </p:nvSpPr>
        <p:spPr bwMode="auto">
          <a:xfrm flipH="1">
            <a:off x="5023733" y="1494737"/>
            <a:ext cx="45719" cy="3915296"/>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grpSp>
        <p:nvGrpSpPr>
          <p:cNvPr id="13" name="组合 12"/>
          <p:cNvGrpSpPr/>
          <p:nvPr/>
        </p:nvGrpSpPr>
        <p:grpSpPr>
          <a:xfrm>
            <a:off x="1527492" y="1413971"/>
            <a:ext cx="1453659" cy="4089433"/>
            <a:chOff x="1527492" y="1413971"/>
            <a:chExt cx="1453659" cy="4089433"/>
          </a:xfrm>
        </p:grpSpPr>
        <p:sp>
          <p:nvSpPr>
            <p:cNvPr id="6" name="MH_SubTitle_1">
              <a:extLst>
                <a:ext uri="{FF2B5EF4-FFF2-40B4-BE49-F238E27FC236}">
                  <a16:creationId xmlns:a16="http://schemas.microsoft.com/office/drawing/2014/main" id="{78608EE4-064A-4A6B-8607-F09E3D7D70A6}"/>
                </a:ext>
              </a:extLst>
            </p:cNvPr>
            <p:cNvSpPr txBox="1"/>
            <p:nvPr>
              <p:custDataLst>
                <p:tags r:id="rId7"/>
              </p:custDataLst>
            </p:nvPr>
          </p:nvSpPr>
          <p:spPr bwMode="auto">
            <a:xfrm>
              <a:off x="1847691" y="1413972"/>
              <a:ext cx="1020125" cy="485696"/>
            </a:xfrm>
            <a:prstGeom prst="rect">
              <a:avLst/>
            </a:prstGeom>
            <a:solidFill>
              <a:srgbClr val="F3C97F"/>
            </a:solidFill>
          </p:spPr>
          <p:txBody>
            <a:bodyPr>
              <a:normAutofit/>
            </a:bodyPr>
            <a:lstStyle/>
            <a:p>
              <a:pPr algn="ctr">
                <a:lnSpc>
                  <a:spcPct val="150000"/>
                </a:lnSpc>
                <a:spcBef>
                  <a:spcPct val="80000"/>
                </a:spcBef>
                <a:buSzPct val="50000"/>
                <a:defRPr/>
              </a:pPr>
              <a:r>
                <a:rPr lang="zh-CN" altLang="en-US" b="0" spc="150" dirty="0">
                  <a:solidFill>
                    <a:srgbClr val="000000"/>
                  </a:solidFill>
                  <a:latin typeface="微软雅黑" panose="020B0503020204020204" pitchFamily="34" charset="-122"/>
                  <a:ea typeface="微软雅黑" panose="020B0503020204020204" pitchFamily="34" charset="-122"/>
                </a:rPr>
                <a:t>假设</a:t>
              </a:r>
              <a:endParaRPr lang="en-US" altLang="zh-CN" b="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p:txBody>
        </p:sp>
        <p:sp>
          <p:nvSpPr>
            <p:cNvPr id="7" name="MH_Other_1">
              <a:extLst>
                <a:ext uri="{FF2B5EF4-FFF2-40B4-BE49-F238E27FC236}">
                  <a16:creationId xmlns:a16="http://schemas.microsoft.com/office/drawing/2014/main" id="{4F8CBB44-8FF9-4440-9102-A3455487694C}"/>
                </a:ext>
              </a:extLst>
            </p:cNvPr>
            <p:cNvSpPr/>
            <p:nvPr>
              <p:custDataLst>
                <p:tags r:id="rId8"/>
              </p:custDataLst>
            </p:nvPr>
          </p:nvSpPr>
          <p:spPr bwMode="auto">
            <a:xfrm flipH="1">
              <a:off x="1527492" y="1413971"/>
              <a:ext cx="66633" cy="4089433"/>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12" name="矩形 11">
              <a:extLst>
                <a:ext uri="{FF2B5EF4-FFF2-40B4-BE49-F238E27FC236}">
                  <a16:creationId xmlns:a16="http://schemas.microsoft.com/office/drawing/2014/main" id="{34262BAE-01B9-4989-AA3F-B46AB2CE9274}"/>
                </a:ext>
              </a:extLst>
            </p:cNvPr>
            <p:cNvSpPr/>
            <p:nvPr/>
          </p:nvSpPr>
          <p:spPr>
            <a:xfrm>
              <a:off x="1527493" y="2066991"/>
              <a:ext cx="1453658" cy="3416320"/>
            </a:xfrm>
            <a:prstGeom prst="rect">
              <a:avLst/>
            </a:prstGeom>
          </p:spPr>
          <p:txBody>
            <a:bodyPr wrap="square">
              <a:spAutoFit/>
            </a:bodyPr>
            <a:lstStyle/>
            <a:p>
              <a:pPr marL="285750" lvl="2" indent="-285750" eaLnBrk="1" hangingPunct="1">
                <a:lnSpc>
                  <a:spcPct val="150000"/>
                </a:lnSpc>
                <a:spcBef>
                  <a:spcPct val="40000"/>
                </a:spcBef>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消费者将今天和明天两期的收入用于今天和明天的消费，以获得跨期最大效用</a:t>
              </a:r>
              <a:endParaRPr lang="en-US" altLang="zh-CN" b="0" dirty="0">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862D0AC9-8D0F-48B7-A489-9A495AD48740}"/>
              </a:ext>
            </a:extLst>
          </p:cNvPr>
          <p:cNvGrpSpPr/>
          <p:nvPr/>
        </p:nvGrpSpPr>
        <p:grpSpPr>
          <a:xfrm>
            <a:off x="309655" y="1766748"/>
            <a:ext cx="1056958" cy="3736656"/>
            <a:chOff x="931104" y="2086623"/>
            <a:chExt cx="1056958" cy="2187673"/>
          </a:xfrm>
        </p:grpSpPr>
        <p:sp>
          <p:nvSpPr>
            <p:cNvPr id="16" name="KSO_Shape">
              <a:extLst>
                <a:ext uri="{FF2B5EF4-FFF2-40B4-BE49-F238E27FC236}">
                  <a16:creationId xmlns:a16="http://schemas.microsoft.com/office/drawing/2014/main" id="{24602673-A2E2-4C60-98D0-09AA8EA102F4}"/>
                </a:ext>
              </a:extLst>
            </p:cNvPr>
            <p:cNvSpPr/>
            <p:nvPr/>
          </p:nvSpPr>
          <p:spPr>
            <a:xfrm>
              <a:off x="931104" y="2086623"/>
              <a:ext cx="1056958" cy="2187673"/>
            </a:xfrm>
            <a:prstGeom prst="roundRect">
              <a:avLst/>
            </a:prstGeom>
            <a:noFill/>
            <a:ln w="19050">
              <a:solidFill>
                <a:srgbClr val="C0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pPr>
              <a:endParaRPr lang="zh-CN" altLang="en-US" sz="2400" spc="150">
                <a:solidFill>
                  <a:schemeClr val="bg1"/>
                </a:solidFill>
                <a:latin typeface="微软雅黑" panose="020B0503020204020204" pitchFamily="34" charset="-122"/>
                <a:ea typeface="微软雅黑" panose="020B0503020204020204" pitchFamily="34" charset="-122"/>
              </a:endParaRPr>
            </a:p>
          </p:txBody>
        </p:sp>
        <p:sp>
          <p:nvSpPr>
            <p:cNvPr id="17" name="KSO_Shape">
              <a:extLst>
                <a:ext uri="{FF2B5EF4-FFF2-40B4-BE49-F238E27FC236}">
                  <a16:creationId xmlns:a16="http://schemas.microsoft.com/office/drawing/2014/main" id="{4D984438-F2CB-49C5-B9E2-5325D21F869B}"/>
                </a:ext>
              </a:extLst>
            </p:cNvPr>
            <p:cNvSpPr/>
            <p:nvPr/>
          </p:nvSpPr>
          <p:spPr>
            <a:xfrm>
              <a:off x="967220" y="2130193"/>
              <a:ext cx="984726" cy="2089437"/>
            </a:xfrm>
            <a:prstGeom prst="roundRect">
              <a:avLst/>
            </a:prstGeom>
            <a:solidFill>
              <a:srgbClr val="BB1528"/>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lvl="2" indent="0" algn="ctr" eaLnBrk="1" hangingPunct="1">
                <a:lnSpc>
                  <a:spcPct val="150000"/>
                </a:lnSpc>
                <a:spcBef>
                  <a:spcPct val="40000"/>
                </a:spcBef>
                <a:buNone/>
              </a:pPr>
              <a:r>
                <a:rPr lang="zh-CN" altLang="en-US" sz="1800" b="0" dirty="0">
                  <a:latin typeface="微软雅黑" panose="020B0503020204020204" pitchFamily="34" charset="-122"/>
                  <a:ea typeface="微软雅黑" panose="020B0503020204020204" pitchFamily="34" charset="-122"/>
                </a:rPr>
                <a:t>资本供给的一个理论模型：跨期消费中的储蓄决策</a:t>
              </a:r>
              <a:endParaRPr lang="en-US" altLang="zh-CN" sz="1800" b="0" dirty="0">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3049765" y="1435433"/>
            <a:ext cx="1793661" cy="4057266"/>
            <a:chOff x="3049765" y="1435433"/>
            <a:chExt cx="1793661" cy="4057266"/>
          </a:xfrm>
        </p:grpSpPr>
        <p:sp>
          <p:nvSpPr>
            <p:cNvPr id="8" name="MH_SubTitle_2">
              <a:extLst>
                <a:ext uri="{FF2B5EF4-FFF2-40B4-BE49-F238E27FC236}">
                  <a16:creationId xmlns:a16="http://schemas.microsoft.com/office/drawing/2014/main" id="{C9FA3A9B-C20D-4DDA-9B1C-2AD0C35126DC}"/>
                </a:ext>
              </a:extLst>
            </p:cNvPr>
            <p:cNvSpPr txBox="1"/>
            <p:nvPr>
              <p:custDataLst>
                <p:tags r:id="rId5"/>
              </p:custDataLst>
            </p:nvPr>
          </p:nvSpPr>
          <p:spPr bwMode="auto">
            <a:xfrm>
              <a:off x="3359113" y="1435433"/>
              <a:ext cx="1484313"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b="0" dirty="0"/>
                <a:t>偏好</a:t>
              </a:r>
              <a:endParaRPr lang="zh-CN" altLang="en-US" dirty="0">
                <a:sym typeface="华文楷体" panose="02010600040101010101" pitchFamily="2" charset="-122"/>
              </a:endParaRPr>
            </a:p>
          </p:txBody>
        </p:sp>
        <p:sp>
          <p:nvSpPr>
            <p:cNvPr id="10" name="MH_Other_2">
              <a:extLst>
                <a:ext uri="{FF2B5EF4-FFF2-40B4-BE49-F238E27FC236}">
                  <a16:creationId xmlns:a16="http://schemas.microsoft.com/office/drawing/2014/main" id="{0A2F6743-5701-4A93-87EE-36497B21823B}"/>
                </a:ext>
              </a:extLst>
            </p:cNvPr>
            <p:cNvSpPr/>
            <p:nvPr>
              <p:custDataLst>
                <p:tags r:id="rId6"/>
              </p:custDataLst>
            </p:nvPr>
          </p:nvSpPr>
          <p:spPr bwMode="auto">
            <a:xfrm flipH="1">
              <a:off x="3049765" y="1577403"/>
              <a:ext cx="45719" cy="3915296"/>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mc:AlternateContent xmlns:mc="http://schemas.openxmlformats.org/markup-compatibility/2006" xmlns:a14="http://schemas.microsoft.com/office/drawing/2010/main">
          <mc:Choice Requires="a14">
            <p:sp>
              <p:nvSpPr>
                <p:cNvPr id="2" name="文本框 1"/>
                <p:cNvSpPr txBox="1"/>
                <p:nvPr/>
              </p:nvSpPr>
              <p:spPr>
                <a:xfrm>
                  <a:off x="3162394" y="2100847"/>
                  <a:ext cx="1490496" cy="2406813"/>
                </a:xfrm>
                <a:prstGeom prst="rect">
                  <a:avLst/>
                </a:prstGeom>
                <a:noFill/>
              </p:spPr>
              <p:txBody>
                <a:bodyPr wrap="square" rtlCol="0">
                  <a:spAutoFit/>
                </a:bodyPr>
                <a:lstStyle/>
                <a:p>
                  <a:pPr marL="285750" lvl="2" indent="-285750" eaLnBrk="1" hangingPunct="1">
                    <a:spcBef>
                      <a:spcPct val="40000"/>
                    </a:spcBef>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消费者（储蓄者）从今天和明天的消费中获得效用</a:t>
                  </a:r>
                  <a:endParaRPr lang="en-US" altLang="zh-CN" b="0" dirty="0">
                    <a:latin typeface="微软雅黑" panose="020B0503020204020204" pitchFamily="34" charset="-122"/>
                    <a:ea typeface="微软雅黑" panose="020B0503020204020204" pitchFamily="34" charset="-122"/>
                  </a:endParaRPr>
                </a:p>
                <a:p>
                  <a:pPr marL="0" lvl="2" indent="0" eaLnBrk="1" hangingPunct="1">
                    <a:spcBef>
                      <a:spcPct val="40000"/>
                    </a:spcBef>
                    <a:buNone/>
                  </a:pPr>
                  <a14:m>
                    <m:oMathPara xmlns:m="http://schemas.openxmlformats.org/officeDocument/2006/math">
                      <m:oMathParaPr>
                        <m:jc m:val="centerGroup"/>
                      </m:oMathParaPr>
                      <m:oMath xmlns:m="http://schemas.openxmlformats.org/officeDocument/2006/math">
                        <m:sSub>
                          <m:sSubPr>
                            <m:ctrlPr>
                              <a:rPr lang="en-US" altLang="zh-CN" b="0" i="1">
                                <a:latin typeface="Cambria Math" panose="02040503050406030204" pitchFamily="18" charset="0"/>
                                <a:ea typeface="微软雅黑" panose="020B0503020204020204" pitchFamily="34" charset="-122"/>
                              </a:rPr>
                            </m:ctrlPr>
                          </m:sSubPr>
                          <m:e>
                            <m:r>
                              <a:rPr lang="en-US" altLang="zh-CN" b="0">
                                <a:latin typeface="Cambria Math" panose="02040503050406030204" pitchFamily="18" charset="0"/>
                                <a:ea typeface="微软雅黑" panose="020B0503020204020204" pitchFamily="34" charset="-122"/>
                              </a:rPr>
                              <m:t>𝑈</m:t>
                            </m:r>
                            <m:r>
                              <a:rPr lang="en-US" altLang="zh-CN" b="0">
                                <a:latin typeface="Cambria Math" panose="02040503050406030204" pitchFamily="18" charset="0"/>
                                <a:ea typeface="微软雅黑" panose="020B0503020204020204" pitchFamily="34" charset="-122"/>
                              </a:rPr>
                              <m:t>(</m:t>
                            </m:r>
                            <m:r>
                              <a:rPr lang="en-US" altLang="zh-CN" b="0">
                                <a:latin typeface="Cambria Math" panose="02040503050406030204" pitchFamily="18" charset="0"/>
                                <a:ea typeface="微软雅黑" panose="020B0503020204020204" pitchFamily="34" charset="-122"/>
                              </a:rPr>
                              <m:t>𝐶</m:t>
                            </m:r>
                          </m:e>
                          <m:sub>
                            <m:r>
                              <a:rPr lang="en-US" altLang="zh-CN" b="0">
                                <a:latin typeface="Cambria Math" panose="02040503050406030204" pitchFamily="18" charset="0"/>
                                <a:ea typeface="微软雅黑" panose="020B0503020204020204" pitchFamily="34" charset="-122"/>
                              </a:rPr>
                              <m:t>0</m:t>
                            </m:r>
                          </m:sub>
                        </m:sSub>
                        <m:r>
                          <a:rPr lang="en-US" altLang="zh-CN" b="0">
                            <a:latin typeface="Cambria Math" panose="02040503050406030204" pitchFamily="18" charset="0"/>
                            <a:ea typeface="微软雅黑" panose="020B0503020204020204" pitchFamily="34" charset="-122"/>
                          </a:rPr>
                          <m:t>, </m:t>
                        </m:r>
                        <m:sSub>
                          <m:sSubPr>
                            <m:ctrlPr>
                              <a:rPr lang="en-US" altLang="zh-CN" b="0" i="1">
                                <a:latin typeface="Cambria Math" panose="02040503050406030204" pitchFamily="18" charset="0"/>
                                <a:ea typeface="微软雅黑" panose="020B0503020204020204" pitchFamily="34" charset="-122"/>
                              </a:rPr>
                            </m:ctrlPr>
                          </m:sSubPr>
                          <m:e>
                            <m:r>
                              <a:rPr lang="en-US" altLang="zh-CN" b="0">
                                <a:latin typeface="Cambria Math" panose="02040503050406030204" pitchFamily="18" charset="0"/>
                                <a:ea typeface="微软雅黑" panose="020B0503020204020204" pitchFamily="34" charset="-122"/>
                              </a:rPr>
                              <m:t>𝐶</m:t>
                            </m:r>
                          </m:e>
                          <m:sub>
                            <m:r>
                              <a:rPr lang="en-US" altLang="zh-CN" b="0">
                                <a:latin typeface="Cambria Math" panose="02040503050406030204" pitchFamily="18" charset="0"/>
                                <a:ea typeface="微软雅黑" panose="020B0503020204020204" pitchFamily="34" charset="-122"/>
                              </a:rPr>
                              <m:t>1</m:t>
                            </m:r>
                          </m:sub>
                        </m:sSub>
                        <m:r>
                          <a:rPr lang="en-US" altLang="zh-CN" b="0">
                            <a:latin typeface="Cambria Math" panose="02040503050406030204" pitchFamily="18" charset="0"/>
                            <a:ea typeface="微软雅黑" panose="020B0503020204020204" pitchFamily="34" charset="-122"/>
                          </a:rPr>
                          <m:t>)</m:t>
                        </m:r>
                      </m:oMath>
                    </m:oMathPara>
                  </a14:m>
                  <a:endParaRPr lang="en-US" altLang="zh-CN" b="0" dirty="0">
                    <a:latin typeface="微软雅黑" panose="020B0503020204020204" pitchFamily="34" charset="-122"/>
                    <a:ea typeface="微软雅黑" panose="020B0503020204020204" pitchFamily="34" charset="-122"/>
                  </a:endParaRPr>
                </a:p>
                <a:p>
                  <a:pPr marL="285750" lvl="2" indent="-285750" eaLnBrk="1" hangingPunct="1">
                    <a:spcBef>
                      <a:spcPct val="40000"/>
                    </a:spcBef>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无差异曲线的斜率为：</a:t>
                  </a:r>
                  <a14:m>
                    <m:oMath xmlns:m="http://schemas.openxmlformats.org/officeDocument/2006/math">
                      <m:sSub>
                        <m:sSubPr>
                          <m:ctrlPr>
                            <a:rPr lang="en-US" altLang="zh-CN" b="0" i="1">
                              <a:latin typeface="Cambria Math" panose="02040503050406030204" pitchFamily="18" charset="0"/>
                              <a:ea typeface="微软雅黑" panose="020B0503020204020204" pitchFamily="34" charset="-122"/>
                            </a:rPr>
                          </m:ctrlPr>
                        </m:sSubPr>
                        <m:e>
                          <m:r>
                            <a:rPr lang="en-US" altLang="zh-CN" b="0">
                              <a:latin typeface="Cambria Math" panose="02040503050406030204" pitchFamily="18" charset="0"/>
                              <a:ea typeface="微软雅黑" panose="020B0503020204020204" pitchFamily="34" charset="-122"/>
                            </a:rPr>
                            <m:t>𝑑𝐶</m:t>
                          </m:r>
                        </m:e>
                        <m:sub>
                          <m:r>
                            <a:rPr lang="en-US" altLang="zh-CN" b="0">
                              <a:latin typeface="Cambria Math" panose="02040503050406030204" pitchFamily="18" charset="0"/>
                              <a:ea typeface="微软雅黑" panose="020B0503020204020204" pitchFamily="34" charset="-122"/>
                            </a:rPr>
                            <m:t>1</m:t>
                          </m:r>
                        </m:sub>
                      </m:sSub>
                      <m:r>
                        <a:rPr lang="en-US" altLang="zh-CN" b="0">
                          <a:latin typeface="Cambria Math" panose="02040503050406030204" pitchFamily="18" charset="0"/>
                          <a:ea typeface="微软雅黑" panose="020B0503020204020204" pitchFamily="34" charset="-122"/>
                        </a:rPr>
                        <m:t>/</m:t>
                      </m:r>
                      <m:sSub>
                        <m:sSubPr>
                          <m:ctrlPr>
                            <a:rPr lang="en-US" altLang="zh-CN" b="0" i="1">
                              <a:latin typeface="Cambria Math" panose="02040503050406030204" pitchFamily="18" charset="0"/>
                              <a:ea typeface="微软雅黑" panose="020B0503020204020204" pitchFamily="34" charset="-122"/>
                            </a:rPr>
                          </m:ctrlPr>
                        </m:sSubPr>
                        <m:e>
                          <m:r>
                            <a:rPr lang="en-US" altLang="zh-CN" b="0">
                              <a:latin typeface="Cambria Math" panose="02040503050406030204" pitchFamily="18" charset="0"/>
                              <a:ea typeface="微软雅黑" panose="020B0503020204020204" pitchFamily="34" charset="-122"/>
                            </a:rPr>
                            <m:t>𝑑𝐶</m:t>
                          </m:r>
                        </m:e>
                        <m:sub>
                          <m:r>
                            <a:rPr lang="en-US" altLang="zh-CN" b="0">
                              <a:latin typeface="Cambria Math" panose="02040503050406030204" pitchFamily="18" charset="0"/>
                              <a:ea typeface="微软雅黑" panose="020B0503020204020204" pitchFamily="34" charset="-122"/>
                            </a:rPr>
                            <m:t>0</m:t>
                          </m:r>
                        </m:sub>
                      </m:sSub>
                    </m:oMath>
                  </a14:m>
                  <a:endParaRPr lang="zh-CN" altLang="en-US" b="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162394" y="2100847"/>
                  <a:ext cx="1490496" cy="2406813"/>
                </a:xfrm>
                <a:prstGeom prst="rect">
                  <a:avLst/>
                </a:prstGeom>
                <a:blipFill>
                  <a:blip r:embed="rId12"/>
                  <a:stretch>
                    <a:fillRect l="-1639" t="-761" r="-1230" b="-1015"/>
                  </a:stretch>
                </a:blipFill>
              </p:spPr>
              <p:txBody>
                <a:bodyPr/>
                <a:lstStyle/>
                <a:p>
                  <a:r>
                    <a:rPr lang="zh-CN" altLang="en-US">
                      <a:noFill/>
                    </a:rPr>
                    <a:t> </a:t>
                  </a:r>
                </a:p>
              </p:txBody>
            </p:sp>
          </mc:Fallback>
        </mc:AlternateContent>
      </p:grpSp>
      <p:sp>
        <p:nvSpPr>
          <p:cNvPr id="19" name="MH_SubTitle_3">
            <a:extLst>
              <a:ext uri="{FF2B5EF4-FFF2-40B4-BE49-F238E27FC236}">
                <a16:creationId xmlns:a16="http://schemas.microsoft.com/office/drawing/2014/main" id="{4FC8516E-8DC6-465B-9E9D-BD82563DAF92}"/>
              </a:ext>
            </a:extLst>
          </p:cNvPr>
          <p:cNvSpPr txBox="1"/>
          <p:nvPr>
            <p:custDataLst>
              <p:tags r:id="rId3"/>
            </p:custDataLst>
          </p:nvPr>
        </p:nvSpPr>
        <p:spPr bwMode="auto">
          <a:xfrm>
            <a:off x="7707995" y="1413971"/>
            <a:ext cx="1244620"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b="0" dirty="0"/>
              <a:t>选择</a:t>
            </a:r>
            <a:endParaRPr lang="zh-CN" altLang="en-US" dirty="0">
              <a:sym typeface="华文楷体" panose="02010600040101010101" pitchFamily="2" charset="-122"/>
            </a:endParaRPr>
          </a:p>
        </p:txBody>
      </p:sp>
      <p:sp>
        <p:nvSpPr>
          <p:cNvPr id="20" name="MH_Other_3">
            <a:extLst>
              <a:ext uri="{FF2B5EF4-FFF2-40B4-BE49-F238E27FC236}">
                <a16:creationId xmlns:a16="http://schemas.microsoft.com/office/drawing/2014/main" id="{1FE7FCDB-046B-4FBB-9C94-62F5D71092D0}"/>
              </a:ext>
            </a:extLst>
          </p:cNvPr>
          <p:cNvSpPr/>
          <p:nvPr>
            <p:custDataLst>
              <p:tags r:id="rId4"/>
            </p:custDataLst>
          </p:nvPr>
        </p:nvSpPr>
        <p:spPr bwMode="auto">
          <a:xfrm flipH="1">
            <a:off x="7526938" y="1494737"/>
            <a:ext cx="45719" cy="3915296"/>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3" name="文本框 2"/>
          <p:cNvSpPr txBox="1"/>
          <p:nvPr/>
        </p:nvSpPr>
        <p:spPr>
          <a:xfrm>
            <a:off x="7571610" y="2145074"/>
            <a:ext cx="1290638" cy="2653034"/>
          </a:xfrm>
          <a:prstGeom prst="rect">
            <a:avLst/>
          </a:prstGeom>
          <a:noFill/>
        </p:spPr>
        <p:txBody>
          <a:bodyPr wrap="square" rtlCol="0">
            <a:spAutoFit/>
          </a:bodyPr>
          <a:lstStyle/>
          <a:p>
            <a:pPr marL="285750" lvl="2" indent="-285750" eaLnBrk="1" hangingPunct="1">
              <a:spcBef>
                <a:spcPct val="40000"/>
              </a:spcBef>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约束条件下的最大化问题</a:t>
            </a:r>
            <a:endParaRPr lang="en-US" altLang="zh-CN" b="0" dirty="0">
              <a:latin typeface="微软雅黑" panose="020B0503020204020204" pitchFamily="34" charset="-122"/>
              <a:ea typeface="微软雅黑" panose="020B0503020204020204" pitchFamily="34" charset="-122"/>
            </a:endParaRPr>
          </a:p>
          <a:p>
            <a:pPr marL="285750" lvl="2" indent="-285750" algn="ctr" eaLnBrk="1" hangingPunct="1">
              <a:spcBef>
                <a:spcPct val="40000"/>
              </a:spcBef>
              <a:buFont typeface="Wingdings" panose="05000000000000000000" pitchFamily="2" charset="2"/>
              <a:buChar char="Ø"/>
            </a:pPr>
            <a:r>
              <a:rPr lang="en-US" altLang="zh-CN" b="0" dirty="0">
                <a:latin typeface="微软雅黑" panose="020B0503020204020204" pitchFamily="34" charset="-122"/>
                <a:ea typeface="微软雅黑" panose="020B0503020204020204" pitchFamily="34" charset="-122"/>
              </a:rPr>
              <a:t>F.O.C. </a:t>
            </a:r>
            <a:r>
              <a:rPr lang="zh-CN" altLang="en-US" b="0" dirty="0">
                <a:latin typeface="微软雅黑" panose="020B0503020204020204" pitchFamily="34" charset="-122"/>
                <a:ea typeface="微软雅黑" panose="020B0503020204020204" pitchFamily="34" charset="-122"/>
              </a:rPr>
              <a:t>：效用函数的斜率与预算约束线的斜率相等</a:t>
            </a:r>
            <a:endParaRPr lang="en-US" altLang="zh-CN" b="0"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61132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0178">
                                            <p:txEl>
                                              <p:pRg st="1" end="1"/>
                                            </p:txEl>
                                          </p:spTgt>
                                        </p:tgtEl>
                                        <p:attrNameLst>
                                          <p:attrName>style.visibility</p:attrName>
                                        </p:attrNameLst>
                                      </p:cBhvr>
                                      <p:to>
                                        <p:strVal val="visible"/>
                                      </p:to>
                                    </p:set>
                                    <p:animEffect transition="in" filter="wipe(down)">
                                      <p:cBhvr>
                                        <p:cTn id="30" dur="500"/>
                                        <p:tgtEl>
                                          <p:spTgt spid="50178">
                                            <p:txEl>
                                              <p:pRg st="1" end="1"/>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50178">
                                            <p:txEl>
                                              <p:pRg st="2" end="2"/>
                                            </p:txEl>
                                          </p:spTgt>
                                        </p:tgtEl>
                                        <p:attrNameLst>
                                          <p:attrName>style.visibility</p:attrName>
                                        </p:attrNameLst>
                                      </p:cBhvr>
                                      <p:to>
                                        <p:strVal val="visible"/>
                                      </p:to>
                                    </p:set>
                                    <p:animEffect transition="in" filter="wipe(down)">
                                      <p:cBhvr>
                                        <p:cTn id="33" dur="500"/>
                                        <p:tgtEl>
                                          <p:spTgt spid="50178">
                                            <p:txEl>
                                              <p:pRg st="2" end="2"/>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50178">
                                            <p:txEl>
                                              <p:pRg st="3" end="3"/>
                                            </p:txEl>
                                          </p:spTgt>
                                        </p:tgtEl>
                                        <p:attrNameLst>
                                          <p:attrName>style.visibility</p:attrName>
                                        </p:attrNameLst>
                                      </p:cBhvr>
                                      <p:to>
                                        <p:strVal val="visible"/>
                                      </p:to>
                                    </p:set>
                                    <p:animEffect transition="in" filter="wipe(down)">
                                      <p:cBhvr>
                                        <p:cTn id="36" dur="500"/>
                                        <p:tgtEl>
                                          <p:spTgt spid="50178">
                                            <p:txEl>
                                              <p:pRg st="3" end="3"/>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0178">
                                            <p:txEl>
                                              <p:pRg st="4" end="4"/>
                                            </p:txEl>
                                          </p:spTgt>
                                        </p:tgtEl>
                                        <p:attrNameLst>
                                          <p:attrName>style.visibility</p:attrName>
                                        </p:attrNameLst>
                                      </p:cBhvr>
                                      <p:to>
                                        <p:strVal val="visible"/>
                                      </p:to>
                                    </p:set>
                                    <p:animEffect transition="in" filter="wipe(down)">
                                      <p:cBhvr>
                                        <p:cTn id="39" dur="500"/>
                                        <p:tgtEl>
                                          <p:spTgt spid="50178">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down)">
                                      <p:cBhvr>
                                        <p:cTn id="44" dur="500"/>
                                        <p:tgtEl>
                                          <p:spTgt spid="19"/>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down)">
                                      <p:cBhvr>
                                        <p:cTn id="5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p:bldP spid="9" grpId="0" animBg="1"/>
      <p:bldP spid="11" grpId="0" animBg="1"/>
      <p:bldP spid="19" grpId="0" animBg="1"/>
      <p:bldP spid="20" grpId="0" animBg="1"/>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idx="4294967295"/>
          </p:nvPr>
        </p:nvSpPr>
        <p:spPr>
          <a:xfrm>
            <a:off x="582766" y="1238474"/>
            <a:ext cx="8892868" cy="505520"/>
          </a:xfrm>
          <a:ln/>
        </p:spPr>
        <p:txBody>
          <a:bodyPr/>
          <a:lstStyle/>
          <a:p>
            <a:pPr marL="342900" lvl="2" indent="-342900" eaLnBrk="1" hangingPunct="1">
              <a:spcBef>
                <a:spcPct val="40000"/>
              </a:spcBef>
              <a:buFont typeface="Wingdings" panose="05000000000000000000" pitchFamily="2" charset="2"/>
              <a:buChar char="u"/>
            </a:pPr>
            <a:r>
              <a:rPr lang="zh-CN" altLang="en-US" sz="2000" b="0" dirty="0">
                <a:solidFill>
                  <a:srgbClr val="000000"/>
                </a:solidFill>
                <a:latin typeface="微软雅黑" panose="020B0503020204020204" pitchFamily="34" charset="-122"/>
                <a:ea typeface="微软雅黑" panose="020B0503020204020204" pitchFamily="34" charset="-122"/>
              </a:rPr>
              <a:t>资本供给的一个理论模型：跨期消费中的储蓄决策</a:t>
            </a:r>
            <a:endParaRPr lang="en-US" altLang="zh-CN" sz="2000" b="0" dirty="0">
              <a:solidFill>
                <a:srgbClr val="000000"/>
              </a:solidFill>
              <a:latin typeface="微软雅黑" panose="020B0503020204020204" pitchFamily="34" charset="-122"/>
              <a:ea typeface="微软雅黑" panose="020B0503020204020204" pitchFamily="34" charset="-122"/>
            </a:endParaRPr>
          </a:p>
        </p:txBody>
      </p:sp>
      <p:sp>
        <p:nvSpPr>
          <p:cNvPr id="51230" name="圆角矩形标注 32"/>
          <p:cNvSpPr>
            <a:spLocks noChangeArrowheads="1"/>
          </p:cNvSpPr>
          <p:nvPr/>
        </p:nvSpPr>
        <p:spPr bwMode="auto">
          <a:xfrm>
            <a:off x="4613165" y="1865720"/>
            <a:ext cx="2143125" cy="1736646"/>
          </a:xfrm>
          <a:prstGeom prst="wedgeRoundRectCallout">
            <a:avLst>
              <a:gd name="adj1" fmla="val -47926"/>
              <a:gd name="adj2" fmla="val 73361"/>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横轴</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和纵轴</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C</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分别代表今年和明年消费的商品量</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U</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U</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2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U</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3</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是消费者有代表性的三条无差异曲线</a:t>
            </a:r>
          </a:p>
        </p:txBody>
      </p:sp>
      <p:sp>
        <p:nvSpPr>
          <p:cNvPr id="51231" name="圆角矩形标注 34"/>
          <p:cNvSpPr>
            <a:spLocks noChangeArrowheads="1"/>
          </p:cNvSpPr>
          <p:nvPr/>
        </p:nvSpPr>
        <p:spPr bwMode="auto">
          <a:xfrm>
            <a:off x="6843261" y="3335627"/>
            <a:ext cx="1857375" cy="2727484"/>
          </a:xfrm>
          <a:prstGeom prst="wedgeRoundRectCallout">
            <a:avLst>
              <a:gd name="adj1" fmla="val -147689"/>
              <a:gd name="adj2" fmla="val 21951"/>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预算线向右下方倾斜，倾斜程度完全由市场利率</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确定</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随着</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的增加而愈加陡峭。 随着利率的上升</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预算线将绕初始状态点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顺时针旋转</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反之则逆时针旋转。</a:t>
            </a:r>
            <a:endParaRPr lang="zh-CN" altLang="en-US" b="0" dirty="0">
              <a:solidFill>
                <a:srgbClr val="000000"/>
              </a:solidFill>
              <a:latin typeface="微软雅黑" panose="020B0503020204020204" pitchFamily="34" charset="-122"/>
              <a:ea typeface="微软雅黑" panose="020B0503020204020204" pitchFamily="34" charset="-122"/>
            </a:endParaRPr>
          </a:p>
        </p:txBody>
      </p:sp>
      <p:sp>
        <p:nvSpPr>
          <p:cNvPr id="51232" name="圆角矩形标注 36"/>
          <p:cNvSpPr>
            <a:spLocks noChangeArrowheads="1"/>
          </p:cNvSpPr>
          <p:nvPr/>
        </p:nvSpPr>
        <p:spPr bwMode="auto">
          <a:xfrm>
            <a:off x="355147" y="2807386"/>
            <a:ext cx="1357313" cy="2181761"/>
          </a:xfrm>
          <a:prstGeom prst="wedgeRoundRectCallout">
            <a:avLst>
              <a:gd name="adj1" fmla="val 169505"/>
              <a:gd name="adj2" fmla="val -1366"/>
              <a:gd name="adj3" fmla="val 16667"/>
            </a:avLst>
          </a:prstGeom>
          <a:noFill/>
          <a:ln w="28575">
            <a:solidFill>
              <a:schemeClr val="accent3">
                <a:lumMod val="50000"/>
              </a:schemeClr>
            </a:solidFill>
          </a:ln>
        </p:spPr>
        <p:txBody>
          <a:bodyPr wrap="squar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当利率为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预算线与无差异曲线的切点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决定了消费者在不同时期中的最优决策</a:t>
            </a:r>
            <a:endParaRPr lang="zh-CN" altLang="en-US" dirty="0">
              <a:latin typeface="微软雅黑" panose="020B0503020204020204" pitchFamily="34" charset="-122"/>
              <a:ea typeface="微软雅黑" panose="020B0503020204020204" pitchFamily="34" charset="-122"/>
            </a:endParaRPr>
          </a:p>
        </p:txBody>
      </p:sp>
      <p:sp>
        <p:nvSpPr>
          <p:cNvPr id="36"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37" name="矩形 36">
            <a:extLst>
              <a:ext uri="{FF2B5EF4-FFF2-40B4-BE49-F238E27FC236}">
                <a16:creationId xmlns:a16="http://schemas.microsoft.com/office/drawing/2014/main" id="{F68E5273-CD77-47B9-B841-9D29349C133D}"/>
              </a:ext>
            </a:extLst>
          </p:cNvPr>
          <p:cNvSpPr/>
          <p:nvPr/>
        </p:nvSpPr>
        <p:spPr>
          <a:xfrm>
            <a:off x="467544" y="548680"/>
            <a:ext cx="233910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二、资本的供给</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756910" y="2051419"/>
            <a:ext cx="5000625" cy="4209999"/>
            <a:chOff x="1756910" y="2051419"/>
            <a:chExt cx="5000625" cy="4209999"/>
          </a:xfrm>
        </p:grpSpPr>
        <p:sp>
          <p:nvSpPr>
            <p:cNvPr id="51203" name="Line 4"/>
            <p:cNvSpPr>
              <a:spLocks noChangeShapeType="1"/>
            </p:cNvSpPr>
            <p:nvPr/>
          </p:nvSpPr>
          <p:spPr bwMode="auto">
            <a:xfrm flipV="1">
              <a:off x="2282373" y="2211757"/>
              <a:ext cx="1587" cy="339090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04" name="Line 5"/>
            <p:cNvSpPr>
              <a:spLocks noChangeShapeType="1"/>
            </p:cNvSpPr>
            <p:nvPr/>
          </p:nvSpPr>
          <p:spPr bwMode="auto">
            <a:xfrm>
              <a:off x="2282373" y="5605832"/>
              <a:ext cx="4213225"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05" name="Text Box 6"/>
            <p:cNvSpPr>
              <a:spLocks noChangeArrowheads="1"/>
            </p:cNvSpPr>
            <p:nvPr/>
          </p:nvSpPr>
          <p:spPr bwMode="auto">
            <a:xfrm>
              <a:off x="1934710" y="5443907"/>
              <a:ext cx="37941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51206" name="Line 7"/>
            <p:cNvSpPr>
              <a:spLocks noChangeShapeType="1"/>
            </p:cNvSpPr>
            <p:nvPr/>
          </p:nvSpPr>
          <p:spPr bwMode="auto">
            <a:xfrm>
              <a:off x="2282373" y="2614982"/>
              <a:ext cx="3508375" cy="2990850"/>
            </a:xfrm>
            <a:prstGeom prst="line">
              <a:avLst/>
            </a:prstGeom>
            <a:noFill/>
            <a:ln w="19050"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07" name="Line 8"/>
            <p:cNvSpPr>
              <a:spLocks noChangeShapeType="1"/>
            </p:cNvSpPr>
            <p:nvPr/>
          </p:nvSpPr>
          <p:spPr bwMode="auto">
            <a:xfrm>
              <a:off x="2282373" y="4151682"/>
              <a:ext cx="1844675" cy="1587"/>
            </a:xfrm>
            <a:prstGeom prst="line">
              <a:avLst/>
            </a:prstGeom>
            <a:noFill/>
            <a:ln w="9525" cmpd="sng">
              <a:solidFill>
                <a:srgbClr val="C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08" name="Line 9"/>
            <p:cNvSpPr>
              <a:spLocks noChangeShapeType="1"/>
            </p:cNvSpPr>
            <p:nvPr/>
          </p:nvSpPr>
          <p:spPr bwMode="auto">
            <a:xfrm>
              <a:off x="4127048" y="4151682"/>
              <a:ext cx="1587" cy="145573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09" name="Text Box 10"/>
            <p:cNvSpPr>
              <a:spLocks noChangeArrowheads="1"/>
            </p:cNvSpPr>
            <p:nvPr/>
          </p:nvSpPr>
          <p:spPr bwMode="auto">
            <a:xfrm>
              <a:off x="6057448" y="3100757"/>
              <a:ext cx="3746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51210" name="Text Box 11"/>
            <p:cNvSpPr>
              <a:spLocks noChangeArrowheads="1"/>
            </p:cNvSpPr>
            <p:nvPr/>
          </p:nvSpPr>
          <p:spPr bwMode="auto">
            <a:xfrm>
              <a:off x="2120448" y="3384919"/>
              <a:ext cx="37941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51211" name="Text Box 12"/>
            <p:cNvSpPr>
              <a:spLocks noChangeArrowheads="1"/>
            </p:cNvSpPr>
            <p:nvPr/>
          </p:nvSpPr>
          <p:spPr bwMode="auto">
            <a:xfrm>
              <a:off x="4127048" y="3826244"/>
              <a:ext cx="69215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sz="1000">
                <a:solidFill>
                  <a:srgbClr val="000000"/>
                </a:solidFill>
                <a:sym typeface="Arial" panose="020B0604020202020204" pitchFamily="34" charset="0"/>
              </a:endParaRPr>
            </a:p>
          </p:txBody>
        </p:sp>
        <p:sp>
          <p:nvSpPr>
            <p:cNvPr id="51212" name="Text Box 13"/>
            <p:cNvSpPr>
              <a:spLocks noChangeArrowheads="1"/>
            </p:cNvSpPr>
            <p:nvPr/>
          </p:nvSpPr>
          <p:spPr bwMode="auto">
            <a:xfrm>
              <a:off x="5616123" y="5605832"/>
              <a:ext cx="5810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51213" name="Text Box 14"/>
            <p:cNvSpPr>
              <a:spLocks noChangeArrowheads="1"/>
            </p:cNvSpPr>
            <p:nvPr/>
          </p:nvSpPr>
          <p:spPr bwMode="auto">
            <a:xfrm>
              <a:off x="4652510" y="5120057"/>
              <a:ext cx="4953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1</a:t>
              </a:r>
              <a:endParaRPr lang="zh-CN" altLang="en-US"/>
            </a:p>
          </p:txBody>
        </p:sp>
        <p:sp>
          <p:nvSpPr>
            <p:cNvPr id="51214" name="Text Box 15"/>
            <p:cNvSpPr>
              <a:spLocks noChangeArrowheads="1"/>
            </p:cNvSpPr>
            <p:nvPr/>
          </p:nvSpPr>
          <p:spPr bwMode="auto">
            <a:xfrm>
              <a:off x="5443085" y="4556494"/>
              <a:ext cx="53816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2</a:t>
              </a:r>
              <a:endParaRPr lang="zh-CN" altLang="en-US"/>
            </a:p>
          </p:txBody>
        </p:sp>
        <p:sp>
          <p:nvSpPr>
            <p:cNvPr id="51215" name="Text Box 16"/>
            <p:cNvSpPr>
              <a:spLocks noChangeArrowheads="1"/>
            </p:cNvSpPr>
            <p:nvPr/>
          </p:nvSpPr>
          <p:spPr bwMode="auto">
            <a:xfrm>
              <a:off x="6057448" y="4070719"/>
              <a:ext cx="700087"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U</a:t>
              </a:r>
              <a:r>
                <a:rPr lang="zh-CN" altLang="en-US" sz="1000">
                  <a:solidFill>
                    <a:srgbClr val="000000"/>
                  </a:solidFill>
                  <a:sym typeface="Arial" panose="020B0604020202020204" pitchFamily="34" charset="0"/>
                </a:rPr>
                <a:t>3</a:t>
              </a:r>
              <a:endParaRPr lang="zh-CN" altLang="en-US"/>
            </a:p>
          </p:txBody>
        </p:sp>
        <p:sp>
          <p:nvSpPr>
            <p:cNvPr id="51216" name="Text Box 17"/>
            <p:cNvSpPr>
              <a:spLocks noChangeArrowheads="1"/>
            </p:cNvSpPr>
            <p:nvPr/>
          </p:nvSpPr>
          <p:spPr bwMode="auto">
            <a:xfrm>
              <a:off x="1756910" y="2373682"/>
              <a:ext cx="638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en-US" altLang="zh-CN" dirty="0">
                  <a:solidFill>
                    <a:srgbClr val="000000"/>
                  </a:solidFill>
                  <a:sym typeface="Arial" panose="020B0604020202020204" pitchFamily="34" charset="0"/>
                </a:rPr>
                <a:t>’</a:t>
              </a:r>
              <a:endParaRPr lang="zh-CN" altLang="en-US" dirty="0">
                <a:solidFill>
                  <a:srgbClr val="0066FF"/>
                </a:solidFill>
                <a:sym typeface="Arial" panose="020B0604020202020204" pitchFamily="34" charset="0"/>
              </a:endParaRPr>
            </a:p>
          </p:txBody>
        </p:sp>
        <p:sp>
          <p:nvSpPr>
            <p:cNvPr id="51217" name="未知"/>
            <p:cNvSpPr>
              <a:spLocks noChangeArrowheads="1"/>
            </p:cNvSpPr>
            <p:nvPr/>
          </p:nvSpPr>
          <p:spPr bwMode="auto">
            <a:xfrm>
              <a:off x="3641273" y="3043607"/>
              <a:ext cx="1817687" cy="1655762"/>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395" y="1727"/>
                    <a:pt x="1020" y="7559"/>
                    <a:pt x="2398" y="10354"/>
                  </a:cubicBezTo>
                  <a:cubicBezTo>
                    <a:pt x="3777" y="13149"/>
                    <a:pt x="5092" y="14876"/>
                    <a:pt x="8290" y="16752"/>
                  </a:cubicBezTo>
                  <a:cubicBezTo>
                    <a:pt x="11489" y="18628"/>
                    <a:pt x="19384" y="20792"/>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51218" name="未知"/>
            <p:cNvSpPr>
              <a:spLocks noChangeArrowheads="1"/>
            </p:cNvSpPr>
            <p:nvPr/>
          </p:nvSpPr>
          <p:spPr bwMode="auto">
            <a:xfrm>
              <a:off x="2898323" y="3584944"/>
              <a:ext cx="1817687" cy="1658938"/>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395" y="1727"/>
                    <a:pt x="1020" y="7559"/>
                    <a:pt x="2398" y="10354"/>
                  </a:cubicBezTo>
                  <a:cubicBezTo>
                    <a:pt x="3777" y="13149"/>
                    <a:pt x="5092" y="14876"/>
                    <a:pt x="8290" y="16752"/>
                  </a:cubicBezTo>
                  <a:cubicBezTo>
                    <a:pt x="11489" y="18628"/>
                    <a:pt x="19384" y="20792"/>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51219" name="未知"/>
            <p:cNvSpPr>
              <a:spLocks noChangeArrowheads="1"/>
            </p:cNvSpPr>
            <p:nvPr/>
          </p:nvSpPr>
          <p:spPr bwMode="auto">
            <a:xfrm>
              <a:off x="4301673" y="2537194"/>
              <a:ext cx="1817687" cy="1655763"/>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395" y="1727"/>
                    <a:pt x="1020" y="7559"/>
                    <a:pt x="2398" y="10354"/>
                  </a:cubicBezTo>
                  <a:cubicBezTo>
                    <a:pt x="3777" y="13149"/>
                    <a:pt x="5092" y="14876"/>
                    <a:pt x="8290" y="16752"/>
                  </a:cubicBezTo>
                  <a:cubicBezTo>
                    <a:pt x="11489" y="18628"/>
                    <a:pt x="19384" y="20792"/>
                    <a:pt x="2160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51220" name="Line 21"/>
            <p:cNvSpPr>
              <a:spLocks noChangeShapeType="1"/>
            </p:cNvSpPr>
            <p:nvPr/>
          </p:nvSpPr>
          <p:spPr bwMode="auto">
            <a:xfrm flipH="1">
              <a:off x="4652510" y="4635869"/>
              <a:ext cx="0" cy="97155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1221" name="Line 22"/>
            <p:cNvSpPr>
              <a:spLocks noChangeShapeType="1"/>
            </p:cNvSpPr>
            <p:nvPr/>
          </p:nvSpPr>
          <p:spPr bwMode="auto">
            <a:xfrm flipH="1">
              <a:off x="2283960" y="4635869"/>
              <a:ext cx="2368550"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pic>
          <p:nvPicPr>
            <p:cNvPr id="51222" name="Object 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4460" y="2575294"/>
              <a:ext cx="29368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3" name="Text Box 24"/>
            <p:cNvSpPr>
              <a:spLocks noChangeArrowheads="1"/>
            </p:cNvSpPr>
            <p:nvPr/>
          </p:nvSpPr>
          <p:spPr bwMode="auto">
            <a:xfrm>
              <a:off x="4355648" y="4556494"/>
              <a:ext cx="3794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pic>
          <p:nvPicPr>
            <p:cNvPr id="51224" name="Object 2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0835" y="5605832"/>
              <a:ext cx="30797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5" name="Object 2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34710" y="3988169"/>
              <a:ext cx="2921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6" name="Object 2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34710" y="4473944"/>
              <a:ext cx="30797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7" name="Object 2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34710" y="2051419"/>
              <a:ext cx="2921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8" name="Object 2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19385" y="5605832"/>
              <a:ext cx="3079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9" name="Object 3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77885" y="5605832"/>
              <a:ext cx="3095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p:cNvGraphicFramePr>
              <a:graphicFrameLocks noChangeAspect="1"/>
            </p:cNvGraphicFramePr>
            <p:nvPr>
              <p:extLst>
                <p:ext uri="{D42A27DB-BD31-4B8C-83A1-F6EECF244321}">
                  <p14:modId xmlns:p14="http://schemas.microsoft.com/office/powerpoint/2010/main" val="2642226257"/>
                </p:ext>
              </p:extLst>
            </p:nvPr>
          </p:nvGraphicFramePr>
          <p:xfrm>
            <a:off x="2470273" y="2436166"/>
            <a:ext cx="1489385" cy="297877"/>
          </p:xfrm>
          <a:graphic>
            <a:graphicData uri="http://schemas.openxmlformats.org/presentationml/2006/ole">
              <mc:AlternateContent xmlns:mc="http://schemas.openxmlformats.org/markup-compatibility/2006">
                <mc:Choice xmlns:v="urn:schemas-microsoft-com:vml" Requires="v">
                  <p:oleObj spid="_x0000_s46334" name="Equation" r:id="rId10" imgW="1206360" imgH="241200" progId="Equation.3">
                    <p:embed/>
                  </p:oleObj>
                </mc:Choice>
                <mc:Fallback>
                  <p:oleObj name="Equation" r:id="rId10" imgW="1206360" imgH="241200" progId="Equation.3">
                    <p:embed/>
                    <p:pic>
                      <p:nvPicPr>
                        <p:cNvPr id="0" name=""/>
                        <p:cNvPicPr/>
                        <p:nvPr/>
                      </p:nvPicPr>
                      <p:blipFill>
                        <a:blip r:embed="rId11"/>
                        <a:stretch>
                          <a:fillRect/>
                        </a:stretch>
                      </p:blipFill>
                      <p:spPr>
                        <a:xfrm>
                          <a:off x="2470273" y="2436166"/>
                          <a:ext cx="1489385" cy="297877"/>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1276537487"/>
                </p:ext>
              </p:extLst>
            </p:nvPr>
          </p:nvGraphicFramePr>
          <p:xfrm>
            <a:off x="5294653" y="5742305"/>
            <a:ext cx="1112838" cy="519113"/>
          </p:xfrm>
          <a:graphic>
            <a:graphicData uri="http://schemas.openxmlformats.org/presentationml/2006/ole">
              <mc:AlternateContent xmlns:mc="http://schemas.openxmlformats.org/markup-compatibility/2006">
                <mc:Choice xmlns:v="urn:schemas-microsoft-com:vml" Requires="v">
                  <p:oleObj spid="_x0000_s46335" name="Equation" r:id="rId12" imgW="901440" imgH="419040" progId="Equation.3">
                    <p:embed/>
                  </p:oleObj>
                </mc:Choice>
                <mc:Fallback>
                  <p:oleObj name="Equation" r:id="rId12" imgW="901440" imgH="419040" progId="Equation.3">
                    <p:embed/>
                    <p:pic>
                      <p:nvPicPr>
                        <p:cNvPr id="4" name="对象 3"/>
                        <p:cNvPicPr/>
                        <p:nvPr/>
                      </p:nvPicPr>
                      <p:blipFill>
                        <a:blip r:embed="rId13"/>
                        <a:stretch>
                          <a:fillRect/>
                        </a:stretch>
                      </p:blipFill>
                      <p:spPr>
                        <a:xfrm>
                          <a:off x="5294653" y="5742305"/>
                          <a:ext cx="1112838" cy="519113"/>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p:cBhvr>
                                        <p:cTn id="7" dur="2000"/>
                                        <p:tgtEl>
                                          <p:spTgt spid="51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1232"/>
                                        </p:tgtEl>
                                        <p:attrNameLst>
                                          <p:attrName>style.visibility</p:attrName>
                                        </p:attrNameLst>
                                      </p:cBhvr>
                                      <p:to>
                                        <p:strVal val="visible"/>
                                      </p:to>
                                    </p:set>
                                    <p:animEffect transition="in" filter="fade">
                                      <p:cBhvr>
                                        <p:cTn id="19" dur="1000"/>
                                        <p:tgtEl>
                                          <p:spTgt spid="51232"/>
                                        </p:tgtEl>
                                      </p:cBhvr>
                                    </p:animEffect>
                                    <p:anim calcmode="lin" valueType="num">
                                      <p:cBhvr>
                                        <p:cTn id="20" dur="1000" fill="hold"/>
                                        <p:tgtEl>
                                          <p:spTgt spid="51232"/>
                                        </p:tgtEl>
                                        <p:attrNameLst>
                                          <p:attrName>ppt_x</p:attrName>
                                        </p:attrNameLst>
                                      </p:cBhvr>
                                      <p:tavLst>
                                        <p:tav tm="0">
                                          <p:val>
                                            <p:strVal val="#ppt_x"/>
                                          </p:val>
                                        </p:tav>
                                        <p:tav tm="100000">
                                          <p:val>
                                            <p:strVal val="#ppt_x"/>
                                          </p:val>
                                        </p:tav>
                                      </p:tavLst>
                                    </p:anim>
                                    <p:anim calcmode="lin" valueType="num">
                                      <p:cBhvr>
                                        <p:cTn id="21" dur="1000" fill="hold"/>
                                        <p:tgtEl>
                                          <p:spTgt spid="5123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1230"/>
                                        </p:tgtEl>
                                        <p:attrNameLst>
                                          <p:attrName>style.visibility</p:attrName>
                                        </p:attrNameLst>
                                      </p:cBhvr>
                                      <p:to>
                                        <p:strVal val="visible"/>
                                      </p:to>
                                    </p:set>
                                    <p:animEffect transition="in" filter="fade">
                                      <p:cBhvr>
                                        <p:cTn id="26" dur="1000"/>
                                        <p:tgtEl>
                                          <p:spTgt spid="51230"/>
                                        </p:tgtEl>
                                      </p:cBhvr>
                                    </p:animEffect>
                                    <p:anim calcmode="lin" valueType="num">
                                      <p:cBhvr>
                                        <p:cTn id="27" dur="1000" fill="hold"/>
                                        <p:tgtEl>
                                          <p:spTgt spid="51230"/>
                                        </p:tgtEl>
                                        <p:attrNameLst>
                                          <p:attrName>ppt_x</p:attrName>
                                        </p:attrNameLst>
                                      </p:cBhvr>
                                      <p:tavLst>
                                        <p:tav tm="0">
                                          <p:val>
                                            <p:strVal val="#ppt_x"/>
                                          </p:val>
                                        </p:tav>
                                        <p:tav tm="100000">
                                          <p:val>
                                            <p:strVal val="#ppt_x"/>
                                          </p:val>
                                        </p:tav>
                                      </p:tavLst>
                                    </p:anim>
                                    <p:anim calcmode="lin" valueType="num">
                                      <p:cBhvr>
                                        <p:cTn id="28" dur="1000" fill="hold"/>
                                        <p:tgtEl>
                                          <p:spTgt spid="5123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1231"/>
                                        </p:tgtEl>
                                        <p:attrNameLst>
                                          <p:attrName>style.visibility</p:attrName>
                                        </p:attrNameLst>
                                      </p:cBhvr>
                                      <p:to>
                                        <p:strVal val="visible"/>
                                      </p:to>
                                    </p:set>
                                    <p:animEffect transition="in" filter="fade">
                                      <p:cBhvr>
                                        <p:cTn id="33" dur="1000"/>
                                        <p:tgtEl>
                                          <p:spTgt spid="51231"/>
                                        </p:tgtEl>
                                      </p:cBhvr>
                                    </p:animEffect>
                                    <p:anim calcmode="lin" valueType="num">
                                      <p:cBhvr>
                                        <p:cTn id="34" dur="1000" fill="hold"/>
                                        <p:tgtEl>
                                          <p:spTgt spid="51231"/>
                                        </p:tgtEl>
                                        <p:attrNameLst>
                                          <p:attrName>ppt_x</p:attrName>
                                        </p:attrNameLst>
                                      </p:cBhvr>
                                      <p:tavLst>
                                        <p:tav tm="0">
                                          <p:val>
                                            <p:strVal val="#ppt_x"/>
                                          </p:val>
                                        </p:tav>
                                        <p:tav tm="100000">
                                          <p:val>
                                            <p:strVal val="#ppt_x"/>
                                          </p:val>
                                        </p:tav>
                                      </p:tavLst>
                                    </p:anim>
                                    <p:anim calcmode="lin" valueType="num">
                                      <p:cBhvr>
                                        <p:cTn id="35" dur="1000" fill="hold"/>
                                        <p:tgtEl>
                                          <p:spTgt spid="512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0" grpId="0" animBg="1"/>
      <p:bldP spid="51231" grpId="0" animBg="1"/>
      <p:bldP spid="5123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4294967295"/>
          </p:nvPr>
        </p:nvSpPr>
        <p:spPr>
          <a:xfrm>
            <a:off x="457200" y="1269820"/>
            <a:ext cx="2242670" cy="484187"/>
          </a:xfrm>
          <a:ln/>
        </p:spPr>
        <p:txBody>
          <a:bodyPr/>
          <a:lstStyle/>
          <a:p>
            <a:pPr marL="342900" lvl="2" indent="-342900" eaLnBrk="1" hangingPunct="1">
              <a:buFont typeface="Wingdings" panose="05000000000000000000" pitchFamily="2" charset="2"/>
              <a:buChar char="u"/>
            </a:pPr>
            <a:r>
              <a:rPr lang="zh-CN" altLang="zh-CN" sz="2000" b="0" dirty="0">
                <a:solidFill>
                  <a:srgbClr val="000000"/>
                </a:solidFill>
                <a:latin typeface="微软雅黑" panose="020B0503020204020204" pitchFamily="34" charset="-122"/>
                <a:ea typeface="微软雅黑" panose="020B0503020204020204" pitchFamily="34" charset="-122"/>
              </a:rPr>
              <a:t>贷款供给曲线</a:t>
            </a:r>
          </a:p>
        </p:txBody>
      </p:sp>
      <p:sp>
        <p:nvSpPr>
          <p:cNvPr id="52232" name="Text Box 9"/>
          <p:cNvSpPr>
            <a:spLocks noChangeArrowheads="1"/>
          </p:cNvSpPr>
          <p:nvPr/>
        </p:nvSpPr>
        <p:spPr bwMode="auto">
          <a:xfrm>
            <a:off x="1703892" y="4053621"/>
            <a:ext cx="61436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52233" name="Text Box 10"/>
          <p:cNvSpPr>
            <a:spLocks noChangeArrowheads="1"/>
          </p:cNvSpPr>
          <p:nvPr/>
        </p:nvSpPr>
        <p:spPr bwMode="auto">
          <a:xfrm>
            <a:off x="6414004" y="2807433"/>
            <a:ext cx="3921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52234" name="Text Box 11"/>
          <p:cNvSpPr>
            <a:spLocks noChangeArrowheads="1"/>
          </p:cNvSpPr>
          <p:nvPr/>
        </p:nvSpPr>
        <p:spPr bwMode="auto">
          <a:xfrm>
            <a:off x="2329367" y="3134458"/>
            <a:ext cx="3921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grpSp>
        <p:nvGrpSpPr>
          <p:cNvPr id="3" name="组合 2"/>
          <p:cNvGrpSpPr/>
          <p:nvPr/>
        </p:nvGrpSpPr>
        <p:grpSpPr>
          <a:xfrm>
            <a:off x="2135692" y="1973996"/>
            <a:ext cx="4854575" cy="4141787"/>
            <a:chOff x="1703662" y="1973996"/>
            <a:chExt cx="4854575" cy="4141787"/>
          </a:xfrm>
        </p:grpSpPr>
        <p:sp>
          <p:nvSpPr>
            <p:cNvPr id="52229" name="Text Box 6"/>
            <p:cNvSpPr>
              <a:spLocks noChangeArrowheads="1"/>
            </p:cNvSpPr>
            <p:nvPr/>
          </p:nvSpPr>
          <p:spPr bwMode="auto">
            <a:xfrm>
              <a:off x="1703662" y="1973996"/>
              <a:ext cx="7286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r</a:t>
              </a:r>
              <a:endParaRPr lang="zh-CN" altLang="en-US" dirty="0"/>
            </a:p>
          </p:txBody>
        </p:sp>
        <p:grpSp>
          <p:nvGrpSpPr>
            <p:cNvPr id="2" name="组合 1"/>
            <p:cNvGrpSpPr/>
            <p:nvPr/>
          </p:nvGrpSpPr>
          <p:grpSpPr>
            <a:xfrm>
              <a:off x="1703662" y="2067658"/>
              <a:ext cx="4854575" cy="4048125"/>
              <a:chOff x="1703662" y="2067658"/>
              <a:chExt cx="4854575" cy="4048125"/>
            </a:xfrm>
          </p:grpSpPr>
          <p:sp>
            <p:nvSpPr>
              <p:cNvPr id="52227" name="Line 4"/>
              <p:cNvSpPr>
                <a:spLocks noChangeShapeType="1"/>
              </p:cNvSpPr>
              <p:nvPr/>
            </p:nvSpPr>
            <p:spPr bwMode="auto">
              <a:xfrm flipV="1">
                <a:off x="2068787" y="2067658"/>
                <a:ext cx="1587" cy="361315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2228" name="Line 5"/>
              <p:cNvSpPr>
                <a:spLocks noChangeShapeType="1"/>
              </p:cNvSpPr>
              <p:nvPr/>
            </p:nvSpPr>
            <p:spPr bwMode="auto">
              <a:xfrm>
                <a:off x="2068787" y="5682396"/>
                <a:ext cx="4278312"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2230" name="Text Box 7"/>
              <p:cNvSpPr>
                <a:spLocks noChangeArrowheads="1"/>
              </p:cNvSpPr>
              <p:nvPr/>
            </p:nvSpPr>
            <p:spPr bwMode="auto">
              <a:xfrm>
                <a:off x="1703662" y="5498246"/>
                <a:ext cx="393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52231" name="Text Box 8"/>
              <p:cNvSpPr>
                <a:spLocks noChangeArrowheads="1"/>
              </p:cNvSpPr>
              <p:nvPr/>
            </p:nvSpPr>
            <p:spPr bwMode="auto">
              <a:xfrm>
                <a:off x="6164537" y="5683983"/>
                <a:ext cx="393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a:p>
            </p:txBody>
          </p:sp>
          <p:sp>
            <p:nvSpPr>
              <p:cNvPr id="52235" name="Text Box 12"/>
              <p:cNvSpPr>
                <a:spLocks noChangeArrowheads="1"/>
              </p:cNvSpPr>
              <p:nvPr/>
            </p:nvSpPr>
            <p:spPr bwMode="auto">
              <a:xfrm>
                <a:off x="5435874" y="2159733"/>
                <a:ext cx="8191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r>
                  <a:rPr lang="zh-CN" altLang="en-US" sz="1200">
                    <a:solidFill>
                      <a:srgbClr val="000000"/>
                    </a:solidFill>
                    <a:sym typeface="Arial" panose="020B0604020202020204" pitchFamily="34" charset="0"/>
                  </a:rPr>
                  <a:t>(r)</a:t>
                </a:r>
                <a:endParaRPr lang="zh-CN" altLang="en-US">
                  <a:solidFill>
                    <a:srgbClr val="000000"/>
                  </a:solidFill>
                  <a:sym typeface="Arial" panose="020B0604020202020204" pitchFamily="34" charset="0"/>
                </a:endParaRPr>
              </a:p>
            </p:txBody>
          </p:sp>
          <p:sp>
            <p:nvSpPr>
              <p:cNvPr id="52236" name="未知"/>
              <p:cNvSpPr>
                <a:spLocks noChangeArrowheads="1"/>
              </p:cNvSpPr>
              <p:nvPr/>
            </p:nvSpPr>
            <p:spPr bwMode="auto">
              <a:xfrm rot="21300000">
                <a:off x="3799162" y="2345471"/>
                <a:ext cx="1781175" cy="2522537"/>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012" y="0"/>
                    </a:moveTo>
                    <a:cubicBezTo>
                      <a:pt x="15781" y="916"/>
                      <a:pt x="18554" y="3716"/>
                      <a:pt x="19634" y="5487"/>
                    </a:cubicBezTo>
                    <a:cubicBezTo>
                      <a:pt x="20714" y="7258"/>
                      <a:pt x="21366" y="8945"/>
                      <a:pt x="21483" y="10632"/>
                    </a:cubicBezTo>
                    <a:cubicBezTo>
                      <a:pt x="21600" y="12318"/>
                      <a:pt x="21522" y="14124"/>
                      <a:pt x="20325" y="15622"/>
                    </a:cubicBezTo>
                    <a:cubicBezTo>
                      <a:pt x="19128" y="17120"/>
                      <a:pt x="17708" y="18611"/>
                      <a:pt x="14322" y="19605"/>
                    </a:cubicBezTo>
                    <a:cubicBezTo>
                      <a:pt x="10936" y="20599"/>
                      <a:pt x="2383" y="21271"/>
                      <a:pt x="0" y="21600"/>
                    </a:cubicBezTo>
                  </a:path>
                </a:pathLst>
              </a:custGeom>
              <a:noFill/>
              <a:ln w="28575" cmpd="sng">
                <a:solidFill>
                  <a:srgbClr val="2D2D8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grpSp>
      </p:grpSp>
      <p:sp>
        <p:nvSpPr>
          <p:cNvPr id="52237" name="圆角矩形标注 13"/>
          <p:cNvSpPr>
            <a:spLocks noChangeArrowheads="1"/>
          </p:cNvSpPr>
          <p:nvPr/>
        </p:nvSpPr>
        <p:spPr bwMode="auto">
          <a:xfrm>
            <a:off x="2638576" y="1210389"/>
            <a:ext cx="2643188" cy="2043113"/>
          </a:xfrm>
          <a:prstGeom prst="wedgeRoundRectCallout">
            <a:avLst>
              <a:gd name="adj1" fmla="val 57690"/>
              <a:gd name="adj2" fmla="val 82556"/>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一般来说</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储蓄会随利率的上升而增加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从而储蓄或贷款供给曲线向右上方倾斜。 但是</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当利率处于很高水平时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贷款曲线亦可能出现向后弯曲的现象</a:t>
            </a:r>
            <a:r>
              <a:rPr lang="zh-CN" altLang="en-US" b="0" dirty="0">
                <a:solidFill>
                  <a:srgbClr val="000000"/>
                </a:solidFill>
                <a:sym typeface="Arial" panose="020B0604020202020204" pitchFamily="34" charset="0"/>
              </a:rPr>
              <a:t>。</a:t>
            </a:r>
            <a:endParaRPr lang="zh-CN" altLang="en-US" dirty="0"/>
          </a:p>
        </p:txBody>
      </p:sp>
      <p:sp>
        <p:nvSpPr>
          <p:cNvPr id="15"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16" name="矩形 15">
            <a:extLst>
              <a:ext uri="{FF2B5EF4-FFF2-40B4-BE49-F238E27FC236}">
                <a16:creationId xmlns:a16="http://schemas.microsoft.com/office/drawing/2014/main" id="{F68E5273-CD77-47B9-B841-9D29349C133D}"/>
              </a:ext>
            </a:extLst>
          </p:cNvPr>
          <p:cNvSpPr/>
          <p:nvPr/>
        </p:nvSpPr>
        <p:spPr>
          <a:xfrm>
            <a:off x="467544" y="548680"/>
            <a:ext cx="233910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二、资本的供给</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p:cBhvr>
                                        <p:cTn id="7" dur="500"/>
                                        <p:tgtEl>
                                          <p:spTgt spid="522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2237"/>
                                        </p:tgtEl>
                                        <p:attrNameLst>
                                          <p:attrName>style.visibility</p:attrName>
                                        </p:attrNameLst>
                                      </p:cBhvr>
                                      <p:to>
                                        <p:strVal val="visible"/>
                                      </p:to>
                                    </p:set>
                                    <p:animEffect transition="in" filter="fade">
                                      <p:cBhvr>
                                        <p:cTn id="19" dur="1000"/>
                                        <p:tgtEl>
                                          <p:spTgt spid="52237"/>
                                        </p:tgtEl>
                                      </p:cBhvr>
                                    </p:animEffect>
                                    <p:anim calcmode="lin" valueType="num">
                                      <p:cBhvr>
                                        <p:cTn id="20" dur="1000" fill="hold"/>
                                        <p:tgtEl>
                                          <p:spTgt spid="52237"/>
                                        </p:tgtEl>
                                        <p:attrNameLst>
                                          <p:attrName>ppt_x</p:attrName>
                                        </p:attrNameLst>
                                      </p:cBhvr>
                                      <p:tavLst>
                                        <p:tav tm="0">
                                          <p:val>
                                            <p:strVal val="#ppt_x"/>
                                          </p:val>
                                        </p:tav>
                                        <p:tav tm="100000">
                                          <p:val>
                                            <p:strVal val="#ppt_x"/>
                                          </p:val>
                                        </p:tav>
                                      </p:tavLst>
                                    </p:anim>
                                    <p:anim calcmode="lin" valueType="num">
                                      <p:cBhvr>
                                        <p:cTn id="21" dur="1000" fill="hold"/>
                                        <p:tgtEl>
                                          <p:spTgt spid="522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a:xfrm>
            <a:off x="1187039" y="4221055"/>
            <a:ext cx="7416515" cy="756377"/>
          </a:xfrm>
          <a:ln/>
        </p:spPr>
        <p:txBody>
          <a:bodyPr/>
          <a:lstStyle/>
          <a:p>
            <a:pPr marL="0" lvl="1" indent="0" eaLnBrk="1" hangingPunct="1">
              <a:lnSpc>
                <a:spcPct val="250000"/>
              </a:lnSpc>
              <a:buNone/>
            </a:pPr>
            <a:r>
              <a:rPr lang="zh-CN" altLang="en-US" sz="1800" b="0" dirty="0">
                <a:latin typeface="微软雅黑" panose="020B0503020204020204" pitchFamily="34" charset="-122"/>
                <a:ea typeface="微软雅黑" panose="020B0503020204020204" pitchFamily="34" charset="-122"/>
              </a:rPr>
              <a:t>短期中资本的数量不变</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且不存在自用价值</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资本的短期供给曲线是一条垂直的直线。 </a:t>
            </a:r>
            <a:endParaRPr lang="en-US" altLang="zh-CN" sz="1800" b="0" dirty="0">
              <a:latin typeface="微软雅黑" panose="020B0503020204020204" pitchFamily="34" charset="-122"/>
              <a:ea typeface="微软雅黑" panose="020B0503020204020204" pitchFamily="34" charset="-122"/>
            </a:endParaRPr>
          </a:p>
        </p:txBody>
      </p:sp>
      <p:sp>
        <p:nvSpPr>
          <p:cNvPr id="4"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9546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三、资本市场的均衡</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4FBD33C8-9F7C-4586-8094-93FD18B5B724}"/>
              </a:ext>
            </a:extLst>
          </p:cNvPr>
          <p:cNvGrpSpPr/>
          <p:nvPr/>
        </p:nvGrpSpPr>
        <p:grpSpPr>
          <a:xfrm>
            <a:off x="467544" y="1648075"/>
            <a:ext cx="2799585" cy="514350"/>
            <a:chOff x="458213" y="4075203"/>
            <a:chExt cx="1708719" cy="514350"/>
          </a:xfrm>
        </p:grpSpPr>
        <p:sp>
          <p:nvSpPr>
            <p:cNvPr id="8" name="MH_Text_1">
              <a:extLst>
                <a:ext uri="{FF2B5EF4-FFF2-40B4-BE49-F238E27FC236}">
                  <a16:creationId xmlns:a16="http://schemas.microsoft.com/office/drawing/2014/main" id="{2B16FD77-75F5-478E-AAA0-B4711F002B71}"/>
                </a:ext>
              </a:extLst>
            </p:cNvPr>
            <p:cNvSpPr/>
            <p:nvPr>
              <p:custDataLst>
                <p:tags r:id="rId3"/>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资本的需求曲线</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9" name="MH_Other_2">
              <a:extLst>
                <a:ext uri="{FF2B5EF4-FFF2-40B4-BE49-F238E27FC236}">
                  <a16:creationId xmlns:a16="http://schemas.microsoft.com/office/drawing/2014/main" id="{2CAC8690-3479-4DBB-9B16-A4FF61D047C3}"/>
                </a:ext>
              </a:extLst>
            </p:cNvPr>
            <p:cNvSpPr/>
            <p:nvPr>
              <p:custDataLst>
                <p:tags r:id="rId4"/>
              </p:custDataLst>
            </p:nvPr>
          </p:nvSpPr>
          <p:spPr bwMode="auto">
            <a:xfrm rot="10800000">
              <a:off x="2038343" y="4129045"/>
              <a:ext cx="105345"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文本框 2"/>
          <p:cNvSpPr txBox="1"/>
          <p:nvPr/>
        </p:nvSpPr>
        <p:spPr>
          <a:xfrm>
            <a:off x="1187039" y="2520490"/>
            <a:ext cx="3185487" cy="584775"/>
          </a:xfrm>
          <a:prstGeom prst="rect">
            <a:avLst/>
          </a:prstGeom>
          <a:noFill/>
        </p:spPr>
        <p:txBody>
          <a:bodyPr wrap="none" rtlCol="0">
            <a:spAutoFit/>
          </a:bodyPr>
          <a:lstStyle/>
          <a:p>
            <a:pPr marL="0" lvl="2"/>
            <a:r>
              <a:rPr lang="zh-CN" altLang="en-US" sz="1800" b="0" dirty="0">
                <a:latin typeface="微软雅黑" panose="020B0503020204020204" pitchFamily="34" charset="-122"/>
                <a:ea typeface="微软雅黑" panose="020B0503020204020204" pitchFamily="34" charset="-122"/>
              </a:rPr>
              <a:t>资本的需求曲线向右下方倾斜</a:t>
            </a:r>
            <a:endParaRPr lang="en-US" altLang="zh-CN" sz="1800" b="0" dirty="0">
              <a:latin typeface="微软雅黑" panose="020B0503020204020204" pitchFamily="34" charset="-122"/>
              <a:ea typeface="微软雅黑" panose="020B0503020204020204" pitchFamily="34" charset="-122"/>
            </a:endParaRPr>
          </a:p>
          <a:p>
            <a:endParaRPr lang="zh-CN" altLang="en-US" sz="1400" dirty="0"/>
          </a:p>
        </p:txBody>
      </p:sp>
      <p:grpSp>
        <p:nvGrpSpPr>
          <p:cNvPr id="11" name="组合 10">
            <a:extLst>
              <a:ext uri="{FF2B5EF4-FFF2-40B4-BE49-F238E27FC236}">
                <a16:creationId xmlns:a16="http://schemas.microsoft.com/office/drawing/2014/main" id="{4FBD33C8-9F7C-4586-8094-93FD18B5B724}"/>
              </a:ext>
            </a:extLst>
          </p:cNvPr>
          <p:cNvGrpSpPr/>
          <p:nvPr/>
        </p:nvGrpSpPr>
        <p:grpSpPr>
          <a:xfrm>
            <a:off x="474554" y="3392587"/>
            <a:ext cx="2792575" cy="514350"/>
            <a:chOff x="458213" y="4075203"/>
            <a:chExt cx="1708719" cy="514350"/>
          </a:xfrm>
        </p:grpSpPr>
        <p:sp>
          <p:nvSpPr>
            <p:cNvPr id="12"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资本的短期供给曲线</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3"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038021" y="4111616"/>
              <a:ext cx="105773"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pic>
        <p:nvPicPr>
          <p:cNvPr id="14" name="图片 13">
            <a:extLst>
              <a:ext uri="{FF2B5EF4-FFF2-40B4-BE49-F238E27FC236}">
                <a16:creationId xmlns:a16="http://schemas.microsoft.com/office/drawing/2014/main" id="{F5253151-5F13-4B78-8A13-8CDAAD4BB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899558" y="1682017"/>
            <a:ext cx="2280086" cy="26328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14" presetClass="entr" presetSubtype="1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randombar(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3250">
                                            <p:txEl>
                                              <p:pRg st="0" end="0"/>
                                            </p:txEl>
                                          </p:spTgt>
                                        </p:tgtEl>
                                        <p:attrNameLst>
                                          <p:attrName>style.visibility</p:attrName>
                                        </p:attrNameLst>
                                      </p:cBhvr>
                                      <p:to>
                                        <p:strVal val="visible"/>
                                      </p:to>
                                    </p:set>
                                    <p:animEffect transition="in" filter="fade">
                                      <p:cBhvr>
                                        <p:cTn id="30" dur="500"/>
                                        <p:tgtEl>
                                          <p:spTgt spid="532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P spid="5" grpId="0" animBg="1"/>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741834" y="1187449"/>
            <a:ext cx="8229600" cy="4784725"/>
          </a:xfrm>
          <a:ln/>
        </p:spPr>
        <p:txBody>
          <a:bodyPr/>
          <a:lstStyle/>
          <a:p>
            <a:pPr marL="342900" lvl="2" indent="-342900" eaLnBrk="1" hangingPunct="1">
              <a:buFont typeface="Wingdings" panose="05000000000000000000" pitchFamily="2" charset="2"/>
              <a:buChar char="u"/>
            </a:pPr>
            <a:r>
              <a:rPr lang="zh-CN" altLang="zh-CN" sz="2000" b="0" dirty="0">
                <a:solidFill>
                  <a:srgbClr val="000000"/>
                </a:solidFill>
                <a:latin typeface="微软雅黑" panose="020B0503020204020204" pitchFamily="34" charset="-122"/>
                <a:ea typeface="微软雅黑" panose="020B0503020204020204" pitchFamily="34" charset="-122"/>
              </a:rPr>
              <a:t>资本从短期均衡到长期均衡的调整</a:t>
            </a:r>
          </a:p>
        </p:txBody>
      </p:sp>
      <p:sp>
        <p:nvSpPr>
          <p:cNvPr id="54300" name="圆角矩形标注 28"/>
          <p:cNvSpPr>
            <a:spLocks noChangeArrowheads="1"/>
          </p:cNvSpPr>
          <p:nvPr/>
        </p:nvSpPr>
        <p:spPr bwMode="auto">
          <a:xfrm>
            <a:off x="6286500" y="1729432"/>
            <a:ext cx="2518400" cy="1055608"/>
          </a:xfrm>
          <a:prstGeom prst="wedgeRoundRectCallout">
            <a:avLst>
              <a:gd name="adj1" fmla="val -60102"/>
              <a:gd name="adj2" fmla="val 16173"/>
              <a:gd name="adj3" fmla="val 16667"/>
            </a:avLst>
          </a:prstGeom>
          <a:noFill/>
          <a:ln w="28575">
            <a:solidFill>
              <a:schemeClr val="accent3">
                <a:lumMod val="50000"/>
              </a:schemeClr>
            </a:solidFill>
          </a:ln>
        </p:spPr>
        <p:txBody>
          <a:bodyPr wrap="square">
            <a:spAutoFit/>
          </a:bodyPr>
          <a:lstStyle/>
          <a:p>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需求曲线</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和短期供给曲线</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S1S1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S2S2</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的交点决定的短期均衡状态分别为</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(r1,K1), (r2,K2),</a:t>
            </a:r>
            <a:endPar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301" name="矩形 29"/>
          <p:cNvSpPr>
            <a:spLocks noChangeArrowheads="1"/>
          </p:cNvSpPr>
          <p:nvPr/>
        </p:nvSpPr>
        <p:spPr bwMode="auto">
          <a:xfrm>
            <a:off x="6286500" y="2918599"/>
            <a:ext cx="2500313" cy="954107"/>
          </a:xfrm>
          <a:prstGeom prst="rect">
            <a:avLst/>
          </a:prstGeom>
          <a:noFill/>
          <a:ln w="28575">
            <a:solidFill>
              <a:schemeClr val="accent3">
                <a:lumMod val="50000"/>
              </a:schemeClr>
            </a:solidFill>
          </a:ln>
        </p:spPr>
        <p:txBody>
          <a:bodyPr>
            <a:spAutoFit/>
          </a:bodyPr>
          <a:lstStyle/>
          <a:p>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在长期中</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资本市场的均衡还要求储蓄和折旧正好相等。如果储蓄和折旧不相等</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则资本的数量就不会均衡</a:t>
            </a:r>
            <a:endParaRPr lang="zh-CN" altLang="en-US" sz="1400" b="0" dirty="0">
              <a:solidFill>
                <a:srgbClr val="000000"/>
              </a:solidFill>
              <a:latin typeface="微软雅黑" panose="020B0503020204020204" pitchFamily="34" charset="-122"/>
              <a:ea typeface="微软雅黑" panose="020B0503020204020204" pitchFamily="34" charset="-122"/>
            </a:endParaRPr>
          </a:p>
        </p:txBody>
      </p:sp>
      <p:sp>
        <p:nvSpPr>
          <p:cNvPr id="54302" name="圆角矩形标注 30"/>
          <p:cNvSpPr>
            <a:spLocks noChangeArrowheads="1"/>
          </p:cNvSpPr>
          <p:nvPr/>
        </p:nvSpPr>
        <p:spPr bwMode="auto">
          <a:xfrm>
            <a:off x="6129338" y="4001295"/>
            <a:ext cx="2686196" cy="1532334"/>
          </a:xfrm>
          <a:prstGeom prst="wedgeRoundRectCallout">
            <a:avLst>
              <a:gd name="adj1" fmla="val -94272"/>
              <a:gd name="adj2" fmla="val -43750"/>
              <a:gd name="adj3" fmla="val 16667"/>
            </a:avLst>
          </a:prstGeom>
          <a:noFill/>
          <a:ln w="28575">
            <a:solidFill>
              <a:schemeClr val="accent3">
                <a:lumMod val="50000"/>
              </a:schemeClr>
            </a:solidFill>
          </a:ln>
        </p:spPr>
        <p:txBody>
          <a:bodyPr wrap="square">
            <a:spAutoFit/>
          </a:bodyPr>
          <a:lstStyle/>
          <a:p>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设短期资本供给曲线右移到</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S0S0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储蓄恰好等于折旧。 于是</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S0S0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与资本需求曲线</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的交点</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(r0,K0)</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既表示资本市场的短期均衡</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也表示长期均衡。</a:t>
            </a:r>
            <a:endParaRPr lang="zh-CN" altLang="en-US" sz="1400" b="0" dirty="0">
              <a:solidFill>
                <a:srgbClr val="000000"/>
              </a:solidFill>
              <a:latin typeface="微软雅黑" panose="020B0503020204020204" pitchFamily="34" charset="-122"/>
              <a:ea typeface="微软雅黑" panose="020B0503020204020204" pitchFamily="34" charset="-122"/>
            </a:endParaRPr>
          </a:p>
        </p:txBody>
      </p:sp>
      <p:sp>
        <p:nvSpPr>
          <p:cNvPr id="54303" name="圆角矩形标注 31"/>
          <p:cNvSpPr>
            <a:spLocks noChangeArrowheads="1"/>
          </p:cNvSpPr>
          <p:nvPr/>
        </p:nvSpPr>
        <p:spPr bwMode="auto">
          <a:xfrm>
            <a:off x="323705" y="2148562"/>
            <a:ext cx="1571625" cy="3291126"/>
          </a:xfrm>
          <a:prstGeom prst="wedgeRoundRectCallout">
            <a:avLst>
              <a:gd name="adj1" fmla="val 127079"/>
              <a:gd name="adj2" fmla="val -27856"/>
              <a:gd name="adj3" fmla="val 16667"/>
            </a:avLst>
          </a:prstGeom>
          <a:noFill/>
          <a:ln w="28575">
            <a:solidFill>
              <a:schemeClr val="accent3">
                <a:lumMod val="50000"/>
              </a:schemeClr>
            </a:solidFill>
          </a:ln>
        </p:spPr>
        <p:txBody>
          <a:bodyPr wrap="square">
            <a:spAutoFit/>
          </a:bodyPr>
          <a:lstStyle/>
          <a:p>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(r1,K1)</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上储蓄大于折旧，短期资本供给曲线的右移，直到储蓄与折旧之间的差距缩小到零。在</a:t>
            </a:r>
            <a:r>
              <a:rPr lang="en-US" altLang="zh-CN"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(r2,K2)</a:t>
            </a:r>
            <a:r>
              <a:rPr lang="zh-CN" altLang="en-US" sz="1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上折旧大于储蓄，短期资本供给曲线的左移，直到储蓄与折旧之间的差距缩小到零</a:t>
            </a:r>
            <a:r>
              <a:rPr lang="zh-CN" altLang="en-US" b="0" dirty="0">
                <a:solidFill>
                  <a:srgbClr val="000000"/>
                </a:solidFill>
                <a:sym typeface="Arial" panose="020B0604020202020204" pitchFamily="34" charset="0"/>
              </a:rPr>
              <a:t>。</a:t>
            </a:r>
            <a:endParaRPr lang="zh-CN" altLang="en-US" dirty="0"/>
          </a:p>
        </p:txBody>
      </p:sp>
      <p:grpSp>
        <p:nvGrpSpPr>
          <p:cNvPr id="2" name="组合 1"/>
          <p:cNvGrpSpPr/>
          <p:nvPr/>
        </p:nvGrpSpPr>
        <p:grpSpPr>
          <a:xfrm>
            <a:off x="1817688" y="2073275"/>
            <a:ext cx="5397500" cy="4213225"/>
            <a:chOff x="1817688" y="2073275"/>
            <a:chExt cx="5397500" cy="4213225"/>
          </a:xfrm>
        </p:grpSpPr>
        <p:sp>
          <p:nvSpPr>
            <p:cNvPr id="54275" name="Line 4"/>
            <p:cNvSpPr>
              <a:spLocks noChangeShapeType="1"/>
            </p:cNvSpPr>
            <p:nvPr/>
          </p:nvSpPr>
          <p:spPr bwMode="auto">
            <a:xfrm flipV="1">
              <a:off x="2244725" y="2165350"/>
              <a:ext cx="0" cy="368776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76" name="Line 5"/>
            <p:cNvSpPr>
              <a:spLocks noChangeShapeType="1"/>
            </p:cNvSpPr>
            <p:nvPr/>
          </p:nvSpPr>
          <p:spPr bwMode="auto">
            <a:xfrm>
              <a:off x="2244725" y="5854700"/>
              <a:ext cx="4857750" cy="317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77" name="Text Box 6"/>
            <p:cNvSpPr>
              <a:spLocks noChangeArrowheads="1"/>
            </p:cNvSpPr>
            <p:nvPr/>
          </p:nvSpPr>
          <p:spPr bwMode="auto">
            <a:xfrm>
              <a:off x="1817688" y="2073275"/>
              <a:ext cx="6826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endParaRPr lang="zh-CN" altLang="en-US"/>
            </a:p>
          </p:txBody>
        </p:sp>
        <p:sp>
          <p:nvSpPr>
            <p:cNvPr id="54278" name="Text Box 7"/>
            <p:cNvSpPr>
              <a:spLocks noChangeArrowheads="1"/>
            </p:cNvSpPr>
            <p:nvPr/>
          </p:nvSpPr>
          <p:spPr bwMode="auto">
            <a:xfrm>
              <a:off x="1901825" y="5672138"/>
              <a:ext cx="3698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54279" name="Text Box 8"/>
            <p:cNvSpPr>
              <a:spLocks noChangeArrowheads="1"/>
            </p:cNvSpPr>
            <p:nvPr/>
          </p:nvSpPr>
          <p:spPr bwMode="auto">
            <a:xfrm>
              <a:off x="6846888" y="5854700"/>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K</a:t>
              </a:r>
              <a:endParaRPr lang="zh-CN" altLang="en-US"/>
            </a:p>
          </p:txBody>
        </p:sp>
        <p:sp>
          <p:nvSpPr>
            <p:cNvPr id="54280" name="Text Box 9"/>
            <p:cNvSpPr>
              <a:spLocks noChangeArrowheads="1"/>
            </p:cNvSpPr>
            <p:nvPr/>
          </p:nvSpPr>
          <p:spPr bwMode="auto">
            <a:xfrm>
              <a:off x="1817688" y="4233863"/>
              <a:ext cx="5746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54281" name="Text Box 10"/>
            <p:cNvSpPr>
              <a:spLocks noChangeArrowheads="1"/>
            </p:cNvSpPr>
            <p:nvPr/>
          </p:nvSpPr>
          <p:spPr bwMode="auto">
            <a:xfrm>
              <a:off x="5908675" y="2995613"/>
              <a:ext cx="3667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54282" name="Text Box 11"/>
            <p:cNvSpPr>
              <a:spLocks noChangeArrowheads="1"/>
            </p:cNvSpPr>
            <p:nvPr/>
          </p:nvSpPr>
          <p:spPr bwMode="auto">
            <a:xfrm>
              <a:off x="1928813" y="3321050"/>
              <a:ext cx="5222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a:solidFill>
                  <a:srgbClr val="000000"/>
                </a:solidFill>
                <a:sym typeface="Arial" panose="020B0604020202020204" pitchFamily="34" charset="0"/>
              </a:endParaRPr>
            </a:p>
          </p:txBody>
        </p:sp>
        <p:sp>
          <p:nvSpPr>
            <p:cNvPr id="54283" name="Line 12"/>
            <p:cNvSpPr>
              <a:spLocks noChangeShapeType="1"/>
            </p:cNvSpPr>
            <p:nvPr/>
          </p:nvSpPr>
          <p:spPr bwMode="auto">
            <a:xfrm>
              <a:off x="4716463" y="2627313"/>
              <a:ext cx="1587" cy="3227387"/>
            </a:xfrm>
            <a:prstGeom prst="line">
              <a:avLst/>
            </a:prstGeom>
            <a:noFill/>
            <a:ln w="28575" cmpd="sng">
              <a:solidFill>
                <a:srgbClr val="F3C97F"/>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84" name="Text Box 13"/>
            <p:cNvSpPr>
              <a:spLocks noChangeArrowheads="1"/>
            </p:cNvSpPr>
            <p:nvPr/>
          </p:nvSpPr>
          <p:spPr bwMode="auto">
            <a:xfrm>
              <a:off x="4375150" y="2165350"/>
              <a:ext cx="765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0</a:t>
              </a:r>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0</a:t>
              </a:r>
              <a:endParaRPr lang="zh-CN" altLang="en-US">
                <a:solidFill>
                  <a:srgbClr val="000000"/>
                </a:solidFill>
                <a:sym typeface="Arial" panose="020B0604020202020204" pitchFamily="34" charset="0"/>
              </a:endParaRPr>
            </a:p>
          </p:txBody>
        </p:sp>
        <p:sp>
          <p:nvSpPr>
            <p:cNvPr id="54285" name="Line 14"/>
            <p:cNvSpPr>
              <a:spLocks noChangeShapeType="1"/>
            </p:cNvSpPr>
            <p:nvPr/>
          </p:nvSpPr>
          <p:spPr bwMode="auto">
            <a:xfrm>
              <a:off x="2840038" y="3271838"/>
              <a:ext cx="3495675" cy="1476375"/>
            </a:xfrm>
            <a:prstGeom prst="line">
              <a:avLst/>
            </a:prstGeom>
            <a:noFill/>
            <a:ln w="28575" cmpd="sng">
              <a:solidFill>
                <a:srgbClr val="F3C97F"/>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86" name="Line 15"/>
            <p:cNvSpPr>
              <a:spLocks noChangeShapeType="1"/>
            </p:cNvSpPr>
            <p:nvPr/>
          </p:nvSpPr>
          <p:spPr bwMode="auto">
            <a:xfrm flipH="1">
              <a:off x="2243138" y="4103688"/>
              <a:ext cx="2473325"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87" name="Text Box 16"/>
            <p:cNvSpPr>
              <a:spLocks noChangeArrowheads="1"/>
            </p:cNvSpPr>
            <p:nvPr/>
          </p:nvSpPr>
          <p:spPr bwMode="auto">
            <a:xfrm>
              <a:off x="5357813" y="3929063"/>
              <a:ext cx="4286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54288" name="Text Box 17"/>
            <p:cNvSpPr>
              <a:spLocks noChangeArrowheads="1"/>
            </p:cNvSpPr>
            <p:nvPr/>
          </p:nvSpPr>
          <p:spPr bwMode="auto">
            <a:xfrm>
              <a:off x="5570538" y="2165350"/>
              <a:ext cx="850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2</a:t>
              </a:r>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2</a:t>
              </a:r>
              <a:endParaRPr lang="zh-CN" altLang="en-US">
                <a:solidFill>
                  <a:srgbClr val="000000"/>
                </a:solidFill>
                <a:sym typeface="Arial" panose="020B0604020202020204" pitchFamily="34" charset="0"/>
              </a:endParaRPr>
            </a:p>
          </p:txBody>
        </p:sp>
        <p:sp>
          <p:nvSpPr>
            <p:cNvPr id="54289" name="Text Box 18"/>
            <p:cNvSpPr>
              <a:spLocks noChangeArrowheads="1"/>
            </p:cNvSpPr>
            <p:nvPr/>
          </p:nvSpPr>
          <p:spPr bwMode="auto">
            <a:xfrm>
              <a:off x="1817688" y="3827463"/>
              <a:ext cx="8763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r>
                <a:rPr lang="zh-CN" altLang="en-US" sz="1000">
                  <a:solidFill>
                    <a:srgbClr val="000000"/>
                  </a:solidFill>
                  <a:sym typeface="Arial" panose="020B0604020202020204" pitchFamily="34" charset="0"/>
                </a:rPr>
                <a:t>0</a:t>
              </a:r>
              <a:endParaRPr lang="zh-CN" altLang="en-US"/>
            </a:p>
          </p:txBody>
        </p:sp>
        <p:sp>
          <p:nvSpPr>
            <p:cNvPr id="54290" name="Line 19"/>
            <p:cNvSpPr>
              <a:spLocks noChangeShapeType="1"/>
            </p:cNvSpPr>
            <p:nvPr/>
          </p:nvSpPr>
          <p:spPr bwMode="auto">
            <a:xfrm>
              <a:off x="5824538" y="2627313"/>
              <a:ext cx="1587" cy="3227387"/>
            </a:xfrm>
            <a:prstGeom prst="line">
              <a:avLst/>
            </a:prstGeom>
            <a:noFill/>
            <a:ln w="28575" cmpd="sng">
              <a:solidFill>
                <a:srgbClr val="F3C97F"/>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91" name="Line 20"/>
            <p:cNvSpPr>
              <a:spLocks noChangeShapeType="1"/>
            </p:cNvSpPr>
            <p:nvPr/>
          </p:nvSpPr>
          <p:spPr bwMode="auto">
            <a:xfrm>
              <a:off x="3608388" y="2627313"/>
              <a:ext cx="1587" cy="3227387"/>
            </a:xfrm>
            <a:prstGeom prst="line">
              <a:avLst/>
            </a:prstGeom>
            <a:noFill/>
            <a:ln w="28575" cmpd="sng">
              <a:solidFill>
                <a:srgbClr val="F3C97F"/>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92" name="Text Box 21"/>
            <p:cNvSpPr>
              <a:spLocks noChangeArrowheads="1"/>
            </p:cNvSpPr>
            <p:nvPr/>
          </p:nvSpPr>
          <p:spPr bwMode="auto">
            <a:xfrm>
              <a:off x="3267075" y="2165350"/>
              <a:ext cx="7985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1</a:t>
              </a:r>
              <a:r>
                <a:rPr lang="zh-CN" altLang="en-US">
                  <a:solidFill>
                    <a:srgbClr val="000000"/>
                  </a:solidFill>
                  <a:sym typeface="Arial" panose="020B0604020202020204" pitchFamily="34" charset="0"/>
                </a:rPr>
                <a:t>S</a:t>
              </a:r>
              <a:r>
                <a:rPr lang="zh-CN" altLang="en-US" sz="1000">
                  <a:solidFill>
                    <a:srgbClr val="000000"/>
                  </a:solidFill>
                  <a:sym typeface="Arial" panose="020B0604020202020204" pitchFamily="34" charset="0"/>
                </a:rPr>
                <a:t>1</a:t>
              </a:r>
              <a:endParaRPr lang="zh-CN" altLang="en-US">
                <a:solidFill>
                  <a:srgbClr val="000000"/>
                </a:solidFill>
                <a:sym typeface="Arial" panose="020B0604020202020204" pitchFamily="34" charset="0"/>
              </a:endParaRPr>
            </a:p>
          </p:txBody>
        </p:sp>
        <p:sp>
          <p:nvSpPr>
            <p:cNvPr id="54293" name="Line 22"/>
            <p:cNvSpPr>
              <a:spLocks noChangeShapeType="1"/>
            </p:cNvSpPr>
            <p:nvPr/>
          </p:nvSpPr>
          <p:spPr bwMode="auto">
            <a:xfrm flipH="1">
              <a:off x="2244725" y="3641725"/>
              <a:ext cx="1363663"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94" name="Line 23"/>
            <p:cNvSpPr>
              <a:spLocks noChangeShapeType="1"/>
            </p:cNvSpPr>
            <p:nvPr/>
          </p:nvSpPr>
          <p:spPr bwMode="auto">
            <a:xfrm flipH="1">
              <a:off x="2244725" y="4565650"/>
              <a:ext cx="3579813"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4295" name="Text Box 24"/>
            <p:cNvSpPr>
              <a:spLocks noChangeArrowheads="1"/>
            </p:cNvSpPr>
            <p:nvPr/>
          </p:nvSpPr>
          <p:spPr bwMode="auto">
            <a:xfrm>
              <a:off x="1817688" y="3365500"/>
              <a:ext cx="5127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r>
                <a:rPr lang="zh-CN" altLang="en-US" sz="1000">
                  <a:solidFill>
                    <a:srgbClr val="000000"/>
                  </a:solidFill>
                  <a:sym typeface="Arial" panose="020B0604020202020204" pitchFamily="34" charset="0"/>
                </a:rPr>
                <a:t>1</a:t>
              </a:r>
              <a:endParaRPr lang="zh-CN" altLang="en-US">
                <a:solidFill>
                  <a:srgbClr val="000000"/>
                </a:solidFill>
                <a:sym typeface="Arial" panose="020B0604020202020204" pitchFamily="34" charset="0"/>
              </a:endParaRPr>
            </a:p>
          </p:txBody>
        </p:sp>
        <p:sp>
          <p:nvSpPr>
            <p:cNvPr id="54296" name="Text Box 25"/>
            <p:cNvSpPr>
              <a:spLocks noChangeArrowheads="1"/>
            </p:cNvSpPr>
            <p:nvPr/>
          </p:nvSpPr>
          <p:spPr bwMode="auto">
            <a:xfrm>
              <a:off x="1817688" y="4289425"/>
              <a:ext cx="465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r>
                <a:rPr lang="zh-CN" altLang="en-US" sz="1000">
                  <a:solidFill>
                    <a:srgbClr val="000000"/>
                  </a:solidFill>
                  <a:sym typeface="Arial" panose="020B0604020202020204" pitchFamily="34" charset="0"/>
                </a:rPr>
                <a:t>2</a:t>
              </a:r>
              <a:endParaRPr lang="zh-CN" altLang="en-US">
                <a:solidFill>
                  <a:srgbClr val="000000"/>
                </a:solidFill>
                <a:sym typeface="Arial" panose="020B0604020202020204" pitchFamily="34" charset="0"/>
              </a:endParaRPr>
            </a:p>
          </p:txBody>
        </p:sp>
        <p:sp>
          <p:nvSpPr>
            <p:cNvPr id="54297" name="Text Box 26"/>
            <p:cNvSpPr>
              <a:spLocks noChangeArrowheads="1"/>
            </p:cNvSpPr>
            <p:nvPr/>
          </p:nvSpPr>
          <p:spPr bwMode="auto">
            <a:xfrm>
              <a:off x="3390900" y="5857875"/>
              <a:ext cx="473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K</a:t>
              </a:r>
              <a:r>
                <a:rPr lang="zh-CN" altLang="en-US" sz="1000">
                  <a:solidFill>
                    <a:srgbClr val="000000"/>
                  </a:solidFill>
                  <a:sym typeface="Arial" panose="020B0604020202020204" pitchFamily="34" charset="0"/>
                </a:rPr>
                <a:t>1</a:t>
              </a:r>
              <a:endParaRPr lang="zh-CN" altLang="en-US">
                <a:solidFill>
                  <a:srgbClr val="000000"/>
                </a:solidFill>
                <a:sym typeface="Arial" panose="020B0604020202020204" pitchFamily="34" charset="0"/>
              </a:endParaRPr>
            </a:p>
          </p:txBody>
        </p:sp>
        <p:sp>
          <p:nvSpPr>
            <p:cNvPr id="54298" name="Text Box 27"/>
            <p:cNvSpPr>
              <a:spLocks noChangeArrowheads="1"/>
            </p:cNvSpPr>
            <p:nvPr/>
          </p:nvSpPr>
          <p:spPr bwMode="auto">
            <a:xfrm>
              <a:off x="4546600" y="5854700"/>
              <a:ext cx="4730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K</a:t>
              </a:r>
              <a:r>
                <a:rPr lang="zh-CN" altLang="en-US" sz="1000">
                  <a:solidFill>
                    <a:srgbClr val="000000"/>
                  </a:solidFill>
                  <a:sym typeface="Arial" panose="020B0604020202020204" pitchFamily="34" charset="0"/>
                </a:rPr>
                <a:t>0</a:t>
              </a:r>
              <a:endParaRPr lang="zh-CN" altLang="en-US">
                <a:solidFill>
                  <a:srgbClr val="000000"/>
                </a:solidFill>
                <a:sym typeface="Arial" panose="020B0604020202020204" pitchFamily="34" charset="0"/>
              </a:endParaRPr>
            </a:p>
          </p:txBody>
        </p:sp>
        <p:sp>
          <p:nvSpPr>
            <p:cNvPr id="54299" name="Text Box 28"/>
            <p:cNvSpPr>
              <a:spLocks noChangeArrowheads="1"/>
            </p:cNvSpPr>
            <p:nvPr/>
          </p:nvSpPr>
          <p:spPr bwMode="auto">
            <a:xfrm>
              <a:off x="5653088" y="5854700"/>
              <a:ext cx="4762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K</a:t>
              </a:r>
              <a:r>
                <a:rPr lang="zh-CN" altLang="en-US" sz="1000">
                  <a:solidFill>
                    <a:srgbClr val="000000"/>
                  </a:solidFill>
                  <a:sym typeface="Arial" panose="020B0604020202020204" pitchFamily="34" charset="0"/>
                </a:rPr>
                <a:t>2</a:t>
              </a:r>
              <a:endParaRPr lang="zh-CN" altLang="en-US">
                <a:solidFill>
                  <a:srgbClr val="000000"/>
                </a:solidFill>
                <a:sym typeface="Arial" panose="020B0604020202020204" pitchFamily="34" charset="0"/>
              </a:endParaRPr>
            </a:p>
          </p:txBody>
        </p:sp>
        <p:sp>
          <p:nvSpPr>
            <p:cNvPr id="54304" name="右箭头 32"/>
            <p:cNvSpPr>
              <a:spLocks noChangeArrowheads="1"/>
            </p:cNvSpPr>
            <p:nvPr/>
          </p:nvSpPr>
          <p:spPr bwMode="auto">
            <a:xfrm>
              <a:off x="3857625" y="3143250"/>
              <a:ext cx="571500" cy="214313"/>
            </a:xfrm>
            <a:prstGeom prst="rightArrow">
              <a:avLst>
                <a:gd name="adj1" fmla="val 50000"/>
                <a:gd name="adj2" fmla="val 50062"/>
              </a:avLst>
            </a:prstGeom>
            <a:solidFill>
              <a:srgbClr val="F3C97F"/>
            </a:solidFill>
            <a:ln w="9525" cmpd="sng">
              <a:solidFill>
                <a:schemeClr val="tx1"/>
              </a:solidFill>
              <a:miter lim="800000"/>
              <a:headEnd/>
              <a:tailEnd/>
            </a:ln>
          </p:spPr>
          <p:txBody>
            <a:bodyPr/>
            <a:lstStyle/>
            <a:p>
              <a:endParaRPr lang="zh-CN" altLang="zh-CN">
                <a:solidFill>
                  <a:srgbClr val="000000"/>
                </a:solidFill>
                <a:sym typeface="Arial" panose="020B0604020202020204" pitchFamily="34" charset="0"/>
              </a:endParaRPr>
            </a:p>
          </p:txBody>
        </p:sp>
        <p:sp>
          <p:nvSpPr>
            <p:cNvPr id="54305" name="左箭头 33"/>
            <p:cNvSpPr>
              <a:spLocks noChangeArrowheads="1"/>
            </p:cNvSpPr>
            <p:nvPr/>
          </p:nvSpPr>
          <p:spPr bwMode="auto">
            <a:xfrm>
              <a:off x="4929188" y="3143250"/>
              <a:ext cx="571500" cy="214313"/>
            </a:xfrm>
            <a:prstGeom prst="leftArrow">
              <a:avLst>
                <a:gd name="adj1" fmla="val 50000"/>
                <a:gd name="adj2" fmla="val 50062"/>
              </a:avLst>
            </a:prstGeom>
            <a:solidFill>
              <a:srgbClr val="F3C97F"/>
            </a:solidFill>
            <a:ln w="9525" cmpd="sng">
              <a:solidFill>
                <a:schemeClr val="tx1"/>
              </a:solidFill>
              <a:miter lim="800000"/>
              <a:headEnd/>
              <a:tailEnd/>
            </a:ln>
          </p:spPr>
          <p:txBody>
            <a:bodyPr/>
            <a:lstStyle/>
            <a:p>
              <a:endParaRPr lang="zh-CN" altLang="zh-CN">
                <a:solidFill>
                  <a:srgbClr val="000000"/>
                </a:solidFill>
                <a:sym typeface="Arial" panose="020B0604020202020204" pitchFamily="34" charset="0"/>
              </a:endParaRPr>
            </a:p>
          </p:txBody>
        </p:sp>
      </p:grpSp>
      <p:sp>
        <p:nvSpPr>
          <p:cNvPr id="35" name="标题 1"/>
          <p:cNvSpPr>
            <a:spLocks noChangeArrowheads="1"/>
          </p:cNvSpPr>
          <p:nvPr/>
        </p:nvSpPr>
        <p:spPr bwMode="auto">
          <a:xfrm>
            <a:off x="914400" y="116770"/>
            <a:ext cx="8229600" cy="23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资本和利息</a:t>
            </a:r>
            <a:b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br>
            <a:r>
              <a:rPr lang="zh-CN" altLang="en-US" sz="2400" b="0" dirty="0">
                <a:solidFill>
                  <a:srgbClr val="000000"/>
                </a:solidFill>
                <a:latin typeface="宋体" panose="02010600030101010101" pitchFamily="2" charset="-122"/>
                <a:sym typeface="宋体" panose="02010600030101010101" pitchFamily="2" charset="-122"/>
              </a:rPr>
              <a:t>                                </a:t>
            </a: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36" name="矩形 35">
            <a:extLst>
              <a:ext uri="{FF2B5EF4-FFF2-40B4-BE49-F238E27FC236}">
                <a16:creationId xmlns:a16="http://schemas.microsoft.com/office/drawing/2014/main" id="{F68E5273-CD77-47B9-B841-9D29349C133D}"/>
              </a:ext>
            </a:extLst>
          </p:cNvPr>
          <p:cNvSpPr/>
          <p:nvPr/>
        </p:nvSpPr>
        <p:spPr>
          <a:xfrm>
            <a:off x="467544" y="548680"/>
            <a:ext cx="29546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三、资本市场的均衡</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transition="in" filter="fade">
                                      <p:cBhvr>
                                        <p:cTn id="7" dur="500"/>
                                        <p:tgtEl>
                                          <p:spTgt spid="54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4300"/>
                                        </p:tgtEl>
                                        <p:attrNameLst>
                                          <p:attrName>style.visibility</p:attrName>
                                        </p:attrNameLst>
                                      </p:cBhvr>
                                      <p:to>
                                        <p:strVal val="visible"/>
                                      </p:to>
                                    </p:set>
                                    <p:animEffect transition="in" filter="fade">
                                      <p:cBhvr>
                                        <p:cTn id="19" dur="1000"/>
                                        <p:tgtEl>
                                          <p:spTgt spid="54300"/>
                                        </p:tgtEl>
                                      </p:cBhvr>
                                    </p:animEffect>
                                    <p:anim calcmode="lin" valueType="num">
                                      <p:cBhvr>
                                        <p:cTn id="20" dur="1000" fill="hold"/>
                                        <p:tgtEl>
                                          <p:spTgt spid="54300"/>
                                        </p:tgtEl>
                                        <p:attrNameLst>
                                          <p:attrName>ppt_x</p:attrName>
                                        </p:attrNameLst>
                                      </p:cBhvr>
                                      <p:tavLst>
                                        <p:tav tm="0">
                                          <p:val>
                                            <p:strVal val="#ppt_x"/>
                                          </p:val>
                                        </p:tav>
                                        <p:tav tm="100000">
                                          <p:val>
                                            <p:strVal val="#ppt_x"/>
                                          </p:val>
                                        </p:tav>
                                      </p:tavLst>
                                    </p:anim>
                                    <p:anim calcmode="lin" valueType="num">
                                      <p:cBhvr>
                                        <p:cTn id="21" dur="1000" fill="hold"/>
                                        <p:tgtEl>
                                          <p:spTgt spid="5430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4301"/>
                                        </p:tgtEl>
                                        <p:attrNameLst>
                                          <p:attrName>style.visibility</p:attrName>
                                        </p:attrNameLst>
                                      </p:cBhvr>
                                      <p:to>
                                        <p:strVal val="visible"/>
                                      </p:to>
                                    </p:set>
                                    <p:animEffect transition="in" filter="fade">
                                      <p:cBhvr>
                                        <p:cTn id="26" dur="1000"/>
                                        <p:tgtEl>
                                          <p:spTgt spid="54301"/>
                                        </p:tgtEl>
                                      </p:cBhvr>
                                    </p:animEffect>
                                    <p:anim calcmode="lin" valueType="num">
                                      <p:cBhvr>
                                        <p:cTn id="27" dur="1000" fill="hold"/>
                                        <p:tgtEl>
                                          <p:spTgt spid="54301"/>
                                        </p:tgtEl>
                                        <p:attrNameLst>
                                          <p:attrName>ppt_x</p:attrName>
                                        </p:attrNameLst>
                                      </p:cBhvr>
                                      <p:tavLst>
                                        <p:tav tm="0">
                                          <p:val>
                                            <p:strVal val="#ppt_x"/>
                                          </p:val>
                                        </p:tav>
                                        <p:tav tm="100000">
                                          <p:val>
                                            <p:strVal val="#ppt_x"/>
                                          </p:val>
                                        </p:tav>
                                      </p:tavLst>
                                    </p:anim>
                                    <p:anim calcmode="lin" valueType="num">
                                      <p:cBhvr>
                                        <p:cTn id="28" dur="1000" fill="hold"/>
                                        <p:tgtEl>
                                          <p:spTgt spid="5430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4303"/>
                                        </p:tgtEl>
                                        <p:attrNameLst>
                                          <p:attrName>style.visibility</p:attrName>
                                        </p:attrNameLst>
                                      </p:cBhvr>
                                      <p:to>
                                        <p:strVal val="visible"/>
                                      </p:to>
                                    </p:set>
                                    <p:animEffect transition="in" filter="fade">
                                      <p:cBhvr>
                                        <p:cTn id="33" dur="1000"/>
                                        <p:tgtEl>
                                          <p:spTgt spid="54303"/>
                                        </p:tgtEl>
                                      </p:cBhvr>
                                    </p:animEffect>
                                    <p:anim calcmode="lin" valueType="num">
                                      <p:cBhvr>
                                        <p:cTn id="34" dur="1000" fill="hold"/>
                                        <p:tgtEl>
                                          <p:spTgt spid="54303"/>
                                        </p:tgtEl>
                                        <p:attrNameLst>
                                          <p:attrName>ppt_x</p:attrName>
                                        </p:attrNameLst>
                                      </p:cBhvr>
                                      <p:tavLst>
                                        <p:tav tm="0">
                                          <p:val>
                                            <p:strVal val="#ppt_x"/>
                                          </p:val>
                                        </p:tav>
                                        <p:tav tm="100000">
                                          <p:val>
                                            <p:strVal val="#ppt_x"/>
                                          </p:val>
                                        </p:tav>
                                      </p:tavLst>
                                    </p:anim>
                                    <p:anim calcmode="lin" valueType="num">
                                      <p:cBhvr>
                                        <p:cTn id="35" dur="1000" fill="hold"/>
                                        <p:tgtEl>
                                          <p:spTgt spid="5430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4302"/>
                                        </p:tgtEl>
                                        <p:attrNameLst>
                                          <p:attrName>style.visibility</p:attrName>
                                        </p:attrNameLst>
                                      </p:cBhvr>
                                      <p:to>
                                        <p:strVal val="visible"/>
                                      </p:to>
                                    </p:set>
                                    <p:animEffect transition="in" filter="fade">
                                      <p:cBhvr>
                                        <p:cTn id="40" dur="1000"/>
                                        <p:tgtEl>
                                          <p:spTgt spid="54302"/>
                                        </p:tgtEl>
                                      </p:cBhvr>
                                    </p:animEffect>
                                    <p:anim calcmode="lin" valueType="num">
                                      <p:cBhvr>
                                        <p:cTn id="41" dur="1000" fill="hold"/>
                                        <p:tgtEl>
                                          <p:spTgt spid="54302"/>
                                        </p:tgtEl>
                                        <p:attrNameLst>
                                          <p:attrName>ppt_x</p:attrName>
                                        </p:attrNameLst>
                                      </p:cBhvr>
                                      <p:tavLst>
                                        <p:tav tm="0">
                                          <p:val>
                                            <p:strVal val="#ppt_x"/>
                                          </p:val>
                                        </p:tav>
                                        <p:tav tm="100000">
                                          <p:val>
                                            <p:strVal val="#ppt_x"/>
                                          </p:val>
                                        </p:tav>
                                      </p:tavLst>
                                    </p:anim>
                                    <p:anim calcmode="lin" valueType="num">
                                      <p:cBhvr>
                                        <p:cTn id="42" dur="1000" fill="hold"/>
                                        <p:tgtEl>
                                          <p:spTgt spid="543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p:bldP spid="54300" grpId="0" animBg="1"/>
      <p:bldP spid="54301" grpId="0" animBg="1"/>
      <p:bldP spid="54302" grpId="0" animBg="1"/>
      <p:bldP spid="5430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body" idx="1"/>
          </p:nvPr>
        </p:nvSpPr>
        <p:spPr>
          <a:xfrm>
            <a:off x="539720" y="1134968"/>
            <a:ext cx="8229600" cy="719467"/>
          </a:xfrm>
          <a:ln/>
        </p:spPr>
        <p:txBody>
          <a:bodyPr/>
          <a:lstStyle/>
          <a:p>
            <a:pPr indent="-342900" algn="l" defTabSz="457200" eaLnBrk="1" hangingPunct="1"/>
            <a:r>
              <a:rPr lang="zh-CN" altLang="en-US" sz="3600" dirty="0">
                <a:solidFill>
                  <a:schemeClr val="tx1"/>
                </a:solidFill>
                <a:latin typeface="微软雅黑" panose="020B0503020204020204" pitchFamily="34" charset="-122"/>
                <a:ea typeface="微软雅黑" panose="020B0503020204020204" pitchFamily="34" charset="-122"/>
                <a:cs typeface="+mj-cs"/>
              </a:rPr>
              <a:t>第六节  垄断与要素使用量和价格的决定</a:t>
            </a:r>
          </a:p>
          <a:p>
            <a:pPr marL="742950" lvl="1" indent="-285750" algn="l" eaLnBrk="1" hangingPunct="1"/>
            <a:endParaRPr lang="zh-CN" altLang="en-US" sz="2800" dirty="0"/>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546868" y="297884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478605" y="26772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546868" y="464771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478605" y="434609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7" name="MH_Other_5">
            <a:extLst>
              <a:ext uri="{FF2B5EF4-FFF2-40B4-BE49-F238E27FC236}">
                <a16:creationId xmlns:a16="http://schemas.microsoft.com/office/drawing/2014/main" id="{25D06B7F-7DCD-4D03-A450-0AAC55A41525}"/>
              </a:ext>
            </a:extLst>
          </p:cNvPr>
          <p:cNvCxnSpPr>
            <a:stCxn id="4" idx="2"/>
            <a:endCxn id="6" idx="0"/>
          </p:cNvCxnSpPr>
          <p:nvPr>
            <p:custDataLst>
              <p:tags r:id="rId5"/>
            </p:custDataLst>
          </p:nvPr>
        </p:nvCxnSpPr>
        <p:spPr>
          <a:xfrm>
            <a:off x="2058043" y="3032818"/>
            <a:ext cx="0" cy="131327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8" name="矩形 7">
            <a:extLst>
              <a:ext uri="{FF2B5EF4-FFF2-40B4-BE49-F238E27FC236}">
                <a16:creationId xmlns:a16="http://schemas.microsoft.com/office/drawing/2014/main" id="{66A93A4A-F736-4CF5-82B6-87D5F4B7E4E5}"/>
              </a:ext>
            </a:extLst>
          </p:cNvPr>
          <p:cNvSpPr/>
          <p:nvPr/>
        </p:nvSpPr>
        <p:spPr>
          <a:xfrm>
            <a:off x="2843880" y="2636945"/>
            <a:ext cx="5134739" cy="461665"/>
          </a:xfrm>
          <a:prstGeom prst="rect">
            <a:avLst/>
          </a:prstGeom>
        </p:spPr>
        <p:txBody>
          <a:bodyPr wrap="none">
            <a:spAutoFit/>
          </a:bodyPr>
          <a:lstStyle/>
          <a:p>
            <a:r>
              <a:rPr lang="zh-CN" altLang="en-US" sz="2400" b="0" dirty="0">
                <a:latin typeface="微软雅黑" panose="020B0503020204020204" pitchFamily="34" charset="-122"/>
                <a:ea typeface="微软雅黑" panose="020B0503020204020204" pitchFamily="34" charset="-122"/>
              </a:rPr>
              <a:t>产品卖方垄断条件下的要素价格决定</a:t>
            </a:r>
            <a:endParaRPr lang="zh-CN" altLang="en-US" sz="2400" b="0" spc="150"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6BA99CA7-A4CC-4245-BA58-DB89FA49F037}"/>
              </a:ext>
            </a:extLst>
          </p:cNvPr>
          <p:cNvSpPr/>
          <p:nvPr/>
        </p:nvSpPr>
        <p:spPr>
          <a:xfrm>
            <a:off x="2407863" y="4293060"/>
            <a:ext cx="5570756" cy="461665"/>
          </a:xfrm>
          <a:prstGeom prst="rect">
            <a:avLst/>
          </a:prstGeom>
        </p:spPr>
        <p:txBody>
          <a:bodyPr wrap="none">
            <a:spAutoFit/>
          </a:bodyPr>
          <a:lstStyle/>
          <a:p>
            <a:pPr marL="742950" lvl="1" indent="-285750"/>
            <a:r>
              <a:rPr lang="zh-CN" altLang="en-US" sz="2400" b="0" dirty="0">
                <a:latin typeface="微软雅黑" panose="020B0503020204020204" pitchFamily="34" charset="-122"/>
                <a:ea typeface="微软雅黑" panose="020B0503020204020204" pitchFamily="34" charset="-122"/>
              </a:rPr>
              <a:t>要素买方垄断条件下的要素价格决定</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 calcmode="lin" valueType="num">
                                      <p:cBhvr>
                                        <p:cTn id="7" dur="500" fill="hold"/>
                                        <p:tgtEl>
                                          <p:spTgt spid="55298">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552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322" name="Rectangle 3"/>
              <p:cNvSpPr>
                <a:spLocks noGrp="1" noChangeArrowheads="1"/>
              </p:cNvSpPr>
              <p:nvPr>
                <p:ph type="body" idx="4294967295"/>
              </p:nvPr>
            </p:nvSpPr>
            <p:spPr>
              <a:xfrm>
                <a:off x="499969" y="1268850"/>
                <a:ext cx="8104311" cy="5143500"/>
              </a:xfrm>
              <a:ln/>
            </p:spPr>
            <p:txBody>
              <a:bodyPr/>
              <a:lstStyle/>
              <a:p>
                <a:pPr marL="457200" lvl="2" indent="-457200" eaLnBrk="1" hangingPunct="1">
                  <a:lnSpc>
                    <a:spcPct val="20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卖方垄断（买方竞争）</a:t>
                </a:r>
                <a:endParaRPr lang="en-US" altLang="zh-CN" sz="2000" b="0" dirty="0">
                  <a:latin typeface="微软雅黑" panose="020B0503020204020204" pitchFamily="34" charset="-122"/>
                  <a:ea typeface="微软雅黑" panose="020B0503020204020204" pitchFamily="34" charset="-122"/>
                </a:endParaRPr>
              </a:p>
              <a:p>
                <a:pPr marL="810900" lvl="2"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企业在产品市场上作为卖方是垄断者</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但在要素市场上作为买方是完全竞争者。</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30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卖方垄断使用要素的边际成本</a:t>
                </a:r>
                <a:endParaRPr lang="en-US" altLang="zh-CN" sz="2000" b="0" dirty="0">
                  <a:latin typeface="微软雅黑" panose="020B0503020204020204" pitchFamily="34" charset="-122"/>
                  <a:ea typeface="微软雅黑" panose="020B0503020204020204" pitchFamily="34" charset="-122"/>
                </a:endParaRPr>
              </a:p>
              <a:p>
                <a:pPr marL="800100" lvl="3"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卖方垄断但是买方竞争</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不变的要素价格</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外生给定</a:t>
                </a:r>
                <a:endParaRPr lang="en-US" altLang="zh-CN" sz="1800" b="0" dirty="0">
                  <a:latin typeface="微软雅黑" panose="020B0503020204020204" pitchFamily="34" charset="-122"/>
                  <a:ea typeface="微软雅黑" panose="020B0503020204020204" pitchFamily="34" charset="-122"/>
                </a:endParaRPr>
              </a:p>
              <a:p>
                <a:pPr marL="800100" lvl="3"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即</a:t>
                </a:r>
                <a14:m>
                  <m:oMath xmlns:m="http://schemas.openxmlformats.org/officeDocument/2006/math">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𝐶</m:t>
                        </m:r>
                      </m:num>
                      <m:den>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𝐿</m:t>
                        </m:r>
                      </m:den>
                    </m:f>
                    <m:r>
                      <a:rPr lang="en-US" altLang="zh-CN" sz="1800" b="0" i="1">
                        <a:latin typeface="Cambria Math" panose="02040503050406030204" pitchFamily="18" charset="0"/>
                      </a:rPr>
                      <m:t>=</m:t>
                    </m:r>
                    <m:r>
                      <a:rPr lang="en-US" altLang="zh-CN" sz="1800" b="0" i="1" smtClean="0">
                        <a:latin typeface="Cambria Math" panose="02040503050406030204" pitchFamily="18" charset="0"/>
                      </a:rPr>
                      <m:t>𝑊</m:t>
                    </m:r>
                    <m:r>
                      <a:rPr lang="zh-CN" altLang="en-US" sz="1800" b="0" i="1">
                        <a:latin typeface="Cambria Math" panose="02040503050406030204" pitchFamily="18" charset="0"/>
                      </a:rPr>
                      <m:t>，</m:t>
                    </m:r>
                  </m:oMath>
                </a14:m>
                <a:r>
                  <a:rPr lang="zh-CN" altLang="en-US" sz="1800" b="0" dirty="0">
                    <a:latin typeface="微软雅黑" panose="020B0503020204020204" pitchFamily="34" charset="-122"/>
                    <a:ea typeface="微软雅黑" panose="020B0503020204020204" pitchFamily="34" charset="-122"/>
                  </a:rPr>
                  <a:t>或者</a:t>
                </a:r>
                <a14:m>
                  <m:oMath xmlns:m="http://schemas.openxmlformats.org/officeDocument/2006/math">
                    <m:f>
                      <m:fPr>
                        <m:ctrlPr>
                          <a:rPr lang="en-US" altLang="zh-CN" sz="1800" b="0" i="1">
                            <a:latin typeface="Cambria Math" panose="02040503050406030204" pitchFamily="18" charset="0"/>
                          </a:rPr>
                        </m:ctrlPr>
                      </m:fPr>
                      <m:num>
                        <m:r>
                          <a:rPr lang="en-US" altLang="zh-CN" sz="1800" b="0" i="1" smtClean="0">
                            <a:latin typeface="Cambria Math" panose="02040503050406030204" pitchFamily="18" charset="0"/>
                          </a:rPr>
                          <m:t>𝑑</m:t>
                        </m:r>
                        <m:r>
                          <a:rPr lang="en-US" altLang="zh-CN" sz="1800" b="0" i="1">
                            <a:latin typeface="Cambria Math" panose="02040503050406030204" pitchFamily="18" charset="0"/>
                          </a:rPr>
                          <m:t>𝐶</m:t>
                        </m:r>
                      </m:num>
                      <m:den>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r>
                      <a:rPr lang="en-US" altLang="zh-CN" sz="1800" b="0" i="1">
                        <a:latin typeface="Cambria Math" panose="02040503050406030204" pitchFamily="18" charset="0"/>
                      </a:rPr>
                      <m:t>=</m:t>
                    </m:r>
                    <m:r>
                      <a:rPr lang="en-US" altLang="zh-CN" sz="1800" b="0" i="1">
                        <a:latin typeface="Cambria Math" panose="02040503050406030204" pitchFamily="18" charset="0"/>
                      </a:rPr>
                      <m:t>𝑊</m:t>
                    </m:r>
                  </m:oMath>
                </a14:m>
                <a:endParaRPr lang="zh-CN" altLang="en-US" sz="1800" b="0" dirty="0">
                  <a:latin typeface="微软雅黑" panose="020B0503020204020204" pitchFamily="34" charset="-122"/>
                  <a:ea typeface="微软雅黑" panose="020B0503020204020204" pitchFamily="34" charset="-122"/>
                </a:endParaRPr>
              </a:p>
            </p:txBody>
          </p:sp>
        </mc:Choice>
        <mc:Fallback xmlns="">
          <p:sp>
            <p:nvSpPr>
              <p:cNvPr id="56322" name="Rectangle 3"/>
              <p:cNvSpPr>
                <a:spLocks noGrp="1" noRot="1" noChangeAspect="1" noMove="1" noResize="1" noEditPoints="1" noAdjustHandles="1" noChangeArrowheads="1" noChangeShapeType="1" noTextEdit="1"/>
              </p:cNvSpPr>
              <p:nvPr>
                <p:ph type="body" idx="4294967295"/>
              </p:nvPr>
            </p:nvSpPr>
            <p:spPr>
              <a:xfrm>
                <a:off x="499969" y="1268850"/>
                <a:ext cx="8104311" cy="5143500"/>
              </a:xfrm>
              <a:blipFill>
                <a:blip r:embed="rId2"/>
                <a:stretch>
                  <a:fillRect l="-677"/>
                </a:stretch>
              </a:blipFill>
              <a:ln/>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F68E5273-CD77-47B9-B841-9D29349C133D}"/>
              </a:ext>
            </a:extLst>
          </p:cNvPr>
          <p:cNvSpPr/>
          <p:nvPr/>
        </p:nvSpPr>
        <p:spPr>
          <a:xfrm>
            <a:off x="467544"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一、产品卖方垄断条件下的要素价格决定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814C497C-3E79-4831-A1E9-7EA7D79A2505}"/>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22">
                                            <p:txEl>
                                              <p:pRg st="0" end="0"/>
                                            </p:txEl>
                                          </p:spTgt>
                                        </p:tgtEl>
                                        <p:attrNameLst>
                                          <p:attrName>style.visibility</p:attrName>
                                        </p:attrNameLst>
                                      </p:cBhvr>
                                      <p:to>
                                        <p:strVal val="visible"/>
                                      </p:to>
                                    </p:set>
                                    <p:animEffect>
                                      <p:cBhvr>
                                        <p:cTn id="12" dur="500"/>
                                        <p:tgtEl>
                                          <p:spTgt spid="563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322">
                                            <p:txEl>
                                              <p:pRg st="1" end="1"/>
                                            </p:txEl>
                                          </p:spTgt>
                                        </p:tgtEl>
                                        <p:attrNameLst>
                                          <p:attrName>style.visibility</p:attrName>
                                        </p:attrNameLst>
                                      </p:cBhvr>
                                      <p:to>
                                        <p:strVal val="visible"/>
                                      </p:to>
                                    </p:set>
                                    <p:animEffect>
                                      <p:cBhvr>
                                        <p:cTn id="17" dur="500"/>
                                        <p:tgtEl>
                                          <p:spTgt spid="5632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22">
                                            <p:txEl>
                                              <p:pRg st="2" end="2"/>
                                            </p:txEl>
                                          </p:spTgt>
                                        </p:tgtEl>
                                        <p:attrNameLst>
                                          <p:attrName>style.visibility</p:attrName>
                                        </p:attrNameLst>
                                      </p:cBhvr>
                                      <p:to>
                                        <p:strVal val="visible"/>
                                      </p:to>
                                    </p:set>
                                    <p:animEffect>
                                      <p:cBhvr>
                                        <p:cTn id="22" dur="500"/>
                                        <p:tgtEl>
                                          <p:spTgt spid="5632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322">
                                            <p:txEl>
                                              <p:pRg st="3" end="3"/>
                                            </p:txEl>
                                          </p:spTgt>
                                        </p:tgtEl>
                                        <p:attrNameLst>
                                          <p:attrName>style.visibility</p:attrName>
                                        </p:attrNameLst>
                                      </p:cBhvr>
                                      <p:to>
                                        <p:strVal val="visible"/>
                                      </p:to>
                                    </p:set>
                                    <p:animEffect>
                                      <p:cBhvr>
                                        <p:cTn id="27" dur="500"/>
                                        <p:tgtEl>
                                          <p:spTgt spid="5632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322">
                                            <p:txEl>
                                              <p:pRg st="4" end="4"/>
                                            </p:txEl>
                                          </p:spTgt>
                                        </p:tgtEl>
                                        <p:attrNameLst>
                                          <p:attrName>style.visibility</p:attrName>
                                        </p:attrNameLst>
                                      </p:cBhvr>
                                      <p:to>
                                        <p:strVal val="visible"/>
                                      </p:to>
                                    </p:set>
                                    <p:animEffect>
                                      <p:cBhvr>
                                        <p:cTn id="32" dur="500"/>
                                        <p:tgtEl>
                                          <p:spTgt spid="563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322" name="Rectangle 3"/>
              <p:cNvSpPr>
                <a:spLocks noGrp="1" noChangeArrowheads="1"/>
              </p:cNvSpPr>
              <p:nvPr>
                <p:ph type="body" idx="4294967295"/>
              </p:nvPr>
            </p:nvSpPr>
            <p:spPr>
              <a:xfrm>
                <a:off x="457200" y="1124840"/>
                <a:ext cx="8229600" cy="5361555"/>
              </a:xfrm>
              <a:ln/>
            </p:spPr>
            <p:txBody>
              <a:bodyPr/>
              <a:lstStyle/>
              <a:p>
                <a:pPr marL="457200" lvl="2" indent="-457200" eaLnBrk="1" hangingPunct="1">
                  <a:lnSpc>
                    <a:spcPct val="1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卖方垄断使用要素的边际收益</a:t>
                </a:r>
                <a:endParaRPr lang="en-US" altLang="zh-CN" sz="2000" b="0" dirty="0">
                  <a:latin typeface="微软雅黑" panose="020B0503020204020204" pitchFamily="34" charset="-122"/>
                  <a:ea typeface="微软雅黑" panose="020B0503020204020204" pitchFamily="34" charset="-122"/>
                </a:endParaRPr>
              </a:p>
              <a:p>
                <a:pPr marL="800100" lvl="3"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这个边际收益叫做边际收益产品</a:t>
                </a:r>
                <a:r>
                  <a:rPr lang="en-US" altLang="zh-CN" sz="1800" b="0" dirty="0">
                    <a:latin typeface="微软雅黑" panose="020B0503020204020204" pitchFamily="34" charset="-122"/>
                    <a:ea typeface="微软雅黑" panose="020B0503020204020204" pitchFamily="34" charset="-122"/>
                  </a:rPr>
                  <a:t>MRP</a:t>
                </a:r>
              </a:p>
              <a:p>
                <a:pPr marL="400050" lvl="2" indent="0" algn="ctr" eaLnBrk="1" hangingPunct="1">
                  <a:lnSpc>
                    <a:spcPct val="150000"/>
                  </a:lnSpc>
                  <a:buNone/>
                </a:pPr>
                <a14:m>
                  <m:oMath xmlns:m="http://schemas.openxmlformats.org/officeDocument/2006/math">
                    <m:r>
                      <a:rPr lang="en-US" altLang="zh-CN" sz="1800" b="0" i="1">
                        <a:latin typeface="Cambria Math" panose="02040503050406030204" pitchFamily="18" charset="0"/>
                      </a:rPr>
                      <m:t>𝑀𝑅𝑃</m:t>
                    </m:r>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𝑅</m:t>
                        </m:r>
                      </m:num>
                      <m:den>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𝐿</m:t>
                        </m:r>
                      </m:den>
                    </m:f>
                  </m:oMath>
                </a14:m>
                <a:r>
                  <a:rPr lang="zh-CN" altLang="en-US" sz="1800" b="0" dirty="0">
                    <a:latin typeface="微软雅黑" panose="020B0503020204020204" pitchFamily="34" charset="-122"/>
                    <a:ea typeface="微软雅黑" panose="020B0503020204020204" pitchFamily="34" charset="-122"/>
                  </a:rPr>
                  <a:t>或</a:t>
                </a:r>
                <a:r>
                  <a:rPr lang="en-US" altLang="zh-CN" sz="1800" b="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800" b="0" i="1">
                            <a:latin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𝑅</m:t>
                        </m:r>
                      </m:num>
                      <m:den>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endParaRPr lang="en-US" altLang="zh-CN" sz="18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en-US" altLang="zh-CN" sz="1800" b="0" dirty="0">
                    <a:latin typeface="微软雅黑" panose="020B0503020204020204" pitchFamily="34" charset="-122"/>
                    <a:ea typeface="微软雅黑" panose="020B0503020204020204" pitchFamily="34" charset="-122"/>
                  </a:rPr>
                  <a:t>MRP</a:t>
                </a:r>
                <a:r>
                  <a:rPr lang="zh-CN" altLang="en-US" sz="1800" b="0" dirty="0">
                    <a:latin typeface="微软雅黑" panose="020B0503020204020204" pitchFamily="34" charset="-122"/>
                    <a:ea typeface="微软雅黑" panose="020B0503020204020204" pitchFamily="34" charset="-122"/>
                  </a:rPr>
                  <a:t>的决定因素：</a:t>
                </a:r>
                <a:endParaRPr lang="en-US" altLang="zh-CN" sz="1800" b="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L——Q——R</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800" b="0" dirty="0">
                    <a:latin typeface="微软雅黑" panose="020B0503020204020204" pitchFamily="34" charset="-122"/>
                    <a:ea typeface="微软雅黑" panose="020B0503020204020204" pitchFamily="34" charset="-122"/>
                  </a:rPr>
                  <a:t>R(Q(L)) </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14:m>
                  <m:oMath xmlns:m="http://schemas.openxmlformats.org/officeDocument/2006/math">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𝑅</m:t>
                        </m:r>
                      </m:num>
                      <m:den>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r>
                  <a:rPr lang="en-US" altLang="zh-CN" sz="1800" b="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800" b="0" i="1">
                            <a:latin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𝑅</m:t>
                        </m:r>
                      </m:num>
                      <m:den>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𝑄</m:t>
                        </m:r>
                      </m:den>
                    </m:f>
                    <m:r>
                      <a:rPr lang="en-US" altLang="zh-CN" sz="1800" b="0" i="1">
                        <a:latin typeface="Cambria Math" panose="02040503050406030204" pitchFamily="18" charset="0"/>
                        <a:ea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𝑄</m:t>
                        </m:r>
                      </m:num>
                      <m:den>
                        <m:r>
                          <a:rPr lang="en-US" altLang="zh-CN" sz="1800" b="0" i="1" smtClean="0">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r>
                  <a:rPr lang="en-US" altLang="zh-CN" sz="1800" b="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b="0" i="1">
                        <a:latin typeface="Cambria Math" panose="02040503050406030204" pitchFamily="18" charset="0"/>
                      </a:rPr>
                      <m:t>𝑀𝑅</m:t>
                    </m:r>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𝑀</m:t>
                    </m:r>
                  </m:oMath>
                </a14:m>
                <a:r>
                  <a:rPr lang="en-US" altLang="zh-CN" sz="1800" b="0" i="1" dirty="0">
                    <a:latin typeface="微软雅黑" panose="020B0503020204020204" pitchFamily="34" charset="-122"/>
                    <a:ea typeface="微软雅黑" panose="020B0503020204020204" pitchFamily="34" charset="-122"/>
                  </a:rPr>
                  <a:t>P</a:t>
                </a:r>
              </a:p>
              <a:p>
                <a:pPr marL="400050" lvl="2" indent="0" algn="ctr" eaLnBrk="1" hangingPunct="1">
                  <a:lnSpc>
                    <a:spcPct val="150000"/>
                  </a:lnSpc>
                  <a:buNone/>
                </a:pPr>
                <a14:m>
                  <m:oMath xmlns:m="http://schemas.openxmlformats.org/officeDocument/2006/math">
                    <m:r>
                      <a:rPr lang="en-US" altLang="zh-CN" sz="1800" b="0">
                        <a:latin typeface="Cambria Math" panose="02040503050406030204" pitchFamily="18" charset="0"/>
                      </a:rPr>
                      <m:t>𝑀𝑅𝑃</m:t>
                    </m:r>
                    <m:r>
                      <a:rPr lang="en-US" altLang="zh-CN" sz="1800" b="0">
                        <a:latin typeface="Cambria Math" panose="02040503050406030204" pitchFamily="18" charset="0"/>
                      </a:rPr>
                      <m:t>=</m:t>
                    </m:r>
                    <m:f>
                      <m:fPr>
                        <m:ctrlPr>
                          <a:rPr lang="en-US" altLang="zh-CN" sz="1800" b="0" i="1">
                            <a:latin typeface="Cambria Math" panose="02040503050406030204" pitchFamily="18" charset="0"/>
                          </a:rPr>
                        </m:ctrlPr>
                      </m:fPr>
                      <m:num>
                        <m:r>
                          <m:rPr>
                            <m:sty m:val="p"/>
                          </m:rPr>
                          <a:rPr lang="en-US" altLang="zh-CN" sz="1800" b="0" i="0" smtClean="0">
                            <a:latin typeface="Cambria Math" panose="02040503050406030204" pitchFamily="18" charset="0"/>
                          </a:rPr>
                          <m:t>d</m:t>
                        </m:r>
                        <m:r>
                          <a:rPr lang="en-US" altLang="zh-CN" sz="1800" b="0">
                            <a:latin typeface="Cambria Math" panose="02040503050406030204" pitchFamily="18" charset="0"/>
                          </a:rPr>
                          <m:t>𝑅</m:t>
                        </m:r>
                      </m:num>
                      <m:den>
                        <m:r>
                          <m:rPr>
                            <m:sty m:val="p"/>
                          </m:rPr>
                          <a:rPr lang="en-US" altLang="zh-CN" sz="1800" b="0" i="0" smtClean="0">
                            <a:latin typeface="Cambria Math" panose="02040503050406030204" pitchFamily="18" charset="0"/>
                          </a:rPr>
                          <m:t>d</m:t>
                        </m:r>
                        <m:r>
                          <a:rPr lang="en-US" altLang="zh-CN" sz="1800" b="0">
                            <a:latin typeface="Cambria Math" panose="02040503050406030204" pitchFamily="18" charset="0"/>
                          </a:rPr>
                          <m:t>𝐿</m:t>
                        </m:r>
                      </m:den>
                    </m:f>
                    <m:r>
                      <a:rPr lang="en-US" altLang="zh-CN" sz="1800" b="0">
                        <a:latin typeface="Cambria Math" panose="02040503050406030204" pitchFamily="18" charset="0"/>
                      </a:rPr>
                      <m:t>=</m:t>
                    </m:r>
                    <m:r>
                      <a:rPr lang="en-US" altLang="zh-CN" sz="1800" b="0">
                        <a:latin typeface="Cambria Math" panose="02040503050406030204" pitchFamily="18" charset="0"/>
                      </a:rPr>
                      <m:t>𝑀𝑅</m:t>
                    </m:r>
                    <m:r>
                      <a:rPr lang="en-US" altLang="zh-CN" sz="1800" b="0">
                        <a:latin typeface="Cambria Math" panose="02040503050406030204" pitchFamily="18" charset="0"/>
                      </a:rPr>
                      <m:t>∙</m:t>
                    </m:r>
                    <m:r>
                      <a:rPr lang="en-US" altLang="zh-CN" sz="1800" b="0">
                        <a:latin typeface="Cambria Math" panose="02040503050406030204" pitchFamily="18" charset="0"/>
                      </a:rPr>
                      <m:t>𝑀</m:t>
                    </m:r>
                  </m:oMath>
                </a14:m>
                <a:r>
                  <a:rPr lang="en-US" altLang="zh-CN" sz="1800" b="0" dirty="0">
                    <a:latin typeface="微软雅黑" panose="020B0503020204020204" pitchFamily="34" charset="-122"/>
                    <a:ea typeface="微软雅黑" panose="020B0503020204020204" pitchFamily="34" charset="-122"/>
                  </a:rPr>
                  <a:t>P</a:t>
                </a:r>
              </a:p>
              <a:p>
                <a:pPr marL="457200" lvl="2" indent="-457200" eaLnBrk="1" hangingPunct="1">
                  <a:lnSpc>
                    <a:spcPct val="2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卖方垄断的要素使用原则</a:t>
                </a:r>
                <a:endParaRPr lang="en-US" altLang="zh-CN" sz="2000" b="0" dirty="0">
                  <a:latin typeface="微软雅黑" panose="020B0503020204020204" pitchFamily="34" charset="-122"/>
                  <a:ea typeface="微软雅黑" panose="020B0503020204020204" pitchFamily="34" charset="-122"/>
                </a:endParaRPr>
              </a:p>
              <a:p>
                <a:pPr marL="800100" lvl="3" indent="-342900" eaLnBrk="1" hangingPunct="1">
                  <a:lnSpc>
                    <a:spcPct val="150000"/>
                  </a:lnSpc>
                  <a:buFont typeface="Wingdings" panose="05000000000000000000" pitchFamily="2" charset="2"/>
                  <a:buChar char="Ø"/>
                </a:pPr>
                <a:r>
                  <a:rPr lang="en-US" altLang="zh-CN" sz="1800" b="0" dirty="0">
                    <a:latin typeface="微软雅黑" panose="020B0503020204020204" pitchFamily="34" charset="-122"/>
                    <a:ea typeface="微软雅黑" panose="020B0503020204020204" pitchFamily="34" charset="-122"/>
                  </a:rPr>
                  <a:t>MRP=W</a:t>
                </a:r>
                <a:r>
                  <a:rPr lang="zh-CN" altLang="en-US" sz="1800" b="0" dirty="0">
                    <a:latin typeface="微软雅黑" panose="020B0503020204020204" pitchFamily="34" charset="-122"/>
                    <a:ea typeface="微软雅黑" panose="020B0503020204020204" pitchFamily="34" charset="-122"/>
                  </a:rPr>
                  <a:t>，或者</a:t>
                </a:r>
                <a:r>
                  <a:rPr lang="en-US" altLang="zh-CN" sz="1800" b="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b="0" i="1">
                        <a:latin typeface="Cambria Math" panose="02040503050406030204" pitchFamily="18" charset="0"/>
                      </a:rPr>
                      <m:t>𝑀𝑅</m:t>
                    </m:r>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𝑀𝑃</m:t>
                    </m:r>
                    <m:r>
                      <a:rPr lang="en-US" altLang="zh-CN" sz="1800" b="0" i="1">
                        <a:latin typeface="Cambria Math" panose="02040503050406030204" pitchFamily="18" charset="0"/>
                      </a:rPr>
                      <m:t>=</m:t>
                    </m:r>
                    <m:r>
                      <a:rPr lang="en-US" altLang="zh-CN" sz="1800" b="0" i="1">
                        <a:latin typeface="Cambria Math" panose="02040503050406030204" pitchFamily="18" charset="0"/>
                      </a:rPr>
                      <m:t>𝑊</m:t>
                    </m:r>
                  </m:oMath>
                </a14:m>
                <a:endParaRPr lang="en-US" altLang="zh-CN" sz="1800" b="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en-US" altLang="zh-CN" sz="2000" b="0" dirty="0">
                    <a:latin typeface="微软雅黑" panose="020B0503020204020204" pitchFamily="34" charset="-122"/>
                    <a:ea typeface="微软雅黑" panose="020B0503020204020204" pitchFamily="34" charset="-122"/>
                  </a:rPr>
                  <a:t>    </a:t>
                </a:r>
              </a:p>
              <a:p>
                <a:pPr marL="400050" lvl="2" indent="0" eaLnBrk="1" hangingPunct="1">
                  <a:lnSpc>
                    <a:spcPct val="150000"/>
                  </a:lnSpc>
                  <a:buNone/>
                </a:pPr>
                <a:endParaRPr lang="en-US" altLang="zh-CN" sz="2000" b="0" dirty="0">
                  <a:latin typeface="微软雅黑" panose="020B0503020204020204" pitchFamily="34" charset="-122"/>
                  <a:ea typeface="微软雅黑" panose="020B0503020204020204" pitchFamily="34" charset="-122"/>
                </a:endParaRPr>
              </a:p>
            </p:txBody>
          </p:sp>
        </mc:Choice>
        <mc:Fallback xmlns="">
          <p:sp>
            <p:nvSpPr>
              <p:cNvPr id="56322" name="Rectangle 3"/>
              <p:cNvSpPr>
                <a:spLocks noGrp="1" noRot="1" noChangeAspect="1" noMove="1" noResize="1" noEditPoints="1" noAdjustHandles="1" noChangeArrowheads="1" noChangeShapeType="1" noTextEdit="1"/>
              </p:cNvSpPr>
              <p:nvPr>
                <p:ph type="body" idx="4294967295"/>
              </p:nvPr>
            </p:nvSpPr>
            <p:spPr>
              <a:xfrm>
                <a:off x="457200" y="1124840"/>
                <a:ext cx="8229600" cy="5361555"/>
              </a:xfrm>
              <a:blipFill>
                <a:blip r:embed="rId2"/>
                <a:stretch>
                  <a:fillRect l="-667"/>
                </a:stretch>
              </a:blipFill>
              <a:ln/>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F68E5273-CD77-47B9-B841-9D29349C133D}"/>
              </a:ext>
            </a:extLst>
          </p:cNvPr>
          <p:cNvSpPr/>
          <p:nvPr/>
        </p:nvSpPr>
        <p:spPr>
          <a:xfrm>
            <a:off x="467544"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一、产品卖方垄断条件下的要素价格决定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C330E3C4-ED90-483E-B139-EE48BBE54CA6}"/>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86469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Effect>
                                      <p:cBhvr>
                                        <p:cTn id="7" dur="500"/>
                                        <p:tgtEl>
                                          <p:spTgt spid="563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22">
                                            <p:txEl>
                                              <p:pRg st="1" end="1"/>
                                            </p:txEl>
                                          </p:spTgt>
                                        </p:tgtEl>
                                        <p:attrNameLst>
                                          <p:attrName>style.visibility</p:attrName>
                                        </p:attrNameLst>
                                      </p:cBhvr>
                                      <p:to>
                                        <p:strVal val="visible"/>
                                      </p:to>
                                    </p:set>
                                    <p:animEffect>
                                      <p:cBhvr>
                                        <p:cTn id="12" dur="500"/>
                                        <p:tgtEl>
                                          <p:spTgt spid="563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322">
                                            <p:txEl>
                                              <p:pRg st="2" end="2"/>
                                            </p:txEl>
                                          </p:spTgt>
                                        </p:tgtEl>
                                        <p:attrNameLst>
                                          <p:attrName>style.visibility</p:attrName>
                                        </p:attrNameLst>
                                      </p:cBhvr>
                                      <p:to>
                                        <p:strVal val="visible"/>
                                      </p:to>
                                    </p:set>
                                    <p:animEffect>
                                      <p:cBhvr>
                                        <p:cTn id="17" dur="500"/>
                                        <p:tgtEl>
                                          <p:spTgt spid="563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22">
                                            <p:txEl>
                                              <p:pRg st="3" end="3"/>
                                            </p:txEl>
                                          </p:spTgt>
                                        </p:tgtEl>
                                        <p:attrNameLst>
                                          <p:attrName>style.visibility</p:attrName>
                                        </p:attrNameLst>
                                      </p:cBhvr>
                                      <p:to>
                                        <p:strVal val="visible"/>
                                      </p:to>
                                    </p:set>
                                    <p:animEffect>
                                      <p:cBhvr>
                                        <p:cTn id="22" dur="500"/>
                                        <p:tgtEl>
                                          <p:spTgt spid="563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322">
                                            <p:txEl>
                                              <p:pRg st="4" end="4"/>
                                            </p:txEl>
                                          </p:spTgt>
                                        </p:tgtEl>
                                        <p:attrNameLst>
                                          <p:attrName>style.visibility</p:attrName>
                                        </p:attrNameLst>
                                      </p:cBhvr>
                                      <p:to>
                                        <p:strVal val="visible"/>
                                      </p:to>
                                    </p:set>
                                    <p:animEffect>
                                      <p:cBhvr>
                                        <p:cTn id="27" dur="500"/>
                                        <p:tgtEl>
                                          <p:spTgt spid="563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322">
                                            <p:txEl>
                                              <p:pRg st="5" end="5"/>
                                            </p:txEl>
                                          </p:spTgt>
                                        </p:tgtEl>
                                        <p:attrNameLst>
                                          <p:attrName>style.visibility</p:attrName>
                                        </p:attrNameLst>
                                      </p:cBhvr>
                                      <p:to>
                                        <p:strVal val="visible"/>
                                      </p:to>
                                    </p:set>
                                    <p:animEffect>
                                      <p:cBhvr>
                                        <p:cTn id="32" dur="500"/>
                                        <p:tgtEl>
                                          <p:spTgt spid="563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6322">
                                            <p:txEl>
                                              <p:pRg st="6" end="6"/>
                                            </p:txEl>
                                          </p:spTgt>
                                        </p:tgtEl>
                                        <p:attrNameLst>
                                          <p:attrName>style.visibility</p:attrName>
                                        </p:attrNameLst>
                                      </p:cBhvr>
                                      <p:to>
                                        <p:strVal val="visible"/>
                                      </p:to>
                                    </p:set>
                                    <p:animEffect>
                                      <p:cBhvr>
                                        <p:cTn id="37" dur="500"/>
                                        <p:tgtEl>
                                          <p:spTgt spid="563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6322">
                                            <p:txEl>
                                              <p:pRg st="7" end="7"/>
                                            </p:txEl>
                                          </p:spTgt>
                                        </p:tgtEl>
                                        <p:attrNameLst>
                                          <p:attrName>style.visibility</p:attrName>
                                        </p:attrNameLst>
                                      </p:cBhvr>
                                      <p:to>
                                        <p:strVal val="visible"/>
                                      </p:to>
                                    </p:set>
                                    <p:animEffect>
                                      <p:cBhvr>
                                        <p:cTn id="42" dur="500"/>
                                        <p:tgtEl>
                                          <p:spTgt spid="563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6322">
                                            <p:txEl>
                                              <p:pRg st="8" end="8"/>
                                            </p:txEl>
                                          </p:spTgt>
                                        </p:tgtEl>
                                        <p:attrNameLst>
                                          <p:attrName>style.visibility</p:attrName>
                                        </p:attrNameLst>
                                      </p:cBhvr>
                                      <p:to>
                                        <p:strVal val="visible"/>
                                      </p:to>
                                    </p:set>
                                    <p:animEffect>
                                      <p:cBhvr>
                                        <p:cTn id="47" dur="500"/>
                                        <p:tgtEl>
                                          <p:spTgt spid="563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idx="4294967295"/>
          </p:nvPr>
        </p:nvSpPr>
        <p:spPr>
          <a:xfrm>
            <a:off x="439738" y="1304594"/>
            <a:ext cx="8229600" cy="515936"/>
          </a:xfrm>
          <a:ln/>
        </p:spPr>
        <p:txBody>
          <a:bodyPr/>
          <a:lstStyle/>
          <a:p>
            <a:pPr marL="342900" lvl="2" indent="-342900" eaLnBrk="1" hangingPunct="1">
              <a:buFont typeface="Wingdings" panose="05000000000000000000" pitchFamily="2" charset="2"/>
              <a:buChar char="u"/>
            </a:pPr>
            <a:r>
              <a:rPr lang="zh-CN" altLang="en-US" sz="2000" b="0" dirty="0">
                <a:solidFill>
                  <a:srgbClr val="000000"/>
                </a:solidFill>
                <a:latin typeface="微软雅黑" panose="020B0503020204020204" pitchFamily="34" charset="-122"/>
                <a:ea typeface="微软雅黑" panose="020B0503020204020204" pitchFamily="34" charset="-122"/>
              </a:rPr>
              <a:t>卖方垄断企业的要素需求曲线</a:t>
            </a:r>
            <a:endParaRPr lang="en-US" altLang="zh-CN" sz="2000" b="0" dirty="0">
              <a:solidFill>
                <a:srgbClr val="000000"/>
              </a:solidFill>
              <a:latin typeface="微软雅黑" panose="020B0503020204020204" pitchFamily="34" charset="-122"/>
              <a:ea typeface="微软雅黑" panose="020B0503020204020204" pitchFamily="34" charset="-122"/>
            </a:endParaRPr>
          </a:p>
          <a:p>
            <a:pPr lvl="1" eaLnBrk="1" hangingPunct="1">
              <a:buFontTx/>
              <a:buNone/>
            </a:pPr>
            <a:endParaRPr lang="zh-CN" altLang="en-US" sz="2000" dirty="0"/>
          </a:p>
        </p:txBody>
      </p:sp>
      <p:sp>
        <p:nvSpPr>
          <p:cNvPr id="57347" name="Line 4"/>
          <p:cNvSpPr>
            <a:spLocks noChangeShapeType="1"/>
          </p:cNvSpPr>
          <p:nvPr/>
        </p:nvSpPr>
        <p:spPr bwMode="auto">
          <a:xfrm flipV="1">
            <a:off x="1581150" y="2282825"/>
            <a:ext cx="0" cy="3609975"/>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48" name="Line 5"/>
          <p:cNvSpPr>
            <a:spLocks noChangeShapeType="1"/>
          </p:cNvSpPr>
          <p:nvPr/>
        </p:nvSpPr>
        <p:spPr bwMode="auto">
          <a:xfrm>
            <a:off x="1581150" y="5895975"/>
            <a:ext cx="4838700" cy="1588"/>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49" name="Text Box 6"/>
          <p:cNvSpPr>
            <a:spLocks noChangeArrowheads="1"/>
          </p:cNvSpPr>
          <p:nvPr/>
        </p:nvSpPr>
        <p:spPr bwMode="auto">
          <a:xfrm>
            <a:off x="1071563" y="2282825"/>
            <a:ext cx="67945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57350" name="Text Box 7"/>
          <p:cNvSpPr>
            <a:spLocks noChangeArrowheads="1"/>
          </p:cNvSpPr>
          <p:nvPr/>
        </p:nvSpPr>
        <p:spPr bwMode="auto">
          <a:xfrm>
            <a:off x="1239838" y="5811838"/>
            <a:ext cx="366712"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57351" name="Text Box 8"/>
          <p:cNvSpPr>
            <a:spLocks noChangeArrowheads="1"/>
          </p:cNvSpPr>
          <p:nvPr/>
        </p:nvSpPr>
        <p:spPr bwMode="auto">
          <a:xfrm>
            <a:off x="6081713" y="5895975"/>
            <a:ext cx="36671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57352" name="Line 9"/>
          <p:cNvSpPr>
            <a:spLocks noChangeShapeType="1"/>
          </p:cNvSpPr>
          <p:nvPr/>
        </p:nvSpPr>
        <p:spPr bwMode="auto">
          <a:xfrm>
            <a:off x="2600325" y="2871788"/>
            <a:ext cx="3140075" cy="252253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53" name="Text Box 10"/>
          <p:cNvSpPr>
            <a:spLocks noChangeArrowheads="1"/>
          </p:cNvSpPr>
          <p:nvPr/>
        </p:nvSpPr>
        <p:spPr bwMode="auto">
          <a:xfrm>
            <a:off x="1071563" y="3208338"/>
            <a:ext cx="5937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0</a:t>
            </a:r>
            <a:endParaRPr lang="zh-CN" altLang="en-US"/>
          </a:p>
        </p:txBody>
      </p:sp>
      <p:sp>
        <p:nvSpPr>
          <p:cNvPr id="57354" name="Line 11"/>
          <p:cNvSpPr>
            <a:spLocks noChangeShapeType="1"/>
          </p:cNvSpPr>
          <p:nvPr/>
        </p:nvSpPr>
        <p:spPr bwMode="auto">
          <a:xfrm>
            <a:off x="1581150" y="3375025"/>
            <a:ext cx="1612900" cy="158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55" name="Line 12"/>
          <p:cNvSpPr>
            <a:spLocks noChangeShapeType="1"/>
          </p:cNvSpPr>
          <p:nvPr/>
        </p:nvSpPr>
        <p:spPr bwMode="auto">
          <a:xfrm>
            <a:off x="3194050" y="3375025"/>
            <a:ext cx="0" cy="252095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56" name="Text Box 13"/>
          <p:cNvSpPr>
            <a:spLocks noChangeArrowheads="1"/>
          </p:cNvSpPr>
          <p:nvPr/>
        </p:nvSpPr>
        <p:spPr bwMode="auto">
          <a:xfrm>
            <a:off x="1177925" y="4419600"/>
            <a:ext cx="5730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57357" name="Text Box 14"/>
          <p:cNvSpPr>
            <a:spLocks noChangeArrowheads="1"/>
          </p:cNvSpPr>
          <p:nvPr/>
        </p:nvSpPr>
        <p:spPr bwMode="auto">
          <a:xfrm>
            <a:off x="1762125" y="3587750"/>
            <a:ext cx="3651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solidFill>
                <a:srgbClr val="000000"/>
              </a:solidFill>
              <a:sym typeface="Arial" panose="020B0604020202020204" pitchFamily="34" charset="0"/>
            </a:endParaRPr>
          </a:p>
        </p:txBody>
      </p:sp>
      <p:sp>
        <p:nvSpPr>
          <p:cNvPr id="57358" name="Text Box 15"/>
          <p:cNvSpPr>
            <a:spLocks noChangeArrowheads="1"/>
          </p:cNvSpPr>
          <p:nvPr/>
        </p:nvSpPr>
        <p:spPr bwMode="auto">
          <a:xfrm>
            <a:off x="2260600" y="2536825"/>
            <a:ext cx="22066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MRP=MR • MP</a:t>
            </a:r>
            <a:endParaRPr lang="zh-CN" altLang="en-US" dirty="0"/>
          </a:p>
        </p:txBody>
      </p:sp>
      <p:sp>
        <p:nvSpPr>
          <p:cNvPr id="57359" name="Text Box 16"/>
          <p:cNvSpPr>
            <a:spLocks noChangeArrowheads="1"/>
          </p:cNvSpPr>
          <p:nvPr/>
        </p:nvSpPr>
        <p:spPr bwMode="auto">
          <a:xfrm>
            <a:off x="2940050" y="5895975"/>
            <a:ext cx="76358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0</a:t>
            </a:r>
            <a:endParaRPr lang="zh-CN" altLang="en-US"/>
          </a:p>
        </p:txBody>
      </p:sp>
      <p:sp>
        <p:nvSpPr>
          <p:cNvPr id="57360" name="Line 17"/>
          <p:cNvSpPr>
            <a:spLocks noChangeShapeType="1"/>
          </p:cNvSpPr>
          <p:nvPr/>
        </p:nvSpPr>
        <p:spPr bwMode="auto">
          <a:xfrm>
            <a:off x="1581150" y="4467225"/>
            <a:ext cx="2973388"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61" name="Line 18"/>
          <p:cNvSpPr>
            <a:spLocks noChangeShapeType="1"/>
          </p:cNvSpPr>
          <p:nvPr/>
        </p:nvSpPr>
        <p:spPr bwMode="auto">
          <a:xfrm>
            <a:off x="4554538" y="4467225"/>
            <a:ext cx="1587" cy="142875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57362" name="Text Box 19"/>
          <p:cNvSpPr>
            <a:spLocks noChangeArrowheads="1"/>
          </p:cNvSpPr>
          <p:nvPr/>
        </p:nvSpPr>
        <p:spPr bwMode="auto">
          <a:xfrm>
            <a:off x="4383088" y="5895975"/>
            <a:ext cx="673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1</a:t>
            </a:r>
            <a:endParaRPr lang="zh-CN" altLang="en-US"/>
          </a:p>
        </p:txBody>
      </p:sp>
      <p:sp>
        <p:nvSpPr>
          <p:cNvPr id="57363" name="Text Box 20"/>
          <p:cNvSpPr>
            <a:spLocks noChangeArrowheads="1"/>
          </p:cNvSpPr>
          <p:nvPr/>
        </p:nvSpPr>
        <p:spPr bwMode="auto">
          <a:xfrm>
            <a:off x="1071563" y="4216400"/>
            <a:ext cx="6445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1</a:t>
            </a:r>
            <a:endParaRPr lang="zh-CN" altLang="en-US"/>
          </a:p>
        </p:txBody>
      </p:sp>
      <p:sp>
        <p:nvSpPr>
          <p:cNvPr id="57364" name="圆角矩形标注 20"/>
          <p:cNvSpPr>
            <a:spLocks noChangeArrowheads="1"/>
          </p:cNvSpPr>
          <p:nvPr/>
        </p:nvSpPr>
        <p:spPr bwMode="auto">
          <a:xfrm>
            <a:off x="4375944" y="1952808"/>
            <a:ext cx="3357562" cy="1464231"/>
          </a:xfrm>
          <a:prstGeom prst="wedgeRoundRectCallout">
            <a:avLst>
              <a:gd name="adj1" fmla="val -83944"/>
              <a:gd name="adj2" fmla="val 46046"/>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边际收益产品曲线向右下方倾斜。 因为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随着要素使用量的增加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从而产量增加</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一方面</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要素的边际产品</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MP</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会下降</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另一方面</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产品的边际收益</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也会下降。</a:t>
            </a:r>
            <a:endParaRPr lang="zh-CN" altLang="en-US" dirty="0">
              <a:latin typeface="微软雅黑" panose="020B0503020204020204" pitchFamily="34" charset="-122"/>
              <a:ea typeface="微软雅黑" panose="020B0503020204020204" pitchFamily="34" charset="-122"/>
            </a:endParaRPr>
          </a:p>
        </p:txBody>
      </p:sp>
      <p:sp>
        <p:nvSpPr>
          <p:cNvPr id="57365" name="圆角矩形标注 21"/>
          <p:cNvSpPr>
            <a:spLocks noChangeArrowheads="1"/>
          </p:cNvSpPr>
          <p:nvPr/>
        </p:nvSpPr>
        <p:spPr bwMode="auto">
          <a:xfrm>
            <a:off x="6157806" y="3501176"/>
            <a:ext cx="2928938" cy="2281476"/>
          </a:xfrm>
          <a:prstGeom prst="wedgeRoundRectCallout">
            <a:avLst>
              <a:gd name="adj1" fmla="val -81210"/>
              <a:gd name="adj2" fmla="val 14343"/>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当要素价格为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W0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W1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根据要素使用原则</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最优要素使用量分别为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L0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L1</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显然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(W0,L0)</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(W1,L1)</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既是要素需求曲线上的点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也是边际收益产品曲线上的点。 因此</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要素需求曲线与边际收益产品曲线重合。</a:t>
            </a:r>
            <a:endParaRPr lang="zh-CN" altLang="en-US" b="0" dirty="0">
              <a:solidFill>
                <a:srgbClr val="C00000"/>
              </a:solidFill>
              <a:latin typeface="微软雅黑" panose="020B0503020204020204" pitchFamily="34" charset="-122"/>
              <a:ea typeface="微软雅黑" panose="020B0503020204020204" pitchFamily="34" charset="-122"/>
            </a:endParaRPr>
          </a:p>
        </p:txBody>
      </p:sp>
      <p:sp>
        <p:nvSpPr>
          <p:cNvPr id="23" name="标题 1"/>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24" name="矩形 23">
            <a:extLst>
              <a:ext uri="{FF2B5EF4-FFF2-40B4-BE49-F238E27FC236}">
                <a16:creationId xmlns:a16="http://schemas.microsoft.com/office/drawing/2014/main" id="{F68E5273-CD77-47B9-B841-9D29349C133D}"/>
              </a:ext>
            </a:extLst>
          </p:cNvPr>
          <p:cNvSpPr/>
          <p:nvPr/>
        </p:nvSpPr>
        <p:spPr>
          <a:xfrm>
            <a:off x="467544"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一、产品卖方垄断条件下的要素价格决定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 calcmode="lin" valueType="num">
                                      <p:cBhvr>
                                        <p:cTn id="7" dur="500" fill="hold"/>
                                        <p:tgtEl>
                                          <p:spTgt spid="57346">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573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7349"/>
                                        </p:tgtEl>
                                        <p:attrNameLst>
                                          <p:attrName>style.visibility</p:attrName>
                                        </p:attrNameLst>
                                      </p:cBhvr>
                                      <p:to>
                                        <p:strVal val="visible"/>
                                      </p:to>
                                    </p:set>
                                    <p:animEffect>
                                      <p:cBhvr>
                                        <p:cTn id="13" dur="500"/>
                                        <p:tgtEl>
                                          <p:spTgt spid="5734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7347"/>
                                        </p:tgtEl>
                                        <p:attrNameLst>
                                          <p:attrName>style.visibility</p:attrName>
                                        </p:attrNameLst>
                                      </p:cBhvr>
                                      <p:to>
                                        <p:strVal val="visible"/>
                                      </p:to>
                                    </p:set>
                                    <p:animEffect>
                                      <p:cBhvr>
                                        <p:cTn id="16" dur="500"/>
                                        <p:tgtEl>
                                          <p:spTgt spid="57347"/>
                                        </p:tgtEl>
                                      </p:cBhvr>
                                    </p:animEffect>
                                  </p:childTnLst>
                                </p:cTn>
                              </p:par>
                              <p:par>
                                <p:cTn id="17" presetID="3" presetClass="entr" presetSubtype="10" fill="hold" nodeType="withEffect">
                                  <p:stCondLst>
                                    <p:cond delay="0"/>
                                  </p:stCondLst>
                                  <p:childTnLst>
                                    <p:set>
                                      <p:cBhvr>
                                        <p:cTn id="18" dur="1" fill="hold">
                                          <p:stCondLst>
                                            <p:cond delay="0"/>
                                          </p:stCondLst>
                                        </p:cTn>
                                        <p:tgtEl>
                                          <p:spTgt spid="57350"/>
                                        </p:tgtEl>
                                        <p:attrNameLst>
                                          <p:attrName>style.visibility</p:attrName>
                                        </p:attrNameLst>
                                      </p:cBhvr>
                                      <p:to>
                                        <p:strVal val="visible"/>
                                      </p:to>
                                    </p:set>
                                    <p:animEffect>
                                      <p:cBhvr>
                                        <p:cTn id="19" dur="500"/>
                                        <p:tgtEl>
                                          <p:spTgt spid="5735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7348"/>
                                        </p:tgtEl>
                                        <p:attrNameLst>
                                          <p:attrName>style.visibility</p:attrName>
                                        </p:attrNameLst>
                                      </p:cBhvr>
                                      <p:to>
                                        <p:strVal val="visible"/>
                                      </p:to>
                                    </p:set>
                                    <p:animEffect>
                                      <p:cBhvr>
                                        <p:cTn id="22" dur="500"/>
                                        <p:tgtEl>
                                          <p:spTgt spid="57348"/>
                                        </p:tgtEl>
                                      </p:cBhvr>
                                    </p:animEffect>
                                  </p:childTnLst>
                                </p:cTn>
                              </p:par>
                              <p:par>
                                <p:cTn id="23" presetID="3" presetClass="entr" presetSubtype="10" fill="hold" nodeType="withEffect">
                                  <p:stCondLst>
                                    <p:cond delay="0"/>
                                  </p:stCondLst>
                                  <p:childTnLst>
                                    <p:set>
                                      <p:cBhvr>
                                        <p:cTn id="24" dur="1" fill="hold">
                                          <p:stCondLst>
                                            <p:cond delay="0"/>
                                          </p:stCondLst>
                                        </p:cTn>
                                        <p:tgtEl>
                                          <p:spTgt spid="57351"/>
                                        </p:tgtEl>
                                        <p:attrNameLst>
                                          <p:attrName>style.visibility</p:attrName>
                                        </p:attrNameLst>
                                      </p:cBhvr>
                                      <p:to>
                                        <p:strVal val="visible"/>
                                      </p:to>
                                    </p:set>
                                    <p:animEffect>
                                      <p:cBhvr>
                                        <p:cTn id="25" dur="500"/>
                                        <p:tgtEl>
                                          <p:spTgt spid="5735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grpId="0" nodeType="clickEffect">
                                  <p:stCondLst>
                                    <p:cond delay="0"/>
                                  </p:stCondLst>
                                  <p:childTnLst>
                                    <p:set>
                                      <p:cBhvr>
                                        <p:cTn id="29" dur="1" fill="hold">
                                          <p:stCondLst>
                                            <p:cond delay="0"/>
                                          </p:stCondLst>
                                        </p:cTn>
                                        <p:tgtEl>
                                          <p:spTgt spid="57364"/>
                                        </p:tgtEl>
                                        <p:attrNameLst>
                                          <p:attrName>style.visibility</p:attrName>
                                        </p:attrNameLst>
                                      </p:cBhvr>
                                      <p:to>
                                        <p:strVal val="visible"/>
                                      </p:to>
                                    </p:set>
                                    <p:animEffect>
                                      <p:cBhvr>
                                        <p:cTn id="30" dur="500"/>
                                        <p:tgtEl>
                                          <p:spTgt spid="57364"/>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57358"/>
                                        </p:tgtEl>
                                        <p:attrNameLst>
                                          <p:attrName>style.visibility</p:attrName>
                                        </p:attrNameLst>
                                      </p:cBhvr>
                                      <p:to>
                                        <p:strVal val="visible"/>
                                      </p:to>
                                    </p:set>
                                    <p:animEffect>
                                      <p:cBhvr>
                                        <p:cTn id="35" dur="500"/>
                                        <p:tgtEl>
                                          <p:spTgt spid="57358"/>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57352"/>
                                        </p:tgtEl>
                                        <p:attrNameLst>
                                          <p:attrName>style.visibility</p:attrName>
                                        </p:attrNameLst>
                                      </p:cBhvr>
                                      <p:to>
                                        <p:strVal val="visible"/>
                                      </p:to>
                                    </p:set>
                                    <p:animEffect>
                                      <p:cBhvr>
                                        <p:cTn id="38" dur="500"/>
                                        <p:tgtEl>
                                          <p:spTgt spid="5735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7353"/>
                                        </p:tgtEl>
                                        <p:attrNameLst>
                                          <p:attrName>style.visibility</p:attrName>
                                        </p:attrNameLst>
                                      </p:cBhvr>
                                      <p:to>
                                        <p:strVal val="visible"/>
                                      </p:to>
                                    </p:set>
                                    <p:animEffect>
                                      <p:cBhvr>
                                        <p:cTn id="43" dur="500"/>
                                        <p:tgtEl>
                                          <p:spTgt spid="5735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57354"/>
                                        </p:tgtEl>
                                        <p:attrNameLst>
                                          <p:attrName>style.visibility</p:attrName>
                                        </p:attrNameLst>
                                      </p:cBhvr>
                                      <p:to>
                                        <p:strVal val="visible"/>
                                      </p:to>
                                    </p:set>
                                    <p:animEffect>
                                      <p:cBhvr>
                                        <p:cTn id="46" dur="500"/>
                                        <p:tgtEl>
                                          <p:spTgt spid="5735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57355"/>
                                        </p:tgtEl>
                                        <p:attrNameLst>
                                          <p:attrName>style.visibility</p:attrName>
                                        </p:attrNameLst>
                                      </p:cBhvr>
                                      <p:to>
                                        <p:strVal val="visible"/>
                                      </p:to>
                                    </p:set>
                                    <p:animEffect>
                                      <p:cBhvr>
                                        <p:cTn id="49" dur="500"/>
                                        <p:tgtEl>
                                          <p:spTgt spid="57355"/>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57359"/>
                                        </p:tgtEl>
                                        <p:attrNameLst>
                                          <p:attrName>style.visibility</p:attrName>
                                        </p:attrNameLst>
                                      </p:cBhvr>
                                      <p:to>
                                        <p:strVal val="visible"/>
                                      </p:to>
                                    </p:set>
                                    <p:animEffect>
                                      <p:cBhvr>
                                        <p:cTn id="52" dur="500"/>
                                        <p:tgtEl>
                                          <p:spTgt spid="57359"/>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7363"/>
                                        </p:tgtEl>
                                        <p:attrNameLst>
                                          <p:attrName>style.visibility</p:attrName>
                                        </p:attrNameLst>
                                      </p:cBhvr>
                                      <p:to>
                                        <p:strVal val="visible"/>
                                      </p:to>
                                    </p:set>
                                    <p:animEffect>
                                      <p:cBhvr>
                                        <p:cTn id="57" dur="500"/>
                                        <p:tgtEl>
                                          <p:spTgt spid="57363"/>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57360"/>
                                        </p:tgtEl>
                                        <p:attrNameLst>
                                          <p:attrName>style.visibility</p:attrName>
                                        </p:attrNameLst>
                                      </p:cBhvr>
                                      <p:to>
                                        <p:strVal val="visible"/>
                                      </p:to>
                                    </p:set>
                                    <p:animEffect>
                                      <p:cBhvr>
                                        <p:cTn id="60" dur="500"/>
                                        <p:tgtEl>
                                          <p:spTgt spid="57360"/>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57361"/>
                                        </p:tgtEl>
                                        <p:attrNameLst>
                                          <p:attrName>style.visibility</p:attrName>
                                        </p:attrNameLst>
                                      </p:cBhvr>
                                      <p:to>
                                        <p:strVal val="visible"/>
                                      </p:to>
                                    </p:set>
                                    <p:animEffect>
                                      <p:cBhvr>
                                        <p:cTn id="63" dur="500"/>
                                        <p:tgtEl>
                                          <p:spTgt spid="57361"/>
                                        </p:tgtEl>
                                      </p:cBhvr>
                                    </p:animEffect>
                                  </p:childTnLst>
                                </p:cTn>
                              </p:par>
                              <p:par>
                                <p:cTn id="64" presetID="5" presetClass="entr" presetSubtype="10" fill="hold" grpId="0" nodeType="withEffect">
                                  <p:stCondLst>
                                    <p:cond delay="0"/>
                                  </p:stCondLst>
                                  <p:childTnLst>
                                    <p:set>
                                      <p:cBhvr>
                                        <p:cTn id="65" dur="1" fill="hold">
                                          <p:stCondLst>
                                            <p:cond delay="0"/>
                                          </p:stCondLst>
                                        </p:cTn>
                                        <p:tgtEl>
                                          <p:spTgt spid="57362"/>
                                        </p:tgtEl>
                                        <p:attrNameLst>
                                          <p:attrName>style.visibility</p:attrName>
                                        </p:attrNameLst>
                                      </p:cBhvr>
                                      <p:to>
                                        <p:strVal val="visible"/>
                                      </p:to>
                                    </p:set>
                                    <p:animEffect>
                                      <p:cBhvr>
                                        <p:cTn id="66" dur="500"/>
                                        <p:tgtEl>
                                          <p:spTgt spid="57362"/>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grpId="0" nodeType="clickEffect">
                                  <p:stCondLst>
                                    <p:cond delay="0"/>
                                  </p:stCondLst>
                                  <p:childTnLst>
                                    <p:set>
                                      <p:cBhvr>
                                        <p:cTn id="70" dur="1" fill="hold">
                                          <p:stCondLst>
                                            <p:cond delay="0"/>
                                          </p:stCondLst>
                                        </p:cTn>
                                        <p:tgtEl>
                                          <p:spTgt spid="57365"/>
                                        </p:tgtEl>
                                        <p:attrNameLst>
                                          <p:attrName>style.visibility</p:attrName>
                                        </p:attrNameLst>
                                      </p:cBhvr>
                                      <p:to>
                                        <p:strVal val="visible"/>
                                      </p:to>
                                    </p:set>
                                    <p:animEffect>
                                      <p:cBhvr>
                                        <p:cTn id="71" dur="500"/>
                                        <p:tgtEl>
                                          <p:spTgt spid="57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ldLvl="0" animBg="1" autoUpdateAnimBg="0"/>
      <p:bldP spid="57348" grpId="0" bldLvl="0" animBg="1" autoUpdateAnimBg="0"/>
      <p:bldP spid="57349" grpId="0" bldLvl="0" autoUpdateAnimBg="0"/>
      <p:bldP spid="57352" grpId="0" bldLvl="0" animBg="1" autoUpdateAnimBg="0"/>
      <p:bldP spid="57353" grpId="0" bldLvl="0" autoUpdateAnimBg="0"/>
      <p:bldP spid="57354" grpId="0" bldLvl="0" animBg="1" autoUpdateAnimBg="0"/>
      <p:bldP spid="57355" grpId="0" bldLvl="0" animBg="1" autoUpdateAnimBg="0"/>
      <p:bldP spid="57358" grpId="0" bldLvl="0" autoUpdateAnimBg="0"/>
      <p:bldP spid="57359" grpId="0" bldLvl="0" autoUpdateAnimBg="0"/>
      <p:bldP spid="57360" grpId="0" bldLvl="0" animBg="1" autoUpdateAnimBg="0"/>
      <p:bldP spid="57361" grpId="0" bldLvl="0" animBg="1" autoUpdateAnimBg="0"/>
      <p:bldP spid="57362" grpId="0" bldLvl="0" autoUpdateAnimBg="0"/>
      <p:bldP spid="57363" grpId="0" bldLvl="0" autoUpdateAnimBg="0"/>
      <p:bldP spid="57364" grpId="0" bldLvl="0" animBg="1"/>
      <p:bldP spid="57365"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idx="4294967295"/>
          </p:nvPr>
        </p:nvSpPr>
        <p:spPr>
          <a:xfrm>
            <a:off x="539720" y="1871505"/>
            <a:ext cx="8363095" cy="2584605"/>
          </a:xfrm>
          <a:ln/>
        </p:spPr>
        <p:txBody>
          <a:bodyPr/>
          <a:lstStyle/>
          <a:p>
            <a:pPr lvl="1"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要素价格的变化不会改变卖方垄断企业的产品需求曲线</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从而不会改变它的边际收益产品曲线。</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若每一个企业都是各自产品市场上的垄断者， 市场要素需求曲线是该市场中所有卖方垄断企业的边际收益产品曲线的简单水平相加</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lvl="1" eaLnBrk="1" hangingPunct="1">
              <a:lnSpc>
                <a:spcPct val="150000"/>
              </a:lnSpc>
              <a:spcBef>
                <a:spcPct val="40000"/>
              </a:spcBef>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若并非所有的企业都是产品市场上的垄断者</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则整个要素市场的需求曲线可能就不是所有企业的边际收益产品曲线的简单水平加总。</a:t>
            </a:r>
            <a:endParaRPr lang="en-US" altLang="zh-CN" sz="1800" b="0" dirty="0">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4FBD33C8-9F7C-4586-8094-93FD18B5B724}"/>
              </a:ext>
            </a:extLst>
          </p:cNvPr>
          <p:cNvGrpSpPr/>
          <p:nvPr/>
        </p:nvGrpSpPr>
        <p:grpSpPr>
          <a:xfrm>
            <a:off x="539720" y="4694985"/>
            <a:ext cx="4032280" cy="534140"/>
            <a:chOff x="458213" y="4149854"/>
            <a:chExt cx="1708719" cy="439699"/>
          </a:xfrm>
        </p:grpSpPr>
        <p:sp>
          <p:nvSpPr>
            <p:cNvPr id="7" name="MH_Text_1">
              <a:extLst>
                <a:ext uri="{FF2B5EF4-FFF2-40B4-BE49-F238E27FC236}">
                  <a16:creationId xmlns:a16="http://schemas.microsoft.com/office/drawing/2014/main" id="{2B16FD77-75F5-478E-AAA0-B4711F002B71}"/>
                </a:ext>
              </a:extLst>
            </p:cNvPr>
            <p:cNvSpPr/>
            <p:nvPr>
              <p:custDataLst>
                <p:tags r:id="rId3"/>
              </p:custDataLst>
            </p:nvPr>
          </p:nvSpPr>
          <p:spPr bwMode="auto">
            <a:xfrm>
              <a:off x="458213" y="4149855"/>
              <a:ext cx="1708719" cy="439698"/>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indent="0" algn="ctr" eaLnBrk="1" hangingPunct="1">
                <a:buNone/>
              </a:pPr>
              <a:r>
                <a:rPr lang="zh-CN" altLang="en-US" sz="2000" b="0" dirty="0">
                  <a:solidFill>
                    <a:srgbClr val="000000"/>
                  </a:solidFill>
                  <a:latin typeface="微软雅黑" panose="020B0503020204020204" pitchFamily="34" charset="-122"/>
                  <a:ea typeface="微软雅黑" panose="020B0503020204020204" pitchFamily="34" charset="-122"/>
                </a:rPr>
                <a:t>均衡的要素使用量和要素价格</a:t>
              </a:r>
              <a:endParaRPr lang="en-US" altLang="zh-CN" sz="2000" b="0" dirty="0">
                <a:solidFill>
                  <a:srgbClr val="000000"/>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2CAC8690-3479-4DBB-9B16-A4FF61D047C3}"/>
                </a:ext>
              </a:extLst>
            </p:cNvPr>
            <p:cNvSpPr/>
            <p:nvPr>
              <p:custDataLst>
                <p:tags r:id="rId4"/>
              </p:custDataLst>
            </p:nvPr>
          </p:nvSpPr>
          <p:spPr bwMode="auto">
            <a:xfrm rot="10800000">
              <a:off x="2080470" y="4149854"/>
              <a:ext cx="81901" cy="10949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2" name="文本框 1"/>
          <p:cNvSpPr txBox="1"/>
          <p:nvPr/>
        </p:nvSpPr>
        <p:spPr>
          <a:xfrm>
            <a:off x="1016451" y="5260020"/>
            <a:ext cx="7409632" cy="1247008"/>
          </a:xfrm>
          <a:prstGeom prst="rect">
            <a:avLst/>
          </a:prstGeom>
          <a:noFill/>
        </p:spPr>
        <p:txBody>
          <a:bodyPr wrap="square" rtlCol="0">
            <a:spAutoFit/>
          </a:bodyPr>
          <a:lstStyle/>
          <a:p>
            <a:pPr marL="285750" lvl="1" indent="-285750">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一旦有了要素的市场需求曲线</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结合要素的市场供给曲线就可求解要素市场的均衡</a:t>
            </a:r>
            <a:r>
              <a:rPr lang="en-US" altLang="zh-CN" sz="18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即均衡的要素使用量和要素价格。</a:t>
            </a:r>
            <a:endParaRPr lang="en-US" altLang="zh-CN" sz="1800" b="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dirty="0"/>
          </a:p>
        </p:txBody>
      </p:sp>
      <p:grpSp>
        <p:nvGrpSpPr>
          <p:cNvPr id="10" name="组合 9">
            <a:extLst>
              <a:ext uri="{FF2B5EF4-FFF2-40B4-BE49-F238E27FC236}">
                <a16:creationId xmlns:a16="http://schemas.microsoft.com/office/drawing/2014/main" id="{4FBD33C8-9F7C-4586-8094-93FD18B5B724}"/>
              </a:ext>
            </a:extLst>
          </p:cNvPr>
          <p:cNvGrpSpPr/>
          <p:nvPr/>
        </p:nvGrpSpPr>
        <p:grpSpPr>
          <a:xfrm>
            <a:off x="539720" y="1268853"/>
            <a:ext cx="4032280" cy="542706"/>
            <a:chOff x="458213" y="4056087"/>
            <a:chExt cx="1708719" cy="446750"/>
          </a:xfrm>
        </p:grpSpPr>
        <p:sp>
          <p:nvSpPr>
            <p:cNvPr id="11"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58213" y="4063139"/>
              <a:ext cx="1708719" cy="439698"/>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卖方垄断市场的要素需求曲线</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2"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080470" y="4056087"/>
              <a:ext cx="81901" cy="10949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13" name="标题 1">
            <a:extLst>
              <a:ext uri="{FF2B5EF4-FFF2-40B4-BE49-F238E27FC236}">
                <a16:creationId xmlns:a16="http://schemas.microsoft.com/office/drawing/2014/main" id="{4A71D7AE-A3CD-43F2-AABE-3BA2A46EC726}"/>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14" name="矩形 13">
            <a:extLst>
              <a:ext uri="{FF2B5EF4-FFF2-40B4-BE49-F238E27FC236}">
                <a16:creationId xmlns:a16="http://schemas.microsoft.com/office/drawing/2014/main" id="{39786F54-8666-46F5-B570-A6C1F64EA29B}"/>
              </a:ext>
            </a:extLst>
          </p:cNvPr>
          <p:cNvSpPr/>
          <p:nvPr/>
        </p:nvSpPr>
        <p:spPr>
          <a:xfrm>
            <a:off x="467544"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buFontTx/>
              <a:buNone/>
            </a:pPr>
            <a:r>
              <a:rPr lang="zh-CN" altLang="en-US" sz="2400" dirty="0">
                <a:solidFill>
                  <a:schemeClr val="bg1"/>
                </a:solidFill>
                <a:latin typeface="微软雅黑" panose="020B0503020204020204" pitchFamily="34" charset="-122"/>
                <a:ea typeface="微软雅黑" panose="020B0503020204020204" pitchFamily="34" charset="-122"/>
              </a:rPr>
              <a:t>一、产品卖方垄断条件下的要素价格决定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8370">
                                            <p:txEl>
                                              <p:pRg st="0" end="0"/>
                                            </p:txEl>
                                          </p:spTgt>
                                        </p:tgtEl>
                                        <p:attrNameLst>
                                          <p:attrName>style.visibility</p:attrName>
                                        </p:attrNameLst>
                                      </p:cBhvr>
                                      <p:to>
                                        <p:strVal val="visible"/>
                                      </p:to>
                                    </p:set>
                                    <p:animEffect>
                                      <p:cBhvr>
                                        <p:cTn id="12" dur="500"/>
                                        <p:tgtEl>
                                          <p:spTgt spid="583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8370">
                                            <p:txEl>
                                              <p:pRg st="1" end="1"/>
                                            </p:txEl>
                                          </p:spTgt>
                                        </p:tgtEl>
                                        <p:attrNameLst>
                                          <p:attrName>style.visibility</p:attrName>
                                        </p:attrNameLst>
                                      </p:cBhvr>
                                      <p:to>
                                        <p:strVal val="visible"/>
                                      </p:to>
                                    </p:set>
                                    <p:animEffect>
                                      <p:cBhvr>
                                        <p:cTn id="17" dur="500"/>
                                        <p:tgtEl>
                                          <p:spTgt spid="583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8370">
                                            <p:txEl>
                                              <p:pRg st="2" end="2"/>
                                            </p:txEl>
                                          </p:spTgt>
                                        </p:tgtEl>
                                        <p:attrNameLst>
                                          <p:attrName>style.visibility</p:attrName>
                                        </p:attrNameLst>
                                      </p:cBhvr>
                                      <p:to>
                                        <p:strVal val="visible"/>
                                      </p:to>
                                    </p:set>
                                    <p:animEffect>
                                      <p:cBhvr>
                                        <p:cTn id="22" dur="500"/>
                                        <p:tgtEl>
                                          <p:spTgt spid="583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checkerboard(across)">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body" idx="4294967295"/>
          </p:nvPr>
        </p:nvSpPr>
        <p:spPr>
          <a:xfrm>
            <a:off x="899745" y="1863645"/>
            <a:ext cx="7838002" cy="5514974"/>
          </a:xfrm>
          <a:ln/>
        </p:spPr>
        <p:txBody>
          <a:bodyPr/>
          <a:lstStyle/>
          <a:p>
            <a:pPr marL="342900" lvl="1"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企业在要素市场上作为买方是垄断者。</a:t>
            </a:r>
            <a:endParaRPr lang="en-US" altLang="zh-CN" sz="1800" b="0" dirty="0">
              <a:latin typeface="微软雅黑" panose="020B0503020204020204" pitchFamily="34" charset="-122"/>
              <a:ea typeface="微软雅黑" panose="020B0503020204020204" pitchFamily="34" charset="-122"/>
            </a:endParaRPr>
          </a:p>
          <a:p>
            <a:pPr marL="468000" lvl="1" indent="0" eaLnBrk="1" hangingPunct="1">
              <a:lnSpc>
                <a:spcPct val="200000"/>
              </a:lnSpc>
              <a:buNone/>
            </a:pPr>
            <a:r>
              <a:rPr lang="zh-CN" altLang="en-US" sz="1800" b="0" dirty="0">
                <a:latin typeface="微软雅黑" panose="020B0503020204020204" pitchFamily="34" charset="-122"/>
                <a:ea typeface="微软雅黑" panose="020B0503020204020204" pitchFamily="34" charset="-122"/>
              </a:rPr>
              <a:t>这意为着他的购买数量会影响到要素的价格，</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不再是外生的，而是取决于</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的使用量：</a:t>
            </a:r>
            <a:endParaRPr lang="en-US" altLang="zh-CN" sz="1800" b="0" dirty="0">
              <a:latin typeface="微软雅黑" panose="020B0503020204020204" pitchFamily="34" charset="-122"/>
              <a:ea typeface="微软雅黑" panose="020B0503020204020204" pitchFamily="34" charset="-122"/>
            </a:endParaRPr>
          </a:p>
          <a:p>
            <a:pPr marL="0" lvl="1" indent="0" algn="ctr" eaLnBrk="1" hangingPunct="1">
              <a:lnSpc>
                <a:spcPct val="200000"/>
              </a:lnSpc>
              <a:buNone/>
            </a:pPr>
            <a:r>
              <a:rPr lang="en-US" altLang="zh-CN" sz="1800" b="0" dirty="0">
                <a:latin typeface="微软雅黑" panose="020B0503020204020204" pitchFamily="34" charset="-122"/>
                <a:ea typeface="微软雅黑" panose="020B0503020204020204" pitchFamily="34" charset="-122"/>
              </a:rPr>
              <a:t>W=W(L), </a:t>
            </a:r>
            <a:r>
              <a:rPr lang="zh-CN" altLang="en-US" sz="1800" b="0" dirty="0">
                <a:latin typeface="微软雅黑" panose="020B0503020204020204" pitchFamily="34" charset="-122"/>
                <a:ea typeface="微软雅黑" panose="020B0503020204020204" pitchFamily="34" charset="-122"/>
              </a:rPr>
              <a:t>且</a:t>
            </a:r>
            <a:r>
              <a:rPr lang="en-US" altLang="zh-CN" sz="1800" b="0" dirty="0">
                <a:latin typeface="微软雅黑" panose="020B0503020204020204" pitchFamily="34" charset="-122"/>
                <a:ea typeface="微软雅黑" panose="020B0503020204020204" pitchFamily="34" charset="-122"/>
              </a:rPr>
              <a:t>W’&gt;0</a:t>
            </a:r>
          </a:p>
          <a:p>
            <a:pPr marL="0" lvl="1" indent="0" algn="ctr" eaLnBrk="1" hangingPunct="1">
              <a:lnSpc>
                <a:spcPct val="200000"/>
              </a:lnSpc>
              <a:buNone/>
            </a:pPr>
            <a:r>
              <a:rPr lang="zh-CN" altLang="en-US" sz="1800" b="0" dirty="0">
                <a:latin typeface="微软雅黑" panose="020B0503020204020204" pitchFamily="34" charset="-122"/>
                <a:ea typeface="微软雅黑" panose="020B0503020204020204" pitchFamily="34" charset="-122"/>
              </a:rPr>
              <a:t>从而  边际要素成本</a:t>
            </a:r>
            <a:r>
              <a:rPr lang="en-US" altLang="zh-CN" sz="1800" b="0" dirty="0">
                <a:latin typeface="微软雅黑" panose="020B0503020204020204" pitchFamily="34" charset="-122"/>
                <a:ea typeface="微软雅黑" panose="020B0503020204020204" pitchFamily="34" charset="-122"/>
              </a:rPr>
              <a:t>MFC ≠ W</a:t>
            </a:r>
          </a:p>
          <a:p>
            <a:pPr marL="342900" lvl="1" indent="-342900" eaLnBrk="1" hangingPunct="1">
              <a:lnSpc>
                <a:spcPct val="20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在产品市场上作为卖方是完全竞争者（假设）。</a:t>
            </a:r>
            <a:endParaRPr lang="en-US" altLang="zh-CN" sz="1800" b="0" dirty="0">
              <a:latin typeface="微软雅黑" panose="020B0503020204020204" pitchFamily="34" charset="-122"/>
              <a:ea typeface="微软雅黑" panose="020B0503020204020204" pitchFamily="34" charset="-122"/>
            </a:endParaRPr>
          </a:p>
          <a:p>
            <a:pPr marL="468000" lvl="1" indent="0" eaLnBrk="1" hangingPunct="1">
              <a:lnSpc>
                <a:spcPct val="200000"/>
              </a:lnSpc>
              <a:buNone/>
            </a:pPr>
            <a:r>
              <a:rPr lang="zh-CN" altLang="en-US" sz="1800" b="0" dirty="0">
                <a:latin typeface="微软雅黑" panose="020B0503020204020204" pitchFamily="34" charset="-122"/>
                <a:ea typeface="微软雅黑" panose="020B0503020204020204" pitchFamily="34" charset="-122"/>
              </a:rPr>
              <a:t>这意味着价格</a:t>
            </a:r>
            <a:r>
              <a:rPr lang="en-US" altLang="zh-CN" sz="1800" b="0" dirty="0">
                <a:latin typeface="微软雅黑" panose="020B0503020204020204" pitchFamily="34" charset="-122"/>
                <a:ea typeface="微软雅黑" panose="020B0503020204020204" pitchFamily="34" charset="-122"/>
              </a:rPr>
              <a:t>P</a:t>
            </a:r>
            <a:r>
              <a:rPr lang="zh-CN" altLang="en-US" sz="1800" b="0" dirty="0">
                <a:latin typeface="微软雅黑" panose="020B0503020204020204" pitchFamily="34" charset="-122"/>
                <a:ea typeface="微软雅黑" panose="020B0503020204020204" pitchFamily="34" charset="-122"/>
              </a:rPr>
              <a:t>是外生既定的</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P=MR</a:t>
            </a:r>
            <a:endParaRPr lang="en-US" altLang="zh-CN" sz="1800" b="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627AE83D-F3D9-4FE1-841C-38AA09ECDF1C}"/>
              </a:ext>
            </a:extLst>
          </p:cNvPr>
          <p:cNvGrpSpPr/>
          <p:nvPr/>
        </p:nvGrpSpPr>
        <p:grpSpPr>
          <a:xfrm>
            <a:off x="550263" y="1340855"/>
            <a:ext cx="3224240" cy="515090"/>
            <a:chOff x="467544" y="2481246"/>
            <a:chExt cx="2547462" cy="515090"/>
          </a:xfrm>
        </p:grpSpPr>
        <p:sp>
          <p:nvSpPr>
            <p:cNvPr id="7"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lvl="2" indent="0" algn="ctr"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买方垄断（卖方竞争）</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8"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888006" y="248124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9" name="标题 1">
            <a:extLst>
              <a:ext uri="{FF2B5EF4-FFF2-40B4-BE49-F238E27FC236}">
                <a16:creationId xmlns:a16="http://schemas.microsoft.com/office/drawing/2014/main" id="{5C92EAE3-CF07-4CF0-9A04-C7A880B7213B}"/>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0418">
                                            <p:txEl>
                                              <p:pRg st="0" end="0"/>
                                            </p:txEl>
                                          </p:spTgt>
                                        </p:tgtEl>
                                        <p:attrNameLst>
                                          <p:attrName>style.visibility</p:attrName>
                                        </p:attrNameLst>
                                      </p:cBhvr>
                                      <p:to>
                                        <p:strVal val="visible"/>
                                      </p:to>
                                    </p:set>
                                    <p:anim calcmode="lin" valueType="num">
                                      <p:cBhvr>
                                        <p:cTn id="15" dur="500" fill="hold"/>
                                        <p:tgtEl>
                                          <p:spTgt spid="60418">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604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0418">
                                            <p:txEl>
                                              <p:pRg st="1" end="1"/>
                                            </p:txEl>
                                          </p:spTgt>
                                        </p:tgtEl>
                                        <p:attrNameLst>
                                          <p:attrName>style.visibility</p:attrName>
                                        </p:attrNameLst>
                                      </p:cBhvr>
                                      <p:to>
                                        <p:strVal val="visible"/>
                                      </p:to>
                                    </p:set>
                                    <p:anim calcmode="lin" valueType="num">
                                      <p:cBhvr>
                                        <p:cTn id="21" dur="500" fill="hold"/>
                                        <p:tgtEl>
                                          <p:spTgt spid="60418">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604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0418">
                                            <p:txEl>
                                              <p:pRg st="2" end="2"/>
                                            </p:txEl>
                                          </p:spTgt>
                                        </p:tgtEl>
                                        <p:attrNameLst>
                                          <p:attrName>style.visibility</p:attrName>
                                        </p:attrNameLst>
                                      </p:cBhvr>
                                      <p:to>
                                        <p:strVal val="visible"/>
                                      </p:to>
                                    </p:set>
                                    <p:anim calcmode="lin" valueType="num">
                                      <p:cBhvr>
                                        <p:cTn id="27" dur="500" fill="hold"/>
                                        <p:tgtEl>
                                          <p:spTgt spid="60418">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604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0418">
                                            <p:txEl>
                                              <p:pRg st="3" end="3"/>
                                            </p:txEl>
                                          </p:spTgt>
                                        </p:tgtEl>
                                        <p:attrNameLst>
                                          <p:attrName>style.visibility</p:attrName>
                                        </p:attrNameLst>
                                      </p:cBhvr>
                                      <p:to>
                                        <p:strVal val="visible"/>
                                      </p:to>
                                    </p:set>
                                    <p:anim calcmode="lin" valueType="num">
                                      <p:cBhvr>
                                        <p:cTn id="33" dur="500" fill="hold"/>
                                        <p:tgtEl>
                                          <p:spTgt spid="60418">
                                            <p:txEl>
                                              <p:pRg st="3" end="3"/>
                                            </p:txEl>
                                          </p:spTgt>
                                        </p:tgtEl>
                                        <p:attrNameLst>
                                          <p:attrName>ppt_x</p:attrName>
                                        </p:attrNameLst>
                                      </p:cBhvr>
                                      <p:tavLst>
                                        <p:tav tm="0">
                                          <p:val>
                                            <p:strVal val="#ppt_x"/>
                                          </p:val>
                                        </p:tav>
                                        <p:tav tm="100000">
                                          <p:val>
                                            <p:strVal val="#ppt_x"/>
                                          </p:val>
                                        </p:tav>
                                      </p:tavLst>
                                    </p:anim>
                                    <p:anim calcmode="lin" valueType="num">
                                      <p:cBhvr>
                                        <p:cTn id="34" dur="500" fill="hold"/>
                                        <p:tgtEl>
                                          <p:spTgt spid="604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0418">
                                            <p:txEl>
                                              <p:pRg st="4" end="4"/>
                                            </p:txEl>
                                          </p:spTgt>
                                        </p:tgtEl>
                                        <p:attrNameLst>
                                          <p:attrName>style.visibility</p:attrName>
                                        </p:attrNameLst>
                                      </p:cBhvr>
                                      <p:to>
                                        <p:strVal val="visible"/>
                                      </p:to>
                                    </p:set>
                                    <p:anim calcmode="lin" valueType="num">
                                      <p:cBhvr>
                                        <p:cTn id="39" dur="500" fill="hold"/>
                                        <p:tgtEl>
                                          <p:spTgt spid="60418">
                                            <p:txEl>
                                              <p:pRg st="4" end="4"/>
                                            </p:txEl>
                                          </p:spTgt>
                                        </p:tgtEl>
                                        <p:attrNameLst>
                                          <p:attrName>ppt_x</p:attrName>
                                        </p:attrNameLst>
                                      </p:cBhvr>
                                      <p:tavLst>
                                        <p:tav tm="0">
                                          <p:val>
                                            <p:strVal val="#ppt_x"/>
                                          </p:val>
                                        </p:tav>
                                        <p:tav tm="100000">
                                          <p:val>
                                            <p:strVal val="#ppt_x"/>
                                          </p:val>
                                        </p:tav>
                                      </p:tavLst>
                                    </p:anim>
                                    <p:anim calcmode="lin" valueType="num">
                                      <p:cBhvr>
                                        <p:cTn id="40" dur="500" fill="hold"/>
                                        <p:tgtEl>
                                          <p:spTgt spid="604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0418">
                                            <p:txEl>
                                              <p:pRg st="5" end="5"/>
                                            </p:txEl>
                                          </p:spTgt>
                                        </p:tgtEl>
                                        <p:attrNameLst>
                                          <p:attrName>style.visibility</p:attrName>
                                        </p:attrNameLst>
                                      </p:cBhvr>
                                      <p:to>
                                        <p:strVal val="visible"/>
                                      </p:to>
                                    </p:set>
                                    <p:anim calcmode="lin" valueType="num">
                                      <p:cBhvr>
                                        <p:cTn id="45" dur="500" fill="hold"/>
                                        <p:tgtEl>
                                          <p:spTgt spid="60418">
                                            <p:txEl>
                                              <p:pRg st="5" end="5"/>
                                            </p:txEl>
                                          </p:spTgt>
                                        </p:tgtEl>
                                        <p:attrNameLst>
                                          <p:attrName>ppt_x</p:attrName>
                                        </p:attrNameLst>
                                      </p:cBhvr>
                                      <p:tavLst>
                                        <p:tav tm="0">
                                          <p:val>
                                            <p:strVal val="#ppt_x"/>
                                          </p:val>
                                        </p:tav>
                                        <p:tav tm="100000">
                                          <p:val>
                                            <p:strVal val="#ppt_x"/>
                                          </p:val>
                                        </p:tav>
                                      </p:tavLst>
                                    </p:anim>
                                    <p:anim calcmode="lin" valueType="num">
                                      <p:cBhvr>
                                        <p:cTn id="46" dur="500" fill="hold"/>
                                        <p:tgtEl>
                                          <p:spTgt spid="604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0418" name="Rectangle 3"/>
              <p:cNvSpPr>
                <a:spLocks noGrp="1" noChangeArrowheads="1"/>
              </p:cNvSpPr>
              <p:nvPr>
                <p:ph type="body" idx="4294967295"/>
              </p:nvPr>
            </p:nvSpPr>
            <p:spPr>
              <a:xfrm>
                <a:off x="567388" y="1198376"/>
                <a:ext cx="8229600" cy="5514974"/>
              </a:xfrm>
              <a:ln/>
            </p:spPr>
            <p:txBody>
              <a:bodyPr/>
              <a:lstStyle/>
              <a:p>
                <a:pPr marL="457200" lvl="2" indent="-457200" eaLnBrk="1" hangingPunct="1">
                  <a:lnSpc>
                    <a:spcPct val="1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买方垄断使用要素的边际成本：边际要素成本</a:t>
                </a:r>
                <a:endParaRPr lang="en-US" altLang="zh-CN" sz="2000" b="0" dirty="0">
                  <a:latin typeface="微软雅黑" panose="020B0503020204020204" pitchFamily="34" charset="-122"/>
                  <a:ea typeface="微软雅黑" panose="020B0503020204020204" pitchFamily="34" charset="-122"/>
                </a:endParaRPr>
              </a:p>
              <a:p>
                <a:pPr marL="540000" lvl="1"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这个边际成本叫做边际要素成本，用</a:t>
                </a:r>
                <a:r>
                  <a:rPr lang="en-US" altLang="zh-CN" sz="1800" b="0" dirty="0">
                    <a:latin typeface="微软雅黑" panose="020B0503020204020204" pitchFamily="34" charset="-122"/>
                    <a:ea typeface="微软雅黑" panose="020B0503020204020204" pitchFamily="34" charset="-122"/>
                  </a:rPr>
                  <a:t>MFC</a:t>
                </a:r>
                <a:r>
                  <a:rPr lang="zh-CN" altLang="en-US" sz="1800" b="0" dirty="0">
                    <a:latin typeface="微软雅黑" panose="020B0503020204020204" pitchFamily="34" charset="-122"/>
                    <a:ea typeface="微软雅黑" panose="020B0503020204020204" pitchFamily="34" charset="-122"/>
                  </a:rPr>
                  <a:t>表示</a:t>
                </a:r>
                <a:endParaRPr lang="en-US" altLang="zh-CN" sz="1800" b="0" dirty="0">
                  <a:latin typeface="微软雅黑" panose="020B0503020204020204" pitchFamily="34" charset="-122"/>
                  <a:ea typeface="微软雅黑" panose="020B0503020204020204" pitchFamily="34" charset="-122"/>
                </a:endParaRPr>
              </a:p>
              <a:p>
                <a:pPr marL="0" lvl="1" indent="0" algn="ctr" eaLnBrk="1" hangingPunct="1">
                  <a:lnSpc>
                    <a:spcPct val="150000"/>
                  </a:lnSpc>
                  <a:buNone/>
                </a:pPr>
                <a14:m>
                  <m:oMath xmlns:m="http://schemas.openxmlformats.org/officeDocument/2006/math">
                    <m:r>
                      <a:rPr lang="en-US" altLang="zh-CN" sz="1800" b="0" i="1">
                        <a:latin typeface="Cambria Math" panose="02040503050406030204" pitchFamily="18" charset="0"/>
                      </a:rPr>
                      <m:t>𝑀</m:t>
                    </m:r>
                    <m:r>
                      <a:rPr lang="en-US" altLang="zh-CN" sz="1800" b="0" i="1" smtClean="0">
                        <a:latin typeface="Cambria Math" panose="02040503050406030204" pitchFamily="18" charset="0"/>
                      </a:rPr>
                      <m:t>𝐹𝐶</m:t>
                    </m:r>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𝐶</m:t>
                        </m:r>
                      </m:num>
                      <m:den>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𝐿</m:t>
                        </m:r>
                      </m:den>
                    </m:f>
                  </m:oMath>
                </a14:m>
                <a:r>
                  <a:rPr lang="zh-CN" altLang="en-US" sz="1800" b="0" dirty="0">
                    <a:latin typeface="微软雅黑" panose="020B0503020204020204" pitchFamily="34" charset="-122"/>
                    <a:ea typeface="微软雅黑" panose="020B0503020204020204" pitchFamily="34" charset="-122"/>
                  </a:rPr>
                  <a:t>或</a:t>
                </a:r>
                <a:r>
                  <a:rPr lang="en-US" altLang="zh-CN" sz="1800" b="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𝑑</m:t>
                        </m:r>
                        <m:r>
                          <a:rPr lang="en-US" altLang="zh-CN" sz="1800" b="0" i="1" smtClean="0">
                            <a:latin typeface="Cambria Math" panose="02040503050406030204" pitchFamily="18" charset="0"/>
                            <a:ea typeface="Cambria Math" panose="02040503050406030204" pitchFamily="18" charset="0"/>
                          </a:rPr>
                          <m:t>𝐶</m:t>
                        </m:r>
                      </m:num>
                      <m:den>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endParaRPr lang="en-US" altLang="zh-CN" sz="1800" b="0" dirty="0">
                  <a:latin typeface="微软雅黑" panose="020B0503020204020204" pitchFamily="34" charset="-122"/>
                  <a:ea typeface="微软雅黑" panose="020B0503020204020204" pitchFamily="34" charset="-122"/>
                </a:endParaRPr>
              </a:p>
              <a:p>
                <a:pPr marL="540000" lvl="1" indent="-342900" eaLnBrk="1" hangingPunct="1">
                  <a:lnSpc>
                    <a:spcPct val="150000"/>
                  </a:lnSpc>
                  <a:buFont typeface="Wingdings" panose="05000000000000000000" pitchFamily="2" charset="2"/>
                  <a:buChar char="Ø"/>
                </a:pPr>
                <a:r>
                  <a:rPr lang="en-US" altLang="zh-CN" sz="1800" b="0" dirty="0">
                    <a:latin typeface="微软雅黑" panose="020B0503020204020204" pitchFamily="34" charset="-122"/>
                    <a:ea typeface="微软雅黑" panose="020B0503020204020204" pitchFamily="34" charset="-122"/>
                  </a:rPr>
                  <a:t>MFC</a:t>
                </a:r>
                <a:r>
                  <a:rPr lang="zh-CN" altLang="en-US" sz="1800" b="0" dirty="0">
                    <a:latin typeface="微软雅黑" panose="020B0503020204020204" pitchFamily="34" charset="-122"/>
                    <a:ea typeface="微软雅黑" panose="020B0503020204020204" pitchFamily="34" charset="-122"/>
                  </a:rPr>
                  <a:t>的决定因素</a:t>
                </a:r>
                <a:endParaRPr lang="en-US" altLang="zh-CN" sz="1800" b="0" dirty="0">
                  <a:latin typeface="微软雅黑" panose="020B0503020204020204" pitchFamily="34" charset="-122"/>
                  <a:ea typeface="微软雅黑" panose="020B0503020204020204" pitchFamily="34" charset="-122"/>
                </a:endParaRPr>
              </a:p>
              <a:p>
                <a:pPr marL="400050" lvl="2" indent="0" eaLnBrk="1" hangingPunct="1">
                  <a:buNone/>
                </a:pP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L——Q——C</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800" b="0" dirty="0">
                    <a:latin typeface="微软雅黑" panose="020B0503020204020204" pitchFamily="34" charset="-122"/>
                    <a:ea typeface="微软雅黑" panose="020B0503020204020204" pitchFamily="34" charset="-122"/>
                  </a:rPr>
                  <a:t>C(Q(L)) </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 </a:t>
                </a:r>
                <a14:m>
                  <m:oMath xmlns:m="http://schemas.openxmlformats.org/officeDocument/2006/math">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𝑑</m:t>
                        </m:r>
                        <m:r>
                          <a:rPr lang="en-US" altLang="zh-CN" sz="1800" b="0" i="1" smtClean="0">
                            <a:latin typeface="Cambria Math" panose="02040503050406030204" pitchFamily="18" charset="0"/>
                          </a:rPr>
                          <m:t>𝐶</m:t>
                        </m:r>
                      </m:num>
                      <m:den>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r>
                  <a:rPr lang="en-US" altLang="zh-CN" sz="1800" b="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𝑑</m:t>
                        </m:r>
                        <m:r>
                          <a:rPr lang="en-US" altLang="zh-CN" sz="1800" b="0" i="1" smtClean="0">
                            <a:latin typeface="Cambria Math" panose="02040503050406030204" pitchFamily="18" charset="0"/>
                          </a:rPr>
                          <m:t>𝐶</m:t>
                        </m:r>
                      </m:num>
                      <m:den>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𝑄</m:t>
                        </m:r>
                      </m:den>
                    </m:f>
                    <m:r>
                      <a:rPr lang="en-US" altLang="zh-CN" sz="1800" b="0" i="1">
                        <a:latin typeface="Cambria Math" panose="02040503050406030204" pitchFamily="18" charset="0"/>
                        <a:ea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𝑄</m:t>
                        </m:r>
                      </m:num>
                      <m:den>
                        <m:r>
                          <a:rPr lang="en-US" altLang="zh-CN" sz="1800" b="0" i="1">
                            <a:latin typeface="Cambria Math" panose="02040503050406030204" pitchFamily="18" charset="0"/>
                            <a:ea typeface="Cambria Math" panose="02040503050406030204" pitchFamily="18" charset="0"/>
                          </a:rPr>
                          <m:t>𝑑</m:t>
                        </m:r>
                        <m:r>
                          <a:rPr lang="en-US" altLang="zh-CN" sz="1800" b="0" i="1">
                            <a:latin typeface="Cambria Math" panose="02040503050406030204" pitchFamily="18" charset="0"/>
                          </a:rPr>
                          <m:t>𝐿</m:t>
                        </m:r>
                      </m:den>
                    </m:f>
                  </m:oMath>
                </a14:m>
                <a:r>
                  <a:rPr lang="en-US" altLang="zh-CN" sz="1800" b="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b="0" i="1">
                        <a:latin typeface="Cambria Math" panose="02040503050406030204" pitchFamily="18" charset="0"/>
                      </a:rPr>
                      <m:t>𝑀</m:t>
                    </m:r>
                    <m:r>
                      <a:rPr lang="en-US" altLang="zh-CN" sz="1800" b="0" i="1" smtClean="0">
                        <a:latin typeface="Cambria Math" panose="02040503050406030204" pitchFamily="18" charset="0"/>
                      </a:rPr>
                      <m:t>𝐶</m:t>
                    </m:r>
                    <m:r>
                      <a:rPr lang="en-US" altLang="zh-CN" sz="1800" b="0" i="1">
                        <a:latin typeface="Cambria Math" panose="02040503050406030204" pitchFamily="18" charset="0"/>
                        <a:ea typeface="Cambria Math" panose="02040503050406030204" pitchFamily="18" charset="0"/>
                      </a:rPr>
                      <m:t>∙</m:t>
                    </m:r>
                    <m:r>
                      <a:rPr lang="en-US" altLang="zh-CN" sz="1800" b="0" i="1">
                        <a:latin typeface="Cambria Math" panose="02040503050406030204" pitchFamily="18" charset="0"/>
                      </a:rPr>
                      <m:t>𝑀</m:t>
                    </m:r>
                    <m:r>
                      <a:rPr lang="en-US" altLang="zh-CN" sz="1800" b="0" i="1" smtClean="0">
                        <a:latin typeface="Cambria Math" panose="02040503050406030204" pitchFamily="18" charset="0"/>
                      </a:rPr>
                      <m:t>𝑃</m:t>
                    </m:r>
                  </m:oMath>
                </a14:m>
                <a:endParaRPr lang="en-US" altLang="zh-CN" sz="1800" b="0" i="1" dirty="0">
                  <a:latin typeface="微软雅黑" panose="020B0503020204020204" pitchFamily="34" charset="-122"/>
                  <a:ea typeface="微软雅黑" panose="020B0503020204020204" pitchFamily="34" charset="-122"/>
                </a:endParaRPr>
              </a:p>
              <a:p>
                <a:pPr marL="400050" lvl="2" indent="0" algn="ctr" eaLnBrk="1" hangingPunct="1">
                  <a:buNone/>
                </a:pPr>
                <a14:m>
                  <m:oMathPara xmlns:m="http://schemas.openxmlformats.org/officeDocument/2006/math">
                    <m:oMathParaPr>
                      <m:jc m:val="centerGroup"/>
                    </m:oMathParaPr>
                    <m:oMath xmlns:m="http://schemas.openxmlformats.org/officeDocument/2006/math">
                      <m:r>
                        <a:rPr lang="en-US" altLang="zh-CN" sz="1800" b="0" i="1">
                          <a:latin typeface="Cambria Math" panose="02040503050406030204" pitchFamily="18" charset="0"/>
                        </a:rPr>
                        <m:t>𝑀</m:t>
                      </m:r>
                      <m:r>
                        <a:rPr lang="en-US" altLang="zh-CN" sz="1800" b="0" i="1" smtClean="0">
                          <a:latin typeface="Cambria Math" panose="02040503050406030204" pitchFamily="18" charset="0"/>
                        </a:rPr>
                        <m:t>𝐹𝐶</m:t>
                      </m:r>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rPr>
                            <m:t>𝑑</m:t>
                          </m:r>
                          <m:r>
                            <a:rPr lang="en-US" altLang="zh-CN" sz="1800" b="0" i="1" smtClean="0">
                              <a:latin typeface="Cambria Math" panose="02040503050406030204" pitchFamily="18" charset="0"/>
                            </a:rPr>
                            <m:t>𝐶</m:t>
                          </m:r>
                        </m:num>
                        <m:den>
                          <m:r>
                            <a:rPr lang="en-US" altLang="zh-CN" sz="1800" b="0" i="1">
                              <a:latin typeface="Cambria Math" panose="02040503050406030204" pitchFamily="18" charset="0"/>
                            </a:rPr>
                            <m:t>𝑑𝐿</m:t>
                          </m:r>
                        </m:den>
                      </m:f>
                      <m:r>
                        <a:rPr lang="en-US" altLang="zh-CN" sz="1800" b="0" i="1">
                          <a:latin typeface="Cambria Math" panose="02040503050406030204" pitchFamily="18" charset="0"/>
                        </a:rPr>
                        <m:t>=</m:t>
                      </m:r>
                      <m:r>
                        <a:rPr lang="en-US" altLang="zh-CN" sz="1800" b="0" i="1">
                          <a:latin typeface="Cambria Math" panose="02040503050406030204" pitchFamily="18" charset="0"/>
                        </a:rPr>
                        <m:t>𝑀𝐶</m:t>
                      </m:r>
                      <m:r>
                        <a:rPr lang="en-US" altLang="zh-CN" sz="1800" b="0" i="1">
                          <a:latin typeface="Cambria Math" panose="02040503050406030204" pitchFamily="18" charset="0"/>
                        </a:rPr>
                        <m:t>∙</m:t>
                      </m:r>
                      <m:r>
                        <a:rPr lang="en-US" altLang="zh-CN" sz="1800" b="0" i="1">
                          <a:latin typeface="Cambria Math" panose="02040503050406030204" pitchFamily="18" charset="0"/>
                        </a:rPr>
                        <m:t>𝑀𝑃</m:t>
                      </m:r>
                    </m:oMath>
                  </m:oMathPara>
                </a14:m>
                <a:endParaRPr lang="en-US" altLang="zh-CN" sz="1800" b="0" i="1" dirty="0">
                  <a:latin typeface="微软雅黑" panose="020B0503020204020204" pitchFamily="34" charset="-122"/>
                  <a:ea typeface="微软雅黑" panose="020B0503020204020204" pitchFamily="34" charset="-122"/>
                </a:endParaRPr>
              </a:p>
              <a:p>
                <a:pPr marL="540000" lvl="1" indent="-342900" eaLnBrk="1" hangingPunct="1">
                  <a:lnSpc>
                    <a:spcPct val="200000"/>
                  </a:lnSpc>
                  <a:buFont typeface="Wingdings" panose="05000000000000000000" pitchFamily="2" charset="2"/>
                  <a:buChar char="Ø"/>
                </a:pPr>
                <a:r>
                  <a:rPr lang="en-US" altLang="zh-CN" sz="1800" b="0" dirty="0">
                    <a:latin typeface="微软雅黑" panose="020B0503020204020204" pitchFamily="34" charset="-122"/>
                    <a:ea typeface="微软雅黑" panose="020B0503020204020204" pitchFamily="34" charset="-122"/>
                  </a:rPr>
                  <a:t>MFC</a:t>
                </a:r>
                <a:r>
                  <a:rPr lang="zh-CN" altLang="en-US" sz="1800" b="0" dirty="0">
                    <a:latin typeface="微软雅黑" panose="020B0503020204020204" pitchFamily="34" charset="-122"/>
                    <a:ea typeface="微软雅黑" panose="020B0503020204020204" pitchFamily="34" charset="-122"/>
                  </a:rPr>
                  <a:t>与</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的关系</a:t>
                </a:r>
                <a:endParaRPr lang="en-US" altLang="zh-CN" sz="1800" b="0" dirty="0">
                  <a:latin typeface="微软雅黑" panose="020B0503020204020204" pitchFamily="34" charset="-122"/>
                  <a:ea typeface="微软雅黑" panose="020B0503020204020204" pitchFamily="34" charset="-122"/>
                </a:endParaRPr>
              </a:p>
              <a:p>
                <a:pPr marL="0" lvl="1" indent="0" algn="ctr" eaLnBrk="1" hangingPunct="1">
                  <a:buNone/>
                </a:pPr>
                <a14:m>
                  <m:oMath xmlns:m="http://schemas.openxmlformats.org/officeDocument/2006/math">
                    <m:r>
                      <a:rPr lang="en-US" altLang="zh-CN" sz="1800" b="0" i="1">
                        <a:latin typeface="Cambria Math" panose="02040503050406030204" pitchFamily="18" charset="0"/>
                      </a:rPr>
                      <m:t>𝐶</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𝐿</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𝑊</m:t>
                    </m:r>
                    <m:d>
                      <m:dPr>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𝐿</m:t>
                        </m:r>
                      </m:e>
                    </m:d>
                    <m:r>
                      <a:rPr lang="en-US" altLang="zh-CN" sz="1800" b="0" i="1" smtClean="0">
                        <a:latin typeface="Cambria Math" panose="02040503050406030204" pitchFamily="18" charset="0"/>
                      </a:rPr>
                      <m:t>𝐿</m:t>
                    </m:r>
                  </m:oMath>
                </a14:m>
                <a:r>
                  <a:rPr lang="en-US" altLang="zh-CN" sz="1800" b="0" i="1" dirty="0">
                    <a:latin typeface="微软雅黑" panose="020B0503020204020204" pitchFamily="34" charset="-122"/>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00" b="0" i="1" dirty="0">
                    <a:latin typeface="微软雅黑" panose="020B0503020204020204" pitchFamily="34" charset="-122"/>
                    <a:ea typeface="微软雅黑" panose="020B0503020204020204" pitchFamily="34" charset="-122"/>
                    <a:sym typeface="Wingdings" panose="05000000000000000000" pitchFamily="2" charset="2"/>
                  </a:rPr>
                  <a:t> </a:t>
                </a:r>
                <a14:m>
                  <m:oMath xmlns:m="http://schemas.openxmlformats.org/officeDocument/2006/math">
                    <m:r>
                      <a:rPr lang="en-US" altLang="zh-CN" sz="1800" b="0" i="1" smtClean="0">
                        <a:latin typeface="Cambria Math" panose="02040503050406030204" pitchFamily="18" charset="0"/>
                      </a:rPr>
                      <m:t>𝑀𝐹𝐶</m:t>
                    </m:r>
                    <m:r>
                      <a:rPr lang="en-US" altLang="zh-CN" sz="1800" b="0" i="1" smtClean="0">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rPr>
                          <m:t>𝑑𝐶</m:t>
                        </m:r>
                      </m:num>
                      <m:den>
                        <m:r>
                          <a:rPr lang="en-US" altLang="zh-CN" sz="1800" b="0" i="1">
                            <a:latin typeface="Cambria Math" panose="02040503050406030204" pitchFamily="18" charset="0"/>
                          </a:rPr>
                          <m:t>𝑑𝐿</m:t>
                        </m:r>
                      </m:den>
                    </m:f>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𝑊</m:t>
                    </m:r>
                    <m:r>
                      <a:rPr lang="en-US" altLang="zh-CN" sz="1800" b="0" i="1" smtClean="0">
                        <a:latin typeface="Cambria Math" panose="02040503050406030204" pitchFamily="18" charset="0"/>
                      </a:rPr>
                      <m:t>+</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rPr>
                          <m:t>𝑑</m:t>
                        </m:r>
                        <m:r>
                          <a:rPr lang="en-US" altLang="zh-CN" sz="1800" b="0" i="1" smtClean="0">
                            <a:latin typeface="Cambria Math" panose="02040503050406030204" pitchFamily="18" charset="0"/>
                          </a:rPr>
                          <m:t>𝑊</m:t>
                        </m:r>
                      </m:num>
                      <m:den>
                        <m:r>
                          <a:rPr lang="en-US" altLang="zh-CN" sz="1800" b="0" i="1">
                            <a:latin typeface="Cambria Math" panose="02040503050406030204" pitchFamily="18" charset="0"/>
                          </a:rPr>
                          <m:t>𝑑𝐿</m:t>
                        </m:r>
                      </m:den>
                    </m:f>
                    <m:r>
                      <a:rPr lang="en-US" altLang="zh-CN" sz="1800" b="0" i="1" smtClean="0">
                        <a:latin typeface="Cambria Math" panose="02040503050406030204" pitchFamily="18" charset="0"/>
                      </a:rPr>
                      <m:t>𝐿</m:t>
                    </m:r>
                  </m:oMath>
                </a14:m>
                <a:endParaRPr lang="en-US" altLang="zh-CN" sz="1800" b="0" i="1" dirty="0">
                  <a:latin typeface="微软雅黑" panose="020B0503020204020204" pitchFamily="34" charset="-122"/>
                  <a:ea typeface="微软雅黑" panose="020B0503020204020204" pitchFamily="34" charset="-122"/>
                </a:endParaRPr>
              </a:p>
              <a:p>
                <a:pPr marL="0" lvl="1" indent="0" algn="ctr" eaLnBrk="1" hangingPunct="1">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𝑀𝐹𝐶</m:t>
                      </m:r>
                      <m:r>
                        <a:rPr lang="en-US" altLang="zh-CN" sz="1800" b="0" i="1" smtClean="0">
                          <a:latin typeface="Cambria Math" panose="02040503050406030204" pitchFamily="18" charset="0"/>
                        </a:rPr>
                        <m:t>&gt;</m:t>
                      </m:r>
                      <m:r>
                        <a:rPr lang="en-US" altLang="zh-CN" sz="1800" b="0" i="1" smtClean="0">
                          <a:latin typeface="Cambria Math" panose="02040503050406030204" pitchFamily="18" charset="0"/>
                        </a:rPr>
                        <m:t>𝑊</m:t>
                      </m:r>
                      <m:r>
                        <a:rPr lang="en-US" altLang="zh-CN" sz="1800" b="0" i="1" smtClean="0">
                          <a:latin typeface="Cambria Math" panose="02040503050406030204" pitchFamily="18" charset="0"/>
                        </a:rPr>
                        <m:t>,   </m:t>
                      </m:r>
                      <m:r>
                        <a:rPr lang="en-US" altLang="zh-CN" sz="1800" b="0" i="1" smtClean="0">
                          <a:latin typeface="Cambria Math" panose="02040503050406030204" pitchFamily="18" charset="0"/>
                        </a:rPr>
                        <m:t>𝑠𝑖𝑛𝑐𝑒</m:t>
                      </m:r>
                      <m:f>
                        <m:fPr>
                          <m:ctrlPr>
                            <a:rPr lang="en-US" altLang="zh-CN" sz="1800" b="0" i="1">
                              <a:latin typeface="Cambria Math" panose="02040503050406030204" pitchFamily="18" charset="0"/>
                            </a:rPr>
                          </m:ctrlPr>
                        </m:fPr>
                        <m:num>
                          <m:r>
                            <a:rPr lang="en-US" altLang="zh-CN" sz="1800" b="0" i="1">
                              <a:latin typeface="Cambria Math" panose="02040503050406030204" pitchFamily="18" charset="0"/>
                            </a:rPr>
                            <m:t>𝑑𝑊</m:t>
                          </m:r>
                        </m:num>
                        <m:den>
                          <m:r>
                            <a:rPr lang="en-US" altLang="zh-CN" sz="1800" b="0" i="1">
                              <a:latin typeface="Cambria Math" panose="02040503050406030204" pitchFamily="18" charset="0"/>
                            </a:rPr>
                            <m:t>𝑑𝐿</m:t>
                          </m:r>
                        </m:den>
                      </m:f>
                      <m:r>
                        <a:rPr lang="en-US" altLang="zh-CN" sz="1800" b="0" i="1" smtClean="0">
                          <a:latin typeface="Cambria Math" panose="02040503050406030204" pitchFamily="18" charset="0"/>
                        </a:rPr>
                        <m:t>&gt;0</m:t>
                      </m:r>
                    </m:oMath>
                  </m:oMathPara>
                </a14:m>
                <a:endParaRPr lang="en-US" altLang="zh-CN" sz="1800" b="0" i="1" dirty="0">
                  <a:latin typeface="微软雅黑" panose="020B0503020204020204" pitchFamily="34" charset="-122"/>
                  <a:ea typeface="微软雅黑" panose="020B0503020204020204" pitchFamily="34" charset="-122"/>
                </a:endParaRPr>
              </a:p>
              <a:p>
                <a:pPr marL="0" lvl="1" indent="0" eaLnBrk="1" hangingPunct="1">
                  <a:buNone/>
                </a:pPr>
                <a:endParaRPr lang="en-US" altLang="zh-CN" sz="2000" b="0" dirty="0">
                  <a:latin typeface="微软雅黑" panose="020B0503020204020204" pitchFamily="34" charset="-122"/>
                  <a:ea typeface="微软雅黑" panose="020B0503020204020204" pitchFamily="34" charset="-122"/>
                </a:endParaRPr>
              </a:p>
            </p:txBody>
          </p:sp>
        </mc:Choice>
        <mc:Fallback xmlns="">
          <p:sp>
            <p:nvSpPr>
              <p:cNvPr id="60418" name="Rectangle 3"/>
              <p:cNvSpPr>
                <a:spLocks noGrp="1" noRot="1" noChangeAspect="1" noMove="1" noResize="1" noEditPoints="1" noAdjustHandles="1" noChangeArrowheads="1" noChangeShapeType="1" noTextEdit="1"/>
              </p:cNvSpPr>
              <p:nvPr>
                <p:ph type="body" idx="4294967295"/>
              </p:nvPr>
            </p:nvSpPr>
            <p:spPr>
              <a:xfrm>
                <a:off x="567388" y="1198376"/>
                <a:ext cx="8229600" cy="5514974"/>
              </a:xfrm>
              <a:blipFill>
                <a:blip r:embed="rId2"/>
                <a:stretch>
                  <a:fillRect l="-667"/>
                </a:stretch>
              </a:blipFill>
              <a:ln/>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80CE4026-C1DB-4AB2-9F38-4465F8FC1BB4}"/>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149255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anim calcmode="lin" valueType="num">
                                      <p:cBhvr>
                                        <p:cTn id="7" dur="500" fill="hold"/>
                                        <p:tgtEl>
                                          <p:spTgt spid="60418">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604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0418">
                                            <p:txEl>
                                              <p:pRg st="1" end="1"/>
                                            </p:txEl>
                                          </p:spTgt>
                                        </p:tgtEl>
                                        <p:attrNameLst>
                                          <p:attrName>style.visibility</p:attrName>
                                        </p:attrNameLst>
                                      </p:cBhvr>
                                      <p:to>
                                        <p:strVal val="visible"/>
                                      </p:to>
                                    </p:set>
                                    <p:anim calcmode="lin" valueType="num">
                                      <p:cBhvr>
                                        <p:cTn id="13" dur="500" fill="hold"/>
                                        <p:tgtEl>
                                          <p:spTgt spid="60418">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604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0418">
                                            <p:txEl>
                                              <p:pRg st="2" end="2"/>
                                            </p:txEl>
                                          </p:spTgt>
                                        </p:tgtEl>
                                        <p:attrNameLst>
                                          <p:attrName>style.visibility</p:attrName>
                                        </p:attrNameLst>
                                      </p:cBhvr>
                                      <p:to>
                                        <p:strVal val="visible"/>
                                      </p:to>
                                    </p:set>
                                    <p:anim calcmode="lin" valueType="num">
                                      <p:cBhvr>
                                        <p:cTn id="19" dur="500" fill="hold"/>
                                        <p:tgtEl>
                                          <p:spTgt spid="60418">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604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0418">
                                            <p:txEl>
                                              <p:pRg st="3" end="3"/>
                                            </p:txEl>
                                          </p:spTgt>
                                        </p:tgtEl>
                                        <p:attrNameLst>
                                          <p:attrName>style.visibility</p:attrName>
                                        </p:attrNameLst>
                                      </p:cBhvr>
                                      <p:to>
                                        <p:strVal val="visible"/>
                                      </p:to>
                                    </p:set>
                                    <p:anim calcmode="lin" valueType="num">
                                      <p:cBhvr>
                                        <p:cTn id="25" dur="500" fill="hold"/>
                                        <p:tgtEl>
                                          <p:spTgt spid="60418">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604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0418">
                                            <p:txEl>
                                              <p:pRg st="4" end="4"/>
                                            </p:txEl>
                                          </p:spTgt>
                                        </p:tgtEl>
                                        <p:attrNameLst>
                                          <p:attrName>style.visibility</p:attrName>
                                        </p:attrNameLst>
                                      </p:cBhvr>
                                      <p:to>
                                        <p:strVal val="visible"/>
                                      </p:to>
                                    </p:set>
                                    <p:anim calcmode="lin" valueType="num">
                                      <p:cBhvr>
                                        <p:cTn id="31" dur="500" fill="hold"/>
                                        <p:tgtEl>
                                          <p:spTgt spid="60418">
                                            <p:txEl>
                                              <p:pRg st="4" end="4"/>
                                            </p:txEl>
                                          </p:spTgt>
                                        </p:tgtEl>
                                        <p:attrNameLst>
                                          <p:attrName>ppt_x</p:attrName>
                                        </p:attrNameLst>
                                      </p:cBhvr>
                                      <p:tavLst>
                                        <p:tav tm="0">
                                          <p:val>
                                            <p:strVal val="#ppt_x"/>
                                          </p:val>
                                        </p:tav>
                                        <p:tav tm="100000">
                                          <p:val>
                                            <p:strVal val="#ppt_x"/>
                                          </p:val>
                                        </p:tav>
                                      </p:tavLst>
                                    </p:anim>
                                    <p:anim calcmode="lin" valueType="num">
                                      <p:cBhvr>
                                        <p:cTn id="32" dur="500" fill="hold"/>
                                        <p:tgtEl>
                                          <p:spTgt spid="604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0418">
                                            <p:txEl>
                                              <p:pRg st="5" end="5"/>
                                            </p:txEl>
                                          </p:spTgt>
                                        </p:tgtEl>
                                        <p:attrNameLst>
                                          <p:attrName>style.visibility</p:attrName>
                                        </p:attrNameLst>
                                      </p:cBhvr>
                                      <p:to>
                                        <p:strVal val="visible"/>
                                      </p:to>
                                    </p:set>
                                    <p:anim calcmode="lin" valueType="num">
                                      <p:cBhvr>
                                        <p:cTn id="37" dur="500" fill="hold"/>
                                        <p:tgtEl>
                                          <p:spTgt spid="60418">
                                            <p:txEl>
                                              <p:pRg st="5" end="5"/>
                                            </p:txEl>
                                          </p:spTgt>
                                        </p:tgtEl>
                                        <p:attrNameLst>
                                          <p:attrName>ppt_x</p:attrName>
                                        </p:attrNameLst>
                                      </p:cBhvr>
                                      <p:tavLst>
                                        <p:tav tm="0">
                                          <p:val>
                                            <p:strVal val="#ppt_x"/>
                                          </p:val>
                                        </p:tav>
                                        <p:tav tm="100000">
                                          <p:val>
                                            <p:strVal val="#ppt_x"/>
                                          </p:val>
                                        </p:tav>
                                      </p:tavLst>
                                    </p:anim>
                                    <p:anim calcmode="lin" valueType="num">
                                      <p:cBhvr>
                                        <p:cTn id="38" dur="500" fill="hold"/>
                                        <p:tgtEl>
                                          <p:spTgt spid="604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0418">
                                            <p:txEl>
                                              <p:pRg st="6" end="6"/>
                                            </p:txEl>
                                          </p:spTgt>
                                        </p:tgtEl>
                                        <p:attrNameLst>
                                          <p:attrName>style.visibility</p:attrName>
                                        </p:attrNameLst>
                                      </p:cBhvr>
                                      <p:to>
                                        <p:strVal val="visible"/>
                                      </p:to>
                                    </p:set>
                                    <p:anim calcmode="lin" valueType="num">
                                      <p:cBhvr>
                                        <p:cTn id="43" dur="500" fill="hold"/>
                                        <p:tgtEl>
                                          <p:spTgt spid="60418">
                                            <p:txEl>
                                              <p:pRg st="6" end="6"/>
                                            </p:txEl>
                                          </p:spTgt>
                                        </p:tgtEl>
                                        <p:attrNameLst>
                                          <p:attrName>ppt_x</p:attrName>
                                        </p:attrNameLst>
                                      </p:cBhvr>
                                      <p:tavLst>
                                        <p:tav tm="0">
                                          <p:val>
                                            <p:strVal val="#ppt_x"/>
                                          </p:val>
                                        </p:tav>
                                        <p:tav tm="100000">
                                          <p:val>
                                            <p:strVal val="#ppt_x"/>
                                          </p:val>
                                        </p:tav>
                                      </p:tavLst>
                                    </p:anim>
                                    <p:anim calcmode="lin" valueType="num">
                                      <p:cBhvr>
                                        <p:cTn id="44" dur="500" fill="hold"/>
                                        <p:tgtEl>
                                          <p:spTgt spid="6041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0418">
                                            <p:txEl>
                                              <p:pRg st="7" end="7"/>
                                            </p:txEl>
                                          </p:spTgt>
                                        </p:tgtEl>
                                        <p:attrNameLst>
                                          <p:attrName>style.visibility</p:attrName>
                                        </p:attrNameLst>
                                      </p:cBhvr>
                                      <p:to>
                                        <p:strVal val="visible"/>
                                      </p:to>
                                    </p:set>
                                    <p:anim calcmode="lin" valueType="num">
                                      <p:cBhvr>
                                        <p:cTn id="49" dur="500" fill="hold"/>
                                        <p:tgtEl>
                                          <p:spTgt spid="60418">
                                            <p:txEl>
                                              <p:pRg st="7" end="7"/>
                                            </p:txEl>
                                          </p:spTgt>
                                        </p:tgtEl>
                                        <p:attrNameLst>
                                          <p:attrName>ppt_x</p:attrName>
                                        </p:attrNameLst>
                                      </p:cBhvr>
                                      <p:tavLst>
                                        <p:tav tm="0">
                                          <p:val>
                                            <p:strVal val="#ppt_x"/>
                                          </p:val>
                                        </p:tav>
                                        <p:tav tm="100000">
                                          <p:val>
                                            <p:strVal val="#ppt_x"/>
                                          </p:val>
                                        </p:tav>
                                      </p:tavLst>
                                    </p:anim>
                                    <p:anim calcmode="lin" valueType="num">
                                      <p:cBhvr>
                                        <p:cTn id="50" dur="500" fill="hold"/>
                                        <p:tgtEl>
                                          <p:spTgt spid="6041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0418">
                                            <p:txEl>
                                              <p:pRg st="8" end="8"/>
                                            </p:txEl>
                                          </p:spTgt>
                                        </p:tgtEl>
                                        <p:attrNameLst>
                                          <p:attrName>style.visibility</p:attrName>
                                        </p:attrNameLst>
                                      </p:cBhvr>
                                      <p:to>
                                        <p:strVal val="visible"/>
                                      </p:to>
                                    </p:set>
                                    <p:anim calcmode="lin" valueType="num">
                                      <p:cBhvr>
                                        <p:cTn id="55" dur="500" fill="hold"/>
                                        <p:tgtEl>
                                          <p:spTgt spid="60418">
                                            <p:txEl>
                                              <p:pRg st="8" end="8"/>
                                            </p:txEl>
                                          </p:spTgt>
                                        </p:tgtEl>
                                        <p:attrNameLst>
                                          <p:attrName>ppt_x</p:attrName>
                                        </p:attrNameLst>
                                      </p:cBhvr>
                                      <p:tavLst>
                                        <p:tav tm="0">
                                          <p:val>
                                            <p:strVal val="#ppt_x"/>
                                          </p:val>
                                        </p:tav>
                                        <p:tav tm="100000">
                                          <p:val>
                                            <p:strVal val="#ppt_x"/>
                                          </p:val>
                                        </p:tav>
                                      </p:tavLst>
                                    </p:anim>
                                    <p:anim calcmode="lin" valueType="num">
                                      <p:cBhvr>
                                        <p:cTn id="56" dur="500" fill="hold"/>
                                        <p:tgtEl>
                                          <p:spTgt spid="604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4294967295"/>
          </p:nvPr>
        </p:nvSpPr>
        <p:spPr>
          <a:xfrm>
            <a:off x="531813" y="1343025"/>
            <a:ext cx="8229600" cy="712788"/>
          </a:xfrm>
          <a:ln/>
        </p:spPr>
        <p:txBody>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边际要素成本曲线和要素供给曲线</a:t>
            </a:r>
            <a:endParaRPr lang="en-US" altLang="zh-CN" sz="2000" b="0" dirty="0">
              <a:latin typeface="微软雅黑" panose="020B0503020204020204" pitchFamily="34" charset="-122"/>
              <a:ea typeface="微软雅黑" panose="020B0503020204020204" pitchFamily="34" charset="-122"/>
            </a:endParaRPr>
          </a:p>
        </p:txBody>
      </p:sp>
      <p:sp>
        <p:nvSpPr>
          <p:cNvPr id="61443" name="Line 4"/>
          <p:cNvSpPr>
            <a:spLocks noChangeShapeType="1"/>
          </p:cNvSpPr>
          <p:nvPr/>
        </p:nvSpPr>
        <p:spPr bwMode="auto">
          <a:xfrm flipH="1" flipV="1">
            <a:off x="2971800" y="2214563"/>
            <a:ext cx="0" cy="37226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1444" name="Line 5"/>
          <p:cNvSpPr>
            <a:spLocks noChangeShapeType="1"/>
          </p:cNvSpPr>
          <p:nvPr/>
        </p:nvSpPr>
        <p:spPr bwMode="auto">
          <a:xfrm>
            <a:off x="2970213" y="5942013"/>
            <a:ext cx="4502150"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1445" name="Text Box 6"/>
          <p:cNvSpPr>
            <a:spLocks noChangeArrowheads="1"/>
          </p:cNvSpPr>
          <p:nvPr/>
        </p:nvSpPr>
        <p:spPr bwMode="auto">
          <a:xfrm>
            <a:off x="2214563" y="2217738"/>
            <a:ext cx="85883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MFC</a:t>
            </a:r>
            <a:endParaRPr lang="zh-CN" altLang="en-US" dirty="0">
              <a:solidFill>
                <a:srgbClr val="000000"/>
              </a:solidFill>
              <a:sym typeface="Arial" panose="020B0604020202020204" pitchFamily="34" charset="0"/>
            </a:endParaRPr>
          </a:p>
        </p:txBody>
      </p:sp>
      <p:sp>
        <p:nvSpPr>
          <p:cNvPr id="61446" name="Text Box 7"/>
          <p:cNvSpPr>
            <a:spLocks noChangeArrowheads="1"/>
          </p:cNvSpPr>
          <p:nvPr/>
        </p:nvSpPr>
        <p:spPr bwMode="auto">
          <a:xfrm>
            <a:off x="2624138" y="5765800"/>
            <a:ext cx="3746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61447" name="Text Box 8"/>
          <p:cNvSpPr>
            <a:spLocks noChangeArrowheads="1"/>
          </p:cNvSpPr>
          <p:nvPr/>
        </p:nvSpPr>
        <p:spPr bwMode="auto">
          <a:xfrm>
            <a:off x="7126288" y="5942013"/>
            <a:ext cx="37465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61448" name="Text Box 10"/>
          <p:cNvSpPr>
            <a:spLocks noChangeArrowheads="1"/>
          </p:cNvSpPr>
          <p:nvPr/>
        </p:nvSpPr>
        <p:spPr bwMode="auto">
          <a:xfrm>
            <a:off x="6002338" y="3368675"/>
            <a:ext cx="13700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W(L)</a:t>
            </a:r>
            <a:endParaRPr lang="zh-CN" altLang="en-US">
              <a:solidFill>
                <a:srgbClr val="000000"/>
              </a:solidFill>
              <a:sym typeface="Arial" panose="020B0604020202020204" pitchFamily="34" charset="0"/>
            </a:endParaRPr>
          </a:p>
        </p:txBody>
      </p:sp>
      <p:sp>
        <p:nvSpPr>
          <p:cNvPr id="61449" name="Line 13"/>
          <p:cNvSpPr>
            <a:spLocks noChangeShapeType="1"/>
          </p:cNvSpPr>
          <p:nvPr/>
        </p:nvSpPr>
        <p:spPr bwMode="auto">
          <a:xfrm flipV="1">
            <a:off x="2987675" y="4462463"/>
            <a:ext cx="3941763" cy="4603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1450" name="Text Box 15"/>
          <p:cNvSpPr>
            <a:spLocks noChangeArrowheads="1"/>
          </p:cNvSpPr>
          <p:nvPr/>
        </p:nvSpPr>
        <p:spPr bwMode="auto">
          <a:xfrm>
            <a:off x="2214563" y="4379913"/>
            <a:ext cx="5842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61451" name="Text Box 16"/>
          <p:cNvSpPr>
            <a:spLocks noChangeArrowheads="1"/>
          </p:cNvSpPr>
          <p:nvPr/>
        </p:nvSpPr>
        <p:spPr bwMode="auto">
          <a:xfrm>
            <a:off x="2500313" y="4429125"/>
            <a:ext cx="568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00"/>
                </a:solidFill>
                <a:sym typeface="Arial" panose="020B0604020202020204" pitchFamily="34" charset="0"/>
              </a:rPr>
              <a:t>W</a:t>
            </a:r>
            <a:endParaRPr lang="zh-CN" altLang="en-US" sz="1800">
              <a:solidFill>
                <a:srgbClr val="000000"/>
              </a:solidFill>
              <a:sym typeface="Arial" panose="020B0604020202020204" pitchFamily="34" charset="0"/>
            </a:endParaRPr>
          </a:p>
        </p:txBody>
      </p:sp>
      <p:sp>
        <p:nvSpPr>
          <p:cNvPr id="61452" name="Text Box 19"/>
          <p:cNvSpPr>
            <a:spLocks noChangeArrowheads="1"/>
          </p:cNvSpPr>
          <p:nvPr/>
        </p:nvSpPr>
        <p:spPr bwMode="auto">
          <a:xfrm>
            <a:off x="5829300" y="2481263"/>
            <a:ext cx="12128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 FC</a:t>
            </a:r>
          </a:p>
        </p:txBody>
      </p:sp>
      <p:sp>
        <p:nvSpPr>
          <p:cNvPr id="61453" name="Line 22"/>
          <p:cNvSpPr>
            <a:spLocks noChangeShapeType="1"/>
          </p:cNvSpPr>
          <p:nvPr/>
        </p:nvSpPr>
        <p:spPr bwMode="auto">
          <a:xfrm flipH="1">
            <a:off x="2971800" y="3544888"/>
            <a:ext cx="3030538" cy="97948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1454" name="Line 23"/>
          <p:cNvSpPr>
            <a:spLocks noChangeShapeType="1"/>
          </p:cNvSpPr>
          <p:nvPr/>
        </p:nvSpPr>
        <p:spPr bwMode="auto">
          <a:xfrm flipH="1">
            <a:off x="2970213" y="2746375"/>
            <a:ext cx="2859087" cy="1778000"/>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1456" name="圆角矩形标注 17"/>
          <p:cNvSpPr>
            <a:spLocks noChangeArrowheads="1"/>
          </p:cNvSpPr>
          <p:nvPr/>
        </p:nvSpPr>
        <p:spPr bwMode="auto">
          <a:xfrm>
            <a:off x="6651623" y="2428875"/>
            <a:ext cx="2063752" cy="1464231"/>
          </a:xfrm>
          <a:prstGeom prst="wedgeRoundRectCallout">
            <a:avLst>
              <a:gd name="adj1" fmla="val -50049"/>
              <a:gd name="adj2" fmla="val 71630"/>
              <a:gd name="adj3" fmla="val 16667"/>
            </a:avLst>
          </a:prstGeom>
          <a:noFill/>
          <a:ln w="28575">
            <a:solidFill>
              <a:schemeClr val="accent3">
                <a:lumMod val="50000"/>
              </a:schemeClr>
            </a:solidFill>
          </a:ln>
        </p:spPr>
        <p:txBody>
          <a:bodyPr wrap="squar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如果企业为要素市场上的完全竞争者</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则它面临的要素供给曲线就是一条水平线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即有</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W(L)=W</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457" name="Text Box 16"/>
          <p:cNvSpPr>
            <a:spLocks noChangeArrowheads="1"/>
          </p:cNvSpPr>
          <p:nvPr/>
        </p:nvSpPr>
        <p:spPr bwMode="auto">
          <a:xfrm>
            <a:off x="6572250" y="4500563"/>
            <a:ext cx="107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00"/>
                </a:solidFill>
                <a:sym typeface="Arial" panose="020B0604020202020204" pitchFamily="34" charset="0"/>
              </a:rPr>
              <a:t>W(L)=W</a:t>
            </a:r>
            <a:endParaRPr lang="zh-CN" altLang="en-US" sz="1800">
              <a:solidFill>
                <a:srgbClr val="000000"/>
              </a:solidFill>
              <a:sym typeface="Arial" panose="020B0604020202020204" pitchFamily="34" charset="0"/>
            </a:endParaRPr>
          </a:p>
        </p:txBody>
      </p:sp>
      <p:sp>
        <p:nvSpPr>
          <p:cNvPr id="61458" name="圆角矩形标注 19"/>
          <p:cNvSpPr>
            <a:spLocks noChangeArrowheads="1"/>
          </p:cNvSpPr>
          <p:nvPr/>
        </p:nvSpPr>
        <p:spPr bwMode="auto">
          <a:xfrm>
            <a:off x="323850" y="2514956"/>
            <a:ext cx="2571750" cy="2009061"/>
          </a:xfrm>
          <a:prstGeom prst="wedgeRoundRectCallout">
            <a:avLst>
              <a:gd name="adj1" fmla="val 72407"/>
              <a:gd name="adj2" fmla="val 20053"/>
              <a:gd name="adj3" fmla="val 16667"/>
            </a:avLst>
          </a:prstGeom>
          <a:noFill/>
          <a:ln w="28575">
            <a:solidFill>
              <a:schemeClr val="accent3">
                <a:lumMod val="50000"/>
              </a:schemeClr>
            </a:solidFill>
          </a:ln>
        </p:spPr>
        <p:txBody>
          <a:bodyPr wrap="squar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如果企业不是要素市场上的完全竞争者</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而是垄断买方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则它所面临的要素供给曲线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W(L)</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就是市场的要素供给曲线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而市场的要素供给曲线通常向右上方倾斜</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459" name="圆角矩形标注 20"/>
          <p:cNvSpPr>
            <a:spLocks noChangeArrowheads="1"/>
          </p:cNvSpPr>
          <p:nvPr/>
        </p:nvSpPr>
        <p:spPr bwMode="auto">
          <a:xfrm>
            <a:off x="3741737" y="4656138"/>
            <a:ext cx="1714500" cy="919401"/>
          </a:xfrm>
          <a:prstGeom prst="wedgeRoundRectCallout">
            <a:avLst>
              <a:gd name="adj1" fmla="val 329"/>
              <a:gd name="adj2" fmla="val -167981"/>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边际要素成本曲线总位于要素供给曲线之上</a:t>
            </a:r>
          </a:p>
        </p:txBody>
      </p:sp>
      <p:sp>
        <p:nvSpPr>
          <p:cNvPr id="22" name="矩形 21">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258871643"/>
              </p:ext>
            </p:extLst>
          </p:nvPr>
        </p:nvGraphicFramePr>
        <p:xfrm>
          <a:off x="3329205" y="2119312"/>
          <a:ext cx="2063752" cy="515938"/>
        </p:xfrm>
        <a:graphic>
          <a:graphicData uri="http://schemas.openxmlformats.org/presentationml/2006/ole">
            <mc:AlternateContent xmlns:mc="http://schemas.openxmlformats.org/markup-compatibility/2006">
              <mc:Choice xmlns:v="urn:schemas-microsoft-com:vml" Requires="v">
                <p:oleObj spid="_x0000_s47232" name="Equation" r:id="rId3" imgW="1574640" imgH="393480" progId="Equation.3">
                  <p:embed/>
                </p:oleObj>
              </mc:Choice>
              <mc:Fallback>
                <p:oleObj name="Equation" r:id="rId3" imgW="1574640" imgH="393480" progId="Equation.3">
                  <p:embed/>
                  <p:pic>
                    <p:nvPicPr>
                      <p:cNvPr id="0" name=""/>
                      <p:cNvPicPr/>
                      <p:nvPr/>
                    </p:nvPicPr>
                    <p:blipFill>
                      <a:blip r:embed="rId4"/>
                      <a:stretch>
                        <a:fillRect/>
                      </a:stretch>
                    </p:blipFill>
                    <p:spPr>
                      <a:xfrm>
                        <a:off x="3329205" y="2119312"/>
                        <a:ext cx="2063752" cy="515938"/>
                      </a:xfrm>
                      <a:prstGeom prst="rect">
                        <a:avLst/>
                      </a:prstGeom>
                    </p:spPr>
                  </p:pic>
                </p:oleObj>
              </mc:Fallback>
            </mc:AlternateContent>
          </a:graphicData>
        </a:graphic>
      </p:graphicFrame>
      <p:sp>
        <p:nvSpPr>
          <p:cNvPr id="23" name="标题 1">
            <a:extLst>
              <a:ext uri="{FF2B5EF4-FFF2-40B4-BE49-F238E27FC236}">
                <a16:creationId xmlns:a16="http://schemas.microsoft.com/office/drawing/2014/main" id="{8491BCB3-B458-4E90-831F-ABF0AC1C927B}"/>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animEffect>
                                      <p:cBhvr>
                                        <p:cTn id="7" dur="500"/>
                                        <p:tgtEl>
                                          <p:spTgt spid="61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5"/>
                                        </p:tgtEl>
                                        <p:attrNameLst>
                                          <p:attrName>style.visibility</p:attrName>
                                        </p:attrNameLst>
                                      </p:cBhvr>
                                      <p:to>
                                        <p:strVal val="visible"/>
                                      </p:to>
                                    </p:set>
                                    <p:animEffect>
                                      <p:cBhvr>
                                        <p:cTn id="12" dur="500"/>
                                        <p:tgtEl>
                                          <p:spTgt spid="6144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1443"/>
                                        </p:tgtEl>
                                        <p:attrNameLst>
                                          <p:attrName>style.visibility</p:attrName>
                                        </p:attrNameLst>
                                      </p:cBhvr>
                                      <p:to>
                                        <p:strVal val="visible"/>
                                      </p:to>
                                    </p:set>
                                    <p:animEffect>
                                      <p:cBhvr>
                                        <p:cTn id="15" dur="500"/>
                                        <p:tgtEl>
                                          <p:spTgt spid="6144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1446"/>
                                        </p:tgtEl>
                                        <p:attrNameLst>
                                          <p:attrName>style.visibility</p:attrName>
                                        </p:attrNameLst>
                                      </p:cBhvr>
                                      <p:to>
                                        <p:strVal val="visible"/>
                                      </p:to>
                                    </p:set>
                                    <p:animEffect>
                                      <p:cBhvr>
                                        <p:cTn id="18" dur="500"/>
                                        <p:tgtEl>
                                          <p:spTgt spid="6144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1444"/>
                                        </p:tgtEl>
                                        <p:attrNameLst>
                                          <p:attrName>style.visibility</p:attrName>
                                        </p:attrNameLst>
                                      </p:cBhvr>
                                      <p:to>
                                        <p:strVal val="visible"/>
                                      </p:to>
                                    </p:set>
                                    <p:animEffect>
                                      <p:cBhvr>
                                        <p:cTn id="21" dur="500"/>
                                        <p:tgtEl>
                                          <p:spTgt spid="61444"/>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1447"/>
                                        </p:tgtEl>
                                        <p:attrNameLst>
                                          <p:attrName>style.visibility</p:attrName>
                                        </p:attrNameLst>
                                      </p:cBhvr>
                                      <p:to>
                                        <p:strVal val="visible"/>
                                      </p:to>
                                    </p:set>
                                    <p:animEffect>
                                      <p:cBhvr>
                                        <p:cTn id="24" dur="500"/>
                                        <p:tgtEl>
                                          <p:spTgt spid="6144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1456"/>
                                        </p:tgtEl>
                                        <p:attrNameLst>
                                          <p:attrName>style.visibility</p:attrName>
                                        </p:attrNameLst>
                                      </p:cBhvr>
                                      <p:to>
                                        <p:strVal val="visible"/>
                                      </p:to>
                                    </p:set>
                                    <p:animEffect>
                                      <p:cBhvr>
                                        <p:cTn id="29" dur="500"/>
                                        <p:tgtEl>
                                          <p:spTgt spid="61456"/>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61451"/>
                                        </p:tgtEl>
                                        <p:attrNameLst>
                                          <p:attrName>style.visibility</p:attrName>
                                        </p:attrNameLst>
                                      </p:cBhvr>
                                      <p:to>
                                        <p:strVal val="visible"/>
                                      </p:to>
                                    </p:set>
                                    <p:animEffect>
                                      <p:cBhvr>
                                        <p:cTn id="34" dur="500"/>
                                        <p:tgtEl>
                                          <p:spTgt spid="6145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61449"/>
                                        </p:tgtEl>
                                        <p:attrNameLst>
                                          <p:attrName>style.visibility</p:attrName>
                                        </p:attrNameLst>
                                      </p:cBhvr>
                                      <p:to>
                                        <p:strVal val="visible"/>
                                      </p:to>
                                    </p:set>
                                    <p:animEffect>
                                      <p:cBhvr>
                                        <p:cTn id="37" dur="500"/>
                                        <p:tgtEl>
                                          <p:spTgt spid="61449"/>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61457"/>
                                        </p:tgtEl>
                                        <p:attrNameLst>
                                          <p:attrName>style.visibility</p:attrName>
                                        </p:attrNameLst>
                                      </p:cBhvr>
                                      <p:to>
                                        <p:strVal val="visible"/>
                                      </p:to>
                                    </p:set>
                                    <p:animEffect>
                                      <p:cBhvr>
                                        <p:cTn id="40" dur="500"/>
                                        <p:tgtEl>
                                          <p:spTgt spid="6145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61458"/>
                                        </p:tgtEl>
                                        <p:attrNameLst>
                                          <p:attrName>style.visibility</p:attrName>
                                        </p:attrNameLst>
                                      </p:cBhvr>
                                      <p:to>
                                        <p:strVal val="visible"/>
                                      </p:to>
                                    </p:set>
                                    <p:animEffect>
                                      <p:cBhvr>
                                        <p:cTn id="45" dur="500"/>
                                        <p:tgtEl>
                                          <p:spTgt spid="6145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61453"/>
                                        </p:tgtEl>
                                        <p:attrNameLst>
                                          <p:attrName>style.visibility</p:attrName>
                                        </p:attrNameLst>
                                      </p:cBhvr>
                                      <p:to>
                                        <p:strVal val="visible"/>
                                      </p:to>
                                    </p:set>
                                    <p:animEffect>
                                      <p:cBhvr>
                                        <p:cTn id="50" dur="500"/>
                                        <p:tgtEl>
                                          <p:spTgt spid="61453"/>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61448"/>
                                        </p:tgtEl>
                                        <p:attrNameLst>
                                          <p:attrName>style.visibility</p:attrName>
                                        </p:attrNameLst>
                                      </p:cBhvr>
                                      <p:to>
                                        <p:strVal val="visible"/>
                                      </p:to>
                                    </p:set>
                                    <p:animEffect>
                                      <p:cBhvr>
                                        <p:cTn id="53" dur="500"/>
                                        <p:tgtEl>
                                          <p:spTgt spid="6144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61459"/>
                                        </p:tgtEl>
                                        <p:attrNameLst>
                                          <p:attrName>style.visibility</p:attrName>
                                        </p:attrNameLst>
                                      </p:cBhvr>
                                      <p:to>
                                        <p:strVal val="visible"/>
                                      </p:to>
                                    </p:set>
                                    <p:animEffect>
                                      <p:cBhvr>
                                        <p:cTn id="58" dur="500"/>
                                        <p:tgtEl>
                                          <p:spTgt spid="61459"/>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61454"/>
                                        </p:tgtEl>
                                        <p:attrNameLst>
                                          <p:attrName>style.visibility</p:attrName>
                                        </p:attrNameLst>
                                      </p:cBhvr>
                                      <p:to>
                                        <p:strVal val="visible"/>
                                      </p:to>
                                    </p:set>
                                    <p:animEffect>
                                      <p:cBhvr>
                                        <p:cTn id="63" dur="500"/>
                                        <p:tgtEl>
                                          <p:spTgt spid="61454"/>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1452"/>
                                        </p:tgtEl>
                                        <p:attrNameLst>
                                          <p:attrName>style.visibility</p:attrName>
                                        </p:attrNameLst>
                                      </p:cBhvr>
                                      <p:to>
                                        <p:strVal val="visible"/>
                                      </p:to>
                                    </p:set>
                                    <p:animEffect>
                                      <p:cBhvr>
                                        <p:cTn id="66" dur="500"/>
                                        <p:tgtEl>
                                          <p:spTgt spid="6145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ldLvl="0" animBg="1" autoUpdateAnimBg="0"/>
      <p:bldP spid="61444" grpId="0" bldLvl="0" animBg="1" autoUpdateAnimBg="0"/>
      <p:bldP spid="61445" grpId="0" bldLvl="0" autoUpdateAnimBg="0"/>
      <p:bldP spid="61446" grpId="0" bldLvl="0" autoUpdateAnimBg="0"/>
      <p:bldP spid="61447" grpId="0" bldLvl="0" autoUpdateAnimBg="0"/>
      <p:bldP spid="61448" grpId="0" bldLvl="0" autoUpdateAnimBg="0"/>
      <p:bldP spid="61449" grpId="0" bldLvl="0" animBg="1" autoUpdateAnimBg="0"/>
      <p:bldP spid="61451" grpId="0" bldLvl="0" autoUpdateAnimBg="0"/>
      <p:bldP spid="61452" grpId="0" bldLvl="0" autoUpdateAnimBg="0"/>
      <p:bldP spid="61453" grpId="0" bldLvl="0" animBg="1" autoUpdateAnimBg="0"/>
      <p:bldP spid="61454" grpId="0" bldLvl="0" animBg="1" autoUpdateAnimBg="0"/>
      <p:bldP spid="61456" grpId="0" bldLvl="0" animBg="1"/>
      <p:bldP spid="61457" grpId="0" bldLvl="0" autoUpdateAnimBg="0"/>
      <p:bldP spid="61458" grpId="0" bldLvl="0" animBg="1"/>
      <p:bldP spid="61459"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0418" name="Rectangle 3"/>
              <p:cNvSpPr>
                <a:spLocks noGrp="1" noChangeArrowheads="1"/>
              </p:cNvSpPr>
              <p:nvPr>
                <p:ph type="body" idx="4294967295"/>
              </p:nvPr>
            </p:nvSpPr>
            <p:spPr>
              <a:xfrm>
                <a:off x="683730" y="1082820"/>
                <a:ext cx="8229600" cy="5072063"/>
              </a:xfrm>
              <a:ln/>
            </p:spPr>
            <p:txBody>
              <a:bodyPr/>
              <a:lstStyle/>
              <a:p>
                <a:pPr marL="457200" lvl="2" indent="-457200" eaLnBrk="1" hangingPunct="1">
                  <a:lnSpc>
                    <a:spcPct val="1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买方垄断使用要素的边际收益</a:t>
                </a:r>
                <a:endParaRPr lang="en-US" altLang="zh-CN" sz="2000" b="0" dirty="0">
                  <a:latin typeface="微软雅黑" panose="020B0503020204020204" pitchFamily="34" charset="-122"/>
                  <a:ea typeface="微软雅黑" panose="020B0503020204020204" pitchFamily="34" charset="-122"/>
                </a:endParaRPr>
              </a:p>
              <a:p>
                <a:pPr marL="756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这个边际收益叫做边际收益产品</a:t>
                </a:r>
                <a:r>
                  <a:rPr lang="en-US" altLang="zh-CN" sz="1800" b="0" dirty="0">
                    <a:latin typeface="微软雅黑" panose="020B0503020204020204" pitchFamily="34" charset="-122"/>
                    <a:ea typeface="微软雅黑" panose="020B0503020204020204" pitchFamily="34" charset="-122"/>
                  </a:rPr>
                  <a:t>MRP</a:t>
                </a:r>
              </a:p>
              <a:p>
                <a:pPr marL="756000" lvl="1" indent="0" eaLnBrk="1" hangingPunct="1">
                  <a:lnSpc>
                    <a:spcPct val="250000"/>
                  </a:lnSpc>
                  <a:buNone/>
                </a:pPr>
                <a14:m>
                  <m:oMathPara xmlns:m="http://schemas.openxmlformats.org/officeDocument/2006/math">
                    <m:oMathParaPr>
                      <m:jc m:val="centerGroup"/>
                    </m:oMathParaPr>
                    <m:oMath xmlns:m="http://schemas.openxmlformats.org/officeDocument/2006/math">
                      <m:r>
                        <a:rPr lang="en-US" altLang="zh-CN" sz="1800" b="0" i="1" dirty="0" smtClean="0">
                          <a:latin typeface="Cambria Math" panose="02040503050406030204" pitchFamily="18" charset="0"/>
                        </a:rPr>
                        <m:t>𝑀𝑅𝑃</m:t>
                      </m:r>
                      <m:r>
                        <a:rPr lang="en-US" altLang="zh-CN" sz="1800" b="0" i="1" dirty="0" smtClean="0">
                          <a:latin typeface="Cambria Math" panose="02040503050406030204" pitchFamily="18" charset="0"/>
                        </a:rPr>
                        <m:t>=</m:t>
                      </m:r>
                      <m:f>
                        <m:fPr>
                          <m:ctrlPr>
                            <a:rPr lang="en-US" altLang="zh-CN" sz="1800" b="0" i="1" dirty="0" smtClean="0">
                              <a:latin typeface="Cambria Math" panose="02040503050406030204" pitchFamily="18" charset="0"/>
                            </a:rPr>
                          </m:ctrlPr>
                        </m:fPr>
                        <m:num>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𝑅</m:t>
                          </m:r>
                        </m:num>
                        <m:den>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𝐿</m:t>
                          </m:r>
                        </m:den>
                      </m:f>
                      <m:r>
                        <a:rPr lang="zh-CN" altLang="en-US" sz="1800" b="0" i="1" dirty="0">
                          <a:latin typeface="Cambria Math" panose="02040503050406030204" pitchFamily="18" charset="0"/>
                        </a:rPr>
                        <m:t>或</m:t>
                      </m:r>
                      <m:r>
                        <a:rPr lang="en-US" altLang="zh-CN" sz="1800" b="0" i="1" dirty="0" smtClean="0">
                          <a:latin typeface="Cambria Math" panose="02040503050406030204" pitchFamily="18" charset="0"/>
                        </a:rPr>
                        <m:t>=</m:t>
                      </m:r>
                      <m:f>
                        <m:fPr>
                          <m:ctrlPr>
                            <a:rPr lang="en-US" altLang="zh-CN" sz="1800" b="0" i="1" dirty="0">
                              <a:latin typeface="Cambria Math" panose="02040503050406030204" pitchFamily="18" charset="0"/>
                            </a:rPr>
                          </m:ctrlPr>
                        </m:fPr>
                        <m:num>
                          <m:r>
                            <a:rPr lang="en-US" altLang="zh-CN" sz="1800" b="0" i="1" dirty="0" smtClean="0">
                              <a:latin typeface="Cambria Math" panose="02040503050406030204" pitchFamily="18" charset="0"/>
                            </a:rPr>
                            <m:t>𝑑</m:t>
                          </m:r>
                          <m:r>
                            <a:rPr lang="en-US" altLang="zh-CN" sz="1800" b="0" i="1" dirty="0">
                              <a:latin typeface="Cambria Math" panose="02040503050406030204" pitchFamily="18" charset="0"/>
                            </a:rPr>
                            <m:t>𝑅</m:t>
                          </m:r>
                        </m:num>
                        <m:den>
                          <m:r>
                            <a:rPr lang="en-US" altLang="zh-CN" sz="1800" b="0" i="1" dirty="0" smtClean="0">
                              <a:latin typeface="Cambria Math" panose="02040503050406030204" pitchFamily="18" charset="0"/>
                              <a:ea typeface="Cambria Math" panose="02040503050406030204" pitchFamily="18" charset="0"/>
                            </a:rPr>
                            <m:t>𝑑</m:t>
                          </m:r>
                          <m:r>
                            <a:rPr lang="en-US" altLang="zh-CN" sz="1800" b="0" i="1" dirty="0">
                              <a:latin typeface="Cambria Math" panose="02040503050406030204" pitchFamily="18" charset="0"/>
                            </a:rPr>
                            <m:t>𝐿</m:t>
                          </m:r>
                        </m:den>
                      </m:f>
                    </m:oMath>
                  </m:oMathPara>
                </a14:m>
                <a:endParaRPr lang="en-US" altLang="zh-CN" sz="1800" b="0" dirty="0">
                  <a:latin typeface="微软雅黑" panose="020B0503020204020204" pitchFamily="34" charset="-122"/>
                  <a:ea typeface="微软雅黑" panose="020B0503020204020204" pitchFamily="34" charset="-122"/>
                </a:endParaRPr>
              </a:p>
              <a:p>
                <a:pPr marL="756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买方垄断在商品市场的卖方是竞争的，因此</a:t>
                </a:r>
                <a:r>
                  <a:rPr lang="en-US" altLang="zh-CN" sz="1800" b="0" smtClean="0">
                    <a:latin typeface="微软雅黑" panose="020B0503020204020204" pitchFamily="34" charset="-122"/>
                    <a:ea typeface="微软雅黑" panose="020B0503020204020204" pitchFamily="34" charset="-122"/>
                  </a:rPr>
                  <a:t>P=MR</a:t>
                </a:r>
                <a:endParaRPr lang="en-US" altLang="zh-CN" sz="1800" b="0" dirty="0">
                  <a:latin typeface="微软雅黑" panose="020B0503020204020204" pitchFamily="34" charset="-122"/>
                  <a:ea typeface="微软雅黑" panose="020B0503020204020204" pitchFamily="34" charset="-122"/>
                </a:endParaRPr>
              </a:p>
              <a:p>
                <a:pPr marL="756000" lvl="1" indent="-342900" eaLnBrk="1" hangingPunct="1">
                  <a:lnSpc>
                    <a:spcPct val="2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因此，</a:t>
                </a:r>
                <a:r>
                  <a:rPr lang="en-US" altLang="zh-CN" sz="1800" b="0" dirty="0">
                    <a:latin typeface="微软雅黑" panose="020B0503020204020204" pitchFamily="34" charset="-122"/>
                    <a:ea typeface="微软雅黑" panose="020B0503020204020204" pitchFamily="34" charset="-122"/>
                  </a:rPr>
                  <a:t>MRP = 		VMP</a:t>
                </a:r>
              </a:p>
              <a:p>
                <a:pPr marL="457200" lvl="2" indent="-457200" eaLnBrk="1" hangingPunct="1">
                  <a:lnSpc>
                    <a:spcPct val="15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买方垄断的要素使用原则</a:t>
                </a:r>
                <a:r>
                  <a:rPr lang="en-US" altLang="zh-CN" sz="2000" b="0" dirty="0">
                    <a:latin typeface="微软雅黑" panose="020B0503020204020204" pitchFamily="34" charset="-122"/>
                    <a:ea typeface="微软雅黑" panose="020B0503020204020204" pitchFamily="34" charset="-122"/>
                  </a:rPr>
                  <a:t>		</a:t>
                </a:r>
              </a:p>
              <a:p>
                <a:pPr marL="0" lvl="1" indent="0" algn="ctr" eaLnBrk="1" hangingPunct="1">
                  <a:buNone/>
                </a:pPr>
                <a:r>
                  <a:rPr lang="en-US" altLang="zh-CN" sz="1800" b="0" dirty="0">
                    <a:latin typeface="微软雅黑" panose="020B0503020204020204" pitchFamily="34" charset="-122"/>
                    <a:ea typeface="微软雅黑" panose="020B0503020204020204" pitchFamily="34" charset="-122"/>
                  </a:rPr>
                  <a:t>VMP=MFC</a:t>
                </a:r>
                <a:endParaRPr lang="zh-CN" altLang="en-US" sz="1800" b="0" dirty="0">
                  <a:latin typeface="微软雅黑" panose="020B0503020204020204" pitchFamily="34" charset="-122"/>
                  <a:ea typeface="微软雅黑" panose="020B0503020204020204" pitchFamily="34" charset="-122"/>
                </a:endParaRPr>
              </a:p>
            </p:txBody>
          </p:sp>
        </mc:Choice>
        <mc:Fallback>
          <p:sp>
            <p:nvSpPr>
              <p:cNvPr id="60418" name="Rectangle 3"/>
              <p:cNvSpPr>
                <a:spLocks noGrp="1" noRot="1" noChangeAspect="1" noMove="1" noResize="1" noEditPoints="1" noAdjustHandles="1" noChangeArrowheads="1" noChangeShapeType="1" noTextEdit="1"/>
              </p:cNvSpPr>
              <p:nvPr>
                <p:ph type="body" idx="4294967295"/>
              </p:nvPr>
            </p:nvSpPr>
            <p:spPr>
              <a:xfrm>
                <a:off x="683730" y="1082820"/>
                <a:ext cx="8229600" cy="5072063"/>
              </a:xfrm>
              <a:blipFill>
                <a:blip r:embed="rId2"/>
                <a:stretch>
                  <a:fillRect l="-667"/>
                </a:stretch>
              </a:blipFill>
              <a:ln/>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5C1FBAE5-1E66-4EC8-86C8-E0CED7ADEDC3}"/>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109295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animEffect>
                                      <p:cBhvr>
                                        <p:cTn id="7" dur="500"/>
                                        <p:tgtEl>
                                          <p:spTgt spid="604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0418">
                                            <p:txEl>
                                              <p:pRg st="1" end="1"/>
                                            </p:txEl>
                                          </p:spTgt>
                                        </p:tgtEl>
                                        <p:attrNameLst>
                                          <p:attrName>style.visibility</p:attrName>
                                        </p:attrNameLst>
                                      </p:cBhvr>
                                      <p:to>
                                        <p:strVal val="visible"/>
                                      </p:to>
                                    </p:set>
                                    <p:animEffect>
                                      <p:cBhvr>
                                        <p:cTn id="12" dur="500"/>
                                        <p:tgtEl>
                                          <p:spTgt spid="604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0418">
                                            <p:txEl>
                                              <p:pRg st="2" end="2"/>
                                            </p:txEl>
                                          </p:spTgt>
                                        </p:tgtEl>
                                        <p:attrNameLst>
                                          <p:attrName>style.visibility</p:attrName>
                                        </p:attrNameLst>
                                      </p:cBhvr>
                                      <p:to>
                                        <p:strVal val="visible"/>
                                      </p:to>
                                    </p:set>
                                    <p:animEffect>
                                      <p:cBhvr>
                                        <p:cTn id="17" dur="500"/>
                                        <p:tgtEl>
                                          <p:spTgt spid="604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0418">
                                            <p:txEl>
                                              <p:pRg st="3" end="3"/>
                                            </p:txEl>
                                          </p:spTgt>
                                        </p:tgtEl>
                                        <p:attrNameLst>
                                          <p:attrName>style.visibility</p:attrName>
                                        </p:attrNameLst>
                                      </p:cBhvr>
                                      <p:to>
                                        <p:strVal val="visible"/>
                                      </p:to>
                                    </p:set>
                                    <p:animEffect>
                                      <p:cBhvr>
                                        <p:cTn id="22" dur="500"/>
                                        <p:tgtEl>
                                          <p:spTgt spid="604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0418">
                                            <p:txEl>
                                              <p:pRg st="4" end="4"/>
                                            </p:txEl>
                                          </p:spTgt>
                                        </p:tgtEl>
                                        <p:attrNameLst>
                                          <p:attrName>style.visibility</p:attrName>
                                        </p:attrNameLst>
                                      </p:cBhvr>
                                      <p:to>
                                        <p:strVal val="visible"/>
                                      </p:to>
                                    </p:set>
                                    <p:animEffect>
                                      <p:cBhvr>
                                        <p:cTn id="27" dur="500"/>
                                        <p:tgtEl>
                                          <p:spTgt spid="604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0418">
                                            <p:txEl>
                                              <p:pRg st="5" end="5"/>
                                            </p:txEl>
                                          </p:spTgt>
                                        </p:tgtEl>
                                        <p:attrNameLst>
                                          <p:attrName>style.visibility</p:attrName>
                                        </p:attrNameLst>
                                      </p:cBhvr>
                                      <p:to>
                                        <p:strVal val="visible"/>
                                      </p:to>
                                    </p:set>
                                    <p:animEffect>
                                      <p:cBhvr>
                                        <p:cTn id="32" dur="500"/>
                                        <p:tgtEl>
                                          <p:spTgt spid="604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60418">
                                            <p:txEl>
                                              <p:pRg st="6" end="6"/>
                                            </p:txEl>
                                          </p:spTgt>
                                        </p:tgtEl>
                                        <p:attrNameLst>
                                          <p:attrName>style.visibility</p:attrName>
                                        </p:attrNameLst>
                                      </p:cBhvr>
                                      <p:to>
                                        <p:strVal val="visible"/>
                                      </p:to>
                                    </p:set>
                                    <p:animEffect>
                                      <p:cBhvr>
                                        <p:cTn id="37" dur="500"/>
                                        <p:tgtEl>
                                          <p:spTgt spid="604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body" idx="4294967295"/>
          </p:nvPr>
        </p:nvSpPr>
        <p:spPr>
          <a:xfrm>
            <a:off x="491893" y="1323949"/>
            <a:ext cx="8229600" cy="571500"/>
          </a:xfrm>
          <a:ln/>
        </p:spPr>
        <p:txBody>
          <a:bodyPr/>
          <a:lstStyle/>
          <a:p>
            <a:pPr marL="457200" lvl="2" indent="-4572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最优要素使用量和要素价格的决定</a:t>
            </a:r>
            <a:endParaRPr lang="en-US" altLang="zh-CN" sz="2000" b="0" dirty="0">
              <a:latin typeface="微软雅黑" panose="020B0503020204020204" pitchFamily="34" charset="-122"/>
              <a:ea typeface="微软雅黑" panose="020B0503020204020204" pitchFamily="34" charset="-122"/>
            </a:endParaRPr>
          </a:p>
        </p:txBody>
      </p:sp>
      <p:sp>
        <p:nvSpPr>
          <p:cNvPr id="62467" name="Line 4"/>
          <p:cNvSpPr>
            <a:spLocks noChangeShapeType="1"/>
          </p:cNvSpPr>
          <p:nvPr/>
        </p:nvSpPr>
        <p:spPr bwMode="auto">
          <a:xfrm flipH="1" flipV="1">
            <a:off x="2449513" y="2160588"/>
            <a:ext cx="1587" cy="370840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68" name="Line 5"/>
          <p:cNvSpPr>
            <a:spLocks noChangeShapeType="1"/>
          </p:cNvSpPr>
          <p:nvPr/>
        </p:nvSpPr>
        <p:spPr bwMode="auto">
          <a:xfrm>
            <a:off x="2447925" y="5873750"/>
            <a:ext cx="4794250" cy="0"/>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69" name="Text Box 6"/>
          <p:cNvSpPr>
            <a:spLocks noChangeArrowheads="1"/>
          </p:cNvSpPr>
          <p:nvPr/>
        </p:nvSpPr>
        <p:spPr bwMode="auto">
          <a:xfrm>
            <a:off x="1989138" y="2071688"/>
            <a:ext cx="73501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62470" name="Text Box 7"/>
          <p:cNvSpPr>
            <a:spLocks noChangeArrowheads="1"/>
          </p:cNvSpPr>
          <p:nvPr/>
        </p:nvSpPr>
        <p:spPr bwMode="auto">
          <a:xfrm>
            <a:off x="2079625" y="5697538"/>
            <a:ext cx="3984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62471" name="Text Box 8"/>
          <p:cNvSpPr>
            <a:spLocks noChangeArrowheads="1"/>
          </p:cNvSpPr>
          <p:nvPr/>
        </p:nvSpPr>
        <p:spPr bwMode="auto">
          <a:xfrm>
            <a:off x="6873875" y="5873750"/>
            <a:ext cx="3984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62472" name="Line 9"/>
          <p:cNvSpPr>
            <a:spLocks noChangeShapeType="1"/>
          </p:cNvSpPr>
          <p:nvPr/>
        </p:nvSpPr>
        <p:spPr bwMode="auto">
          <a:xfrm>
            <a:off x="3187700" y="2513013"/>
            <a:ext cx="3227388" cy="230028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73" name="Text Box 10"/>
          <p:cNvSpPr>
            <a:spLocks noChangeArrowheads="1"/>
          </p:cNvSpPr>
          <p:nvPr/>
        </p:nvSpPr>
        <p:spPr bwMode="auto">
          <a:xfrm>
            <a:off x="5676900" y="3311525"/>
            <a:ext cx="1460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W(L)</a:t>
            </a:r>
          </a:p>
        </p:txBody>
      </p:sp>
      <p:sp>
        <p:nvSpPr>
          <p:cNvPr id="62474" name="Line 13"/>
          <p:cNvSpPr>
            <a:spLocks noChangeShapeType="1"/>
          </p:cNvSpPr>
          <p:nvPr/>
        </p:nvSpPr>
        <p:spPr bwMode="auto">
          <a:xfrm>
            <a:off x="2449513" y="3841750"/>
            <a:ext cx="1939925" cy="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75" name="Line 14"/>
          <p:cNvSpPr>
            <a:spLocks noChangeShapeType="1"/>
          </p:cNvSpPr>
          <p:nvPr/>
        </p:nvSpPr>
        <p:spPr bwMode="auto">
          <a:xfrm>
            <a:off x="4386263" y="3311525"/>
            <a:ext cx="3175" cy="2565400"/>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76" name="Text Box 15"/>
          <p:cNvSpPr>
            <a:spLocks noChangeArrowheads="1"/>
          </p:cNvSpPr>
          <p:nvPr/>
        </p:nvSpPr>
        <p:spPr bwMode="auto">
          <a:xfrm>
            <a:off x="1643063" y="4318000"/>
            <a:ext cx="6223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62477" name="Text Box 16"/>
          <p:cNvSpPr>
            <a:spLocks noChangeArrowheads="1"/>
          </p:cNvSpPr>
          <p:nvPr/>
        </p:nvSpPr>
        <p:spPr bwMode="auto">
          <a:xfrm>
            <a:off x="1989138" y="3576638"/>
            <a:ext cx="6048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0</a:t>
            </a:r>
            <a:endParaRPr lang="zh-CN" altLang="en-US"/>
          </a:p>
        </p:txBody>
      </p:sp>
      <p:sp>
        <p:nvSpPr>
          <p:cNvPr id="62478" name="Text Box 17"/>
          <p:cNvSpPr>
            <a:spLocks noChangeArrowheads="1"/>
          </p:cNvSpPr>
          <p:nvPr/>
        </p:nvSpPr>
        <p:spPr bwMode="auto">
          <a:xfrm>
            <a:off x="4110038" y="2781300"/>
            <a:ext cx="4603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E</a:t>
            </a:r>
            <a:endParaRPr lang="zh-CN" altLang="en-US"/>
          </a:p>
        </p:txBody>
      </p:sp>
      <p:sp>
        <p:nvSpPr>
          <p:cNvPr id="62479" name="Text Box 18"/>
          <p:cNvSpPr>
            <a:spLocks noChangeArrowheads="1"/>
          </p:cNvSpPr>
          <p:nvPr/>
        </p:nvSpPr>
        <p:spPr bwMode="auto">
          <a:xfrm>
            <a:off x="2276475" y="3444875"/>
            <a:ext cx="3968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a:solidFill>
                <a:srgbClr val="000000"/>
              </a:solidFill>
              <a:sym typeface="Arial" panose="020B0604020202020204" pitchFamily="34" charset="0"/>
            </a:endParaRPr>
          </a:p>
        </p:txBody>
      </p:sp>
      <p:sp>
        <p:nvSpPr>
          <p:cNvPr id="62480" name="Text Box 19"/>
          <p:cNvSpPr>
            <a:spLocks noChangeArrowheads="1"/>
          </p:cNvSpPr>
          <p:nvPr/>
        </p:nvSpPr>
        <p:spPr bwMode="auto">
          <a:xfrm>
            <a:off x="5492750" y="2425700"/>
            <a:ext cx="1292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MFC</a:t>
            </a:r>
          </a:p>
        </p:txBody>
      </p:sp>
      <p:sp>
        <p:nvSpPr>
          <p:cNvPr id="62481" name="Text Box 20"/>
          <p:cNvSpPr>
            <a:spLocks noChangeArrowheads="1"/>
          </p:cNvSpPr>
          <p:nvPr/>
        </p:nvSpPr>
        <p:spPr bwMode="auto">
          <a:xfrm>
            <a:off x="6143625" y="4214813"/>
            <a:ext cx="11080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VMP</a:t>
            </a:r>
          </a:p>
        </p:txBody>
      </p:sp>
      <p:sp>
        <p:nvSpPr>
          <p:cNvPr id="62482" name="Text Box 21"/>
          <p:cNvSpPr>
            <a:spLocks noChangeArrowheads="1"/>
          </p:cNvSpPr>
          <p:nvPr/>
        </p:nvSpPr>
        <p:spPr bwMode="auto">
          <a:xfrm>
            <a:off x="4202113" y="5875338"/>
            <a:ext cx="60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0</a:t>
            </a:r>
            <a:endParaRPr lang="zh-CN" altLang="en-US"/>
          </a:p>
        </p:txBody>
      </p:sp>
      <p:sp>
        <p:nvSpPr>
          <p:cNvPr id="62483" name="Line 22"/>
          <p:cNvSpPr>
            <a:spLocks noChangeShapeType="1"/>
          </p:cNvSpPr>
          <p:nvPr/>
        </p:nvSpPr>
        <p:spPr bwMode="auto">
          <a:xfrm flipH="1">
            <a:off x="2449513" y="3487738"/>
            <a:ext cx="3227387" cy="974725"/>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84" name="Line 23"/>
          <p:cNvSpPr>
            <a:spLocks noChangeShapeType="1"/>
          </p:cNvSpPr>
          <p:nvPr/>
        </p:nvSpPr>
        <p:spPr bwMode="auto">
          <a:xfrm flipH="1">
            <a:off x="2447925" y="2692400"/>
            <a:ext cx="3044825" cy="1770063"/>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2485" name="圆角矩形标注 23"/>
          <p:cNvSpPr>
            <a:spLocks noChangeArrowheads="1"/>
          </p:cNvSpPr>
          <p:nvPr/>
        </p:nvSpPr>
        <p:spPr bwMode="auto">
          <a:xfrm>
            <a:off x="6688700" y="1689114"/>
            <a:ext cx="2000250" cy="1736646"/>
          </a:xfrm>
          <a:prstGeom prst="wedgeRoundRectCallout">
            <a:avLst>
              <a:gd name="adj1" fmla="val -162416"/>
              <a:gd name="adj2" fmla="val 46983"/>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边际产品价值曲线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VMP</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与边际要素成本曲线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MFC</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相交于</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E</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点</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于是</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最优要素使用量或要素需求量为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endParaRPr lang="zh-CN" altLang="en-US"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486" name="圆角矩形标注 25"/>
          <p:cNvSpPr>
            <a:spLocks noChangeArrowheads="1"/>
          </p:cNvSpPr>
          <p:nvPr/>
        </p:nvSpPr>
        <p:spPr bwMode="auto">
          <a:xfrm>
            <a:off x="140495" y="3048834"/>
            <a:ext cx="1785937" cy="1464231"/>
          </a:xfrm>
          <a:prstGeom prst="wedgeRoundRectCallout">
            <a:avLst>
              <a:gd name="adj1" fmla="val 66223"/>
              <a:gd name="adj2" fmla="val 14330"/>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当要素需求量为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根据要素供给曲线</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W(L)</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可知</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要素的价格为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endParaRPr lang="zh-CN" altLang="en-US"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487" name="圆角矩形标注 26"/>
          <p:cNvSpPr>
            <a:spLocks noChangeArrowheads="1"/>
          </p:cNvSpPr>
          <p:nvPr/>
        </p:nvSpPr>
        <p:spPr bwMode="auto">
          <a:xfrm>
            <a:off x="6944093" y="4659213"/>
            <a:ext cx="2000250" cy="919401"/>
          </a:xfrm>
          <a:prstGeom prst="wedgeRoundRectCallout">
            <a:avLst>
              <a:gd name="adj1" fmla="val -177384"/>
              <a:gd name="adj2" fmla="val -137049"/>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最优的要素价格和要素使用量的组合为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矩形 25">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27" name="标题 1">
            <a:extLst>
              <a:ext uri="{FF2B5EF4-FFF2-40B4-BE49-F238E27FC236}">
                <a16:creationId xmlns:a16="http://schemas.microsoft.com/office/drawing/2014/main" id="{E91039FE-DB3A-4DA1-904A-F9ADA1064282}"/>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p:cBhvr>
                                        <p:cTn id="7" dur="500"/>
                                        <p:tgtEl>
                                          <p:spTgt spid="62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469"/>
                                        </p:tgtEl>
                                        <p:attrNameLst>
                                          <p:attrName>style.visibility</p:attrName>
                                        </p:attrNameLst>
                                      </p:cBhvr>
                                      <p:to>
                                        <p:strVal val="visible"/>
                                      </p:to>
                                    </p:set>
                                    <p:animEffect>
                                      <p:cBhvr>
                                        <p:cTn id="12" dur="500"/>
                                        <p:tgtEl>
                                          <p:spTgt spid="6246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2467"/>
                                        </p:tgtEl>
                                        <p:attrNameLst>
                                          <p:attrName>style.visibility</p:attrName>
                                        </p:attrNameLst>
                                      </p:cBhvr>
                                      <p:to>
                                        <p:strVal val="visible"/>
                                      </p:to>
                                    </p:set>
                                    <p:animEffect>
                                      <p:cBhvr>
                                        <p:cTn id="15" dur="500"/>
                                        <p:tgtEl>
                                          <p:spTgt spid="6246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2470"/>
                                        </p:tgtEl>
                                        <p:attrNameLst>
                                          <p:attrName>style.visibility</p:attrName>
                                        </p:attrNameLst>
                                      </p:cBhvr>
                                      <p:to>
                                        <p:strVal val="visible"/>
                                      </p:to>
                                    </p:set>
                                    <p:animEffect>
                                      <p:cBhvr>
                                        <p:cTn id="18" dur="500"/>
                                        <p:tgtEl>
                                          <p:spTgt spid="6247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2468"/>
                                        </p:tgtEl>
                                        <p:attrNameLst>
                                          <p:attrName>style.visibility</p:attrName>
                                        </p:attrNameLst>
                                      </p:cBhvr>
                                      <p:to>
                                        <p:strVal val="visible"/>
                                      </p:to>
                                    </p:set>
                                    <p:animEffect>
                                      <p:cBhvr>
                                        <p:cTn id="21" dur="500"/>
                                        <p:tgtEl>
                                          <p:spTgt spid="6246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2471"/>
                                        </p:tgtEl>
                                        <p:attrNameLst>
                                          <p:attrName>style.visibility</p:attrName>
                                        </p:attrNameLst>
                                      </p:cBhvr>
                                      <p:to>
                                        <p:strVal val="visible"/>
                                      </p:to>
                                    </p:set>
                                    <p:animEffect>
                                      <p:cBhvr>
                                        <p:cTn id="24" dur="500"/>
                                        <p:tgtEl>
                                          <p:spTgt spid="6247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2484"/>
                                        </p:tgtEl>
                                        <p:attrNameLst>
                                          <p:attrName>style.visibility</p:attrName>
                                        </p:attrNameLst>
                                      </p:cBhvr>
                                      <p:to>
                                        <p:strVal val="visible"/>
                                      </p:to>
                                    </p:set>
                                    <p:animEffect>
                                      <p:cBhvr>
                                        <p:cTn id="29" dur="500"/>
                                        <p:tgtEl>
                                          <p:spTgt spid="6248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2472"/>
                                        </p:tgtEl>
                                        <p:attrNameLst>
                                          <p:attrName>style.visibility</p:attrName>
                                        </p:attrNameLst>
                                      </p:cBhvr>
                                      <p:to>
                                        <p:strVal val="visible"/>
                                      </p:to>
                                    </p:set>
                                    <p:animEffect>
                                      <p:cBhvr>
                                        <p:cTn id="32" dur="500"/>
                                        <p:tgtEl>
                                          <p:spTgt spid="6247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62478"/>
                                        </p:tgtEl>
                                        <p:attrNameLst>
                                          <p:attrName>style.visibility</p:attrName>
                                        </p:attrNameLst>
                                      </p:cBhvr>
                                      <p:to>
                                        <p:strVal val="visible"/>
                                      </p:to>
                                    </p:set>
                                    <p:animEffect>
                                      <p:cBhvr>
                                        <p:cTn id="35" dur="500"/>
                                        <p:tgtEl>
                                          <p:spTgt spid="6247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2481"/>
                                        </p:tgtEl>
                                        <p:attrNameLst>
                                          <p:attrName>style.visibility</p:attrName>
                                        </p:attrNameLst>
                                      </p:cBhvr>
                                      <p:to>
                                        <p:strVal val="visible"/>
                                      </p:to>
                                    </p:set>
                                    <p:animEffect>
                                      <p:cBhvr>
                                        <p:cTn id="40" dur="500"/>
                                        <p:tgtEl>
                                          <p:spTgt spid="6248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2480"/>
                                        </p:tgtEl>
                                        <p:attrNameLst>
                                          <p:attrName>style.visibility</p:attrName>
                                        </p:attrNameLst>
                                      </p:cBhvr>
                                      <p:to>
                                        <p:strVal val="visible"/>
                                      </p:to>
                                    </p:set>
                                    <p:animEffect>
                                      <p:cBhvr>
                                        <p:cTn id="43" dur="500"/>
                                        <p:tgtEl>
                                          <p:spTgt spid="6248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2485"/>
                                        </p:tgtEl>
                                        <p:attrNameLst>
                                          <p:attrName>style.visibility</p:attrName>
                                        </p:attrNameLst>
                                      </p:cBhvr>
                                      <p:to>
                                        <p:strVal val="visible"/>
                                      </p:to>
                                    </p:set>
                                    <p:animEffect>
                                      <p:cBhvr>
                                        <p:cTn id="48" dur="500"/>
                                        <p:tgtEl>
                                          <p:spTgt spid="62485"/>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6" fill="hold" grpId="0" nodeType="clickEffect">
                                  <p:stCondLst>
                                    <p:cond delay="0"/>
                                  </p:stCondLst>
                                  <p:childTnLst>
                                    <p:set>
                                      <p:cBhvr>
                                        <p:cTn id="52" dur="1" fill="hold">
                                          <p:stCondLst>
                                            <p:cond delay="0"/>
                                          </p:stCondLst>
                                        </p:cTn>
                                        <p:tgtEl>
                                          <p:spTgt spid="62475"/>
                                        </p:tgtEl>
                                        <p:attrNameLst>
                                          <p:attrName>style.visibility</p:attrName>
                                        </p:attrNameLst>
                                      </p:cBhvr>
                                      <p:to>
                                        <p:strVal val="visible"/>
                                      </p:to>
                                    </p:set>
                                    <p:animEffect>
                                      <p:cBhvr>
                                        <p:cTn id="53" dur="500"/>
                                        <p:tgtEl>
                                          <p:spTgt spid="62475"/>
                                        </p:tgtEl>
                                      </p:cBhvr>
                                    </p:animEffect>
                                  </p:childTnLst>
                                </p:cTn>
                              </p:par>
                              <p:par>
                                <p:cTn id="54" presetID="16" presetClass="entr" presetSubtype="26" fill="hold" grpId="0" nodeType="withEffect">
                                  <p:stCondLst>
                                    <p:cond delay="0"/>
                                  </p:stCondLst>
                                  <p:childTnLst>
                                    <p:set>
                                      <p:cBhvr>
                                        <p:cTn id="55" dur="1" fill="hold">
                                          <p:stCondLst>
                                            <p:cond delay="0"/>
                                          </p:stCondLst>
                                        </p:cTn>
                                        <p:tgtEl>
                                          <p:spTgt spid="62482"/>
                                        </p:tgtEl>
                                        <p:attrNameLst>
                                          <p:attrName>style.visibility</p:attrName>
                                        </p:attrNameLst>
                                      </p:cBhvr>
                                      <p:to>
                                        <p:strVal val="visible"/>
                                      </p:to>
                                    </p:set>
                                    <p:animEffect>
                                      <p:cBhvr>
                                        <p:cTn id="56" dur="500"/>
                                        <p:tgtEl>
                                          <p:spTgt spid="62482"/>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62486"/>
                                        </p:tgtEl>
                                        <p:attrNameLst>
                                          <p:attrName>style.visibility</p:attrName>
                                        </p:attrNameLst>
                                      </p:cBhvr>
                                      <p:to>
                                        <p:strVal val="visible"/>
                                      </p:to>
                                    </p:set>
                                    <p:animEffect>
                                      <p:cBhvr>
                                        <p:cTn id="61" dur="500"/>
                                        <p:tgtEl>
                                          <p:spTgt spid="62486"/>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62477"/>
                                        </p:tgtEl>
                                        <p:attrNameLst>
                                          <p:attrName>style.visibility</p:attrName>
                                        </p:attrNameLst>
                                      </p:cBhvr>
                                      <p:to>
                                        <p:strVal val="visible"/>
                                      </p:to>
                                    </p:set>
                                    <p:animEffect>
                                      <p:cBhvr>
                                        <p:cTn id="66" dur="500"/>
                                        <p:tgtEl>
                                          <p:spTgt spid="62477"/>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2474"/>
                                        </p:tgtEl>
                                        <p:attrNameLst>
                                          <p:attrName>style.visibility</p:attrName>
                                        </p:attrNameLst>
                                      </p:cBhvr>
                                      <p:to>
                                        <p:strVal val="visible"/>
                                      </p:to>
                                    </p:set>
                                    <p:animEffect>
                                      <p:cBhvr>
                                        <p:cTn id="69" dur="500"/>
                                        <p:tgtEl>
                                          <p:spTgt spid="62474"/>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62483"/>
                                        </p:tgtEl>
                                        <p:attrNameLst>
                                          <p:attrName>style.visibility</p:attrName>
                                        </p:attrNameLst>
                                      </p:cBhvr>
                                      <p:to>
                                        <p:strVal val="visible"/>
                                      </p:to>
                                    </p:set>
                                    <p:animEffect>
                                      <p:cBhvr>
                                        <p:cTn id="72" dur="500"/>
                                        <p:tgtEl>
                                          <p:spTgt spid="62483"/>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62473"/>
                                        </p:tgtEl>
                                        <p:attrNameLst>
                                          <p:attrName>style.visibility</p:attrName>
                                        </p:attrNameLst>
                                      </p:cBhvr>
                                      <p:to>
                                        <p:strVal val="visible"/>
                                      </p:to>
                                    </p:set>
                                    <p:animEffect>
                                      <p:cBhvr>
                                        <p:cTn id="75" dur="500"/>
                                        <p:tgtEl>
                                          <p:spTgt spid="62473"/>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62487"/>
                                        </p:tgtEl>
                                        <p:attrNameLst>
                                          <p:attrName>style.visibility</p:attrName>
                                        </p:attrNameLst>
                                      </p:cBhvr>
                                      <p:to>
                                        <p:strVal val="visible"/>
                                      </p:to>
                                    </p:set>
                                    <p:animEffect>
                                      <p:cBhvr>
                                        <p:cTn id="80" dur="500"/>
                                        <p:tgtEl>
                                          <p:spTgt spid="62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ldLvl="0" animBg="1" autoUpdateAnimBg="0"/>
      <p:bldP spid="62468" grpId="0" bldLvl="0" animBg="1" autoUpdateAnimBg="0"/>
      <p:bldP spid="62469" grpId="0" bldLvl="0" autoUpdateAnimBg="0"/>
      <p:bldP spid="62470" grpId="0" bldLvl="0" autoUpdateAnimBg="0"/>
      <p:bldP spid="62471" grpId="0" bldLvl="0" autoUpdateAnimBg="0"/>
      <p:bldP spid="62472" grpId="0" bldLvl="0" animBg="1" autoUpdateAnimBg="0"/>
      <p:bldP spid="62473" grpId="0" bldLvl="0" autoUpdateAnimBg="0"/>
      <p:bldP spid="62474" grpId="0" bldLvl="0" animBg="1" autoUpdateAnimBg="0"/>
      <p:bldP spid="62475" grpId="0" bldLvl="0" animBg="1" autoUpdateAnimBg="0"/>
      <p:bldP spid="62477" grpId="0" bldLvl="0" autoUpdateAnimBg="0"/>
      <p:bldP spid="62478" grpId="0" bldLvl="0" autoUpdateAnimBg="0"/>
      <p:bldP spid="62480" grpId="0" bldLvl="0" autoUpdateAnimBg="0"/>
      <p:bldP spid="62481" grpId="0" bldLvl="0" autoUpdateAnimBg="0"/>
      <p:bldP spid="62482" grpId="0" bldLvl="0" autoUpdateAnimBg="0"/>
      <p:bldP spid="62483" grpId="0" bldLvl="0" animBg="1" autoUpdateAnimBg="0"/>
      <p:bldP spid="62484" grpId="0" bldLvl="0" animBg="1" autoUpdateAnimBg="0"/>
      <p:bldP spid="62485" grpId="0" bldLvl="0" animBg="1" autoUpdateAnimBg="0"/>
      <p:bldP spid="62486" grpId="0" bldLvl="0" animBg="1"/>
      <p:bldP spid="62487"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4294967295"/>
          </p:nvPr>
        </p:nvSpPr>
        <p:spPr>
          <a:xfrm>
            <a:off x="508000" y="1293813"/>
            <a:ext cx="8229600" cy="555624"/>
          </a:xfrm>
          <a:ln/>
        </p:spPr>
        <p:txBody>
          <a:bodyPr/>
          <a:lstStyle/>
          <a:p>
            <a:pPr marL="457200" lvl="2" indent="-457200" eaLnBrk="1" hangingPunct="1">
              <a:buFont typeface="Wingdings" panose="05000000000000000000" pitchFamily="2" charset="2"/>
              <a:buChar char="u"/>
            </a:pPr>
            <a:r>
              <a:rPr lang="zh-CN" altLang="zh-CN" sz="2000" b="0" dirty="0">
                <a:latin typeface="微软雅黑" panose="020B0503020204020204" pitchFamily="34" charset="-122"/>
                <a:ea typeface="微软雅黑" panose="020B0503020204020204" pitchFamily="34" charset="-122"/>
              </a:rPr>
              <a:t>买方垄断企业的要素需求曲线：不存在</a:t>
            </a:r>
          </a:p>
        </p:txBody>
      </p:sp>
      <p:sp>
        <p:nvSpPr>
          <p:cNvPr id="64515" name="Line 4"/>
          <p:cNvSpPr>
            <a:spLocks noChangeShapeType="1"/>
          </p:cNvSpPr>
          <p:nvPr/>
        </p:nvSpPr>
        <p:spPr bwMode="auto">
          <a:xfrm flipH="1" flipV="1">
            <a:off x="2347913" y="2162175"/>
            <a:ext cx="1587" cy="377031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16" name="Line 5"/>
          <p:cNvSpPr>
            <a:spLocks noChangeShapeType="1"/>
          </p:cNvSpPr>
          <p:nvPr/>
        </p:nvSpPr>
        <p:spPr bwMode="auto">
          <a:xfrm>
            <a:off x="2346325" y="5935663"/>
            <a:ext cx="4618038"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17" name="Text Box 6"/>
          <p:cNvSpPr>
            <a:spLocks noChangeArrowheads="1"/>
          </p:cNvSpPr>
          <p:nvPr/>
        </p:nvSpPr>
        <p:spPr bwMode="auto">
          <a:xfrm>
            <a:off x="1905000" y="2071688"/>
            <a:ext cx="7080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64518" name="Text Box 7"/>
          <p:cNvSpPr>
            <a:spLocks noChangeArrowheads="1"/>
          </p:cNvSpPr>
          <p:nvPr/>
        </p:nvSpPr>
        <p:spPr bwMode="auto">
          <a:xfrm>
            <a:off x="1992313" y="5757863"/>
            <a:ext cx="3841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64519" name="Text Box 8"/>
          <p:cNvSpPr>
            <a:spLocks noChangeArrowheads="1"/>
          </p:cNvSpPr>
          <p:nvPr/>
        </p:nvSpPr>
        <p:spPr bwMode="auto">
          <a:xfrm>
            <a:off x="6608763" y="5935663"/>
            <a:ext cx="3841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64520" name="Line 9"/>
          <p:cNvSpPr>
            <a:spLocks noChangeShapeType="1"/>
          </p:cNvSpPr>
          <p:nvPr/>
        </p:nvSpPr>
        <p:spPr bwMode="auto">
          <a:xfrm>
            <a:off x="3059113" y="2519363"/>
            <a:ext cx="3108325" cy="233838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1" name="Text Box 10"/>
          <p:cNvSpPr>
            <a:spLocks noChangeArrowheads="1"/>
          </p:cNvSpPr>
          <p:nvPr/>
        </p:nvSpPr>
        <p:spPr bwMode="auto">
          <a:xfrm>
            <a:off x="5456238" y="3332163"/>
            <a:ext cx="14049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W(L)</a:t>
            </a:r>
          </a:p>
        </p:txBody>
      </p:sp>
      <p:sp>
        <p:nvSpPr>
          <p:cNvPr id="64522" name="Text Box 11"/>
          <p:cNvSpPr>
            <a:spLocks noChangeArrowheads="1"/>
          </p:cNvSpPr>
          <p:nvPr/>
        </p:nvSpPr>
        <p:spPr bwMode="auto">
          <a:xfrm>
            <a:off x="1816100" y="3690938"/>
            <a:ext cx="620713"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r>
              <a:rPr lang="zh-CN" altLang="en-US" sz="1000">
                <a:solidFill>
                  <a:srgbClr val="000000"/>
                </a:solidFill>
                <a:sym typeface="Arial" panose="020B0604020202020204" pitchFamily="34" charset="0"/>
              </a:rPr>
              <a:t>0</a:t>
            </a:r>
            <a:endParaRPr lang="zh-CN" altLang="en-US"/>
          </a:p>
        </p:txBody>
      </p:sp>
      <p:sp>
        <p:nvSpPr>
          <p:cNvPr id="64523" name="Line 12"/>
          <p:cNvSpPr>
            <a:spLocks noChangeShapeType="1"/>
          </p:cNvSpPr>
          <p:nvPr/>
        </p:nvSpPr>
        <p:spPr bwMode="auto">
          <a:xfrm>
            <a:off x="2347913" y="3929063"/>
            <a:ext cx="1865312"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4" name="Line 13"/>
          <p:cNvSpPr>
            <a:spLocks noChangeShapeType="1"/>
          </p:cNvSpPr>
          <p:nvPr/>
        </p:nvSpPr>
        <p:spPr bwMode="auto">
          <a:xfrm>
            <a:off x="4213225" y="3332163"/>
            <a:ext cx="3175" cy="260826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5" name="Text Box 14"/>
          <p:cNvSpPr>
            <a:spLocks noChangeArrowheads="1"/>
          </p:cNvSpPr>
          <p:nvPr/>
        </p:nvSpPr>
        <p:spPr bwMode="auto">
          <a:xfrm>
            <a:off x="1571625" y="4354513"/>
            <a:ext cx="59848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sp>
        <p:nvSpPr>
          <p:cNvPr id="64526" name="Text Box 15"/>
          <p:cNvSpPr>
            <a:spLocks noChangeArrowheads="1"/>
          </p:cNvSpPr>
          <p:nvPr/>
        </p:nvSpPr>
        <p:spPr bwMode="auto">
          <a:xfrm>
            <a:off x="5278438" y="2432050"/>
            <a:ext cx="1244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 FC</a:t>
            </a:r>
          </a:p>
        </p:txBody>
      </p:sp>
      <p:sp>
        <p:nvSpPr>
          <p:cNvPr id="64527" name="Text Box 16"/>
          <p:cNvSpPr>
            <a:spLocks noChangeArrowheads="1"/>
          </p:cNvSpPr>
          <p:nvPr/>
        </p:nvSpPr>
        <p:spPr bwMode="auto">
          <a:xfrm>
            <a:off x="5500688" y="4857750"/>
            <a:ext cx="714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VMP</a:t>
            </a:r>
            <a:endParaRPr lang="zh-CN" altLang="en-US"/>
          </a:p>
        </p:txBody>
      </p:sp>
      <p:sp>
        <p:nvSpPr>
          <p:cNvPr id="64528" name="Text Box 17"/>
          <p:cNvSpPr>
            <a:spLocks noChangeArrowheads="1"/>
          </p:cNvSpPr>
          <p:nvPr/>
        </p:nvSpPr>
        <p:spPr bwMode="auto">
          <a:xfrm>
            <a:off x="4035425" y="5938838"/>
            <a:ext cx="5873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0</a:t>
            </a:r>
            <a:endParaRPr lang="zh-CN" altLang="en-US"/>
          </a:p>
        </p:txBody>
      </p:sp>
      <p:sp>
        <p:nvSpPr>
          <p:cNvPr id="64529" name="Line 18"/>
          <p:cNvSpPr>
            <a:spLocks noChangeShapeType="1"/>
          </p:cNvSpPr>
          <p:nvPr/>
        </p:nvSpPr>
        <p:spPr bwMode="auto">
          <a:xfrm flipH="1">
            <a:off x="2347913" y="3509963"/>
            <a:ext cx="3108325" cy="992187"/>
          </a:xfrm>
          <a:prstGeom prst="line">
            <a:avLst/>
          </a:prstGeom>
          <a:noFill/>
          <a:ln w="9525" cmpd="sng">
            <a:solidFill>
              <a:srgbClr val="0066FF"/>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0" name="Line 19"/>
          <p:cNvSpPr>
            <a:spLocks noChangeShapeType="1"/>
          </p:cNvSpPr>
          <p:nvPr/>
        </p:nvSpPr>
        <p:spPr bwMode="auto">
          <a:xfrm flipH="1">
            <a:off x="2346325" y="2701925"/>
            <a:ext cx="2932113" cy="1800225"/>
          </a:xfrm>
          <a:prstGeom prst="line">
            <a:avLst/>
          </a:prstGeom>
          <a:noFill/>
          <a:ln w="9525" cmpd="sng">
            <a:solidFill>
              <a:srgbClr val="F0F0F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1" name="Line 20"/>
          <p:cNvSpPr>
            <a:spLocks noChangeShapeType="1"/>
          </p:cNvSpPr>
          <p:nvPr/>
        </p:nvSpPr>
        <p:spPr bwMode="auto">
          <a:xfrm flipV="1">
            <a:off x="2347913" y="2613025"/>
            <a:ext cx="2576512" cy="2605088"/>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2" name="Line 21"/>
          <p:cNvSpPr>
            <a:spLocks noChangeShapeType="1"/>
          </p:cNvSpPr>
          <p:nvPr/>
        </p:nvSpPr>
        <p:spPr bwMode="auto">
          <a:xfrm flipV="1">
            <a:off x="2347913" y="2432050"/>
            <a:ext cx="1509712" cy="2786063"/>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3" name="Line 22"/>
          <p:cNvSpPr>
            <a:spLocks noChangeShapeType="1"/>
          </p:cNvSpPr>
          <p:nvPr/>
        </p:nvSpPr>
        <p:spPr bwMode="auto">
          <a:xfrm>
            <a:off x="3590925" y="2882900"/>
            <a:ext cx="3175" cy="3055938"/>
          </a:xfrm>
          <a:prstGeom prst="line">
            <a:avLst/>
          </a:prstGeom>
          <a:noFill/>
          <a:ln w="9525" cmpd="sng">
            <a:solidFill>
              <a:srgbClr val="C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4" name="Text Box 23"/>
          <p:cNvSpPr>
            <a:spLocks noChangeArrowheads="1"/>
          </p:cNvSpPr>
          <p:nvPr/>
        </p:nvSpPr>
        <p:spPr bwMode="auto">
          <a:xfrm>
            <a:off x="3590925" y="2071688"/>
            <a:ext cx="9191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MFC</a:t>
            </a:r>
            <a:r>
              <a:rPr lang="zh-CN" altLang="en-US" sz="1000">
                <a:solidFill>
                  <a:srgbClr val="000000"/>
                </a:solidFill>
                <a:sym typeface="Arial" panose="020B0604020202020204" pitchFamily="34" charset="0"/>
              </a:rPr>
              <a:t>1</a:t>
            </a:r>
            <a:endParaRPr lang="zh-CN" altLang="en-US"/>
          </a:p>
        </p:txBody>
      </p:sp>
      <p:sp>
        <p:nvSpPr>
          <p:cNvPr id="64535" name="Text Box 24"/>
          <p:cNvSpPr>
            <a:spLocks noChangeArrowheads="1"/>
          </p:cNvSpPr>
          <p:nvPr/>
        </p:nvSpPr>
        <p:spPr bwMode="auto">
          <a:xfrm>
            <a:off x="4568825" y="2252663"/>
            <a:ext cx="7588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1</a:t>
            </a:r>
            <a:r>
              <a:rPr lang="zh-CN" altLang="en-US" dirty="0">
                <a:solidFill>
                  <a:srgbClr val="000000"/>
                </a:solidFill>
                <a:sym typeface="Arial" panose="020B0604020202020204" pitchFamily="34" charset="0"/>
              </a:rPr>
              <a:t>(L)</a:t>
            </a:r>
          </a:p>
        </p:txBody>
      </p:sp>
      <p:sp>
        <p:nvSpPr>
          <p:cNvPr id="64536" name="Text Box 25"/>
          <p:cNvSpPr>
            <a:spLocks noChangeArrowheads="1"/>
          </p:cNvSpPr>
          <p:nvPr/>
        </p:nvSpPr>
        <p:spPr bwMode="auto">
          <a:xfrm>
            <a:off x="3414713" y="5938838"/>
            <a:ext cx="60325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1</a:t>
            </a:r>
            <a:endParaRPr lang="zh-CN" altLang="en-US"/>
          </a:p>
        </p:txBody>
      </p:sp>
      <p:sp>
        <p:nvSpPr>
          <p:cNvPr id="64537" name="圆角矩形标注 25"/>
          <p:cNvSpPr>
            <a:spLocks noChangeArrowheads="1"/>
          </p:cNvSpPr>
          <p:nvPr/>
        </p:nvSpPr>
        <p:spPr bwMode="auto">
          <a:xfrm>
            <a:off x="6288726" y="2162175"/>
            <a:ext cx="2571750" cy="1191816"/>
          </a:xfrm>
          <a:prstGeom prst="wedgeRoundRectCallout">
            <a:avLst>
              <a:gd name="adj1" fmla="val -128380"/>
              <a:gd name="adj2" fmla="val 87538"/>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要素价格为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W0</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垄断买方的要素需求量为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最优的要素价格和要素使用量的组合为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4538" name="圆角矩形标注 26"/>
          <p:cNvSpPr>
            <a:spLocks noChangeArrowheads="1"/>
          </p:cNvSpPr>
          <p:nvPr/>
        </p:nvSpPr>
        <p:spPr bwMode="auto">
          <a:xfrm>
            <a:off x="6357938" y="4143375"/>
            <a:ext cx="2357437" cy="1736646"/>
          </a:xfrm>
          <a:prstGeom prst="wedgeRoundRectCallout">
            <a:avLst>
              <a:gd name="adj1" fmla="val -164282"/>
              <a:gd name="adj2" fmla="val -60356"/>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要素供给曲线变动到</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从而边际要素成本曲线变动到</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MFC</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则新的最优的要素价格和要素使用量的组合为</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4539" name="圆角矩形标注 27"/>
          <p:cNvSpPr>
            <a:spLocks noChangeArrowheads="1"/>
          </p:cNvSpPr>
          <p:nvPr/>
        </p:nvSpPr>
        <p:spPr bwMode="auto">
          <a:xfrm>
            <a:off x="182562" y="2791986"/>
            <a:ext cx="1714500" cy="2702778"/>
          </a:xfrm>
          <a:prstGeom prst="wedgeRoundRectCallout">
            <a:avLst>
              <a:gd name="adj1" fmla="val 68903"/>
              <a:gd name="adj2" fmla="val 3426"/>
              <a:gd name="adj3" fmla="val 16667"/>
            </a:avLst>
          </a:prstGeom>
          <a:noFill/>
          <a:ln w="28575">
            <a:solidFill>
              <a:schemeClr val="accent3">
                <a:lumMod val="50000"/>
              </a:schemeClr>
            </a:solidFill>
          </a:ln>
        </p:spPr>
        <p:txBody>
          <a:bodyPr>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在同一个要素价格</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W</a:t>
            </a:r>
            <a:r>
              <a:rPr lang="en-US" altLang="zh-CN" b="0" baseline="-250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上</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有两个</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甚至更多个</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不同的最优要素使用量。 由于最优的要素使用量不唯一</a:t>
            </a:r>
            <a:r>
              <a:rPr lang="en-US" altLang="zh-CN"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故垄断买方的要素需求曲线不存在。</a:t>
            </a:r>
          </a:p>
        </p:txBody>
      </p:sp>
      <p:sp>
        <p:nvSpPr>
          <p:cNvPr id="2" name="椭圆 1"/>
          <p:cNvSpPr/>
          <p:nvPr/>
        </p:nvSpPr>
        <p:spPr bwMode="auto">
          <a:xfrm>
            <a:off x="4104481" y="3808413"/>
            <a:ext cx="190500" cy="214312"/>
          </a:xfrm>
          <a:prstGeom prst="ellipse">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0" name="椭圆 29"/>
          <p:cNvSpPr/>
          <p:nvPr/>
        </p:nvSpPr>
        <p:spPr bwMode="auto">
          <a:xfrm>
            <a:off x="3505994" y="3808413"/>
            <a:ext cx="190500" cy="214312"/>
          </a:xfrm>
          <a:prstGeom prst="ellipse">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矩形 31">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33" name="标题 1">
            <a:extLst>
              <a:ext uri="{FF2B5EF4-FFF2-40B4-BE49-F238E27FC236}">
                <a16:creationId xmlns:a16="http://schemas.microsoft.com/office/drawing/2014/main" id="{BF6F636F-8C33-4047-9ABE-5F7ED481A99C}"/>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
        <p:nvSpPr>
          <p:cNvPr id="34" name="Line 18">
            <a:extLst>
              <a:ext uri="{FF2B5EF4-FFF2-40B4-BE49-F238E27FC236}">
                <a16:creationId xmlns:a16="http://schemas.microsoft.com/office/drawing/2014/main" id="{D8C887FA-EDEB-45BD-9F72-DB8A30DBF640}"/>
              </a:ext>
            </a:extLst>
          </p:cNvPr>
          <p:cNvSpPr>
            <a:spLocks noChangeShapeType="1"/>
          </p:cNvSpPr>
          <p:nvPr/>
        </p:nvSpPr>
        <p:spPr bwMode="auto">
          <a:xfrm flipH="1">
            <a:off x="2376488" y="2646859"/>
            <a:ext cx="3021651" cy="1853704"/>
          </a:xfrm>
          <a:prstGeom prst="line">
            <a:avLst/>
          </a:prstGeom>
          <a:noFill/>
          <a:ln w="9525" cmpd="sng">
            <a:solidFill>
              <a:srgbClr val="0066FF"/>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Effect>
                                      <p:cBhvr>
                                        <p:cTn id="7" dur="500"/>
                                        <p:tgtEl>
                                          <p:spTgt spid="645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517"/>
                                        </p:tgtEl>
                                        <p:attrNameLst>
                                          <p:attrName>style.visibility</p:attrName>
                                        </p:attrNameLst>
                                      </p:cBhvr>
                                      <p:to>
                                        <p:strVal val="visible"/>
                                      </p:to>
                                    </p:set>
                                    <p:animEffect>
                                      <p:cBhvr>
                                        <p:cTn id="12" dur="500"/>
                                        <p:tgtEl>
                                          <p:spTgt spid="6451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4515"/>
                                        </p:tgtEl>
                                        <p:attrNameLst>
                                          <p:attrName>style.visibility</p:attrName>
                                        </p:attrNameLst>
                                      </p:cBhvr>
                                      <p:to>
                                        <p:strVal val="visible"/>
                                      </p:to>
                                    </p:set>
                                    <p:animEffect>
                                      <p:cBhvr>
                                        <p:cTn id="15" dur="500"/>
                                        <p:tgtEl>
                                          <p:spTgt spid="645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4518"/>
                                        </p:tgtEl>
                                        <p:attrNameLst>
                                          <p:attrName>style.visibility</p:attrName>
                                        </p:attrNameLst>
                                      </p:cBhvr>
                                      <p:to>
                                        <p:strVal val="visible"/>
                                      </p:to>
                                    </p:set>
                                    <p:animEffect>
                                      <p:cBhvr>
                                        <p:cTn id="18" dur="500"/>
                                        <p:tgtEl>
                                          <p:spTgt spid="6451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4516"/>
                                        </p:tgtEl>
                                        <p:attrNameLst>
                                          <p:attrName>style.visibility</p:attrName>
                                        </p:attrNameLst>
                                      </p:cBhvr>
                                      <p:to>
                                        <p:strVal val="visible"/>
                                      </p:to>
                                    </p:set>
                                    <p:animEffect>
                                      <p:cBhvr>
                                        <p:cTn id="21" dur="500"/>
                                        <p:tgtEl>
                                          <p:spTgt spid="6451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4519"/>
                                        </p:tgtEl>
                                        <p:attrNameLst>
                                          <p:attrName>style.visibility</p:attrName>
                                        </p:attrNameLst>
                                      </p:cBhvr>
                                      <p:to>
                                        <p:strVal val="visible"/>
                                      </p:to>
                                    </p:set>
                                    <p:animEffect>
                                      <p:cBhvr>
                                        <p:cTn id="24" dur="500"/>
                                        <p:tgtEl>
                                          <p:spTgt spid="6451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4530"/>
                                        </p:tgtEl>
                                        <p:attrNameLst>
                                          <p:attrName>style.visibility</p:attrName>
                                        </p:attrNameLst>
                                      </p:cBhvr>
                                      <p:to>
                                        <p:strVal val="visible"/>
                                      </p:to>
                                    </p:set>
                                    <p:animEffect>
                                      <p:cBhvr>
                                        <p:cTn id="29" dur="500"/>
                                        <p:tgtEl>
                                          <p:spTgt spid="6453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4529"/>
                                        </p:tgtEl>
                                        <p:attrNameLst>
                                          <p:attrName>style.visibility</p:attrName>
                                        </p:attrNameLst>
                                      </p:cBhvr>
                                      <p:to>
                                        <p:strVal val="visible"/>
                                      </p:to>
                                    </p:set>
                                    <p:animEffect>
                                      <p:cBhvr>
                                        <p:cTn id="32" dur="500"/>
                                        <p:tgtEl>
                                          <p:spTgt spid="6452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64521"/>
                                        </p:tgtEl>
                                        <p:attrNameLst>
                                          <p:attrName>style.visibility</p:attrName>
                                        </p:attrNameLst>
                                      </p:cBhvr>
                                      <p:to>
                                        <p:strVal val="visible"/>
                                      </p:to>
                                    </p:set>
                                    <p:animEffect>
                                      <p:cBhvr>
                                        <p:cTn id="35" dur="500"/>
                                        <p:tgtEl>
                                          <p:spTgt spid="6452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4526"/>
                                        </p:tgtEl>
                                        <p:attrNameLst>
                                          <p:attrName>style.visibility</p:attrName>
                                        </p:attrNameLst>
                                      </p:cBhvr>
                                      <p:to>
                                        <p:strVal val="visible"/>
                                      </p:to>
                                    </p:set>
                                    <p:animEffect>
                                      <p:cBhvr>
                                        <p:cTn id="38" dur="500"/>
                                        <p:tgtEl>
                                          <p:spTgt spid="64526"/>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64520"/>
                                        </p:tgtEl>
                                        <p:attrNameLst>
                                          <p:attrName>style.visibility</p:attrName>
                                        </p:attrNameLst>
                                      </p:cBhvr>
                                      <p:to>
                                        <p:strVal val="visible"/>
                                      </p:to>
                                    </p:set>
                                    <p:animEffect>
                                      <p:cBhvr>
                                        <p:cTn id="41" dur="500"/>
                                        <p:tgtEl>
                                          <p:spTgt spid="64520"/>
                                        </p:tgtEl>
                                      </p:cBhvr>
                                    </p:animEffect>
                                  </p:childTnLst>
                                </p:cTn>
                              </p:par>
                              <p:par>
                                <p:cTn id="42" presetID="3" presetClass="entr" presetSubtype="10" fill="hold" nodeType="withEffect">
                                  <p:stCondLst>
                                    <p:cond delay="0"/>
                                  </p:stCondLst>
                                  <p:childTnLst>
                                    <p:set>
                                      <p:cBhvr>
                                        <p:cTn id="43" dur="1" fill="hold">
                                          <p:stCondLst>
                                            <p:cond delay="0"/>
                                          </p:stCondLst>
                                        </p:cTn>
                                        <p:tgtEl>
                                          <p:spTgt spid="64527"/>
                                        </p:tgtEl>
                                        <p:attrNameLst>
                                          <p:attrName>style.visibility</p:attrName>
                                        </p:attrNameLst>
                                      </p:cBhvr>
                                      <p:to>
                                        <p:strVal val="visible"/>
                                      </p:to>
                                    </p:set>
                                    <p:animEffect>
                                      <p:cBhvr>
                                        <p:cTn id="44" dur="500"/>
                                        <p:tgtEl>
                                          <p:spTgt spid="6452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64522"/>
                                        </p:tgtEl>
                                        <p:attrNameLst>
                                          <p:attrName>style.visibility</p:attrName>
                                        </p:attrNameLst>
                                      </p:cBhvr>
                                      <p:to>
                                        <p:strVal val="visible"/>
                                      </p:to>
                                    </p:set>
                                    <p:animEffect>
                                      <p:cBhvr>
                                        <p:cTn id="49" dur="500"/>
                                        <p:tgtEl>
                                          <p:spTgt spid="64522"/>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4523"/>
                                        </p:tgtEl>
                                        <p:attrNameLst>
                                          <p:attrName>style.visibility</p:attrName>
                                        </p:attrNameLst>
                                      </p:cBhvr>
                                      <p:to>
                                        <p:strVal val="visible"/>
                                      </p:to>
                                    </p:set>
                                    <p:animEffect>
                                      <p:cBhvr>
                                        <p:cTn id="52" dur="500"/>
                                        <p:tgtEl>
                                          <p:spTgt spid="64523"/>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4524"/>
                                        </p:tgtEl>
                                        <p:attrNameLst>
                                          <p:attrName>style.visibility</p:attrName>
                                        </p:attrNameLst>
                                      </p:cBhvr>
                                      <p:to>
                                        <p:strVal val="visible"/>
                                      </p:to>
                                    </p:set>
                                    <p:animEffect>
                                      <p:cBhvr>
                                        <p:cTn id="55" dur="500"/>
                                        <p:tgtEl>
                                          <p:spTgt spid="64524"/>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4528"/>
                                        </p:tgtEl>
                                        <p:attrNameLst>
                                          <p:attrName>style.visibility</p:attrName>
                                        </p:attrNameLst>
                                      </p:cBhvr>
                                      <p:to>
                                        <p:strVal val="visible"/>
                                      </p:to>
                                    </p:set>
                                    <p:animEffect>
                                      <p:cBhvr>
                                        <p:cTn id="58" dur="500"/>
                                        <p:tgtEl>
                                          <p:spTgt spid="6452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64531"/>
                                        </p:tgtEl>
                                        <p:attrNameLst>
                                          <p:attrName>style.visibility</p:attrName>
                                        </p:attrNameLst>
                                      </p:cBhvr>
                                      <p:to>
                                        <p:strVal val="visible"/>
                                      </p:to>
                                    </p:set>
                                    <p:animEffect>
                                      <p:cBhvr>
                                        <p:cTn id="63" dur="500"/>
                                        <p:tgtEl>
                                          <p:spTgt spid="64531"/>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4535"/>
                                        </p:tgtEl>
                                        <p:attrNameLst>
                                          <p:attrName>style.visibility</p:attrName>
                                        </p:attrNameLst>
                                      </p:cBhvr>
                                      <p:to>
                                        <p:strVal val="visible"/>
                                      </p:to>
                                    </p:set>
                                    <p:animEffect>
                                      <p:cBhvr>
                                        <p:cTn id="66" dur="500"/>
                                        <p:tgtEl>
                                          <p:spTgt spid="64535"/>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4534"/>
                                        </p:tgtEl>
                                        <p:attrNameLst>
                                          <p:attrName>style.visibility</p:attrName>
                                        </p:attrNameLst>
                                      </p:cBhvr>
                                      <p:to>
                                        <p:strVal val="visible"/>
                                      </p:to>
                                    </p:set>
                                    <p:animEffect>
                                      <p:cBhvr>
                                        <p:cTn id="69" dur="500"/>
                                        <p:tgtEl>
                                          <p:spTgt spid="64534"/>
                                        </p:tgtEl>
                                      </p:cBhvr>
                                    </p:animEffect>
                                  </p:childTnLst>
                                </p:cTn>
                              </p:par>
                              <p:par>
                                <p:cTn id="70" presetID="3" presetClass="entr" presetSubtype="10" fill="hold" grpId="1" nodeType="withEffect">
                                  <p:stCondLst>
                                    <p:cond delay="0"/>
                                  </p:stCondLst>
                                  <p:childTnLst>
                                    <p:set>
                                      <p:cBhvr>
                                        <p:cTn id="71" dur="1" fill="hold">
                                          <p:stCondLst>
                                            <p:cond delay="0"/>
                                          </p:stCondLst>
                                        </p:cTn>
                                        <p:tgtEl>
                                          <p:spTgt spid="64532"/>
                                        </p:tgtEl>
                                        <p:attrNameLst>
                                          <p:attrName>style.visibility</p:attrName>
                                        </p:attrNameLst>
                                      </p:cBhvr>
                                      <p:to>
                                        <p:strVal val="visible"/>
                                      </p:to>
                                    </p:set>
                                    <p:animEffect>
                                      <p:cBhvr>
                                        <p:cTn id="72" dur="500"/>
                                        <p:tgtEl>
                                          <p:spTgt spid="6453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4533"/>
                                        </p:tgtEl>
                                        <p:attrNameLst>
                                          <p:attrName>style.visibility</p:attrName>
                                        </p:attrNameLst>
                                      </p:cBhvr>
                                      <p:to>
                                        <p:strVal val="visible"/>
                                      </p:to>
                                    </p:set>
                                    <p:animEffect>
                                      <p:cBhvr>
                                        <p:cTn id="77" dur="500"/>
                                        <p:tgtEl>
                                          <p:spTgt spid="64533"/>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64536"/>
                                        </p:tgtEl>
                                        <p:attrNameLst>
                                          <p:attrName>style.visibility</p:attrName>
                                        </p:attrNameLst>
                                      </p:cBhvr>
                                      <p:to>
                                        <p:strVal val="visible"/>
                                      </p:to>
                                    </p:set>
                                    <p:animEffect>
                                      <p:cBhvr>
                                        <p:cTn id="80" dur="500"/>
                                        <p:tgtEl>
                                          <p:spTgt spid="64536"/>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64539"/>
                                        </p:tgtEl>
                                        <p:attrNameLst>
                                          <p:attrName>style.visibility</p:attrName>
                                        </p:attrNameLst>
                                      </p:cBhvr>
                                      <p:to>
                                        <p:strVal val="visible"/>
                                      </p:to>
                                    </p:set>
                                    <p:animEffect>
                                      <p:cBhvr>
                                        <p:cTn id="85" dur="500"/>
                                        <p:tgtEl>
                                          <p:spTgt spid="6453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fade">
                                      <p:cBhvr>
                                        <p:cTn id="90" dur="500"/>
                                        <p:tgtEl>
                                          <p:spTgt spid="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64537"/>
                                        </p:tgtEl>
                                        <p:attrNameLst>
                                          <p:attrName>style.visibility</p:attrName>
                                        </p:attrNameLst>
                                      </p:cBhvr>
                                      <p:to>
                                        <p:strVal val="visible"/>
                                      </p:to>
                                    </p:set>
                                    <p:animEffect transition="in" filter="fade">
                                      <p:cBhvr>
                                        <p:cTn id="93" dur="500"/>
                                        <p:tgtEl>
                                          <p:spTgt spid="64537"/>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4538"/>
                                        </p:tgtEl>
                                        <p:attrNameLst>
                                          <p:attrName>style.visibility</p:attrName>
                                        </p:attrNameLst>
                                      </p:cBhvr>
                                      <p:to>
                                        <p:strVal val="visible"/>
                                      </p:to>
                                    </p:set>
                                    <p:animEffect transition="in" filter="fade">
                                      <p:cBhvr>
                                        <p:cTn id="98" dur="1000"/>
                                        <p:tgtEl>
                                          <p:spTgt spid="64538"/>
                                        </p:tgtEl>
                                      </p:cBhvr>
                                    </p:animEffect>
                                    <p:anim calcmode="lin" valueType="num">
                                      <p:cBhvr>
                                        <p:cTn id="99" dur="1000" fill="hold"/>
                                        <p:tgtEl>
                                          <p:spTgt spid="64538"/>
                                        </p:tgtEl>
                                        <p:attrNameLst>
                                          <p:attrName>ppt_x</p:attrName>
                                        </p:attrNameLst>
                                      </p:cBhvr>
                                      <p:tavLst>
                                        <p:tav tm="0">
                                          <p:val>
                                            <p:strVal val="#ppt_x"/>
                                          </p:val>
                                        </p:tav>
                                        <p:tav tm="100000">
                                          <p:val>
                                            <p:strVal val="#ppt_x"/>
                                          </p:val>
                                        </p:tav>
                                      </p:tavLst>
                                    </p:anim>
                                    <p:anim calcmode="lin" valueType="num">
                                      <p:cBhvr>
                                        <p:cTn id="100" dur="1000" fill="hold"/>
                                        <p:tgtEl>
                                          <p:spTgt spid="64538"/>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1000"/>
                                        <p:tgtEl>
                                          <p:spTgt spid="30"/>
                                        </p:tgtEl>
                                      </p:cBhvr>
                                    </p:animEffect>
                                    <p:anim calcmode="lin" valueType="num">
                                      <p:cBhvr>
                                        <p:cTn id="104" dur="1000" fill="hold"/>
                                        <p:tgtEl>
                                          <p:spTgt spid="30"/>
                                        </p:tgtEl>
                                        <p:attrNameLst>
                                          <p:attrName>ppt_x</p:attrName>
                                        </p:attrNameLst>
                                      </p:cBhvr>
                                      <p:tavLst>
                                        <p:tav tm="0">
                                          <p:val>
                                            <p:strVal val="#ppt_x"/>
                                          </p:val>
                                        </p:tav>
                                        <p:tav tm="100000">
                                          <p:val>
                                            <p:strVal val="#ppt_x"/>
                                          </p:val>
                                        </p:tav>
                                      </p:tavLst>
                                    </p:anim>
                                    <p:anim calcmode="lin" valueType="num">
                                      <p:cBhvr>
                                        <p:cTn id="105" dur="1000" fill="hold"/>
                                        <p:tgtEl>
                                          <p:spTgt spid="30"/>
                                        </p:tgtEl>
                                        <p:attrNameLst>
                                          <p:attrName>ppt_y</p:attrName>
                                        </p:attrNameLst>
                                      </p:cBhvr>
                                      <p:tavLst>
                                        <p:tav tm="0">
                                          <p:val>
                                            <p:strVal val="#ppt_y+.1"/>
                                          </p:val>
                                        </p:tav>
                                        <p:tav tm="100000">
                                          <p:val>
                                            <p:strVal val="#ppt_y"/>
                                          </p:val>
                                        </p:tav>
                                      </p:tavLst>
                                    </p:anim>
                                  </p:childTnLst>
                                </p:cTn>
                              </p:par>
                              <p:par>
                                <p:cTn id="106" presetID="3" presetClass="entr" presetSubtype="10" fill="hold" grpId="0" nodeType="withEffect">
                                  <p:stCondLst>
                                    <p:cond delay="0"/>
                                  </p:stCondLst>
                                  <p:childTnLst>
                                    <p:set>
                                      <p:cBhvr>
                                        <p:cTn id="107" dur="1" fill="hold">
                                          <p:stCondLst>
                                            <p:cond delay="0"/>
                                          </p:stCondLst>
                                        </p:cTn>
                                        <p:tgtEl>
                                          <p:spTgt spid="34"/>
                                        </p:tgtEl>
                                        <p:attrNameLst>
                                          <p:attrName>style.visibility</p:attrName>
                                        </p:attrNameLst>
                                      </p:cBhvr>
                                      <p:to>
                                        <p:strVal val="visible"/>
                                      </p:to>
                                    </p:set>
                                    <p:animEffect>
                                      <p:cBhvr>
                                        <p:cTn id="10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ldLvl="0" animBg="1" autoUpdateAnimBg="0"/>
      <p:bldP spid="64516" grpId="0" bldLvl="0" animBg="1" autoUpdateAnimBg="0"/>
      <p:bldP spid="64517" grpId="0" bldLvl="0" autoUpdateAnimBg="0"/>
      <p:bldP spid="64518" grpId="0" bldLvl="0" autoUpdateAnimBg="0"/>
      <p:bldP spid="64519" grpId="0" bldLvl="0" autoUpdateAnimBg="0"/>
      <p:bldP spid="64520" grpId="0" bldLvl="0" animBg="1" autoUpdateAnimBg="0"/>
      <p:bldP spid="64521" grpId="0" bldLvl="0" autoUpdateAnimBg="0"/>
      <p:bldP spid="64522" grpId="0" bldLvl="0" autoUpdateAnimBg="0"/>
      <p:bldP spid="64523" grpId="0" bldLvl="0" animBg="1" autoUpdateAnimBg="0"/>
      <p:bldP spid="64524" grpId="0" bldLvl="0" animBg="1" autoUpdateAnimBg="0"/>
      <p:bldP spid="64526" grpId="0" bldLvl="0" autoUpdateAnimBg="0"/>
      <p:bldP spid="64528" grpId="0" bldLvl="0" autoUpdateAnimBg="0"/>
      <p:bldP spid="64529" grpId="0" bldLvl="0" animBg="1" autoUpdateAnimBg="0"/>
      <p:bldP spid="64530" grpId="0" bldLvl="0" animBg="1" autoUpdateAnimBg="0"/>
      <p:bldP spid="64531" grpId="0" bldLvl="0" animBg="1" autoUpdateAnimBg="0"/>
      <p:bldP spid="64532" grpId="1" bldLvl="0" animBg="1" autoUpdateAnimBg="0"/>
      <p:bldP spid="64533" grpId="0" bldLvl="0" animBg="1" autoUpdateAnimBg="0"/>
      <p:bldP spid="64534" grpId="0" bldLvl="0" autoUpdateAnimBg="0"/>
      <p:bldP spid="64535" grpId="0" bldLvl="0" autoUpdateAnimBg="0"/>
      <p:bldP spid="64536" grpId="0" bldLvl="0" autoUpdateAnimBg="0"/>
      <p:bldP spid="64537" grpId="0" animBg="1"/>
      <p:bldP spid="64538" grpId="0" animBg="1"/>
      <p:bldP spid="64539" grpId="0" bldLvl="0" animBg="1"/>
      <p:bldP spid="2" grpId="0" animBg="1"/>
      <p:bldP spid="30" grpId="0" animBg="1"/>
      <p:bldP spid="34" grpId="0" bldLvl="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4294967295"/>
          </p:nvPr>
        </p:nvSpPr>
        <p:spPr>
          <a:xfrm>
            <a:off x="98603" y="1988900"/>
            <a:ext cx="4711605" cy="5853033"/>
          </a:xfrm>
          <a:ln/>
        </p:spPr>
        <p:txBody>
          <a:bodyPr/>
          <a:lstStyle/>
          <a:p>
            <a:pPr marL="800100" lvl="3"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右图显示，当要素供给曲线变化时，要素需求量变化了但是价格没有变化</a:t>
            </a:r>
            <a:endParaRPr lang="en-US" altLang="zh-CN" sz="1800" b="0" dirty="0">
              <a:latin typeface="微软雅黑" panose="020B0503020204020204" pitchFamily="34" charset="-122"/>
              <a:ea typeface="微软雅黑" panose="020B0503020204020204" pitchFamily="34" charset="-122"/>
            </a:endParaRPr>
          </a:p>
          <a:p>
            <a:pPr marL="800100" lvl="3"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大家还可以自行绘制图形，会发现当</a:t>
            </a:r>
            <a:r>
              <a:rPr lang="en-US" altLang="zh-CN" sz="1800" b="0" dirty="0">
                <a:latin typeface="微软雅黑" panose="020B0503020204020204" pitchFamily="34" charset="-122"/>
                <a:ea typeface="微软雅黑" panose="020B0503020204020204" pitchFamily="34" charset="-122"/>
              </a:rPr>
              <a:t>VMP</a:t>
            </a:r>
            <a:r>
              <a:rPr lang="zh-CN" altLang="en-US" sz="1800" b="0" dirty="0">
                <a:latin typeface="微软雅黑" panose="020B0503020204020204" pitchFamily="34" charset="-122"/>
                <a:ea typeface="微软雅黑" panose="020B0503020204020204" pitchFamily="34" charset="-122"/>
              </a:rPr>
              <a:t>变化时，会出现</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变化了而</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没有变化的情况</a:t>
            </a:r>
            <a:endParaRPr lang="en-US" altLang="zh-CN" sz="1800" b="0" dirty="0">
              <a:latin typeface="微软雅黑" panose="020B0503020204020204" pitchFamily="34" charset="-122"/>
              <a:ea typeface="微软雅黑" panose="020B0503020204020204" pitchFamily="34" charset="-122"/>
            </a:endParaRPr>
          </a:p>
          <a:p>
            <a:pPr marL="800100" lvl="3" indent="-342900" eaLnBrk="1" hangingPunct="1">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这表明，要素需求</a:t>
            </a:r>
            <a:r>
              <a:rPr lang="en-US" altLang="zh-CN" sz="1800" b="0" dirty="0">
                <a:latin typeface="微软雅黑" panose="020B0503020204020204" pitchFamily="34" charset="-122"/>
                <a:ea typeface="微软雅黑" panose="020B0503020204020204" pitchFamily="34" charset="-122"/>
              </a:rPr>
              <a:t>L</a:t>
            </a:r>
            <a:r>
              <a:rPr lang="zh-CN" altLang="en-US" sz="1800" b="0" dirty="0">
                <a:latin typeface="微软雅黑" panose="020B0503020204020204" pitchFamily="34" charset="-122"/>
                <a:ea typeface="微软雅黑" panose="020B0503020204020204" pitchFamily="34" charset="-122"/>
              </a:rPr>
              <a:t>和要素价格</a:t>
            </a:r>
            <a:r>
              <a:rPr lang="en-US" altLang="zh-CN" sz="1800" b="0" dirty="0">
                <a:latin typeface="微软雅黑" panose="020B0503020204020204" pitchFamily="34" charset="-122"/>
                <a:ea typeface="微软雅黑" panose="020B0503020204020204" pitchFamily="34" charset="-122"/>
              </a:rPr>
              <a:t>W</a:t>
            </a:r>
            <a:r>
              <a:rPr lang="zh-CN" altLang="en-US" sz="1800" b="0" dirty="0">
                <a:latin typeface="微软雅黑" panose="020B0503020204020204" pitchFamily="34" charset="-122"/>
                <a:ea typeface="微软雅黑" panose="020B0503020204020204" pitchFamily="34" charset="-122"/>
              </a:rPr>
              <a:t>之间没有稳定关系。</a:t>
            </a:r>
          </a:p>
        </p:txBody>
      </p:sp>
      <p:sp>
        <p:nvSpPr>
          <p:cNvPr id="64525" name="Text Box 14"/>
          <p:cNvSpPr>
            <a:spLocks noChangeArrowheads="1"/>
          </p:cNvSpPr>
          <p:nvPr/>
        </p:nvSpPr>
        <p:spPr bwMode="auto">
          <a:xfrm>
            <a:off x="3743165" y="4238844"/>
            <a:ext cx="59848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 </a:t>
            </a:r>
            <a:endParaRPr lang="zh-CN" altLang="en-US"/>
          </a:p>
        </p:txBody>
      </p:sp>
      <p:grpSp>
        <p:nvGrpSpPr>
          <p:cNvPr id="4" name="组合 3"/>
          <p:cNvGrpSpPr/>
          <p:nvPr/>
        </p:nvGrpSpPr>
        <p:grpSpPr>
          <a:xfrm>
            <a:off x="4698626" y="2111479"/>
            <a:ext cx="3986823" cy="3363008"/>
            <a:chOff x="4485668" y="1844890"/>
            <a:chExt cx="4434410" cy="3993156"/>
          </a:xfrm>
        </p:grpSpPr>
        <p:sp>
          <p:nvSpPr>
            <p:cNvPr id="64522" name="Text Box 11"/>
            <p:cNvSpPr>
              <a:spLocks noChangeArrowheads="1"/>
            </p:cNvSpPr>
            <p:nvPr/>
          </p:nvSpPr>
          <p:spPr bwMode="auto">
            <a:xfrm>
              <a:off x="4485668" y="3380954"/>
              <a:ext cx="620713"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0</a:t>
              </a:r>
              <a:endParaRPr lang="zh-CN" altLang="en-US" dirty="0"/>
            </a:p>
          </p:txBody>
        </p:sp>
        <p:grpSp>
          <p:nvGrpSpPr>
            <p:cNvPr id="3" name="组合 2"/>
            <p:cNvGrpSpPr/>
            <p:nvPr/>
          </p:nvGrpSpPr>
          <p:grpSpPr>
            <a:xfrm>
              <a:off x="4608353" y="1844890"/>
              <a:ext cx="4311725" cy="3993156"/>
              <a:chOff x="4076540" y="1956019"/>
              <a:chExt cx="5087938" cy="4284662"/>
            </a:xfrm>
          </p:grpSpPr>
          <p:sp>
            <p:nvSpPr>
              <p:cNvPr id="64515" name="Line 4"/>
              <p:cNvSpPr>
                <a:spLocks noChangeShapeType="1"/>
              </p:cNvSpPr>
              <p:nvPr/>
            </p:nvSpPr>
            <p:spPr bwMode="auto">
              <a:xfrm flipH="1" flipV="1">
                <a:off x="4519453" y="2046506"/>
                <a:ext cx="1587" cy="3770313"/>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16" name="Line 5"/>
              <p:cNvSpPr>
                <a:spLocks noChangeShapeType="1"/>
              </p:cNvSpPr>
              <p:nvPr/>
            </p:nvSpPr>
            <p:spPr bwMode="auto">
              <a:xfrm>
                <a:off x="4517865" y="5819994"/>
                <a:ext cx="4618038" cy="1587"/>
              </a:xfrm>
              <a:prstGeom prst="line">
                <a:avLst/>
              </a:prstGeom>
              <a:noFill/>
              <a:ln w="28575" cmpd="sng">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17" name="Text Box 6"/>
              <p:cNvSpPr>
                <a:spLocks noChangeArrowheads="1"/>
              </p:cNvSpPr>
              <p:nvPr/>
            </p:nvSpPr>
            <p:spPr bwMode="auto">
              <a:xfrm>
                <a:off x="4076540" y="1956019"/>
                <a:ext cx="7080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W</a:t>
                </a:r>
                <a:endParaRPr lang="zh-CN" altLang="en-US"/>
              </a:p>
            </p:txBody>
          </p:sp>
          <p:sp>
            <p:nvSpPr>
              <p:cNvPr id="64518" name="Text Box 7"/>
              <p:cNvSpPr>
                <a:spLocks noChangeArrowheads="1"/>
              </p:cNvSpPr>
              <p:nvPr/>
            </p:nvSpPr>
            <p:spPr bwMode="auto">
              <a:xfrm>
                <a:off x="4163853" y="5642194"/>
                <a:ext cx="3841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64519" name="Text Box 8"/>
              <p:cNvSpPr>
                <a:spLocks noChangeArrowheads="1"/>
              </p:cNvSpPr>
              <p:nvPr/>
            </p:nvSpPr>
            <p:spPr bwMode="auto">
              <a:xfrm>
                <a:off x="8780303" y="5819994"/>
                <a:ext cx="3841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endParaRPr lang="zh-CN" altLang="en-US"/>
              </a:p>
            </p:txBody>
          </p:sp>
          <p:sp>
            <p:nvSpPr>
              <p:cNvPr id="64520" name="Line 9"/>
              <p:cNvSpPr>
                <a:spLocks noChangeShapeType="1"/>
              </p:cNvSpPr>
              <p:nvPr/>
            </p:nvSpPr>
            <p:spPr bwMode="auto">
              <a:xfrm>
                <a:off x="5230653" y="2403694"/>
                <a:ext cx="3108325" cy="2338387"/>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1" name="Text Box 10"/>
              <p:cNvSpPr>
                <a:spLocks noChangeArrowheads="1"/>
              </p:cNvSpPr>
              <p:nvPr/>
            </p:nvSpPr>
            <p:spPr bwMode="auto">
              <a:xfrm>
                <a:off x="7627778" y="3216494"/>
                <a:ext cx="1404937" cy="43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W(L)</a:t>
                </a:r>
              </a:p>
            </p:txBody>
          </p:sp>
          <p:sp>
            <p:nvSpPr>
              <p:cNvPr id="64523" name="Line 12"/>
              <p:cNvSpPr>
                <a:spLocks noChangeShapeType="1"/>
              </p:cNvSpPr>
              <p:nvPr/>
            </p:nvSpPr>
            <p:spPr bwMode="auto">
              <a:xfrm>
                <a:off x="4519453" y="3813394"/>
                <a:ext cx="1865312" cy="1587"/>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4" name="Line 13"/>
              <p:cNvSpPr>
                <a:spLocks noChangeShapeType="1"/>
              </p:cNvSpPr>
              <p:nvPr/>
            </p:nvSpPr>
            <p:spPr bwMode="auto">
              <a:xfrm>
                <a:off x="6384765" y="3216494"/>
                <a:ext cx="3175" cy="2608262"/>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26" name="Text Box 15"/>
              <p:cNvSpPr>
                <a:spLocks noChangeArrowheads="1"/>
              </p:cNvSpPr>
              <p:nvPr/>
            </p:nvSpPr>
            <p:spPr bwMode="auto">
              <a:xfrm>
                <a:off x="7449978" y="2316381"/>
                <a:ext cx="1244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 FC</a:t>
                </a:r>
              </a:p>
            </p:txBody>
          </p:sp>
          <p:sp>
            <p:nvSpPr>
              <p:cNvPr id="64527" name="Text Box 16"/>
              <p:cNvSpPr>
                <a:spLocks noChangeArrowheads="1"/>
              </p:cNvSpPr>
              <p:nvPr/>
            </p:nvSpPr>
            <p:spPr bwMode="auto">
              <a:xfrm>
                <a:off x="7672229" y="4742081"/>
                <a:ext cx="1108074" cy="43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sym typeface="Arial" panose="020B0604020202020204" pitchFamily="34" charset="0"/>
                  </a:rPr>
                  <a:t>VMP</a:t>
                </a:r>
                <a:endParaRPr lang="zh-CN" altLang="en-US" dirty="0"/>
              </a:p>
            </p:txBody>
          </p:sp>
          <p:sp>
            <p:nvSpPr>
              <p:cNvPr id="64528" name="Text Box 17"/>
              <p:cNvSpPr>
                <a:spLocks noChangeArrowheads="1"/>
              </p:cNvSpPr>
              <p:nvPr/>
            </p:nvSpPr>
            <p:spPr bwMode="auto">
              <a:xfrm>
                <a:off x="6206965" y="5823169"/>
                <a:ext cx="5873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0</a:t>
                </a:r>
                <a:endParaRPr lang="zh-CN" altLang="en-US"/>
              </a:p>
            </p:txBody>
          </p:sp>
          <p:sp>
            <p:nvSpPr>
              <p:cNvPr id="64529" name="Line 18"/>
              <p:cNvSpPr>
                <a:spLocks noChangeShapeType="1"/>
              </p:cNvSpPr>
              <p:nvPr/>
            </p:nvSpPr>
            <p:spPr bwMode="auto">
              <a:xfrm flipH="1">
                <a:off x="4519453" y="3394294"/>
                <a:ext cx="3108325" cy="992187"/>
              </a:xfrm>
              <a:prstGeom prst="line">
                <a:avLst/>
              </a:prstGeom>
              <a:noFill/>
              <a:ln w="9525" cmpd="sng">
                <a:solidFill>
                  <a:srgbClr val="0066FF"/>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0" name="Line 19"/>
              <p:cNvSpPr>
                <a:spLocks noChangeShapeType="1"/>
              </p:cNvSpPr>
              <p:nvPr/>
            </p:nvSpPr>
            <p:spPr bwMode="auto">
              <a:xfrm flipH="1">
                <a:off x="4517865" y="2586256"/>
                <a:ext cx="2932113" cy="1800225"/>
              </a:xfrm>
              <a:prstGeom prst="line">
                <a:avLst/>
              </a:prstGeom>
              <a:noFill/>
              <a:ln w="9525" cmpd="sng">
                <a:solidFill>
                  <a:srgbClr val="0066FF"/>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1" name="Line 20"/>
              <p:cNvSpPr>
                <a:spLocks noChangeShapeType="1"/>
              </p:cNvSpPr>
              <p:nvPr/>
            </p:nvSpPr>
            <p:spPr bwMode="auto">
              <a:xfrm flipV="1">
                <a:off x="4519453" y="2497356"/>
                <a:ext cx="2576512" cy="2605088"/>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2" name="Line 21"/>
              <p:cNvSpPr>
                <a:spLocks noChangeShapeType="1"/>
              </p:cNvSpPr>
              <p:nvPr/>
            </p:nvSpPr>
            <p:spPr bwMode="auto">
              <a:xfrm flipV="1">
                <a:off x="4519453" y="2316381"/>
                <a:ext cx="1509712" cy="2786063"/>
              </a:xfrm>
              <a:prstGeom prst="line">
                <a:avLst/>
              </a:prstGeom>
              <a:noFill/>
              <a:ln w="28575" cmpd="sng">
                <a:solidFill>
                  <a:srgbClr val="2D2D8A"/>
                </a:solidFill>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3" name="Line 22"/>
              <p:cNvSpPr>
                <a:spLocks noChangeShapeType="1"/>
              </p:cNvSpPr>
              <p:nvPr/>
            </p:nvSpPr>
            <p:spPr bwMode="auto">
              <a:xfrm>
                <a:off x="5762465" y="2767231"/>
                <a:ext cx="3175" cy="3055938"/>
              </a:xfrm>
              <a:prstGeom prst="line">
                <a:avLst/>
              </a:prstGeom>
              <a:noFill/>
              <a:ln w="9525"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64534" name="Text Box 23"/>
              <p:cNvSpPr>
                <a:spLocks noChangeArrowheads="1"/>
              </p:cNvSpPr>
              <p:nvPr/>
            </p:nvSpPr>
            <p:spPr bwMode="auto">
              <a:xfrm>
                <a:off x="5762465" y="1956019"/>
                <a:ext cx="9191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MFC</a:t>
                </a:r>
                <a:r>
                  <a:rPr lang="zh-CN" altLang="en-US" sz="1000">
                    <a:solidFill>
                      <a:srgbClr val="000000"/>
                    </a:solidFill>
                    <a:sym typeface="Arial" panose="020B0604020202020204" pitchFamily="34" charset="0"/>
                  </a:rPr>
                  <a:t>1</a:t>
                </a:r>
                <a:endParaRPr lang="zh-CN" altLang="en-US"/>
              </a:p>
            </p:txBody>
          </p:sp>
          <p:sp>
            <p:nvSpPr>
              <p:cNvPr id="64535" name="Text Box 24"/>
              <p:cNvSpPr>
                <a:spLocks noChangeArrowheads="1"/>
              </p:cNvSpPr>
              <p:nvPr/>
            </p:nvSpPr>
            <p:spPr bwMode="auto">
              <a:xfrm>
                <a:off x="6740363" y="2136994"/>
                <a:ext cx="1063626" cy="43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sym typeface="Arial" panose="020B0604020202020204" pitchFamily="34" charset="0"/>
                  </a:rPr>
                  <a:t>W</a:t>
                </a:r>
                <a:r>
                  <a:rPr lang="zh-CN" altLang="en-US" sz="1000" dirty="0">
                    <a:solidFill>
                      <a:srgbClr val="000000"/>
                    </a:solidFill>
                    <a:sym typeface="Arial" panose="020B0604020202020204" pitchFamily="34" charset="0"/>
                  </a:rPr>
                  <a:t>1</a:t>
                </a:r>
                <a:r>
                  <a:rPr lang="zh-CN" altLang="en-US" dirty="0">
                    <a:solidFill>
                      <a:srgbClr val="000000"/>
                    </a:solidFill>
                    <a:sym typeface="Arial" panose="020B0604020202020204" pitchFamily="34" charset="0"/>
                  </a:rPr>
                  <a:t>(L)</a:t>
                </a:r>
              </a:p>
            </p:txBody>
          </p:sp>
          <p:sp>
            <p:nvSpPr>
              <p:cNvPr id="64536" name="Text Box 25"/>
              <p:cNvSpPr>
                <a:spLocks noChangeArrowheads="1"/>
              </p:cNvSpPr>
              <p:nvPr/>
            </p:nvSpPr>
            <p:spPr bwMode="auto">
              <a:xfrm>
                <a:off x="5586253" y="5823169"/>
                <a:ext cx="60325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t>
                </a:r>
                <a:r>
                  <a:rPr lang="zh-CN" altLang="en-US" sz="1000">
                    <a:solidFill>
                      <a:srgbClr val="000000"/>
                    </a:solidFill>
                    <a:sym typeface="Arial" panose="020B0604020202020204" pitchFamily="34" charset="0"/>
                  </a:rPr>
                  <a:t>1</a:t>
                </a:r>
                <a:endParaRPr lang="zh-CN" altLang="en-US"/>
              </a:p>
            </p:txBody>
          </p:sp>
          <p:sp>
            <p:nvSpPr>
              <p:cNvPr id="2" name="椭圆 1"/>
              <p:cNvSpPr/>
              <p:nvPr/>
            </p:nvSpPr>
            <p:spPr bwMode="auto">
              <a:xfrm>
                <a:off x="6276021" y="3692744"/>
                <a:ext cx="190500" cy="214312"/>
              </a:xfrm>
              <a:prstGeom prst="ellipse">
                <a:avLst/>
              </a:prstGeom>
              <a:solidFill>
                <a:srgbClr val="F3C97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0" name="椭圆 29"/>
              <p:cNvSpPr/>
              <p:nvPr/>
            </p:nvSpPr>
            <p:spPr bwMode="auto">
              <a:xfrm>
                <a:off x="5677534" y="3692744"/>
                <a:ext cx="190500" cy="214312"/>
              </a:xfrm>
              <a:prstGeom prst="ellipse">
                <a:avLst/>
              </a:prstGeom>
              <a:solidFill>
                <a:srgbClr val="F3C97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pSp>
      <p:sp>
        <p:nvSpPr>
          <p:cNvPr id="29" name="矩形 28">
            <a:extLst>
              <a:ext uri="{FF2B5EF4-FFF2-40B4-BE49-F238E27FC236}">
                <a16:creationId xmlns:a16="http://schemas.microsoft.com/office/drawing/2014/main" id="{F68E5273-CD77-47B9-B841-9D29349C133D}"/>
              </a:ext>
            </a:extLst>
          </p:cNvPr>
          <p:cNvSpPr/>
          <p:nvPr/>
        </p:nvSpPr>
        <p:spPr>
          <a:xfrm>
            <a:off x="550263" y="548680"/>
            <a:ext cx="572464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342900" lvl="1" indent="-342900" eaLnBrk="1" hangingPunct="1"/>
            <a:r>
              <a:rPr lang="zh-CN" altLang="en-US" sz="2400" dirty="0">
                <a:solidFill>
                  <a:schemeClr val="bg1"/>
                </a:solidFill>
                <a:latin typeface="微软雅黑" panose="020B0503020204020204" pitchFamily="34" charset="-122"/>
                <a:ea typeface="微软雅黑" panose="020B0503020204020204" pitchFamily="34" charset="-122"/>
              </a:rPr>
              <a:t>二、要素买方垄断条件下的要素价格决定</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71312" y="5490267"/>
            <a:ext cx="8032968" cy="458908"/>
          </a:xfrm>
          <a:prstGeom prst="rect">
            <a:avLst/>
          </a:prstGeom>
          <a:noFill/>
        </p:spPr>
        <p:txBody>
          <a:bodyPr wrap="none" rtlCol="0">
            <a:spAutoFit/>
          </a:bodyPr>
          <a:lstStyle/>
          <a:p>
            <a:pPr marL="457200" lvl="2" indent="-457200" defTabSz="0" eaLnBrk="1" hangingPunct="1">
              <a:lnSpc>
                <a:spcPct val="150000"/>
              </a:lnSpc>
              <a:spcBef>
                <a:spcPct val="20000"/>
              </a:spcBef>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sym typeface="Arial" panose="020B0604020202020204" pitchFamily="34" charset="0"/>
              </a:rPr>
              <a:t>显然，买方垄断没有要素需求曲线与卖方垄断没有商品供给曲线是对称的</a:t>
            </a:r>
          </a:p>
        </p:txBody>
      </p:sp>
      <p:sp>
        <p:nvSpPr>
          <p:cNvPr id="6" name="文本框 5"/>
          <p:cNvSpPr txBox="1"/>
          <p:nvPr/>
        </p:nvSpPr>
        <p:spPr>
          <a:xfrm>
            <a:off x="527541" y="1406758"/>
            <a:ext cx="5404043" cy="400110"/>
          </a:xfrm>
          <a:prstGeom prst="rect">
            <a:avLst/>
          </a:prstGeom>
          <a:noFill/>
        </p:spPr>
        <p:txBody>
          <a:bodyPr wrap="none" rtlCol="0">
            <a:spAutoFit/>
          </a:bodyPr>
          <a:lstStyle/>
          <a:p>
            <a:pPr marL="342900" indent="-342900">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为什么</a:t>
            </a:r>
            <a:r>
              <a:rPr lang="zh-CN" altLang="zh-CN" sz="2000" b="0" dirty="0">
                <a:latin typeface="微软雅黑" panose="020B0503020204020204" pitchFamily="34" charset="-122"/>
                <a:ea typeface="微软雅黑" panose="020B0503020204020204" pitchFamily="34" charset="-122"/>
              </a:rPr>
              <a:t>买方垄断企业的要素需求曲线不存在</a:t>
            </a:r>
            <a:endParaRPr lang="en-US" altLang="zh-CN" sz="2000" b="0" dirty="0">
              <a:latin typeface="微软雅黑" panose="020B0503020204020204" pitchFamily="34" charset="-122"/>
              <a:ea typeface="微软雅黑" panose="020B0503020204020204" pitchFamily="34" charset="-122"/>
            </a:endParaRPr>
          </a:p>
        </p:txBody>
      </p:sp>
      <p:sp>
        <p:nvSpPr>
          <p:cNvPr id="33" name="标题 1">
            <a:extLst>
              <a:ext uri="{FF2B5EF4-FFF2-40B4-BE49-F238E27FC236}">
                <a16:creationId xmlns:a16="http://schemas.microsoft.com/office/drawing/2014/main" id="{FE7F9C1A-6ADE-4EB0-AF02-AAE6927ECF84}"/>
              </a:ext>
            </a:extLst>
          </p:cNvPr>
          <p:cNvSpPr>
            <a:spLocks noChangeArrowheads="1"/>
          </p:cNvSpPr>
          <p:nvPr/>
        </p:nvSpPr>
        <p:spPr bwMode="auto">
          <a:xfrm>
            <a:off x="1966913" y="77416"/>
            <a:ext cx="8229600" cy="35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r>
              <a:rPr lang="en-US" altLang="zh-CN" sz="2400" dirty="0">
                <a:solidFill>
                  <a:srgbClr val="FF0000"/>
                </a:solidFill>
                <a:latin typeface="宋体" panose="02010600030101010101" pitchFamily="2" charset="-122"/>
                <a:sym typeface="宋体" panose="02010600030101010101" pitchFamily="2" charset="-122"/>
              </a:rPr>
              <a:t>                </a:t>
            </a:r>
            <a:r>
              <a:rPr lang="zh-CN" altLang="en-US" sz="1800" b="0"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第六节  垄断与要素使用量和价格的决定</a:t>
            </a:r>
            <a:r>
              <a:rPr lang="zh-CN" altLang="en-US" sz="2400" dirty="0">
                <a:solidFill>
                  <a:srgbClr val="FF0000"/>
                </a:solidFill>
                <a:latin typeface="宋体" panose="02010600030101010101" pitchFamily="2" charset="-122"/>
                <a:sym typeface="宋体" panose="02010600030101010101" pitchFamily="2" charset="-122"/>
              </a:rPr>
              <a:t/>
            </a:r>
            <a:br>
              <a:rPr lang="zh-CN" altLang="en-US" sz="2400" dirty="0">
                <a:solidFill>
                  <a:srgbClr val="FF0000"/>
                </a:solidFill>
                <a:latin typeface="宋体" panose="02010600030101010101" pitchFamily="2" charset="-122"/>
                <a:sym typeface="宋体" panose="02010600030101010101" pitchFamily="2" charset="-122"/>
              </a:rPr>
            </a:br>
            <a:endParaRPr lang="zh-CN" altLang="en-US" sz="3600" b="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13109427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64514">
                                            <p:txEl>
                                              <p:pRg st="0" end="0"/>
                                            </p:txEl>
                                          </p:spTgt>
                                        </p:tgtEl>
                                        <p:attrNameLst>
                                          <p:attrName>style.visibility</p:attrName>
                                        </p:attrNameLst>
                                      </p:cBhvr>
                                      <p:to>
                                        <p:strVal val="visible"/>
                                      </p:to>
                                    </p:set>
                                    <p:animEffect>
                                      <p:cBhvr>
                                        <p:cTn id="19" dur="500"/>
                                        <p:tgtEl>
                                          <p:spTgt spid="6451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64514">
                                            <p:txEl>
                                              <p:pRg st="1" end="1"/>
                                            </p:txEl>
                                          </p:spTgt>
                                        </p:tgtEl>
                                        <p:attrNameLst>
                                          <p:attrName>style.visibility</p:attrName>
                                        </p:attrNameLst>
                                      </p:cBhvr>
                                      <p:to>
                                        <p:strVal val="visible"/>
                                      </p:to>
                                    </p:set>
                                    <p:animEffect>
                                      <p:cBhvr>
                                        <p:cTn id="24" dur="500"/>
                                        <p:tgtEl>
                                          <p:spTgt spid="6451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64514">
                                            <p:txEl>
                                              <p:pRg st="2" end="2"/>
                                            </p:txEl>
                                          </p:spTgt>
                                        </p:tgtEl>
                                        <p:attrNameLst>
                                          <p:attrName>style.visibility</p:attrName>
                                        </p:attrNameLst>
                                      </p:cBhvr>
                                      <p:to>
                                        <p:strVal val="visible"/>
                                      </p:to>
                                    </p:set>
                                    <p:animEffect>
                                      <p:cBhvr>
                                        <p:cTn id="29" dur="500"/>
                                        <p:tgtEl>
                                          <p:spTgt spid="64514">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1"/>
          <p:cNvSpPr txBox="1">
            <a:spLocks noChangeArrowheads="1"/>
          </p:cNvSpPr>
          <p:nvPr/>
        </p:nvSpPr>
        <p:spPr bwMode="auto">
          <a:xfrm>
            <a:off x="2688431" y="2927349"/>
            <a:ext cx="33067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6000" b="0" dirty="0">
                <a:solidFill>
                  <a:srgbClr val="C00000"/>
                </a:solidFill>
                <a:latin typeface="微软雅黑" panose="020B0503020204020204" pitchFamily="34" charset="-122"/>
                <a:ea typeface="Kozuka Gothic Pr6N B" panose="020B0800000000000000" pitchFamily="34" charset="-128"/>
                <a:cs typeface="Arial" panose="020B0604020202020204" pitchFamily="34" charset="0"/>
              </a:rPr>
              <a:t>THANKS</a:t>
            </a:r>
          </a:p>
        </p:txBody>
      </p:sp>
      <p:sp>
        <p:nvSpPr>
          <p:cNvPr id="4" name="空心弧 3"/>
          <p:cNvSpPr/>
          <p:nvPr/>
        </p:nvSpPr>
        <p:spPr bwMode="auto">
          <a:xfrm rot="7086271">
            <a:off x="4972844" y="2687637"/>
            <a:ext cx="1482725" cy="1482725"/>
          </a:xfrm>
          <a:prstGeom prst="blockArc">
            <a:avLst>
              <a:gd name="adj1" fmla="val 5502533"/>
              <a:gd name="adj2" fmla="val 1980318"/>
              <a:gd name="adj3" fmla="val 1053"/>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solidFill>
            </a:endParaRPr>
          </a:p>
        </p:txBody>
      </p:sp>
    </p:spTree>
    <p:extLst>
      <p:ext uri="{BB962C8B-B14F-4D97-AF65-F5344CB8AC3E}">
        <p14:creationId xmlns:p14="http://schemas.microsoft.com/office/powerpoint/2010/main" val="29663907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2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2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2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2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2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2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4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4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4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5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5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5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5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5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5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5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7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7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8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8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8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8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8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8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8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3"/>
</p:tagLst>
</file>

<file path=ppt/tags/tag90.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3"/>
</p:tagLst>
</file>

<file path=ppt/tags/tag91.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3"/>
</p:tagLst>
</file>

<file path=ppt/tags/tag92.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3"/>
</p:tagLst>
</file>

<file path=ppt/tags/tag93.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2"/>
</p:tagLst>
</file>

<file path=ppt/tags/tag94.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2"/>
</p:tagLst>
</file>

<file path=ppt/tags/tag95.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1"/>
</p:tagLst>
</file>

<file path=ppt/tags/tag96.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1"/>
</p:tagLst>
</file>

<file path=ppt/tags/tag9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9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0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0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0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0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0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0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0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0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0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2246</TotalTime>
  <Pages>0</Pages>
  <Words>5296</Words>
  <Characters>0</Characters>
  <Application>Microsoft Office PowerPoint</Application>
  <DocSecurity>0</DocSecurity>
  <PresentationFormat>全屏显示(4:3)</PresentationFormat>
  <Lines>0</Lines>
  <Paragraphs>859</Paragraphs>
  <Slides>68</Slides>
  <Notes>11</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68</vt:i4>
      </vt:variant>
    </vt:vector>
  </HeadingPairs>
  <TitlesOfParts>
    <vt:vector size="84" baseType="lpstr">
      <vt:lpstr>Kozuka Gothic Pr6N B</vt:lpstr>
      <vt:lpstr>맑은 고딕</vt:lpstr>
      <vt:lpstr>等线</vt:lpstr>
      <vt:lpstr>黑体</vt:lpstr>
      <vt:lpstr>华文楷体</vt:lpstr>
      <vt:lpstr>宋体</vt:lpstr>
      <vt:lpstr>微软雅黑</vt:lpstr>
      <vt:lpstr>Arial</vt:lpstr>
      <vt:lpstr>Calibri</vt:lpstr>
      <vt:lpstr>Cambria Math</vt:lpstr>
      <vt:lpstr>Times New Roman</vt:lpstr>
      <vt:lpstr>Wingdings</vt:lpstr>
      <vt:lpstr>默认设计模板</vt:lpstr>
      <vt:lpstr>1_默认设计模板</vt:lpstr>
      <vt:lpstr>Equation</vt:lpstr>
      <vt:lpstr>Equation.KSEE3</vt:lpstr>
      <vt:lpstr>第六章 生产要素市场和收入分配</vt:lpstr>
      <vt:lpstr>第六章 生产要素市场和收入分配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fds</dc:creator>
  <cp:keywords/>
  <dc:description/>
  <cp:lastModifiedBy>Windows User</cp:lastModifiedBy>
  <cp:revision>368</cp:revision>
  <cp:lastPrinted>2411-12-30T00:00:00Z</cp:lastPrinted>
  <dcterms:created xsi:type="dcterms:W3CDTF">2012-04-27T09:30:00Z</dcterms:created>
  <dcterms:modified xsi:type="dcterms:W3CDTF">2024-05-30T13:03:17Z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