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4653" r:id="rId2"/>
  </p:sldMasterIdLst>
  <p:notesMasterIdLst>
    <p:notesMasterId r:id="rId37"/>
  </p:notesMasterIdLst>
  <p:handoutMasterIdLst>
    <p:handoutMasterId r:id="rId38"/>
  </p:handoutMasterIdLst>
  <p:sldIdLst>
    <p:sldId id="256" r:id="rId3"/>
    <p:sldId id="380" r:id="rId4"/>
    <p:sldId id="295" r:id="rId5"/>
    <p:sldId id="300" r:id="rId6"/>
    <p:sldId id="386" r:id="rId7"/>
    <p:sldId id="304" r:id="rId8"/>
    <p:sldId id="305" r:id="rId9"/>
    <p:sldId id="306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31" r:id="rId18"/>
    <p:sldId id="316" r:id="rId19"/>
    <p:sldId id="320" r:id="rId20"/>
    <p:sldId id="325" r:id="rId21"/>
    <p:sldId id="326" r:id="rId22"/>
    <p:sldId id="337" r:id="rId23"/>
    <p:sldId id="338" r:id="rId24"/>
    <p:sldId id="339" r:id="rId25"/>
    <p:sldId id="340" r:id="rId26"/>
    <p:sldId id="341" r:id="rId27"/>
    <p:sldId id="345" r:id="rId28"/>
    <p:sldId id="342" r:id="rId29"/>
    <p:sldId id="358" r:id="rId30"/>
    <p:sldId id="388" r:id="rId31"/>
    <p:sldId id="369" r:id="rId32"/>
    <p:sldId id="370" r:id="rId33"/>
    <p:sldId id="371" r:id="rId34"/>
    <p:sldId id="372" r:id="rId35"/>
    <p:sldId id="359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 autoAdjust="0"/>
    <p:restoredTop sz="80880" autoAdjust="0"/>
  </p:normalViewPr>
  <p:slideViewPr>
    <p:cSldViewPr>
      <p:cViewPr varScale="1">
        <p:scale>
          <a:sx n="101" d="100"/>
          <a:sy n="101" d="100"/>
        </p:scale>
        <p:origin x="21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9B826AA1-E7E8-4048-9366-C85C52BB344E}" type="datetimeFigureOut">
              <a:rPr lang="en-US"/>
              <a:pPr>
                <a:defRPr/>
              </a:pPr>
              <a:t>10/19/25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12742DF3-4033-4BBC-9A10-E563366FC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60FC00-CB8F-4268-93EC-7ABB39D2F63C}" type="datetimeFigureOut">
              <a:rPr lang="zh-CN" altLang="en-US"/>
              <a:pPr>
                <a:defRPr/>
              </a:pPr>
              <a:t>2025/10/19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ACF634-60D1-4D3C-A44B-2EAF90B3CD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7E9DA5-596E-415B-B2CF-D3D7706EBE0C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8C5E2-5D8B-4C81-B9D8-D611DEE474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7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695393-E428-4EC2-8BAF-5453BB1F191A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70AE28-72DB-4620-8BEA-B4D7EA981104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28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6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/>
          <a:p>
            <a:endParaRPr kumimoji="1" lang="zh-CN" altLang="en-US" dirty="0"/>
          </a:p>
        </p:txBody>
      </p:sp>
      <p:sp>
        <p:nvSpPr>
          <p:cNvPr id="11878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E654B4-73F4-4581-96EA-B53BD797BB43}" type="slidenum">
              <a:rPr lang="zh-CN" altLang="en-US" sz="1200" smtClean="0"/>
              <a:pPr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81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31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0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19811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4B25BF-A078-4115-8C2C-FAC660BCE81E}" type="slidenum">
              <a:rPr lang="zh-CN" altLang="en-US" sz="1200" smtClean="0"/>
              <a:pPr/>
              <a:t>14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4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55000" lnSpcReduction="20000"/>
          </a:bodyPr>
          <a:lstStyle/>
          <a:p>
            <a:endParaRPr lang="en-US" altLang="zh-CN" dirty="0"/>
          </a:p>
        </p:txBody>
      </p:sp>
      <p:sp>
        <p:nvSpPr>
          <p:cNvPr id="12083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52E737-4EAE-4C95-943C-CE2F547B5557}" type="slidenum">
              <a:rPr lang="zh-CN" altLang="en-US" sz="1200" smtClean="0"/>
              <a:pPr/>
              <a:t>15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60E3AC-035D-4F00-88EA-46B5E4948660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endParaRPr lang="zh-CN" altLang="en-US" dirty="0"/>
          </a:p>
        </p:txBody>
      </p:sp>
      <p:sp>
        <p:nvSpPr>
          <p:cNvPr id="716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7181FD-7827-4E72-B9B4-32716B75D63A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00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31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59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555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946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813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63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95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838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255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3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107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255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0736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41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22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79E6E-AA8C-43CB-81EF-578FE00FE0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58EE9-9E73-45F0-A7CA-90363CDC52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E5781-787B-4524-97F6-D13F686BE9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15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6B6B5-C72E-4707-8D38-0078B96912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9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232C7-CC6F-4239-8087-869718C2E8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4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DF00C-2567-4347-BB4C-FF60FAABE3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7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0D70A-2DCA-447D-8A44-E39195ABF6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2F7D-0FF9-43D9-A322-394D01B577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7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9437-ED2D-4FDD-A393-0E1DE6FC04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42E9C-AEC5-42B8-B28F-353EEBC5F4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2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AAB10-D719-4480-B976-D8E1438752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483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655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753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720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71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008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21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77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498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64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665F2C4-38A6-42C8-8060-30E04DF4A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>
                <a:ea typeface="宋体" pitchFamily="2" charset="-122"/>
              </a:defRPr>
            </a:lvl1pPr>
          </a:lstStyle>
          <a:p>
            <a:fld id="{D0149DE7-7D07-43DB-A43A-8B4970B3C32B}" type="datetimeFigureOut">
              <a:rPr lang="zh-CN" altLang="en-US" smtClean="0"/>
              <a:pPr/>
              <a:t>2025/10/19</a:t>
            </a:fld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宋体" pitchFamily="2" charset="-122"/>
              </a:defRPr>
            </a:lvl1pPr>
          </a:lstStyle>
          <a:p>
            <a:fld id="{A0D6E6F0-559D-4920-8B8E-D4D5D30FDE0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8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  <p:sldLayoutId id="2147484663" r:id="rId10"/>
    <p:sldLayoutId id="2147484664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程序设计（</a:t>
            </a:r>
            <a:r>
              <a:rPr lang="en-US" altLang="zh-CN"/>
              <a:t>part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6449" y="0"/>
            <a:ext cx="4248472" cy="656120"/>
          </a:xfrm>
        </p:spPr>
        <p:txBody>
          <a:bodyPr/>
          <a:lstStyle/>
          <a:p>
            <a:r>
              <a:rPr lang="en-US" altLang="zh-CN" dirty="0"/>
              <a:t>Move constructor.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560" y="83892"/>
            <a:ext cx="40324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size;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():size(0),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(NULL){}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//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init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array here…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for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i = 0; i &lt; size; i++) {	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[i];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~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delete[]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3008" y="973903"/>
            <a:ext cx="461908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&amp;other)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aw(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other.get_size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//Do some change to aw.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return aw;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312988" y="980727"/>
            <a:ext cx="36004" cy="540060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3920" y="4509120"/>
            <a:ext cx="39240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&amp;&amp;other):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size(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other.size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other.arr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= NULL;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1040" y="3707740"/>
            <a:ext cx="416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MyArray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myArr2 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change_aw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myArr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7616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动态对象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宋体" panose="02010600030101010101" pitchFamily="2" charset="-122"/>
              </a:rPr>
              <a:t>动态对象</a:t>
            </a:r>
          </a:p>
          <a:p>
            <a:pPr lvl="1" eaLnBrk="1" hangingPunct="1"/>
            <a:r>
              <a:rPr lang="en-GB" altLang="en-US" sz="2000">
                <a:latin typeface="宋体" panose="02010600030101010101" pitchFamily="2" charset="-122"/>
              </a:rPr>
              <a:t>在</a:t>
            </a:r>
            <a:r>
              <a:rPr lang="en-US" altLang="zh-CN" sz="2000" i="1"/>
              <a:t>h</a:t>
            </a:r>
            <a:r>
              <a:rPr lang="en-GB" altLang="zh-CN" sz="2000" i="1"/>
              <a:t>eap </a:t>
            </a:r>
            <a:r>
              <a:rPr lang="en-GB" altLang="en-US" sz="2000">
                <a:latin typeface="宋体" panose="02010600030101010101" pitchFamily="2" charset="-122"/>
              </a:rPr>
              <a:t>中创建</a:t>
            </a:r>
          </a:p>
          <a:p>
            <a:pPr lvl="1" eaLnBrk="1" hangingPunct="1"/>
            <a:endParaRPr lang="en-GB" altLang="en-US" sz="2000">
              <a:latin typeface="宋体" panose="02010600030101010101" pitchFamily="2" charset="-122"/>
            </a:endParaRPr>
          </a:p>
          <a:p>
            <a:pPr lvl="1" eaLnBrk="1" hangingPunct="1"/>
            <a:r>
              <a:rPr lang="en-GB" altLang="zh-CN" sz="2000" i="1">
                <a:solidFill>
                  <a:srgbClr val="006600"/>
                </a:solidFill>
              </a:rPr>
              <a:t>new </a:t>
            </a:r>
            <a:r>
              <a:rPr lang="en-GB" altLang="en-US" sz="2000">
                <a:latin typeface="宋体" panose="02010600030101010101" pitchFamily="2" charset="-122"/>
              </a:rPr>
              <a:t>/</a:t>
            </a:r>
            <a:r>
              <a:rPr lang="en-GB" altLang="zh-CN" sz="2000" i="1">
                <a:solidFill>
                  <a:srgbClr val="006600"/>
                </a:solidFill>
              </a:rPr>
              <a:t>delete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38916" name="TextBox 3"/>
          <p:cNvSpPr txBox="1">
            <a:spLocks noChangeArrowheads="1"/>
          </p:cNvSpPr>
          <p:nvPr/>
        </p:nvSpPr>
        <p:spPr bwMode="auto">
          <a:xfrm>
            <a:off x="1835150" y="4365625"/>
            <a:ext cx="4960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C0000"/>
                </a:solidFill>
              </a:rPr>
              <a:t>为什么要引入</a:t>
            </a:r>
            <a:r>
              <a:rPr lang="en-US" altLang="zh-CN" sz="2400">
                <a:solidFill>
                  <a:srgbClr val="CC0000"/>
                </a:solidFill>
              </a:rPr>
              <a:t>new</a:t>
            </a:r>
            <a:r>
              <a:rPr lang="zh-CN" altLang="en-US" sz="2400">
                <a:solidFill>
                  <a:srgbClr val="CC0000"/>
                </a:solidFill>
              </a:rPr>
              <a:t>、</a:t>
            </a:r>
            <a:r>
              <a:rPr lang="en-US" altLang="zh-CN" sz="2400">
                <a:solidFill>
                  <a:srgbClr val="CC0000"/>
                </a:solidFill>
              </a:rPr>
              <a:t>delete</a:t>
            </a:r>
            <a:r>
              <a:rPr lang="zh-CN" altLang="en-US" sz="2400">
                <a:solidFill>
                  <a:srgbClr val="CC0000"/>
                </a:solidFill>
              </a:rPr>
              <a:t>操作符？</a:t>
            </a:r>
            <a:endParaRPr lang="en-US" altLang="zh-CN" sz="2400">
              <a:solidFill>
                <a:srgbClr val="CC000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916113" y="4722813"/>
            <a:ext cx="3205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2060"/>
                </a:solidFill>
              </a:rPr>
              <a:t>constructor/destructor</a:t>
            </a:r>
            <a:endParaRPr lang="zh-CN" altLang="en-US" sz="24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allAtOnce"/>
      <p:bldP spid="5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Const </a:t>
            </a:r>
            <a:r>
              <a:rPr lang="zh-CN" altLang="en-US"/>
              <a:t>成员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989138"/>
            <a:ext cx="7808912" cy="403225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zh-CN" sz="2400" i="1"/>
              <a:t>const</a:t>
            </a:r>
            <a:r>
              <a:rPr lang="en-GB" altLang="zh-CN" sz="2400">
                <a:latin typeface="宋体" panose="02010600030101010101" pitchFamily="2" charset="-122"/>
              </a:rPr>
              <a:t> </a:t>
            </a:r>
            <a:r>
              <a:rPr lang="en-GB" altLang="en-US" sz="2400">
                <a:latin typeface="宋体" panose="02010600030101010101" pitchFamily="2" charset="-122"/>
              </a:rPr>
              <a:t>成员函数</a:t>
            </a:r>
            <a:endParaRPr lang="en-GB" altLang="en-US" sz="2400"/>
          </a:p>
        </p:txBody>
      </p:sp>
      <p:sp>
        <p:nvSpPr>
          <p:cNvPr id="51203" name="TextBox 3"/>
          <p:cNvSpPr txBox="1">
            <a:spLocks noChangeArrowheads="1"/>
          </p:cNvSpPr>
          <p:nvPr/>
        </p:nvSpPr>
        <p:spPr bwMode="auto">
          <a:xfrm>
            <a:off x="827088" y="2492375"/>
            <a:ext cx="3324225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class A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{    int </a:t>
            </a:r>
            <a:r>
              <a:rPr lang="en-GB" altLang="zh-CN" sz="2000" i="1" dirty="0" err="1">
                <a:solidFill>
                  <a:srgbClr val="002060"/>
                </a:solidFill>
              </a:rPr>
              <a:t>x,y</a:t>
            </a:r>
            <a:r>
              <a:rPr lang="en-GB" altLang="zh-CN" sz="2000" i="1" dirty="0">
                <a:solidFill>
                  <a:srgbClr val="002060"/>
                </a:solidFill>
              </a:rPr>
              <a:t>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 public:</a:t>
            </a: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 </a:t>
            </a:r>
            <a:r>
              <a:rPr lang="en-US" altLang="zh-CN" sz="1800" i="1" dirty="0">
                <a:solidFill>
                  <a:srgbClr val="002060"/>
                </a:solidFill>
              </a:rPr>
              <a:t>A(int x1, int y1);</a:t>
            </a:r>
            <a:endParaRPr lang="en-GB" altLang="zh-CN" sz="1800" i="1" dirty="0">
              <a:solidFill>
                <a:srgbClr val="002060"/>
              </a:solidFill>
            </a:endParaRP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void f();</a:t>
            </a:r>
          </a:p>
          <a:p>
            <a:pPr lvl="3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1800" i="1" dirty="0">
                <a:solidFill>
                  <a:srgbClr val="002060"/>
                </a:solidFill>
              </a:rPr>
              <a:t>void show();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GB" altLang="zh-CN" sz="2000" i="1" dirty="0">
                <a:solidFill>
                  <a:srgbClr val="002060"/>
                </a:solidFill>
              </a:rPr>
              <a:t>};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27600" y="2565400"/>
            <a:ext cx="1876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const A a(0,0);</a:t>
            </a:r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927600" y="3141663"/>
            <a:ext cx="1268413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a.f();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a.show();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19250" y="4533900"/>
            <a:ext cx="25304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void A::f()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{  x = 1; y = 1; }</a:t>
            </a: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i="1">
              <a:solidFill>
                <a:srgbClr val="002060"/>
              </a:solidFill>
            </a:endParaRP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void A::show()</a:t>
            </a:r>
            <a:r>
              <a:rPr lang="zh-CN" altLang="en-US" sz="2000" i="1">
                <a:solidFill>
                  <a:srgbClr val="002060"/>
                </a:solidFill>
              </a:rPr>
              <a:t> </a:t>
            </a:r>
            <a:r>
              <a:rPr lang="en-US" altLang="zh-CN" sz="2000" i="1">
                <a:solidFill>
                  <a:srgbClr val="002060"/>
                </a:solidFill>
              </a:rPr>
              <a:t>const</a:t>
            </a:r>
            <a:endParaRPr lang="en-GB" altLang="zh-CN" sz="2000" i="1">
              <a:solidFill>
                <a:srgbClr val="002060"/>
              </a:solidFill>
            </a:endParaRPr>
          </a:p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002060"/>
                </a:solidFill>
              </a:rPr>
              <a:t>{  cout &lt;&lt;x &lt;&lt; y;}</a:t>
            </a: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492500" y="3749675"/>
            <a:ext cx="10080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1">
                <a:solidFill>
                  <a:srgbClr val="C00000"/>
                </a:solidFill>
              </a:rPr>
              <a:t>const </a:t>
            </a:r>
            <a:r>
              <a:rPr lang="en-GB" altLang="zh-CN" sz="2000" i="1">
                <a:solidFill>
                  <a:srgbClr val="002060"/>
                </a:solidFill>
              </a:rPr>
              <a:t>;</a:t>
            </a: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076825" y="3068638"/>
            <a:ext cx="361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X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227763" y="3429000"/>
            <a:ext cx="409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B050"/>
                </a:solidFill>
              </a:rPr>
              <a:t>√</a:t>
            </a:r>
            <a:endParaRPr lang="zh-CN" altLang="en-US" sz="240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984312">
            <a:off x="3746500" y="4170363"/>
            <a:ext cx="1751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compiler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27538" y="836613"/>
            <a:ext cx="3743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void f( A * const this);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void show(</a:t>
            </a:r>
            <a:r>
              <a:rPr lang="en-US" altLang="zh-CN" sz="2000">
                <a:solidFill>
                  <a:srgbClr val="C00000"/>
                </a:solidFill>
              </a:rPr>
              <a:t>const</a:t>
            </a:r>
            <a:r>
              <a:rPr lang="en-US" altLang="zh-CN" sz="2000"/>
              <a:t> A* const this);</a:t>
            </a:r>
            <a:endParaRPr lang="zh-CN" altLang="en-US" sz="20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435600" y="4365625"/>
            <a:ext cx="3414713" cy="2308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int a;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int &amp; indirect_int;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A():indirect_int(*new int){ 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~A() { delete &amp;indirect_int;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void f(</a:t>
            </a:r>
            <a:r>
              <a:rPr lang="en-US" altLang="zh-CN" sz="1600"/>
              <a:t>) const { indirect_int++;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};</a:t>
            </a:r>
            <a:endParaRPr lang="zh-CN" alt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250825" y="3429000"/>
            <a:ext cx="1281113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mutable</a:t>
            </a:r>
            <a:endParaRPr lang="zh-CN" altLang="en-US" i="1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DB06-1F2A-9306-A8C1-A6E0E742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F91AC-04F8-AF4D-A9AF-3A3CA27F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60648"/>
            <a:ext cx="7211144" cy="1143000"/>
          </a:xfrm>
        </p:spPr>
        <p:txBody>
          <a:bodyPr/>
          <a:lstStyle/>
          <a:p>
            <a:r>
              <a:rPr lang="en-US" altLang="zh-CN" b="1" dirty="0"/>
              <a:t>Constant Expressions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A552D20-38C7-2985-1C28-D6A1194F2569}"/>
              </a:ext>
            </a:extLst>
          </p:cNvPr>
          <p:cNvSpPr txBox="1"/>
          <p:nvPr/>
        </p:nvSpPr>
        <p:spPr>
          <a:xfrm>
            <a:off x="652736" y="2132856"/>
            <a:ext cx="7458000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宋体" panose="02010600030101010101" pitchFamily="2" charset="-122"/>
                <a:ea typeface="+mn-ea"/>
              </a:rPr>
              <a:t>在编译期即可计算出结果的表达式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把计算前移到编译期 → 更快；错误更早暴露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" altLang="zh-CN" sz="2000" dirty="0" err="1">
                <a:latin typeface="宋体" panose="02010600030101010101" pitchFamily="2" charset="-122"/>
                <a:ea typeface="+mn-ea"/>
              </a:rPr>
              <a:t>constexpr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可在编译期求值（也可运行期）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" altLang="zh-CN" sz="2000" dirty="0" err="1">
                <a:latin typeface="宋体" panose="02010600030101010101" pitchFamily="2" charset="-122"/>
                <a:ea typeface="+mn-ea"/>
              </a:rPr>
              <a:t>consteval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（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C++20</a:t>
            </a:r>
            <a:r>
              <a:rPr lang="zh-CN" altLang="en" sz="2000" dirty="0">
                <a:latin typeface="宋体" panose="02010600030101010101" pitchFamily="2" charset="-122"/>
                <a:ea typeface="+mn-ea"/>
              </a:rPr>
              <a:t>）：</a:t>
            </a:r>
            <a:r>
              <a:rPr lang="zh-CN" altLang="en-US" sz="2000" dirty="0"/>
              <a:t>只能出现在</a:t>
            </a:r>
            <a:r>
              <a:rPr lang="zh-CN" altLang="en-US" sz="2000" b="1" dirty="0"/>
              <a:t>函数声明</a:t>
            </a:r>
            <a:r>
              <a:rPr lang="zh-CN" altLang="en-US" sz="2000" dirty="0"/>
              <a:t>上，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必须在编译期求值，调用点不是常量表达式就报错</a:t>
            </a:r>
          </a:p>
          <a:p>
            <a:pPr marL="742950" lvl="1" indent="-285750" algn="just" eaLnBrk="1" hangingPunct="1">
              <a:spcBef>
                <a:spcPts val="500"/>
              </a:spcBef>
              <a:spcAft>
                <a:spcPts val="5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适用：数组大小、非类型模板实参、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switch 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的 </a:t>
            </a:r>
            <a:r>
              <a:rPr lang="en" altLang="zh-CN" sz="2000" dirty="0">
                <a:latin typeface="宋体" panose="02010600030101010101" pitchFamily="2" charset="-122"/>
                <a:ea typeface="+mn-ea"/>
              </a:rPr>
              <a:t>case 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标签、查表</a:t>
            </a:r>
            <a:r>
              <a:rPr lang="en-US" altLang="zh-CN" sz="2000" dirty="0">
                <a:latin typeface="宋体" panose="02010600030101010101" pitchFamily="2" charset="-122"/>
                <a:ea typeface="+mn-ea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+mn-ea"/>
              </a:rPr>
              <a:t>位运算等</a:t>
            </a:r>
          </a:p>
        </p:txBody>
      </p:sp>
    </p:spTree>
    <p:extLst>
      <p:ext uri="{BB962C8B-B14F-4D97-AF65-F5344CB8AC3E}">
        <p14:creationId xmlns:p14="http://schemas.microsoft.com/office/powerpoint/2010/main" val="75657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en-US" sz="2400" dirty="0" err="1">
                <a:latin typeface="宋体" panose="02010600030101010101" pitchFamily="2" charset="-122"/>
              </a:rPr>
              <a:t>静态成员变量</a:t>
            </a:r>
            <a:endParaRPr lang="en-GB" altLang="en-US" sz="2400" dirty="0"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 dirty="0"/>
              <a:t>	</a:t>
            </a:r>
            <a:r>
              <a:rPr lang="en-US" altLang="zh-CN" sz="1800" i="1" dirty="0"/>
              <a:t>class A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{    int   </a:t>
            </a:r>
            <a:r>
              <a:rPr lang="en-US" altLang="zh-CN" sz="1800" i="1" dirty="0" err="1"/>
              <a:t>x,y</a:t>
            </a:r>
            <a:r>
              <a:rPr lang="en-US" altLang="zh-CN" sz="1800" i="1" dirty="0"/>
              <a:t>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     static int shared;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        .....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};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</a:t>
            </a:r>
            <a:r>
              <a:rPr lang="en-US" altLang="zh-CN" sz="1800" i="1" dirty="0">
                <a:solidFill>
                  <a:srgbClr val="C00000"/>
                </a:solidFill>
              </a:rPr>
              <a:t>int A::shared=0;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    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A a, b;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 i="1" dirty="0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 dirty="0">
                <a:latin typeface="宋体" panose="02010600030101010101" pitchFamily="2" charset="-122"/>
              </a:rPr>
              <a:t>类对象所共享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 dirty="0">
                <a:latin typeface="宋体" panose="02010600030101010101" pitchFamily="2" charset="-122"/>
              </a:rPr>
              <a:t>唯一拷贝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 dirty="0">
                <a:latin typeface="宋体" panose="02010600030101010101" pitchFamily="2" charset="-122"/>
              </a:rPr>
              <a:t>遵循类访问控制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727B93-933C-5FD4-9D79-139F04D9F505}"/>
              </a:ext>
            </a:extLst>
          </p:cNvPr>
          <p:cNvSpPr txBox="1"/>
          <p:nvPr/>
        </p:nvSpPr>
        <p:spPr>
          <a:xfrm>
            <a:off x="4067944" y="3069271"/>
            <a:ext cx="476675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0" lvl="2" indent="-22860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" altLang="zh-CN" sz="1800" i="1" dirty="0">
                <a:latin typeface="+mn-lt"/>
                <a:ea typeface="+mn-ea"/>
              </a:rPr>
              <a:t>inline static int shared</a:t>
            </a:r>
            <a:r>
              <a:rPr lang="en-US" altLang="zh-CN" sz="1800" i="1" dirty="0">
                <a:latin typeface="+mn-lt"/>
                <a:ea typeface="+mn-ea"/>
              </a:rPr>
              <a:t>=0; (C++17)</a:t>
            </a:r>
            <a:r>
              <a:rPr lang="en" altLang="zh-CN" sz="1800" i="1" dirty="0">
                <a:latin typeface="+mn-lt"/>
                <a:ea typeface="+mn-ea"/>
              </a:rPr>
              <a:t> </a:t>
            </a:r>
            <a:endParaRPr lang="zh-CN" altLang="en-US" sz="1800" i="1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zh-CN" altLang="en-US" sz="2400">
                <a:latin typeface="宋体" panose="02010600030101010101" pitchFamily="2" charset="-122"/>
              </a:rPr>
              <a:t>静态成员函数</a:t>
            </a:r>
            <a:endParaRPr lang="zh-CN" altLang="en-US" sz="24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1800" i="1"/>
              <a:t>class A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{    static int shared;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int x;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public: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static void f() { …shared…}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     void q() { …x…shared…}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zh-CN" sz="1800" i="1"/>
              <a:t>	};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sz="2000" i="1"/>
          </a:p>
          <a:p>
            <a:pPr lvl="2" algn="just" eaLnBrk="1" hangingPunct="1"/>
            <a:r>
              <a:rPr lang="en-GB" altLang="en-US" sz="2000" b="1">
                <a:solidFill>
                  <a:srgbClr val="C00000"/>
                </a:solidFill>
                <a:latin typeface="宋体" panose="02010600030101010101" pitchFamily="2" charset="-122"/>
              </a:rPr>
              <a:t>只能存取静态成员变量，调用静态成员函数</a:t>
            </a:r>
          </a:p>
          <a:p>
            <a:pPr lvl="2" algn="just" eaLnBrk="1" hangingPunct="1"/>
            <a:r>
              <a:rPr lang="zh-CN" altLang="en-US" sz="2000">
                <a:latin typeface="宋体" panose="02010600030101010101" pitchFamily="2" charset="-122"/>
              </a:rPr>
              <a:t>遵循类访问控制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静态成员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30687"/>
          </a:xfrm>
        </p:spPr>
        <p:txBody>
          <a:bodyPr/>
          <a:lstStyle/>
          <a:p>
            <a:pPr lvl="1" algn="just" eaLnBrk="1" hangingPunct="1"/>
            <a:r>
              <a:rPr lang="en-GB" altLang="en-US" sz="2400">
                <a:latin typeface="宋体" panose="02010600030101010101" pitchFamily="2" charset="-122"/>
              </a:rPr>
              <a:t>静态成员的使用</a:t>
            </a:r>
            <a:endParaRPr lang="en-GB" altLang="en-US" sz="2400"/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通过对象使用</a:t>
            </a:r>
            <a:endParaRPr lang="en-GB" altLang="en-US" sz="20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/>
              <a:t>	</a:t>
            </a:r>
            <a:r>
              <a:rPr lang="en-GB" altLang="zh-CN" sz="1800" i="1"/>
              <a:t>A a;  a.f();</a:t>
            </a:r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通过类使用</a:t>
            </a:r>
            <a:endParaRPr lang="en-GB" altLang="en-US" sz="200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/>
              <a:t>	</a:t>
            </a:r>
            <a:r>
              <a:rPr lang="en-GB" altLang="zh-CN" sz="1800" i="1"/>
              <a:t>A::f();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zh-CN" sz="18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zh-CN" sz="2400">
                <a:latin typeface="宋体" panose="02010600030101010101" pitchFamily="2" charset="-122"/>
              </a:rPr>
              <a:t>C++</a:t>
            </a:r>
            <a:r>
              <a:rPr lang="zh-CN" altLang="en-US" sz="2400">
                <a:latin typeface="宋体" panose="02010600030101010101" pitchFamily="2" charset="-122"/>
              </a:rPr>
              <a:t>支持观点  “</a:t>
            </a:r>
            <a:r>
              <a:rPr lang="en-GB" altLang="en-US" sz="2400">
                <a:latin typeface="宋体" panose="02010600030101010101" pitchFamily="2" charset="-122"/>
              </a:rPr>
              <a:t>类也是对象</a:t>
            </a:r>
            <a:r>
              <a:rPr lang="zh-CN" altLang="en-US" sz="2400">
                <a:latin typeface="宋体" panose="02010600030101010101" pitchFamily="2" charset="-122"/>
              </a:rPr>
              <a:t>”</a:t>
            </a:r>
            <a:endParaRPr lang="en-GB" altLang="en-US" sz="240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zh-CN" sz="2000"/>
              <a:t>Smalltalk</a:t>
            </a:r>
            <a:endParaRPr lang="en-GB" altLang="en-US" sz="20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panose="02010600030101010101" pitchFamily="2" charset="-122"/>
              </a:rPr>
              <a:t>友元</a:t>
            </a: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类外部不能访问该类的</a:t>
            </a:r>
            <a:r>
              <a:rPr lang="en-US" altLang="zh-CN" sz="2000" i="1"/>
              <a:t>private</a:t>
            </a:r>
            <a:r>
              <a:rPr lang="zh-CN" altLang="en-US" sz="2000"/>
              <a:t>成员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通过该类的</a:t>
            </a:r>
            <a:r>
              <a:rPr lang="en-US" altLang="zh-CN" sz="2000" i="1"/>
              <a:t>public</a:t>
            </a:r>
            <a:r>
              <a:rPr lang="zh-CN" altLang="en-US" sz="2000"/>
              <a:t>方法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/>
              <a:t>会降低对</a:t>
            </a:r>
            <a:r>
              <a:rPr lang="en-US" altLang="zh-CN" sz="2000" i="1"/>
              <a:t>private</a:t>
            </a:r>
            <a:r>
              <a:rPr lang="zh-CN" altLang="en-US" sz="2000"/>
              <a:t>成员的访问效率，缺乏灵活性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/>
          </a:p>
          <a:p>
            <a:pPr lvl="2" eaLnBrk="1" hangingPunct="1"/>
            <a:r>
              <a:rPr lang="zh-CN" altLang="en-US" sz="2000"/>
              <a:t>例：矩阵类(</a:t>
            </a:r>
            <a:r>
              <a:rPr lang="en-US" altLang="zh-CN" sz="2000"/>
              <a:t>Matrix)、</a:t>
            </a:r>
            <a:r>
              <a:rPr lang="zh-CN" altLang="en-US" sz="2000"/>
              <a:t>向量类(</a:t>
            </a:r>
            <a:r>
              <a:rPr lang="en-US" altLang="zh-CN" sz="2000"/>
              <a:t>Vector)</a:t>
            </a:r>
            <a:r>
              <a:rPr lang="zh-CN" altLang="en-US" sz="2000"/>
              <a:t>和全局函数(</a:t>
            </a:r>
            <a:r>
              <a:rPr lang="en-US" altLang="zh-CN" sz="2000"/>
              <a:t>multiply)，</a:t>
            </a:r>
            <a:r>
              <a:rPr lang="zh-CN" altLang="en-US" sz="2000"/>
              <a:t>全局函数实现矩阵和向量相乘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1442" name="Text Box 4"/>
          <p:cNvSpPr txBox="1">
            <a:spLocks noChangeArrowheads="1"/>
          </p:cNvSpPr>
          <p:nvPr/>
        </p:nvSpPr>
        <p:spPr bwMode="auto">
          <a:xfrm>
            <a:off x="4038600" y="1104900"/>
            <a:ext cx="438785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int &amp;element(int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, int j)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{  return *(</a:t>
            </a:r>
            <a:r>
              <a:rPr lang="en-US" altLang="zh-CN" sz="1800" i="1" dirty="0" err="1"/>
              <a:t>p_data+i</a:t>
            </a:r>
            <a:r>
              <a:rPr lang="en-US" altLang="zh-CN" sz="1800" i="1" dirty="0"/>
              <a:t>*</a:t>
            </a:r>
            <a:r>
              <a:rPr lang="en-US" altLang="zh-CN" sz="1800" i="1" dirty="0" err="1"/>
              <a:t>col+j</a:t>
            </a:r>
            <a:r>
              <a:rPr lang="en-US" altLang="zh-CN" sz="1800" i="1" dirty="0"/>
              <a:t>);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void dimension(int &amp;l, int &amp;c)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{   l = </a:t>
            </a:r>
            <a:r>
              <a:rPr lang="en-US" altLang="zh-CN" sz="1800" i="1" dirty="0" err="1"/>
              <a:t>lin</a:t>
            </a:r>
            <a:r>
              <a:rPr lang="en-US" altLang="zh-CN" sz="1800" i="1" dirty="0"/>
              <a:t>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c = 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void display()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{   int *p=</a:t>
            </a:r>
            <a:r>
              <a:rPr lang="en-US" altLang="zh-CN" sz="1800" i="1" dirty="0" err="1"/>
              <a:t>p_data</a:t>
            </a:r>
            <a:r>
              <a:rPr lang="en-US" altLang="zh-CN" sz="1800" i="1" dirty="0"/>
              <a:t>; 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for (int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=0;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&lt;</a:t>
            </a:r>
            <a:r>
              <a:rPr lang="en-US" altLang="zh-CN" sz="1800" i="1" dirty="0" err="1"/>
              <a:t>lin</a:t>
            </a:r>
            <a:r>
              <a:rPr lang="en-US" altLang="zh-CN" sz="1800" i="1" dirty="0"/>
              <a:t>; </a:t>
            </a:r>
            <a:r>
              <a:rPr lang="en-US" altLang="zh-CN" sz="1800" i="1" dirty="0" err="1"/>
              <a:t>i</a:t>
            </a:r>
            <a:r>
              <a:rPr lang="en-US" altLang="zh-CN" sz="1800" i="1" dirty="0"/>
              <a:t>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{   for (int j=0; j&lt;col; </a:t>
            </a:r>
            <a:r>
              <a:rPr lang="en-US" altLang="zh-CN" sz="1800" i="1" dirty="0" err="1"/>
              <a:t>j++</a:t>
            </a:r>
            <a:r>
              <a:rPr lang="en-US" altLang="zh-CN" sz="1800" i="1" dirty="0"/>
              <a:t>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{  </a:t>
            </a:r>
            <a:r>
              <a:rPr lang="en-US" altLang="zh-CN" sz="1800" i="1" dirty="0" err="1"/>
              <a:t>cout</a:t>
            </a:r>
            <a:r>
              <a:rPr lang="en-US" altLang="zh-CN" sz="1800" i="1" dirty="0"/>
              <a:t> &lt;&lt; *p &lt;&lt; ' ';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   p++;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    </a:t>
            </a:r>
            <a:r>
              <a:rPr lang="en-US" altLang="zh-CN" sz="1800" i="1" dirty="0" err="1"/>
              <a:t>cout</a:t>
            </a:r>
            <a:r>
              <a:rPr lang="en-US" altLang="zh-CN" sz="1800" i="1" dirty="0"/>
              <a:t> &lt;&lt; </a:t>
            </a:r>
            <a:r>
              <a:rPr lang="en-US" altLang="zh-CN" sz="1800" i="1" dirty="0" err="1"/>
              <a:t>endl</a:t>
            </a:r>
            <a:r>
              <a:rPr lang="en-US" altLang="zh-CN" sz="1800" i="1" dirty="0"/>
              <a:t>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/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-304800" y="2362200"/>
            <a:ext cx="502920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Matrix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   int  *p_data;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int   lin,col;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public: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Matrix(int l, int c) 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  lin = 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col = c;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p_data = new int[lin*col];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~Matrix()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delete []p_data;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2466" name="Text Box 4"/>
          <p:cNvSpPr txBox="1">
            <a:spLocks noChangeArrowheads="1"/>
          </p:cNvSpPr>
          <p:nvPr/>
        </p:nvSpPr>
        <p:spPr bwMode="auto">
          <a:xfrm>
            <a:off x="-381000" y="2341563"/>
            <a:ext cx="4089400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Vector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 int  *p_data;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int   num;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public: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Vector(int n)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{ num = n;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p_data = new int[num];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~Vector()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{  delete []p_data;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</a:p>
        </p:txBody>
      </p:sp>
      <p:sp>
        <p:nvSpPr>
          <p:cNvPr id="62467" name="Text Box 5"/>
          <p:cNvSpPr txBox="1">
            <a:spLocks noChangeArrowheads="1"/>
          </p:cNvSpPr>
          <p:nvPr/>
        </p:nvSpPr>
        <p:spPr bwMode="auto">
          <a:xfrm>
            <a:off x="3505200" y="2051050"/>
            <a:ext cx="4579938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int &amp;element(int i)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return p_data[i];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void dimension(int &amp;n)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{ n = num;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void display()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{  int *p=p_data;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for (int i=0; i&lt;num; i++,p++)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cout &lt;&lt; *p &lt;&lt; ' ';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cout &lt;&lt; endl;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 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3490" name="Text Box 4"/>
          <p:cNvSpPr txBox="1">
            <a:spLocks noChangeArrowheads="1"/>
          </p:cNvSpPr>
          <p:nvPr/>
        </p:nvSpPr>
        <p:spPr bwMode="auto">
          <a:xfrm>
            <a:off x="990600" y="1860550"/>
            <a:ext cx="5821363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void   multiply(Matrix &amp;m, Vector &amp;v, Vector &amp;r)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   int  lin,  col;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m.dimension(lin,col);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for (int i=0; i&lt;lin; i++)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{   </a:t>
            </a:r>
            <a:r>
              <a:rPr lang="en-US" altLang="zh-CN" sz="1600" i="1" u="sng">
                <a:solidFill>
                  <a:schemeClr val="hlink"/>
                </a:solidFill>
              </a:rPr>
              <a:t>r.element(i)</a:t>
            </a:r>
            <a:r>
              <a:rPr lang="en-US" altLang="zh-CN" sz="1600" i="1"/>
              <a:t> = 0;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  for (int j=0; j&lt;col; j++)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       </a:t>
            </a:r>
            <a:r>
              <a:rPr lang="en-US" altLang="zh-CN" sz="1600" i="1" u="sng">
                <a:solidFill>
                  <a:schemeClr val="hlink"/>
                </a:solidFill>
              </a:rPr>
              <a:t>r.element(i)</a:t>
            </a:r>
            <a:r>
              <a:rPr lang="en-US" altLang="zh-CN" sz="1600" i="1"/>
              <a:t> += </a:t>
            </a:r>
            <a:r>
              <a:rPr lang="en-US" altLang="zh-CN" sz="1600" i="1" u="sng">
                <a:solidFill>
                  <a:schemeClr val="hlink"/>
                </a:solidFill>
              </a:rPr>
              <a:t>m.element(i,j)</a:t>
            </a:r>
            <a:r>
              <a:rPr lang="en-US" altLang="zh-CN" sz="1600" i="1" u="sng"/>
              <a:t>*</a:t>
            </a:r>
            <a:r>
              <a:rPr lang="en-US" altLang="zh-CN" sz="1600" i="1" u="sng">
                <a:solidFill>
                  <a:schemeClr val="hlink"/>
                </a:solidFill>
              </a:rPr>
              <a:t>v.element(j)</a:t>
            </a:r>
            <a:r>
              <a:rPr lang="en-US" altLang="zh-CN" sz="1600" i="1" u="sng"/>
              <a:t>;</a:t>
            </a:r>
            <a:endParaRPr lang="en-US" altLang="zh-CN" sz="16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}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/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void main()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{    Matrix m(10,5);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Vector v(5);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Vector r(10);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......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multiply(m,v,r);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m.display();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v.display();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    r.display();</a:t>
            </a:r>
          </a:p>
          <a:p>
            <a:pPr lvl="2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分类</a:t>
            </a:r>
            <a:endParaRPr lang="en-US" altLang="zh-CN" sz="2400"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友元函数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友元类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友元类成员函数</a:t>
            </a:r>
          </a:p>
          <a:p>
            <a:pPr lvl="2" algn="just" eaLnBrk="1" hangingPunct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作用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提高程序设计灵活性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数据保护和对数据的存取效率之间的一个折中方案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void func() 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B;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{  …….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 void f();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};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class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     {   	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 </a:t>
            </a:r>
            <a:r>
              <a:rPr lang="en-GB" altLang="zh-CN" sz="1800" i="1"/>
              <a:t>void func(); 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 </a:t>
            </a:r>
            <a:r>
              <a:rPr lang="en-GB" altLang="zh-CN" sz="1800" i="1"/>
              <a:t>class B; 	 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友元类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800" i="1"/>
              <a:t>		</a:t>
            </a:r>
            <a:r>
              <a:rPr lang="en-GB" altLang="zh-CN" sz="1800" i="1">
                <a:solidFill>
                  <a:srgbClr val="0070C0"/>
                </a:solidFill>
              </a:rPr>
              <a:t>friend</a:t>
            </a:r>
            <a:r>
              <a:rPr lang="en-GB" altLang="zh-CN" sz="1800" i="1"/>
              <a:t> void C::f(); 	</a:t>
            </a:r>
            <a:r>
              <a:rPr lang="en-GB" altLang="zh-CN" sz="1800" b="1" i="1">
                <a:solidFill>
                  <a:srgbClr val="006600"/>
                </a:solidFill>
              </a:rPr>
              <a:t>//</a:t>
            </a:r>
            <a:r>
              <a:rPr lang="en-GB" altLang="en-US" sz="1800" b="1" i="1">
                <a:solidFill>
                  <a:srgbClr val="006600"/>
                </a:solidFill>
              </a:rPr>
              <a:t>友元类成员函数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i="1"/>
              <a:t>	};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友元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class Matrix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{    ......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		     friend void multiply(Matrix &amp;m, Vector &amp;v, Vector &amp;r);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		};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class Vector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{    ......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	            friend void multiply(Matrix &amp;m, Vector &amp;v, Vector &amp;r);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1800" i="1" dirty="0"/>
              <a:t>             };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1800" i="1" dirty="0"/>
          </a:p>
          <a:p>
            <a:pPr lvl="1" eaLnBrk="1" hangingPunct="1"/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友元不具有传递性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能编译吗？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原则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避免将</a:t>
            </a:r>
            <a:r>
              <a:rPr lang="en-US" altLang="zh-CN" sz="2400"/>
              <a:t>data member</a:t>
            </a:r>
            <a:r>
              <a:rPr lang="zh-CN" altLang="en-US" sz="2400"/>
              <a:t>放在公开接口中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努力让接口完满 (</a:t>
            </a:r>
            <a:r>
              <a:rPr lang="en-US" altLang="zh-CN" sz="2400"/>
              <a:t>complete) </a:t>
            </a:r>
            <a:r>
              <a:rPr lang="zh-CN" altLang="en-US" sz="2400"/>
              <a:t>且最小化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3571875" y="2362200"/>
            <a:ext cx="534352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class AccessLevels {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public: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get</a:t>
            </a:r>
            <a:r>
              <a:rPr lang="en-US" altLang="zh-CN" sz="1600" b="1" i="1">
                <a:solidFill>
                  <a:srgbClr val="FF0000"/>
                </a:solidFill>
              </a:rPr>
              <a:t>ReadOnly </a:t>
            </a:r>
            <a:r>
              <a:rPr lang="en-US" altLang="zh-CN" sz="1600" i="1"/>
              <a:t>const { return readOnly;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void set</a:t>
            </a:r>
            <a:r>
              <a:rPr lang="en-US" altLang="zh-CN" sz="1600" b="1" i="1">
                <a:solidFill>
                  <a:srgbClr val="006600"/>
                </a:solidFill>
              </a:rPr>
              <a:t>ReadWrite</a:t>
            </a:r>
            <a:r>
              <a:rPr lang="en-US" altLang="zh-CN" sz="1600" i="1">
                <a:solidFill>
                  <a:srgbClr val="FF0000"/>
                </a:solidFill>
              </a:rPr>
              <a:t>(</a:t>
            </a:r>
            <a:r>
              <a:rPr lang="en-US" altLang="zh-CN" sz="1600" i="1"/>
              <a:t>int value) { readWrite = value;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get</a:t>
            </a:r>
            <a:r>
              <a:rPr lang="en-US" altLang="zh-CN" sz="1600" b="1" i="1">
                <a:solidFill>
                  <a:srgbClr val="006600"/>
                </a:solidFill>
              </a:rPr>
              <a:t>ReadWrite</a:t>
            </a:r>
            <a:r>
              <a:rPr lang="en-US" altLang="zh-CN" sz="1600" i="1"/>
              <a:t>() { return readWrite;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void set</a:t>
            </a:r>
            <a:r>
              <a:rPr lang="en-US" altLang="zh-CN" sz="1600" b="1" i="1">
                <a:solidFill>
                  <a:srgbClr val="FF0000"/>
                </a:solidFill>
              </a:rPr>
              <a:t>WriteOnly</a:t>
            </a:r>
            <a:r>
              <a:rPr lang="en-US" altLang="zh-CN" sz="1600" i="1"/>
              <a:t>(int value) { writeOnly = value; }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private: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noAccess;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readOnly;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readWrite;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   int writeOnly;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i="1"/>
              <a:t>};</a:t>
            </a:r>
            <a:endParaRPr lang="zh-CN" altLang="en-US" sz="1600" i="1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31813" y="2803525"/>
          <a:ext cx="2552700" cy="1463675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3675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            Get</a:t>
                      </a:r>
                      <a:r>
                        <a:rPr lang="en-US" altLang="zh-CN" sz="1800" baseline="0" dirty="0"/>
                        <a:t>          Set</a:t>
                      </a:r>
                    </a:p>
                    <a:p>
                      <a:r>
                        <a:rPr lang="en-US" altLang="zh-CN" sz="1800" baseline="0" dirty="0"/>
                        <a:t>R             </a:t>
                      </a:r>
                      <a:r>
                        <a:rPr lang="en-US" altLang="zh-CN" sz="1800" b="1" baseline="0" dirty="0">
                          <a:solidFill>
                            <a:srgbClr val="006600"/>
                          </a:solidFill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W                 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RW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r>
                        <a:rPr lang="en-US" altLang="zh-CN" sz="1800" baseline="0" dirty="0"/>
                        <a:t>            </a:t>
                      </a:r>
                      <a:r>
                        <a:rPr lang="en-US" altLang="zh-CN" sz="1800" b="1" kern="1200" baseline="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r>
                        <a:rPr lang="en-US" altLang="zh-CN" sz="1800" baseline="0" dirty="0"/>
                        <a:t>NONE</a:t>
                      </a:r>
                      <a:endParaRPr lang="zh-CN" altLang="en-US" sz="1800" dirty="0"/>
                    </a:p>
                  </a:txBody>
                  <a:tcPr marL="91455" marR="91455" marT="45740" marB="4574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 rot="-491613">
            <a:off x="5507038" y="908050"/>
            <a:ext cx="264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b="1">
                <a:solidFill>
                  <a:srgbClr val="002060"/>
                </a:solidFill>
              </a:rPr>
              <a:t>Law of Demeter</a:t>
            </a:r>
            <a:endParaRPr lang="zh-CN" altLang="en-US" sz="24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0" grpId="0" autoUpdateAnimBg="0"/>
      <p:bldP spid="6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继承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400">
                <a:latin typeface="宋体" panose="02010600030101010101" pitchFamily="2" charset="-122"/>
              </a:rPr>
              <a:t>继承</a:t>
            </a:r>
            <a:r>
              <a:rPr lang="zh-CN" altLang="en-GB" sz="2400">
                <a:latin typeface="宋体" panose="02010600030101010101" pitchFamily="2" charset="-122"/>
              </a:rPr>
              <a:t>机制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基于</a:t>
            </a:r>
            <a:r>
              <a:rPr lang="en-GB" altLang="en-US" sz="2000" b="1">
                <a:latin typeface="宋体" panose="02010600030101010101" pitchFamily="2" charset="-122"/>
              </a:rPr>
              <a:t>目标代码</a:t>
            </a:r>
            <a:r>
              <a:rPr lang="en-GB" altLang="en-US" sz="2000">
                <a:latin typeface="宋体" panose="02010600030101010101" pitchFamily="2" charset="-122"/>
              </a:rPr>
              <a:t>的复用</a:t>
            </a:r>
            <a:endParaRPr lang="zh-CN" altLang="en-US" sz="2000"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0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对事物进行分类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1800">
                <a:latin typeface="宋体" panose="02010600030101010101" pitchFamily="2" charset="-122"/>
              </a:rPr>
              <a:t>派生类是基类的具体化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1800">
                <a:latin typeface="宋体" panose="02010600030101010101" pitchFamily="2" charset="-122"/>
              </a:rPr>
              <a:t>把事物（概念）以层次结构表示出来，有利于描述和解决问题</a:t>
            </a:r>
          </a:p>
          <a:p>
            <a:pPr lvl="2" algn="just" eaLnBrk="1" hangingPunct="1">
              <a:lnSpc>
                <a:spcPct val="90000"/>
              </a:lnSpc>
            </a:pPr>
            <a:endParaRPr lang="en-GB" altLang="zh-CN" sz="18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200">
                <a:latin typeface="宋体" panose="02010600030101010101" pitchFamily="2" charset="-122"/>
              </a:rPr>
              <a:t>增量开发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单继承</a:t>
            </a:r>
          </a:p>
        </p:txBody>
      </p:sp>
      <p:sp>
        <p:nvSpPr>
          <p:cNvPr id="70658" name="TextBox 6"/>
          <p:cNvSpPr txBox="1">
            <a:spLocks noChangeArrowheads="1"/>
          </p:cNvSpPr>
          <p:nvPr/>
        </p:nvSpPr>
        <p:spPr bwMode="auto">
          <a:xfrm>
            <a:off x="323850" y="1916113"/>
            <a:ext cx="485933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class Student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{       </a:t>
            </a:r>
            <a:r>
              <a:rPr lang="en-US" altLang="zh-CN" sz="1600" i="1" dirty="0" err="1">
                <a:solidFill>
                  <a:srgbClr val="002060"/>
                </a:solidFill>
              </a:rPr>
              <a:t>int</a:t>
            </a:r>
            <a:r>
              <a:rPr lang="en-US" altLang="zh-CN" sz="1600" i="1" dirty="0">
                <a:solidFill>
                  <a:srgbClr val="002060"/>
                </a:solidFill>
              </a:rPr>
              <a:t> id;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     char nickname[16];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     void </a:t>
            </a:r>
            <a:r>
              <a:rPr lang="en-US" altLang="zh-CN" sz="1600" i="1" dirty="0" err="1">
                <a:solidFill>
                  <a:srgbClr val="002060"/>
                </a:solidFill>
              </a:rPr>
              <a:t>set_ID</a:t>
            </a:r>
            <a:r>
              <a:rPr lang="en-US" altLang="zh-CN" sz="1600" i="1" dirty="0">
                <a:solidFill>
                  <a:srgbClr val="002060"/>
                </a:solidFill>
              </a:rPr>
              <a:t>(</a:t>
            </a:r>
            <a:r>
              <a:rPr lang="en-US" altLang="zh-CN" sz="1600" i="1" dirty="0" err="1">
                <a:solidFill>
                  <a:srgbClr val="002060"/>
                </a:solidFill>
              </a:rPr>
              <a:t>int</a:t>
            </a:r>
            <a:r>
              <a:rPr lang="en-US" altLang="zh-CN" sz="1600" i="1" dirty="0">
                <a:solidFill>
                  <a:srgbClr val="002060"/>
                </a:solidFill>
              </a:rPr>
              <a:t> x)  </a:t>
            </a:r>
            <a:r>
              <a:rPr lang="en-US" altLang="zh-CN" sz="1200" i="1" dirty="0">
                <a:solidFill>
                  <a:srgbClr val="002060"/>
                </a:solidFill>
              </a:rPr>
              <a:t>{ id = x;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     void </a:t>
            </a:r>
            <a:r>
              <a:rPr lang="en-US" altLang="zh-CN" sz="1600" i="1" dirty="0" err="1">
                <a:solidFill>
                  <a:srgbClr val="002060"/>
                </a:solidFill>
              </a:rPr>
              <a:t>SetNickName</a:t>
            </a:r>
            <a:r>
              <a:rPr lang="en-US" altLang="zh-CN" sz="1600" i="1" dirty="0">
                <a:solidFill>
                  <a:srgbClr val="002060"/>
                </a:solidFill>
              </a:rPr>
              <a:t>(char *s) </a:t>
            </a:r>
            <a:r>
              <a:rPr lang="en-US" altLang="zh-CN" sz="1200" i="1" dirty="0">
                <a:solidFill>
                  <a:srgbClr val="002060"/>
                </a:solidFill>
              </a:rPr>
              <a:t>{ </a:t>
            </a:r>
            <a:r>
              <a:rPr lang="en-US" altLang="zh-CN" sz="1200" i="1" dirty="0" err="1">
                <a:solidFill>
                  <a:srgbClr val="002060"/>
                </a:solidFill>
              </a:rPr>
              <a:t>strcpy</a:t>
            </a:r>
            <a:r>
              <a:rPr lang="en-US" altLang="zh-CN" sz="1200" i="1" dirty="0">
                <a:solidFill>
                  <a:srgbClr val="002060"/>
                </a:solidFill>
              </a:rPr>
              <a:t>(</a:t>
            </a:r>
            <a:r>
              <a:rPr lang="en-US" altLang="zh-CN" sz="1200" i="1" dirty="0" err="1">
                <a:solidFill>
                  <a:srgbClr val="002060"/>
                </a:solidFill>
              </a:rPr>
              <a:t>nickname,s</a:t>
            </a:r>
            <a:r>
              <a:rPr lang="en-US" altLang="zh-CN" sz="1200" i="1" dirty="0">
                <a:solidFill>
                  <a:srgbClr val="002060"/>
                </a:solidFill>
              </a:rPr>
              <a:t>);}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     void </a:t>
            </a:r>
            <a:r>
              <a:rPr lang="en-US" altLang="zh-CN" sz="1600" i="1" dirty="0" err="1">
                <a:solidFill>
                  <a:srgbClr val="002060"/>
                </a:solidFill>
              </a:rPr>
              <a:t>showInfo</a:t>
            </a:r>
            <a:r>
              <a:rPr lang="en-US" altLang="zh-CN" sz="1600" i="1" dirty="0">
                <a:solidFill>
                  <a:srgbClr val="002060"/>
                </a:solidFill>
              </a:rPr>
              <a:t>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         </a:t>
            </a:r>
            <a:r>
              <a:rPr lang="en-US" altLang="zh-CN" sz="1200" i="1" dirty="0">
                <a:solidFill>
                  <a:srgbClr val="002060"/>
                </a:solidFill>
              </a:rPr>
              <a:t>{ </a:t>
            </a:r>
            <a:r>
              <a:rPr lang="en-US" altLang="zh-CN" sz="1200" i="1" dirty="0" err="1">
                <a:solidFill>
                  <a:srgbClr val="002060"/>
                </a:solidFill>
              </a:rPr>
              <a:t>cout</a:t>
            </a:r>
            <a:r>
              <a:rPr lang="en-US" altLang="zh-CN" sz="1200" i="1" dirty="0">
                <a:solidFill>
                  <a:srgbClr val="002060"/>
                </a:solidFill>
              </a:rPr>
              <a:t> &lt;&lt; nickname &lt;&lt; “ : “ &lt;&lt; id &lt;&lt;</a:t>
            </a:r>
            <a:r>
              <a:rPr lang="en-US" altLang="zh-CN" sz="1200" i="1" dirty="0" err="1">
                <a:solidFill>
                  <a:srgbClr val="002060"/>
                </a:solidFill>
              </a:rPr>
              <a:t>endl</a:t>
            </a:r>
            <a:r>
              <a:rPr lang="en-US" altLang="zh-CN" sz="1200" i="1" dirty="0">
                <a:solidFill>
                  <a:srgbClr val="002060"/>
                </a:solidFill>
              </a:rPr>
              <a:t>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002060"/>
                </a:solidFill>
              </a:rPr>
              <a:t>};</a:t>
            </a:r>
            <a:endParaRPr lang="zh-CN" altLang="en-US" sz="1600" i="1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7813" y="4076700"/>
            <a:ext cx="4538662" cy="280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class </a:t>
            </a:r>
            <a:r>
              <a:rPr lang="en-US" altLang="zh-CN" sz="1600" i="1" dirty="0" err="1">
                <a:solidFill>
                  <a:srgbClr val="002060"/>
                </a:solidFill>
              </a:rPr>
              <a:t>Undergraduate_Student</a:t>
            </a:r>
            <a:r>
              <a:rPr lang="en-US" altLang="zh-CN" sz="1600" i="1" dirty="0">
                <a:solidFill>
                  <a:srgbClr val="002060"/>
                </a:solidFill>
              </a:rPr>
              <a:t> </a:t>
            </a:r>
            <a:r>
              <a:rPr lang="en-US" altLang="zh-CN" sz="1600" b="1" i="1" dirty="0">
                <a:solidFill>
                  <a:schemeClr val="accent5">
                    <a:lumMod val="25000"/>
                  </a:schemeClr>
                </a:solidFill>
              </a:rPr>
              <a:t>: public </a:t>
            </a:r>
            <a:r>
              <a:rPr lang="en-US" altLang="zh-CN" sz="1600" i="1" dirty="0">
                <a:solidFill>
                  <a:srgbClr val="002060"/>
                </a:solidFill>
              </a:rPr>
              <a:t>Student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{       </a:t>
            </a:r>
            <a:r>
              <a:rPr lang="en-US" altLang="zh-CN" sz="1600" i="1" dirty="0" err="1">
                <a:solidFill>
                  <a:srgbClr val="002060"/>
                </a:solidFill>
              </a:rPr>
              <a:t>int</a:t>
            </a:r>
            <a:r>
              <a:rPr lang="en-US" altLang="zh-CN" sz="1600" i="1" dirty="0">
                <a:solidFill>
                  <a:srgbClr val="002060"/>
                </a:solidFill>
              </a:rPr>
              <a:t> </a:t>
            </a:r>
            <a:r>
              <a:rPr lang="en-US" altLang="zh-CN" sz="1600" i="1" dirty="0" err="1">
                <a:solidFill>
                  <a:srgbClr val="002060"/>
                </a:solidFill>
              </a:rPr>
              <a:t>dept_no</a:t>
            </a:r>
            <a:r>
              <a:rPr lang="en-US" altLang="zh-CN" sz="1600" i="1" dirty="0">
                <a:solidFill>
                  <a:srgbClr val="002060"/>
                </a:solidFill>
              </a:rPr>
              <a:t>;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    public: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         void </a:t>
            </a:r>
            <a:r>
              <a:rPr lang="en-US" altLang="zh-CN" sz="1600" i="1" dirty="0" err="1">
                <a:solidFill>
                  <a:srgbClr val="002060"/>
                </a:solidFill>
              </a:rPr>
              <a:t>setDeptNo</a:t>
            </a:r>
            <a:r>
              <a:rPr lang="en-US" altLang="zh-CN" sz="1600" i="1" dirty="0">
                <a:solidFill>
                  <a:srgbClr val="002060"/>
                </a:solidFill>
              </a:rPr>
              <a:t>(int x) </a:t>
            </a:r>
            <a:r>
              <a:rPr lang="en-US" altLang="zh-CN" sz="1200" i="1" dirty="0">
                <a:solidFill>
                  <a:srgbClr val="002060"/>
                </a:solidFill>
              </a:rPr>
              <a:t>{ </a:t>
            </a:r>
            <a:r>
              <a:rPr lang="en-US" altLang="zh-CN" sz="1200" i="1" dirty="0" err="1">
                <a:solidFill>
                  <a:srgbClr val="002060"/>
                </a:solidFill>
              </a:rPr>
              <a:t>dept_no</a:t>
            </a:r>
            <a:r>
              <a:rPr lang="en-US" altLang="zh-CN" sz="1200" i="1" dirty="0">
                <a:solidFill>
                  <a:srgbClr val="002060"/>
                </a:solidFill>
              </a:rPr>
              <a:t> = x; }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         </a:t>
            </a:r>
          </a:p>
          <a:p>
            <a:pPr eaLnBrk="1" hangingPunct="1">
              <a:defRPr/>
            </a:pP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};</a:t>
            </a:r>
            <a:endParaRPr lang="zh-CN" altLang="en-US" sz="1600" i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763713" y="5805488"/>
            <a:ext cx="2159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C00000"/>
                </a:solidFill>
              </a:rPr>
              <a:t>private: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C00000"/>
                </a:solidFill>
              </a:rPr>
              <a:t>   Student::nickname;</a:t>
            </a:r>
            <a:endParaRPr lang="zh-CN" altLang="en-US" sz="1600" i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954213" y="6259513"/>
            <a:ext cx="2109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C00000"/>
                </a:solidFill>
              </a:rPr>
              <a:t>void </a:t>
            </a:r>
            <a:r>
              <a:rPr lang="en-US" altLang="zh-CN" sz="1600" i="1" dirty="0" err="1">
                <a:solidFill>
                  <a:srgbClr val="C00000"/>
                </a:solidFill>
              </a:rPr>
              <a:t>SetNickName</a:t>
            </a:r>
            <a:r>
              <a:rPr lang="en-US" altLang="zh-CN" sz="1600" i="1" dirty="0">
                <a:solidFill>
                  <a:srgbClr val="C00000"/>
                </a:solidFill>
              </a:rPr>
              <a:t> ();</a:t>
            </a:r>
            <a:endParaRPr lang="zh-CN" altLang="en-US" sz="1600" i="1" dirty="0">
              <a:solidFill>
                <a:srgbClr val="C00000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10538"/>
              </p:ext>
            </p:extLst>
          </p:nvPr>
        </p:nvGraphicFramePr>
        <p:xfrm>
          <a:off x="6804025" y="2708275"/>
          <a:ext cx="1512888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id</a:t>
                      </a:r>
                      <a:endParaRPr lang="zh-CN" altLang="en-US" sz="1800" dirty="0"/>
                    </a:p>
                  </a:txBody>
                  <a:tcPr marL="91484" marR="91484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nickname</a:t>
                      </a:r>
                      <a:endParaRPr lang="zh-CN" altLang="en-US" sz="1800" dirty="0"/>
                    </a:p>
                  </a:txBody>
                  <a:tcPr marL="91484" marR="91484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dept_no</a:t>
                      </a:r>
                      <a:endParaRPr lang="zh-CN" altLang="en-US" sz="1800" dirty="0"/>
                    </a:p>
                  </a:txBody>
                  <a:tcPr marL="91484" marR="91484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4075" y="5300663"/>
            <a:ext cx="491013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5">
                    <a:lumMod val="25000"/>
                  </a:schemeClr>
                </a:solidFill>
              </a:rPr>
              <a:t>void </a:t>
            </a:r>
            <a:r>
              <a:rPr lang="en-US" altLang="zh-CN" sz="1600" i="1" dirty="0" err="1">
                <a:solidFill>
                  <a:schemeClr val="accent5">
                    <a:lumMod val="25000"/>
                  </a:schemeClr>
                </a:solidFill>
              </a:rPr>
              <a:t>showInfo</a:t>
            </a:r>
            <a:r>
              <a:rPr lang="en-US" altLang="zh-CN" sz="1600" i="1" dirty="0">
                <a:solidFill>
                  <a:schemeClr val="accent5">
                    <a:lumMod val="25000"/>
                  </a:schemeClr>
                </a:solidFill>
              </a:rPr>
              <a:t>()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5">
                    <a:lumMod val="25000"/>
                  </a:schemeClr>
                </a:solidFill>
              </a:rPr>
              <a:t> </a:t>
            </a:r>
            <a:r>
              <a:rPr lang="en-US" altLang="zh-CN" sz="1200" i="1" dirty="0">
                <a:solidFill>
                  <a:schemeClr val="accent5">
                    <a:lumMod val="25000"/>
                  </a:schemeClr>
                </a:solidFill>
              </a:rPr>
              <a:t>{ </a:t>
            </a:r>
            <a:r>
              <a:rPr lang="en-US" altLang="zh-CN" sz="1200" i="1" dirty="0" err="1">
                <a:solidFill>
                  <a:schemeClr val="accent5">
                    <a:lumMod val="25000"/>
                  </a:schemeClr>
                </a:solidFill>
              </a:rPr>
              <a:t>cout</a:t>
            </a:r>
            <a:r>
              <a:rPr lang="en-US" altLang="zh-CN" sz="1200" i="1" dirty="0">
                <a:solidFill>
                  <a:schemeClr val="accent5">
                    <a:lumMod val="25000"/>
                  </a:schemeClr>
                </a:solidFill>
              </a:rPr>
              <a:t> &lt;&lt; </a:t>
            </a:r>
            <a:r>
              <a:rPr lang="en-US" altLang="zh-CN" sz="1200" i="1" dirty="0" err="1">
                <a:solidFill>
                  <a:schemeClr val="accent5">
                    <a:lumMod val="25000"/>
                  </a:schemeClr>
                </a:solidFill>
              </a:rPr>
              <a:t>dept_no</a:t>
            </a:r>
            <a:r>
              <a:rPr lang="en-US" altLang="zh-CN" sz="1200" i="1" dirty="0">
                <a:solidFill>
                  <a:schemeClr val="accent5">
                    <a:lumMod val="25000"/>
                  </a:schemeClr>
                </a:solidFill>
              </a:rPr>
              <a:t> &lt;&lt; “: “&lt;&lt; nickname &lt;&lt;</a:t>
            </a:r>
            <a:r>
              <a:rPr lang="en-US" altLang="zh-CN" sz="1200" i="1" dirty="0" err="1">
                <a:solidFill>
                  <a:schemeClr val="accent5">
                    <a:lumMod val="25000"/>
                  </a:schemeClr>
                </a:solidFill>
              </a:rPr>
              <a:t>endl</a:t>
            </a:r>
            <a:r>
              <a:rPr lang="en-US" altLang="zh-CN" sz="1200" i="1" dirty="0">
                <a:solidFill>
                  <a:schemeClr val="accent5">
                    <a:lumMod val="25000"/>
                  </a:schemeClr>
                </a:solidFill>
              </a:rPr>
              <a:t>; }</a:t>
            </a:r>
          </a:p>
          <a:p>
            <a:pPr eaLnBrk="1" hangingPunct="1">
              <a:defRPr/>
            </a:pPr>
            <a:endParaRPr lang="zh-CN" altLang="en-US" sz="1600" i="1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106613" y="5084763"/>
            <a:ext cx="34020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rgbClr val="C00000"/>
                </a:solidFill>
              </a:rPr>
              <a:t>void </a:t>
            </a:r>
            <a:r>
              <a:rPr lang="en-US" altLang="zh-CN" sz="1600" i="1" dirty="0" err="1">
                <a:solidFill>
                  <a:srgbClr val="C00000"/>
                </a:solidFill>
              </a:rPr>
              <a:t>set_ID</a:t>
            </a:r>
            <a:r>
              <a:rPr lang="en-US" altLang="zh-CN" sz="1600" i="1" dirty="0">
                <a:solidFill>
                  <a:srgbClr val="C00000"/>
                </a:solidFill>
              </a:rPr>
              <a:t>(</a:t>
            </a:r>
            <a:r>
              <a:rPr lang="en-US" altLang="zh-CN" sz="1600" i="1" dirty="0" err="1">
                <a:solidFill>
                  <a:srgbClr val="C00000"/>
                </a:solidFill>
              </a:rPr>
              <a:t>int</a:t>
            </a:r>
            <a:r>
              <a:rPr lang="en-US" altLang="zh-CN" sz="1600" i="1" dirty="0">
                <a:solidFill>
                  <a:srgbClr val="C00000"/>
                </a:solidFill>
              </a:rPr>
              <a:t> x) </a:t>
            </a:r>
            <a:r>
              <a:rPr lang="en-US" altLang="zh-CN" sz="1200" i="1" dirty="0">
                <a:solidFill>
                  <a:srgbClr val="C00000"/>
                </a:solidFill>
              </a:rPr>
              <a:t>{……}</a:t>
            </a:r>
            <a:endParaRPr lang="zh-CN" altLang="en-US" sz="1200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950" y="3357563"/>
            <a:ext cx="8636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600" b="1" i="1" dirty="0">
                <a:solidFill>
                  <a:schemeClr val="accent5">
                    <a:lumMod val="25000"/>
                  </a:schemeClr>
                </a:solidFill>
              </a:rPr>
              <a:t>virtual</a:t>
            </a:r>
            <a:r>
              <a:rPr lang="en-US" altLang="zh-CN" sz="1600" dirty="0">
                <a:solidFill>
                  <a:schemeClr val="accent5">
                    <a:lumMod val="25000"/>
                  </a:schemeClr>
                </a:solidFill>
              </a:rPr>
              <a:t> </a:t>
            </a:r>
            <a:endParaRPr lang="zh-CN" altLang="en-US" sz="1600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465763" y="4513263"/>
            <a:ext cx="335438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000" dirty="0">
                <a:latin typeface="宋体" panose="02010600030101010101" pitchFamily="2" charset="-122"/>
              </a:rPr>
              <a:t>继承方式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1" dirty="0">
                <a:solidFill>
                  <a:srgbClr val="006600"/>
                </a:solidFill>
              </a:rPr>
              <a:t>p</a:t>
            </a:r>
            <a:r>
              <a:rPr lang="en-GB" altLang="zh-CN" sz="2000" b="1" i="1" dirty="0" err="1">
                <a:solidFill>
                  <a:srgbClr val="006600"/>
                </a:solidFill>
              </a:rPr>
              <a:t>ublic</a:t>
            </a:r>
            <a:endParaRPr lang="en-GB" altLang="zh-CN" sz="2000" b="1" i="1" dirty="0">
              <a:solidFill>
                <a:srgbClr val="006600"/>
              </a:solidFill>
            </a:endParaRP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C00000"/>
                </a:solidFill>
              </a:rPr>
              <a:t>p</a:t>
            </a:r>
            <a:r>
              <a:rPr lang="en-GB" altLang="zh-CN" sz="2000" i="1" dirty="0" err="1">
                <a:solidFill>
                  <a:srgbClr val="C00000"/>
                </a:solidFill>
              </a:rPr>
              <a:t>rivate</a:t>
            </a:r>
            <a:r>
              <a:rPr lang="zh-CN" altLang="en-US" sz="2000" i="1" dirty="0">
                <a:solidFill>
                  <a:srgbClr val="C00000"/>
                </a:solidFill>
              </a:rPr>
              <a:t>、</a:t>
            </a:r>
            <a:r>
              <a:rPr lang="en-GB" altLang="zh-CN" sz="2000" i="1" dirty="0">
                <a:solidFill>
                  <a:srgbClr val="C00000"/>
                </a:solidFill>
              </a:rPr>
              <a:t>protected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sp>
        <p:nvSpPr>
          <p:cNvPr id="70676" name="TextBox 11"/>
          <p:cNvSpPr txBox="1">
            <a:spLocks noChangeArrowheads="1"/>
          </p:cNvSpPr>
          <p:nvPr/>
        </p:nvSpPr>
        <p:spPr bwMode="auto">
          <a:xfrm>
            <a:off x="3132138" y="1989138"/>
            <a:ext cx="1471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2060"/>
                </a:solidFill>
              </a:rPr>
              <a:t>protected</a:t>
            </a:r>
            <a:endParaRPr lang="zh-CN" altLang="en-US" sz="2400" i="1">
              <a:solidFill>
                <a:srgbClr val="002060"/>
              </a:solidFill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3995936" y="401178"/>
            <a:ext cx="4680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//</a:t>
            </a:r>
            <a:r>
              <a:rPr lang="zh-CN" altLang="en-US" sz="1600" i="1" dirty="0">
                <a:solidFill>
                  <a:srgbClr val="002060"/>
                </a:solidFill>
              </a:rPr>
              <a:t>错误声明</a:t>
            </a: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class </a:t>
            </a:r>
            <a:r>
              <a:rPr lang="en-US" altLang="zh-CN" sz="1600" i="1" dirty="0" err="1">
                <a:solidFill>
                  <a:srgbClr val="002060"/>
                </a:solidFill>
              </a:rPr>
              <a:t>Undergraduated_Student</a:t>
            </a:r>
            <a:r>
              <a:rPr lang="en-US" altLang="zh-CN" sz="1600" i="1" dirty="0">
                <a:solidFill>
                  <a:srgbClr val="002060"/>
                </a:solidFill>
              </a:rPr>
              <a:t> : public Student;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//</a:t>
            </a:r>
            <a:r>
              <a:rPr lang="zh-CN" altLang="en-US" sz="1600" i="1" dirty="0">
                <a:solidFill>
                  <a:srgbClr val="002060"/>
                </a:solidFill>
              </a:rPr>
              <a:t>正确声明</a:t>
            </a:r>
            <a:endParaRPr lang="en-US" altLang="zh-CN" sz="1600" i="1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zh-CN" sz="1600" i="1" dirty="0">
                <a:solidFill>
                  <a:srgbClr val="002060"/>
                </a:solidFill>
              </a:rPr>
              <a:t>class </a:t>
            </a:r>
            <a:r>
              <a:rPr lang="en-US" altLang="zh-CN" sz="1600" i="1" dirty="0" err="1">
                <a:solidFill>
                  <a:srgbClr val="002060"/>
                </a:solidFill>
              </a:rPr>
              <a:t>Undergraduated_Student</a:t>
            </a:r>
            <a:r>
              <a:rPr lang="en-US" altLang="zh-CN" sz="1600" i="1" dirty="0">
                <a:solidFill>
                  <a:srgbClr val="002060"/>
                </a:solidFill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0" grpId="0" build="allAtOnce"/>
      <p:bldP spid="13" grpId="0" build="allAtOnce"/>
      <p:bldP spid="14" grpId="0" build="allAtOnce"/>
      <p:bldP spid="15" grpId="0" build="allAtOnce"/>
      <p:bldP spid="16" grpId="0" build="allAtOnce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继承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panose="02010600030101010101" pitchFamily="2" charset="-122"/>
              </a:rPr>
              <a:t>派生类对象的初始化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由基类和派生类共同完成</a:t>
            </a:r>
          </a:p>
          <a:p>
            <a:pPr lvl="1" algn="just" eaLnBrk="1" hangingPunct="1">
              <a:lnSpc>
                <a:spcPct val="90000"/>
              </a:lnSpc>
            </a:pPr>
            <a:endParaRPr lang="en-GB" altLang="en-US" sz="2400"/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宋体" panose="02010600030101010101" pitchFamily="2" charset="-122"/>
              </a:rPr>
              <a:t>构造函数的执行次序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基类的构造函数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zh-CN" sz="2000">
                <a:latin typeface="宋体" panose="02010600030101010101" pitchFamily="2" charset="-122"/>
              </a:rPr>
              <a:t>派生类</a:t>
            </a:r>
            <a:r>
              <a:rPr lang="en-GB" altLang="en-US" sz="2000">
                <a:latin typeface="宋体" panose="02010600030101010101" pitchFamily="2" charset="-122"/>
              </a:rPr>
              <a:t>对象成员</a:t>
            </a:r>
            <a:r>
              <a:rPr lang="zh-CN" altLang="en-US" sz="2000">
                <a:latin typeface="宋体" panose="02010600030101010101" pitchFamily="2" charset="-122"/>
              </a:rPr>
              <a:t>类</a:t>
            </a:r>
            <a:r>
              <a:rPr lang="en-GB" altLang="en-US" sz="2000">
                <a:latin typeface="宋体" panose="02010600030101010101" pitchFamily="2" charset="-122"/>
              </a:rPr>
              <a:t>的构造函数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宋体" panose="02010600030101010101" pitchFamily="2" charset="-122"/>
              </a:rPr>
              <a:t>派生类的构造函数</a:t>
            </a:r>
          </a:p>
          <a:p>
            <a:pPr lvl="2" algn="just" eaLnBrk="1" hangingPunct="1">
              <a:lnSpc>
                <a:spcPct val="90000"/>
              </a:lnSpc>
            </a:pPr>
            <a:endParaRPr lang="en-GB" altLang="en-US" sz="20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400">
                <a:latin typeface="宋体" panose="02010600030101010101" pitchFamily="2" charset="-122"/>
              </a:rPr>
              <a:t>析构</a:t>
            </a:r>
            <a:r>
              <a:rPr lang="en-GB" altLang="en-US" sz="2400">
                <a:latin typeface="宋体" panose="02010600030101010101" pitchFamily="2" charset="-122"/>
              </a:rPr>
              <a:t>函数的执行次序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与构造函数相反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继承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GB" altLang="en-US" sz="2400">
                <a:latin typeface="宋体" panose="02010600030101010101" pitchFamily="2" charset="-122"/>
              </a:rPr>
              <a:t>基类构造函数</a:t>
            </a:r>
            <a:r>
              <a:rPr lang="en-GB" altLang="zh-CN" sz="2400">
                <a:latin typeface="宋体" panose="02010600030101010101" pitchFamily="2" charset="-122"/>
              </a:rPr>
              <a:t>的</a:t>
            </a:r>
            <a:r>
              <a:rPr lang="zh-CN" altLang="en-GB" sz="2400">
                <a:latin typeface="宋体" panose="02010600030101010101" pitchFamily="2" charset="-122"/>
              </a:rPr>
              <a:t>调用</a:t>
            </a:r>
          </a:p>
          <a:p>
            <a:pPr lvl="2" eaLnBrk="1" hangingPunct="1"/>
            <a:r>
              <a:rPr lang="en-US" altLang="en-GB" sz="2000">
                <a:latin typeface="宋体" panose="02010600030101010101" pitchFamily="2" charset="-122"/>
              </a:rPr>
              <a:t>缺省执行基类默认构造函数</a:t>
            </a:r>
          </a:p>
          <a:p>
            <a:pPr lvl="2" eaLnBrk="1" hangingPunct="1"/>
            <a:r>
              <a:rPr lang="en-US" altLang="en-GB" sz="2000">
                <a:latin typeface="宋体" panose="02010600030101010101" pitchFamily="2" charset="-122"/>
              </a:rPr>
              <a:t>如果要执行基类的</a:t>
            </a:r>
            <a:r>
              <a:rPr lang="en-US" altLang="en-GB" sz="2000" b="1">
                <a:solidFill>
                  <a:srgbClr val="002060"/>
                </a:solidFill>
                <a:latin typeface="宋体" panose="02010600030101010101" pitchFamily="2" charset="-122"/>
              </a:rPr>
              <a:t>非默认构造函数</a:t>
            </a:r>
            <a:r>
              <a:rPr lang="en-US" altLang="en-GB" sz="2000">
                <a:latin typeface="宋体" panose="02010600030101010101" pitchFamily="2" charset="-122"/>
              </a:rPr>
              <a:t>，则必须在派生类构造函数的</a:t>
            </a:r>
            <a:r>
              <a:rPr lang="en-US" altLang="en-GB" sz="2000" b="1">
                <a:solidFill>
                  <a:srgbClr val="0D0D0D"/>
                </a:solidFill>
                <a:latin typeface="宋体" panose="02010600030101010101" pitchFamily="2" charset="-122"/>
              </a:rPr>
              <a:t>成员初始化表</a:t>
            </a:r>
            <a:r>
              <a:rPr lang="en-US" altLang="en-GB" sz="2000">
                <a:latin typeface="宋体" panose="02010600030101010101" pitchFamily="2" charset="-122"/>
              </a:rPr>
              <a:t>中指出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73731" name="Text Box 4"/>
          <p:cNvSpPr txBox="1">
            <a:spLocks noChangeArrowheads="1"/>
          </p:cNvSpPr>
          <p:nvPr/>
        </p:nvSpPr>
        <p:spPr bwMode="auto">
          <a:xfrm>
            <a:off x="2351088" y="3624263"/>
            <a:ext cx="2220912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class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{    int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     A() { x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     A(int i) { x = i;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i="1"/>
          </a:p>
        </p:txBody>
      </p:sp>
      <p:sp>
        <p:nvSpPr>
          <p:cNvPr id="73732" name="Text Box 5"/>
          <p:cNvSpPr txBox="1">
            <a:spLocks noChangeArrowheads="1"/>
          </p:cNvSpPr>
          <p:nvPr/>
        </p:nvSpPr>
        <p:spPr bwMode="auto">
          <a:xfrm>
            <a:off x="6321425" y="3505200"/>
            <a:ext cx="2136775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class B: public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{   int 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   B() { y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   B(int </a:t>
            </a:r>
            <a:r>
              <a:rPr lang="en-GB" altLang="zh-CN" sz="1800" i="1" dirty="0" err="1"/>
              <a:t>i</a:t>
            </a:r>
            <a:r>
              <a:rPr lang="en-GB" altLang="zh-CN" sz="1800" i="1" dirty="0"/>
              <a:t>) { y = </a:t>
            </a:r>
            <a:r>
              <a:rPr lang="en-GB" altLang="zh-CN" sz="1800" i="1" dirty="0" err="1"/>
              <a:t>i</a:t>
            </a:r>
            <a:r>
              <a:rPr lang="en-GB" altLang="zh-CN" sz="1800" i="1" dirty="0"/>
              <a:t>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   B(int </a:t>
            </a:r>
            <a:r>
              <a:rPr lang="en-GB" altLang="zh-CN" sz="1800" i="1" dirty="0" err="1"/>
              <a:t>i</a:t>
            </a:r>
            <a:r>
              <a:rPr lang="en-GB" altLang="zh-CN" sz="1800" i="1" dirty="0"/>
              <a:t>, int j):A(</a:t>
            </a:r>
            <a:r>
              <a:rPr lang="en-GB" altLang="zh-CN" sz="1800" i="1" dirty="0" err="1"/>
              <a:t>i</a:t>
            </a:r>
            <a:r>
              <a:rPr lang="en-GB" altLang="zh-CN" sz="1800" i="1" dirty="0"/>
              <a:t>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   {   y = j;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i="1" dirty="0"/>
          </a:p>
        </p:txBody>
      </p:sp>
      <p:sp>
        <p:nvSpPr>
          <p:cNvPr id="73733" name="Text Box 6"/>
          <p:cNvSpPr txBox="1">
            <a:spLocks noChangeArrowheads="1"/>
          </p:cNvSpPr>
          <p:nvPr/>
        </p:nvSpPr>
        <p:spPr bwMode="auto">
          <a:xfrm>
            <a:off x="2273300" y="5500688"/>
            <a:ext cx="132440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B b1; 	</a:t>
            </a:r>
            <a:endParaRPr lang="en-US" altLang="zh-CN" sz="1800" b="1" i="1" dirty="0">
              <a:solidFill>
                <a:srgbClr val="0066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B b2(1); 	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B b3(0,1);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27801AB-620B-394A-A137-47F8FE56F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347706"/>
            <a:ext cx="25865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B(</a:t>
            </a:r>
            <a:r>
              <a:rPr lang="en-GB" altLang="zh-CN" sz="1800" i="1" dirty="0" err="1"/>
              <a:t>const</a:t>
            </a:r>
            <a:r>
              <a:rPr lang="en-GB" altLang="zh-CN" sz="1800" i="1" dirty="0"/>
              <a:t> B&amp; b){…}  </a:t>
            </a:r>
            <a:r>
              <a:rPr lang="en-GB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??</a:t>
            </a:r>
            <a:endParaRPr lang="zh-CN" altLang="en-US" sz="18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14DDF975-3D44-9443-AEF9-CAB8C87E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158" y="5500688"/>
            <a:ext cx="354295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006600"/>
                </a:solidFill>
              </a:rPr>
              <a:t>//</a:t>
            </a:r>
            <a:r>
              <a:rPr lang="zh-CN" altLang="en-US" sz="1800" b="1" i="1" dirty="0">
                <a:solidFill>
                  <a:srgbClr val="006600"/>
                </a:solidFill>
              </a:rPr>
              <a:t>执行</a:t>
            </a:r>
            <a:r>
              <a:rPr lang="en-US" altLang="zh-CN" sz="1800" b="1" i="1" dirty="0">
                <a:solidFill>
                  <a:srgbClr val="006600"/>
                </a:solidFill>
              </a:rPr>
              <a:t>A::A()</a:t>
            </a:r>
            <a:r>
              <a:rPr lang="zh-CN" altLang="en-US" sz="1800" b="1" i="1" dirty="0">
                <a:solidFill>
                  <a:srgbClr val="006600"/>
                </a:solidFill>
              </a:rPr>
              <a:t>和</a:t>
            </a:r>
            <a:r>
              <a:rPr lang="en-US" altLang="zh-CN" sz="1800" b="1" i="1" dirty="0">
                <a:solidFill>
                  <a:srgbClr val="006600"/>
                </a:solidFill>
              </a:rPr>
              <a:t>B::B()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006600"/>
                </a:solidFill>
              </a:rPr>
              <a:t>//</a:t>
            </a:r>
            <a:r>
              <a:rPr lang="zh-CN" altLang="en-US" sz="1800" b="1" i="1" dirty="0">
                <a:solidFill>
                  <a:srgbClr val="006600"/>
                </a:solidFill>
              </a:rPr>
              <a:t>执行</a:t>
            </a:r>
            <a:r>
              <a:rPr lang="en-US" altLang="zh-CN" sz="1800" b="1" i="1" dirty="0">
                <a:solidFill>
                  <a:srgbClr val="006600"/>
                </a:solidFill>
              </a:rPr>
              <a:t>A::A()</a:t>
            </a:r>
            <a:r>
              <a:rPr lang="zh-CN" altLang="en-US" sz="1800" b="1" i="1" dirty="0">
                <a:solidFill>
                  <a:srgbClr val="006600"/>
                </a:solidFill>
              </a:rPr>
              <a:t>和</a:t>
            </a:r>
            <a:r>
              <a:rPr lang="en-US" altLang="zh-CN" sz="1800" b="1" i="1" dirty="0">
                <a:solidFill>
                  <a:srgbClr val="006600"/>
                </a:solidFill>
              </a:rPr>
              <a:t>B::B(int)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i="1" dirty="0">
                <a:solidFill>
                  <a:srgbClr val="006600"/>
                </a:solidFill>
              </a:rPr>
              <a:t>//</a:t>
            </a:r>
            <a:r>
              <a:rPr lang="zh-CN" altLang="en-US" sz="1800" b="1" i="1" dirty="0">
                <a:solidFill>
                  <a:srgbClr val="006600"/>
                </a:solidFill>
              </a:rPr>
              <a:t>执行</a:t>
            </a:r>
            <a:r>
              <a:rPr lang="en-US" altLang="zh-CN" sz="1800" b="1" i="1" dirty="0">
                <a:solidFill>
                  <a:srgbClr val="006600"/>
                </a:solidFill>
              </a:rPr>
              <a:t>A::A(int)</a:t>
            </a:r>
            <a:r>
              <a:rPr lang="zh-CN" altLang="en-US" sz="1800" b="1" i="1" dirty="0">
                <a:solidFill>
                  <a:srgbClr val="006600"/>
                </a:solidFill>
              </a:rPr>
              <a:t>和</a:t>
            </a:r>
            <a:r>
              <a:rPr lang="en-US" altLang="zh-CN" sz="1800" b="1" i="1" dirty="0">
                <a:solidFill>
                  <a:srgbClr val="006600"/>
                </a:solidFill>
              </a:rPr>
              <a:t>B::B(</a:t>
            </a:r>
            <a:r>
              <a:rPr lang="en-US" altLang="zh-CN" sz="1800" b="1" i="1" dirty="0" err="1">
                <a:solidFill>
                  <a:srgbClr val="006600"/>
                </a:solidFill>
              </a:rPr>
              <a:t>int,int</a:t>
            </a:r>
            <a:r>
              <a:rPr lang="en-US" altLang="zh-CN" sz="1800" b="1" i="1" dirty="0">
                <a:solidFill>
                  <a:srgbClr val="006600"/>
                </a:solidFill>
              </a:rPr>
              <a:t>)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969E959-C5C0-4747-9AA5-08412DF7A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1054122"/>
            <a:ext cx="365189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class B: public A</a:t>
            </a:r>
            <a:r>
              <a:rPr lang="en-US" altLang="zh-CN" sz="1800" i="1" dirty="0"/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    using A::A; //</a:t>
            </a:r>
            <a:r>
              <a:rPr lang="zh-CN" altLang="en-US" sz="1800" i="1" dirty="0"/>
              <a:t>继承</a:t>
            </a:r>
            <a:r>
              <a:rPr lang="en-US" altLang="zh-CN" sz="1800" i="1" dirty="0"/>
              <a:t>A</a:t>
            </a:r>
            <a:r>
              <a:rPr lang="zh-CN" altLang="en-US" sz="1800" i="1" dirty="0"/>
              <a:t>的构造函数</a:t>
            </a:r>
            <a:endParaRPr lang="en-GB" altLang="zh-CN" sz="1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123112" cy="4459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800" dirty="0" err="1">
                <a:latin typeface="宋体" panose="02010600030101010101" pitchFamily="2" charset="-122"/>
              </a:rPr>
              <a:t>类型相容</a:t>
            </a:r>
            <a:endParaRPr lang="en-GB" altLang="en-US" sz="2800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400" dirty="0" err="1">
                <a:latin typeface="宋体" panose="02010600030101010101" pitchFamily="2" charset="-122"/>
              </a:rPr>
              <a:t>类</a:t>
            </a:r>
            <a:r>
              <a:rPr lang="en-GB" altLang="zh-CN" sz="2400" dirty="0" err="1">
                <a:latin typeface="宋体" panose="02010600030101010101" pitchFamily="2" charset="-122"/>
              </a:rPr>
              <a:t>、</a:t>
            </a:r>
            <a:r>
              <a:rPr lang="en-GB" altLang="en-US" sz="2400" dirty="0" err="1">
                <a:latin typeface="宋体" panose="02010600030101010101" pitchFamily="2" charset="-122"/>
              </a:rPr>
              <a:t>类型</a:t>
            </a:r>
            <a:endParaRPr lang="en-GB" altLang="en-US" sz="2400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400" dirty="0" err="1">
                <a:latin typeface="宋体" panose="02010600030101010101" pitchFamily="2" charset="-122"/>
              </a:rPr>
              <a:t>类型相容</a:t>
            </a:r>
            <a:r>
              <a:rPr lang="en-GB" altLang="zh-CN" sz="2400" dirty="0" err="1">
                <a:latin typeface="宋体" panose="02010600030101010101" pitchFamily="2" charset="-122"/>
              </a:rPr>
              <a:t>、</a:t>
            </a:r>
            <a:r>
              <a:rPr lang="en-GB" altLang="en-US" sz="2400" dirty="0" err="1">
                <a:latin typeface="宋体" panose="02010600030101010101" pitchFamily="2" charset="-122"/>
              </a:rPr>
              <a:t>赋值相容</a:t>
            </a:r>
            <a:endParaRPr lang="en-GB" altLang="en-US" sz="2400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问题：</a:t>
            </a:r>
            <a:r>
              <a:rPr lang="en-US" altLang="zh-CN" sz="2400" dirty="0"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latin typeface="宋体" panose="02010600030101010101" pitchFamily="2" charset="-122"/>
              </a:rPr>
              <a:t>是什么类型时，</a:t>
            </a:r>
            <a:r>
              <a:rPr lang="en-US" altLang="zh-CN" sz="2400" dirty="0">
                <a:latin typeface="宋体" panose="02010600030101010101" pitchFamily="2" charset="-122"/>
              </a:rPr>
              <a:t>a = b </a:t>
            </a:r>
            <a:r>
              <a:rPr lang="zh-CN" altLang="en-US" sz="2400" dirty="0">
                <a:latin typeface="宋体" panose="02010600030101010101" pitchFamily="2" charset="-122"/>
              </a:rPr>
              <a:t>合法？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zh-CN" sz="2000" dirty="0"/>
              <a:t>A a; 	 B b; 		class B: public A</a:t>
            </a:r>
            <a:endParaRPr lang="zh-CN" altLang="en-GB" sz="2000" dirty="0"/>
          </a:p>
          <a:p>
            <a:pPr lvl="3" algn="just"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对象的身份发生变化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属于派生类的属性已不存在</a:t>
            </a:r>
          </a:p>
          <a:p>
            <a:pPr lvl="2" algn="just" eaLnBrk="1" hangingPunct="1">
              <a:lnSpc>
                <a:spcPct val="90000"/>
              </a:lnSpc>
            </a:pPr>
            <a:endParaRPr lang="zh-CN" altLang="en-US" sz="2000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GB" altLang="zh-CN" sz="2000" dirty="0"/>
              <a:t>B* pb;  A* pa = pb; 	   	class B: public A 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zh-CN" sz="2000" dirty="0"/>
              <a:t>B  b; 	   A &amp;a=b; 	class B: public A</a:t>
            </a:r>
            <a:r>
              <a:rPr lang="en-GB" altLang="zh-CN" sz="2000" dirty="0">
                <a:latin typeface="宋体" panose="02010600030101010101" pitchFamily="2" charset="-122"/>
              </a:rPr>
              <a:t> 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对象身份没有发生变化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4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4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577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95400" y="2057400"/>
            <a:ext cx="1981200" cy="36576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{    </a:t>
            </a:r>
            <a:r>
              <a:rPr lang="en-US" altLang="zh-CN" sz="1800" i="1" dirty="0" err="1"/>
              <a:t>int</a:t>
            </a:r>
            <a:r>
              <a:rPr lang="en-US" altLang="zh-CN" sz="1800" i="1" dirty="0"/>
              <a:t> </a:t>
            </a:r>
            <a:r>
              <a:rPr lang="en-US" altLang="zh-CN" sz="1800" i="1" dirty="0" err="1"/>
              <a:t>x,y</a:t>
            </a:r>
            <a:r>
              <a:rPr lang="en-US" altLang="zh-CN" sz="1800" i="1" dirty="0"/>
              <a:t>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     void f();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class B: public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{    </a:t>
            </a:r>
            <a:r>
              <a:rPr lang="en-US" altLang="zh-CN" sz="1800" i="1" dirty="0" err="1"/>
              <a:t>int</a:t>
            </a:r>
            <a:r>
              <a:rPr lang="en-US" altLang="zh-CN" sz="1800" i="1" dirty="0"/>
              <a:t>  z;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  void f();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	  void g();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 dirty="0"/>
              <a:t>};</a:t>
            </a:r>
          </a:p>
        </p:txBody>
      </p:sp>
      <p:sp>
        <p:nvSpPr>
          <p:cNvPr id="75779" name="Text Box 5"/>
          <p:cNvSpPr txBox="1">
            <a:spLocks noChangeArrowheads="1"/>
          </p:cNvSpPr>
          <p:nvPr/>
        </p:nvSpPr>
        <p:spPr bwMode="auto">
          <a:xfrm>
            <a:off x="3505200" y="2057400"/>
            <a:ext cx="1863725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A  </a:t>
            </a:r>
            <a:r>
              <a:rPr lang="en-US" altLang="zh-CN" sz="1800" i="1" dirty="0" err="1"/>
              <a:t>a</a:t>
            </a:r>
            <a:r>
              <a:rPr lang="en-US" altLang="zh-CN" sz="1800" i="1" dirty="0"/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B  </a:t>
            </a:r>
            <a:r>
              <a:rPr lang="en-US" altLang="zh-CN" sz="1800" i="1" dirty="0" err="1"/>
              <a:t>b</a:t>
            </a:r>
            <a:r>
              <a:rPr lang="en-US" altLang="zh-CN" sz="1800" i="1" dirty="0"/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a = b;     //OK,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/>
              <a:t>b = a;     //</a:t>
            </a:r>
            <a:r>
              <a:rPr lang="en-US" altLang="zh-CN" sz="1800" i="1" dirty="0">
                <a:solidFill>
                  <a:srgbClr val="CC0000"/>
                </a:solidFill>
              </a:rPr>
              <a:t>Error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 err="1"/>
              <a:t>a.f</a:t>
            </a:r>
            <a:r>
              <a:rPr lang="en-US" altLang="zh-CN" sz="1800" i="1" dirty="0"/>
              <a:t>();      //A::f()</a:t>
            </a:r>
          </a:p>
        </p:txBody>
      </p:sp>
      <p:sp>
        <p:nvSpPr>
          <p:cNvPr id="75780" name="Text Box 6"/>
          <p:cNvSpPr txBox="1">
            <a:spLocks noChangeArrowheads="1"/>
          </p:cNvSpPr>
          <p:nvPr/>
        </p:nvSpPr>
        <p:spPr bwMode="auto">
          <a:xfrm>
            <a:off x="3505200" y="3962400"/>
            <a:ext cx="27686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A &amp;r_a=b;      	 //OK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A *p_a=&amp;b; 	 //OK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800" i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B &amp;r_b=a; 	 //</a:t>
            </a:r>
            <a:r>
              <a:rPr lang="en-GB" altLang="zh-CN" sz="1800" i="1">
                <a:solidFill>
                  <a:srgbClr val="CC0000"/>
                </a:solidFill>
              </a:rPr>
              <a:t>Error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/>
              <a:t>B *p_b=&amp;a;	 //</a:t>
            </a:r>
            <a:r>
              <a:rPr lang="en-GB" altLang="zh-CN" sz="1800" i="1">
                <a:solidFill>
                  <a:srgbClr val="CC0000"/>
                </a:solidFill>
              </a:rPr>
              <a:t>Error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i="1">
              <a:solidFill>
                <a:srgbClr val="CC0000"/>
              </a:solidFill>
            </a:endParaRPr>
          </a:p>
        </p:txBody>
      </p:sp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5562600" y="974725"/>
            <a:ext cx="2216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>
                <a:solidFill>
                  <a:schemeClr val="tx2"/>
                </a:solidFill>
                <a:latin typeface="宋体" panose="02010600030101010101" pitchFamily="2" charset="-122"/>
              </a:rPr>
              <a:t>把派生类对象赋值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>
                <a:solidFill>
                  <a:schemeClr val="tx2"/>
                </a:solidFill>
                <a:latin typeface="宋体" panose="02010600030101010101" pitchFamily="2" charset="-122"/>
              </a:rPr>
              <a:t>给基类对象</a:t>
            </a:r>
          </a:p>
        </p:txBody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4876800" y="5919788"/>
            <a:ext cx="335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i="1">
                <a:solidFill>
                  <a:schemeClr val="tx2"/>
                </a:solidFill>
                <a:latin typeface="宋体" panose="02010600030101010101" pitchFamily="2" charset="-122"/>
              </a:rPr>
              <a:t>基类的引用或指针可以引用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i="1">
                <a:solidFill>
                  <a:schemeClr val="tx2"/>
                </a:solidFill>
                <a:latin typeface="宋体" panose="02010600030101010101" pitchFamily="2" charset="-122"/>
              </a:rPr>
              <a:t>或指向派生类对象</a:t>
            </a:r>
            <a:endParaRPr lang="zh-CN" altLang="en-US" sz="2000" i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75783" name="Text Box 9"/>
          <p:cNvSpPr txBox="1">
            <a:spLocks noChangeArrowheads="1"/>
          </p:cNvSpPr>
          <p:nvPr/>
        </p:nvSpPr>
        <p:spPr bwMode="auto">
          <a:xfrm>
            <a:off x="6456363" y="1968500"/>
            <a:ext cx="2306637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func1(A&amp; 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{ …  </a:t>
            </a:r>
            <a:r>
              <a:rPr lang="en-GB" altLang="zh-CN" sz="1800" i="1" dirty="0" err="1"/>
              <a:t>a.f</a:t>
            </a:r>
            <a:r>
              <a:rPr lang="en-GB" altLang="zh-CN" sz="1800" i="1" dirty="0"/>
              <a:t>(); 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800" i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func2(A *pa)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{ …  pa-&gt;f(); …}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800" i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func1(b);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i="1" dirty="0"/>
              <a:t>func2(&amp;b);</a:t>
            </a:r>
            <a:endParaRPr lang="en-US" altLang="zh-CN" sz="1800" dirty="0"/>
          </a:p>
        </p:txBody>
      </p:sp>
      <p:sp>
        <p:nvSpPr>
          <p:cNvPr id="181258" name="Text Box 10"/>
          <p:cNvSpPr txBox="1">
            <a:spLocks noChangeArrowheads="1"/>
          </p:cNvSpPr>
          <p:nvPr/>
        </p:nvSpPr>
        <p:spPr bwMode="auto">
          <a:xfrm>
            <a:off x="7772400" y="4419600"/>
            <a:ext cx="1295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chemeClr val="tx2"/>
                </a:solidFill>
                <a:latin typeface="宋体" panose="02010600030101010101" pitchFamily="2" charset="-122"/>
              </a:rPr>
              <a:t>A::f?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chemeClr val="tx2"/>
                </a:solidFill>
                <a:latin typeface="宋体" panose="02010600030101010101" pitchFamily="2" charset="-122"/>
              </a:rPr>
              <a:t>B::f</a:t>
            </a:r>
            <a:r>
              <a:rPr lang="en-GB" altLang="zh-CN" sz="2400" i="1">
                <a:solidFill>
                  <a:schemeClr val="tx2"/>
                </a:solidFill>
                <a:latin typeface="宋体" panose="02010600030101010101" pitchFamily="2" charset="-122"/>
              </a:rPr>
              <a:t>？</a:t>
            </a:r>
            <a:endParaRPr lang="en-US" altLang="zh-CN" sz="2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1259" name="Line 11"/>
          <p:cNvSpPr>
            <a:spLocks noChangeShapeType="1"/>
          </p:cNvSpPr>
          <p:nvPr/>
        </p:nvSpPr>
        <p:spPr bwMode="auto">
          <a:xfrm flipH="1" flipV="1">
            <a:off x="7620000" y="38862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1260" name="Line 12"/>
          <p:cNvSpPr>
            <a:spLocks noChangeShapeType="1"/>
          </p:cNvSpPr>
          <p:nvPr/>
        </p:nvSpPr>
        <p:spPr bwMode="auto">
          <a:xfrm flipH="1">
            <a:off x="4114800" y="1676400"/>
            <a:ext cx="2133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1261" name="Line 13"/>
          <p:cNvSpPr>
            <a:spLocks noChangeShapeType="1"/>
          </p:cNvSpPr>
          <p:nvPr/>
        </p:nvSpPr>
        <p:spPr bwMode="auto">
          <a:xfrm flipH="1" flipV="1">
            <a:off x="4800600" y="4572000"/>
            <a:ext cx="990600" cy="1371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1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5" grpId="0" autoUpdateAnimBg="0"/>
      <p:bldP spid="181256" grpId="0" autoUpdateAnimBg="0"/>
      <p:bldP spid="18125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116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前期绑定（</a:t>
            </a:r>
            <a:r>
              <a:rPr lang="en-US" altLang="zh-CN" sz="2400"/>
              <a:t>Early Binding</a:t>
            </a:r>
            <a:r>
              <a:rPr lang="en-US" altLang="zh-CN" sz="2400">
                <a:latin typeface="宋体" panose="02010600030101010101" pitchFamily="2" charset="-122"/>
              </a:rPr>
              <a:t>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编译时刻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依据对象的静态类型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效率高、灵活性差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动态绑定（</a:t>
            </a:r>
            <a:r>
              <a:rPr lang="en-US" altLang="zh-CN" sz="2400"/>
              <a:t>Late Binding</a:t>
            </a:r>
            <a:r>
              <a:rPr lang="en-US" altLang="zh-CN" sz="2400">
                <a:latin typeface="宋体" panose="02010600030101010101" pitchFamily="2" charset="-122"/>
              </a:rPr>
              <a:t>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运行时刻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依据对象的实际类型（动态）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灵活性高、效率低</a:t>
            </a:r>
          </a:p>
          <a:p>
            <a:pPr lvl="1" algn="just" eaLnBrk="1" hangingPunct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注重效率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默认前期绑定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后期绑定需显式指出	</a:t>
            </a:r>
            <a:r>
              <a:rPr lang="en-US" altLang="zh-CN" sz="2000" i="1">
                <a:solidFill>
                  <a:schemeClr val="tx2"/>
                </a:solidFill>
              </a:rPr>
              <a:t>virtual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定义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/>
              <a:t>virtual</a:t>
            </a:r>
            <a:endParaRPr lang="en-US" altLang="zh-CN" sz="240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800" i="1">
                <a:latin typeface="宋体" panose="02010600030101010101" pitchFamily="2" charset="-122"/>
              </a:rPr>
              <a:t>			</a:t>
            </a:r>
            <a:r>
              <a:rPr lang="en-GB" altLang="zh-CN" sz="2000" i="1"/>
              <a:t>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			{     …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			 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			      </a:t>
            </a:r>
            <a:r>
              <a:rPr lang="en-US" altLang="zh-CN" sz="2000" i="1">
                <a:solidFill>
                  <a:srgbClr val="00B0F0"/>
                </a:solidFill>
              </a:rPr>
              <a:t>virtual </a:t>
            </a:r>
            <a:r>
              <a:rPr lang="en-US" altLang="zh-CN" sz="2000" i="1"/>
              <a:t>void</a:t>
            </a:r>
            <a:r>
              <a:rPr lang="en-US" altLang="zh-CN" sz="2000" i="1">
                <a:solidFill>
                  <a:srgbClr val="00B0F0"/>
                </a:solidFill>
              </a:rPr>
              <a:t> </a:t>
            </a:r>
            <a:r>
              <a:rPr lang="en-GB" altLang="zh-CN" sz="2000" i="1"/>
              <a:t>f();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 i="1"/>
              <a:t>			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2400" i="1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GB" sz="2400">
                <a:latin typeface="宋体" panose="02010600030101010101" pitchFamily="2" charset="-122"/>
              </a:rPr>
              <a:t>动态绑定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000" i="1">
                <a:latin typeface="宋体" panose="02010600030101010101" pitchFamily="2" charset="-122"/>
              </a:rPr>
              <a:t> </a:t>
            </a:r>
            <a:r>
              <a:rPr lang="zh-CN" altLang="en-US" sz="2000" i="1">
                <a:latin typeface="宋体" panose="02010600030101010101" pitchFamily="2" charset="-122"/>
              </a:rPr>
              <a:t>根据</a:t>
            </a:r>
            <a:r>
              <a:rPr lang="zh-CN" altLang="en-US" sz="2000">
                <a:latin typeface="宋体" panose="02010600030101010101" pitchFamily="2" charset="-122"/>
              </a:rPr>
              <a:t>实际引用和指向的对象类型</a:t>
            </a:r>
            <a:endParaRPr lang="en-US" altLang="zh-CN" sz="2000">
              <a:latin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</a:pPr>
            <a:endParaRPr lang="zh-CN" altLang="en-US" sz="200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方法重定义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lvl="1" algn="just" eaLnBrk="1" hangingPunct="1"/>
            <a:r>
              <a:rPr lang="zh-CN" altLang="en-US" sz="2400">
                <a:latin typeface="宋体" panose="02010600030101010101" pitchFamily="2" charset="-122"/>
              </a:rPr>
              <a:t>如基类中被定义为虚成员函数，则派生类中对其重定义的成员函数均为虚函数</a:t>
            </a:r>
            <a:endParaRPr lang="zh-CN" altLang="en-US"/>
          </a:p>
          <a:p>
            <a:pPr algn="just" eaLnBrk="1" hangingPunct="1"/>
            <a:endParaRPr lang="zh-CN" altLang="en-US"/>
          </a:p>
          <a:p>
            <a:pPr lvl="1" algn="just" eaLnBrk="1" hangingPunct="1"/>
            <a:r>
              <a:rPr lang="zh-CN" altLang="en-US" sz="2400">
                <a:latin typeface="宋体" panose="02010600030101010101" pitchFamily="2" charset="-122"/>
              </a:rPr>
              <a:t>限制</a:t>
            </a:r>
            <a:endParaRPr lang="zh-CN" altLang="en-US" sz="2400"/>
          </a:p>
          <a:p>
            <a:pPr lvl="2" algn="just" eaLnBrk="1" hangingPunct="1"/>
            <a:r>
              <a:rPr lang="zh-CN" altLang="en-US">
                <a:latin typeface="宋体" panose="02010600030101010101" pitchFamily="2" charset="-122"/>
              </a:rPr>
              <a:t>类的成员函数才可以是虚函数</a:t>
            </a:r>
            <a:endParaRPr lang="zh-CN" altLang="en-US"/>
          </a:p>
          <a:p>
            <a:pPr lvl="2" eaLnBrk="1" hangingPunct="1"/>
            <a:r>
              <a:rPr lang="zh-CN" altLang="en-US">
                <a:latin typeface="宋体" panose="02010600030101010101" pitchFamily="2" charset="-122"/>
              </a:rPr>
              <a:t>静态成员函数不能是虚函数</a:t>
            </a:r>
            <a:endParaRPr lang="zh-CN" altLang="en-US"/>
          </a:p>
          <a:p>
            <a:pPr lvl="2" algn="just" eaLnBrk="1" hangingPunct="1"/>
            <a:r>
              <a:rPr lang="zh-CN" altLang="en-US">
                <a:latin typeface="宋体" panose="02010600030101010101" pitchFamily="2" charset="-122"/>
              </a:rPr>
              <a:t>内联成员函数不能是虚函数</a:t>
            </a:r>
          </a:p>
          <a:p>
            <a:pPr lvl="2" algn="just" eaLnBrk="1" hangingPunct="1"/>
            <a:r>
              <a:rPr lang="zh-CN" altLang="en-US">
                <a:latin typeface="宋体" panose="02010600030101010101" pitchFamily="2" charset="-122"/>
              </a:rPr>
              <a:t>构造函数不能是虚函数</a:t>
            </a:r>
            <a:endParaRPr lang="zh-CN" altLang="en-US"/>
          </a:p>
          <a:p>
            <a:pPr lvl="2" algn="just" eaLnBrk="1" hangingPunct="1"/>
            <a:r>
              <a:rPr lang="zh-CN" altLang="en-US">
                <a:latin typeface="宋体" panose="02010600030101010101" pitchFamily="2" charset="-122"/>
              </a:rPr>
              <a:t>析构函数可以（往往）是虚函数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2779712" cy="420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后期绑定的实现</a:t>
            </a:r>
          </a:p>
        </p:txBody>
      </p:sp>
      <p:sp>
        <p:nvSpPr>
          <p:cNvPr id="79875" name="Text Box 4"/>
          <p:cNvSpPr txBox="1">
            <a:spLocks noChangeArrowheads="1"/>
          </p:cNvSpPr>
          <p:nvPr/>
        </p:nvSpPr>
        <p:spPr bwMode="auto">
          <a:xfrm>
            <a:off x="1606550" y="2493963"/>
            <a:ext cx="2072812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class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{     int </a:t>
            </a:r>
            <a:r>
              <a:rPr lang="en-US" altLang="zh-CN" sz="1800" i="1" dirty="0" err="1">
                <a:solidFill>
                  <a:schemeClr val="tx2"/>
                </a:solidFill>
              </a:rPr>
              <a:t>x,y</a:t>
            </a:r>
            <a:r>
              <a:rPr lang="en-US" altLang="zh-CN" sz="1800" i="1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virtual void</a:t>
            </a:r>
            <a:r>
              <a:rPr lang="zh-CN" altLang="en-US" sz="1800" i="1" dirty="0">
                <a:solidFill>
                  <a:schemeClr val="tx2"/>
                </a:solidFill>
              </a:rPr>
              <a:t> </a:t>
            </a:r>
            <a:r>
              <a:rPr lang="en-US" altLang="zh-CN" sz="1800" i="1" dirty="0">
                <a:solidFill>
                  <a:schemeClr val="tx2"/>
                </a:solidFill>
              </a:rPr>
              <a:t>f();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virtual void</a:t>
            </a:r>
            <a:r>
              <a:rPr lang="zh-CN" altLang="en-US" sz="1800" i="1" dirty="0">
                <a:solidFill>
                  <a:schemeClr val="tx2"/>
                </a:solidFill>
              </a:rPr>
              <a:t> </a:t>
            </a:r>
            <a:r>
              <a:rPr lang="en-US" altLang="zh-CN" sz="1800" i="1" dirty="0">
                <a:solidFill>
                  <a:schemeClr val="tx2"/>
                </a:solidFill>
              </a:rPr>
              <a:t>g();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h();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class B: public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{      int z;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  void</a:t>
            </a:r>
            <a:r>
              <a:rPr lang="zh-CN" altLang="en-US" sz="1800" i="1" dirty="0">
                <a:solidFill>
                  <a:schemeClr val="tx2"/>
                </a:solidFill>
              </a:rPr>
              <a:t> </a:t>
            </a:r>
            <a:r>
              <a:rPr lang="en-US" altLang="zh-CN" sz="1800" i="1" dirty="0">
                <a:solidFill>
                  <a:schemeClr val="tx2"/>
                </a:solidFill>
              </a:rPr>
              <a:t>f();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 void</a:t>
            </a:r>
            <a:r>
              <a:rPr lang="zh-CN" altLang="en-US" sz="1800" i="1" dirty="0">
                <a:solidFill>
                  <a:schemeClr val="tx2"/>
                </a:solidFill>
              </a:rPr>
              <a:t> </a:t>
            </a:r>
            <a:r>
              <a:rPr lang="en-US" altLang="zh-CN" sz="1800" i="1" dirty="0">
                <a:solidFill>
                  <a:schemeClr val="tx2"/>
                </a:solidFill>
              </a:rPr>
              <a:t>h();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A a; B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A *p; </a:t>
            </a: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3779838" y="2565400"/>
            <a:ext cx="33035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对象的内存空间中含有指针，</a:t>
            </a:r>
            <a:endParaRPr lang="en-US" altLang="zh-CN" sz="20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指向其虚函数表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7010400" y="5589588"/>
            <a:ext cx="730250" cy="11160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9878" name="Line 8"/>
          <p:cNvSpPr>
            <a:spLocks noChangeShapeType="1"/>
          </p:cNvSpPr>
          <p:nvPr/>
        </p:nvSpPr>
        <p:spPr bwMode="auto">
          <a:xfrm>
            <a:off x="7010400" y="632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Text Box 14"/>
          <p:cNvSpPr txBox="1">
            <a:spLocks noChangeArrowheads="1"/>
          </p:cNvSpPr>
          <p:nvPr/>
        </p:nvSpPr>
        <p:spPr bwMode="auto">
          <a:xfrm>
            <a:off x="6659563" y="5661025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b</a:t>
            </a:r>
            <a:endParaRPr lang="en-US" altLang="zh-CN" sz="1800"/>
          </a:p>
        </p:txBody>
      </p:sp>
      <p:sp>
        <p:nvSpPr>
          <p:cNvPr id="79880" name="Text Box 15"/>
          <p:cNvSpPr txBox="1">
            <a:spLocks noChangeArrowheads="1"/>
          </p:cNvSpPr>
          <p:nvPr/>
        </p:nvSpPr>
        <p:spPr bwMode="auto">
          <a:xfrm>
            <a:off x="7239000" y="552767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x</a:t>
            </a:r>
            <a:endParaRPr lang="en-US" altLang="zh-CN" sz="2000"/>
          </a:p>
        </p:txBody>
      </p:sp>
      <p:sp>
        <p:nvSpPr>
          <p:cNvPr id="79881" name="Text Box 16"/>
          <p:cNvSpPr txBox="1">
            <a:spLocks noChangeArrowheads="1"/>
          </p:cNvSpPr>
          <p:nvPr/>
        </p:nvSpPr>
        <p:spPr bwMode="auto">
          <a:xfrm>
            <a:off x="7223125" y="5873750"/>
            <a:ext cx="396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y</a:t>
            </a:r>
            <a:endParaRPr lang="en-US" altLang="zh-CN" sz="2000"/>
          </a:p>
        </p:txBody>
      </p:sp>
      <p:sp>
        <p:nvSpPr>
          <p:cNvPr id="79882" name="Text Box 17"/>
          <p:cNvSpPr txBox="1">
            <a:spLocks noChangeArrowheads="1"/>
          </p:cNvSpPr>
          <p:nvPr/>
        </p:nvSpPr>
        <p:spPr bwMode="auto">
          <a:xfrm>
            <a:off x="7239000" y="628967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z</a:t>
            </a:r>
          </a:p>
        </p:txBody>
      </p:sp>
      <p:grpSp>
        <p:nvGrpSpPr>
          <p:cNvPr id="2" name="组合 47"/>
          <p:cNvGrpSpPr>
            <a:grpSpLocks/>
          </p:cNvGrpSpPr>
          <p:nvPr/>
        </p:nvGrpSpPr>
        <p:grpSpPr bwMode="auto">
          <a:xfrm>
            <a:off x="7924800" y="4818063"/>
            <a:ext cx="1143000" cy="1312862"/>
            <a:chOff x="7924800" y="4818063"/>
            <a:chExt cx="1143000" cy="1312862"/>
          </a:xfrm>
        </p:grpSpPr>
        <p:sp>
          <p:nvSpPr>
            <p:cNvPr id="79910" name="Line 10"/>
            <p:cNvSpPr>
              <a:spLocks noChangeShapeType="1"/>
            </p:cNvSpPr>
            <p:nvPr/>
          </p:nvSpPr>
          <p:spPr bwMode="auto">
            <a:xfrm flipV="1">
              <a:off x="8077200" y="56388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9911" name="组合 46"/>
            <p:cNvGrpSpPr>
              <a:grpSpLocks/>
            </p:cNvGrpSpPr>
            <p:nvPr/>
          </p:nvGrpSpPr>
          <p:grpSpPr bwMode="auto">
            <a:xfrm>
              <a:off x="7924800" y="4818063"/>
              <a:ext cx="1143000" cy="1312862"/>
              <a:chOff x="7924800" y="4818063"/>
              <a:chExt cx="1143000" cy="1312862"/>
            </a:xfrm>
          </p:grpSpPr>
          <p:sp>
            <p:nvSpPr>
              <p:cNvPr id="79912" name="Rectangle 9"/>
              <p:cNvSpPr>
                <a:spLocks noChangeArrowheads="1"/>
              </p:cNvSpPr>
              <p:nvPr/>
            </p:nvSpPr>
            <p:spPr bwMode="auto">
              <a:xfrm>
                <a:off x="8077200" y="5216525"/>
                <a:ext cx="762000" cy="914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79913" name="Text Box 11"/>
              <p:cNvSpPr txBox="1">
                <a:spLocks noChangeArrowheads="1"/>
              </p:cNvSpPr>
              <p:nvPr/>
            </p:nvSpPr>
            <p:spPr bwMode="auto">
              <a:xfrm>
                <a:off x="8169275" y="5257800"/>
                <a:ext cx="66992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B::f</a:t>
                </a:r>
              </a:p>
            </p:txBody>
          </p:sp>
          <p:sp>
            <p:nvSpPr>
              <p:cNvPr id="79914" name="Text Box 12"/>
              <p:cNvSpPr txBox="1">
                <a:spLocks noChangeArrowheads="1"/>
              </p:cNvSpPr>
              <p:nvPr/>
            </p:nvSpPr>
            <p:spPr bwMode="auto">
              <a:xfrm>
                <a:off x="8077200" y="5680075"/>
                <a:ext cx="7620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i="1"/>
                  <a:t>A::g</a:t>
                </a:r>
                <a:endParaRPr lang="en-US" altLang="zh-CN" sz="2000"/>
              </a:p>
            </p:txBody>
          </p:sp>
          <p:sp>
            <p:nvSpPr>
              <p:cNvPr id="79915" name="Text Box 18"/>
              <p:cNvSpPr txBox="1">
                <a:spLocks noChangeArrowheads="1"/>
              </p:cNvSpPr>
              <p:nvPr/>
            </p:nvSpPr>
            <p:spPr bwMode="auto">
              <a:xfrm>
                <a:off x="7924800" y="4818063"/>
                <a:ext cx="11430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/>
                  <a:t>B_vtable</a:t>
                </a:r>
              </a:p>
            </p:txBody>
          </p:sp>
        </p:grpSp>
      </p:grp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3276600" y="5876925"/>
            <a:ext cx="2667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i="1" dirty="0">
              <a:solidFill>
                <a:srgbClr val="0070C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70C0"/>
                </a:solidFill>
              </a:rPr>
              <a:t>(**((char *)p-4))(p)</a:t>
            </a:r>
          </a:p>
        </p:txBody>
      </p:sp>
      <p:sp>
        <p:nvSpPr>
          <p:cNvPr id="79885" name="Rectangle 21"/>
          <p:cNvSpPr>
            <a:spLocks noChangeArrowheads="1"/>
          </p:cNvSpPr>
          <p:nvPr/>
        </p:nvSpPr>
        <p:spPr bwMode="auto">
          <a:xfrm>
            <a:off x="4859338" y="4292600"/>
            <a:ext cx="576262" cy="73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9886" name="Text Box 26"/>
          <p:cNvSpPr txBox="1">
            <a:spLocks noChangeArrowheads="1"/>
          </p:cNvSpPr>
          <p:nvPr/>
        </p:nvSpPr>
        <p:spPr bwMode="auto">
          <a:xfrm>
            <a:off x="4500563" y="42926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a</a:t>
            </a:r>
            <a:endParaRPr lang="en-US" altLang="zh-CN" sz="1800"/>
          </a:p>
        </p:txBody>
      </p:sp>
      <p:sp>
        <p:nvSpPr>
          <p:cNvPr id="79887" name="Text Box 27"/>
          <p:cNvSpPr txBox="1">
            <a:spLocks noChangeArrowheads="1"/>
          </p:cNvSpPr>
          <p:nvPr/>
        </p:nvSpPr>
        <p:spPr bwMode="auto">
          <a:xfrm>
            <a:off x="4953000" y="4251325"/>
            <a:ext cx="309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x</a:t>
            </a:r>
            <a:endParaRPr lang="en-US" altLang="zh-CN" sz="2000"/>
          </a:p>
        </p:txBody>
      </p:sp>
      <p:sp>
        <p:nvSpPr>
          <p:cNvPr id="79888" name="Text Box 28"/>
          <p:cNvSpPr txBox="1">
            <a:spLocks noChangeArrowheads="1"/>
          </p:cNvSpPr>
          <p:nvPr/>
        </p:nvSpPr>
        <p:spPr bwMode="auto">
          <a:xfrm>
            <a:off x="4937125" y="45783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y</a:t>
            </a:r>
          </a:p>
        </p:txBody>
      </p:sp>
      <p:grpSp>
        <p:nvGrpSpPr>
          <p:cNvPr id="5" name="组合 45"/>
          <p:cNvGrpSpPr>
            <a:grpSpLocks/>
          </p:cNvGrpSpPr>
          <p:nvPr/>
        </p:nvGrpSpPr>
        <p:grpSpPr bwMode="auto">
          <a:xfrm>
            <a:off x="5715000" y="3581400"/>
            <a:ext cx="1219200" cy="1303338"/>
            <a:chOff x="5715000" y="3581400"/>
            <a:chExt cx="1219200" cy="1303338"/>
          </a:xfrm>
        </p:grpSpPr>
        <p:sp>
          <p:nvSpPr>
            <p:cNvPr id="79905" name="Rectangle 23"/>
            <p:cNvSpPr>
              <a:spLocks noChangeArrowheads="1"/>
            </p:cNvSpPr>
            <p:nvPr/>
          </p:nvSpPr>
          <p:spPr bwMode="auto">
            <a:xfrm>
              <a:off x="5867400" y="3970338"/>
              <a:ext cx="762000" cy="914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79906" name="Line 24"/>
            <p:cNvSpPr>
              <a:spLocks noChangeShapeType="1"/>
            </p:cNvSpPr>
            <p:nvPr/>
          </p:nvSpPr>
          <p:spPr bwMode="auto">
            <a:xfrm>
              <a:off x="5867400" y="4427538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7" name="Text Box 29"/>
            <p:cNvSpPr txBox="1">
              <a:spLocks noChangeArrowheads="1"/>
            </p:cNvSpPr>
            <p:nvPr/>
          </p:nvSpPr>
          <p:spPr bwMode="auto">
            <a:xfrm>
              <a:off x="5943600" y="4011613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A::f</a:t>
              </a:r>
            </a:p>
          </p:txBody>
        </p:sp>
        <p:sp>
          <p:nvSpPr>
            <p:cNvPr id="79908" name="Text Box 30"/>
            <p:cNvSpPr txBox="1">
              <a:spLocks noChangeArrowheads="1"/>
            </p:cNvSpPr>
            <p:nvPr/>
          </p:nvSpPr>
          <p:spPr bwMode="auto">
            <a:xfrm>
              <a:off x="5851525" y="4433888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/>
                <a:t> A::g</a:t>
              </a:r>
              <a:endParaRPr lang="en-US" altLang="zh-CN" sz="2000"/>
            </a:p>
          </p:txBody>
        </p:sp>
        <p:sp>
          <p:nvSpPr>
            <p:cNvPr id="79909" name="Text Box 31"/>
            <p:cNvSpPr txBox="1">
              <a:spLocks noChangeArrowheads="1"/>
            </p:cNvSpPr>
            <p:nvPr/>
          </p:nvSpPr>
          <p:spPr bwMode="auto">
            <a:xfrm>
              <a:off x="5715000" y="3581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/>
                <a:t>A_vtable</a:t>
              </a:r>
            </a:p>
          </p:txBody>
        </p:sp>
      </p:grpSp>
      <p:sp>
        <p:nvSpPr>
          <p:cNvPr id="31" name="矩形 30"/>
          <p:cNvSpPr/>
          <p:nvPr/>
        </p:nvSpPr>
        <p:spPr bwMode="auto">
          <a:xfrm>
            <a:off x="4859338" y="3933825"/>
            <a:ext cx="576262" cy="3587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61464" name="Line 25"/>
          <p:cNvSpPr>
            <a:spLocks noChangeShapeType="1"/>
          </p:cNvSpPr>
          <p:nvPr/>
        </p:nvSpPr>
        <p:spPr bwMode="auto">
          <a:xfrm>
            <a:off x="5181600" y="4114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2" name="TextBox 31"/>
          <p:cNvSpPr txBox="1">
            <a:spLocks noChangeArrowheads="1"/>
          </p:cNvSpPr>
          <p:nvPr/>
        </p:nvSpPr>
        <p:spPr bwMode="auto">
          <a:xfrm>
            <a:off x="4030663" y="3716338"/>
            <a:ext cx="3254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</a:t>
            </a:r>
            <a:endParaRPr lang="zh-CN" altLang="en-US" sz="2000" i="1"/>
          </a:p>
        </p:txBody>
      </p:sp>
      <p:cxnSp>
        <p:nvCxnSpPr>
          <p:cNvPr id="79893" name="直接箭头连接符 33"/>
          <p:cNvCxnSpPr>
            <a:cxnSpLocks noChangeShapeType="1"/>
          </p:cNvCxnSpPr>
          <p:nvPr/>
        </p:nvCxnSpPr>
        <p:spPr bwMode="auto">
          <a:xfrm>
            <a:off x="4356100" y="3989388"/>
            <a:ext cx="503238" cy="30321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894" name="TextBox 34"/>
          <p:cNvSpPr txBox="1">
            <a:spLocks noChangeArrowheads="1"/>
          </p:cNvSpPr>
          <p:nvPr/>
        </p:nvSpPr>
        <p:spPr bwMode="auto">
          <a:xfrm>
            <a:off x="6191250" y="5084763"/>
            <a:ext cx="325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</a:t>
            </a:r>
            <a:endParaRPr lang="zh-CN" altLang="en-US" sz="2000" i="1"/>
          </a:p>
        </p:txBody>
      </p:sp>
      <p:cxnSp>
        <p:nvCxnSpPr>
          <p:cNvPr id="79895" name="直接箭头连接符 35"/>
          <p:cNvCxnSpPr>
            <a:cxnSpLocks noChangeShapeType="1"/>
          </p:cNvCxnSpPr>
          <p:nvPr/>
        </p:nvCxnSpPr>
        <p:spPr bwMode="auto">
          <a:xfrm>
            <a:off x="6516688" y="5357813"/>
            <a:ext cx="503237" cy="2317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209" name="TextBox 37"/>
          <p:cNvSpPr txBox="1">
            <a:spLocks noChangeArrowheads="1"/>
          </p:cNvSpPr>
          <p:nvPr/>
        </p:nvSpPr>
        <p:spPr bwMode="auto">
          <a:xfrm>
            <a:off x="3635375" y="4581525"/>
            <a:ext cx="13049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defRPr/>
            </a:pPr>
            <a:r>
              <a:rPr lang="en-US" altLang="zh-CN" sz="2000" i="1" dirty="0">
                <a:solidFill>
                  <a:schemeClr val="tx2"/>
                </a:solidFill>
              </a:rPr>
              <a:t>case1:</a:t>
            </a:r>
          </a:p>
          <a:p>
            <a:pPr marL="457200" indent="-457200" eaLnBrk="1" hangingPunct="1">
              <a:defRPr/>
            </a:pPr>
            <a:r>
              <a:rPr lang="en-US" altLang="zh-CN" sz="2000" b="1" i="1" dirty="0">
                <a:solidFill>
                  <a:schemeClr val="accent5">
                    <a:lumMod val="25000"/>
                  </a:schemeClr>
                </a:solidFill>
              </a:rPr>
              <a:t>  p = &amp;a;</a:t>
            </a:r>
            <a:endParaRPr lang="zh-CN" altLang="en-US" sz="2000" b="1" i="1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50210" name="TextBox 38"/>
          <p:cNvSpPr txBox="1">
            <a:spLocks noChangeArrowheads="1"/>
          </p:cNvSpPr>
          <p:nvPr/>
        </p:nvSpPr>
        <p:spPr bwMode="auto">
          <a:xfrm>
            <a:off x="5940425" y="5949950"/>
            <a:ext cx="1162050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defRPr/>
            </a:pPr>
            <a:r>
              <a:rPr lang="en-US" altLang="zh-CN" sz="2000" i="1" dirty="0">
                <a:solidFill>
                  <a:schemeClr val="tx2"/>
                </a:solidFill>
              </a:rPr>
              <a:t>case 2:</a:t>
            </a:r>
          </a:p>
          <a:p>
            <a:pPr marL="457200" indent="-457200" eaLnBrk="1" hangingPunct="1">
              <a:defRPr/>
            </a:pPr>
            <a:r>
              <a:rPr lang="en-US" altLang="zh-CN" sz="2000" b="1" i="1" dirty="0">
                <a:solidFill>
                  <a:schemeClr val="accent5">
                    <a:lumMod val="25000"/>
                  </a:schemeClr>
                </a:solidFill>
              </a:rPr>
              <a:t>p = &amp;b;</a:t>
            </a:r>
            <a:endParaRPr lang="zh-CN" altLang="en-US" sz="2000" b="1" i="1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7019925" y="5229225"/>
            <a:ext cx="720725" cy="3603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74676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0" name="TextBox 36"/>
          <p:cNvSpPr txBox="1">
            <a:spLocks noChangeArrowheads="1"/>
          </p:cNvSpPr>
          <p:nvPr/>
        </p:nvSpPr>
        <p:spPr bwMode="auto">
          <a:xfrm>
            <a:off x="4427538" y="5300663"/>
            <a:ext cx="1584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2060"/>
                </a:solidFill>
              </a:rPr>
              <a:t>p-&gt;f()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8" name="TextBox 37"/>
          <p:cNvSpPr txBox="1"/>
          <p:nvPr/>
        </p:nvSpPr>
        <p:spPr>
          <a:xfrm>
            <a:off x="7235825" y="3573463"/>
            <a:ext cx="1466850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+mn-ea"/>
                <a:ea typeface="+mn-ea"/>
              </a:rPr>
              <a:t>虚函数表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2000" dirty="0">
                <a:latin typeface="+mn-ea"/>
                <a:ea typeface="+mn-ea"/>
              </a:rPr>
              <a:t>（</a:t>
            </a:r>
            <a:r>
              <a:rPr lang="en-US" altLang="zh-CN" sz="2000" dirty="0" err="1">
                <a:latin typeface="+mn-ea"/>
                <a:ea typeface="+mn-ea"/>
              </a:rPr>
              <a:t>vtable</a:t>
            </a:r>
            <a:r>
              <a:rPr lang="en-US" altLang="zh-CN" sz="2000" dirty="0">
                <a:latin typeface="+mn-ea"/>
                <a:ea typeface="+mn-ea"/>
              </a:rPr>
              <a:t>）</a:t>
            </a:r>
            <a:endParaRPr lang="zh-CN" altLang="en-US" sz="2000" dirty="0">
              <a:latin typeface="+mn-ea"/>
              <a:ea typeface="+mn-ea"/>
            </a:endParaRPr>
          </a:p>
        </p:txBody>
      </p:sp>
      <p:cxnSp>
        <p:nvCxnSpPr>
          <p:cNvPr id="40" name="直接箭头连接符 39"/>
          <p:cNvCxnSpPr>
            <a:cxnSpLocks noChangeShapeType="1"/>
          </p:cNvCxnSpPr>
          <p:nvPr/>
        </p:nvCxnSpPr>
        <p:spPr bwMode="auto">
          <a:xfrm flipH="1">
            <a:off x="6732588" y="4076700"/>
            <a:ext cx="64770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42"/>
          <p:cNvCxnSpPr>
            <a:cxnSpLocks noChangeShapeType="1"/>
            <a:stCxn id="38" idx="2"/>
          </p:cNvCxnSpPr>
          <p:nvPr/>
        </p:nvCxnSpPr>
        <p:spPr bwMode="auto">
          <a:xfrm>
            <a:off x="7969250" y="4281488"/>
            <a:ext cx="347663" cy="5873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44"/>
          <p:cNvCxnSpPr>
            <a:cxnSpLocks noChangeShapeType="1"/>
            <a:endCxn id="31" idx="0"/>
          </p:cNvCxnSpPr>
          <p:nvPr/>
        </p:nvCxnSpPr>
        <p:spPr bwMode="auto">
          <a:xfrm>
            <a:off x="5003800" y="3213100"/>
            <a:ext cx="144463" cy="7207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6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59" grpId="0" build="allAtOnce"/>
      <p:bldP spid="31" grpId="0" animBg="1"/>
      <p:bldP spid="41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8089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85813" y="2133600"/>
            <a:ext cx="3405187" cy="4495800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class 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{    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        A() { f();}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	virtual  void f();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        void g();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	void h() { f(); g();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};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class B: public 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{   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    void f();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	    void g();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i="1"/>
              <a:t>};	</a:t>
            </a:r>
          </a:p>
        </p:txBody>
      </p:sp>
      <p:sp>
        <p:nvSpPr>
          <p:cNvPr id="80899" name="Text Box 5"/>
          <p:cNvSpPr txBox="1">
            <a:spLocks noChangeArrowheads="1"/>
          </p:cNvSpPr>
          <p:nvPr/>
        </p:nvSpPr>
        <p:spPr bwMode="auto">
          <a:xfrm>
            <a:off x="4038600" y="4708525"/>
            <a:ext cx="45720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/>
              <a:t>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B b;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A *p=&amp;b;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p-&gt;f();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p-&gt;g();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p-&gt;h();	</a:t>
            </a:r>
            <a:endParaRPr lang="zh-CN" altLang="en-US" sz="2000" i="1"/>
          </a:p>
        </p:txBody>
      </p:sp>
      <p:sp>
        <p:nvSpPr>
          <p:cNvPr id="185350" name="Text Box 6"/>
          <p:cNvSpPr txBox="1">
            <a:spLocks noChangeArrowheads="1"/>
          </p:cNvSpPr>
          <p:nvPr/>
        </p:nvSpPr>
        <p:spPr bwMode="auto">
          <a:xfrm>
            <a:off x="5334000" y="5013325"/>
            <a:ext cx="323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/>
              <a:t>/</a:t>
            </a:r>
            <a:r>
              <a:rPr lang="zh-CN" altLang="en-US" sz="2000" i="1">
                <a:solidFill>
                  <a:srgbClr val="006600"/>
                </a:solidFill>
              </a:rPr>
              <a:t>/ </a:t>
            </a:r>
            <a:r>
              <a:rPr lang="en-US" altLang="zh-CN" sz="2000" i="1">
                <a:solidFill>
                  <a:srgbClr val="006600"/>
                </a:solidFill>
              </a:rPr>
              <a:t>A::A()</a:t>
            </a:r>
            <a:r>
              <a:rPr lang="zh-CN" altLang="en-US" sz="2000" i="1">
                <a:solidFill>
                  <a:srgbClr val="006600"/>
                </a:solidFill>
              </a:rPr>
              <a:t>，</a:t>
            </a:r>
            <a:r>
              <a:rPr lang="en-US" altLang="zh-CN" sz="2000" i="1">
                <a:solidFill>
                  <a:srgbClr val="006600"/>
                </a:solidFill>
              </a:rPr>
              <a:t>A::f, B::B(), </a:t>
            </a:r>
            <a:endParaRPr lang="zh-CN" altLang="en-US" sz="2000">
              <a:solidFill>
                <a:srgbClr val="006600"/>
              </a:solidFill>
            </a:endParaRPr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5254625" y="5600700"/>
            <a:ext cx="795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>
                <a:solidFill>
                  <a:srgbClr val="006600"/>
                </a:solidFill>
              </a:rPr>
              <a:t>//</a:t>
            </a:r>
            <a:r>
              <a:rPr lang="en-US" altLang="zh-CN" sz="2000" i="1">
                <a:solidFill>
                  <a:srgbClr val="006600"/>
                </a:solidFill>
              </a:rPr>
              <a:t>B::f</a:t>
            </a:r>
          </a:p>
        </p:txBody>
      </p:sp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5254625" y="5886450"/>
            <a:ext cx="857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>
                <a:solidFill>
                  <a:srgbClr val="006600"/>
                </a:solidFill>
              </a:rPr>
              <a:t>//</a:t>
            </a:r>
            <a:r>
              <a:rPr lang="en-US" altLang="zh-CN" sz="2000" i="1">
                <a:solidFill>
                  <a:srgbClr val="006600"/>
                </a:solidFill>
              </a:rPr>
              <a:t>A::g</a:t>
            </a:r>
          </a:p>
        </p:txBody>
      </p:sp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5214938" y="6215063"/>
            <a:ext cx="2047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i="1">
                <a:solidFill>
                  <a:srgbClr val="006600"/>
                </a:solidFill>
              </a:rPr>
              <a:t>//</a:t>
            </a:r>
            <a:r>
              <a:rPr lang="en-US" altLang="zh-CN" sz="2000" i="1">
                <a:solidFill>
                  <a:srgbClr val="006600"/>
                </a:solidFill>
              </a:rPr>
              <a:t>A::h, B::f, A::g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673725" y="428625"/>
            <a:ext cx="24003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virtual void f( )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void g()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class B: public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void f( ) { g();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        void g()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B 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A* p = &amp;b;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p-&gt;f();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273550"/>
            <a:ext cx="9858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1800" i="1" dirty="0">
                <a:solidFill>
                  <a:srgbClr val="006600"/>
                </a:solidFill>
                <a:latin typeface="+mj-lt"/>
              </a:rPr>
              <a:t>//</a:t>
            </a:r>
            <a:r>
              <a:rPr lang="en-US" altLang="zh-CN" sz="1800" i="1" dirty="0" err="1">
                <a:solidFill>
                  <a:srgbClr val="006600"/>
                </a:solidFill>
                <a:latin typeface="+mj-lt"/>
              </a:rPr>
              <a:t>b.B</a:t>
            </a:r>
            <a:r>
              <a:rPr lang="en-US" altLang="zh-CN" sz="1800" i="1" dirty="0">
                <a:solidFill>
                  <a:srgbClr val="006600"/>
                </a:solidFill>
                <a:latin typeface="+mj-lt"/>
              </a:rPr>
              <a:t>::g</a:t>
            </a:r>
            <a:endParaRPr lang="zh-CN" altLang="en-US" sz="1800" dirty="0">
              <a:latin typeface="+mj-lt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273002">
            <a:off x="2506663" y="1890713"/>
            <a:ext cx="3006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C00000"/>
                </a:solidFill>
              </a:rPr>
              <a:t>直到构造函数返回之后，</a:t>
            </a:r>
            <a:endParaRPr lang="en-US" altLang="zh-CN" sz="200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C00000"/>
                </a:solidFill>
              </a:rPr>
              <a:t>对象方可正常使用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505700" y="1916113"/>
            <a:ext cx="163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00000"/>
                </a:solidFill>
              </a:rPr>
              <a:t>B* const this</a:t>
            </a:r>
            <a:endParaRPr lang="zh-CN" altLang="en-US" sz="2000" i="1">
              <a:solidFill>
                <a:srgbClr val="C00000"/>
              </a:solidFill>
            </a:endParaRP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flipH="1">
            <a:off x="7019925" y="2276475"/>
            <a:ext cx="647700" cy="5048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524750" y="3213100"/>
            <a:ext cx="1293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00000"/>
                </a:solidFill>
              </a:rPr>
              <a:t>this-&gt;g();</a:t>
            </a:r>
            <a:endParaRPr lang="zh-CN" altLang="en-US" sz="2000" i="1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>
            <a:cxnSpLocks noChangeShapeType="1"/>
          </p:cNvCxnSpPr>
          <p:nvPr/>
        </p:nvCxnSpPr>
        <p:spPr bwMode="auto">
          <a:xfrm flipH="1" flipV="1">
            <a:off x="7596188" y="2924175"/>
            <a:ext cx="431800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0" grpId="0" autoUpdateAnimBg="0"/>
      <p:bldP spid="185351" grpId="0" autoUpdateAnimBg="0"/>
      <p:bldP spid="185352" grpId="0" autoUpdateAnimBg="0"/>
      <p:bldP spid="185353" grpId="0" autoUpdateAnimBg="0"/>
      <p:bldP spid="9" grpId="0" build="allAtOnce"/>
      <p:bldP spid="10" grpId="0" build="allAtOnce"/>
      <p:bldP spid="11" grpId="0" build="allAtOnce"/>
      <p:bldP spid="15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final, override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7664" y="2420888"/>
            <a:ext cx="3029272" cy="396044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i="1" dirty="0" err="1"/>
              <a:t>struct</a:t>
            </a:r>
            <a:r>
              <a:rPr lang="en-US" altLang="zh-CN" i="1" dirty="0"/>
              <a:t> B {</a:t>
            </a:r>
          </a:p>
          <a:p>
            <a:pPr marL="0" indent="0">
              <a:buNone/>
            </a:pPr>
            <a:r>
              <a:rPr lang="en-US" altLang="zh-CN" i="1" dirty="0"/>
              <a:t>    virtual void f1(</a:t>
            </a:r>
            <a:r>
              <a:rPr lang="en-US" altLang="zh-CN" i="1" dirty="0" err="1"/>
              <a:t>int</a:t>
            </a:r>
            <a:r>
              <a:rPr lang="en-US" altLang="zh-CN" i="1" dirty="0"/>
              <a:t>) </a:t>
            </a:r>
            <a:r>
              <a:rPr lang="en-US" altLang="zh-CN" i="1" dirty="0" err="1"/>
              <a:t>const</a:t>
            </a:r>
            <a:r>
              <a:rPr lang="en-US" altLang="zh-CN" i="1" dirty="0"/>
              <a:t> ;</a:t>
            </a:r>
          </a:p>
          <a:p>
            <a:pPr marL="0" indent="0">
              <a:buNone/>
            </a:pPr>
            <a:r>
              <a:rPr lang="en-US" altLang="zh-CN" i="1" dirty="0"/>
              <a:t>    virtual void f2 ();</a:t>
            </a:r>
          </a:p>
          <a:p>
            <a:pPr marL="0" indent="0">
              <a:buNone/>
            </a:pPr>
            <a:r>
              <a:rPr lang="en-US" altLang="zh-CN" i="1" dirty="0"/>
              <a:t>    void f3 () ;</a:t>
            </a:r>
          </a:p>
          <a:p>
            <a:pPr marL="0" indent="0">
              <a:buNone/>
            </a:pPr>
            <a:r>
              <a:rPr lang="en-US" altLang="zh-CN" i="1" dirty="0"/>
              <a:t>    virtual void f5 (int) final;</a:t>
            </a:r>
          </a:p>
          <a:p>
            <a:pPr marL="0" indent="0">
              <a:buNone/>
            </a:pP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};</a:t>
            </a:r>
          </a:p>
          <a:p>
            <a:pPr marL="0" indent="0">
              <a:buNone/>
            </a:pPr>
            <a:r>
              <a:rPr lang="en-US" altLang="zh-CN" i="1" dirty="0" err="1"/>
              <a:t>struct</a:t>
            </a:r>
            <a:r>
              <a:rPr lang="en-US" altLang="zh-CN" i="1" dirty="0"/>
              <a:t> D: B {</a:t>
            </a:r>
          </a:p>
          <a:p>
            <a:pPr marL="0" indent="0">
              <a:buNone/>
            </a:pPr>
            <a:r>
              <a:rPr lang="en-US" altLang="zh-CN" i="1" dirty="0"/>
              <a:t>    void f1(</a:t>
            </a:r>
            <a:r>
              <a:rPr lang="en-US" altLang="zh-CN" i="1" dirty="0" err="1"/>
              <a:t>int</a:t>
            </a:r>
            <a:r>
              <a:rPr lang="en-US" altLang="zh-CN" i="1" dirty="0"/>
              <a:t>) </a:t>
            </a:r>
            <a:r>
              <a:rPr lang="en-US" altLang="zh-CN" i="1" dirty="0" err="1"/>
              <a:t>const</a:t>
            </a:r>
            <a:r>
              <a:rPr lang="en-US" altLang="zh-CN" i="1" dirty="0"/>
              <a:t> override ;</a:t>
            </a:r>
            <a:r>
              <a:rPr lang="zh-CN" altLang="en-US" i="1" dirty="0"/>
              <a:t> 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    void f2(</a:t>
            </a:r>
            <a:r>
              <a:rPr lang="en-US" altLang="zh-CN" i="1" dirty="0" err="1"/>
              <a:t>int</a:t>
            </a:r>
            <a:r>
              <a:rPr lang="en-US" altLang="zh-CN" i="1" dirty="0"/>
              <a:t>) override ;</a:t>
            </a:r>
          </a:p>
          <a:p>
            <a:pPr marL="0" indent="0">
              <a:buNone/>
            </a:pPr>
            <a:r>
              <a:rPr lang="en-US" altLang="zh-CN" i="1" dirty="0"/>
              <a:t>    void f3 () override ;</a:t>
            </a:r>
          </a:p>
          <a:p>
            <a:pPr marL="0" indent="0">
              <a:buNone/>
            </a:pPr>
            <a:r>
              <a:rPr lang="en-US" altLang="zh-CN" i="1" dirty="0"/>
              <a:t>    void f4 () override ;</a:t>
            </a:r>
          </a:p>
          <a:p>
            <a:pPr marL="0" indent="0">
              <a:buNone/>
            </a:pPr>
            <a:r>
              <a:rPr lang="en-US" altLang="zh-CN" i="1" dirty="0"/>
              <a:t>    void f5 (</a:t>
            </a:r>
            <a:r>
              <a:rPr lang="en-US" altLang="zh-CN" i="1" dirty="0" err="1"/>
              <a:t>int</a:t>
            </a:r>
            <a:r>
              <a:rPr lang="en-US" altLang="zh-CN" i="1" dirty="0"/>
              <a:t>) ;</a:t>
            </a:r>
          </a:p>
          <a:p>
            <a:pPr marL="0" indent="0">
              <a:buNone/>
            </a:pPr>
            <a:r>
              <a:rPr lang="en-US" altLang="zh-CN" i="1" dirty="0"/>
              <a:t>}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211960" y="4221088"/>
            <a:ext cx="4464496" cy="133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4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正确： </a:t>
            </a:r>
            <a:r>
              <a:rPr lang="en-US" altLang="zh-CN" kern="0" dirty="0"/>
              <a:t>f1</a:t>
            </a:r>
            <a:r>
              <a:rPr lang="zh-CN" altLang="en-US" kern="0" dirty="0"/>
              <a:t>与基类中的</a:t>
            </a:r>
            <a:r>
              <a:rPr lang="en-US" altLang="zh-CN" kern="0" dirty="0"/>
              <a:t>f1 </a:t>
            </a:r>
            <a:r>
              <a:rPr lang="zh-CN" altLang="en-US" kern="0" dirty="0"/>
              <a:t>匹配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错误： </a:t>
            </a:r>
            <a:r>
              <a:rPr lang="en-US" altLang="zh-CN" kern="0" dirty="0"/>
              <a:t>B</a:t>
            </a:r>
            <a:r>
              <a:rPr lang="zh-CN" altLang="en-US" kern="0" dirty="0"/>
              <a:t>没有形如</a:t>
            </a:r>
            <a:r>
              <a:rPr lang="en-US" altLang="zh-CN" kern="0" dirty="0"/>
              <a:t>f2(</a:t>
            </a:r>
            <a:r>
              <a:rPr lang="en-US" altLang="zh-CN" kern="0" dirty="0" err="1"/>
              <a:t>int</a:t>
            </a:r>
            <a:r>
              <a:rPr lang="en-US" altLang="zh-CN" kern="0" dirty="0"/>
              <a:t>) </a:t>
            </a:r>
            <a:r>
              <a:rPr lang="zh-CN" altLang="en-US" kern="0" dirty="0"/>
              <a:t>的函数。</a:t>
            </a:r>
            <a:r>
              <a:rPr lang="en-US" altLang="zh-CN" kern="0" dirty="0"/>
              <a:t>int f2()</a:t>
            </a:r>
            <a:r>
              <a:rPr lang="zh-CN" altLang="en-US" kern="0" dirty="0"/>
              <a:t>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错误： </a:t>
            </a:r>
            <a:r>
              <a:rPr lang="en-US" altLang="zh-CN" kern="0" dirty="0"/>
              <a:t>f3</a:t>
            </a:r>
            <a:r>
              <a:rPr lang="zh-CN" altLang="en-US" kern="0" dirty="0"/>
              <a:t>不是虚函数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错误： </a:t>
            </a:r>
            <a:r>
              <a:rPr lang="en-US" altLang="zh-CN" kern="0" dirty="0"/>
              <a:t>B</a:t>
            </a:r>
            <a:r>
              <a:rPr lang="zh-CN" altLang="en-US" kern="0" dirty="0"/>
              <a:t>没有名为</a:t>
            </a:r>
            <a:r>
              <a:rPr lang="en-US" altLang="zh-CN" kern="0" dirty="0"/>
              <a:t>f4</a:t>
            </a:r>
            <a:r>
              <a:rPr lang="zh-CN" altLang="en-US" kern="0" dirty="0"/>
              <a:t>的函数</a:t>
            </a:r>
            <a:endParaRPr lang="en-US" altLang="zh-CN" kern="0" dirty="0"/>
          </a:p>
          <a:p>
            <a:pPr marL="0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错误： </a:t>
            </a:r>
            <a:r>
              <a:rPr lang="en-US" altLang="zh-CN" dirty="0"/>
              <a:t>B</a:t>
            </a:r>
            <a:r>
              <a:rPr lang="zh-CN" altLang="en-US" dirty="0"/>
              <a:t>已经将</a:t>
            </a:r>
            <a:r>
              <a:rPr lang="en-US" altLang="zh-CN" dirty="0"/>
              <a:t>f5</a:t>
            </a:r>
            <a:r>
              <a:rPr lang="zh-CN" altLang="en-US" dirty="0"/>
              <a:t>声明成</a:t>
            </a:r>
            <a:r>
              <a:rPr lang="en-US" altLang="zh-CN" dirty="0"/>
              <a:t>final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415058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4D52C-EF0A-271F-EB85-0EE1E86B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访问控制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D46516-A519-F82E-0837-01A4E65322B9}"/>
              </a:ext>
            </a:extLst>
          </p:cNvPr>
          <p:cNvSpPr txBox="1"/>
          <p:nvPr/>
        </p:nvSpPr>
        <p:spPr>
          <a:xfrm>
            <a:off x="1171473" y="1767373"/>
            <a:ext cx="8190656" cy="5022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struct B { 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protected: 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virtual void f() {} 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};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struct D : B {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public: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void f() override {}  // 放宽为 public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};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zh-CN" altLang="en-US" sz="1800" i="1" dirty="0">
              <a:latin typeface="+mn-lt"/>
              <a:ea typeface="+mn-ea"/>
            </a:endParaRP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int main() {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D d;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d.f();          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B* pb = &amp;d;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    pb-&gt;f();     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800" i="1" dirty="0">
                <a:latin typeface="+mn-lt"/>
                <a:ea typeface="+mn-ea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1DBCC8-4C9D-59D6-0103-311DA4BFB92F}"/>
              </a:ext>
            </a:extLst>
          </p:cNvPr>
          <p:cNvSpPr txBox="1"/>
          <p:nvPr/>
        </p:nvSpPr>
        <p:spPr>
          <a:xfrm>
            <a:off x="2749097" y="5373216"/>
            <a:ext cx="364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i="1" dirty="0"/>
              <a:t>// 直接调用，检查 D::f，是 public</a:t>
            </a:r>
            <a:endParaRPr kumimoji="1" lang="zh-CN" altLang="en-US" sz="1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3136CD-6B0A-FD92-7550-F6603835ECFF}"/>
              </a:ext>
            </a:extLst>
          </p:cNvPr>
          <p:cNvSpPr txBox="1"/>
          <p:nvPr/>
        </p:nvSpPr>
        <p:spPr>
          <a:xfrm>
            <a:off x="2627784" y="6084864"/>
            <a:ext cx="573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i="1" dirty="0"/>
              <a:t>// ❌ 编译期按 B::f 检查，B::f 是 protected，类外不可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4775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7D1F1A-3631-6548-9D62-927D33441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88640"/>
            <a:ext cx="7772400" cy="666936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class B {</a:t>
            </a:r>
          </a:p>
          <a:p>
            <a:pPr marL="0" indent="0">
              <a:buNone/>
            </a:pPr>
            <a:r>
              <a:rPr lang="en-US" altLang="zh-CN" dirty="0"/>
              <a:t>    int x=0; </a:t>
            </a:r>
          </a:p>
          <a:p>
            <a:pPr marL="0" indent="0">
              <a:buNone/>
            </a:pPr>
            <a:r>
              <a:rPr lang="en-US" altLang="zh-CN" dirty="0"/>
              <a:t>public:</a:t>
            </a:r>
          </a:p>
          <a:p>
            <a:pPr marL="0" indent="0">
              <a:buNone/>
            </a:pPr>
            <a:r>
              <a:rPr lang="en-US" altLang="zh-CN" dirty="0"/>
              <a:t>     void </a:t>
            </a:r>
            <a:r>
              <a:rPr lang="en-US" altLang="zh-CN" dirty="0" err="1"/>
              <a:t>setX</a:t>
            </a:r>
            <a:r>
              <a:rPr lang="en-US" altLang="zh-CN" dirty="0"/>
              <a:t>(int px) {x=px;}</a:t>
            </a:r>
          </a:p>
          <a:p>
            <a:pPr marL="0" indent="0">
              <a:buNone/>
            </a:pPr>
            <a:r>
              <a:rPr lang="en-US" altLang="zh-CN" dirty="0"/>
              <a:t>     void </a:t>
            </a:r>
            <a:r>
              <a:rPr lang="en-US" altLang="zh-CN" dirty="0" err="1"/>
              <a:t>getX</a:t>
            </a:r>
            <a:r>
              <a:rPr lang="en-US" altLang="zh-CN" dirty="0"/>
              <a:t>(){</a:t>
            </a:r>
            <a:r>
              <a:rPr lang="en-US" altLang="zh-CN" dirty="0" err="1"/>
              <a:t>cout</a:t>
            </a:r>
            <a:r>
              <a:rPr lang="en-US" altLang="zh-CN" dirty="0"/>
              <a:t>&lt;&lt;x;}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class D: public B {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using B::x;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setX</a:t>
            </a:r>
            <a:r>
              <a:rPr lang="en-US" altLang="zh-CN" dirty="0"/>
              <a:t>(int px) {x=2*px;}    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B * pb=new D;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setX</a:t>
            </a:r>
            <a:r>
              <a:rPr lang="en-US" altLang="zh-CN" dirty="0"/>
              <a:t>(15);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getX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866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E0172-B7C5-164F-8FA1-BCEEE265C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116633"/>
            <a:ext cx="7772400" cy="662473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class B {</a:t>
            </a:r>
          </a:p>
          <a:p>
            <a:pPr marL="0" indent="0">
              <a:buNone/>
            </a:pPr>
            <a:r>
              <a:rPr lang="en-US" altLang="zh-CN" dirty="0"/>
              <a:t>         int y=0;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 {y=</a:t>
            </a:r>
            <a:r>
              <a:rPr lang="en-US" altLang="zh-CN" dirty="0" err="1"/>
              <a:t>py</a:t>
            </a:r>
            <a:r>
              <a:rPr lang="en-US" altLang="zh-CN" dirty="0"/>
              <a:t>;}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getY</a:t>
            </a:r>
            <a:r>
              <a:rPr lang="en-US" altLang="zh-CN" dirty="0"/>
              <a:t>(){</a:t>
            </a:r>
            <a:r>
              <a:rPr lang="en-US" altLang="zh-CN" dirty="0" err="1"/>
              <a:t>cout</a:t>
            </a:r>
            <a:r>
              <a:rPr lang="en-US" altLang="zh-CN" dirty="0"/>
              <a:t>&lt;&lt;y;}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class D: public B {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int y=0;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() {y=5;}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){B::</a:t>
            </a:r>
            <a:r>
              <a:rPr lang="en-US" altLang="zh-CN" dirty="0" err="1"/>
              <a:t>setY</a:t>
            </a:r>
            <a:r>
              <a:rPr lang="en-US" altLang="zh-CN" dirty="0"/>
              <a:t>(2*</a:t>
            </a:r>
            <a:r>
              <a:rPr lang="en-US" altLang="zh-CN" dirty="0" err="1"/>
              <a:t>py</a:t>
            </a:r>
            <a:r>
              <a:rPr lang="en-US" altLang="zh-CN" dirty="0"/>
              <a:t>);}</a:t>
            </a:r>
          </a:p>
          <a:p>
            <a:pPr marL="0" indent="0">
              <a:buNone/>
            </a:pPr>
            <a:r>
              <a:rPr lang="en-US" altLang="zh-CN" dirty="0"/>
              <a:t>       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B * pb=new D;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setY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getY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43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B7E71-5753-CB46-9188-04ED28F7F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88640"/>
            <a:ext cx="7772400" cy="65527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class B {</a:t>
            </a:r>
          </a:p>
          <a:p>
            <a:pPr marL="0" indent="0">
              <a:buNone/>
            </a:pPr>
            <a:r>
              <a:rPr lang="en-US" altLang="zh-CN" dirty="0"/>
              <a:t>         int y=0;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 {y=</a:t>
            </a:r>
            <a:r>
              <a:rPr lang="en-US" altLang="zh-CN" dirty="0" err="1"/>
              <a:t>py</a:t>
            </a:r>
            <a:r>
              <a:rPr lang="en-US" altLang="zh-CN" dirty="0"/>
              <a:t>;}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getY</a:t>
            </a:r>
            <a:r>
              <a:rPr lang="en-US" altLang="zh-CN" dirty="0"/>
              <a:t>(){</a:t>
            </a:r>
            <a:r>
              <a:rPr lang="en-US" altLang="zh-CN" dirty="0" err="1"/>
              <a:t>cout</a:t>
            </a:r>
            <a:r>
              <a:rPr lang="en-US" altLang="zh-CN" dirty="0"/>
              <a:t>&lt;&lt;y;}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class D: public B {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int y=0;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() {y=5;}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){B::</a:t>
            </a:r>
            <a:r>
              <a:rPr lang="en-US" altLang="zh-CN" dirty="0" err="1"/>
              <a:t>setY</a:t>
            </a:r>
            <a:r>
              <a:rPr lang="en-US" altLang="zh-CN" dirty="0"/>
              <a:t>(2*</a:t>
            </a:r>
            <a:r>
              <a:rPr lang="en-US" altLang="zh-CN" dirty="0" err="1"/>
              <a:t>py</a:t>
            </a:r>
            <a:r>
              <a:rPr lang="en-US" altLang="zh-CN" dirty="0"/>
              <a:t>);}</a:t>
            </a:r>
          </a:p>
          <a:p>
            <a:pPr marL="0" indent="0">
              <a:buNone/>
            </a:pPr>
            <a:r>
              <a:rPr lang="en-US" altLang="zh-CN" dirty="0"/>
              <a:t>       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D * pb=new D;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setY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getY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648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40D0C-F07C-C844-B772-E7577E202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88640"/>
            <a:ext cx="7772400" cy="666936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class B {</a:t>
            </a:r>
          </a:p>
          <a:p>
            <a:pPr marL="0" indent="0">
              <a:buNone/>
            </a:pPr>
            <a:r>
              <a:rPr lang="en-US" altLang="zh-CN" dirty="0"/>
              <a:t>         int y=0;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 {y=</a:t>
            </a:r>
            <a:r>
              <a:rPr lang="en-US" altLang="zh-CN" dirty="0" err="1"/>
              <a:t>py</a:t>
            </a:r>
            <a:r>
              <a:rPr lang="en-US" altLang="zh-CN" dirty="0"/>
              <a:t>;}</a:t>
            </a:r>
          </a:p>
          <a:p>
            <a:pPr marL="0" indent="0">
              <a:buNone/>
            </a:pPr>
            <a:r>
              <a:rPr lang="en-US" altLang="zh-CN" dirty="0"/>
              <a:t>        void </a:t>
            </a:r>
            <a:r>
              <a:rPr lang="en-US" altLang="zh-CN" dirty="0" err="1"/>
              <a:t>getY</a:t>
            </a:r>
            <a:r>
              <a:rPr lang="en-US" altLang="zh-CN" dirty="0"/>
              <a:t>(){</a:t>
            </a:r>
            <a:r>
              <a:rPr lang="en-US" altLang="zh-CN" dirty="0" err="1"/>
              <a:t>cout</a:t>
            </a:r>
            <a:r>
              <a:rPr lang="en-US" altLang="zh-CN" dirty="0"/>
              <a:t>&lt;&lt;y;}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r>
              <a:rPr lang="en-US" altLang="zh-CN" dirty="0"/>
              <a:t>class D: public B {</a:t>
            </a:r>
          </a:p>
          <a:p>
            <a:pPr marL="0" indent="0">
              <a:buNone/>
            </a:pPr>
            <a:r>
              <a:rPr lang="en-US" altLang="zh-CN" dirty="0"/>
              <a:t>    public:</a:t>
            </a:r>
          </a:p>
          <a:p>
            <a:pPr marL="0" indent="0">
              <a:buNone/>
            </a:pPr>
            <a:r>
              <a:rPr lang="en-US" altLang="zh-CN" dirty="0"/>
              <a:t>       int y=0;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() {y=5;}</a:t>
            </a:r>
          </a:p>
          <a:p>
            <a:pPr marL="0" indent="0">
              <a:buNone/>
            </a:pPr>
            <a:r>
              <a:rPr lang="en-US" altLang="zh-CN" dirty="0"/>
              <a:t>       void </a:t>
            </a:r>
            <a:r>
              <a:rPr lang="en-US" altLang="zh-CN" dirty="0" err="1"/>
              <a:t>setY</a:t>
            </a:r>
            <a:r>
              <a:rPr lang="en-US" altLang="zh-CN" dirty="0"/>
              <a:t>(int </a:t>
            </a:r>
            <a:r>
              <a:rPr lang="en-US" altLang="zh-CN" dirty="0" err="1"/>
              <a:t>py</a:t>
            </a:r>
            <a:r>
              <a:rPr lang="en-US" altLang="zh-CN" dirty="0"/>
              <a:t>){B::</a:t>
            </a:r>
            <a:r>
              <a:rPr lang="en-US" altLang="zh-CN" dirty="0" err="1"/>
              <a:t>setY</a:t>
            </a:r>
            <a:r>
              <a:rPr lang="en-US" altLang="zh-CN" dirty="0"/>
              <a:t>(2*</a:t>
            </a:r>
            <a:r>
              <a:rPr lang="en-US" altLang="zh-CN" dirty="0" err="1"/>
              <a:t>py</a:t>
            </a:r>
            <a:r>
              <a:rPr lang="en-US" altLang="zh-CN" dirty="0"/>
              <a:t>);}</a:t>
            </a:r>
          </a:p>
          <a:p>
            <a:pPr marL="0" indent="0">
              <a:buNone/>
            </a:pPr>
            <a:r>
              <a:rPr lang="en-US" altLang="zh-CN" dirty="0"/>
              <a:t>       </a:t>
            </a:r>
          </a:p>
          <a:p>
            <a:pPr marL="0" indent="0">
              <a:buNone/>
            </a:pPr>
            <a:r>
              <a:rPr lang="en-US" altLang="zh-CN" dirty="0"/>
              <a:t>};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D * pb=new D;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setY</a:t>
            </a:r>
            <a:r>
              <a:rPr lang="en-US" altLang="zh-CN" dirty="0"/>
              <a:t>(5);</a:t>
            </a:r>
          </a:p>
          <a:p>
            <a:pPr marL="0" indent="0">
              <a:buNone/>
            </a:pPr>
            <a:r>
              <a:rPr lang="en-US" altLang="zh-CN" dirty="0"/>
              <a:t>    pb-&gt;</a:t>
            </a:r>
            <a:r>
              <a:rPr lang="en-US" altLang="zh-CN" dirty="0" err="1"/>
              <a:t>getY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    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6406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友元和</a:t>
            </a:r>
            <a:r>
              <a:rPr lang="en-US" altLang="zh-CN" dirty="0"/>
              <a:t>protected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2688" y="2017713"/>
            <a:ext cx="3749352" cy="4114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i="1" dirty="0"/>
              <a:t>class Base (</a:t>
            </a:r>
          </a:p>
          <a:p>
            <a:pPr marL="0" indent="0">
              <a:buNone/>
            </a:pPr>
            <a:r>
              <a:rPr lang="en-US" altLang="zh-CN" i="1" dirty="0"/>
              <a:t>protected :</a:t>
            </a:r>
          </a:p>
          <a:p>
            <a:pPr marL="0" indent="0">
              <a:buNone/>
            </a:pPr>
            <a:r>
              <a:rPr lang="en-US" altLang="zh-CN" i="1" dirty="0"/>
              <a:t>    </a:t>
            </a:r>
            <a:r>
              <a:rPr lang="en-US" altLang="zh-CN" i="1" dirty="0" err="1"/>
              <a:t>int</a:t>
            </a:r>
            <a:r>
              <a:rPr lang="en-US" altLang="zh-CN" i="1" dirty="0"/>
              <a:t> </a:t>
            </a:r>
            <a:r>
              <a:rPr lang="en-US" altLang="zh-CN" i="1" dirty="0" err="1"/>
              <a:t>prot_mem</a:t>
            </a:r>
            <a:r>
              <a:rPr lang="en-US" altLang="zh-CN" i="1" dirty="0"/>
              <a:t>;</a:t>
            </a:r>
          </a:p>
          <a:p>
            <a:pPr marL="0" indent="0">
              <a:buNone/>
            </a:pPr>
            <a:r>
              <a:rPr lang="en-US" altLang="zh-CN" i="1" dirty="0"/>
              <a:t>} ;</a:t>
            </a:r>
          </a:p>
          <a:p>
            <a:pPr marL="0" indent="0">
              <a:buNone/>
            </a:pPr>
            <a:r>
              <a:rPr lang="en-US" altLang="zh-CN" i="1" dirty="0"/>
              <a:t>class Sneaky : public Base {</a:t>
            </a:r>
          </a:p>
          <a:p>
            <a:pPr marL="0" indent="0">
              <a:buNone/>
            </a:pPr>
            <a:r>
              <a:rPr lang="en-US" altLang="zh-CN" i="1" dirty="0"/>
              <a:t>    friend void clobber(Sneaky&amp;) ;</a:t>
            </a:r>
          </a:p>
          <a:p>
            <a:pPr marL="0" indent="0">
              <a:buNone/>
            </a:pPr>
            <a:r>
              <a:rPr lang="en-US" altLang="zh-CN" i="1" dirty="0"/>
              <a:t>    friend void clobber(Base&amp;);</a:t>
            </a:r>
          </a:p>
          <a:p>
            <a:pPr marL="0" indent="0">
              <a:buNone/>
            </a:pPr>
            <a:r>
              <a:rPr lang="en-US" altLang="zh-CN" i="1" dirty="0"/>
              <a:t>    </a:t>
            </a:r>
            <a:r>
              <a:rPr lang="en-US" altLang="zh-CN" i="1" dirty="0" err="1"/>
              <a:t>int</a:t>
            </a:r>
            <a:r>
              <a:rPr lang="en-US" altLang="zh-CN" i="1" dirty="0"/>
              <a:t> j;</a:t>
            </a:r>
          </a:p>
          <a:p>
            <a:pPr marL="0" indent="0">
              <a:buNone/>
            </a:pP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void clobber(Sneaky &amp;s) { </a:t>
            </a:r>
            <a:r>
              <a:rPr lang="en-US" altLang="zh-CN" i="1" dirty="0" err="1"/>
              <a:t>s.j</a:t>
            </a:r>
            <a:r>
              <a:rPr lang="en-US" altLang="zh-CN" i="1" dirty="0"/>
              <a:t> = </a:t>
            </a:r>
            <a:r>
              <a:rPr lang="en-US" altLang="zh-CN" i="1" dirty="0" err="1"/>
              <a:t>s.prot_mem</a:t>
            </a:r>
            <a:r>
              <a:rPr lang="en-US" altLang="zh-CN" i="1" dirty="0"/>
              <a:t> = 0; )</a:t>
            </a:r>
          </a:p>
          <a:p>
            <a:pPr marL="0" indent="0">
              <a:buNone/>
            </a:pP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void clobber(Base &amp;b) { </a:t>
            </a:r>
            <a:r>
              <a:rPr lang="en-US" altLang="zh-CN" i="1" dirty="0" err="1"/>
              <a:t>b.prot_mem</a:t>
            </a:r>
            <a:r>
              <a:rPr lang="en-US" altLang="zh-CN" i="1" dirty="0"/>
              <a:t> = 0; }</a:t>
            </a:r>
            <a:endParaRPr lang="zh-CN" altLang="en-US" i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932040" y="2564904"/>
            <a:ext cx="4104456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 protected </a:t>
            </a:r>
            <a:r>
              <a:rPr lang="zh-CN" altLang="en-US" kern="0" dirty="0"/>
              <a:t>成员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能访问</a:t>
            </a:r>
            <a:r>
              <a:rPr lang="en-US" altLang="zh-CN" kern="0" dirty="0"/>
              <a:t>Sneaky::</a:t>
            </a:r>
            <a:r>
              <a:rPr lang="en-US" altLang="zh-CN" kern="0" dirty="0" err="1"/>
              <a:t>prot_mem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不能访问</a:t>
            </a:r>
            <a:r>
              <a:rPr lang="en-US" altLang="zh-CN" kern="0" dirty="0"/>
              <a:t>Base::</a:t>
            </a:r>
            <a:r>
              <a:rPr lang="en-US" altLang="zh-CN" kern="0" dirty="0" err="1"/>
              <a:t>prot_mem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 j </a:t>
            </a:r>
            <a:r>
              <a:rPr lang="zh-CN" altLang="en-US" kern="0" dirty="0"/>
              <a:t>默认是</a:t>
            </a:r>
            <a:r>
              <a:rPr lang="en-US" altLang="zh-CN" kern="0" dirty="0"/>
              <a:t>private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正确：</a:t>
            </a:r>
            <a:r>
              <a:rPr lang="en-US" altLang="zh-CN" kern="0" dirty="0"/>
              <a:t>clobber </a:t>
            </a:r>
            <a:r>
              <a:rPr lang="zh-CN" altLang="en-US" kern="0" dirty="0"/>
              <a:t>能访问</a:t>
            </a:r>
            <a:r>
              <a:rPr lang="en-US" altLang="zh-CN" kern="0" dirty="0"/>
              <a:t>Sneaky</a:t>
            </a:r>
            <a:r>
              <a:rPr lang="zh-CN" altLang="en-US" kern="0" dirty="0"/>
              <a:t>对象的</a:t>
            </a:r>
            <a:endParaRPr lang="en-US" altLang="zh-CN" kern="0" dirty="0"/>
          </a:p>
          <a:p>
            <a:pPr marL="0" indent="0">
              <a:buNone/>
            </a:pPr>
            <a:r>
              <a:rPr lang="en-US" altLang="zh-CN" dirty="0"/>
              <a:t>private</a:t>
            </a:r>
            <a:r>
              <a:rPr lang="zh-CN" altLang="en-US" dirty="0"/>
              <a:t>和</a:t>
            </a:r>
            <a:r>
              <a:rPr lang="en-US" altLang="zh-CN" dirty="0"/>
              <a:t>protected</a:t>
            </a:r>
            <a:r>
              <a:rPr lang="zh-CN" altLang="en-US" dirty="0"/>
              <a:t>成员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 dirty="0"/>
          </a:p>
          <a:p>
            <a:pPr marL="0" indent="0">
              <a:buNone/>
            </a:pPr>
            <a:r>
              <a:rPr lang="en-US" altLang="zh-CN" kern="0" dirty="0"/>
              <a:t>//</a:t>
            </a:r>
            <a:r>
              <a:rPr lang="zh-CN" altLang="en-US" kern="0" dirty="0"/>
              <a:t>错误： </a:t>
            </a:r>
            <a:r>
              <a:rPr lang="en-US" altLang="zh-CN" kern="0" dirty="0"/>
              <a:t>clobber </a:t>
            </a:r>
            <a:r>
              <a:rPr lang="zh-CN" altLang="en-US" kern="0" dirty="0"/>
              <a:t>不能访问</a:t>
            </a:r>
            <a:r>
              <a:rPr lang="en-US" altLang="zh-CN" kern="0" dirty="0"/>
              <a:t>Base</a:t>
            </a:r>
            <a:r>
              <a:rPr lang="zh-CN" altLang="en-US" kern="0" dirty="0"/>
              <a:t>的</a:t>
            </a:r>
            <a:r>
              <a:rPr lang="en-US" altLang="zh-CN" dirty="0"/>
              <a:t>protected </a:t>
            </a:r>
            <a:r>
              <a:rPr lang="zh-CN" altLang="en-US" dirty="0"/>
              <a:t>成员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06677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C++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11240</TotalTime>
  <Words>3361</Words>
  <Application>Microsoft Macintosh PowerPoint</Application>
  <PresentationFormat>全屏显示(4:3)</PresentationFormat>
  <Paragraphs>712</Paragraphs>
  <Slides>34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宋体</vt:lpstr>
      <vt:lpstr>Arial</vt:lpstr>
      <vt:lpstr>Calibri</vt:lpstr>
      <vt:lpstr>Tahoma</vt:lpstr>
      <vt:lpstr>Times New Roman</vt:lpstr>
      <vt:lpstr>Wingdings</vt:lpstr>
      <vt:lpstr>Blends</vt:lpstr>
      <vt:lpstr>ThemC++</vt:lpstr>
      <vt:lpstr>C++程序设计（part 2）</vt:lpstr>
      <vt:lpstr>PowerPoint 演示文稿</vt:lpstr>
      <vt:lpstr>动态对象</vt:lpstr>
      <vt:lpstr>Const 成员</vt:lpstr>
      <vt:lpstr>Constant Expressions</vt:lpstr>
      <vt:lpstr>静态成员</vt:lpstr>
      <vt:lpstr>静态成员</vt:lpstr>
      <vt:lpstr>静态成员</vt:lpstr>
      <vt:lpstr>友元</vt:lpstr>
      <vt:lpstr>友元</vt:lpstr>
      <vt:lpstr>友元</vt:lpstr>
      <vt:lpstr>友元</vt:lpstr>
      <vt:lpstr>友元</vt:lpstr>
      <vt:lpstr>友元</vt:lpstr>
      <vt:lpstr>友元</vt:lpstr>
      <vt:lpstr>原则</vt:lpstr>
      <vt:lpstr>继承</vt:lpstr>
      <vt:lpstr>单继承</vt:lpstr>
      <vt:lpstr>继承</vt:lpstr>
      <vt:lpstr>继承</vt:lpstr>
      <vt:lpstr>虚函数</vt:lpstr>
      <vt:lpstr>虚函数</vt:lpstr>
      <vt:lpstr>虚函数</vt:lpstr>
      <vt:lpstr>虚函数</vt:lpstr>
      <vt:lpstr>虚函数</vt:lpstr>
      <vt:lpstr>虚函数</vt:lpstr>
      <vt:lpstr>虚函数</vt:lpstr>
      <vt:lpstr>final, override</vt:lpstr>
      <vt:lpstr>访问控制</vt:lpstr>
      <vt:lpstr>PowerPoint 演示文稿</vt:lpstr>
      <vt:lpstr>PowerPoint 演示文稿</vt:lpstr>
      <vt:lpstr>PowerPoint 演示文稿</vt:lpstr>
      <vt:lpstr>PowerPoint 演示文稿</vt:lpstr>
      <vt:lpstr>友元和protected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</dc:title>
  <dc:creator>zt</dc:creator>
  <cp:lastModifiedBy>Admin</cp:lastModifiedBy>
  <cp:revision>526</cp:revision>
  <cp:lastPrinted>1601-01-01T00:00:00Z</cp:lastPrinted>
  <dcterms:created xsi:type="dcterms:W3CDTF">2007-03-08T08:43:17Z</dcterms:created>
  <dcterms:modified xsi:type="dcterms:W3CDTF">2025-10-19T13:02:39Z</dcterms:modified>
</cp:coreProperties>
</file>