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50"/>
  </p:notesMasterIdLst>
  <p:sldIdLst>
    <p:sldId id="331" r:id="rId2"/>
    <p:sldId id="408" r:id="rId3"/>
    <p:sldId id="425" r:id="rId4"/>
    <p:sldId id="426" r:id="rId5"/>
    <p:sldId id="433" r:id="rId6"/>
    <p:sldId id="434" r:id="rId7"/>
    <p:sldId id="435" r:id="rId8"/>
    <p:sldId id="436" r:id="rId9"/>
    <p:sldId id="273" r:id="rId10"/>
    <p:sldId id="427" r:id="rId11"/>
    <p:sldId id="437" r:id="rId12"/>
    <p:sldId id="438" r:id="rId13"/>
    <p:sldId id="274" r:id="rId14"/>
    <p:sldId id="439" r:id="rId15"/>
    <p:sldId id="440" r:id="rId16"/>
    <p:sldId id="441" r:id="rId17"/>
    <p:sldId id="442" r:id="rId18"/>
    <p:sldId id="443" r:id="rId19"/>
    <p:sldId id="416" r:id="rId20"/>
    <p:sldId id="277" r:id="rId21"/>
    <p:sldId id="415" r:id="rId22"/>
    <p:sldId id="431" r:id="rId23"/>
    <p:sldId id="428" r:id="rId24"/>
    <p:sldId id="420" r:id="rId25"/>
    <p:sldId id="404" r:id="rId26"/>
    <p:sldId id="405" r:id="rId27"/>
    <p:sldId id="410" r:id="rId28"/>
    <p:sldId id="402" r:id="rId29"/>
    <p:sldId id="397" r:id="rId30"/>
    <p:sldId id="432" r:id="rId31"/>
    <p:sldId id="429" r:id="rId32"/>
    <p:sldId id="418" r:id="rId33"/>
    <p:sldId id="276" r:id="rId34"/>
    <p:sldId id="412" r:id="rId35"/>
    <p:sldId id="411" r:id="rId36"/>
    <p:sldId id="413" r:id="rId37"/>
    <p:sldId id="414" r:id="rId38"/>
    <p:sldId id="423" r:id="rId39"/>
    <p:sldId id="303" r:id="rId40"/>
    <p:sldId id="381" r:id="rId41"/>
    <p:sldId id="400" r:id="rId42"/>
    <p:sldId id="422" r:id="rId43"/>
    <p:sldId id="383" r:id="rId44"/>
    <p:sldId id="444" r:id="rId45"/>
    <p:sldId id="445" r:id="rId46"/>
    <p:sldId id="448" r:id="rId47"/>
    <p:sldId id="446" r:id="rId48"/>
    <p:sldId id="447" r:id="rId4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28" autoAdjust="0"/>
    <p:restoredTop sz="93542" autoAdjust="0"/>
  </p:normalViewPr>
  <p:slideViewPr>
    <p:cSldViewPr>
      <p:cViewPr>
        <p:scale>
          <a:sx n="80" d="100"/>
          <a:sy n="80" d="100"/>
        </p:scale>
        <p:origin x="440" y="-2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-18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F8FFB73C-9086-4515-9547-2D8947CC70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10843CED-9B3F-4239-9392-1D0A06A602D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AFBF1A19-2ED2-4A3B-9162-29C1636AC0E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885" name="Rectangle 5">
            <a:extLst>
              <a:ext uri="{FF2B5EF4-FFF2-40B4-BE49-F238E27FC236}">
                <a16:creationId xmlns:a16="http://schemas.microsoft.com/office/drawing/2014/main" id="{77E0B819-B2F2-4174-AAD5-B555D160303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2886" name="Rectangle 6">
            <a:extLst>
              <a:ext uri="{FF2B5EF4-FFF2-40B4-BE49-F238E27FC236}">
                <a16:creationId xmlns:a16="http://schemas.microsoft.com/office/drawing/2014/main" id="{817E5B36-F439-4ADE-B342-1ACDCC4C6EA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887" name="Rectangle 7">
            <a:extLst>
              <a:ext uri="{FF2B5EF4-FFF2-40B4-BE49-F238E27FC236}">
                <a16:creationId xmlns:a16="http://schemas.microsoft.com/office/drawing/2014/main" id="{D668AE7B-FE23-45C1-886E-470EE66827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fld id="{054783C4-9BD0-424C-991C-B7E1E878CAB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9BD9D83D-F6E3-48F0-AD70-9B38CE3DC5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AC20D8D-48E9-4278-8BC6-AF7D1E5BA573}" type="slidenum">
              <a:rPr lang="zh-CN" altLang="en-US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F45105BB-821D-4302-9971-DA947DD8EE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8B41EE3C-EED7-4A2F-B055-393E33D2BD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机械地将一个集合（个体集）的性质用单个变元表示，没有揭露出个体具有这个性质的事实</a:t>
            </a:r>
            <a:r>
              <a:rPr lang="en-US" altLang="zh-CN" dirty="0"/>
              <a:t>(</a:t>
            </a:r>
            <a:r>
              <a:rPr lang="zh-CN" altLang="en-US" dirty="0"/>
              <a:t>命题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机械的命题形式化，没有刻画出个体和集合的关系（两个对象之间的关系）</a:t>
            </a:r>
            <a:endParaRPr lang="en-US" altLang="zh-CN" dirty="0"/>
          </a:p>
          <a:p>
            <a:r>
              <a:rPr lang="zh-CN" altLang="en-US" dirty="0"/>
              <a:t>或者总的说来，机械的命题逻辑，给出了推理和推理规则，给出了演绎系统的基石，但是它的表达能力不够，需要扩充。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783C4-9BD0-424C-991C-B7E1E878CABD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4352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E0708454-DF01-48A3-AA03-70EAB3A46F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6F33975-D801-4B59-825E-052EBD426798}" type="slidenum">
              <a:rPr lang="zh-CN" altLang="en-US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F563C444-00ED-4DDF-896D-5AB9EAF627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53CF7910-89A5-40E7-A5FB-2DD7929344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090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4739527D-1D6F-4D50-96F5-DCE826DBD0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A09BF25-6A47-4879-816A-403EF32D8974}" type="slidenum">
              <a:rPr lang="zh-CN" altLang="en-US"/>
              <a:pPr>
                <a:spcBef>
                  <a:spcPct val="0"/>
                </a:spcBef>
              </a:pPr>
              <a:t>13</a:t>
            </a:fld>
            <a:endParaRPr lang="en-US" altLang="zh-CN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371C150A-CB14-4811-95B1-0E96EEF837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F8AECF7-79D3-48EE-8B82-AEB751742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3F76CB8D-9861-4BAD-8983-813955F2D6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529CE82-E6B5-4982-82F9-FD00DB0CECE9}" type="slidenum">
              <a:rPr lang="zh-CN" altLang="en-US"/>
              <a:pPr>
                <a:spcBef>
                  <a:spcPct val="0"/>
                </a:spcBef>
              </a:pPr>
              <a:t>19</a:t>
            </a:fld>
            <a:endParaRPr lang="en-US" altLang="zh-CN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1D0E031E-C1BD-4BF1-A396-B0ACC677A5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E30EF8B-0198-4D68-82C7-07382F381F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7F8F6673-1FF8-40BA-9E15-EBC795209D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C68BEC2-FE67-478A-98DB-7218F4BCA557}" type="slidenum">
              <a:rPr lang="zh-CN" altLang="en-US"/>
              <a:pPr>
                <a:spcBef>
                  <a:spcPct val="0"/>
                </a:spcBef>
              </a:pPr>
              <a:t>20</a:t>
            </a:fld>
            <a:endParaRPr lang="en-US" altLang="zh-CN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8C1BDFD9-B0C1-4814-B6A7-B4E514B58F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918C91AA-35EF-45DA-B089-16D973997C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CCBD9BE6-E248-4524-B407-62E445E113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6FEAC29-27E9-4FB7-A798-17B1909D5535}" type="slidenum">
              <a:rPr lang="zh-CN" altLang="en-US"/>
              <a:pPr>
                <a:spcBef>
                  <a:spcPct val="0"/>
                </a:spcBef>
              </a:pPr>
              <a:t>21</a:t>
            </a:fld>
            <a:endParaRPr lang="en-US" altLang="zh-CN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BF36110A-8530-4DEE-949E-04FAD0D41D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34CC1060-7A34-4B1E-AD48-C632EDCB94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CA7F8168-E9BD-4C7B-A6F3-B1E40652F9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A2BE5F4-1D36-4705-B2B7-9962B17FA539}" type="slidenum">
              <a:rPr lang="zh-CN" altLang="en-US"/>
              <a:pPr>
                <a:spcBef>
                  <a:spcPct val="0"/>
                </a:spcBef>
              </a:pPr>
              <a:t>24</a:t>
            </a:fld>
            <a:endParaRPr lang="en-US" altLang="zh-CN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9E26F5DD-2A34-4479-B09F-AD2376356A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59C6B9F3-9A32-4C2B-A9FF-8C1F29E8F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95E5A3D4-218A-4334-AA6F-25B275E45F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C60636C-9F3D-4497-8AD1-B960AD5E644B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DA3865CE-FA84-44B4-ACA8-F925058364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473FB611-2BBF-46B7-929C-BF2C7BC7D5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8574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B456E255-BF6B-44AF-BEDD-B3CD3F31D8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FF127CA-D90C-4D1E-8DAC-E37CBCC67072}" type="slidenum">
              <a:rPr lang="zh-CN" altLang="en-US"/>
              <a:pPr>
                <a:spcBef>
                  <a:spcPct val="0"/>
                </a:spcBef>
              </a:pPr>
              <a:t>29</a:t>
            </a:fld>
            <a:endParaRPr lang="en-US" altLang="zh-CN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1AFE1F47-6447-49F2-AC85-CE9F93EFDC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5312C7C9-20DC-492A-AE06-C8178A2F6F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783C4-9BD0-424C-991C-B7E1E878CABD}" type="slidenum">
              <a:rPr lang="zh-CN" altLang="en-US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2298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5381F7AF-E5F5-4CCE-A3D7-71F1C2583D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3E2F78A-44DD-4F78-9C70-98E3F44B3857}" type="slidenum">
              <a:rPr lang="zh-CN" altLang="en-US"/>
              <a:pPr>
                <a:spcBef>
                  <a:spcPct val="0"/>
                </a:spcBef>
              </a:pPr>
              <a:t>33</a:t>
            </a:fld>
            <a:endParaRPr lang="en-US" altLang="zh-CN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D8D10849-0A4B-4214-9EE6-644E546531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35132A69-B925-4BB6-89C6-9322EE487F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5617AE50-0CD9-409D-BBF4-0614388395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EBF70E8-64AD-43DD-BEAB-C1EF4B08902C}" type="slidenum">
              <a:rPr lang="zh-CN" altLang="en-US"/>
              <a:pPr>
                <a:spcBef>
                  <a:spcPct val="0"/>
                </a:spcBef>
              </a:pPr>
              <a:t>34</a:t>
            </a:fld>
            <a:endParaRPr lang="en-US" altLang="zh-CN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8B0D6C9B-2287-4C9C-8212-E518EADB3B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9F64388C-55A1-48B6-BE0E-D77F6F402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1C74A73D-E085-42D1-A188-967C57E6FB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CB16F34-D2D0-4E80-879A-8147171E7613}" type="slidenum">
              <a:rPr lang="zh-CN" altLang="en-US"/>
              <a:pPr>
                <a:spcBef>
                  <a:spcPct val="0"/>
                </a:spcBef>
              </a:pPr>
              <a:t>35</a:t>
            </a:fld>
            <a:endParaRPr lang="en-US" altLang="zh-CN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BC1C632B-9ABD-4DFA-AAC0-72E03FE437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8D5D488B-CC34-4C17-B6A8-4023A16D31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54AF7D4C-1F68-4EE6-8044-07581A50E3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23A1F07-E478-4A2D-9F54-59D6F07D50B4}" type="slidenum">
              <a:rPr lang="zh-CN" altLang="en-US"/>
              <a:pPr>
                <a:spcBef>
                  <a:spcPct val="0"/>
                </a:spcBef>
              </a:pPr>
              <a:t>36</a:t>
            </a:fld>
            <a:endParaRPr lang="en-US" altLang="zh-CN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3E0A34F7-5FD6-4FD2-A292-CA5AFE3D31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B43AB2CF-8168-4726-95BF-C3666A635B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6F99C75E-D87A-452E-86CD-B4BE386675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3077350-76B4-4B77-8551-CCEA12EA91AB}" type="slidenum">
              <a:rPr lang="zh-CN" altLang="en-US"/>
              <a:pPr>
                <a:spcBef>
                  <a:spcPct val="0"/>
                </a:spcBef>
              </a:pPr>
              <a:t>39</a:t>
            </a:fld>
            <a:endParaRPr lang="en-US" altLang="zh-CN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73A319BA-0C34-4F07-BBF7-16D800B88B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77FB3F27-8AC0-4CEC-9E87-08DA038279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C484B74A-38D5-4EEA-9A12-6391382AA4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4470CBA-9469-49D7-9C92-3D939331FB48}" type="slidenum">
              <a:rPr lang="zh-CN" altLang="en-US"/>
              <a:pPr>
                <a:spcBef>
                  <a:spcPct val="0"/>
                </a:spcBef>
              </a:pPr>
              <a:t>41</a:t>
            </a:fld>
            <a:endParaRPr lang="en-US" altLang="zh-CN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05704D20-818B-46CA-A129-0560B617EA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F3680403-5B1C-4875-93A7-33E340E916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7A268193-9572-46B2-8C4B-6CF6321929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4E43382-A4BB-4ACE-AA28-726AE40444C4}" type="slidenum">
              <a:rPr lang="zh-CN" altLang="en-US"/>
              <a:pPr>
                <a:spcBef>
                  <a:spcPct val="0"/>
                </a:spcBef>
              </a:pPr>
              <a:t>42</a:t>
            </a:fld>
            <a:endParaRPr lang="en-US" altLang="zh-CN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FB5FCDB9-121D-4A65-8D9F-DD7DFBE37F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0AD956A3-755A-44D7-9BB2-C3CA34C9C5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0">
            <a:extLst>
              <a:ext uri="{FF2B5EF4-FFF2-40B4-BE49-F238E27FC236}">
                <a16:creationId xmlns:a16="http://schemas.microsoft.com/office/drawing/2014/main" id="{7BB4E4E7-0667-41CA-B45A-435979336F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400" y="2819400"/>
            <a:ext cx="109728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21217" y="466725"/>
            <a:ext cx="90424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zh-CN"/>
              <a:t>单击此处编辑母版标题样式</a:t>
            </a:r>
          </a:p>
        </p:txBody>
      </p:sp>
      <p:sp>
        <p:nvSpPr>
          <p:cNvPr id="17613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zh-CN"/>
              <a:t>单击此处编辑母版副标题样式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E21C407-4FE1-426B-8B3A-73AB7E12B3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65ADDE-6E5E-425C-88B6-62A65DDAF1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8406701-0059-4436-AD5B-83D0FA6448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F3E086-79B9-4D66-9CD2-FD8DCB6DAD4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3045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A580AA6-3D38-4F56-8B2C-AB2D135FB2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5204A8-86D4-46A9-9013-170F18F067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7C3F962-1455-4230-9ED2-2A4135012F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2376C2-163C-427C-8DBB-E30A9663367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6382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8405B74-492F-4AAC-919F-5041ED6534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0D6F328-16C8-4152-95D1-5753F302EC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4F0BCC5-A381-4E62-9DEB-473A573BF0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4F21E2-214E-45E9-82A6-47F43FF535D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5275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160744C-D4CF-454A-8B07-BC5690BB48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2F2BD75-46BF-4768-8858-C42DCC0B0B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30150EB1-BD83-472E-9412-9535EF314A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75AEAE-94D4-43B5-95F5-6613B9A4EE5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357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D7E4FF7-4012-4542-851A-CD6CFF3299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06DE1C5-F482-4B0F-9892-6A1B33890C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F6965D36-542E-4136-A55C-943CF13627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55D2DF-45D9-4DCF-ADE9-78EE116CECF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0149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BA6A436-700E-434E-9688-CCE544A00F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CE85FFE-AE18-433A-AAE9-E29793CD29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C0489AD-6DD7-407A-A734-FA132F5EFA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5FEC9C-E641-49E8-A3D0-EEF0D3CC182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1302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19EF400A-9B51-481C-9031-37DBE376AA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D2CCB5B7-8D19-4334-8A91-A214D113CE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6B4F607E-E008-4437-95EB-05EA6AFAF1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5FDA96-6E6D-41A1-9DAB-23073773F6F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8714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797537-7128-4675-9C32-721F6247ED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F55DBCF-7099-422B-A5B1-F8F7969E35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41231FF-DF60-433D-A7B7-EE28795032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BEC494-9C1B-416E-9366-E4E085E61B1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9194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89713A3-0CAA-4189-B87C-EE90398F6C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A4E31B4-433C-49B1-BFEF-2F3CA2C144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761D099-D43E-492F-B5BE-4F7A894384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C411EA-24AD-4179-B91F-A5FB5220802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6640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4A461BB-6530-4A3D-A937-B4E06B8E75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7166EEE-B656-4FA9-AAED-7AE50AF668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B86B8ED-6A1C-465B-AA26-F155A27A86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AE4F42-C397-4ED7-9889-1C01877CE39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300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B0A55D0-DF37-4B1A-A827-8308132E07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99084E9-A258-462C-ABAB-4E685B0542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7A92F96-E4CF-46CA-BBA3-65AFB301B1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847820-4625-49DA-A91C-216A5D02346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5225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7B329B0-E4B2-46C0-85E6-A28CB1AD82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A4A164F-BE06-4D50-BD20-E2E8EF9EF7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38BFC334-DEA9-4A02-B8CA-788EA11819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BD7CE6-4C6E-4B81-ACAF-017C75B1E4D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5750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>
            <a:extLst>
              <a:ext uri="{FF2B5EF4-FFF2-40B4-BE49-F238E27FC236}">
                <a16:creationId xmlns:a16="http://schemas.microsoft.com/office/drawing/2014/main" id="{0D876718-05E6-41F8-9841-06E1745A59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172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9AA607F-7B74-459A-AD69-438345E4F9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单击此处编辑母版标题样式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E2FEB8E-AF52-4117-BC07-3822837648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单击此处编辑母版文本样式</a:t>
            </a:r>
          </a:p>
          <a:p>
            <a:pPr lvl="1"/>
            <a:r>
              <a:rPr lang="en-US" altLang="zh-CN"/>
              <a:t>第二级</a:t>
            </a:r>
          </a:p>
          <a:p>
            <a:pPr lvl="2"/>
            <a:r>
              <a:rPr lang="en-US" altLang="zh-CN"/>
              <a:t>第三级</a:t>
            </a:r>
          </a:p>
          <a:p>
            <a:pPr lvl="3"/>
            <a:r>
              <a:rPr lang="en-US" altLang="zh-CN"/>
              <a:t>第四级</a:t>
            </a:r>
          </a:p>
          <a:p>
            <a:pPr lvl="4"/>
            <a:r>
              <a:rPr lang="en-US" altLang="zh-CN"/>
              <a:t>第五级</a:t>
            </a:r>
          </a:p>
        </p:txBody>
      </p:sp>
      <p:sp>
        <p:nvSpPr>
          <p:cNvPr id="175109" name="Rectangle 5">
            <a:extLst>
              <a:ext uri="{FF2B5EF4-FFF2-40B4-BE49-F238E27FC236}">
                <a16:creationId xmlns:a16="http://schemas.microsoft.com/office/drawing/2014/main" id="{9A2E3598-2933-4202-9550-D8B222023A8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5110" name="Rectangle 6">
            <a:extLst>
              <a:ext uri="{FF2B5EF4-FFF2-40B4-BE49-F238E27FC236}">
                <a16:creationId xmlns:a16="http://schemas.microsoft.com/office/drawing/2014/main" id="{616B7569-EF8D-4651-ACF5-6D487A2CA0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5111" name="Rectangle 7">
            <a:extLst>
              <a:ext uri="{FF2B5EF4-FFF2-40B4-BE49-F238E27FC236}">
                <a16:creationId xmlns:a16="http://schemas.microsoft.com/office/drawing/2014/main" id="{60A708BC-B79C-43E8-819B-B2D026FD380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4C9EC7F-91B6-4128-8BE8-FB0E502DA29C}" type="slidenum">
              <a:rPr lang="en-US" altLang="zh-CN"/>
              <a:pPr/>
              <a:t>‹#›</a:t>
            </a:fld>
            <a:endParaRPr lang="en-US" altLang="zh-CN"/>
          </a:p>
        </p:txBody>
      </p:sp>
      <p:grpSp>
        <p:nvGrpSpPr>
          <p:cNvPr id="1032" name="Group 8">
            <a:extLst>
              <a:ext uri="{FF2B5EF4-FFF2-40B4-BE49-F238E27FC236}">
                <a16:creationId xmlns:a16="http://schemas.microsoft.com/office/drawing/2014/main" id="{3D4C89E4-3A0C-4515-ADFB-C3877281C811}"/>
              </a:ext>
            </a:extLst>
          </p:cNvPr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1033" name="Oval 9">
              <a:extLst>
                <a:ext uri="{FF2B5EF4-FFF2-40B4-BE49-F238E27FC236}">
                  <a16:creationId xmlns:a16="http://schemas.microsoft.com/office/drawing/2014/main" id="{5C83BF5F-43D9-4E77-B938-17044AE2C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4" name="Oval 10">
              <a:extLst>
                <a:ext uri="{FF2B5EF4-FFF2-40B4-BE49-F238E27FC236}">
                  <a16:creationId xmlns:a16="http://schemas.microsoft.com/office/drawing/2014/main" id="{37DF7175-8224-4CCA-AD1C-BAC1A6763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5" name="Oval 11">
              <a:extLst>
                <a:ext uri="{FF2B5EF4-FFF2-40B4-BE49-F238E27FC236}">
                  <a16:creationId xmlns:a16="http://schemas.microsoft.com/office/drawing/2014/main" id="{2EEF34B2-C210-44D0-AE7C-AFD1C39CA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6" name="Oval 12">
              <a:extLst>
                <a:ext uri="{FF2B5EF4-FFF2-40B4-BE49-F238E27FC236}">
                  <a16:creationId xmlns:a16="http://schemas.microsoft.com/office/drawing/2014/main" id="{11C6EBA9-D161-484B-80A3-804DE3D3C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7" name="Oval 13">
              <a:extLst>
                <a:ext uri="{FF2B5EF4-FFF2-40B4-BE49-F238E27FC236}">
                  <a16:creationId xmlns:a16="http://schemas.microsoft.com/office/drawing/2014/main" id="{5ECD993C-6851-4CAE-8B9C-BC7C46F90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8" name="Oval 14">
              <a:extLst>
                <a:ext uri="{FF2B5EF4-FFF2-40B4-BE49-F238E27FC236}">
                  <a16:creationId xmlns:a16="http://schemas.microsoft.com/office/drawing/2014/main" id="{EB51E27F-42B4-4F24-90DC-AE60ABFA1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9" name="Oval 15">
              <a:extLst>
                <a:ext uri="{FF2B5EF4-FFF2-40B4-BE49-F238E27FC236}">
                  <a16:creationId xmlns:a16="http://schemas.microsoft.com/office/drawing/2014/main" id="{6C624AA2-59DA-4F92-AA8B-815CCF6352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0" name="Oval 16">
              <a:extLst>
                <a:ext uri="{FF2B5EF4-FFF2-40B4-BE49-F238E27FC236}">
                  <a16:creationId xmlns:a16="http://schemas.microsoft.com/office/drawing/2014/main" id="{8C978C60-999C-446E-A7C2-7E9815E60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1" name="Oval 17">
              <a:extLst>
                <a:ext uri="{FF2B5EF4-FFF2-40B4-BE49-F238E27FC236}">
                  <a16:creationId xmlns:a16="http://schemas.microsoft.com/office/drawing/2014/main" id="{89AC28BC-997F-484F-B6E4-8A990B415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2" name="Oval 18">
              <a:extLst>
                <a:ext uri="{FF2B5EF4-FFF2-40B4-BE49-F238E27FC236}">
                  <a16:creationId xmlns:a16="http://schemas.microsoft.com/office/drawing/2014/main" id="{2E3F50D7-6386-4FF8-9FCB-65DDC0805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3" name="Oval 19">
              <a:extLst>
                <a:ext uri="{FF2B5EF4-FFF2-40B4-BE49-F238E27FC236}">
                  <a16:creationId xmlns:a16="http://schemas.microsoft.com/office/drawing/2014/main" id="{1BBAFBB9-CE26-44FB-A4DB-27B2BA531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4" name="Oval 20">
              <a:extLst>
                <a:ext uri="{FF2B5EF4-FFF2-40B4-BE49-F238E27FC236}">
                  <a16:creationId xmlns:a16="http://schemas.microsoft.com/office/drawing/2014/main" id="{2DFE68C8-95FE-4F41-9455-AF5F5BE38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5" name="Oval 21">
              <a:extLst>
                <a:ext uri="{FF2B5EF4-FFF2-40B4-BE49-F238E27FC236}">
                  <a16:creationId xmlns:a16="http://schemas.microsoft.com/office/drawing/2014/main" id="{D6C88D85-56A2-466E-95C2-D12F59559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6" name="Oval 22">
              <a:extLst>
                <a:ext uri="{FF2B5EF4-FFF2-40B4-BE49-F238E27FC236}">
                  <a16:creationId xmlns:a16="http://schemas.microsoft.com/office/drawing/2014/main" id="{147395C9-F79E-4724-8E81-31562071A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7" name="Oval 23">
              <a:extLst>
                <a:ext uri="{FF2B5EF4-FFF2-40B4-BE49-F238E27FC236}">
                  <a16:creationId xmlns:a16="http://schemas.microsoft.com/office/drawing/2014/main" id="{2B131E4D-29D6-42BB-9FB0-D3A4B89FD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8" name="Oval 24">
              <a:extLst>
                <a:ext uri="{FF2B5EF4-FFF2-40B4-BE49-F238E27FC236}">
                  <a16:creationId xmlns:a16="http://schemas.microsoft.com/office/drawing/2014/main" id="{F771607B-B330-4194-9A0D-9A4880ACE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9" name="Oval 25">
              <a:extLst>
                <a:ext uri="{FF2B5EF4-FFF2-40B4-BE49-F238E27FC236}">
                  <a16:creationId xmlns:a16="http://schemas.microsoft.com/office/drawing/2014/main" id="{44F46D34-4C92-4F28-8BF3-4898C30A8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50" name="Oval 26">
              <a:extLst>
                <a:ext uri="{FF2B5EF4-FFF2-40B4-BE49-F238E27FC236}">
                  <a16:creationId xmlns:a16="http://schemas.microsoft.com/office/drawing/2014/main" id="{79A7FC29-ED8F-4BE6-B89F-09D2F1961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51" name="Oval 27">
              <a:extLst>
                <a:ext uri="{FF2B5EF4-FFF2-40B4-BE49-F238E27FC236}">
                  <a16:creationId xmlns:a16="http://schemas.microsoft.com/office/drawing/2014/main" id="{6039FF5D-091F-4599-BD2E-CA727977FD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52" name="Oval 28">
              <a:extLst>
                <a:ext uri="{FF2B5EF4-FFF2-40B4-BE49-F238E27FC236}">
                  <a16:creationId xmlns:a16="http://schemas.microsoft.com/office/drawing/2014/main" id="{0F3FF921-D7E4-495C-ACF5-1C7B70B7F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53" name="Oval 29">
              <a:extLst>
                <a:ext uri="{FF2B5EF4-FFF2-40B4-BE49-F238E27FC236}">
                  <a16:creationId xmlns:a16="http://schemas.microsoft.com/office/drawing/2014/main" id="{45584335-953E-4DA5-A7D3-7D2210EED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54" name="Oval 30">
              <a:extLst>
                <a:ext uri="{FF2B5EF4-FFF2-40B4-BE49-F238E27FC236}">
                  <a16:creationId xmlns:a16="http://schemas.microsoft.com/office/drawing/2014/main" id="{8C55ADF1-28F5-4310-A6D0-423B7A74E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55" name="Oval 31">
              <a:extLst>
                <a:ext uri="{FF2B5EF4-FFF2-40B4-BE49-F238E27FC236}">
                  <a16:creationId xmlns:a16="http://schemas.microsoft.com/office/drawing/2014/main" id="{C14DB20A-A6E4-4187-8A27-0804D2974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56" name="Oval 32">
              <a:extLst>
                <a:ext uri="{FF2B5EF4-FFF2-40B4-BE49-F238E27FC236}">
                  <a16:creationId xmlns:a16="http://schemas.microsoft.com/office/drawing/2014/main" id="{26938EDA-C73C-452C-84DB-352E56EE4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57" name="Oval 33">
              <a:extLst>
                <a:ext uri="{FF2B5EF4-FFF2-40B4-BE49-F238E27FC236}">
                  <a16:creationId xmlns:a16="http://schemas.microsoft.com/office/drawing/2014/main" id="{9FD33A0B-5CA5-497B-AB8B-9E1C596EC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58" name="Oval 34">
              <a:extLst>
                <a:ext uri="{FF2B5EF4-FFF2-40B4-BE49-F238E27FC236}">
                  <a16:creationId xmlns:a16="http://schemas.microsoft.com/office/drawing/2014/main" id="{1D509241-D729-40C7-AEAE-3F795702D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59" name="Oval 35">
              <a:extLst>
                <a:ext uri="{FF2B5EF4-FFF2-40B4-BE49-F238E27FC236}">
                  <a16:creationId xmlns:a16="http://schemas.microsoft.com/office/drawing/2014/main" id="{C7F9B0E9-39F2-41CC-91C6-D36885299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60" name="Oval 36">
              <a:extLst>
                <a:ext uri="{FF2B5EF4-FFF2-40B4-BE49-F238E27FC236}">
                  <a16:creationId xmlns:a16="http://schemas.microsoft.com/office/drawing/2014/main" id="{87001392-40B8-4E15-A999-7C56F19BF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61" name="Oval 37">
              <a:extLst>
                <a:ext uri="{FF2B5EF4-FFF2-40B4-BE49-F238E27FC236}">
                  <a16:creationId xmlns:a16="http://schemas.microsoft.com/office/drawing/2014/main" id="{D6E48E6C-AD9A-441E-B771-91114533E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62" name="Oval 38">
              <a:extLst>
                <a:ext uri="{FF2B5EF4-FFF2-40B4-BE49-F238E27FC236}">
                  <a16:creationId xmlns:a16="http://schemas.microsoft.com/office/drawing/2014/main" id="{E232F413-D107-4DEF-BA5A-EB1993870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63" name="Oval 39">
              <a:extLst>
                <a:ext uri="{FF2B5EF4-FFF2-40B4-BE49-F238E27FC236}">
                  <a16:creationId xmlns:a16="http://schemas.microsoft.com/office/drawing/2014/main" id="{D1904FEC-CBE7-49CA-A0E2-3A1E74BFA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29" r:id="rId1"/>
    <p:sldLayoutId id="2147484318" r:id="rId2"/>
    <p:sldLayoutId id="2147484319" r:id="rId3"/>
    <p:sldLayoutId id="2147484320" r:id="rId4"/>
    <p:sldLayoutId id="2147484321" r:id="rId5"/>
    <p:sldLayoutId id="2147484322" r:id="rId6"/>
    <p:sldLayoutId id="2147484323" r:id="rId7"/>
    <p:sldLayoutId id="2147484324" r:id="rId8"/>
    <p:sldLayoutId id="2147484325" r:id="rId9"/>
    <p:sldLayoutId id="2147484326" r:id="rId10"/>
    <p:sldLayoutId id="2147484327" r:id="rId11"/>
    <p:sldLayoutId id="2147484328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  <a:ea typeface="+mn-ea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A6C1BB6A-76C1-4460-80E9-A116997D2B5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775520" y="1097756"/>
            <a:ext cx="6002337" cy="1157287"/>
          </a:xfrm>
        </p:spPr>
        <p:txBody>
          <a:bodyPr/>
          <a:lstStyle/>
          <a:p>
            <a:pPr algn="l" eaLnBrk="1" hangingPunct="1"/>
            <a:r>
              <a:rPr lang="zh-CN" altLang="en-US" sz="5400" b="0" dirty="0">
                <a:ea typeface="华文新魏" panose="02010800040101010101" pitchFamily="2" charset="-122"/>
              </a:rPr>
              <a:t>谓词逻辑初步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73A01B49-7C20-4E0A-B92E-E94E2FAA2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4138" y="3429000"/>
            <a:ext cx="62738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0558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130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9702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4274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b="1" dirty="0"/>
              <a:t> 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/>
              <a:t>2024</a:t>
            </a:r>
            <a:r>
              <a:rPr lang="zh-CN" altLang="en-US" sz="3200" b="1" dirty="0"/>
              <a:t>年</a:t>
            </a:r>
            <a:r>
              <a:rPr lang="en-US" altLang="zh-CN" sz="3200" b="1" dirty="0"/>
              <a:t>3</a:t>
            </a:r>
            <a:r>
              <a:rPr lang="zh-CN" altLang="en-US" sz="3200" b="1" dirty="0"/>
              <a:t>月</a:t>
            </a:r>
            <a:r>
              <a:rPr lang="en-US" altLang="zh-CN" sz="3200" b="1" dirty="0"/>
              <a:t>14</a:t>
            </a:r>
            <a:r>
              <a:rPr lang="zh-CN" altLang="en-US" sz="3200" b="1" dirty="0"/>
              <a:t>日</a:t>
            </a:r>
            <a:endParaRPr lang="en-US" altLang="zh-CN" sz="3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b="1" dirty="0"/>
              <a:t>南京大学计算机科学与技术系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897B8389-A6C7-4B53-BB8C-E87B24D925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1424" y="476672"/>
            <a:ext cx="7772400" cy="930275"/>
          </a:xfrm>
        </p:spPr>
        <p:txBody>
          <a:bodyPr/>
          <a:lstStyle/>
          <a:p>
            <a:pPr eaLnBrk="1" hangingPunct="1"/>
            <a:r>
              <a:rPr lang="zh-CN" altLang="en-US" sz="4800" b="0" dirty="0">
                <a:ea typeface="华文新魏" panose="02010800040101010101" pitchFamily="2" charset="-122"/>
              </a:rPr>
              <a:t>内容提要</a:t>
            </a:r>
            <a:endParaRPr lang="zh-CN" altLang="en-US" sz="4800" dirty="0"/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4121EA21-FA65-43CB-8EE1-7085D7E3CB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15480" y="1844824"/>
            <a:ext cx="6480720" cy="3744416"/>
          </a:xfrm>
        </p:spPr>
        <p:txBody>
          <a:bodyPr/>
          <a:lstStyle/>
          <a:p>
            <a:pPr eaLnBrk="1" hangingPunct="1">
              <a:spcBef>
                <a:spcPct val="35000"/>
              </a:spcBef>
            </a:pPr>
            <a:r>
              <a:rPr lang="zh-CN" altLang="en-US" sz="2600" b="1" dirty="0">
                <a:latin typeface="Times New Roman" panose="02020603050405020304" pitchFamily="18" charset="0"/>
              </a:rPr>
              <a:t>为什么需要谓词逻辑？</a:t>
            </a:r>
            <a:endParaRPr lang="en-US" altLang="zh-CN" sz="2600" b="1" dirty="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35000"/>
              </a:spcBef>
            </a:pPr>
            <a:r>
              <a:rPr lang="zh-CN" altLang="en-US" sz="2200" b="1" dirty="0">
                <a:latin typeface="Times New Roman" panose="02020603050405020304" pitchFamily="18" charset="0"/>
              </a:rPr>
              <a:t>命题逻辑的局限性</a:t>
            </a:r>
            <a:endParaRPr lang="en-US" altLang="zh-CN" sz="22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35000"/>
              </a:spcBef>
            </a:pPr>
            <a:r>
              <a:rPr lang="zh-CN" altLang="en-US" sz="2600" b="1" dirty="0">
                <a:latin typeface="Times New Roman" panose="02020603050405020304" pitchFamily="18" charset="0"/>
              </a:rPr>
              <a:t>什么是谓词？</a:t>
            </a:r>
            <a:endParaRPr lang="en-US" altLang="zh-CN" sz="26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35000"/>
              </a:spcBef>
            </a:pPr>
            <a:r>
              <a:rPr lang="zh-CN" altLang="en-US" sz="2600" b="1" dirty="0">
                <a:latin typeface="Times New Roman" panose="02020603050405020304" pitchFamily="18" charset="0"/>
              </a:rPr>
              <a:t>量词及谓词表达式</a:t>
            </a:r>
            <a:endParaRPr lang="en-US" altLang="zh-CN" sz="26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35000"/>
              </a:spcBef>
            </a:pPr>
            <a:r>
              <a:rPr lang="zh-CN" altLang="en-US" sz="2600" b="1" dirty="0">
                <a:latin typeface="Times New Roman" panose="02020603050405020304" pitchFamily="18" charset="0"/>
              </a:rPr>
              <a:t>一阶谓词逻辑</a:t>
            </a:r>
            <a:endParaRPr lang="en-US" altLang="zh-CN" sz="26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FAED95-16E5-4CE6-B35C-50EF3AEC9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无能为力的命题逻辑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CCEA12-2D16-4DEB-9026-2B90345D6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1700808"/>
            <a:ext cx="10972800" cy="4411662"/>
          </a:xfrm>
        </p:spPr>
        <p:txBody>
          <a:bodyPr/>
          <a:lstStyle/>
          <a:p>
            <a:r>
              <a:rPr lang="zh-CN" altLang="en-US" dirty="0"/>
              <a:t>常见的推理过程和结论如何形式化？如何进行自然推演？</a:t>
            </a:r>
            <a:endParaRPr lang="en-US" altLang="zh-CN" dirty="0"/>
          </a:p>
          <a:p>
            <a:pPr lvl="1"/>
            <a:r>
              <a:rPr lang="zh-CN" altLang="en-US" dirty="0"/>
              <a:t>人，都是要死的</a:t>
            </a:r>
            <a:endParaRPr lang="en-US" altLang="zh-CN" dirty="0"/>
          </a:p>
          <a:p>
            <a:pPr lvl="1"/>
            <a:r>
              <a:rPr lang="zh-CN" altLang="en-US" dirty="0"/>
              <a:t>苏格拉底是人</a:t>
            </a:r>
            <a:endParaRPr lang="en-US" altLang="zh-CN" dirty="0"/>
          </a:p>
          <a:p>
            <a:pPr lvl="1"/>
            <a:r>
              <a:rPr lang="zh-CN" altLang="en-US" dirty="0"/>
              <a:t>所以，苏格拉底是要死的！</a:t>
            </a:r>
            <a:endParaRPr lang="en-US" altLang="zh-CN" dirty="0"/>
          </a:p>
          <a:p>
            <a:r>
              <a:rPr lang="zh-CN" altLang="en-US" dirty="0"/>
              <a:t>形式化：</a:t>
            </a:r>
            <a:endParaRPr lang="en-US" altLang="zh-CN" dirty="0"/>
          </a:p>
          <a:p>
            <a:pPr lvl="1"/>
            <a:r>
              <a:rPr lang="en-US" altLang="zh-CN" dirty="0"/>
              <a:t>P</a:t>
            </a:r>
            <a:r>
              <a:rPr lang="zh-CN" altLang="en-US" dirty="0"/>
              <a:t>：人都是要死的；</a:t>
            </a:r>
            <a:r>
              <a:rPr lang="en-US" altLang="zh-CN" dirty="0"/>
              <a:t>Q</a:t>
            </a:r>
            <a:r>
              <a:rPr lang="zh-CN" altLang="en-US" dirty="0"/>
              <a:t>：苏格拉底是人；</a:t>
            </a:r>
            <a:r>
              <a:rPr lang="en-US" altLang="zh-CN" dirty="0"/>
              <a:t>R</a:t>
            </a:r>
            <a:r>
              <a:rPr lang="zh-CN" altLang="en-US" dirty="0"/>
              <a:t>：苏格拉底要死</a:t>
            </a:r>
            <a:endParaRPr lang="en-US" altLang="zh-CN" dirty="0"/>
          </a:p>
          <a:p>
            <a:pPr lvl="1"/>
            <a:r>
              <a:rPr lang="en-US" altLang="zh-CN" dirty="0"/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Q =&gt; R?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336503-2C59-4985-B1B6-477FA7CEFB4E}"/>
              </a:ext>
            </a:extLst>
          </p:cNvPr>
          <p:cNvSpPr txBox="1"/>
          <p:nvPr/>
        </p:nvSpPr>
        <p:spPr>
          <a:xfrm>
            <a:off x="4079776" y="5402543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/>
              <a:t>问题出在哪里？</a:t>
            </a:r>
          </a:p>
        </p:txBody>
      </p:sp>
    </p:spTree>
    <p:extLst>
      <p:ext uri="{BB962C8B-B14F-4D97-AF65-F5344CB8AC3E}">
        <p14:creationId xmlns:p14="http://schemas.microsoft.com/office/powerpoint/2010/main" val="2529621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8CA654-C76E-4B1C-AB95-0AE51DCB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另一方面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8289B2-693A-4D4B-9685-18ABC8046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如何揭示“张三和李四是同学”的内涵？</a:t>
            </a:r>
            <a:endParaRPr lang="en-US" altLang="zh-CN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：张三和李四是同学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只是陈述了这个事实，但无法表达以下后续推演所需的事实：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lvl="2"/>
            <a:r>
              <a:rPr lang="zh-CN" altLang="en-US" sz="25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同学是学同一专业的</a:t>
            </a:r>
            <a:endParaRPr lang="en-US" altLang="zh-CN" sz="25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lvl="2"/>
            <a:r>
              <a:rPr lang="zh-CN" altLang="en-US" sz="25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张三是计算机专业的</a:t>
            </a:r>
            <a:endParaRPr lang="en-US" altLang="zh-CN" sz="25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lvl="2"/>
            <a:r>
              <a:rPr lang="zh-CN" altLang="en-US" sz="25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所以，李四是计算机专业的</a:t>
            </a:r>
            <a:endParaRPr lang="en-US" altLang="zh-CN" sz="25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 sz="3200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 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大于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2”(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如果</a:t>
            </a:r>
            <a:r>
              <a:rPr lang="en-US" altLang="zh-CN" sz="3200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是整数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不是命题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但是：</a:t>
            </a:r>
            <a:endParaRPr lang="en-US" altLang="zh-CN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If x&gt;2 then x:=x+1</a:t>
            </a:r>
          </a:p>
          <a:p>
            <a:pPr lvl="1"/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仍然需要我们去形式刻画：当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x=3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时，程序如何去执行</a:t>
            </a:r>
            <a:endParaRPr lang="en-US" altLang="zh-CN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3120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E2619C-A2A2-47CD-BC8C-7359EC2E4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714474"/>
          </a:xfrm>
        </p:spPr>
        <p:txBody>
          <a:bodyPr/>
          <a:lstStyle/>
          <a:p>
            <a:r>
              <a:rPr lang="zh-CN" altLang="en-US" dirty="0"/>
              <a:t>一阶逻辑命题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E31AF5B-0511-47AF-BC21-6C18895344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336" y="836712"/>
            <a:ext cx="11953328" cy="3960440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F4AE93E-EC26-4893-8A36-2CB147A24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41168"/>
            <a:ext cx="12192000" cy="191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225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36B739-0386-4A23-AAA9-532682573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695325"/>
          </a:xfrm>
        </p:spPr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个体词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029476C-11A3-44D3-951F-8A036ACDE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222" y="802320"/>
            <a:ext cx="8671114" cy="1186520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3DEEB2F-8A42-4B05-AAFA-36C3822CC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60" y="2276872"/>
            <a:ext cx="11056539" cy="255868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D06DBAB-A693-4F63-B9CC-C8F22572F5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824" y="4927476"/>
            <a:ext cx="11210561" cy="180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086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475239-2A4B-4B67-BF92-A3DA76BFD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714474"/>
          </a:xfrm>
        </p:spPr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谓词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585B9AF-1AF6-4E03-B012-A2F98E1F6B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336" y="836712"/>
            <a:ext cx="11953328" cy="2808312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6057569-50F0-46FA-B0C5-076EF9812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47" y="3789040"/>
            <a:ext cx="8353425" cy="7524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48BB990-B8AB-4054-B5C3-4935394C6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73" y="4641866"/>
            <a:ext cx="8029575" cy="6858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008196D-4A3E-4E7E-ABEF-3E70C8CFAD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164" y="5428017"/>
            <a:ext cx="8181975" cy="6858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8EA7995-673B-47C4-9A17-4E88EA32C7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235" y="6364287"/>
            <a:ext cx="817245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9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6F24D4-350D-4FCF-A276-A3C71354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642466"/>
          </a:xfrm>
        </p:spPr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谓词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B08556C-1DC3-4EC4-AD9F-62C687A4BC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368" y="908720"/>
            <a:ext cx="10369152" cy="1893431"/>
          </a:xfr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950A669-9660-4E59-BF11-78D6EFB6B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8" y="2996952"/>
            <a:ext cx="11305256" cy="386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741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1D952739-AC41-4156-96F4-5DF00D3E8C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谓词（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Predicate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5F164EE8-FAEC-49BC-B9FC-DBEBA14BBD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55440" y="1628775"/>
            <a:ext cx="10152558" cy="4878388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如果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是整数，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大于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2”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不是命题，它的真值依赖于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的取值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可以将“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大于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2”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表示为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。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//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论域为实数</a:t>
            </a:r>
          </a:p>
          <a:p>
            <a:pPr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一元谓词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·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给定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要么为真，要么为假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 is a prime number //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x</a:t>
            </a:r>
            <a:r>
              <a:rPr lang="zh-CN" altLang="en-US" sz="2400" b="1" dirty="0">
                <a:latin typeface="Times New Roman" panose="02020603050405020304" pitchFamily="18" charset="0"/>
              </a:rPr>
              <a:t>是变量，论域为正整数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二元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多元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谓词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(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·, ·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</a:rPr>
              <a:t>x, y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) :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400" b="1" i="1" dirty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zh-CN" altLang="en-US" sz="2400" b="1" i="1" dirty="0">
                <a:latin typeface="Times New Roman" panose="02020603050405020304" pitchFamily="18" charset="0"/>
                <a:ea typeface="楷体_GB2312" pitchFamily="49" charset="-122"/>
              </a:rPr>
              <a:t>是同学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</a:rPr>
              <a:t>//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个变量，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x,y</a:t>
            </a:r>
            <a:r>
              <a:rPr lang="zh-CN" altLang="en-US" sz="2400" b="1" dirty="0">
                <a:latin typeface="Times New Roman" panose="02020603050405020304" pitchFamily="18" charset="0"/>
              </a:rPr>
              <a:t>的论域是全体人</a:t>
            </a:r>
            <a:endParaRPr lang="en-US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lvl="1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uncle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is uncle of x  </a:t>
            </a:r>
            <a:r>
              <a:rPr lang="en-US" altLang="zh-CN" sz="2400" b="1" dirty="0">
                <a:latin typeface="Times New Roman" panose="02020603050405020304" pitchFamily="18" charset="0"/>
              </a:rPr>
              <a:t>//</a:t>
            </a:r>
            <a:r>
              <a:rPr lang="zh-CN" altLang="en-US" sz="2400" b="1" dirty="0">
                <a:latin typeface="Times New Roman" panose="02020603050405020304" pitchFamily="18" charset="0"/>
              </a:rPr>
              <a:t>论域？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</a:pPr>
            <a:endParaRPr lang="en-US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</a:pPr>
            <a:endParaRPr lang="en-US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6709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7BDC9D-B497-4547-8091-FE36151F6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由谓词产生的命题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39E5FD-BDA9-4C81-A054-E158F36D4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32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32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): </a:t>
            </a:r>
            <a:r>
              <a:rPr lang="en-US" altLang="zh-CN" sz="32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大于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2, 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论域为自然数</a:t>
            </a:r>
            <a:endParaRPr lang="en-US" altLang="zh-CN" sz="32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P(2)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FALSE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P(3)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TRUE</a:t>
            </a:r>
          </a:p>
          <a:p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Q(x): x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是人，论域为？</a:t>
            </a:r>
            <a:endParaRPr lang="en-US" altLang="zh-CN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人？</a:t>
            </a:r>
            <a:endParaRPr lang="en-US" altLang="zh-CN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全总个体域</a:t>
            </a:r>
            <a:endParaRPr lang="en-US" altLang="zh-CN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P(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苏格拉底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TRUE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P(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馆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3-103)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为？</a:t>
            </a:r>
            <a:endParaRPr lang="en-US" altLang="zh-CN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R(</a:t>
            </a:r>
            <a:r>
              <a:rPr lang="en-US" altLang="zh-CN" b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x,y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x=y+3, 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论域为实数集</a:t>
            </a:r>
            <a:endParaRPr lang="en-US" altLang="zh-CN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R(1,4)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R(4,1)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分别是？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3252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E995C2-533E-4B12-9CD9-FFED5EC18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714474"/>
          </a:xfrm>
        </p:spPr>
        <p:txBody>
          <a:bodyPr/>
          <a:lstStyle/>
          <a:p>
            <a:r>
              <a:rPr lang="zh-CN" altLang="en-US" dirty="0"/>
              <a:t>一阶逻辑谓词符号化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8A4001A-1F5F-466D-8135-D6140FCA91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352" y="836712"/>
            <a:ext cx="10657184" cy="2028825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7FCEACF-E342-4935-AD17-75F8D4E19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35" y="2875910"/>
            <a:ext cx="5715000" cy="19526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1C5E711-E085-4EE6-8C17-BA0943F5E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7568" y="4894363"/>
            <a:ext cx="6048672" cy="184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546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63E78-B3D6-4AF5-BF1C-F0F65D6FB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714474"/>
          </a:xfrm>
        </p:spPr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量词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6781676-ACED-49B4-B046-1323E4BB85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360" y="836712"/>
            <a:ext cx="11521280" cy="2376264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8584F3A-069F-44BC-BD8D-A1372E5D1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14" y="3414328"/>
            <a:ext cx="11377264" cy="187220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3AD9009-7FE0-4D2F-B312-6B88C81AF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456" y="5487888"/>
            <a:ext cx="9217024" cy="137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787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7A6F73CC-3412-40C0-92B7-87C41BF4D8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9376" y="1718"/>
            <a:ext cx="7543800" cy="12954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楷体_GB2312" pitchFamily="49" charset="-122"/>
              </a:rPr>
              <a:t>谓词表达式中的量词</a:t>
            </a:r>
            <a:r>
              <a:rPr lang="en-US" altLang="zh-CN" dirty="0">
                <a:ea typeface="楷体_GB2312" pitchFamily="49" charset="-122"/>
              </a:rPr>
              <a:t>(</a:t>
            </a:r>
            <a:r>
              <a:rPr lang="zh-CN" altLang="en-US" dirty="0">
                <a:ea typeface="楷体_GB2312" pitchFamily="49" charset="-122"/>
              </a:rPr>
              <a:t>谓词的量化</a:t>
            </a:r>
            <a:r>
              <a:rPr lang="en-US" altLang="zh-CN" dirty="0">
                <a:ea typeface="楷体_GB2312" pitchFamily="49" charset="-122"/>
              </a:rPr>
              <a:t>)</a:t>
            </a:r>
            <a:endParaRPr lang="zh-CN" altLang="en-US" dirty="0">
              <a:ea typeface="楷体_GB2312" pitchFamily="49" charset="-122"/>
            </a:endParaRP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DCFB122F-EB29-4D2F-9869-8C922EFE1B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3432" y="1556792"/>
            <a:ext cx="9936858" cy="4896544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40000"/>
              </a:spcBef>
            </a:pPr>
            <a:r>
              <a:rPr lang="zh-CN" altLang="en-US" sz="2800" b="1" dirty="0">
                <a:sym typeface="Symbol" panose="05050102010706020507" pitchFamily="18" charset="2"/>
              </a:rPr>
              <a:t>表达论域内，谓词成立的范围</a:t>
            </a:r>
            <a:r>
              <a:rPr lang="en-US" altLang="zh-CN" sz="2800" b="1" dirty="0">
                <a:sym typeface="Symbol" panose="05050102010706020507" pitchFamily="18" charset="2"/>
              </a:rPr>
              <a:t>(</a:t>
            </a:r>
            <a:r>
              <a:rPr lang="zh-CN" altLang="en-US" sz="2800" b="1" dirty="0">
                <a:sym typeface="Symbol" panose="05050102010706020507" pitchFamily="18" charset="2"/>
              </a:rPr>
              <a:t>程度</a:t>
            </a:r>
            <a:r>
              <a:rPr lang="en-US" altLang="zh-CN" sz="2800" b="1" dirty="0"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110000"/>
              </a:lnSpc>
              <a:spcBef>
                <a:spcPct val="40000"/>
              </a:spcBef>
            </a:pPr>
            <a:r>
              <a:rPr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（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全称量词</a:t>
            </a:r>
            <a:r>
              <a:rPr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）</a:t>
            </a:r>
            <a:endParaRPr lang="en-US" altLang="zh-CN" sz="2800" b="1" dirty="0">
              <a:solidFill>
                <a:srgbClr val="FF0000"/>
              </a:solidFill>
              <a:ea typeface="楷体_GB2312" pitchFamily="49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110000"/>
              </a:lnSpc>
              <a:spcBef>
                <a:spcPct val="40000"/>
              </a:spcBef>
            </a:pPr>
            <a:r>
              <a:rPr lang="en-US" altLang="zh-CN" sz="2400" b="1" dirty="0">
                <a:sym typeface="Symbol" panose="05050102010706020507" pitchFamily="18" charset="2"/>
              </a:rPr>
              <a:t>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为真 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iff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400" b="1" u="sng" dirty="0">
                <a:latin typeface="楷体_GB2312" pitchFamily="49" charset="-122"/>
                <a:ea typeface="楷体_GB2312" pitchFamily="49" charset="-122"/>
              </a:rPr>
              <a:t>对所有的</a:t>
            </a:r>
            <a:r>
              <a:rPr lang="en-US" altLang="zh-CN" sz="2400" b="1" i="1" u="sng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为真 </a:t>
            </a:r>
            <a:r>
              <a:rPr lang="en-US" altLang="zh-CN" sz="2400" b="1" dirty="0">
                <a:latin typeface="Times New Roman" panose="02020603050405020304" pitchFamily="18" charset="0"/>
              </a:rPr>
              <a:t>//</a:t>
            </a:r>
            <a:r>
              <a:rPr lang="zh-CN" altLang="en-US" sz="2400" b="1" dirty="0">
                <a:latin typeface="Times New Roman" panose="02020603050405020304" pitchFamily="18" charset="0"/>
              </a:rPr>
              <a:t>论域，</a:t>
            </a:r>
            <a:r>
              <a:rPr lang="zh-CN" altLang="en-US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domain of discourse</a:t>
            </a:r>
            <a:endParaRPr lang="en-US" altLang="zh-CN" sz="24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40000"/>
              </a:spcBef>
            </a:pP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（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存在量词</a:t>
            </a:r>
            <a:r>
              <a:rPr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）</a:t>
            </a:r>
            <a:endParaRPr lang="en-US" altLang="zh-CN" sz="2800" b="1" dirty="0">
              <a:solidFill>
                <a:srgbClr val="FF0000"/>
              </a:solidFill>
              <a:ea typeface="楷体_GB2312" pitchFamily="49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110000"/>
              </a:lnSpc>
              <a:spcBef>
                <a:spcPct val="40000"/>
              </a:spcBef>
            </a:pPr>
            <a:r>
              <a:rPr lang="en-US" altLang="zh-CN" sz="2400" b="1" dirty="0">
                <a:sym typeface="Symbol" panose="05050102010706020507" pitchFamily="18" charset="2"/>
              </a:rPr>
              <a:t>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为真 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iff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400" b="1" u="sng" dirty="0">
                <a:latin typeface="楷体_GB2312" pitchFamily="49" charset="-122"/>
                <a:ea typeface="楷体_GB2312" pitchFamily="49" charset="-122"/>
              </a:rPr>
              <a:t>存在某个</a:t>
            </a:r>
            <a:r>
              <a:rPr lang="en-US" altLang="zh-CN" sz="2400" b="1" i="1" u="sng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为真 </a:t>
            </a:r>
            <a:r>
              <a:rPr lang="en-US" altLang="zh-CN" sz="2400" b="1" dirty="0">
                <a:latin typeface="Times New Roman" panose="02020603050405020304" pitchFamily="18" charset="0"/>
              </a:rPr>
              <a:t>//</a:t>
            </a:r>
            <a:r>
              <a:rPr lang="zh-CN" altLang="en-US" sz="2400" b="1" dirty="0">
                <a:latin typeface="Times New Roman" panose="02020603050405020304" pitchFamily="18" charset="0"/>
              </a:rPr>
              <a:t>论域</a:t>
            </a:r>
            <a:endParaRPr lang="en-US" altLang="zh-CN" sz="24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40000"/>
              </a:spcBef>
            </a:pPr>
            <a:r>
              <a:rPr lang="en-US" altLang="zh-CN" sz="2400" b="1" dirty="0">
                <a:sym typeface="Symbol" panose="05050102010706020507" pitchFamily="18" charset="2"/>
              </a:rPr>
              <a:t>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&gt;2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为假，</a:t>
            </a:r>
            <a:r>
              <a:rPr lang="en-US" altLang="zh-CN" sz="2400" b="1" dirty="0">
                <a:sym typeface="Symbol" panose="05050102010706020507" pitchFamily="18" charset="2"/>
              </a:rPr>
              <a:t> 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&gt;2)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为真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//</a:t>
            </a:r>
            <a:r>
              <a:rPr lang="zh-CN" altLang="en-US" sz="2400" b="1" dirty="0">
                <a:latin typeface="Times New Roman" panose="02020603050405020304" pitchFamily="18" charset="0"/>
              </a:rPr>
              <a:t>论域</a:t>
            </a:r>
            <a:r>
              <a:rPr lang="zh-CN" altLang="en-US" sz="2400" b="1" dirty="0">
                <a:sym typeface="Symbol" panose="05050102010706020507" pitchFamily="18" charset="2"/>
              </a:rPr>
              <a:t>为实数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4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为真，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为假  </a:t>
            </a:r>
            <a:r>
              <a:rPr lang="en-US" altLang="zh-CN" sz="2400" b="1" dirty="0">
                <a:latin typeface="Times New Roman" panose="02020603050405020304" pitchFamily="18" charset="0"/>
              </a:rPr>
              <a:t>//</a:t>
            </a:r>
            <a:r>
              <a:rPr lang="zh-CN" altLang="en-US" sz="2400" b="1" dirty="0">
                <a:latin typeface="Times New Roman" panose="02020603050405020304" pitchFamily="18" charset="0"/>
              </a:rPr>
              <a:t>论域</a:t>
            </a:r>
            <a:r>
              <a:rPr lang="zh-CN" altLang="en-US" sz="2400" b="1" dirty="0">
                <a:sym typeface="Symbol" panose="05050102010706020507" pitchFamily="18" charset="2"/>
              </a:rPr>
              <a:t>为实数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40000"/>
              </a:spcBef>
            </a:pP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40000"/>
              </a:spcBef>
            </a:pPr>
            <a:endParaRPr lang="en-US" altLang="zh-CN" sz="2400" b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D3623D-CA0F-4486-87E8-A3407BB5B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4624"/>
            <a:ext cx="10058400" cy="714474"/>
          </a:xfrm>
        </p:spPr>
        <p:txBody>
          <a:bodyPr/>
          <a:lstStyle/>
          <a:p>
            <a:r>
              <a:rPr lang="zh-CN" altLang="en-US" dirty="0"/>
              <a:t>习题</a:t>
            </a:r>
            <a:r>
              <a:rPr lang="en-US" altLang="zh-CN" dirty="0"/>
              <a:t>1</a:t>
            </a:r>
            <a:r>
              <a:rPr lang="zh-CN" altLang="en-US" dirty="0"/>
              <a:t>：一阶谓词逻辑符号化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7255BC1-58DB-4D55-874C-48184BB5B0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352" y="651520"/>
            <a:ext cx="10404648" cy="176936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F735512-89A9-4FDC-91B0-18CEDD463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2" y="2533118"/>
            <a:ext cx="10297144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36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7E29117-0E1E-40FF-9850-DA84DECED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116632"/>
            <a:ext cx="11521280" cy="14097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65DDE0E-9AD6-4264-A04A-AF3AF7EE2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4" y="1526332"/>
            <a:ext cx="8258175" cy="33528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ED0ADC4-E840-420D-AE69-9F98EC504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448" y="5331668"/>
            <a:ext cx="1008112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90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4C0C0B-82B9-4484-AE11-676B2462A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4624"/>
            <a:ext cx="10058400" cy="786482"/>
          </a:xfrm>
        </p:spPr>
        <p:txBody>
          <a:bodyPr/>
          <a:lstStyle/>
          <a:p>
            <a:r>
              <a:rPr lang="zh-CN" altLang="en-US" dirty="0"/>
              <a:t>习题</a:t>
            </a:r>
            <a:r>
              <a:rPr lang="en-US" altLang="zh-CN" dirty="0"/>
              <a:t>2 </a:t>
            </a:r>
            <a:r>
              <a:rPr lang="zh-CN" altLang="en-US" dirty="0"/>
              <a:t>一阶谓词符号化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988B1C6-32CA-4974-96B0-6162039690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368" y="764704"/>
            <a:ext cx="8458200" cy="1971675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CB3719D-9DDC-435D-8A3E-05F2EBA59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425" y="2708920"/>
            <a:ext cx="843915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050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9F47F9-E2D9-4043-8861-65BAC0238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714474"/>
          </a:xfrm>
        </p:spPr>
        <p:txBody>
          <a:bodyPr/>
          <a:lstStyle/>
          <a:p>
            <a:r>
              <a:rPr lang="zh-CN" altLang="en-US" dirty="0"/>
              <a:t>习题</a:t>
            </a:r>
            <a:r>
              <a:rPr lang="en-US" altLang="zh-CN" dirty="0"/>
              <a:t>2 </a:t>
            </a:r>
            <a:r>
              <a:rPr lang="zh-CN" altLang="en-US" dirty="0"/>
              <a:t>一阶谓词符号化 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D9567BD-B004-429B-B759-E51D1F1FCA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1384" y="836712"/>
            <a:ext cx="8467725" cy="2628900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196DCD3-34EE-451F-B6CC-CD7F27BF3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20" y="3484214"/>
            <a:ext cx="8429625" cy="26574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2BB1AB8-E783-42AB-A784-38AA287B64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68" y="188640"/>
            <a:ext cx="9932019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565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E65A03-E8DD-4E4B-A045-00D000B59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642466"/>
          </a:xfrm>
        </p:spPr>
        <p:txBody>
          <a:bodyPr/>
          <a:lstStyle/>
          <a:p>
            <a:r>
              <a:rPr lang="zh-CN" altLang="en-US" dirty="0"/>
              <a:t>习题</a:t>
            </a:r>
            <a:r>
              <a:rPr lang="en-US" altLang="zh-CN" dirty="0"/>
              <a:t>2 </a:t>
            </a:r>
            <a:r>
              <a:rPr lang="zh-CN" altLang="en-US" dirty="0"/>
              <a:t>一阶谓词符号化 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E6CF4B1-6598-43EF-B71F-C9767D5692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376" y="847725"/>
            <a:ext cx="8496300" cy="2581275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AEEABA3-2A23-4345-9B65-D38BE92FD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412" y="3554412"/>
            <a:ext cx="8486775" cy="31813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7E6230B-4520-4706-8373-767CBE76F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76" y="685800"/>
            <a:ext cx="11103023" cy="61722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76B5B3E-ED9D-43F8-9BC6-2E297324D2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344" y="764704"/>
            <a:ext cx="11391055" cy="609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708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45B573B2-FB94-4DFB-B1D8-096FE9CF0D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5400" y="332656"/>
            <a:ext cx="7543800" cy="862013"/>
          </a:xfrm>
        </p:spPr>
        <p:txBody>
          <a:bodyPr/>
          <a:lstStyle/>
          <a:p>
            <a:pPr eaLnBrk="1" hangingPunct="1"/>
            <a:r>
              <a:rPr lang="zh-CN" altLang="en-US">
                <a:ea typeface="楷体_GB2312" pitchFamily="49" charset="-122"/>
              </a:rPr>
              <a:t>量化公式中的变元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9537DC50-FDDF-46E6-82D4-A7E2127AB8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1424" y="1484314"/>
            <a:ext cx="10448528" cy="5184775"/>
          </a:xfrm>
        </p:spPr>
        <p:txBody>
          <a:bodyPr/>
          <a:lstStyle/>
          <a:p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约束变元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/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(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))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简写，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都是约束变元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/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 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都是约束变元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/>
            <a:r>
              <a:rPr lang="zh-CN" altLang="en-US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量词作用域</a:t>
            </a:r>
            <a:endParaRPr lang="en-US" altLang="zh-CN" sz="20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2"/>
            <a:r>
              <a:rPr lang="zh-CN" altLang="en-US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量词绑定的约束变元的应用范围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lvl="2"/>
            <a:r>
              <a:rPr lang="en-US" altLang="zh-CN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1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1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1800" b="1" dirty="0">
                <a:latin typeface="Times New Roman" panose="02020603050405020304" pitchFamily="18" charset="0"/>
              </a:rPr>
              <a:t>&gt;</a:t>
            </a:r>
            <a:r>
              <a:rPr lang="en-US" altLang="zh-CN" sz="1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 (</a:t>
            </a:r>
            <a:r>
              <a:rPr lang="en-US" altLang="zh-CN" sz="1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x+</a:t>
            </a:r>
            <a:r>
              <a:rPr lang="en-US" altLang="zh-CN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1800" b="1" dirty="0">
                <a:latin typeface="Times New Roman" panose="02020603050405020304" pitchFamily="18" charset="0"/>
              </a:rPr>
              <a:t>&gt;</a:t>
            </a:r>
            <a:r>
              <a:rPr lang="en-US" altLang="zh-CN" sz="1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 </a:t>
            </a:r>
            <a:r>
              <a:rPr lang="en-US" altLang="zh-CN" sz="1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1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1800" b="1" dirty="0">
                <a:latin typeface="Times New Roman" panose="02020603050405020304" pitchFamily="18" charset="0"/>
              </a:rPr>
              <a:t>&gt;</a:t>
            </a:r>
            <a:r>
              <a:rPr lang="en-US" altLang="zh-CN" sz="1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 (</a:t>
            </a:r>
            <a:r>
              <a:rPr lang="en-US" altLang="zh-CN" sz="1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x+</a:t>
            </a:r>
            <a:r>
              <a:rPr lang="en-US" altLang="zh-CN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1800" b="1" dirty="0">
                <a:latin typeface="Times New Roman" panose="02020603050405020304" pitchFamily="18" charset="0"/>
              </a:rPr>
              <a:t>&gt;</a:t>
            </a:r>
            <a:r>
              <a:rPr lang="en-US" altLang="zh-CN" sz="1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</a:p>
          <a:p>
            <a:pPr lvl="3"/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zh-CN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的作用域？</a:t>
            </a:r>
            <a:endParaRPr lang="en-US" altLang="zh-CN" sz="16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自由变元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/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 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是自由变元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/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 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x+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),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是自由变元，后面那个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zh-CN" altLang="en-US" sz="2400" b="1" dirty="0">
                <a:latin typeface="Times New Roman" panose="02020603050405020304" pitchFamily="18" charset="0"/>
              </a:rPr>
              <a:t>也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是自由变元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/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自由变元通常被认定为全称量词约束</a:t>
            </a:r>
            <a:endParaRPr lang="en-US" altLang="zh-CN" sz="2400" b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B24D13D2-DD4E-4A5D-B56F-265698AA9C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楷体_GB2312" pitchFamily="49" charset="-122"/>
              </a:rPr>
              <a:t>多个量词嵌套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6CA39B60-EFCB-4F3D-AA3F-6BB8D7BA7C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9456" y="1719264"/>
            <a:ext cx="9011344" cy="4662487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40000"/>
              </a:spcBef>
            </a:pPr>
            <a:r>
              <a:rPr lang="en-US" altLang="zh-CN" sz="2800" b="1" dirty="0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 err="1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yP</a:t>
            </a:r>
            <a:r>
              <a:rPr lang="en-US" altLang="zh-CN" sz="2800" b="1" dirty="0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 err="1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2800" b="1" dirty="0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 </a:t>
            </a:r>
            <a:r>
              <a:rPr lang="zh-CN" altLang="en-US" sz="2800" b="1" dirty="0">
                <a:solidFill>
                  <a:srgbClr val="2009CD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</a:t>
            </a:r>
            <a:r>
              <a:rPr lang="zh-CN" altLang="en-US" sz="2800" b="1" dirty="0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</a:t>
            </a:r>
            <a:r>
              <a:rPr lang="en-US" altLang="zh-CN" sz="2800" b="1" i="1" dirty="0" err="1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 err="1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lang="en-US" altLang="zh-CN" sz="2800" b="1" dirty="0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 err="1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2800" b="1" dirty="0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800" b="1" dirty="0">
              <a:solidFill>
                <a:srgbClr val="2009CD"/>
              </a:solidFill>
              <a:ea typeface="楷体_GB2312" pitchFamily="49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ea typeface="楷体_GB2312" pitchFamily="49" charset="-122"/>
                <a:sym typeface="Symbol" panose="05050102010706020507" pitchFamily="18" charset="2"/>
              </a:rPr>
              <a:t>    </a:t>
            </a:r>
            <a:r>
              <a:rPr lang="zh-CN" altLang="en-US" b="1" dirty="0">
                <a:ea typeface="楷体_GB2312" pitchFamily="49" charset="-122"/>
                <a:sym typeface="Symbol" panose="05050102010706020507" pitchFamily="18" charset="2"/>
              </a:rPr>
              <a:t>举例：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b="1" dirty="0">
                <a:sym typeface="Symbol" panose="05050102010706020507" pitchFamily="18" charset="2"/>
              </a:rPr>
              <a:t> </a:t>
            </a:r>
            <a:r>
              <a:rPr lang="zh-CN" altLang="en-US" b="1" dirty="0">
                <a:ea typeface="楷体_GB2312" pitchFamily="49" charset="-122"/>
                <a:sym typeface="Symbol" panose="05050102010706020507" pitchFamily="18" charset="2"/>
              </a:rPr>
              <a:t>表示</a:t>
            </a:r>
            <a:r>
              <a:rPr lang="en-US" altLang="zh-CN" b="1" i="1" dirty="0">
                <a:sym typeface="Symbol" panose="05050102010706020507" pitchFamily="18" charset="2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b="1" dirty="0">
                <a:sym typeface="Symbol" panose="05050102010706020507" pitchFamily="18" charset="2"/>
              </a:rPr>
              <a:t>。</a:t>
            </a:r>
            <a:r>
              <a:rPr lang="zh-CN" altLang="en-US" sz="2400" b="1" dirty="0">
                <a:ea typeface="楷体_GB2312" pitchFamily="49" charset="-122"/>
              </a:rPr>
              <a:t>论域为实数集</a:t>
            </a:r>
          </a:p>
          <a:p>
            <a:pPr eaLnBrk="1" hangingPunct="1">
              <a:lnSpc>
                <a:spcPct val="110000"/>
              </a:lnSpc>
              <a:spcBef>
                <a:spcPct val="40000"/>
              </a:spcBef>
            </a:pPr>
            <a:r>
              <a:rPr lang="en-US" altLang="zh-CN" b="1" dirty="0"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b="1" i="1" dirty="0" err="1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 err="1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b="1" i="1" dirty="0" err="1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yP</a:t>
            </a:r>
            <a:r>
              <a:rPr lang="en-US" altLang="zh-CN" sz="2800" b="1" dirty="0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 err="1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2800" b="1" dirty="0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dirty="0">
                <a:solidFill>
                  <a:srgbClr val="2009CD"/>
                </a:solidFill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rgbClr val="2009CD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</a:t>
            </a:r>
            <a:r>
              <a:rPr lang="zh-CN" altLang="en-US" sz="2800" b="1" dirty="0">
                <a:solidFill>
                  <a:srgbClr val="2009CD"/>
                </a:solidFill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b="1" i="1" dirty="0" err="1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 err="1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b="1" i="1" dirty="0" err="1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lang="en-US" altLang="zh-CN" sz="2800" b="1" dirty="0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 err="1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2800" b="1" dirty="0">
                <a:solidFill>
                  <a:srgbClr val="2009CD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lvl="1" eaLnBrk="1" hangingPunct="1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ea typeface="楷体_GB2312" pitchFamily="49" charset="-122"/>
                <a:sym typeface="Symbol" panose="05050102010706020507" pitchFamily="18" charset="2"/>
              </a:rPr>
              <a:t>     </a:t>
            </a:r>
            <a:r>
              <a:rPr lang="zh-CN" altLang="en-US" sz="2400" b="1" dirty="0">
                <a:ea typeface="楷体_GB2312" pitchFamily="49" charset="-122"/>
                <a:sym typeface="Symbol" panose="05050102010706020507" pitchFamily="18" charset="2"/>
              </a:rPr>
              <a:t>举例：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1" dirty="0"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ea typeface="楷体_GB2312" pitchFamily="49" charset="-122"/>
                <a:sym typeface="Symbol" panose="05050102010706020507" pitchFamily="18" charset="2"/>
              </a:rPr>
              <a:t>表示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+1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zh-CN" altLang="en-US" sz="24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4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yP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与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不一定等价</a:t>
            </a:r>
            <a:endParaRPr lang="en-US" altLang="zh-CN" sz="2800" b="1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lvl="1" eaLnBrk="1" hangingPunct="1">
              <a:lnSpc>
                <a:spcPct val="110000"/>
              </a:lnSpc>
              <a:spcBef>
                <a:spcPct val="4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往往不等价</a:t>
            </a:r>
            <a:endParaRPr lang="en-US" altLang="zh-CN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ea typeface="楷体_GB2312" pitchFamily="49" charset="-122"/>
                <a:sym typeface="Symbol" panose="05050102010706020507" pitchFamily="18" charset="2"/>
              </a:rPr>
              <a:t>     </a:t>
            </a:r>
            <a:r>
              <a:rPr lang="zh-CN" altLang="en-US" sz="2400" b="1" dirty="0">
                <a:ea typeface="楷体_GB2312" pitchFamily="49" charset="-122"/>
                <a:sym typeface="Symbol" panose="05050102010706020507" pitchFamily="18" charset="2"/>
              </a:rPr>
              <a:t>举例：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1" dirty="0"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表示</a:t>
            </a:r>
            <a:r>
              <a:rPr lang="zh-CN" altLang="en-US" sz="2400" b="1" dirty="0">
                <a:sym typeface="Symbol" panose="05050102010706020507" pitchFamily="18" charset="2"/>
              </a:rPr>
              <a:t>“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ym typeface="Symbol" panose="05050102010706020507" pitchFamily="18" charset="2"/>
              </a:rPr>
              <a:t>” </a:t>
            </a:r>
            <a:r>
              <a:rPr lang="zh-CN" altLang="en-US" sz="2400" b="1" dirty="0">
                <a:sym typeface="Symbol" panose="05050102010706020507" pitchFamily="18" charset="2"/>
              </a:rPr>
              <a:t>。</a:t>
            </a:r>
            <a:endParaRPr lang="en-US" altLang="zh-CN" sz="2400" b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7867C0DA-0654-4E1F-AA16-B36DAD9509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>
                <a:ea typeface="楷体_GB2312" pitchFamily="49" charset="-122"/>
              </a:rPr>
              <a:t>逻辑公式（</a:t>
            </a:r>
            <a:r>
              <a:rPr lang="en-US" altLang="zh-CN" sz="3600" b="0">
                <a:latin typeface="Times New Roman" panose="02020603050405020304" pitchFamily="18" charset="0"/>
                <a:cs typeface="Times New Roman" panose="02020603050405020304" pitchFamily="18" charset="0"/>
              </a:rPr>
              <a:t>formula </a:t>
            </a:r>
            <a:r>
              <a:rPr lang="zh-CN" altLang="en-US" sz="3600">
                <a:ea typeface="楷体_GB2312" pitchFamily="49" charset="-122"/>
              </a:rPr>
              <a:t>）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4B527207-16C4-42EC-8F50-1399DE8E45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1424" y="1556792"/>
            <a:ext cx="9864972" cy="4591050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b="1" dirty="0">
                <a:ea typeface="楷体_GB2312" pitchFamily="49" charset="-122"/>
              </a:rPr>
              <a:t>原子陈述：</a:t>
            </a:r>
            <a:endParaRPr lang="en-US" altLang="zh-CN" sz="2400" b="1" dirty="0">
              <a:ea typeface="楷体_GB2312" pitchFamily="49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,…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zh-CN" altLang="en-US" sz="2400" b="1" dirty="0">
                <a:ea typeface="楷体_GB2312" pitchFamily="49" charset="-122"/>
              </a:rPr>
              <a:t>其中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2400" b="1" dirty="0">
                <a:latin typeface="Times New Roman" panose="02020603050405020304" pitchFamily="18" charset="0"/>
              </a:rPr>
              <a:t>是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</a:rPr>
              <a:t>元谓词，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i</a:t>
            </a:r>
            <a:r>
              <a:rPr lang="zh-CN" altLang="en-US" sz="2400" b="1" u="sng" dirty="0"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zh-CN" altLang="en-US" sz="2400" b="1" u="sng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常量、</a:t>
            </a:r>
            <a:r>
              <a:rPr lang="zh-CN" alt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r>
              <a:rPr lang="zh-CN" altLang="en-US" sz="2400" b="1" u="sng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或函数取值</a:t>
            </a:r>
            <a:endParaRPr lang="en-US" altLang="zh-CN" sz="2400" b="1" u="sng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indent="0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b="1" dirty="0">
                <a:ea typeface="楷体_GB2312" pitchFamily="49" charset="-122"/>
              </a:rPr>
              <a:t>逻辑公式（有时称为“陈述”）：</a:t>
            </a:r>
            <a:endParaRPr lang="en-US" altLang="zh-CN" sz="2400" b="1" dirty="0">
              <a:ea typeface="楷体_GB2312" pitchFamily="49" charset="-122"/>
            </a:endParaRPr>
          </a:p>
          <a:p>
            <a:pPr marL="0" indent="0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>
                <a:ea typeface="楷体_GB2312" pitchFamily="49" charset="-122"/>
              </a:rPr>
              <a:t>原子陈述是逻辑公式；</a:t>
            </a:r>
            <a:endParaRPr lang="en-US" altLang="zh-CN" sz="2400" b="1" dirty="0">
              <a:ea typeface="楷体_GB2312" pitchFamily="49" charset="-122"/>
            </a:endParaRPr>
          </a:p>
          <a:p>
            <a:pPr marL="0" indent="0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2400" b="1" dirty="0">
                <a:ea typeface="楷体_GB2312" pitchFamily="49" charset="-122"/>
              </a:rPr>
              <a:t>逻辑公式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是自由变元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sz="2400" b="1" dirty="0">
                <a:sym typeface="Symbol" panose="05050102010706020507" pitchFamily="18" charset="2"/>
              </a:rPr>
              <a:t>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400" b="1" dirty="0">
                <a:sym typeface="Symbol" panose="05050102010706020507" pitchFamily="18" charset="2"/>
              </a:rPr>
              <a:t>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2400" b="1" dirty="0">
                <a:ea typeface="楷体_GB2312" pitchFamily="49" charset="-122"/>
              </a:rPr>
              <a:t>逻辑公式；</a:t>
            </a:r>
            <a:endParaRPr lang="en-US" altLang="zh-CN" sz="2400" b="1" dirty="0">
              <a:ea typeface="楷体_GB2312" pitchFamily="49" charset="-122"/>
            </a:endParaRPr>
          </a:p>
          <a:p>
            <a:pPr marL="0" indent="0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2400" b="1" dirty="0">
                <a:ea typeface="楷体_GB2312" pitchFamily="49" charset="-122"/>
              </a:rPr>
              <a:t>逻辑公式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¬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zh-CN" altLang="en-US" sz="2400" b="1" dirty="0">
                <a:ea typeface="楷体_GB2312" pitchFamily="49" charset="-122"/>
              </a:rPr>
              <a:t>逻辑公式。</a:t>
            </a:r>
            <a:endParaRPr lang="en-US" altLang="zh-CN" sz="2400" b="1" dirty="0">
              <a:ea typeface="楷体_GB2312" pitchFamily="49" charset="-122"/>
            </a:endParaRPr>
          </a:p>
          <a:p>
            <a:pPr marL="0" indent="0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只有有限次应用上述规则形成的符号串才是逻辑公式</a:t>
            </a:r>
            <a:endParaRPr lang="en-US" altLang="zh-CN" sz="2400" b="1" dirty="0">
              <a:ea typeface="楷体_GB2312" pitchFamily="49" charset="-122"/>
            </a:endParaRPr>
          </a:p>
          <a:p>
            <a:pPr marL="0" indent="0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b="1" dirty="0">
                <a:ea typeface="楷体_GB2312" pitchFamily="49" charset="-122"/>
              </a:rPr>
              <a:t>    备注：量词的优先级高于其它逻辑连接符</a:t>
            </a:r>
            <a:endParaRPr lang="en-US" altLang="zh-CN" sz="2400" b="1" dirty="0">
              <a:ea typeface="楷体_GB2312" pitchFamily="49" charset="-122"/>
            </a:endParaRPr>
          </a:p>
          <a:p>
            <a:pPr marL="0" indent="0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b="1" dirty="0">
                <a:ea typeface="楷体_GB2312" pitchFamily="49" charset="-122"/>
              </a:rPr>
              <a:t>    举例：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s-E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</a:t>
            </a:r>
            <a:r>
              <a:rPr lang="es-E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s-E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(y&gt;0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s-E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" altLang="zh-CN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altLang="zh-CN" sz="2400" b="1" dirty="0">
              <a:ea typeface="楷体_GB2312" pitchFamily="49" charset="-122"/>
            </a:endParaRPr>
          </a:p>
          <a:p>
            <a:pPr marL="0" indent="0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sz="2400" b="1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606F6E-8C34-4D27-92C4-69589441D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谓词逻辑公式的否定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C54D51-1AD3-416C-BBD8-3AD22CD6D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量词的德摩根定律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嵌套量词的否定</a:t>
            </a:r>
            <a:endParaRPr lang="en-US" altLang="zh-CN" dirty="0"/>
          </a:p>
          <a:p>
            <a:pPr lvl="1"/>
            <a:r>
              <a:rPr lang="zh-CN" altLang="en-US" dirty="0"/>
              <a:t>反复使用单量词德摩根定律</a:t>
            </a:r>
            <a:endParaRPr lang="en-US" altLang="zh-CN" dirty="0"/>
          </a:p>
          <a:p>
            <a:r>
              <a:rPr lang="zh-CN" altLang="en-US" dirty="0"/>
              <a:t>例：                                          的否</a:t>
            </a:r>
            <a:r>
              <a:rPr lang="en-US" altLang="zh-CN" dirty="0"/>
              <a:t>?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13484C-70CC-404F-A2D3-455BE9A9C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64" y="2348880"/>
            <a:ext cx="9753391" cy="14401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3436374-0F6E-4432-8D14-774B514DB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20" y="5085184"/>
            <a:ext cx="4426486" cy="36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413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5F0904-FA80-4982-BF38-85F3AB1F5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714474"/>
          </a:xfrm>
        </p:spPr>
        <p:txBody>
          <a:bodyPr/>
          <a:lstStyle/>
          <a:p>
            <a:r>
              <a:rPr lang="zh-CN" altLang="en-US" dirty="0"/>
              <a:t>谓词表达式的真值判定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3ACBBA-913A-4327-814D-A149ECF1B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517231"/>
          </a:xfrm>
        </p:spPr>
        <p:txBody>
          <a:bodyPr/>
          <a:lstStyle/>
          <a:p>
            <a:r>
              <a:rPr lang="zh-CN" altLang="en-US" dirty="0"/>
              <a:t>全称量词公式</a:t>
            </a:r>
            <a:r>
              <a:rPr lang="zh-C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dirty="0"/>
              <a:t>P(x)</a:t>
            </a:r>
            <a:r>
              <a:rPr lang="zh-CN" altLang="en-US" dirty="0"/>
              <a:t>的真值判定：</a:t>
            </a:r>
            <a:endParaRPr lang="en-US" altLang="zh-CN" dirty="0"/>
          </a:p>
          <a:p>
            <a:pPr lvl="1"/>
            <a:r>
              <a:rPr lang="zh-CN" altLang="en-US" dirty="0"/>
              <a:t>如果论域是有限集合：枚举所有元素</a:t>
            </a:r>
            <a:r>
              <a:rPr lang="en-US" altLang="zh-CN" dirty="0"/>
              <a:t>a</a:t>
            </a:r>
            <a:r>
              <a:rPr lang="en-US" altLang="zh-CN" baseline="-25000" dirty="0"/>
              <a:t>i</a:t>
            </a:r>
          </a:p>
          <a:p>
            <a:pPr lvl="2"/>
            <a:r>
              <a:rPr lang="zh-CN" alt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18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dirty="0"/>
              <a:t>P(x)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≡P(a</a:t>
            </a:r>
            <a:r>
              <a:rPr lang="en-US" altLang="zh-CN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P(a</a:t>
            </a:r>
            <a:r>
              <a:rPr lang="en-US" altLang="zh-CN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…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P(a</a:t>
            </a:r>
            <a:r>
              <a:rPr lang="en-US" altLang="zh-CN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lvl="1"/>
            <a:r>
              <a:rPr lang="zh-CN" altLang="en-US" dirty="0"/>
              <a:t>如果论域是无限集合：</a:t>
            </a:r>
            <a:endParaRPr lang="en-US" altLang="zh-CN" dirty="0"/>
          </a:p>
          <a:p>
            <a:pPr lvl="2"/>
            <a:r>
              <a:rPr lang="zh-CN" altLang="en-US" dirty="0"/>
              <a:t>为真：数学证明</a:t>
            </a:r>
            <a:endParaRPr lang="en-US" altLang="zh-CN" dirty="0"/>
          </a:p>
          <a:p>
            <a:pPr lvl="2"/>
            <a:r>
              <a:rPr lang="zh-CN" altLang="en-US" dirty="0"/>
              <a:t>为假：找到反例</a:t>
            </a:r>
            <a:endParaRPr lang="en-US" altLang="zh-CN" dirty="0"/>
          </a:p>
          <a:p>
            <a:r>
              <a:rPr lang="zh-CN" altLang="en-US" dirty="0"/>
              <a:t>存在量词公式</a:t>
            </a:r>
            <a:r>
              <a:rPr lang="en-US" altLang="zh-CN" sz="3200" b="1" dirty="0">
                <a:sym typeface="Symbol" panose="05050102010706020507" pitchFamily="18" charset="2"/>
              </a:rPr>
              <a:t></a:t>
            </a:r>
            <a:r>
              <a:rPr lang="en-US" altLang="zh-CN" sz="32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lang="en-US" altLang="zh-CN" sz="32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(x)</a:t>
            </a:r>
            <a:r>
              <a:rPr lang="zh-CN" altLang="en-US" dirty="0"/>
              <a:t>的真值判定</a:t>
            </a:r>
            <a:endParaRPr lang="en-US" altLang="zh-CN" dirty="0"/>
          </a:p>
          <a:p>
            <a:pPr marL="692150" marR="0" lvl="1" indent="-3476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9999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</a:rPr>
              <a:t>如果论域是有限集合：枚举所有元素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</a:rPr>
              <a:t>a</a:t>
            </a:r>
            <a:r>
              <a:rPr kumimoji="0" lang="en-US" altLang="zh-CN" sz="26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</a:rPr>
              <a:t>i</a:t>
            </a:r>
          </a:p>
          <a:p>
            <a:pPr marL="987425" marR="0" lvl="2" indent="-2936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CC00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宋体"/>
                <a:sym typeface="Symbol" panose="05050102010706020507" pitchFamily="18" charset="2"/>
              </a:rPr>
              <a:t>x</a:t>
            </a:r>
            <a:r>
              <a:rPr kumimoji="0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 </a:t>
            </a:r>
            <a:r>
              <a:rPr kumimoji="0" lang="en-US" altLang="zh-CN" sz="2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</a:rPr>
              <a:t>P(x)</a:t>
            </a:r>
            <a:r>
              <a:rPr kumimoji="0" lang="en-US" altLang="zh-CN" sz="2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/>
                <a:cs typeface="Calibri" panose="020F0502020204030204" pitchFamily="34" charset="0"/>
              </a:rPr>
              <a:t>≡P(a</a:t>
            </a:r>
            <a:r>
              <a:rPr kumimoji="0" lang="en-US" altLang="zh-CN" sz="23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/>
                <a:cs typeface="Calibri" panose="020F0502020204030204" pitchFamily="34" charset="0"/>
              </a:rPr>
              <a:t>1</a:t>
            </a:r>
            <a:r>
              <a:rPr kumimoji="0" lang="en-US" altLang="zh-CN" sz="2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/>
                <a:cs typeface="Calibri" panose="020F0502020204030204" pitchFamily="34" charset="0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 </a:t>
            </a:r>
            <a:r>
              <a:rPr kumimoji="0" lang="en-US" altLang="zh-CN" sz="2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/>
                <a:cs typeface="Calibri" panose="020F0502020204030204" pitchFamily="34" charset="0"/>
              </a:rPr>
              <a:t>P(a</a:t>
            </a:r>
            <a:r>
              <a:rPr kumimoji="0" lang="en-US" altLang="zh-CN" sz="23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/>
                <a:cs typeface="Calibri" panose="020F0502020204030204" pitchFamily="34" charset="0"/>
              </a:rPr>
              <a:t>2</a:t>
            </a:r>
            <a:r>
              <a:rPr kumimoji="0" lang="en-US" altLang="zh-CN" sz="2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/>
                <a:cs typeface="Calibri" panose="020F0502020204030204" pitchFamily="34" charset="0"/>
              </a:rPr>
              <a:t>)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 …</a:t>
            </a:r>
            <a:r>
              <a:rPr kumimoji="0" lang="en-US" altLang="zh-CN" sz="2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/>
                <a:cs typeface="Calibri" panose="020F0502020204030204" pitchFamily="34" charset="0"/>
              </a:rPr>
              <a:t>P(a</a:t>
            </a:r>
            <a:r>
              <a:rPr kumimoji="0" lang="en-US" altLang="zh-CN" sz="23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/>
                <a:cs typeface="Calibri" panose="020F0502020204030204" pitchFamily="34" charset="0"/>
              </a:rPr>
              <a:t>n</a:t>
            </a:r>
            <a:r>
              <a:rPr kumimoji="0" lang="en-US" altLang="zh-CN" sz="2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/>
                <a:cs typeface="Calibri" panose="020F0502020204030204" pitchFamily="34" charset="0"/>
              </a:rPr>
              <a:t>)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marL="692150" marR="0" lvl="1" indent="-3476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9999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</a:rPr>
              <a:t>如果论域是无限集合：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</a:endParaRPr>
          </a:p>
          <a:p>
            <a:pPr lvl="2">
              <a:buClr>
                <a:srgbClr val="CCCC00"/>
              </a:buClr>
              <a:defRPr/>
            </a:pPr>
            <a:r>
              <a:rPr kumimoji="0" lang="zh-CN" altLang="en-US" sz="2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</a:rPr>
              <a:t>为</a:t>
            </a:r>
            <a:r>
              <a:rPr lang="zh-CN" altLang="en-US" dirty="0">
                <a:solidFill>
                  <a:srgbClr val="000000"/>
                </a:solidFill>
              </a:rPr>
              <a:t>真：举出（构造）一个实例</a:t>
            </a:r>
            <a:endParaRPr lang="en-US" altLang="zh-CN" dirty="0">
              <a:solidFill>
                <a:srgbClr val="000000"/>
              </a:solidFill>
            </a:endParaRPr>
          </a:p>
          <a:p>
            <a:pPr lvl="2">
              <a:buClr>
                <a:srgbClr val="CCCC00"/>
              </a:buClr>
              <a:defRPr/>
            </a:pPr>
            <a:r>
              <a:rPr kumimoji="0" lang="zh-CN" altLang="en-US" sz="2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</a:rPr>
              <a:t>为</a:t>
            </a:r>
            <a:r>
              <a:rPr lang="zh-CN" altLang="en-US" dirty="0">
                <a:solidFill>
                  <a:srgbClr val="000000"/>
                </a:solidFill>
              </a:rPr>
              <a:t>假：数学证明</a:t>
            </a:r>
            <a:endParaRPr lang="en-US" altLang="zh-CN" dirty="0">
              <a:solidFill>
                <a:srgbClr val="000000"/>
              </a:solidFill>
            </a:endParaRPr>
          </a:p>
          <a:p>
            <a:pPr marL="987425" marR="0" lvl="2" indent="-2936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CC00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9966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4">
            <a:extLst>
              <a:ext uri="{FF2B5EF4-FFF2-40B4-BE49-F238E27FC236}">
                <a16:creationId xmlns:a16="http://schemas.microsoft.com/office/drawing/2014/main" id="{D1787761-BE7C-435A-90CB-FE660C9BB05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11424" y="583350"/>
            <a:ext cx="8637587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谓词公式的真值判定</a:t>
            </a:r>
          </a:p>
        </p:txBody>
      </p:sp>
      <p:sp>
        <p:nvSpPr>
          <p:cNvPr id="30727" name="Rectangle 3">
            <a:extLst>
              <a:ext uri="{FF2B5EF4-FFF2-40B4-BE49-F238E27FC236}">
                <a16:creationId xmlns:a16="http://schemas.microsoft.com/office/drawing/2014/main" id="{2EA29BB3-335A-4F6E-A9AF-D76428B58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528" y="2204864"/>
            <a:ext cx="7991475" cy="129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40000"/>
              </a:spcBef>
              <a:buClr>
                <a:schemeClr val="tx2"/>
              </a:buClr>
              <a:buSzPct val="70000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一阶逻辑公式的永真性判定有相当的难度！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even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2)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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)))</a:t>
            </a: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40000"/>
              </a:spcBef>
              <a:buClr>
                <a:schemeClr val="tx2"/>
              </a:buClr>
              <a:buSzPct val="70000"/>
            </a:pP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9" name="矩形标注 8">
            <a:extLst>
              <a:ext uri="{FF2B5EF4-FFF2-40B4-BE49-F238E27FC236}">
                <a16:creationId xmlns:a16="http://schemas.microsoft.com/office/drawing/2014/main" id="{E25E6733-6A45-4E30-9E3A-FD01C5670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3990" y="3463751"/>
            <a:ext cx="8785225" cy="504825"/>
          </a:xfrm>
          <a:prstGeom prst="wedgeRectCallout">
            <a:avLst>
              <a:gd name="adj1" fmla="val -14458"/>
              <a:gd name="adj2" fmla="val -113074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 algn="ctr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2200" b="1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哥德巴赫猜想（</a:t>
            </a:r>
            <a:r>
              <a:rPr lang="en-US" altLang="zh-CN" sz="2200" b="1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1740s</a:t>
            </a:r>
            <a:r>
              <a:rPr lang="zh-CN" altLang="en-US" sz="2200" b="1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年），就是这个逻辑公式，至今无法判定其真假</a:t>
            </a:r>
            <a:endParaRPr lang="en-US" altLang="zh-CN" sz="2200" b="1">
              <a:solidFill>
                <a:srgbClr val="FF0000"/>
              </a:solidFill>
              <a:latin typeface="Times New Roman" panose="02020603050405020304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0" name="矩形标注 9">
            <a:extLst>
              <a:ext uri="{FF2B5EF4-FFF2-40B4-BE49-F238E27FC236}">
                <a16:creationId xmlns:a16="http://schemas.microsoft.com/office/drawing/2014/main" id="{E474D174-E598-4152-942F-072D1B6C6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328" y="4443239"/>
            <a:ext cx="7450137" cy="511175"/>
          </a:xfrm>
          <a:prstGeom prst="wedgeRectCallout">
            <a:avLst>
              <a:gd name="adj1" fmla="val -16370"/>
              <a:gd name="adj2" fmla="val -48398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 algn="ctr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2200" b="1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变量的论域（</a:t>
            </a:r>
            <a:r>
              <a:rPr lang="en-US" altLang="zh-CN" sz="2200" b="1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domain of discourse)</a:t>
            </a:r>
            <a:r>
              <a:rPr lang="zh-CN" altLang="en-US" sz="2200" b="1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：</a:t>
            </a:r>
            <a:r>
              <a:rPr lang="zh-CN" altLang="en-US" sz="2200" b="1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无限</a:t>
            </a:r>
            <a:r>
              <a:rPr lang="zh-CN" altLang="en-US" sz="2200" b="1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与有限，天壤之别</a:t>
            </a:r>
            <a:endParaRPr lang="en-US" altLang="zh-CN" sz="2200" b="1">
              <a:latin typeface="Times New Roman" panose="02020603050405020304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>
            <a:extLst>
              <a:ext uri="{FF2B5EF4-FFF2-40B4-BE49-F238E27FC236}">
                <a16:creationId xmlns:a16="http://schemas.microsoft.com/office/drawing/2014/main" id="{09A8E10F-F16A-4FDD-815E-E9C3AB89F5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谓词逻辑的应用</a:t>
            </a:r>
          </a:p>
        </p:txBody>
      </p:sp>
      <p:sp>
        <p:nvSpPr>
          <p:cNvPr id="18434" name="内容占位符 2">
            <a:extLst>
              <a:ext uri="{FF2B5EF4-FFF2-40B4-BE49-F238E27FC236}">
                <a16:creationId xmlns:a16="http://schemas.microsoft.com/office/drawing/2014/main" id="{49FC4162-ED7E-4A1C-B9E2-6798A105BC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知识表示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/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/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brother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y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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father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uncle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is uncle of x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father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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father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grandfather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endParaRPr lang="en-US" altLang="zh-CN" b="1" dirty="0"/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 dirty="0"/>
              <a:t>上述知识无法用命题逻辑表达！</a:t>
            </a:r>
          </a:p>
        </p:txBody>
      </p:sp>
    </p:spTree>
    <p:extLst>
      <p:ext uri="{BB962C8B-B14F-4D97-AF65-F5344CB8AC3E}">
        <p14:creationId xmlns:p14="http://schemas.microsoft.com/office/powerpoint/2010/main" val="3207865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4">
            <a:extLst>
              <a:ext uri="{FF2B5EF4-FFF2-40B4-BE49-F238E27FC236}">
                <a16:creationId xmlns:a16="http://schemas.microsoft.com/office/drawing/2014/main" id="{76EF210C-656F-4F9F-B565-A1BF75CCAF6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030414" y="722313"/>
            <a:ext cx="8637587" cy="762000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Prolog (Programming in Logic)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154" name="Rectangle 3">
            <a:extLst>
              <a:ext uri="{FF2B5EF4-FFF2-40B4-BE49-F238E27FC236}">
                <a16:creationId xmlns:a16="http://schemas.microsoft.com/office/drawing/2014/main" id="{D6C7A10D-5FCC-4EF6-89AA-609D589EE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7876" y="1628776"/>
            <a:ext cx="8424863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若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是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的兄弟，且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是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的父亲，则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是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的叔叔。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  <a:sym typeface="Symbol" panose="05050102010706020507" pitchFamily="18" charset="2"/>
            </a:endParaRPr>
          </a:p>
          <a:p>
            <a:pPr marL="692150" marR="0" lvl="1" indent="-347663" algn="l" defTabSz="914400" rtl="0" eaLnBrk="0" fontAlgn="base" latinLnBrk="0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669999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brother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y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  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father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x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uncle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x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155" name="矩形标注 4">
            <a:extLst>
              <a:ext uri="{FF2B5EF4-FFF2-40B4-BE49-F238E27FC236}">
                <a16:creationId xmlns:a16="http://schemas.microsoft.com/office/drawing/2014/main" id="{EA460F77-CDA2-4042-A633-E442F4EFE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1" y="2673351"/>
            <a:ext cx="5688013" cy="504825"/>
          </a:xfrm>
          <a:prstGeom prst="wedgeRectCallout">
            <a:avLst>
              <a:gd name="adj1" fmla="val -48671"/>
              <a:gd name="adj2" fmla="val 11565"/>
            </a:avLst>
          </a:prstGeom>
          <a:noFill/>
          <a:ln w="15875" algn="ctr">
            <a:solidFill>
              <a:srgbClr val="2009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800100" marR="0" lvl="1" indent="-342900" algn="l" defTabSz="914400" rtl="0" eaLnBrk="1" fontAlgn="base" latinLnBrk="0" hangingPunct="1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330066"/>
              </a:buClr>
              <a:buSzPct val="70000"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uncle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x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2009CD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:- 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brother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y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), 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father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x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0E4DEB16-5978-408B-854D-5C081F3CD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0413" y="3357564"/>
            <a:ext cx="8424862" cy="302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事实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  <a:sym typeface="Symbol" panose="05050102010706020507" pitchFamily="18" charset="2"/>
            </a:endParaRPr>
          </a:p>
          <a:p>
            <a:pPr marL="692150" marR="0" lvl="1" indent="-347663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669999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brother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(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1006D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Klopp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Karl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)</a:t>
            </a:r>
          </a:p>
          <a:p>
            <a:pPr marL="692150" marR="0" lvl="1" indent="-347663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669999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brother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(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1006D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Klinsmann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Karl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)</a:t>
            </a:r>
          </a:p>
          <a:p>
            <a:pPr marL="692150" marR="0" lvl="1" indent="-347663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669999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brother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Karl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1006D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Loew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)</a:t>
            </a:r>
          </a:p>
          <a:p>
            <a:pPr marL="692150" marR="0" lvl="1" indent="-347663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669999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fat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Karl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Neuer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endParaRPr kumimoji="0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查询：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？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uncle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Neuer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692150" marR="0" lvl="1" indent="-347663" algn="l" defTabSz="914400" rtl="0" eaLnBrk="0" fontAlgn="base" latinLnBrk="0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669999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669999"/>
              </a:buClr>
              <a:buSzPct val="70000"/>
              <a:buFontTx/>
              <a:buNone/>
              <a:tabLst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8986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>
            <a:extLst>
              <a:ext uri="{FF2B5EF4-FFF2-40B4-BE49-F238E27FC236}">
                <a16:creationId xmlns:a16="http://schemas.microsoft.com/office/drawing/2014/main" id="{4F4C5E09-2260-4ACC-92D0-4BF7C48AA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谓词逻辑的应用</a:t>
            </a:r>
          </a:p>
        </p:txBody>
      </p:sp>
      <p:sp>
        <p:nvSpPr>
          <p:cNvPr id="19458" name="内容占位符 2">
            <a:extLst>
              <a:ext uri="{FF2B5EF4-FFF2-40B4-BE49-F238E27FC236}">
                <a16:creationId xmlns:a16="http://schemas.microsoft.com/office/drawing/2014/main" id="{7E243A08-60D5-45FE-972A-C98F41A058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99456" y="1719263"/>
            <a:ext cx="10153127" cy="4411662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任一大于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的偶数都可写成两个质数之和。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even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2)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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)))</a:t>
            </a: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692150" lvl="2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7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even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:  </a:t>
            </a:r>
            <a:r>
              <a:rPr lang="en-US" altLang="zh-CN" sz="2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700" b="1" dirty="0">
                <a:latin typeface="Times New Roman" panose="02020603050405020304" pitchFamily="18" charset="0"/>
              </a:rPr>
              <a:t> is a even number</a:t>
            </a:r>
          </a:p>
          <a:p>
            <a:pPr marL="692150" lvl="2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 </a:t>
            </a:r>
            <a:r>
              <a:rPr lang="en-US" altLang="zh-CN" sz="27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700" b="1" dirty="0">
                <a:latin typeface="Times New Roman" panose="02020603050405020304" pitchFamily="18" charset="0"/>
              </a:rPr>
              <a:t> is a prime number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zh-CN" b="1" dirty="0"/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 dirty="0"/>
              <a:t>这个猜想的内涵无法用命题逻辑表达！（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命题逻辑的局限性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 lvl="1">
              <a:buFont typeface="Wingdings" panose="05000000000000000000" pitchFamily="2" charset="2"/>
              <a:buNone/>
            </a:pP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8193166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标题 1">
            <a:extLst>
              <a:ext uri="{FF2B5EF4-FFF2-40B4-BE49-F238E27FC236}">
                <a16:creationId xmlns:a16="http://schemas.microsoft.com/office/drawing/2014/main" id="{A5CB8139-1E61-4BE5-866B-8107C1C26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>
                <a:ea typeface="楷体_GB2312" pitchFamily="49" charset="-122"/>
              </a:rPr>
              <a:t>将自然语言翻译成逻辑公式</a:t>
            </a:r>
            <a:endParaRPr lang="zh-CN" altLang="en-US"/>
          </a:p>
        </p:txBody>
      </p:sp>
      <p:sp>
        <p:nvSpPr>
          <p:cNvPr id="32770" name="内容占位符 2">
            <a:extLst>
              <a:ext uri="{FF2B5EF4-FFF2-40B4-BE49-F238E27FC236}">
                <a16:creationId xmlns:a16="http://schemas.microsoft.com/office/drawing/2014/main" id="{66A49089-7609-4E6A-923A-8C61E3F191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99456" y="1628775"/>
            <a:ext cx="10297143" cy="489585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 b="1" dirty="0"/>
              <a:t>任意</a:t>
            </a:r>
            <a:r>
              <a:rPr lang="zh-CN" altLang="en-US" sz="2800" b="1" dirty="0">
                <a:solidFill>
                  <a:srgbClr val="FF0000"/>
                </a:solidFill>
              </a:rPr>
              <a:t>实数</a:t>
            </a:r>
            <a:r>
              <a:rPr lang="zh-CN" altLang="en-US" sz="2800" b="1" dirty="0"/>
              <a:t>的平方都是正数</a:t>
            </a:r>
            <a:endParaRPr lang="en-US" altLang="zh-CN" sz="2800" b="1" dirty="0"/>
          </a:p>
          <a:p>
            <a:pPr lvl="1">
              <a:lnSpc>
                <a:spcPct val="120000"/>
              </a:lnSpc>
            </a:pPr>
            <a:r>
              <a:rPr lang="en-US" altLang="zh-CN" sz="2400" b="1" dirty="0">
                <a:sym typeface="Symbol" panose="05050102010706020507" pitchFamily="18" charset="2"/>
              </a:rPr>
              <a:t>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，其中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表示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&gt;0</a:t>
            </a:r>
            <a:r>
              <a:rPr lang="zh-CN" altLang="en-US" sz="2400" b="1" dirty="0">
                <a:latin typeface="Times New Roman" panose="02020603050405020304" pitchFamily="18" charset="0"/>
              </a:rPr>
              <a:t>，论域为实数 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/>
              <a:t>所有</a:t>
            </a:r>
            <a:r>
              <a:rPr lang="zh-CN" altLang="en-US" sz="2800" b="1" dirty="0">
                <a:solidFill>
                  <a:srgbClr val="FF0000"/>
                </a:solidFill>
              </a:rPr>
              <a:t>美国人</a:t>
            </a:r>
            <a:r>
              <a:rPr lang="zh-CN" altLang="en-US" sz="2800" b="1" dirty="0"/>
              <a:t>都吃汉堡包</a:t>
            </a:r>
            <a:endParaRPr lang="en-US" altLang="zh-CN" sz="2800" b="1" dirty="0"/>
          </a:p>
          <a:p>
            <a:pPr lvl="1"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，其中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表示“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zh-CN" altLang="en-US" sz="2400" b="1" dirty="0"/>
              <a:t>吃</a:t>
            </a:r>
            <a:r>
              <a:rPr lang="zh-CN" altLang="en-US" sz="2400" b="1" dirty="0">
                <a:latin typeface="Times New Roman" panose="02020603050405020304" pitchFamily="18" charset="0"/>
              </a:rPr>
              <a:t>汉堡包”，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论域为美国人 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))  //</a:t>
            </a:r>
            <a:r>
              <a:rPr lang="zh-CN" altLang="en-US" sz="2400" b="1" dirty="0">
                <a:solidFill>
                  <a:srgbClr val="1006D0"/>
                </a:solidFill>
                <a:latin typeface="Times New Roman" panose="02020603050405020304" pitchFamily="18" charset="0"/>
              </a:rPr>
              <a:t>论域为人类 </a:t>
            </a:r>
            <a:endParaRPr lang="en-US" altLang="zh-CN" sz="2400" b="1" dirty="0">
              <a:solidFill>
                <a:srgbClr val="1006D0"/>
              </a:solidFill>
              <a:latin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表示“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Times New Roman" panose="02020603050405020304" pitchFamily="18" charset="0"/>
              </a:rPr>
              <a:t>是美国人”，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C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表示“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zh-CN" altLang="en-US" sz="2400" b="1" dirty="0"/>
              <a:t>吃</a:t>
            </a:r>
            <a:r>
              <a:rPr lang="zh-CN" altLang="en-US" sz="2400" b="1" dirty="0">
                <a:latin typeface="Times New Roman" panose="02020603050405020304" pitchFamily="18" charset="0"/>
              </a:rPr>
              <a:t>汉堡包” 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endParaRPr lang="en-US" altLang="zh-CN" sz="2400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DF7EFF1B-4498-42E8-A757-0A90E27BF6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22238"/>
            <a:ext cx="10058400" cy="1074514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ea typeface="楷体_GB2312" pitchFamily="49" charset="-122"/>
              </a:rPr>
              <a:t>将自然语言翻译成逻辑公式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82A3BF68-C2A8-482F-9F54-E4BB91EC83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3432" y="1412776"/>
            <a:ext cx="9433174" cy="475297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这个班上的每个学生都学过微积分课程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是这个班上的学生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学过微积分课程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这个班上的每个学生都或去过加拿大，或去过墨西哥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是这个班上的学生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x, y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表示“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zh-CN" altLang="en-US" sz="2400" b="1" dirty="0"/>
              <a:t>访问过（去过）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zh-CN" altLang="en-US" sz="2400" b="1" dirty="0">
                <a:latin typeface="Times New Roman" panose="02020603050405020304" pitchFamily="18" charset="0"/>
              </a:rPr>
              <a:t>” 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代表“加拿大”，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代表“墨西哥”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c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m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2D9B5-439B-4045-B2F5-74EA5DEFF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自然语言的形式化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8E2B35-C463-4113-B633-E1B28A4B7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FB156BC-19F4-431F-9D07-3BBC08BE8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24" y="1772816"/>
            <a:ext cx="1944216" cy="50578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5F0D8B4-A557-4C66-8EF8-A8A866E7B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92" y="2996087"/>
            <a:ext cx="10463777" cy="8658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456013C-484C-42CD-A28D-2B7EA4168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351" y="4183354"/>
            <a:ext cx="10805297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5981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629BCB-3C04-4D0C-AE20-D4C7FCA51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存在量词形式化过程中的“困惑”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CF3D4F-C1D0-4F8B-8604-431D25A12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1700808"/>
            <a:ext cx="9505056" cy="441166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400" b="1" dirty="0"/>
              <a:t>有的政治家是诚实的</a:t>
            </a:r>
            <a:endParaRPr lang="en-US" altLang="zh-CN" sz="2400" b="1" dirty="0"/>
          </a:p>
          <a:p>
            <a:pPr lvl="1">
              <a:lnSpc>
                <a:spcPct val="120000"/>
              </a:lnSpc>
            </a:pPr>
            <a:r>
              <a:rPr lang="en-US" altLang="zh-CN" sz="20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000" b="1" dirty="0">
                <a:latin typeface="Times New Roman" panose="02020603050405020304" pitchFamily="18" charset="0"/>
              </a:rPr>
              <a:t>(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000" b="1" dirty="0">
                <a:latin typeface="Times New Roman" panose="02020603050405020304" pitchFamily="18" charset="0"/>
              </a:rPr>
              <a:t>)</a:t>
            </a:r>
            <a:r>
              <a:rPr lang="zh-CN" altLang="en-US" sz="2000" b="1" dirty="0">
                <a:latin typeface="Times New Roman" panose="02020603050405020304" pitchFamily="18" charset="0"/>
              </a:rPr>
              <a:t>表示“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x</a:t>
            </a:r>
            <a:r>
              <a:rPr lang="zh-CN" altLang="en-US" sz="2000" b="1" dirty="0">
                <a:latin typeface="Times New Roman" panose="02020603050405020304" pitchFamily="18" charset="0"/>
              </a:rPr>
              <a:t>是政治家”，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 H</a:t>
            </a:r>
            <a:r>
              <a:rPr lang="en-US" altLang="zh-CN" sz="2000" b="1" dirty="0">
                <a:latin typeface="Times New Roman" panose="02020603050405020304" pitchFamily="18" charset="0"/>
              </a:rPr>
              <a:t>(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000" b="1" dirty="0">
                <a:latin typeface="Times New Roman" panose="02020603050405020304" pitchFamily="18" charset="0"/>
              </a:rPr>
              <a:t>)</a:t>
            </a:r>
            <a:r>
              <a:rPr lang="zh-CN" altLang="en-US" sz="2000" b="1" dirty="0">
                <a:latin typeface="Times New Roman" panose="02020603050405020304" pitchFamily="18" charset="0"/>
              </a:rPr>
              <a:t>表示“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x</a:t>
            </a:r>
            <a:r>
              <a:rPr lang="zh-CN" altLang="en-US" sz="2000" b="1" dirty="0">
                <a:latin typeface="Times New Roman" panose="02020603050405020304" pitchFamily="18" charset="0"/>
              </a:rPr>
              <a:t>是</a:t>
            </a:r>
            <a:r>
              <a:rPr lang="zh-CN" altLang="en-US" sz="2000" b="1" dirty="0"/>
              <a:t>诚实的</a:t>
            </a:r>
            <a:r>
              <a:rPr lang="zh-CN" altLang="en-US" sz="2000" b="1" dirty="0">
                <a:latin typeface="Times New Roman" panose="02020603050405020304" pitchFamily="18" charset="0"/>
              </a:rPr>
              <a:t>” 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如果论域是</a:t>
            </a:r>
            <a:r>
              <a:rPr lang="zh-CN" altLang="en-US" sz="2000" b="1" dirty="0">
                <a:latin typeface="Times New Roman" panose="02020603050405020304" pitchFamily="18" charset="0"/>
              </a:rPr>
              <a:t>政治家</a:t>
            </a:r>
            <a:r>
              <a:rPr lang="zh-CN" altLang="en-US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：</a:t>
            </a:r>
            <a:endParaRPr lang="en-US" altLang="zh-CN" sz="20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2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0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1" i="1" dirty="0" err="1">
                <a:latin typeface="Times New Roman" panose="02020603050405020304" pitchFamily="18" charset="0"/>
              </a:rPr>
              <a:t>H</a:t>
            </a:r>
            <a:r>
              <a:rPr lang="en-US" altLang="zh-CN" sz="2000" b="1" dirty="0">
                <a:latin typeface="Times New Roman" panose="02020603050405020304" pitchFamily="18" charset="0"/>
              </a:rPr>
              <a:t>(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000" b="1" dirty="0">
                <a:latin typeface="Times New Roman" panose="02020603050405020304" pitchFamily="18" charset="0"/>
              </a:rPr>
              <a:t>)</a:t>
            </a:r>
          </a:p>
          <a:p>
            <a:pPr lvl="1">
              <a:lnSpc>
                <a:spcPct val="120000"/>
              </a:lnSpc>
            </a:pPr>
            <a:r>
              <a:rPr lang="zh-CN" altLang="en-US" sz="2000" b="1" dirty="0">
                <a:latin typeface="Times New Roman" panose="02020603050405020304" pitchFamily="18" charset="0"/>
              </a:rPr>
              <a:t>如果论域是人：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lvl="2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000" b="1" dirty="0">
                <a:latin typeface="Times New Roman" panose="02020603050405020304" pitchFamily="18" charset="0"/>
              </a:rPr>
              <a:t>(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000" b="1" dirty="0">
                <a:latin typeface="Times New Roman" panose="02020603050405020304" pitchFamily="18" charset="0"/>
              </a:rPr>
              <a:t>)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000" b="1" dirty="0">
                <a:latin typeface="Times New Roman" panose="02020603050405020304" pitchFamily="18" charset="0"/>
              </a:rPr>
              <a:t>(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000" b="1" dirty="0">
                <a:latin typeface="Times New Roman" panose="02020603050405020304" pitchFamily="18" charset="0"/>
              </a:rPr>
              <a:t>))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//</a:t>
            </a:r>
            <a:r>
              <a:rPr lang="zh-CN" altLang="en-US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外层的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( )</a:t>
            </a:r>
            <a:r>
              <a:rPr lang="zh-CN" altLang="en-US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不能缺</a:t>
            </a:r>
            <a:endParaRPr lang="en-US" altLang="zh-CN" sz="20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3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→</a:t>
            </a:r>
            <a:r>
              <a:rPr lang="en-US" altLang="zh-CN" b="1" i="1" dirty="0">
                <a:latin typeface="Times New Roman" panose="02020603050405020304" pitchFamily="18" charset="0"/>
              </a:rPr>
              <a:t>H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))</a:t>
            </a:r>
            <a:r>
              <a:rPr lang="zh-CN" altLang="en-US" b="1" dirty="0">
                <a:latin typeface="Times New Roman" panose="02020603050405020304" pitchFamily="18" charset="0"/>
              </a:rPr>
              <a:t>的真值情况，能够和原自然语言等价吗？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lvl="3">
              <a:lnSpc>
                <a:spcPct val="120000"/>
              </a:lnSpc>
            </a:pPr>
            <a:r>
              <a:rPr lang="zh-CN" altLang="en-US" sz="1800" b="1" dirty="0">
                <a:latin typeface="Times New Roman" panose="02020603050405020304" pitchFamily="18" charset="0"/>
              </a:rPr>
              <a:t>如果所有的政治家都不诚实，原命题应该为假，但是：</a:t>
            </a:r>
            <a:endParaRPr lang="en-US" altLang="zh-CN" sz="1800" b="1" dirty="0">
              <a:latin typeface="Times New Roman" panose="02020603050405020304" pitchFamily="18" charset="0"/>
            </a:endParaRPr>
          </a:p>
          <a:p>
            <a:pPr lvl="4">
              <a:lnSpc>
                <a:spcPct val="120000"/>
              </a:lnSpc>
            </a:pPr>
            <a:r>
              <a:rPr lang="en-US" altLang="zh-CN" sz="1800" b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P(</a:t>
            </a:r>
            <a:r>
              <a:rPr lang="zh-CN" altLang="en-US" sz="1800" b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陶先平</a:t>
            </a:r>
            <a:r>
              <a:rPr lang="en-US" altLang="zh-CN" sz="1800" b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) →</a:t>
            </a:r>
            <a:r>
              <a:rPr lang="en-US" altLang="zh-CN" sz="18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1800" b="1" dirty="0">
                <a:latin typeface="Times New Roman" panose="02020603050405020304" pitchFamily="18" charset="0"/>
              </a:rPr>
              <a:t>(</a:t>
            </a:r>
            <a:r>
              <a:rPr lang="zh-CN" altLang="en-US" sz="1800" b="1" i="1" dirty="0">
                <a:latin typeface="Times New Roman" panose="02020603050405020304" pitchFamily="18" charset="0"/>
              </a:rPr>
              <a:t>陶先平</a:t>
            </a:r>
            <a:r>
              <a:rPr lang="en-US" altLang="zh-CN" sz="1800" b="1" dirty="0">
                <a:latin typeface="Times New Roman" panose="02020603050405020304" pitchFamily="18" charset="0"/>
              </a:rPr>
              <a:t>)</a:t>
            </a:r>
            <a:r>
              <a:rPr lang="zh-CN" altLang="en-US" sz="1800" b="1" dirty="0">
                <a:latin typeface="Times New Roman" panose="02020603050405020304" pitchFamily="18" charset="0"/>
              </a:rPr>
              <a:t>为真，因此</a:t>
            </a:r>
            <a:r>
              <a:rPr lang="en-US" altLang="zh-CN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1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18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1800" b="1" dirty="0">
                <a:latin typeface="Times New Roman" panose="02020603050405020304" pitchFamily="18" charset="0"/>
              </a:rPr>
              <a:t>(</a:t>
            </a:r>
            <a:r>
              <a:rPr lang="en-US" altLang="zh-CN" sz="1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1800" b="1" dirty="0">
                <a:latin typeface="Times New Roman" panose="02020603050405020304" pitchFamily="18" charset="0"/>
              </a:rPr>
              <a:t>)</a:t>
            </a:r>
            <a:r>
              <a:rPr lang="en-US" altLang="zh-CN" sz="1800" b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→</a:t>
            </a:r>
            <a:r>
              <a:rPr lang="en-US" altLang="zh-CN" sz="18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1800" b="1" dirty="0">
                <a:latin typeface="Times New Roman" panose="02020603050405020304" pitchFamily="18" charset="0"/>
              </a:rPr>
              <a:t>(</a:t>
            </a:r>
            <a:r>
              <a:rPr lang="en-US" altLang="zh-CN" sz="1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1800" b="1" dirty="0">
                <a:latin typeface="Times New Roman" panose="02020603050405020304" pitchFamily="18" charset="0"/>
              </a:rPr>
              <a:t>))</a:t>
            </a:r>
            <a:r>
              <a:rPr lang="zh-CN" altLang="en-US" sz="1800" b="1" dirty="0">
                <a:latin typeface="Times New Roman" panose="02020603050405020304" pitchFamily="18" charset="0"/>
              </a:rPr>
              <a:t>为真</a:t>
            </a:r>
            <a:endParaRPr lang="en-US" altLang="zh-CN" sz="1800" b="1" dirty="0">
              <a:latin typeface="Times New Roman" panose="02020603050405020304" pitchFamily="18" charset="0"/>
            </a:endParaRPr>
          </a:p>
          <a:p>
            <a:pPr lvl="4">
              <a:lnSpc>
                <a:spcPct val="120000"/>
              </a:lnSpc>
            </a:pPr>
            <a:r>
              <a:rPr lang="zh-CN" altLang="en-US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而</a:t>
            </a:r>
            <a:r>
              <a:rPr lang="en-US" altLang="zh-CN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zh-CN" altLang="en-US" b="1" i="1" dirty="0">
                <a:latin typeface="Times New Roman" panose="02020603050405020304" pitchFamily="18" charset="0"/>
              </a:rPr>
              <a:t>陶先平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>
                <a:latin typeface="Times New Roman" panose="02020603050405020304" pitchFamily="18" charset="0"/>
              </a:rPr>
              <a:t>H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zh-CN" altLang="en-US" b="1" i="1" dirty="0">
                <a:latin typeface="Times New Roman" panose="02020603050405020304" pitchFamily="18" charset="0"/>
              </a:rPr>
              <a:t>陶先平</a:t>
            </a:r>
            <a:r>
              <a:rPr lang="en-US" altLang="zh-CN" b="1" dirty="0">
                <a:latin typeface="Times New Roman" panose="02020603050405020304" pitchFamily="18" charset="0"/>
              </a:rPr>
              <a:t>))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为假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云形 3">
            <a:extLst>
              <a:ext uri="{FF2B5EF4-FFF2-40B4-BE49-F238E27FC236}">
                <a16:creationId xmlns:a16="http://schemas.microsoft.com/office/drawing/2014/main" id="{42EF06EA-F6D9-4674-B522-39A0EE322C56}"/>
              </a:ext>
            </a:extLst>
          </p:cNvPr>
          <p:cNvSpPr/>
          <p:nvPr/>
        </p:nvSpPr>
        <p:spPr bwMode="auto">
          <a:xfrm>
            <a:off x="3503712" y="4437112"/>
            <a:ext cx="3888432" cy="1800200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我们为什么用</a:t>
            </a:r>
            <a:endParaRPr kumimoji="0" lang="en-US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合取连接符？</a:t>
            </a:r>
          </a:p>
        </p:txBody>
      </p:sp>
    </p:spTree>
    <p:extLst>
      <p:ext uri="{BB962C8B-B14F-4D97-AF65-F5344CB8AC3E}">
        <p14:creationId xmlns:p14="http://schemas.microsoft.com/office/powerpoint/2010/main" val="3783631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5"/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9817274A-EB27-4579-9024-91A807A593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5400" y="620688"/>
            <a:ext cx="7772400" cy="930275"/>
          </a:xfrm>
        </p:spPr>
        <p:txBody>
          <a:bodyPr/>
          <a:lstStyle/>
          <a:p>
            <a:pPr eaLnBrk="1" hangingPunct="1"/>
            <a:r>
              <a:rPr lang="zh-CN" altLang="en-US" sz="4800" b="0" dirty="0">
                <a:ea typeface="华文新魏" panose="02010800040101010101" pitchFamily="2" charset="-122"/>
              </a:rPr>
              <a:t>谓词逻辑</a:t>
            </a:r>
            <a:r>
              <a:rPr lang="zh-CN" altLang="en-US" sz="4800" b="0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推理</a:t>
            </a:r>
            <a:endParaRPr lang="zh-CN" altLang="en-US" sz="4800" dirty="0"/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77366BE6-F965-4877-8E3C-68A459F1BB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27448" y="1916832"/>
            <a:ext cx="4679950" cy="2160587"/>
          </a:xfrm>
        </p:spPr>
        <p:txBody>
          <a:bodyPr/>
          <a:lstStyle/>
          <a:p>
            <a:pPr eaLnBrk="1" hangingPunct="1">
              <a:spcBef>
                <a:spcPct val="35000"/>
              </a:spcBef>
            </a:pPr>
            <a:r>
              <a:rPr lang="zh-CN" altLang="en-US" sz="2600" b="1" dirty="0">
                <a:latin typeface="Times New Roman" panose="02020603050405020304" pitchFamily="18" charset="0"/>
              </a:rPr>
              <a:t>常用逻辑等价式</a:t>
            </a:r>
            <a:endParaRPr lang="en-US" altLang="zh-CN" sz="26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35000"/>
              </a:spcBef>
            </a:pPr>
            <a:r>
              <a:rPr lang="zh-CN" altLang="en-US" sz="2600" b="1" dirty="0">
                <a:latin typeface="Times New Roman" panose="02020603050405020304" pitchFamily="18" charset="0"/>
              </a:rPr>
              <a:t>基于规则的推理</a:t>
            </a:r>
            <a:endParaRPr lang="en-US" altLang="zh-CN" sz="26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81EBD035-D292-459B-B5D2-9A79D76E11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楷体_GB2312" pitchFamily="49" charset="-122"/>
              </a:rPr>
              <a:t>常用逻辑等价式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D391824-B012-4D4D-A801-8F60C70844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19264"/>
            <a:ext cx="7931150" cy="4662487"/>
          </a:xfrm>
        </p:spPr>
        <p:txBody>
          <a:bodyPr/>
          <a:lstStyle/>
          <a:p>
            <a:pPr marL="342900" lvl="1" indent="-342900" eaLnBrk="1" hangingPunct="1">
              <a:lnSpc>
                <a:spcPct val="120000"/>
              </a:lnSpc>
              <a:buClr>
                <a:schemeClr val="tx2"/>
              </a:buClr>
            </a:pP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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 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8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342900" lvl="1" indent="-342900" eaLnBrk="1" hangingPunct="1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): </a:t>
            </a:r>
            <a:r>
              <a:rPr lang="zh-CN" altLang="en-US" sz="2400" b="1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对所有实数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cs typeface="Times New Roman" panose="02020603050405020304" pitchFamily="18" charset="0"/>
              </a:rPr>
              <a:t>, </a:t>
            </a:r>
            <a:r>
              <a:rPr lang="zh-CN" altLang="en-US" sz="2400" b="1">
                <a:cs typeface="Times New Roman" panose="02020603050405020304" pitchFamily="18" charset="0"/>
              </a:rPr>
              <a:t>其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平方是正数 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//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&gt;0</a:t>
            </a:r>
            <a:endParaRPr lang="zh-CN" altLang="en-US" sz="2400" b="1">
              <a:cs typeface="Times New Roman" panose="02020603050405020304" pitchFamily="18" charset="0"/>
            </a:endParaRPr>
          </a:p>
          <a:p>
            <a:pPr marL="342900" lvl="1" indent="-342900" eaLnBrk="1" hangingPunct="1">
              <a:lnSpc>
                <a:spcPct val="120000"/>
              </a:lnSpc>
            </a:pPr>
            <a:r>
              <a:rPr lang="zh-CN" altLang="en-US" sz="2400" b="1">
                <a:ea typeface="楷体_GB2312" pitchFamily="49" charset="-122"/>
                <a:cs typeface="Times New Roman" panose="02020603050405020304" pitchFamily="18" charset="0"/>
              </a:rPr>
              <a:t>否定：</a:t>
            </a:r>
            <a:r>
              <a:rPr lang="zh-CN" altLang="en-US" sz="2400" b="1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存在某个实数</a:t>
            </a:r>
            <a:r>
              <a:rPr lang="en-US" altLang="zh-CN" sz="2400" b="1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cs typeface="Times New Roman" panose="02020603050405020304" pitchFamily="18" charset="0"/>
              </a:rPr>
              <a:t>, </a:t>
            </a:r>
            <a:r>
              <a:rPr lang="zh-CN" altLang="en-US" sz="2400" b="1">
                <a:ea typeface="楷体_GB2312" pitchFamily="49" charset="-122"/>
                <a:cs typeface="Times New Roman" panose="02020603050405020304" pitchFamily="18" charset="0"/>
              </a:rPr>
              <a:t>其平方</a:t>
            </a:r>
            <a:r>
              <a:rPr lang="zh-CN" altLang="en-US" sz="2400" b="1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不</a:t>
            </a:r>
            <a:r>
              <a:rPr lang="zh-CN" altLang="en-US" sz="2400" b="1">
                <a:ea typeface="楷体_GB2312" pitchFamily="49" charset="-122"/>
                <a:cs typeface="Times New Roman" panose="02020603050405020304" pitchFamily="18" charset="0"/>
              </a:rPr>
              <a:t>是正数。</a:t>
            </a:r>
            <a:endParaRPr lang="en-US" altLang="zh-CN" sz="2400" b="1">
              <a:ea typeface="楷体_GB2312" pitchFamily="49" charset="-122"/>
              <a:cs typeface="Times New Roman" panose="02020603050405020304" pitchFamily="18" charset="0"/>
            </a:endParaRPr>
          </a:p>
          <a:p>
            <a:pPr marL="342900" lvl="1" indent="-342900" eaLnBrk="1" hangingPunct="1">
              <a:lnSpc>
                <a:spcPct val="120000"/>
              </a:lnSpc>
              <a:buClr>
                <a:schemeClr val="tx2"/>
              </a:buClr>
            </a:pP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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 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8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342900" lvl="1" indent="-342900" eaLnBrk="1" hangingPunct="1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): </a:t>
            </a:r>
            <a:r>
              <a:rPr lang="zh-CN" altLang="en-US" sz="2400" b="1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存在实数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cs typeface="Times New Roman" panose="02020603050405020304" pitchFamily="18" charset="0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的平方是正数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1" indent="-342900" eaLnBrk="1" hangingPunct="1">
              <a:lnSpc>
                <a:spcPct val="120000"/>
              </a:lnSpc>
            </a:pPr>
            <a:r>
              <a:rPr lang="zh-CN" altLang="en-US" sz="2400" b="1">
                <a:ea typeface="楷体_GB2312" pitchFamily="49" charset="-122"/>
                <a:cs typeface="Times New Roman" panose="02020603050405020304" pitchFamily="18" charset="0"/>
              </a:rPr>
              <a:t>否定：</a:t>
            </a:r>
            <a:r>
              <a:rPr lang="zh-CN" altLang="en-US" sz="2400" b="1">
                <a:solidFill>
                  <a:srgbClr val="FF0000"/>
                </a:solidFill>
                <a:cs typeface="Times New Roman" panose="02020603050405020304" pitchFamily="18" charset="0"/>
              </a:rPr>
              <a:t>对任意实数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cs typeface="Times New Roman" panose="02020603050405020304" pitchFamily="18" charset="0"/>
              </a:rPr>
              <a:t>, </a:t>
            </a:r>
            <a:r>
              <a:rPr lang="zh-CN" altLang="en-US" sz="2400" b="1">
                <a:cs typeface="Times New Roman" panose="02020603050405020304" pitchFamily="18" charset="0"/>
              </a:rPr>
              <a:t>其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平方</a:t>
            </a:r>
            <a:r>
              <a:rPr lang="zh-CN" altLang="en-US" sz="2400" b="1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不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是正数</a:t>
            </a:r>
            <a:endParaRPr lang="zh-CN" altLang="en-US" sz="2400" b="1">
              <a:cs typeface="Times New Roman" panose="02020603050405020304" pitchFamily="18" charset="0"/>
            </a:endParaRPr>
          </a:p>
          <a:p>
            <a:pPr marL="342900" lvl="1" indent="-342900" eaLnBrk="1" hangingPunct="1">
              <a:lnSpc>
                <a:spcPct val="120000"/>
              </a:lnSpc>
              <a:buNone/>
            </a:pPr>
            <a:endParaRPr lang="en-US" altLang="zh-CN" sz="2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1C6CBB93-0EA7-4009-AA7C-8482EBA608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楷体_GB2312" pitchFamily="49" charset="-122"/>
              </a:rPr>
              <a:t>常用逻辑等价式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C77031F-DE77-4A8E-B3D4-B982833C73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46275" y="1693864"/>
            <a:ext cx="6813550" cy="4662487"/>
          </a:xfrm>
        </p:spPr>
        <p:txBody>
          <a:bodyPr/>
          <a:lstStyle/>
          <a:p>
            <a:pPr>
              <a:defRPr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))  </a:t>
            </a:r>
            <a:r>
              <a:rPr lang="zh-CN" altLang="en-US" sz="2800" b="1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/>
              </a:rPr>
              <a:t> 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/>
              </a:rPr>
              <a:t>(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)) (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xQ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)) </a:t>
            </a:r>
          </a:p>
          <a:p>
            <a:pPr>
              <a:defRPr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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)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))  </a:t>
            </a:r>
            <a:r>
              <a:rPr lang="zh-CN" altLang="en-US" sz="2800" b="1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/>
              </a:rPr>
              <a:t> 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/>
              </a:rPr>
              <a:t>(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))  (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xQ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)) </a:t>
            </a:r>
          </a:p>
          <a:p>
            <a:pPr marL="0" indent="0">
              <a:buNone/>
              <a:defRPr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defRPr/>
            </a:pPr>
            <a:r>
              <a:rPr lang="en-US" altLang="zh-CN" sz="2800" b="1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/>
              </a:rPr>
              <a:t>(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))  (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xQ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))       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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))    </a:t>
            </a:r>
          </a:p>
          <a:p>
            <a:pPr>
              <a:defRPr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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))  </a:t>
            </a:r>
            <a:r>
              <a:rPr lang="zh-CN" altLang="en-US" sz="2800" b="1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/>
              </a:rPr>
              <a:t>   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/>
              </a:rPr>
              <a:t>(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))  (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xQ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))</a:t>
            </a:r>
          </a:p>
          <a:p>
            <a:pPr marL="0" indent="0">
              <a:buNone/>
              <a:defRPr/>
            </a:pP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defRPr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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 </a:t>
            </a:r>
            <a:r>
              <a:rPr lang="zh-CN" altLang="en-US" sz="2800" b="1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/>
              </a:rPr>
              <a:t> 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/>
              </a:rPr>
              <a:t>(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)) 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defRPr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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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 </a:t>
            </a:r>
            <a:r>
              <a:rPr lang="zh-CN" altLang="en-US" sz="2800" b="1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/>
              </a:rPr>
              <a:t> 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/>
              </a:rPr>
              <a:t>(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)) 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defRPr/>
            </a:pP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40963" name="图片 8">
            <a:extLst>
              <a:ext uri="{FF2B5EF4-FFF2-40B4-BE49-F238E27FC236}">
                <a16:creationId xmlns:a16="http://schemas.microsoft.com/office/drawing/2014/main" id="{0D37D56B-5D41-499D-9200-2CD38BBC9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576" y="3870326"/>
            <a:ext cx="36036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图片 8">
            <a:extLst>
              <a:ext uri="{FF2B5EF4-FFF2-40B4-BE49-F238E27FC236}">
                <a16:creationId xmlns:a16="http://schemas.microsoft.com/office/drawing/2014/main" id="{808D2A1E-9D54-4493-A3A0-7D30AA11B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714" y="3357563"/>
            <a:ext cx="358775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标注 5">
            <a:extLst>
              <a:ext uri="{FF2B5EF4-FFF2-40B4-BE49-F238E27FC236}">
                <a16:creationId xmlns:a16="http://schemas.microsoft.com/office/drawing/2014/main" id="{955E843E-5213-4F5E-B26B-7C5CB2E08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2488" y="2806701"/>
            <a:ext cx="4248150" cy="504825"/>
          </a:xfrm>
          <a:prstGeom prst="wedgeRectCallout">
            <a:avLst>
              <a:gd name="adj1" fmla="val -57704"/>
              <a:gd name="adj2" fmla="val 52750"/>
            </a:avLst>
          </a:prstGeom>
          <a:noFill/>
          <a:ln w="9525" algn="ctr">
            <a:solidFill>
              <a:srgbClr val="2009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 algn="ctr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反向蕴涵：是奇数或偶数</a:t>
            </a:r>
            <a:endParaRPr lang="en-US" altLang="zh-CN" sz="2400" b="1">
              <a:solidFill>
                <a:srgbClr val="FF0000"/>
              </a:solidFill>
              <a:latin typeface="Times New Roman" panose="02020603050405020304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CF2307DB-655E-488E-B4C1-1EBD4A5411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楷体_GB2312" pitchFamily="49" charset="-122"/>
              </a:rPr>
              <a:t>常用逻辑等价式（可以证明）</a:t>
            </a:r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14559AE6-E920-4C45-80A5-643F43A442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1" y="1700213"/>
            <a:ext cx="5019675" cy="2449512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600" b="1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))  </a:t>
            </a:r>
            <a:r>
              <a:rPr lang="zh-CN" altLang="en-US" sz="26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 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en-US" altLang="zh-CN" sz="2600" b="1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26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600" b="1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))  </a:t>
            </a:r>
            <a:r>
              <a:rPr lang="zh-CN" altLang="en-US" sz="26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 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600" b="1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26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600" b="1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altLang="zh-CN" sz="26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600" b="1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6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 </a:t>
            </a:r>
            <a:r>
              <a:rPr lang="en-US" altLang="zh-CN" sz="26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))</a:t>
            </a:r>
            <a:r>
              <a:rPr lang="en-US" altLang="zh-CN" sz="2600" b="1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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endParaRPr lang="en-US" altLang="zh-CN" sz="26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600" b="1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)  </a:t>
            </a:r>
            <a:r>
              <a:rPr lang="zh-CN" altLang="en-US" sz="26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 </a:t>
            </a:r>
            <a:r>
              <a:rPr lang="en-US" altLang="zh-CN" sz="26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))</a:t>
            </a:r>
            <a:r>
              <a:rPr lang="en-US" altLang="zh-CN" sz="2600" b="1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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</a:p>
        </p:txBody>
      </p:sp>
      <p:sp>
        <p:nvSpPr>
          <p:cNvPr id="9" name="矩形标注 8">
            <a:extLst>
              <a:ext uri="{FF2B5EF4-FFF2-40B4-BE49-F238E27FC236}">
                <a16:creationId xmlns:a16="http://schemas.microsoft.com/office/drawing/2014/main" id="{44B48C61-1247-40CD-8F23-47E94E639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3689" y="1700214"/>
            <a:ext cx="3995737" cy="504825"/>
          </a:xfrm>
          <a:prstGeom prst="wedgeRectCallout">
            <a:avLst>
              <a:gd name="adj1" fmla="val -55852"/>
              <a:gd name="adj2" fmla="val 9421"/>
            </a:avLst>
          </a:prstGeom>
          <a:noFill/>
          <a:ln w="9525" algn="ctr">
            <a:solidFill>
              <a:srgbClr val="2009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 algn="ctr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))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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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(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)) </a:t>
            </a:r>
            <a:endParaRPr lang="en-US" altLang="zh-CN" sz="2400" b="1">
              <a:solidFill>
                <a:srgbClr val="FF0000"/>
              </a:solidFill>
              <a:latin typeface="Times New Roman" panose="02020603050405020304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0" name="矩形标注 9">
            <a:extLst>
              <a:ext uri="{FF2B5EF4-FFF2-40B4-BE49-F238E27FC236}">
                <a16:creationId xmlns:a16="http://schemas.microsoft.com/office/drawing/2014/main" id="{FFD5BA33-40BE-4107-95A8-B60281FDD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4149726"/>
            <a:ext cx="6121400" cy="504825"/>
          </a:xfrm>
          <a:prstGeom prst="wedgeRectCallout">
            <a:avLst>
              <a:gd name="adj1" fmla="val -24940"/>
              <a:gd name="adj2" fmla="val -108593"/>
            </a:avLst>
          </a:prstGeom>
          <a:noFill/>
          <a:ln w="9525" algn="ctr">
            <a:solidFill>
              <a:srgbClr val="2009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 algn="ctr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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)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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(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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))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 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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(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)) 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endParaRPr lang="en-US" altLang="zh-CN" sz="2400" b="1">
              <a:solidFill>
                <a:srgbClr val="FF0000"/>
              </a:solidFill>
              <a:latin typeface="Times New Roman" panose="02020603050405020304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" name="矩形标注 5">
            <a:extLst>
              <a:ext uri="{FF2B5EF4-FFF2-40B4-BE49-F238E27FC236}">
                <a16:creationId xmlns:a16="http://schemas.microsoft.com/office/drawing/2014/main" id="{A30BC45A-EAF9-41A7-9EF8-DE4C55B32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1" y="5229226"/>
            <a:ext cx="3965575" cy="504825"/>
          </a:xfrm>
          <a:prstGeom prst="wedgeRectCallout">
            <a:avLst>
              <a:gd name="adj1" fmla="val -33315"/>
              <a:gd name="adj2" fmla="val 4509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 algn="ctr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注意：这里</a:t>
            </a:r>
            <a:r>
              <a:rPr lang="en-US" altLang="zh-CN" sz="2400" i="1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不在</a:t>
            </a:r>
            <a:r>
              <a:rPr lang="en-US" altLang="zh-CN" sz="2400" b="1" i="1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中出现</a:t>
            </a:r>
            <a:endParaRPr lang="en-US" altLang="zh-CN" sz="2400" b="1">
              <a:solidFill>
                <a:srgbClr val="C00000"/>
              </a:solidFill>
              <a:latin typeface="Times New Roman" panose="02020603050405020304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F09393FF-F433-43F9-B737-4F3D5E7C0C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前束范式（</a:t>
            </a:r>
            <a:r>
              <a:rPr lang="en-US" altLang="zh-CN" sz="3600">
                <a:latin typeface="Times New Roman" panose="02020603050405020304" pitchFamily="18" charset="0"/>
                <a:cs typeface="Times New Roman" panose="02020603050405020304" pitchFamily="18" charset="0"/>
              </a:rPr>
              <a:t>Prenex Normal Form</a:t>
            </a:r>
            <a:r>
              <a:rPr lang="zh-CN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360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E80008B0-AB10-4BD4-B519-2C21E5F4DE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63751" y="1628776"/>
            <a:ext cx="8424863" cy="180022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s-E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s-E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</a:t>
            </a:r>
            <a:r>
              <a:rPr lang="es-E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s-E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(y&gt;0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s-E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s-E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" altLang="zh-CN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不是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前束范式</a:t>
            </a:r>
            <a:endParaRPr lang="es-E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1006D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s-ES" altLang="zh-CN" sz="2800" b="1" i="1" dirty="0">
                <a:solidFill>
                  <a:srgbClr val="1006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s-E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s-E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s-E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0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( </a:t>
            </a:r>
            <a:r>
              <a:rPr lang="es-E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y&gt;0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s-E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s-E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" altLang="zh-CN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//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前束析取范式</a:t>
            </a:r>
            <a:endParaRPr lang="es-E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zh-CN" altLang="en-US" sz="31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5059" name="内容占位符 2">
            <a:extLst>
              <a:ext uri="{FF2B5EF4-FFF2-40B4-BE49-F238E27FC236}">
                <a16:creationId xmlns:a16="http://schemas.microsoft.com/office/drawing/2014/main" id="{B9A007A6-EAF1-4E24-85E5-485D116054E3}"/>
              </a:ext>
            </a:extLst>
          </p:cNvPr>
          <p:cNvSpPr txBox="1">
            <a:spLocks/>
          </p:cNvSpPr>
          <p:nvPr/>
        </p:nvSpPr>
        <p:spPr bwMode="auto">
          <a:xfrm>
            <a:off x="1343026" y="4149726"/>
            <a:ext cx="93249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429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0558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130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9702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4274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b="1">
                <a:solidFill>
                  <a:srgbClr val="251BE3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有通用方法，把任意一阶逻辑公式转化为</a:t>
            </a:r>
            <a:r>
              <a:rPr lang="en-US" altLang="zh-CN" sz="2400" b="1">
                <a:solidFill>
                  <a:srgbClr val="251BE3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PNF</a:t>
            </a:r>
            <a:r>
              <a:rPr lang="zh-CN" altLang="en-US" sz="2400" b="1">
                <a:solidFill>
                  <a:srgbClr val="251BE3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2400" b="1">
                <a:solidFill>
                  <a:srgbClr val="251BE3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PDNF/PCNF</a:t>
            </a:r>
            <a:r>
              <a:rPr lang="zh-CN" altLang="en-US" sz="2400" b="1">
                <a:solidFill>
                  <a:srgbClr val="251BE3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kumimoji="1"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标题 1">
            <a:extLst>
              <a:ext uri="{FF2B5EF4-FFF2-40B4-BE49-F238E27FC236}">
                <a16:creationId xmlns:a16="http://schemas.microsoft.com/office/drawing/2014/main" id="{0B04DAA8-5054-45FF-AAA4-2371795E9C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5400" y="321622"/>
            <a:ext cx="8075613" cy="652463"/>
          </a:xfrm>
        </p:spPr>
        <p:txBody>
          <a:bodyPr/>
          <a:lstStyle/>
          <a:p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转化为前束范式（举例说明）</a:t>
            </a:r>
          </a:p>
        </p:txBody>
      </p:sp>
      <p:sp>
        <p:nvSpPr>
          <p:cNvPr id="47106" name="内容占位符 2">
            <a:extLst>
              <a:ext uri="{FF2B5EF4-FFF2-40B4-BE49-F238E27FC236}">
                <a16:creationId xmlns:a16="http://schemas.microsoft.com/office/drawing/2014/main" id="{7D4CC67C-EA4E-4CC7-8795-BAC9D5290D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99456" y="1611314"/>
            <a:ext cx="9793088" cy="496093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s-E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l-PL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s-E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pl-PL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l-PL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s-E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pl-PL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kumimoji="1"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¬(¬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s-E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P(x)</a:t>
            </a:r>
            <a:r>
              <a:rPr lang="en-US" altLang="zh-CN" sz="28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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s-E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l-PL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pl-PL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kumimoji="1"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º"/>
            </a:pP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 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¬(¬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en-US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altLang="zh-CN" sz="2400" b="1" dirty="0">
              <a:latin typeface="Times New Roman" panose="02020603050405020304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º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 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º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(P(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º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s-E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l-PL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(P(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l-PL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pl-PL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l-PL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º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</a:t>
            </a:r>
            <a:r>
              <a:rPr lang="es-E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 </a:t>
            </a:r>
            <a:r>
              <a:rPr lang="pl-PL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l-PL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pl-PL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l-PL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º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s-E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 </a:t>
            </a:r>
            <a:r>
              <a:rPr lang="pl-PL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l-PL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pl-PL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l-PL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º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(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前束合取范式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PCNF</a:t>
            </a:r>
          </a:p>
          <a:p>
            <a:pPr marL="0" indent="0">
              <a:buFont typeface="Symbol" panose="05050102010706020507" pitchFamily="18" charset="2"/>
              <a:buChar char="º"/>
            </a:pPr>
            <a:endParaRPr kumimoji="1"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161C8E8-EDC1-4BA4-B7FB-1536059EC917}"/>
              </a:ext>
            </a:extLst>
          </p:cNvPr>
          <p:cNvSpPr txBox="1"/>
          <p:nvPr/>
        </p:nvSpPr>
        <p:spPr>
          <a:xfrm>
            <a:off x="8832304" y="1700808"/>
            <a:ext cx="1342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（消去</a:t>
            </a:r>
            <a:r>
              <a:rPr kumimoji="1" lang="en-US" altLang="zh-CN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zh-CN" altLang="en-US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564637E-02B1-4AD6-AC37-5059D8A2D1E7}"/>
              </a:ext>
            </a:extLst>
          </p:cNvPr>
          <p:cNvSpPr txBox="1"/>
          <p:nvPr/>
        </p:nvSpPr>
        <p:spPr>
          <a:xfrm>
            <a:off x="8833005" y="2159634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（</a:t>
            </a:r>
            <a:r>
              <a:rPr kumimoji="1" lang="zh-CN" altLang="en-US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内移 </a:t>
            </a:r>
            <a:r>
              <a:rPr lang="en-US" altLang="zh-CN" sz="1800" b="1" dirty="0">
                <a:latin typeface="Times New Roman" panose="02020603050405020304" pitchFamily="18" charset="0"/>
                <a:cs typeface="Arial" panose="020B0604020202020204" pitchFamily="34" charset="0"/>
              </a:rPr>
              <a:t>¬ </a:t>
            </a:r>
            <a:r>
              <a:rPr kumimoji="1" lang="zh-CN" altLang="en-US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kumimoji="1" lang="en-US" altLang="zh-CN" sz="1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DC1CC2-2091-4EEE-99A5-517B25F88D52}"/>
              </a:ext>
            </a:extLst>
          </p:cNvPr>
          <p:cNvSpPr txBox="1"/>
          <p:nvPr/>
        </p:nvSpPr>
        <p:spPr>
          <a:xfrm>
            <a:off x="8832304" y="2699628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（</a:t>
            </a:r>
            <a:r>
              <a:rPr kumimoji="1" lang="zh-CN" altLang="en-US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简化）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21907A6-6F1E-4B62-A2A9-FBCAE7B31D1B}"/>
              </a:ext>
            </a:extLst>
          </p:cNvPr>
          <p:cNvSpPr txBox="1"/>
          <p:nvPr/>
        </p:nvSpPr>
        <p:spPr>
          <a:xfrm>
            <a:off x="8847431" y="3203684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（重命名</a:t>
            </a:r>
            <a:r>
              <a:rPr kumimoji="1" lang="zh-CN" altLang="en-US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093B4D-BBBF-4EF6-9244-60679629D1F4}"/>
              </a:ext>
            </a:extLst>
          </p:cNvPr>
          <p:cNvSpPr txBox="1"/>
          <p:nvPr/>
        </p:nvSpPr>
        <p:spPr>
          <a:xfrm>
            <a:off x="8832304" y="3779748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（前</a:t>
            </a:r>
            <a:r>
              <a:rPr kumimoji="1" lang="zh-CN" altLang="en-US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移量词）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AE8954-A053-4611-8CAE-45F8B7479EC7}"/>
              </a:ext>
            </a:extLst>
          </p:cNvPr>
          <p:cNvSpPr txBox="1"/>
          <p:nvPr/>
        </p:nvSpPr>
        <p:spPr>
          <a:xfrm>
            <a:off x="8864620" y="4355812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（前</a:t>
            </a:r>
            <a:r>
              <a:rPr kumimoji="1" lang="zh-CN" altLang="en-US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移量词）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213BB8E-9042-456C-94BB-29D0C3C476AD}"/>
              </a:ext>
            </a:extLst>
          </p:cNvPr>
          <p:cNvSpPr txBox="1"/>
          <p:nvPr/>
        </p:nvSpPr>
        <p:spPr>
          <a:xfrm>
            <a:off x="8864620" y="4859868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（合取分配</a:t>
            </a:r>
            <a:r>
              <a:rPr kumimoji="1" lang="zh-CN" altLang="en-US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 uiExpand="1" build="p"/>
      <p:bldP spid="2" grpId="0"/>
      <p:bldP spid="3" grpId="0"/>
      <p:bldP spid="4" grpId="0"/>
      <p:bldP spid="5" grpId="0"/>
      <p:bldP spid="6" grpId="0"/>
      <p:bldP spid="7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标题 1">
            <a:extLst>
              <a:ext uri="{FF2B5EF4-FFF2-40B4-BE49-F238E27FC236}">
                <a16:creationId xmlns:a16="http://schemas.microsoft.com/office/drawing/2014/main" id="{D6298D44-EEB0-4688-808D-F7CE6F1C4C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1" y="765176"/>
            <a:ext cx="8075613" cy="652463"/>
          </a:xfrm>
        </p:spPr>
        <p:txBody>
          <a:bodyPr/>
          <a:lstStyle/>
          <a:p>
            <a:pPr algn="ctr"/>
            <a:r>
              <a:rPr lang="zh-CN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前束合取范式（举例说明）</a:t>
            </a:r>
          </a:p>
        </p:txBody>
      </p:sp>
      <p:sp>
        <p:nvSpPr>
          <p:cNvPr id="36867" name="内容占位符 2">
            <a:extLst>
              <a:ext uri="{FF2B5EF4-FFF2-40B4-BE49-F238E27FC236}">
                <a16:creationId xmlns:a16="http://schemas.microsoft.com/office/drawing/2014/main" id="{DE7CCB1E-B96B-484D-89CA-8B53FC288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138" y="1806157"/>
            <a:ext cx="8351838" cy="504825"/>
          </a:xfrm>
        </p:spPr>
        <p:txBody>
          <a:bodyPr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altLang="zh-CN" sz="2400" b="1" u="dotDash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u="dotDash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u="dotDash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u="dotDash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="1" u="dotDash" dirty="0">
                <a:solidFill>
                  <a:srgbClr val="C00000"/>
                </a:solidFill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s-ES" altLang="zh-CN" sz="2400" b="1" i="1" u="dotDash" dirty="0">
                <a:solidFill>
                  <a:srgbClr val="C00000"/>
                </a:solidFill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u="dotDash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u="dotDash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(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pl-PL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l-PL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28A8AB1-CDDC-419B-938E-C1EC3760EEA6}"/>
              </a:ext>
            </a:extLst>
          </p:cNvPr>
          <p:cNvSpPr txBox="1">
            <a:spLocks/>
          </p:cNvSpPr>
          <p:nvPr/>
        </p:nvSpPr>
        <p:spPr bwMode="auto">
          <a:xfrm>
            <a:off x="1608138" y="2974976"/>
            <a:ext cx="8820150" cy="5048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altLang="zh-CN" sz="2400" b="1" u="dottedHeavy" kern="0" dirty="0">
                <a:uFill>
                  <a:solidFill>
                    <a:srgbClr val="1006D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u="dottedHeavy" kern="0" dirty="0">
                <a:uFill>
                  <a:solidFill>
                    <a:srgbClr val="1006D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u="dottedHeavy" kern="0" dirty="0">
                <a:uFill>
                  <a:solidFill>
                    <a:srgbClr val="1006D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u="dottedHeavy" kern="0" dirty="0">
                <a:uFill>
                  <a:solidFill>
                    <a:srgbClr val="1006D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u="dottedHeavy" kern="0" dirty="0">
                <a:uFill>
                  <a:solidFill>
                    <a:srgbClr val="1006D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s-ES" altLang="zh-CN" sz="2400" b="1" i="1" u="dottedHeavy" kern="0" dirty="0">
                <a:uFill>
                  <a:solidFill>
                    <a:srgbClr val="1006D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s-ES" altLang="zh-CN" sz="2400" b="1" kern="0" dirty="0">
                <a:uFill>
                  <a:solidFill>
                    <a:srgbClr val="1006D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l-PL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kern="0" dirty="0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y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1" kern="0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2400" b="1" kern="0" dirty="0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kern="0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</a:t>
            </a:r>
            <a:r>
              <a:rPr lang="pl-PL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400" b="1" kern="0" dirty="0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Arial" panose="020B0604020202020204" pitchFamily="34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y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1" kern="0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2400" b="1" kern="0" dirty="0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kern="0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  <a:defRPr/>
            </a:pPr>
            <a:endParaRPr kumimoji="1" lang="en-US" altLang="zh-CN" sz="2400" b="1" kern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6869" name="矩形标注 10">
            <a:extLst>
              <a:ext uri="{FF2B5EF4-FFF2-40B4-BE49-F238E27FC236}">
                <a16:creationId xmlns:a16="http://schemas.microsoft.com/office/drawing/2014/main" id="{22ACEFD2-7BF0-415E-974E-555A5D4DE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114" y="4113214"/>
            <a:ext cx="5665787" cy="504825"/>
          </a:xfrm>
          <a:prstGeom prst="wedgeRectCallout">
            <a:avLst>
              <a:gd name="adj1" fmla="val -3880"/>
              <a:gd name="adj2" fmla="val 50199"/>
            </a:avLst>
          </a:prstGeom>
          <a:noFill/>
          <a:ln w="9525" algn="ctr">
            <a:solidFill>
              <a:srgbClr val="2009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 algn="ctr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brother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y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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father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uncle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矩形标注 10">
            <a:extLst>
              <a:ext uri="{FF2B5EF4-FFF2-40B4-BE49-F238E27FC236}">
                <a16:creationId xmlns:a16="http://schemas.microsoft.com/office/drawing/2014/main" id="{78010060-C9EC-4788-94F9-24F177D72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4987926"/>
            <a:ext cx="5975350" cy="504825"/>
          </a:xfrm>
          <a:prstGeom prst="wedgeRectCallout">
            <a:avLst>
              <a:gd name="adj1" fmla="val -3880"/>
              <a:gd name="adj2" fmla="val 50199"/>
            </a:avLst>
          </a:prstGeom>
          <a:noFill/>
          <a:ln w="9525" algn="ctr">
            <a:solidFill>
              <a:srgbClr val="2009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 algn="ctr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father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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father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grandfather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400" b="1">
              <a:solidFill>
                <a:srgbClr val="FF0000"/>
              </a:solidFill>
              <a:latin typeface="Times New Roman" panose="02020603050405020304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9" grpId="0" animBg="1"/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63F3F4B4-495E-46C5-91FF-790216E1F4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1" y="122238"/>
            <a:ext cx="8291513" cy="1295400"/>
          </a:xfrm>
        </p:spPr>
        <p:txBody>
          <a:bodyPr/>
          <a:lstStyle/>
          <a:p>
            <a:pPr algn="ctr" eaLnBrk="1" hangingPunct="1"/>
            <a:r>
              <a:rPr lang="zh-CN" altLang="en-US"/>
              <a:t>量词相关的“自然演绎规则”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667FD00-9D91-4A29-82A2-768C403D32A9}"/>
              </a:ext>
            </a:extLst>
          </p:cNvPr>
          <p:cNvSpPr txBox="1">
            <a:spLocks/>
          </p:cNvSpPr>
          <p:nvPr/>
        </p:nvSpPr>
        <p:spPr bwMode="auto">
          <a:xfrm>
            <a:off x="2752725" y="1439863"/>
            <a:ext cx="1944688" cy="18526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4487" lvl="1" indent="0">
              <a:buNone/>
              <a:defRPr/>
            </a:pPr>
            <a:endParaRPr lang="en-US" altLang="zh-CN" sz="2400" b="1" i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344487" lvl="1" indent="0">
              <a:buNone/>
              <a:defRPr/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 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4487" lvl="1" indent="0">
              <a:buNone/>
              <a:defRPr/>
            </a:pP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———</a:t>
            </a:r>
          </a:p>
          <a:p>
            <a:pPr marL="344487" lvl="1" indent="0">
              <a:spcBef>
                <a:spcPts val="0"/>
              </a:spcBef>
              <a:buNone/>
              <a:defRPr/>
            </a:pP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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" name="矩形标注 4">
            <a:extLst>
              <a:ext uri="{FF2B5EF4-FFF2-40B4-BE49-F238E27FC236}">
                <a16:creationId xmlns:a16="http://schemas.microsoft.com/office/drawing/2014/main" id="{48512F9E-8ECA-4283-A762-70302C46E1A9}"/>
              </a:ext>
            </a:extLst>
          </p:cNvPr>
          <p:cNvSpPr/>
          <p:nvPr/>
        </p:nvSpPr>
        <p:spPr bwMode="auto">
          <a:xfrm>
            <a:off x="3184525" y="3324225"/>
            <a:ext cx="1079500" cy="431800"/>
          </a:xfrm>
          <a:prstGeom prst="wedgeRectCallout">
            <a:avLst>
              <a:gd name="adj1" fmla="val -20833"/>
              <a:gd name="adj2" fmla="val 47383"/>
            </a:avLst>
          </a:prstGeom>
          <a:ln w="19050">
            <a:solidFill>
              <a:srgbClr val="0033CC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0033CC"/>
                </a:solidFill>
              </a:rPr>
              <a:t>全称例示</a:t>
            </a:r>
          </a:p>
        </p:txBody>
      </p:sp>
      <p:sp>
        <p:nvSpPr>
          <p:cNvPr id="51204" name="内容占位符 2">
            <a:extLst>
              <a:ext uri="{FF2B5EF4-FFF2-40B4-BE49-F238E27FC236}">
                <a16:creationId xmlns:a16="http://schemas.microsoft.com/office/drawing/2014/main" id="{802F6E3C-A11C-4E9D-ADC2-C7450CBD14AE}"/>
              </a:ext>
            </a:extLst>
          </p:cNvPr>
          <p:cNvSpPr txBox="1">
            <a:spLocks/>
          </p:cNvSpPr>
          <p:nvPr/>
        </p:nvSpPr>
        <p:spPr bwMode="auto">
          <a:xfrm>
            <a:off x="6335713" y="1473201"/>
            <a:ext cx="2997200" cy="185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429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0558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130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9702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4274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buFont typeface="Wingdings" panose="05000000000000000000" pitchFamily="2" charset="2"/>
              <a:buNone/>
            </a:pPr>
            <a:endParaRPr lang="en-US" altLang="zh-CN" sz="2400" b="1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对任意的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——————</a:t>
            </a:r>
          </a:p>
          <a:p>
            <a:pPr lvl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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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P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" name="矩形标注 6">
            <a:extLst>
              <a:ext uri="{FF2B5EF4-FFF2-40B4-BE49-F238E27FC236}">
                <a16:creationId xmlns:a16="http://schemas.microsoft.com/office/drawing/2014/main" id="{432B913A-E91F-4AE5-92F7-7D4AC22BDBB1}"/>
              </a:ext>
            </a:extLst>
          </p:cNvPr>
          <p:cNvSpPr/>
          <p:nvPr/>
        </p:nvSpPr>
        <p:spPr bwMode="auto">
          <a:xfrm>
            <a:off x="6884988" y="3324225"/>
            <a:ext cx="1079500" cy="431800"/>
          </a:xfrm>
          <a:prstGeom prst="wedgeRectCallout">
            <a:avLst>
              <a:gd name="adj1" fmla="val -20833"/>
              <a:gd name="adj2" fmla="val 47383"/>
            </a:avLst>
          </a:prstGeom>
          <a:ln w="19050">
            <a:solidFill>
              <a:srgbClr val="0033CC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0033CC"/>
                </a:solidFill>
              </a:rPr>
              <a:t>全称生成</a:t>
            </a:r>
          </a:p>
        </p:txBody>
      </p:sp>
      <p:sp>
        <p:nvSpPr>
          <p:cNvPr id="51206" name="内容占位符 2">
            <a:extLst>
              <a:ext uri="{FF2B5EF4-FFF2-40B4-BE49-F238E27FC236}">
                <a16:creationId xmlns:a16="http://schemas.microsoft.com/office/drawing/2014/main" id="{47C2CE19-9F2D-43F7-BE82-C3760FF58A43}"/>
              </a:ext>
            </a:extLst>
          </p:cNvPr>
          <p:cNvSpPr txBox="1">
            <a:spLocks/>
          </p:cNvSpPr>
          <p:nvPr/>
        </p:nvSpPr>
        <p:spPr bwMode="auto">
          <a:xfrm>
            <a:off x="2811463" y="3890963"/>
            <a:ext cx="3249612" cy="185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429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0558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130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9702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4274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buFont typeface="Wingdings" panose="05000000000000000000" pitchFamily="2" charset="2"/>
              <a:buNone/>
            </a:pPr>
            <a:endParaRPr lang="en-US" altLang="zh-CN" sz="2400" b="1" i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 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————————</a:t>
            </a:r>
          </a:p>
          <a:p>
            <a:pPr lvl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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对于某个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</a:p>
        </p:txBody>
      </p:sp>
      <p:sp>
        <p:nvSpPr>
          <p:cNvPr id="10" name="矩形标注 9">
            <a:extLst>
              <a:ext uri="{FF2B5EF4-FFF2-40B4-BE49-F238E27FC236}">
                <a16:creationId xmlns:a16="http://schemas.microsoft.com/office/drawing/2014/main" id="{71C4B834-82D4-4722-85F6-D61D08FDBA9B}"/>
              </a:ext>
            </a:extLst>
          </p:cNvPr>
          <p:cNvSpPr/>
          <p:nvPr/>
        </p:nvSpPr>
        <p:spPr bwMode="auto">
          <a:xfrm>
            <a:off x="3236914" y="5743575"/>
            <a:ext cx="1081087" cy="431800"/>
          </a:xfrm>
          <a:prstGeom prst="wedgeRectCallout">
            <a:avLst>
              <a:gd name="adj1" fmla="val -20833"/>
              <a:gd name="adj2" fmla="val 47383"/>
            </a:avLst>
          </a:prstGeom>
          <a:ln w="19050">
            <a:solidFill>
              <a:srgbClr val="0033CC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0033CC"/>
                </a:solidFill>
              </a:rPr>
              <a:t>存在例示</a:t>
            </a:r>
          </a:p>
        </p:txBody>
      </p:sp>
      <p:sp>
        <p:nvSpPr>
          <p:cNvPr id="51208" name="内容占位符 2">
            <a:extLst>
              <a:ext uri="{FF2B5EF4-FFF2-40B4-BE49-F238E27FC236}">
                <a16:creationId xmlns:a16="http://schemas.microsoft.com/office/drawing/2014/main" id="{C42203A9-D0AB-4665-84F3-B18EBCCADEB0}"/>
              </a:ext>
            </a:extLst>
          </p:cNvPr>
          <p:cNvSpPr txBox="1">
            <a:spLocks/>
          </p:cNvSpPr>
          <p:nvPr/>
        </p:nvSpPr>
        <p:spPr bwMode="auto">
          <a:xfrm>
            <a:off x="6357938" y="3890963"/>
            <a:ext cx="2997200" cy="185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429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0558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130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9702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4274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buFont typeface="Wingdings" panose="05000000000000000000" pitchFamily="2" charset="2"/>
              <a:buNone/>
            </a:pPr>
            <a:endParaRPr lang="en-US" altLang="zh-CN" sz="2400" b="1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对某个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——————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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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P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2" name="矩形标注 11">
            <a:extLst>
              <a:ext uri="{FF2B5EF4-FFF2-40B4-BE49-F238E27FC236}">
                <a16:creationId xmlns:a16="http://schemas.microsoft.com/office/drawing/2014/main" id="{D37C95DF-0801-48B8-9A05-E9E91E7AC51A}"/>
              </a:ext>
            </a:extLst>
          </p:cNvPr>
          <p:cNvSpPr/>
          <p:nvPr/>
        </p:nvSpPr>
        <p:spPr bwMode="auto">
          <a:xfrm>
            <a:off x="6884989" y="5786438"/>
            <a:ext cx="1246187" cy="431800"/>
          </a:xfrm>
          <a:prstGeom prst="wedgeRectCallout">
            <a:avLst>
              <a:gd name="adj1" fmla="val -20833"/>
              <a:gd name="adj2" fmla="val 47383"/>
            </a:avLst>
          </a:prstGeom>
          <a:ln w="19050">
            <a:solidFill>
              <a:srgbClr val="0033CC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0033CC"/>
                </a:solidFill>
              </a:rPr>
              <a:t>存在生成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ACD0653-04B5-4741-8F09-D2737A8E4726}"/>
              </a:ext>
            </a:extLst>
          </p:cNvPr>
          <p:cNvSpPr txBox="1"/>
          <p:nvPr/>
        </p:nvSpPr>
        <p:spPr>
          <a:xfrm>
            <a:off x="3116923" y="3787775"/>
            <a:ext cx="1201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∀− 规则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E4A5B4-CF94-4A62-BDEB-0AB13FC93C49}"/>
              </a:ext>
            </a:extLst>
          </p:cNvPr>
          <p:cNvSpPr txBox="1"/>
          <p:nvPr/>
        </p:nvSpPr>
        <p:spPr>
          <a:xfrm>
            <a:off x="6960096" y="3704099"/>
            <a:ext cx="1872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∀</a:t>
            </a:r>
            <a:r>
              <a:rPr lang="en-US" altLang="zh-CN" dirty="0"/>
              <a:t>+ </a:t>
            </a:r>
            <a:r>
              <a:rPr lang="zh-CN" altLang="en-US" dirty="0"/>
              <a:t>规则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B7A8008-2412-4625-B8EA-401C58714EAE}"/>
              </a:ext>
            </a:extLst>
          </p:cNvPr>
          <p:cNvSpPr txBox="1"/>
          <p:nvPr/>
        </p:nvSpPr>
        <p:spPr>
          <a:xfrm>
            <a:off x="3236914" y="6342063"/>
            <a:ext cx="1427597" cy="379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∃− 规则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A6061BD-A9BC-41B8-B675-C223A6614200}"/>
              </a:ext>
            </a:extLst>
          </p:cNvPr>
          <p:cNvSpPr txBox="1"/>
          <p:nvPr/>
        </p:nvSpPr>
        <p:spPr>
          <a:xfrm>
            <a:off x="6884988" y="6359791"/>
            <a:ext cx="1371252" cy="379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∃</a:t>
            </a:r>
            <a:r>
              <a:rPr lang="en-US" altLang="zh-CN" dirty="0"/>
              <a:t>+ </a:t>
            </a:r>
            <a:r>
              <a:rPr lang="zh-CN" altLang="en-US" dirty="0"/>
              <a:t>规则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9CB979FE-6E7B-4648-B0FA-D21C6E8595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谓词假言推理示例</a:t>
            </a:r>
            <a:endParaRPr lang="en-US" altLang="zh-CN" dirty="0"/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814C1125-1FE8-4420-BECE-789E5FC30D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A classic inference, dating back to ancient Greece:</a:t>
            </a:r>
          </a:p>
        </p:txBody>
      </p:sp>
      <p:sp>
        <p:nvSpPr>
          <p:cNvPr id="8" name="日期占位符 3">
            <a:extLst>
              <a:ext uri="{FF2B5EF4-FFF2-40B4-BE49-F238E27FC236}">
                <a16:creationId xmlns:a16="http://schemas.microsoft.com/office/drawing/2014/main" id="{3308A288-17F7-498C-A7D9-FF60CED5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59F083D-C31E-46FB-BD3F-8C1DE618EE47}" type="datetime1">
              <a:rPr lang="zh-CN" altLang="en-US"/>
              <a:pPr>
                <a:defRPr/>
              </a:pPr>
              <a:t>2024/3/6</a:t>
            </a:fld>
            <a:endParaRPr lang="en-US" altLang="zh-CN"/>
          </a:p>
        </p:txBody>
      </p: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DEE9CBED-994E-4198-BD49-6C05C8A27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F660B95-F998-4D69-89FC-78DA86F9892C}" type="slidenum">
              <a:rPr lang="zh-CN" altLang="en-US">
                <a:solidFill>
                  <a:srgbClr val="636363"/>
                </a:solidFill>
              </a:rPr>
              <a:pPr eaLnBrk="1" hangingPunct="1"/>
              <a:t>40</a:t>
            </a:fld>
            <a:endParaRPr lang="en-US" altLang="zh-CN">
              <a:solidFill>
                <a:srgbClr val="636363"/>
              </a:solidFill>
            </a:endParaRPr>
          </a:p>
        </p:txBody>
      </p:sp>
      <p:sp>
        <p:nvSpPr>
          <p:cNvPr id="78854" name="Text Box 4">
            <a:extLst>
              <a:ext uri="{FF2B5EF4-FFF2-40B4-BE49-F238E27FC236}">
                <a16:creationId xmlns:a16="http://schemas.microsoft.com/office/drawing/2014/main" id="{8C937E43-A9F4-4ABC-BBEA-FCE9A2BCC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244" y="2564904"/>
            <a:ext cx="5688013" cy="321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): 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is a man;    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Q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): 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will die;</a:t>
            </a:r>
          </a:p>
          <a:p>
            <a:pPr eaLnBrk="1" hangingPunct="1">
              <a:spcBef>
                <a:spcPct val="50000"/>
              </a:spcBef>
            </a:pPr>
            <a:endParaRPr kumimoji="1" lang="en-US" altLang="zh-CN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Every man will die: 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)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))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Socrates is a Man: 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---------------------------------------------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Conclusion: Socrates will die: 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78855" name="Group 5">
            <a:extLst>
              <a:ext uri="{FF2B5EF4-FFF2-40B4-BE49-F238E27FC236}">
                <a16:creationId xmlns:a16="http://schemas.microsoft.com/office/drawing/2014/main" id="{C9322E81-EAEF-467B-B608-6BBE44E4BF9E}"/>
              </a:ext>
            </a:extLst>
          </p:cNvPr>
          <p:cNvGrpSpPr>
            <a:grpSpLocks/>
          </p:cNvGrpSpPr>
          <p:nvPr/>
        </p:nvGrpSpPr>
        <p:grpSpPr bwMode="auto">
          <a:xfrm>
            <a:off x="7392541" y="3645025"/>
            <a:ext cx="3492500" cy="2062163"/>
            <a:chOff x="3571" y="1916"/>
            <a:chExt cx="2200" cy="1299"/>
          </a:xfrm>
        </p:grpSpPr>
        <p:sp>
          <p:nvSpPr>
            <p:cNvPr id="78856" name="Text Box 6">
              <a:extLst>
                <a:ext uri="{FF2B5EF4-FFF2-40B4-BE49-F238E27FC236}">
                  <a16:creationId xmlns:a16="http://schemas.microsoft.com/office/drawing/2014/main" id="{D1FCFCD3-10A6-4B9E-B525-4D9B3CE394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1916"/>
              <a:ext cx="2077" cy="1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32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</a:t>
              </a:r>
              <a:r>
                <a:rPr kumimoji="1" lang="en-US" altLang="zh-CN" sz="3200" b="1" i="1" dirty="0">
                  <a:solidFill>
                    <a:srgbClr val="0000CC"/>
                  </a:solidFill>
                  <a:sym typeface="Symbol" panose="05050102010706020507" pitchFamily="18" charset="2"/>
                </a:rPr>
                <a:t>x</a:t>
              </a:r>
              <a:r>
                <a:rPr kumimoji="1" lang="en-US" altLang="zh-CN" sz="32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(</a:t>
              </a:r>
              <a:r>
                <a:rPr kumimoji="1" lang="en-US" altLang="zh-CN" sz="3200" b="1" i="1" dirty="0">
                  <a:solidFill>
                    <a:srgbClr val="0000CC"/>
                  </a:solidFill>
                  <a:sym typeface="Symbol" panose="05050102010706020507" pitchFamily="18" charset="2"/>
                </a:rPr>
                <a:t>P</a:t>
              </a:r>
              <a:r>
                <a:rPr kumimoji="1" lang="en-US" altLang="zh-CN" sz="32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(</a:t>
              </a:r>
              <a:r>
                <a:rPr kumimoji="1" lang="en-US" altLang="zh-CN" sz="3200" b="1" i="1" dirty="0">
                  <a:solidFill>
                    <a:srgbClr val="0000CC"/>
                  </a:solidFill>
                  <a:sym typeface="Symbol" panose="05050102010706020507" pitchFamily="18" charset="2"/>
                </a:rPr>
                <a:t>x</a:t>
              </a:r>
              <a:r>
                <a:rPr kumimoji="1" lang="en-US" altLang="zh-CN" sz="32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)</a:t>
              </a:r>
              <a:r>
                <a:rPr kumimoji="1" lang="en-US" altLang="zh-CN" sz="3200" b="1" i="1" dirty="0">
                  <a:solidFill>
                    <a:srgbClr val="0000CC"/>
                  </a:solidFill>
                  <a:sym typeface="Symbol" panose="05050102010706020507" pitchFamily="18" charset="2"/>
                </a:rPr>
                <a:t>Q</a:t>
              </a:r>
              <a:r>
                <a:rPr kumimoji="1" lang="en-US" altLang="zh-CN" sz="32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(</a:t>
              </a:r>
              <a:r>
                <a:rPr kumimoji="1" lang="en-US" altLang="zh-CN" sz="3200" b="1" i="1" dirty="0">
                  <a:solidFill>
                    <a:srgbClr val="0000CC"/>
                  </a:solidFill>
                  <a:sym typeface="Symbol" panose="05050102010706020507" pitchFamily="18" charset="2"/>
                </a:rPr>
                <a:t>x</a:t>
              </a:r>
              <a:r>
                <a:rPr kumimoji="1" lang="en-US" altLang="zh-CN" sz="32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))</a:t>
              </a:r>
            </a:p>
            <a:p>
              <a:pPr eaLnBrk="1" hangingPunct="1"/>
              <a:r>
                <a:rPr kumimoji="1" lang="en-US" altLang="zh-CN" sz="3200" b="1" i="1" dirty="0">
                  <a:solidFill>
                    <a:srgbClr val="0000CC"/>
                  </a:solidFill>
                  <a:sym typeface="Symbol" panose="05050102010706020507" pitchFamily="18" charset="2"/>
                </a:rPr>
                <a:t>P</a:t>
              </a:r>
              <a:r>
                <a:rPr kumimoji="1" lang="en-US" altLang="zh-CN" sz="32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(</a:t>
              </a:r>
              <a:r>
                <a:rPr kumimoji="1" lang="en-US" altLang="zh-CN" sz="3200" b="1" i="1" dirty="0">
                  <a:solidFill>
                    <a:srgbClr val="0000CC"/>
                  </a:solidFill>
                  <a:sym typeface="Symbol" panose="05050102010706020507" pitchFamily="18" charset="2"/>
                </a:rPr>
                <a:t>s</a:t>
              </a:r>
              <a:r>
                <a:rPr kumimoji="1" lang="en-US" altLang="zh-CN" sz="32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)</a:t>
              </a:r>
              <a:r>
                <a:rPr kumimoji="1" lang="en-US" altLang="zh-CN" sz="3200" b="1" i="1" dirty="0">
                  <a:solidFill>
                    <a:srgbClr val="0000CC"/>
                  </a:solidFill>
                  <a:sym typeface="Symbol" panose="05050102010706020507" pitchFamily="18" charset="2"/>
                </a:rPr>
                <a:t>Q</a:t>
              </a:r>
              <a:r>
                <a:rPr kumimoji="1" lang="en-US" altLang="zh-CN" sz="32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(</a:t>
              </a:r>
              <a:r>
                <a:rPr kumimoji="1" lang="en-US" altLang="zh-CN" sz="3200" b="1" i="1" dirty="0">
                  <a:solidFill>
                    <a:srgbClr val="0000CC"/>
                  </a:solidFill>
                  <a:sym typeface="Symbol" panose="05050102010706020507" pitchFamily="18" charset="2"/>
                </a:rPr>
                <a:t>s</a:t>
              </a:r>
              <a:r>
                <a:rPr kumimoji="1" lang="en-US" altLang="zh-CN" sz="32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)</a:t>
              </a:r>
            </a:p>
            <a:p>
              <a:pPr eaLnBrk="1" hangingPunct="1"/>
              <a:r>
                <a:rPr kumimoji="1" lang="en-US" altLang="zh-CN" sz="3200" b="1" i="1" dirty="0">
                  <a:solidFill>
                    <a:srgbClr val="0000CC"/>
                  </a:solidFill>
                  <a:sym typeface="Symbol" panose="05050102010706020507" pitchFamily="18" charset="2"/>
                </a:rPr>
                <a:t>P</a:t>
              </a:r>
              <a:r>
                <a:rPr kumimoji="1" lang="en-US" altLang="zh-CN" sz="32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(</a:t>
              </a:r>
              <a:r>
                <a:rPr kumimoji="1" lang="en-US" altLang="zh-CN" sz="3200" b="1" i="1" dirty="0">
                  <a:solidFill>
                    <a:srgbClr val="0000CC"/>
                  </a:solidFill>
                  <a:sym typeface="Symbol" panose="05050102010706020507" pitchFamily="18" charset="2"/>
                </a:rPr>
                <a:t>s</a:t>
              </a:r>
              <a:r>
                <a:rPr kumimoji="1" lang="en-US" altLang="zh-CN" sz="32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)</a:t>
              </a:r>
            </a:p>
            <a:p>
              <a:pPr eaLnBrk="1" hangingPunct="1"/>
              <a:r>
                <a:rPr kumimoji="1" lang="en-US" altLang="zh-CN" sz="32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Q(s)</a:t>
              </a:r>
            </a:p>
          </p:txBody>
        </p:sp>
        <p:sp>
          <p:nvSpPr>
            <p:cNvPr id="78857" name="Line 7">
              <a:extLst>
                <a:ext uri="{FF2B5EF4-FFF2-40B4-BE49-F238E27FC236}">
                  <a16:creationId xmlns:a16="http://schemas.microsoft.com/office/drawing/2014/main" id="{B041A723-EB8A-4B28-87B0-12FE28879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1" y="2869"/>
              <a:ext cx="2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4">
            <a:extLst>
              <a:ext uri="{FF2B5EF4-FFF2-40B4-BE49-F238E27FC236}">
                <a16:creationId xmlns:a16="http://schemas.microsoft.com/office/drawing/2014/main" id="{19B19072-4C38-4E35-9403-51C1D21788B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92314" y="620713"/>
            <a:ext cx="8637587" cy="762000"/>
          </a:xfrm>
        </p:spPr>
        <p:txBody>
          <a:bodyPr/>
          <a:lstStyle/>
          <a:p>
            <a:pPr eaLnBrk="1" hangingPunct="1"/>
            <a:r>
              <a:rPr lang="zh-CN" altLang="en-US"/>
              <a:t>基于规则的推理（举例）</a:t>
            </a:r>
          </a:p>
        </p:txBody>
      </p:sp>
      <p:sp>
        <p:nvSpPr>
          <p:cNvPr id="53250" name="Rectangle 3">
            <a:extLst>
              <a:ext uri="{FF2B5EF4-FFF2-40B4-BE49-F238E27FC236}">
                <a16:creationId xmlns:a16="http://schemas.microsoft.com/office/drawing/2014/main" id="{A9C5053B-44B5-439A-8540-ED4A7105E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1628776"/>
            <a:ext cx="8424862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前提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在这个班上的某个学生没有读过这本书</a:t>
            </a: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班上的每个人都通过了第一门考试</a:t>
            </a: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结论：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通过第一门考试的某个人没有读过这本书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):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x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在这个班上</a:t>
            </a:r>
            <a:endParaRPr lang="en-US" altLang="zh-CN" sz="2400" b="1" i="1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):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x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读过这本书了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):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x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通过了第一门考试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 </a:t>
            </a:r>
            <a:r>
              <a:rPr lang="en-US" altLang="zh-CN" sz="2400" b="1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))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P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))</a:t>
            </a:r>
            <a:endParaRPr lang="en-US" altLang="zh-CN" sz="2400" b="1" i="1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P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x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 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B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x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))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40000"/>
              </a:spcBef>
            </a:pPr>
            <a:endParaRPr lang="en-US" altLang="zh-CN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4">
            <a:extLst>
              <a:ext uri="{FF2B5EF4-FFF2-40B4-BE49-F238E27FC236}">
                <a16:creationId xmlns:a16="http://schemas.microsoft.com/office/drawing/2014/main" id="{359D29B9-19BB-401C-A2EE-D250368CF37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92314" y="620713"/>
            <a:ext cx="8637587" cy="762000"/>
          </a:xfrm>
        </p:spPr>
        <p:txBody>
          <a:bodyPr/>
          <a:lstStyle/>
          <a:p>
            <a:pPr eaLnBrk="1" hangingPunct="1"/>
            <a:r>
              <a:rPr lang="zh-CN" altLang="en-US"/>
              <a:t>基于规则的推理（举例）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BF37AD61-8684-4E2A-92A3-2685A4CC6101}"/>
              </a:ext>
            </a:extLst>
          </p:cNvPr>
          <p:cNvSpPr txBox="1">
            <a:spLocks noChangeArrowheads="1"/>
          </p:cNvSpPr>
          <p:nvPr/>
        </p:nvSpPr>
        <p:spPr>
          <a:xfrm>
            <a:off x="1549400" y="1616075"/>
            <a:ext cx="8578850" cy="660400"/>
          </a:xfrm>
          <a:prstGeom prst="rect">
            <a:avLst/>
          </a:prstGeom>
        </p:spPr>
        <p:txBody>
          <a:bodyPr/>
          <a:lstStyle/>
          <a:p>
            <a:pPr marL="344487" lvl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SzPct val="70000"/>
              <a:defRPr/>
            </a:pP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800" b="1" i="1" dirty="0">
                <a:latin typeface="Times New Roman" pitchFamily="18" charset="0"/>
                <a:sym typeface="Symbol" pitchFamily="18" charset="2"/>
              </a:rPr>
              <a:t>x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800" b="1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C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800" b="1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x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) 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  <a:sym typeface="Symbol"/>
              </a:rPr>
              <a:t></a:t>
            </a:r>
            <a:r>
              <a:rPr lang="en-US" altLang="zh-CN" sz="2800" b="1" dirty="0">
                <a:latin typeface="Times New Roman" pitchFamily="18" charset="0"/>
                <a:ea typeface="宋体" charset="-122"/>
                <a:cs typeface="Arial" charset="0"/>
              </a:rPr>
              <a:t>¬</a:t>
            </a:r>
            <a:r>
              <a:rPr lang="en-US" altLang="zh-CN" sz="2800" b="1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B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800" b="1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x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)), 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800" b="1" i="1" dirty="0">
                <a:latin typeface="Times New Roman" pitchFamily="18" charset="0"/>
                <a:sym typeface="Symbol" pitchFamily="18" charset="2"/>
              </a:rPr>
              <a:t>x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800" b="1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C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800" b="1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x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)</a:t>
            </a:r>
            <a:r>
              <a:rPr kumimoji="1" lang="en-US" altLang="zh-CN" sz="2800" b="1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2800" b="1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P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800" b="1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x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))   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800" b="1" i="1" dirty="0">
                <a:latin typeface="Times New Roman" pitchFamily="18" charset="0"/>
                <a:sym typeface="Symbol" pitchFamily="18" charset="2"/>
              </a:rPr>
              <a:t>x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800" b="1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P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800" b="1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x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)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  <a:sym typeface="Symbol"/>
              </a:rPr>
              <a:t></a:t>
            </a:r>
            <a:r>
              <a:rPr lang="en-US" altLang="zh-CN" sz="2800" b="1" dirty="0">
                <a:latin typeface="Times New Roman" pitchFamily="18" charset="0"/>
                <a:ea typeface="宋体" charset="-122"/>
                <a:cs typeface="Arial" charset="0"/>
              </a:rPr>
              <a:t>¬</a:t>
            </a:r>
            <a:r>
              <a:rPr lang="en-US" altLang="zh-CN" sz="2800" b="1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B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800" b="1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x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))</a:t>
            </a:r>
            <a:endParaRPr kumimoji="1" lang="en-US" altLang="zh-CN" sz="2800" b="1" dirty="0">
              <a:latin typeface="Times New Roman" pitchFamily="18" charset="0"/>
              <a:sym typeface="Symbol" pitchFamily="18" charset="2"/>
            </a:endParaRPr>
          </a:p>
          <a:p>
            <a:pPr marL="344487" lvl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SzPct val="70000"/>
              <a:defRPr/>
            </a:pPr>
            <a:endParaRPr lang="en-US" altLang="zh-CN" sz="2400" b="1" dirty="0">
              <a:latin typeface="Times New Roman" pitchFamily="18" charset="0"/>
              <a:ea typeface="楷体_GB2312" pitchFamily="49" charset="-122"/>
              <a:sym typeface="Symbol" pitchFamily="18" charset="2"/>
            </a:endParaRPr>
          </a:p>
          <a:p>
            <a:pPr marL="692150" lvl="1" indent="-347663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70000"/>
              <a:defRPr/>
            </a:pPr>
            <a:endParaRPr kumimoji="1" lang="en-US" altLang="zh-CN" sz="2400" b="1" dirty="0">
              <a:latin typeface="Times New Roman" pitchFamily="18" charset="0"/>
              <a:sym typeface="Symbol" pitchFamily="18" charset="2"/>
            </a:endParaRPr>
          </a:p>
          <a:p>
            <a:pPr marL="234950" indent="-347663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/>
            </a:pPr>
            <a:endParaRPr kumimoji="1" lang="en-US" altLang="zh-CN" sz="2400" b="1" dirty="0">
              <a:solidFill>
                <a:srgbClr val="FF0000"/>
              </a:solidFill>
              <a:latin typeface="Times New Roman" pitchFamily="18" charset="0"/>
              <a:ea typeface="+mn-ea"/>
              <a:sym typeface="Symbol" pitchFamily="18" charset="2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ct val="4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/>
            </a:pPr>
            <a:endParaRPr lang="en-US" altLang="zh-CN" sz="2800" b="1" kern="0" dirty="0">
              <a:latin typeface="Times New Roman" pitchFamily="18" charset="0"/>
              <a:ea typeface="宋体" charset="-122"/>
            </a:endParaRPr>
          </a:p>
        </p:txBody>
      </p:sp>
      <p:sp>
        <p:nvSpPr>
          <p:cNvPr id="55299" name="矩形标注 11">
            <a:extLst>
              <a:ext uri="{FF2B5EF4-FFF2-40B4-BE49-F238E27FC236}">
                <a16:creationId xmlns:a16="http://schemas.microsoft.com/office/drawing/2014/main" id="{98871E88-57DB-4B27-BA44-7B9D06DFF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2476" y="2284414"/>
            <a:ext cx="7313613" cy="4308475"/>
          </a:xfrm>
          <a:prstGeom prst="wedgeRectCallout">
            <a:avLst>
              <a:gd name="adj1" fmla="val -48671"/>
              <a:gd name="adj2" fmla="val 11565"/>
            </a:avLst>
          </a:prstGeom>
          <a:noFill/>
          <a:ln w="9525" algn="ctr">
            <a:solidFill>
              <a:srgbClr val="2009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ts val="600"/>
              </a:spcBef>
              <a:buClrTx/>
              <a:buSzTx/>
              <a:buNone/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因为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)</a:t>
            </a:r>
            <a:r>
              <a:rPr lang="en-US" altLang="zh-CN" sz="2400" b="1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)) 	//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这是前提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		</a:t>
            </a:r>
            <a:endParaRPr lang="en-US" altLang="zh-CN" sz="2400" b="1">
              <a:solidFill>
                <a:srgbClr val="2009CD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Tx/>
              <a:buSzTx/>
              <a:buNone/>
            </a:pPr>
            <a:r>
              <a:rPr lang="zh-CN" altLang="en-US" sz="2400" b="1">
                <a:solidFill>
                  <a:srgbClr val="2009CD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根据存在例示，</a:t>
            </a:r>
            <a:r>
              <a:rPr lang="zh-CN" altLang="en-US" sz="2400" b="1">
                <a:latin typeface="Times New Roman" panose="02020603050405020304" pitchFamily="18" charset="0"/>
                <a:cs typeface="Arial" panose="020B0604020202020204" pitchFamily="34" charset="0"/>
              </a:rPr>
              <a:t>有某个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a</a:t>
            </a:r>
            <a:r>
              <a:rPr lang="zh-CN" altLang="en-US" sz="2400" b="1">
                <a:solidFill>
                  <a:srgbClr val="2009CD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)</a:t>
            </a:r>
            <a:r>
              <a:rPr lang="en-US" altLang="zh-CN" sz="2400" b="1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成立。</a:t>
            </a:r>
            <a:r>
              <a:rPr lang="zh-CN" altLang="en-US" sz="2400" b="1">
                <a:solidFill>
                  <a:srgbClr val="2009CD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altLang="zh-CN" sz="2400" b="1">
              <a:solidFill>
                <a:srgbClr val="2009CD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Tx/>
              <a:buSzTx/>
              <a:buNone/>
            </a:pPr>
            <a:r>
              <a:rPr lang="zh-CN" altLang="en-US" sz="2400" b="1">
                <a:solidFill>
                  <a:srgbClr val="1006D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根据化简，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得到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 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成立，</a:t>
            </a:r>
            <a:r>
              <a:rPr lang="en-US" altLang="zh-CN" sz="2400" b="1">
                <a:latin typeface="Times New Roman" panose="02020603050405020304" pitchFamily="18" charset="0"/>
                <a:cs typeface="Arial" panose="020B0604020202020204" pitchFamily="34" charset="0"/>
              </a:rPr>
              <a:t> ¬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成立。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Tx/>
              <a:buSzTx/>
              <a:buNone/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因为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P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))       //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这是前提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Tx/>
              <a:buSzTx/>
              <a:buNone/>
            </a:pPr>
            <a:r>
              <a:rPr lang="zh-CN" altLang="en-US" sz="2400" b="1">
                <a:solidFill>
                  <a:srgbClr val="2009CD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根据全称例示，</a:t>
            </a:r>
            <a:r>
              <a:rPr lang="zh-CN" altLang="en-US" sz="2400" b="1">
                <a:latin typeface="Times New Roman" panose="02020603050405020304" pitchFamily="18" charset="0"/>
                <a:cs typeface="Arial" panose="020B0604020202020204" pitchFamily="34" charset="0"/>
              </a:rPr>
              <a:t>得到</a:t>
            </a:r>
            <a:r>
              <a:rPr lang="zh-CN" altLang="en-US" sz="2400" b="1">
                <a:solidFill>
                  <a:srgbClr val="2009CD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P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 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Tx/>
              <a:buSzTx/>
              <a:buNone/>
            </a:pPr>
            <a:r>
              <a:rPr lang="zh-CN" altLang="en-US" sz="2400" b="1">
                <a:solidFill>
                  <a:srgbClr val="2009CD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根据</a:t>
            </a:r>
            <a:r>
              <a:rPr lang="zh-CN" altLang="en-US" sz="2400" b="1">
                <a:solidFill>
                  <a:srgbClr val="2009CD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假言推理，</a:t>
            </a:r>
            <a:r>
              <a:rPr lang="zh-CN" altLang="en-US" sz="2400" b="1">
                <a:latin typeface="Times New Roman" panose="02020603050405020304" pitchFamily="18" charset="0"/>
                <a:cs typeface="Arial" panose="020B0604020202020204" pitchFamily="34" charset="0"/>
              </a:rPr>
              <a:t>得到</a:t>
            </a:r>
            <a:r>
              <a:rPr lang="zh-CN" altLang="en-US" sz="2400" b="1">
                <a:solidFill>
                  <a:srgbClr val="2009CD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2009CD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根据合取律，</a:t>
            </a:r>
            <a:r>
              <a:rPr lang="zh-CN" altLang="en-US" sz="2400" b="1">
                <a:latin typeface="Times New Roman" panose="02020603050405020304" pitchFamily="18" charset="0"/>
                <a:cs typeface="Arial" panose="020B0604020202020204" pitchFamily="34" charset="0"/>
              </a:rPr>
              <a:t>得到 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)</a:t>
            </a:r>
            <a:r>
              <a:rPr lang="en-US" altLang="zh-CN" sz="2400" b="1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</a:t>
            </a:r>
            <a:endParaRPr lang="en-US" altLang="zh-CN" sz="2400" b="1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2009CD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根据存在生成，</a:t>
            </a:r>
            <a:r>
              <a:rPr lang="zh-CN" altLang="en-US" sz="2400" b="1">
                <a:latin typeface="Times New Roman" panose="02020603050405020304" pitchFamily="18" charset="0"/>
                <a:cs typeface="Arial" panose="020B0604020202020204" pitchFamily="34" charset="0"/>
              </a:rPr>
              <a:t>得到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)</a:t>
            </a:r>
            <a:r>
              <a:rPr lang="en-US" altLang="zh-CN" sz="2400" b="1">
                <a:latin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))</a:t>
            </a:r>
            <a:r>
              <a:rPr lang="zh-CN" altLang="en-US" sz="2400" b="1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0" name="Rectangle 2">
            <a:extLst>
              <a:ext uri="{FF2B5EF4-FFF2-40B4-BE49-F238E27FC236}">
                <a16:creationId xmlns:a16="http://schemas.microsoft.com/office/drawing/2014/main" id="{87FD6E92-379E-4066-A698-E1B10CFC05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What’s Wrong?</a:t>
            </a:r>
          </a:p>
        </p:txBody>
      </p:sp>
      <p:sp>
        <p:nvSpPr>
          <p:cNvPr id="5" name="日期占位符 1">
            <a:extLst>
              <a:ext uri="{FF2B5EF4-FFF2-40B4-BE49-F238E27FC236}">
                <a16:creationId xmlns:a16="http://schemas.microsoft.com/office/drawing/2014/main" id="{F974F374-9FCB-44A5-8A5A-2201FFCA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81FAA9-FEC8-4562-8F07-3288DC5E75BE}" type="datetime1">
              <a:rPr lang="zh-CN" altLang="en-US"/>
              <a:pPr>
                <a:defRPr/>
              </a:pPr>
              <a:t>2024/3/6</a:t>
            </a:fld>
            <a:endParaRPr lang="en-US" altLang="zh-CN"/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2222F3EB-2D8C-448A-964D-CC3F84484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B92CE06-93CC-46D1-A25A-CABDB66E90F5}" type="slidenum">
              <a:rPr lang="zh-CN" altLang="en-US">
                <a:solidFill>
                  <a:srgbClr val="636363"/>
                </a:solidFill>
              </a:rPr>
              <a:pPr eaLnBrk="1" hangingPunct="1"/>
              <a:t>43</a:t>
            </a:fld>
            <a:endParaRPr lang="en-US" altLang="zh-CN">
              <a:solidFill>
                <a:srgbClr val="636363"/>
              </a:solidFill>
            </a:endParaRPr>
          </a:p>
        </p:txBody>
      </p:sp>
      <p:sp>
        <p:nvSpPr>
          <p:cNvPr id="219139" name="Text Box 3">
            <a:extLst>
              <a:ext uri="{FF2B5EF4-FFF2-40B4-BE49-F238E27FC236}">
                <a16:creationId xmlns:a16="http://schemas.microsoft.com/office/drawing/2014/main" id="{FDB6E3DD-B98B-49ED-8520-23AC98F45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828801"/>
            <a:ext cx="8382000" cy="4450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Somebody proves the expression:</a:t>
            </a:r>
          </a:p>
          <a:p>
            <a:pPr algn="ctr" eaLnBrk="1" hangingPunct="1">
              <a:spcBef>
                <a:spcPct val="2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4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xA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)</a:t>
            </a:r>
            <a:r>
              <a:rPr kumimoji="1" lang="en-US" altLang="zh-CN" sz="24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xB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)</a:t>
            </a:r>
            <a:r>
              <a:rPr kumimoji="1"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kumimoji="1"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))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as follows: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	1. 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4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xA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)</a:t>
            </a:r>
            <a:r>
              <a:rPr kumimoji="1" lang="en-US" altLang="zh-CN" sz="24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xB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		</a:t>
            </a:r>
            <a:r>
              <a:rPr kumimoji="1"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前提</a:t>
            </a:r>
            <a:endParaRPr kumimoji="1" lang="en-US" altLang="zh-CN" sz="2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	2. </a:t>
            </a:r>
            <a:r>
              <a:rPr kumimoji="1" lang="en-US" altLang="zh-CN" sz="24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xA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			</a:t>
            </a:r>
            <a:r>
              <a:rPr kumimoji="1"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化简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, 1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	3. </a:t>
            </a:r>
            <a:r>
              <a:rPr kumimoji="1" lang="en-US" altLang="zh-CN" sz="24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xB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			</a:t>
            </a:r>
            <a:r>
              <a:rPr kumimoji="1"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化简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, 1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	4. </a:t>
            </a:r>
            <a:r>
              <a:rPr kumimoji="1"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				</a:t>
            </a:r>
            <a:r>
              <a:rPr kumimoji="1"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存在例示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, 2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	5. </a:t>
            </a:r>
            <a:r>
              <a:rPr kumimoji="1"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				</a:t>
            </a:r>
            <a:r>
              <a:rPr kumimoji="1"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存在例示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, 3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	6. </a:t>
            </a:r>
            <a:r>
              <a:rPr kumimoji="1"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kumimoji="1"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			</a:t>
            </a:r>
            <a:r>
              <a:rPr kumimoji="1"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合取，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4,5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	7. </a:t>
            </a:r>
            <a:r>
              <a:rPr kumimoji="1"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kumimoji="1"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))		</a:t>
            </a:r>
            <a:r>
              <a:rPr kumimoji="1"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存在生成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, 6</a:t>
            </a:r>
          </a:p>
        </p:txBody>
      </p:sp>
      <p:sp>
        <p:nvSpPr>
          <p:cNvPr id="219140" name="Rectangle 4">
            <a:extLst>
              <a:ext uri="{FF2B5EF4-FFF2-40B4-BE49-F238E27FC236}">
                <a16:creationId xmlns:a16="http://schemas.microsoft.com/office/drawing/2014/main" id="{70AF9EC7-083B-460A-AE5B-D0D9ADF32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963" y="4365104"/>
            <a:ext cx="6624637" cy="792163"/>
          </a:xfrm>
          <a:prstGeom prst="rect">
            <a:avLst/>
          </a:prstGeom>
          <a:solidFill>
            <a:schemeClr val="accent1">
              <a:alpha val="5098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400"/>
              <a:t>Is it correct?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9" grpId="0"/>
      <p:bldP spid="21914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8BEBC8-FFC3-4CFF-B7BC-912BD98AB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0"/>
            <a:ext cx="10058400" cy="759098"/>
          </a:xfrm>
        </p:spPr>
        <p:txBody>
          <a:bodyPr/>
          <a:lstStyle/>
          <a:p>
            <a:r>
              <a:rPr lang="zh-CN" altLang="en-US" dirty="0"/>
              <a:t>习题课</a:t>
            </a:r>
            <a:r>
              <a:rPr lang="en-US" altLang="zh-CN" dirty="0"/>
              <a:t>-</a:t>
            </a:r>
            <a:r>
              <a:rPr lang="zh-CN" altLang="en-US" dirty="0"/>
              <a:t>题型一：一阶逻辑命题符号化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714AD6C-2C2C-498C-9677-9305FD768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4680" y="692696"/>
            <a:ext cx="7277063" cy="6165304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B69AFD3-020A-4780-9035-B477446E2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784" y="980728"/>
            <a:ext cx="6896100" cy="15716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F810269-ACD6-4EA2-A966-2297651DE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784" y="0"/>
            <a:ext cx="80402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482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50331A-A50C-4C18-8C4B-98A938D0F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604837"/>
          </a:xfrm>
        </p:spPr>
        <p:txBody>
          <a:bodyPr/>
          <a:lstStyle/>
          <a:p>
            <a:r>
              <a:rPr lang="zh-CN" altLang="en-US" dirty="0"/>
              <a:t>题型二：一阶逻辑中数学命题符号化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4D8526B-8377-4C69-A256-67D9C0C243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88" y="727074"/>
            <a:ext cx="9036140" cy="6130926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DAA7DAB-39F1-4110-9D88-A35D1EF61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962" y="672492"/>
            <a:ext cx="4629150" cy="455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11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0F97D3-1865-419B-853E-729C8C758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80" y="188640"/>
            <a:ext cx="5112568" cy="1224136"/>
          </a:xfrm>
        </p:spPr>
        <p:txBody>
          <a:bodyPr/>
          <a:lstStyle/>
          <a:p>
            <a:r>
              <a:rPr lang="zh-CN" altLang="en-US" dirty="0"/>
              <a:t>题型三：在有限个体域内消去公式中量词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3E6187C-0462-4192-B475-C3C301CE4F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8820" y="1700808"/>
            <a:ext cx="6810375" cy="4608512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338EBE3-A433-4667-8C0E-72F715EFE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430" y="1"/>
            <a:ext cx="6953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718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78CE40-E571-41CA-8AD0-CBDBCACF1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8" y="122238"/>
            <a:ext cx="12025336" cy="714474"/>
          </a:xfrm>
        </p:spPr>
        <p:txBody>
          <a:bodyPr/>
          <a:lstStyle/>
          <a:p>
            <a:r>
              <a:rPr lang="zh-CN" altLang="en-US" dirty="0"/>
              <a:t>题型四：自然推理系统构造自然语言描述的推理证明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8E0942-11C3-4317-BC71-D43DC67AF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24" y="836712"/>
            <a:ext cx="12061276" cy="2069777"/>
          </a:xfrm>
        </p:spPr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实数不是有理数就是无理数．无理数都不是分数．所以，若有分数，则必有有理数（个体域为实数集 </a:t>
            </a:r>
            <a:r>
              <a:rPr lang="en-US" altLang="zh-CN" dirty="0"/>
              <a:t>R</a:t>
            </a:r>
            <a:r>
              <a:rPr lang="zh-CN" altLang="en-US" dirty="0"/>
              <a:t>）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人都喜欢吃蔬菜．但不是所有的人都喜欢吃鱼．所以，存在喜欢吃蔬菜而不喜欢吃鱼的人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F01D5F4-35D0-42EE-AA0C-9298E285D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" y="2906489"/>
            <a:ext cx="5996865" cy="395151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4DD0539-A8B7-4C82-BA88-4A179D2A6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992" y="2384251"/>
            <a:ext cx="6192688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777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BA5E34-8FDC-4E9C-BD06-A91B83242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714474"/>
          </a:xfrm>
        </p:spPr>
        <p:txBody>
          <a:bodyPr/>
          <a:lstStyle/>
          <a:p>
            <a:r>
              <a:rPr lang="zh-CN" altLang="en-US" dirty="0"/>
              <a:t>作业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9B9C470-8650-4BEA-AC8F-176A428FA0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336" y="1384780"/>
            <a:ext cx="5184577" cy="857250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B9250F3-372B-4EEB-B57A-3EDEEFFBC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83" y="2228743"/>
            <a:ext cx="4824536" cy="22669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62089A4-9C48-49AA-9215-758788568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936" y="1628800"/>
            <a:ext cx="6672064" cy="517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02981"/>
      </p:ext>
    </p:extLst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28758</TotalTime>
  <Words>3645</Words>
  <Application>Microsoft Office PowerPoint</Application>
  <PresentationFormat>宽屏</PresentationFormat>
  <Paragraphs>335</Paragraphs>
  <Slides>48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5" baseType="lpstr">
      <vt:lpstr>楷体_GB2312</vt:lpstr>
      <vt:lpstr>Arial</vt:lpstr>
      <vt:lpstr>Calibri</vt:lpstr>
      <vt:lpstr>Symbol</vt:lpstr>
      <vt:lpstr>Times New Roman</vt:lpstr>
      <vt:lpstr>Wingdings</vt:lpstr>
      <vt:lpstr>Network</vt:lpstr>
      <vt:lpstr>谓词逻辑初步</vt:lpstr>
      <vt:lpstr>内容提要</vt:lpstr>
      <vt:lpstr>无能为力的命题逻辑</vt:lpstr>
      <vt:lpstr>另一方面</vt:lpstr>
      <vt:lpstr>一阶逻辑命题</vt:lpstr>
      <vt:lpstr>1 个体词</vt:lpstr>
      <vt:lpstr>2 谓词</vt:lpstr>
      <vt:lpstr>2 谓词</vt:lpstr>
      <vt:lpstr>谓词（Predicate）</vt:lpstr>
      <vt:lpstr>由谓词产生的命题</vt:lpstr>
      <vt:lpstr>一阶逻辑谓词符号化</vt:lpstr>
      <vt:lpstr>3 量词</vt:lpstr>
      <vt:lpstr>谓词表达式中的量词(谓词的量化)</vt:lpstr>
      <vt:lpstr>习题1：一阶谓词逻辑符号化</vt:lpstr>
      <vt:lpstr>PowerPoint 演示文稿</vt:lpstr>
      <vt:lpstr>习题2 一阶谓词符号化 </vt:lpstr>
      <vt:lpstr>习题2 一阶谓词符号化 </vt:lpstr>
      <vt:lpstr>习题2 一阶谓词符号化 </vt:lpstr>
      <vt:lpstr>量化公式中的变元</vt:lpstr>
      <vt:lpstr>多个量词嵌套</vt:lpstr>
      <vt:lpstr>逻辑公式（formula ）</vt:lpstr>
      <vt:lpstr>谓词逻辑公式的否定</vt:lpstr>
      <vt:lpstr>谓词表达式的真值判定</vt:lpstr>
      <vt:lpstr>谓词公式的真值判定</vt:lpstr>
      <vt:lpstr>谓词逻辑的应用</vt:lpstr>
      <vt:lpstr>Prolog (Programming in Logic)</vt:lpstr>
      <vt:lpstr>谓词逻辑的应用</vt:lpstr>
      <vt:lpstr>将自然语言翻译成逻辑公式</vt:lpstr>
      <vt:lpstr>将自然语言翻译成逻辑公式</vt:lpstr>
      <vt:lpstr>自然语言的形式化</vt:lpstr>
      <vt:lpstr>存在量词形式化过程中的“困惑”</vt:lpstr>
      <vt:lpstr>谓词逻辑推理</vt:lpstr>
      <vt:lpstr>常用逻辑等价式</vt:lpstr>
      <vt:lpstr>常用逻辑等价式</vt:lpstr>
      <vt:lpstr>常用逻辑等价式（可以证明）</vt:lpstr>
      <vt:lpstr>前束范式（Prenex Normal Form）</vt:lpstr>
      <vt:lpstr>转化为前束范式（举例说明）</vt:lpstr>
      <vt:lpstr>前束合取范式（举例说明）</vt:lpstr>
      <vt:lpstr>量词相关的“自然演绎规则”</vt:lpstr>
      <vt:lpstr>谓词假言推理示例</vt:lpstr>
      <vt:lpstr>基于规则的推理（举例）</vt:lpstr>
      <vt:lpstr>基于规则的推理（举例）</vt:lpstr>
      <vt:lpstr>What’s Wrong?</vt:lpstr>
      <vt:lpstr>习题课-题型一：一阶逻辑命题符号化</vt:lpstr>
      <vt:lpstr>题型二：一阶逻辑中数学命题符号化</vt:lpstr>
      <vt:lpstr>题型三：在有限个体域内消去公式中量词</vt:lpstr>
      <vt:lpstr>题型四：自然推理系统构造自然语言描述的推理证明</vt:lpstr>
      <vt:lpstr>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聂长海</cp:lastModifiedBy>
  <cp:revision>339</cp:revision>
  <dcterms:created xsi:type="dcterms:W3CDTF">1601-01-01T00:00:00Z</dcterms:created>
  <dcterms:modified xsi:type="dcterms:W3CDTF">2024-03-13T09:52:45Z</dcterms:modified>
</cp:coreProperties>
</file>